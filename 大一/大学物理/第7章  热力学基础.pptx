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453" r:id="rId3"/>
    <p:sldId id="357" r:id="rId4"/>
    <p:sldId id="358" r:id="rId6"/>
    <p:sldId id="359" r:id="rId7"/>
    <p:sldId id="360" r:id="rId8"/>
    <p:sldId id="454" r:id="rId9"/>
    <p:sldId id="256" r:id="rId10"/>
    <p:sldId id="260" r:id="rId11"/>
    <p:sldId id="457" r:id="rId12"/>
    <p:sldId id="458" r:id="rId13"/>
    <p:sldId id="459" r:id="rId14"/>
    <p:sldId id="460" r:id="rId15"/>
    <p:sldId id="262" r:id="rId16"/>
    <p:sldId id="461" r:id="rId17"/>
    <p:sldId id="363" r:id="rId18"/>
    <p:sldId id="264" r:id="rId19"/>
    <p:sldId id="462" r:id="rId20"/>
    <p:sldId id="463" r:id="rId21"/>
    <p:sldId id="265" r:id="rId22"/>
    <p:sldId id="465" r:id="rId23"/>
    <p:sldId id="493" r:id="rId24"/>
    <p:sldId id="495" r:id="rId25"/>
    <p:sldId id="368" r:id="rId26"/>
    <p:sldId id="267" r:id="rId27"/>
    <p:sldId id="370" r:id="rId28"/>
    <p:sldId id="292" r:id="rId29"/>
    <p:sldId id="377" r:id="rId30"/>
    <p:sldId id="268" r:id="rId31"/>
    <p:sldId id="470" r:id="rId32"/>
    <p:sldId id="471" r:id="rId33"/>
    <p:sldId id="472" r:id="rId34"/>
    <p:sldId id="473" r:id="rId35"/>
    <p:sldId id="474" r:id="rId36"/>
    <p:sldId id="475" r:id="rId37"/>
    <p:sldId id="476" r:id="rId38"/>
    <p:sldId id="477" r:id="rId39"/>
    <p:sldId id="478" r:id="rId40"/>
    <p:sldId id="479" r:id="rId41"/>
    <p:sldId id="480" r:id="rId42"/>
    <p:sldId id="481" r:id="rId43"/>
    <p:sldId id="482" r:id="rId44"/>
    <p:sldId id="487" r:id="rId45"/>
    <p:sldId id="483" r:id="rId46"/>
    <p:sldId id="484" r:id="rId47"/>
    <p:sldId id="485" r:id="rId48"/>
    <p:sldId id="488" r:id="rId49"/>
    <p:sldId id="489" r:id="rId50"/>
    <p:sldId id="490" r:id="rId51"/>
    <p:sldId id="382" r:id="rId52"/>
    <p:sldId id="399" r:id="rId53"/>
    <p:sldId id="400" r:id="rId54"/>
    <p:sldId id="491" r:id="rId55"/>
    <p:sldId id="492" r:id="rId56"/>
    <p:sldId id="408" r:id="rId57"/>
    <p:sldId id="411" r:id="rId58"/>
    <p:sldId id="412" r:id="rId59"/>
    <p:sldId id="496" r:id="rId60"/>
    <p:sldId id="497" r:id="rId61"/>
    <p:sldId id="498" r:id="rId62"/>
    <p:sldId id="499" r:id="rId63"/>
    <p:sldId id="500" r:id="rId64"/>
    <p:sldId id="501" r:id="rId65"/>
    <p:sldId id="502" r:id="rId66"/>
    <p:sldId id="503" r:id="rId67"/>
    <p:sldId id="504" r:id="rId68"/>
    <p:sldId id="419" r:id="rId69"/>
    <p:sldId id="420" r:id="rId70"/>
    <p:sldId id="421" r:id="rId71"/>
    <p:sldId id="508" r:id="rId72"/>
    <p:sldId id="507" r:id="rId73"/>
    <p:sldId id="439" r:id="rId74"/>
    <p:sldId id="440" r:id="rId75"/>
    <p:sldId id="423" r:id="rId76"/>
    <p:sldId id="424" r:id="rId77"/>
    <p:sldId id="425" r:id="rId78"/>
    <p:sldId id="426" r:id="rId79"/>
    <p:sldId id="437" r:id="rId80"/>
    <p:sldId id="438" r:id="rId81"/>
    <p:sldId id="509" r:id="rId82"/>
    <p:sldId id="510" r:id="rId83"/>
    <p:sldId id="511" r:id="rId84"/>
    <p:sldId id="512" r:id="rId85"/>
    <p:sldId id="431" r:id="rId86"/>
    <p:sldId id="432" r:id="rId87"/>
    <p:sldId id="433" r:id="rId88"/>
    <p:sldId id="355" r:id="rId89"/>
    <p:sldId id="436" r:id="rId90"/>
    <p:sldId id="513" r:id="rId91"/>
    <p:sldId id="514" r:id="rId92"/>
    <p:sldId id="441" r:id="rId93"/>
    <p:sldId id="335" r:id="rId94"/>
    <p:sldId id="336" r:id="rId95"/>
    <p:sldId id="444" r:id="rId96"/>
    <p:sldId id="516" r:id="rId97"/>
    <p:sldId id="515" r:id="rId98"/>
    <p:sldId id="517" r:id="rId99"/>
    <p:sldId id="518" r:id="rId100"/>
    <p:sldId id="447" r:id="rId101"/>
    <p:sldId id="448" r:id="rId102"/>
    <p:sldId id="342" r:id="rId103"/>
    <p:sldId id="452" r:id="rId104"/>
  </p:sldIdLst>
  <p:sldSz cx="9144000" cy="6858000" type="screen4x3"/>
  <p:notesSz cx="6858000" cy="9144000"/>
  <p:defaultTex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p:defaultTextStyle>
  <p:extLst>
    <p:ext uri="{505F2C04-C923-438B-8C0F-E0CD2BADF298}">
      <wppc:fontMis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600"/>
    <a:srgbClr val="FFFF00"/>
    <a:srgbClr val="006600"/>
    <a:srgbClr val="009900"/>
    <a:srgbClr val="008000"/>
    <a:srgbClr val="9900CC"/>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3309" autoAdjust="0"/>
  </p:normalViewPr>
  <p:slideViewPr>
    <p:cSldViewPr>
      <p:cViewPr varScale="1">
        <p:scale>
          <a:sx n="106" d="100"/>
          <a:sy n="106" d="100"/>
        </p:scale>
        <p:origin x="-1728"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41.wmf"/><Relationship Id="rId7" Type="http://schemas.openxmlformats.org/officeDocument/2006/relationships/image" Target="../media/image40.w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39.wmf"/><Relationship Id="rId3" Type="http://schemas.openxmlformats.org/officeDocument/2006/relationships/image" Target="../media/image34.wmf"/><Relationship Id="rId2" Type="http://schemas.openxmlformats.org/officeDocument/2006/relationships/image" Target="../media/image43.wmf"/><Relationship Id="rId1"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3.wmf"/><Relationship Id="rId7" Type="http://schemas.openxmlformats.org/officeDocument/2006/relationships/image" Target="../media/image52.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62.wmf"/><Relationship Id="rId8" Type="http://schemas.openxmlformats.org/officeDocument/2006/relationships/image" Target="../media/image61.wmf"/><Relationship Id="rId7" Type="http://schemas.openxmlformats.org/officeDocument/2006/relationships/image" Target="../media/image60.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0" Type="http://schemas.openxmlformats.org/officeDocument/2006/relationships/image" Target="../media/image63.wmf"/><Relationship Id="rId1"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71.wmf"/><Relationship Id="rId8" Type="http://schemas.openxmlformats.org/officeDocument/2006/relationships/image" Target="../media/image70.wmf"/><Relationship Id="rId7" Type="http://schemas.openxmlformats.org/officeDocument/2006/relationships/image" Target="../media/image69.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56.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75.wmf"/><Relationship Id="rId8" Type="http://schemas.openxmlformats.org/officeDocument/2006/relationships/image" Target="../media/image74.wmf"/><Relationship Id="rId7" Type="http://schemas.openxmlformats.org/officeDocument/2006/relationships/image" Target="../media/image73.wmf"/><Relationship Id="rId6" Type="http://schemas.openxmlformats.org/officeDocument/2006/relationships/image" Target="../media/image67.wmf"/><Relationship Id="rId5" Type="http://schemas.openxmlformats.org/officeDocument/2006/relationships/image" Target="../media/image72.wmf"/><Relationship Id="rId4" Type="http://schemas.openxmlformats.org/officeDocument/2006/relationships/image" Target="../media/image56.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80.wmf"/><Relationship Id="rId8" Type="http://schemas.openxmlformats.org/officeDocument/2006/relationships/image" Target="../media/image79.wmf"/><Relationship Id="rId7" Type="http://schemas.openxmlformats.org/officeDocument/2006/relationships/image" Target="../media/image78.wmf"/><Relationship Id="rId6" Type="http://schemas.openxmlformats.org/officeDocument/2006/relationships/image" Target="../media/image77.wmf"/><Relationship Id="rId5" Type="http://schemas.openxmlformats.org/officeDocument/2006/relationships/image" Target="../media/image67.wmf"/><Relationship Id="rId4" Type="http://schemas.openxmlformats.org/officeDocument/2006/relationships/image" Target="../media/image56.wmf"/><Relationship Id="rId3" Type="http://schemas.openxmlformats.org/officeDocument/2006/relationships/image" Target="../media/image66.wmf"/><Relationship Id="rId2" Type="http://schemas.openxmlformats.org/officeDocument/2006/relationships/image" Target="../media/image65.wmf"/><Relationship Id="rId10" Type="http://schemas.openxmlformats.org/officeDocument/2006/relationships/image" Target="../media/image81.wmf"/><Relationship Id="rId1" Type="http://schemas.openxmlformats.org/officeDocument/2006/relationships/image" Target="../media/image64.wmf"/></Relationships>
</file>

<file path=ppt/drawings/_rels/vmlDrawing16.vml.rels><?xml version="1.0" encoding="UTF-8" standalone="yes"?>
<Relationships xmlns="http://schemas.openxmlformats.org/package/2006/relationships"><Relationship Id="rId7" Type="http://schemas.openxmlformats.org/officeDocument/2006/relationships/image" Target="../media/image82.wmf"/><Relationship Id="rId6" Type="http://schemas.openxmlformats.org/officeDocument/2006/relationships/image" Target="../media/image78.wmf"/><Relationship Id="rId5" Type="http://schemas.openxmlformats.org/officeDocument/2006/relationships/image" Target="../media/image67.wmf"/><Relationship Id="rId4" Type="http://schemas.openxmlformats.org/officeDocument/2006/relationships/image" Target="../media/image56.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89.wmf"/><Relationship Id="rId8" Type="http://schemas.openxmlformats.org/officeDocument/2006/relationships/image" Target="../media/image88.wmf"/><Relationship Id="rId7" Type="http://schemas.openxmlformats.org/officeDocument/2006/relationships/image" Target="../media/image56.wmf"/><Relationship Id="rId6" Type="http://schemas.openxmlformats.org/officeDocument/2006/relationships/image" Target="../media/image65.wmf"/><Relationship Id="rId5" Type="http://schemas.openxmlformats.org/officeDocument/2006/relationships/image" Target="../media/image87.wmf"/><Relationship Id="rId4" Type="http://schemas.openxmlformats.org/officeDocument/2006/relationships/image" Target="../media/image86.wmf"/><Relationship Id="rId3" Type="http://schemas.openxmlformats.org/officeDocument/2006/relationships/image" Target="../media/image85.wmf"/><Relationship Id="rId2" Type="http://schemas.openxmlformats.org/officeDocument/2006/relationships/image" Target="../media/image84.wmf"/><Relationship Id="rId11" Type="http://schemas.openxmlformats.org/officeDocument/2006/relationships/image" Target="../media/image90.wmf"/><Relationship Id="rId10" Type="http://schemas.openxmlformats.org/officeDocument/2006/relationships/image" Target="../media/image64.wmf"/><Relationship Id="rId1" Type="http://schemas.openxmlformats.org/officeDocument/2006/relationships/image" Target="../media/image83.wmf"/></Relationships>
</file>

<file path=ppt/drawings/_rels/vmlDrawing18.vml.rels><?xml version="1.0" encoding="UTF-8" standalone="yes"?>
<Relationships xmlns="http://schemas.openxmlformats.org/package/2006/relationships"><Relationship Id="rId7" Type="http://schemas.openxmlformats.org/officeDocument/2006/relationships/image" Target="../media/image91.wmf"/><Relationship Id="rId6" Type="http://schemas.openxmlformats.org/officeDocument/2006/relationships/image" Target="../media/image56.wmf"/><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94.wmf"/><Relationship Id="rId8" Type="http://schemas.openxmlformats.org/officeDocument/2006/relationships/image" Target="../media/image93.wmf"/><Relationship Id="rId7" Type="http://schemas.openxmlformats.org/officeDocument/2006/relationships/image" Target="../media/image78.wmf"/><Relationship Id="rId6" Type="http://schemas.openxmlformats.org/officeDocument/2006/relationships/image" Target="../media/image92.wmf"/><Relationship Id="rId5" Type="http://schemas.openxmlformats.org/officeDocument/2006/relationships/image" Target="../media/image56.wmf"/><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87.wmf"/><Relationship Id="rId10" Type="http://schemas.openxmlformats.org/officeDocument/2006/relationships/image" Target="../media/image95.wmf"/><Relationship Id="rId1" Type="http://schemas.openxmlformats.org/officeDocument/2006/relationships/image" Target="../media/image85.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104.wmf"/><Relationship Id="rId8" Type="http://schemas.openxmlformats.org/officeDocument/2006/relationships/image" Target="../media/image103.wmf"/><Relationship Id="rId7" Type="http://schemas.openxmlformats.org/officeDocument/2006/relationships/image" Target="../media/image102.wmf"/><Relationship Id="rId6" Type="http://schemas.openxmlformats.org/officeDocument/2006/relationships/image" Target="../media/image101.wmf"/><Relationship Id="rId5" Type="http://schemas.openxmlformats.org/officeDocument/2006/relationships/image" Target="../media/image100.wmf"/><Relationship Id="rId4" Type="http://schemas.openxmlformats.org/officeDocument/2006/relationships/image" Target="../media/image99.wmf"/><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96.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64.wmf"/><Relationship Id="rId8" Type="http://schemas.openxmlformats.org/officeDocument/2006/relationships/image" Target="../media/image87.wmf"/><Relationship Id="rId7" Type="http://schemas.openxmlformats.org/officeDocument/2006/relationships/image" Target="../media/image85.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1" Type="http://schemas.openxmlformats.org/officeDocument/2006/relationships/image" Target="../media/image56.wmf"/><Relationship Id="rId10" Type="http://schemas.openxmlformats.org/officeDocument/2006/relationships/image" Target="../media/image65.wmf"/><Relationship Id="rId1" Type="http://schemas.openxmlformats.org/officeDocument/2006/relationships/image" Target="../media/image105.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56.wmf"/><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20.wmf"/><Relationship Id="rId8" Type="http://schemas.openxmlformats.org/officeDocument/2006/relationships/image" Target="../media/image119.wmf"/><Relationship Id="rId7" Type="http://schemas.openxmlformats.org/officeDocument/2006/relationships/image" Target="../media/image118.wmf"/><Relationship Id="rId6" Type="http://schemas.openxmlformats.org/officeDocument/2006/relationships/image" Target="../media/image117.wmf"/><Relationship Id="rId5" Type="http://schemas.openxmlformats.org/officeDocument/2006/relationships/image" Target="../media/image56.wmf"/><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87.wmf"/><Relationship Id="rId18" Type="http://schemas.openxmlformats.org/officeDocument/2006/relationships/image" Target="../media/image129.wmf"/><Relationship Id="rId17" Type="http://schemas.openxmlformats.org/officeDocument/2006/relationships/image" Target="../media/image128.wmf"/><Relationship Id="rId16" Type="http://schemas.openxmlformats.org/officeDocument/2006/relationships/image" Target="../media/image127.wmf"/><Relationship Id="rId15" Type="http://schemas.openxmlformats.org/officeDocument/2006/relationships/image" Target="../media/image126.wmf"/><Relationship Id="rId14" Type="http://schemas.openxmlformats.org/officeDocument/2006/relationships/image" Target="../media/image125.wmf"/><Relationship Id="rId13" Type="http://schemas.openxmlformats.org/officeDocument/2006/relationships/image" Target="../media/image124.wmf"/><Relationship Id="rId12" Type="http://schemas.openxmlformats.org/officeDocument/2006/relationships/image" Target="../media/image123.wmf"/><Relationship Id="rId11" Type="http://schemas.openxmlformats.org/officeDocument/2006/relationships/image" Target="../media/image122.wmf"/><Relationship Id="rId10" Type="http://schemas.openxmlformats.org/officeDocument/2006/relationships/image" Target="../media/image121.wmf"/><Relationship Id="rId1" Type="http://schemas.openxmlformats.org/officeDocument/2006/relationships/image" Target="../media/image85.wmf"/></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130.wmf"/><Relationship Id="rId8" Type="http://schemas.openxmlformats.org/officeDocument/2006/relationships/image" Target="../media/image119.wmf"/><Relationship Id="rId7" Type="http://schemas.openxmlformats.org/officeDocument/2006/relationships/image" Target="../media/image118.wmf"/><Relationship Id="rId6" Type="http://schemas.openxmlformats.org/officeDocument/2006/relationships/image" Target="../media/image117.wmf"/><Relationship Id="rId5" Type="http://schemas.openxmlformats.org/officeDocument/2006/relationships/image" Target="../media/image56.wmf"/><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87.wmf"/><Relationship Id="rId18" Type="http://schemas.openxmlformats.org/officeDocument/2006/relationships/image" Target="../media/image138.wmf"/><Relationship Id="rId17" Type="http://schemas.openxmlformats.org/officeDocument/2006/relationships/image" Target="../media/image137.wmf"/><Relationship Id="rId16" Type="http://schemas.openxmlformats.org/officeDocument/2006/relationships/image" Target="../media/image136.wmf"/><Relationship Id="rId15" Type="http://schemas.openxmlformats.org/officeDocument/2006/relationships/image" Target="../media/image126.wmf"/><Relationship Id="rId14" Type="http://schemas.openxmlformats.org/officeDocument/2006/relationships/image" Target="../media/image135.wmf"/><Relationship Id="rId13" Type="http://schemas.openxmlformats.org/officeDocument/2006/relationships/image" Target="../media/image134.wmf"/><Relationship Id="rId12" Type="http://schemas.openxmlformats.org/officeDocument/2006/relationships/image" Target="../media/image133.wmf"/><Relationship Id="rId11" Type="http://schemas.openxmlformats.org/officeDocument/2006/relationships/image" Target="../media/image132.wmf"/><Relationship Id="rId10" Type="http://schemas.openxmlformats.org/officeDocument/2006/relationships/image" Target="../media/image131.wmf"/><Relationship Id="rId1" Type="http://schemas.openxmlformats.org/officeDocument/2006/relationships/image" Target="../media/image8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40.wmf"/><Relationship Id="rId1" Type="http://schemas.openxmlformats.org/officeDocument/2006/relationships/image" Target="../media/image139.wmf"/></Relationships>
</file>

<file path=ppt/drawings/_rels/vmlDrawing27.vml.rels><?xml version="1.0" encoding="UTF-8" standalone="yes"?>
<Relationships xmlns="http://schemas.openxmlformats.org/package/2006/relationships"><Relationship Id="rId7" Type="http://schemas.openxmlformats.org/officeDocument/2006/relationships/image" Target="../media/image147.wmf"/><Relationship Id="rId6" Type="http://schemas.openxmlformats.org/officeDocument/2006/relationships/image" Target="../media/image146.wmf"/><Relationship Id="rId5" Type="http://schemas.openxmlformats.org/officeDocument/2006/relationships/image" Target="../media/image145.wmf"/><Relationship Id="rId4" Type="http://schemas.openxmlformats.org/officeDocument/2006/relationships/image" Target="../media/image144.wmf"/><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156.wmf"/><Relationship Id="rId8" Type="http://schemas.openxmlformats.org/officeDocument/2006/relationships/image" Target="../media/image155.wmf"/><Relationship Id="rId7" Type="http://schemas.openxmlformats.org/officeDocument/2006/relationships/image" Target="../media/image154.wmf"/><Relationship Id="rId6" Type="http://schemas.openxmlformats.org/officeDocument/2006/relationships/image" Target="../media/image153.wmf"/><Relationship Id="rId5" Type="http://schemas.openxmlformats.org/officeDocument/2006/relationships/image" Target="../media/image152.wmf"/><Relationship Id="rId4" Type="http://schemas.openxmlformats.org/officeDocument/2006/relationships/image" Target="../media/image151.wmf"/><Relationship Id="rId3" Type="http://schemas.openxmlformats.org/officeDocument/2006/relationships/image" Target="../media/image150.wmf"/><Relationship Id="rId2" Type="http://schemas.openxmlformats.org/officeDocument/2006/relationships/image" Target="../media/image149.wmf"/><Relationship Id="rId15" Type="http://schemas.openxmlformats.org/officeDocument/2006/relationships/image" Target="../media/image162.wmf"/><Relationship Id="rId14" Type="http://schemas.openxmlformats.org/officeDocument/2006/relationships/image" Target="../media/image161.wmf"/><Relationship Id="rId13" Type="http://schemas.openxmlformats.org/officeDocument/2006/relationships/image" Target="../media/image160.wmf"/><Relationship Id="rId12" Type="http://schemas.openxmlformats.org/officeDocument/2006/relationships/image" Target="../media/image159.wmf"/><Relationship Id="rId11" Type="http://schemas.openxmlformats.org/officeDocument/2006/relationships/image" Target="../media/image158.wmf"/><Relationship Id="rId10" Type="http://schemas.openxmlformats.org/officeDocument/2006/relationships/image" Target="../media/image157.wmf"/><Relationship Id="rId1" Type="http://schemas.openxmlformats.org/officeDocument/2006/relationships/image" Target="../media/image148.wmf"/></Relationships>
</file>

<file path=ppt/drawings/_rels/vmlDrawing29.vml.rels><?xml version="1.0" encoding="UTF-8" standalone="yes"?>
<Relationships xmlns="http://schemas.openxmlformats.org/package/2006/relationships"><Relationship Id="rId9" Type="http://schemas.openxmlformats.org/officeDocument/2006/relationships/image" Target="../media/image171.wmf"/><Relationship Id="rId8" Type="http://schemas.openxmlformats.org/officeDocument/2006/relationships/image" Target="../media/image170.wmf"/><Relationship Id="rId7" Type="http://schemas.openxmlformats.org/officeDocument/2006/relationships/image" Target="../media/image169.wmf"/><Relationship Id="rId6" Type="http://schemas.openxmlformats.org/officeDocument/2006/relationships/image" Target="../media/image168.wmf"/><Relationship Id="rId5" Type="http://schemas.openxmlformats.org/officeDocument/2006/relationships/image" Target="../media/image167.wmf"/><Relationship Id="rId4" Type="http://schemas.openxmlformats.org/officeDocument/2006/relationships/image" Target="../media/image166.wmf"/><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80.wmf"/><Relationship Id="rId8" Type="http://schemas.openxmlformats.org/officeDocument/2006/relationships/image" Target="../media/image179.wmf"/><Relationship Id="rId7" Type="http://schemas.openxmlformats.org/officeDocument/2006/relationships/image" Target="../media/image178.wmf"/><Relationship Id="rId6" Type="http://schemas.openxmlformats.org/officeDocument/2006/relationships/image" Target="../media/image177.wmf"/><Relationship Id="rId5" Type="http://schemas.openxmlformats.org/officeDocument/2006/relationships/image" Target="../media/image176.wmf"/><Relationship Id="rId4" Type="http://schemas.openxmlformats.org/officeDocument/2006/relationships/image" Target="../media/image175.wmf"/><Relationship Id="rId3" Type="http://schemas.openxmlformats.org/officeDocument/2006/relationships/image" Target="../media/image174.wmf"/><Relationship Id="rId2" Type="http://schemas.openxmlformats.org/officeDocument/2006/relationships/image" Target="../media/image173.wmf"/><Relationship Id="rId10" Type="http://schemas.openxmlformats.org/officeDocument/2006/relationships/image" Target="../media/image181.wmf"/><Relationship Id="rId1" Type="http://schemas.openxmlformats.org/officeDocument/2006/relationships/image" Target="../media/image172.wmf"/></Relationships>
</file>

<file path=ppt/drawings/_rels/vmlDrawing31.vml.rels><?xml version="1.0" encoding="UTF-8" standalone="yes"?>
<Relationships xmlns="http://schemas.openxmlformats.org/package/2006/relationships"><Relationship Id="rId9" Type="http://schemas.openxmlformats.org/officeDocument/2006/relationships/image" Target="../media/image189.wmf"/><Relationship Id="rId8" Type="http://schemas.openxmlformats.org/officeDocument/2006/relationships/image" Target="../media/image188.wmf"/><Relationship Id="rId7" Type="http://schemas.openxmlformats.org/officeDocument/2006/relationships/image" Target="../media/image187.wmf"/><Relationship Id="rId6" Type="http://schemas.openxmlformats.org/officeDocument/2006/relationships/image" Target="../media/image186.wmf"/><Relationship Id="rId5" Type="http://schemas.openxmlformats.org/officeDocument/2006/relationships/image" Target="../media/image176.wmf"/><Relationship Id="rId4" Type="http://schemas.openxmlformats.org/officeDocument/2006/relationships/image" Target="../media/image185.wmf"/><Relationship Id="rId3" Type="http://schemas.openxmlformats.org/officeDocument/2006/relationships/image" Target="../media/image184.wmf"/><Relationship Id="rId2" Type="http://schemas.openxmlformats.org/officeDocument/2006/relationships/image" Target="../media/image183.wmf"/><Relationship Id="rId1" Type="http://schemas.openxmlformats.org/officeDocument/2006/relationships/image" Target="../media/image182.wmf"/></Relationships>
</file>

<file path=ppt/drawings/_rels/vmlDrawing32.vml.rels><?xml version="1.0" encoding="UTF-8" standalone="yes"?>
<Relationships xmlns="http://schemas.openxmlformats.org/package/2006/relationships"><Relationship Id="rId4" Type="http://schemas.openxmlformats.org/officeDocument/2006/relationships/image" Target="../media/image193.wmf"/><Relationship Id="rId3" Type="http://schemas.openxmlformats.org/officeDocument/2006/relationships/image" Target="../media/image192.wmf"/><Relationship Id="rId2" Type="http://schemas.openxmlformats.org/officeDocument/2006/relationships/image" Target="../media/image191.wmf"/><Relationship Id="rId1" Type="http://schemas.openxmlformats.org/officeDocument/2006/relationships/image" Target="../media/image190.w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198.wmf"/><Relationship Id="rId4" Type="http://schemas.openxmlformats.org/officeDocument/2006/relationships/image" Target="../media/image197.wmf"/><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34.vml.rels><?xml version="1.0" encoding="UTF-8" standalone="yes"?>
<Relationships xmlns="http://schemas.openxmlformats.org/package/2006/relationships"><Relationship Id="rId7" Type="http://schemas.openxmlformats.org/officeDocument/2006/relationships/image" Target="../media/image205.wmf"/><Relationship Id="rId6" Type="http://schemas.openxmlformats.org/officeDocument/2006/relationships/image" Target="../media/image204.wmf"/><Relationship Id="rId5" Type="http://schemas.openxmlformats.org/officeDocument/2006/relationships/image" Target="../media/image203.wmf"/><Relationship Id="rId4" Type="http://schemas.openxmlformats.org/officeDocument/2006/relationships/image" Target="../media/image202.wmf"/><Relationship Id="rId3" Type="http://schemas.openxmlformats.org/officeDocument/2006/relationships/image" Target="../media/image201.wmf"/><Relationship Id="rId2" Type="http://schemas.openxmlformats.org/officeDocument/2006/relationships/image" Target="../media/image200.wmf"/><Relationship Id="rId1" Type="http://schemas.openxmlformats.org/officeDocument/2006/relationships/image" Target="../media/image199.wmf"/></Relationships>
</file>

<file path=ppt/drawings/_rels/vmlDrawing35.vml.rels><?xml version="1.0" encoding="UTF-8" standalone="yes"?>
<Relationships xmlns="http://schemas.openxmlformats.org/package/2006/relationships"><Relationship Id="rId5" Type="http://schemas.openxmlformats.org/officeDocument/2006/relationships/image" Target="../media/image210.wmf"/><Relationship Id="rId4" Type="http://schemas.openxmlformats.org/officeDocument/2006/relationships/image" Target="../media/image209.wmf"/><Relationship Id="rId3" Type="http://schemas.openxmlformats.org/officeDocument/2006/relationships/image" Target="../media/image208.wmf"/><Relationship Id="rId2" Type="http://schemas.openxmlformats.org/officeDocument/2006/relationships/image" Target="../media/image207.wmf"/><Relationship Id="rId1" Type="http://schemas.openxmlformats.org/officeDocument/2006/relationships/image" Target="../media/image206.w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219.wmf"/><Relationship Id="rId8" Type="http://schemas.openxmlformats.org/officeDocument/2006/relationships/image" Target="../media/image218.wmf"/><Relationship Id="rId7" Type="http://schemas.openxmlformats.org/officeDocument/2006/relationships/image" Target="../media/image217.wmf"/><Relationship Id="rId6" Type="http://schemas.openxmlformats.org/officeDocument/2006/relationships/image" Target="../media/image216.wmf"/><Relationship Id="rId5" Type="http://schemas.openxmlformats.org/officeDocument/2006/relationships/image" Target="../media/image215.wmf"/><Relationship Id="rId4" Type="http://schemas.openxmlformats.org/officeDocument/2006/relationships/image" Target="../media/image214.wmf"/><Relationship Id="rId3" Type="http://schemas.openxmlformats.org/officeDocument/2006/relationships/image" Target="../media/image213.wmf"/><Relationship Id="rId2" Type="http://schemas.openxmlformats.org/officeDocument/2006/relationships/image" Target="../media/image212.wmf"/><Relationship Id="rId10" Type="http://schemas.openxmlformats.org/officeDocument/2006/relationships/image" Target="../media/image220.wmf"/><Relationship Id="rId1" Type="http://schemas.openxmlformats.org/officeDocument/2006/relationships/image" Target="../media/image211.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26.wmf"/><Relationship Id="rId2" Type="http://schemas.openxmlformats.org/officeDocument/2006/relationships/image" Target="../media/image225.wmf"/><Relationship Id="rId1" Type="http://schemas.openxmlformats.org/officeDocument/2006/relationships/image" Target="../media/image224.wmf"/></Relationships>
</file>

<file path=ppt/drawings/_rels/vmlDrawing39.vml.rels><?xml version="1.0" encoding="UTF-8" standalone="yes"?>
<Relationships xmlns="http://schemas.openxmlformats.org/package/2006/relationships"><Relationship Id="rId5" Type="http://schemas.openxmlformats.org/officeDocument/2006/relationships/image" Target="../media/image231.wmf"/><Relationship Id="rId4" Type="http://schemas.openxmlformats.org/officeDocument/2006/relationships/image" Target="../media/image230.wmf"/><Relationship Id="rId3" Type="http://schemas.openxmlformats.org/officeDocument/2006/relationships/image" Target="../media/image229.wmf"/><Relationship Id="rId2" Type="http://schemas.openxmlformats.org/officeDocument/2006/relationships/image" Target="../media/image228.wmf"/><Relationship Id="rId1" Type="http://schemas.openxmlformats.org/officeDocument/2006/relationships/image" Target="../media/image227.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s>
</file>

<file path=ppt/drawings/_rels/vmlDrawing41.vml.rels><?xml version="1.0" encoding="UTF-8" standalone="yes"?>
<Relationships xmlns="http://schemas.openxmlformats.org/package/2006/relationships"><Relationship Id="rId5" Type="http://schemas.openxmlformats.org/officeDocument/2006/relationships/image" Target="../media/image229.wmf"/><Relationship Id="rId4" Type="http://schemas.openxmlformats.org/officeDocument/2006/relationships/image" Target="../media/image228.wmf"/><Relationship Id="rId3" Type="http://schemas.openxmlformats.org/officeDocument/2006/relationships/image" Target="../media/image237.wmf"/><Relationship Id="rId2" Type="http://schemas.openxmlformats.org/officeDocument/2006/relationships/image" Target="../media/image230.wmf"/><Relationship Id="rId1" Type="http://schemas.openxmlformats.org/officeDocument/2006/relationships/image" Target="../media/image227.wmf"/></Relationships>
</file>

<file path=ppt/drawings/_rels/vmlDrawing42.vml.rels><?xml version="1.0" encoding="UTF-8" standalone="yes"?>
<Relationships xmlns="http://schemas.openxmlformats.org/package/2006/relationships"><Relationship Id="rId4" Type="http://schemas.openxmlformats.org/officeDocument/2006/relationships/image" Target="../media/image242.wmf"/><Relationship Id="rId3" Type="http://schemas.openxmlformats.org/officeDocument/2006/relationships/image" Target="../media/image241.wmf"/><Relationship Id="rId2" Type="http://schemas.openxmlformats.org/officeDocument/2006/relationships/image" Target="../media/image240.wmf"/><Relationship Id="rId1" Type="http://schemas.openxmlformats.org/officeDocument/2006/relationships/image" Target="../media/image239.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44.wmf"/><Relationship Id="rId1" Type="http://schemas.openxmlformats.org/officeDocument/2006/relationships/image" Target="../media/image243.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245.wmf"/></Relationships>
</file>

<file path=ppt/drawings/_rels/vmlDrawing45.vml.rels><?xml version="1.0" encoding="UTF-8" standalone="yes"?>
<Relationships xmlns="http://schemas.openxmlformats.org/package/2006/relationships"><Relationship Id="rId9" Type="http://schemas.openxmlformats.org/officeDocument/2006/relationships/image" Target="../media/image254.wmf"/><Relationship Id="rId8" Type="http://schemas.openxmlformats.org/officeDocument/2006/relationships/image" Target="../media/image253.wmf"/><Relationship Id="rId7" Type="http://schemas.openxmlformats.org/officeDocument/2006/relationships/image" Target="../media/image252.wmf"/><Relationship Id="rId6" Type="http://schemas.openxmlformats.org/officeDocument/2006/relationships/image" Target="../media/image251.wmf"/><Relationship Id="rId5" Type="http://schemas.openxmlformats.org/officeDocument/2006/relationships/image" Target="../media/image250.wmf"/><Relationship Id="rId4" Type="http://schemas.openxmlformats.org/officeDocument/2006/relationships/image" Target="../media/image249.wmf"/><Relationship Id="rId3" Type="http://schemas.openxmlformats.org/officeDocument/2006/relationships/image" Target="../media/image248.wmf"/><Relationship Id="rId2" Type="http://schemas.openxmlformats.org/officeDocument/2006/relationships/image" Target="../media/image247.wmf"/><Relationship Id="rId11" Type="http://schemas.openxmlformats.org/officeDocument/2006/relationships/image" Target="../media/image256.wmf"/><Relationship Id="rId10" Type="http://schemas.openxmlformats.org/officeDocument/2006/relationships/image" Target="../media/image255.wmf"/><Relationship Id="rId1" Type="http://schemas.openxmlformats.org/officeDocument/2006/relationships/image" Target="../media/image246.wmf"/></Relationships>
</file>

<file path=ppt/drawings/_rels/vmlDrawing46.vml.rels><?xml version="1.0" encoding="UTF-8" standalone="yes"?>
<Relationships xmlns="http://schemas.openxmlformats.org/package/2006/relationships"><Relationship Id="rId4" Type="http://schemas.openxmlformats.org/officeDocument/2006/relationships/image" Target="../media/image260.wmf"/><Relationship Id="rId3" Type="http://schemas.openxmlformats.org/officeDocument/2006/relationships/image" Target="../media/image259.wmf"/><Relationship Id="rId2" Type="http://schemas.openxmlformats.org/officeDocument/2006/relationships/image" Target="../media/image258.wmf"/><Relationship Id="rId1" Type="http://schemas.openxmlformats.org/officeDocument/2006/relationships/image" Target="../media/image257.wmf"/></Relationships>
</file>

<file path=ppt/drawings/_rels/vmlDrawing47.vml.rels><?xml version="1.0" encoding="UTF-8" standalone="yes"?>
<Relationships xmlns="http://schemas.openxmlformats.org/package/2006/relationships"><Relationship Id="rId6" Type="http://schemas.openxmlformats.org/officeDocument/2006/relationships/image" Target="../media/image266.wmf"/><Relationship Id="rId5" Type="http://schemas.openxmlformats.org/officeDocument/2006/relationships/image" Target="../media/image265.wmf"/><Relationship Id="rId4" Type="http://schemas.openxmlformats.org/officeDocument/2006/relationships/image" Target="../media/image264.wmf"/><Relationship Id="rId3" Type="http://schemas.openxmlformats.org/officeDocument/2006/relationships/image" Target="../media/image263.wmf"/><Relationship Id="rId2" Type="http://schemas.openxmlformats.org/officeDocument/2006/relationships/image" Target="../media/image262.wmf"/><Relationship Id="rId1" Type="http://schemas.openxmlformats.org/officeDocument/2006/relationships/image" Target="../media/image261.wmf"/></Relationships>
</file>

<file path=ppt/drawings/_rels/vmlDrawing48.vml.rels><?xml version="1.0" encoding="UTF-8" standalone="yes"?>
<Relationships xmlns="http://schemas.openxmlformats.org/package/2006/relationships"><Relationship Id="rId9" Type="http://schemas.openxmlformats.org/officeDocument/2006/relationships/image" Target="../media/image275.wmf"/><Relationship Id="rId8" Type="http://schemas.openxmlformats.org/officeDocument/2006/relationships/image" Target="../media/image274.wmf"/><Relationship Id="rId7" Type="http://schemas.openxmlformats.org/officeDocument/2006/relationships/image" Target="../media/image273.wmf"/><Relationship Id="rId6" Type="http://schemas.openxmlformats.org/officeDocument/2006/relationships/image" Target="../media/image272.wmf"/><Relationship Id="rId5" Type="http://schemas.openxmlformats.org/officeDocument/2006/relationships/image" Target="../media/image271.wmf"/><Relationship Id="rId4" Type="http://schemas.openxmlformats.org/officeDocument/2006/relationships/image" Target="../media/image270.wmf"/><Relationship Id="rId3" Type="http://schemas.openxmlformats.org/officeDocument/2006/relationships/image" Target="../media/image269.wmf"/><Relationship Id="rId2" Type="http://schemas.openxmlformats.org/officeDocument/2006/relationships/image" Target="../media/image268.wmf"/><Relationship Id="rId1" Type="http://schemas.openxmlformats.org/officeDocument/2006/relationships/image" Target="../media/image267.w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283.wmf"/><Relationship Id="rId7" Type="http://schemas.openxmlformats.org/officeDocument/2006/relationships/image" Target="../media/image282.wmf"/><Relationship Id="rId6" Type="http://schemas.openxmlformats.org/officeDocument/2006/relationships/image" Target="../media/image281.wmf"/><Relationship Id="rId5" Type="http://schemas.openxmlformats.org/officeDocument/2006/relationships/image" Target="../media/image280.wmf"/><Relationship Id="rId4" Type="http://schemas.openxmlformats.org/officeDocument/2006/relationships/image" Target="../media/image279.wmf"/><Relationship Id="rId3" Type="http://schemas.openxmlformats.org/officeDocument/2006/relationships/image" Target="../media/image278.wmf"/><Relationship Id="rId2" Type="http://schemas.openxmlformats.org/officeDocument/2006/relationships/image" Target="../media/image277.wmf"/><Relationship Id="rId1" Type="http://schemas.openxmlformats.org/officeDocument/2006/relationships/image" Target="../media/image276.wmf"/></Relationships>
</file>

<file path=ppt/drawings/_rels/vmlDrawing50.vml.rels><?xml version="1.0" encoding="UTF-8" standalone="yes"?>
<Relationships xmlns="http://schemas.openxmlformats.org/package/2006/relationships"><Relationship Id="rId9" Type="http://schemas.openxmlformats.org/officeDocument/2006/relationships/image" Target="../media/image292.wmf"/><Relationship Id="rId8" Type="http://schemas.openxmlformats.org/officeDocument/2006/relationships/image" Target="../media/image291.wmf"/><Relationship Id="rId7" Type="http://schemas.openxmlformats.org/officeDocument/2006/relationships/image" Target="../media/image290.wmf"/><Relationship Id="rId6" Type="http://schemas.openxmlformats.org/officeDocument/2006/relationships/image" Target="../media/image289.wmf"/><Relationship Id="rId5" Type="http://schemas.openxmlformats.org/officeDocument/2006/relationships/image" Target="../media/image288.wmf"/><Relationship Id="rId4" Type="http://schemas.openxmlformats.org/officeDocument/2006/relationships/image" Target="../media/image287.wmf"/><Relationship Id="rId3" Type="http://schemas.openxmlformats.org/officeDocument/2006/relationships/image" Target="../media/image286.wmf"/><Relationship Id="rId2" Type="http://schemas.openxmlformats.org/officeDocument/2006/relationships/image" Target="../media/image285.wmf"/><Relationship Id="rId1" Type="http://schemas.openxmlformats.org/officeDocument/2006/relationships/image" Target="../media/image284.wmf"/></Relationships>
</file>

<file path=ppt/drawings/_rels/vmlDrawing51.vml.rels><?xml version="1.0" encoding="UTF-8" standalone="yes"?>
<Relationships xmlns="http://schemas.openxmlformats.org/package/2006/relationships"><Relationship Id="rId9" Type="http://schemas.openxmlformats.org/officeDocument/2006/relationships/image" Target="../media/image301.wmf"/><Relationship Id="rId8" Type="http://schemas.openxmlformats.org/officeDocument/2006/relationships/image" Target="../media/image300.wmf"/><Relationship Id="rId7" Type="http://schemas.openxmlformats.org/officeDocument/2006/relationships/image" Target="../media/image299.wmf"/><Relationship Id="rId6" Type="http://schemas.openxmlformats.org/officeDocument/2006/relationships/image" Target="../media/image298.wmf"/><Relationship Id="rId5" Type="http://schemas.openxmlformats.org/officeDocument/2006/relationships/image" Target="../media/image297.wmf"/><Relationship Id="rId4" Type="http://schemas.openxmlformats.org/officeDocument/2006/relationships/image" Target="../media/image296.wmf"/><Relationship Id="rId3" Type="http://schemas.openxmlformats.org/officeDocument/2006/relationships/image" Target="../media/image295.wmf"/><Relationship Id="rId2" Type="http://schemas.openxmlformats.org/officeDocument/2006/relationships/image" Target="../media/image294.wmf"/><Relationship Id="rId14" Type="http://schemas.openxmlformats.org/officeDocument/2006/relationships/image" Target="../media/image306.wmf"/><Relationship Id="rId13" Type="http://schemas.openxmlformats.org/officeDocument/2006/relationships/image" Target="../media/image305.wmf"/><Relationship Id="rId12" Type="http://schemas.openxmlformats.org/officeDocument/2006/relationships/image" Target="../media/image304.wmf"/><Relationship Id="rId11" Type="http://schemas.openxmlformats.org/officeDocument/2006/relationships/image" Target="../media/image303.wmf"/><Relationship Id="rId10" Type="http://schemas.openxmlformats.org/officeDocument/2006/relationships/image" Target="../media/image302.wmf"/><Relationship Id="rId1" Type="http://schemas.openxmlformats.org/officeDocument/2006/relationships/image" Target="../media/image293.wmf"/></Relationships>
</file>

<file path=ppt/drawings/_rels/vmlDrawing52.vml.rels><?xml version="1.0" encoding="UTF-8" standalone="yes"?>
<Relationships xmlns="http://schemas.openxmlformats.org/package/2006/relationships"><Relationship Id="rId9" Type="http://schemas.openxmlformats.org/officeDocument/2006/relationships/image" Target="../media/image315.wmf"/><Relationship Id="rId8" Type="http://schemas.openxmlformats.org/officeDocument/2006/relationships/image" Target="../media/image314.wmf"/><Relationship Id="rId7" Type="http://schemas.openxmlformats.org/officeDocument/2006/relationships/image" Target="../media/image313.wmf"/><Relationship Id="rId6" Type="http://schemas.openxmlformats.org/officeDocument/2006/relationships/image" Target="../media/image312.wmf"/><Relationship Id="rId5" Type="http://schemas.openxmlformats.org/officeDocument/2006/relationships/image" Target="../media/image311.wmf"/><Relationship Id="rId4" Type="http://schemas.openxmlformats.org/officeDocument/2006/relationships/image" Target="../media/image310.wmf"/><Relationship Id="rId3" Type="http://schemas.openxmlformats.org/officeDocument/2006/relationships/image" Target="../media/image309.wmf"/><Relationship Id="rId2" Type="http://schemas.openxmlformats.org/officeDocument/2006/relationships/image" Target="../media/image308.wmf"/><Relationship Id="rId1" Type="http://schemas.openxmlformats.org/officeDocument/2006/relationships/image" Target="../media/image307.wmf"/></Relationships>
</file>

<file path=ppt/drawings/_rels/vmlDrawing53.vml.rels><?xml version="1.0" encoding="UTF-8" standalone="yes"?>
<Relationships xmlns="http://schemas.openxmlformats.org/package/2006/relationships"><Relationship Id="rId4" Type="http://schemas.openxmlformats.org/officeDocument/2006/relationships/image" Target="../media/image319.wmf"/><Relationship Id="rId3" Type="http://schemas.openxmlformats.org/officeDocument/2006/relationships/image" Target="../media/image318.wmf"/><Relationship Id="rId2" Type="http://schemas.openxmlformats.org/officeDocument/2006/relationships/image" Target="../media/image317.wmf"/><Relationship Id="rId1" Type="http://schemas.openxmlformats.org/officeDocument/2006/relationships/image" Target="../media/image316.wmf"/></Relationships>
</file>

<file path=ppt/drawings/_rels/vmlDrawing54.vml.rels><?xml version="1.0" encoding="UTF-8" standalone="yes"?>
<Relationships xmlns="http://schemas.openxmlformats.org/package/2006/relationships"><Relationship Id="rId7" Type="http://schemas.openxmlformats.org/officeDocument/2006/relationships/image" Target="../media/image326.wmf"/><Relationship Id="rId6" Type="http://schemas.openxmlformats.org/officeDocument/2006/relationships/image" Target="../media/image325.wmf"/><Relationship Id="rId5" Type="http://schemas.openxmlformats.org/officeDocument/2006/relationships/image" Target="../media/image324.wmf"/><Relationship Id="rId4" Type="http://schemas.openxmlformats.org/officeDocument/2006/relationships/image" Target="../media/image323.wmf"/><Relationship Id="rId3" Type="http://schemas.openxmlformats.org/officeDocument/2006/relationships/image" Target="../media/image322.wmf"/><Relationship Id="rId2" Type="http://schemas.openxmlformats.org/officeDocument/2006/relationships/image" Target="../media/image321.wmf"/><Relationship Id="rId1" Type="http://schemas.openxmlformats.org/officeDocument/2006/relationships/image" Target="../media/image320.wmf"/></Relationships>
</file>

<file path=ppt/drawings/_rels/vmlDrawing55.vml.rels><?xml version="1.0" encoding="UTF-8" standalone="yes"?>
<Relationships xmlns="http://schemas.openxmlformats.org/package/2006/relationships"><Relationship Id="rId6" Type="http://schemas.openxmlformats.org/officeDocument/2006/relationships/image" Target="../media/image334.wmf"/><Relationship Id="rId5" Type="http://schemas.openxmlformats.org/officeDocument/2006/relationships/image" Target="../media/image333.wmf"/><Relationship Id="rId4" Type="http://schemas.openxmlformats.org/officeDocument/2006/relationships/image" Target="../media/image332.wmf"/><Relationship Id="rId3" Type="http://schemas.openxmlformats.org/officeDocument/2006/relationships/image" Target="../media/image331.wmf"/><Relationship Id="rId2" Type="http://schemas.openxmlformats.org/officeDocument/2006/relationships/image" Target="../media/image330.wmf"/><Relationship Id="rId1" Type="http://schemas.openxmlformats.org/officeDocument/2006/relationships/image" Target="../media/image329.wmf"/></Relationships>
</file>

<file path=ppt/drawings/_rels/vmlDrawing56.vml.rels><?xml version="1.0" encoding="UTF-8" standalone="yes"?>
<Relationships xmlns="http://schemas.openxmlformats.org/package/2006/relationships"><Relationship Id="rId5" Type="http://schemas.openxmlformats.org/officeDocument/2006/relationships/image" Target="../media/image339.wmf"/><Relationship Id="rId4" Type="http://schemas.openxmlformats.org/officeDocument/2006/relationships/image" Target="../media/image338.wmf"/><Relationship Id="rId3" Type="http://schemas.openxmlformats.org/officeDocument/2006/relationships/image" Target="../media/image337.wmf"/><Relationship Id="rId2" Type="http://schemas.openxmlformats.org/officeDocument/2006/relationships/image" Target="../media/image336.wmf"/><Relationship Id="rId1" Type="http://schemas.openxmlformats.org/officeDocument/2006/relationships/image" Target="../media/image335.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340.wmf"/></Relationships>
</file>

<file path=ppt/drawings/_rels/vmlDrawing58.vml.rels><?xml version="1.0" encoding="UTF-8" standalone="yes"?>
<Relationships xmlns="http://schemas.openxmlformats.org/package/2006/relationships"><Relationship Id="rId9" Type="http://schemas.openxmlformats.org/officeDocument/2006/relationships/image" Target="../media/image349.wmf"/><Relationship Id="rId8" Type="http://schemas.openxmlformats.org/officeDocument/2006/relationships/image" Target="../media/image348.wmf"/><Relationship Id="rId7" Type="http://schemas.openxmlformats.org/officeDocument/2006/relationships/image" Target="../media/image347.wmf"/><Relationship Id="rId6" Type="http://schemas.openxmlformats.org/officeDocument/2006/relationships/image" Target="../media/image346.wmf"/><Relationship Id="rId5" Type="http://schemas.openxmlformats.org/officeDocument/2006/relationships/image" Target="../media/image345.wmf"/><Relationship Id="rId4" Type="http://schemas.openxmlformats.org/officeDocument/2006/relationships/image" Target="../media/image344.wmf"/><Relationship Id="rId3" Type="http://schemas.openxmlformats.org/officeDocument/2006/relationships/image" Target="../media/image343.wmf"/><Relationship Id="rId2" Type="http://schemas.openxmlformats.org/officeDocument/2006/relationships/image" Target="../media/image342.wmf"/><Relationship Id="rId11" Type="http://schemas.openxmlformats.org/officeDocument/2006/relationships/image" Target="../media/image351.wmf"/><Relationship Id="rId10" Type="http://schemas.openxmlformats.org/officeDocument/2006/relationships/image" Target="../media/image350.wmf"/><Relationship Id="rId1" Type="http://schemas.openxmlformats.org/officeDocument/2006/relationships/image" Target="../media/image341.wmf"/></Relationships>
</file>

<file path=ppt/drawings/_rels/vmlDrawing59.vml.rels><?xml version="1.0" encoding="UTF-8" standalone="yes"?>
<Relationships xmlns="http://schemas.openxmlformats.org/package/2006/relationships"><Relationship Id="rId5" Type="http://schemas.openxmlformats.org/officeDocument/2006/relationships/image" Target="../media/image356.wmf"/><Relationship Id="rId4" Type="http://schemas.openxmlformats.org/officeDocument/2006/relationships/image" Target="../media/image355.wmf"/><Relationship Id="rId3" Type="http://schemas.openxmlformats.org/officeDocument/2006/relationships/image" Target="../media/image354.wmf"/><Relationship Id="rId2" Type="http://schemas.openxmlformats.org/officeDocument/2006/relationships/image" Target="../media/image353.wmf"/><Relationship Id="rId1" Type="http://schemas.openxmlformats.org/officeDocument/2006/relationships/image" Target="../media/image352.wmf"/></Relationships>
</file>

<file path=ppt/drawings/_rels/vmlDrawing60.vml.rels><?xml version="1.0" encoding="UTF-8" standalone="yes"?>
<Relationships xmlns="http://schemas.openxmlformats.org/package/2006/relationships"><Relationship Id="rId4" Type="http://schemas.openxmlformats.org/officeDocument/2006/relationships/image" Target="../media/image360.wmf"/><Relationship Id="rId3" Type="http://schemas.openxmlformats.org/officeDocument/2006/relationships/image" Target="../media/image359.wmf"/><Relationship Id="rId2" Type="http://schemas.openxmlformats.org/officeDocument/2006/relationships/image" Target="../media/image358.wmf"/><Relationship Id="rId1" Type="http://schemas.openxmlformats.org/officeDocument/2006/relationships/image" Target="../media/image357.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363.wmf"/><Relationship Id="rId2" Type="http://schemas.openxmlformats.org/officeDocument/2006/relationships/image" Target="../media/image362.wmf"/><Relationship Id="rId1" Type="http://schemas.openxmlformats.org/officeDocument/2006/relationships/image" Target="../media/image361.wmf"/></Relationships>
</file>

<file path=ppt/drawings/_rels/vmlDrawing62.vml.rels><?xml version="1.0" encoding="UTF-8" standalone="yes"?>
<Relationships xmlns="http://schemas.openxmlformats.org/package/2006/relationships"><Relationship Id="rId8" Type="http://schemas.openxmlformats.org/officeDocument/2006/relationships/image" Target="../media/image371.wmf"/><Relationship Id="rId7" Type="http://schemas.openxmlformats.org/officeDocument/2006/relationships/image" Target="../media/image370.wmf"/><Relationship Id="rId6" Type="http://schemas.openxmlformats.org/officeDocument/2006/relationships/image" Target="../media/image369.wmf"/><Relationship Id="rId5" Type="http://schemas.openxmlformats.org/officeDocument/2006/relationships/image" Target="../media/image368.wmf"/><Relationship Id="rId4" Type="http://schemas.openxmlformats.org/officeDocument/2006/relationships/image" Target="../media/image367.wmf"/><Relationship Id="rId3" Type="http://schemas.openxmlformats.org/officeDocument/2006/relationships/image" Target="../media/image366.wmf"/><Relationship Id="rId2" Type="http://schemas.openxmlformats.org/officeDocument/2006/relationships/image" Target="../media/image365.wmf"/><Relationship Id="rId1" Type="http://schemas.openxmlformats.org/officeDocument/2006/relationships/image" Target="../media/image364.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374.wmf"/><Relationship Id="rId2" Type="http://schemas.openxmlformats.org/officeDocument/2006/relationships/image" Target="../media/image373.wmf"/><Relationship Id="rId1" Type="http://schemas.openxmlformats.org/officeDocument/2006/relationships/image" Target="../media/image372.w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377.w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379.wmf"/></Relationships>
</file>

<file path=ppt/drawings/_rels/vmlDrawing66.vml.rels><?xml version="1.0" encoding="UTF-8" standalone="yes"?>
<Relationships xmlns="http://schemas.openxmlformats.org/package/2006/relationships"><Relationship Id="rId9" Type="http://schemas.openxmlformats.org/officeDocument/2006/relationships/image" Target="../media/image387.wmf"/><Relationship Id="rId8" Type="http://schemas.openxmlformats.org/officeDocument/2006/relationships/image" Target="../media/image386.wmf"/><Relationship Id="rId7" Type="http://schemas.openxmlformats.org/officeDocument/2006/relationships/image" Target="../media/image385.wmf"/><Relationship Id="rId6" Type="http://schemas.openxmlformats.org/officeDocument/2006/relationships/image" Target="../media/image384.wmf"/><Relationship Id="rId5" Type="http://schemas.openxmlformats.org/officeDocument/2006/relationships/image" Target="../media/image383.wmf"/><Relationship Id="rId4" Type="http://schemas.openxmlformats.org/officeDocument/2006/relationships/image" Target="../media/image227.wmf"/><Relationship Id="rId3" Type="http://schemas.openxmlformats.org/officeDocument/2006/relationships/image" Target="../media/image382.wmf"/><Relationship Id="rId2" Type="http://schemas.openxmlformats.org/officeDocument/2006/relationships/image" Target="../media/image228.wmf"/><Relationship Id="rId1" Type="http://schemas.openxmlformats.org/officeDocument/2006/relationships/image" Target="../media/image381.wmf"/></Relationships>
</file>

<file path=ppt/drawings/_rels/vmlDrawing67.vml.rels><?xml version="1.0" encoding="UTF-8" standalone="yes"?>
<Relationships xmlns="http://schemas.openxmlformats.org/package/2006/relationships"><Relationship Id="rId9" Type="http://schemas.openxmlformats.org/officeDocument/2006/relationships/image" Target="../media/image392.wmf"/><Relationship Id="rId8" Type="http://schemas.openxmlformats.org/officeDocument/2006/relationships/image" Target="../media/image391.wmf"/><Relationship Id="rId7" Type="http://schemas.openxmlformats.org/officeDocument/2006/relationships/image" Target="../media/image383.wmf"/><Relationship Id="rId6" Type="http://schemas.openxmlformats.org/officeDocument/2006/relationships/image" Target="../media/image390.wmf"/><Relationship Id="rId5" Type="http://schemas.openxmlformats.org/officeDocument/2006/relationships/image" Target="../media/image389.wmf"/><Relationship Id="rId4" Type="http://schemas.openxmlformats.org/officeDocument/2006/relationships/image" Target="../media/image388.wmf"/><Relationship Id="rId3" Type="http://schemas.openxmlformats.org/officeDocument/2006/relationships/image" Target="../media/image228.wmf"/><Relationship Id="rId2" Type="http://schemas.openxmlformats.org/officeDocument/2006/relationships/image" Target="../media/image384.wmf"/><Relationship Id="rId10" Type="http://schemas.openxmlformats.org/officeDocument/2006/relationships/image" Target="../media/image393.wmf"/><Relationship Id="rId1" Type="http://schemas.openxmlformats.org/officeDocument/2006/relationships/image" Target="../media/image227.wmf"/></Relationships>
</file>

<file path=ppt/drawings/_rels/vmlDrawing68.vml.rels><?xml version="1.0" encoding="UTF-8" standalone="yes"?>
<Relationships xmlns="http://schemas.openxmlformats.org/package/2006/relationships"><Relationship Id="rId2" Type="http://schemas.openxmlformats.org/officeDocument/2006/relationships/image" Target="../media/image394.wmf"/><Relationship Id="rId1" Type="http://schemas.openxmlformats.org/officeDocument/2006/relationships/image" Target="../media/image56.wmf"/></Relationships>
</file>

<file path=ppt/drawings/_rels/vmlDrawing69.vml.rels><?xml version="1.0" encoding="UTF-8" standalone="yes"?>
<Relationships xmlns="http://schemas.openxmlformats.org/package/2006/relationships"><Relationship Id="rId9" Type="http://schemas.openxmlformats.org/officeDocument/2006/relationships/image" Target="../media/image403.wmf"/><Relationship Id="rId8" Type="http://schemas.openxmlformats.org/officeDocument/2006/relationships/image" Target="../media/image402.wmf"/><Relationship Id="rId7" Type="http://schemas.openxmlformats.org/officeDocument/2006/relationships/image" Target="../media/image401.wmf"/><Relationship Id="rId6" Type="http://schemas.openxmlformats.org/officeDocument/2006/relationships/image" Target="../media/image400.wmf"/><Relationship Id="rId5" Type="http://schemas.openxmlformats.org/officeDocument/2006/relationships/image" Target="../media/image399.wmf"/><Relationship Id="rId4" Type="http://schemas.openxmlformats.org/officeDocument/2006/relationships/image" Target="../media/image398.wmf"/><Relationship Id="rId3" Type="http://schemas.openxmlformats.org/officeDocument/2006/relationships/image" Target="../media/image397.wmf"/><Relationship Id="rId2" Type="http://schemas.openxmlformats.org/officeDocument/2006/relationships/image" Target="../media/image396.wmf"/><Relationship Id="rId1" Type="http://schemas.openxmlformats.org/officeDocument/2006/relationships/image" Target="../media/image395.w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406.wmf"/><Relationship Id="rId2" Type="http://schemas.openxmlformats.org/officeDocument/2006/relationships/image" Target="../media/image405.wmf"/><Relationship Id="rId1" Type="http://schemas.openxmlformats.org/officeDocument/2006/relationships/image" Target="../media/image40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Arial" panose="020B0604020202020204" pitchFamily="34" charset="0"/>
                <a:ea typeface="宋体" panose="02010600030101010101" pitchFamily="2" charset="-122"/>
              </a:defRPr>
            </a:lvl1pPr>
          </a:lstStyle>
          <a:p>
            <a:pPr>
              <a:defRPr/>
            </a:pPr>
            <a:endParaRPr lang="en-US" altLang="zh-CN"/>
          </a:p>
        </p:txBody>
      </p:sp>
      <p:sp>
        <p:nvSpPr>
          <p:cNvPr id="12390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ea typeface="宋体" panose="02010600030101010101" pitchFamily="2" charset="-122"/>
              </a:defRPr>
            </a:lvl1pPr>
          </a:lstStyle>
          <a:p>
            <a:pPr>
              <a:defRPr/>
            </a:pPr>
            <a:endParaRPr lang="en-US" altLang="zh-CN"/>
          </a:p>
        </p:txBody>
      </p:sp>
      <p:sp>
        <p:nvSpPr>
          <p:cNvPr id="1054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2390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2391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Arial" panose="020B0604020202020204" pitchFamily="34" charset="0"/>
                <a:ea typeface="宋体" panose="02010600030101010101" pitchFamily="2" charset="-122"/>
              </a:defRPr>
            </a:lvl1pPr>
          </a:lstStyle>
          <a:p>
            <a:pPr>
              <a:defRPr/>
            </a:pPr>
            <a:endParaRPr lang="en-US" altLang="zh-CN"/>
          </a:p>
        </p:txBody>
      </p:sp>
      <p:sp>
        <p:nvSpPr>
          <p:cNvPr id="12391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ea typeface="宋体" panose="02010600030101010101" pitchFamily="2" charset="-122"/>
              </a:defRPr>
            </a:lvl1pPr>
          </a:lstStyle>
          <a:p>
            <a:pPr>
              <a:defRPr/>
            </a:pPr>
            <a:fld id="{C3B0C8FB-B9B1-4CE4-8BF6-31CD9CE3A91E}"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baike.baidu.com/view/434124.htm" TargetMode="External"/><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BEEFCBE4-B903-437D-B3D1-CF345574D27F}" type="slidenum">
              <a:rPr lang="en-US" altLang="zh-CN" smtClean="0"/>
            </a:fld>
            <a:endParaRPr lang="en-US" altLang="zh-CN" smtClean="0"/>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p:spPr>
        <p:txBody>
          <a:bodyPr/>
          <a:lstStyle/>
          <a:p>
            <a:pPr eaLnBrk="1" hangingPunct="1"/>
            <a:r>
              <a:rPr lang="zh-CN" altLang="en-US" smtClean="0"/>
              <a:t>热学发展史实际上就是</a:t>
            </a:r>
            <a:r>
              <a:rPr lang="zh-CN" altLang="en-US" smtClean="0">
                <a:solidFill>
                  <a:srgbClr val="FF0000"/>
                </a:solidFill>
              </a:rPr>
              <a:t>热力学</a:t>
            </a:r>
            <a:r>
              <a:rPr lang="zh-CN" altLang="en-US" smtClean="0"/>
              <a:t>和</a:t>
            </a:r>
            <a:r>
              <a:rPr lang="zh-CN" altLang="en-US" smtClean="0">
                <a:solidFill>
                  <a:srgbClr val="FF0000"/>
                </a:solidFill>
              </a:rPr>
              <a:t>统计物理学</a:t>
            </a:r>
            <a:r>
              <a:rPr lang="zh-CN" altLang="en-US" smtClean="0"/>
              <a:t>的发展史，可以划分为</a:t>
            </a:r>
            <a:r>
              <a:rPr lang="zh-CN" altLang="en-US" smtClean="0">
                <a:solidFill>
                  <a:srgbClr val="006600"/>
                </a:solidFill>
              </a:rPr>
              <a:t>四个时期</a:t>
            </a:r>
            <a:r>
              <a:rPr lang="zh-CN" altLang="en-US" smtClean="0"/>
              <a:t>。</a:t>
            </a:r>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AF7F6FE3-5C3A-4A28-B769-23553691D167}" type="slidenum">
              <a:rPr lang="en-US" altLang="zh-CN" smtClean="0"/>
            </a:fld>
            <a:endParaRPr lang="en-US" altLang="zh-CN" smtClean="0"/>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noFill/>
        </p:spPr>
        <p:txBody>
          <a:bodyPr/>
          <a:lstStyle/>
          <a:p>
            <a:pPr eaLnBrk="1" hangingPunct="1">
              <a:lnSpc>
                <a:spcPct val="115000"/>
              </a:lnSpc>
              <a:spcBef>
                <a:spcPct val="0"/>
              </a:spcBef>
            </a:pPr>
            <a:endParaRPr lang="zh-CN" altLang="en-US" smtClean="0">
              <a:solidFill>
                <a:schemeClr val="bg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B48013BF-3227-45C3-B84C-672230A98EAB}" type="slidenum">
              <a:rPr lang="en-US" altLang="zh-CN" smtClean="0"/>
            </a:fld>
            <a:endParaRPr lang="en-US" altLang="zh-CN" smtClean="0"/>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a:noFill/>
        </p:spPr>
        <p:txBody>
          <a:bodyPr/>
          <a:lstStyle/>
          <a:p>
            <a:pPr eaLnBrk="1" hangingPunct="1">
              <a:lnSpc>
                <a:spcPct val="115000"/>
              </a:lnSpc>
              <a:spcBef>
                <a:spcPct val="0"/>
              </a:spcBef>
            </a:pPr>
            <a:r>
              <a:rPr kumimoji="1" lang="zh-CN" altLang="en-US" sz="1000" b="1" smtClean="0"/>
              <a:t>热现象</a:t>
            </a:r>
            <a:r>
              <a:rPr kumimoji="1" lang="zh-CN" altLang="en-US" sz="1000" smtClean="0"/>
              <a:t>是与物体温度有关的物理性质及状态的变化。</a:t>
            </a:r>
            <a:r>
              <a:rPr lang="zh-CN" altLang="en-US" sz="1000" smtClean="0"/>
              <a:t>热学的研究按</a:t>
            </a:r>
            <a:r>
              <a:rPr lang="zh-CN" altLang="en-US" sz="1000" b="1" smtClean="0"/>
              <a:t>描述方法</a:t>
            </a:r>
            <a:r>
              <a:rPr lang="zh-CN" altLang="en-US" sz="1000" smtClean="0"/>
              <a:t>的不同分为两种：</a:t>
            </a:r>
            <a:r>
              <a:rPr lang="zh-CN" altLang="en-US" sz="1000" b="1" smtClean="0"/>
              <a:t>宏观理论的</a:t>
            </a:r>
            <a:r>
              <a:rPr lang="zh-CN" altLang="en-US" sz="1000" b="1" smtClean="0">
                <a:solidFill>
                  <a:srgbClr val="FF0000"/>
                </a:solidFill>
              </a:rPr>
              <a:t>热力学</a:t>
            </a:r>
            <a:r>
              <a:rPr lang="zh-CN" altLang="en-US" sz="1000" b="1" smtClean="0"/>
              <a:t>和微观理论的</a:t>
            </a:r>
            <a:r>
              <a:rPr lang="zh-CN" altLang="en-US" sz="1000" b="1" smtClean="0">
                <a:solidFill>
                  <a:srgbClr val="FF0000"/>
                </a:solidFill>
              </a:rPr>
              <a:t>统计物理学</a:t>
            </a:r>
            <a:r>
              <a:rPr lang="zh-CN" altLang="en-US" sz="1000" b="1" smtClean="0"/>
              <a:t>。</a:t>
            </a:r>
            <a:endParaRPr lang="zh-CN" altLang="en-US" sz="1000" b="1" smtClean="0"/>
          </a:p>
          <a:p>
            <a:pPr eaLnBrk="1" hangingPunct="1">
              <a:lnSpc>
                <a:spcPct val="115000"/>
              </a:lnSpc>
              <a:spcBef>
                <a:spcPct val="0"/>
              </a:spcBef>
            </a:pPr>
            <a:endParaRPr kumimoji="1" lang="zh-CN" altLang="en-US" sz="1000" smtClean="0"/>
          </a:p>
          <a:p>
            <a:pPr eaLnBrk="1" hangingPunct="1"/>
            <a:endParaRPr kumimoji="1" lang="en-US" altLang="zh-CN" b="1"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ADB11908-F6BA-4E43-AD8D-6D134878E685}" type="slidenum">
              <a:rPr lang="en-US" altLang="zh-CN" smtClean="0"/>
            </a:fld>
            <a:endParaRPr lang="en-US" altLang="zh-CN" smtClean="0"/>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a:noFill/>
        </p:spPr>
        <p:txBody>
          <a:bodyPr/>
          <a:lstStyle/>
          <a:p>
            <a:r>
              <a:rPr lang="en-US" altLang="zh-CN" smtClean="0"/>
              <a:t> </a:t>
            </a:r>
            <a:r>
              <a:rPr lang="zh-CN" altLang="en-US" smtClean="0"/>
              <a:t>首先要确定选择什么样的物质</a:t>
            </a:r>
            <a:r>
              <a:rPr lang="en-US" altLang="zh-CN" smtClean="0"/>
              <a:t>(</a:t>
            </a:r>
            <a:r>
              <a:rPr lang="zh-CN" altLang="en-US" smtClean="0"/>
              <a:t>是水银，还是氢气或是电偶</a:t>
            </a:r>
            <a:r>
              <a:rPr lang="en-US" altLang="zh-CN" smtClean="0"/>
              <a:t>)</a:t>
            </a:r>
            <a:r>
              <a:rPr lang="zh-CN" altLang="en-US" smtClean="0"/>
              <a:t>，这些物质的冷热状态必须能够明显地反映客观物体</a:t>
            </a:r>
            <a:r>
              <a:rPr lang="en-US" altLang="zh-CN" smtClean="0"/>
              <a:t>(</a:t>
            </a:r>
            <a:r>
              <a:rPr lang="zh-CN" altLang="en-US" smtClean="0"/>
              <a:t>欲测物体</a:t>
            </a:r>
            <a:r>
              <a:rPr lang="en-US" altLang="zh-CN" smtClean="0"/>
              <a:t>)</a:t>
            </a:r>
            <a:r>
              <a:rPr lang="zh-CN" altLang="en-US" smtClean="0"/>
              <a:t>的温度变化，而且这种变化有复现性</a:t>
            </a:r>
            <a:r>
              <a:rPr lang="en-US" altLang="zh-CN" smtClean="0"/>
              <a:t>(</a:t>
            </a:r>
            <a:r>
              <a:rPr lang="zh-CN" altLang="en-US" smtClean="0"/>
              <a:t>这一步叫选择“测温质”</a:t>
            </a:r>
            <a:r>
              <a:rPr lang="en-US" altLang="zh-CN" smtClean="0"/>
              <a:t>)</a:t>
            </a:r>
            <a:r>
              <a:rPr lang="zh-CN" altLang="en-US" smtClean="0"/>
              <a:t>。要知道该测温质的哪些物理量随着温度的改变将产生某种预期的改变</a:t>
            </a:r>
            <a:r>
              <a:rPr lang="en-US" altLang="zh-CN" smtClean="0"/>
              <a:t>(</a:t>
            </a:r>
            <a:r>
              <a:rPr lang="zh-CN" altLang="en-US" smtClean="0"/>
              <a:t>这一步叫确定“测温特性”</a:t>
            </a:r>
            <a:r>
              <a:rPr lang="en-US" altLang="zh-CN" smtClean="0"/>
              <a:t>)</a:t>
            </a:r>
            <a:r>
              <a:rPr lang="zh-CN" altLang="en-US" smtClean="0"/>
              <a:t>。比如，</a:t>
            </a:r>
            <a:r>
              <a:rPr lang="zh-CN" altLang="en-US" smtClean="0">
                <a:hlinkClick r:id="rId3"/>
              </a:rPr>
              <a:t>水银温度计</a:t>
            </a:r>
            <a:r>
              <a:rPr lang="zh-CN" altLang="en-US" smtClean="0"/>
              <a:t>是用水银做测温质，水银的体积随温度作线性变化，这就是水银这种测温质的测温特性。第三，要选定该物理量的两个确定的数值作为参考点</a:t>
            </a:r>
            <a:r>
              <a:rPr lang="en-US" altLang="zh-CN" smtClean="0"/>
              <a:t>(</a:t>
            </a:r>
            <a:r>
              <a:rPr lang="zh-CN" altLang="en-US" smtClean="0"/>
              <a:t>也叫基准点</a:t>
            </a:r>
            <a:r>
              <a:rPr lang="en-US" altLang="zh-CN" smtClean="0"/>
              <a:t>)</a:t>
            </a:r>
            <a:r>
              <a:rPr lang="zh-CN" altLang="en-US" smtClean="0"/>
              <a:t>，进而规定划分温度间隔的方法。 </a:t>
            </a:r>
            <a:endParaRPr lang="zh-CN" altLang="en-US" smtClean="0"/>
          </a:p>
          <a:p>
            <a:r>
              <a:rPr lang="zh-CN" altLang="en-US" smtClean="0">
                <a:solidFill>
                  <a:srgbClr val="FF6600"/>
                </a:solidFill>
              </a:rPr>
              <a:t>    华伦海特</a:t>
            </a:r>
            <a:r>
              <a:rPr lang="zh-CN" altLang="en-US" smtClean="0"/>
              <a:t>最初所制的水银温度计是在北爱尔兰最冷的某个冬日，水银柱降到最低的高度定为零度；把他妻子的体温定为</a:t>
            </a:r>
            <a:r>
              <a:rPr lang="en-US" altLang="zh-CN" smtClean="0"/>
              <a:t>100</a:t>
            </a:r>
            <a:r>
              <a:rPr lang="zh-CN" altLang="en-US" smtClean="0"/>
              <a:t>度，然后再把这段区间的长度均分为</a:t>
            </a:r>
            <a:r>
              <a:rPr lang="en-US" altLang="zh-CN" smtClean="0"/>
              <a:t>100</a:t>
            </a:r>
            <a:r>
              <a:rPr lang="zh-CN" altLang="en-US" smtClean="0"/>
              <a:t>份，每一份叫</a:t>
            </a:r>
            <a:r>
              <a:rPr lang="en-US" altLang="zh-CN" smtClean="0"/>
              <a:t>1</a:t>
            </a:r>
            <a:r>
              <a:rPr lang="zh-CN" altLang="en-US" smtClean="0"/>
              <a:t>度。这就是最初的华氏温标。显然，认定气温和人的体温作为测温质的标准点并在此基础上分度是不妥当的。健康人的体温在一天之中经常波动，而且他妻子如果感冒发烧了怎么办？</a:t>
            </a:r>
            <a:endParaRPr lang="zh-CN" altLang="en-US" smtClean="0"/>
          </a:p>
        </p:txBody>
      </p:sp>
      <p:sp>
        <p:nvSpPr>
          <p:cNvPr id="110596" name="灯片编号占位符 3"/>
          <p:cNvSpPr>
            <a:spLocks noGrp="1"/>
          </p:cNvSpPr>
          <p:nvPr>
            <p:ph type="sldNum" sz="quarter" idx="5"/>
          </p:nvPr>
        </p:nvSpPr>
        <p:spPr>
          <a:noFill/>
        </p:spPr>
        <p:txBody>
          <a:bodyPr/>
          <a:lstStyle/>
          <a:p>
            <a:fld id="{7D26711F-3FF2-4CB4-A4E0-87E0ABB3E9ED}" type="slidenum">
              <a:rPr lang="en-US" altLang="zh-CN" smtClean="0"/>
            </a:fld>
            <a:endParaRPr lang="en-US"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p:sp>
      <p:sp>
        <p:nvSpPr>
          <p:cNvPr id="111619" name="备注占位符 2"/>
          <p:cNvSpPr>
            <a:spLocks noGrp="1"/>
          </p:cNvSpPr>
          <p:nvPr>
            <p:ph type="body" idx="1"/>
          </p:nvPr>
        </p:nvSpPr>
        <p:spPr>
          <a:noFill/>
        </p:spPr>
        <p:txBody>
          <a:bodyPr/>
          <a:lstStyle/>
          <a:p>
            <a:r>
              <a:rPr lang="zh-CN" altLang="en-US" smtClean="0"/>
              <a:t>开尔文</a:t>
            </a:r>
            <a:r>
              <a:rPr lang="en-US" altLang="zh-CN" smtClean="0"/>
              <a:t>(</a:t>
            </a:r>
            <a:r>
              <a:rPr lang="zh-CN" altLang="en-US" smtClean="0"/>
              <a:t>即</a:t>
            </a:r>
            <a:r>
              <a:rPr lang="en-US" altLang="zh-CN" smtClean="0"/>
              <a:t>W·</a:t>
            </a:r>
            <a:r>
              <a:rPr lang="zh-CN" altLang="en-US" smtClean="0"/>
              <a:t>汤姆逊</a:t>
            </a:r>
            <a:r>
              <a:rPr lang="en-US" altLang="zh-CN" smtClean="0"/>
              <a:t>)——</a:t>
            </a:r>
            <a:r>
              <a:rPr lang="zh-CN" altLang="en-US" smtClean="0"/>
              <a:t>这位热力学第二定律的创始人，最受尊敬的物理学家，创立了一种不依赖任何测温质</a:t>
            </a:r>
            <a:r>
              <a:rPr lang="en-US" altLang="zh-CN" smtClean="0"/>
              <a:t>(</a:t>
            </a:r>
            <a:r>
              <a:rPr lang="zh-CN" altLang="en-US" smtClean="0"/>
              <a:t>当然也就不依赖任何测温质的任何物理性质</a:t>
            </a:r>
            <a:r>
              <a:rPr lang="en-US" altLang="zh-CN" smtClean="0"/>
              <a:t>)</a:t>
            </a:r>
            <a:r>
              <a:rPr lang="zh-CN" altLang="en-US" smtClean="0"/>
              <a:t>的绝对真实的绝对温标，也叫开氏温标或热力学温标。开氏温标是根据卡诺循环定出来的，以卡诺循环的热量作为测定温度的工具，即热量起着测温质的作用。正因为如此，我们又把开氏温标叫做热力学温标。卡诺循环描绘了理想热机的基本图案，具有巨大的理论意义。卡诺循环象迷雾中的灯塔，给出了热机效率的上限。</a:t>
            </a:r>
            <a:endParaRPr lang="zh-CN" altLang="en-US" smtClean="0"/>
          </a:p>
        </p:txBody>
      </p:sp>
      <p:sp>
        <p:nvSpPr>
          <p:cNvPr id="111620" name="灯片编号占位符 3"/>
          <p:cNvSpPr>
            <a:spLocks noGrp="1"/>
          </p:cNvSpPr>
          <p:nvPr>
            <p:ph type="sldNum" sz="quarter" idx="5"/>
          </p:nvPr>
        </p:nvSpPr>
        <p:spPr>
          <a:noFill/>
        </p:spPr>
        <p:txBody>
          <a:bodyPr/>
          <a:lstStyle/>
          <a:p>
            <a:fld id="{81B31781-965E-43B3-B23F-6068425186D6}" type="slidenum">
              <a:rPr lang="en-US" altLang="zh-CN" smtClean="0"/>
            </a:fld>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4E07641D-F24B-4089-BEEA-313BE143D9E9}" type="slidenum">
              <a:rPr lang="en-US" altLang="zh-CN" smtClean="0"/>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r>
              <a:rPr lang="zh-CN" altLang="en-US" smtClean="0"/>
              <a:t>从微观的角度而言，组成系统的大量粒子仍在作</a:t>
            </a:r>
            <a:r>
              <a:rPr lang="zh-CN" altLang="en-US" smtClean="0">
                <a:solidFill>
                  <a:srgbClr val="FF0000"/>
                </a:solidFill>
              </a:rPr>
              <a:t>无规则的热运动</a:t>
            </a:r>
            <a:r>
              <a:rPr lang="zh-CN" altLang="en-US" smtClean="0"/>
              <a:t>，只是大量粒子热运动的</a:t>
            </a:r>
            <a:r>
              <a:rPr lang="zh-CN" altLang="en-US" smtClean="0">
                <a:solidFill>
                  <a:srgbClr val="FF6600"/>
                </a:solidFill>
              </a:rPr>
              <a:t>平均效果不变</a:t>
            </a:r>
            <a:r>
              <a:rPr lang="zh-CN" altLang="en-US" smtClean="0"/>
              <a:t>，这在宏观上表现为系统达到平衡，因此这种平衡态又称热动平衡态。</a:t>
            </a:r>
            <a:endParaRPr lang="zh-CN" altLang="en-US" smtClean="0"/>
          </a:p>
          <a:p>
            <a:pPr eaLnBrk="1" hangingPunct="1">
              <a:spcBef>
                <a:spcPct val="50000"/>
              </a:spcBef>
            </a:pPr>
            <a:r>
              <a:rPr lang="zh-CN" altLang="en-US" b="1" smtClean="0"/>
              <a:t>        </a:t>
            </a:r>
            <a:r>
              <a:rPr lang="zh-CN" altLang="en-US" smtClean="0"/>
              <a:t>实际上，并不存在孤立系统，系统与外界总是发生着程度不同的能量交换，因此平衡态是一个理想的状态，仅是在一定条件下对实际状态的</a:t>
            </a:r>
            <a:r>
              <a:rPr lang="zh-CN" altLang="en-US" smtClean="0">
                <a:solidFill>
                  <a:srgbClr val="FF0000"/>
                </a:solidFill>
              </a:rPr>
              <a:t>简化</a:t>
            </a:r>
            <a:r>
              <a:rPr lang="zh-CN" altLang="en-US" smtClean="0"/>
              <a:t>。但当系统受到外界作用可以略去，宏观性质只有很小的变化时，系统的状态就可以近似地看作平衡态 。</a:t>
            </a:r>
            <a:endParaRPr lang="zh-CN" altLang="en-US" smtClean="0"/>
          </a:p>
          <a:p>
            <a:pPr eaLnBrk="1" hangingPunct="1"/>
            <a:endParaRPr lang="en-US"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CBEAB417-567F-415E-AB17-52534FB3B798}" type="slidenum">
              <a:rPr lang="en-US" altLang="zh-CN" smtClean="0"/>
            </a:fld>
            <a:endParaRPr lang="en-US" altLang="zh-CN" smtClean="0"/>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p:spPr>
        <p:txBody>
          <a:bodyPr/>
          <a:lstStyle/>
          <a:p>
            <a:pPr eaLnBrk="1" hangingPunct="1">
              <a:spcBef>
                <a:spcPct val="0"/>
              </a:spcBef>
              <a:buClr>
                <a:srgbClr val="FF0000"/>
              </a:buClr>
              <a:buFont typeface="Wingdings" panose="05000000000000000000" pitchFamily="2" charset="2"/>
              <a:buNone/>
            </a:pPr>
            <a:r>
              <a:rPr kumimoji="1" lang="zh-CN" altLang="en-US" b="1" smtClean="0"/>
              <a:t>准静态过程是一种理想过程，实际的过程都</a:t>
            </a:r>
            <a:r>
              <a:rPr kumimoji="1" lang="zh-CN" altLang="en-US" b="1" smtClean="0">
                <a:solidFill>
                  <a:srgbClr val="FF5050"/>
                </a:solidFill>
              </a:rPr>
              <a:t>是非准静态过程</a:t>
            </a:r>
            <a:r>
              <a:rPr kumimoji="1" lang="zh-CN" altLang="en-US" smtClean="0"/>
              <a:t>。</a:t>
            </a:r>
            <a:endParaRPr kumimoji="1" lang="zh-CN" altLang="en-US" smtClean="0"/>
          </a:p>
          <a:p>
            <a:pPr eaLnBrk="1" hangingPunct="1"/>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p:sp>
      <p:sp>
        <p:nvSpPr>
          <p:cNvPr id="114691" name="备注占位符 2"/>
          <p:cNvSpPr>
            <a:spLocks noGrp="1"/>
          </p:cNvSpPr>
          <p:nvPr>
            <p:ph type="body" idx="1"/>
          </p:nvPr>
        </p:nvSpPr>
        <p:spPr>
          <a:noFill/>
        </p:spPr>
        <p:txBody>
          <a:bodyPr/>
          <a:lstStyle/>
          <a:p>
            <a:r>
              <a:rPr kumimoji="1" lang="zh-CN" altLang="en-US" b="1" smtClean="0">
                <a:solidFill>
                  <a:srgbClr val="0000FF"/>
                </a:solidFill>
                <a:latin typeface="宋体" panose="02010600030101010101" pitchFamily="2" charset="-122"/>
              </a:rPr>
              <a:t>弛豫时间：</a:t>
            </a:r>
            <a:r>
              <a:rPr lang="zh-CN" altLang="en-US" smtClean="0"/>
              <a:t>气体的平衡状态被破坏后恢复平衡所需的时间。</a:t>
            </a:r>
            <a:endParaRPr lang="en-US" altLang="zh-CN" smtClean="0"/>
          </a:p>
          <a:p>
            <a:r>
              <a:rPr lang="zh-CN" altLang="en-US" smtClean="0"/>
              <a:t>      因为气体分子热运动的平均速度可达每秒数百米以上，气体压力传播的速度也达每秒数百米，因而在一般工程设备具有的有限空间中，气体的平衡状态被破坏后恢复平衡所需的时间， 即所谓弛豫时间非常短。</a:t>
            </a:r>
            <a:endParaRPr lang="zh-CN" altLang="en-US" smtClean="0"/>
          </a:p>
        </p:txBody>
      </p:sp>
      <p:sp>
        <p:nvSpPr>
          <p:cNvPr id="114692" name="灯片编号占位符 3"/>
          <p:cNvSpPr>
            <a:spLocks noGrp="1"/>
          </p:cNvSpPr>
          <p:nvPr>
            <p:ph type="sldNum" sz="quarter" idx="5"/>
          </p:nvPr>
        </p:nvSpPr>
        <p:spPr>
          <a:noFill/>
        </p:spPr>
        <p:txBody>
          <a:bodyPr/>
          <a:lstStyle/>
          <a:p>
            <a:fld id="{83F2EB0A-C24F-42D1-A2B0-F670E6E5DBFA}" type="slidenum">
              <a:rPr lang="en-US" altLang="zh-CN" smtClean="0"/>
            </a:fld>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2CFC220B-5C49-44CE-BF37-0391DF1EA061}" type="slidenum">
              <a:rPr lang="en-US" altLang="zh-CN" smtClean="0"/>
            </a:fld>
            <a:endParaRPr lang="en-US" altLang="zh-CN" smtClean="0"/>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p:spPr>
        <p:txBody>
          <a:bodyPr/>
          <a:lstStyle/>
          <a:p>
            <a:pPr eaLnBrk="1" hangingPunct="1"/>
            <a:r>
              <a:rPr lang="zh-CN" altLang="en-US" b="1" smtClean="0"/>
              <a:t>孤立系统内进行的自发过程是不可逆过程，而非自发过程，则有可能是可逆过程或不可逆过程。</a:t>
            </a:r>
            <a:endParaRPr lang="zh-CN" altLang="en-US" b="1"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2150BD3B-6457-404E-900C-113869480D97}" type="slidenum">
              <a:rPr lang="en-US" altLang="zh-CN" smtClean="0"/>
            </a:fld>
            <a:endParaRPr lang="en-US" altLang="zh-CN" smtClean="0"/>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p:spPr>
        <p:txBody>
          <a:bodyPr/>
          <a:lstStyle/>
          <a:p>
            <a:pPr eaLnBrk="1" hangingPunct="1">
              <a:lnSpc>
                <a:spcPct val="120000"/>
              </a:lnSpc>
              <a:spcBef>
                <a:spcPct val="50000"/>
              </a:spcBef>
              <a:buClr>
                <a:schemeClr val="hlink"/>
              </a:buClr>
            </a:pPr>
            <a:r>
              <a:rPr lang="zh-CN" altLang="en-US" b="1" smtClean="0">
                <a:solidFill>
                  <a:srgbClr val="FF6600"/>
                </a:solidFill>
              </a:rPr>
              <a:t>克劳修斯表述与开尔文表述是完全等价的。</a:t>
            </a:r>
            <a:r>
              <a:rPr lang="zh-CN" altLang="en-US" b="1" smtClean="0"/>
              <a:t>热力学第二定律和热力学第一定律是相辅相成的，缺一不可，都是非常重要的 。</a:t>
            </a:r>
            <a:endParaRPr lang="zh-CN" altLang="en-US" b="1" smtClean="0"/>
          </a:p>
          <a:p>
            <a:pPr eaLnBrk="1" hangingPunct="1">
              <a:lnSpc>
                <a:spcPct val="120000"/>
              </a:lnSpc>
              <a:spcBef>
                <a:spcPct val="50000"/>
              </a:spcBef>
              <a:buClr>
                <a:schemeClr val="hlink"/>
              </a:buClr>
            </a:pPr>
            <a:endParaRPr lang="zh-CN" altLang="en-US" b="1" smtClean="0">
              <a:solidFill>
                <a:srgbClr val="FF6600"/>
              </a:solidFill>
            </a:endParaRPr>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65C1329-2CCF-45FB-9009-F3B3A8A9CBF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9EFC7B1-EADC-4232-9D2B-ABFFE3321DE2}"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B65AD5D-7410-47FE-A388-3A2A35C754BA}"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FD436F4-DB3D-4266-B425-1ABCEAA67BF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22E9B049-BF19-4E5D-B9E0-B6B86DDB8174}"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EB10FC9A-EB74-4C92-B5BB-B401C72AE4B0}"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30DE42D3-686C-4C10-B4CE-D017FC50252B}"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B9EB9F4-03F5-46DD-9691-7BD68B67E132}"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38AE288-5936-45F9-9063-8A4DE6006BF8}"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0668924-D150-4934-A052-F2B88924F3CF}"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19A5EE3-2B41-4CFC-9946-143D617CB656}"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72707" name="Rectangle 3"/>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l">
              <a:defRPr sz="1400">
                <a:latin typeface="+mn-lt"/>
                <a:ea typeface="宋体" panose="02010600030101010101"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ea typeface="宋体" panose="02010600030101010101"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mn-lt"/>
                <a:ea typeface="宋体" panose="02010600030101010101" pitchFamily="2" charset="-122"/>
              </a:defRPr>
            </a:lvl1pPr>
          </a:lstStyle>
          <a:p>
            <a:pPr>
              <a:defRPr/>
            </a:pPr>
            <a:fld id="{BE23D96A-593A-4FFE-80FA-47B75C11AB5D}" type="slidenum">
              <a:rPr lang="en-US" altLang="zh-CN"/>
            </a:fld>
            <a:endParaRPr lang="en-US" altLang="zh-CN"/>
          </a:p>
        </p:txBody>
      </p:sp>
      <p:sp>
        <p:nvSpPr>
          <p:cNvPr id="1031" name="Rectangle 7">
            <a:hlinkClick r:id="" action="ppaction://hlinkshowjump?jump=previousslide"/>
          </p:cNvPr>
          <p:cNvSpPr>
            <a:spLocks noChangeArrowheads="1"/>
          </p:cNvSpPr>
          <p:nvPr/>
        </p:nvSpPr>
        <p:spPr bwMode="auto">
          <a:xfrm>
            <a:off x="7308850" y="6669088"/>
            <a:ext cx="431800" cy="73025"/>
          </a:xfrm>
          <a:prstGeom prst="rect">
            <a:avLst/>
          </a:prstGeom>
          <a:noFill/>
          <a:ln w="9525">
            <a:noFill/>
            <a:miter lim="800000"/>
          </a:ln>
          <a:effectLst/>
        </p:spPr>
        <p:txBody>
          <a:bodyPr wrap="none" anchor="ctr"/>
          <a:lstStyle/>
          <a:p>
            <a:pPr algn="ctr">
              <a:defRPr/>
            </a:pPr>
            <a:endParaRPr lang="zh-CN" altLang="en-US"/>
          </a:p>
        </p:txBody>
      </p:sp>
      <p:sp>
        <p:nvSpPr>
          <p:cNvPr id="1032" name="Rectangle 8"/>
          <p:cNvSpPr>
            <a:spLocks noChangeArrowheads="1"/>
          </p:cNvSpPr>
          <p:nvPr/>
        </p:nvSpPr>
        <p:spPr bwMode="auto">
          <a:xfrm>
            <a:off x="7773988" y="6669088"/>
            <a:ext cx="431800" cy="73025"/>
          </a:xfrm>
          <a:prstGeom prst="rect">
            <a:avLst/>
          </a:prstGeom>
          <a:noFill/>
          <a:ln w="9525">
            <a:noFill/>
            <a:miter lim="800000"/>
          </a:ln>
          <a:effectLst/>
        </p:spPr>
        <p:txBody>
          <a:bodyPr wrap="none" anchor="ctr"/>
          <a:lstStyle/>
          <a:p>
            <a:pPr algn="ctr">
              <a:defRPr/>
            </a:pPr>
            <a:endParaRPr lang="zh-CN" altLang="en-US"/>
          </a:p>
        </p:txBody>
      </p:sp>
      <p:sp>
        <p:nvSpPr>
          <p:cNvPr id="1033" name="Rectangle 9">
            <a:hlinkClick r:id="" action="ppaction://hlinkshowjump?jump=nextslide"/>
          </p:cNvPr>
          <p:cNvSpPr>
            <a:spLocks noChangeArrowheads="1"/>
          </p:cNvSpPr>
          <p:nvPr/>
        </p:nvSpPr>
        <p:spPr bwMode="auto">
          <a:xfrm>
            <a:off x="8243888" y="6669088"/>
            <a:ext cx="431800" cy="73025"/>
          </a:xfrm>
          <a:prstGeom prst="rect">
            <a:avLst/>
          </a:prstGeom>
          <a:noFill/>
          <a:ln w="9525">
            <a:noFill/>
            <a:miter lim="800000"/>
          </a:ln>
          <a:effectLst/>
        </p:spPr>
        <p:txBody>
          <a:bodyPr wrap="none" anchor="ctr"/>
          <a:lstStyle/>
          <a:p>
            <a:pPr algn="ctr">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slide" Target="slide90.xml"/><Relationship Id="rId4" Type="http://schemas.openxmlformats.org/officeDocument/2006/relationships/slide" Target="slide66.xml"/><Relationship Id="rId3" Type="http://schemas.openxmlformats.org/officeDocument/2006/relationships/slide" Target="slide24.xml"/><Relationship Id="rId2" Type="http://schemas.openxmlformats.org/officeDocument/2006/relationships/slide" Target="slide16.xml"/><Relationship Id="rId1" Type="http://schemas.openxmlformats.org/officeDocument/2006/relationships/slide" Target="slide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hyperlink" Target="../ch7-1.ppt"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 Id="rId3" Type="http://schemas.openxmlformats.org/officeDocument/2006/relationships/oleObject" Target="../embeddings/oleObject3.bin"/><Relationship Id="rId2" Type="http://schemas.openxmlformats.org/officeDocument/2006/relationships/image" Target="../media/image3.wmf"/><Relationship Id="rId1"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9.wmf"/><Relationship Id="rId7" Type="http://schemas.openxmlformats.org/officeDocument/2006/relationships/oleObject" Target="../embeddings/oleObject8.bin"/><Relationship Id="rId6" Type="http://schemas.openxmlformats.org/officeDocument/2006/relationships/image" Target="../media/image8.wmf"/><Relationship Id="rId5" Type="http://schemas.openxmlformats.org/officeDocument/2006/relationships/oleObject" Target="../embeddings/oleObject7.bin"/><Relationship Id="rId4" Type="http://schemas.openxmlformats.org/officeDocument/2006/relationships/image" Target="../media/image7.wmf"/><Relationship Id="rId3" Type="http://schemas.openxmlformats.org/officeDocument/2006/relationships/oleObject" Target="../embeddings/oleObject6.bin"/><Relationship Id="rId2" Type="http://schemas.openxmlformats.org/officeDocument/2006/relationships/image" Target="../media/image6.wmf"/><Relationship Id="rId14" Type="http://schemas.openxmlformats.org/officeDocument/2006/relationships/vmlDrawing" Target="../drawings/vmlDrawing3.vml"/><Relationship Id="rId13" Type="http://schemas.openxmlformats.org/officeDocument/2006/relationships/slideLayout" Target="../slideLayouts/slideLayout7.xml"/><Relationship Id="rId12" Type="http://schemas.openxmlformats.org/officeDocument/2006/relationships/image" Target="../media/image11.wmf"/><Relationship Id="rId11" Type="http://schemas.openxmlformats.org/officeDocument/2006/relationships/oleObject" Target="../embeddings/oleObject10.bin"/><Relationship Id="rId10" Type="http://schemas.openxmlformats.org/officeDocument/2006/relationships/image" Target="../media/image10.wmf"/><Relationship Id="rId1"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7.xml"/><Relationship Id="rId7" Type="http://schemas.openxmlformats.org/officeDocument/2006/relationships/slide" Target="slide7.xml"/><Relationship Id="rId6" Type="http://schemas.openxmlformats.org/officeDocument/2006/relationships/image" Target="../media/image14.wmf"/><Relationship Id="rId5" Type="http://schemas.openxmlformats.org/officeDocument/2006/relationships/oleObject" Target="../embeddings/oleObject13.bin"/><Relationship Id="rId4" Type="http://schemas.openxmlformats.org/officeDocument/2006/relationships/image" Target="../media/image13.wmf"/><Relationship Id="rId3" Type="http://schemas.openxmlformats.org/officeDocument/2006/relationships/oleObject" Target="../embeddings/oleObject12.bin"/><Relationship Id="rId2" Type="http://schemas.openxmlformats.org/officeDocument/2006/relationships/image" Target="../media/image12.wmf"/><Relationship Id="rId1"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jpeg"/><Relationship Id="rId1" Type="http://schemas.openxmlformats.org/officeDocument/2006/relationships/image" Target="../media/image15.GI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image" Target="../media/image20.wmf"/><Relationship Id="rId7" Type="http://schemas.openxmlformats.org/officeDocument/2006/relationships/oleObject" Target="../embeddings/oleObject17.bin"/><Relationship Id="rId6" Type="http://schemas.openxmlformats.org/officeDocument/2006/relationships/image" Target="../media/image19.wmf"/><Relationship Id="rId5" Type="http://schemas.openxmlformats.org/officeDocument/2006/relationships/oleObject" Target="../embeddings/oleObject16.bin"/><Relationship Id="rId4" Type="http://schemas.openxmlformats.org/officeDocument/2006/relationships/image" Target="../media/image18.wmf"/><Relationship Id="rId3" Type="http://schemas.openxmlformats.org/officeDocument/2006/relationships/oleObject" Target="../embeddings/oleObject15.bin"/><Relationship Id="rId2" Type="http://schemas.openxmlformats.org/officeDocument/2006/relationships/image" Target="../media/image17.wmf"/><Relationship Id="rId12" Type="http://schemas.openxmlformats.org/officeDocument/2006/relationships/vmlDrawing" Target="../drawings/vmlDrawing5.vml"/><Relationship Id="rId11" Type="http://schemas.openxmlformats.org/officeDocument/2006/relationships/slideLayout" Target="../slideLayouts/slideLayout7.xml"/><Relationship Id="rId10" Type="http://schemas.openxmlformats.org/officeDocument/2006/relationships/image" Target="../media/image21.wmf"/><Relationship Id="rId1" Type="http://schemas.openxmlformats.org/officeDocument/2006/relationships/oleObject" Target="../embeddings/oleObject14.bin"/></Relationships>
</file>

<file path=ppt/slides/_rels/slide20.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7.xml"/><Relationship Id="rId5" Type="http://schemas.openxmlformats.org/officeDocument/2006/relationships/image" Target="../media/image24.wmf"/><Relationship Id="rId4" Type="http://schemas.openxmlformats.org/officeDocument/2006/relationships/oleObject" Target="../embeddings/oleObject20.bin"/><Relationship Id="rId3" Type="http://schemas.openxmlformats.org/officeDocument/2006/relationships/image" Target="../media/image23.wmf"/><Relationship Id="rId2" Type="http://schemas.openxmlformats.org/officeDocument/2006/relationships/oleObject" Target="../embeddings/oleObject19.bin"/><Relationship Id="rId1" Type="http://schemas.openxmlformats.org/officeDocument/2006/relationships/image" Target="../media/image22.jpe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8.wmf"/><Relationship Id="rId7" Type="http://schemas.openxmlformats.org/officeDocument/2006/relationships/oleObject" Target="../embeddings/oleObject24.bin"/><Relationship Id="rId6" Type="http://schemas.openxmlformats.org/officeDocument/2006/relationships/image" Target="../media/image27.wmf"/><Relationship Id="rId5" Type="http://schemas.openxmlformats.org/officeDocument/2006/relationships/oleObject" Target="../embeddings/oleObject23.bin"/><Relationship Id="rId4" Type="http://schemas.openxmlformats.org/officeDocument/2006/relationships/image" Target="../media/image26.wmf"/><Relationship Id="rId3" Type="http://schemas.openxmlformats.org/officeDocument/2006/relationships/oleObject" Target="../embeddings/oleObject22.bin"/><Relationship Id="rId2" Type="http://schemas.openxmlformats.org/officeDocument/2006/relationships/image" Target="../media/image25.wmf"/><Relationship Id="rId10" Type="http://schemas.openxmlformats.org/officeDocument/2006/relationships/vmlDrawing" Target="../drawings/vmlDrawing7.vml"/><Relationship Id="rId1" Type="http://schemas.openxmlformats.org/officeDocument/2006/relationships/oleObject" Target="../embeddings/oleObject21.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32.wmf"/><Relationship Id="rId7" Type="http://schemas.openxmlformats.org/officeDocument/2006/relationships/oleObject" Target="../embeddings/oleObject28.bin"/><Relationship Id="rId6" Type="http://schemas.openxmlformats.org/officeDocument/2006/relationships/image" Target="../media/image31.wmf"/><Relationship Id="rId5" Type="http://schemas.openxmlformats.org/officeDocument/2006/relationships/oleObject" Target="../embeddings/oleObject27.bin"/><Relationship Id="rId4" Type="http://schemas.openxmlformats.org/officeDocument/2006/relationships/image" Target="../media/image30.wmf"/><Relationship Id="rId3" Type="http://schemas.openxmlformats.org/officeDocument/2006/relationships/oleObject" Target="../embeddings/oleObject26.bin"/><Relationship Id="rId2" Type="http://schemas.openxmlformats.org/officeDocument/2006/relationships/image" Target="../media/image29.wmf"/><Relationship Id="rId12" Type="http://schemas.openxmlformats.org/officeDocument/2006/relationships/vmlDrawing" Target="../drawings/vmlDrawing8.vml"/><Relationship Id="rId11" Type="http://schemas.openxmlformats.org/officeDocument/2006/relationships/slideLayout" Target="../slideLayouts/slideLayout7.xml"/><Relationship Id="rId10" Type="http://schemas.openxmlformats.org/officeDocument/2006/relationships/image" Target="../media/image33.wmf"/><Relationship Id="rId1" Type="http://schemas.openxmlformats.org/officeDocument/2006/relationships/oleObject" Target="../embeddings/oleObject25.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7.xml"/></Relationships>
</file>

<file path=ppt/slides/_rels/slide24.xml.rels><?xml version="1.0" encoding="UTF-8" standalone="yes"?>
<Relationships xmlns="http://schemas.openxmlformats.org/package/2006/relationships"><Relationship Id="rId9" Type="http://schemas.openxmlformats.org/officeDocument/2006/relationships/image" Target="../media/image37.wmf"/><Relationship Id="rId8" Type="http://schemas.openxmlformats.org/officeDocument/2006/relationships/oleObject" Target="../embeddings/oleObject33.bin"/><Relationship Id="rId7" Type="http://schemas.openxmlformats.org/officeDocument/2006/relationships/image" Target="../media/image36.wmf"/><Relationship Id="rId6" Type="http://schemas.openxmlformats.org/officeDocument/2006/relationships/oleObject" Target="../embeddings/oleObject32.bin"/><Relationship Id="rId5" Type="http://schemas.openxmlformats.org/officeDocument/2006/relationships/image" Target="../media/image35.wmf"/><Relationship Id="rId4" Type="http://schemas.openxmlformats.org/officeDocument/2006/relationships/oleObject" Target="../embeddings/oleObject31.bin"/><Relationship Id="rId3" Type="http://schemas.openxmlformats.org/officeDocument/2006/relationships/image" Target="../media/image34.wmf"/><Relationship Id="rId2" Type="http://schemas.openxmlformats.org/officeDocument/2006/relationships/oleObject" Target="../embeddings/oleObject30.bin"/><Relationship Id="rId19" Type="http://schemas.openxmlformats.org/officeDocument/2006/relationships/vmlDrawing" Target="../drawings/vmlDrawing9.vml"/><Relationship Id="rId18" Type="http://schemas.openxmlformats.org/officeDocument/2006/relationships/slideLayout" Target="../slideLayouts/slideLayout7.xml"/><Relationship Id="rId17" Type="http://schemas.openxmlformats.org/officeDocument/2006/relationships/image" Target="../media/image41.wmf"/><Relationship Id="rId16" Type="http://schemas.openxmlformats.org/officeDocument/2006/relationships/oleObject" Target="../embeddings/oleObject37.bin"/><Relationship Id="rId15" Type="http://schemas.openxmlformats.org/officeDocument/2006/relationships/image" Target="../media/image40.wmf"/><Relationship Id="rId14" Type="http://schemas.openxmlformats.org/officeDocument/2006/relationships/oleObject" Target="../embeddings/oleObject36.bin"/><Relationship Id="rId13" Type="http://schemas.openxmlformats.org/officeDocument/2006/relationships/image" Target="../media/image39.wmf"/><Relationship Id="rId12" Type="http://schemas.openxmlformats.org/officeDocument/2006/relationships/oleObject" Target="../embeddings/oleObject35.bin"/><Relationship Id="rId11" Type="http://schemas.openxmlformats.org/officeDocument/2006/relationships/image" Target="../media/image38.wmf"/><Relationship Id="rId10" Type="http://schemas.openxmlformats.org/officeDocument/2006/relationships/oleObject" Target="../embeddings/oleObject34.bin"/><Relationship Id="rId1" Type="http://schemas.openxmlformats.org/officeDocument/2006/relationships/hyperlink" Target="../ch7-3.ppt" TargetMode="Externa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9.wmf"/><Relationship Id="rId7" Type="http://schemas.openxmlformats.org/officeDocument/2006/relationships/oleObject" Target="../embeddings/oleObject41.bin"/><Relationship Id="rId6" Type="http://schemas.openxmlformats.org/officeDocument/2006/relationships/image" Target="../media/image34.wmf"/><Relationship Id="rId5" Type="http://schemas.openxmlformats.org/officeDocument/2006/relationships/oleObject" Target="../embeddings/oleObject40.bin"/><Relationship Id="rId4" Type="http://schemas.openxmlformats.org/officeDocument/2006/relationships/image" Target="../media/image43.wmf"/><Relationship Id="rId3" Type="http://schemas.openxmlformats.org/officeDocument/2006/relationships/oleObject" Target="../embeddings/oleObject39.bin"/><Relationship Id="rId2" Type="http://schemas.openxmlformats.org/officeDocument/2006/relationships/image" Target="../media/image42.wmf"/><Relationship Id="rId10" Type="http://schemas.openxmlformats.org/officeDocument/2006/relationships/vmlDrawing" Target="../drawings/vmlDrawing10.vml"/><Relationship Id="rId1" Type="http://schemas.openxmlformats.org/officeDocument/2006/relationships/oleObject" Target="../embeddings/oleObject38.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5.jpeg"/><Relationship Id="rId1" Type="http://schemas.openxmlformats.org/officeDocument/2006/relationships/image" Target="../media/image44.jpeg"/></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46.bin"/><Relationship Id="rId8" Type="http://schemas.openxmlformats.org/officeDocument/2006/relationships/image" Target="../media/image49.wmf"/><Relationship Id="rId7" Type="http://schemas.openxmlformats.org/officeDocument/2006/relationships/oleObject" Target="../embeddings/oleObject45.bin"/><Relationship Id="rId6" Type="http://schemas.openxmlformats.org/officeDocument/2006/relationships/image" Target="../media/image48.wmf"/><Relationship Id="rId5" Type="http://schemas.openxmlformats.org/officeDocument/2006/relationships/oleObject" Target="../embeddings/oleObject44.bin"/><Relationship Id="rId4" Type="http://schemas.openxmlformats.org/officeDocument/2006/relationships/image" Target="../media/image47.wmf"/><Relationship Id="rId3" Type="http://schemas.openxmlformats.org/officeDocument/2006/relationships/oleObject" Target="../embeddings/oleObject43.bin"/><Relationship Id="rId2" Type="http://schemas.openxmlformats.org/officeDocument/2006/relationships/image" Target="../media/image46.wmf"/><Relationship Id="rId19" Type="http://schemas.openxmlformats.org/officeDocument/2006/relationships/vmlDrawing" Target="../drawings/vmlDrawing11.vml"/><Relationship Id="rId18" Type="http://schemas.openxmlformats.org/officeDocument/2006/relationships/slideLayout" Target="../slideLayouts/slideLayout7.xml"/><Relationship Id="rId17" Type="http://schemas.openxmlformats.org/officeDocument/2006/relationships/slide" Target="slide7.xml"/><Relationship Id="rId16" Type="http://schemas.openxmlformats.org/officeDocument/2006/relationships/image" Target="../media/image53.wmf"/><Relationship Id="rId15" Type="http://schemas.openxmlformats.org/officeDocument/2006/relationships/oleObject" Target="../embeddings/oleObject49.bin"/><Relationship Id="rId14" Type="http://schemas.openxmlformats.org/officeDocument/2006/relationships/image" Target="../media/image52.wmf"/><Relationship Id="rId13" Type="http://schemas.openxmlformats.org/officeDocument/2006/relationships/oleObject" Target="../embeddings/oleObject48.bin"/><Relationship Id="rId12" Type="http://schemas.openxmlformats.org/officeDocument/2006/relationships/image" Target="../media/image51.wmf"/><Relationship Id="rId11" Type="http://schemas.openxmlformats.org/officeDocument/2006/relationships/oleObject" Target="../embeddings/oleObject47.bin"/><Relationship Id="rId10" Type="http://schemas.openxmlformats.org/officeDocument/2006/relationships/image" Target="../media/image50.wmf"/><Relationship Id="rId1" Type="http://schemas.openxmlformats.org/officeDocument/2006/relationships/oleObject" Target="../embeddings/oleObject42.bin"/></Relationships>
</file>

<file path=ppt/slides/_rels/slide28.xml.rels><?xml version="1.0" encoding="UTF-8" standalone="yes"?>
<Relationships xmlns="http://schemas.openxmlformats.org/package/2006/relationships"><Relationship Id="rId9" Type="http://schemas.openxmlformats.org/officeDocument/2006/relationships/image" Target="../media/image57.wmf"/><Relationship Id="rId8" Type="http://schemas.openxmlformats.org/officeDocument/2006/relationships/oleObject" Target="../embeddings/oleObject54.bin"/><Relationship Id="rId7" Type="http://schemas.openxmlformats.org/officeDocument/2006/relationships/oleObject" Target="../embeddings/oleObject53.bin"/><Relationship Id="rId6" Type="http://schemas.openxmlformats.org/officeDocument/2006/relationships/image" Target="../media/image56.wmf"/><Relationship Id="rId5" Type="http://schemas.openxmlformats.org/officeDocument/2006/relationships/oleObject" Target="../embeddings/oleObject52.bin"/><Relationship Id="rId4" Type="http://schemas.openxmlformats.org/officeDocument/2006/relationships/image" Target="../media/image55.wmf"/><Relationship Id="rId3" Type="http://schemas.openxmlformats.org/officeDocument/2006/relationships/oleObject" Target="../embeddings/oleObject51.bin"/><Relationship Id="rId23" Type="http://schemas.openxmlformats.org/officeDocument/2006/relationships/vmlDrawing" Target="../drawings/vmlDrawing12.vml"/><Relationship Id="rId22" Type="http://schemas.openxmlformats.org/officeDocument/2006/relationships/slideLayout" Target="../slideLayouts/slideLayout7.xml"/><Relationship Id="rId21" Type="http://schemas.openxmlformats.org/officeDocument/2006/relationships/image" Target="../media/image63.wmf"/><Relationship Id="rId20" Type="http://schemas.openxmlformats.org/officeDocument/2006/relationships/oleObject" Target="../embeddings/oleObject60.bin"/><Relationship Id="rId2" Type="http://schemas.openxmlformats.org/officeDocument/2006/relationships/image" Target="../media/image54.wmf"/><Relationship Id="rId19" Type="http://schemas.openxmlformats.org/officeDocument/2006/relationships/image" Target="../media/image62.wmf"/><Relationship Id="rId18" Type="http://schemas.openxmlformats.org/officeDocument/2006/relationships/oleObject" Target="../embeddings/oleObject59.bin"/><Relationship Id="rId17" Type="http://schemas.openxmlformats.org/officeDocument/2006/relationships/image" Target="../media/image61.wmf"/><Relationship Id="rId16" Type="http://schemas.openxmlformats.org/officeDocument/2006/relationships/oleObject" Target="../embeddings/oleObject58.bin"/><Relationship Id="rId15" Type="http://schemas.openxmlformats.org/officeDocument/2006/relationships/image" Target="../media/image60.wmf"/><Relationship Id="rId14" Type="http://schemas.openxmlformats.org/officeDocument/2006/relationships/oleObject" Target="../embeddings/oleObject57.bin"/><Relationship Id="rId13" Type="http://schemas.openxmlformats.org/officeDocument/2006/relationships/image" Target="../media/image59.wmf"/><Relationship Id="rId12" Type="http://schemas.openxmlformats.org/officeDocument/2006/relationships/oleObject" Target="../embeddings/oleObject56.bin"/><Relationship Id="rId11" Type="http://schemas.openxmlformats.org/officeDocument/2006/relationships/image" Target="../media/image58.wmf"/><Relationship Id="rId10" Type="http://schemas.openxmlformats.org/officeDocument/2006/relationships/oleObject" Target="../embeddings/oleObject55.bin"/><Relationship Id="rId1" Type="http://schemas.openxmlformats.org/officeDocument/2006/relationships/oleObject" Target="../embeddings/oleObject50.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65.bin"/><Relationship Id="rId8" Type="http://schemas.openxmlformats.org/officeDocument/2006/relationships/image" Target="../media/image56.wmf"/><Relationship Id="rId7" Type="http://schemas.openxmlformats.org/officeDocument/2006/relationships/oleObject" Target="../embeddings/oleObject64.bin"/><Relationship Id="rId6" Type="http://schemas.openxmlformats.org/officeDocument/2006/relationships/image" Target="../media/image66.wmf"/><Relationship Id="rId5" Type="http://schemas.openxmlformats.org/officeDocument/2006/relationships/oleObject" Target="../embeddings/oleObject63.bin"/><Relationship Id="rId4" Type="http://schemas.openxmlformats.org/officeDocument/2006/relationships/image" Target="../media/image65.wmf"/><Relationship Id="rId3" Type="http://schemas.openxmlformats.org/officeDocument/2006/relationships/oleObject" Target="../embeddings/oleObject62.bin"/><Relationship Id="rId21" Type="http://schemas.openxmlformats.org/officeDocument/2006/relationships/vmlDrawing" Target="../drawings/vmlDrawing13.vml"/><Relationship Id="rId20" Type="http://schemas.openxmlformats.org/officeDocument/2006/relationships/slideLayout" Target="../slideLayouts/slideLayout7.xml"/><Relationship Id="rId2" Type="http://schemas.openxmlformats.org/officeDocument/2006/relationships/image" Target="../media/image64.wmf"/><Relationship Id="rId19" Type="http://schemas.openxmlformats.org/officeDocument/2006/relationships/image" Target="../media/image71.wmf"/><Relationship Id="rId18" Type="http://schemas.openxmlformats.org/officeDocument/2006/relationships/oleObject" Target="../embeddings/oleObject70.bin"/><Relationship Id="rId17" Type="http://schemas.openxmlformats.org/officeDocument/2006/relationships/image" Target="../media/image70.wmf"/><Relationship Id="rId16" Type="http://schemas.openxmlformats.org/officeDocument/2006/relationships/oleObject" Target="../embeddings/oleObject69.bin"/><Relationship Id="rId15" Type="http://schemas.openxmlformats.org/officeDocument/2006/relationships/image" Target="../media/image69.wmf"/><Relationship Id="rId14" Type="http://schemas.openxmlformats.org/officeDocument/2006/relationships/oleObject" Target="../embeddings/oleObject68.bin"/><Relationship Id="rId13" Type="http://schemas.openxmlformats.org/officeDocument/2006/relationships/image" Target="../media/image68.wmf"/><Relationship Id="rId12" Type="http://schemas.openxmlformats.org/officeDocument/2006/relationships/oleObject" Target="../embeddings/oleObject67.bin"/><Relationship Id="rId11" Type="http://schemas.openxmlformats.org/officeDocument/2006/relationships/image" Target="../media/image67.wmf"/><Relationship Id="rId10" Type="http://schemas.openxmlformats.org/officeDocument/2006/relationships/oleObject" Target="../embeddings/oleObject66.bin"/><Relationship Id="rId1" Type="http://schemas.openxmlformats.org/officeDocument/2006/relationships/oleObject" Target="../embeddings/oleObject61.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75.bin"/><Relationship Id="rId8" Type="http://schemas.openxmlformats.org/officeDocument/2006/relationships/image" Target="../media/image56.wmf"/><Relationship Id="rId7" Type="http://schemas.openxmlformats.org/officeDocument/2006/relationships/oleObject" Target="../embeddings/oleObject74.bin"/><Relationship Id="rId6" Type="http://schemas.openxmlformats.org/officeDocument/2006/relationships/image" Target="../media/image66.wmf"/><Relationship Id="rId5" Type="http://schemas.openxmlformats.org/officeDocument/2006/relationships/oleObject" Target="../embeddings/oleObject73.bin"/><Relationship Id="rId4" Type="http://schemas.openxmlformats.org/officeDocument/2006/relationships/image" Target="../media/image65.wmf"/><Relationship Id="rId3" Type="http://schemas.openxmlformats.org/officeDocument/2006/relationships/oleObject" Target="../embeddings/oleObject72.bin"/><Relationship Id="rId22" Type="http://schemas.openxmlformats.org/officeDocument/2006/relationships/vmlDrawing" Target="../drawings/vmlDrawing14.vml"/><Relationship Id="rId21" Type="http://schemas.openxmlformats.org/officeDocument/2006/relationships/slideLayout" Target="../slideLayouts/slideLayout7.xml"/><Relationship Id="rId20" Type="http://schemas.openxmlformats.org/officeDocument/2006/relationships/image" Target="../media/image75.wmf"/><Relationship Id="rId2" Type="http://schemas.openxmlformats.org/officeDocument/2006/relationships/image" Target="../media/image64.wmf"/><Relationship Id="rId19" Type="http://schemas.openxmlformats.org/officeDocument/2006/relationships/oleObject" Target="../embeddings/oleObject81.bin"/><Relationship Id="rId18" Type="http://schemas.openxmlformats.org/officeDocument/2006/relationships/image" Target="../media/image74.wmf"/><Relationship Id="rId17" Type="http://schemas.openxmlformats.org/officeDocument/2006/relationships/oleObject" Target="../embeddings/oleObject80.bin"/><Relationship Id="rId16" Type="http://schemas.openxmlformats.org/officeDocument/2006/relationships/image" Target="../media/image73.wmf"/><Relationship Id="rId15" Type="http://schemas.openxmlformats.org/officeDocument/2006/relationships/oleObject" Target="../embeddings/oleObject79.bin"/><Relationship Id="rId14" Type="http://schemas.openxmlformats.org/officeDocument/2006/relationships/image" Target="../media/image67.wmf"/><Relationship Id="rId13" Type="http://schemas.openxmlformats.org/officeDocument/2006/relationships/oleObject" Target="../embeddings/oleObject78.bin"/><Relationship Id="rId12" Type="http://schemas.openxmlformats.org/officeDocument/2006/relationships/oleObject" Target="../embeddings/oleObject77.bin"/><Relationship Id="rId11" Type="http://schemas.openxmlformats.org/officeDocument/2006/relationships/oleObject" Target="../embeddings/oleObject76.bin"/><Relationship Id="rId10" Type="http://schemas.openxmlformats.org/officeDocument/2006/relationships/image" Target="../media/image72.wmf"/><Relationship Id="rId1" Type="http://schemas.openxmlformats.org/officeDocument/2006/relationships/oleObject" Target="../embeddings/oleObject71.bin"/></Relationships>
</file>

<file path=ppt/slides/_rels/slide31.xml.rels><?xml version="1.0" encoding="UTF-8" standalone="yes"?>
<Relationships xmlns="http://schemas.openxmlformats.org/package/2006/relationships"><Relationship Id="rId9" Type="http://schemas.openxmlformats.org/officeDocument/2006/relationships/image" Target="../media/image56.wmf"/><Relationship Id="rId8" Type="http://schemas.openxmlformats.org/officeDocument/2006/relationships/oleObject" Target="../embeddings/oleObject85.bin"/><Relationship Id="rId7" Type="http://schemas.openxmlformats.org/officeDocument/2006/relationships/image" Target="../media/image66.wmf"/><Relationship Id="rId6" Type="http://schemas.openxmlformats.org/officeDocument/2006/relationships/oleObject" Target="../embeddings/oleObject84.bin"/><Relationship Id="rId5" Type="http://schemas.openxmlformats.org/officeDocument/2006/relationships/image" Target="../media/image65.wmf"/><Relationship Id="rId4" Type="http://schemas.openxmlformats.org/officeDocument/2006/relationships/oleObject" Target="../embeddings/oleObject83.bin"/><Relationship Id="rId3" Type="http://schemas.openxmlformats.org/officeDocument/2006/relationships/image" Target="../media/image64.wmf"/><Relationship Id="rId25" Type="http://schemas.openxmlformats.org/officeDocument/2006/relationships/vmlDrawing" Target="../drawings/vmlDrawing15.vml"/><Relationship Id="rId24" Type="http://schemas.openxmlformats.org/officeDocument/2006/relationships/slideLayout" Target="../slideLayouts/slideLayout7.xml"/><Relationship Id="rId23" Type="http://schemas.openxmlformats.org/officeDocument/2006/relationships/image" Target="../media/image81.wmf"/><Relationship Id="rId22" Type="http://schemas.openxmlformats.org/officeDocument/2006/relationships/oleObject" Target="../embeddings/oleObject93.bin"/><Relationship Id="rId21" Type="http://schemas.openxmlformats.org/officeDocument/2006/relationships/image" Target="../media/image80.wmf"/><Relationship Id="rId20" Type="http://schemas.openxmlformats.org/officeDocument/2006/relationships/oleObject" Target="../embeddings/oleObject92.bin"/><Relationship Id="rId2" Type="http://schemas.openxmlformats.org/officeDocument/2006/relationships/oleObject" Target="../embeddings/oleObject82.bin"/><Relationship Id="rId19" Type="http://schemas.openxmlformats.org/officeDocument/2006/relationships/image" Target="../media/image79.wmf"/><Relationship Id="rId18" Type="http://schemas.openxmlformats.org/officeDocument/2006/relationships/oleObject" Target="../embeddings/oleObject91.bin"/><Relationship Id="rId17" Type="http://schemas.openxmlformats.org/officeDocument/2006/relationships/image" Target="../media/image78.wmf"/><Relationship Id="rId16" Type="http://schemas.openxmlformats.org/officeDocument/2006/relationships/oleObject" Target="../embeddings/oleObject90.bin"/><Relationship Id="rId15" Type="http://schemas.openxmlformats.org/officeDocument/2006/relationships/image" Target="../media/image77.wmf"/><Relationship Id="rId14" Type="http://schemas.openxmlformats.org/officeDocument/2006/relationships/oleObject" Target="../embeddings/oleObject89.bin"/><Relationship Id="rId13" Type="http://schemas.openxmlformats.org/officeDocument/2006/relationships/image" Target="../media/image67.wmf"/><Relationship Id="rId12" Type="http://schemas.openxmlformats.org/officeDocument/2006/relationships/oleObject" Target="../embeddings/oleObject88.bin"/><Relationship Id="rId11" Type="http://schemas.openxmlformats.org/officeDocument/2006/relationships/oleObject" Target="../embeddings/oleObject87.bin"/><Relationship Id="rId10" Type="http://schemas.openxmlformats.org/officeDocument/2006/relationships/oleObject" Target="../embeddings/oleObject86.bin"/><Relationship Id="rId1" Type="http://schemas.openxmlformats.org/officeDocument/2006/relationships/image" Target="../media/image76.jpeg"/></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98.bin"/><Relationship Id="rId8" Type="http://schemas.openxmlformats.org/officeDocument/2006/relationships/image" Target="../media/image56.wmf"/><Relationship Id="rId7" Type="http://schemas.openxmlformats.org/officeDocument/2006/relationships/oleObject" Target="../embeddings/oleObject97.bin"/><Relationship Id="rId6" Type="http://schemas.openxmlformats.org/officeDocument/2006/relationships/image" Target="../media/image66.wmf"/><Relationship Id="rId5" Type="http://schemas.openxmlformats.org/officeDocument/2006/relationships/oleObject" Target="../embeddings/oleObject96.bin"/><Relationship Id="rId4" Type="http://schemas.openxmlformats.org/officeDocument/2006/relationships/image" Target="../media/image65.wmf"/><Relationship Id="rId3" Type="http://schemas.openxmlformats.org/officeDocument/2006/relationships/oleObject" Target="../embeddings/oleObject95.bin"/><Relationship Id="rId2" Type="http://schemas.openxmlformats.org/officeDocument/2006/relationships/image" Target="../media/image64.wmf"/><Relationship Id="rId19" Type="http://schemas.openxmlformats.org/officeDocument/2006/relationships/vmlDrawing" Target="../drawings/vmlDrawing16.vml"/><Relationship Id="rId18" Type="http://schemas.openxmlformats.org/officeDocument/2006/relationships/slideLayout" Target="../slideLayouts/slideLayout7.xml"/><Relationship Id="rId17" Type="http://schemas.openxmlformats.org/officeDocument/2006/relationships/image" Target="../media/image82.wmf"/><Relationship Id="rId16" Type="http://schemas.openxmlformats.org/officeDocument/2006/relationships/oleObject" Target="../embeddings/oleObject103.bin"/><Relationship Id="rId15" Type="http://schemas.openxmlformats.org/officeDocument/2006/relationships/oleObject" Target="../embeddings/oleObject102.bin"/><Relationship Id="rId14" Type="http://schemas.openxmlformats.org/officeDocument/2006/relationships/image" Target="../media/image78.wmf"/><Relationship Id="rId13" Type="http://schemas.openxmlformats.org/officeDocument/2006/relationships/oleObject" Target="../embeddings/oleObject101.bin"/><Relationship Id="rId12" Type="http://schemas.openxmlformats.org/officeDocument/2006/relationships/image" Target="../media/image67.wmf"/><Relationship Id="rId11" Type="http://schemas.openxmlformats.org/officeDocument/2006/relationships/oleObject" Target="../embeddings/oleObject100.bin"/><Relationship Id="rId10" Type="http://schemas.openxmlformats.org/officeDocument/2006/relationships/oleObject" Target="../embeddings/oleObject99.bin"/><Relationship Id="rId1" Type="http://schemas.openxmlformats.org/officeDocument/2006/relationships/oleObject" Target="../embeddings/oleObject94.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108.bin"/><Relationship Id="rId8" Type="http://schemas.openxmlformats.org/officeDocument/2006/relationships/image" Target="../media/image86.wmf"/><Relationship Id="rId7" Type="http://schemas.openxmlformats.org/officeDocument/2006/relationships/oleObject" Target="../embeddings/oleObject107.bin"/><Relationship Id="rId6" Type="http://schemas.openxmlformats.org/officeDocument/2006/relationships/image" Target="../media/image85.wmf"/><Relationship Id="rId5" Type="http://schemas.openxmlformats.org/officeDocument/2006/relationships/oleObject" Target="../embeddings/oleObject106.bin"/><Relationship Id="rId4" Type="http://schemas.openxmlformats.org/officeDocument/2006/relationships/image" Target="../media/image84.wmf"/><Relationship Id="rId3" Type="http://schemas.openxmlformats.org/officeDocument/2006/relationships/oleObject" Target="../embeddings/oleObject105.bin"/><Relationship Id="rId26" Type="http://schemas.openxmlformats.org/officeDocument/2006/relationships/vmlDrawing" Target="../drawings/vmlDrawing17.vml"/><Relationship Id="rId25" Type="http://schemas.openxmlformats.org/officeDocument/2006/relationships/slideLayout" Target="../slideLayouts/slideLayout7.xml"/><Relationship Id="rId24" Type="http://schemas.openxmlformats.org/officeDocument/2006/relationships/image" Target="../media/image90.wmf"/><Relationship Id="rId23" Type="http://schemas.openxmlformats.org/officeDocument/2006/relationships/oleObject" Target="../embeddings/oleObject116.bin"/><Relationship Id="rId22" Type="http://schemas.openxmlformats.org/officeDocument/2006/relationships/oleObject" Target="../embeddings/oleObject115.bin"/><Relationship Id="rId21" Type="http://schemas.openxmlformats.org/officeDocument/2006/relationships/image" Target="../media/image64.wmf"/><Relationship Id="rId20" Type="http://schemas.openxmlformats.org/officeDocument/2006/relationships/oleObject" Target="../embeddings/oleObject114.bin"/><Relationship Id="rId2" Type="http://schemas.openxmlformats.org/officeDocument/2006/relationships/image" Target="../media/image83.wmf"/><Relationship Id="rId19" Type="http://schemas.openxmlformats.org/officeDocument/2006/relationships/image" Target="../media/image89.wmf"/><Relationship Id="rId18" Type="http://schemas.openxmlformats.org/officeDocument/2006/relationships/oleObject" Target="../embeddings/oleObject113.bin"/><Relationship Id="rId17" Type="http://schemas.openxmlformats.org/officeDocument/2006/relationships/image" Target="../media/image88.wmf"/><Relationship Id="rId16" Type="http://schemas.openxmlformats.org/officeDocument/2006/relationships/oleObject" Target="../embeddings/oleObject112.bin"/><Relationship Id="rId15" Type="http://schemas.openxmlformats.org/officeDocument/2006/relationships/oleObject" Target="../embeddings/oleObject111.bin"/><Relationship Id="rId14" Type="http://schemas.openxmlformats.org/officeDocument/2006/relationships/image" Target="../media/image56.wmf"/><Relationship Id="rId13" Type="http://schemas.openxmlformats.org/officeDocument/2006/relationships/oleObject" Target="../embeddings/oleObject110.bin"/><Relationship Id="rId12" Type="http://schemas.openxmlformats.org/officeDocument/2006/relationships/image" Target="../media/image65.wmf"/><Relationship Id="rId11" Type="http://schemas.openxmlformats.org/officeDocument/2006/relationships/oleObject" Target="../embeddings/oleObject109.bin"/><Relationship Id="rId10" Type="http://schemas.openxmlformats.org/officeDocument/2006/relationships/image" Target="../media/image87.wmf"/><Relationship Id="rId1" Type="http://schemas.openxmlformats.org/officeDocument/2006/relationships/oleObject" Target="../embeddings/oleObject104.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121.bin"/><Relationship Id="rId8" Type="http://schemas.openxmlformats.org/officeDocument/2006/relationships/image" Target="../media/image64.wmf"/><Relationship Id="rId7" Type="http://schemas.openxmlformats.org/officeDocument/2006/relationships/oleObject" Target="../embeddings/oleObject120.bin"/><Relationship Id="rId6" Type="http://schemas.openxmlformats.org/officeDocument/2006/relationships/image" Target="../media/image87.wmf"/><Relationship Id="rId5" Type="http://schemas.openxmlformats.org/officeDocument/2006/relationships/oleObject" Target="../embeddings/oleObject119.bin"/><Relationship Id="rId4" Type="http://schemas.openxmlformats.org/officeDocument/2006/relationships/image" Target="../media/image86.wmf"/><Relationship Id="rId3" Type="http://schemas.openxmlformats.org/officeDocument/2006/relationships/oleObject" Target="../embeddings/oleObject118.bin"/><Relationship Id="rId2" Type="http://schemas.openxmlformats.org/officeDocument/2006/relationships/image" Target="../media/image85.wmf"/><Relationship Id="rId17" Type="http://schemas.openxmlformats.org/officeDocument/2006/relationships/vmlDrawing" Target="../drawings/vmlDrawing18.vml"/><Relationship Id="rId16" Type="http://schemas.openxmlformats.org/officeDocument/2006/relationships/slideLayout" Target="../slideLayouts/slideLayout7.xml"/><Relationship Id="rId15" Type="http://schemas.openxmlformats.org/officeDocument/2006/relationships/image" Target="../media/image91.wmf"/><Relationship Id="rId14" Type="http://schemas.openxmlformats.org/officeDocument/2006/relationships/oleObject" Target="../embeddings/oleObject124.bin"/><Relationship Id="rId13" Type="http://schemas.openxmlformats.org/officeDocument/2006/relationships/oleObject" Target="../embeddings/oleObject123.bin"/><Relationship Id="rId12" Type="http://schemas.openxmlformats.org/officeDocument/2006/relationships/image" Target="../media/image56.wmf"/><Relationship Id="rId11" Type="http://schemas.openxmlformats.org/officeDocument/2006/relationships/oleObject" Target="../embeddings/oleObject122.bin"/><Relationship Id="rId10" Type="http://schemas.openxmlformats.org/officeDocument/2006/relationships/image" Target="../media/image65.wmf"/><Relationship Id="rId1" Type="http://schemas.openxmlformats.org/officeDocument/2006/relationships/oleObject" Target="../embeddings/oleObject117.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29.bin"/><Relationship Id="rId8" Type="http://schemas.openxmlformats.org/officeDocument/2006/relationships/image" Target="../media/image65.wmf"/><Relationship Id="rId7" Type="http://schemas.openxmlformats.org/officeDocument/2006/relationships/oleObject" Target="../embeddings/oleObject128.bin"/><Relationship Id="rId6" Type="http://schemas.openxmlformats.org/officeDocument/2006/relationships/image" Target="../media/image64.wmf"/><Relationship Id="rId5" Type="http://schemas.openxmlformats.org/officeDocument/2006/relationships/oleObject" Target="../embeddings/oleObject127.bin"/><Relationship Id="rId4" Type="http://schemas.openxmlformats.org/officeDocument/2006/relationships/image" Target="../media/image87.wmf"/><Relationship Id="rId3" Type="http://schemas.openxmlformats.org/officeDocument/2006/relationships/oleObject" Target="../embeddings/oleObject126.bin"/><Relationship Id="rId23" Type="http://schemas.openxmlformats.org/officeDocument/2006/relationships/vmlDrawing" Target="../drawings/vmlDrawing19.vml"/><Relationship Id="rId22" Type="http://schemas.openxmlformats.org/officeDocument/2006/relationships/slideLayout" Target="../slideLayouts/slideLayout7.xml"/><Relationship Id="rId21" Type="http://schemas.openxmlformats.org/officeDocument/2006/relationships/image" Target="../media/image95.wmf"/><Relationship Id="rId20" Type="http://schemas.openxmlformats.org/officeDocument/2006/relationships/oleObject" Target="../embeddings/oleObject135.bin"/><Relationship Id="rId2" Type="http://schemas.openxmlformats.org/officeDocument/2006/relationships/image" Target="../media/image85.wmf"/><Relationship Id="rId19" Type="http://schemas.openxmlformats.org/officeDocument/2006/relationships/image" Target="../media/image94.wmf"/><Relationship Id="rId18" Type="http://schemas.openxmlformats.org/officeDocument/2006/relationships/oleObject" Target="../embeddings/oleObject134.bin"/><Relationship Id="rId17" Type="http://schemas.openxmlformats.org/officeDocument/2006/relationships/image" Target="../media/image93.wmf"/><Relationship Id="rId16" Type="http://schemas.openxmlformats.org/officeDocument/2006/relationships/oleObject" Target="../embeddings/oleObject133.bin"/><Relationship Id="rId15" Type="http://schemas.openxmlformats.org/officeDocument/2006/relationships/image" Target="../media/image78.wmf"/><Relationship Id="rId14" Type="http://schemas.openxmlformats.org/officeDocument/2006/relationships/oleObject" Target="../embeddings/oleObject132.bin"/><Relationship Id="rId13" Type="http://schemas.openxmlformats.org/officeDocument/2006/relationships/image" Target="../media/image92.wmf"/><Relationship Id="rId12" Type="http://schemas.openxmlformats.org/officeDocument/2006/relationships/oleObject" Target="../embeddings/oleObject131.bin"/><Relationship Id="rId11" Type="http://schemas.openxmlformats.org/officeDocument/2006/relationships/oleObject" Target="../embeddings/oleObject130.bin"/><Relationship Id="rId10" Type="http://schemas.openxmlformats.org/officeDocument/2006/relationships/image" Target="../media/image56.wmf"/><Relationship Id="rId1" Type="http://schemas.openxmlformats.org/officeDocument/2006/relationships/oleObject" Target="../embeddings/oleObject125.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99.wmf"/><Relationship Id="rId7" Type="http://schemas.openxmlformats.org/officeDocument/2006/relationships/oleObject" Target="../embeddings/oleObject139.bin"/><Relationship Id="rId6" Type="http://schemas.openxmlformats.org/officeDocument/2006/relationships/image" Target="../media/image98.wmf"/><Relationship Id="rId5" Type="http://schemas.openxmlformats.org/officeDocument/2006/relationships/oleObject" Target="../embeddings/oleObject138.bin"/><Relationship Id="rId4" Type="http://schemas.openxmlformats.org/officeDocument/2006/relationships/image" Target="../media/image97.wmf"/><Relationship Id="rId3" Type="http://schemas.openxmlformats.org/officeDocument/2006/relationships/oleObject" Target="../embeddings/oleObject137.bin"/><Relationship Id="rId20" Type="http://schemas.openxmlformats.org/officeDocument/2006/relationships/vmlDrawing" Target="../drawings/vmlDrawing20.vml"/><Relationship Id="rId2" Type="http://schemas.openxmlformats.org/officeDocument/2006/relationships/image" Target="../media/image96.wmf"/><Relationship Id="rId19" Type="http://schemas.openxmlformats.org/officeDocument/2006/relationships/slideLayout" Target="../slideLayouts/slideLayout7.xml"/><Relationship Id="rId18" Type="http://schemas.openxmlformats.org/officeDocument/2006/relationships/image" Target="../media/image104.wmf"/><Relationship Id="rId17" Type="http://schemas.openxmlformats.org/officeDocument/2006/relationships/oleObject" Target="../embeddings/oleObject144.bin"/><Relationship Id="rId16" Type="http://schemas.openxmlformats.org/officeDocument/2006/relationships/image" Target="../media/image103.wmf"/><Relationship Id="rId15" Type="http://schemas.openxmlformats.org/officeDocument/2006/relationships/oleObject" Target="../embeddings/oleObject143.bin"/><Relationship Id="rId14" Type="http://schemas.openxmlformats.org/officeDocument/2006/relationships/image" Target="../media/image102.wmf"/><Relationship Id="rId13" Type="http://schemas.openxmlformats.org/officeDocument/2006/relationships/oleObject" Target="../embeddings/oleObject142.bin"/><Relationship Id="rId12" Type="http://schemas.openxmlformats.org/officeDocument/2006/relationships/image" Target="../media/image101.wmf"/><Relationship Id="rId11" Type="http://schemas.openxmlformats.org/officeDocument/2006/relationships/oleObject" Target="../embeddings/oleObject141.bin"/><Relationship Id="rId10" Type="http://schemas.openxmlformats.org/officeDocument/2006/relationships/image" Target="../media/image100.wmf"/><Relationship Id="rId1" Type="http://schemas.openxmlformats.org/officeDocument/2006/relationships/oleObject" Target="../embeddings/oleObject136.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49.bin"/><Relationship Id="rId8" Type="http://schemas.openxmlformats.org/officeDocument/2006/relationships/image" Target="../media/image108.wmf"/><Relationship Id="rId7" Type="http://schemas.openxmlformats.org/officeDocument/2006/relationships/oleObject" Target="../embeddings/oleObject148.bin"/><Relationship Id="rId6" Type="http://schemas.openxmlformats.org/officeDocument/2006/relationships/image" Target="../media/image107.wmf"/><Relationship Id="rId5" Type="http://schemas.openxmlformats.org/officeDocument/2006/relationships/oleObject" Target="../embeddings/oleObject147.bin"/><Relationship Id="rId4" Type="http://schemas.openxmlformats.org/officeDocument/2006/relationships/image" Target="../media/image106.wmf"/><Relationship Id="rId3" Type="http://schemas.openxmlformats.org/officeDocument/2006/relationships/oleObject" Target="../embeddings/oleObject146.bin"/><Relationship Id="rId25" Type="http://schemas.openxmlformats.org/officeDocument/2006/relationships/vmlDrawing" Target="../drawings/vmlDrawing21.vml"/><Relationship Id="rId24" Type="http://schemas.openxmlformats.org/officeDocument/2006/relationships/slideLayout" Target="../slideLayouts/slideLayout7.xml"/><Relationship Id="rId23" Type="http://schemas.openxmlformats.org/officeDocument/2006/relationships/oleObject" Target="../embeddings/oleObject156.bin"/><Relationship Id="rId22" Type="http://schemas.openxmlformats.org/officeDocument/2006/relationships/image" Target="../media/image56.wmf"/><Relationship Id="rId21" Type="http://schemas.openxmlformats.org/officeDocument/2006/relationships/oleObject" Target="../embeddings/oleObject155.bin"/><Relationship Id="rId20" Type="http://schemas.openxmlformats.org/officeDocument/2006/relationships/image" Target="../media/image65.wmf"/><Relationship Id="rId2" Type="http://schemas.openxmlformats.org/officeDocument/2006/relationships/image" Target="../media/image105.wmf"/><Relationship Id="rId19" Type="http://schemas.openxmlformats.org/officeDocument/2006/relationships/oleObject" Target="../embeddings/oleObject154.bin"/><Relationship Id="rId18" Type="http://schemas.openxmlformats.org/officeDocument/2006/relationships/image" Target="../media/image64.wmf"/><Relationship Id="rId17" Type="http://schemas.openxmlformats.org/officeDocument/2006/relationships/oleObject" Target="../embeddings/oleObject153.bin"/><Relationship Id="rId16" Type="http://schemas.openxmlformats.org/officeDocument/2006/relationships/image" Target="../media/image87.wmf"/><Relationship Id="rId15" Type="http://schemas.openxmlformats.org/officeDocument/2006/relationships/oleObject" Target="../embeddings/oleObject152.bin"/><Relationship Id="rId14" Type="http://schemas.openxmlformats.org/officeDocument/2006/relationships/image" Target="../media/image85.wmf"/><Relationship Id="rId13" Type="http://schemas.openxmlformats.org/officeDocument/2006/relationships/oleObject" Target="../embeddings/oleObject151.bin"/><Relationship Id="rId12" Type="http://schemas.openxmlformats.org/officeDocument/2006/relationships/image" Target="../media/image110.wmf"/><Relationship Id="rId11" Type="http://schemas.openxmlformats.org/officeDocument/2006/relationships/oleObject" Target="../embeddings/oleObject150.bin"/><Relationship Id="rId10" Type="http://schemas.openxmlformats.org/officeDocument/2006/relationships/image" Target="../media/image109.wmf"/><Relationship Id="rId1" Type="http://schemas.openxmlformats.org/officeDocument/2006/relationships/oleObject" Target="../embeddings/oleObject145.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161.bin"/><Relationship Id="rId8" Type="http://schemas.openxmlformats.org/officeDocument/2006/relationships/image" Target="../media/image114.wmf"/><Relationship Id="rId7" Type="http://schemas.openxmlformats.org/officeDocument/2006/relationships/oleObject" Target="../embeddings/oleObject160.bin"/><Relationship Id="rId6" Type="http://schemas.openxmlformats.org/officeDocument/2006/relationships/image" Target="../media/image113.wmf"/><Relationship Id="rId5" Type="http://schemas.openxmlformats.org/officeDocument/2006/relationships/oleObject" Target="../embeddings/oleObject159.bin"/><Relationship Id="rId4" Type="http://schemas.openxmlformats.org/officeDocument/2006/relationships/image" Target="../media/image112.wmf"/><Relationship Id="rId3" Type="http://schemas.openxmlformats.org/officeDocument/2006/relationships/oleObject" Target="../embeddings/oleObject158.bin"/><Relationship Id="rId2" Type="http://schemas.openxmlformats.org/officeDocument/2006/relationships/image" Target="../media/image111.wmf"/><Relationship Id="rId12" Type="http://schemas.openxmlformats.org/officeDocument/2006/relationships/vmlDrawing" Target="../drawings/vmlDrawing22.vml"/><Relationship Id="rId11" Type="http://schemas.openxmlformats.org/officeDocument/2006/relationships/slideLayout" Target="../slideLayouts/slideLayout7.xml"/><Relationship Id="rId10" Type="http://schemas.openxmlformats.org/officeDocument/2006/relationships/image" Target="../media/image56.wmf"/><Relationship Id="rId1" Type="http://schemas.openxmlformats.org/officeDocument/2006/relationships/oleObject" Target="../embeddings/oleObject157.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5.png"/></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116.wmf"/><Relationship Id="rId1" Type="http://schemas.openxmlformats.org/officeDocument/2006/relationships/oleObject" Target="../embeddings/oleObject162.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67.bin"/><Relationship Id="rId8" Type="http://schemas.openxmlformats.org/officeDocument/2006/relationships/image" Target="../media/image65.wmf"/><Relationship Id="rId7" Type="http://schemas.openxmlformats.org/officeDocument/2006/relationships/oleObject" Target="../embeddings/oleObject166.bin"/><Relationship Id="rId6" Type="http://schemas.openxmlformats.org/officeDocument/2006/relationships/image" Target="../media/image64.wmf"/><Relationship Id="rId5" Type="http://schemas.openxmlformats.org/officeDocument/2006/relationships/oleObject" Target="../embeddings/oleObject165.bin"/><Relationship Id="rId4" Type="http://schemas.openxmlformats.org/officeDocument/2006/relationships/image" Target="../media/image87.wmf"/><Relationship Id="rId39" Type="http://schemas.openxmlformats.org/officeDocument/2006/relationships/vmlDrawing" Target="../drawings/vmlDrawing24.vml"/><Relationship Id="rId38" Type="http://schemas.openxmlformats.org/officeDocument/2006/relationships/slideLayout" Target="../slideLayouts/slideLayout7.xml"/><Relationship Id="rId37" Type="http://schemas.openxmlformats.org/officeDocument/2006/relationships/image" Target="../media/image129.wmf"/><Relationship Id="rId36" Type="http://schemas.openxmlformats.org/officeDocument/2006/relationships/oleObject" Target="../embeddings/oleObject181.bin"/><Relationship Id="rId35" Type="http://schemas.openxmlformats.org/officeDocument/2006/relationships/image" Target="../media/image128.wmf"/><Relationship Id="rId34" Type="http://schemas.openxmlformats.org/officeDocument/2006/relationships/oleObject" Target="../embeddings/oleObject180.bin"/><Relationship Id="rId33" Type="http://schemas.openxmlformats.org/officeDocument/2006/relationships/image" Target="../media/image127.wmf"/><Relationship Id="rId32" Type="http://schemas.openxmlformats.org/officeDocument/2006/relationships/oleObject" Target="../embeddings/oleObject179.bin"/><Relationship Id="rId31" Type="http://schemas.openxmlformats.org/officeDocument/2006/relationships/image" Target="../media/image126.wmf"/><Relationship Id="rId30" Type="http://schemas.openxmlformats.org/officeDocument/2006/relationships/oleObject" Target="../embeddings/oleObject178.bin"/><Relationship Id="rId3" Type="http://schemas.openxmlformats.org/officeDocument/2006/relationships/oleObject" Target="../embeddings/oleObject164.bin"/><Relationship Id="rId29" Type="http://schemas.openxmlformats.org/officeDocument/2006/relationships/image" Target="../media/image125.wmf"/><Relationship Id="rId28" Type="http://schemas.openxmlformats.org/officeDocument/2006/relationships/oleObject" Target="../embeddings/oleObject177.bin"/><Relationship Id="rId27" Type="http://schemas.openxmlformats.org/officeDocument/2006/relationships/image" Target="../media/image124.wmf"/><Relationship Id="rId26" Type="http://schemas.openxmlformats.org/officeDocument/2006/relationships/oleObject" Target="../embeddings/oleObject176.bin"/><Relationship Id="rId25" Type="http://schemas.openxmlformats.org/officeDocument/2006/relationships/image" Target="../media/image123.wmf"/><Relationship Id="rId24" Type="http://schemas.openxmlformats.org/officeDocument/2006/relationships/oleObject" Target="../embeddings/oleObject175.bin"/><Relationship Id="rId23" Type="http://schemas.openxmlformats.org/officeDocument/2006/relationships/image" Target="../media/image122.wmf"/><Relationship Id="rId22" Type="http://schemas.openxmlformats.org/officeDocument/2006/relationships/oleObject" Target="../embeddings/oleObject174.bin"/><Relationship Id="rId21" Type="http://schemas.openxmlformats.org/officeDocument/2006/relationships/image" Target="../media/image121.wmf"/><Relationship Id="rId20" Type="http://schemas.openxmlformats.org/officeDocument/2006/relationships/oleObject" Target="../embeddings/oleObject173.bin"/><Relationship Id="rId2" Type="http://schemas.openxmlformats.org/officeDocument/2006/relationships/image" Target="../media/image85.wmf"/><Relationship Id="rId19" Type="http://schemas.openxmlformats.org/officeDocument/2006/relationships/image" Target="../media/image120.wmf"/><Relationship Id="rId18" Type="http://schemas.openxmlformats.org/officeDocument/2006/relationships/oleObject" Target="../embeddings/oleObject172.bin"/><Relationship Id="rId17" Type="http://schemas.openxmlformats.org/officeDocument/2006/relationships/image" Target="../media/image119.wmf"/><Relationship Id="rId16" Type="http://schemas.openxmlformats.org/officeDocument/2006/relationships/oleObject" Target="../embeddings/oleObject171.bin"/><Relationship Id="rId15" Type="http://schemas.openxmlformats.org/officeDocument/2006/relationships/image" Target="../media/image118.wmf"/><Relationship Id="rId14" Type="http://schemas.openxmlformats.org/officeDocument/2006/relationships/oleObject" Target="../embeddings/oleObject170.bin"/><Relationship Id="rId13" Type="http://schemas.openxmlformats.org/officeDocument/2006/relationships/image" Target="../media/image117.wmf"/><Relationship Id="rId12" Type="http://schemas.openxmlformats.org/officeDocument/2006/relationships/oleObject" Target="../embeddings/oleObject169.bin"/><Relationship Id="rId11" Type="http://schemas.openxmlformats.org/officeDocument/2006/relationships/oleObject" Target="../embeddings/oleObject168.bin"/><Relationship Id="rId10" Type="http://schemas.openxmlformats.org/officeDocument/2006/relationships/image" Target="../media/image56.wmf"/><Relationship Id="rId1" Type="http://schemas.openxmlformats.org/officeDocument/2006/relationships/oleObject" Target="../embeddings/oleObject163.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186.bin"/><Relationship Id="rId8" Type="http://schemas.openxmlformats.org/officeDocument/2006/relationships/image" Target="../media/image65.wmf"/><Relationship Id="rId7" Type="http://schemas.openxmlformats.org/officeDocument/2006/relationships/oleObject" Target="../embeddings/oleObject185.bin"/><Relationship Id="rId6" Type="http://schemas.openxmlformats.org/officeDocument/2006/relationships/image" Target="../media/image64.wmf"/><Relationship Id="rId5" Type="http://schemas.openxmlformats.org/officeDocument/2006/relationships/oleObject" Target="../embeddings/oleObject184.bin"/><Relationship Id="rId4" Type="http://schemas.openxmlformats.org/officeDocument/2006/relationships/image" Target="../media/image87.wmf"/><Relationship Id="rId39" Type="http://schemas.openxmlformats.org/officeDocument/2006/relationships/vmlDrawing" Target="../drawings/vmlDrawing25.vml"/><Relationship Id="rId38" Type="http://schemas.openxmlformats.org/officeDocument/2006/relationships/slideLayout" Target="../slideLayouts/slideLayout7.xml"/><Relationship Id="rId37" Type="http://schemas.openxmlformats.org/officeDocument/2006/relationships/image" Target="../media/image138.wmf"/><Relationship Id="rId36" Type="http://schemas.openxmlformats.org/officeDocument/2006/relationships/oleObject" Target="../embeddings/oleObject200.bin"/><Relationship Id="rId35" Type="http://schemas.openxmlformats.org/officeDocument/2006/relationships/image" Target="../media/image137.wmf"/><Relationship Id="rId34" Type="http://schemas.openxmlformats.org/officeDocument/2006/relationships/oleObject" Target="../embeddings/oleObject199.bin"/><Relationship Id="rId33" Type="http://schemas.openxmlformats.org/officeDocument/2006/relationships/image" Target="../media/image136.wmf"/><Relationship Id="rId32" Type="http://schemas.openxmlformats.org/officeDocument/2006/relationships/oleObject" Target="../embeddings/oleObject198.bin"/><Relationship Id="rId31" Type="http://schemas.openxmlformats.org/officeDocument/2006/relationships/image" Target="../media/image126.wmf"/><Relationship Id="rId30" Type="http://schemas.openxmlformats.org/officeDocument/2006/relationships/oleObject" Target="../embeddings/oleObject197.bin"/><Relationship Id="rId3" Type="http://schemas.openxmlformats.org/officeDocument/2006/relationships/oleObject" Target="../embeddings/oleObject183.bin"/><Relationship Id="rId29" Type="http://schemas.openxmlformats.org/officeDocument/2006/relationships/image" Target="../media/image135.wmf"/><Relationship Id="rId28" Type="http://schemas.openxmlformats.org/officeDocument/2006/relationships/oleObject" Target="../embeddings/oleObject196.bin"/><Relationship Id="rId27" Type="http://schemas.openxmlformats.org/officeDocument/2006/relationships/image" Target="../media/image134.wmf"/><Relationship Id="rId26" Type="http://schemas.openxmlformats.org/officeDocument/2006/relationships/oleObject" Target="../embeddings/oleObject195.bin"/><Relationship Id="rId25" Type="http://schemas.openxmlformats.org/officeDocument/2006/relationships/image" Target="../media/image133.wmf"/><Relationship Id="rId24" Type="http://schemas.openxmlformats.org/officeDocument/2006/relationships/oleObject" Target="../embeddings/oleObject194.bin"/><Relationship Id="rId23" Type="http://schemas.openxmlformats.org/officeDocument/2006/relationships/image" Target="../media/image132.wmf"/><Relationship Id="rId22" Type="http://schemas.openxmlformats.org/officeDocument/2006/relationships/oleObject" Target="../embeddings/oleObject193.bin"/><Relationship Id="rId21" Type="http://schemas.openxmlformats.org/officeDocument/2006/relationships/image" Target="../media/image131.wmf"/><Relationship Id="rId20" Type="http://schemas.openxmlformats.org/officeDocument/2006/relationships/oleObject" Target="../embeddings/oleObject192.bin"/><Relationship Id="rId2" Type="http://schemas.openxmlformats.org/officeDocument/2006/relationships/image" Target="../media/image85.wmf"/><Relationship Id="rId19" Type="http://schemas.openxmlformats.org/officeDocument/2006/relationships/image" Target="../media/image130.wmf"/><Relationship Id="rId18" Type="http://schemas.openxmlformats.org/officeDocument/2006/relationships/oleObject" Target="../embeddings/oleObject191.bin"/><Relationship Id="rId17" Type="http://schemas.openxmlformats.org/officeDocument/2006/relationships/image" Target="../media/image119.wmf"/><Relationship Id="rId16" Type="http://schemas.openxmlformats.org/officeDocument/2006/relationships/oleObject" Target="../embeddings/oleObject190.bin"/><Relationship Id="rId15" Type="http://schemas.openxmlformats.org/officeDocument/2006/relationships/image" Target="../media/image118.wmf"/><Relationship Id="rId14" Type="http://schemas.openxmlformats.org/officeDocument/2006/relationships/oleObject" Target="../embeddings/oleObject189.bin"/><Relationship Id="rId13" Type="http://schemas.openxmlformats.org/officeDocument/2006/relationships/image" Target="../media/image117.wmf"/><Relationship Id="rId12" Type="http://schemas.openxmlformats.org/officeDocument/2006/relationships/oleObject" Target="../embeddings/oleObject188.bin"/><Relationship Id="rId11" Type="http://schemas.openxmlformats.org/officeDocument/2006/relationships/oleObject" Target="../embeddings/oleObject187.bin"/><Relationship Id="rId10" Type="http://schemas.openxmlformats.org/officeDocument/2006/relationships/image" Target="../media/image56.wmf"/><Relationship Id="rId1" Type="http://schemas.openxmlformats.org/officeDocument/2006/relationships/oleObject" Target="../embeddings/oleObject182.bin"/></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7.xml"/><Relationship Id="rId4" Type="http://schemas.openxmlformats.org/officeDocument/2006/relationships/image" Target="../media/image140.wmf"/><Relationship Id="rId3" Type="http://schemas.openxmlformats.org/officeDocument/2006/relationships/oleObject" Target="../embeddings/oleObject202.bin"/><Relationship Id="rId2" Type="http://schemas.openxmlformats.org/officeDocument/2006/relationships/image" Target="../media/image139.wmf"/><Relationship Id="rId1" Type="http://schemas.openxmlformats.org/officeDocument/2006/relationships/oleObject" Target="../embeddings/oleObject201.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207.bin"/><Relationship Id="rId8" Type="http://schemas.openxmlformats.org/officeDocument/2006/relationships/image" Target="../media/image144.wmf"/><Relationship Id="rId7" Type="http://schemas.openxmlformats.org/officeDocument/2006/relationships/oleObject" Target="../embeddings/oleObject206.bin"/><Relationship Id="rId6" Type="http://schemas.openxmlformats.org/officeDocument/2006/relationships/image" Target="../media/image143.wmf"/><Relationship Id="rId5" Type="http://schemas.openxmlformats.org/officeDocument/2006/relationships/oleObject" Target="../embeddings/oleObject205.bin"/><Relationship Id="rId4" Type="http://schemas.openxmlformats.org/officeDocument/2006/relationships/image" Target="../media/image142.wmf"/><Relationship Id="rId3" Type="http://schemas.openxmlformats.org/officeDocument/2006/relationships/oleObject" Target="../embeddings/oleObject204.bin"/><Relationship Id="rId2" Type="http://schemas.openxmlformats.org/officeDocument/2006/relationships/image" Target="../media/image141.wmf"/><Relationship Id="rId16" Type="http://schemas.openxmlformats.org/officeDocument/2006/relationships/vmlDrawing" Target="../drawings/vmlDrawing27.vml"/><Relationship Id="rId15" Type="http://schemas.openxmlformats.org/officeDocument/2006/relationships/slideLayout" Target="../slideLayouts/slideLayout7.xml"/><Relationship Id="rId14" Type="http://schemas.openxmlformats.org/officeDocument/2006/relationships/image" Target="../media/image147.wmf"/><Relationship Id="rId13" Type="http://schemas.openxmlformats.org/officeDocument/2006/relationships/oleObject" Target="../embeddings/oleObject209.bin"/><Relationship Id="rId12" Type="http://schemas.openxmlformats.org/officeDocument/2006/relationships/image" Target="../media/image146.wmf"/><Relationship Id="rId11" Type="http://schemas.openxmlformats.org/officeDocument/2006/relationships/oleObject" Target="../embeddings/oleObject208.bin"/><Relationship Id="rId10" Type="http://schemas.openxmlformats.org/officeDocument/2006/relationships/image" Target="../media/image145.wmf"/><Relationship Id="rId1" Type="http://schemas.openxmlformats.org/officeDocument/2006/relationships/oleObject" Target="../embeddings/oleObject203.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214.bin"/><Relationship Id="rId8" Type="http://schemas.openxmlformats.org/officeDocument/2006/relationships/image" Target="../media/image151.wmf"/><Relationship Id="rId7" Type="http://schemas.openxmlformats.org/officeDocument/2006/relationships/oleObject" Target="../embeddings/oleObject213.bin"/><Relationship Id="rId6" Type="http://schemas.openxmlformats.org/officeDocument/2006/relationships/image" Target="../media/image150.wmf"/><Relationship Id="rId5" Type="http://schemas.openxmlformats.org/officeDocument/2006/relationships/oleObject" Target="../embeddings/oleObject212.bin"/><Relationship Id="rId4" Type="http://schemas.openxmlformats.org/officeDocument/2006/relationships/image" Target="../media/image149.wmf"/><Relationship Id="rId32" Type="http://schemas.openxmlformats.org/officeDocument/2006/relationships/vmlDrawing" Target="../drawings/vmlDrawing28.vml"/><Relationship Id="rId31" Type="http://schemas.openxmlformats.org/officeDocument/2006/relationships/slideLayout" Target="../slideLayouts/slideLayout7.xml"/><Relationship Id="rId30" Type="http://schemas.openxmlformats.org/officeDocument/2006/relationships/image" Target="../media/image162.wmf"/><Relationship Id="rId3" Type="http://schemas.openxmlformats.org/officeDocument/2006/relationships/oleObject" Target="../embeddings/oleObject211.bin"/><Relationship Id="rId29" Type="http://schemas.openxmlformats.org/officeDocument/2006/relationships/oleObject" Target="../embeddings/oleObject224.bin"/><Relationship Id="rId28" Type="http://schemas.openxmlformats.org/officeDocument/2006/relationships/image" Target="../media/image161.wmf"/><Relationship Id="rId27" Type="http://schemas.openxmlformats.org/officeDocument/2006/relationships/oleObject" Target="../embeddings/oleObject223.bin"/><Relationship Id="rId26" Type="http://schemas.openxmlformats.org/officeDocument/2006/relationships/image" Target="../media/image160.wmf"/><Relationship Id="rId25" Type="http://schemas.openxmlformats.org/officeDocument/2006/relationships/oleObject" Target="../embeddings/oleObject222.bin"/><Relationship Id="rId24" Type="http://schemas.openxmlformats.org/officeDocument/2006/relationships/image" Target="../media/image159.wmf"/><Relationship Id="rId23" Type="http://schemas.openxmlformats.org/officeDocument/2006/relationships/oleObject" Target="../embeddings/oleObject221.bin"/><Relationship Id="rId22" Type="http://schemas.openxmlformats.org/officeDocument/2006/relationships/image" Target="../media/image158.wmf"/><Relationship Id="rId21" Type="http://schemas.openxmlformats.org/officeDocument/2006/relationships/oleObject" Target="../embeddings/oleObject220.bin"/><Relationship Id="rId20" Type="http://schemas.openxmlformats.org/officeDocument/2006/relationships/image" Target="../media/image157.wmf"/><Relationship Id="rId2" Type="http://schemas.openxmlformats.org/officeDocument/2006/relationships/image" Target="../media/image148.wmf"/><Relationship Id="rId19" Type="http://schemas.openxmlformats.org/officeDocument/2006/relationships/oleObject" Target="../embeddings/oleObject219.bin"/><Relationship Id="rId18" Type="http://schemas.openxmlformats.org/officeDocument/2006/relationships/image" Target="../media/image156.wmf"/><Relationship Id="rId17" Type="http://schemas.openxmlformats.org/officeDocument/2006/relationships/oleObject" Target="../embeddings/oleObject218.bin"/><Relationship Id="rId16" Type="http://schemas.openxmlformats.org/officeDocument/2006/relationships/image" Target="../media/image155.wmf"/><Relationship Id="rId15" Type="http://schemas.openxmlformats.org/officeDocument/2006/relationships/oleObject" Target="../embeddings/oleObject217.bin"/><Relationship Id="rId14" Type="http://schemas.openxmlformats.org/officeDocument/2006/relationships/image" Target="../media/image154.wmf"/><Relationship Id="rId13" Type="http://schemas.openxmlformats.org/officeDocument/2006/relationships/oleObject" Target="../embeddings/oleObject216.bin"/><Relationship Id="rId12" Type="http://schemas.openxmlformats.org/officeDocument/2006/relationships/image" Target="../media/image153.wmf"/><Relationship Id="rId11" Type="http://schemas.openxmlformats.org/officeDocument/2006/relationships/oleObject" Target="../embeddings/oleObject215.bin"/><Relationship Id="rId10" Type="http://schemas.openxmlformats.org/officeDocument/2006/relationships/image" Target="../media/image152.wmf"/><Relationship Id="rId1" Type="http://schemas.openxmlformats.org/officeDocument/2006/relationships/oleObject" Target="../embeddings/oleObject210.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229.bin"/><Relationship Id="rId8" Type="http://schemas.openxmlformats.org/officeDocument/2006/relationships/image" Target="../media/image166.wmf"/><Relationship Id="rId7" Type="http://schemas.openxmlformats.org/officeDocument/2006/relationships/oleObject" Target="../embeddings/oleObject228.bin"/><Relationship Id="rId6" Type="http://schemas.openxmlformats.org/officeDocument/2006/relationships/image" Target="../media/image165.wmf"/><Relationship Id="rId5" Type="http://schemas.openxmlformats.org/officeDocument/2006/relationships/oleObject" Target="../embeddings/oleObject227.bin"/><Relationship Id="rId4" Type="http://schemas.openxmlformats.org/officeDocument/2006/relationships/image" Target="../media/image164.wmf"/><Relationship Id="rId3" Type="http://schemas.openxmlformats.org/officeDocument/2006/relationships/oleObject" Target="../embeddings/oleObject226.bin"/><Relationship Id="rId20" Type="http://schemas.openxmlformats.org/officeDocument/2006/relationships/vmlDrawing" Target="../drawings/vmlDrawing29.vml"/><Relationship Id="rId2" Type="http://schemas.openxmlformats.org/officeDocument/2006/relationships/image" Target="../media/image163.wmf"/><Relationship Id="rId19" Type="http://schemas.openxmlformats.org/officeDocument/2006/relationships/slideLayout" Target="../slideLayouts/slideLayout7.xml"/><Relationship Id="rId18" Type="http://schemas.openxmlformats.org/officeDocument/2006/relationships/image" Target="../media/image171.wmf"/><Relationship Id="rId17" Type="http://schemas.openxmlformats.org/officeDocument/2006/relationships/oleObject" Target="../embeddings/oleObject233.bin"/><Relationship Id="rId16" Type="http://schemas.openxmlformats.org/officeDocument/2006/relationships/image" Target="../media/image170.wmf"/><Relationship Id="rId15" Type="http://schemas.openxmlformats.org/officeDocument/2006/relationships/oleObject" Target="../embeddings/oleObject232.bin"/><Relationship Id="rId14" Type="http://schemas.openxmlformats.org/officeDocument/2006/relationships/image" Target="../media/image169.wmf"/><Relationship Id="rId13" Type="http://schemas.openxmlformats.org/officeDocument/2006/relationships/oleObject" Target="../embeddings/oleObject231.bin"/><Relationship Id="rId12" Type="http://schemas.openxmlformats.org/officeDocument/2006/relationships/image" Target="../media/image168.wmf"/><Relationship Id="rId11" Type="http://schemas.openxmlformats.org/officeDocument/2006/relationships/oleObject" Target="../embeddings/oleObject230.bin"/><Relationship Id="rId10" Type="http://schemas.openxmlformats.org/officeDocument/2006/relationships/image" Target="../media/image167.wmf"/><Relationship Id="rId1" Type="http://schemas.openxmlformats.org/officeDocument/2006/relationships/oleObject" Target="../embeddings/oleObject225.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238.bin"/><Relationship Id="rId8" Type="http://schemas.openxmlformats.org/officeDocument/2006/relationships/image" Target="../media/image175.wmf"/><Relationship Id="rId7" Type="http://schemas.openxmlformats.org/officeDocument/2006/relationships/oleObject" Target="../embeddings/oleObject237.bin"/><Relationship Id="rId6" Type="http://schemas.openxmlformats.org/officeDocument/2006/relationships/image" Target="../media/image174.wmf"/><Relationship Id="rId5" Type="http://schemas.openxmlformats.org/officeDocument/2006/relationships/oleObject" Target="../embeddings/oleObject236.bin"/><Relationship Id="rId4" Type="http://schemas.openxmlformats.org/officeDocument/2006/relationships/image" Target="../media/image173.wmf"/><Relationship Id="rId3" Type="http://schemas.openxmlformats.org/officeDocument/2006/relationships/oleObject" Target="../embeddings/oleObject235.bin"/><Relationship Id="rId22" Type="http://schemas.openxmlformats.org/officeDocument/2006/relationships/vmlDrawing" Target="../drawings/vmlDrawing30.vml"/><Relationship Id="rId21" Type="http://schemas.openxmlformats.org/officeDocument/2006/relationships/slideLayout" Target="../slideLayouts/slideLayout7.xml"/><Relationship Id="rId20" Type="http://schemas.openxmlformats.org/officeDocument/2006/relationships/image" Target="../media/image181.wmf"/><Relationship Id="rId2" Type="http://schemas.openxmlformats.org/officeDocument/2006/relationships/image" Target="../media/image172.wmf"/><Relationship Id="rId19" Type="http://schemas.openxmlformats.org/officeDocument/2006/relationships/oleObject" Target="../embeddings/oleObject243.bin"/><Relationship Id="rId18" Type="http://schemas.openxmlformats.org/officeDocument/2006/relationships/image" Target="../media/image180.wmf"/><Relationship Id="rId17" Type="http://schemas.openxmlformats.org/officeDocument/2006/relationships/oleObject" Target="../embeddings/oleObject242.bin"/><Relationship Id="rId16" Type="http://schemas.openxmlformats.org/officeDocument/2006/relationships/image" Target="../media/image179.wmf"/><Relationship Id="rId15" Type="http://schemas.openxmlformats.org/officeDocument/2006/relationships/oleObject" Target="../embeddings/oleObject241.bin"/><Relationship Id="rId14" Type="http://schemas.openxmlformats.org/officeDocument/2006/relationships/image" Target="../media/image178.wmf"/><Relationship Id="rId13" Type="http://schemas.openxmlformats.org/officeDocument/2006/relationships/oleObject" Target="../embeddings/oleObject240.bin"/><Relationship Id="rId12" Type="http://schemas.openxmlformats.org/officeDocument/2006/relationships/image" Target="../media/image177.wmf"/><Relationship Id="rId11" Type="http://schemas.openxmlformats.org/officeDocument/2006/relationships/oleObject" Target="../embeddings/oleObject239.bin"/><Relationship Id="rId10" Type="http://schemas.openxmlformats.org/officeDocument/2006/relationships/image" Target="../media/image176.wmf"/><Relationship Id="rId1" Type="http://schemas.openxmlformats.org/officeDocument/2006/relationships/oleObject" Target="../embeddings/oleObject234.bin"/></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248.bin"/><Relationship Id="rId8" Type="http://schemas.openxmlformats.org/officeDocument/2006/relationships/image" Target="../media/image185.wmf"/><Relationship Id="rId7" Type="http://schemas.openxmlformats.org/officeDocument/2006/relationships/oleObject" Target="../embeddings/oleObject247.bin"/><Relationship Id="rId6" Type="http://schemas.openxmlformats.org/officeDocument/2006/relationships/image" Target="../media/image184.wmf"/><Relationship Id="rId5" Type="http://schemas.openxmlformats.org/officeDocument/2006/relationships/oleObject" Target="../embeddings/oleObject246.bin"/><Relationship Id="rId4" Type="http://schemas.openxmlformats.org/officeDocument/2006/relationships/image" Target="../media/image183.wmf"/><Relationship Id="rId3" Type="http://schemas.openxmlformats.org/officeDocument/2006/relationships/oleObject" Target="../embeddings/oleObject245.bin"/><Relationship Id="rId22" Type="http://schemas.openxmlformats.org/officeDocument/2006/relationships/vmlDrawing" Target="../drawings/vmlDrawing31.vml"/><Relationship Id="rId21" Type="http://schemas.openxmlformats.org/officeDocument/2006/relationships/slideLayout" Target="../slideLayouts/slideLayout7.xml"/><Relationship Id="rId20" Type="http://schemas.openxmlformats.org/officeDocument/2006/relationships/image" Target="../media/image189.wmf"/><Relationship Id="rId2" Type="http://schemas.openxmlformats.org/officeDocument/2006/relationships/image" Target="../media/image182.wmf"/><Relationship Id="rId19" Type="http://schemas.openxmlformats.org/officeDocument/2006/relationships/oleObject" Target="../embeddings/oleObject254.bin"/><Relationship Id="rId18" Type="http://schemas.openxmlformats.org/officeDocument/2006/relationships/oleObject" Target="../embeddings/oleObject253.bin"/><Relationship Id="rId17" Type="http://schemas.openxmlformats.org/officeDocument/2006/relationships/oleObject" Target="../embeddings/oleObject252.bin"/><Relationship Id="rId16" Type="http://schemas.openxmlformats.org/officeDocument/2006/relationships/image" Target="../media/image188.wmf"/><Relationship Id="rId15" Type="http://schemas.openxmlformats.org/officeDocument/2006/relationships/oleObject" Target="../embeddings/oleObject251.bin"/><Relationship Id="rId14" Type="http://schemas.openxmlformats.org/officeDocument/2006/relationships/image" Target="../media/image187.wmf"/><Relationship Id="rId13" Type="http://schemas.openxmlformats.org/officeDocument/2006/relationships/oleObject" Target="../embeddings/oleObject250.bin"/><Relationship Id="rId12" Type="http://schemas.openxmlformats.org/officeDocument/2006/relationships/image" Target="../media/image186.wmf"/><Relationship Id="rId11" Type="http://schemas.openxmlformats.org/officeDocument/2006/relationships/oleObject" Target="../embeddings/oleObject249.bin"/><Relationship Id="rId10" Type="http://schemas.openxmlformats.org/officeDocument/2006/relationships/image" Target="../media/image176.wmf"/><Relationship Id="rId1" Type="http://schemas.openxmlformats.org/officeDocument/2006/relationships/oleObject" Target="../embeddings/oleObject244.bin"/></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93.wmf"/><Relationship Id="rId7" Type="http://schemas.openxmlformats.org/officeDocument/2006/relationships/oleObject" Target="../embeddings/oleObject258.bin"/><Relationship Id="rId6" Type="http://schemas.openxmlformats.org/officeDocument/2006/relationships/image" Target="../media/image192.wmf"/><Relationship Id="rId5" Type="http://schemas.openxmlformats.org/officeDocument/2006/relationships/oleObject" Target="../embeddings/oleObject257.bin"/><Relationship Id="rId4" Type="http://schemas.openxmlformats.org/officeDocument/2006/relationships/image" Target="../media/image191.wmf"/><Relationship Id="rId3" Type="http://schemas.openxmlformats.org/officeDocument/2006/relationships/oleObject" Target="../embeddings/oleObject256.bin"/><Relationship Id="rId2" Type="http://schemas.openxmlformats.org/officeDocument/2006/relationships/image" Target="../media/image190.wmf"/><Relationship Id="rId10" Type="http://schemas.openxmlformats.org/officeDocument/2006/relationships/vmlDrawing" Target="../drawings/vmlDrawing32.vml"/><Relationship Id="rId1" Type="http://schemas.openxmlformats.org/officeDocument/2006/relationships/oleObject" Target="../embeddings/oleObject255.bin"/></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263.bin"/><Relationship Id="rId8" Type="http://schemas.openxmlformats.org/officeDocument/2006/relationships/image" Target="../media/image197.wmf"/><Relationship Id="rId7" Type="http://schemas.openxmlformats.org/officeDocument/2006/relationships/oleObject" Target="../embeddings/oleObject262.bin"/><Relationship Id="rId6" Type="http://schemas.openxmlformats.org/officeDocument/2006/relationships/image" Target="../media/image196.wmf"/><Relationship Id="rId5" Type="http://schemas.openxmlformats.org/officeDocument/2006/relationships/oleObject" Target="../embeddings/oleObject261.bin"/><Relationship Id="rId4" Type="http://schemas.openxmlformats.org/officeDocument/2006/relationships/image" Target="../media/image195.wmf"/><Relationship Id="rId3" Type="http://schemas.openxmlformats.org/officeDocument/2006/relationships/oleObject" Target="../embeddings/oleObject260.bin"/><Relationship Id="rId2" Type="http://schemas.openxmlformats.org/officeDocument/2006/relationships/image" Target="../media/image194.wmf"/><Relationship Id="rId12" Type="http://schemas.openxmlformats.org/officeDocument/2006/relationships/vmlDrawing" Target="../drawings/vmlDrawing33.vml"/><Relationship Id="rId11" Type="http://schemas.openxmlformats.org/officeDocument/2006/relationships/slideLayout" Target="../slideLayouts/slideLayout7.xml"/><Relationship Id="rId10" Type="http://schemas.openxmlformats.org/officeDocument/2006/relationships/image" Target="../media/image198.wmf"/><Relationship Id="rId1" Type="http://schemas.openxmlformats.org/officeDocument/2006/relationships/oleObject" Target="../embeddings/oleObject259.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268.bin"/><Relationship Id="rId8" Type="http://schemas.openxmlformats.org/officeDocument/2006/relationships/image" Target="../media/image202.wmf"/><Relationship Id="rId7" Type="http://schemas.openxmlformats.org/officeDocument/2006/relationships/oleObject" Target="../embeddings/oleObject267.bin"/><Relationship Id="rId6" Type="http://schemas.openxmlformats.org/officeDocument/2006/relationships/image" Target="../media/image201.wmf"/><Relationship Id="rId5" Type="http://schemas.openxmlformats.org/officeDocument/2006/relationships/oleObject" Target="../embeddings/oleObject266.bin"/><Relationship Id="rId4" Type="http://schemas.openxmlformats.org/officeDocument/2006/relationships/image" Target="../media/image200.wmf"/><Relationship Id="rId3" Type="http://schemas.openxmlformats.org/officeDocument/2006/relationships/oleObject" Target="../embeddings/oleObject265.bin"/><Relationship Id="rId2" Type="http://schemas.openxmlformats.org/officeDocument/2006/relationships/image" Target="../media/image199.wmf"/><Relationship Id="rId16" Type="http://schemas.openxmlformats.org/officeDocument/2006/relationships/vmlDrawing" Target="../drawings/vmlDrawing34.vml"/><Relationship Id="rId15" Type="http://schemas.openxmlformats.org/officeDocument/2006/relationships/slideLayout" Target="../slideLayouts/slideLayout7.xml"/><Relationship Id="rId14" Type="http://schemas.openxmlformats.org/officeDocument/2006/relationships/image" Target="../media/image205.wmf"/><Relationship Id="rId13" Type="http://schemas.openxmlformats.org/officeDocument/2006/relationships/oleObject" Target="../embeddings/oleObject270.bin"/><Relationship Id="rId12" Type="http://schemas.openxmlformats.org/officeDocument/2006/relationships/image" Target="../media/image204.wmf"/><Relationship Id="rId11" Type="http://schemas.openxmlformats.org/officeDocument/2006/relationships/oleObject" Target="../embeddings/oleObject269.bin"/><Relationship Id="rId10" Type="http://schemas.openxmlformats.org/officeDocument/2006/relationships/image" Target="../media/image203.wmf"/><Relationship Id="rId1" Type="http://schemas.openxmlformats.org/officeDocument/2006/relationships/oleObject" Target="../embeddings/oleObject264.bin"/></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275.bin"/><Relationship Id="rId8" Type="http://schemas.openxmlformats.org/officeDocument/2006/relationships/image" Target="../media/image209.wmf"/><Relationship Id="rId7" Type="http://schemas.openxmlformats.org/officeDocument/2006/relationships/oleObject" Target="../embeddings/oleObject274.bin"/><Relationship Id="rId6" Type="http://schemas.openxmlformats.org/officeDocument/2006/relationships/image" Target="../media/image208.wmf"/><Relationship Id="rId5" Type="http://schemas.openxmlformats.org/officeDocument/2006/relationships/oleObject" Target="../embeddings/oleObject273.bin"/><Relationship Id="rId4" Type="http://schemas.openxmlformats.org/officeDocument/2006/relationships/image" Target="../media/image207.wmf"/><Relationship Id="rId3" Type="http://schemas.openxmlformats.org/officeDocument/2006/relationships/oleObject" Target="../embeddings/oleObject272.bin"/><Relationship Id="rId2" Type="http://schemas.openxmlformats.org/officeDocument/2006/relationships/image" Target="../media/image206.wmf"/><Relationship Id="rId12" Type="http://schemas.openxmlformats.org/officeDocument/2006/relationships/vmlDrawing" Target="../drawings/vmlDrawing35.vml"/><Relationship Id="rId11" Type="http://schemas.openxmlformats.org/officeDocument/2006/relationships/slideLayout" Target="../slideLayouts/slideLayout7.xml"/><Relationship Id="rId10" Type="http://schemas.openxmlformats.org/officeDocument/2006/relationships/image" Target="../media/image210.wmf"/><Relationship Id="rId1" Type="http://schemas.openxmlformats.org/officeDocument/2006/relationships/oleObject" Target="../embeddings/oleObject271.bin"/></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280.bin"/><Relationship Id="rId8" Type="http://schemas.openxmlformats.org/officeDocument/2006/relationships/image" Target="../media/image214.wmf"/><Relationship Id="rId7" Type="http://schemas.openxmlformats.org/officeDocument/2006/relationships/oleObject" Target="../embeddings/oleObject279.bin"/><Relationship Id="rId6" Type="http://schemas.openxmlformats.org/officeDocument/2006/relationships/image" Target="../media/image213.wmf"/><Relationship Id="rId5" Type="http://schemas.openxmlformats.org/officeDocument/2006/relationships/oleObject" Target="../embeddings/oleObject278.bin"/><Relationship Id="rId4" Type="http://schemas.openxmlformats.org/officeDocument/2006/relationships/image" Target="../media/image212.wmf"/><Relationship Id="rId3" Type="http://schemas.openxmlformats.org/officeDocument/2006/relationships/oleObject" Target="../embeddings/oleObject277.bin"/><Relationship Id="rId23" Type="http://schemas.openxmlformats.org/officeDocument/2006/relationships/vmlDrawing" Target="../drawings/vmlDrawing36.vml"/><Relationship Id="rId22" Type="http://schemas.openxmlformats.org/officeDocument/2006/relationships/slideLayout" Target="../slideLayouts/slideLayout7.xml"/><Relationship Id="rId21" Type="http://schemas.openxmlformats.org/officeDocument/2006/relationships/slide" Target="slide7.xml"/><Relationship Id="rId20" Type="http://schemas.openxmlformats.org/officeDocument/2006/relationships/image" Target="../media/image220.wmf"/><Relationship Id="rId2" Type="http://schemas.openxmlformats.org/officeDocument/2006/relationships/image" Target="../media/image211.wmf"/><Relationship Id="rId19" Type="http://schemas.openxmlformats.org/officeDocument/2006/relationships/oleObject" Target="../embeddings/oleObject285.bin"/><Relationship Id="rId18" Type="http://schemas.openxmlformats.org/officeDocument/2006/relationships/image" Target="../media/image219.wmf"/><Relationship Id="rId17" Type="http://schemas.openxmlformats.org/officeDocument/2006/relationships/oleObject" Target="../embeddings/oleObject284.bin"/><Relationship Id="rId16" Type="http://schemas.openxmlformats.org/officeDocument/2006/relationships/image" Target="../media/image218.wmf"/><Relationship Id="rId15" Type="http://schemas.openxmlformats.org/officeDocument/2006/relationships/oleObject" Target="../embeddings/oleObject283.bin"/><Relationship Id="rId14" Type="http://schemas.openxmlformats.org/officeDocument/2006/relationships/image" Target="../media/image217.wmf"/><Relationship Id="rId13" Type="http://schemas.openxmlformats.org/officeDocument/2006/relationships/oleObject" Target="../embeddings/oleObject282.bin"/><Relationship Id="rId12" Type="http://schemas.openxmlformats.org/officeDocument/2006/relationships/image" Target="../media/image216.wmf"/><Relationship Id="rId11" Type="http://schemas.openxmlformats.org/officeDocument/2006/relationships/oleObject" Target="../embeddings/oleObject281.bin"/><Relationship Id="rId10" Type="http://schemas.openxmlformats.org/officeDocument/2006/relationships/image" Target="../media/image215.wmf"/><Relationship Id="rId1" Type="http://schemas.openxmlformats.org/officeDocument/2006/relationships/oleObject" Target="../embeddings/oleObject276.bin"/></Relationships>
</file>

<file path=ppt/slides/_rels/slide57.xml.rels><?xml version="1.0" encoding="UTF-8" standalone="yes"?>
<Relationships xmlns="http://schemas.openxmlformats.org/package/2006/relationships"><Relationship Id="rId8" Type="http://schemas.openxmlformats.org/officeDocument/2006/relationships/vmlDrawing" Target="../drawings/vmlDrawing37.vml"/><Relationship Id="rId7" Type="http://schemas.openxmlformats.org/officeDocument/2006/relationships/slideLayout" Target="../slideLayouts/slideLayout7.xml"/><Relationship Id="rId6" Type="http://schemas.openxmlformats.org/officeDocument/2006/relationships/image" Target="../media/image223.wmf"/><Relationship Id="rId5" Type="http://schemas.openxmlformats.org/officeDocument/2006/relationships/oleObject" Target="../embeddings/oleObject288.bin"/><Relationship Id="rId4" Type="http://schemas.openxmlformats.org/officeDocument/2006/relationships/image" Target="../media/image222.wmf"/><Relationship Id="rId3" Type="http://schemas.openxmlformats.org/officeDocument/2006/relationships/oleObject" Target="../embeddings/oleObject287.bin"/><Relationship Id="rId2" Type="http://schemas.openxmlformats.org/officeDocument/2006/relationships/image" Target="../media/image221.wmf"/><Relationship Id="rId1" Type="http://schemas.openxmlformats.org/officeDocument/2006/relationships/oleObject" Target="../embeddings/oleObject286.bin"/></Relationships>
</file>

<file path=ppt/slides/_rels/slide58.xml.rels><?xml version="1.0" encoding="UTF-8" standalone="yes"?>
<Relationships xmlns="http://schemas.openxmlformats.org/package/2006/relationships"><Relationship Id="rId8" Type="http://schemas.openxmlformats.org/officeDocument/2006/relationships/vmlDrawing" Target="../drawings/vmlDrawing38.vml"/><Relationship Id="rId7" Type="http://schemas.openxmlformats.org/officeDocument/2006/relationships/slideLayout" Target="../slideLayouts/slideLayout7.xml"/><Relationship Id="rId6" Type="http://schemas.openxmlformats.org/officeDocument/2006/relationships/image" Target="../media/image226.wmf"/><Relationship Id="rId5" Type="http://schemas.openxmlformats.org/officeDocument/2006/relationships/oleObject" Target="../embeddings/oleObject291.bin"/><Relationship Id="rId4" Type="http://schemas.openxmlformats.org/officeDocument/2006/relationships/image" Target="../media/image225.wmf"/><Relationship Id="rId3" Type="http://schemas.openxmlformats.org/officeDocument/2006/relationships/oleObject" Target="../embeddings/oleObject290.bin"/><Relationship Id="rId2" Type="http://schemas.openxmlformats.org/officeDocument/2006/relationships/image" Target="../media/image224.wmf"/><Relationship Id="rId1" Type="http://schemas.openxmlformats.org/officeDocument/2006/relationships/oleObject" Target="../embeddings/oleObject289.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296.bin"/><Relationship Id="rId8" Type="http://schemas.openxmlformats.org/officeDocument/2006/relationships/image" Target="../media/image230.wmf"/><Relationship Id="rId7" Type="http://schemas.openxmlformats.org/officeDocument/2006/relationships/oleObject" Target="../embeddings/oleObject295.bin"/><Relationship Id="rId6" Type="http://schemas.openxmlformats.org/officeDocument/2006/relationships/image" Target="../media/image229.wmf"/><Relationship Id="rId5" Type="http://schemas.openxmlformats.org/officeDocument/2006/relationships/oleObject" Target="../embeddings/oleObject294.bin"/><Relationship Id="rId4" Type="http://schemas.openxmlformats.org/officeDocument/2006/relationships/image" Target="../media/image228.wmf"/><Relationship Id="rId3" Type="http://schemas.openxmlformats.org/officeDocument/2006/relationships/oleObject" Target="../embeddings/oleObject293.bin"/><Relationship Id="rId2" Type="http://schemas.openxmlformats.org/officeDocument/2006/relationships/image" Target="../media/image227.wmf"/><Relationship Id="rId12" Type="http://schemas.openxmlformats.org/officeDocument/2006/relationships/vmlDrawing" Target="../drawings/vmlDrawing39.vml"/><Relationship Id="rId11" Type="http://schemas.openxmlformats.org/officeDocument/2006/relationships/slideLayout" Target="../slideLayouts/slideLayout7.xml"/><Relationship Id="rId10" Type="http://schemas.openxmlformats.org/officeDocument/2006/relationships/image" Target="../media/image231.wmf"/><Relationship Id="rId1" Type="http://schemas.openxmlformats.org/officeDocument/2006/relationships/oleObject" Target="../embeddings/oleObject292.bin"/></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3.GIF"/><Relationship Id="rId1" Type="http://schemas.openxmlformats.org/officeDocument/2006/relationships/image" Target="../media/image232.GIF"/></Relationships>
</file>

<file path=ppt/slides/_rels/slide61.xml.rels><?xml version="1.0" encoding="UTF-8" standalone="yes"?>
<Relationships xmlns="http://schemas.openxmlformats.org/package/2006/relationships"><Relationship Id="rId8" Type="http://schemas.openxmlformats.org/officeDocument/2006/relationships/vmlDrawing" Target="../drawings/vmlDrawing40.vml"/><Relationship Id="rId7" Type="http://schemas.openxmlformats.org/officeDocument/2006/relationships/slideLayout" Target="../slideLayouts/slideLayout7.xml"/><Relationship Id="rId6" Type="http://schemas.openxmlformats.org/officeDocument/2006/relationships/image" Target="../media/image236.wmf"/><Relationship Id="rId5" Type="http://schemas.openxmlformats.org/officeDocument/2006/relationships/oleObject" Target="../embeddings/oleObject299.bin"/><Relationship Id="rId4" Type="http://schemas.openxmlformats.org/officeDocument/2006/relationships/image" Target="../media/image235.wmf"/><Relationship Id="rId3" Type="http://schemas.openxmlformats.org/officeDocument/2006/relationships/oleObject" Target="../embeddings/oleObject298.bin"/><Relationship Id="rId2" Type="http://schemas.openxmlformats.org/officeDocument/2006/relationships/image" Target="../media/image234.wmf"/><Relationship Id="rId1" Type="http://schemas.openxmlformats.org/officeDocument/2006/relationships/oleObject" Target="../embeddings/oleObject297.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304.bin"/><Relationship Id="rId8" Type="http://schemas.openxmlformats.org/officeDocument/2006/relationships/image" Target="../media/image228.wmf"/><Relationship Id="rId7" Type="http://schemas.openxmlformats.org/officeDocument/2006/relationships/oleObject" Target="../embeddings/oleObject303.bin"/><Relationship Id="rId6" Type="http://schemas.openxmlformats.org/officeDocument/2006/relationships/image" Target="../media/image237.wmf"/><Relationship Id="rId5" Type="http://schemas.openxmlformats.org/officeDocument/2006/relationships/oleObject" Target="../embeddings/oleObject302.bin"/><Relationship Id="rId4" Type="http://schemas.openxmlformats.org/officeDocument/2006/relationships/image" Target="../media/image230.wmf"/><Relationship Id="rId3" Type="http://schemas.openxmlformats.org/officeDocument/2006/relationships/oleObject" Target="../embeddings/oleObject301.bin"/><Relationship Id="rId2" Type="http://schemas.openxmlformats.org/officeDocument/2006/relationships/image" Target="../media/image227.wmf"/><Relationship Id="rId12" Type="http://schemas.openxmlformats.org/officeDocument/2006/relationships/vmlDrawing" Target="../drawings/vmlDrawing41.vml"/><Relationship Id="rId11" Type="http://schemas.openxmlformats.org/officeDocument/2006/relationships/slideLayout" Target="../slideLayouts/slideLayout7.xml"/><Relationship Id="rId10" Type="http://schemas.openxmlformats.org/officeDocument/2006/relationships/image" Target="../media/image229.wmf"/><Relationship Id="rId1" Type="http://schemas.openxmlformats.org/officeDocument/2006/relationships/oleObject" Target="../embeddings/oleObject300.bin"/></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8.GIF"/></Relationships>
</file>

<file path=ppt/slides/_rels/slide6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42.wmf"/><Relationship Id="rId7" Type="http://schemas.openxmlformats.org/officeDocument/2006/relationships/oleObject" Target="../embeddings/oleObject308.bin"/><Relationship Id="rId6" Type="http://schemas.openxmlformats.org/officeDocument/2006/relationships/image" Target="../media/image241.wmf"/><Relationship Id="rId5" Type="http://schemas.openxmlformats.org/officeDocument/2006/relationships/oleObject" Target="../embeddings/oleObject307.bin"/><Relationship Id="rId4" Type="http://schemas.openxmlformats.org/officeDocument/2006/relationships/image" Target="../media/image240.wmf"/><Relationship Id="rId3" Type="http://schemas.openxmlformats.org/officeDocument/2006/relationships/oleObject" Target="../embeddings/oleObject306.bin"/><Relationship Id="rId2" Type="http://schemas.openxmlformats.org/officeDocument/2006/relationships/image" Target="../media/image239.wmf"/><Relationship Id="rId10" Type="http://schemas.openxmlformats.org/officeDocument/2006/relationships/vmlDrawing" Target="../drawings/vmlDrawing42.vml"/><Relationship Id="rId1" Type="http://schemas.openxmlformats.org/officeDocument/2006/relationships/oleObject" Target="../embeddings/oleObject305.bin"/></Relationships>
</file>

<file path=ppt/slides/_rels/slide65.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7.xml"/><Relationship Id="rId4" Type="http://schemas.openxmlformats.org/officeDocument/2006/relationships/image" Target="../media/image244.wmf"/><Relationship Id="rId3" Type="http://schemas.openxmlformats.org/officeDocument/2006/relationships/oleObject" Target="../embeddings/oleObject310.bin"/><Relationship Id="rId2" Type="http://schemas.openxmlformats.org/officeDocument/2006/relationships/image" Target="../media/image243.wmf"/><Relationship Id="rId1" Type="http://schemas.openxmlformats.org/officeDocument/2006/relationships/oleObject" Target="../embeddings/oleObject309.bin"/></Relationships>
</file>

<file path=ppt/slides/_rels/slide66.xml.rels><?xml version="1.0" encoding="UTF-8" standalone="yes"?>
<Relationships xmlns="http://schemas.openxmlformats.org/package/2006/relationships"><Relationship Id="rId5" Type="http://schemas.openxmlformats.org/officeDocument/2006/relationships/vmlDrawing" Target="../drawings/vmlDrawing44.vml"/><Relationship Id="rId4" Type="http://schemas.openxmlformats.org/officeDocument/2006/relationships/slideLayout" Target="../slideLayouts/slideLayout7.xml"/><Relationship Id="rId3" Type="http://schemas.openxmlformats.org/officeDocument/2006/relationships/oleObject" Target="../embeddings/oleObject312.bin"/><Relationship Id="rId2" Type="http://schemas.openxmlformats.org/officeDocument/2006/relationships/image" Target="../media/image245.wmf"/><Relationship Id="rId1" Type="http://schemas.openxmlformats.org/officeDocument/2006/relationships/oleObject" Target="../embeddings/oleObject311.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317.bin"/><Relationship Id="rId8" Type="http://schemas.openxmlformats.org/officeDocument/2006/relationships/image" Target="../media/image249.wmf"/><Relationship Id="rId7" Type="http://schemas.openxmlformats.org/officeDocument/2006/relationships/oleObject" Target="../embeddings/oleObject316.bin"/><Relationship Id="rId6" Type="http://schemas.openxmlformats.org/officeDocument/2006/relationships/image" Target="../media/image248.wmf"/><Relationship Id="rId5" Type="http://schemas.openxmlformats.org/officeDocument/2006/relationships/oleObject" Target="../embeddings/oleObject315.bin"/><Relationship Id="rId4" Type="http://schemas.openxmlformats.org/officeDocument/2006/relationships/image" Target="../media/image247.wmf"/><Relationship Id="rId3" Type="http://schemas.openxmlformats.org/officeDocument/2006/relationships/oleObject" Target="../embeddings/oleObject314.bin"/><Relationship Id="rId24" Type="http://schemas.openxmlformats.org/officeDocument/2006/relationships/vmlDrawing" Target="../drawings/vmlDrawing45.vml"/><Relationship Id="rId23" Type="http://schemas.openxmlformats.org/officeDocument/2006/relationships/slideLayout" Target="../slideLayouts/slideLayout7.xml"/><Relationship Id="rId22" Type="http://schemas.openxmlformats.org/officeDocument/2006/relationships/image" Target="../media/image256.wmf"/><Relationship Id="rId21" Type="http://schemas.openxmlformats.org/officeDocument/2006/relationships/oleObject" Target="../embeddings/oleObject323.bin"/><Relationship Id="rId20" Type="http://schemas.openxmlformats.org/officeDocument/2006/relationships/image" Target="../media/image255.wmf"/><Relationship Id="rId2" Type="http://schemas.openxmlformats.org/officeDocument/2006/relationships/image" Target="../media/image246.wmf"/><Relationship Id="rId19" Type="http://schemas.openxmlformats.org/officeDocument/2006/relationships/oleObject" Target="../embeddings/oleObject322.bin"/><Relationship Id="rId18" Type="http://schemas.openxmlformats.org/officeDocument/2006/relationships/image" Target="../media/image254.wmf"/><Relationship Id="rId17" Type="http://schemas.openxmlformats.org/officeDocument/2006/relationships/oleObject" Target="../embeddings/oleObject321.bin"/><Relationship Id="rId16" Type="http://schemas.openxmlformats.org/officeDocument/2006/relationships/image" Target="../media/image253.wmf"/><Relationship Id="rId15" Type="http://schemas.openxmlformats.org/officeDocument/2006/relationships/oleObject" Target="../embeddings/oleObject320.bin"/><Relationship Id="rId14" Type="http://schemas.openxmlformats.org/officeDocument/2006/relationships/image" Target="../media/image252.wmf"/><Relationship Id="rId13" Type="http://schemas.openxmlformats.org/officeDocument/2006/relationships/oleObject" Target="../embeddings/oleObject319.bin"/><Relationship Id="rId12" Type="http://schemas.openxmlformats.org/officeDocument/2006/relationships/image" Target="../media/image251.wmf"/><Relationship Id="rId11" Type="http://schemas.openxmlformats.org/officeDocument/2006/relationships/oleObject" Target="../embeddings/oleObject318.bin"/><Relationship Id="rId10" Type="http://schemas.openxmlformats.org/officeDocument/2006/relationships/image" Target="../media/image250.wmf"/><Relationship Id="rId1" Type="http://schemas.openxmlformats.org/officeDocument/2006/relationships/oleObject" Target="../embeddings/oleObject313.bin"/></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60.wmf"/><Relationship Id="rId7" Type="http://schemas.openxmlformats.org/officeDocument/2006/relationships/oleObject" Target="../embeddings/oleObject327.bin"/><Relationship Id="rId6" Type="http://schemas.openxmlformats.org/officeDocument/2006/relationships/image" Target="../media/image259.wmf"/><Relationship Id="rId5" Type="http://schemas.openxmlformats.org/officeDocument/2006/relationships/oleObject" Target="../embeddings/oleObject326.bin"/><Relationship Id="rId4" Type="http://schemas.openxmlformats.org/officeDocument/2006/relationships/image" Target="../media/image258.wmf"/><Relationship Id="rId3" Type="http://schemas.openxmlformats.org/officeDocument/2006/relationships/oleObject" Target="../embeddings/oleObject325.bin"/><Relationship Id="rId2" Type="http://schemas.openxmlformats.org/officeDocument/2006/relationships/image" Target="../media/image257.wmf"/><Relationship Id="rId10" Type="http://schemas.openxmlformats.org/officeDocument/2006/relationships/vmlDrawing" Target="../drawings/vmlDrawing46.vml"/><Relationship Id="rId1" Type="http://schemas.openxmlformats.org/officeDocument/2006/relationships/oleObject" Target="../embeddings/oleObject324.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9" Type="http://schemas.openxmlformats.org/officeDocument/2006/relationships/oleObject" Target="../embeddings/oleObject332.bin"/><Relationship Id="rId8" Type="http://schemas.openxmlformats.org/officeDocument/2006/relationships/image" Target="../media/image264.wmf"/><Relationship Id="rId7" Type="http://schemas.openxmlformats.org/officeDocument/2006/relationships/oleObject" Target="../embeddings/oleObject331.bin"/><Relationship Id="rId6" Type="http://schemas.openxmlformats.org/officeDocument/2006/relationships/image" Target="../media/image263.wmf"/><Relationship Id="rId5" Type="http://schemas.openxmlformats.org/officeDocument/2006/relationships/oleObject" Target="../embeddings/oleObject330.bin"/><Relationship Id="rId4" Type="http://schemas.openxmlformats.org/officeDocument/2006/relationships/image" Target="../media/image262.wmf"/><Relationship Id="rId3" Type="http://schemas.openxmlformats.org/officeDocument/2006/relationships/oleObject" Target="../embeddings/oleObject329.bin"/><Relationship Id="rId2" Type="http://schemas.openxmlformats.org/officeDocument/2006/relationships/image" Target="../media/image261.wmf"/><Relationship Id="rId14" Type="http://schemas.openxmlformats.org/officeDocument/2006/relationships/vmlDrawing" Target="../drawings/vmlDrawing47.vml"/><Relationship Id="rId13" Type="http://schemas.openxmlformats.org/officeDocument/2006/relationships/slideLayout" Target="../slideLayouts/slideLayout7.xml"/><Relationship Id="rId12" Type="http://schemas.openxmlformats.org/officeDocument/2006/relationships/image" Target="../media/image266.wmf"/><Relationship Id="rId11" Type="http://schemas.openxmlformats.org/officeDocument/2006/relationships/oleObject" Target="../embeddings/oleObject333.bin"/><Relationship Id="rId10" Type="http://schemas.openxmlformats.org/officeDocument/2006/relationships/image" Target="../media/image265.wmf"/><Relationship Id="rId1" Type="http://schemas.openxmlformats.org/officeDocument/2006/relationships/oleObject" Target="../embeddings/oleObject328.bin"/></Relationships>
</file>

<file path=ppt/slides/_rels/slide72.xml.rels><?xml version="1.0" encoding="UTF-8" standalone="yes"?>
<Relationships xmlns="http://schemas.openxmlformats.org/package/2006/relationships"><Relationship Id="rId9" Type="http://schemas.openxmlformats.org/officeDocument/2006/relationships/oleObject" Target="../embeddings/oleObject338.bin"/><Relationship Id="rId8" Type="http://schemas.openxmlformats.org/officeDocument/2006/relationships/image" Target="../media/image270.wmf"/><Relationship Id="rId7" Type="http://schemas.openxmlformats.org/officeDocument/2006/relationships/oleObject" Target="../embeddings/oleObject337.bin"/><Relationship Id="rId6" Type="http://schemas.openxmlformats.org/officeDocument/2006/relationships/image" Target="../media/image269.wmf"/><Relationship Id="rId5" Type="http://schemas.openxmlformats.org/officeDocument/2006/relationships/oleObject" Target="../embeddings/oleObject336.bin"/><Relationship Id="rId4" Type="http://schemas.openxmlformats.org/officeDocument/2006/relationships/image" Target="../media/image268.wmf"/><Relationship Id="rId3" Type="http://schemas.openxmlformats.org/officeDocument/2006/relationships/oleObject" Target="../embeddings/oleObject335.bin"/><Relationship Id="rId20" Type="http://schemas.openxmlformats.org/officeDocument/2006/relationships/vmlDrawing" Target="../drawings/vmlDrawing48.vml"/><Relationship Id="rId2" Type="http://schemas.openxmlformats.org/officeDocument/2006/relationships/image" Target="../media/image267.wmf"/><Relationship Id="rId19" Type="http://schemas.openxmlformats.org/officeDocument/2006/relationships/slideLayout" Target="../slideLayouts/slideLayout7.xml"/><Relationship Id="rId18" Type="http://schemas.openxmlformats.org/officeDocument/2006/relationships/image" Target="../media/image275.wmf"/><Relationship Id="rId17" Type="http://schemas.openxmlformats.org/officeDocument/2006/relationships/oleObject" Target="../embeddings/oleObject342.bin"/><Relationship Id="rId16" Type="http://schemas.openxmlformats.org/officeDocument/2006/relationships/image" Target="../media/image274.wmf"/><Relationship Id="rId15" Type="http://schemas.openxmlformats.org/officeDocument/2006/relationships/oleObject" Target="../embeddings/oleObject341.bin"/><Relationship Id="rId14" Type="http://schemas.openxmlformats.org/officeDocument/2006/relationships/image" Target="../media/image273.wmf"/><Relationship Id="rId13" Type="http://schemas.openxmlformats.org/officeDocument/2006/relationships/oleObject" Target="../embeddings/oleObject340.bin"/><Relationship Id="rId12" Type="http://schemas.openxmlformats.org/officeDocument/2006/relationships/image" Target="../media/image272.wmf"/><Relationship Id="rId11" Type="http://schemas.openxmlformats.org/officeDocument/2006/relationships/oleObject" Target="../embeddings/oleObject339.bin"/><Relationship Id="rId10" Type="http://schemas.openxmlformats.org/officeDocument/2006/relationships/image" Target="../media/image271.wmf"/><Relationship Id="rId1" Type="http://schemas.openxmlformats.org/officeDocument/2006/relationships/oleObject" Target="../embeddings/oleObject334.bin"/></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347.bin"/><Relationship Id="rId8" Type="http://schemas.openxmlformats.org/officeDocument/2006/relationships/image" Target="../media/image279.wmf"/><Relationship Id="rId7" Type="http://schemas.openxmlformats.org/officeDocument/2006/relationships/oleObject" Target="../embeddings/oleObject346.bin"/><Relationship Id="rId6" Type="http://schemas.openxmlformats.org/officeDocument/2006/relationships/image" Target="../media/image278.wmf"/><Relationship Id="rId5" Type="http://schemas.openxmlformats.org/officeDocument/2006/relationships/oleObject" Target="../embeddings/oleObject345.bin"/><Relationship Id="rId4" Type="http://schemas.openxmlformats.org/officeDocument/2006/relationships/image" Target="../media/image277.wmf"/><Relationship Id="rId3" Type="http://schemas.openxmlformats.org/officeDocument/2006/relationships/oleObject" Target="../embeddings/oleObject344.bin"/><Relationship Id="rId2" Type="http://schemas.openxmlformats.org/officeDocument/2006/relationships/image" Target="../media/image276.wmf"/><Relationship Id="rId18" Type="http://schemas.openxmlformats.org/officeDocument/2006/relationships/vmlDrawing" Target="../drawings/vmlDrawing49.vml"/><Relationship Id="rId17" Type="http://schemas.openxmlformats.org/officeDocument/2006/relationships/slideLayout" Target="../slideLayouts/slideLayout7.xml"/><Relationship Id="rId16" Type="http://schemas.openxmlformats.org/officeDocument/2006/relationships/image" Target="../media/image283.wmf"/><Relationship Id="rId15" Type="http://schemas.openxmlformats.org/officeDocument/2006/relationships/oleObject" Target="../embeddings/oleObject350.bin"/><Relationship Id="rId14" Type="http://schemas.openxmlformats.org/officeDocument/2006/relationships/image" Target="../media/image282.wmf"/><Relationship Id="rId13" Type="http://schemas.openxmlformats.org/officeDocument/2006/relationships/oleObject" Target="../embeddings/oleObject349.bin"/><Relationship Id="rId12" Type="http://schemas.openxmlformats.org/officeDocument/2006/relationships/image" Target="../media/image281.wmf"/><Relationship Id="rId11" Type="http://schemas.openxmlformats.org/officeDocument/2006/relationships/oleObject" Target="../embeddings/oleObject348.bin"/><Relationship Id="rId10" Type="http://schemas.openxmlformats.org/officeDocument/2006/relationships/image" Target="../media/image280.wmf"/><Relationship Id="rId1" Type="http://schemas.openxmlformats.org/officeDocument/2006/relationships/oleObject" Target="../embeddings/oleObject343.bin"/></Relationships>
</file>

<file path=ppt/slides/_rels/slide74.xml.rels><?xml version="1.0" encoding="UTF-8" standalone="yes"?>
<Relationships xmlns="http://schemas.openxmlformats.org/package/2006/relationships"><Relationship Id="rId9" Type="http://schemas.openxmlformats.org/officeDocument/2006/relationships/oleObject" Target="../embeddings/oleObject355.bin"/><Relationship Id="rId8" Type="http://schemas.openxmlformats.org/officeDocument/2006/relationships/image" Target="../media/image287.wmf"/><Relationship Id="rId7" Type="http://schemas.openxmlformats.org/officeDocument/2006/relationships/oleObject" Target="../embeddings/oleObject354.bin"/><Relationship Id="rId6" Type="http://schemas.openxmlformats.org/officeDocument/2006/relationships/image" Target="../media/image286.wmf"/><Relationship Id="rId5" Type="http://schemas.openxmlformats.org/officeDocument/2006/relationships/oleObject" Target="../embeddings/oleObject353.bin"/><Relationship Id="rId4" Type="http://schemas.openxmlformats.org/officeDocument/2006/relationships/image" Target="../media/image285.wmf"/><Relationship Id="rId3" Type="http://schemas.openxmlformats.org/officeDocument/2006/relationships/oleObject" Target="../embeddings/oleObject352.bin"/><Relationship Id="rId20" Type="http://schemas.openxmlformats.org/officeDocument/2006/relationships/vmlDrawing" Target="../drawings/vmlDrawing50.vml"/><Relationship Id="rId2" Type="http://schemas.openxmlformats.org/officeDocument/2006/relationships/image" Target="../media/image284.wmf"/><Relationship Id="rId19" Type="http://schemas.openxmlformats.org/officeDocument/2006/relationships/slideLayout" Target="../slideLayouts/slideLayout7.xml"/><Relationship Id="rId18" Type="http://schemas.openxmlformats.org/officeDocument/2006/relationships/image" Target="../media/image292.wmf"/><Relationship Id="rId17" Type="http://schemas.openxmlformats.org/officeDocument/2006/relationships/oleObject" Target="../embeddings/oleObject359.bin"/><Relationship Id="rId16" Type="http://schemas.openxmlformats.org/officeDocument/2006/relationships/image" Target="../media/image291.wmf"/><Relationship Id="rId15" Type="http://schemas.openxmlformats.org/officeDocument/2006/relationships/oleObject" Target="../embeddings/oleObject358.bin"/><Relationship Id="rId14" Type="http://schemas.openxmlformats.org/officeDocument/2006/relationships/image" Target="../media/image290.wmf"/><Relationship Id="rId13" Type="http://schemas.openxmlformats.org/officeDocument/2006/relationships/oleObject" Target="../embeddings/oleObject357.bin"/><Relationship Id="rId12" Type="http://schemas.openxmlformats.org/officeDocument/2006/relationships/image" Target="../media/image289.wmf"/><Relationship Id="rId11" Type="http://schemas.openxmlformats.org/officeDocument/2006/relationships/oleObject" Target="../embeddings/oleObject356.bin"/><Relationship Id="rId10" Type="http://schemas.openxmlformats.org/officeDocument/2006/relationships/image" Target="../media/image288.wmf"/><Relationship Id="rId1" Type="http://schemas.openxmlformats.org/officeDocument/2006/relationships/oleObject" Target="../embeddings/oleObject351.bin"/></Relationships>
</file>

<file path=ppt/slides/_rels/slide75.xml.rels><?xml version="1.0" encoding="UTF-8" standalone="yes"?>
<Relationships xmlns="http://schemas.openxmlformats.org/package/2006/relationships"><Relationship Id="rId9" Type="http://schemas.openxmlformats.org/officeDocument/2006/relationships/oleObject" Target="../embeddings/oleObject364.bin"/><Relationship Id="rId8" Type="http://schemas.openxmlformats.org/officeDocument/2006/relationships/image" Target="../media/image296.wmf"/><Relationship Id="rId7" Type="http://schemas.openxmlformats.org/officeDocument/2006/relationships/oleObject" Target="../embeddings/oleObject363.bin"/><Relationship Id="rId6" Type="http://schemas.openxmlformats.org/officeDocument/2006/relationships/image" Target="../media/image295.wmf"/><Relationship Id="rId5" Type="http://schemas.openxmlformats.org/officeDocument/2006/relationships/oleObject" Target="../embeddings/oleObject362.bin"/><Relationship Id="rId4" Type="http://schemas.openxmlformats.org/officeDocument/2006/relationships/image" Target="../media/image294.wmf"/><Relationship Id="rId30" Type="http://schemas.openxmlformats.org/officeDocument/2006/relationships/vmlDrawing" Target="../drawings/vmlDrawing51.vml"/><Relationship Id="rId3" Type="http://schemas.openxmlformats.org/officeDocument/2006/relationships/oleObject" Target="../embeddings/oleObject361.bin"/><Relationship Id="rId29" Type="http://schemas.openxmlformats.org/officeDocument/2006/relationships/slideLayout" Target="../slideLayouts/slideLayout7.xml"/><Relationship Id="rId28" Type="http://schemas.openxmlformats.org/officeDocument/2006/relationships/image" Target="../media/image306.wmf"/><Relationship Id="rId27" Type="http://schemas.openxmlformats.org/officeDocument/2006/relationships/oleObject" Target="../embeddings/oleObject373.bin"/><Relationship Id="rId26" Type="http://schemas.openxmlformats.org/officeDocument/2006/relationships/image" Target="../media/image305.wmf"/><Relationship Id="rId25" Type="http://schemas.openxmlformats.org/officeDocument/2006/relationships/oleObject" Target="../embeddings/oleObject372.bin"/><Relationship Id="rId24" Type="http://schemas.openxmlformats.org/officeDocument/2006/relationships/image" Target="../media/image304.wmf"/><Relationship Id="rId23" Type="http://schemas.openxmlformats.org/officeDocument/2006/relationships/oleObject" Target="../embeddings/oleObject371.bin"/><Relationship Id="rId22" Type="http://schemas.openxmlformats.org/officeDocument/2006/relationships/image" Target="../media/image303.wmf"/><Relationship Id="rId21" Type="http://schemas.openxmlformats.org/officeDocument/2006/relationships/oleObject" Target="../embeddings/oleObject370.bin"/><Relationship Id="rId20" Type="http://schemas.openxmlformats.org/officeDocument/2006/relationships/image" Target="../media/image302.wmf"/><Relationship Id="rId2" Type="http://schemas.openxmlformats.org/officeDocument/2006/relationships/image" Target="../media/image293.wmf"/><Relationship Id="rId19" Type="http://schemas.openxmlformats.org/officeDocument/2006/relationships/oleObject" Target="../embeddings/oleObject369.bin"/><Relationship Id="rId18" Type="http://schemas.openxmlformats.org/officeDocument/2006/relationships/image" Target="../media/image301.wmf"/><Relationship Id="rId17" Type="http://schemas.openxmlformats.org/officeDocument/2006/relationships/oleObject" Target="../embeddings/oleObject368.bin"/><Relationship Id="rId16" Type="http://schemas.openxmlformats.org/officeDocument/2006/relationships/image" Target="../media/image300.wmf"/><Relationship Id="rId15" Type="http://schemas.openxmlformats.org/officeDocument/2006/relationships/oleObject" Target="../embeddings/oleObject367.bin"/><Relationship Id="rId14" Type="http://schemas.openxmlformats.org/officeDocument/2006/relationships/image" Target="../media/image299.wmf"/><Relationship Id="rId13" Type="http://schemas.openxmlformats.org/officeDocument/2006/relationships/oleObject" Target="../embeddings/oleObject366.bin"/><Relationship Id="rId12" Type="http://schemas.openxmlformats.org/officeDocument/2006/relationships/image" Target="../media/image298.wmf"/><Relationship Id="rId11" Type="http://schemas.openxmlformats.org/officeDocument/2006/relationships/oleObject" Target="../embeddings/oleObject365.bin"/><Relationship Id="rId10" Type="http://schemas.openxmlformats.org/officeDocument/2006/relationships/image" Target="../media/image297.wmf"/><Relationship Id="rId1" Type="http://schemas.openxmlformats.org/officeDocument/2006/relationships/oleObject" Target="../embeddings/oleObject360.bin"/></Relationships>
</file>

<file path=ppt/slides/_rels/slide76.xml.rels><?xml version="1.0" encoding="UTF-8" standalone="yes"?>
<Relationships xmlns="http://schemas.openxmlformats.org/package/2006/relationships"><Relationship Id="rId9" Type="http://schemas.openxmlformats.org/officeDocument/2006/relationships/oleObject" Target="../embeddings/oleObject378.bin"/><Relationship Id="rId8" Type="http://schemas.openxmlformats.org/officeDocument/2006/relationships/image" Target="../media/image310.wmf"/><Relationship Id="rId7" Type="http://schemas.openxmlformats.org/officeDocument/2006/relationships/oleObject" Target="../embeddings/oleObject377.bin"/><Relationship Id="rId6" Type="http://schemas.openxmlformats.org/officeDocument/2006/relationships/image" Target="../media/image309.wmf"/><Relationship Id="rId5" Type="http://schemas.openxmlformats.org/officeDocument/2006/relationships/oleObject" Target="../embeddings/oleObject376.bin"/><Relationship Id="rId4" Type="http://schemas.openxmlformats.org/officeDocument/2006/relationships/image" Target="../media/image308.wmf"/><Relationship Id="rId3" Type="http://schemas.openxmlformats.org/officeDocument/2006/relationships/oleObject" Target="../embeddings/oleObject375.bin"/><Relationship Id="rId20" Type="http://schemas.openxmlformats.org/officeDocument/2006/relationships/vmlDrawing" Target="../drawings/vmlDrawing52.vml"/><Relationship Id="rId2" Type="http://schemas.openxmlformats.org/officeDocument/2006/relationships/image" Target="../media/image307.wmf"/><Relationship Id="rId19" Type="http://schemas.openxmlformats.org/officeDocument/2006/relationships/slideLayout" Target="../slideLayouts/slideLayout7.xml"/><Relationship Id="rId18" Type="http://schemas.openxmlformats.org/officeDocument/2006/relationships/image" Target="../media/image315.wmf"/><Relationship Id="rId17" Type="http://schemas.openxmlformats.org/officeDocument/2006/relationships/oleObject" Target="../embeddings/oleObject382.bin"/><Relationship Id="rId16" Type="http://schemas.openxmlformats.org/officeDocument/2006/relationships/image" Target="../media/image314.wmf"/><Relationship Id="rId15" Type="http://schemas.openxmlformats.org/officeDocument/2006/relationships/oleObject" Target="../embeddings/oleObject381.bin"/><Relationship Id="rId14" Type="http://schemas.openxmlformats.org/officeDocument/2006/relationships/image" Target="../media/image313.wmf"/><Relationship Id="rId13" Type="http://schemas.openxmlformats.org/officeDocument/2006/relationships/oleObject" Target="../embeddings/oleObject380.bin"/><Relationship Id="rId12" Type="http://schemas.openxmlformats.org/officeDocument/2006/relationships/image" Target="../media/image312.wmf"/><Relationship Id="rId11" Type="http://schemas.openxmlformats.org/officeDocument/2006/relationships/oleObject" Target="../embeddings/oleObject379.bin"/><Relationship Id="rId10" Type="http://schemas.openxmlformats.org/officeDocument/2006/relationships/image" Target="../media/image311.wmf"/><Relationship Id="rId1" Type="http://schemas.openxmlformats.org/officeDocument/2006/relationships/oleObject" Target="../embeddings/oleObject374.bin"/></Relationships>
</file>

<file path=ppt/slides/_rels/slide7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19.wmf"/><Relationship Id="rId7" Type="http://schemas.openxmlformats.org/officeDocument/2006/relationships/oleObject" Target="../embeddings/oleObject386.bin"/><Relationship Id="rId6" Type="http://schemas.openxmlformats.org/officeDocument/2006/relationships/image" Target="../media/image318.wmf"/><Relationship Id="rId5" Type="http://schemas.openxmlformats.org/officeDocument/2006/relationships/oleObject" Target="../embeddings/oleObject385.bin"/><Relationship Id="rId4" Type="http://schemas.openxmlformats.org/officeDocument/2006/relationships/image" Target="../media/image317.wmf"/><Relationship Id="rId3" Type="http://schemas.openxmlformats.org/officeDocument/2006/relationships/oleObject" Target="../embeddings/oleObject384.bin"/><Relationship Id="rId2" Type="http://schemas.openxmlformats.org/officeDocument/2006/relationships/image" Target="../media/image316.wmf"/><Relationship Id="rId10" Type="http://schemas.openxmlformats.org/officeDocument/2006/relationships/vmlDrawing" Target="../drawings/vmlDrawing53.vml"/><Relationship Id="rId1" Type="http://schemas.openxmlformats.org/officeDocument/2006/relationships/oleObject" Target="../embeddings/oleObject383.bin"/></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391.bin"/><Relationship Id="rId8" Type="http://schemas.openxmlformats.org/officeDocument/2006/relationships/image" Target="../media/image323.wmf"/><Relationship Id="rId7" Type="http://schemas.openxmlformats.org/officeDocument/2006/relationships/oleObject" Target="../embeddings/oleObject390.bin"/><Relationship Id="rId6" Type="http://schemas.openxmlformats.org/officeDocument/2006/relationships/image" Target="../media/image322.wmf"/><Relationship Id="rId5" Type="http://schemas.openxmlformats.org/officeDocument/2006/relationships/oleObject" Target="../embeddings/oleObject389.bin"/><Relationship Id="rId4" Type="http://schemas.openxmlformats.org/officeDocument/2006/relationships/image" Target="../media/image321.wmf"/><Relationship Id="rId3" Type="http://schemas.openxmlformats.org/officeDocument/2006/relationships/oleObject" Target="../embeddings/oleObject388.bin"/><Relationship Id="rId2" Type="http://schemas.openxmlformats.org/officeDocument/2006/relationships/image" Target="../media/image320.wmf"/><Relationship Id="rId16" Type="http://schemas.openxmlformats.org/officeDocument/2006/relationships/vmlDrawing" Target="../drawings/vmlDrawing54.vml"/><Relationship Id="rId15" Type="http://schemas.openxmlformats.org/officeDocument/2006/relationships/slideLayout" Target="../slideLayouts/slideLayout7.xml"/><Relationship Id="rId14" Type="http://schemas.openxmlformats.org/officeDocument/2006/relationships/image" Target="../media/image326.wmf"/><Relationship Id="rId13" Type="http://schemas.openxmlformats.org/officeDocument/2006/relationships/oleObject" Target="../embeddings/oleObject393.bin"/><Relationship Id="rId12" Type="http://schemas.openxmlformats.org/officeDocument/2006/relationships/image" Target="../media/image325.wmf"/><Relationship Id="rId11" Type="http://schemas.openxmlformats.org/officeDocument/2006/relationships/oleObject" Target="../embeddings/oleObject392.bin"/><Relationship Id="rId10" Type="http://schemas.openxmlformats.org/officeDocument/2006/relationships/image" Target="../media/image324.wmf"/><Relationship Id="rId1" Type="http://schemas.openxmlformats.org/officeDocument/2006/relationships/oleObject" Target="../embeddings/oleObject387.bin"/></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27.jpe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8.GIF"/></Relationships>
</file>

<file path=ppt/slides/_rels/slide81.xml.rels><?xml version="1.0" encoding="UTF-8" standalone="yes"?>
<Relationships xmlns="http://schemas.openxmlformats.org/package/2006/relationships"><Relationship Id="rId9" Type="http://schemas.openxmlformats.org/officeDocument/2006/relationships/oleObject" Target="../embeddings/oleObject398.bin"/><Relationship Id="rId8" Type="http://schemas.openxmlformats.org/officeDocument/2006/relationships/image" Target="../media/image332.wmf"/><Relationship Id="rId7" Type="http://schemas.openxmlformats.org/officeDocument/2006/relationships/oleObject" Target="../embeddings/oleObject397.bin"/><Relationship Id="rId6" Type="http://schemas.openxmlformats.org/officeDocument/2006/relationships/image" Target="../media/image331.wmf"/><Relationship Id="rId5" Type="http://schemas.openxmlformats.org/officeDocument/2006/relationships/oleObject" Target="../embeddings/oleObject396.bin"/><Relationship Id="rId4" Type="http://schemas.openxmlformats.org/officeDocument/2006/relationships/image" Target="../media/image330.wmf"/><Relationship Id="rId3" Type="http://schemas.openxmlformats.org/officeDocument/2006/relationships/oleObject" Target="../embeddings/oleObject395.bin"/><Relationship Id="rId2" Type="http://schemas.openxmlformats.org/officeDocument/2006/relationships/image" Target="../media/image329.wmf"/><Relationship Id="rId14" Type="http://schemas.openxmlformats.org/officeDocument/2006/relationships/vmlDrawing" Target="../drawings/vmlDrawing55.vml"/><Relationship Id="rId13" Type="http://schemas.openxmlformats.org/officeDocument/2006/relationships/slideLayout" Target="../slideLayouts/slideLayout7.xml"/><Relationship Id="rId12" Type="http://schemas.openxmlformats.org/officeDocument/2006/relationships/image" Target="../media/image334.wmf"/><Relationship Id="rId11" Type="http://schemas.openxmlformats.org/officeDocument/2006/relationships/oleObject" Target="../embeddings/oleObject399.bin"/><Relationship Id="rId10" Type="http://schemas.openxmlformats.org/officeDocument/2006/relationships/image" Target="../media/image333.wmf"/><Relationship Id="rId1" Type="http://schemas.openxmlformats.org/officeDocument/2006/relationships/oleObject" Target="../embeddings/oleObject394.bin"/></Relationships>
</file>

<file path=ppt/slides/_rels/slide82.xml.rels><?xml version="1.0" encoding="UTF-8" standalone="yes"?>
<Relationships xmlns="http://schemas.openxmlformats.org/package/2006/relationships"><Relationship Id="rId9" Type="http://schemas.openxmlformats.org/officeDocument/2006/relationships/oleObject" Target="../embeddings/oleObject404.bin"/><Relationship Id="rId8" Type="http://schemas.openxmlformats.org/officeDocument/2006/relationships/image" Target="../media/image338.wmf"/><Relationship Id="rId7" Type="http://schemas.openxmlformats.org/officeDocument/2006/relationships/oleObject" Target="../embeddings/oleObject403.bin"/><Relationship Id="rId6" Type="http://schemas.openxmlformats.org/officeDocument/2006/relationships/image" Target="../media/image337.wmf"/><Relationship Id="rId5" Type="http://schemas.openxmlformats.org/officeDocument/2006/relationships/oleObject" Target="../embeddings/oleObject402.bin"/><Relationship Id="rId4" Type="http://schemas.openxmlformats.org/officeDocument/2006/relationships/image" Target="../media/image336.wmf"/><Relationship Id="rId3" Type="http://schemas.openxmlformats.org/officeDocument/2006/relationships/oleObject" Target="../embeddings/oleObject401.bin"/><Relationship Id="rId2" Type="http://schemas.openxmlformats.org/officeDocument/2006/relationships/image" Target="../media/image335.wmf"/><Relationship Id="rId12" Type="http://schemas.openxmlformats.org/officeDocument/2006/relationships/vmlDrawing" Target="../drawings/vmlDrawing56.vml"/><Relationship Id="rId11" Type="http://schemas.openxmlformats.org/officeDocument/2006/relationships/slideLayout" Target="../slideLayouts/slideLayout7.xml"/><Relationship Id="rId10" Type="http://schemas.openxmlformats.org/officeDocument/2006/relationships/image" Target="../media/image339.wmf"/><Relationship Id="rId1" Type="http://schemas.openxmlformats.org/officeDocument/2006/relationships/oleObject" Target="../embeddings/oleObject400.bin"/></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57.vml"/><Relationship Id="rId3" Type="http://schemas.openxmlformats.org/officeDocument/2006/relationships/slideLayout" Target="../slideLayouts/slideLayout7.xml"/><Relationship Id="rId2" Type="http://schemas.openxmlformats.org/officeDocument/2006/relationships/image" Target="../media/image340.wmf"/><Relationship Id="rId1" Type="http://schemas.openxmlformats.org/officeDocument/2006/relationships/oleObject" Target="../embeddings/oleObject405.bin"/></Relationships>
</file>

<file path=ppt/slides/_rels/slide84.xml.rels><?xml version="1.0" encoding="UTF-8" standalone="yes"?>
<Relationships xmlns="http://schemas.openxmlformats.org/package/2006/relationships"><Relationship Id="rId9" Type="http://schemas.openxmlformats.org/officeDocument/2006/relationships/oleObject" Target="../embeddings/oleObject410.bin"/><Relationship Id="rId8" Type="http://schemas.openxmlformats.org/officeDocument/2006/relationships/image" Target="../media/image344.wmf"/><Relationship Id="rId7" Type="http://schemas.openxmlformats.org/officeDocument/2006/relationships/oleObject" Target="../embeddings/oleObject409.bin"/><Relationship Id="rId6" Type="http://schemas.openxmlformats.org/officeDocument/2006/relationships/image" Target="../media/image343.wmf"/><Relationship Id="rId5" Type="http://schemas.openxmlformats.org/officeDocument/2006/relationships/oleObject" Target="../embeddings/oleObject408.bin"/><Relationship Id="rId4" Type="http://schemas.openxmlformats.org/officeDocument/2006/relationships/image" Target="../media/image342.wmf"/><Relationship Id="rId3" Type="http://schemas.openxmlformats.org/officeDocument/2006/relationships/oleObject" Target="../embeddings/oleObject407.bin"/><Relationship Id="rId24" Type="http://schemas.openxmlformats.org/officeDocument/2006/relationships/vmlDrawing" Target="../drawings/vmlDrawing58.vml"/><Relationship Id="rId23" Type="http://schemas.openxmlformats.org/officeDocument/2006/relationships/slideLayout" Target="../slideLayouts/slideLayout7.xml"/><Relationship Id="rId22" Type="http://schemas.openxmlformats.org/officeDocument/2006/relationships/image" Target="../media/image351.wmf"/><Relationship Id="rId21" Type="http://schemas.openxmlformats.org/officeDocument/2006/relationships/oleObject" Target="../embeddings/oleObject416.bin"/><Relationship Id="rId20" Type="http://schemas.openxmlformats.org/officeDocument/2006/relationships/image" Target="../media/image350.wmf"/><Relationship Id="rId2" Type="http://schemas.openxmlformats.org/officeDocument/2006/relationships/image" Target="../media/image341.wmf"/><Relationship Id="rId19" Type="http://schemas.openxmlformats.org/officeDocument/2006/relationships/oleObject" Target="../embeddings/oleObject415.bin"/><Relationship Id="rId18" Type="http://schemas.openxmlformats.org/officeDocument/2006/relationships/image" Target="../media/image349.wmf"/><Relationship Id="rId17" Type="http://schemas.openxmlformats.org/officeDocument/2006/relationships/oleObject" Target="../embeddings/oleObject414.bin"/><Relationship Id="rId16" Type="http://schemas.openxmlformats.org/officeDocument/2006/relationships/image" Target="../media/image348.wmf"/><Relationship Id="rId15" Type="http://schemas.openxmlformats.org/officeDocument/2006/relationships/oleObject" Target="../embeddings/oleObject413.bin"/><Relationship Id="rId14" Type="http://schemas.openxmlformats.org/officeDocument/2006/relationships/image" Target="../media/image347.wmf"/><Relationship Id="rId13" Type="http://schemas.openxmlformats.org/officeDocument/2006/relationships/oleObject" Target="../embeddings/oleObject412.bin"/><Relationship Id="rId12" Type="http://schemas.openxmlformats.org/officeDocument/2006/relationships/image" Target="../media/image346.wmf"/><Relationship Id="rId11" Type="http://schemas.openxmlformats.org/officeDocument/2006/relationships/oleObject" Target="../embeddings/oleObject411.bin"/><Relationship Id="rId10" Type="http://schemas.openxmlformats.org/officeDocument/2006/relationships/image" Target="../media/image345.wmf"/><Relationship Id="rId1" Type="http://schemas.openxmlformats.org/officeDocument/2006/relationships/oleObject" Target="../embeddings/oleObject406.bin"/></Relationships>
</file>

<file path=ppt/slides/_rels/slide85.xml.rels><?xml version="1.0" encoding="UTF-8" standalone="yes"?>
<Relationships xmlns="http://schemas.openxmlformats.org/package/2006/relationships"><Relationship Id="rId9" Type="http://schemas.openxmlformats.org/officeDocument/2006/relationships/oleObject" Target="../embeddings/oleObject421.bin"/><Relationship Id="rId8" Type="http://schemas.openxmlformats.org/officeDocument/2006/relationships/image" Target="../media/image355.wmf"/><Relationship Id="rId7" Type="http://schemas.openxmlformats.org/officeDocument/2006/relationships/oleObject" Target="../embeddings/oleObject420.bin"/><Relationship Id="rId6" Type="http://schemas.openxmlformats.org/officeDocument/2006/relationships/image" Target="../media/image354.wmf"/><Relationship Id="rId5" Type="http://schemas.openxmlformats.org/officeDocument/2006/relationships/oleObject" Target="../embeddings/oleObject419.bin"/><Relationship Id="rId4" Type="http://schemas.openxmlformats.org/officeDocument/2006/relationships/image" Target="../media/image353.wmf"/><Relationship Id="rId3" Type="http://schemas.openxmlformats.org/officeDocument/2006/relationships/oleObject" Target="../embeddings/oleObject418.bin"/><Relationship Id="rId2" Type="http://schemas.openxmlformats.org/officeDocument/2006/relationships/image" Target="../media/image352.wmf"/><Relationship Id="rId12" Type="http://schemas.openxmlformats.org/officeDocument/2006/relationships/vmlDrawing" Target="../drawings/vmlDrawing59.vml"/><Relationship Id="rId11" Type="http://schemas.openxmlformats.org/officeDocument/2006/relationships/slideLayout" Target="../slideLayouts/slideLayout7.xml"/><Relationship Id="rId10" Type="http://schemas.openxmlformats.org/officeDocument/2006/relationships/image" Target="../media/image356.wmf"/><Relationship Id="rId1" Type="http://schemas.openxmlformats.org/officeDocument/2006/relationships/oleObject" Target="../embeddings/oleObject417.bin"/></Relationships>
</file>

<file path=ppt/slides/_rels/slide8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60.wmf"/><Relationship Id="rId7" Type="http://schemas.openxmlformats.org/officeDocument/2006/relationships/oleObject" Target="../embeddings/oleObject425.bin"/><Relationship Id="rId6" Type="http://schemas.openxmlformats.org/officeDocument/2006/relationships/image" Target="../media/image359.wmf"/><Relationship Id="rId5" Type="http://schemas.openxmlformats.org/officeDocument/2006/relationships/oleObject" Target="../embeddings/oleObject424.bin"/><Relationship Id="rId4" Type="http://schemas.openxmlformats.org/officeDocument/2006/relationships/image" Target="../media/image358.wmf"/><Relationship Id="rId3" Type="http://schemas.openxmlformats.org/officeDocument/2006/relationships/oleObject" Target="../embeddings/oleObject423.bin"/><Relationship Id="rId2" Type="http://schemas.openxmlformats.org/officeDocument/2006/relationships/image" Target="../media/image357.wmf"/><Relationship Id="rId10" Type="http://schemas.openxmlformats.org/officeDocument/2006/relationships/vmlDrawing" Target="../drawings/vmlDrawing60.vml"/><Relationship Id="rId1" Type="http://schemas.openxmlformats.org/officeDocument/2006/relationships/oleObject" Target="../embeddings/oleObject422.bin"/></Relationships>
</file>

<file path=ppt/slides/_rels/slide87.xml.rels><?xml version="1.0" encoding="UTF-8" standalone="yes"?>
<Relationships xmlns="http://schemas.openxmlformats.org/package/2006/relationships"><Relationship Id="rId8" Type="http://schemas.openxmlformats.org/officeDocument/2006/relationships/vmlDrawing" Target="../drawings/vmlDrawing61.vml"/><Relationship Id="rId7" Type="http://schemas.openxmlformats.org/officeDocument/2006/relationships/slideLayout" Target="../slideLayouts/slideLayout7.xml"/><Relationship Id="rId6" Type="http://schemas.openxmlformats.org/officeDocument/2006/relationships/image" Target="../media/image363.wmf"/><Relationship Id="rId5" Type="http://schemas.openxmlformats.org/officeDocument/2006/relationships/oleObject" Target="../embeddings/oleObject428.bin"/><Relationship Id="rId4" Type="http://schemas.openxmlformats.org/officeDocument/2006/relationships/image" Target="../media/image362.wmf"/><Relationship Id="rId3" Type="http://schemas.openxmlformats.org/officeDocument/2006/relationships/oleObject" Target="../embeddings/oleObject427.bin"/><Relationship Id="rId2" Type="http://schemas.openxmlformats.org/officeDocument/2006/relationships/image" Target="../media/image361.wmf"/><Relationship Id="rId1" Type="http://schemas.openxmlformats.org/officeDocument/2006/relationships/oleObject" Target="../embeddings/oleObject426.bin"/></Relationships>
</file>

<file path=ppt/slides/_rels/slide88.xml.rels><?xml version="1.0" encoding="UTF-8" standalone="yes"?>
<Relationships xmlns="http://schemas.openxmlformats.org/package/2006/relationships"><Relationship Id="rId9" Type="http://schemas.openxmlformats.org/officeDocument/2006/relationships/oleObject" Target="../embeddings/oleObject433.bin"/><Relationship Id="rId8" Type="http://schemas.openxmlformats.org/officeDocument/2006/relationships/image" Target="../media/image367.wmf"/><Relationship Id="rId7" Type="http://schemas.openxmlformats.org/officeDocument/2006/relationships/oleObject" Target="../embeddings/oleObject432.bin"/><Relationship Id="rId6" Type="http://schemas.openxmlformats.org/officeDocument/2006/relationships/image" Target="../media/image366.wmf"/><Relationship Id="rId5" Type="http://schemas.openxmlformats.org/officeDocument/2006/relationships/oleObject" Target="../embeddings/oleObject431.bin"/><Relationship Id="rId4" Type="http://schemas.openxmlformats.org/officeDocument/2006/relationships/image" Target="../media/image365.wmf"/><Relationship Id="rId3" Type="http://schemas.openxmlformats.org/officeDocument/2006/relationships/oleObject" Target="../embeddings/oleObject430.bin"/><Relationship Id="rId2" Type="http://schemas.openxmlformats.org/officeDocument/2006/relationships/image" Target="../media/image364.wmf"/><Relationship Id="rId19" Type="http://schemas.openxmlformats.org/officeDocument/2006/relationships/vmlDrawing" Target="../drawings/vmlDrawing62.vml"/><Relationship Id="rId18" Type="http://schemas.openxmlformats.org/officeDocument/2006/relationships/slideLayout" Target="../slideLayouts/slideLayout7.xml"/><Relationship Id="rId17" Type="http://schemas.openxmlformats.org/officeDocument/2006/relationships/slide" Target="slide7.xml"/><Relationship Id="rId16" Type="http://schemas.openxmlformats.org/officeDocument/2006/relationships/image" Target="../media/image371.wmf"/><Relationship Id="rId15" Type="http://schemas.openxmlformats.org/officeDocument/2006/relationships/oleObject" Target="../embeddings/oleObject436.bin"/><Relationship Id="rId14" Type="http://schemas.openxmlformats.org/officeDocument/2006/relationships/image" Target="../media/image370.wmf"/><Relationship Id="rId13" Type="http://schemas.openxmlformats.org/officeDocument/2006/relationships/oleObject" Target="../embeddings/oleObject435.bin"/><Relationship Id="rId12" Type="http://schemas.openxmlformats.org/officeDocument/2006/relationships/image" Target="../media/image369.wmf"/><Relationship Id="rId11" Type="http://schemas.openxmlformats.org/officeDocument/2006/relationships/oleObject" Target="../embeddings/oleObject434.bin"/><Relationship Id="rId10" Type="http://schemas.openxmlformats.org/officeDocument/2006/relationships/image" Target="../media/image368.wmf"/><Relationship Id="rId1" Type="http://schemas.openxmlformats.org/officeDocument/2006/relationships/oleObject" Target="../embeddings/oleObject429.bin"/></Relationships>
</file>

<file path=ppt/slides/_rels/slide8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76.jpeg"/><Relationship Id="rId7" Type="http://schemas.openxmlformats.org/officeDocument/2006/relationships/image" Target="../media/image375.jpeg"/><Relationship Id="rId6" Type="http://schemas.openxmlformats.org/officeDocument/2006/relationships/image" Target="../media/image374.wmf"/><Relationship Id="rId5" Type="http://schemas.openxmlformats.org/officeDocument/2006/relationships/oleObject" Target="../embeddings/oleObject439.bin"/><Relationship Id="rId4" Type="http://schemas.openxmlformats.org/officeDocument/2006/relationships/image" Target="../media/image373.wmf"/><Relationship Id="rId3" Type="http://schemas.openxmlformats.org/officeDocument/2006/relationships/oleObject" Target="../embeddings/oleObject438.bin"/><Relationship Id="rId2" Type="http://schemas.openxmlformats.org/officeDocument/2006/relationships/image" Target="../media/image372.wmf"/><Relationship Id="rId10" Type="http://schemas.openxmlformats.org/officeDocument/2006/relationships/vmlDrawing" Target="../drawings/vmlDrawing63.vml"/><Relationship Id="rId1" Type="http://schemas.openxmlformats.org/officeDocument/2006/relationships/oleObject" Target="../embeddings/oleObject437.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6" Type="http://schemas.openxmlformats.org/officeDocument/2006/relationships/vmlDrawing" Target="../drawings/vmlDrawing64.vml"/><Relationship Id="rId5" Type="http://schemas.openxmlformats.org/officeDocument/2006/relationships/slideLayout" Target="../slideLayouts/slideLayout7.xml"/><Relationship Id="rId4" Type="http://schemas.openxmlformats.org/officeDocument/2006/relationships/slide" Target="slide87.xml"/><Relationship Id="rId3" Type="http://schemas.openxmlformats.org/officeDocument/2006/relationships/image" Target="../media/image378.jpeg"/><Relationship Id="rId2" Type="http://schemas.openxmlformats.org/officeDocument/2006/relationships/image" Target="../media/image377.wmf"/><Relationship Id="rId1" Type="http://schemas.openxmlformats.org/officeDocument/2006/relationships/oleObject" Target="../embeddings/oleObject440.bin"/></Relationships>
</file>

<file path=ppt/slides/_rels/slide95.xml.rels><?xml version="1.0" encoding="UTF-8" standalone="yes"?>
<Relationships xmlns="http://schemas.openxmlformats.org/package/2006/relationships"><Relationship Id="rId5" Type="http://schemas.openxmlformats.org/officeDocument/2006/relationships/vmlDrawing" Target="../drawings/vmlDrawing65.vml"/><Relationship Id="rId4" Type="http://schemas.openxmlformats.org/officeDocument/2006/relationships/slideLayout" Target="../slideLayouts/slideLayout7.xml"/><Relationship Id="rId3" Type="http://schemas.openxmlformats.org/officeDocument/2006/relationships/image" Target="../media/image380.jpeg"/><Relationship Id="rId2" Type="http://schemas.openxmlformats.org/officeDocument/2006/relationships/image" Target="../media/image379.wmf"/><Relationship Id="rId1" Type="http://schemas.openxmlformats.org/officeDocument/2006/relationships/oleObject" Target="../embeddings/oleObject441.bin"/></Relationships>
</file>

<file path=ppt/slides/_rels/slide96.xml.rels><?xml version="1.0" encoding="UTF-8" standalone="yes"?>
<Relationships xmlns="http://schemas.openxmlformats.org/package/2006/relationships"><Relationship Id="rId9" Type="http://schemas.openxmlformats.org/officeDocument/2006/relationships/oleObject" Target="../embeddings/oleObject446.bin"/><Relationship Id="rId8" Type="http://schemas.openxmlformats.org/officeDocument/2006/relationships/image" Target="../media/image227.wmf"/><Relationship Id="rId7" Type="http://schemas.openxmlformats.org/officeDocument/2006/relationships/oleObject" Target="../embeddings/oleObject445.bin"/><Relationship Id="rId6" Type="http://schemas.openxmlformats.org/officeDocument/2006/relationships/image" Target="../media/image382.wmf"/><Relationship Id="rId5" Type="http://schemas.openxmlformats.org/officeDocument/2006/relationships/oleObject" Target="../embeddings/oleObject444.bin"/><Relationship Id="rId4" Type="http://schemas.openxmlformats.org/officeDocument/2006/relationships/image" Target="../media/image228.wmf"/><Relationship Id="rId3" Type="http://schemas.openxmlformats.org/officeDocument/2006/relationships/oleObject" Target="../embeddings/oleObject443.bin"/><Relationship Id="rId24" Type="http://schemas.openxmlformats.org/officeDocument/2006/relationships/vmlDrawing" Target="../drawings/vmlDrawing66.vml"/><Relationship Id="rId23" Type="http://schemas.openxmlformats.org/officeDocument/2006/relationships/slideLayout" Target="../slideLayouts/slideLayout7.xml"/><Relationship Id="rId22" Type="http://schemas.openxmlformats.org/officeDocument/2006/relationships/oleObject" Target="../embeddings/oleObject454.bin"/><Relationship Id="rId21" Type="http://schemas.openxmlformats.org/officeDocument/2006/relationships/oleObject" Target="../embeddings/oleObject453.bin"/><Relationship Id="rId20" Type="http://schemas.openxmlformats.org/officeDocument/2006/relationships/oleObject" Target="../embeddings/oleObject452.bin"/><Relationship Id="rId2" Type="http://schemas.openxmlformats.org/officeDocument/2006/relationships/image" Target="../media/image381.wmf"/><Relationship Id="rId19" Type="http://schemas.openxmlformats.org/officeDocument/2006/relationships/oleObject" Target="../embeddings/oleObject451.bin"/><Relationship Id="rId18" Type="http://schemas.openxmlformats.org/officeDocument/2006/relationships/image" Target="../media/image387.wmf"/><Relationship Id="rId17" Type="http://schemas.openxmlformats.org/officeDocument/2006/relationships/oleObject" Target="../embeddings/oleObject450.bin"/><Relationship Id="rId16" Type="http://schemas.openxmlformats.org/officeDocument/2006/relationships/image" Target="../media/image386.wmf"/><Relationship Id="rId15" Type="http://schemas.openxmlformats.org/officeDocument/2006/relationships/oleObject" Target="../embeddings/oleObject449.bin"/><Relationship Id="rId14" Type="http://schemas.openxmlformats.org/officeDocument/2006/relationships/image" Target="../media/image385.wmf"/><Relationship Id="rId13" Type="http://schemas.openxmlformats.org/officeDocument/2006/relationships/oleObject" Target="../embeddings/oleObject448.bin"/><Relationship Id="rId12" Type="http://schemas.openxmlformats.org/officeDocument/2006/relationships/image" Target="../media/image384.wmf"/><Relationship Id="rId11" Type="http://schemas.openxmlformats.org/officeDocument/2006/relationships/oleObject" Target="../embeddings/oleObject447.bin"/><Relationship Id="rId10" Type="http://schemas.openxmlformats.org/officeDocument/2006/relationships/image" Target="../media/image383.wmf"/><Relationship Id="rId1" Type="http://schemas.openxmlformats.org/officeDocument/2006/relationships/oleObject" Target="../embeddings/oleObject442.bin"/></Relationships>
</file>

<file path=ppt/slides/_rels/slide97.xml.rels><?xml version="1.0" encoding="UTF-8" standalone="yes"?>
<Relationships xmlns="http://schemas.openxmlformats.org/package/2006/relationships"><Relationship Id="rId9" Type="http://schemas.openxmlformats.org/officeDocument/2006/relationships/oleObject" Target="../embeddings/oleObject460.bin"/><Relationship Id="rId8" Type="http://schemas.openxmlformats.org/officeDocument/2006/relationships/image" Target="../media/image228.wmf"/><Relationship Id="rId7" Type="http://schemas.openxmlformats.org/officeDocument/2006/relationships/oleObject" Target="../embeddings/oleObject459.bin"/><Relationship Id="rId6" Type="http://schemas.openxmlformats.org/officeDocument/2006/relationships/oleObject" Target="../embeddings/oleObject458.bin"/><Relationship Id="rId5" Type="http://schemas.openxmlformats.org/officeDocument/2006/relationships/image" Target="../media/image384.wmf"/><Relationship Id="rId4" Type="http://schemas.openxmlformats.org/officeDocument/2006/relationships/oleObject" Target="../embeddings/oleObject457.bin"/><Relationship Id="rId3" Type="http://schemas.openxmlformats.org/officeDocument/2006/relationships/oleObject" Target="../embeddings/oleObject456.bin"/><Relationship Id="rId26" Type="http://schemas.openxmlformats.org/officeDocument/2006/relationships/vmlDrawing" Target="../drawings/vmlDrawing67.vml"/><Relationship Id="rId25" Type="http://schemas.openxmlformats.org/officeDocument/2006/relationships/slideLayout" Target="../slideLayouts/slideLayout7.xml"/><Relationship Id="rId24" Type="http://schemas.openxmlformats.org/officeDocument/2006/relationships/oleObject" Target="../embeddings/oleObject468.bin"/><Relationship Id="rId23" Type="http://schemas.openxmlformats.org/officeDocument/2006/relationships/image" Target="../media/image393.wmf"/><Relationship Id="rId22" Type="http://schemas.openxmlformats.org/officeDocument/2006/relationships/oleObject" Target="../embeddings/oleObject467.bin"/><Relationship Id="rId21" Type="http://schemas.openxmlformats.org/officeDocument/2006/relationships/oleObject" Target="../embeddings/oleObject466.bin"/><Relationship Id="rId20" Type="http://schemas.openxmlformats.org/officeDocument/2006/relationships/image" Target="../media/image392.wmf"/><Relationship Id="rId2" Type="http://schemas.openxmlformats.org/officeDocument/2006/relationships/image" Target="../media/image227.wmf"/><Relationship Id="rId19" Type="http://schemas.openxmlformats.org/officeDocument/2006/relationships/oleObject" Target="../embeddings/oleObject465.bin"/><Relationship Id="rId18" Type="http://schemas.openxmlformats.org/officeDocument/2006/relationships/image" Target="../media/image391.wmf"/><Relationship Id="rId17" Type="http://schemas.openxmlformats.org/officeDocument/2006/relationships/oleObject" Target="../embeddings/oleObject464.bin"/><Relationship Id="rId16" Type="http://schemas.openxmlformats.org/officeDocument/2006/relationships/image" Target="../media/image383.wmf"/><Relationship Id="rId15" Type="http://schemas.openxmlformats.org/officeDocument/2006/relationships/oleObject" Target="../embeddings/oleObject463.bin"/><Relationship Id="rId14" Type="http://schemas.openxmlformats.org/officeDocument/2006/relationships/image" Target="../media/image390.wmf"/><Relationship Id="rId13" Type="http://schemas.openxmlformats.org/officeDocument/2006/relationships/oleObject" Target="../embeddings/oleObject462.bin"/><Relationship Id="rId12" Type="http://schemas.openxmlformats.org/officeDocument/2006/relationships/image" Target="../media/image389.wmf"/><Relationship Id="rId11" Type="http://schemas.openxmlformats.org/officeDocument/2006/relationships/oleObject" Target="../embeddings/oleObject461.bin"/><Relationship Id="rId10" Type="http://schemas.openxmlformats.org/officeDocument/2006/relationships/image" Target="../media/image388.wmf"/><Relationship Id="rId1" Type="http://schemas.openxmlformats.org/officeDocument/2006/relationships/oleObject" Target="../embeddings/oleObject455.bin"/></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slide" Target="slide60.xml"/><Relationship Id="rId1" Type="http://schemas.openxmlformats.org/officeDocument/2006/relationships/hyperlink" Target="&#28909;&#21147;&#23398;&#31532;&#20108;&#23450;&#24459;.swf" TargetMode="External"/></Relationships>
</file>

<file path=ppt/slides/_rels/slide99.xml.rels><?xml version="1.0" encoding="UTF-8" standalone="yes"?>
<Relationships xmlns="http://schemas.openxmlformats.org/package/2006/relationships"><Relationship Id="rId8" Type="http://schemas.openxmlformats.org/officeDocument/2006/relationships/vmlDrawing" Target="../drawings/vmlDrawing68.vml"/><Relationship Id="rId7" Type="http://schemas.openxmlformats.org/officeDocument/2006/relationships/slideLayout" Target="../slideLayouts/slideLayout7.xml"/><Relationship Id="rId6" Type="http://schemas.openxmlformats.org/officeDocument/2006/relationships/image" Target="../media/image394.wmf"/><Relationship Id="rId5" Type="http://schemas.openxmlformats.org/officeDocument/2006/relationships/oleObject" Target="../embeddings/oleObject472.bin"/><Relationship Id="rId4" Type="http://schemas.openxmlformats.org/officeDocument/2006/relationships/oleObject" Target="../embeddings/oleObject471.bin"/><Relationship Id="rId3" Type="http://schemas.openxmlformats.org/officeDocument/2006/relationships/oleObject" Target="../embeddings/oleObject470.bin"/><Relationship Id="rId2" Type="http://schemas.openxmlformats.org/officeDocument/2006/relationships/image" Target="../media/image56.wmf"/><Relationship Id="rId1" Type="http://schemas.openxmlformats.org/officeDocument/2006/relationships/oleObject" Target="../embeddings/oleObject469.bin"/></Relationships>
</file>

<file path=ppt/slides/_rels/slide100.xml.rels><?xml version="1.0" encoding="UTF-8" standalone="yes"?>
<Relationships xmlns="http://schemas.openxmlformats.org/package/2006/relationships"><Relationship Id="rId9" Type="http://schemas.openxmlformats.org/officeDocument/2006/relationships/oleObject" Target="../embeddings/oleObject477.bin"/><Relationship Id="rId8" Type="http://schemas.openxmlformats.org/officeDocument/2006/relationships/image" Target="../media/image398.wmf"/><Relationship Id="rId7" Type="http://schemas.openxmlformats.org/officeDocument/2006/relationships/oleObject" Target="../embeddings/oleObject476.bin"/><Relationship Id="rId6" Type="http://schemas.openxmlformats.org/officeDocument/2006/relationships/image" Target="../media/image397.wmf"/><Relationship Id="rId5" Type="http://schemas.openxmlformats.org/officeDocument/2006/relationships/oleObject" Target="../embeddings/oleObject475.bin"/><Relationship Id="rId4" Type="http://schemas.openxmlformats.org/officeDocument/2006/relationships/image" Target="../media/image396.wmf"/><Relationship Id="rId3" Type="http://schemas.openxmlformats.org/officeDocument/2006/relationships/oleObject" Target="../embeddings/oleObject474.bin"/><Relationship Id="rId20" Type="http://schemas.openxmlformats.org/officeDocument/2006/relationships/vmlDrawing" Target="../drawings/vmlDrawing69.vml"/><Relationship Id="rId2" Type="http://schemas.openxmlformats.org/officeDocument/2006/relationships/image" Target="../media/image395.wmf"/><Relationship Id="rId19" Type="http://schemas.openxmlformats.org/officeDocument/2006/relationships/slideLayout" Target="../slideLayouts/slideLayout7.xml"/><Relationship Id="rId18" Type="http://schemas.openxmlformats.org/officeDocument/2006/relationships/image" Target="../media/image403.wmf"/><Relationship Id="rId17" Type="http://schemas.openxmlformats.org/officeDocument/2006/relationships/oleObject" Target="../embeddings/oleObject481.bin"/><Relationship Id="rId16" Type="http://schemas.openxmlformats.org/officeDocument/2006/relationships/image" Target="../media/image402.wmf"/><Relationship Id="rId15" Type="http://schemas.openxmlformats.org/officeDocument/2006/relationships/oleObject" Target="../embeddings/oleObject480.bin"/><Relationship Id="rId14" Type="http://schemas.openxmlformats.org/officeDocument/2006/relationships/image" Target="../media/image401.wmf"/><Relationship Id="rId13" Type="http://schemas.openxmlformats.org/officeDocument/2006/relationships/oleObject" Target="../embeddings/oleObject479.bin"/><Relationship Id="rId12" Type="http://schemas.openxmlformats.org/officeDocument/2006/relationships/image" Target="../media/image400.wmf"/><Relationship Id="rId11" Type="http://schemas.openxmlformats.org/officeDocument/2006/relationships/oleObject" Target="../embeddings/oleObject478.bin"/><Relationship Id="rId10" Type="http://schemas.openxmlformats.org/officeDocument/2006/relationships/image" Target="../media/image399.wmf"/><Relationship Id="rId1" Type="http://schemas.openxmlformats.org/officeDocument/2006/relationships/oleObject" Target="../embeddings/oleObject473.bin"/></Relationships>
</file>

<file path=ppt/slides/_rels/slide101.xml.rels><?xml version="1.0" encoding="UTF-8" standalone="yes"?>
<Relationships xmlns="http://schemas.openxmlformats.org/package/2006/relationships"><Relationship Id="rId9" Type="http://schemas.openxmlformats.org/officeDocument/2006/relationships/vmlDrawing" Target="../drawings/vmlDrawing70.vml"/><Relationship Id="rId8" Type="http://schemas.openxmlformats.org/officeDocument/2006/relationships/slideLayout" Target="../slideLayouts/slideLayout7.xml"/><Relationship Id="rId7" Type="http://schemas.openxmlformats.org/officeDocument/2006/relationships/slide" Target="slide7.xml"/><Relationship Id="rId6" Type="http://schemas.openxmlformats.org/officeDocument/2006/relationships/image" Target="../media/image406.wmf"/><Relationship Id="rId5" Type="http://schemas.openxmlformats.org/officeDocument/2006/relationships/oleObject" Target="../embeddings/oleObject484.bin"/><Relationship Id="rId4" Type="http://schemas.openxmlformats.org/officeDocument/2006/relationships/image" Target="../media/image405.wmf"/><Relationship Id="rId3" Type="http://schemas.openxmlformats.org/officeDocument/2006/relationships/oleObject" Target="../embeddings/oleObject483.bin"/><Relationship Id="rId2" Type="http://schemas.openxmlformats.org/officeDocument/2006/relationships/image" Target="../media/image404.wmf"/><Relationship Id="rId1" Type="http://schemas.openxmlformats.org/officeDocument/2006/relationships/oleObject" Target="../embeddings/oleObject48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 Box 4">
            <a:hlinkClick r:id="" action="ppaction://hlinkshowjump?jump=firstslide"/>
          </p:cNvPr>
          <p:cNvSpPr txBox="1">
            <a:spLocks noChangeArrowheads="1"/>
          </p:cNvSpPr>
          <p:nvPr/>
        </p:nvSpPr>
        <p:spPr bwMode="auto">
          <a:xfrm>
            <a:off x="1857375" y="1214438"/>
            <a:ext cx="5149850" cy="923925"/>
          </a:xfrm>
          <a:prstGeom prst="rect">
            <a:avLst/>
          </a:prstGeom>
          <a:noFill/>
          <a:ln w="19050" algn="ctr">
            <a:noFill/>
            <a:miter lim="800000"/>
          </a:ln>
        </p:spPr>
        <p:txBody>
          <a:bodyPr>
            <a:spAutoFit/>
          </a:bodyPr>
          <a:lstStyle/>
          <a:p>
            <a:pPr algn="ctr">
              <a:spcBef>
                <a:spcPct val="50000"/>
              </a:spcBef>
              <a:defRPr/>
            </a:pPr>
            <a:r>
              <a:rPr lang="zh-CN" altLang="en-US" sz="5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j-cs"/>
              </a:rPr>
              <a:t>第</a:t>
            </a:r>
            <a:r>
              <a:rPr lang="en-US" altLang="zh-CN" sz="5400" b="1" dirty="0">
                <a:solidFill>
                  <a:srgbClr val="FF0000"/>
                </a:solidFill>
                <a:effectLst>
                  <a:outerShdw blurRad="38100" dist="38100" dir="2700000" algn="tl">
                    <a:srgbClr val="000000">
                      <a:alpha val="43137"/>
                    </a:srgbClr>
                  </a:outerShdw>
                </a:effectLst>
                <a:ea typeface="楷体" panose="02010609060101010101" pitchFamily="49" charset="-122"/>
                <a:cs typeface="Times New Roman" panose="02020603050405020304" pitchFamily="18" charset="0"/>
              </a:rPr>
              <a:t>3</a:t>
            </a:r>
            <a:r>
              <a:rPr lang="zh-CN" altLang="en-US" sz="5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j-cs"/>
              </a:rPr>
              <a:t>篇    热 学</a:t>
            </a:r>
            <a:endParaRPr lang="zh-CN" altLang="en-US" sz="5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j-cs"/>
            </a:endParaRPr>
          </a:p>
        </p:txBody>
      </p:sp>
      <p:sp>
        <p:nvSpPr>
          <p:cNvPr id="2" name="Rectangle 5"/>
          <p:cNvSpPr>
            <a:spLocks noChangeArrowheads="1"/>
          </p:cNvSpPr>
          <p:nvPr/>
        </p:nvSpPr>
        <p:spPr bwMode="auto">
          <a:xfrm>
            <a:off x="2227263" y="2792413"/>
            <a:ext cx="4559300" cy="708025"/>
          </a:xfrm>
          <a:prstGeom prst="rect">
            <a:avLst/>
          </a:prstGeom>
          <a:noFill/>
          <a:ln w="9525">
            <a:noFill/>
            <a:miter lim="800000"/>
          </a:ln>
        </p:spPr>
        <p:txBody>
          <a:bodyPr wrap="none" anchor="ctr">
            <a:spAutoFit/>
          </a:bodyPr>
          <a:lstStyle/>
          <a:p>
            <a:r>
              <a:rPr lang="zh-CN" altLang="en-US" sz="4000" b="1">
                <a:solidFill>
                  <a:srgbClr val="3333CC"/>
                </a:solidFill>
                <a:latin typeface="楷体" panose="02010609060101010101" pitchFamily="49" charset="-122"/>
                <a:ea typeface="楷体" panose="02010609060101010101" pitchFamily="49" charset="-122"/>
              </a:rPr>
              <a:t>第</a:t>
            </a:r>
            <a:r>
              <a:rPr lang="en-US" altLang="zh-CN" sz="4000" b="1">
                <a:solidFill>
                  <a:srgbClr val="3333CC"/>
                </a:solidFill>
                <a:ea typeface="楷体" panose="02010609060101010101" pitchFamily="49" charset="-122"/>
                <a:cs typeface="Times New Roman" panose="02020603050405020304" pitchFamily="18" charset="0"/>
              </a:rPr>
              <a:t>7</a:t>
            </a:r>
            <a:r>
              <a:rPr lang="zh-CN" altLang="en-US" sz="4000" b="1">
                <a:solidFill>
                  <a:srgbClr val="3333CC"/>
                </a:solidFill>
                <a:latin typeface="楷体" panose="02010609060101010101" pitchFamily="49" charset="-122"/>
                <a:ea typeface="楷体" panose="02010609060101010101" pitchFamily="49" charset="-122"/>
              </a:rPr>
              <a:t>章  热力学基础</a:t>
            </a:r>
            <a:endParaRPr lang="zh-CN" altLang="en-US" sz="4000" b="1">
              <a:solidFill>
                <a:srgbClr val="3333CC"/>
              </a:solidFill>
              <a:latin typeface="楷体" panose="02010609060101010101" pitchFamily="49" charset="-122"/>
              <a:ea typeface="楷体" panose="02010609060101010101" pitchFamily="49" charset="-122"/>
            </a:endParaRPr>
          </a:p>
        </p:txBody>
      </p:sp>
      <p:sp>
        <p:nvSpPr>
          <p:cNvPr id="73732" name="Rectangle 5"/>
          <p:cNvSpPr>
            <a:spLocks noChangeArrowheads="1"/>
          </p:cNvSpPr>
          <p:nvPr/>
        </p:nvSpPr>
        <p:spPr bwMode="auto">
          <a:xfrm>
            <a:off x="2286000" y="3863975"/>
            <a:ext cx="4559300" cy="708025"/>
          </a:xfrm>
          <a:prstGeom prst="rect">
            <a:avLst/>
          </a:prstGeom>
          <a:noFill/>
          <a:ln w="9525">
            <a:noFill/>
            <a:miter lim="800000"/>
          </a:ln>
        </p:spPr>
        <p:txBody>
          <a:bodyPr wrap="none" anchor="ctr">
            <a:spAutoFit/>
          </a:bodyPr>
          <a:lstStyle/>
          <a:p>
            <a:r>
              <a:rPr lang="zh-CN" altLang="en-US" sz="4000" b="1">
                <a:solidFill>
                  <a:srgbClr val="3333CC"/>
                </a:solidFill>
                <a:latin typeface="楷体" panose="02010609060101010101" pitchFamily="49" charset="-122"/>
                <a:ea typeface="楷体" panose="02010609060101010101" pitchFamily="49" charset="-122"/>
              </a:rPr>
              <a:t>第</a:t>
            </a:r>
            <a:r>
              <a:rPr lang="en-US" altLang="zh-CN" sz="4000" b="1">
                <a:solidFill>
                  <a:srgbClr val="3333CC"/>
                </a:solidFill>
                <a:ea typeface="楷体" panose="02010609060101010101" pitchFamily="49" charset="-122"/>
                <a:cs typeface="Times New Roman" panose="02020603050405020304" pitchFamily="18" charset="0"/>
              </a:rPr>
              <a:t>8</a:t>
            </a:r>
            <a:r>
              <a:rPr lang="zh-CN" altLang="en-US" sz="4000" b="1">
                <a:solidFill>
                  <a:srgbClr val="3333CC"/>
                </a:solidFill>
                <a:latin typeface="楷体" panose="02010609060101010101" pitchFamily="49" charset="-122"/>
                <a:ea typeface="楷体" panose="02010609060101010101" pitchFamily="49" charset="-122"/>
              </a:rPr>
              <a:t>章  气体动理论</a:t>
            </a:r>
            <a:endParaRPr lang="zh-CN" altLang="en-US" sz="4000" b="1">
              <a:solidFill>
                <a:srgbClr val="3333CC"/>
              </a:solidFill>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228600" y="3779838"/>
            <a:ext cx="5927725" cy="512762"/>
          </a:xfrm>
          <a:prstGeom prst="rect">
            <a:avLst/>
          </a:prstGeom>
          <a:noFill/>
          <a:ln w="9525">
            <a:noFill/>
            <a:miter lim="800000"/>
          </a:ln>
        </p:spPr>
        <p:txBody>
          <a:bodyPr>
            <a:spAutoFit/>
          </a:bodyPr>
          <a:lstStyle/>
          <a:p>
            <a:pPr>
              <a:lnSpc>
                <a:spcPct val="115000"/>
              </a:lnSpc>
            </a:pPr>
            <a:r>
              <a:rPr lang="zh-CN" altLang="en-US" b="1">
                <a:solidFill>
                  <a:srgbClr val="FF0000"/>
                </a:solidFill>
              </a:rPr>
              <a:t>第二个时期 </a:t>
            </a:r>
            <a:r>
              <a:rPr lang="en-US" altLang="zh-CN" b="1">
                <a:solidFill>
                  <a:srgbClr val="FF0000"/>
                </a:solidFill>
              </a:rPr>
              <a:t>(19 </a:t>
            </a:r>
            <a:r>
              <a:rPr lang="zh-CN" altLang="en-US" b="1">
                <a:solidFill>
                  <a:srgbClr val="FF0000"/>
                </a:solidFill>
              </a:rPr>
              <a:t>中叶</a:t>
            </a:r>
            <a:r>
              <a:rPr lang="en-US" altLang="zh-CN" b="1">
                <a:solidFill>
                  <a:srgbClr val="FF0000"/>
                </a:solidFill>
              </a:rPr>
              <a:t>~ 19 </a:t>
            </a:r>
            <a:r>
              <a:rPr lang="zh-CN" altLang="en-US" b="1">
                <a:solidFill>
                  <a:srgbClr val="FF0000"/>
                </a:solidFill>
              </a:rPr>
              <a:t>世纪 </a:t>
            </a:r>
            <a:r>
              <a:rPr lang="en-US" altLang="zh-CN" b="1">
                <a:solidFill>
                  <a:srgbClr val="FF0000"/>
                </a:solidFill>
              </a:rPr>
              <a:t>70 </a:t>
            </a:r>
            <a:r>
              <a:rPr lang="zh-CN" altLang="en-US" b="1">
                <a:solidFill>
                  <a:srgbClr val="FF0000"/>
                </a:solidFill>
              </a:rPr>
              <a:t>年代末</a:t>
            </a:r>
            <a:r>
              <a:rPr lang="en-US" altLang="zh-CN" b="1">
                <a:solidFill>
                  <a:srgbClr val="FF0000"/>
                </a:solidFill>
              </a:rPr>
              <a:t>)</a:t>
            </a:r>
            <a:r>
              <a:rPr lang="zh-CN" altLang="en-US" b="1">
                <a:solidFill>
                  <a:srgbClr val="FF0000"/>
                </a:solidFill>
              </a:rPr>
              <a:t>：</a:t>
            </a:r>
            <a:endParaRPr lang="zh-CN" altLang="en-US" b="1">
              <a:solidFill>
                <a:srgbClr val="FF0000"/>
              </a:solidFill>
            </a:endParaRPr>
          </a:p>
        </p:txBody>
      </p:sp>
      <p:sp>
        <p:nvSpPr>
          <p:cNvPr id="119811" name="Text Box 3"/>
          <p:cNvSpPr txBox="1">
            <a:spLocks noChangeArrowheads="1"/>
          </p:cNvSpPr>
          <p:nvPr/>
        </p:nvSpPr>
        <p:spPr bwMode="auto">
          <a:xfrm>
            <a:off x="273050" y="2003425"/>
            <a:ext cx="8574088" cy="1422400"/>
          </a:xfrm>
          <a:prstGeom prst="rect">
            <a:avLst/>
          </a:prstGeom>
          <a:noFill/>
          <a:ln w="9525">
            <a:noFill/>
            <a:miter lim="800000"/>
          </a:ln>
        </p:spPr>
        <p:txBody>
          <a:bodyPr>
            <a:spAutoFit/>
          </a:bodyPr>
          <a:lstStyle/>
          <a:p>
            <a:pPr>
              <a:lnSpc>
                <a:spcPct val="120000"/>
              </a:lnSpc>
              <a:defRPr/>
            </a:pPr>
            <a:r>
              <a:rPr lang="en-US" altLang="zh-CN" b="1" dirty="0">
                <a:latin typeface="+mn-ea"/>
                <a:ea typeface="+mn-ea"/>
              </a:rPr>
              <a:t>    </a:t>
            </a:r>
            <a:r>
              <a:rPr lang="zh-CN" altLang="en-US" b="1" dirty="0">
                <a:latin typeface="+mn-ea"/>
                <a:ea typeface="+mn-ea"/>
              </a:rPr>
              <a:t>积累了大量的试验和观察事实，对热的本性展开了研究和争论，为热力学理论的建立做了准备。在</a:t>
            </a:r>
            <a:r>
              <a:rPr lang="en-US" altLang="zh-CN" b="1" dirty="0">
                <a:ea typeface="+mn-ea"/>
                <a:cs typeface="Times New Roman" panose="02020603050405020304" pitchFamily="18" charset="0"/>
              </a:rPr>
              <a:t>19 </a:t>
            </a:r>
            <a:r>
              <a:rPr lang="zh-CN" altLang="en-US" b="1" dirty="0">
                <a:latin typeface="+mn-ea"/>
                <a:ea typeface="+mn-ea"/>
              </a:rPr>
              <a:t>世纪前半叶出现的</a:t>
            </a:r>
            <a:r>
              <a:rPr lang="zh-CN" altLang="en-US" b="1" dirty="0">
                <a:solidFill>
                  <a:srgbClr val="0000FF"/>
                </a:solidFill>
                <a:latin typeface="+mn-ea"/>
                <a:ea typeface="+mn-ea"/>
              </a:rPr>
              <a:t>热机理论</a:t>
            </a:r>
            <a:r>
              <a:rPr lang="zh-CN" altLang="en-US" b="1" dirty="0">
                <a:latin typeface="+mn-ea"/>
                <a:ea typeface="+mn-ea"/>
              </a:rPr>
              <a:t>和</a:t>
            </a:r>
            <a:r>
              <a:rPr lang="zh-CN" altLang="en-US" b="1" dirty="0">
                <a:solidFill>
                  <a:srgbClr val="0000FF"/>
                </a:solidFill>
                <a:latin typeface="+mn-ea"/>
                <a:ea typeface="+mn-ea"/>
              </a:rPr>
              <a:t>热功相当原理</a:t>
            </a:r>
            <a:r>
              <a:rPr lang="zh-CN" altLang="en-US" b="1" dirty="0">
                <a:latin typeface="+mn-ea"/>
                <a:ea typeface="+mn-ea"/>
              </a:rPr>
              <a:t>已经包含了热力学的基本思想。</a:t>
            </a:r>
            <a:endParaRPr lang="zh-CN" altLang="en-US" dirty="0">
              <a:latin typeface="+mn-ea"/>
              <a:ea typeface="+mn-ea"/>
            </a:endParaRPr>
          </a:p>
        </p:txBody>
      </p:sp>
      <p:sp>
        <p:nvSpPr>
          <p:cNvPr id="119812" name="Text Box 4"/>
          <p:cNvSpPr txBox="1">
            <a:spLocks noChangeArrowheads="1"/>
          </p:cNvSpPr>
          <p:nvPr/>
        </p:nvSpPr>
        <p:spPr bwMode="auto">
          <a:xfrm>
            <a:off x="179388" y="1331913"/>
            <a:ext cx="6596062" cy="512762"/>
          </a:xfrm>
          <a:prstGeom prst="rect">
            <a:avLst/>
          </a:prstGeom>
          <a:noFill/>
          <a:ln w="9525" algn="ctr">
            <a:noFill/>
            <a:miter lim="800000"/>
          </a:ln>
        </p:spPr>
        <p:txBody>
          <a:bodyPr>
            <a:spAutoFit/>
          </a:bodyPr>
          <a:lstStyle/>
          <a:p>
            <a:pPr>
              <a:lnSpc>
                <a:spcPct val="115000"/>
              </a:lnSpc>
              <a:buClr>
                <a:schemeClr val="hlink"/>
              </a:buClr>
            </a:pPr>
            <a:r>
              <a:rPr lang="zh-CN" altLang="en-US" b="1">
                <a:solidFill>
                  <a:srgbClr val="FF0000"/>
                </a:solidFill>
              </a:rPr>
              <a:t>第一个时期 </a:t>
            </a:r>
            <a:r>
              <a:rPr lang="en-US" altLang="zh-CN" b="1">
                <a:solidFill>
                  <a:srgbClr val="FF0000"/>
                </a:solidFill>
              </a:rPr>
              <a:t>(17</a:t>
            </a:r>
            <a:r>
              <a:rPr lang="zh-CN" altLang="en-US" b="1">
                <a:solidFill>
                  <a:srgbClr val="FF0000"/>
                </a:solidFill>
              </a:rPr>
              <a:t>世纪末</a:t>
            </a:r>
            <a:r>
              <a:rPr lang="en-US" altLang="zh-CN" b="1">
                <a:solidFill>
                  <a:srgbClr val="FF0000"/>
                </a:solidFill>
              </a:rPr>
              <a:t>~19</a:t>
            </a:r>
            <a:r>
              <a:rPr lang="zh-CN" altLang="en-US" b="1">
                <a:solidFill>
                  <a:srgbClr val="FF0000"/>
                </a:solidFill>
              </a:rPr>
              <a:t>世纪中叶</a:t>
            </a:r>
            <a:r>
              <a:rPr lang="en-US" altLang="zh-CN" b="1">
                <a:solidFill>
                  <a:srgbClr val="FF0000"/>
                </a:solidFill>
              </a:rPr>
              <a:t>)</a:t>
            </a:r>
            <a:r>
              <a:rPr lang="zh-CN" altLang="en-US" b="1">
                <a:solidFill>
                  <a:srgbClr val="FF0000"/>
                </a:solidFill>
              </a:rPr>
              <a:t>：</a:t>
            </a:r>
            <a:endParaRPr lang="zh-CN" altLang="en-US" b="1">
              <a:solidFill>
                <a:srgbClr val="FF0000"/>
              </a:solidFill>
            </a:endParaRPr>
          </a:p>
        </p:txBody>
      </p:sp>
      <p:sp>
        <p:nvSpPr>
          <p:cNvPr id="74757" name="Text Box 5"/>
          <p:cNvSpPr txBox="1">
            <a:spLocks noChangeArrowheads="1"/>
          </p:cNvSpPr>
          <p:nvPr/>
        </p:nvSpPr>
        <p:spPr bwMode="auto">
          <a:xfrm>
            <a:off x="3071813" y="500063"/>
            <a:ext cx="2786062" cy="523875"/>
          </a:xfrm>
          <a:prstGeom prst="rect">
            <a:avLst/>
          </a:prstGeom>
          <a:noFill/>
          <a:ln w="9525" algn="ctr">
            <a:noFill/>
            <a:miter lim="800000"/>
          </a:ln>
        </p:spPr>
        <p:txBody>
          <a:bodyPr>
            <a:spAutoFit/>
          </a:bodyPr>
          <a:lstStyle/>
          <a:p>
            <a:pPr algn="ctr">
              <a:lnSpc>
                <a:spcPct val="115000"/>
              </a:lnSpc>
            </a:pPr>
            <a:r>
              <a:rPr lang="zh-CN" altLang="en-US" sz="2800" b="1" dirty="0">
                <a:solidFill>
                  <a:srgbClr val="0000FF"/>
                </a:solidFill>
                <a:latin typeface="黑体" panose="02010609060101010101" pitchFamily="49" charset="-122"/>
                <a:ea typeface="黑体" panose="02010609060101010101" pitchFamily="49" charset="-122"/>
              </a:rPr>
              <a:t>热学发展史</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119815" name="Text Box 7"/>
          <p:cNvSpPr txBox="1">
            <a:spLocks noChangeArrowheads="1"/>
          </p:cNvSpPr>
          <p:nvPr/>
        </p:nvSpPr>
        <p:spPr bwMode="auto">
          <a:xfrm>
            <a:off x="228600" y="4451350"/>
            <a:ext cx="8591550" cy="1422400"/>
          </a:xfrm>
          <a:prstGeom prst="rect">
            <a:avLst/>
          </a:prstGeom>
          <a:noFill/>
          <a:ln w="9525">
            <a:noFill/>
            <a:miter lim="800000"/>
          </a:ln>
        </p:spPr>
        <p:txBody>
          <a:bodyPr>
            <a:spAutoFit/>
          </a:bodyPr>
          <a:lstStyle/>
          <a:p>
            <a:pPr>
              <a:lnSpc>
                <a:spcPct val="120000"/>
              </a:lnSpc>
              <a:defRPr/>
            </a:pPr>
            <a:r>
              <a:rPr lang="en-US" altLang="zh-CN" b="1" dirty="0">
                <a:latin typeface="+mn-ea"/>
                <a:ea typeface="+mn-ea"/>
              </a:rPr>
              <a:t>    </a:t>
            </a:r>
            <a:r>
              <a:rPr lang="zh-CN" altLang="en-US" b="1" dirty="0">
                <a:latin typeface="+mn-ea"/>
                <a:ea typeface="+mn-ea"/>
              </a:rPr>
              <a:t>发展了</a:t>
            </a:r>
            <a:r>
              <a:rPr lang="zh-CN" altLang="en-US" b="1" dirty="0">
                <a:solidFill>
                  <a:srgbClr val="0000FF"/>
                </a:solidFill>
                <a:latin typeface="+mn-ea"/>
                <a:ea typeface="+mn-ea"/>
              </a:rPr>
              <a:t>唯象热力学</a:t>
            </a:r>
            <a:r>
              <a:rPr lang="zh-CN" altLang="en-US" b="1" dirty="0">
                <a:latin typeface="+mn-ea"/>
                <a:ea typeface="+mn-ea"/>
              </a:rPr>
              <a:t>和</a:t>
            </a:r>
            <a:r>
              <a:rPr lang="zh-CN" altLang="en-US" b="1" dirty="0">
                <a:solidFill>
                  <a:srgbClr val="0000FF"/>
                </a:solidFill>
                <a:latin typeface="+mn-ea"/>
                <a:ea typeface="+mn-ea"/>
              </a:rPr>
              <a:t>分子运动论</a:t>
            </a:r>
            <a:r>
              <a:rPr lang="zh-CN" altLang="en-US" b="1" dirty="0">
                <a:latin typeface="+mn-ea"/>
                <a:ea typeface="+mn-ea"/>
              </a:rPr>
              <a:t>。热功相当原理奠定了</a:t>
            </a:r>
            <a:r>
              <a:rPr lang="zh-CN" altLang="en-US" b="1" dirty="0">
                <a:solidFill>
                  <a:srgbClr val="0000FF"/>
                </a:solidFill>
                <a:latin typeface="+mn-ea"/>
                <a:ea typeface="+mn-ea"/>
              </a:rPr>
              <a:t>热力学第一定律</a:t>
            </a:r>
            <a:r>
              <a:rPr lang="zh-CN" altLang="en-US" b="1" dirty="0">
                <a:latin typeface="+mn-ea"/>
                <a:ea typeface="+mn-ea"/>
              </a:rPr>
              <a:t>的基础，和</a:t>
            </a:r>
            <a:r>
              <a:rPr lang="zh-CN" altLang="en-US" b="1" dirty="0">
                <a:solidFill>
                  <a:srgbClr val="0000FF"/>
                </a:solidFill>
                <a:latin typeface="+mn-ea"/>
                <a:ea typeface="+mn-ea"/>
              </a:rPr>
              <a:t>卡诺理论</a:t>
            </a:r>
            <a:r>
              <a:rPr lang="zh-CN" altLang="en-US" b="1" dirty="0">
                <a:latin typeface="+mn-ea"/>
                <a:ea typeface="+mn-ea"/>
              </a:rPr>
              <a:t>结合，促使了</a:t>
            </a:r>
            <a:r>
              <a:rPr lang="zh-CN" altLang="en-US" b="1" dirty="0">
                <a:solidFill>
                  <a:srgbClr val="0000FF"/>
                </a:solidFill>
                <a:latin typeface="+mn-ea"/>
                <a:ea typeface="+mn-ea"/>
              </a:rPr>
              <a:t>热力学第二定律</a:t>
            </a:r>
            <a:r>
              <a:rPr lang="zh-CN" altLang="en-US" b="1" dirty="0">
                <a:latin typeface="+mn-ea"/>
                <a:ea typeface="+mn-ea"/>
              </a:rPr>
              <a:t>的形成。</a:t>
            </a:r>
            <a:endParaRPr lang="zh-CN" altLang="en-US" b="1"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12"/>
                                        </p:tgtEl>
                                        <p:attrNameLst>
                                          <p:attrName>style.visibility</p:attrName>
                                        </p:attrNameLst>
                                      </p:cBhvr>
                                      <p:to>
                                        <p:strVal val="visible"/>
                                      </p:to>
                                    </p:set>
                                    <p:animEffect transition="in" filter="wipe(left)">
                                      <p:cBhvr>
                                        <p:cTn id="7" dur="500"/>
                                        <p:tgtEl>
                                          <p:spTgt spid="1198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9811"/>
                                        </p:tgtEl>
                                        <p:attrNameLst>
                                          <p:attrName>style.visibility</p:attrName>
                                        </p:attrNameLst>
                                      </p:cBhvr>
                                      <p:to>
                                        <p:strVal val="visible"/>
                                      </p:to>
                                    </p:set>
                                    <p:animEffect transition="in" filter="wipe(left)">
                                      <p:cBhvr>
                                        <p:cTn id="12" dur="500"/>
                                        <p:tgtEl>
                                          <p:spTgt spid="1198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810"/>
                                        </p:tgtEl>
                                        <p:attrNameLst>
                                          <p:attrName>style.visibility</p:attrName>
                                        </p:attrNameLst>
                                      </p:cBhvr>
                                      <p:to>
                                        <p:strVal val="visible"/>
                                      </p:to>
                                    </p:set>
                                    <p:animEffect transition="in" filter="wipe(left)">
                                      <p:cBhvr>
                                        <p:cTn id="17" dur="500"/>
                                        <p:tgtEl>
                                          <p:spTgt spid="1198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9815"/>
                                        </p:tgtEl>
                                        <p:attrNameLst>
                                          <p:attrName>style.visibility</p:attrName>
                                        </p:attrNameLst>
                                      </p:cBhvr>
                                      <p:to>
                                        <p:strVal val="visible"/>
                                      </p:to>
                                    </p:set>
                                    <p:animEffect transition="in" filter="wipe(left)">
                                      <p:cBhvr>
                                        <p:cTn id="22" dur="500"/>
                                        <p:tgtEl>
                                          <p:spTgt spid="119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p:bldP spid="119811" grpId="0"/>
      <p:bldP spid="119812" grpId="0"/>
      <p:bldP spid="119815"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557213" y="4581525"/>
            <a:ext cx="8086725" cy="979488"/>
          </a:xfrm>
          <a:prstGeom prst="rect">
            <a:avLst/>
          </a:prstGeom>
          <a:noFill/>
          <a:ln w="9525">
            <a:noFill/>
            <a:miter lim="800000"/>
          </a:ln>
        </p:spPr>
        <p:txBody>
          <a:bodyPr>
            <a:spAutoFit/>
          </a:bodyPr>
          <a:lstStyle/>
          <a:p>
            <a:pPr>
              <a:lnSpc>
                <a:spcPct val="120000"/>
              </a:lnSpc>
              <a:defRPr/>
            </a:pPr>
            <a:r>
              <a:rPr lang="en-US" altLang="zh-CN" b="1" dirty="0">
                <a:latin typeface="+mn-ea"/>
                <a:ea typeface="+mn-ea"/>
              </a:rPr>
              <a:t>    </a:t>
            </a:r>
            <a:r>
              <a:rPr lang="zh-CN" altLang="en-US" b="1" dirty="0">
                <a:latin typeface="+mn-ea"/>
                <a:ea typeface="+mn-ea"/>
              </a:rPr>
              <a:t>这个时期出现了</a:t>
            </a:r>
            <a:r>
              <a:rPr lang="zh-CN" altLang="en-US" b="1" dirty="0">
                <a:solidFill>
                  <a:srgbClr val="0000FF"/>
                </a:solidFill>
                <a:latin typeface="+mn-ea"/>
                <a:ea typeface="+mn-ea"/>
              </a:rPr>
              <a:t>量子统计物理学</a:t>
            </a:r>
            <a:r>
              <a:rPr lang="zh-CN" altLang="en-US" b="1" dirty="0">
                <a:latin typeface="+mn-ea"/>
                <a:ea typeface="+mn-ea"/>
              </a:rPr>
              <a:t>和</a:t>
            </a:r>
            <a:r>
              <a:rPr lang="zh-CN" altLang="en-US" b="1" dirty="0">
                <a:solidFill>
                  <a:srgbClr val="0000FF"/>
                </a:solidFill>
                <a:latin typeface="+mn-ea"/>
                <a:ea typeface="+mn-ea"/>
              </a:rPr>
              <a:t>非平衡态理论</a:t>
            </a:r>
            <a:r>
              <a:rPr lang="zh-CN" altLang="en-US" b="1" dirty="0">
                <a:latin typeface="+mn-ea"/>
                <a:ea typeface="+mn-ea"/>
              </a:rPr>
              <a:t>，形成了现代理论物理学最重要的一个部门。</a:t>
            </a:r>
            <a:endParaRPr lang="zh-CN" altLang="en-US" b="1" dirty="0">
              <a:latin typeface="+mn-ea"/>
              <a:ea typeface="+mn-ea"/>
            </a:endParaRPr>
          </a:p>
        </p:txBody>
      </p:sp>
      <p:sp>
        <p:nvSpPr>
          <p:cNvPr id="120835" name="Text Box 3"/>
          <p:cNvSpPr txBox="1">
            <a:spLocks noChangeArrowheads="1"/>
          </p:cNvSpPr>
          <p:nvPr/>
        </p:nvSpPr>
        <p:spPr bwMode="auto">
          <a:xfrm>
            <a:off x="395288" y="1512888"/>
            <a:ext cx="8191500" cy="1865312"/>
          </a:xfrm>
          <a:prstGeom prst="rect">
            <a:avLst/>
          </a:prstGeom>
          <a:noFill/>
          <a:ln w="9525">
            <a:noFill/>
            <a:miter lim="800000"/>
          </a:ln>
        </p:spPr>
        <p:txBody>
          <a:bodyPr>
            <a:spAutoFit/>
          </a:bodyPr>
          <a:lstStyle/>
          <a:p>
            <a:pPr>
              <a:lnSpc>
                <a:spcPct val="120000"/>
              </a:lnSpc>
              <a:defRPr/>
            </a:pPr>
            <a:r>
              <a:rPr lang="en-US" altLang="zh-CN" b="1" dirty="0">
                <a:solidFill>
                  <a:srgbClr val="008000"/>
                </a:solidFill>
                <a:latin typeface="+mn-ea"/>
                <a:ea typeface="+mn-ea"/>
              </a:rPr>
              <a:t>    </a:t>
            </a:r>
            <a:r>
              <a:rPr lang="zh-CN" altLang="en-US" b="1" dirty="0">
                <a:solidFill>
                  <a:srgbClr val="0000FF"/>
                </a:solidFill>
                <a:latin typeface="+mn-ea"/>
                <a:ea typeface="+mn-ea"/>
              </a:rPr>
              <a:t>统计热力学</a:t>
            </a:r>
            <a:r>
              <a:rPr lang="zh-CN" altLang="en-US" b="1" dirty="0">
                <a:latin typeface="+mn-ea"/>
                <a:ea typeface="+mn-ea"/>
              </a:rPr>
              <a:t>产生。从</a:t>
            </a:r>
            <a:r>
              <a:rPr lang="zh-CN" altLang="en-US" b="1" dirty="0">
                <a:solidFill>
                  <a:srgbClr val="0000FF"/>
                </a:solidFill>
                <a:latin typeface="+mn-ea"/>
                <a:ea typeface="+mn-ea"/>
              </a:rPr>
              <a:t>玻尔兹曼</a:t>
            </a:r>
            <a:r>
              <a:rPr lang="zh-CN" altLang="en-US" b="1" dirty="0">
                <a:latin typeface="+mn-ea"/>
                <a:ea typeface="+mn-ea"/>
              </a:rPr>
              <a:t>的工作开始，到</a:t>
            </a:r>
            <a:r>
              <a:rPr lang="zh-CN" altLang="en-US" b="1" dirty="0">
                <a:solidFill>
                  <a:srgbClr val="0000FF"/>
                </a:solidFill>
                <a:latin typeface="+mn-ea"/>
                <a:ea typeface="+mn-ea"/>
              </a:rPr>
              <a:t>吉布斯</a:t>
            </a:r>
            <a:r>
              <a:rPr lang="zh-CN" altLang="en-US" b="1" dirty="0">
                <a:latin typeface="+mn-ea"/>
                <a:ea typeface="+mn-ea"/>
              </a:rPr>
              <a:t>把玻尔兹曼和麦克斯韦所创立的统计方法推广而发展成为系统理论。这些研究深入物质结构的基本单元，从而开辟了一门新的学科</a:t>
            </a:r>
            <a:r>
              <a:rPr lang="en-US" altLang="zh-CN" b="1" dirty="0">
                <a:latin typeface="+mn-ea"/>
                <a:ea typeface="+mn-ea"/>
              </a:rPr>
              <a:t>——</a:t>
            </a:r>
            <a:r>
              <a:rPr lang="zh-CN" altLang="en-US" b="1" dirty="0">
                <a:solidFill>
                  <a:srgbClr val="0000FF"/>
                </a:solidFill>
                <a:latin typeface="+mn-ea"/>
                <a:ea typeface="+mn-ea"/>
              </a:rPr>
              <a:t>统计物理学</a:t>
            </a:r>
            <a:r>
              <a:rPr lang="zh-CN" altLang="en-US" b="1" dirty="0">
                <a:latin typeface="+mn-ea"/>
                <a:ea typeface="+mn-ea"/>
              </a:rPr>
              <a:t>。</a:t>
            </a:r>
            <a:endParaRPr lang="zh-CN" altLang="en-US" b="1" dirty="0">
              <a:latin typeface="+mn-ea"/>
              <a:ea typeface="+mn-ea"/>
            </a:endParaRPr>
          </a:p>
        </p:txBody>
      </p:sp>
      <p:sp>
        <p:nvSpPr>
          <p:cNvPr id="120836" name="Text Box 4"/>
          <p:cNvSpPr txBox="1">
            <a:spLocks noChangeArrowheads="1"/>
          </p:cNvSpPr>
          <p:nvPr/>
        </p:nvSpPr>
        <p:spPr bwMode="auto">
          <a:xfrm>
            <a:off x="250825" y="755650"/>
            <a:ext cx="7416800" cy="512763"/>
          </a:xfrm>
          <a:prstGeom prst="rect">
            <a:avLst/>
          </a:prstGeom>
          <a:noFill/>
          <a:ln w="9525">
            <a:noFill/>
            <a:miter lim="800000"/>
          </a:ln>
        </p:spPr>
        <p:txBody>
          <a:bodyPr>
            <a:spAutoFit/>
          </a:bodyPr>
          <a:lstStyle/>
          <a:p>
            <a:pPr>
              <a:lnSpc>
                <a:spcPct val="115000"/>
              </a:lnSpc>
            </a:pPr>
            <a:r>
              <a:rPr lang="zh-CN" altLang="en-US" b="1">
                <a:solidFill>
                  <a:srgbClr val="FF0000"/>
                </a:solidFill>
              </a:rPr>
              <a:t>第三个时期 </a:t>
            </a:r>
            <a:r>
              <a:rPr lang="en-US" altLang="zh-CN" b="1">
                <a:solidFill>
                  <a:srgbClr val="FF0000"/>
                </a:solidFill>
              </a:rPr>
              <a:t>(19 </a:t>
            </a:r>
            <a:r>
              <a:rPr lang="zh-CN" altLang="en-US" b="1">
                <a:solidFill>
                  <a:srgbClr val="FF0000"/>
                </a:solidFill>
              </a:rPr>
              <a:t>世纪 </a:t>
            </a:r>
            <a:r>
              <a:rPr lang="en-US" altLang="zh-CN" b="1">
                <a:solidFill>
                  <a:srgbClr val="FF0000"/>
                </a:solidFill>
              </a:rPr>
              <a:t>70 </a:t>
            </a:r>
            <a:r>
              <a:rPr lang="zh-CN" altLang="en-US" b="1">
                <a:solidFill>
                  <a:srgbClr val="FF0000"/>
                </a:solidFill>
              </a:rPr>
              <a:t>年代末</a:t>
            </a:r>
            <a:r>
              <a:rPr lang="en-US" altLang="zh-CN" b="1">
                <a:solidFill>
                  <a:srgbClr val="FF0000"/>
                </a:solidFill>
              </a:rPr>
              <a:t>~20</a:t>
            </a:r>
            <a:r>
              <a:rPr lang="zh-CN" altLang="en-US" b="1">
                <a:solidFill>
                  <a:srgbClr val="FF0000"/>
                </a:solidFill>
              </a:rPr>
              <a:t>世纪初</a:t>
            </a:r>
            <a:r>
              <a:rPr lang="en-US" altLang="zh-CN" b="1">
                <a:solidFill>
                  <a:srgbClr val="FF0000"/>
                </a:solidFill>
              </a:rPr>
              <a:t>)</a:t>
            </a:r>
            <a:r>
              <a:rPr lang="zh-CN" altLang="en-US" b="1">
                <a:solidFill>
                  <a:srgbClr val="FF0000"/>
                </a:solidFill>
              </a:rPr>
              <a:t>：</a:t>
            </a:r>
            <a:endParaRPr lang="zh-CN" altLang="en-US" b="1">
              <a:solidFill>
                <a:srgbClr val="FF0000"/>
              </a:solidFill>
            </a:endParaRPr>
          </a:p>
        </p:txBody>
      </p:sp>
      <p:sp>
        <p:nvSpPr>
          <p:cNvPr id="120837" name="Text Box 5"/>
          <p:cNvSpPr txBox="1">
            <a:spLocks noChangeArrowheads="1"/>
          </p:cNvSpPr>
          <p:nvPr/>
        </p:nvSpPr>
        <p:spPr bwMode="auto">
          <a:xfrm>
            <a:off x="179388" y="3860800"/>
            <a:ext cx="7416800" cy="512763"/>
          </a:xfrm>
          <a:prstGeom prst="rect">
            <a:avLst/>
          </a:prstGeom>
          <a:noFill/>
          <a:ln w="9525">
            <a:noFill/>
            <a:miter lim="800000"/>
          </a:ln>
        </p:spPr>
        <p:txBody>
          <a:bodyPr>
            <a:spAutoFit/>
          </a:bodyPr>
          <a:lstStyle/>
          <a:p>
            <a:pPr>
              <a:lnSpc>
                <a:spcPct val="115000"/>
              </a:lnSpc>
            </a:pPr>
            <a:r>
              <a:rPr lang="zh-CN" altLang="en-US" b="1">
                <a:solidFill>
                  <a:srgbClr val="FF0000"/>
                </a:solidFill>
              </a:rPr>
              <a:t>第四个时期 </a:t>
            </a:r>
            <a:r>
              <a:rPr lang="en-US" altLang="zh-CN" b="1">
                <a:solidFill>
                  <a:srgbClr val="FF0000"/>
                </a:solidFill>
              </a:rPr>
              <a:t>(20</a:t>
            </a:r>
            <a:r>
              <a:rPr lang="zh-CN" altLang="en-US" b="1">
                <a:solidFill>
                  <a:srgbClr val="FF0000"/>
                </a:solidFill>
              </a:rPr>
              <a:t>世纪</a:t>
            </a:r>
            <a:r>
              <a:rPr lang="en-US" altLang="zh-CN" b="1">
                <a:solidFill>
                  <a:srgbClr val="FF0000"/>
                </a:solidFill>
              </a:rPr>
              <a:t>30</a:t>
            </a:r>
            <a:r>
              <a:rPr lang="zh-CN" altLang="en-US" b="1">
                <a:solidFill>
                  <a:srgbClr val="FF0000"/>
                </a:solidFill>
              </a:rPr>
              <a:t>年代起</a:t>
            </a:r>
            <a:r>
              <a:rPr lang="en-US" altLang="zh-CN" b="1">
                <a:solidFill>
                  <a:srgbClr val="FF0000"/>
                </a:solidFill>
              </a:rPr>
              <a:t>)</a:t>
            </a:r>
            <a:r>
              <a:rPr lang="zh-CN" altLang="en-US" b="1">
                <a:solidFill>
                  <a:srgbClr val="FF0000"/>
                </a:solidFill>
              </a:rPr>
              <a:t>：</a:t>
            </a:r>
            <a:endParaRPr lang="zh-CN" altLang="en-US" b="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6"/>
                                        </p:tgtEl>
                                        <p:attrNameLst>
                                          <p:attrName>style.visibility</p:attrName>
                                        </p:attrNameLst>
                                      </p:cBhvr>
                                      <p:to>
                                        <p:strVal val="visible"/>
                                      </p:to>
                                    </p:set>
                                    <p:animEffect transition="in" filter="wipe(left)">
                                      <p:cBhvr>
                                        <p:cTn id="7" dur="500"/>
                                        <p:tgtEl>
                                          <p:spTgt spid="1208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35"/>
                                        </p:tgtEl>
                                        <p:attrNameLst>
                                          <p:attrName>style.visibility</p:attrName>
                                        </p:attrNameLst>
                                      </p:cBhvr>
                                      <p:to>
                                        <p:strVal val="visible"/>
                                      </p:to>
                                    </p:set>
                                    <p:animEffect transition="in" filter="wipe(left)">
                                      <p:cBhvr>
                                        <p:cTn id="12" dur="500"/>
                                        <p:tgtEl>
                                          <p:spTgt spid="1208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837"/>
                                        </p:tgtEl>
                                        <p:attrNameLst>
                                          <p:attrName>style.visibility</p:attrName>
                                        </p:attrNameLst>
                                      </p:cBhvr>
                                      <p:to>
                                        <p:strVal val="visible"/>
                                      </p:to>
                                    </p:set>
                                    <p:animEffect transition="in" filter="wipe(left)">
                                      <p:cBhvr>
                                        <p:cTn id="17" dur="500"/>
                                        <p:tgtEl>
                                          <p:spTgt spid="1208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0834"/>
                                        </p:tgtEl>
                                        <p:attrNameLst>
                                          <p:attrName>style.visibility</p:attrName>
                                        </p:attrNameLst>
                                      </p:cBhvr>
                                      <p:to>
                                        <p:strVal val="visible"/>
                                      </p:to>
                                    </p:set>
                                    <p:animEffect transition="in" filter="wipe(left)">
                                      <p:cBhvr>
                                        <p:cTn id="22" dur="500"/>
                                        <p:tgtEl>
                                          <p:spTgt spid="120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P spid="120835" grpId="0"/>
      <p:bldP spid="120836" grpId="0"/>
      <p:bldP spid="1208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2571750" y="571500"/>
            <a:ext cx="4249738" cy="523875"/>
          </a:xfrm>
          <a:prstGeom prst="rect">
            <a:avLst/>
          </a:prstGeom>
          <a:noFill/>
          <a:ln w="12700" cap="sq">
            <a:noFill/>
            <a:miter lim="800000"/>
            <a:headEnd type="none" w="sm" len="sm"/>
            <a:tailEnd type="none" w="sm" len="sm"/>
          </a:ln>
        </p:spPr>
        <p:txBody>
          <a:bodyPr>
            <a:spAutoFit/>
          </a:bodyPr>
          <a:lstStyle/>
          <a:p>
            <a:pPr algn="ctr">
              <a:lnSpc>
                <a:spcPct val="115000"/>
              </a:lnSpc>
            </a:pPr>
            <a:r>
              <a:rPr kumimoji="1" lang="zh-CN" altLang="en-US" sz="2800" b="1">
                <a:solidFill>
                  <a:srgbClr val="0000FF"/>
                </a:solidFill>
                <a:latin typeface="黑体" panose="02010609060101010101" pitchFamily="49" charset="-122"/>
                <a:ea typeface="黑体" panose="02010609060101010101" pitchFamily="49" charset="-122"/>
              </a:rPr>
              <a:t>研究热现象的学科分支</a:t>
            </a:r>
            <a:endParaRPr kumimoji="1" lang="zh-CN" altLang="en-US" sz="2800" b="1">
              <a:solidFill>
                <a:srgbClr val="0000FF"/>
              </a:solidFill>
              <a:latin typeface="黑体" panose="02010609060101010101" pitchFamily="49" charset="-122"/>
              <a:ea typeface="黑体" panose="02010609060101010101" pitchFamily="49" charset="-122"/>
            </a:endParaRPr>
          </a:p>
        </p:txBody>
      </p:sp>
      <p:sp>
        <p:nvSpPr>
          <p:cNvPr id="121871" name="Rectangle 15"/>
          <p:cNvSpPr>
            <a:spLocks noChangeArrowheads="1"/>
          </p:cNvSpPr>
          <p:nvPr/>
        </p:nvSpPr>
        <p:spPr bwMode="auto">
          <a:xfrm>
            <a:off x="1000125" y="1360488"/>
            <a:ext cx="1152525" cy="549275"/>
          </a:xfrm>
          <a:prstGeom prst="rect">
            <a:avLst/>
          </a:prstGeom>
          <a:noFill/>
          <a:ln w="12700" cap="sq">
            <a:noFill/>
            <a:miter lim="800000"/>
            <a:headEnd type="none" w="sm" len="sm"/>
            <a:tailEnd type="none" w="sm" len="sm"/>
          </a:ln>
        </p:spPr>
        <p:txBody>
          <a:bodyPr>
            <a:spAutoFit/>
          </a:bodyPr>
          <a:lstStyle/>
          <a:p>
            <a:pPr>
              <a:lnSpc>
                <a:spcPct val="125000"/>
              </a:lnSpc>
            </a:pPr>
            <a:r>
              <a:rPr kumimoji="1" lang="zh-CN" altLang="en-US" b="1">
                <a:solidFill>
                  <a:srgbClr val="FF0000"/>
                </a:solidFill>
                <a:latin typeface="宋体" panose="02010600030101010101" pitchFamily="2" charset="-122"/>
              </a:rPr>
              <a:t>热学</a:t>
            </a:r>
            <a:endParaRPr kumimoji="1" lang="zh-CN" altLang="en-US" b="1">
              <a:solidFill>
                <a:srgbClr val="FF0000"/>
              </a:solidFill>
              <a:latin typeface="宋体" panose="02010600030101010101" pitchFamily="2" charset="-122"/>
            </a:endParaRPr>
          </a:p>
        </p:txBody>
      </p:sp>
      <p:sp>
        <p:nvSpPr>
          <p:cNvPr id="121872" name="Rectangle 16"/>
          <p:cNvSpPr>
            <a:spLocks noChangeArrowheads="1"/>
          </p:cNvSpPr>
          <p:nvPr/>
        </p:nvSpPr>
        <p:spPr bwMode="auto">
          <a:xfrm>
            <a:off x="1928813" y="1285875"/>
            <a:ext cx="6985000" cy="1114425"/>
          </a:xfrm>
          <a:prstGeom prst="rect">
            <a:avLst/>
          </a:prstGeom>
          <a:noFill/>
          <a:ln w="12700" cap="sq">
            <a:noFill/>
            <a:miter lim="800000"/>
            <a:headEnd type="none" w="sm" len="sm"/>
            <a:tailEnd type="none" w="sm" len="sm"/>
          </a:ln>
        </p:spPr>
        <p:txBody>
          <a:bodyPr>
            <a:spAutoFit/>
          </a:bodyPr>
          <a:lstStyle/>
          <a:p>
            <a:pPr>
              <a:lnSpc>
                <a:spcPct val="150000"/>
              </a:lnSpc>
              <a:defRPr/>
            </a:pPr>
            <a:r>
              <a:rPr kumimoji="1" lang="zh-CN" altLang="en-US" b="1" dirty="0">
                <a:latin typeface="+mn-ea"/>
                <a:ea typeface="+mn-ea"/>
              </a:rPr>
              <a:t>研究分子热运动及其与其他运动形式之间相互转化所遵循的规律的学科。</a:t>
            </a:r>
            <a:endParaRPr kumimoji="1" lang="zh-CN" altLang="en-US" b="1" dirty="0">
              <a:latin typeface="+mn-ea"/>
              <a:ea typeface="+mn-ea"/>
            </a:endParaRPr>
          </a:p>
        </p:txBody>
      </p:sp>
      <p:sp>
        <p:nvSpPr>
          <p:cNvPr id="121873" name="AutoShape 17"/>
          <p:cNvSpPr>
            <a:spLocks noChangeArrowheads="1"/>
          </p:cNvSpPr>
          <p:nvPr/>
        </p:nvSpPr>
        <p:spPr bwMode="auto">
          <a:xfrm>
            <a:off x="201613" y="1752600"/>
            <a:ext cx="512762" cy="1819275"/>
          </a:xfrm>
          <a:prstGeom prst="curvedRightArrow">
            <a:avLst>
              <a:gd name="adj1" fmla="val 36925"/>
              <a:gd name="adj2" fmla="val 118858"/>
              <a:gd name="adj3" fmla="val 33333"/>
            </a:avLst>
          </a:prstGeom>
          <a:solidFill>
            <a:schemeClr val="accent1"/>
          </a:solidFill>
          <a:ln w="9525">
            <a:solidFill>
              <a:schemeClr val="tx1"/>
            </a:solidFill>
            <a:miter lim="800000"/>
          </a:ln>
        </p:spPr>
        <p:txBody>
          <a:bodyPr wrap="none" anchor="ctr"/>
          <a:lstStyle/>
          <a:p>
            <a:pPr algn="ctr"/>
            <a:endParaRPr lang="zh-CN" altLang="en-US"/>
          </a:p>
        </p:txBody>
      </p:sp>
      <p:sp>
        <p:nvSpPr>
          <p:cNvPr id="121874" name="Rectangle 18"/>
          <p:cNvSpPr>
            <a:spLocks noChangeArrowheads="1"/>
          </p:cNvSpPr>
          <p:nvPr/>
        </p:nvSpPr>
        <p:spPr bwMode="auto">
          <a:xfrm>
            <a:off x="1274763" y="2605088"/>
            <a:ext cx="1584325" cy="549275"/>
          </a:xfrm>
          <a:prstGeom prst="rect">
            <a:avLst/>
          </a:prstGeom>
          <a:noFill/>
          <a:ln w="12700" cap="sq">
            <a:noFill/>
            <a:miter lim="800000"/>
            <a:headEnd type="none" w="sm" len="sm"/>
            <a:tailEnd type="none" w="sm" len="sm"/>
          </a:ln>
        </p:spPr>
        <p:txBody>
          <a:bodyPr>
            <a:spAutoFit/>
          </a:bodyPr>
          <a:lstStyle/>
          <a:p>
            <a:pPr>
              <a:lnSpc>
                <a:spcPct val="125000"/>
              </a:lnSpc>
            </a:pPr>
            <a:r>
              <a:rPr kumimoji="1" lang="zh-CN" altLang="en-US" b="1">
                <a:solidFill>
                  <a:srgbClr val="FF0000"/>
                </a:solidFill>
              </a:rPr>
              <a:t>热力学</a:t>
            </a:r>
            <a:endParaRPr kumimoji="1" lang="zh-CN" altLang="en-US" b="1">
              <a:solidFill>
                <a:srgbClr val="FF0000"/>
              </a:solidFill>
            </a:endParaRPr>
          </a:p>
        </p:txBody>
      </p:sp>
      <p:sp>
        <p:nvSpPr>
          <p:cNvPr id="121875" name="Rectangle 19"/>
          <p:cNvSpPr>
            <a:spLocks noChangeArrowheads="1"/>
          </p:cNvSpPr>
          <p:nvPr/>
        </p:nvSpPr>
        <p:spPr bwMode="auto">
          <a:xfrm>
            <a:off x="2928938" y="2500313"/>
            <a:ext cx="5546725" cy="1114425"/>
          </a:xfrm>
          <a:prstGeom prst="rect">
            <a:avLst/>
          </a:prstGeom>
          <a:noFill/>
          <a:ln w="12700" cap="sq">
            <a:noFill/>
            <a:miter lim="800000"/>
            <a:headEnd type="none" w="sm" len="sm"/>
            <a:tailEnd type="none" w="sm" len="sm"/>
          </a:ln>
        </p:spPr>
        <p:txBody>
          <a:bodyPr>
            <a:spAutoFit/>
          </a:bodyPr>
          <a:lstStyle/>
          <a:p>
            <a:pPr>
              <a:lnSpc>
                <a:spcPct val="150000"/>
              </a:lnSpc>
              <a:defRPr/>
            </a:pPr>
            <a:r>
              <a:rPr kumimoji="1" lang="zh-CN" altLang="en-US" b="1">
                <a:latin typeface="+mn-ea"/>
                <a:ea typeface="+mn-ea"/>
              </a:rPr>
              <a:t>通过观察和实验，从</a:t>
            </a:r>
            <a:r>
              <a:rPr kumimoji="1" lang="zh-CN" altLang="en-US" b="1">
                <a:solidFill>
                  <a:srgbClr val="FF6600"/>
                </a:solidFill>
                <a:latin typeface="+mn-ea"/>
                <a:ea typeface="+mn-ea"/>
              </a:rPr>
              <a:t>能量转换的观点</a:t>
            </a:r>
            <a:r>
              <a:rPr kumimoji="1" lang="zh-CN" altLang="en-US" b="1">
                <a:latin typeface="+mn-ea"/>
                <a:ea typeface="+mn-ea"/>
              </a:rPr>
              <a:t>研究物质的热学性质和</a:t>
            </a:r>
            <a:r>
              <a:rPr kumimoji="1" lang="zh-CN" altLang="en-US" b="1">
                <a:solidFill>
                  <a:srgbClr val="FF6600"/>
                </a:solidFill>
                <a:latin typeface="+mn-ea"/>
                <a:ea typeface="+mn-ea"/>
              </a:rPr>
              <a:t>宏观规律</a:t>
            </a:r>
            <a:r>
              <a:rPr kumimoji="1" lang="zh-CN" altLang="en-US" b="1">
                <a:latin typeface="+mn-ea"/>
                <a:ea typeface="+mn-ea"/>
              </a:rPr>
              <a:t>。</a:t>
            </a:r>
            <a:endParaRPr kumimoji="1" lang="zh-CN" altLang="en-US" b="1">
              <a:latin typeface="+mn-ea"/>
              <a:ea typeface="+mn-ea"/>
            </a:endParaRPr>
          </a:p>
        </p:txBody>
      </p:sp>
      <p:sp>
        <p:nvSpPr>
          <p:cNvPr id="121876" name="Rectangle 20"/>
          <p:cNvSpPr>
            <a:spLocks noChangeArrowheads="1"/>
          </p:cNvSpPr>
          <p:nvPr/>
        </p:nvSpPr>
        <p:spPr bwMode="auto">
          <a:xfrm>
            <a:off x="1058863" y="3736975"/>
            <a:ext cx="2519362" cy="549275"/>
          </a:xfrm>
          <a:prstGeom prst="rect">
            <a:avLst/>
          </a:prstGeom>
          <a:noFill/>
          <a:ln w="12700" cap="sq">
            <a:noFill/>
            <a:miter lim="800000"/>
            <a:headEnd type="none" w="sm" len="sm"/>
            <a:tailEnd type="none" w="sm" len="sm"/>
          </a:ln>
        </p:spPr>
        <p:txBody>
          <a:bodyPr>
            <a:spAutoFit/>
          </a:bodyPr>
          <a:lstStyle/>
          <a:p>
            <a:pPr>
              <a:lnSpc>
                <a:spcPct val="125000"/>
              </a:lnSpc>
            </a:pPr>
            <a:r>
              <a:rPr kumimoji="1" lang="zh-CN" altLang="en-US" b="1">
                <a:solidFill>
                  <a:srgbClr val="FF0000"/>
                </a:solidFill>
              </a:rPr>
              <a:t>统计物理学</a:t>
            </a:r>
            <a:endParaRPr kumimoji="1" lang="zh-CN" altLang="en-US" b="1">
              <a:solidFill>
                <a:srgbClr val="FF0000"/>
              </a:solidFill>
            </a:endParaRPr>
          </a:p>
        </p:txBody>
      </p:sp>
      <p:sp>
        <p:nvSpPr>
          <p:cNvPr id="121877" name="Rectangle 21"/>
          <p:cNvSpPr>
            <a:spLocks noChangeArrowheads="1"/>
          </p:cNvSpPr>
          <p:nvPr/>
        </p:nvSpPr>
        <p:spPr bwMode="auto">
          <a:xfrm>
            <a:off x="2857500" y="3671888"/>
            <a:ext cx="5618163" cy="1114425"/>
          </a:xfrm>
          <a:prstGeom prst="rect">
            <a:avLst/>
          </a:prstGeom>
          <a:noFill/>
          <a:ln w="12700" cap="sq">
            <a:noFill/>
            <a:miter lim="800000"/>
            <a:headEnd type="none" w="sm" len="sm"/>
            <a:tailEnd type="none" w="sm" len="sm"/>
          </a:ln>
        </p:spPr>
        <p:txBody>
          <a:bodyPr>
            <a:spAutoFit/>
          </a:bodyPr>
          <a:lstStyle/>
          <a:p>
            <a:pPr>
              <a:lnSpc>
                <a:spcPct val="150000"/>
              </a:lnSpc>
              <a:defRPr/>
            </a:pPr>
            <a:r>
              <a:rPr kumimoji="1" lang="zh-CN" altLang="en-US" b="1">
                <a:latin typeface="+mn-ea"/>
                <a:ea typeface="+mn-ea"/>
              </a:rPr>
              <a:t>从微观粒子的力学规律出发，应用</a:t>
            </a:r>
            <a:r>
              <a:rPr kumimoji="1" lang="zh-CN" altLang="en-US" b="1">
                <a:solidFill>
                  <a:srgbClr val="FF6600"/>
                </a:solidFill>
                <a:latin typeface="+mn-ea"/>
                <a:ea typeface="+mn-ea"/>
              </a:rPr>
              <a:t>统计的观点</a:t>
            </a:r>
            <a:r>
              <a:rPr kumimoji="1" lang="zh-CN" altLang="en-US" b="1">
                <a:latin typeface="+mn-ea"/>
                <a:ea typeface="+mn-ea"/>
              </a:rPr>
              <a:t>研究宏观现象的</a:t>
            </a:r>
            <a:r>
              <a:rPr kumimoji="1" lang="zh-CN" altLang="en-US" b="1">
                <a:solidFill>
                  <a:srgbClr val="FF6600"/>
                </a:solidFill>
                <a:latin typeface="+mn-ea"/>
                <a:ea typeface="+mn-ea"/>
              </a:rPr>
              <a:t>微观本质</a:t>
            </a:r>
            <a:r>
              <a:rPr kumimoji="1" lang="zh-CN" altLang="en-US" b="1">
                <a:latin typeface="+mn-ea"/>
                <a:ea typeface="+mn-ea"/>
              </a:rPr>
              <a:t>。</a:t>
            </a:r>
            <a:endParaRPr kumimoji="1" lang="zh-CN" altLang="en-US" b="1">
              <a:latin typeface="+mn-ea"/>
              <a:ea typeface="+mn-ea"/>
            </a:endParaRPr>
          </a:p>
        </p:txBody>
      </p:sp>
      <p:sp>
        <p:nvSpPr>
          <p:cNvPr id="121878" name="AutoShape 22"/>
          <p:cNvSpPr/>
          <p:nvPr/>
        </p:nvSpPr>
        <p:spPr bwMode="auto">
          <a:xfrm>
            <a:off x="842963" y="2794000"/>
            <a:ext cx="157162" cy="1277938"/>
          </a:xfrm>
          <a:prstGeom prst="leftBrace">
            <a:avLst>
              <a:gd name="adj1" fmla="val 142788"/>
              <a:gd name="adj2" fmla="val 50000"/>
            </a:avLst>
          </a:prstGeom>
          <a:noFill/>
          <a:ln w="25400">
            <a:solidFill>
              <a:schemeClr val="tx1"/>
            </a:solidFill>
            <a:round/>
          </a:ln>
        </p:spPr>
        <p:txBody>
          <a:bodyPr wrap="none"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871"/>
                                        </p:tgtEl>
                                        <p:attrNameLst>
                                          <p:attrName>style.visibility</p:attrName>
                                        </p:attrNameLst>
                                      </p:cBhvr>
                                      <p:to>
                                        <p:strVal val="visible"/>
                                      </p:to>
                                    </p:set>
                                    <p:animEffect transition="in" filter="wipe(left)">
                                      <p:cBhvr>
                                        <p:cTn id="7" dur="500"/>
                                        <p:tgtEl>
                                          <p:spTgt spid="12187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1872"/>
                                        </p:tgtEl>
                                        <p:attrNameLst>
                                          <p:attrName>style.visibility</p:attrName>
                                        </p:attrNameLst>
                                      </p:cBhvr>
                                      <p:to>
                                        <p:strVal val="visible"/>
                                      </p:to>
                                    </p:set>
                                    <p:animEffect transition="in" filter="wipe(left)">
                                      <p:cBhvr>
                                        <p:cTn id="11" dur="500"/>
                                        <p:tgtEl>
                                          <p:spTgt spid="12187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21873"/>
                                        </p:tgtEl>
                                        <p:attrNameLst>
                                          <p:attrName>style.visibility</p:attrName>
                                        </p:attrNameLst>
                                      </p:cBhvr>
                                      <p:to>
                                        <p:strVal val="visible"/>
                                      </p:to>
                                    </p:set>
                                    <p:animEffect transition="in" filter="wipe(up)">
                                      <p:cBhvr>
                                        <p:cTn id="16" dur="1000"/>
                                        <p:tgtEl>
                                          <p:spTgt spid="121873"/>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121878"/>
                                        </p:tgtEl>
                                        <p:attrNameLst>
                                          <p:attrName>style.visibility</p:attrName>
                                        </p:attrNameLst>
                                      </p:cBhvr>
                                      <p:to>
                                        <p:strVal val="visible"/>
                                      </p:to>
                                    </p:set>
                                    <p:animEffect transition="in" filter="blinds(horizontal)">
                                      <p:cBhvr>
                                        <p:cTn id="20" dur="1000"/>
                                        <p:tgtEl>
                                          <p:spTgt spid="12187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1874"/>
                                        </p:tgtEl>
                                        <p:attrNameLst>
                                          <p:attrName>style.visibility</p:attrName>
                                        </p:attrNameLst>
                                      </p:cBhvr>
                                      <p:to>
                                        <p:strVal val="visible"/>
                                      </p:to>
                                    </p:set>
                                    <p:animEffect transition="in" filter="wipe(left)">
                                      <p:cBhvr>
                                        <p:cTn id="25" dur="1000"/>
                                        <p:tgtEl>
                                          <p:spTgt spid="121874"/>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21876"/>
                                        </p:tgtEl>
                                        <p:attrNameLst>
                                          <p:attrName>style.visibility</p:attrName>
                                        </p:attrNameLst>
                                      </p:cBhvr>
                                      <p:to>
                                        <p:strVal val="visible"/>
                                      </p:to>
                                    </p:set>
                                    <p:animEffect transition="in" filter="wipe(left)">
                                      <p:cBhvr>
                                        <p:cTn id="29" dur="1000"/>
                                        <p:tgtEl>
                                          <p:spTgt spid="12187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1875"/>
                                        </p:tgtEl>
                                        <p:attrNameLst>
                                          <p:attrName>style.visibility</p:attrName>
                                        </p:attrNameLst>
                                      </p:cBhvr>
                                      <p:to>
                                        <p:strVal val="visible"/>
                                      </p:to>
                                    </p:set>
                                    <p:animEffect transition="in" filter="wipe(left)">
                                      <p:cBhvr>
                                        <p:cTn id="34" dur="1000"/>
                                        <p:tgtEl>
                                          <p:spTgt spid="12187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21877"/>
                                        </p:tgtEl>
                                        <p:attrNameLst>
                                          <p:attrName>style.visibility</p:attrName>
                                        </p:attrNameLst>
                                      </p:cBhvr>
                                      <p:to>
                                        <p:strVal val="visible"/>
                                      </p:to>
                                    </p:set>
                                    <p:animEffect transition="in" filter="wipe(left)">
                                      <p:cBhvr>
                                        <p:cTn id="39" dur="1000"/>
                                        <p:tgtEl>
                                          <p:spTgt spid="121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71" grpId="0"/>
      <p:bldP spid="121872" grpId="0"/>
      <p:bldP spid="121873" grpId="0" animBg="1"/>
      <p:bldP spid="121874" grpId="0"/>
      <p:bldP spid="121875" grpId="0"/>
      <p:bldP spid="121876" grpId="0"/>
      <p:bldP spid="121877" grpId="0"/>
      <p:bldP spid="12187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5449888" y="3090863"/>
            <a:ext cx="2652712" cy="508000"/>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微观粒子</a:t>
            </a:r>
            <a:endParaRPr lang="zh-CN" altLang="en-US" sz="2000" b="1">
              <a:latin typeface="楷体_GB2312" pitchFamily="49" charset="-122"/>
              <a:ea typeface="楷体_GB2312" pitchFamily="49" charset="-122"/>
            </a:endParaRPr>
          </a:p>
        </p:txBody>
      </p:sp>
      <p:sp>
        <p:nvSpPr>
          <p:cNvPr id="122883" name="Rectangle 3"/>
          <p:cNvSpPr>
            <a:spLocks noChangeArrowheads="1"/>
          </p:cNvSpPr>
          <p:nvPr/>
        </p:nvSpPr>
        <p:spPr bwMode="auto">
          <a:xfrm>
            <a:off x="2974975" y="3090863"/>
            <a:ext cx="2474913" cy="508000"/>
          </a:xfrm>
          <a:prstGeom prst="rect">
            <a:avLst/>
          </a:prstGeom>
          <a:solidFill>
            <a:schemeClr val="accent1">
              <a:alpha val="50195"/>
            </a:schemeClr>
          </a:solidFill>
          <a:ln w="57150">
            <a:noFill/>
            <a:miter lim="800000"/>
          </a:ln>
        </p:spPr>
        <p:txBody>
          <a:bodyPr/>
          <a:lstStyle/>
          <a:p>
            <a:pPr algn="ctr"/>
            <a:r>
              <a:rPr lang="zh-CN" altLang="en-US" sz="2000" b="1">
                <a:latin typeface="楷体_GB2312" pitchFamily="49" charset="-122"/>
                <a:ea typeface="楷体_GB2312" pitchFamily="49" charset="-122"/>
              </a:rPr>
              <a:t>观察和实验</a:t>
            </a:r>
            <a:endParaRPr lang="zh-CN" altLang="en-US" sz="2000" b="1">
              <a:latin typeface="楷体_GB2312" pitchFamily="49" charset="-122"/>
              <a:ea typeface="楷体_GB2312" pitchFamily="49" charset="-122"/>
            </a:endParaRPr>
          </a:p>
        </p:txBody>
      </p:sp>
      <p:sp>
        <p:nvSpPr>
          <p:cNvPr id="122884" name="Rectangle 4"/>
          <p:cNvSpPr>
            <a:spLocks noChangeArrowheads="1"/>
          </p:cNvSpPr>
          <p:nvPr/>
        </p:nvSpPr>
        <p:spPr bwMode="auto">
          <a:xfrm>
            <a:off x="1117600" y="3090863"/>
            <a:ext cx="1857375" cy="508000"/>
          </a:xfrm>
          <a:prstGeom prst="rect">
            <a:avLst/>
          </a:prstGeom>
          <a:solidFill>
            <a:srgbClr val="FFCC99">
              <a:alpha val="50195"/>
            </a:srgbClr>
          </a:solidFill>
          <a:ln w="9525">
            <a:noFill/>
            <a:miter lim="800000"/>
          </a:ln>
        </p:spPr>
        <p:txBody>
          <a:bodyPr/>
          <a:lstStyle/>
          <a:p>
            <a:pPr algn="ctr">
              <a:spcBef>
                <a:spcPct val="20000"/>
              </a:spcBef>
            </a:pPr>
            <a:r>
              <a:rPr lang="zh-CN" altLang="en-US" b="1">
                <a:solidFill>
                  <a:schemeClr val="accent2"/>
                </a:solidFill>
                <a:latin typeface="宋体" panose="02010600030101010101" pitchFamily="2" charset="-122"/>
              </a:rPr>
              <a:t>出 发 点</a:t>
            </a:r>
            <a:endParaRPr lang="zh-CN" altLang="en-US" b="1">
              <a:solidFill>
                <a:schemeClr val="accent2"/>
              </a:solidFill>
              <a:latin typeface="宋体" panose="02010600030101010101" pitchFamily="2" charset="-122"/>
            </a:endParaRPr>
          </a:p>
        </p:txBody>
      </p:sp>
      <p:sp>
        <p:nvSpPr>
          <p:cNvPr id="122885" name="Rectangle 5"/>
          <p:cNvSpPr>
            <a:spLocks noChangeArrowheads="1"/>
          </p:cNvSpPr>
          <p:nvPr/>
        </p:nvSpPr>
        <p:spPr bwMode="auto">
          <a:xfrm>
            <a:off x="2974975" y="5440363"/>
            <a:ext cx="5127625" cy="763587"/>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热力学验证统计物理学，统计物理学揭示热力学本质</a:t>
            </a:r>
            <a:endParaRPr lang="zh-CN" altLang="en-US" sz="2000">
              <a:latin typeface="楷体_GB2312" pitchFamily="49" charset="-122"/>
              <a:ea typeface="楷体_GB2312" pitchFamily="49" charset="-122"/>
            </a:endParaRPr>
          </a:p>
        </p:txBody>
      </p:sp>
      <p:sp>
        <p:nvSpPr>
          <p:cNvPr id="122886" name="Rectangle 6"/>
          <p:cNvSpPr>
            <a:spLocks noChangeArrowheads="1"/>
          </p:cNvSpPr>
          <p:nvPr/>
        </p:nvSpPr>
        <p:spPr bwMode="auto">
          <a:xfrm>
            <a:off x="1117600" y="5440363"/>
            <a:ext cx="1857375" cy="763587"/>
          </a:xfrm>
          <a:prstGeom prst="rect">
            <a:avLst/>
          </a:prstGeom>
          <a:solidFill>
            <a:srgbClr val="FFCC99">
              <a:alpha val="50195"/>
            </a:srgbClr>
          </a:solidFill>
          <a:ln w="9525">
            <a:noFill/>
            <a:miter lim="800000"/>
          </a:ln>
        </p:spPr>
        <p:txBody>
          <a:bodyPr/>
          <a:lstStyle/>
          <a:p>
            <a:pPr algn="ctr">
              <a:spcBef>
                <a:spcPct val="20000"/>
              </a:spcBef>
            </a:pPr>
            <a:r>
              <a:rPr lang="zh-CN" altLang="en-US" b="1">
                <a:solidFill>
                  <a:srgbClr val="3333CC"/>
                </a:solidFill>
                <a:latin typeface="宋体" panose="02010600030101010101" pitchFamily="2" charset="-122"/>
              </a:rPr>
              <a:t>二者关系</a:t>
            </a:r>
            <a:endParaRPr lang="zh-CN" altLang="en-US" b="1">
              <a:solidFill>
                <a:srgbClr val="3333CC"/>
              </a:solidFill>
              <a:latin typeface="宋体" panose="02010600030101010101" pitchFamily="2" charset="-122"/>
            </a:endParaRPr>
          </a:p>
        </p:txBody>
      </p:sp>
      <p:sp>
        <p:nvSpPr>
          <p:cNvPr id="122887" name="Rectangle 7"/>
          <p:cNvSpPr>
            <a:spLocks noChangeArrowheads="1"/>
          </p:cNvSpPr>
          <p:nvPr/>
        </p:nvSpPr>
        <p:spPr bwMode="auto">
          <a:xfrm>
            <a:off x="5449888" y="4856163"/>
            <a:ext cx="2652712" cy="584200"/>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无法自我验证</a:t>
            </a:r>
            <a:endParaRPr lang="zh-CN" altLang="en-US" sz="2000" b="1">
              <a:latin typeface="楷体_GB2312" pitchFamily="49" charset="-122"/>
              <a:ea typeface="楷体_GB2312" pitchFamily="49" charset="-122"/>
            </a:endParaRPr>
          </a:p>
        </p:txBody>
      </p:sp>
      <p:sp>
        <p:nvSpPr>
          <p:cNvPr id="122888" name="Rectangle 8"/>
          <p:cNvSpPr>
            <a:spLocks noChangeArrowheads="1"/>
          </p:cNvSpPr>
          <p:nvPr/>
        </p:nvSpPr>
        <p:spPr bwMode="auto">
          <a:xfrm>
            <a:off x="2974975" y="4856163"/>
            <a:ext cx="2474913" cy="584200"/>
          </a:xfrm>
          <a:prstGeom prst="rect">
            <a:avLst/>
          </a:prstGeom>
          <a:solidFill>
            <a:schemeClr val="accent1">
              <a:alpha val="50195"/>
            </a:schemeClr>
          </a:solidFill>
          <a:ln w="9525">
            <a:noFill/>
            <a:miter lim="800000"/>
          </a:ln>
        </p:spPr>
        <p:txBody>
          <a:bodyPr lIns="90000" tIns="46800" rIns="90000" bIns="234000"/>
          <a:lstStyle/>
          <a:p>
            <a:pPr algn="ctr"/>
            <a:r>
              <a:rPr lang="zh-CN" altLang="en-US" sz="2000" b="1">
                <a:latin typeface="楷体_GB2312" pitchFamily="49" charset="-122"/>
                <a:ea typeface="楷体_GB2312" pitchFamily="49" charset="-122"/>
              </a:rPr>
              <a:t>不深刻</a:t>
            </a:r>
            <a:endParaRPr lang="zh-CN" altLang="en-US" sz="2000">
              <a:latin typeface="楷体_GB2312" pitchFamily="49" charset="-122"/>
              <a:ea typeface="楷体_GB2312" pitchFamily="49" charset="-122"/>
            </a:endParaRPr>
          </a:p>
        </p:txBody>
      </p:sp>
      <p:sp>
        <p:nvSpPr>
          <p:cNvPr id="122889" name="Rectangle 9"/>
          <p:cNvSpPr>
            <a:spLocks noChangeArrowheads="1"/>
          </p:cNvSpPr>
          <p:nvPr/>
        </p:nvSpPr>
        <p:spPr bwMode="auto">
          <a:xfrm>
            <a:off x="1117600" y="4856163"/>
            <a:ext cx="1857375" cy="584200"/>
          </a:xfrm>
          <a:prstGeom prst="rect">
            <a:avLst/>
          </a:prstGeom>
          <a:solidFill>
            <a:srgbClr val="FFCC99">
              <a:alpha val="50195"/>
            </a:srgbClr>
          </a:solidFill>
          <a:ln w="9525">
            <a:noFill/>
            <a:miter lim="800000"/>
          </a:ln>
        </p:spPr>
        <p:txBody>
          <a:bodyPr/>
          <a:lstStyle/>
          <a:p>
            <a:pPr algn="ctr">
              <a:spcBef>
                <a:spcPct val="20000"/>
              </a:spcBef>
            </a:pPr>
            <a:r>
              <a:rPr lang="zh-CN" altLang="en-US" b="1">
                <a:solidFill>
                  <a:schemeClr val="accent2"/>
                </a:solidFill>
                <a:latin typeface="宋体" panose="02010600030101010101" pitchFamily="2" charset="-122"/>
              </a:rPr>
              <a:t>缺 点</a:t>
            </a:r>
            <a:endParaRPr lang="zh-CN" altLang="en-US" b="1">
              <a:solidFill>
                <a:schemeClr val="accent2"/>
              </a:solidFill>
              <a:latin typeface="宋体" panose="02010600030101010101" pitchFamily="2" charset="-122"/>
            </a:endParaRPr>
          </a:p>
        </p:txBody>
      </p:sp>
      <p:sp>
        <p:nvSpPr>
          <p:cNvPr id="122890" name="Rectangle 10"/>
          <p:cNvSpPr>
            <a:spLocks noChangeArrowheads="1"/>
          </p:cNvSpPr>
          <p:nvPr/>
        </p:nvSpPr>
        <p:spPr bwMode="auto">
          <a:xfrm>
            <a:off x="5449888" y="4298950"/>
            <a:ext cx="2652712" cy="557213"/>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揭露本质</a:t>
            </a:r>
            <a:endParaRPr lang="zh-CN" altLang="en-US" sz="2000">
              <a:latin typeface="楷体_GB2312" pitchFamily="49" charset="-122"/>
              <a:ea typeface="楷体_GB2312" pitchFamily="49" charset="-122"/>
            </a:endParaRPr>
          </a:p>
        </p:txBody>
      </p:sp>
      <p:sp>
        <p:nvSpPr>
          <p:cNvPr id="122891" name="Rectangle 11"/>
          <p:cNvSpPr>
            <a:spLocks noChangeArrowheads="1"/>
          </p:cNvSpPr>
          <p:nvPr/>
        </p:nvSpPr>
        <p:spPr bwMode="auto">
          <a:xfrm>
            <a:off x="2974975" y="4298950"/>
            <a:ext cx="2474913" cy="557213"/>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普遍，可靠</a:t>
            </a:r>
            <a:endParaRPr lang="zh-CN" altLang="en-US" sz="2000" b="1">
              <a:latin typeface="楷体_GB2312" pitchFamily="49" charset="-122"/>
              <a:ea typeface="楷体_GB2312" pitchFamily="49" charset="-122"/>
            </a:endParaRPr>
          </a:p>
        </p:txBody>
      </p:sp>
      <p:sp>
        <p:nvSpPr>
          <p:cNvPr id="122892" name="Rectangle 12"/>
          <p:cNvSpPr>
            <a:spLocks noChangeArrowheads="1"/>
          </p:cNvSpPr>
          <p:nvPr/>
        </p:nvSpPr>
        <p:spPr bwMode="auto">
          <a:xfrm>
            <a:off x="1117600" y="4298950"/>
            <a:ext cx="1857375" cy="557213"/>
          </a:xfrm>
          <a:prstGeom prst="rect">
            <a:avLst/>
          </a:prstGeom>
          <a:solidFill>
            <a:srgbClr val="FFCC99">
              <a:alpha val="50195"/>
            </a:srgbClr>
          </a:solidFill>
          <a:ln w="9525">
            <a:noFill/>
            <a:miter lim="800000"/>
          </a:ln>
        </p:spPr>
        <p:txBody>
          <a:bodyPr/>
          <a:lstStyle/>
          <a:p>
            <a:pPr algn="ctr">
              <a:spcBef>
                <a:spcPct val="20000"/>
              </a:spcBef>
            </a:pPr>
            <a:r>
              <a:rPr lang="zh-CN" altLang="en-US" b="1">
                <a:solidFill>
                  <a:schemeClr val="accent2"/>
                </a:solidFill>
                <a:latin typeface="宋体" panose="02010600030101010101" pitchFamily="2" charset="-122"/>
              </a:rPr>
              <a:t>优 点</a:t>
            </a:r>
            <a:endParaRPr lang="zh-CN" altLang="en-US" b="1">
              <a:solidFill>
                <a:schemeClr val="accent2"/>
              </a:solidFill>
              <a:latin typeface="宋体" panose="02010600030101010101" pitchFamily="2" charset="-122"/>
            </a:endParaRPr>
          </a:p>
        </p:txBody>
      </p:sp>
      <p:sp>
        <p:nvSpPr>
          <p:cNvPr id="122893" name="Rectangle 13"/>
          <p:cNvSpPr>
            <a:spLocks noChangeArrowheads="1"/>
          </p:cNvSpPr>
          <p:nvPr/>
        </p:nvSpPr>
        <p:spPr bwMode="auto">
          <a:xfrm>
            <a:off x="5449888" y="3598863"/>
            <a:ext cx="2652712" cy="700087"/>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统计平均方法</a:t>
            </a:r>
            <a:endParaRPr lang="zh-CN" altLang="en-US" sz="2000" b="1">
              <a:latin typeface="楷体_GB2312" pitchFamily="49" charset="-122"/>
              <a:ea typeface="楷体_GB2312" pitchFamily="49" charset="-122"/>
            </a:endParaRPr>
          </a:p>
          <a:p>
            <a:pPr algn="ctr"/>
            <a:r>
              <a:rPr lang="zh-CN" altLang="en-US" sz="2000" b="1">
                <a:latin typeface="楷体_GB2312" pitchFamily="49" charset="-122"/>
                <a:ea typeface="楷体_GB2312" pitchFamily="49" charset="-122"/>
              </a:rPr>
              <a:t>力学规律</a:t>
            </a:r>
            <a:endParaRPr lang="zh-CN" altLang="en-US" sz="2000">
              <a:latin typeface="楷体_GB2312" pitchFamily="49" charset="-122"/>
              <a:ea typeface="楷体_GB2312" pitchFamily="49" charset="-122"/>
            </a:endParaRPr>
          </a:p>
        </p:txBody>
      </p:sp>
      <p:sp>
        <p:nvSpPr>
          <p:cNvPr id="122894" name="Rectangle 14"/>
          <p:cNvSpPr>
            <a:spLocks noChangeArrowheads="1"/>
          </p:cNvSpPr>
          <p:nvPr/>
        </p:nvSpPr>
        <p:spPr bwMode="auto">
          <a:xfrm>
            <a:off x="2974975" y="3598863"/>
            <a:ext cx="2474913" cy="700087"/>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总结归纳</a:t>
            </a:r>
            <a:endParaRPr lang="zh-CN" altLang="en-US" sz="2000" b="1">
              <a:latin typeface="楷体_GB2312" pitchFamily="49" charset="-122"/>
              <a:ea typeface="楷体_GB2312" pitchFamily="49" charset="-122"/>
            </a:endParaRPr>
          </a:p>
          <a:p>
            <a:pPr algn="ctr"/>
            <a:r>
              <a:rPr lang="zh-CN" altLang="en-US" sz="2000" b="1">
                <a:latin typeface="楷体_GB2312" pitchFamily="49" charset="-122"/>
                <a:ea typeface="楷体_GB2312" pitchFamily="49" charset="-122"/>
              </a:rPr>
              <a:t>逻辑推理</a:t>
            </a:r>
            <a:endParaRPr lang="zh-CN" altLang="en-US" sz="2000" b="1">
              <a:latin typeface="楷体_GB2312" pitchFamily="49" charset="-122"/>
              <a:ea typeface="楷体_GB2312" pitchFamily="49" charset="-122"/>
            </a:endParaRPr>
          </a:p>
        </p:txBody>
      </p:sp>
      <p:sp>
        <p:nvSpPr>
          <p:cNvPr id="122895" name="Rectangle 15"/>
          <p:cNvSpPr>
            <a:spLocks noChangeArrowheads="1"/>
          </p:cNvSpPr>
          <p:nvPr/>
        </p:nvSpPr>
        <p:spPr bwMode="auto">
          <a:xfrm>
            <a:off x="1117600" y="3598863"/>
            <a:ext cx="1857375" cy="700087"/>
          </a:xfrm>
          <a:prstGeom prst="rect">
            <a:avLst/>
          </a:prstGeom>
          <a:solidFill>
            <a:srgbClr val="FFCC99">
              <a:alpha val="50195"/>
            </a:srgbClr>
          </a:solidFill>
          <a:ln w="9525">
            <a:noFill/>
            <a:miter lim="800000"/>
          </a:ln>
        </p:spPr>
        <p:txBody>
          <a:bodyPr/>
          <a:lstStyle/>
          <a:p>
            <a:pPr algn="ctr">
              <a:spcBef>
                <a:spcPct val="20000"/>
              </a:spcBef>
            </a:pPr>
            <a:r>
              <a:rPr lang="zh-CN" altLang="en-US" b="1">
                <a:solidFill>
                  <a:schemeClr val="accent2"/>
                </a:solidFill>
                <a:latin typeface="宋体" panose="02010600030101010101" pitchFamily="2" charset="-122"/>
              </a:rPr>
              <a:t>方 法</a:t>
            </a:r>
            <a:endParaRPr lang="zh-CN" altLang="en-US" b="1">
              <a:solidFill>
                <a:schemeClr val="accent2"/>
              </a:solidFill>
              <a:latin typeface="宋体" panose="02010600030101010101" pitchFamily="2" charset="-122"/>
            </a:endParaRPr>
          </a:p>
        </p:txBody>
      </p:sp>
      <p:sp>
        <p:nvSpPr>
          <p:cNvPr id="122896" name="Rectangle 16"/>
          <p:cNvSpPr>
            <a:spLocks noChangeArrowheads="1"/>
          </p:cNvSpPr>
          <p:nvPr/>
        </p:nvSpPr>
        <p:spPr bwMode="auto">
          <a:xfrm>
            <a:off x="5449888" y="2600325"/>
            <a:ext cx="2652712" cy="490538"/>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微观量</a:t>
            </a:r>
            <a:endParaRPr lang="zh-CN" altLang="en-US" sz="2000" b="1">
              <a:latin typeface="楷体_GB2312" pitchFamily="49" charset="-122"/>
              <a:ea typeface="楷体_GB2312" pitchFamily="49" charset="-122"/>
            </a:endParaRPr>
          </a:p>
        </p:txBody>
      </p:sp>
      <p:sp>
        <p:nvSpPr>
          <p:cNvPr id="122897" name="Rectangle 17"/>
          <p:cNvSpPr>
            <a:spLocks noChangeArrowheads="1"/>
          </p:cNvSpPr>
          <p:nvPr/>
        </p:nvSpPr>
        <p:spPr bwMode="auto">
          <a:xfrm>
            <a:off x="2974975" y="2600325"/>
            <a:ext cx="2474913" cy="490538"/>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宏观量</a:t>
            </a:r>
            <a:endParaRPr lang="zh-CN" altLang="en-US" sz="2000" b="1">
              <a:latin typeface="楷体_GB2312" pitchFamily="49" charset="-122"/>
              <a:ea typeface="楷体_GB2312" pitchFamily="49" charset="-122"/>
            </a:endParaRPr>
          </a:p>
        </p:txBody>
      </p:sp>
      <p:sp>
        <p:nvSpPr>
          <p:cNvPr id="122898" name="Rectangle 18"/>
          <p:cNvSpPr>
            <a:spLocks noChangeArrowheads="1"/>
          </p:cNvSpPr>
          <p:nvPr/>
        </p:nvSpPr>
        <p:spPr bwMode="auto">
          <a:xfrm>
            <a:off x="1117600" y="2600325"/>
            <a:ext cx="1857375" cy="490538"/>
          </a:xfrm>
          <a:prstGeom prst="rect">
            <a:avLst/>
          </a:prstGeom>
          <a:solidFill>
            <a:srgbClr val="FFCC99">
              <a:alpha val="50195"/>
            </a:srgbClr>
          </a:solidFill>
          <a:ln w="9525">
            <a:noFill/>
            <a:miter lim="800000"/>
          </a:ln>
        </p:spPr>
        <p:txBody>
          <a:bodyPr/>
          <a:lstStyle/>
          <a:p>
            <a:pPr algn="ctr">
              <a:spcBef>
                <a:spcPct val="20000"/>
              </a:spcBef>
            </a:pPr>
            <a:r>
              <a:rPr lang="zh-CN" altLang="en-US" b="1">
                <a:solidFill>
                  <a:schemeClr val="accent2"/>
                </a:solidFill>
                <a:latin typeface="宋体" panose="02010600030101010101" pitchFamily="2" charset="-122"/>
              </a:rPr>
              <a:t>物 理 量</a:t>
            </a:r>
            <a:endParaRPr lang="zh-CN" altLang="en-US" b="1">
              <a:solidFill>
                <a:schemeClr val="accent2"/>
              </a:solidFill>
              <a:latin typeface="宋体" panose="02010600030101010101" pitchFamily="2" charset="-122"/>
            </a:endParaRPr>
          </a:p>
        </p:txBody>
      </p:sp>
      <p:sp>
        <p:nvSpPr>
          <p:cNvPr id="122899" name="Rectangle 19"/>
          <p:cNvSpPr>
            <a:spLocks noChangeArrowheads="1"/>
          </p:cNvSpPr>
          <p:nvPr/>
        </p:nvSpPr>
        <p:spPr bwMode="auto">
          <a:xfrm>
            <a:off x="5449888" y="2079625"/>
            <a:ext cx="2652712" cy="520700"/>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热现象</a:t>
            </a:r>
            <a:endParaRPr lang="zh-CN" altLang="en-US" sz="2000" b="1">
              <a:latin typeface="楷体_GB2312" pitchFamily="49" charset="-122"/>
              <a:ea typeface="楷体_GB2312" pitchFamily="49" charset="-122"/>
            </a:endParaRPr>
          </a:p>
        </p:txBody>
      </p:sp>
      <p:sp>
        <p:nvSpPr>
          <p:cNvPr id="122900" name="Rectangle 20"/>
          <p:cNvSpPr>
            <a:spLocks noChangeArrowheads="1"/>
          </p:cNvSpPr>
          <p:nvPr/>
        </p:nvSpPr>
        <p:spPr bwMode="auto">
          <a:xfrm>
            <a:off x="2974975" y="2079625"/>
            <a:ext cx="2474913" cy="520700"/>
          </a:xfrm>
          <a:prstGeom prst="rect">
            <a:avLst/>
          </a:prstGeom>
          <a:solidFill>
            <a:schemeClr val="accent1">
              <a:alpha val="50195"/>
            </a:schemeClr>
          </a:solidFill>
          <a:ln w="9525">
            <a:noFill/>
            <a:miter lim="800000"/>
          </a:ln>
        </p:spPr>
        <p:txBody>
          <a:bodyPr/>
          <a:lstStyle/>
          <a:p>
            <a:pPr algn="ctr"/>
            <a:r>
              <a:rPr lang="zh-CN" altLang="en-US" sz="2000" b="1">
                <a:latin typeface="楷体_GB2312" pitchFamily="49" charset="-122"/>
                <a:ea typeface="楷体_GB2312" pitchFamily="49" charset="-122"/>
              </a:rPr>
              <a:t>热现象</a:t>
            </a:r>
            <a:endParaRPr lang="zh-CN" altLang="en-US" sz="2000" b="1">
              <a:latin typeface="楷体_GB2312" pitchFamily="49" charset="-122"/>
              <a:ea typeface="楷体_GB2312" pitchFamily="49" charset="-122"/>
            </a:endParaRPr>
          </a:p>
        </p:txBody>
      </p:sp>
      <p:sp>
        <p:nvSpPr>
          <p:cNvPr id="122901" name="Rectangle 21"/>
          <p:cNvSpPr>
            <a:spLocks noChangeArrowheads="1"/>
          </p:cNvSpPr>
          <p:nvPr/>
        </p:nvSpPr>
        <p:spPr bwMode="auto">
          <a:xfrm>
            <a:off x="1116013" y="2095500"/>
            <a:ext cx="1857375" cy="520700"/>
          </a:xfrm>
          <a:prstGeom prst="rect">
            <a:avLst/>
          </a:prstGeom>
          <a:solidFill>
            <a:srgbClr val="FFCC99">
              <a:alpha val="50195"/>
            </a:srgbClr>
          </a:solidFill>
          <a:ln w="9525">
            <a:noFill/>
            <a:miter lim="800000"/>
          </a:ln>
        </p:spPr>
        <p:txBody>
          <a:bodyPr/>
          <a:lstStyle/>
          <a:p>
            <a:pPr algn="ctr">
              <a:spcBef>
                <a:spcPct val="20000"/>
              </a:spcBef>
            </a:pPr>
            <a:r>
              <a:rPr lang="zh-CN" altLang="en-US" b="1">
                <a:solidFill>
                  <a:schemeClr val="accent2"/>
                </a:solidFill>
                <a:latin typeface="宋体" panose="02010600030101010101" pitchFamily="2" charset="-122"/>
              </a:rPr>
              <a:t>研究对象</a:t>
            </a:r>
            <a:endParaRPr lang="zh-CN" altLang="en-US" b="1">
              <a:solidFill>
                <a:schemeClr val="accent2"/>
              </a:solidFill>
              <a:latin typeface="宋体" panose="02010600030101010101" pitchFamily="2" charset="-122"/>
            </a:endParaRPr>
          </a:p>
        </p:txBody>
      </p:sp>
      <p:sp>
        <p:nvSpPr>
          <p:cNvPr id="122902" name="Rectangle 22"/>
          <p:cNvSpPr>
            <a:spLocks noChangeArrowheads="1"/>
          </p:cNvSpPr>
          <p:nvPr/>
        </p:nvSpPr>
        <p:spPr bwMode="auto">
          <a:xfrm>
            <a:off x="5449888" y="1196975"/>
            <a:ext cx="2652712" cy="882650"/>
          </a:xfrm>
          <a:prstGeom prst="rect">
            <a:avLst/>
          </a:prstGeom>
          <a:solidFill>
            <a:srgbClr val="FFCC99">
              <a:alpha val="50195"/>
            </a:srgbClr>
          </a:solidFill>
          <a:ln w="9525">
            <a:noFill/>
            <a:miter lim="800000"/>
          </a:ln>
        </p:spPr>
        <p:txBody>
          <a:bodyPr/>
          <a:lstStyle/>
          <a:p>
            <a:pPr algn="ctr">
              <a:spcBef>
                <a:spcPct val="20000"/>
              </a:spcBef>
            </a:pPr>
            <a:r>
              <a:rPr lang="zh-CN" altLang="en-US" b="1">
                <a:solidFill>
                  <a:schemeClr val="accent2"/>
                </a:solidFill>
                <a:latin typeface="宋体" panose="02010600030101010101" pitchFamily="2" charset="-122"/>
              </a:rPr>
              <a:t>微观理论</a:t>
            </a:r>
            <a:endParaRPr lang="zh-CN" altLang="en-US" b="1">
              <a:solidFill>
                <a:schemeClr val="accent2"/>
              </a:solidFill>
              <a:latin typeface="宋体" panose="02010600030101010101" pitchFamily="2" charset="-122"/>
            </a:endParaRPr>
          </a:p>
          <a:p>
            <a:pPr algn="ctr">
              <a:spcBef>
                <a:spcPct val="20000"/>
              </a:spcBef>
            </a:pPr>
            <a:r>
              <a:rPr lang="zh-CN" altLang="en-US" sz="2000" b="1">
                <a:latin typeface="宋体" panose="02010600030101010101" pitchFamily="2" charset="-122"/>
              </a:rPr>
              <a:t>（</a:t>
            </a:r>
            <a:r>
              <a:rPr lang="zh-CN" altLang="en-US" sz="2000" b="1">
                <a:solidFill>
                  <a:srgbClr val="FF0000"/>
                </a:solidFill>
                <a:latin typeface="宋体" panose="02010600030101010101" pitchFamily="2" charset="-122"/>
              </a:rPr>
              <a:t>统计物理学</a:t>
            </a:r>
            <a:r>
              <a:rPr lang="zh-CN" altLang="en-US" sz="2000" b="1">
                <a:latin typeface="宋体" panose="02010600030101010101" pitchFamily="2" charset="-122"/>
              </a:rPr>
              <a:t>）</a:t>
            </a:r>
            <a:endParaRPr lang="zh-CN" altLang="en-US" sz="2000" b="1">
              <a:latin typeface="宋体" panose="02010600030101010101" pitchFamily="2" charset="-122"/>
            </a:endParaRPr>
          </a:p>
        </p:txBody>
      </p:sp>
      <p:sp>
        <p:nvSpPr>
          <p:cNvPr id="122903" name="Rectangle 23"/>
          <p:cNvSpPr>
            <a:spLocks noChangeArrowheads="1"/>
          </p:cNvSpPr>
          <p:nvPr/>
        </p:nvSpPr>
        <p:spPr bwMode="auto">
          <a:xfrm>
            <a:off x="2974975" y="1196975"/>
            <a:ext cx="2474913" cy="882650"/>
          </a:xfrm>
          <a:prstGeom prst="rect">
            <a:avLst/>
          </a:prstGeom>
          <a:solidFill>
            <a:srgbClr val="FFCC99">
              <a:alpha val="50195"/>
            </a:srgbClr>
          </a:solidFill>
          <a:ln w="9525">
            <a:noFill/>
            <a:miter lim="800000"/>
          </a:ln>
        </p:spPr>
        <p:txBody>
          <a:bodyPr/>
          <a:lstStyle/>
          <a:p>
            <a:pPr algn="ctr">
              <a:spcBef>
                <a:spcPct val="20000"/>
              </a:spcBef>
            </a:pPr>
            <a:r>
              <a:rPr lang="zh-CN" altLang="en-US" b="1">
                <a:solidFill>
                  <a:schemeClr val="accent2"/>
                </a:solidFill>
                <a:latin typeface="宋体" panose="02010600030101010101" pitchFamily="2" charset="-122"/>
              </a:rPr>
              <a:t>宏观理论</a:t>
            </a:r>
            <a:endParaRPr lang="zh-CN" altLang="en-US" b="1">
              <a:solidFill>
                <a:schemeClr val="accent2"/>
              </a:solidFill>
              <a:latin typeface="宋体" panose="02010600030101010101" pitchFamily="2" charset="-122"/>
            </a:endParaRPr>
          </a:p>
          <a:p>
            <a:pPr algn="ctr"/>
            <a:r>
              <a:rPr lang="zh-CN" altLang="en-US" sz="2000" b="1">
                <a:latin typeface="宋体" panose="02010600030101010101" pitchFamily="2" charset="-122"/>
              </a:rPr>
              <a:t>（</a:t>
            </a:r>
            <a:r>
              <a:rPr lang="zh-CN" altLang="en-US" sz="2000" b="1">
                <a:solidFill>
                  <a:srgbClr val="FF0000"/>
                </a:solidFill>
                <a:latin typeface="宋体" panose="02010600030101010101" pitchFamily="2" charset="-122"/>
              </a:rPr>
              <a:t>热力学</a:t>
            </a:r>
            <a:r>
              <a:rPr lang="zh-CN" altLang="en-US" sz="2000" b="1">
                <a:latin typeface="宋体" panose="02010600030101010101" pitchFamily="2" charset="-122"/>
              </a:rPr>
              <a:t>）</a:t>
            </a:r>
            <a:endParaRPr lang="zh-CN" altLang="en-US" sz="2000">
              <a:latin typeface="宋体" panose="02010600030101010101" pitchFamily="2" charset="-122"/>
            </a:endParaRPr>
          </a:p>
        </p:txBody>
      </p:sp>
      <p:sp>
        <p:nvSpPr>
          <p:cNvPr id="77848" name="Rectangle 24"/>
          <p:cNvSpPr>
            <a:spLocks noChangeArrowheads="1"/>
          </p:cNvSpPr>
          <p:nvPr/>
        </p:nvSpPr>
        <p:spPr bwMode="auto">
          <a:xfrm>
            <a:off x="1117600" y="1196975"/>
            <a:ext cx="1857375" cy="882650"/>
          </a:xfrm>
          <a:prstGeom prst="rect">
            <a:avLst/>
          </a:prstGeom>
          <a:solidFill>
            <a:srgbClr val="FFCC99">
              <a:alpha val="50195"/>
            </a:srgbClr>
          </a:solidFill>
          <a:ln w="9525">
            <a:noFill/>
            <a:miter lim="800000"/>
          </a:ln>
        </p:spPr>
        <p:txBody>
          <a:bodyPr/>
          <a:lstStyle/>
          <a:p>
            <a:pPr>
              <a:spcBef>
                <a:spcPct val="20000"/>
              </a:spcBef>
            </a:pPr>
            <a:endParaRPr lang="zh-CN" altLang="zh-CN" sz="2000">
              <a:latin typeface="宋体" panose="02010600030101010101" pitchFamily="2" charset="-122"/>
            </a:endParaRPr>
          </a:p>
        </p:txBody>
      </p:sp>
      <p:sp>
        <p:nvSpPr>
          <p:cNvPr id="77849" name="Line 25"/>
          <p:cNvSpPr>
            <a:spLocks noChangeShapeType="1"/>
          </p:cNvSpPr>
          <p:nvPr/>
        </p:nvSpPr>
        <p:spPr bwMode="auto">
          <a:xfrm>
            <a:off x="1117600" y="1236663"/>
            <a:ext cx="6985000" cy="0"/>
          </a:xfrm>
          <a:prstGeom prst="line">
            <a:avLst/>
          </a:prstGeom>
          <a:noFill/>
          <a:ln w="28575" cap="sq">
            <a:solidFill>
              <a:schemeClr val="tx1"/>
            </a:solidFill>
            <a:round/>
          </a:ln>
        </p:spPr>
        <p:txBody>
          <a:bodyPr/>
          <a:lstStyle/>
          <a:p>
            <a:endParaRPr lang="zh-CN" altLang="en-US"/>
          </a:p>
        </p:txBody>
      </p:sp>
      <p:sp>
        <p:nvSpPr>
          <p:cNvPr id="77850" name="Line 26"/>
          <p:cNvSpPr>
            <a:spLocks noChangeShapeType="1"/>
          </p:cNvSpPr>
          <p:nvPr/>
        </p:nvSpPr>
        <p:spPr bwMode="auto">
          <a:xfrm>
            <a:off x="1117600" y="2079625"/>
            <a:ext cx="6985000" cy="0"/>
          </a:xfrm>
          <a:prstGeom prst="line">
            <a:avLst/>
          </a:prstGeom>
          <a:noFill/>
          <a:ln w="12700">
            <a:solidFill>
              <a:schemeClr val="tx1"/>
            </a:solidFill>
            <a:round/>
          </a:ln>
        </p:spPr>
        <p:txBody>
          <a:bodyPr/>
          <a:lstStyle/>
          <a:p>
            <a:endParaRPr lang="zh-CN" altLang="en-US"/>
          </a:p>
        </p:txBody>
      </p:sp>
      <p:sp>
        <p:nvSpPr>
          <p:cNvPr id="77851" name="Line 27"/>
          <p:cNvSpPr>
            <a:spLocks noChangeShapeType="1"/>
          </p:cNvSpPr>
          <p:nvPr/>
        </p:nvSpPr>
        <p:spPr bwMode="auto">
          <a:xfrm>
            <a:off x="1117600" y="2600325"/>
            <a:ext cx="6985000" cy="0"/>
          </a:xfrm>
          <a:prstGeom prst="line">
            <a:avLst/>
          </a:prstGeom>
          <a:noFill/>
          <a:ln w="12700">
            <a:solidFill>
              <a:schemeClr val="tx1"/>
            </a:solidFill>
            <a:round/>
          </a:ln>
        </p:spPr>
        <p:txBody>
          <a:bodyPr/>
          <a:lstStyle/>
          <a:p>
            <a:endParaRPr lang="zh-CN" altLang="en-US"/>
          </a:p>
        </p:txBody>
      </p:sp>
      <p:sp>
        <p:nvSpPr>
          <p:cNvPr id="77852" name="Line 28"/>
          <p:cNvSpPr>
            <a:spLocks noChangeShapeType="1"/>
          </p:cNvSpPr>
          <p:nvPr/>
        </p:nvSpPr>
        <p:spPr bwMode="auto">
          <a:xfrm>
            <a:off x="1117600" y="3090863"/>
            <a:ext cx="6985000" cy="0"/>
          </a:xfrm>
          <a:prstGeom prst="line">
            <a:avLst/>
          </a:prstGeom>
          <a:noFill/>
          <a:ln w="12700">
            <a:solidFill>
              <a:schemeClr val="tx1"/>
            </a:solidFill>
            <a:round/>
          </a:ln>
        </p:spPr>
        <p:txBody>
          <a:bodyPr/>
          <a:lstStyle/>
          <a:p>
            <a:endParaRPr lang="zh-CN" altLang="en-US"/>
          </a:p>
        </p:txBody>
      </p:sp>
      <p:sp>
        <p:nvSpPr>
          <p:cNvPr id="77853" name="Line 29"/>
          <p:cNvSpPr>
            <a:spLocks noChangeShapeType="1"/>
          </p:cNvSpPr>
          <p:nvPr/>
        </p:nvSpPr>
        <p:spPr bwMode="auto">
          <a:xfrm>
            <a:off x="1117600" y="4298950"/>
            <a:ext cx="6985000" cy="0"/>
          </a:xfrm>
          <a:prstGeom prst="line">
            <a:avLst/>
          </a:prstGeom>
          <a:noFill/>
          <a:ln w="12700">
            <a:solidFill>
              <a:schemeClr val="tx1"/>
            </a:solidFill>
            <a:round/>
          </a:ln>
        </p:spPr>
        <p:txBody>
          <a:bodyPr/>
          <a:lstStyle/>
          <a:p>
            <a:endParaRPr lang="zh-CN" altLang="en-US"/>
          </a:p>
        </p:txBody>
      </p:sp>
      <p:sp>
        <p:nvSpPr>
          <p:cNvPr id="77854" name="Line 30"/>
          <p:cNvSpPr>
            <a:spLocks noChangeShapeType="1"/>
          </p:cNvSpPr>
          <p:nvPr/>
        </p:nvSpPr>
        <p:spPr bwMode="auto">
          <a:xfrm>
            <a:off x="1117600" y="4856163"/>
            <a:ext cx="6985000" cy="0"/>
          </a:xfrm>
          <a:prstGeom prst="line">
            <a:avLst/>
          </a:prstGeom>
          <a:noFill/>
          <a:ln w="12700">
            <a:solidFill>
              <a:schemeClr val="tx1"/>
            </a:solidFill>
            <a:round/>
          </a:ln>
        </p:spPr>
        <p:txBody>
          <a:bodyPr/>
          <a:lstStyle/>
          <a:p>
            <a:endParaRPr lang="zh-CN" altLang="en-US"/>
          </a:p>
        </p:txBody>
      </p:sp>
      <p:sp>
        <p:nvSpPr>
          <p:cNvPr id="77855" name="Line 31"/>
          <p:cNvSpPr>
            <a:spLocks noChangeShapeType="1"/>
          </p:cNvSpPr>
          <p:nvPr/>
        </p:nvSpPr>
        <p:spPr bwMode="auto">
          <a:xfrm>
            <a:off x="1117600" y="5440363"/>
            <a:ext cx="6985000" cy="0"/>
          </a:xfrm>
          <a:prstGeom prst="line">
            <a:avLst/>
          </a:prstGeom>
          <a:noFill/>
          <a:ln w="12700">
            <a:solidFill>
              <a:schemeClr val="tx1"/>
            </a:solidFill>
            <a:round/>
          </a:ln>
        </p:spPr>
        <p:txBody>
          <a:bodyPr/>
          <a:lstStyle/>
          <a:p>
            <a:endParaRPr lang="zh-CN" altLang="en-US"/>
          </a:p>
        </p:txBody>
      </p:sp>
      <p:sp>
        <p:nvSpPr>
          <p:cNvPr id="77856" name="Line 32"/>
          <p:cNvSpPr>
            <a:spLocks noChangeShapeType="1"/>
          </p:cNvSpPr>
          <p:nvPr/>
        </p:nvSpPr>
        <p:spPr bwMode="auto">
          <a:xfrm>
            <a:off x="1117600" y="6189663"/>
            <a:ext cx="6985000" cy="0"/>
          </a:xfrm>
          <a:prstGeom prst="line">
            <a:avLst/>
          </a:prstGeom>
          <a:noFill/>
          <a:ln w="28575" cap="sq">
            <a:solidFill>
              <a:schemeClr val="tx1"/>
            </a:solidFill>
            <a:round/>
          </a:ln>
        </p:spPr>
        <p:txBody>
          <a:bodyPr/>
          <a:lstStyle/>
          <a:p>
            <a:endParaRPr lang="zh-CN" altLang="en-US"/>
          </a:p>
        </p:txBody>
      </p:sp>
      <p:sp>
        <p:nvSpPr>
          <p:cNvPr id="77857" name="Line 33"/>
          <p:cNvSpPr>
            <a:spLocks noChangeShapeType="1"/>
          </p:cNvSpPr>
          <p:nvPr/>
        </p:nvSpPr>
        <p:spPr bwMode="auto">
          <a:xfrm>
            <a:off x="1117600" y="1196975"/>
            <a:ext cx="0" cy="5006975"/>
          </a:xfrm>
          <a:prstGeom prst="line">
            <a:avLst/>
          </a:prstGeom>
          <a:noFill/>
          <a:ln w="28575" cap="sq">
            <a:solidFill>
              <a:schemeClr val="tx1"/>
            </a:solidFill>
            <a:round/>
          </a:ln>
        </p:spPr>
        <p:txBody>
          <a:bodyPr/>
          <a:lstStyle/>
          <a:p>
            <a:endParaRPr lang="zh-CN" altLang="en-US"/>
          </a:p>
        </p:txBody>
      </p:sp>
      <p:sp>
        <p:nvSpPr>
          <p:cNvPr id="77858" name="Line 34"/>
          <p:cNvSpPr>
            <a:spLocks noChangeShapeType="1"/>
          </p:cNvSpPr>
          <p:nvPr/>
        </p:nvSpPr>
        <p:spPr bwMode="auto">
          <a:xfrm>
            <a:off x="2974975" y="1196975"/>
            <a:ext cx="0" cy="5006975"/>
          </a:xfrm>
          <a:prstGeom prst="line">
            <a:avLst/>
          </a:prstGeom>
          <a:noFill/>
          <a:ln w="12700">
            <a:solidFill>
              <a:schemeClr val="tx1"/>
            </a:solidFill>
            <a:round/>
          </a:ln>
        </p:spPr>
        <p:txBody>
          <a:bodyPr/>
          <a:lstStyle/>
          <a:p>
            <a:endParaRPr lang="zh-CN" altLang="en-US"/>
          </a:p>
        </p:txBody>
      </p:sp>
      <p:sp>
        <p:nvSpPr>
          <p:cNvPr id="77859" name="Line 35"/>
          <p:cNvSpPr>
            <a:spLocks noChangeShapeType="1"/>
          </p:cNvSpPr>
          <p:nvPr/>
        </p:nvSpPr>
        <p:spPr bwMode="auto">
          <a:xfrm>
            <a:off x="5449888" y="1196975"/>
            <a:ext cx="0" cy="4243388"/>
          </a:xfrm>
          <a:prstGeom prst="line">
            <a:avLst/>
          </a:prstGeom>
          <a:noFill/>
          <a:ln w="12700">
            <a:solidFill>
              <a:schemeClr val="tx1"/>
            </a:solidFill>
            <a:round/>
          </a:ln>
        </p:spPr>
        <p:txBody>
          <a:bodyPr/>
          <a:lstStyle/>
          <a:p>
            <a:endParaRPr lang="zh-CN" altLang="en-US"/>
          </a:p>
        </p:txBody>
      </p:sp>
      <p:sp>
        <p:nvSpPr>
          <p:cNvPr id="77860" name="Line 36"/>
          <p:cNvSpPr>
            <a:spLocks noChangeShapeType="1"/>
          </p:cNvSpPr>
          <p:nvPr/>
        </p:nvSpPr>
        <p:spPr bwMode="auto">
          <a:xfrm>
            <a:off x="8102600" y="1196975"/>
            <a:ext cx="0" cy="5006975"/>
          </a:xfrm>
          <a:prstGeom prst="line">
            <a:avLst/>
          </a:prstGeom>
          <a:noFill/>
          <a:ln w="28575" cap="sq">
            <a:solidFill>
              <a:schemeClr val="tx1"/>
            </a:solidFill>
            <a:round/>
          </a:ln>
        </p:spPr>
        <p:txBody>
          <a:bodyPr/>
          <a:lstStyle/>
          <a:p>
            <a:endParaRPr lang="zh-CN" altLang="en-US"/>
          </a:p>
        </p:txBody>
      </p:sp>
      <p:sp>
        <p:nvSpPr>
          <p:cNvPr id="77861" name="Line 37"/>
          <p:cNvSpPr>
            <a:spLocks noChangeShapeType="1"/>
          </p:cNvSpPr>
          <p:nvPr/>
        </p:nvSpPr>
        <p:spPr bwMode="auto">
          <a:xfrm>
            <a:off x="1117600" y="3598863"/>
            <a:ext cx="6985000" cy="0"/>
          </a:xfrm>
          <a:prstGeom prst="line">
            <a:avLst/>
          </a:prstGeom>
          <a:noFill/>
          <a:ln w="12700">
            <a:solidFill>
              <a:schemeClr val="tx1"/>
            </a:solidFill>
            <a:round/>
          </a:ln>
        </p:spPr>
        <p:txBody>
          <a:bodyPr/>
          <a:lstStyle/>
          <a:p>
            <a:endParaRPr lang="zh-CN" altLang="en-US"/>
          </a:p>
        </p:txBody>
      </p:sp>
      <p:sp>
        <p:nvSpPr>
          <p:cNvPr id="77862" name="Line 38"/>
          <p:cNvSpPr>
            <a:spLocks noChangeShapeType="1"/>
          </p:cNvSpPr>
          <p:nvPr/>
        </p:nvSpPr>
        <p:spPr bwMode="auto">
          <a:xfrm>
            <a:off x="1117600" y="1208088"/>
            <a:ext cx="1800225" cy="863600"/>
          </a:xfrm>
          <a:prstGeom prst="line">
            <a:avLst/>
          </a:prstGeom>
          <a:noFill/>
          <a:ln w="9525">
            <a:solidFill>
              <a:schemeClr val="tx1"/>
            </a:solidFill>
            <a:round/>
          </a:ln>
        </p:spPr>
        <p:txBody>
          <a:bodyPr/>
          <a:lstStyle/>
          <a:p>
            <a:endParaRPr lang="zh-CN" altLang="en-US"/>
          </a:p>
        </p:txBody>
      </p:sp>
      <p:sp>
        <p:nvSpPr>
          <p:cNvPr id="72743" name="Text Box 39"/>
          <p:cNvSpPr txBox="1">
            <a:spLocks noChangeArrowheads="1"/>
          </p:cNvSpPr>
          <p:nvPr/>
        </p:nvSpPr>
        <p:spPr bwMode="auto">
          <a:xfrm>
            <a:off x="1068388" y="549275"/>
            <a:ext cx="6969125" cy="517525"/>
          </a:xfrm>
          <a:prstGeom prst="rect">
            <a:avLst/>
          </a:prstGeom>
          <a:noFill/>
          <a:ln w="9525">
            <a:noFill/>
            <a:miter lim="800000"/>
          </a:ln>
        </p:spPr>
        <p:txBody>
          <a:bodyPr>
            <a:spAutoFit/>
          </a:bodyPr>
          <a:lstStyle/>
          <a:p>
            <a:pPr algn="ctr">
              <a:lnSpc>
                <a:spcPct val="115000"/>
              </a:lnSpc>
              <a:defRPr/>
            </a:pPr>
            <a:r>
              <a:rPr lang="zh-CN" altLang="en-US" b="1">
                <a:solidFill>
                  <a:srgbClr val="0000FF"/>
                </a:solidFill>
                <a:latin typeface="+mn-ea"/>
                <a:ea typeface="+mn-ea"/>
              </a:rPr>
              <a:t>热力学与统计物理学的异同</a:t>
            </a:r>
            <a:endParaRPr lang="zh-CN" altLang="en-US" b="1">
              <a:solidFill>
                <a:srgbClr val="0000FF"/>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2903">
                                            <p:txEl>
                                              <p:pRg st="0" end="0"/>
                                            </p:txEl>
                                          </p:spTgt>
                                        </p:tgtEl>
                                        <p:attrNameLst>
                                          <p:attrName>style.visibility</p:attrName>
                                        </p:attrNameLst>
                                      </p:cBhvr>
                                      <p:to>
                                        <p:strVal val="visible"/>
                                      </p:to>
                                    </p:set>
                                    <p:animEffect transition="in" filter="wipe(left)">
                                      <p:cBhvr>
                                        <p:cTn id="7" dur="500"/>
                                        <p:tgtEl>
                                          <p:spTgt spid="12290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2903">
                                            <p:txEl>
                                              <p:pRg st="1" end="1"/>
                                            </p:txEl>
                                          </p:spTgt>
                                        </p:tgtEl>
                                        <p:attrNameLst>
                                          <p:attrName>style.visibility</p:attrName>
                                        </p:attrNameLst>
                                      </p:cBhvr>
                                      <p:to>
                                        <p:strVal val="visible"/>
                                      </p:to>
                                    </p:set>
                                    <p:animEffect transition="in" filter="wipe(left)">
                                      <p:cBhvr>
                                        <p:cTn id="11" dur="500"/>
                                        <p:tgtEl>
                                          <p:spTgt spid="12290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22902">
                                            <p:txEl>
                                              <p:pRg st="0" end="0"/>
                                            </p:txEl>
                                          </p:spTgt>
                                        </p:tgtEl>
                                        <p:attrNameLst>
                                          <p:attrName>style.visibility</p:attrName>
                                        </p:attrNameLst>
                                      </p:cBhvr>
                                      <p:to>
                                        <p:strVal val="visible"/>
                                      </p:to>
                                    </p:set>
                                    <p:animEffect transition="in" filter="wipe(left)">
                                      <p:cBhvr>
                                        <p:cTn id="15" dur="500"/>
                                        <p:tgtEl>
                                          <p:spTgt spid="122902">
                                            <p:txEl>
                                              <p:pRg st="0" end="0"/>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22902">
                                            <p:txEl>
                                              <p:pRg st="1" end="1"/>
                                            </p:txEl>
                                          </p:spTgt>
                                        </p:tgtEl>
                                        <p:attrNameLst>
                                          <p:attrName>style.visibility</p:attrName>
                                        </p:attrNameLst>
                                      </p:cBhvr>
                                      <p:to>
                                        <p:strVal val="visible"/>
                                      </p:to>
                                    </p:set>
                                    <p:animEffect transition="in" filter="wipe(left)">
                                      <p:cBhvr>
                                        <p:cTn id="19" dur="500"/>
                                        <p:tgtEl>
                                          <p:spTgt spid="12290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22901"/>
                                        </p:tgtEl>
                                        <p:attrNameLst>
                                          <p:attrName>style.visibility</p:attrName>
                                        </p:attrNameLst>
                                      </p:cBhvr>
                                      <p:to>
                                        <p:strVal val="visible"/>
                                      </p:to>
                                    </p:set>
                                    <p:animEffect transition="in" filter="wipe(left)">
                                      <p:cBhvr>
                                        <p:cTn id="24" dur="500"/>
                                        <p:tgtEl>
                                          <p:spTgt spid="12290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290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289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2898"/>
                                        </p:tgtEl>
                                        <p:attrNameLst>
                                          <p:attrName>style.visibility</p:attrName>
                                        </p:attrNameLst>
                                      </p:cBhvr>
                                      <p:to>
                                        <p:strVal val="visible"/>
                                      </p:to>
                                    </p:set>
                                    <p:animEffect transition="in" filter="wipe(left)">
                                      <p:cBhvr>
                                        <p:cTn id="37" dur="500"/>
                                        <p:tgtEl>
                                          <p:spTgt spid="12289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2289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2289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22884"/>
                                        </p:tgtEl>
                                        <p:attrNameLst>
                                          <p:attrName>style.visibility</p:attrName>
                                        </p:attrNameLst>
                                      </p:cBhvr>
                                      <p:to>
                                        <p:strVal val="visible"/>
                                      </p:to>
                                    </p:set>
                                    <p:animEffect transition="in" filter="wipe(left)">
                                      <p:cBhvr>
                                        <p:cTn id="50" dur="500"/>
                                        <p:tgtEl>
                                          <p:spTgt spid="122884"/>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288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288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22895"/>
                                        </p:tgtEl>
                                        <p:attrNameLst>
                                          <p:attrName>style.visibility</p:attrName>
                                        </p:attrNameLst>
                                      </p:cBhvr>
                                      <p:to>
                                        <p:strVal val="visible"/>
                                      </p:to>
                                    </p:set>
                                    <p:animEffect transition="in" filter="wipe(left)">
                                      <p:cBhvr>
                                        <p:cTn id="63" dur="500"/>
                                        <p:tgtEl>
                                          <p:spTgt spid="122895"/>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2289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2289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22892"/>
                                        </p:tgtEl>
                                        <p:attrNameLst>
                                          <p:attrName>style.visibility</p:attrName>
                                        </p:attrNameLst>
                                      </p:cBhvr>
                                      <p:to>
                                        <p:strVal val="visible"/>
                                      </p:to>
                                    </p:set>
                                    <p:animEffect transition="in" filter="wipe(left)">
                                      <p:cBhvr>
                                        <p:cTn id="76" dur="500"/>
                                        <p:tgtEl>
                                          <p:spTgt spid="122892"/>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2289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2289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22889"/>
                                        </p:tgtEl>
                                        <p:attrNameLst>
                                          <p:attrName>style.visibility</p:attrName>
                                        </p:attrNameLst>
                                      </p:cBhvr>
                                      <p:to>
                                        <p:strVal val="visible"/>
                                      </p:to>
                                    </p:set>
                                    <p:animEffect transition="in" filter="wipe(left)">
                                      <p:cBhvr>
                                        <p:cTn id="89" dur="500"/>
                                        <p:tgtEl>
                                          <p:spTgt spid="122889"/>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22888"/>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122887"/>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22886"/>
                                        </p:tgtEl>
                                        <p:attrNameLst>
                                          <p:attrName>style.visibility</p:attrName>
                                        </p:attrNameLst>
                                      </p:cBhvr>
                                      <p:to>
                                        <p:strVal val="visible"/>
                                      </p:to>
                                    </p:set>
                                    <p:animEffect transition="in" filter="wipe(left)">
                                      <p:cBhvr>
                                        <p:cTn id="102" dur="500"/>
                                        <p:tgtEl>
                                          <p:spTgt spid="122886"/>
                                        </p:tgtEl>
                                      </p:cBhvr>
                                    </p:animEffect>
                                  </p:childTnLst>
                                </p:cTn>
                              </p:par>
                            </p:childTnLst>
                          </p:cTn>
                        </p:par>
                      </p:childTnLst>
                    </p:cTn>
                  </p:par>
                  <p:par>
                    <p:cTn id="103" fill="hold">
                      <p:stCondLst>
                        <p:cond delay="indefinite"/>
                      </p:stCondLst>
                      <p:childTnLst>
                        <p:par>
                          <p:cTn id="104" fill="hold">
                            <p:stCondLst>
                              <p:cond delay="0"/>
                            </p:stCondLst>
                            <p:childTnLst>
                              <p:par>
                                <p:cTn id="105" presetID="23" presetClass="entr" presetSubtype="16" fill="hold" grpId="0" nodeType="clickEffect">
                                  <p:stCondLst>
                                    <p:cond delay="0"/>
                                  </p:stCondLst>
                                  <p:childTnLst>
                                    <p:set>
                                      <p:cBhvr>
                                        <p:cTn id="106" dur="1" fill="hold">
                                          <p:stCondLst>
                                            <p:cond delay="0"/>
                                          </p:stCondLst>
                                        </p:cTn>
                                        <p:tgtEl>
                                          <p:spTgt spid="122885"/>
                                        </p:tgtEl>
                                        <p:attrNameLst>
                                          <p:attrName>style.visibility</p:attrName>
                                        </p:attrNameLst>
                                      </p:cBhvr>
                                      <p:to>
                                        <p:strVal val="visible"/>
                                      </p:to>
                                    </p:set>
                                    <p:anim calcmode="lin" valueType="num">
                                      <p:cBhvr>
                                        <p:cTn id="107" dur="500" fill="hold"/>
                                        <p:tgtEl>
                                          <p:spTgt spid="122885"/>
                                        </p:tgtEl>
                                        <p:attrNameLst>
                                          <p:attrName>ppt_w</p:attrName>
                                        </p:attrNameLst>
                                      </p:cBhvr>
                                      <p:tavLst>
                                        <p:tav tm="0">
                                          <p:val>
                                            <p:fltVal val="0"/>
                                          </p:val>
                                        </p:tav>
                                        <p:tav tm="100000">
                                          <p:val>
                                            <p:strVal val="#ppt_w"/>
                                          </p:val>
                                        </p:tav>
                                      </p:tavLst>
                                    </p:anim>
                                    <p:anim calcmode="lin" valueType="num">
                                      <p:cBhvr>
                                        <p:cTn id="108" dur="500" fill="hold"/>
                                        <p:tgtEl>
                                          <p:spTgt spid="12288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animBg="1"/>
      <p:bldP spid="122883" grpId="0" animBg="1"/>
      <p:bldP spid="122884" grpId="0" animBg="1"/>
      <p:bldP spid="122885" grpId="0" animBg="1"/>
      <p:bldP spid="122886" grpId="0" animBg="1"/>
      <p:bldP spid="122887" grpId="0" animBg="1"/>
      <p:bldP spid="122888" grpId="0" animBg="1"/>
      <p:bldP spid="122889" grpId="0" animBg="1"/>
      <p:bldP spid="122890" grpId="0" animBg="1"/>
      <p:bldP spid="122891" grpId="0" animBg="1"/>
      <p:bldP spid="122892" grpId="0" animBg="1"/>
      <p:bldP spid="122893" grpId="0" animBg="1"/>
      <p:bldP spid="122894" grpId="0" animBg="1"/>
      <p:bldP spid="122895" grpId="0" animBg="1"/>
      <p:bldP spid="122896" grpId="0" animBg="1"/>
      <p:bldP spid="122897" grpId="0" animBg="1"/>
      <p:bldP spid="122898" grpId="0" animBg="1"/>
      <p:bldP spid="122899" grpId="0" animBg="1"/>
      <p:bldP spid="122900" grpId="0" animBg="1"/>
      <p:bldP spid="12290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3"/>
          <p:cNvSpPr txBox="1">
            <a:spLocks noChangeArrowheads="1"/>
          </p:cNvSpPr>
          <p:nvPr/>
        </p:nvSpPr>
        <p:spPr bwMode="auto">
          <a:xfrm>
            <a:off x="2571750" y="714375"/>
            <a:ext cx="3857625" cy="523875"/>
          </a:xfrm>
          <a:prstGeom prst="rect">
            <a:avLst/>
          </a:prstGeom>
          <a:noFill/>
          <a:ln w="12700" cap="sq">
            <a:noFill/>
            <a:miter lim="800000"/>
            <a:headEnd type="none" w="sm" len="sm"/>
            <a:tailEnd type="none" w="sm" len="sm"/>
          </a:ln>
        </p:spPr>
        <p:txBody>
          <a:bodyPr>
            <a:spAutoFit/>
          </a:bodyPr>
          <a:lstStyle/>
          <a:p>
            <a:pPr algn="ctr">
              <a:lnSpc>
                <a:spcPct val="115000"/>
              </a:lnSpc>
            </a:pPr>
            <a:r>
              <a:rPr kumimoji="1" lang="zh-CN" altLang="en-US" sz="2800" b="1">
                <a:solidFill>
                  <a:srgbClr val="0000FF"/>
                </a:solidFill>
                <a:latin typeface="黑体" panose="02010609060101010101" pitchFamily="49" charset="-122"/>
                <a:ea typeface="黑体" panose="02010609060101010101" pitchFamily="49" charset="-122"/>
              </a:rPr>
              <a:t>热学的基本物理量</a:t>
            </a:r>
            <a:endParaRPr kumimoji="1" lang="zh-CN" altLang="en-US" sz="2800" b="1">
              <a:solidFill>
                <a:srgbClr val="0000FF"/>
              </a:solidFill>
              <a:latin typeface="黑体" panose="02010609060101010101" pitchFamily="49" charset="-122"/>
              <a:ea typeface="黑体" panose="02010609060101010101" pitchFamily="49" charset="-122"/>
            </a:endParaRPr>
          </a:p>
        </p:txBody>
      </p:sp>
      <p:sp>
        <p:nvSpPr>
          <p:cNvPr id="3" name="Text Box 24"/>
          <p:cNvSpPr txBox="1">
            <a:spLocks noChangeArrowheads="1"/>
          </p:cNvSpPr>
          <p:nvPr/>
        </p:nvSpPr>
        <p:spPr bwMode="auto">
          <a:xfrm>
            <a:off x="428625" y="1571625"/>
            <a:ext cx="1368425" cy="512763"/>
          </a:xfrm>
          <a:prstGeom prst="rect">
            <a:avLst/>
          </a:prstGeom>
          <a:noFill/>
          <a:ln w="9525">
            <a:noFill/>
            <a:miter lim="800000"/>
          </a:ln>
        </p:spPr>
        <p:txBody>
          <a:bodyPr>
            <a:spAutoFit/>
          </a:bodyPr>
          <a:lstStyle/>
          <a:p>
            <a:pPr>
              <a:lnSpc>
                <a:spcPct val="115000"/>
              </a:lnSpc>
            </a:pPr>
            <a:r>
              <a:rPr kumimoji="1" lang="zh-CN" altLang="en-US" b="1">
                <a:solidFill>
                  <a:srgbClr val="FF0000"/>
                </a:solidFill>
              </a:rPr>
              <a:t>宏观量</a:t>
            </a:r>
            <a:endParaRPr lang="zh-CN" altLang="en-US" b="1">
              <a:solidFill>
                <a:srgbClr val="FF0000"/>
              </a:solidFill>
            </a:endParaRPr>
          </a:p>
        </p:txBody>
      </p:sp>
      <p:sp>
        <p:nvSpPr>
          <p:cNvPr id="4" name="Rectangle 25"/>
          <p:cNvSpPr>
            <a:spLocks noChangeArrowheads="1"/>
          </p:cNvSpPr>
          <p:nvPr/>
        </p:nvSpPr>
        <p:spPr bwMode="auto">
          <a:xfrm>
            <a:off x="450850" y="3019425"/>
            <a:ext cx="1512888" cy="512763"/>
          </a:xfrm>
          <a:prstGeom prst="rect">
            <a:avLst/>
          </a:prstGeom>
          <a:noFill/>
          <a:ln w="9525">
            <a:noFill/>
            <a:miter lim="800000"/>
          </a:ln>
        </p:spPr>
        <p:txBody>
          <a:bodyPr>
            <a:spAutoFit/>
          </a:bodyPr>
          <a:lstStyle/>
          <a:p>
            <a:pPr>
              <a:lnSpc>
                <a:spcPct val="115000"/>
              </a:lnSpc>
            </a:pPr>
            <a:r>
              <a:rPr kumimoji="1" lang="zh-CN" altLang="en-US" b="1">
                <a:solidFill>
                  <a:srgbClr val="FF0000"/>
                </a:solidFill>
              </a:rPr>
              <a:t>微观量</a:t>
            </a:r>
            <a:endParaRPr kumimoji="1" lang="zh-CN" altLang="en-US" b="1">
              <a:solidFill>
                <a:srgbClr val="FF0000"/>
              </a:solidFill>
            </a:endParaRPr>
          </a:p>
        </p:txBody>
      </p:sp>
      <p:sp>
        <p:nvSpPr>
          <p:cNvPr id="5" name="Text Box 26"/>
          <p:cNvSpPr txBox="1">
            <a:spLocks noChangeArrowheads="1"/>
          </p:cNvSpPr>
          <p:nvPr/>
        </p:nvSpPr>
        <p:spPr bwMode="auto">
          <a:xfrm>
            <a:off x="1643063" y="1500188"/>
            <a:ext cx="6697662" cy="1114425"/>
          </a:xfrm>
          <a:prstGeom prst="rect">
            <a:avLst/>
          </a:prstGeom>
          <a:noFill/>
          <a:ln w="9525">
            <a:noFill/>
            <a:miter lim="800000"/>
          </a:ln>
        </p:spPr>
        <p:txBody>
          <a:bodyPr>
            <a:spAutoFit/>
          </a:bodyPr>
          <a:lstStyle/>
          <a:p>
            <a:pPr>
              <a:lnSpc>
                <a:spcPct val="150000"/>
              </a:lnSpc>
              <a:defRPr/>
            </a:pPr>
            <a:r>
              <a:rPr kumimoji="1" lang="zh-CN" altLang="en-US" b="1" dirty="0">
                <a:latin typeface="+mn-ea"/>
                <a:ea typeface="+mn-ea"/>
              </a:rPr>
              <a:t>描述宏观物体特性的物理量：如温度、压强、体积、热容量、密度、熵等。</a:t>
            </a:r>
            <a:endParaRPr kumimoji="1" lang="zh-CN" altLang="en-US" b="1" dirty="0">
              <a:latin typeface="+mn-ea"/>
              <a:ea typeface="+mn-ea"/>
            </a:endParaRPr>
          </a:p>
        </p:txBody>
      </p:sp>
      <p:sp>
        <p:nvSpPr>
          <p:cNvPr id="6" name="Text Box 27"/>
          <p:cNvSpPr txBox="1">
            <a:spLocks noChangeArrowheads="1"/>
          </p:cNvSpPr>
          <p:nvPr/>
        </p:nvSpPr>
        <p:spPr bwMode="auto">
          <a:xfrm>
            <a:off x="1714500" y="2928938"/>
            <a:ext cx="6840538" cy="1114425"/>
          </a:xfrm>
          <a:prstGeom prst="rect">
            <a:avLst/>
          </a:prstGeom>
          <a:noFill/>
          <a:ln w="9525">
            <a:noFill/>
            <a:miter lim="800000"/>
          </a:ln>
        </p:spPr>
        <p:txBody>
          <a:bodyPr>
            <a:spAutoFit/>
          </a:bodyPr>
          <a:lstStyle/>
          <a:p>
            <a:pPr>
              <a:lnSpc>
                <a:spcPct val="150000"/>
              </a:lnSpc>
              <a:defRPr/>
            </a:pPr>
            <a:r>
              <a:rPr kumimoji="1" lang="zh-CN" altLang="en-US" b="1" dirty="0">
                <a:latin typeface="+mn-ea"/>
                <a:ea typeface="+mn-ea"/>
              </a:rPr>
              <a:t>描述微观粒子特征的物理量：如质量、速度、能量、动量等。</a:t>
            </a:r>
            <a:endParaRPr kumimoji="1" lang="zh-CN" altLang="en-US"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7" name="Rectangle 39"/>
          <p:cNvSpPr>
            <a:spLocks noChangeArrowheads="1"/>
          </p:cNvSpPr>
          <p:nvPr/>
        </p:nvSpPr>
        <p:spPr bwMode="auto">
          <a:xfrm>
            <a:off x="428625" y="1714500"/>
            <a:ext cx="2428875" cy="461963"/>
          </a:xfrm>
          <a:prstGeom prst="rect">
            <a:avLst/>
          </a:prstGeom>
          <a:noFill/>
          <a:ln w="9525">
            <a:noFill/>
            <a:miter lim="800000"/>
          </a:ln>
        </p:spPr>
        <p:txBody>
          <a:bodyPr>
            <a:spAutoFit/>
          </a:bodyPr>
          <a:lstStyle/>
          <a:p>
            <a:r>
              <a:rPr kumimoji="1" lang="zh-CN" altLang="en-US" b="1">
                <a:solidFill>
                  <a:srgbClr val="0000FF"/>
                </a:solidFill>
                <a:latin typeface="宋体" panose="02010600030101010101" pitchFamily="2" charset="-122"/>
              </a:rPr>
              <a:t>本章内容：</a:t>
            </a:r>
            <a:endParaRPr kumimoji="1" lang="zh-CN" altLang="en-US" b="1">
              <a:solidFill>
                <a:srgbClr val="0000FF"/>
              </a:solidFill>
              <a:latin typeface="宋体" panose="02010600030101010101" pitchFamily="2" charset="-122"/>
            </a:endParaRPr>
          </a:p>
        </p:txBody>
      </p:sp>
      <p:sp>
        <p:nvSpPr>
          <p:cNvPr id="2091" name="Rectangle 43"/>
          <p:cNvSpPr>
            <a:spLocks noChangeArrowheads="1"/>
          </p:cNvSpPr>
          <p:nvPr/>
        </p:nvSpPr>
        <p:spPr bwMode="auto">
          <a:xfrm>
            <a:off x="755650" y="542925"/>
            <a:ext cx="7561263" cy="701675"/>
          </a:xfrm>
          <a:prstGeom prst="rect">
            <a:avLst/>
          </a:prstGeom>
          <a:noFill/>
          <a:ln w="9525">
            <a:noFill/>
            <a:miter lim="800000"/>
          </a:ln>
          <a:effectLst/>
        </p:spPr>
        <p:txBody>
          <a:bodyPr anchor="ctr">
            <a:spAutoFit/>
          </a:bodyPr>
          <a:lstStyle/>
          <a:p>
            <a:pPr algn="ctr">
              <a:defRPr/>
            </a:pPr>
            <a:r>
              <a:rPr kumimoji="1" lang="zh-CN" altLang="en-US" sz="4000" b="1" dirty="0">
                <a:solidFill>
                  <a:srgbClr val="FF3300"/>
                </a:solidFill>
                <a:effectLst>
                  <a:outerShdw blurRad="38100" dist="38100" dir="2700000" algn="tl">
                    <a:srgbClr val="C0C0C0"/>
                  </a:outerShdw>
                </a:effectLst>
                <a:ea typeface="隶书" panose="02010509060101010101" pitchFamily="49" charset="-122"/>
                <a:cs typeface="Times New Roman" panose="02020603050405020304" pitchFamily="18" charset="0"/>
              </a:rPr>
              <a:t>第</a:t>
            </a:r>
            <a:r>
              <a:rPr kumimoji="1" lang="en-US" altLang="zh-CN" sz="4000" b="1" dirty="0">
                <a:solidFill>
                  <a:srgbClr val="FF3300"/>
                </a:solidFill>
                <a:effectLst>
                  <a:outerShdw blurRad="38100" dist="38100" dir="2700000" algn="tl">
                    <a:srgbClr val="C0C0C0"/>
                  </a:outerShdw>
                </a:effectLst>
                <a:ea typeface="隶书" panose="02010509060101010101" pitchFamily="49" charset="-122"/>
                <a:cs typeface="Times New Roman" panose="02020603050405020304" pitchFamily="18" charset="0"/>
              </a:rPr>
              <a:t>7</a:t>
            </a:r>
            <a:r>
              <a:rPr kumimoji="1" lang="zh-CN" altLang="en-US" sz="4000" b="1" dirty="0">
                <a:solidFill>
                  <a:srgbClr val="FF3300"/>
                </a:solidFill>
                <a:effectLst>
                  <a:outerShdw blurRad="38100" dist="38100" dir="2700000" algn="tl">
                    <a:srgbClr val="C0C0C0"/>
                  </a:outerShdw>
                </a:effectLst>
                <a:ea typeface="隶书" panose="02010509060101010101" pitchFamily="49" charset="-122"/>
                <a:cs typeface="Times New Roman" panose="02020603050405020304" pitchFamily="18" charset="0"/>
              </a:rPr>
              <a:t>章     热力学基础 </a:t>
            </a:r>
            <a:endParaRPr kumimoji="1" lang="zh-CN" altLang="en-US" sz="4000" b="1" dirty="0">
              <a:solidFill>
                <a:srgbClr val="FF3300"/>
              </a:solidFill>
              <a:effectLst>
                <a:outerShdw blurRad="38100" dist="38100" dir="2700000" algn="tl">
                  <a:srgbClr val="C0C0C0"/>
                </a:outerShdw>
              </a:effectLst>
              <a:ea typeface="隶书" panose="02010509060101010101" pitchFamily="49" charset="-122"/>
              <a:cs typeface="Times New Roman" panose="02020603050405020304" pitchFamily="18" charset="0"/>
            </a:endParaRPr>
          </a:p>
        </p:txBody>
      </p:sp>
      <p:sp>
        <p:nvSpPr>
          <p:cNvPr id="2092" name="Line 44"/>
          <p:cNvSpPr>
            <a:spLocks noChangeShapeType="1"/>
          </p:cNvSpPr>
          <p:nvPr/>
        </p:nvSpPr>
        <p:spPr bwMode="auto">
          <a:xfrm>
            <a:off x="65088" y="1387475"/>
            <a:ext cx="9043987" cy="0"/>
          </a:xfrm>
          <a:prstGeom prst="line">
            <a:avLst/>
          </a:prstGeom>
          <a:noFill/>
          <a:ln w="28575">
            <a:solidFill>
              <a:srgbClr val="0062E1">
                <a:alpha val="70195"/>
              </a:srgbClr>
            </a:solidFill>
            <a:round/>
          </a:ln>
        </p:spPr>
        <p:txBody>
          <a:bodyPr/>
          <a:lstStyle/>
          <a:p>
            <a:endParaRPr lang="zh-CN" altLang="en-US"/>
          </a:p>
        </p:txBody>
      </p:sp>
      <p:sp>
        <p:nvSpPr>
          <p:cNvPr id="2093" name="Line 45"/>
          <p:cNvSpPr>
            <a:spLocks noChangeShapeType="1"/>
          </p:cNvSpPr>
          <p:nvPr/>
        </p:nvSpPr>
        <p:spPr bwMode="auto">
          <a:xfrm>
            <a:off x="100013" y="5949950"/>
            <a:ext cx="9043987" cy="0"/>
          </a:xfrm>
          <a:prstGeom prst="line">
            <a:avLst/>
          </a:prstGeom>
          <a:noFill/>
          <a:ln w="76200">
            <a:solidFill>
              <a:srgbClr val="0062E1">
                <a:alpha val="70195"/>
              </a:srgbClr>
            </a:solidFill>
            <a:round/>
          </a:ln>
        </p:spPr>
        <p:txBody>
          <a:bodyPr/>
          <a:lstStyle/>
          <a:p>
            <a:endParaRPr lang="zh-CN" altLang="en-US"/>
          </a:p>
        </p:txBody>
      </p:sp>
      <p:sp>
        <p:nvSpPr>
          <p:cNvPr id="2094" name="Text Box 46">
            <a:hlinkClick r:id="rId1" action="ppaction://hlinksldjump"/>
          </p:cNvPr>
          <p:cNvSpPr txBox="1">
            <a:spLocks noChangeArrowheads="1"/>
          </p:cNvSpPr>
          <p:nvPr/>
        </p:nvSpPr>
        <p:spPr bwMode="auto">
          <a:xfrm>
            <a:off x="1619250" y="2349500"/>
            <a:ext cx="6624638" cy="457200"/>
          </a:xfrm>
          <a:prstGeom prst="rect">
            <a:avLst/>
          </a:prstGeom>
          <a:noFill/>
          <a:ln w="9525">
            <a:noFill/>
            <a:miter lim="800000"/>
          </a:ln>
        </p:spPr>
        <p:txBody>
          <a:bodyPr>
            <a:spAutoFit/>
          </a:bodyPr>
          <a:lstStyle/>
          <a:p>
            <a:r>
              <a:rPr lang="en-US" altLang="zh-CN" b="1">
                <a:solidFill>
                  <a:srgbClr val="0000FF"/>
                </a:solidFill>
              </a:rPr>
              <a:t>§7.1  </a:t>
            </a:r>
            <a:r>
              <a:rPr lang="zh-CN" altLang="en-US" b="1">
                <a:solidFill>
                  <a:srgbClr val="0000FF"/>
                </a:solidFill>
              </a:rPr>
              <a:t>平衡态  理想气体状态方程</a:t>
            </a:r>
            <a:endParaRPr lang="zh-CN" altLang="en-US" b="1">
              <a:solidFill>
                <a:srgbClr val="0000FF"/>
              </a:solidFill>
            </a:endParaRPr>
          </a:p>
        </p:txBody>
      </p:sp>
      <p:sp>
        <p:nvSpPr>
          <p:cNvPr id="2095" name="Text Box 47">
            <a:hlinkClick r:id="rId2" action="ppaction://hlinksldjump"/>
          </p:cNvPr>
          <p:cNvSpPr txBox="1">
            <a:spLocks noChangeArrowheads="1"/>
          </p:cNvSpPr>
          <p:nvPr/>
        </p:nvSpPr>
        <p:spPr bwMode="auto">
          <a:xfrm>
            <a:off x="1619250" y="2997200"/>
            <a:ext cx="4679950" cy="457200"/>
          </a:xfrm>
          <a:prstGeom prst="rect">
            <a:avLst/>
          </a:prstGeom>
          <a:noFill/>
          <a:ln w="9525">
            <a:noFill/>
            <a:miter lim="800000"/>
          </a:ln>
        </p:spPr>
        <p:txBody>
          <a:bodyPr>
            <a:spAutoFit/>
          </a:bodyPr>
          <a:lstStyle/>
          <a:p>
            <a:r>
              <a:rPr lang="en-US" altLang="zh-CN" b="1">
                <a:solidFill>
                  <a:srgbClr val="0000FF"/>
                </a:solidFill>
              </a:rPr>
              <a:t>§7.2   </a:t>
            </a:r>
            <a:r>
              <a:rPr lang="zh-CN" altLang="en-US" b="1">
                <a:solidFill>
                  <a:srgbClr val="0000FF"/>
                </a:solidFill>
              </a:rPr>
              <a:t>准静态过程</a:t>
            </a:r>
            <a:endParaRPr lang="zh-CN" altLang="en-US" b="1">
              <a:solidFill>
                <a:srgbClr val="0000FF"/>
              </a:solidFill>
            </a:endParaRPr>
          </a:p>
        </p:txBody>
      </p:sp>
      <p:sp>
        <p:nvSpPr>
          <p:cNvPr id="2096" name="Text Box 48">
            <a:hlinkClick r:id="rId3" action="ppaction://hlinksldjump"/>
          </p:cNvPr>
          <p:cNvSpPr txBox="1">
            <a:spLocks noChangeArrowheads="1"/>
          </p:cNvSpPr>
          <p:nvPr/>
        </p:nvSpPr>
        <p:spPr bwMode="auto">
          <a:xfrm>
            <a:off x="1641475" y="3640138"/>
            <a:ext cx="5040313" cy="457200"/>
          </a:xfrm>
          <a:prstGeom prst="rect">
            <a:avLst/>
          </a:prstGeom>
          <a:noFill/>
          <a:ln w="9525">
            <a:noFill/>
            <a:miter lim="800000"/>
          </a:ln>
        </p:spPr>
        <p:txBody>
          <a:bodyPr>
            <a:spAutoFit/>
          </a:bodyPr>
          <a:lstStyle/>
          <a:p>
            <a:pPr>
              <a:spcBef>
                <a:spcPct val="50000"/>
              </a:spcBef>
            </a:pPr>
            <a:r>
              <a:rPr lang="en-US" altLang="zh-CN" b="1">
                <a:solidFill>
                  <a:srgbClr val="0000FF"/>
                </a:solidFill>
              </a:rPr>
              <a:t>§7.3   </a:t>
            </a:r>
            <a:r>
              <a:rPr lang="zh-CN" altLang="en-US" b="1">
                <a:solidFill>
                  <a:srgbClr val="0000FF"/>
                </a:solidFill>
              </a:rPr>
              <a:t>热力学第一定律</a:t>
            </a:r>
            <a:endParaRPr lang="zh-CN" altLang="en-US" b="1">
              <a:solidFill>
                <a:srgbClr val="0000FF"/>
              </a:solidFill>
            </a:endParaRPr>
          </a:p>
        </p:txBody>
      </p:sp>
      <p:sp>
        <p:nvSpPr>
          <p:cNvPr id="2097" name="Text Box 49">
            <a:hlinkClick r:id="rId4" action="ppaction://hlinksldjump"/>
          </p:cNvPr>
          <p:cNvSpPr txBox="1">
            <a:spLocks noChangeArrowheads="1"/>
          </p:cNvSpPr>
          <p:nvPr/>
        </p:nvSpPr>
        <p:spPr bwMode="auto">
          <a:xfrm>
            <a:off x="1619250" y="4365625"/>
            <a:ext cx="5761038" cy="457200"/>
          </a:xfrm>
          <a:prstGeom prst="rect">
            <a:avLst/>
          </a:prstGeom>
          <a:noFill/>
          <a:ln w="9525">
            <a:noFill/>
            <a:miter lim="800000"/>
          </a:ln>
        </p:spPr>
        <p:txBody>
          <a:bodyPr>
            <a:spAutoFit/>
          </a:bodyPr>
          <a:lstStyle/>
          <a:p>
            <a:pPr>
              <a:spcBef>
                <a:spcPct val="50000"/>
              </a:spcBef>
            </a:pPr>
            <a:r>
              <a:rPr lang="en-US" altLang="zh-CN" b="1">
                <a:solidFill>
                  <a:srgbClr val="0000FF"/>
                </a:solidFill>
              </a:rPr>
              <a:t>§7.4   </a:t>
            </a:r>
            <a:r>
              <a:rPr lang="zh-CN" altLang="en-US" b="1">
                <a:solidFill>
                  <a:srgbClr val="0000FF"/>
                </a:solidFill>
              </a:rPr>
              <a:t>循环过程与卡诺循环</a:t>
            </a:r>
            <a:endParaRPr lang="zh-CN" altLang="en-US" b="1">
              <a:solidFill>
                <a:srgbClr val="0000FF"/>
              </a:solidFill>
            </a:endParaRPr>
          </a:p>
        </p:txBody>
      </p:sp>
      <p:sp>
        <p:nvSpPr>
          <p:cNvPr id="2098" name="Text Box 50">
            <a:hlinkClick r:id="rId5" action="ppaction://hlinksldjump"/>
          </p:cNvPr>
          <p:cNvSpPr txBox="1">
            <a:spLocks noChangeArrowheads="1"/>
          </p:cNvSpPr>
          <p:nvPr/>
        </p:nvSpPr>
        <p:spPr bwMode="auto">
          <a:xfrm>
            <a:off x="1619250" y="5086350"/>
            <a:ext cx="6192838" cy="457200"/>
          </a:xfrm>
          <a:prstGeom prst="rect">
            <a:avLst/>
          </a:prstGeom>
          <a:noFill/>
          <a:ln w="9525">
            <a:noFill/>
            <a:miter lim="800000"/>
          </a:ln>
        </p:spPr>
        <p:txBody>
          <a:bodyPr>
            <a:spAutoFit/>
          </a:bodyPr>
          <a:lstStyle/>
          <a:p>
            <a:pPr>
              <a:spcBef>
                <a:spcPct val="50000"/>
              </a:spcBef>
            </a:pPr>
            <a:r>
              <a:rPr lang="en-US" altLang="zh-CN" b="1">
                <a:solidFill>
                  <a:srgbClr val="0000FF"/>
                </a:solidFill>
              </a:rPr>
              <a:t>§7.5   </a:t>
            </a:r>
            <a:r>
              <a:rPr lang="zh-CN" altLang="en-US" b="1">
                <a:solidFill>
                  <a:srgbClr val="0000FF"/>
                </a:solidFill>
              </a:rPr>
              <a:t>热力学第二定律</a:t>
            </a:r>
            <a:endParaRPr lang="zh-CN" altLang="en-US" b="1">
              <a:solidFill>
                <a:srgbClr val="0000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92"/>
                                        </p:tgtEl>
                                        <p:attrNameLst>
                                          <p:attrName>style.visibility</p:attrName>
                                        </p:attrNameLst>
                                      </p:cBhvr>
                                      <p:to>
                                        <p:strVal val="visible"/>
                                      </p:to>
                                    </p:set>
                                    <p:animEffect transition="in" filter="wipe(left)">
                                      <p:cBhvr>
                                        <p:cTn id="7" dur="500"/>
                                        <p:tgtEl>
                                          <p:spTgt spid="209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087"/>
                                        </p:tgtEl>
                                        <p:attrNameLst>
                                          <p:attrName>style.visibility</p:attrName>
                                        </p:attrNameLst>
                                      </p:cBhvr>
                                      <p:to>
                                        <p:strVal val="visible"/>
                                      </p:to>
                                    </p:set>
                                    <p:anim calcmode="lin" valueType="num">
                                      <p:cBhvr additive="base">
                                        <p:cTn id="12" dur="500" fill="hold"/>
                                        <p:tgtEl>
                                          <p:spTgt spid="2087"/>
                                        </p:tgtEl>
                                        <p:attrNameLst>
                                          <p:attrName>ppt_x</p:attrName>
                                        </p:attrNameLst>
                                      </p:cBhvr>
                                      <p:tavLst>
                                        <p:tav tm="0">
                                          <p:val>
                                            <p:strVal val="0-#ppt_w/2"/>
                                          </p:val>
                                        </p:tav>
                                        <p:tav tm="100000">
                                          <p:val>
                                            <p:strVal val="#ppt_x"/>
                                          </p:val>
                                        </p:tav>
                                      </p:tavLst>
                                    </p:anim>
                                    <p:anim calcmode="lin" valueType="num">
                                      <p:cBhvr additive="base">
                                        <p:cTn id="13" dur="500" fill="hold"/>
                                        <p:tgtEl>
                                          <p:spTgt spid="208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94"/>
                                        </p:tgtEl>
                                        <p:attrNameLst>
                                          <p:attrName>style.visibility</p:attrName>
                                        </p:attrNameLst>
                                      </p:cBhvr>
                                      <p:to>
                                        <p:strVal val="visible"/>
                                      </p:to>
                                    </p:set>
                                    <p:animEffect transition="in" filter="wipe(left)">
                                      <p:cBhvr>
                                        <p:cTn id="18" dur="500"/>
                                        <p:tgtEl>
                                          <p:spTgt spid="209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095"/>
                                        </p:tgtEl>
                                        <p:attrNameLst>
                                          <p:attrName>style.visibility</p:attrName>
                                        </p:attrNameLst>
                                      </p:cBhvr>
                                      <p:to>
                                        <p:strVal val="visible"/>
                                      </p:to>
                                    </p:set>
                                    <p:animEffect transition="in" filter="wipe(left)">
                                      <p:cBhvr>
                                        <p:cTn id="21" dur="500"/>
                                        <p:tgtEl>
                                          <p:spTgt spid="209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096"/>
                                        </p:tgtEl>
                                        <p:attrNameLst>
                                          <p:attrName>style.visibility</p:attrName>
                                        </p:attrNameLst>
                                      </p:cBhvr>
                                      <p:to>
                                        <p:strVal val="visible"/>
                                      </p:to>
                                    </p:set>
                                    <p:animEffect transition="in" filter="wipe(left)">
                                      <p:cBhvr>
                                        <p:cTn id="24" dur="500"/>
                                        <p:tgtEl>
                                          <p:spTgt spid="209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097"/>
                                        </p:tgtEl>
                                        <p:attrNameLst>
                                          <p:attrName>style.visibility</p:attrName>
                                        </p:attrNameLst>
                                      </p:cBhvr>
                                      <p:to>
                                        <p:strVal val="visible"/>
                                      </p:to>
                                    </p:set>
                                    <p:animEffect transition="in" filter="wipe(left)">
                                      <p:cBhvr>
                                        <p:cTn id="27" dur="500"/>
                                        <p:tgtEl>
                                          <p:spTgt spid="2097"/>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098"/>
                                        </p:tgtEl>
                                        <p:attrNameLst>
                                          <p:attrName>style.visibility</p:attrName>
                                        </p:attrNameLst>
                                      </p:cBhvr>
                                      <p:to>
                                        <p:strVal val="visible"/>
                                      </p:to>
                                    </p:set>
                                    <p:animEffect transition="in" filter="wipe(left)">
                                      <p:cBhvr>
                                        <p:cTn id="30" dur="500"/>
                                        <p:tgtEl>
                                          <p:spTgt spid="2098"/>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093"/>
                                        </p:tgtEl>
                                        <p:attrNameLst>
                                          <p:attrName>style.visibility</p:attrName>
                                        </p:attrNameLst>
                                      </p:cBhvr>
                                      <p:to>
                                        <p:strVal val="visible"/>
                                      </p:to>
                                    </p:set>
                                    <p:animEffect transition="in" filter="wipe(down)">
                                      <p:cBhvr>
                                        <p:cTn id="33" dur="500"/>
                                        <p:tgtEl>
                                          <p:spTgt spid="2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7" grpId="0" autoUpdateAnimBg="0"/>
      <p:bldP spid="2092" grpId="0" animBg="1"/>
      <p:bldP spid="2093" grpId="0" animBg="1"/>
      <p:bldP spid="2094" grpId="0"/>
      <p:bldP spid="2095" grpId="0"/>
      <p:bldP spid="2096" grpId="0"/>
      <p:bldP spid="2097" grpId="0"/>
      <p:bldP spid="209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4">
            <a:hlinkClick r:id="rId1" action="ppaction://hlinkpres?slideindex=1&amp;slidetitle="/>
          </p:cNvPr>
          <p:cNvSpPr txBox="1">
            <a:spLocks noChangeArrowheads="1"/>
          </p:cNvSpPr>
          <p:nvPr/>
        </p:nvSpPr>
        <p:spPr bwMode="auto">
          <a:xfrm>
            <a:off x="1285875" y="428625"/>
            <a:ext cx="6624638" cy="519113"/>
          </a:xfrm>
          <a:prstGeom prst="rect">
            <a:avLst/>
          </a:prstGeom>
          <a:noFill/>
          <a:ln w="9525">
            <a:noFill/>
            <a:miter lim="800000"/>
          </a:ln>
        </p:spPr>
        <p:txBody>
          <a:bodyPr>
            <a:spAutoFit/>
          </a:bodyPr>
          <a:lstStyle/>
          <a:p>
            <a:pPr algn="ctr"/>
            <a:r>
              <a:rPr lang="en-US" altLang="zh-CN" sz="2800" b="1">
                <a:solidFill>
                  <a:srgbClr val="0000FF"/>
                </a:solidFill>
                <a:ea typeface="黑体" panose="02010609060101010101" pitchFamily="49" charset="-122"/>
                <a:cs typeface="Times New Roman" panose="02020603050405020304" pitchFamily="18" charset="0"/>
              </a:rPr>
              <a:t>§7.1  </a:t>
            </a:r>
            <a:r>
              <a:rPr lang="zh-CN" altLang="en-US" sz="2800" b="1">
                <a:solidFill>
                  <a:srgbClr val="0000FF"/>
                </a:solidFill>
                <a:latin typeface="黑体" panose="02010609060101010101" pitchFamily="49" charset="-122"/>
                <a:ea typeface="黑体" panose="02010609060101010101" pitchFamily="49" charset="-122"/>
                <a:cs typeface="Times New Roman" panose="02020603050405020304" pitchFamily="18" charset="0"/>
              </a:rPr>
              <a:t>平衡态  理想气体状态方程</a:t>
            </a:r>
            <a:endParaRPr lang="zh-CN" altLang="en-US" sz="2800" b="1">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23" name="Text Box 4"/>
          <p:cNvSpPr txBox="1">
            <a:spLocks noChangeArrowheads="1"/>
          </p:cNvSpPr>
          <p:nvPr/>
        </p:nvSpPr>
        <p:spPr bwMode="auto">
          <a:xfrm>
            <a:off x="141288" y="1071563"/>
            <a:ext cx="5788025" cy="457200"/>
          </a:xfrm>
          <a:prstGeom prst="rect">
            <a:avLst/>
          </a:prstGeom>
          <a:noFill/>
          <a:ln w="9525">
            <a:noFill/>
            <a:miter lim="800000"/>
          </a:ln>
        </p:spPr>
        <p:txBody>
          <a:bodyPr>
            <a:spAutoFit/>
          </a:bodyPr>
          <a:lstStyle/>
          <a:p>
            <a:r>
              <a:rPr kumimoji="1" lang="en-US" altLang="zh-CN" b="1">
                <a:solidFill>
                  <a:srgbClr val="0000FF"/>
                </a:solidFill>
              </a:rPr>
              <a:t>7.1.1  </a:t>
            </a:r>
            <a:r>
              <a:rPr kumimoji="1" lang="zh-CN" altLang="en-US" b="1">
                <a:solidFill>
                  <a:srgbClr val="0000FF"/>
                </a:solidFill>
              </a:rPr>
              <a:t>气体的状态参量</a:t>
            </a:r>
            <a:endParaRPr kumimoji="1" lang="zh-CN" altLang="en-US" b="1">
              <a:solidFill>
                <a:srgbClr val="0000FF"/>
              </a:solidFill>
            </a:endParaRPr>
          </a:p>
        </p:txBody>
      </p:sp>
      <p:sp>
        <p:nvSpPr>
          <p:cNvPr id="25" name="Text Box 6"/>
          <p:cNvSpPr txBox="1">
            <a:spLocks noChangeArrowheads="1"/>
          </p:cNvSpPr>
          <p:nvPr/>
        </p:nvSpPr>
        <p:spPr bwMode="auto">
          <a:xfrm>
            <a:off x="642938" y="1500188"/>
            <a:ext cx="8215312" cy="461962"/>
          </a:xfrm>
          <a:prstGeom prst="rect">
            <a:avLst/>
          </a:prstGeom>
          <a:noFill/>
          <a:ln w="9525">
            <a:noFill/>
            <a:miter lim="800000"/>
          </a:ln>
        </p:spPr>
        <p:txBody>
          <a:bodyPr>
            <a:spAutoFit/>
          </a:bodyPr>
          <a:lstStyle/>
          <a:p>
            <a:pPr algn="ctr"/>
            <a:r>
              <a:rPr kumimoji="1" lang="zh-CN" altLang="en-US" b="1">
                <a:latin typeface="宋体" panose="02010600030101010101" pitchFamily="2" charset="-122"/>
              </a:rPr>
              <a:t>把描述热力学系统宏观基本特征的物理量称为</a:t>
            </a:r>
            <a:r>
              <a:rPr kumimoji="1" lang="zh-CN" altLang="en-US" b="1">
                <a:solidFill>
                  <a:srgbClr val="FF0000"/>
                </a:solidFill>
                <a:latin typeface="宋体" panose="02010600030101010101" pitchFamily="2" charset="-122"/>
              </a:rPr>
              <a:t>状态参量</a:t>
            </a:r>
            <a:r>
              <a:rPr kumimoji="1" lang="zh-CN" altLang="en-US" b="1">
                <a:latin typeface="宋体" panose="02010600030101010101" pitchFamily="2" charset="-122"/>
              </a:rPr>
              <a:t>。</a:t>
            </a:r>
            <a:endParaRPr kumimoji="1" lang="zh-CN" altLang="en-US" b="1">
              <a:latin typeface="宋体" panose="02010600030101010101" pitchFamily="2" charset="-122"/>
            </a:endParaRPr>
          </a:p>
        </p:txBody>
      </p:sp>
      <p:sp>
        <p:nvSpPr>
          <p:cNvPr id="26" name="Rectangle 8"/>
          <p:cNvSpPr>
            <a:spLocks noChangeArrowheads="1"/>
          </p:cNvSpPr>
          <p:nvPr/>
        </p:nvSpPr>
        <p:spPr bwMode="auto">
          <a:xfrm>
            <a:off x="398463" y="2105025"/>
            <a:ext cx="1665287" cy="457200"/>
          </a:xfrm>
          <a:prstGeom prst="rect">
            <a:avLst/>
          </a:prstGeom>
          <a:noFill/>
          <a:ln w="12700" cap="sq">
            <a:noFill/>
            <a:miter lim="800000"/>
          </a:ln>
        </p:spPr>
        <p:txBody>
          <a:bodyPr>
            <a:spAutoFit/>
          </a:bodyPr>
          <a:lstStyle/>
          <a:p>
            <a:pPr algn="ctr">
              <a:buClr>
                <a:srgbClr val="0000FF"/>
              </a:buClr>
              <a:buFont typeface="Wingdings" panose="05000000000000000000" pitchFamily="2" charset="2"/>
              <a:buChar char="v"/>
            </a:pPr>
            <a:r>
              <a:rPr kumimoji="1" lang="en-US" altLang="zh-CN" b="1">
                <a:solidFill>
                  <a:srgbClr val="FF6600"/>
                </a:solidFill>
              </a:rPr>
              <a:t>  </a:t>
            </a:r>
            <a:r>
              <a:rPr kumimoji="1" lang="zh-CN" altLang="en-US" b="1">
                <a:solidFill>
                  <a:srgbClr val="FF6600"/>
                </a:solidFill>
              </a:rPr>
              <a:t>体积</a:t>
            </a:r>
            <a:r>
              <a:rPr kumimoji="1" lang="en-US" altLang="zh-CN" b="1">
                <a:solidFill>
                  <a:srgbClr val="FF6600"/>
                </a:solidFill>
              </a:rPr>
              <a:t>(</a:t>
            </a:r>
            <a:r>
              <a:rPr kumimoji="1" lang="en-US" altLang="zh-CN" b="1" i="1">
                <a:solidFill>
                  <a:srgbClr val="FF6600"/>
                </a:solidFill>
              </a:rPr>
              <a:t>V</a:t>
            </a:r>
            <a:r>
              <a:rPr kumimoji="1" lang="en-US" altLang="zh-CN" b="1">
                <a:solidFill>
                  <a:srgbClr val="FF6600"/>
                </a:solidFill>
              </a:rPr>
              <a:t>)</a:t>
            </a:r>
            <a:endParaRPr kumimoji="1" lang="en-US" altLang="zh-CN" b="1">
              <a:solidFill>
                <a:srgbClr val="FF6600"/>
              </a:solidFill>
            </a:endParaRPr>
          </a:p>
        </p:txBody>
      </p:sp>
      <p:sp>
        <p:nvSpPr>
          <p:cNvPr id="27" name="Rectangle 9"/>
          <p:cNvSpPr>
            <a:spLocks noChangeArrowheads="1"/>
          </p:cNvSpPr>
          <p:nvPr/>
        </p:nvSpPr>
        <p:spPr bwMode="auto">
          <a:xfrm>
            <a:off x="428625" y="3949700"/>
            <a:ext cx="1576388" cy="457200"/>
          </a:xfrm>
          <a:prstGeom prst="rect">
            <a:avLst/>
          </a:prstGeom>
          <a:noFill/>
          <a:ln w="12700" cap="sq">
            <a:noFill/>
            <a:miter lim="800000"/>
          </a:ln>
        </p:spPr>
        <p:txBody>
          <a:bodyPr wrap="none">
            <a:spAutoFit/>
          </a:bodyPr>
          <a:lstStyle/>
          <a:p>
            <a:pPr algn="ctr">
              <a:buClr>
                <a:srgbClr val="0000FF"/>
              </a:buClr>
              <a:buFont typeface="Wingdings" panose="05000000000000000000" pitchFamily="2" charset="2"/>
              <a:buChar char="v"/>
            </a:pPr>
            <a:r>
              <a:rPr kumimoji="1" lang="en-US" altLang="zh-CN" b="1">
                <a:solidFill>
                  <a:srgbClr val="FF6600"/>
                </a:solidFill>
              </a:rPr>
              <a:t>  </a:t>
            </a:r>
            <a:r>
              <a:rPr kumimoji="1" lang="zh-CN" altLang="en-US" b="1">
                <a:solidFill>
                  <a:srgbClr val="FF6600"/>
                </a:solidFill>
              </a:rPr>
              <a:t>压强</a:t>
            </a:r>
            <a:r>
              <a:rPr kumimoji="1" lang="en-US" altLang="zh-CN" b="1">
                <a:solidFill>
                  <a:srgbClr val="FF6600"/>
                </a:solidFill>
              </a:rPr>
              <a:t>(</a:t>
            </a:r>
            <a:r>
              <a:rPr kumimoji="1" lang="en-US" altLang="zh-CN" b="1" i="1">
                <a:solidFill>
                  <a:srgbClr val="FF6600"/>
                </a:solidFill>
              </a:rPr>
              <a:t>p</a:t>
            </a:r>
            <a:r>
              <a:rPr kumimoji="1" lang="en-US" altLang="zh-CN" b="1">
                <a:solidFill>
                  <a:srgbClr val="FF6600"/>
                </a:solidFill>
              </a:rPr>
              <a:t>)</a:t>
            </a:r>
            <a:endParaRPr kumimoji="1" lang="en-US" altLang="zh-CN" b="1">
              <a:solidFill>
                <a:srgbClr val="FF6600"/>
              </a:solidFill>
            </a:endParaRPr>
          </a:p>
        </p:txBody>
      </p:sp>
      <p:sp>
        <p:nvSpPr>
          <p:cNvPr id="28" name="Text Box 10"/>
          <p:cNvSpPr txBox="1">
            <a:spLocks noChangeArrowheads="1"/>
          </p:cNvSpPr>
          <p:nvPr/>
        </p:nvSpPr>
        <p:spPr bwMode="auto">
          <a:xfrm>
            <a:off x="2143125" y="2143125"/>
            <a:ext cx="5184775" cy="457200"/>
          </a:xfrm>
          <a:prstGeom prst="rect">
            <a:avLst/>
          </a:prstGeom>
          <a:noFill/>
          <a:ln w="12700" cap="sq">
            <a:noFill/>
            <a:miter lim="800000"/>
          </a:ln>
        </p:spPr>
        <p:txBody>
          <a:bodyPr>
            <a:spAutoFit/>
          </a:bodyPr>
          <a:lstStyle/>
          <a:p>
            <a:pPr algn="ctr">
              <a:spcBef>
                <a:spcPct val="50000"/>
              </a:spcBef>
            </a:pPr>
            <a:r>
              <a:rPr kumimoji="1" lang="zh-CN" altLang="en-US" b="1"/>
              <a:t>气体分子可能到达的整个空间的体积。</a:t>
            </a:r>
            <a:endParaRPr kumimoji="1" lang="zh-CN" altLang="en-US" b="1"/>
          </a:p>
        </p:txBody>
      </p:sp>
      <p:sp>
        <p:nvSpPr>
          <p:cNvPr id="29" name="Text Box 11"/>
          <p:cNvSpPr txBox="1">
            <a:spLocks noChangeArrowheads="1"/>
          </p:cNvSpPr>
          <p:nvPr/>
        </p:nvSpPr>
        <p:spPr bwMode="auto">
          <a:xfrm>
            <a:off x="2120900" y="3929063"/>
            <a:ext cx="6375400" cy="490537"/>
          </a:xfrm>
          <a:prstGeom prst="rect">
            <a:avLst/>
          </a:prstGeom>
          <a:noFill/>
          <a:ln w="12700" cap="sq">
            <a:noFill/>
            <a:miter lim="800000"/>
          </a:ln>
        </p:spPr>
        <p:txBody>
          <a:bodyPr>
            <a:spAutoFit/>
          </a:bodyPr>
          <a:lstStyle/>
          <a:p>
            <a:pPr>
              <a:lnSpc>
                <a:spcPct val="125000"/>
              </a:lnSpc>
              <a:spcBef>
                <a:spcPct val="50000"/>
              </a:spcBef>
            </a:pPr>
            <a:r>
              <a:rPr kumimoji="1" lang="zh-CN" altLang="en-US" b="1">
                <a:latin typeface="宋体" panose="02010600030101010101" pitchFamily="2" charset="-122"/>
              </a:rPr>
              <a:t>作用于容器壁上单位面积的正压力。</a:t>
            </a:r>
            <a:r>
              <a:rPr kumimoji="1" lang="zh-CN" altLang="en-US">
                <a:latin typeface="宋体" panose="02010600030101010101" pitchFamily="2" charset="-122"/>
              </a:rPr>
              <a:t> </a:t>
            </a:r>
            <a:endParaRPr kumimoji="1" lang="zh-CN" altLang="en-US">
              <a:latin typeface="宋体" panose="02010600030101010101" pitchFamily="2" charset="-122"/>
            </a:endParaRPr>
          </a:p>
        </p:txBody>
      </p:sp>
      <p:sp>
        <p:nvSpPr>
          <p:cNvPr id="30" name="Text Box 20"/>
          <p:cNvSpPr txBox="1">
            <a:spLocks noChangeArrowheads="1"/>
          </p:cNvSpPr>
          <p:nvPr/>
        </p:nvSpPr>
        <p:spPr bwMode="auto">
          <a:xfrm>
            <a:off x="831850" y="2676525"/>
            <a:ext cx="7853363" cy="1163638"/>
          </a:xfrm>
          <a:prstGeom prst="rect">
            <a:avLst/>
          </a:prstGeom>
          <a:noFill/>
          <a:ln w="12700" cap="sq">
            <a:noFill/>
            <a:miter lim="800000"/>
          </a:ln>
        </p:spPr>
        <p:txBody>
          <a:bodyPr>
            <a:spAutoFit/>
          </a:bodyPr>
          <a:lstStyle/>
          <a:p>
            <a:pPr>
              <a:lnSpc>
                <a:spcPct val="120000"/>
              </a:lnSpc>
              <a:spcBef>
                <a:spcPct val="50000"/>
              </a:spcBef>
              <a:buClr>
                <a:srgbClr val="FF0000"/>
              </a:buClr>
              <a:defRPr/>
            </a:pPr>
            <a:r>
              <a:rPr kumimoji="1" lang="zh-CN" altLang="en-US" b="1" dirty="0">
                <a:latin typeface="+mn-ea"/>
                <a:ea typeface="+mn-ea"/>
              </a:rPr>
              <a:t>单位名称：</a:t>
            </a:r>
            <a:r>
              <a:rPr kumimoji="1" lang="zh-CN" altLang="en-US" b="1" dirty="0">
                <a:ea typeface="+mn-ea"/>
                <a:cs typeface="Times New Roman" panose="02020603050405020304" pitchFamily="18" charset="0"/>
                <a:sym typeface="Wingdings" panose="05000000000000000000" pitchFamily="2" charset="2"/>
              </a:rPr>
              <a:t>（</a:t>
            </a:r>
            <a:r>
              <a:rPr kumimoji="1" lang="en-US" altLang="zh-CN" b="1" dirty="0">
                <a:ea typeface="+mn-ea"/>
                <a:cs typeface="Times New Roman" panose="02020603050405020304" pitchFamily="18" charset="0"/>
                <a:sym typeface="Wingdings" panose="05000000000000000000" pitchFamily="2" charset="2"/>
              </a:rPr>
              <a:t>1</a:t>
            </a:r>
            <a:r>
              <a:rPr kumimoji="1" lang="zh-CN" altLang="en-US" b="1" dirty="0">
                <a:ea typeface="+mn-ea"/>
                <a:cs typeface="Times New Roman" panose="02020603050405020304" pitchFamily="18" charset="0"/>
                <a:sym typeface="Wingdings" panose="05000000000000000000" pitchFamily="2" charset="2"/>
              </a:rPr>
              <a:t>）</a:t>
            </a:r>
            <a:r>
              <a:rPr kumimoji="1" lang="zh-CN" altLang="en-US" b="1" dirty="0">
                <a:solidFill>
                  <a:srgbClr val="FF6600"/>
                </a:solidFill>
                <a:latin typeface="+mn-ea"/>
                <a:ea typeface="+mn-ea"/>
              </a:rPr>
              <a:t>立方米</a:t>
            </a:r>
            <a:r>
              <a:rPr kumimoji="1" lang="zh-CN" altLang="en-US" b="1" dirty="0">
                <a:latin typeface="+mn-ea"/>
                <a:ea typeface="+mn-ea"/>
              </a:rPr>
              <a:t> ，符号</a:t>
            </a:r>
            <a:r>
              <a:rPr kumimoji="1" lang="en-US" altLang="zh-CN" b="1" dirty="0">
                <a:solidFill>
                  <a:srgbClr val="FF6600"/>
                </a:solidFill>
                <a:ea typeface="+mn-ea"/>
                <a:cs typeface="Times New Roman" panose="02020603050405020304" pitchFamily="18" charset="0"/>
              </a:rPr>
              <a:t>m</a:t>
            </a:r>
            <a:r>
              <a:rPr kumimoji="1" lang="en-US" altLang="zh-CN" b="1" baseline="30000" dirty="0">
                <a:solidFill>
                  <a:srgbClr val="FF6600"/>
                </a:solidFill>
                <a:ea typeface="+mn-ea"/>
                <a:cs typeface="Times New Roman" panose="02020603050405020304" pitchFamily="18" charset="0"/>
              </a:rPr>
              <a:t>3</a:t>
            </a:r>
            <a:r>
              <a:rPr kumimoji="1" lang="en-US" altLang="zh-CN" b="1" dirty="0">
                <a:ea typeface="+mn-ea"/>
                <a:cs typeface="Times New Roman" panose="02020603050405020304" pitchFamily="18" charset="0"/>
              </a:rPr>
              <a:t> (</a:t>
            </a:r>
            <a:r>
              <a:rPr kumimoji="1" lang="en-US" altLang="zh-CN" b="1" dirty="0">
                <a:latin typeface="+mn-ea"/>
                <a:ea typeface="+mn-ea"/>
              </a:rPr>
              <a:t>SI</a:t>
            </a:r>
            <a:r>
              <a:rPr kumimoji="1" lang="zh-CN" altLang="en-US" b="1" dirty="0">
                <a:latin typeface="+mn-ea"/>
                <a:ea typeface="+mn-ea"/>
              </a:rPr>
              <a:t>制</a:t>
            </a:r>
            <a:r>
              <a:rPr kumimoji="1" lang="en-US" altLang="zh-CN" b="1" dirty="0">
                <a:ea typeface="+mn-ea"/>
                <a:cs typeface="Times New Roman" panose="02020603050405020304" pitchFamily="18" charset="0"/>
              </a:rPr>
              <a:t>)</a:t>
            </a:r>
            <a:r>
              <a:rPr kumimoji="1" lang="zh-CN" altLang="en-US" b="1" dirty="0">
                <a:latin typeface="+mn-ea"/>
                <a:ea typeface="+mn-ea"/>
              </a:rPr>
              <a:t>；</a:t>
            </a:r>
            <a:endParaRPr kumimoji="1" lang="en-US" altLang="zh-CN" dirty="0">
              <a:latin typeface="+mn-ea"/>
              <a:ea typeface="+mn-ea"/>
            </a:endParaRPr>
          </a:p>
          <a:p>
            <a:pPr>
              <a:lnSpc>
                <a:spcPct val="120000"/>
              </a:lnSpc>
              <a:spcBef>
                <a:spcPct val="50000"/>
              </a:spcBef>
              <a:buClr>
                <a:srgbClr val="FF0000"/>
              </a:buClr>
              <a:buFont typeface="Wingdings" panose="05000000000000000000" pitchFamily="2" charset="2"/>
              <a:buNone/>
              <a:defRPr/>
            </a:pPr>
            <a:r>
              <a:rPr kumimoji="1" lang="zh-CN" altLang="en-US" b="1" dirty="0">
                <a:solidFill>
                  <a:srgbClr val="FF6600"/>
                </a:solidFill>
                <a:latin typeface="+mn-ea"/>
                <a:ea typeface="+mn-ea"/>
              </a:rPr>
              <a:t>   </a:t>
            </a:r>
            <a:r>
              <a:rPr kumimoji="1" lang="zh-CN" altLang="en-US" b="1" dirty="0">
                <a:ea typeface="+mn-ea"/>
                <a:cs typeface="Times New Roman" panose="02020603050405020304" pitchFamily="18" charset="0"/>
              </a:rPr>
              <a:t>（</a:t>
            </a:r>
            <a:r>
              <a:rPr kumimoji="1" lang="en-US" altLang="zh-CN" b="1" dirty="0">
                <a:ea typeface="+mn-ea"/>
                <a:cs typeface="Times New Roman" panose="02020603050405020304" pitchFamily="18" charset="0"/>
              </a:rPr>
              <a:t>2</a:t>
            </a:r>
            <a:r>
              <a:rPr kumimoji="1" lang="zh-CN" altLang="en-US" b="1" dirty="0">
                <a:ea typeface="+mn-ea"/>
                <a:cs typeface="Times New Roman" panose="02020603050405020304" pitchFamily="18" charset="0"/>
              </a:rPr>
              <a:t>）</a:t>
            </a:r>
            <a:r>
              <a:rPr kumimoji="1" lang="zh-CN" altLang="en-US" b="1" dirty="0">
                <a:solidFill>
                  <a:srgbClr val="FF6600"/>
                </a:solidFill>
                <a:latin typeface="+mn-ea"/>
                <a:ea typeface="+mn-ea"/>
              </a:rPr>
              <a:t>立方分米</a:t>
            </a:r>
            <a:r>
              <a:rPr kumimoji="1" lang="zh-CN" altLang="en-US" b="1" dirty="0">
                <a:latin typeface="+mn-ea"/>
                <a:ea typeface="+mn-ea"/>
              </a:rPr>
              <a:t>，即</a:t>
            </a:r>
            <a:r>
              <a:rPr kumimoji="1" lang="zh-CN" altLang="en-US" b="1" dirty="0">
                <a:solidFill>
                  <a:srgbClr val="FF6600"/>
                </a:solidFill>
                <a:latin typeface="+mn-ea"/>
                <a:ea typeface="+mn-ea"/>
              </a:rPr>
              <a:t>升</a:t>
            </a:r>
            <a:r>
              <a:rPr kumimoji="1" lang="zh-CN" altLang="en-US" b="1" dirty="0">
                <a:latin typeface="+mn-ea"/>
                <a:ea typeface="+mn-ea"/>
              </a:rPr>
              <a:t>，符号</a:t>
            </a:r>
            <a:r>
              <a:rPr kumimoji="1" lang="en-US" altLang="zh-CN" b="1" dirty="0">
                <a:solidFill>
                  <a:srgbClr val="FF6600"/>
                </a:solidFill>
                <a:ea typeface="+mn-ea"/>
                <a:cs typeface="Times New Roman" panose="02020603050405020304" pitchFamily="18" charset="0"/>
              </a:rPr>
              <a:t>L</a:t>
            </a:r>
            <a:r>
              <a:rPr kumimoji="1" lang="en-US" altLang="zh-CN" b="1" dirty="0">
                <a:solidFill>
                  <a:srgbClr val="FF6600"/>
                </a:solidFill>
                <a:latin typeface="+mn-ea"/>
                <a:ea typeface="+mn-ea"/>
              </a:rPr>
              <a:t> </a:t>
            </a:r>
            <a:r>
              <a:rPr kumimoji="1" lang="zh-CN" altLang="en-US" b="1" dirty="0">
                <a:latin typeface="+mn-ea"/>
                <a:ea typeface="+mn-ea"/>
              </a:rPr>
              <a:t>， </a:t>
            </a:r>
            <a:r>
              <a:rPr kumimoji="1" lang="en-US" altLang="zh-CN" b="1" dirty="0">
                <a:solidFill>
                  <a:srgbClr val="FF6600"/>
                </a:solidFill>
                <a:ea typeface="+mn-ea"/>
                <a:cs typeface="Times New Roman" panose="02020603050405020304" pitchFamily="18" charset="0"/>
              </a:rPr>
              <a:t>1L</a:t>
            </a:r>
            <a:r>
              <a:rPr kumimoji="1" lang="en-US" altLang="zh-CN" b="1" i="1" dirty="0">
                <a:solidFill>
                  <a:srgbClr val="FF6600"/>
                </a:solidFill>
                <a:ea typeface="+mn-ea"/>
                <a:cs typeface="Times New Roman" panose="02020603050405020304" pitchFamily="18" charset="0"/>
              </a:rPr>
              <a:t> </a:t>
            </a:r>
            <a:r>
              <a:rPr kumimoji="1" lang="en-US" altLang="zh-CN" b="1" dirty="0">
                <a:solidFill>
                  <a:srgbClr val="FF6600"/>
                </a:solidFill>
                <a:ea typeface="+mn-ea"/>
                <a:cs typeface="Times New Roman" panose="02020603050405020304" pitchFamily="18" charset="0"/>
              </a:rPr>
              <a:t>= 10</a:t>
            </a:r>
            <a:r>
              <a:rPr kumimoji="1" lang="en-US" altLang="zh-CN" b="1" baseline="30000" dirty="0">
                <a:solidFill>
                  <a:srgbClr val="FF6600"/>
                </a:solidFill>
                <a:ea typeface="+mn-ea"/>
                <a:cs typeface="Times New Roman" panose="02020603050405020304" pitchFamily="18" charset="0"/>
              </a:rPr>
              <a:t>-3 </a:t>
            </a:r>
            <a:r>
              <a:rPr kumimoji="1" lang="en-US" altLang="zh-CN" b="1" dirty="0">
                <a:solidFill>
                  <a:srgbClr val="FF6600"/>
                </a:solidFill>
                <a:ea typeface="+mn-ea"/>
                <a:cs typeface="Times New Roman" panose="02020603050405020304" pitchFamily="18" charset="0"/>
              </a:rPr>
              <a:t>m</a:t>
            </a:r>
            <a:r>
              <a:rPr kumimoji="1" lang="en-US" altLang="zh-CN" b="1" baseline="30000" dirty="0">
                <a:solidFill>
                  <a:srgbClr val="FF6600"/>
                </a:solidFill>
                <a:ea typeface="+mn-ea"/>
                <a:cs typeface="Times New Roman" panose="02020603050405020304" pitchFamily="18" charset="0"/>
              </a:rPr>
              <a:t>3</a:t>
            </a:r>
            <a:r>
              <a:rPr kumimoji="1" lang="zh-CN" altLang="en-US" b="1" dirty="0">
                <a:latin typeface="+mn-ea"/>
                <a:ea typeface="+mn-ea"/>
              </a:rPr>
              <a:t>。</a:t>
            </a:r>
            <a:endParaRPr kumimoji="1" lang="zh-CN" altLang="en-US" b="1" dirty="0">
              <a:latin typeface="+mn-ea"/>
              <a:ea typeface="+mn-ea"/>
            </a:endParaRPr>
          </a:p>
        </p:txBody>
      </p:sp>
      <p:sp>
        <p:nvSpPr>
          <p:cNvPr id="31" name="Text Box 20"/>
          <p:cNvSpPr txBox="1">
            <a:spLocks noChangeArrowheads="1"/>
          </p:cNvSpPr>
          <p:nvPr/>
        </p:nvSpPr>
        <p:spPr bwMode="auto">
          <a:xfrm>
            <a:off x="857250" y="4500563"/>
            <a:ext cx="7924800" cy="534987"/>
          </a:xfrm>
          <a:prstGeom prst="rect">
            <a:avLst/>
          </a:prstGeom>
          <a:noFill/>
          <a:ln w="12700" cap="sq">
            <a:noFill/>
            <a:miter lim="800000"/>
          </a:ln>
        </p:spPr>
        <p:txBody>
          <a:bodyPr>
            <a:spAutoFit/>
          </a:bodyPr>
          <a:lstStyle/>
          <a:p>
            <a:pPr>
              <a:lnSpc>
                <a:spcPct val="120000"/>
              </a:lnSpc>
              <a:spcBef>
                <a:spcPct val="50000"/>
              </a:spcBef>
              <a:buClr>
                <a:srgbClr val="FF0000"/>
              </a:buClr>
              <a:defRPr/>
            </a:pPr>
            <a:r>
              <a:rPr kumimoji="1" lang="zh-CN" altLang="en-US" b="1" dirty="0">
                <a:latin typeface="+mn-ea"/>
                <a:ea typeface="+mn-ea"/>
              </a:rPr>
              <a:t>单位名称：帕斯卡，符号</a:t>
            </a:r>
            <a:r>
              <a:rPr kumimoji="1" lang="en-US" altLang="zh-CN" b="1" dirty="0">
                <a:ea typeface="+mn-ea"/>
                <a:cs typeface="Times New Roman" panose="02020603050405020304" pitchFamily="18" charset="0"/>
              </a:rPr>
              <a:t>Pa (</a:t>
            </a:r>
            <a:r>
              <a:rPr kumimoji="1" lang="en-US" altLang="zh-CN" b="1" dirty="0">
                <a:latin typeface="+mn-ea"/>
                <a:ea typeface="+mn-ea"/>
              </a:rPr>
              <a:t>SI</a:t>
            </a:r>
            <a:r>
              <a:rPr kumimoji="1" lang="zh-CN" altLang="en-US" b="1" dirty="0">
                <a:latin typeface="+mn-ea"/>
                <a:ea typeface="+mn-ea"/>
              </a:rPr>
              <a:t>制</a:t>
            </a:r>
            <a:r>
              <a:rPr kumimoji="1" lang="en-US" altLang="zh-CN" b="1" dirty="0">
                <a:ea typeface="+mn-ea"/>
                <a:cs typeface="Times New Roman" panose="02020603050405020304" pitchFamily="18" charset="0"/>
              </a:rPr>
              <a:t>);</a:t>
            </a:r>
            <a:r>
              <a:rPr kumimoji="1" lang="en-US" altLang="zh-CN" b="1" dirty="0">
                <a:solidFill>
                  <a:srgbClr val="FF6600"/>
                </a:solidFill>
                <a:ea typeface="楷体_GB2312" pitchFamily="49" charset="-122"/>
              </a:rPr>
              <a:t> 1 Pa = 1 N·m</a:t>
            </a:r>
            <a:r>
              <a:rPr kumimoji="1" lang="en-US" altLang="zh-CN" b="1" baseline="30000" dirty="0">
                <a:solidFill>
                  <a:srgbClr val="FF6600"/>
                </a:solidFill>
                <a:ea typeface="楷体_GB2312" pitchFamily="49" charset="-122"/>
              </a:rPr>
              <a:t>-2</a:t>
            </a:r>
            <a:r>
              <a:rPr kumimoji="1" lang="zh-CN" altLang="en-US" b="1" dirty="0">
                <a:ea typeface="楷体_GB2312" pitchFamily="49" charset="-122"/>
              </a:rPr>
              <a:t>。</a:t>
            </a:r>
            <a:endParaRPr kumimoji="1" lang="zh-CN" altLang="en-US" b="1" dirty="0">
              <a:ea typeface="+mn-ea"/>
              <a:cs typeface="Times New Roman" panose="02020603050405020304" pitchFamily="18" charset="0"/>
            </a:endParaRPr>
          </a:p>
        </p:txBody>
      </p:sp>
      <p:sp>
        <p:nvSpPr>
          <p:cNvPr id="12" name="Text Box 22"/>
          <p:cNvSpPr txBox="1">
            <a:spLocks noChangeArrowheads="1"/>
          </p:cNvSpPr>
          <p:nvPr/>
        </p:nvSpPr>
        <p:spPr bwMode="auto">
          <a:xfrm>
            <a:off x="857250" y="5072063"/>
            <a:ext cx="7786688" cy="1130300"/>
          </a:xfrm>
          <a:prstGeom prst="rect">
            <a:avLst/>
          </a:prstGeom>
          <a:noFill/>
          <a:ln w="12700" cap="sq">
            <a:noFill/>
            <a:miter lim="800000"/>
          </a:ln>
        </p:spPr>
        <p:txBody>
          <a:bodyPr>
            <a:spAutoFit/>
          </a:bodyPr>
          <a:lstStyle/>
          <a:p>
            <a:pPr algn="just">
              <a:lnSpc>
                <a:spcPct val="150000"/>
              </a:lnSpc>
              <a:spcBef>
                <a:spcPct val="50000"/>
              </a:spcBef>
              <a:buClr>
                <a:srgbClr val="FF0000"/>
              </a:buClr>
              <a:defRPr/>
            </a:pPr>
            <a:r>
              <a:rPr kumimoji="1" lang="en-US" altLang="zh-CN" b="1" dirty="0">
                <a:latin typeface="+mn-ea"/>
                <a:ea typeface="+mn-ea"/>
              </a:rPr>
              <a:t>   1</a:t>
            </a:r>
            <a:r>
              <a:rPr kumimoji="1" lang="zh-CN" altLang="en-US" b="1" dirty="0">
                <a:latin typeface="+mn-ea"/>
                <a:ea typeface="+mn-ea"/>
              </a:rPr>
              <a:t>个</a:t>
            </a:r>
            <a:r>
              <a:rPr kumimoji="1" lang="zh-CN" altLang="en-US" b="1" dirty="0">
                <a:solidFill>
                  <a:srgbClr val="FF6600"/>
                </a:solidFill>
                <a:latin typeface="+mn-ea"/>
                <a:ea typeface="+mn-ea"/>
              </a:rPr>
              <a:t>标准大气压</a:t>
            </a:r>
            <a:r>
              <a:rPr kumimoji="1" lang="en-US" altLang="zh-CN" b="1" dirty="0">
                <a:ea typeface="+mn-ea"/>
                <a:cs typeface="Times New Roman" panose="02020603050405020304" pitchFamily="18" charset="0"/>
              </a:rPr>
              <a:t>(1atm)</a:t>
            </a:r>
            <a:r>
              <a:rPr kumimoji="1" lang="zh-CN" altLang="en-US" b="1" dirty="0">
                <a:latin typeface="+mn-ea"/>
                <a:ea typeface="+mn-ea"/>
              </a:rPr>
              <a:t>：纬度</a:t>
            </a:r>
            <a:r>
              <a:rPr kumimoji="1" lang="en-US" altLang="zh-CN" b="1" dirty="0">
                <a:ea typeface="+mn-ea"/>
                <a:cs typeface="Times New Roman" panose="02020603050405020304" pitchFamily="18" charset="0"/>
              </a:rPr>
              <a:t>45°</a:t>
            </a:r>
            <a:r>
              <a:rPr kumimoji="1" lang="en-US" altLang="zh-CN" b="1" dirty="0">
                <a:latin typeface="+mn-ea"/>
                <a:ea typeface="+mn-ea"/>
                <a:cs typeface="Times New Roman" panose="02020603050405020304" pitchFamily="18" charset="0"/>
              </a:rPr>
              <a:t>,</a:t>
            </a:r>
            <a:r>
              <a:rPr kumimoji="1" lang="zh-CN" altLang="en-US" b="1" dirty="0">
                <a:latin typeface="+mn-ea"/>
                <a:ea typeface="+mn-ea"/>
              </a:rPr>
              <a:t>海平面处所测得 </a:t>
            </a:r>
            <a:r>
              <a:rPr kumimoji="1" lang="en-US" altLang="zh-CN" b="1" dirty="0">
                <a:ea typeface="+mn-ea"/>
                <a:cs typeface="Times New Roman" panose="02020603050405020304" pitchFamily="18" charset="0"/>
              </a:rPr>
              <a:t>0℃</a:t>
            </a:r>
            <a:r>
              <a:rPr kumimoji="1" lang="en-US" altLang="zh-CN" b="1" dirty="0">
                <a:latin typeface="+mn-ea"/>
                <a:ea typeface="+mn-ea"/>
              </a:rPr>
              <a:t> </a:t>
            </a:r>
            <a:r>
              <a:rPr kumimoji="1" lang="zh-CN" altLang="en-US" b="1" dirty="0">
                <a:latin typeface="+mn-ea"/>
                <a:ea typeface="+mn-ea"/>
              </a:rPr>
              <a:t>时的大气压值</a:t>
            </a:r>
            <a:r>
              <a:rPr kumimoji="1" lang="en-US" altLang="zh-CN" b="1" dirty="0">
                <a:latin typeface="+mn-ea"/>
                <a:ea typeface="+mn-ea"/>
              </a:rPr>
              <a:t>,</a:t>
            </a:r>
            <a:r>
              <a:rPr kumimoji="1" lang="en-US" altLang="zh-CN" b="1" dirty="0">
                <a:cs typeface="Times New Roman" panose="02020603050405020304" pitchFamily="18" charset="0"/>
              </a:rPr>
              <a:t> </a:t>
            </a:r>
            <a:r>
              <a:rPr kumimoji="1" lang="en-US" altLang="zh-CN" b="1" dirty="0">
                <a:solidFill>
                  <a:srgbClr val="FF6600"/>
                </a:solidFill>
                <a:cs typeface="Times New Roman" panose="02020603050405020304" pitchFamily="18" charset="0"/>
              </a:rPr>
              <a:t>1atm =</a:t>
            </a:r>
            <a:r>
              <a:rPr kumimoji="1" lang="en-US" altLang="zh-CN" b="1" dirty="0">
                <a:solidFill>
                  <a:srgbClr val="FF6600"/>
                </a:solidFill>
                <a:ea typeface="+mn-ea"/>
                <a:cs typeface="Times New Roman" panose="02020603050405020304" pitchFamily="18" charset="0"/>
              </a:rPr>
              <a:t>1.013×10</a:t>
            </a:r>
            <a:r>
              <a:rPr kumimoji="1" lang="en-US" altLang="zh-CN" b="1" baseline="30000" dirty="0">
                <a:solidFill>
                  <a:srgbClr val="FF6600"/>
                </a:solidFill>
                <a:ea typeface="+mn-ea"/>
                <a:cs typeface="Times New Roman" panose="02020603050405020304" pitchFamily="18" charset="0"/>
              </a:rPr>
              <a:t>5</a:t>
            </a:r>
            <a:r>
              <a:rPr kumimoji="1" lang="en-US" altLang="zh-CN" b="1" dirty="0">
                <a:solidFill>
                  <a:srgbClr val="FF6600"/>
                </a:solidFill>
                <a:ea typeface="+mn-ea"/>
                <a:cs typeface="Times New Roman" panose="02020603050405020304" pitchFamily="18" charset="0"/>
              </a:rPr>
              <a:t>Pa</a:t>
            </a:r>
            <a:r>
              <a:rPr kumimoji="1" lang="zh-CN" altLang="en-US" b="1" dirty="0">
                <a:latin typeface="+mn-ea"/>
                <a:ea typeface="+mn-ea"/>
              </a:rPr>
              <a:t>。</a:t>
            </a:r>
            <a:endParaRPr kumimoji="1" lang="zh-CN" altLang="en-US"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2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left)">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left)">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25" grpId="0"/>
      <p:bldP spid="26" grpId="0" autoUpdateAnimBg="0"/>
      <p:bldP spid="27" grpId="0" autoUpdateAnimBg="0"/>
      <p:bldP spid="28" grpId="0" autoUpdateAnimBg="0"/>
      <p:bldP spid="29" grpId="0" autoUpdateAnimBg="0"/>
      <p:bldP spid="30" grpId="0" autoUpdateAnimBg="0"/>
      <p:bldP spid="31" grpId="0" autoUpdateAnimBg="0"/>
      <p:bldP spid="1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468313" y="3284538"/>
            <a:ext cx="7454900" cy="493712"/>
          </a:xfrm>
          <a:prstGeom prst="rect">
            <a:avLst/>
          </a:prstGeom>
          <a:noFill/>
          <a:ln w="9525">
            <a:noFill/>
            <a:miter lim="800000"/>
          </a:ln>
          <a:effectLst>
            <a:outerShdw blurRad="50800" dist="50800" dir="5400000" algn="ctr" rotWithShape="0">
              <a:schemeClr val="bg1"/>
            </a:outerShdw>
          </a:effectLst>
        </p:spPr>
        <p:txBody>
          <a:bodyPr wrap="none">
            <a:spAutoFit/>
          </a:bodyPr>
          <a:lstStyle/>
          <a:p>
            <a:pPr algn="ctr">
              <a:lnSpc>
                <a:spcPct val="120000"/>
              </a:lnSpc>
              <a:defRPr/>
            </a:pPr>
            <a:r>
              <a:rPr kumimoji="1" lang="en-US" altLang="zh-CN" b="1" dirty="0">
                <a:cs typeface="Times New Roman" panose="02020603050405020304" pitchFamily="18" charset="0"/>
              </a:rPr>
              <a:t>1</a:t>
            </a:r>
            <a:r>
              <a:rPr kumimoji="1" lang="zh-CN" altLang="en-US" b="1" dirty="0">
                <a:cs typeface="Times New Roman" panose="02020603050405020304" pitchFamily="18" charset="0"/>
              </a:rPr>
              <a:t>、</a:t>
            </a:r>
            <a:r>
              <a:rPr kumimoji="1" lang="zh-CN" altLang="en-US" b="1" dirty="0">
                <a:latin typeface="+mn-ea"/>
                <a:ea typeface="+mn-ea"/>
              </a:rPr>
              <a:t>要选定一种合适物质（称测温物质）的测温特性；</a:t>
            </a:r>
            <a:endParaRPr kumimoji="1" lang="zh-CN" altLang="en-US" b="1" dirty="0">
              <a:latin typeface="+mn-ea"/>
              <a:ea typeface="+mn-ea"/>
            </a:endParaRPr>
          </a:p>
        </p:txBody>
      </p:sp>
      <p:sp>
        <p:nvSpPr>
          <p:cNvPr id="160771" name="Text Box 3"/>
          <p:cNvSpPr txBox="1">
            <a:spLocks noChangeArrowheads="1"/>
          </p:cNvSpPr>
          <p:nvPr/>
        </p:nvSpPr>
        <p:spPr bwMode="auto">
          <a:xfrm>
            <a:off x="468313" y="2708275"/>
            <a:ext cx="4679950" cy="457200"/>
          </a:xfrm>
          <a:prstGeom prst="rect">
            <a:avLst/>
          </a:prstGeom>
          <a:noFill/>
          <a:ln w="12700" cap="sq">
            <a:noFill/>
            <a:miter lim="800000"/>
            <a:headEnd type="none" w="sm" len="sm"/>
            <a:tailEnd type="none" w="sm" len="sm"/>
          </a:ln>
        </p:spPr>
        <p:txBody>
          <a:bodyPr>
            <a:spAutoFit/>
          </a:bodyPr>
          <a:lstStyle/>
          <a:p>
            <a:pPr algn="ctr">
              <a:buClr>
                <a:srgbClr val="FF0000"/>
              </a:buClr>
              <a:buFont typeface="Wingdings" panose="05000000000000000000" pitchFamily="2" charset="2"/>
              <a:buChar char="Ø"/>
            </a:pPr>
            <a:r>
              <a:rPr kumimoji="1" lang="en-US" altLang="zh-CN" b="1">
                <a:solidFill>
                  <a:srgbClr val="0000FF"/>
                </a:solidFill>
                <a:latin typeface="宋体" panose="02010600030101010101" pitchFamily="2" charset="-122"/>
              </a:rPr>
              <a:t> </a:t>
            </a:r>
            <a:r>
              <a:rPr kumimoji="1" lang="zh-CN" altLang="en-US" b="1">
                <a:solidFill>
                  <a:srgbClr val="0000FF"/>
                </a:solidFill>
                <a:latin typeface="宋体" panose="02010600030101010101" pitchFamily="2" charset="-122"/>
              </a:rPr>
              <a:t>温度的数值表示的主要步骤：</a:t>
            </a:r>
            <a:endParaRPr kumimoji="1" lang="zh-CN" altLang="en-US" b="1">
              <a:solidFill>
                <a:srgbClr val="0000FF"/>
              </a:solidFill>
              <a:latin typeface="宋体" panose="02010600030101010101" pitchFamily="2" charset="-122"/>
            </a:endParaRPr>
          </a:p>
        </p:txBody>
      </p:sp>
      <p:sp>
        <p:nvSpPr>
          <p:cNvPr id="160775" name="Text Box 7"/>
          <p:cNvSpPr txBox="1">
            <a:spLocks noChangeArrowheads="1"/>
          </p:cNvSpPr>
          <p:nvPr/>
        </p:nvSpPr>
        <p:spPr bwMode="auto">
          <a:xfrm>
            <a:off x="468313" y="4003675"/>
            <a:ext cx="7781925" cy="461963"/>
          </a:xfrm>
          <a:prstGeom prst="rect">
            <a:avLst/>
          </a:prstGeom>
          <a:noFill/>
          <a:ln w="9525">
            <a:noFill/>
            <a:miter lim="800000"/>
          </a:ln>
        </p:spPr>
        <p:txBody>
          <a:bodyPr wrap="none">
            <a:spAutoFit/>
          </a:bodyPr>
          <a:lstStyle/>
          <a:p>
            <a:pPr algn="ctr"/>
            <a:r>
              <a:rPr kumimoji="1" lang="en-US" altLang="zh-CN" b="1">
                <a:cs typeface="Times New Roman" panose="02020603050405020304" pitchFamily="18" charset="0"/>
              </a:rPr>
              <a:t>2</a:t>
            </a:r>
            <a:r>
              <a:rPr kumimoji="1" lang="zh-CN" altLang="en-US" b="1">
                <a:cs typeface="Times New Roman" panose="02020603050405020304" pitchFamily="18" charset="0"/>
              </a:rPr>
              <a:t>、</a:t>
            </a:r>
            <a:r>
              <a:rPr kumimoji="1" lang="zh-CN" altLang="en-US" b="1">
                <a:latin typeface="Arial" panose="020B0604020202020204" pitchFamily="34" charset="0"/>
              </a:rPr>
              <a:t>规定测温质的测温特性与温度的依赖关系（线性）；</a:t>
            </a:r>
            <a:endParaRPr kumimoji="1" lang="zh-CN" altLang="en-US" b="1">
              <a:latin typeface="Arial" panose="020B0604020202020204" pitchFamily="34" charset="0"/>
            </a:endParaRPr>
          </a:p>
        </p:txBody>
      </p:sp>
      <p:sp>
        <p:nvSpPr>
          <p:cNvPr id="160776" name="Text Box 8"/>
          <p:cNvSpPr txBox="1">
            <a:spLocks noChangeArrowheads="1"/>
          </p:cNvSpPr>
          <p:nvPr/>
        </p:nvSpPr>
        <p:spPr bwMode="auto">
          <a:xfrm>
            <a:off x="500063" y="4651375"/>
            <a:ext cx="7180262" cy="979488"/>
          </a:xfrm>
          <a:prstGeom prst="rect">
            <a:avLst/>
          </a:prstGeom>
          <a:noFill/>
          <a:ln w="9525">
            <a:noFill/>
            <a:miter lim="800000"/>
          </a:ln>
        </p:spPr>
        <p:txBody>
          <a:bodyPr wrap="none">
            <a:spAutoFit/>
          </a:bodyPr>
          <a:lstStyle/>
          <a:p>
            <a:pPr>
              <a:lnSpc>
                <a:spcPct val="120000"/>
              </a:lnSpc>
            </a:pPr>
            <a:r>
              <a:rPr kumimoji="1" lang="en-US" altLang="zh-CN" b="1">
                <a:cs typeface="Times New Roman" panose="02020603050405020304" pitchFamily="18" charset="0"/>
              </a:rPr>
              <a:t>3</a:t>
            </a:r>
            <a:r>
              <a:rPr kumimoji="1" lang="zh-CN" altLang="en-US" b="1">
                <a:cs typeface="Times New Roman" panose="02020603050405020304" pitchFamily="18" charset="0"/>
              </a:rPr>
              <a:t>、</a:t>
            </a:r>
            <a:r>
              <a:rPr kumimoji="1" lang="zh-CN" altLang="en-US" b="1">
                <a:latin typeface="Arial" panose="020B0604020202020204" pitchFamily="34" charset="0"/>
              </a:rPr>
              <a:t>选定温度的标准点（固定点），并把一定间隔的</a:t>
            </a:r>
            <a:endParaRPr kumimoji="1" lang="en-US" altLang="zh-CN" b="1">
              <a:latin typeface="Arial" panose="020B0604020202020204" pitchFamily="34" charset="0"/>
            </a:endParaRPr>
          </a:p>
          <a:p>
            <a:pPr>
              <a:lnSpc>
                <a:spcPct val="120000"/>
              </a:lnSpc>
            </a:pPr>
            <a:r>
              <a:rPr kumimoji="1" lang="zh-CN" altLang="en-US" b="1">
                <a:latin typeface="Arial" panose="020B0604020202020204" pitchFamily="34" charset="0"/>
              </a:rPr>
              <a:t>      冷热程度分为若干度。 </a:t>
            </a:r>
            <a:endParaRPr kumimoji="1" lang="zh-CN" altLang="en-US" b="1">
              <a:latin typeface="Arial" panose="020B0604020202020204" pitchFamily="34" charset="0"/>
            </a:endParaRPr>
          </a:p>
        </p:txBody>
      </p:sp>
      <p:sp>
        <p:nvSpPr>
          <p:cNvPr id="160777" name="Text Box 9"/>
          <p:cNvSpPr txBox="1">
            <a:spLocks noChangeArrowheads="1"/>
          </p:cNvSpPr>
          <p:nvPr/>
        </p:nvSpPr>
        <p:spPr bwMode="auto">
          <a:xfrm>
            <a:off x="457200" y="762000"/>
            <a:ext cx="1828800" cy="457200"/>
          </a:xfrm>
          <a:prstGeom prst="rect">
            <a:avLst/>
          </a:prstGeom>
          <a:noFill/>
          <a:ln w="9525">
            <a:noFill/>
            <a:miter lim="800000"/>
          </a:ln>
        </p:spPr>
        <p:txBody>
          <a:bodyPr>
            <a:spAutoFit/>
          </a:bodyPr>
          <a:lstStyle/>
          <a:p>
            <a:pPr algn="ctr">
              <a:spcBef>
                <a:spcPct val="50000"/>
              </a:spcBef>
              <a:buClr>
                <a:srgbClr val="0000FF"/>
              </a:buClr>
              <a:buFont typeface="Wingdings" panose="05000000000000000000" pitchFamily="2" charset="2"/>
              <a:buChar char="v"/>
            </a:pPr>
            <a:r>
              <a:rPr kumimoji="1" lang="en-US" altLang="zh-CN" b="1"/>
              <a:t>   </a:t>
            </a:r>
            <a:r>
              <a:rPr kumimoji="1" lang="zh-CN" altLang="en-US" b="1">
                <a:solidFill>
                  <a:srgbClr val="FF6600"/>
                </a:solidFill>
              </a:rPr>
              <a:t>温度</a:t>
            </a:r>
            <a:r>
              <a:rPr kumimoji="1" lang="en-US" altLang="zh-CN" b="1">
                <a:solidFill>
                  <a:srgbClr val="FF6600"/>
                </a:solidFill>
              </a:rPr>
              <a:t>(</a:t>
            </a:r>
            <a:r>
              <a:rPr kumimoji="1" lang="en-US" altLang="zh-CN" b="1" i="1">
                <a:solidFill>
                  <a:srgbClr val="FF6600"/>
                </a:solidFill>
              </a:rPr>
              <a:t>T </a:t>
            </a:r>
            <a:r>
              <a:rPr kumimoji="1" lang="en-US" altLang="zh-CN" b="1">
                <a:solidFill>
                  <a:srgbClr val="FF6600"/>
                </a:solidFill>
              </a:rPr>
              <a:t>)</a:t>
            </a:r>
            <a:endParaRPr kumimoji="1" lang="en-US" altLang="zh-CN" b="1">
              <a:solidFill>
                <a:srgbClr val="FF6600"/>
              </a:solidFill>
            </a:endParaRPr>
          </a:p>
        </p:txBody>
      </p:sp>
      <p:sp>
        <p:nvSpPr>
          <p:cNvPr id="160778" name="Text Box 10"/>
          <p:cNvSpPr txBox="1">
            <a:spLocks noChangeArrowheads="1"/>
          </p:cNvSpPr>
          <p:nvPr/>
        </p:nvSpPr>
        <p:spPr bwMode="auto">
          <a:xfrm>
            <a:off x="2357438" y="785813"/>
            <a:ext cx="4214812" cy="457200"/>
          </a:xfrm>
          <a:prstGeom prst="rect">
            <a:avLst/>
          </a:prstGeom>
          <a:noFill/>
          <a:ln w="12700" cap="sq">
            <a:noFill/>
            <a:miter lim="800000"/>
          </a:ln>
        </p:spPr>
        <p:txBody>
          <a:bodyPr>
            <a:spAutoFit/>
          </a:bodyPr>
          <a:lstStyle/>
          <a:p>
            <a:pPr algn="ctr">
              <a:spcBef>
                <a:spcPct val="50000"/>
              </a:spcBef>
            </a:pPr>
            <a:r>
              <a:rPr kumimoji="1" lang="zh-CN" altLang="en-US" b="1">
                <a:latin typeface="宋体" panose="02010600030101010101" pitchFamily="2" charset="-122"/>
              </a:rPr>
              <a:t>表示物体冷热程度的物理量。</a:t>
            </a:r>
            <a:endParaRPr kumimoji="1" lang="zh-CN" altLang="en-US" b="1"/>
          </a:p>
        </p:txBody>
      </p:sp>
      <p:sp>
        <p:nvSpPr>
          <p:cNvPr id="160779" name="Text Box 11"/>
          <p:cNvSpPr txBox="1">
            <a:spLocks noChangeArrowheads="1"/>
          </p:cNvSpPr>
          <p:nvPr/>
        </p:nvSpPr>
        <p:spPr bwMode="auto">
          <a:xfrm>
            <a:off x="2135188" y="1363663"/>
            <a:ext cx="3897312" cy="461962"/>
          </a:xfrm>
          <a:prstGeom prst="rect">
            <a:avLst/>
          </a:prstGeom>
          <a:noFill/>
          <a:ln w="12700" cap="sq">
            <a:noFill/>
            <a:miter lim="800000"/>
            <a:headEnd type="none" w="sm" len="sm"/>
            <a:tailEnd type="none" w="sm" len="sm"/>
          </a:ln>
        </p:spPr>
        <p:txBody>
          <a:bodyPr wrap="none">
            <a:spAutoFit/>
          </a:bodyPr>
          <a:lstStyle/>
          <a:p>
            <a:pPr algn="ctr"/>
            <a:r>
              <a:rPr kumimoji="1" lang="zh-CN" altLang="en-US" b="1">
                <a:solidFill>
                  <a:srgbClr val="FF6600"/>
                </a:solidFill>
                <a:latin typeface="宋体" panose="02010600030101010101" pitchFamily="2" charset="-122"/>
              </a:rPr>
              <a:t>温标：</a:t>
            </a:r>
            <a:r>
              <a:rPr kumimoji="1" lang="zh-CN" altLang="en-US" b="1">
                <a:latin typeface="宋体" panose="02010600030101010101" pitchFamily="2" charset="-122"/>
              </a:rPr>
              <a:t>温度的</a:t>
            </a:r>
            <a:r>
              <a:rPr kumimoji="1" lang="zh-CN" altLang="en-US" b="1">
                <a:solidFill>
                  <a:srgbClr val="FF6600"/>
                </a:solidFill>
                <a:latin typeface="宋体" panose="02010600030101010101" pitchFamily="2" charset="-122"/>
              </a:rPr>
              <a:t>数值</a:t>
            </a:r>
            <a:r>
              <a:rPr kumimoji="1" lang="zh-CN" altLang="en-US" b="1">
                <a:latin typeface="宋体" panose="02010600030101010101" pitchFamily="2" charset="-122"/>
              </a:rPr>
              <a:t>表示方法</a:t>
            </a:r>
            <a:endParaRPr kumimoji="1" lang="zh-CN" altLang="en-US" b="1">
              <a:latin typeface="宋体" panose="02010600030101010101" pitchFamily="2" charset="-122"/>
            </a:endParaRPr>
          </a:p>
        </p:txBody>
      </p:sp>
      <p:sp>
        <p:nvSpPr>
          <p:cNvPr id="160780" name="Text Box 12"/>
          <p:cNvSpPr txBox="1">
            <a:spLocks noChangeArrowheads="1"/>
          </p:cNvSpPr>
          <p:nvPr/>
        </p:nvSpPr>
        <p:spPr bwMode="auto">
          <a:xfrm>
            <a:off x="2098675" y="1960563"/>
            <a:ext cx="5318125" cy="457200"/>
          </a:xfrm>
          <a:prstGeom prst="rect">
            <a:avLst/>
          </a:prstGeom>
          <a:noFill/>
          <a:ln w="12700" cap="sq">
            <a:noFill/>
            <a:miter lim="800000"/>
            <a:headEnd type="none" w="sm" len="sm"/>
            <a:tailEnd type="none" w="sm" len="sm"/>
          </a:ln>
        </p:spPr>
        <p:txBody>
          <a:bodyPr wrap="none">
            <a:spAutoFit/>
          </a:bodyPr>
          <a:lstStyle/>
          <a:p>
            <a:pPr algn="ctr"/>
            <a:r>
              <a:rPr kumimoji="1" lang="zh-CN" altLang="en-US" b="1">
                <a:latin typeface="楷体_GB2312" pitchFamily="49" charset="-122"/>
              </a:rPr>
              <a:t>国际上规定水的三相点温度为</a:t>
            </a:r>
            <a:r>
              <a:rPr kumimoji="1" lang="en-US" altLang="zh-CN" b="1">
                <a:solidFill>
                  <a:srgbClr val="FF6600"/>
                </a:solidFill>
              </a:rPr>
              <a:t>273.16 K</a:t>
            </a:r>
            <a:endParaRPr kumimoji="1" lang="en-US" altLang="zh-CN" b="1">
              <a:solidFill>
                <a:srgbClr val="FF66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77">
                                            <p:txEl>
                                              <p:pRg st="0" end="0"/>
                                            </p:txEl>
                                          </p:spTgt>
                                        </p:tgtEl>
                                        <p:attrNameLst>
                                          <p:attrName>style.visibility</p:attrName>
                                        </p:attrNameLst>
                                      </p:cBhvr>
                                      <p:to>
                                        <p:strVal val="visible"/>
                                      </p:to>
                                    </p:set>
                                    <p:animEffect transition="in" filter="wipe(left)">
                                      <p:cBhvr>
                                        <p:cTn id="7" dur="500"/>
                                        <p:tgtEl>
                                          <p:spTgt spid="1607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8"/>
                                        </p:tgtEl>
                                        <p:attrNameLst>
                                          <p:attrName>style.visibility</p:attrName>
                                        </p:attrNameLst>
                                      </p:cBhvr>
                                      <p:to>
                                        <p:strVal val="visible"/>
                                      </p:to>
                                    </p:set>
                                    <p:animEffect transition="in" filter="wipe(left)">
                                      <p:cBhvr>
                                        <p:cTn id="12" dur="500"/>
                                        <p:tgtEl>
                                          <p:spTgt spid="1607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779"/>
                                        </p:tgtEl>
                                        <p:attrNameLst>
                                          <p:attrName>style.visibility</p:attrName>
                                        </p:attrNameLst>
                                      </p:cBhvr>
                                      <p:to>
                                        <p:strVal val="visible"/>
                                      </p:to>
                                    </p:set>
                                    <p:animEffect transition="in" filter="wipe(left)">
                                      <p:cBhvr>
                                        <p:cTn id="17" dur="500"/>
                                        <p:tgtEl>
                                          <p:spTgt spid="16077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0780"/>
                                        </p:tgtEl>
                                        <p:attrNameLst>
                                          <p:attrName>style.visibility</p:attrName>
                                        </p:attrNameLst>
                                      </p:cBhvr>
                                      <p:to>
                                        <p:strVal val="visible"/>
                                      </p:to>
                                    </p:set>
                                    <p:animEffect transition="in" filter="wipe(left)">
                                      <p:cBhvr>
                                        <p:cTn id="22" dur="500"/>
                                        <p:tgtEl>
                                          <p:spTgt spid="1607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0771"/>
                                        </p:tgtEl>
                                        <p:attrNameLst>
                                          <p:attrName>style.visibility</p:attrName>
                                        </p:attrNameLst>
                                      </p:cBhvr>
                                      <p:to>
                                        <p:strVal val="visible"/>
                                      </p:to>
                                    </p:set>
                                    <p:animEffect transition="in" filter="wipe(left)">
                                      <p:cBhvr>
                                        <p:cTn id="27" dur="500"/>
                                        <p:tgtEl>
                                          <p:spTgt spid="16077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60770"/>
                                        </p:tgtEl>
                                        <p:attrNameLst>
                                          <p:attrName>style.visibility</p:attrName>
                                        </p:attrNameLst>
                                      </p:cBhvr>
                                      <p:to>
                                        <p:strVal val="visible"/>
                                      </p:to>
                                    </p:set>
                                    <p:animEffect transition="in" filter="checkerboard(across)">
                                      <p:cBhvr>
                                        <p:cTn id="32" dur="500"/>
                                        <p:tgtEl>
                                          <p:spTgt spid="160770"/>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60775"/>
                                        </p:tgtEl>
                                        <p:attrNameLst>
                                          <p:attrName>style.visibility</p:attrName>
                                        </p:attrNameLst>
                                      </p:cBhvr>
                                      <p:to>
                                        <p:strVal val="visible"/>
                                      </p:to>
                                    </p:set>
                                    <p:animEffect transition="in" filter="checkerboard(across)">
                                      <p:cBhvr>
                                        <p:cTn id="37" dur="500"/>
                                        <p:tgtEl>
                                          <p:spTgt spid="160775"/>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60776"/>
                                        </p:tgtEl>
                                        <p:attrNameLst>
                                          <p:attrName>style.visibility</p:attrName>
                                        </p:attrNameLst>
                                      </p:cBhvr>
                                      <p:to>
                                        <p:strVal val="visible"/>
                                      </p:to>
                                    </p:set>
                                    <p:animEffect transition="in" filter="checkerboard(across)">
                                      <p:cBhvr>
                                        <p:cTn id="42" dur="500"/>
                                        <p:tgtEl>
                                          <p:spTgt spid="160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utoUpdateAnimBg="0"/>
      <p:bldP spid="160771" grpId="0" autoUpdateAnimBg="0"/>
      <p:bldP spid="160775" grpId="0" autoUpdateAnimBg="0"/>
      <p:bldP spid="160776" grpId="0" autoUpdateAnimBg="0"/>
      <p:bldP spid="160777" grpId="0" autoUpdateAnimBg="0" build="p"/>
      <p:bldP spid="160778" grpId="0" autoUpdateAnimBg="0"/>
      <p:bldP spid="160779" grpId="0" autoUpdateAnimBg="0"/>
      <p:bldP spid="16078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8"/>
          <p:cNvSpPr txBox="1">
            <a:spLocks noChangeArrowheads="1"/>
          </p:cNvSpPr>
          <p:nvPr/>
        </p:nvSpPr>
        <p:spPr bwMode="auto">
          <a:xfrm>
            <a:off x="357188" y="785813"/>
            <a:ext cx="6215062" cy="503237"/>
          </a:xfrm>
          <a:prstGeom prst="rect">
            <a:avLst/>
          </a:prstGeom>
          <a:noFill/>
          <a:ln w="9525">
            <a:noFill/>
            <a:miter lim="800000"/>
          </a:ln>
        </p:spPr>
        <p:txBody>
          <a:bodyPr>
            <a:spAutoFit/>
          </a:bodyPr>
          <a:lstStyle/>
          <a:p>
            <a:pPr eaLnBrk="0" hangingPunct="0">
              <a:lnSpc>
                <a:spcPct val="120000"/>
              </a:lnSpc>
            </a:pPr>
            <a:r>
              <a:rPr lang="zh-CN" altLang="en-US" b="1">
                <a:solidFill>
                  <a:srgbClr val="0000FF"/>
                </a:solidFill>
                <a:cs typeface="Times New Roman" panose="02020603050405020304" pitchFamily="18" charset="0"/>
              </a:rPr>
              <a:t>（</a:t>
            </a:r>
            <a:r>
              <a:rPr lang="en-US" altLang="zh-CN" b="1">
                <a:solidFill>
                  <a:srgbClr val="0000FF"/>
                </a:solidFill>
                <a:cs typeface="Times New Roman" panose="02020603050405020304" pitchFamily="18" charset="0"/>
              </a:rPr>
              <a:t>1</a:t>
            </a:r>
            <a:r>
              <a:rPr lang="zh-CN" altLang="en-US" b="1">
                <a:solidFill>
                  <a:srgbClr val="0000FF"/>
                </a:solidFill>
                <a:cs typeface="Times New Roman" panose="02020603050405020304" pitchFamily="18" charset="0"/>
              </a:rPr>
              <a:t>）</a:t>
            </a:r>
            <a:r>
              <a:rPr lang="zh-CN" altLang="en-US" b="1">
                <a:solidFill>
                  <a:srgbClr val="0000FF"/>
                </a:solidFill>
                <a:latin typeface="Garamond" panose="02020404030301010803" pitchFamily="18" charset="0"/>
              </a:rPr>
              <a:t>华氏温标：</a:t>
            </a:r>
            <a:r>
              <a:rPr lang="zh-CN" altLang="en-US" b="1">
                <a:latin typeface="Garamond" panose="02020404030301010803" pitchFamily="18" charset="0"/>
              </a:rPr>
              <a:t>单位“华氏度”</a:t>
            </a:r>
            <a:r>
              <a:rPr lang="zh-CN" altLang="en-US" b="1">
                <a:solidFill>
                  <a:srgbClr val="FF6600"/>
                </a:solidFill>
                <a:latin typeface="Garamond" panose="02020404030301010803" pitchFamily="18" charset="0"/>
              </a:rPr>
              <a:t>（</a:t>
            </a:r>
            <a:r>
              <a:rPr lang="en-US" altLang="zh-CN" b="1">
                <a:solidFill>
                  <a:srgbClr val="FF6600"/>
                </a:solidFill>
                <a:latin typeface="Garamond" panose="02020404030301010803" pitchFamily="18" charset="0"/>
              </a:rPr>
              <a:t>ºF</a:t>
            </a:r>
            <a:r>
              <a:rPr lang="zh-CN" altLang="en-US" b="1">
                <a:solidFill>
                  <a:srgbClr val="FF6600"/>
                </a:solidFill>
                <a:latin typeface="Garamond" panose="02020404030301010803" pitchFamily="18" charset="0"/>
              </a:rPr>
              <a:t>）</a:t>
            </a:r>
            <a:endParaRPr lang="zh-CN" altLang="en-US" b="1">
              <a:latin typeface="Garamond" panose="02020404030301010803" pitchFamily="18" charset="0"/>
            </a:endParaRPr>
          </a:p>
        </p:txBody>
      </p:sp>
      <p:sp>
        <p:nvSpPr>
          <p:cNvPr id="61446" name="Text Box 6"/>
          <p:cNvSpPr txBox="1">
            <a:spLocks noChangeArrowheads="1"/>
          </p:cNvSpPr>
          <p:nvPr/>
        </p:nvSpPr>
        <p:spPr bwMode="auto">
          <a:xfrm>
            <a:off x="214313" y="357188"/>
            <a:ext cx="2286000" cy="457200"/>
          </a:xfrm>
          <a:prstGeom prst="rect">
            <a:avLst/>
          </a:prstGeom>
          <a:noFill/>
          <a:ln w="9525">
            <a:noFill/>
            <a:miter lim="800000"/>
          </a:ln>
        </p:spPr>
        <p:txBody>
          <a:bodyPr>
            <a:spAutoFit/>
          </a:bodyPr>
          <a:lstStyle/>
          <a:p>
            <a:pPr algn="ctr" eaLnBrk="0" hangingPunct="0"/>
            <a:r>
              <a:rPr lang="zh-CN" altLang="en-US" b="1">
                <a:solidFill>
                  <a:srgbClr val="FF0000"/>
                </a:solidFill>
              </a:rPr>
              <a:t>三种温标</a:t>
            </a:r>
            <a:r>
              <a:rPr lang="zh-CN" altLang="en-US" b="1">
                <a:solidFill>
                  <a:srgbClr val="FF0000"/>
                </a:solidFill>
                <a:latin typeface="Garamond" panose="02020404030301010803" pitchFamily="18" charset="0"/>
              </a:rPr>
              <a:t>：</a:t>
            </a:r>
            <a:endParaRPr lang="zh-CN" altLang="en-US" b="1">
              <a:solidFill>
                <a:srgbClr val="FF0000"/>
              </a:solidFill>
              <a:latin typeface="Garamond" panose="02020404030301010803" pitchFamily="18" charset="0"/>
            </a:endParaRPr>
          </a:p>
        </p:txBody>
      </p:sp>
      <p:graphicFrame>
        <p:nvGraphicFramePr>
          <p:cNvPr id="1026" name="Object 9"/>
          <p:cNvGraphicFramePr>
            <a:graphicFrameLocks noChangeAspect="1"/>
          </p:cNvGraphicFramePr>
          <p:nvPr/>
        </p:nvGraphicFramePr>
        <p:xfrm>
          <a:off x="3000375" y="2928938"/>
          <a:ext cx="2174875" cy="428625"/>
        </p:xfrm>
        <a:graphic>
          <a:graphicData uri="http://schemas.openxmlformats.org/presentationml/2006/ole">
            <mc:AlternateContent xmlns:mc="http://schemas.openxmlformats.org/markup-compatibility/2006">
              <mc:Choice xmlns:v="urn:schemas-microsoft-com:vml" Requires="v">
                <p:oleObj spid="_x0000_s1025" name="Equation" r:id="rId1" imgW="22555200" imgH="4267200" progId="Equation.DSMT4">
                  <p:embed/>
                </p:oleObj>
              </mc:Choice>
              <mc:Fallback>
                <p:oleObj name="Equation" r:id="rId1" imgW="22555200" imgH="4267200" progId="Equation.DSMT4">
                  <p:embed/>
                  <p:pic>
                    <p:nvPicPr>
                      <p:cNvPr id="0" name="Object 9"/>
                      <p:cNvPicPr>
                        <a:picLocks noChangeAspect="1"/>
                      </p:cNvPicPr>
                      <p:nvPr/>
                    </p:nvPicPr>
                    <p:blipFill>
                      <a:blip r:embed="rId2"/>
                      <a:stretch>
                        <a:fillRect/>
                      </a:stretch>
                    </p:blipFill>
                    <p:spPr>
                      <a:xfrm>
                        <a:off x="3000375" y="2928938"/>
                        <a:ext cx="2174875" cy="428625"/>
                      </a:xfrm>
                      <a:prstGeom prst="rect">
                        <a:avLst/>
                      </a:prstGeom>
                      <a:noFill/>
                      <a:ln w="9525">
                        <a:noFill/>
                      </a:ln>
                    </p:spPr>
                  </p:pic>
                </p:oleObj>
              </mc:Fallback>
            </mc:AlternateContent>
          </a:graphicData>
        </a:graphic>
      </p:graphicFrame>
      <p:sp>
        <p:nvSpPr>
          <p:cNvPr id="61450" name="Text Box 10"/>
          <p:cNvSpPr txBox="1">
            <a:spLocks noChangeArrowheads="1"/>
          </p:cNvSpPr>
          <p:nvPr/>
        </p:nvSpPr>
        <p:spPr bwMode="auto">
          <a:xfrm>
            <a:off x="357188" y="3521075"/>
            <a:ext cx="7940675" cy="493713"/>
          </a:xfrm>
          <a:prstGeom prst="rect">
            <a:avLst/>
          </a:prstGeom>
          <a:noFill/>
          <a:ln w="9525">
            <a:noFill/>
            <a:miter lim="800000"/>
          </a:ln>
        </p:spPr>
        <p:txBody>
          <a:bodyPr>
            <a:spAutoFit/>
          </a:bodyPr>
          <a:lstStyle/>
          <a:p>
            <a:pPr eaLnBrk="0" hangingPunct="0">
              <a:lnSpc>
                <a:spcPct val="120000"/>
              </a:lnSpc>
            </a:pPr>
            <a:r>
              <a:rPr lang="zh-CN" altLang="en-US" b="1">
                <a:solidFill>
                  <a:srgbClr val="0000FF"/>
                </a:solidFill>
                <a:cs typeface="Times New Roman" panose="02020603050405020304" pitchFamily="18" charset="0"/>
              </a:rPr>
              <a:t>（</a:t>
            </a:r>
            <a:r>
              <a:rPr lang="en-US" altLang="zh-CN" b="1">
                <a:solidFill>
                  <a:srgbClr val="0000FF"/>
                </a:solidFill>
                <a:cs typeface="Times New Roman" panose="02020603050405020304" pitchFamily="18" charset="0"/>
              </a:rPr>
              <a:t>2</a:t>
            </a:r>
            <a:r>
              <a:rPr lang="zh-CN" altLang="en-US" b="1">
                <a:solidFill>
                  <a:srgbClr val="0000FF"/>
                </a:solidFill>
                <a:cs typeface="Times New Roman" panose="02020603050405020304" pitchFamily="18" charset="0"/>
              </a:rPr>
              <a:t>）</a:t>
            </a:r>
            <a:r>
              <a:rPr lang="zh-CN" altLang="en-US" b="1">
                <a:solidFill>
                  <a:srgbClr val="0000FF"/>
                </a:solidFill>
              </a:rPr>
              <a:t>摄氏温标：</a:t>
            </a:r>
            <a:r>
              <a:rPr lang="zh-CN" altLang="en-US" b="1"/>
              <a:t>单位“摄氏度”</a:t>
            </a:r>
            <a:r>
              <a:rPr lang="zh-CN" altLang="en-US" b="1">
                <a:solidFill>
                  <a:srgbClr val="FF6600"/>
                </a:solidFill>
              </a:rPr>
              <a:t>（</a:t>
            </a:r>
            <a:r>
              <a:rPr lang="en-US" altLang="zh-CN" b="1">
                <a:solidFill>
                  <a:srgbClr val="FF6600"/>
                </a:solidFill>
              </a:rPr>
              <a:t>ºC</a:t>
            </a:r>
            <a:r>
              <a:rPr lang="zh-CN" altLang="en-US" b="1">
                <a:solidFill>
                  <a:srgbClr val="FF6600"/>
                </a:solidFill>
              </a:rPr>
              <a:t>）</a:t>
            </a:r>
            <a:endParaRPr lang="zh-CN" altLang="en-US" b="1"/>
          </a:p>
        </p:txBody>
      </p:sp>
      <p:sp>
        <p:nvSpPr>
          <p:cNvPr id="7" name="Rectangle 20"/>
          <p:cNvSpPr>
            <a:spLocks noChangeArrowheads="1"/>
          </p:cNvSpPr>
          <p:nvPr/>
        </p:nvSpPr>
        <p:spPr bwMode="auto">
          <a:xfrm>
            <a:off x="714375" y="1363663"/>
            <a:ext cx="7929563" cy="1422400"/>
          </a:xfrm>
          <a:prstGeom prst="rect">
            <a:avLst/>
          </a:prstGeom>
          <a:noFill/>
          <a:ln w="9525" algn="ctr">
            <a:noFill/>
            <a:miter lim="800000"/>
          </a:ln>
        </p:spPr>
        <p:txBody>
          <a:bodyPr lIns="17457" anchor="ctr">
            <a:spAutoFit/>
          </a:bodyPr>
          <a:lstStyle/>
          <a:p>
            <a:pPr>
              <a:lnSpc>
                <a:spcPct val="120000"/>
              </a:lnSpc>
              <a:defRPr/>
            </a:pPr>
            <a:r>
              <a:rPr lang="zh-CN" altLang="en-US" b="1" dirty="0">
                <a:latin typeface="+mn-ea"/>
                <a:ea typeface="+mn-ea"/>
              </a:rPr>
              <a:t>　  </a:t>
            </a:r>
            <a:r>
              <a:rPr lang="zh-CN" altLang="en-US" b="1" dirty="0">
                <a:solidFill>
                  <a:srgbClr val="FF6600"/>
                </a:solidFill>
                <a:latin typeface="+mn-ea"/>
                <a:ea typeface="+mn-ea"/>
              </a:rPr>
              <a:t>华伦海特</a:t>
            </a:r>
            <a:r>
              <a:rPr lang="zh-CN" altLang="en-US" b="1" dirty="0">
                <a:latin typeface="+mn-ea"/>
                <a:ea typeface="+mn-ea"/>
              </a:rPr>
              <a:t>把冰、水、氯化铵和氯化钠的混合物的熔点定为零度，用</a:t>
            </a:r>
            <a:r>
              <a:rPr lang="en-US" altLang="zh-CN" b="1" dirty="0">
                <a:solidFill>
                  <a:srgbClr val="FF6600"/>
                </a:solidFill>
                <a:ea typeface="+mn-ea"/>
                <a:cs typeface="Times New Roman" panose="02020603050405020304" pitchFamily="18" charset="0"/>
              </a:rPr>
              <a:t>0</a:t>
            </a:r>
            <a:r>
              <a:rPr kumimoji="1" lang="en-US" altLang="zh-CN" b="1" baseline="30000" dirty="0">
                <a:solidFill>
                  <a:srgbClr val="CC3300"/>
                </a:solidFill>
                <a:ea typeface="+mn-ea"/>
                <a:cs typeface="Times New Roman" panose="02020603050405020304" pitchFamily="18" charset="0"/>
              </a:rPr>
              <a:t>o</a:t>
            </a:r>
            <a:r>
              <a:rPr kumimoji="1" lang="en-US" altLang="zh-CN" b="1" dirty="0">
                <a:solidFill>
                  <a:srgbClr val="CC3300"/>
                </a:solidFill>
                <a:ea typeface="+mn-ea"/>
                <a:cs typeface="Times New Roman" panose="02020603050405020304" pitchFamily="18" charset="0"/>
              </a:rPr>
              <a:t>F</a:t>
            </a:r>
            <a:r>
              <a:rPr lang="zh-CN" altLang="en-US" b="1" dirty="0">
                <a:latin typeface="+mn-ea"/>
                <a:ea typeface="+mn-ea"/>
              </a:rPr>
              <a:t>表示，把冰的熔点定为 </a:t>
            </a:r>
            <a:r>
              <a:rPr lang="en-US" altLang="zh-CN" b="1" dirty="0">
                <a:solidFill>
                  <a:srgbClr val="FF6600"/>
                </a:solidFill>
                <a:ea typeface="+mn-ea"/>
                <a:cs typeface="Times New Roman" panose="02020603050405020304" pitchFamily="18" charset="0"/>
              </a:rPr>
              <a:t>32</a:t>
            </a:r>
            <a:r>
              <a:rPr kumimoji="1" lang="en-US" altLang="zh-CN" b="1" baseline="30000" dirty="0">
                <a:solidFill>
                  <a:srgbClr val="FF6600"/>
                </a:solidFill>
                <a:ea typeface="+mn-ea"/>
                <a:cs typeface="Times New Roman" panose="02020603050405020304" pitchFamily="18" charset="0"/>
              </a:rPr>
              <a:t>o</a:t>
            </a:r>
            <a:r>
              <a:rPr kumimoji="1" lang="en-US" altLang="zh-CN" b="1" dirty="0">
                <a:solidFill>
                  <a:srgbClr val="FF6600"/>
                </a:solidFill>
                <a:ea typeface="+mn-ea"/>
                <a:cs typeface="Times New Roman" panose="02020603050405020304" pitchFamily="18" charset="0"/>
              </a:rPr>
              <a:t>F</a:t>
            </a:r>
            <a:r>
              <a:rPr lang="en-US" altLang="zh-CN" dirty="0">
                <a:latin typeface="+mn-ea"/>
                <a:ea typeface="+mn-ea"/>
              </a:rPr>
              <a:t> </a:t>
            </a:r>
            <a:r>
              <a:rPr lang="zh-CN" altLang="en-US" b="1" dirty="0">
                <a:latin typeface="+mn-ea"/>
                <a:ea typeface="+mn-ea"/>
              </a:rPr>
              <a:t>，把水的沸点定为 </a:t>
            </a:r>
            <a:r>
              <a:rPr lang="en-US" altLang="zh-CN" b="1" dirty="0">
                <a:solidFill>
                  <a:srgbClr val="FF6600"/>
                </a:solidFill>
                <a:ea typeface="+mn-ea"/>
                <a:cs typeface="Times New Roman" panose="02020603050405020304" pitchFamily="18" charset="0"/>
              </a:rPr>
              <a:t>212</a:t>
            </a:r>
            <a:r>
              <a:rPr kumimoji="1" lang="en-US" altLang="zh-CN" b="1" baseline="30000" dirty="0">
                <a:solidFill>
                  <a:srgbClr val="FF6600"/>
                </a:solidFill>
                <a:ea typeface="+mn-ea"/>
                <a:cs typeface="Times New Roman" panose="02020603050405020304" pitchFamily="18" charset="0"/>
              </a:rPr>
              <a:t>o</a:t>
            </a:r>
            <a:r>
              <a:rPr kumimoji="1" lang="en-US" altLang="zh-CN" b="1" dirty="0">
                <a:solidFill>
                  <a:srgbClr val="FF6600"/>
                </a:solidFill>
                <a:ea typeface="+mn-ea"/>
                <a:cs typeface="Times New Roman" panose="02020603050405020304" pitchFamily="18" charset="0"/>
              </a:rPr>
              <a:t>F</a:t>
            </a:r>
            <a:r>
              <a:rPr lang="en-US" altLang="zh-CN" dirty="0">
                <a:latin typeface="+mn-ea"/>
                <a:ea typeface="+mn-ea"/>
              </a:rPr>
              <a:t> </a:t>
            </a:r>
            <a:r>
              <a:rPr lang="zh-CN" altLang="en-US" b="1" dirty="0">
                <a:latin typeface="+mn-ea"/>
                <a:ea typeface="+mn-ea"/>
              </a:rPr>
              <a:t>，在</a:t>
            </a:r>
            <a:r>
              <a:rPr lang="en-US" altLang="zh-CN" b="1" dirty="0">
                <a:ea typeface="+mn-ea"/>
                <a:cs typeface="Times New Roman" panose="02020603050405020304" pitchFamily="18" charset="0"/>
              </a:rPr>
              <a:t>32→212</a:t>
            </a:r>
            <a:r>
              <a:rPr lang="zh-CN" altLang="en-US" b="1" dirty="0">
                <a:latin typeface="+mn-ea"/>
                <a:ea typeface="+mn-ea"/>
              </a:rPr>
              <a:t>的间隔内分为</a:t>
            </a:r>
            <a:r>
              <a:rPr lang="en-US" altLang="zh-CN" b="1" dirty="0">
                <a:ea typeface="+mn-ea"/>
                <a:cs typeface="Times New Roman" panose="02020603050405020304" pitchFamily="18" charset="0"/>
              </a:rPr>
              <a:t>180</a:t>
            </a:r>
            <a:r>
              <a:rPr lang="zh-CN" altLang="en-US" b="1" dirty="0">
                <a:ea typeface="+mn-ea"/>
                <a:cs typeface="Times New Roman" panose="02020603050405020304" pitchFamily="18" charset="0"/>
              </a:rPr>
              <a:t>等</a:t>
            </a:r>
            <a:r>
              <a:rPr lang="zh-CN" altLang="en-US" b="1" dirty="0">
                <a:latin typeface="+mn-ea"/>
                <a:ea typeface="+mn-ea"/>
              </a:rPr>
              <a:t>份。 </a:t>
            </a:r>
            <a:endParaRPr lang="zh-CN" altLang="en-US" b="1" dirty="0">
              <a:latin typeface="+mn-ea"/>
              <a:ea typeface="+mn-ea"/>
            </a:endParaRPr>
          </a:p>
        </p:txBody>
      </p:sp>
      <p:sp>
        <p:nvSpPr>
          <p:cNvPr id="8" name="Rectangle 9"/>
          <p:cNvSpPr>
            <a:spLocks noChangeArrowheads="1"/>
          </p:cNvSpPr>
          <p:nvPr/>
        </p:nvSpPr>
        <p:spPr bwMode="auto">
          <a:xfrm>
            <a:off x="214313" y="4143375"/>
            <a:ext cx="8643937" cy="979488"/>
          </a:xfrm>
          <a:prstGeom prst="rect">
            <a:avLst/>
          </a:prstGeom>
          <a:noFill/>
          <a:ln w="9525" algn="ctr">
            <a:noFill/>
            <a:miter lim="800000"/>
          </a:ln>
        </p:spPr>
        <p:txBody>
          <a:bodyPr anchor="ctr">
            <a:spAutoFit/>
          </a:bodyPr>
          <a:lstStyle/>
          <a:p>
            <a:pPr>
              <a:lnSpc>
                <a:spcPct val="120000"/>
              </a:lnSpc>
              <a:defRPr/>
            </a:pPr>
            <a:r>
              <a:rPr lang="en-US" altLang="zh-CN" b="1" dirty="0">
                <a:solidFill>
                  <a:srgbClr val="FF6600"/>
                </a:solidFill>
                <a:latin typeface="+mn-ea"/>
                <a:ea typeface="+mn-ea"/>
              </a:rPr>
              <a:t>    </a:t>
            </a:r>
            <a:r>
              <a:rPr lang="zh-CN" altLang="en-US" b="1" dirty="0">
                <a:solidFill>
                  <a:srgbClr val="FF6600"/>
                </a:solidFill>
                <a:latin typeface="+mn-ea"/>
                <a:ea typeface="+mn-ea"/>
              </a:rPr>
              <a:t>摄耳修司</a:t>
            </a:r>
            <a:r>
              <a:rPr lang="zh-CN" altLang="en-US" b="1" dirty="0">
                <a:latin typeface="+mn-ea"/>
                <a:ea typeface="+mn-ea"/>
              </a:rPr>
              <a:t>用水银作测温物质，以冰的熔点为零度</a:t>
            </a:r>
            <a:r>
              <a:rPr lang="en-US" altLang="zh-CN" b="1" dirty="0">
                <a:ea typeface="+mn-ea"/>
                <a:cs typeface="Times New Roman" panose="02020603050405020304" pitchFamily="18" charset="0"/>
              </a:rPr>
              <a:t>(</a:t>
            </a:r>
            <a:r>
              <a:rPr lang="en-US" altLang="zh-CN" b="1" dirty="0">
                <a:solidFill>
                  <a:srgbClr val="FF6600"/>
                </a:solidFill>
                <a:ea typeface="+mn-ea"/>
                <a:cs typeface="Times New Roman" panose="02020603050405020304" pitchFamily="18" charset="0"/>
              </a:rPr>
              <a:t>0℃</a:t>
            </a:r>
            <a:r>
              <a:rPr lang="en-US" altLang="zh-CN" b="1" dirty="0">
                <a:ea typeface="+mn-ea"/>
                <a:cs typeface="Times New Roman" panose="02020603050405020304" pitchFamily="18" charset="0"/>
              </a:rPr>
              <a:t>)</a:t>
            </a:r>
            <a:r>
              <a:rPr lang="zh-CN" altLang="en-US" b="1" dirty="0">
                <a:latin typeface="+mn-ea"/>
                <a:ea typeface="+mn-ea"/>
              </a:rPr>
              <a:t>，以水的沸点为</a:t>
            </a:r>
            <a:r>
              <a:rPr lang="en-US" altLang="zh-CN" b="1" dirty="0">
                <a:solidFill>
                  <a:srgbClr val="FF6600"/>
                </a:solidFill>
                <a:ea typeface="+mn-ea"/>
                <a:cs typeface="Times New Roman" panose="02020603050405020304" pitchFamily="18" charset="0"/>
              </a:rPr>
              <a:t>100℃</a:t>
            </a:r>
            <a:r>
              <a:rPr lang="zh-CN" altLang="en-US" b="1" dirty="0">
                <a:latin typeface="+mn-ea"/>
                <a:ea typeface="+mn-ea"/>
              </a:rPr>
              <a:t>。在</a:t>
            </a:r>
            <a:r>
              <a:rPr lang="en-US" altLang="zh-CN" b="1" dirty="0">
                <a:ea typeface="+mn-ea"/>
                <a:cs typeface="Times New Roman" panose="02020603050405020304" pitchFamily="18" charset="0"/>
              </a:rPr>
              <a:t>0 →100</a:t>
            </a:r>
            <a:r>
              <a:rPr lang="zh-CN" altLang="en-US" b="1" dirty="0">
                <a:latin typeface="+mn-ea"/>
                <a:ea typeface="+mn-ea"/>
                <a:cs typeface="Times New Roman" panose="02020603050405020304" pitchFamily="18" charset="0"/>
              </a:rPr>
              <a:t>间</a:t>
            </a:r>
            <a:r>
              <a:rPr lang="zh-CN" altLang="en-US" b="1" dirty="0">
                <a:latin typeface="+mn-ea"/>
                <a:ea typeface="+mn-ea"/>
              </a:rPr>
              <a:t>分为</a:t>
            </a:r>
            <a:r>
              <a:rPr lang="en-US" altLang="zh-CN" b="1" dirty="0">
                <a:ea typeface="+mn-ea"/>
                <a:cs typeface="Times New Roman" panose="02020603050405020304" pitchFamily="18" charset="0"/>
              </a:rPr>
              <a:t>100</a:t>
            </a:r>
            <a:r>
              <a:rPr lang="zh-CN" altLang="en-US" b="1" dirty="0">
                <a:latin typeface="+mn-ea"/>
                <a:ea typeface="+mn-ea"/>
              </a:rPr>
              <a:t>等份，每一份为</a:t>
            </a:r>
            <a:r>
              <a:rPr lang="en-US" altLang="zh-CN" b="1" dirty="0">
                <a:solidFill>
                  <a:srgbClr val="FF6600"/>
                </a:solidFill>
                <a:ea typeface="+mn-ea"/>
                <a:cs typeface="Times New Roman" panose="02020603050405020304" pitchFamily="18" charset="0"/>
              </a:rPr>
              <a:t>1 ℃</a:t>
            </a:r>
            <a:r>
              <a:rPr lang="zh-CN" altLang="en-US" b="1" dirty="0">
                <a:latin typeface="+mn-ea"/>
                <a:ea typeface="+mn-ea"/>
              </a:rPr>
              <a:t>。</a:t>
            </a:r>
            <a:endParaRPr lang="zh-CN" altLang="en-US"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1446"/>
                                        </p:tgtEl>
                                        <p:attrNameLst>
                                          <p:attrName>style.visibility</p:attrName>
                                        </p:attrNameLst>
                                      </p:cBhvr>
                                      <p:to>
                                        <p:strVal val="visible"/>
                                      </p:to>
                                    </p:set>
                                    <p:animEffect transition="in" filter="wipe(up)">
                                      <p:cBhvr>
                                        <p:cTn id="7" dur="500"/>
                                        <p:tgtEl>
                                          <p:spTgt spid="614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wipe(left)">
                                      <p:cBhvr>
                                        <p:cTn id="12" dur="1000"/>
                                        <p:tgtEl>
                                          <p:spTgt spid="10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wipe(left)">
                                      <p:cBhvr>
                                        <p:cTn id="22" dur="10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1450"/>
                                        </p:tgtEl>
                                        <p:attrNameLst>
                                          <p:attrName>style.visibility</p:attrName>
                                        </p:attrNameLst>
                                      </p:cBhvr>
                                      <p:to>
                                        <p:strVal val="visible"/>
                                      </p:to>
                                    </p:set>
                                    <p:animEffect transition="in" filter="wipe(up)">
                                      <p:cBhvr>
                                        <p:cTn id="27" dur="500"/>
                                        <p:tgtEl>
                                          <p:spTgt spid="614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p:bldP spid="61446" grpId="0" autoUpdateAnimBg="0"/>
      <p:bldP spid="61450" grpId="0" autoUpdateAnimBg="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2"/>
          <p:cNvSpPr>
            <a:spLocks noChangeArrowheads="1"/>
          </p:cNvSpPr>
          <p:nvPr/>
        </p:nvSpPr>
        <p:spPr bwMode="auto">
          <a:xfrm>
            <a:off x="500063" y="1428750"/>
            <a:ext cx="7780337" cy="1668463"/>
          </a:xfrm>
          <a:prstGeom prst="rect">
            <a:avLst/>
          </a:prstGeom>
          <a:noFill/>
          <a:ln w="9525" algn="ctr">
            <a:noFill/>
            <a:miter lim="800000"/>
          </a:ln>
        </p:spPr>
        <p:txBody>
          <a:bodyPr>
            <a:spAutoFit/>
          </a:bodyPr>
          <a:lstStyle/>
          <a:p>
            <a:pPr>
              <a:lnSpc>
                <a:spcPct val="150000"/>
              </a:lnSpc>
              <a:defRPr/>
            </a:pPr>
            <a:r>
              <a:rPr lang="en-US" altLang="zh-CN" b="1" dirty="0">
                <a:latin typeface="+mn-ea"/>
                <a:ea typeface="+mn-ea"/>
              </a:rPr>
              <a:t>    </a:t>
            </a:r>
            <a:r>
              <a:rPr lang="zh-CN" altLang="en-US" b="1" dirty="0">
                <a:solidFill>
                  <a:srgbClr val="FF6600"/>
                </a:solidFill>
                <a:latin typeface="+mn-ea"/>
                <a:ea typeface="+mn-ea"/>
              </a:rPr>
              <a:t>开尔文</a:t>
            </a:r>
            <a:r>
              <a:rPr lang="zh-CN" altLang="en-US" b="1" dirty="0">
                <a:latin typeface="+mn-ea"/>
                <a:ea typeface="+mn-ea"/>
              </a:rPr>
              <a:t>在热力学第二定律的基础上创立了一种</a:t>
            </a:r>
            <a:r>
              <a:rPr lang="zh-CN" altLang="en-US" b="1" dirty="0">
                <a:solidFill>
                  <a:srgbClr val="FF6600"/>
                </a:solidFill>
                <a:latin typeface="+mn-ea"/>
                <a:ea typeface="+mn-ea"/>
              </a:rPr>
              <a:t>不依赖任何测温物质</a:t>
            </a:r>
            <a:r>
              <a:rPr lang="zh-CN" altLang="en-US" b="1" dirty="0">
                <a:latin typeface="+mn-ea"/>
                <a:ea typeface="+mn-ea"/>
              </a:rPr>
              <a:t>的绝对真实的绝对温标，叫开氏温标或热力学温标。</a:t>
            </a:r>
            <a:endParaRPr lang="zh-CN" altLang="en-US" b="1" dirty="0">
              <a:latin typeface="+mn-ea"/>
              <a:ea typeface="+mn-ea"/>
            </a:endParaRPr>
          </a:p>
        </p:txBody>
      </p:sp>
      <p:sp>
        <p:nvSpPr>
          <p:cNvPr id="7" name="Text Box 11"/>
          <p:cNvSpPr txBox="1">
            <a:spLocks noChangeArrowheads="1"/>
          </p:cNvSpPr>
          <p:nvPr/>
        </p:nvSpPr>
        <p:spPr bwMode="auto">
          <a:xfrm>
            <a:off x="357188" y="642938"/>
            <a:ext cx="8169275" cy="576262"/>
          </a:xfrm>
          <a:prstGeom prst="rect">
            <a:avLst/>
          </a:prstGeom>
          <a:noFill/>
          <a:ln w="9525">
            <a:noFill/>
            <a:miter lim="800000"/>
          </a:ln>
        </p:spPr>
        <p:txBody>
          <a:bodyPr>
            <a:spAutoFit/>
          </a:bodyPr>
          <a:lstStyle/>
          <a:p>
            <a:pPr eaLnBrk="0" hangingPunct="0">
              <a:lnSpc>
                <a:spcPct val="150000"/>
              </a:lnSpc>
            </a:pPr>
            <a:r>
              <a:rPr lang="zh-CN" altLang="en-US" b="1">
                <a:solidFill>
                  <a:srgbClr val="0000FF"/>
                </a:solidFill>
              </a:rPr>
              <a:t>（</a:t>
            </a:r>
            <a:r>
              <a:rPr lang="en-US" altLang="zh-CN" b="1">
                <a:solidFill>
                  <a:srgbClr val="0000FF"/>
                </a:solidFill>
              </a:rPr>
              <a:t>3</a:t>
            </a:r>
            <a:r>
              <a:rPr lang="zh-CN" altLang="en-US" b="1">
                <a:solidFill>
                  <a:srgbClr val="0000FF"/>
                </a:solidFill>
              </a:rPr>
              <a:t>）热力学温标：</a:t>
            </a:r>
            <a:r>
              <a:rPr lang="zh-CN" altLang="en-US" b="1"/>
              <a:t>单位“开尔文”</a:t>
            </a:r>
            <a:r>
              <a:rPr lang="zh-CN" altLang="en-US" b="1">
                <a:solidFill>
                  <a:srgbClr val="FF6600"/>
                </a:solidFill>
              </a:rPr>
              <a:t>（</a:t>
            </a:r>
            <a:r>
              <a:rPr lang="en-US" altLang="zh-CN" b="1">
                <a:solidFill>
                  <a:srgbClr val="FF6600"/>
                </a:solidFill>
              </a:rPr>
              <a:t>K</a:t>
            </a:r>
            <a:r>
              <a:rPr lang="zh-CN" altLang="en-US" b="1">
                <a:solidFill>
                  <a:srgbClr val="FF6600"/>
                </a:solidFill>
              </a:rPr>
              <a:t>）</a:t>
            </a:r>
            <a:endParaRPr lang="zh-CN" altLang="en-US" b="1"/>
          </a:p>
        </p:txBody>
      </p:sp>
      <p:sp>
        <p:nvSpPr>
          <p:cNvPr id="81924" name="矩形 7"/>
          <p:cNvSpPr>
            <a:spLocks noChangeArrowheads="1"/>
          </p:cNvSpPr>
          <p:nvPr/>
        </p:nvSpPr>
        <p:spPr bwMode="auto">
          <a:xfrm>
            <a:off x="2714625" y="3071813"/>
            <a:ext cx="2143125" cy="461962"/>
          </a:xfrm>
          <a:prstGeom prst="rect">
            <a:avLst/>
          </a:prstGeom>
          <a:noFill/>
          <a:ln w="9525">
            <a:noFill/>
            <a:miter lim="800000"/>
          </a:ln>
        </p:spPr>
        <p:txBody>
          <a:bodyPr>
            <a:spAutoFit/>
          </a:bodyPr>
          <a:lstStyle/>
          <a:p>
            <a:pPr algn="ctr"/>
            <a:r>
              <a:rPr lang="zh-CN" altLang="en-US" b="1" i="1"/>
              <a:t> </a:t>
            </a:r>
            <a:r>
              <a:rPr lang="en-US" altLang="zh-CN" b="1" i="1">
                <a:solidFill>
                  <a:srgbClr val="0000FF"/>
                </a:solidFill>
              </a:rPr>
              <a:t>T </a:t>
            </a:r>
            <a:r>
              <a:rPr lang="en-US" altLang="zh-CN" b="1">
                <a:solidFill>
                  <a:srgbClr val="0000FF"/>
                </a:solidFill>
              </a:rPr>
              <a:t>= </a:t>
            </a:r>
            <a:r>
              <a:rPr lang="en-US" altLang="zh-CN" b="1" i="1">
                <a:solidFill>
                  <a:srgbClr val="0000FF"/>
                </a:solidFill>
              </a:rPr>
              <a:t>t </a:t>
            </a:r>
            <a:r>
              <a:rPr lang="en-US" altLang="zh-CN" b="1">
                <a:solidFill>
                  <a:srgbClr val="0000FF"/>
                </a:solidFill>
              </a:rPr>
              <a:t>+ 273.15</a:t>
            </a:r>
            <a:endParaRPr lang="zh-CN" altLang="en-US"/>
          </a:p>
        </p:txBody>
      </p:sp>
      <p:grpSp>
        <p:nvGrpSpPr>
          <p:cNvPr id="2" name="组合 9"/>
          <p:cNvGrpSpPr/>
          <p:nvPr/>
        </p:nvGrpSpPr>
        <p:grpSpPr bwMode="auto">
          <a:xfrm>
            <a:off x="1033463" y="3714750"/>
            <a:ext cx="6253162" cy="528638"/>
            <a:chOff x="1033440" y="3714752"/>
            <a:chExt cx="6253163" cy="528638"/>
          </a:xfrm>
        </p:grpSpPr>
        <p:sp>
          <p:nvSpPr>
            <p:cNvPr id="5" name="Text Box 14"/>
            <p:cNvSpPr txBox="1">
              <a:spLocks noChangeArrowheads="1"/>
            </p:cNvSpPr>
            <p:nvPr/>
          </p:nvSpPr>
          <p:spPr bwMode="auto">
            <a:xfrm>
              <a:off x="1428727" y="3786190"/>
              <a:ext cx="5857876" cy="457200"/>
            </a:xfrm>
            <a:prstGeom prst="rect">
              <a:avLst/>
            </a:prstGeom>
            <a:noFill/>
            <a:ln w="12700" cap="sq">
              <a:noFill/>
              <a:miter lim="800000"/>
              <a:headEnd type="none" w="sm" len="sm"/>
              <a:tailEnd type="none" w="sm" len="sm"/>
            </a:ln>
          </p:spPr>
          <p:txBody>
            <a:bodyPr>
              <a:spAutoFit/>
            </a:bodyPr>
            <a:lstStyle/>
            <a:p>
              <a:pPr>
                <a:defRPr/>
              </a:pPr>
              <a:r>
                <a:rPr kumimoji="1" lang="zh-CN" altLang="en-US" b="1" dirty="0">
                  <a:latin typeface="+mn-ea"/>
                  <a:ea typeface="+mn-ea"/>
                </a:rPr>
                <a:t>国际上规定水的三相点温度为</a:t>
              </a:r>
              <a:r>
                <a:rPr kumimoji="1" lang="en-US" altLang="zh-CN" b="1" dirty="0">
                  <a:ea typeface="+mn-ea"/>
                  <a:cs typeface="Times New Roman" panose="02020603050405020304" pitchFamily="18" charset="0"/>
                </a:rPr>
                <a:t>: 273.16 K</a:t>
              </a:r>
              <a:endParaRPr kumimoji="1" lang="en-US" altLang="zh-CN" b="1" dirty="0">
                <a:ea typeface="+mn-ea"/>
                <a:cs typeface="Times New Roman" panose="02020603050405020304" pitchFamily="18" charset="0"/>
              </a:endParaRPr>
            </a:p>
          </p:txBody>
        </p:sp>
        <p:sp>
          <p:nvSpPr>
            <p:cNvPr id="82951" name="AutoShape 1084"/>
            <p:cNvSpPr>
              <a:spLocks noChangeAspect="1" noChangeArrowheads="1"/>
            </p:cNvSpPr>
            <p:nvPr/>
          </p:nvSpPr>
          <p:spPr bwMode="auto">
            <a:xfrm>
              <a:off x="1033440" y="3714752"/>
              <a:ext cx="323850" cy="517525"/>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24"/>
                                        </p:tgtEl>
                                        <p:attrNameLst>
                                          <p:attrName>style.visibility</p:attrName>
                                        </p:attrNameLst>
                                      </p:cBhvr>
                                      <p:to>
                                        <p:strVal val="visible"/>
                                      </p:to>
                                    </p:set>
                                    <p:animEffect transition="in" filter="wipe(left)">
                                      <p:cBhvr>
                                        <p:cTn id="17" dur="500"/>
                                        <p:tgtEl>
                                          <p:spTgt spid="819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utoUpdateAnimBg="0"/>
      <p:bldP spid="819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752475" y="3500438"/>
            <a:ext cx="1247775" cy="506412"/>
          </a:xfrm>
          <a:prstGeom prst="rect">
            <a:avLst/>
          </a:prstGeom>
          <a:noFill/>
          <a:ln w="12700" cap="sq">
            <a:noFill/>
            <a:miter lim="800000"/>
            <a:headEnd type="none" w="sm" len="sm"/>
            <a:tailEnd type="none" w="sm" len="sm"/>
          </a:ln>
        </p:spPr>
        <p:txBody>
          <a:bodyPr>
            <a:spAutoFit/>
          </a:bodyPr>
          <a:lstStyle/>
          <a:p>
            <a:pPr algn="ctr">
              <a:lnSpc>
                <a:spcPct val="125000"/>
              </a:lnSpc>
            </a:pPr>
            <a:r>
              <a:rPr kumimoji="1" lang="zh-CN" altLang="en-US" b="1">
                <a:solidFill>
                  <a:srgbClr val="FF0000"/>
                </a:solidFill>
              </a:rPr>
              <a:t>系统</a:t>
            </a:r>
            <a:endParaRPr kumimoji="1" lang="zh-CN" altLang="en-US" b="1">
              <a:solidFill>
                <a:srgbClr val="FF0000"/>
              </a:solidFill>
            </a:endParaRPr>
          </a:p>
        </p:txBody>
      </p:sp>
      <p:sp>
        <p:nvSpPr>
          <p:cNvPr id="4" name="Rectangle 5"/>
          <p:cNvSpPr>
            <a:spLocks noChangeArrowheads="1"/>
          </p:cNvSpPr>
          <p:nvPr/>
        </p:nvSpPr>
        <p:spPr bwMode="auto">
          <a:xfrm>
            <a:off x="1044575" y="5280025"/>
            <a:ext cx="1027113" cy="554038"/>
          </a:xfrm>
          <a:prstGeom prst="rect">
            <a:avLst/>
          </a:prstGeom>
          <a:noFill/>
          <a:ln w="12700" cap="sq">
            <a:noFill/>
            <a:miter lim="800000"/>
            <a:headEnd type="none" w="sm" len="sm"/>
            <a:tailEnd type="none" w="sm" len="sm"/>
          </a:ln>
        </p:spPr>
        <p:txBody>
          <a:bodyPr>
            <a:spAutoFit/>
          </a:bodyPr>
          <a:lstStyle/>
          <a:p>
            <a:pPr>
              <a:lnSpc>
                <a:spcPct val="125000"/>
              </a:lnSpc>
            </a:pPr>
            <a:r>
              <a:rPr kumimoji="1" lang="zh-CN" altLang="en-US" b="1">
                <a:solidFill>
                  <a:srgbClr val="FF0000"/>
                </a:solidFill>
              </a:rPr>
              <a:t>环境</a:t>
            </a:r>
            <a:endParaRPr kumimoji="1" lang="zh-CN" altLang="en-US" b="1">
              <a:solidFill>
                <a:srgbClr val="FF0000"/>
              </a:solidFill>
            </a:endParaRPr>
          </a:p>
        </p:txBody>
      </p:sp>
      <p:sp>
        <p:nvSpPr>
          <p:cNvPr id="5" name="AutoShape 6"/>
          <p:cNvSpPr/>
          <p:nvPr/>
        </p:nvSpPr>
        <p:spPr bwMode="auto">
          <a:xfrm>
            <a:off x="2298700" y="2949575"/>
            <a:ext cx="215900" cy="1655763"/>
          </a:xfrm>
          <a:prstGeom prst="leftBrace">
            <a:avLst>
              <a:gd name="adj1" fmla="val 63909"/>
              <a:gd name="adj2" fmla="val 50000"/>
            </a:avLst>
          </a:prstGeom>
          <a:noFill/>
          <a:ln w="9525">
            <a:solidFill>
              <a:srgbClr val="0000FF"/>
            </a:solidFill>
            <a:round/>
          </a:ln>
        </p:spPr>
        <p:txBody>
          <a:bodyPr wrap="none" anchor="ctr"/>
          <a:lstStyle/>
          <a:p>
            <a:endParaRPr lang="zh-CN" altLang="en-US" b="1"/>
          </a:p>
        </p:txBody>
      </p:sp>
      <p:sp>
        <p:nvSpPr>
          <p:cNvPr id="6" name="Text Box 7"/>
          <p:cNvSpPr txBox="1">
            <a:spLocks noChangeArrowheads="1"/>
          </p:cNvSpPr>
          <p:nvPr/>
        </p:nvSpPr>
        <p:spPr bwMode="auto">
          <a:xfrm>
            <a:off x="2586038" y="2708275"/>
            <a:ext cx="1716087" cy="457200"/>
          </a:xfrm>
          <a:prstGeom prst="rect">
            <a:avLst/>
          </a:prstGeom>
          <a:noFill/>
          <a:ln w="9525">
            <a:noFill/>
            <a:miter lim="800000"/>
          </a:ln>
        </p:spPr>
        <p:txBody>
          <a:bodyPr wrap="none">
            <a:spAutoFit/>
          </a:bodyPr>
          <a:lstStyle/>
          <a:p>
            <a:pPr>
              <a:spcBef>
                <a:spcPct val="50000"/>
              </a:spcBef>
            </a:pPr>
            <a:r>
              <a:rPr lang="zh-CN" altLang="en-US" b="1">
                <a:latin typeface="Garamond" panose="02020404030301010803" pitchFamily="18" charset="0"/>
              </a:rPr>
              <a:t>孤立系统：</a:t>
            </a:r>
            <a:endParaRPr lang="zh-CN" altLang="en-US" b="1">
              <a:latin typeface="Garamond" panose="02020404030301010803" pitchFamily="18" charset="0"/>
            </a:endParaRPr>
          </a:p>
        </p:txBody>
      </p:sp>
      <p:sp>
        <p:nvSpPr>
          <p:cNvPr id="7" name="Text Box 8"/>
          <p:cNvSpPr txBox="1">
            <a:spLocks noChangeArrowheads="1"/>
          </p:cNvSpPr>
          <p:nvPr/>
        </p:nvSpPr>
        <p:spPr bwMode="auto">
          <a:xfrm>
            <a:off x="2586038" y="3525838"/>
            <a:ext cx="1716087" cy="457200"/>
          </a:xfrm>
          <a:prstGeom prst="rect">
            <a:avLst/>
          </a:prstGeom>
          <a:noFill/>
          <a:ln w="9525">
            <a:noFill/>
            <a:miter lim="800000"/>
          </a:ln>
        </p:spPr>
        <p:txBody>
          <a:bodyPr wrap="none">
            <a:spAutoFit/>
          </a:bodyPr>
          <a:lstStyle/>
          <a:p>
            <a:pPr>
              <a:spcBef>
                <a:spcPct val="50000"/>
              </a:spcBef>
            </a:pPr>
            <a:r>
              <a:rPr lang="zh-CN" altLang="en-US" b="1">
                <a:latin typeface="Garamond" panose="02020404030301010803" pitchFamily="18" charset="0"/>
              </a:rPr>
              <a:t>封闭系统：</a:t>
            </a:r>
            <a:endParaRPr lang="zh-CN" altLang="en-US" b="1">
              <a:latin typeface="Garamond" panose="02020404030301010803" pitchFamily="18" charset="0"/>
            </a:endParaRPr>
          </a:p>
        </p:txBody>
      </p:sp>
      <p:sp>
        <p:nvSpPr>
          <p:cNvPr id="8" name="Text Box 9"/>
          <p:cNvSpPr txBox="1">
            <a:spLocks noChangeArrowheads="1"/>
          </p:cNvSpPr>
          <p:nvPr/>
        </p:nvSpPr>
        <p:spPr bwMode="auto">
          <a:xfrm>
            <a:off x="2586038" y="4364038"/>
            <a:ext cx="1716087" cy="457200"/>
          </a:xfrm>
          <a:prstGeom prst="rect">
            <a:avLst/>
          </a:prstGeom>
          <a:noFill/>
          <a:ln w="9525">
            <a:noFill/>
            <a:miter lim="800000"/>
          </a:ln>
        </p:spPr>
        <p:txBody>
          <a:bodyPr wrap="none">
            <a:spAutoFit/>
          </a:bodyPr>
          <a:lstStyle/>
          <a:p>
            <a:pPr>
              <a:spcBef>
                <a:spcPct val="50000"/>
              </a:spcBef>
            </a:pPr>
            <a:r>
              <a:rPr lang="zh-CN" altLang="en-US" b="1">
                <a:latin typeface="Garamond" panose="02020404030301010803" pitchFamily="18" charset="0"/>
              </a:rPr>
              <a:t>开放系统：</a:t>
            </a:r>
            <a:endParaRPr lang="zh-CN" altLang="en-US" b="1">
              <a:latin typeface="Garamond" panose="02020404030301010803" pitchFamily="18" charset="0"/>
            </a:endParaRPr>
          </a:p>
        </p:txBody>
      </p:sp>
      <p:graphicFrame>
        <p:nvGraphicFramePr>
          <p:cNvPr id="9" name="Object 10"/>
          <p:cNvGraphicFramePr>
            <a:graphicFrameLocks noChangeAspect="1"/>
          </p:cNvGraphicFramePr>
          <p:nvPr/>
        </p:nvGraphicFramePr>
        <p:xfrm>
          <a:off x="4284663" y="2674938"/>
          <a:ext cx="2735262" cy="560387"/>
        </p:xfrm>
        <a:graphic>
          <a:graphicData uri="http://schemas.openxmlformats.org/presentationml/2006/ole">
            <mc:AlternateContent xmlns:mc="http://schemas.openxmlformats.org/markup-compatibility/2006">
              <mc:Choice xmlns:v="urn:schemas-microsoft-com:vml" Requires="v">
                <p:oleObj spid="_x0000_s2049" name="公式" r:id="rId1" imgW="23774400" imgH="4876800" progId="Equation.3">
                  <p:embed/>
                </p:oleObj>
              </mc:Choice>
              <mc:Fallback>
                <p:oleObj name="公式" r:id="rId1" imgW="23774400" imgH="4876800" progId="Equation.3">
                  <p:embed/>
                  <p:pic>
                    <p:nvPicPr>
                      <p:cNvPr id="0" name="Object 10"/>
                      <p:cNvPicPr>
                        <a:picLocks noChangeAspect="1"/>
                      </p:cNvPicPr>
                      <p:nvPr/>
                    </p:nvPicPr>
                    <p:blipFill>
                      <a:blip r:embed="rId2"/>
                      <a:stretch>
                        <a:fillRect/>
                      </a:stretch>
                    </p:blipFill>
                    <p:spPr>
                      <a:xfrm>
                        <a:off x="4284663" y="2674938"/>
                        <a:ext cx="2735262" cy="560387"/>
                      </a:xfrm>
                      <a:prstGeom prst="rect">
                        <a:avLst/>
                      </a:prstGeom>
                      <a:noFill/>
                      <a:ln w="9525">
                        <a:noFill/>
                      </a:ln>
                    </p:spPr>
                  </p:pic>
                </p:oleObj>
              </mc:Fallback>
            </mc:AlternateContent>
          </a:graphicData>
        </a:graphic>
      </p:graphicFrame>
      <p:graphicFrame>
        <p:nvGraphicFramePr>
          <p:cNvPr id="10" name="Object 11"/>
          <p:cNvGraphicFramePr>
            <a:graphicFrameLocks noChangeAspect="1"/>
          </p:cNvGraphicFramePr>
          <p:nvPr/>
        </p:nvGraphicFramePr>
        <p:xfrm>
          <a:off x="4284663" y="3525838"/>
          <a:ext cx="2735262" cy="560387"/>
        </p:xfrm>
        <a:graphic>
          <a:graphicData uri="http://schemas.openxmlformats.org/presentationml/2006/ole">
            <mc:AlternateContent xmlns:mc="http://schemas.openxmlformats.org/markup-compatibility/2006">
              <mc:Choice xmlns:v="urn:schemas-microsoft-com:vml" Requires="v">
                <p:oleObj spid="_x0000_s2051" name="公式" r:id="rId3" imgW="23774400" imgH="4876800" progId="Equation.3">
                  <p:embed/>
                </p:oleObj>
              </mc:Choice>
              <mc:Fallback>
                <p:oleObj name="公式" r:id="rId3" imgW="23774400" imgH="4876800" progId="Equation.3">
                  <p:embed/>
                  <p:pic>
                    <p:nvPicPr>
                      <p:cNvPr id="0" name="Object 11"/>
                      <p:cNvPicPr>
                        <a:picLocks noChangeAspect="1"/>
                      </p:cNvPicPr>
                      <p:nvPr/>
                    </p:nvPicPr>
                    <p:blipFill>
                      <a:blip r:embed="rId4"/>
                      <a:stretch>
                        <a:fillRect/>
                      </a:stretch>
                    </p:blipFill>
                    <p:spPr>
                      <a:xfrm>
                        <a:off x="4284663" y="3525838"/>
                        <a:ext cx="2735262" cy="560387"/>
                      </a:xfrm>
                      <a:prstGeom prst="rect">
                        <a:avLst/>
                      </a:prstGeom>
                      <a:noFill/>
                      <a:ln w="9525">
                        <a:noFill/>
                      </a:ln>
                    </p:spPr>
                  </p:pic>
                </p:oleObj>
              </mc:Fallback>
            </mc:AlternateContent>
          </a:graphicData>
        </a:graphic>
      </p:graphicFrame>
      <p:graphicFrame>
        <p:nvGraphicFramePr>
          <p:cNvPr id="11" name="Object 12"/>
          <p:cNvGraphicFramePr>
            <a:graphicFrameLocks noChangeAspect="1"/>
          </p:cNvGraphicFramePr>
          <p:nvPr/>
        </p:nvGraphicFramePr>
        <p:xfrm>
          <a:off x="4267200" y="4318000"/>
          <a:ext cx="2770188" cy="560388"/>
        </p:xfrm>
        <a:graphic>
          <a:graphicData uri="http://schemas.openxmlformats.org/presentationml/2006/ole">
            <mc:AlternateContent xmlns:mc="http://schemas.openxmlformats.org/markup-compatibility/2006">
              <mc:Choice xmlns:v="urn:schemas-microsoft-com:vml" Requires="v">
                <p:oleObj spid="_x0000_s2052" name="公式" r:id="rId5" imgW="24079200" imgH="4876800" progId="Equation.3">
                  <p:embed/>
                </p:oleObj>
              </mc:Choice>
              <mc:Fallback>
                <p:oleObj name="公式" r:id="rId5" imgW="24079200" imgH="4876800" progId="Equation.3">
                  <p:embed/>
                  <p:pic>
                    <p:nvPicPr>
                      <p:cNvPr id="0" name="Object 12"/>
                      <p:cNvPicPr>
                        <a:picLocks noChangeAspect="1"/>
                      </p:cNvPicPr>
                      <p:nvPr/>
                    </p:nvPicPr>
                    <p:blipFill>
                      <a:blip r:embed="rId6"/>
                      <a:stretch>
                        <a:fillRect/>
                      </a:stretch>
                    </p:blipFill>
                    <p:spPr>
                      <a:xfrm>
                        <a:off x="4267200" y="4318000"/>
                        <a:ext cx="2770188" cy="560388"/>
                      </a:xfrm>
                      <a:prstGeom prst="rect">
                        <a:avLst/>
                      </a:prstGeom>
                      <a:noFill/>
                      <a:ln w="9525">
                        <a:noFill/>
                      </a:ln>
                    </p:spPr>
                  </p:pic>
                </p:oleObj>
              </mc:Fallback>
            </mc:AlternateContent>
          </a:graphicData>
        </a:graphic>
      </p:graphicFrame>
      <p:sp>
        <p:nvSpPr>
          <p:cNvPr id="12" name="AutoShape 13"/>
          <p:cNvSpPr>
            <a:spLocks noChangeArrowheads="1"/>
          </p:cNvSpPr>
          <p:nvPr/>
        </p:nvSpPr>
        <p:spPr bwMode="auto">
          <a:xfrm>
            <a:off x="1258888" y="4029075"/>
            <a:ext cx="279400" cy="1296988"/>
          </a:xfrm>
          <a:prstGeom prst="upDownArrow">
            <a:avLst>
              <a:gd name="adj1" fmla="val 50000"/>
              <a:gd name="adj2" fmla="val 92841"/>
            </a:avLst>
          </a:prstGeom>
          <a:solidFill>
            <a:schemeClr val="accent1"/>
          </a:solidFill>
          <a:ln w="9525">
            <a:solidFill>
              <a:schemeClr val="tx1"/>
            </a:solidFill>
            <a:miter lim="800000"/>
          </a:ln>
        </p:spPr>
        <p:txBody>
          <a:bodyPr vert="eaVert" wrap="none" anchor="ctr"/>
          <a:lstStyle/>
          <a:p>
            <a:endParaRPr lang="zh-CN" altLang="en-US" b="1"/>
          </a:p>
        </p:txBody>
      </p:sp>
      <p:sp>
        <p:nvSpPr>
          <p:cNvPr id="13" name="Text Box 14"/>
          <p:cNvSpPr txBox="1">
            <a:spLocks noChangeArrowheads="1"/>
          </p:cNvSpPr>
          <p:nvPr/>
        </p:nvSpPr>
        <p:spPr bwMode="auto">
          <a:xfrm>
            <a:off x="857250" y="4318000"/>
            <a:ext cx="595313" cy="830263"/>
          </a:xfrm>
          <a:prstGeom prst="rect">
            <a:avLst/>
          </a:prstGeom>
          <a:noFill/>
          <a:ln w="9525">
            <a:noFill/>
            <a:miter lim="800000"/>
          </a:ln>
        </p:spPr>
        <p:txBody>
          <a:bodyPr>
            <a:spAutoFit/>
          </a:bodyPr>
          <a:lstStyle/>
          <a:p>
            <a:r>
              <a:rPr lang="zh-CN" altLang="en-US" b="1">
                <a:solidFill>
                  <a:schemeClr val="accent2"/>
                </a:solidFill>
              </a:rPr>
              <a:t>能量</a:t>
            </a:r>
            <a:endParaRPr lang="zh-CN" altLang="en-US" b="1">
              <a:solidFill>
                <a:schemeClr val="accent2"/>
              </a:solidFill>
            </a:endParaRPr>
          </a:p>
        </p:txBody>
      </p:sp>
      <p:sp>
        <p:nvSpPr>
          <p:cNvPr id="14" name="Text Box 15"/>
          <p:cNvSpPr txBox="1">
            <a:spLocks noChangeArrowheads="1"/>
          </p:cNvSpPr>
          <p:nvPr/>
        </p:nvSpPr>
        <p:spPr bwMode="auto">
          <a:xfrm>
            <a:off x="1476375" y="4318000"/>
            <a:ext cx="503238" cy="830263"/>
          </a:xfrm>
          <a:prstGeom prst="rect">
            <a:avLst/>
          </a:prstGeom>
          <a:noFill/>
          <a:ln w="9525">
            <a:noFill/>
            <a:miter lim="800000"/>
          </a:ln>
        </p:spPr>
        <p:txBody>
          <a:bodyPr>
            <a:spAutoFit/>
          </a:bodyPr>
          <a:lstStyle/>
          <a:p>
            <a:r>
              <a:rPr lang="zh-CN" altLang="en-US" b="1">
                <a:solidFill>
                  <a:schemeClr val="accent2"/>
                </a:solidFill>
              </a:rPr>
              <a:t>物质</a:t>
            </a:r>
            <a:endParaRPr lang="zh-CN" altLang="en-US" b="1">
              <a:solidFill>
                <a:schemeClr val="accent2"/>
              </a:solidFill>
            </a:endParaRPr>
          </a:p>
        </p:txBody>
      </p:sp>
      <p:sp>
        <p:nvSpPr>
          <p:cNvPr id="15" name="Text Box 4"/>
          <p:cNvSpPr txBox="1">
            <a:spLocks noChangeArrowheads="1"/>
          </p:cNvSpPr>
          <p:nvPr/>
        </p:nvSpPr>
        <p:spPr bwMode="auto">
          <a:xfrm>
            <a:off x="214313" y="571500"/>
            <a:ext cx="3132137" cy="457200"/>
          </a:xfrm>
          <a:prstGeom prst="rect">
            <a:avLst/>
          </a:prstGeom>
          <a:noFill/>
          <a:ln w="9525">
            <a:noFill/>
            <a:miter lim="800000"/>
          </a:ln>
        </p:spPr>
        <p:txBody>
          <a:bodyPr>
            <a:spAutoFit/>
          </a:bodyPr>
          <a:lstStyle/>
          <a:p>
            <a:r>
              <a:rPr kumimoji="1" lang="en-US" altLang="zh-CN" b="1">
                <a:solidFill>
                  <a:srgbClr val="0000FF"/>
                </a:solidFill>
              </a:rPr>
              <a:t>7.1.2   </a:t>
            </a:r>
            <a:r>
              <a:rPr kumimoji="1" lang="zh-CN" altLang="en-US" b="1">
                <a:solidFill>
                  <a:srgbClr val="0000FF"/>
                </a:solidFill>
              </a:rPr>
              <a:t>平衡态</a:t>
            </a:r>
            <a:endParaRPr kumimoji="1" lang="zh-CN" altLang="en-US" b="1">
              <a:solidFill>
                <a:srgbClr val="0000FF"/>
              </a:solidFill>
            </a:endParaRPr>
          </a:p>
        </p:txBody>
      </p:sp>
      <p:sp>
        <p:nvSpPr>
          <p:cNvPr id="16" name="Text Box 21"/>
          <p:cNvSpPr txBox="1">
            <a:spLocks noChangeArrowheads="1"/>
          </p:cNvSpPr>
          <p:nvPr/>
        </p:nvSpPr>
        <p:spPr bwMode="auto">
          <a:xfrm>
            <a:off x="647700" y="1117600"/>
            <a:ext cx="2879725" cy="512763"/>
          </a:xfrm>
          <a:prstGeom prst="rect">
            <a:avLst/>
          </a:prstGeom>
          <a:noFill/>
          <a:ln w="9525">
            <a:noFill/>
            <a:miter lim="800000"/>
          </a:ln>
        </p:spPr>
        <p:txBody>
          <a:bodyPr>
            <a:spAutoFit/>
          </a:bodyPr>
          <a:lstStyle/>
          <a:p>
            <a:pPr>
              <a:lnSpc>
                <a:spcPct val="115000"/>
              </a:lnSpc>
            </a:pPr>
            <a:r>
              <a:rPr kumimoji="1" lang="zh-CN" altLang="en-US" b="1">
                <a:solidFill>
                  <a:srgbClr val="FF6600"/>
                </a:solidFill>
                <a:latin typeface="宋体" panose="02010600030101010101" pitchFamily="2" charset="-122"/>
              </a:rPr>
              <a:t>热力学系统</a:t>
            </a:r>
            <a:endParaRPr kumimoji="1" lang="zh-CN" altLang="en-US" b="1">
              <a:solidFill>
                <a:srgbClr val="FF6600"/>
              </a:solidFill>
              <a:latin typeface="宋体" panose="02010600030101010101" pitchFamily="2" charset="-122"/>
            </a:endParaRPr>
          </a:p>
        </p:txBody>
      </p:sp>
      <p:sp>
        <p:nvSpPr>
          <p:cNvPr id="17" name="Text Box 22"/>
          <p:cNvSpPr txBox="1">
            <a:spLocks noChangeArrowheads="1"/>
          </p:cNvSpPr>
          <p:nvPr/>
        </p:nvSpPr>
        <p:spPr bwMode="auto">
          <a:xfrm>
            <a:off x="2500313" y="1143000"/>
            <a:ext cx="5689600" cy="512763"/>
          </a:xfrm>
          <a:prstGeom prst="rect">
            <a:avLst/>
          </a:prstGeom>
          <a:noFill/>
          <a:ln w="9525">
            <a:noFill/>
            <a:miter lim="800000"/>
          </a:ln>
        </p:spPr>
        <p:txBody>
          <a:bodyPr>
            <a:spAutoFit/>
          </a:bodyPr>
          <a:lstStyle/>
          <a:p>
            <a:pPr>
              <a:lnSpc>
                <a:spcPct val="115000"/>
              </a:lnSpc>
              <a:defRPr/>
            </a:pPr>
            <a:r>
              <a:rPr kumimoji="1" lang="zh-CN" altLang="en-US" b="1" dirty="0">
                <a:latin typeface="+mn-ea"/>
                <a:ea typeface="+mn-ea"/>
              </a:rPr>
              <a:t>热力学所研究的具体对象，简称</a:t>
            </a:r>
            <a:r>
              <a:rPr kumimoji="1" lang="zh-CN" altLang="en-US" b="1" dirty="0">
                <a:solidFill>
                  <a:srgbClr val="FF6600"/>
                </a:solidFill>
                <a:latin typeface="+mn-ea"/>
                <a:ea typeface="+mn-ea"/>
              </a:rPr>
              <a:t>系统</a:t>
            </a:r>
            <a:r>
              <a:rPr kumimoji="1" lang="zh-CN" altLang="en-US" b="1" dirty="0">
                <a:latin typeface="+mn-ea"/>
                <a:ea typeface="+mn-ea"/>
              </a:rPr>
              <a:t>。</a:t>
            </a:r>
            <a:endParaRPr kumimoji="1" lang="zh-CN" altLang="en-US" b="1" dirty="0">
              <a:latin typeface="+mn-ea"/>
              <a:ea typeface="+mn-ea"/>
            </a:endParaRPr>
          </a:p>
        </p:txBody>
      </p:sp>
      <p:sp>
        <p:nvSpPr>
          <p:cNvPr id="18" name="Text Box 23"/>
          <p:cNvSpPr txBox="1">
            <a:spLocks noChangeArrowheads="1"/>
          </p:cNvSpPr>
          <p:nvPr/>
        </p:nvSpPr>
        <p:spPr bwMode="auto">
          <a:xfrm>
            <a:off x="642938" y="1728788"/>
            <a:ext cx="3490912" cy="512762"/>
          </a:xfrm>
          <a:prstGeom prst="rect">
            <a:avLst/>
          </a:prstGeom>
          <a:noFill/>
          <a:ln w="9525">
            <a:noFill/>
            <a:miter lim="800000"/>
          </a:ln>
        </p:spPr>
        <p:txBody>
          <a:bodyPr>
            <a:spAutoFit/>
          </a:bodyPr>
          <a:lstStyle/>
          <a:p>
            <a:pPr>
              <a:lnSpc>
                <a:spcPct val="115000"/>
              </a:lnSpc>
              <a:defRPr/>
            </a:pPr>
            <a:r>
              <a:rPr kumimoji="1" lang="zh-CN" altLang="en-US" b="1" dirty="0">
                <a:solidFill>
                  <a:srgbClr val="FF6600"/>
                </a:solidFill>
                <a:latin typeface="+mn-ea"/>
                <a:ea typeface="+mn-ea"/>
              </a:rPr>
              <a:t>外界</a:t>
            </a:r>
            <a:r>
              <a:rPr kumimoji="1" lang="en-US" altLang="zh-CN" b="1" dirty="0">
                <a:solidFill>
                  <a:srgbClr val="FF6600"/>
                </a:solidFill>
                <a:latin typeface="+mn-ea"/>
                <a:ea typeface="+mn-ea"/>
              </a:rPr>
              <a:t>(</a:t>
            </a:r>
            <a:r>
              <a:rPr kumimoji="1" lang="zh-CN" altLang="en-US" b="1" dirty="0">
                <a:solidFill>
                  <a:srgbClr val="FF6600"/>
                </a:solidFill>
                <a:latin typeface="+mn-ea"/>
                <a:ea typeface="+mn-ea"/>
              </a:rPr>
              <a:t>环境</a:t>
            </a:r>
            <a:r>
              <a:rPr kumimoji="1" lang="en-US" altLang="zh-CN" b="1" dirty="0">
                <a:solidFill>
                  <a:srgbClr val="FF6600"/>
                </a:solidFill>
                <a:latin typeface="+mn-ea"/>
                <a:ea typeface="+mn-ea"/>
              </a:rPr>
              <a:t>)</a:t>
            </a:r>
            <a:endParaRPr kumimoji="1" lang="en-US" altLang="zh-CN" b="1" dirty="0">
              <a:solidFill>
                <a:srgbClr val="FF6600"/>
              </a:solidFill>
              <a:latin typeface="+mn-ea"/>
              <a:ea typeface="+mn-ea"/>
            </a:endParaRPr>
          </a:p>
        </p:txBody>
      </p:sp>
      <p:sp>
        <p:nvSpPr>
          <p:cNvPr id="19" name="Text Box 25"/>
          <p:cNvSpPr txBox="1">
            <a:spLocks noChangeArrowheads="1"/>
          </p:cNvSpPr>
          <p:nvPr/>
        </p:nvSpPr>
        <p:spPr bwMode="auto">
          <a:xfrm>
            <a:off x="2532063" y="1728788"/>
            <a:ext cx="5897562" cy="517525"/>
          </a:xfrm>
          <a:prstGeom prst="rect">
            <a:avLst/>
          </a:prstGeom>
          <a:noFill/>
          <a:ln w="9525">
            <a:noFill/>
            <a:miter lim="800000"/>
          </a:ln>
        </p:spPr>
        <p:txBody>
          <a:bodyPr>
            <a:spAutoFit/>
          </a:bodyPr>
          <a:lstStyle/>
          <a:p>
            <a:pPr>
              <a:lnSpc>
                <a:spcPct val="115000"/>
              </a:lnSpc>
              <a:defRPr/>
            </a:pPr>
            <a:r>
              <a:rPr kumimoji="1" lang="zh-CN" altLang="en-US" b="1" dirty="0">
                <a:latin typeface="+mn-ea"/>
                <a:ea typeface="+mn-ea"/>
              </a:rPr>
              <a:t>系统以外与系统密切相关的物体。</a:t>
            </a:r>
            <a:endParaRPr kumimoji="1" lang="zh-CN" altLang="en-US"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par>
                          <p:cTn id="31" fill="hold">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linds(horizontal)">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left)">
                                      <p:cBhvr>
                                        <p:cTn id="49" dur="500"/>
                                        <p:tgtEl>
                                          <p:spTgt spid="7"/>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left)">
                                      <p:cBhvr>
                                        <p:cTn id="58" dur="500"/>
                                        <p:tgtEl>
                                          <p:spTgt spid="8"/>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wipe(left)">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wipe(left)">
                                      <p:cBhvr>
                                        <p:cTn id="67" dur="500"/>
                                        <p:tgtEl>
                                          <p:spTgt spid="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wipe(down)">
                                      <p:cBhvr>
                                        <p:cTn id="72" dur="500"/>
                                        <p:tgtEl>
                                          <p:spTgt spid="12"/>
                                        </p:tgtEl>
                                      </p:cBhvr>
                                    </p:animEffect>
                                  </p:childTnLst>
                                </p:cTn>
                              </p:par>
                            </p:childTnLst>
                          </p:cTn>
                        </p:par>
                        <p:par>
                          <p:cTn id="73" fill="hold">
                            <p:stCondLst>
                              <p:cond delay="500"/>
                            </p:stCondLst>
                            <p:childTnLst>
                              <p:par>
                                <p:cTn id="74" presetID="22" presetClass="entr" presetSubtype="1" fill="hold" grpId="0" nodeType="after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wipe(up)">
                                      <p:cBhvr>
                                        <p:cTn id="76" dur="500"/>
                                        <p:tgtEl>
                                          <p:spTgt spid="13"/>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wipe(up)">
                                      <p:cBhvr>
                                        <p:cTn id="7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p:bldP spid="7" grpId="0"/>
      <p:bldP spid="8" grpId="0"/>
      <p:bldP spid="12" grpId="0" animBg="1"/>
      <p:bldP spid="13" grpId="0"/>
      <p:bldP spid="14" grpId="0"/>
      <p:bldP spid="15" grpId="0" autoUpdateAnimBg="0"/>
      <p:bldP spid="16" grpId="0"/>
      <p:bldP spid="17" grpId="0"/>
      <p:bldP spid="18"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51" name="Rectangle 23"/>
          <p:cNvSpPr>
            <a:spLocks noChangeArrowheads="1"/>
          </p:cNvSpPr>
          <p:nvPr/>
        </p:nvSpPr>
        <p:spPr bwMode="auto">
          <a:xfrm>
            <a:off x="2543175" y="3217863"/>
            <a:ext cx="765175" cy="206375"/>
          </a:xfrm>
          <a:prstGeom prst="rect">
            <a:avLst/>
          </a:prstGeom>
          <a:gradFill rotWithShape="1">
            <a:gsLst>
              <a:gs pos="0">
                <a:srgbClr val="B1633C"/>
              </a:gs>
              <a:gs pos="100000">
                <a:srgbClr val="993300">
                  <a:alpha val="67000"/>
                </a:srgbClr>
              </a:gs>
            </a:gsLst>
            <a:lin ang="0" scaled="1"/>
          </a:gradFill>
          <a:ln w="12700" cap="sq">
            <a:solidFill>
              <a:schemeClr val="tx1"/>
            </a:solidFill>
            <a:miter lim="800000"/>
            <a:headEnd type="none" w="sm" len="sm"/>
            <a:tailEnd type="none" w="sm" len="sm"/>
          </a:ln>
        </p:spPr>
        <p:txBody>
          <a:bodyPr wrap="none" anchor="ctr"/>
          <a:lstStyle/>
          <a:p>
            <a:pPr algn="ctr"/>
            <a:endParaRPr lang="zh-CN" altLang="en-US"/>
          </a:p>
        </p:txBody>
      </p:sp>
      <p:sp>
        <p:nvSpPr>
          <p:cNvPr id="22552" name="Text Box 24"/>
          <p:cNvSpPr txBox="1">
            <a:spLocks noChangeArrowheads="1"/>
          </p:cNvSpPr>
          <p:nvPr/>
        </p:nvSpPr>
        <p:spPr bwMode="auto">
          <a:xfrm>
            <a:off x="285750" y="588963"/>
            <a:ext cx="1511300" cy="517525"/>
          </a:xfrm>
          <a:prstGeom prst="rect">
            <a:avLst/>
          </a:prstGeom>
          <a:noFill/>
          <a:ln w="9525">
            <a:noFill/>
            <a:miter lim="800000"/>
          </a:ln>
        </p:spPr>
        <p:txBody>
          <a:bodyPr>
            <a:spAutoFit/>
          </a:bodyPr>
          <a:lstStyle/>
          <a:p>
            <a:pPr>
              <a:lnSpc>
                <a:spcPct val="115000"/>
              </a:lnSpc>
              <a:defRPr/>
            </a:pPr>
            <a:r>
              <a:rPr kumimoji="1" lang="zh-CN" altLang="en-US" b="1" dirty="0">
                <a:solidFill>
                  <a:srgbClr val="FF6600"/>
                </a:solidFill>
                <a:latin typeface="+mn-ea"/>
                <a:ea typeface="+mn-ea"/>
              </a:rPr>
              <a:t>平衡态</a:t>
            </a:r>
            <a:endParaRPr kumimoji="1" lang="zh-CN" altLang="en-US" b="1" dirty="0">
              <a:solidFill>
                <a:srgbClr val="FF6600"/>
              </a:solidFill>
              <a:latin typeface="+mn-ea"/>
              <a:ea typeface="+mn-ea"/>
            </a:endParaRPr>
          </a:p>
        </p:txBody>
      </p:sp>
      <p:sp>
        <p:nvSpPr>
          <p:cNvPr id="22553" name="Text Box 25"/>
          <p:cNvSpPr txBox="1">
            <a:spLocks noChangeArrowheads="1"/>
          </p:cNvSpPr>
          <p:nvPr/>
        </p:nvSpPr>
        <p:spPr bwMode="auto">
          <a:xfrm>
            <a:off x="1357313" y="500063"/>
            <a:ext cx="7489825" cy="1114425"/>
          </a:xfrm>
          <a:prstGeom prst="rect">
            <a:avLst/>
          </a:prstGeom>
          <a:noFill/>
          <a:ln w="12700" cap="sq">
            <a:noFill/>
            <a:miter lim="800000"/>
            <a:headEnd type="none" w="sm" len="sm"/>
            <a:tailEnd type="none" w="sm" len="sm"/>
          </a:ln>
        </p:spPr>
        <p:txBody>
          <a:bodyPr>
            <a:spAutoFit/>
          </a:bodyPr>
          <a:lstStyle/>
          <a:p>
            <a:pPr>
              <a:lnSpc>
                <a:spcPct val="150000"/>
              </a:lnSpc>
              <a:defRPr/>
            </a:pPr>
            <a:r>
              <a:rPr kumimoji="1" lang="zh-CN" altLang="en-US" b="1" dirty="0">
                <a:latin typeface="+mn-ea"/>
                <a:ea typeface="+mn-ea"/>
              </a:rPr>
              <a:t>在</a:t>
            </a:r>
            <a:r>
              <a:rPr kumimoji="1" lang="zh-CN" altLang="en-US" b="1" dirty="0">
                <a:solidFill>
                  <a:srgbClr val="FF6600"/>
                </a:solidFill>
                <a:latin typeface="+mn-ea"/>
                <a:ea typeface="+mn-ea"/>
              </a:rPr>
              <a:t>没有外界影响</a:t>
            </a:r>
            <a:r>
              <a:rPr kumimoji="1" lang="zh-CN" altLang="en-US" b="1" dirty="0">
                <a:latin typeface="+mn-ea"/>
                <a:ea typeface="+mn-ea"/>
              </a:rPr>
              <a:t>的情况下，系统各部分的宏观性质在长时间内不发生变化的状态。</a:t>
            </a:r>
            <a:endParaRPr kumimoji="1" lang="zh-CN" altLang="en-US" b="1" dirty="0">
              <a:latin typeface="+mn-ea"/>
              <a:ea typeface="+mn-ea"/>
            </a:endParaRPr>
          </a:p>
        </p:txBody>
      </p:sp>
      <p:grpSp>
        <p:nvGrpSpPr>
          <p:cNvPr id="2" name="组合 19"/>
          <p:cNvGrpSpPr/>
          <p:nvPr/>
        </p:nvGrpSpPr>
        <p:grpSpPr bwMode="auto">
          <a:xfrm>
            <a:off x="214313" y="1531938"/>
            <a:ext cx="1511300" cy="539750"/>
            <a:chOff x="206375" y="1844675"/>
            <a:chExt cx="1511300" cy="539750"/>
          </a:xfrm>
        </p:grpSpPr>
        <p:sp>
          <p:nvSpPr>
            <p:cNvPr id="83982" name="Text Box 26"/>
            <p:cNvSpPr txBox="1">
              <a:spLocks noChangeArrowheads="1"/>
            </p:cNvSpPr>
            <p:nvPr/>
          </p:nvSpPr>
          <p:spPr bwMode="auto">
            <a:xfrm>
              <a:off x="566738" y="1871663"/>
              <a:ext cx="1150937" cy="512762"/>
            </a:xfrm>
            <a:prstGeom prst="rect">
              <a:avLst/>
            </a:prstGeom>
            <a:noFill/>
            <a:ln w="9525">
              <a:noFill/>
              <a:miter lim="800000"/>
            </a:ln>
          </p:spPr>
          <p:txBody>
            <a:bodyPr>
              <a:spAutoFit/>
            </a:bodyPr>
            <a:lstStyle/>
            <a:p>
              <a:pPr>
                <a:lnSpc>
                  <a:spcPct val="115000"/>
                </a:lnSpc>
              </a:pPr>
              <a:r>
                <a:rPr lang="zh-CN" altLang="en-US" b="1">
                  <a:solidFill>
                    <a:srgbClr val="FF0000"/>
                  </a:solidFill>
                </a:rPr>
                <a:t>说明</a:t>
              </a:r>
              <a:endParaRPr lang="zh-CN" altLang="en-US" b="1">
                <a:solidFill>
                  <a:srgbClr val="FF0000"/>
                </a:solidFill>
              </a:endParaRPr>
            </a:p>
          </p:txBody>
        </p:sp>
        <p:sp>
          <p:nvSpPr>
            <p:cNvPr id="83983" name="AutoShape 27"/>
            <p:cNvSpPr>
              <a:spLocks noChangeArrowheads="1"/>
            </p:cNvSpPr>
            <p:nvPr/>
          </p:nvSpPr>
          <p:spPr bwMode="auto">
            <a:xfrm>
              <a:off x="206375" y="1844675"/>
              <a:ext cx="293659" cy="512755"/>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ln>
          </p:spPr>
          <p:txBody>
            <a:bodyPr wrap="none" anchor="ctr"/>
            <a:lstStyle/>
            <a:p>
              <a:pPr algn="ctr"/>
              <a:endParaRPr lang="zh-CN" altLang="en-US"/>
            </a:p>
          </p:txBody>
        </p:sp>
      </p:grpSp>
      <p:sp>
        <p:nvSpPr>
          <p:cNvPr id="22556" name="Text Box 28"/>
          <p:cNvSpPr txBox="1">
            <a:spLocks noChangeArrowheads="1"/>
          </p:cNvSpPr>
          <p:nvPr/>
        </p:nvSpPr>
        <p:spPr bwMode="auto">
          <a:xfrm>
            <a:off x="571500" y="2000250"/>
            <a:ext cx="7786688" cy="933450"/>
          </a:xfrm>
          <a:prstGeom prst="rect">
            <a:avLst/>
          </a:prstGeom>
          <a:noFill/>
          <a:ln w="9525">
            <a:noFill/>
            <a:miter lim="800000"/>
          </a:ln>
        </p:spPr>
        <p:txBody>
          <a:bodyPr>
            <a:spAutoFit/>
          </a:bodyPr>
          <a:lstStyle/>
          <a:p>
            <a:pPr marL="365125" indent="-365125">
              <a:lnSpc>
                <a:spcPct val="115000"/>
              </a:lnSpc>
              <a:defRPr/>
            </a:pPr>
            <a:r>
              <a:rPr kumimoji="1" lang="en-US" altLang="zh-CN" b="1" dirty="0">
                <a:ea typeface="+mn-ea"/>
                <a:cs typeface="Times New Roman" panose="02020603050405020304" pitchFamily="18" charset="0"/>
              </a:rPr>
              <a:t>(1) </a:t>
            </a:r>
            <a:r>
              <a:rPr kumimoji="1" lang="zh-CN" altLang="en-US" b="1" dirty="0">
                <a:solidFill>
                  <a:srgbClr val="0000FF"/>
                </a:solidFill>
                <a:latin typeface="+mn-ea"/>
                <a:ea typeface="+mn-ea"/>
              </a:rPr>
              <a:t>不受外界影响：</a:t>
            </a:r>
            <a:r>
              <a:rPr kumimoji="1" lang="zh-CN" altLang="en-US" b="1" dirty="0">
                <a:latin typeface="+mn-ea"/>
                <a:ea typeface="+mn-ea"/>
              </a:rPr>
              <a:t>系统与外界不通过</a:t>
            </a:r>
            <a:r>
              <a:rPr kumimoji="1" lang="zh-CN" altLang="en-US" b="1" dirty="0">
                <a:solidFill>
                  <a:srgbClr val="0000FF"/>
                </a:solidFill>
                <a:latin typeface="+mn-ea"/>
                <a:ea typeface="+mn-ea"/>
              </a:rPr>
              <a:t>作功</a:t>
            </a:r>
            <a:r>
              <a:rPr kumimoji="1" lang="zh-CN" altLang="en-US" b="1" dirty="0">
                <a:latin typeface="+mn-ea"/>
                <a:ea typeface="+mn-ea"/>
              </a:rPr>
              <a:t>或</a:t>
            </a:r>
            <a:r>
              <a:rPr kumimoji="1" lang="zh-CN" altLang="en-US" b="1" dirty="0">
                <a:solidFill>
                  <a:srgbClr val="0000FF"/>
                </a:solidFill>
                <a:latin typeface="+mn-ea"/>
                <a:ea typeface="+mn-ea"/>
              </a:rPr>
              <a:t>传热</a:t>
            </a:r>
            <a:r>
              <a:rPr kumimoji="1" lang="zh-CN" altLang="en-US" b="1" dirty="0">
                <a:latin typeface="+mn-ea"/>
                <a:ea typeface="+mn-ea"/>
              </a:rPr>
              <a:t>的方式交换能量，但可以处于均匀的外力场中，如： </a:t>
            </a:r>
            <a:endParaRPr kumimoji="1" lang="zh-CN" altLang="en-US" b="1" dirty="0">
              <a:latin typeface="+mn-ea"/>
              <a:ea typeface="+mn-ea"/>
            </a:endParaRPr>
          </a:p>
        </p:txBody>
      </p:sp>
      <p:sp>
        <p:nvSpPr>
          <p:cNvPr id="22557" name="Text Box 29"/>
          <p:cNvSpPr txBox="1">
            <a:spLocks noChangeArrowheads="1"/>
          </p:cNvSpPr>
          <p:nvPr/>
        </p:nvSpPr>
        <p:spPr bwMode="auto">
          <a:xfrm>
            <a:off x="1000125" y="3929063"/>
            <a:ext cx="4214813" cy="755650"/>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sz="2000" b="1">
                <a:solidFill>
                  <a:srgbClr val="0000FF"/>
                </a:solidFill>
                <a:latin typeface="楷体_GB2312" pitchFamily="49" charset="-122"/>
                <a:ea typeface="楷体_GB2312" pitchFamily="49" charset="-122"/>
              </a:rPr>
              <a:t>两头</a:t>
            </a:r>
            <a:r>
              <a:rPr kumimoji="1" lang="zh-CN" altLang="en-US" sz="2000" b="1">
                <a:solidFill>
                  <a:srgbClr val="0000FF"/>
                </a:solidFill>
                <a:latin typeface="仿宋_GB2312" pitchFamily="49" charset="-122"/>
                <a:ea typeface="楷体_GB2312" pitchFamily="49" charset="-122"/>
              </a:rPr>
              <a:t>处于冰水、沸水中的金属棒，是一种</a:t>
            </a:r>
            <a:r>
              <a:rPr kumimoji="1" lang="zh-CN" altLang="en-US" sz="2000" b="1">
                <a:solidFill>
                  <a:srgbClr val="FF6600"/>
                </a:solidFill>
                <a:latin typeface="仿宋_GB2312" pitchFamily="49" charset="-122"/>
                <a:ea typeface="楷体_GB2312" pitchFamily="49" charset="-122"/>
              </a:rPr>
              <a:t>稳定态</a:t>
            </a:r>
            <a:r>
              <a:rPr kumimoji="1" lang="zh-CN" altLang="en-US" sz="2000" b="1">
                <a:solidFill>
                  <a:srgbClr val="0000FF"/>
                </a:solidFill>
                <a:latin typeface="仿宋_GB2312" pitchFamily="49" charset="-122"/>
                <a:ea typeface="楷体_GB2312" pitchFamily="49" charset="-122"/>
              </a:rPr>
              <a:t>，而</a:t>
            </a:r>
            <a:r>
              <a:rPr kumimoji="1" lang="zh-CN" altLang="en-US" sz="2000" b="1">
                <a:solidFill>
                  <a:srgbClr val="FF6600"/>
                </a:solidFill>
                <a:latin typeface="仿宋_GB2312" pitchFamily="49" charset="-122"/>
                <a:ea typeface="楷体_GB2312" pitchFamily="49" charset="-122"/>
              </a:rPr>
              <a:t>不是平衡态。</a:t>
            </a:r>
            <a:endParaRPr kumimoji="1" lang="zh-CN" altLang="en-US" sz="2000" b="1">
              <a:solidFill>
                <a:srgbClr val="0000FF"/>
              </a:solidFill>
              <a:latin typeface="仿宋_GB2312" pitchFamily="49" charset="-122"/>
              <a:ea typeface="楷体_GB2312" pitchFamily="49" charset="-122"/>
            </a:endParaRPr>
          </a:p>
        </p:txBody>
      </p:sp>
      <p:sp>
        <p:nvSpPr>
          <p:cNvPr id="22558" name="Rectangle 30"/>
          <p:cNvSpPr>
            <a:spLocks noChangeArrowheads="1"/>
          </p:cNvSpPr>
          <p:nvPr/>
        </p:nvSpPr>
        <p:spPr bwMode="auto">
          <a:xfrm>
            <a:off x="5072063" y="3929063"/>
            <a:ext cx="3786187" cy="800100"/>
          </a:xfrm>
          <a:prstGeom prst="rect">
            <a:avLst/>
          </a:prstGeom>
          <a:noFill/>
          <a:ln w="9525">
            <a:noFill/>
            <a:miter lim="800000"/>
          </a:ln>
        </p:spPr>
        <p:txBody>
          <a:bodyPr>
            <a:spAutoFit/>
          </a:bodyPr>
          <a:lstStyle/>
          <a:p>
            <a:pPr>
              <a:lnSpc>
                <a:spcPct val="115000"/>
              </a:lnSpc>
            </a:pPr>
            <a:r>
              <a:rPr kumimoji="1" lang="zh-CN" altLang="en-US" sz="2000" b="1">
                <a:solidFill>
                  <a:srgbClr val="0000FF"/>
                </a:solidFill>
                <a:ea typeface="楷体_GB2312" pitchFamily="49" charset="-122"/>
              </a:rPr>
              <a:t>处于重力场中气体系统的</a:t>
            </a:r>
            <a:r>
              <a:rPr lang="zh-CN" altLang="en-US" sz="2000" b="1">
                <a:solidFill>
                  <a:srgbClr val="0000FF"/>
                </a:solidFill>
                <a:ea typeface="楷体_GB2312" pitchFamily="49" charset="-122"/>
              </a:rPr>
              <a:t>粒子数密度随高 度变化，它是</a:t>
            </a:r>
            <a:r>
              <a:rPr lang="zh-CN" altLang="en-US" sz="2000" b="1">
                <a:solidFill>
                  <a:srgbClr val="FF6600"/>
                </a:solidFill>
                <a:ea typeface="楷体_GB2312" pitchFamily="49" charset="-122"/>
              </a:rPr>
              <a:t>平衡态。</a:t>
            </a:r>
            <a:endParaRPr kumimoji="1" lang="zh-CN" altLang="en-US" sz="2000" b="1">
              <a:solidFill>
                <a:srgbClr val="FF6600"/>
              </a:solidFill>
              <a:ea typeface="楷体_GB2312" pitchFamily="49" charset="-122"/>
            </a:endParaRPr>
          </a:p>
        </p:txBody>
      </p:sp>
      <p:sp>
        <p:nvSpPr>
          <p:cNvPr id="22559" name="Rectangle 31"/>
          <p:cNvSpPr>
            <a:spLocks noChangeArrowheads="1"/>
          </p:cNvSpPr>
          <p:nvPr/>
        </p:nvSpPr>
        <p:spPr bwMode="auto">
          <a:xfrm>
            <a:off x="1477963" y="3001963"/>
            <a:ext cx="1101725" cy="723900"/>
          </a:xfrm>
          <a:prstGeom prst="rect">
            <a:avLst/>
          </a:prstGeom>
          <a:solidFill>
            <a:srgbClr val="FF6600"/>
          </a:solidFill>
          <a:ln w="12700" cap="sq">
            <a:solidFill>
              <a:srgbClr val="FF0000"/>
            </a:solidFill>
            <a:miter lim="800000"/>
            <a:headEnd type="none" w="sm" len="sm"/>
            <a:tailEnd type="none" w="sm" len="sm"/>
          </a:ln>
        </p:spPr>
        <p:txBody>
          <a:bodyPr wrap="none" anchor="ctr"/>
          <a:lstStyle/>
          <a:p>
            <a:pPr algn="ctr">
              <a:lnSpc>
                <a:spcPct val="115000"/>
              </a:lnSpc>
            </a:pPr>
            <a:r>
              <a:rPr kumimoji="1" lang="zh-CN" altLang="en-US" b="1">
                <a:solidFill>
                  <a:srgbClr val="990000"/>
                </a:solidFill>
                <a:ea typeface="楷体_GB2312" pitchFamily="49" charset="-122"/>
              </a:rPr>
              <a:t>高温</a:t>
            </a:r>
            <a:r>
              <a:rPr kumimoji="1" lang="en-US" altLang="zh-CN" b="1" i="1">
                <a:solidFill>
                  <a:srgbClr val="990000"/>
                </a:solidFill>
                <a:ea typeface="楷体_GB2312" pitchFamily="49" charset="-122"/>
              </a:rPr>
              <a:t>T</a:t>
            </a:r>
            <a:r>
              <a:rPr kumimoji="1" lang="en-US" altLang="zh-CN" b="1" baseline="-25000">
                <a:solidFill>
                  <a:srgbClr val="990000"/>
                </a:solidFill>
                <a:ea typeface="楷体_GB2312" pitchFamily="49" charset="-122"/>
              </a:rPr>
              <a:t>1</a:t>
            </a:r>
            <a:endParaRPr kumimoji="1" lang="en-US" altLang="zh-CN" b="1" baseline="-25000">
              <a:solidFill>
                <a:srgbClr val="990000"/>
              </a:solidFill>
              <a:ea typeface="楷体_GB2312" pitchFamily="49" charset="-122"/>
            </a:endParaRPr>
          </a:p>
        </p:txBody>
      </p:sp>
      <p:sp>
        <p:nvSpPr>
          <p:cNvPr id="22560" name="Rectangle 32"/>
          <p:cNvSpPr>
            <a:spLocks noChangeAspect="1" noChangeArrowheads="1"/>
          </p:cNvSpPr>
          <p:nvPr/>
        </p:nvSpPr>
        <p:spPr bwMode="auto">
          <a:xfrm>
            <a:off x="6178550" y="2786063"/>
            <a:ext cx="1108075" cy="879475"/>
          </a:xfrm>
          <a:prstGeom prst="rect">
            <a:avLst/>
          </a:prstGeom>
          <a:gradFill rotWithShape="0">
            <a:gsLst>
              <a:gs pos="0">
                <a:srgbClr val="FFFFFF"/>
              </a:gs>
              <a:gs pos="100000">
                <a:srgbClr val="0000FF"/>
              </a:gs>
            </a:gsLst>
            <a:lin ang="5400000" scaled="1"/>
          </a:gradFill>
          <a:ln w="9525">
            <a:solidFill>
              <a:schemeClr val="tx1"/>
            </a:solidFill>
            <a:miter lim="800000"/>
          </a:ln>
        </p:spPr>
        <p:txBody>
          <a:bodyPr wrap="none" anchor="ctr"/>
          <a:lstStyle/>
          <a:p>
            <a:pPr algn="ctr"/>
            <a:endParaRPr lang="zh-CN" altLang="en-US"/>
          </a:p>
        </p:txBody>
      </p:sp>
      <p:sp>
        <p:nvSpPr>
          <p:cNvPr id="22564" name="Rectangle 36"/>
          <p:cNvSpPr>
            <a:spLocks noChangeArrowheads="1"/>
          </p:cNvSpPr>
          <p:nvPr/>
        </p:nvSpPr>
        <p:spPr bwMode="auto">
          <a:xfrm>
            <a:off x="3298825" y="2928938"/>
            <a:ext cx="1130300" cy="790575"/>
          </a:xfrm>
          <a:prstGeom prst="rect">
            <a:avLst/>
          </a:prstGeom>
          <a:solidFill>
            <a:srgbClr val="DDDDDD">
              <a:alpha val="78038"/>
            </a:srgbClr>
          </a:solidFill>
          <a:ln w="3175" cap="sq">
            <a:solidFill>
              <a:srgbClr val="808080"/>
            </a:solidFill>
            <a:miter lim="800000"/>
            <a:headEnd type="none" w="sm" len="sm"/>
            <a:tailEnd type="none" w="sm" len="sm"/>
          </a:ln>
        </p:spPr>
        <p:txBody>
          <a:bodyPr wrap="none" anchor="ctr"/>
          <a:lstStyle/>
          <a:p>
            <a:pPr algn="ctr">
              <a:lnSpc>
                <a:spcPct val="115000"/>
              </a:lnSpc>
            </a:pPr>
            <a:r>
              <a:rPr kumimoji="1" lang="zh-CN" altLang="en-US" b="1">
                <a:ea typeface="楷体_GB2312" pitchFamily="49" charset="-122"/>
              </a:rPr>
              <a:t>低温</a:t>
            </a:r>
            <a:r>
              <a:rPr kumimoji="1" lang="en-US" altLang="zh-CN" b="1" i="1">
                <a:ea typeface="楷体_GB2312" pitchFamily="49" charset="-122"/>
              </a:rPr>
              <a:t>T</a:t>
            </a:r>
            <a:r>
              <a:rPr kumimoji="1" lang="en-US" altLang="zh-CN" b="1" baseline="-25000">
                <a:ea typeface="楷体_GB2312" pitchFamily="49" charset="-122"/>
              </a:rPr>
              <a:t>2</a:t>
            </a:r>
            <a:endParaRPr kumimoji="1" lang="en-US" altLang="zh-CN" b="1" baseline="-25000">
              <a:ea typeface="楷体_GB2312" pitchFamily="49" charset="-122"/>
            </a:endParaRPr>
          </a:p>
        </p:txBody>
      </p:sp>
      <p:sp>
        <p:nvSpPr>
          <p:cNvPr id="21" name="Text Box 33"/>
          <p:cNvSpPr txBox="1">
            <a:spLocks noChangeArrowheads="1"/>
          </p:cNvSpPr>
          <p:nvPr/>
        </p:nvSpPr>
        <p:spPr bwMode="auto">
          <a:xfrm>
            <a:off x="642938" y="4929188"/>
            <a:ext cx="8061325" cy="517525"/>
          </a:xfrm>
          <a:prstGeom prst="rect">
            <a:avLst/>
          </a:prstGeom>
          <a:noFill/>
          <a:ln w="9525">
            <a:noFill/>
            <a:miter lim="800000"/>
          </a:ln>
        </p:spPr>
        <p:txBody>
          <a:bodyPr>
            <a:spAutoFit/>
          </a:bodyPr>
          <a:lstStyle/>
          <a:p>
            <a:pPr>
              <a:lnSpc>
                <a:spcPct val="115000"/>
              </a:lnSpc>
              <a:defRPr/>
            </a:pPr>
            <a:r>
              <a:rPr kumimoji="1" lang="en-US" altLang="zh-CN" b="1" dirty="0">
                <a:ea typeface="+mn-ea"/>
                <a:cs typeface="Times New Roman" panose="02020603050405020304" pitchFamily="18" charset="0"/>
              </a:rPr>
              <a:t>(2) </a:t>
            </a:r>
            <a:r>
              <a:rPr kumimoji="1" lang="zh-CN" altLang="en-US" b="1" dirty="0">
                <a:latin typeface="+mn-ea"/>
                <a:ea typeface="+mn-ea"/>
              </a:rPr>
              <a:t>平衡态是种热动平衡态，也是一种理想状态；</a:t>
            </a:r>
            <a:endParaRPr kumimoji="1" lang="zh-CN" altLang="en-US" b="1" dirty="0">
              <a:latin typeface="+mn-ea"/>
              <a:ea typeface="+mn-ea"/>
            </a:endParaRPr>
          </a:p>
        </p:txBody>
      </p:sp>
      <p:sp>
        <p:nvSpPr>
          <p:cNvPr id="22" name="Text Box 34"/>
          <p:cNvSpPr txBox="1">
            <a:spLocks noChangeArrowheads="1"/>
          </p:cNvSpPr>
          <p:nvPr/>
        </p:nvSpPr>
        <p:spPr bwMode="auto">
          <a:xfrm>
            <a:off x="642938" y="5554663"/>
            <a:ext cx="8596312" cy="517525"/>
          </a:xfrm>
          <a:prstGeom prst="rect">
            <a:avLst/>
          </a:prstGeom>
          <a:noFill/>
          <a:ln w="9525">
            <a:noFill/>
            <a:miter lim="800000"/>
          </a:ln>
        </p:spPr>
        <p:txBody>
          <a:bodyPr>
            <a:spAutoFit/>
          </a:bodyPr>
          <a:lstStyle/>
          <a:p>
            <a:pPr>
              <a:lnSpc>
                <a:spcPct val="115000"/>
              </a:lnSpc>
              <a:defRPr/>
            </a:pPr>
            <a:r>
              <a:rPr kumimoji="1" lang="en-US" altLang="zh-CN" b="1" dirty="0">
                <a:ea typeface="+mn-ea"/>
                <a:cs typeface="Times New Roman" panose="02020603050405020304" pitchFamily="18" charset="0"/>
              </a:rPr>
              <a:t>(3) </a:t>
            </a:r>
            <a:r>
              <a:rPr kumimoji="1" lang="zh-CN" altLang="en-US" b="1" dirty="0">
                <a:latin typeface="+mn-ea"/>
                <a:ea typeface="+mn-ea"/>
              </a:rPr>
              <a:t>处于平衡态的气体系统，有确定的状态参量 </a:t>
            </a:r>
            <a:r>
              <a:rPr kumimoji="1" lang="en-US" altLang="zh-CN" b="1" dirty="0">
                <a:ea typeface="+mn-ea"/>
                <a:cs typeface="Times New Roman" panose="02020603050405020304" pitchFamily="18" charset="0"/>
              </a:rPr>
              <a:t>(</a:t>
            </a:r>
            <a:r>
              <a:rPr kumimoji="1" lang="en-US" altLang="zh-CN" b="1" i="1" dirty="0">
                <a:ea typeface="+mn-ea"/>
                <a:cs typeface="Times New Roman" panose="02020603050405020304" pitchFamily="18" charset="0"/>
              </a:rPr>
              <a:t>p </a:t>
            </a:r>
            <a:r>
              <a:rPr kumimoji="1" lang="en-US" altLang="zh-CN" b="1" dirty="0">
                <a:ea typeface="+mn-ea"/>
                <a:cs typeface="Times New Roman" panose="02020603050405020304" pitchFamily="18" charset="0"/>
              </a:rPr>
              <a:t>, </a:t>
            </a:r>
            <a:r>
              <a:rPr kumimoji="1" lang="en-US" altLang="zh-CN" b="1" i="1" dirty="0">
                <a:ea typeface="+mn-ea"/>
                <a:cs typeface="Times New Roman" panose="02020603050405020304" pitchFamily="18" charset="0"/>
              </a:rPr>
              <a:t>V</a:t>
            </a:r>
            <a:r>
              <a:rPr kumimoji="1" lang="en-US" altLang="zh-CN" b="1" dirty="0">
                <a:ea typeface="+mn-ea"/>
                <a:cs typeface="Times New Roman" panose="02020603050405020304" pitchFamily="18" charset="0"/>
              </a:rPr>
              <a:t>, </a:t>
            </a:r>
            <a:r>
              <a:rPr kumimoji="1" lang="en-US" altLang="zh-CN" b="1" i="1" dirty="0">
                <a:ea typeface="+mn-ea"/>
                <a:cs typeface="Times New Roman" panose="02020603050405020304" pitchFamily="18" charset="0"/>
              </a:rPr>
              <a:t>T</a:t>
            </a:r>
            <a:r>
              <a:rPr kumimoji="1" lang="en-US" altLang="zh-CN" b="1" dirty="0">
                <a:ea typeface="+mn-ea"/>
                <a:cs typeface="Times New Roman" panose="02020603050405020304" pitchFamily="18" charset="0"/>
              </a:rPr>
              <a:t>)</a:t>
            </a:r>
            <a:r>
              <a:rPr kumimoji="1" lang="zh-CN" altLang="en-US" b="1" dirty="0">
                <a:latin typeface="+mn-ea"/>
                <a:ea typeface="+mn-ea"/>
              </a:rPr>
              <a:t>。</a:t>
            </a:r>
            <a:endParaRPr kumimoji="1" lang="zh-CN" altLang="en-US"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52"/>
                                        </p:tgtEl>
                                        <p:attrNameLst>
                                          <p:attrName>style.visibility</p:attrName>
                                        </p:attrNameLst>
                                      </p:cBhvr>
                                      <p:to>
                                        <p:strVal val="visible"/>
                                      </p:to>
                                    </p:set>
                                    <p:animEffect transition="in" filter="wipe(left)">
                                      <p:cBhvr>
                                        <p:cTn id="7" dur="500"/>
                                        <p:tgtEl>
                                          <p:spTgt spid="2255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553"/>
                                        </p:tgtEl>
                                        <p:attrNameLst>
                                          <p:attrName>style.visibility</p:attrName>
                                        </p:attrNameLst>
                                      </p:cBhvr>
                                      <p:to>
                                        <p:strVal val="visible"/>
                                      </p:to>
                                    </p:set>
                                    <p:animEffect transition="in" filter="wipe(left)">
                                      <p:cBhvr>
                                        <p:cTn id="11" dur="500"/>
                                        <p:tgtEl>
                                          <p:spTgt spid="2255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556"/>
                                        </p:tgtEl>
                                        <p:attrNameLst>
                                          <p:attrName>style.visibility</p:attrName>
                                        </p:attrNameLst>
                                      </p:cBhvr>
                                      <p:to>
                                        <p:strVal val="visible"/>
                                      </p:to>
                                    </p:set>
                                    <p:animEffect transition="in" filter="wipe(left)">
                                      <p:cBhvr>
                                        <p:cTn id="21" dur="500"/>
                                        <p:tgtEl>
                                          <p:spTgt spid="22556"/>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22559"/>
                                        </p:tgtEl>
                                        <p:attrNameLst>
                                          <p:attrName>style.visibility</p:attrName>
                                        </p:attrNameLst>
                                      </p:cBhvr>
                                      <p:to>
                                        <p:strVal val="visible"/>
                                      </p:to>
                                    </p:set>
                                    <p:animEffect transition="in" filter="slide(fromLeft)">
                                      <p:cBhvr>
                                        <p:cTn id="26" dur="500"/>
                                        <p:tgtEl>
                                          <p:spTgt spid="2255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grpId="0" nodeType="clickEffect">
                                  <p:stCondLst>
                                    <p:cond delay="0"/>
                                  </p:stCondLst>
                                  <p:childTnLst>
                                    <p:set>
                                      <p:cBhvr>
                                        <p:cTn id="30" dur="1" fill="hold">
                                          <p:stCondLst>
                                            <p:cond delay="0"/>
                                          </p:stCondLst>
                                        </p:cTn>
                                        <p:tgtEl>
                                          <p:spTgt spid="22564"/>
                                        </p:tgtEl>
                                        <p:attrNameLst>
                                          <p:attrName>style.visibility</p:attrName>
                                        </p:attrNameLst>
                                      </p:cBhvr>
                                      <p:to>
                                        <p:strVal val="visible"/>
                                      </p:to>
                                    </p:set>
                                    <p:animEffect transition="in" filter="slide(fromRight)">
                                      <p:cBhvr>
                                        <p:cTn id="31" dur="500"/>
                                        <p:tgtEl>
                                          <p:spTgt spid="2256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2551"/>
                                        </p:tgtEl>
                                        <p:attrNameLst>
                                          <p:attrName>style.visibility</p:attrName>
                                        </p:attrNameLst>
                                      </p:cBhvr>
                                      <p:to>
                                        <p:strVal val="visible"/>
                                      </p:to>
                                    </p:set>
                                    <p:animEffect transition="in" filter="wipe(left)">
                                      <p:cBhvr>
                                        <p:cTn id="36" dur="500"/>
                                        <p:tgtEl>
                                          <p:spTgt spid="2255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557"/>
                                        </p:tgtEl>
                                        <p:attrNameLst>
                                          <p:attrName>style.visibility</p:attrName>
                                        </p:attrNameLst>
                                      </p:cBhvr>
                                      <p:to>
                                        <p:strVal val="visible"/>
                                      </p:to>
                                    </p:set>
                                    <p:animEffect transition="in" filter="wipe(left)">
                                      <p:cBhvr>
                                        <p:cTn id="41" dur="500"/>
                                        <p:tgtEl>
                                          <p:spTgt spid="22557"/>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grpId="0" nodeType="clickEffect">
                                  <p:stCondLst>
                                    <p:cond delay="0"/>
                                  </p:stCondLst>
                                  <p:childTnLst>
                                    <p:set>
                                      <p:cBhvr>
                                        <p:cTn id="45" dur="1" fill="hold">
                                          <p:stCondLst>
                                            <p:cond delay="0"/>
                                          </p:stCondLst>
                                        </p:cTn>
                                        <p:tgtEl>
                                          <p:spTgt spid="22560"/>
                                        </p:tgtEl>
                                        <p:attrNameLst>
                                          <p:attrName>style.visibility</p:attrName>
                                        </p:attrNameLst>
                                      </p:cBhvr>
                                      <p:to>
                                        <p:strVal val="visible"/>
                                      </p:to>
                                    </p:set>
                                    <p:anim calcmode="lin" valueType="num">
                                      <p:cBhvr>
                                        <p:cTn id="46" dur="500" fill="hold"/>
                                        <p:tgtEl>
                                          <p:spTgt spid="22560"/>
                                        </p:tgtEl>
                                        <p:attrNameLst>
                                          <p:attrName>ppt_w</p:attrName>
                                        </p:attrNameLst>
                                      </p:cBhvr>
                                      <p:tavLst>
                                        <p:tav tm="0">
                                          <p:val>
                                            <p:fltVal val="0"/>
                                          </p:val>
                                        </p:tav>
                                        <p:tav tm="100000">
                                          <p:val>
                                            <p:strVal val="#ppt_w"/>
                                          </p:val>
                                        </p:tav>
                                      </p:tavLst>
                                    </p:anim>
                                    <p:anim calcmode="lin" valueType="num">
                                      <p:cBhvr>
                                        <p:cTn id="47" dur="500" fill="hold"/>
                                        <p:tgtEl>
                                          <p:spTgt spid="22560"/>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2558"/>
                                        </p:tgtEl>
                                        <p:attrNameLst>
                                          <p:attrName>style.visibility</p:attrName>
                                        </p:attrNameLst>
                                      </p:cBhvr>
                                      <p:to>
                                        <p:strVal val="visible"/>
                                      </p:to>
                                    </p:set>
                                    <p:animEffect transition="in" filter="wipe(left)">
                                      <p:cBhvr>
                                        <p:cTn id="52" dur="500"/>
                                        <p:tgtEl>
                                          <p:spTgt spid="2255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left)">
                                      <p:cBhvr>
                                        <p:cTn id="6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1" grpId="0" animBg="1"/>
      <p:bldP spid="22552" grpId="0" autoUpdateAnimBg="0"/>
      <p:bldP spid="22553" grpId="0" autoUpdateAnimBg="0"/>
      <p:bldP spid="22556" grpId="0"/>
      <p:bldP spid="22557" grpId="0" autoUpdateAnimBg="0"/>
      <p:bldP spid="22558" grpId="0"/>
      <p:bldP spid="22559" grpId="0" animBg="1" autoUpdateAnimBg="0"/>
      <p:bldP spid="22560" grpId="0" animBg="1"/>
      <p:bldP spid="22564" grpId="0" animBg="1" autoUpdateAnimBg="0"/>
      <p:bldP spid="21" grpId="0"/>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57188" y="428625"/>
            <a:ext cx="5422900" cy="457200"/>
          </a:xfrm>
          <a:prstGeom prst="rect">
            <a:avLst/>
          </a:prstGeom>
          <a:noFill/>
          <a:ln w="9525">
            <a:noFill/>
            <a:miter lim="800000"/>
          </a:ln>
        </p:spPr>
        <p:txBody>
          <a:bodyPr>
            <a:spAutoFit/>
          </a:bodyPr>
          <a:lstStyle/>
          <a:p>
            <a:r>
              <a:rPr kumimoji="1" lang="en-US" altLang="zh-CN" b="1">
                <a:solidFill>
                  <a:srgbClr val="0000FF"/>
                </a:solidFill>
              </a:rPr>
              <a:t>7.1.3  </a:t>
            </a:r>
            <a:r>
              <a:rPr kumimoji="1" lang="zh-CN" altLang="en-US" b="1">
                <a:solidFill>
                  <a:srgbClr val="0000FF"/>
                </a:solidFill>
              </a:rPr>
              <a:t>理想气体的状态方程</a:t>
            </a:r>
            <a:endParaRPr kumimoji="1" lang="zh-CN" altLang="en-US" b="1">
              <a:solidFill>
                <a:srgbClr val="0000FF"/>
              </a:solidFill>
            </a:endParaRPr>
          </a:p>
        </p:txBody>
      </p:sp>
      <p:graphicFrame>
        <p:nvGraphicFramePr>
          <p:cNvPr id="7" name="Object 3"/>
          <p:cNvGraphicFramePr>
            <a:graphicFrameLocks noChangeAspect="1"/>
          </p:cNvGraphicFramePr>
          <p:nvPr/>
        </p:nvGraphicFramePr>
        <p:xfrm>
          <a:off x="2571750" y="1143000"/>
          <a:ext cx="1509713" cy="431800"/>
        </p:xfrm>
        <a:graphic>
          <a:graphicData uri="http://schemas.openxmlformats.org/presentationml/2006/ole">
            <mc:AlternateContent xmlns:mc="http://schemas.openxmlformats.org/markup-compatibility/2006">
              <mc:Choice xmlns:v="urn:schemas-microsoft-com:vml" Requires="v">
                <p:oleObj spid="_x0000_s3073" name="Equation" r:id="rId1" imgW="16764000" imgH="4876800" progId="Equation.DSMT4">
                  <p:embed/>
                </p:oleObj>
              </mc:Choice>
              <mc:Fallback>
                <p:oleObj name="Equation" r:id="rId1" imgW="16764000" imgH="4876800" progId="Equation.DSMT4">
                  <p:embed/>
                  <p:pic>
                    <p:nvPicPr>
                      <p:cNvPr id="0" name="Object 3"/>
                      <p:cNvPicPr>
                        <a:picLocks noChangeAspect="1"/>
                      </p:cNvPicPr>
                      <p:nvPr/>
                    </p:nvPicPr>
                    <p:blipFill>
                      <a:blip r:embed="rId2"/>
                      <a:stretch>
                        <a:fillRect/>
                      </a:stretch>
                    </p:blipFill>
                    <p:spPr>
                      <a:xfrm>
                        <a:off x="2571750" y="1143000"/>
                        <a:ext cx="1509713" cy="431800"/>
                      </a:xfrm>
                      <a:prstGeom prst="rect">
                        <a:avLst/>
                      </a:prstGeom>
                      <a:noFill/>
                      <a:ln w="9525">
                        <a:noFill/>
                      </a:ln>
                    </p:spPr>
                  </p:pic>
                </p:oleObj>
              </mc:Fallback>
            </mc:AlternateContent>
          </a:graphicData>
        </a:graphic>
      </p:graphicFrame>
      <p:sp>
        <p:nvSpPr>
          <p:cNvPr id="8" name="Text Box 4"/>
          <p:cNvSpPr txBox="1">
            <a:spLocks noChangeArrowheads="1"/>
          </p:cNvSpPr>
          <p:nvPr/>
        </p:nvSpPr>
        <p:spPr bwMode="auto">
          <a:xfrm>
            <a:off x="1357313" y="2071688"/>
            <a:ext cx="2924175" cy="457200"/>
          </a:xfrm>
          <a:prstGeom prst="rect">
            <a:avLst/>
          </a:prstGeom>
          <a:noFill/>
          <a:ln w="9525">
            <a:noFill/>
            <a:miter lim="800000"/>
          </a:ln>
        </p:spPr>
        <p:txBody>
          <a:bodyPr wrap="none">
            <a:spAutoFit/>
          </a:bodyPr>
          <a:lstStyle/>
          <a:p>
            <a:pPr>
              <a:spcBef>
                <a:spcPct val="50000"/>
              </a:spcBef>
            </a:pPr>
            <a:r>
              <a:rPr lang="en-US" altLang="zh-CN" b="1" i="1">
                <a:solidFill>
                  <a:srgbClr val="FF0000"/>
                </a:solidFill>
                <a:latin typeface="Garamond" panose="02020404030301010803" pitchFamily="18" charset="0"/>
              </a:rPr>
              <a:t>R</a:t>
            </a:r>
            <a:r>
              <a:rPr lang="en-US" altLang="zh-CN" b="1" i="1">
                <a:latin typeface="Garamond" panose="02020404030301010803" pitchFamily="18" charset="0"/>
              </a:rPr>
              <a:t> </a:t>
            </a:r>
            <a:r>
              <a:rPr lang="zh-CN" altLang="en-US" b="1">
                <a:latin typeface="Garamond" panose="02020404030301010803" pitchFamily="18" charset="0"/>
              </a:rPr>
              <a:t>为</a:t>
            </a:r>
            <a:r>
              <a:rPr lang="zh-CN" altLang="en-US" b="1">
                <a:solidFill>
                  <a:srgbClr val="FF6600"/>
                </a:solidFill>
                <a:latin typeface="Garamond" panose="02020404030301010803" pitchFamily="18" charset="0"/>
              </a:rPr>
              <a:t>理想气体常量</a:t>
            </a:r>
            <a:r>
              <a:rPr lang="zh-CN" altLang="en-US" b="1">
                <a:latin typeface="Garamond" panose="02020404030301010803" pitchFamily="18" charset="0"/>
              </a:rPr>
              <a:t>：</a:t>
            </a:r>
            <a:endParaRPr lang="zh-CN" altLang="en-US" b="1">
              <a:latin typeface="Garamond" panose="02020404030301010803" pitchFamily="18" charset="0"/>
            </a:endParaRPr>
          </a:p>
        </p:txBody>
      </p:sp>
      <p:graphicFrame>
        <p:nvGraphicFramePr>
          <p:cNvPr id="9" name="Object 5"/>
          <p:cNvGraphicFramePr>
            <a:graphicFrameLocks noChangeAspect="1"/>
          </p:cNvGraphicFramePr>
          <p:nvPr/>
        </p:nvGraphicFramePr>
        <p:xfrm>
          <a:off x="4583113" y="2016125"/>
          <a:ext cx="3017837" cy="455613"/>
        </p:xfrm>
        <a:graphic>
          <a:graphicData uri="http://schemas.openxmlformats.org/presentationml/2006/ole">
            <mc:AlternateContent xmlns:mc="http://schemas.openxmlformats.org/markup-compatibility/2006">
              <mc:Choice xmlns:v="urn:schemas-microsoft-com:vml" Requires="v">
                <p:oleObj spid="_x0000_s3075" name="公式" r:id="rId3" imgW="32308800" imgH="4876800" progId="Equation.3">
                  <p:embed/>
                </p:oleObj>
              </mc:Choice>
              <mc:Fallback>
                <p:oleObj name="公式" r:id="rId3" imgW="32308800" imgH="4876800" progId="Equation.3">
                  <p:embed/>
                  <p:pic>
                    <p:nvPicPr>
                      <p:cNvPr id="0" name="Object 5"/>
                      <p:cNvPicPr>
                        <a:picLocks noChangeAspect="1"/>
                      </p:cNvPicPr>
                      <p:nvPr/>
                    </p:nvPicPr>
                    <p:blipFill>
                      <a:blip r:embed="rId4"/>
                      <a:stretch>
                        <a:fillRect/>
                      </a:stretch>
                    </p:blipFill>
                    <p:spPr>
                      <a:xfrm>
                        <a:off x="4583113" y="2016125"/>
                        <a:ext cx="3017837" cy="455613"/>
                      </a:xfrm>
                      <a:prstGeom prst="rect">
                        <a:avLst/>
                      </a:prstGeom>
                      <a:noFill/>
                      <a:ln w="9525">
                        <a:noFill/>
                      </a:ln>
                    </p:spPr>
                  </p:pic>
                </p:oleObj>
              </mc:Fallback>
            </mc:AlternateContent>
          </a:graphicData>
        </a:graphic>
      </p:graphicFrame>
      <p:graphicFrame>
        <p:nvGraphicFramePr>
          <p:cNvPr id="10" name="Object 6"/>
          <p:cNvGraphicFramePr>
            <a:graphicFrameLocks noChangeAspect="1"/>
          </p:cNvGraphicFramePr>
          <p:nvPr/>
        </p:nvGraphicFramePr>
        <p:xfrm>
          <a:off x="4900613" y="2643188"/>
          <a:ext cx="3816350" cy="889000"/>
        </p:xfrm>
        <a:graphic>
          <a:graphicData uri="http://schemas.openxmlformats.org/presentationml/2006/ole">
            <mc:AlternateContent xmlns:mc="http://schemas.openxmlformats.org/markup-compatibility/2006">
              <mc:Choice xmlns:v="urn:schemas-microsoft-com:vml" Requires="v">
                <p:oleObj spid="_x0000_s3076" name="公式" r:id="rId5" imgW="44500800" imgH="10363200" progId="Equation.3">
                  <p:embed/>
                </p:oleObj>
              </mc:Choice>
              <mc:Fallback>
                <p:oleObj name="公式" r:id="rId5" imgW="44500800" imgH="10363200" progId="Equation.3">
                  <p:embed/>
                  <p:pic>
                    <p:nvPicPr>
                      <p:cNvPr id="0" name="Object 6"/>
                      <p:cNvPicPr>
                        <a:picLocks noChangeAspect="1"/>
                      </p:cNvPicPr>
                      <p:nvPr/>
                    </p:nvPicPr>
                    <p:blipFill>
                      <a:blip r:embed="rId6"/>
                      <a:stretch>
                        <a:fillRect/>
                      </a:stretch>
                    </p:blipFill>
                    <p:spPr>
                      <a:xfrm>
                        <a:off x="4900613" y="2643188"/>
                        <a:ext cx="3816350" cy="889000"/>
                      </a:xfrm>
                      <a:prstGeom prst="rect">
                        <a:avLst/>
                      </a:prstGeom>
                      <a:noFill/>
                      <a:ln w="9525">
                        <a:noFill/>
                      </a:ln>
                    </p:spPr>
                  </p:pic>
                </p:oleObj>
              </mc:Fallback>
            </mc:AlternateContent>
          </a:graphicData>
        </a:graphic>
      </p:graphicFrame>
      <p:sp>
        <p:nvSpPr>
          <p:cNvPr id="11" name="AutoShape 7"/>
          <p:cNvSpPr>
            <a:spLocks noChangeArrowheads="1"/>
          </p:cNvSpPr>
          <p:nvPr/>
        </p:nvSpPr>
        <p:spPr bwMode="auto">
          <a:xfrm>
            <a:off x="996950" y="3000375"/>
            <a:ext cx="863600" cy="144463"/>
          </a:xfrm>
          <a:prstGeom prst="rightArrow">
            <a:avLst>
              <a:gd name="adj1" fmla="val 50000"/>
              <a:gd name="adj2" fmla="val 149450"/>
            </a:avLst>
          </a:prstGeom>
          <a:solidFill>
            <a:schemeClr val="accent1"/>
          </a:solidFill>
          <a:ln w="9525">
            <a:solidFill>
              <a:schemeClr val="tx1"/>
            </a:solidFill>
            <a:miter lim="800000"/>
          </a:ln>
        </p:spPr>
        <p:txBody>
          <a:bodyPr wrap="none" anchor="ctr"/>
          <a:lstStyle/>
          <a:p>
            <a:pPr algn="ctr"/>
            <a:endParaRPr lang="zh-CN" altLang="en-US" b="1"/>
          </a:p>
        </p:txBody>
      </p:sp>
      <p:graphicFrame>
        <p:nvGraphicFramePr>
          <p:cNvPr id="12" name="Object 8"/>
          <p:cNvGraphicFramePr>
            <a:graphicFrameLocks noChangeAspect="1"/>
          </p:cNvGraphicFramePr>
          <p:nvPr/>
        </p:nvGraphicFramePr>
        <p:xfrm>
          <a:off x="2149475" y="2643188"/>
          <a:ext cx="2587625" cy="879475"/>
        </p:xfrm>
        <a:graphic>
          <a:graphicData uri="http://schemas.openxmlformats.org/presentationml/2006/ole">
            <mc:AlternateContent xmlns:mc="http://schemas.openxmlformats.org/markup-compatibility/2006">
              <mc:Choice xmlns:v="urn:schemas-microsoft-com:vml" Requires="v">
                <p:oleObj spid="_x0000_s3077" name="公式" r:id="rId7" imgW="30480000" imgH="10363200" progId="Equation.3">
                  <p:embed/>
                </p:oleObj>
              </mc:Choice>
              <mc:Fallback>
                <p:oleObj name="公式" r:id="rId7" imgW="30480000" imgH="10363200" progId="Equation.3">
                  <p:embed/>
                  <p:pic>
                    <p:nvPicPr>
                      <p:cNvPr id="0" name="Object 8"/>
                      <p:cNvPicPr>
                        <a:picLocks noChangeAspect="1"/>
                      </p:cNvPicPr>
                      <p:nvPr/>
                    </p:nvPicPr>
                    <p:blipFill>
                      <a:blip r:embed="rId8"/>
                      <a:stretch>
                        <a:fillRect/>
                      </a:stretch>
                    </p:blipFill>
                    <p:spPr>
                      <a:xfrm>
                        <a:off x="2149475" y="2643188"/>
                        <a:ext cx="2587625" cy="879475"/>
                      </a:xfrm>
                      <a:prstGeom prst="rect">
                        <a:avLst/>
                      </a:prstGeom>
                      <a:noFill/>
                      <a:ln w="9525">
                        <a:noFill/>
                      </a:ln>
                    </p:spPr>
                  </p:pic>
                </p:oleObj>
              </mc:Fallback>
            </mc:AlternateContent>
          </a:graphicData>
        </a:graphic>
      </p:graphicFrame>
      <p:sp>
        <p:nvSpPr>
          <p:cNvPr id="13" name="AutoShape 9"/>
          <p:cNvSpPr>
            <a:spLocks noChangeArrowheads="1"/>
          </p:cNvSpPr>
          <p:nvPr/>
        </p:nvSpPr>
        <p:spPr bwMode="auto">
          <a:xfrm>
            <a:off x="996950" y="3857625"/>
            <a:ext cx="863600" cy="144463"/>
          </a:xfrm>
          <a:prstGeom prst="rightArrow">
            <a:avLst>
              <a:gd name="adj1" fmla="val 50000"/>
              <a:gd name="adj2" fmla="val 149450"/>
            </a:avLst>
          </a:prstGeom>
          <a:solidFill>
            <a:schemeClr val="accent1"/>
          </a:solidFill>
          <a:ln w="9525">
            <a:solidFill>
              <a:schemeClr val="tx1"/>
            </a:solidFill>
            <a:miter lim="800000"/>
          </a:ln>
        </p:spPr>
        <p:txBody>
          <a:bodyPr wrap="none" anchor="ctr"/>
          <a:lstStyle/>
          <a:p>
            <a:pPr algn="ctr"/>
            <a:endParaRPr lang="zh-CN" altLang="en-US" b="1"/>
          </a:p>
        </p:txBody>
      </p:sp>
      <p:graphicFrame>
        <p:nvGraphicFramePr>
          <p:cNvPr id="14" name="Object 10"/>
          <p:cNvGraphicFramePr>
            <a:graphicFrameLocks noChangeAspect="1"/>
          </p:cNvGraphicFramePr>
          <p:nvPr/>
        </p:nvGraphicFramePr>
        <p:xfrm>
          <a:off x="2286000" y="3500438"/>
          <a:ext cx="2120900" cy="801687"/>
        </p:xfrm>
        <a:graphic>
          <a:graphicData uri="http://schemas.openxmlformats.org/presentationml/2006/ole">
            <mc:AlternateContent xmlns:mc="http://schemas.openxmlformats.org/markup-compatibility/2006">
              <mc:Choice xmlns:v="urn:schemas-microsoft-com:vml" Requires="v">
                <p:oleObj spid="_x0000_s3078" name="公式" r:id="rId9" imgW="24993600" imgH="9448800" progId="Equation.3">
                  <p:embed/>
                </p:oleObj>
              </mc:Choice>
              <mc:Fallback>
                <p:oleObj name="公式" r:id="rId9" imgW="24993600" imgH="9448800" progId="Equation.3">
                  <p:embed/>
                  <p:pic>
                    <p:nvPicPr>
                      <p:cNvPr id="0" name="Object 10"/>
                      <p:cNvPicPr>
                        <a:picLocks noChangeAspect="1"/>
                      </p:cNvPicPr>
                      <p:nvPr/>
                    </p:nvPicPr>
                    <p:blipFill>
                      <a:blip r:embed="rId10"/>
                      <a:stretch>
                        <a:fillRect/>
                      </a:stretch>
                    </p:blipFill>
                    <p:spPr>
                      <a:xfrm>
                        <a:off x="2286000" y="3500438"/>
                        <a:ext cx="2120900" cy="801687"/>
                      </a:xfrm>
                      <a:prstGeom prst="rect">
                        <a:avLst/>
                      </a:prstGeom>
                      <a:noFill/>
                      <a:ln w="9525">
                        <a:noFill/>
                      </a:ln>
                    </p:spPr>
                  </p:pic>
                </p:oleObj>
              </mc:Fallback>
            </mc:AlternateContent>
          </a:graphicData>
        </a:graphic>
      </p:graphicFrame>
      <p:sp>
        <p:nvSpPr>
          <p:cNvPr id="15" name="Text Box 11"/>
          <p:cNvSpPr txBox="1">
            <a:spLocks noChangeArrowheads="1"/>
          </p:cNvSpPr>
          <p:nvPr/>
        </p:nvSpPr>
        <p:spPr bwMode="auto">
          <a:xfrm>
            <a:off x="1857375" y="4386263"/>
            <a:ext cx="2565400" cy="457200"/>
          </a:xfrm>
          <a:prstGeom prst="rect">
            <a:avLst/>
          </a:prstGeom>
          <a:noFill/>
          <a:ln w="9525">
            <a:noFill/>
            <a:miter lim="800000"/>
          </a:ln>
        </p:spPr>
        <p:txBody>
          <a:bodyPr wrap="none">
            <a:spAutoFit/>
          </a:bodyPr>
          <a:lstStyle/>
          <a:p>
            <a:r>
              <a:rPr lang="en-US" altLang="zh-CN" b="1" i="1">
                <a:solidFill>
                  <a:srgbClr val="FF0000"/>
                </a:solidFill>
              </a:rPr>
              <a:t>k</a:t>
            </a:r>
            <a:r>
              <a:rPr lang="en-US" altLang="zh-CN" b="1">
                <a:latin typeface="Arial" panose="020B0604020202020204" pitchFamily="34" charset="0"/>
              </a:rPr>
              <a:t> </a:t>
            </a:r>
            <a:r>
              <a:rPr lang="zh-CN" altLang="en-US" b="1">
                <a:latin typeface="Arial" panose="020B0604020202020204" pitchFamily="34" charset="0"/>
              </a:rPr>
              <a:t>为</a:t>
            </a:r>
            <a:r>
              <a:rPr lang="zh-CN" altLang="en-US" b="1">
                <a:solidFill>
                  <a:srgbClr val="FF6600"/>
                </a:solidFill>
                <a:latin typeface="Arial" panose="020B0604020202020204" pitchFamily="34" charset="0"/>
              </a:rPr>
              <a:t>玻尔兹曼常数</a:t>
            </a:r>
            <a:endParaRPr lang="zh-CN" altLang="en-US" b="1">
              <a:solidFill>
                <a:srgbClr val="FF6600"/>
              </a:solidFill>
              <a:latin typeface="Arial" panose="020B0604020202020204" pitchFamily="34" charset="0"/>
            </a:endParaRPr>
          </a:p>
        </p:txBody>
      </p:sp>
      <p:sp>
        <p:nvSpPr>
          <p:cNvPr id="16" name="Text Box 12"/>
          <p:cNvSpPr txBox="1">
            <a:spLocks noChangeArrowheads="1"/>
          </p:cNvSpPr>
          <p:nvPr/>
        </p:nvSpPr>
        <p:spPr bwMode="auto">
          <a:xfrm>
            <a:off x="4929188" y="4357688"/>
            <a:ext cx="2592387" cy="457200"/>
          </a:xfrm>
          <a:prstGeom prst="rect">
            <a:avLst/>
          </a:prstGeom>
          <a:noFill/>
          <a:ln w="9525">
            <a:noFill/>
            <a:miter lim="800000"/>
          </a:ln>
        </p:spPr>
        <p:txBody>
          <a:bodyPr>
            <a:spAutoFit/>
          </a:bodyPr>
          <a:lstStyle/>
          <a:p>
            <a:r>
              <a:rPr lang="en-US" altLang="zh-CN" b="1" i="1">
                <a:solidFill>
                  <a:srgbClr val="FF0000"/>
                </a:solidFill>
              </a:rPr>
              <a:t>n</a:t>
            </a:r>
            <a:r>
              <a:rPr lang="en-US" altLang="zh-CN" b="1">
                <a:latin typeface="Arial" panose="020B0604020202020204" pitchFamily="34" charset="0"/>
              </a:rPr>
              <a:t> </a:t>
            </a:r>
            <a:r>
              <a:rPr lang="zh-CN" altLang="en-US" b="1">
                <a:latin typeface="Arial" panose="020B0604020202020204" pitchFamily="34" charset="0"/>
              </a:rPr>
              <a:t>为</a:t>
            </a:r>
            <a:r>
              <a:rPr lang="zh-CN" altLang="en-US" b="1">
                <a:solidFill>
                  <a:srgbClr val="FF6600"/>
                </a:solidFill>
                <a:latin typeface="Arial" panose="020B0604020202020204" pitchFamily="34" charset="0"/>
              </a:rPr>
              <a:t>分子数密度</a:t>
            </a:r>
            <a:endParaRPr lang="zh-CN" altLang="en-US" b="1">
              <a:solidFill>
                <a:srgbClr val="FF6600"/>
              </a:solidFill>
              <a:latin typeface="Arial" panose="020B0604020202020204" pitchFamily="34" charset="0"/>
            </a:endParaRPr>
          </a:p>
        </p:txBody>
      </p:sp>
      <p:grpSp>
        <p:nvGrpSpPr>
          <p:cNvPr id="2" name="Group 13"/>
          <p:cNvGrpSpPr/>
          <p:nvPr/>
        </p:nvGrpSpPr>
        <p:grpSpPr bwMode="auto">
          <a:xfrm>
            <a:off x="4214813" y="1071563"/>
            <a:ext cx="2184400" cy="546100"/>
            <a:chOff x="2971" y="981"/>
            <a:chExt cx="1376" cy="344"/>
          </a:xfrm>
        </p:grpSpPr>
        <p:graphicFrame>
          <p:nvGraphicFramePr>
            <p:cNvPr id="3079" name="Object 14"/>
            <p:cNvGraphicFramePr>
              <a:graphicFrameLocks noChangeAspect="1"/>
            </p:cNvGraphicFramePr>
            <p:nvPr/>
          </p:nvGraphicFramePr>
          <p:xfrm>
            <a:off x="3424" y="981"/>
            <a:ext cx="923" cy="344"/>
          </p:xfrm>
          <a:graphic>
            <a:graphicData uri="http://schemas.openxmlformats.org/presentationml/2006/ole">
              <mc:AlternateContent xmlns:mc="http://schemas.openxmlformats.org/markup-compatibility/2006">
                <mc:Choice xmlns:v="urn:schemas-microsoft-com:vml" Requires="v">
                  <p:oleObj spid="_x0000_s3079" name="公式" r:id="rId11" imgW="13106400" imgH="4876800" progId="Equation.3">
                    <p:embed/>
                  </p:oleObj>
                </mc:Choice>
                <mc:Fallback>
                  <p:oleObj name="公式" r:id="rId11" imgW="13106400" imgH="4876800" progId="Equation.3">
                    <p:embed/>
                    <p:pic>
                      <p:nvPicPr>
                        <p:cNvPr id="0" name="Object 14"/>
                        <p:cNvPicPr>
                          <a:picLocks noChangeAspect="1"/>
                        </p:cNvPicPr>
                        <p:nvPr/>
                      </p:nvPicPr>
                      <p:blipFill>
                        <a:blip r:embed="rId12"/>
                        <a:stretch>
                          <a:fillRect/>
                        </a:stretch>
                      </p:blipFill>
                      <p:spPr>
                        <a:xfrm>
                          <a:off x="3424" y="981"/>
                          <a:ext cx="923" cy="344"/>
                        </a:xfrm>
                        <a:prstGeom prst="rect">
                          <a:avLst/>
                        </a:prstGeom>
                        <a:noFill/>
                        <a:ln w="9525">
                          <a:noFill/>
                        </a:ln>
                      </p:spPr>
                    </p:pic>
                  </p:oleObj>
                </mc:Fallback>
              </mc:AlternateContent>
            </a:graphicData>
          </a:graphic>
        </p:graphicFrame>
        <p:sp>
          <p:nvSpPr>
            <p:cNvPr id="3093" name="Text Box 15"/>
            <p:cNvSpPr txBox="1">
              <a:spLocks noChangeArrowheads="1"/>
            </p:cNvSpPr>
            <p:nvPr/>
          </p:nvSpPr>
          <p:spPr bwMode="auto">
            <a:xfrm>
              <a:off x="2971" y="1026"/>
              <a:ext cx="499" cy="288"/>
            </a:xfrm>
            <a:prstGeom prst="rect">
              <a:avLst/>
            </a:prstGeom>
            <a:noFill/>
            <a:ln w="9525">
              <a:noFill/>
              <a:miter lim="800000"/>
            </a:ln>
          </p:spPr>
          <p:txBody>
            <a:bodyPr>
              <a:spAutoFit/>
            </a:bodyPr>
            <a:lstStyle/>
            <a:p>
              <a:pPr>
                <a:spcBef>
                  <a:spcPct val="50000"/>
                </a:spcBef>
              </a:pPr>
              <a:r>
                <a:rPr lang="zh-CN" altLang="en-US" b="1"/>
                <a:t>或</a:t>
              </a:r>
              <a:endParaRPr lang="zh-CN" altLang="en-US" b="1"/>
            </a:p>
          </p:txBody>
        </p:sp>
      </p:grpSp>
      <p:sp>
        <p:nvSpPr>
          <p:cNvPr id="20" name="Rectangle 16"/>
          <p:cNvSpPr>
            <a:spLocks noChangeArrowheads="1"/>
          </p:cNvSpPr>
          <p:nvPr/>
        </p:nvSpPr>
        <p:spPr bwMode="auto">
          <a:xfrm>
            <a:off x="2286000" y="928688"/>
            <a:ext cx="4495800" cy="990600"/>
          </a:xfrm>
          <a:prstGeom prst="rect">
            <a:avLst/>
          </a:prstGeom>
          <a:noFill/>
          <a:ln w="15875">
            <a:solidFill>
              <a:srgbClr val="FF6600"/>
            </a:solidFill>
            <a:miter lim="800000"/>
          </a:ln>
        </p:spPr>
        <p:txBody>
          <a:bodyPr wrap="none" anchor="ctr"/>
          <a:lstStyle/>
          <a:p>
            <a:pPr algn="ctr"/>
            <a:endParaRPr lang="zh-CN" altLang="en-US" b="1"/>
          </a:p>
        </p:txBody>
      </p:sp>
      <p:sp>
        <p:nvSpPr>
          <p:cNvPr id="22" name="Rectangle 36"/>
          <p:cNvSpPr>
            <a:spLocks noChangeArrowheads="1"/>
          </p:cNvSpPr>
          <p:nvPr/>
        </p:nvSpPr>
        <p:spPr bwMode="auto">
          <a:xfrm>
            <a:off x="4000500" y="428625"/>
            <a:ext cx="3500438" cy="479425"/>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solidFill>
                  <a:srgbClr val="0000FF"/>
                </a:solidFill>
                <a:ea typeface="楷体_GB2312" pitchFamily="49" charset="-122"/>
                <a:cs typeface="Times New Roman" panose="02020603050405020304" pitchFamily="18" charset="0"/>
              </a:rPr>
              <a:t>（</a:t>
            </a:r>
            <a:r>
              <a:rPr kumimoji="1" lang="en-US" altLang="zh-CN" b="1">
                <a:solidFill>
                  <a:srgbClr val="0000FF"/>
                </a:solidFill>
                <a:ea typeface="楷体_GB2312" pitchFamily="49" charset="-122"/>
                <a:cs typeface="Times New Roman" panose="02020603050405020304" pitchFamily="18" charset="0"/>
              </a:rPr>
              <a:t>Clapeyron equation</a:t>
            </a:r>
            <a:r>
              <a:rPr kumimoji="1" lang="zh-CN" altLang="en-US" b="1">
                <a:solidFill>
                  <a:srgbClr val="0000FF"/>
                </a:solidFill>
                <a:ea typeface="楷体_GB2312" pitchFamily="49" charset="-122"/>
                <a:cs typeface="Times New Roman" panose="02020603050405020304" pitchFamily="18" charset="0"/>
              </a:rPr>
              <a:t>）</a:t>
            </a:r>
            <a:endParaRPr kumimoji="1" lang="zh-CN" altLang="en-US" b="1">
              <a:solidFill>
                <a:srgbClr val="0000FF"/>
              </a:solidFill>
              <a:ea typeface="楷体_GB2312" pitchFamily="49" charset="-122"/>
              <a:cs typeface="Times New Roman" panose="02020603050405020304" pitchFamily="18" charset="0"/>
            </a:endParaRPr>
          </a:p>
        </p:txBody>
      </p:sp>
      <p:grpSp>
        <p:nvGrpSpPr>
          <p:cNvPr id="3" name="组合 22"/>
          <p:cNvGrpSpPr/>
          <p:nvPr/>
        </p:nvGrpSpPr>
        <p:grpSpPr bwMode="auto">
          <a:xfrm>
            <a:off x="396875" y="4916488"/>
            <a:ext cx="1817688" cy="512762"/>
            <a:chOff x="161925" y="2946400"/>
            <a:chExt cx="1817688" cy="512763"/>
          </a:xfrm>
        </p:grpSpPr>
        <p:sp>
          <p:nvSpPr>
            <p:cNvPr id="3091" name="Text Box 39"/>
            <p:cNvSpPr txBox="1">
              <a:spLocks noChangeArrowheads="1"/>
            </p:cNvSpPr>
            <p:nvPr/>
          </p:nvSpPr>
          <p:spPr bwMode="auto">
            <a:xfrm>
              <a:off x="468313" y="2946400"/>
              <a:ext cx="1511300" cy="512763"/>
            </a:xfrm>
            <a:prstGeom prst="rect">
              <a:avLst/>
            </a:prstGeom>
            <a:noFill/>
            <a:ln w="9525">
              <a:noFill/>
              <a:miter lim="800000"/>
            </a:ln>
          </p:spPr>
          <p:txBody>
            <a:bodyPr>
              <a:spAutoFit/>
            </a:bodyPr>
            <a:lstStyle/>
            <a:p>
              <a:pPr>
                <a:lnSpc>
                  <a:spcPct val="115000"/>
                </a:lnSpc>
              </a:pPr>
              <a:r>
                <a:rPr lang="zh-CN" altLang="en-US" b="1">
                  <a:solidFill>
                    <a:srgbClr val="FF0000"/>
                  </a:solidFill>
                </a:rPr>
                <a:t>说明</a:t>
              </a:r>
              <a:endParaRPr lang="zh-CN" altLang="en-US" b="1">
                <a:solidFill>
                  <a:srgbClr val="FF0000"/>
                </a:solidFill>
              </a:endParaRPr>
            </a:p>
          </p:txBody>
        </p:sp>
        <p:sp>
          <p:nvSpPr>
            <p:cNvPr id="3092" name="AutoShape 40"/>
            <p:cNvSpPr>
              <a:spLocks noChangeArrowheads="1"/>
            </p:cNvSpPr>
            <p:nvPr/>
          </p:nvSpPr>
          <p:spPr bwMode="auto">
            <a:xfrm>
              <a:off x="161925" y="2995613"/>
              <a:ext cx="338109" cy="433387"/>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ln>
          </p:spPr>
          <p:txBody>
            <a:bodyPr wrap="none" anchor="ctr"/>
            <a:lstStyle/>
            <a:p>
              <a:pPr algn="ctr"/>
              <a:endParaRPr lang="zh-CN" altLang="en-US"/>
            </a:p>
          </p:txBody>
        </p:sp>
      </p:grpSp>
      <p:sp>
        <p:nvSpPr>
          <p:cNvPr id="26" name="Text Box 42"/>
          <p:cNvSpPr txBox="1">
            <a:spLocks noChangeArrowheads="1"/>
          </p:cNvSpPr>
          <p:nvPr/>
        </p:nvSpPr>
        <p:spPr bwMode="auto">
          <a:xfrm>
            <a:off x="714375" y="5500688"/>
            <a:ext cx="8001000" cy="517525"/>
          </a:xfrm>
          <a:prstGeom prst="rect">
            <a:avLst/>
          </a:prstGeom>
          <a:noFill/>
          <a:ln w="57150">
            <a:noFill/>
            <a:miter lim="800000"/>
          </a:ln>
        </p:spPr>
        <p:txBody>
          <a:bodyPr>
            <a:spAutoFit/>
          </a:bodyPr>
          <a:lstStyle/>
          <a:p>
            <a:pPr marL="457200" indent="-457200">
              <a:lnSpc>
                <a:spcPct val="115000"/>
              </a:lnSpc>
              <a:defRPr/>
            </a:pPr>
            <a:r>
              <a:rPr kumimoji="1" lang="zh-CN" altLang="en-US" b="1" dirty="0">
                <a:latin typeface="+mn-ea"/>
                <a:ea typeface="+mn-ea"/>
              </a:rPr>
              <a:t>实际气体在一般温度和较低压强时，可近似看成理想气体。</a:t>
            </a:r>
            <a:endParaRPr kumimoji="1" lang="zh-CN" altLang="en-US"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wipe(left)">
                                      <p:cBhvr>
                                        <p:cTn id="58" dur="50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box(out)">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wipe(left)">
                                      <p:cBhvr>
                                        <p:cTn id="68" dur="500"/>
                                        <p:tgtEl>
                                          <p:spTgt spid="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wipe(left)">
                                      <p:cBhvr>
                                        <p:cTn id="73" dur="500"/>
                                        <p:tgtEl>
                                          <p:spTgt spid="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wipe(left)">
                                      <p:cBhvr>
                                        <p:cTn id="7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utoUpdateAnimBg="0"/>
      <p:bldP spid="11" grpId="0" animBg="1"/>
      <p:bldP spid="13" grpId="0" animBg="1"/>
      <p:bldP spid="15" grpId="0" autoUpdateAnimBg="0"/>
      <p:bldP spid="16" grpId="0" autoUpdateAnimBg="0"/>
      <p:bldP spid="20" grpId="0" animBg="1"/>
      <p:bldP spid="22" grpId="0" autoUpdateAnimBg="0"/>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txBox="1">
            <a:spLocks noChangeArrowheads="1"/>
          </p:cNvSpPr>
          <p:nvPr/>
        </p:nvSpPr>
        <p:spPr bwMode="auto">
          <a:xfrm>
            <a:off x="720725" y="454025"/>
            <a:ext cx="8243888" cy="1354138"/>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t>一柴油的汽缸容积为 </a:t>
            </a:r>
            <a:r>
              <a:rPr kumimoji="1" lang="en-US" altLang="zh-CN" b="1">
                <a:solidFill>
                  <a:srgbClr val="FF6600"/>
                </a:solidFill>
              </a:rPr>
              <a:t>0.827×10</a:t>
            </a:r>
            <a:r>
              <a:rPr kumimoji="1" lang="en-US" altLang="zh-CN" b="1" baseline="50000">
                <a:solidFill>
                  <a:srgbClr val="FF6600"/>
                </a:solidFill>
              </a:rPr>
              <a:t>-3 </a:t>
            </a:r>
            <a:r>
              <a:rPr kumimoji="1" lang="en-US" altLang="zh-CN" b="1">
                <a:solidFill>
                  <a:srgbClr val="FF6600"/>
                </a:solidFill>
              </a:rPr>
              <a:t>m</a:t>
            </a:r>
            <a:r>
              <a:rPr kumimoji="1" lang="en-US" altLang="zh-CN" b="1" baseline="50000">
                <a:solidFill>
                  <a:srgbClr val="FF6600"/>
                </a:solidFill>
              </a:rPr>
              <a:t>3</a:t>
            </a:r>
            <a:r>
              <a:rPr kumimoji="1" lang="en-US" altLang="zh-CN" b="1"/>
              <a:t> </a:t>
            </a:r>
            <a:r>
              <a:rPr kumimoji="1" lang="zh-CN" altLang="en-US" b="1"/>
              <a:t>。压缩前汽缸的空气温</a:t>
            </a:r>
            <a:endParaRPr kumimoji="1" lang="zh-CN" altLang="en-US" b="1"/>
          </a:p>
          <a:p>
            <a:pPr>
              <a:lnSpc>
                <a:spcPct val="115000"/>
              </a:lnSpc>
            </a:pPr>
            <a:r>
              <a:rPr kumimoji="1" lang="zh-CN" altLang="en-US" b="1"/>
              <a:t>度为 </a:t>
            </a:r>
            <a:r>
              <a:rPr kumimoji="1" lang="en-US" altLang="zh-CN" b="1">
                <a:solidFill>
                  <a:srgbClr val="FF6600"/>
                </a:solidFill>
              </a:rPr>
              <a:t>320 K</a:t>
            </a:r>
            <a:r>
              <a:rPr kumimoji="1" lang="zh-CN" altLang="en-US" b="1"/>
              <a:t>， 压强为 </a:t>
            </a:r>
            <a:r>
              <a:rPr kumimoji="1" lang="en-US" altLang="zh-CN" b="1">
                <a:solidFill>
                  <a:srgbClr val="FF6600"/>
                </a:solidFill>
              </a:rPr>
              <a:t>8.4×10</a:t>
            </a:r>
            <a:r>
              <a:rPr kumimoji="1" lang="en-US" altLang="zh-CN" b="1" baseline="50000">
                <a:solidFill>
                  <a:srgbClr val="FF6600"/>
                </a:solidFill>
              </a:rPr>
              <a:t>4 </a:t>
            </a:r>
            <a:r>
              <a:rPr kumimoji="1" lang="en-US" altLang="zh-CN" b="1">
                <a:solidFill>
                  <a:srgbClr val="FF6600"/>
                </a:solidFill>
                <a:ea typeface="楷体_GB2312" pitchFamily="49" charset="-122"/>
              </a:rPr>
              <a:t>Pa</a:t>
            </a:r>
            <a:r>
              <a:rPr kumimoji="1" lang="en-US" altLang="zh-CN" b="1"/>
              <a:t> </a:t>
            </a:r>
            <a:r>
              <a:rPr kumimoji="1" lang="zh-CN" altLang="en-US" b="1"/>
              <a:t>，当活塞急速推进时可将空气压缩到原体积的</a:t>
            </a:r>
            <a:r>
              <a:rPr kumimoji="1" lang="zh-CN" altLang="en-US" b="1">
                <a:solidFill>
                  <a:srgbClr val="FF6600"/>
                </a:solidFill>
              </a:rPr>
              <a:t> </a:t>
            </a:r>
            <a:r>
              <a:rPr kumimoji="1" lang="en-US" altLang="zh-CN" b="1">
                <a:solidFill>
                  <a:srgbClr val="FF6600"/>
                </a:solidFill>
              </a:rPr>
              <a:t>1/17</a:t>
            </a:r>
            <a:r>
              <a:rPr kumimoji="1" lang="en-US" altLang="zh-CN" b="1"/>
              <a:t> </a:t>
            </a:r>
            <a:r>
              <a:rPr kumimoji="1" lang="zh-CN" altLang="en-US" b="1"/>
              <a:t>， 使压强增大到 </a:t>
            </a:r>
            <a:r>
              <a:rPr kumimoji="1" lang="en-US" altLang="zh-CN" b="1">
                <a:solidFill>
                  <a:srgbClr val="FF6600"/>
                </a:solidFill>
              </a:rPr>
              <a:t>4.2×10</a:t>
            </a:r>
            <a:r>
              <a:rPr kumimoji="1" lang="en-US" altLang="zh-CN" b="1" baseline="50000">
                <a:solidFill>
                  <a:srgbClr val="FF6600"/>
                </a:solidFill>
              </a:rPr>
              <a:t>6</a:t>
            </a:r>
            <a:r>
              <a:rPr kumimoji="1" lang="en-US" altLang="zh-CN" b="1">
                <a:solidFill>
                  <a:srgbClr val="FF6600"/>
                </a:solidFill>
              </a:rPr>
              <a:t> Pa</a:t>
            </a:r>
            <a:r>
              <a:rPr kumimoji="1" lang="en-US" altLang="zh-CN" b="1"/>
              <a:t> </a:t>
            </a:r>
            <a:r>
              <a:rPr kumimoji="1" lang="zh-CN" altLang="en-US" b="1"/>
              <a:t>。</a:t>
            </a:r>
            <a:endParaRPr kumimoji="1" lang="zh-CN" altLang="en-US" b="1"/>
          </a:p>
        </p:txBody>
      </p:sp>
      <p:sp>
        <p:nvSpPr>
          <p:cNvPr id="144387" name="Rectangle 3"/>
          <p:cNvSpPr>
            <a:spLocks noChangeArrowheads="1"/>
          </p:cNvSpPr>
          <p:nvPr/>
        </p:nvSpPr>
        <p:spPr bwMode="auto">
          <a:xfrm>
            <a:off x="161925" y="2589213"/>
            <a:ext cx="490538" cy="512762"/>
          </a:xfrm>
          <a:prstGeom prst="rect">
            <a:avLst/>
          </a:prstGeom>
          <a:noFill/>
          <a:ln w="12700" cap="sq">
            <a:noFill/>
            <a:miter lim="800000"/>
            <a:headEnd type="none" w="sm" len="sm"/>
            <a:tailEnd type="none" w="sm" len="sm"/>
          </a:ln>
        </p:spPr>
        <p:txBody>
          <a:bodyPr wrap="none">
            <a:spAutoFit/>
          </a:bodyPr>
          <a:lstStyle/>
          <a:p>
            <a:pPr>
              <a:lnSpc>
                <a:spcPct val="115000"/>
              </a:lnSpc>
            </a:pPr>
            <a:r>
              <a:rPr kumimoji="1" lang="zh-CN" altLang="en-US" b="1">
                <a:solidFill>
                  <a:srgbClr val="FF0000"/>
                </a:solidFill>
              </a:rPr>
              <a:t>解</a:t>
            </a:r>
            <a:endParaRPr kumimoji="1" lang="zh-CN" altLang="en-US" b="1" i="1">
              <a:solidFill>
                <a:srgbClr val="FF0000"/>
              </a:solidFill>
            </a:endParaRPr>
          </a:p>
        </p:txBody>
      </p:sp>
      <p:graphicFrame>
        <p:nvGraphicFramePr>
          <p:cNvPr id="144388" name="Object 4"/>
          <p:cNvGraphicFramePr>
            <a:graphicFrameLocks noChangeAspect="1"/>
          </p:cNvGraphicFramePr>
          <p:nvPr/>
        </p:nvGraphicFramePr>
        <p:xfrm>
          <a:off x="1016000" y="2619375"/>
          <a:ext cx="1482725" cy="795338"/>
        </p:xfrm>
        <a:graphic>
          <a:graphicData uri="http://schemas.openxmlformats.org/presentationml/2006/ole">
            <mc:AlternateContent xmlns:mc="http://schemas.openxmlformats.org/markup-compatibility/2006">
              <mc:Choice xmlns:v="urn:schemas-microsoft-com:vml" Requires="v">
                <p:oleObj spid="_x0000_s4097" name="公式" r:id="rId1" imgW="19812000" imgH="10668000" progId="Equation.3">
                  <p:embed/>
                </p:oleObj>
              </mc:Choice>
              <mc:Fallback>
                <p:oleObj name="公式" r:id="rId1" imgW="19812000" imgH="10668000" progId="Equation.3">
                  <p:embed/>
                  <p:pic>
                    <p:nvPicPr>
                      <p:cNvPr id="0" name="Object 4"/>
                      <p:cNvPicPr>
                        <a:picLocks noChangeAspect="1"/>
                      </p:cNvPicPr>
                      <p:nvPr/>
                    </p:nvPicPr>
                    <p:blipFill>
                      <a:blip r:embed="rId2"/>
                      <a:stretch>
                        <a:fillRect/>
                      </a:stretch>
                    </p:blipFill>
                    <p:spPr>
                      <a:xfrm>
                        <a:off x="1016000" y="2619375"/>
                        <a:ext cx="1482725" cy="795338"/>
                      </a:xfrm>
                      <a:prstGeom prst="rect">
                        <a:avLst/>
                      </a:prstGeom>
                      <a:noFill/>
                      <a:ln w="9525">
                        <a:noFill/>
                      </a:ln>
                    </p:spPr>
                  </p:pic>
                </p:oleObj>
              </mc:Fallback>
            </mc:AlternateContent>
          </a:graphicData>
        </a:graphic>
      </p:graphicFrame>
      <p:graphicFrame>
        <p:nvGraphicFramePr>
          <p:cNvPr id="144389" name="Object 5"/>
          <p:cNvGraphicFramePr>
            <a:graphicFrameLocks noChangeAspect="1"/>
          </p:cNvGraphicFramePr>
          <p:nvPr/>
        </p:nvGraphicFramePr>
        <p:xfrm>
          <a:off x="3913188" y="2620963"/>
          <a:ext cx="1439862" cy="800100"/>
        </p:xfrm>
        <a:graphic>
          <a:graphicData uri="http://schemas.openxmlformats.org/presentationml/2006/ole">
            <mc:AlternateContent xmlns:mc="http://schemas.openxmlformats.org/markup-compatibility/2006">
              <mc:Choice xmlns:v="urn:schemas-microsoft-com:vml" Requires="v">
                <p:oleObj spid="_x0000_s4099" name="公式" r:id="rId3" imgW="19202400" imgH="10668000" progId="Equation.3">
                  <p:embed/>
                </p:oleObj>
              </mc:Choice>
              <mc:Fallback>
                <p:oleObj name="公式" r:id="rId3" imgW="19202400" imgH="10668000" progId="Equation.3">
                  <p:embed/>
                  <p:pic>
                    <p:nvPicPr>
                      <p:cNvPr id="0" name="Object 5"/>
                      <p:cNvPicPr>
                        <a:picLocks noChangeAspect="1"/>
                      </p:cNvPicPr>
                      <p:nvPr/>
                    </p:nvPicPr>
                    <p:blipFill>
                      <a:blip r:embed="rId4"/>
                      <a:stretch>
                        <a:fillRect/>
                      </a:stretch>
                    </p:blipFill>
                    <p:spPr>
                      <a:xfrm>
                        <a:off x="3913188" y="2620963"/>
                        <a:ext cx="1439862" cy="800100"/>
                      </a:xfrm>
                      <a:prstGeom prst="rect">
                        <a:avLst/>
                      </a:prstGeom>
                      <a:noFill/>
                      <a:ln w="9525">
                        <a:noFill/>
                      </a:ln>
                    </p:spPr>
                  </p:pic>
                </p:oleObj>
              </mc:Fallback>
            </mc:AlternateContent>
          </a:graphicData>
        </a:graphic>
      </p:graphicFrame>
      <p:graphicFrame>
        <p:nvGraphicFramePr>
          <p:cNvPr id="144390" name="Object 6"/>
          <p:cNvGraphicFramePr>
            <a:graphicFrameLocks noChangeAspect="1"/>
          </p:cNvGraphicFramePr>
          <p:nvPr/>
        </p:nvGraphicFramePr>
        <p:xfrm>
          <a:off x="1422400" y="3698875"/>
          <a:ext cx="3724275" cy="755650"/>
        </p:xfrm>
        <a:graphic>
          <a:graphicData uri="http://schemas.openxmlformats.org/presentationml/2006/ole">
            <mc:AlternateContent xmlns:mc="http://schemas.openxmlformats.org/markup-compatibility/2006">
              <mc:Choice xmlns:v="urn:schemas-microsoft-com:vml" Requires="v">
                <p:oleObj spid="_x0000_s4100" name="公式" r:id="rId5" imgW="49682400" imgH="10058400" progId="Equation.3">
                  <p:embed/>
                </p:oleObj>
              </mc:Choice>
              <mc:Fallback>
                <p:oleObj name="公式" r:id="rId5" imgW="49682400" imgH="10058400" progId="Equation.3">
                  <p:embed/>
                  <p:pic>
                    <p:nvPicPr>
                      <p:cNvPr id="0" name="Object 6"/>
                      <p:cNvPicPr>
                        <a:picLocks noChangeAspect="1"/>
                      </p:cNvPicPr>
                      <p:nvPr/>
                    </p:nvPicPr>
                    <p:blipFill>
                      <a:blip r:embed="rId6"/>
                      <a:stretch>
                        <a:fillRect/>
                      </a:stretch>
                    </p:blipFill>
                    <p:spPr>
                      <a:xfrm>
                        <a:off x="1422400" y="3698875"/>
                        <a:ext cx="3724275" cy="755650"/>
                      </a:xfrm>
                      <a:prstGeom prst="rect">
                        <a:avLst/>
                      </a:prstGeom>
                      <a:noFill/>
                      <a:ln w="9525">
                        <a:noFill/>
                      </a:ln>
                    </p:spPr>
                  </p:pic>
                </p:oleObj>
              </mc:Fallback>
            </mc:AlternateContent>
          </a:graphicData>
        </a:graphic>
      </p:graphicFrame>
      <p:sp>
        <p:nvSpPr>
          <p:cNvPr id="144391" name="Text Box 7"/>
          <p:cNvSpPr txBox="1">
            <a:spLocks noChangeArrowheads="1"/>
          </p:cNvSpPr>
          <p:nvPr/>
        </p:nvSpPr>
        <p:spPr bwMode="auto">
          <a:xfrm>
            <a:off x="1908175" y="4752975"/>
            <a:ext cx="2754313" cy="512763"/>
          </a:xfrm>
          <a:prstGeom prst="rect">
            <a:avLst/>
          </a:prstGeom>
          <a:noFill/>
          <a:ln w="12700" cap="sq">
            <a:noFill/>
            <a:miter lim="800000"/>
            <a:headEnd type="none" w="sm" len="sm"/>
            <a:tailEnd type="none" w="sm" len="sm"/>
          </a:ln>
        </p:spPr>
        <p:txBody>
          <a:bodyPr>
            <a:spAutoFit/>
          </a:bodyPr>
          <a:lstStyle/>
          <a:p>
            <a:pPr>
              <a:lnSpc>
                <a:spcPct val="115000"/>
              </a:lnSpc>
            </a:pPr>
            <a:r>
              <a:rPr kumimoji="1" lang="en-US" altLang="zh-CN" b="1" i="1">
                <a:solidFill>
                  <a:srgbClr val="9900CC"/>
                </a:solidFill>
              </a:rPr>
              <a:t>T</a:t>
            </a:r>
            <a:r>
              <a:rPr kumimoji="1" lang="en-US" altLang="zh-CN" b="1" baseline="-25000">
                <a:solidFill>
                  <a:srgbClr val="9900CC"/>
                </a:solidFill>
              </a:rPr>
              <a:t>2 </a:t>
            </a:r>
            <a:r>
              <a:rPr kumimoji="1" lang="en-US" altLang="zh-CN" b="1">
                <a:solidFill>
                  <a:srgbClr val="9900CC"/>
                </a:solidFill>
                <a:cs typeface="Times New Roman" panose="02020603050405020304" pitchFamily="18" charset="0"/>
              </a:rPr>
              <a:t>&gt; </a:t>
            </a:r>
            <a:r>
              <a:rPr kumimoji="1" lang="zh-CN" altLang="en-US" b="1">
                <a:solidFill>
                  <a:srgbClr val="9900CC"/>
                </a:solidFill>
                <a:ea typeface="楷体_GB2312" pitchFamily="49" charset="-122"/>
              </a:rPr>
              <a:t>柴油的燃点</a:t>
            </a:r>
            <a:endParaRPr kumimoji="1" lang="zh-CN" altLang="en-US" b="1">
              <a:solidFill>
                <a:srgbClr val="9900CC"/>
              </a:solidFill>
              <a:ea typeface="楷体_GB2312" pitchFamily="49" charset="-122"/>
            </a:endParaRPr>
          </a:p>
        </p:txBody>
      </p:sp>
      <p:sp>
        <p:nvSpPr>
          <p:cNvPr id="144392" name="Text Box 8"/>
          <p:cNvSpPr txBox="1">
            <a:spLocks noChangeArrowheads="1"/>
          </p:cNvSpPr>
          <p:nvPr/>
        </p:nvSpPr>
        <p:spPr bwMode="auto">
          <a:xfrm>
            <a:off x="385763" y="5364163"/>
            <a:ext cx="8412162" cy="933450"/>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ea typeface="楷体_GB2312" pitchFamily="49" charset="-122"/>
              </a:rPr>
              <a:t>若在这时将柴油喷入汽缸，柴油将立即燃烧，发生爆炸，推动活塞做功，这就是柴油机点火的原理。</a:t>
            </a:r>
            <a:endParaRPr kumimoji="1" lang="zh-CN" altLang="en-US" b="1">
              <a:ea typeface="楷体_GB2312" pitchFamily="49" charset="-122"/>
            </a:endParaRPr>
          </a:p>
        </p:txBody>
      </p:sp>
      <p:sp>
        <p:nvSpPr>
          <p:cNvPr id="144393" name="Text Box 9"/>
          <p:cNvSpPr txBox="1">
            <a:spLocks noChangeArrowheads="1"/>
          </p:cNvSpPr>
          <p:nvPr/>
        </p:nvSpPr>
        <p:spPr bwMode="auto">
          <a:xfrm>
            <a:off x="161925" y="441325"/>
            <a:ext cx="490538" cy="512763"/>
          </a:xfrm>
          <a:prstGeom prst="rect">
            <a:avLst/>
          </a:prstGeom>
          <a:noFill/>
          <a:ln w="9525">
            <a:noFill/>
            <a:miter lim="800000"/>
          </a:ln>
        </p:spPr>
        <p:txBody>
          <a:bodyPr wrap="none">
            <a:spAutoFit/>
          </a:bodyPr>
          <a:lstStyle/>
          <a:p>
            <a:pPr>
              <a:lnSpc>
                <a:spcPct val="115000"/>
              </a:lnSpc>
            </a:pPr>
            <a:r>
              <a:rPr kumimoji="1" lang="zh-CN" altLang="en-US" b="1">
                <a:solidFill>
                  <a:srgbClr val="FF0000"/>
                </a:solidFill>
                <a:latin typeface="Arial" panose="020B0604020202020204" pitchFamily="34" charset="0"/>
              </a:rPr>
              <a:t>例</a:t>
            </a:r>
            <a:endParaRPr kumimoji="1" lang="zh-CN" altLang="en-US" b="1">
              <a:solidFill>
                <a:srgbClr val="FF0000"/>
              </a:solidFill>
              <a:latin typeface="Arial" panose="020B0604020202020204" pitchFamily="34" charset="0"/>
            </a:endParaRPr>
          </a:p>
        </p:txBody>
      </p:sp>
      <p:sp>
        <p:nvSpPr>
          <p:cNvPr id="144394" name="Rectangle 10"/>
          <p:cNvSpPr>
            <a:spLocks noChangeArrowheads="1"/>
          </p:cNvSpPr>
          <p:nvPr/>
        </p:nvSpPr>
        <p:spPr bwMode="auto">
          <a:xfrm>
            <a:off x="115888" y="1836738"/>
            <a:ext cx="490537" cy="512762"/>
          </a:xfrm>
          <a:prstGeom prst="rect">
            <a:avLst/>
          </a:prstGeom>
          <a:noFill/>
          <a:ln w="9525">
            <a:noFill/>
            <a:miter lim="800000"/>
          </a:ln>
        </p:spPr>
        <p:txBody>
          <a:bodyPr wrap="none">
            <a:spAutoFit/>
          </a:bodyPr>
          <a:lstStyle/>
          <a:p>
            <a:pPr>
              <a:lnSpc>
                <a:spcPct val="115000"/>
              </a:lnSpc>
            </a:pPr>
            <a:r>
              <a:rPr kumimoji="1" lang="zh-CN" altLang="en-US" b="1">
                <a:solidFill>
                  <a:srgbClr val="FF0000"/>
                </a:solidFill>
                <a:latin typeface="Arial" panose="020B0604020202020204" pitchFamily="34" charset="0"/>
              </a:rPr>
              <a:t>求</a:t>
            </a:r>
            <a:endParaRPr kumimoji="1" lang="zh-CN" altLang="en-US" b="1">
              <a:solidFill>
                <a:srgbClr val="FF0000"/>
              </a:solidFill>
              <a:latin typeface="Arial" panose="020B0604020202020204" pitchFamily="34" charset="0"/>
            </a:endParaRPr>
          </a:p>
        </p:txBody>
      </p:sp>
      <p:sp>
        <p:nvSpPr>
          <p:cNvPr id="144395" name="Rectangle 11"/>
          <p:cNvSpPr>
            <a:spLocks noChangeArrowheads="1"/>
          </p:cNvSpPr>
          <p:nvPr/>
        </p:nvSpPr>
        <p:spPr bwMode="auto">
          <a:xfrm>
            <a:off x="720725" y="1844675"/>
            <a:ext cx="2987675" cy="512763"/>
          </a:xfrm>
          <a:prstGeom prst="rect">
            <a:avLst/>
          </a:prstGeom>
          <a:noFill/>
          <a:ln w="9525">
            <a:noFill/>
            <a:miter lim="800000"/>
          </a:ln>
        </p:spPr>
        <p:txBody>
          <a:bodyPr>
            <a:spAutoFit/>
          </a:bodyPr>
          <a:lstStyle/>
          <a:p>
            <a:pPr>
              <a:lnSpc>
                <a:spcPct val="115000"/>
              </a:lnSpc>
            </a:pPr>
            <a:r>
              <a:rPr kumimoji="1" lang="zh-CN" altLang="en-US" b="1">
                <a:latin typeface="Arial" panose="020B0604020202020204" pitchFamily="34" charset="0"/>
              </a:rPr>
              <a:t>这时空气的温度。</a:t>
            </a:r>
            <a:endParaRPr kumimoji="1" lang="zh-CN" altLang="en-US" b="1">
              <a:latin typeface="Arial" panose="020B0604020202020204" pitchFamily="34" charset="0"/>
            </a:endParaRPr>
          </a:p>
        </p:txBody>
      </p:sp>
      <p:sp>
        <p:nvSpPr>
          <p:cNvPr id="144396" name="AutoShape 12"/>
          <p:cNvSpPr>
            <a:spLocks noChangeArrowheads="1"/>
          </p:cNvSpPr>
          <p:nvPr/>
        </p:nvSpPr>
        <p:spPr bwMode="auto">
          <a:xfrm>
            <a:off x="2770188" y="2894013"/>
            <a:ext cx="827087" cy="242887"/>
          </a:xfrm>
          <a:prstGeom prst="rightArrow">
            <a:avLst>
              <a:gd name="adj1" fmla="val 50000"/>
              <a:gd name="adj2" fmla="val 85131"/>
            </a:avLst>
          </a:prstGeom>
          <a:solidFill>
            <a:srgbClr val="0000FF"/>
          </a:solidFill>
          <a:ln w="9525">
            <a:solidFill>
              <a:schemeClr val="tx1"/>
            </a:solidFill>
            <a:miter lim="800000"/>
          </a:ln>
        </p:spPr>
        <p:txBody>
          <a:bodyPr wrap="none" anchor="ctr"/>
          <a:lstStyle/>
          <a:p>
            <a:pPr algn="ctr"/>
            <a:endParaRPr lang="zh-CN" altLang="en-US"/>
          </a:p>
        </p:txBody>
      </p:sp>
      <p:sp>
        <p:nvSpPr>
          <p:cNvPr id="144398" name="AutoShape 14">
            <a:hlinkClick r:id="rId7" action="ppaction://hlinksldjump" highlightClick="1"/>
          </p:cNvPr>
          <p:cNvSpPr>
            <a:spLocks noChangeArrowheads="1"/>
          </p:cNvSpPr>
          <p:nvPr/>
        </p:nvSpPr>
        <p:spPr bwMode="auto">
          <a:xfrm>
            <a:off x="8143875" y="6143625"/>
            <a:ext cx="287338" cy="287338"/>
          </a:xfrm>
          <a:prstGeom prst="actionButtonBeginning">
            <a:avLst/>
          </a:prstGeom>
          <a:solidFill>
            <a:srgbClr val="99CCFF"/>
          </a:solidFill>
          <a:ln w="9525">
            <a:noFill/>
            <a:miter lim="800000"/>
          </a:ln>
        </p:spPr>
        <p:txBody>
          <a:bodyPr wrap="none"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4393"/>
                                        </p:tgtEl>
                                        <p:attrNameLst>
                                          <p:attrName>style.visibility</p:attrName>
                                        </p:attrNameLst>
                                      </p:cBhvr>
                                      <p:to>
                                        <p:strVal val="visible"/>
                                      </p:to>
                                    </p:set>
                                    <p:animEffect transition="in" filter="wipe(left)">
                                      <p:cBhvr>
                                        <p:cTn id="7" dur="500"/>
                                        <p:tgtEl>
                                          <p:spTgt spid="14439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4386"/>
                                        </p:tgtEl>
                                        <p:attrNameLst>
                                          <p:attrName>style.visibility</p:attrName>
                                        </p:attrNameLst>
                                      </p:cBhvr>
                                      <p:to>
                                        <p:strVal val="visible"/>
                                      </p:to>
                                    </p:set>
                                    <p:animEffect transition="in" filter="wipe(left)">
                                      <p:cBhvr>
                                        <p:cTn id="11" dur="500"/>
                                        <p:tgtEl>
                                          <p:spTgt spid="14438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4394"/>
                                        </p:tgtEl>
                                        <p:attrNameLst>
                                          <p:attrName>style.visibility</p:attrName>
                                        </p:attrNameLst>
                                      </p:cBhvr>
                                      <p:to>
                                        <p:strVal val="visible"/>
                                      </p:to>
                                    </p:set>
                                    <p:animEffect transition="in" filter="wipe(left)">
                                      <p:cBhvr>
                                        <p:cTn id="16" dur="500"/>
                                        <p:tgtEl>
                                          <p:spTgt spid="14439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44395"/>
                                        </p:tgtEl>
                                        <p:attrNameLst>
                                          <p:attrName>style.visibility</p:attrName>
                                        </p:attrNameLst>
                                      </p:cBhvr>
                                      <p:to>
                                        <p:strVal val="visible"/>
                                      </p:to>
                                    </p:set>
                                    <p:animEffect transition="in" filter="wipe(left)">
                                      <p:cBhvr>
                                        <p:cTn id="20" dur="500"/>
                                        <p:tgtEl>
                                          <p:spTgt spid="14439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4387"/>
                                        </p:tgtEl>
                                        <p:attrNameLst>
                                          <p:attrName>style.visibility</p:attrName>
                                        </p:attrNameLst>
                                      </p:cBhvr>
                                      <p:to>
                                        <p:strVal val="visible"/>
                                      </p:to>
                                    </p:set>
                                    <p:animEffect transition="in" filter="wipe(left)">
                                      <p:cBhvr>
                                        <p:cTn id="25" dur="500"/>
                                        <p:tgtEl>
                                          <p:spTgt spid="14438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44388"/>
                                        </p:tgtEl>
                                        <p:attrNameLst>
                                          <p:attrName>style.visibility</p:attrName>
                                        </p:attrNameLst>
                                      </p:cBhvr>
                                      <p:to>
                                        <p:strVal val="visible"/>
                                      </p:to>
                                    </p:set>
                                    <p:animEffect transition="in" filter="wipe(left)">
                                      <p:cBhvr>
                                        <p:cTn id="30" dur="500"/>
                                        <p:tgtEl>
                                          <p:spTgt spid="14438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4396"/>
                                        </p:tgtEl>
                                        <p:attrNameLst>
                                          <p:attrName>style.visibility</p:attrName>
                                        </p:attrNameLst>
                                      </p:cBhvr>
                                      <p:to>
                                        <p:strVal val="visible"/>
                                      </p:to>
                                    </p:set>
                                    <p:animEffect transition="in" filter="wipe(left)">
                                      <p:cBhvr>
                                        <p:cTn id="35" dur="500"/>
                                        <p:tgtEl>
                                          <p:spTgt spid="14439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44389"/>
                                        </p:tgtEl>
                                        <p:attrNameLst>
                                          <p:attrName>style.visibility</p:attrName>
                                        </p:attrNameLst>
                                      </p:cBhvr>
                                      <p:to>
                                        <p:strVal val="visible"/>
                                      </p:to>
                                    </p:set>
                                    <p:animEffect transition="in" filter="wipe(left)">
                                      <p:cBhvr>
                                        <p:cTn id="40" dur="500"/>
                                        <p:tgtEl>
                                          <p:spTgt spid="14438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44390"/>
                                        </p:tgtEl>
                                        <p:attrNameLst>
                                          <p:attrName>style.visibility</p:attrName>
                                        </p:attrNameLst>
                                      </p:cBhvr>
                                      <p:to>
                                        <p:strVal val="visible"/>
                                      </p:to>
                                    </p:set>
                                    <p:animEffect transition="in" filter="wipe(left)">
                                      <p:cBhvr>
                                        <p:cTn id="45" dur="500"/>
                                        <p:tgtEl>
                                          <p:spTgt spid="14439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4391"/>
                                        </p:tgtEl>
                                        <p:attrNameLst>
                                          <p:attrName>style.visibility</p:attrName>
                                        </p:attrNameLst>
                                      </p:cBhvr>
                                      <p:to>
                                        <p:strVal val="visible"/>
                                      </p:to>
                                    </p:set>
                                    <p:animEffect transition="in" filter="wipe(left)">
                                      <p:cBhvr>
                                        <p:cTn id="50" dur="500"/>
                                        <p:tgtEl>
                                          <p:spTgt spid="14439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44392"/>
                                        </p:tgtEl>
                                        <p:attrNameLst>
                                          <p:attrName>style.visibility</p:attrName>
                                        </p:attrNameLst>
                                      </p:cBhvr>
                                      <p:to>
                                        <p:strVal val="visible"/>
                                      </p:to>
                                    </p:set>
                                    <p:animEffect transition="in" filter="wipe(left)">
                                      <p:cBhvr>
                                        <p:cTn id="55" dur="500"/>
                                        <p:tgtEl>
                                          <p:spTgt spid="14439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44398"/>
                                        </p:tgtEl>
                                        <p:attrNameLst>
                                          <p:attrName>style.visibility</p:attrName>
                                        </p:attrNameLst>
                                      </p:cBhvr>
                                      <p:to>
                                        <p:strVal val="visible"/>
                                      </p:to>
                                    </p:set>
                                    <p:animEffect transition="in" filter="wipe(down)">
                                      <p:cBhvr>
                                        <p:cTn id="60" dur="500"/>
                                        <p:tgtEl>
                                          <p:spTgt spid="144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p:bldP spid="144387" grpId="0" autoUpdateAnimBg="0"/>
      <p:bldP spid="144391" grpId="0" autoUpdateAnimBg="0"/>
      <p:bldP spid="144392" grpId="0" autoUpdateAnimBg="0"/>
      <p:bldP spid="144393" grpId="0"/>
      <p:bldP spid="144394" grpId="0"/>
      <p:bldP spid="144395" grpId="0"/>
      <p:bldP spid="144396" grpId="0" animBg="1"/>
      <p:bldP spid="14439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ChangeArrowheads="1"/>
          </p:cNvSpPr>
          <p:nvPr/>
        </p:nvSpPr>
        <p:spPr bwMode="auto">
          <a:xfrm>
            <a:off x="2555875" y="476250"/>
            <a:ext cx="3286125" cy="519113"/>
          </a:xfrm>
          <a:prstGeom prst="rect">
            <a:avLst/>
          </a:prstGeom>
          <a:noFill/>
          <a:ln w="9525">
            <a:noFill/>
            <a:miter lim="800000"/>
          </a:ln>
        </p:spPr>
        <p:txBody>
          <a:bodyPr>
            <a:spAutoFit/>
          </a:bodyPr>
          <a:lstStyle/>
          <a:p>
            <a:r>
              <a:rPr lang="en-US" altLang="zh-CN" sz="2800" b="1">
                <a:solidFill>
                  <a:srgbClr val="0000FF"/>
                </a:solidFill>
              </a:rPr>
              <a:t>§</a:t>
            </a:r>
            <a:r>
              <a:rPr kumimoji="1" lang="en-US" altLang="zh-CN" sz="1800">
                <a:latin typeface="Arial" panose="020B0604020202020204" pitchFamily="34" charset="0"/>
              </a:rPr>
              <a:t> </a:t>
            </a:r>
            <a:r>
              <a:rPr kumimoji="1" lang="en-US" altLang="zh-CN" sz="2800" b="1">
                <a:solidFill>
                  <a:srgbClr val="3333CC"/>
                </a:solidFill>
                <a:ea typeface="黑体" panose="02010609060101010101" pitchFamily="49" charset="-122"/>
              </a:rPr>
              <a:t>7.2    </a:t>
            </a:r>
            <a:r>
              <a:rPr kumimoji="1" lang="zh-CN" altLang="en-US" sz="2800" b="1">
                <a:solidFill>
                  <a:srgbClr val="3333CC"/>
                </a:solidFill>
                <a:ea typeface="黑体" panose="02010609060101010101" pitchFamily="49" charset="-122"/>
              </a:rPr>
              <a:t>准静态过程</a:t>
            </a:r>
            <a:endParaRPr kumimoji="1" lang="zh-CN" altLang="en-US" sz="2800" b="1">
              <a:solidFill>
                <a:srgbClr val="3333CC"/>
              </a:solidFill>
              <a:ea typeface="黑体" panose="02010609060101010101" pitchFamily="49" charset="-122"/>
            </a:endParaRPr>
          </a:p>
        </p:txBody>
      </p:sp>
      <p:sp>
        <p:nvSpPr>
          <p:cNvPr id="24581" name="Text Box 5"/>
          <p:cNvSpPr txBox="1">
            <a:spLocks noChangeArrowheads="1"/>
          </p:cNvSpPr>
          <p:nvPr/>
        </p:nvSpPr>
        <p:spPr bwMode="auto">
          <a:xfrm>
            <a:off x="107950" y="1027113"/>
            <a:ext cx="4679950" cy="457200"/>
          </a:xfrm>
          <a:prstGeom prst="rect">
            <a:avLst/>
          </a:prstGeom>
          <a:noFill/>
          <a:ln w="12700" cap="sq">
            <a:noFill/>
            <a:miter lim="800000"/>
            <a:headEnd type="none" w="sm" len="sm"/>
            <a:tailEnd type="none" w="sm" len="sm"/>
          </a:ln>
        </p:spPr>
        <p:txBody>
          <a:bodyPr>
            <a:spAutoFit/>
          </a:bodyPr>
          <a:lstStyle/>
          <a:p>
            <a:r>
              <a:rPr kumimoji="1" lang="en-US" altLang="zh-CN" b="1">
                <a:solidFill>
                  <a:srgbClr val="0000FF"/>
                </a:solidFill>
              </a:rPr>
              <a:t>7.2.1  </a:t>
            </a:r>
            <a:r>
              <a:rPr kumimoji="1" lang="zh-CN" altLang="en-US" b="1">
                <a:solidFill>
                  <a:srgbClr val="0000FF"/>
                </a:solidFill>
              </a:rPr>
              <a:t>准静态过程</a:t>
            </a:r>
            <a:endParaRPr kumimoji="1" lang="zh-CN" altLang="en-US" b="1">
              <a:solidFill>
                <a:srgbClr val="0000FF"/>
              </a:solidFill>
            </a:endParaRPr>
          </a:p>
        </p:txBody>
      </p:sp>
      <p:sp>
        <p:nvSpPr>
          <p:cNvPr id="24603" name="Rectangle 27"/>
          <p:cNvSpPr>
            <a:spLocks noChangeArrowheads="1"/>
          </p:cNvSpPr>
          <p:nvPr/>
        </p:nvSpPr>
        <p:spPr bwMode="auto">
          <a:xfrm>
            <a:off x="857250" y="2071688"/>
            <a:ext cx="7429500" cy="933450"/>
          </a:xfrm>
          <a:prstGeom prst="rect">
            <a:avLst/>
          </a:prstGeom>
          <a:noFill/>
          <a:ln w="9525">
            <a:noFill/>
            <a:miter lim="800000"/>
          </a:ln>
        </p:spPr>
        <p:txBody>
          <a:bodyPr>
            <a:spAutoFit/>
          </a:bodyPr>
          <a:lstStyle/>
          <a:p>
            <a:pPr>
              <a:lnSpc>
                <a:spcPct val="115000"/>
              </a:lnSpc>
              <a:defRPr/>
            </a:pPr>
            <a:r>
              <a:rPr kumimoji="1" lang="zh-CN" altLang="en-US" b="1" dirty="0">
                <a:latin typeface="+mn-ea"/>
                <a:ea typeface="+mn-ea"/>
              </a:rPr>
              <a:t>    系统从某状态开始经历一系列的中间状态到达另一状态的过程。</a:t>
            </a:r>
            <a:endParaRPr kumimoji="1" lang="zh-CN" altLang="en-US" b="1" dirty="0">
              <a:latin typeface="+mn-ea"/>
              <a:ea typeface="+mn-ea"/>
            </a:endParaRPr>
          </a:p>
        </p:txBody>
      </p:sp>
      <p:sp>
        <p:nvSpPr>
          <p:cNvPr id="24604" name="Rectangle 28"/>
          <p:cNvSpPr>
            <a:spLocks noChangeArrowheads="1"/>
          </p:cNvSpPr>
          <p:nvPr/>
        </p:nvSpPr>
        <p:spPr bwMode="auto">
          <a:xfrm>
            <a:off x="250825" y="1557338"/>
            <a:ext cx="2881313" cy="463550"/>
          </a:xfrm>
          <a:prstGeom prst="rect">
            <a:avLst/>
          </a:prstGeom>
          <a:noFill/>
          <a:ln w="9525">
            <a:noFill/>
            <a:miter lim="800000"/>
          </a:ln>
        </p:spPr>
        <p:txBody>
          <a:bodyPr>
            <a:spAutoFit/>
          </a:bodyPr>
          <a:lstStyle/>
          <a:p>
            <a:pPr>
              <a:lnSpc>
                <a:spcPct val="115000"/>
              </a:lnSpc>
              <a:defRPr/>
            </a:pPr>
            <a:r>
              <a:rPr kumimoji="1" lang="zh-CN" altLang="en-US" b="1" dirty="0">
                <a:solidFill>
                  <a:srgbClr val="FF0000"/>
                </a:solidFill>
                <a:latin typeface="+mn-ea"/>
                <a:ea typeface="+mn-ea"/>
              </a:rPr>
              <a:t>热力学过程</a:t>
            </a:r>
            <a:endParaRPr kumimoji="1" lang="zh-CN" altLang="en-US" b="1" dirty="0">
              <a:solidFill>
                <a:srgbClr val="FF0000"/>
              </a:solidFill>
              <a:latin typeface="+mn-ea"/>
              <a:ea typeface="+mn-ea"/>
            </a:endParaRPr>
          </a:p>
        </p:txBody>
      </p:sp>
      <p:sp>
        <p:nvSpPr>
          <p:cNvPr id="24605" name="Freeform 29"/>
          <p:cNvSpPr/>
          <p:nvPr/>
        </p:nvSpPr>
        <p:spPr bwMode="auto">
          <a:xfrm>
            <a:off x="2065338" y="3498850"/>
            <a:ext cx="4343400" cy="234950"/>
          </a:xfrm>
          <a:custGeom>
            <a:avLst/>
            <a:gdLst>
              <a:gd name="T0" fmla="*/ 0 w 2736"/>
              <a:gd name="T1" fmla="*/ 0 h 148"/>
              <a:gd name="T2" fmla="*/ 2147483647 w 2736"/>
              <a:gd name="T3" fmla="*/ 2147483647 h 148"/>
              <a:gd name="T4" fmla="*/ 2147483647 w 2736"/>
              <a:gd name="T5" fmla="*/ 2147483647 h 148"/>
              <a:gd name="T6" fmla="*/ 2147483647 w 2736"/>
              <a:gd name="T7" fmla="*/ 2147483647 h 148"/>
              <a:gd name="T8" fmla="*/ 2147483647 w 2736"/>
              <a:gd name="T9" fmla="*/ 2147483647 h 148"/>
              <a:gd name="T10" fmla="*/ 2147483647 w 2736"/>
              <a:gd name="T11" fmla="*/ 2147483647 h 148"/>
              <a:gd name="T12" fmla="*/ 0 60000 65536"/>
              <a:gd name="T13" fmla="*/ 0 60000 65536"/>
              <a:gd name="T14" fmla="*/ 0 60000 65536"/>
              <a:gd name="T15" fmla="*/ 0 60000 65536"/>
              <a:gd name="T16" fmla="*/ 0 60000 65536"/>
              <a:gd name="T17" fmla="*/ 0 60000 65536"/>
              <a:gd name="T18" fmla="*/ 0 w 2736"/>
              <a:gd name="T19" fmla="*/ 0 h 148"/>
              <a:gd name="T20" fmla="*/ 2736 w 2736"/>
              <a:gd name="T21" fmla="*/ 148 h 148"/>
            </a:gdLst>
            <a:ahLst/>
            <a:cxnLst>
              <a:cxn ang="T12">
                <a:pos x="T0" y="T1"/>
              </a:cxn>
              <a:cxn ang="T13">
                <a:pos x="T2" y="T3"/>
              </a:cxn>
              <a:cxn ang="T14">
                <a:pos x="T4" y="T5"/>
              </a:cxn>
              <a:cxn ang="T15">
                <a:pos x="T6" y="T7"/>
              </a:cxn>
              <a:cxn ang="T16">
                <a:pos x="T8" y="T9"/>
              </a:cxn>
              <a:cxn ang="T17">
                <a:pos x="T10" y="T11"/>
              </a:cxn>
            </a:cxnLst>
            <a:rect l="T18" t="T19" r="T20" b="T21"/>
            <a:pathLst>
              <a:path w="2736" h="148">
                <a:moveTo>
                  <a:pt x="0" y="0"/>
                </a:moveTo>
                <a:cubicBezTo>
                  <a:pt x="128" y="48"/>
                  <a:pt x="256" y="96"/>
                  <a:pt x="408" y="120"/>
                </a:cubicBezTo>
                <a:cubicBezTo>
                  <a:pt x="560" y="144"/>
                  <a:pt x="736" y="140"/>
                  <a:pt x="912" y="144"/>
                </a:cubicBezTo>
                <a:cubicBezTo>
                  <a:pt x="1088" y="148"/>
                  <a:pt x="1268" y="144"/>
                  <a:pt x="1464" y="144"/>
                </a:cubicBezTo>
                <a:cubicBezTo>
                  <a:pt x="1660" y="144"/>
                  <a:pt x="1876" y="144"/>
                  <a:pt x="2088" y="144"/>
                </a:cubicBezTo>
                <a:cubicBezTo>
                  <a:pt x="2300" y="144"/>
                  <a:pt x="2628" y="144"/>
                  <a:pt x="2736" y="144"/>
                </a:cubicBezTo>
              </a:path>
            </a:pathLst>
          </a:custGeom>
          <a:noFill/>
          <a:ln w="12700">
            <a:solidFill>
              <a:schemeClr val="tx1"/>
            </a:solidFill>
            <a:prstDash val="dash"/>
            <a:miter lim="800000"/>
            <a:headEnd type="none" w="sm" len="sm"/>
            <a:tailEnd type="none" w="sm" len="sm"/>
          </a:ln>
        </p:spPr>
        <p:txBody>
          <a:bodyPr wrap="none"/>
          <a:lstStyle/>
          <a:p>
            <a:pPr algn="ctr"/>
            <a:endParaRPr lang="zh-CN" altLang="en-US"/>
          </a:p>
        </p:txBody>
      </p:sp>
      <p:sp>
        <p:nvSpPr>
          <p:cNvPr id="24606" name="Oval 30"/>
          <p:cNvSpPr>
            <a:spLocks noChangeArrowheads="1"/>
          </p:cNvSpPr>
          <p:nvPr/>
        </p:nvSpPr>
        <p:spPr bwMode="auto">
          <a:xfrm>
            <a:off x="1785938" y="3305175"/>
            <a:ext cx="279400" cy="285750"/>
          </a:xfrm>
          <a:prstGeom prst="ellipse">
            <a:avLst/>
          </a:prstGeom>
          <a:solidFill>
            <a:srgbClr val="00FF00"/>
          </a:solidFill>
          <a:ln w="12700" cap="sq">
            <a:solidFill>
              <a:schemeClr val="tx1"/>
            </a:solidFill>
            <a:miter lim="800000"/>
            <a:headEnd type="none" w="sm" len="sm"/>
            <a:tailEnd type="none" w="sm" len="sm"/>
          </a:ln>
        </p:spPr>
        <p:txBody>
          <a:bodyPr wrap="none" anchor="ctr"/>
          <a:lstStyle/>
          <a:p>
            <a:pPr algn="ctr">
              <a:lnSpc>
                <a:spcPct val="115000"/>
              </a:lnSpc>
            </a:pPr>
            <a:r>
              <a:rPr kumimoji="1" lang="en-US" altLang="zh-CN" b="1">
                <a:solidFill>
                  <a:srgbClr val="0000FF"/>
                </a:solidFill>
              </a:rPr>
              <a:t>1</a:t>
            </a:r>
            <a:endParaRPr kumimoji="1" lang="en-US" altLang="zh-CN" b="1">
              <a:solidFill>
                <a:srgbClr val="0000FF"/>
              </a:solidFill>
            </a:endParaRPr>
          </a:p>
        </p:txBody>
      </p:sp>
      <p:sp>
        <p:nvSpPr>
          <p:cNvPr id="24607" name="Oval 31"/>
          <p:cNvSpPr>
            <a:spLocks noChangeArrowheads="1"/>
          </p:cNvSpPr>
          <p:nvPr/>
        </p:nvSpPr>
        <p:spPr bwMode="auto">
          <a:xfrm>
            <a:off x="5232400" y="3592513"/>
            <a:ext cx="279400" cy="285750"/>
          </a:xfrm>
          <a:prstGeom prst="ellipse">
            <a:avLst/>
          </a:prstGeom>
          <a:solidFill>
            <a:srgbClr val="00FF00"/>
          </a:solidFill>
          <a:ln w="12700" cap="sq">
            <a:solidFill>
              <a:schemeClr val="tx1"/>
            </a:solidFill>
            <a:miter lim="800000"/>
            <a:headEnd type="none" w="sm" len="sm"/>
            <a:tailEnd type="none" w="sm" len="sm"/>
          </a:ln>
        </p:spPr>
        <p:txBody>
          <a:bodyPr wrap="none" anchor="ctr"/>
          <a:lstStyle/>
          <a:p>
            <a:pPr algn="ctr">
              <a:lnSpc>
                <a:spcPct val="115000"/>
              </a:lnSpc>
            </a:pPr>
            <a:endParaRPr kumimoji="1" lang="zh-CN" altLang="zh-CN" b="1">
              <a:solidFill>
                <a:schemeClr val="bg1"/>
              </a:solidFill>
            </a:endParaRPr>
          </a:p>
        </p:txBody>
      </p:sp>
      <p:sp>
        <p:nvSpPr>
          <p:cNvPr id="24608" name="Oval 32"/>
          <p:cNvSpPr>
            <a:spLocks noChangeArrowheads="1"/>
          </p:cNvSpPr>
          <p:nvPr/>
        </p:nvSpPr>
        <p:spPr bwMode="auto">
          <a:xfrm>
            <a:off x="2616200" y="3521075"/>
            <a:ext cx="279400" cy="285750"/>
          </a:xfrm>
          <a:prstGeom prst="ellipse">
            <a:avLst/>
          </a:prstGeom>
          <a:solidFill>
            <a:srgbClr val="00FF00"/>
          </a:solidFill>
          <a:ln w="12700" cap="sq">
            <a:solidFill>
              <a:schemeClr val="tx1"/>
            </a:solidFill>
            <a:miter lim="800000"/>
            <a:headEnd type="none" w="sm" len="sm"/>
            <a:tailEnd type="none" w="sm" len="sm"/>
          </a:ln>
        </p:spPr>
        <p:txBody>
          <a:bodyPr wrap="none" anchor="ctr"/>
          <a:lstStyle/>
          <a:p>
            <a:pPr algn="ctr">
              <a:lnSpc>
                <a:spcPct val="115000"/>
              </a:lnSpc>
            </a:pPr>
            <a:endParaRPr kumimoji="1" lang="zh-CN" altLang="zh-CN" b="1">
              <a:solidFill>
                <a:schemeClr val="bg1"/>
              </a:solidFill>
            </a:endParaRPr>
          </a:p>
        </p:txBody>
      </p:sp>
      <p:sp>
        <p:nvSpPr>
          <p:cNvPr id="24609" name="Oval 33"/>
          <p:cNvSpPr>
            <a:spLocks noChangeArrowheads="1"/>
          </p:cNvSpPr>
          <p:nvPr/>
        </p:nvSpPr>
        <p:spPr bwMode="auto">
          <a:xfrm>
            <a:off x="3432175" y="3590925"/>
            <a:ext cx="279400" cy="285750"/>
          </a:xfrm>
          <a:prstGeom prst="ellipse">
            <a:avLst/>
          </a:prstGeom>
          <a:solidFill>
            <a:srgbClr val="00FF00"/>
          </a:solidFill>
          <a:ln w="12700" cap="sq">
            <a:solidFill>
              <a:schemeClr val="tx1"/>
            </a:solidFill>
            <a:miter lim="800000"/>
            <a:headEnd type="none" w="sm" len="sm"/>
            <a:tailEnd type="none" w="sm" len="sm"/>
          </a:ln>
        </p:spPr>
        <p:txBody>
          <a:bodyPr wrap="none" anchor="ctr"/>
          <a:lstStyle/>
          <a:p>
            <a:pPr algn="ctr">
              <a:lnSpc>
                <a:spcPct val="115000"/>
              </a:lnSpc>
            </a:pPr>
            <a:endParaRPr kumimoji="1" lang="zh-CN" altLang="zh-CN" b="1">
              <a:solidFill>
                <a:schemeClr val="bg1"/>
              </a:solidFill>
            </a:endParaRPr>
          </a:p>
        </p:txBody>
      </p:sp>
      <p:sp>
        <p:nvSpPr>
          <p:cNvPr id="24610" name="Oval 34"/>
          <p:cNvSpPr>
            <a:spLocks noChangeArrowheads="1"/>
          </p:cNvSpPr>
          <p:nvPr/>
        </p:nvSpPr>
        <p:spPr bwMode="auto">
          <a:xfrm>
            <a:off x="4224338" y="3590925"/>
            <a:ext cx="279400" cy="285750"/>
          </a:xfrm>
          <a:prstGeom prst="ellipse">
            <a:avLst/>
          </a:prstGeom>
          <a:solidFill>
            <a:srgbClr val="00FF00"/>
          </a:solidFill>
          <a:ln w="12700" cap="sq">
            <a:solidFill>
              <a:schemeClr val="tx1"/>
            </a:solidFill>
            <a:miter lim="800000"/>
            <a:headEnd type="none" w="sm" len="sm"/>
            <a:tailEnd type="none" w="sm" len="sm"/>
          </a:ln>
        </p:spPr>
        <p:txBody>
          <a:bodyPr wrap="none" anchor="ctr"/>
          <a:lstStyle/>
          <a:p>
            <a:pPr algn="ctr">
              <a:lnSpc>
                <a:spcPct val="115000"/>
              </a:lnSpc>
            </a:pPr>
            <a:endParaRPr kumimoji="1" lang="zh-CN" altLang="zh-CN" b="1">
              <a:solidFill>
                <a:schemeClr val="bg1"/>
              </a:solidFill>
            </a:endParaRPr>
          </a:p>
        </p:txBody>
      </p:sp>
      <p:sp>
        <p:nvSpPr>
          <p:cNvPr id="24611" name="Oval 35"/>
          <p:cNvSpPr>
            <a:spLocks noChangeArrowheads="1"/>
          </p:cNvSpPr>
          <p:nvPr/>
        </p:nvSpPr>
        <p:spPr bwMode="auto">
          <a:xfrm>
            <a:off x="6357938" y="3590925"/>
            <a:ext cx="279400" cy="285750"/>
          </a:xfrm>
          <a:prstGeom prst="ellipse">
            <a:avLst/>
          </a:prstGeom>
          <a:solidFill>
            <a:srgbClr val="00FF00"/>
          </a:solidFill>
          <a:ln w="12700" cap="sq">
            <a:solidFill>
              <a:schemeClr val="tx1"/>
            </a:solidFill>
            <a:miter lim="800000"/>
            <a:headEnd type="none" w="sm" len="sm"/>
            <a:tailEnd type="none" w="sm" len="sm"/>
          </a:ln>
        </p:spPr>
        <p:txBody>
          <a:bodyPr wrap="none" anchor="ctr"/>
          <a:lstStyle/>
          <a:p>
            <a:pPr algn="ctr">
              <a:lnSpc>
                <a:spcPct val="115000"/>
              </a:lnSpc>
            </a:pPr>
            <a:r>
              <a:rPr kumimoji="1" lang="en-US" altLang="zh-CN" b="1">
                <a:solidFill>
                  <a:srgbClr val="0000FF"/>
                </a:solidFill>
              </a:rPr>
              <a:t>2</a:t>
            </a:r>
            <a:endParaRPr kumimoji="1" lang="en-US" altLang="zh-CN" b="1">
              <a:solidFill>
                <a:srgbClr val="0000FF"/>
              </a:solidFill>
            </a:endParaRPr>
          </a:p>
        </p:txBody>
      </p:sp>
      <p:sp>
        <p:nvSpPr>
          <p:cNvPr id="24612" name="Line 36"/>
          <p:cNvSpPr>
            <a:spLocks noChangeShapeType="1"/>
          </p:cNvSpPr>
          <p:nvPr/>
        </p:nvSpPr>
        <p:spPr bwMode="auto">
          <a:xfrm rot="-284561">
            <a:off x="2166938" y="3548063"/>
            <a:ext cx="279400" cy="114300"/>
          </a:xfrm>
          <a:prstGeom prst="line">
            <a:avLst/>
          </a:prstGeom>
          <a:noFill/>
          <a:ln w="38100" cap="sq">
            <a:solidFill>
              <a:srgbClr val="FF9900"/>
            </a:solidFill>
            <a:miter lim="800000"/>
            <a:headEnd type="none" w="sm" len="sm"/>
            <a:tailEnd type="triangle" w="med" len="med"/>
          </a:ln>
        </p:spPr>
        <p:txBody>
          <a:bodyPr wrap="none"/>
          <a:lstStyle/>
          <a:p>
            <a:endParaRPr lang="zh-CN" altLang="en-US"/>
          </a:p>
        </p:txBody>
      </p:sp>
      <p:sp>
        <p:nvSpPr>
          <p:cNvPr id="24613" name="Line 37"/>
          <p:cNvSpPr>
            <a:spLocks noChangeShapeType="1"/>
          </p:cNvSpPr>
          <p:nvPr/>
        </p:nvSpPr>
        <p:spPr bwMode="auto">
          <a:xfrm>
            <a:off x="3000375" y="3733800"/>
            <a:ext cx="238125" cy="0"/>
          </a:xfrm>
          <a:prstGeom prst="line">
            <a:avLst/>
          </a:prstGeom>
          <a:noFill/>
          <a:ln w="38100" cap="sq">
            <a:solidFill>
              <a:srgbClr val="FF9900"/>
            </a:solidFill>
            <a:miter lim="800000"/>
            <a:headEnd type="none" w="sm" len="sm"/>
            <a:tailEnd type="triangle" w="med" len="med"/>
          </a:ln>
        </p:spPr>
        <p:txBody>
          <a:bodyPr wrap="none"/>
          <a:lstStyle/>
          <a:p>
            <a:endParaRPr lang="zh-CN" altLang="en-US"/>
          </a:p>
        </p:txBody>
      </p:sp>
      <p:sp>
        <p:nvSpPr>
          <p:cNvPr id="24614" name="Line 38"/>
          <p:cNvSpPr>
            <a:spLocks noChangeShapeType="1"/>
          </p:cNvSpPr>
          <p:nvPr/>
        </p:nvSpPr>
        <p:spPr bwMode="auto">
          <a:xfrm>
            <a:off x="5808663" y="3733800"/>
            <a:ext cx="238125" cy="0"/>
          </a:xfrm>
          <a:prstGeom prst="line">
            <a:avLst/>
          </a:prstGeom>
          <a:noFill/>
          <a:ln w="38100" cap="sq">
            <a:solidFill>
              <a:srgbClr val="FF9900"/>
            </a:solidFill>
            <a:miter lim="800000"/>
            <a:headEnd type="none" w="sm" len="sm"/>
            <a:tailEnd type="triangle" w="med" len="med"/>
          </a:ln>
        </p:spPr>
        <p:txBody>
          <a:bodyPr wrap="none"/>
          <a:lstStyle/>
          <a:p>
            <a:endParaRPr lang="zh-CN" altLang="en-US"/>
          </a:p>
        </p:txBody>
      </p:sp>
      <p:grpSp>
        <p:nvGrpSpPr>
          <p:cNvPr id="2" name="Group 39"/>
          <p:cNvGrpSpPr/>
          <p:nvPr/>
        </p:nvGrpSpPr>
        <p:grpSpPr bwMode="auto">
          <a:xfrm>
            <a:off x="5127625" y="4097338"/>
            <a:ext cx="2828925" cy="1046162"/>
            <a:chOff x="3312" y="1723"/>
            <a:chExt cx="1782" cy="659"/>
          </a:xfrm>
        </p:grpSpPr>
        <p:sp>
          <p:nvSpPr>
            <p:cNvPr id="85016" name="Rectangle 40" descr="5%"/>
            <p:cNvSpPr>
              <a:spLocks noChangeArrowheads="1"/>
            </p:cNvSpPr>
            <p:nvPr/>
          </p:nvSpPr>
          <p:spPr bwMode="auto">
            <a:xfrm rot="5400000">
              <a:off x="3884" y="1172"/>
              <a:ext cx="659" cy="1761"/>
            </a:xfrm>
            <a:prstGeom prst="rect">
              <a:avLst/>
            </a:prstGeom>
            <a:pattFill prst="pct5">
              <a:fgClr>
                <a:srgbClr val="000000"/>
              </a:fgClr>
              <a:bgClr>
                <a:srgbClr val="FFFFFF"/>
              </a:bgClr>
            </a:pattFill>
            <a:ln w="76200" cap="sq">
              <a:solidFill>
                <a:srgbClr val="808080"/>
              </a:solidFill>
              <a:miter lim="800000"/>
              <a:headEnd type="none" w="sm" len="sm"/>
              <a:tailEnd type="none" w="sm" len="sm"/>
            </a:ln>
          </p:spPr>
          <p:txBody>
            <a:bodyPr wrap="none" anchor="ctr"/>
            <a:lstStyle/>
            <a:p>
              <a:pPr algn="ctr"/>
              <a:endParaRPr lang="zh-CN" altLang="en-US"/>
            </a:p>
          </p:txBody>
        </p:sp>
        <p:sp>
          <p:nvSpPr>
            <p:cNvPr id="85017" name="Rectangle 41"/>
            <p:cNvSpPr>
              <a:spLocks noChangeArrowheads="1"/>
            </p:cNvSpPr>
            <p:nvPr/>
          </p:nvSpPr>
          <p:spPr bwMode="auto">
            <a:xfrm rot="5400000">
              <a:off x="3710" y="1982"/>
              <a:ext cx="627" cy="149"/>
            </a:xfrm>
            <a:prstGeom prst="rect">
              <a:avLst/>
            </a:prstGeom>
            <a:gradFill rotWithShape="0">
              <a:gsLst>
                <a:gs pos="0">
                  <a:srgbClr val="765E2F"/>
                </a:gs>
                <a:gs pos="50000">
                  <a:srgbClr val="FFCC66"/>
                </a:gs>
                <a:gs pos="100000">
                  <a:srgbClr val="765E2F"/>
                </a:gs>
              </a:gsLst>
              <a:lin ang="5400000" scaled="1"/>
            </a:gradFill>
            <a:ln w="12700" cap="sq">
              <a:noFill/>
              <a:miter lim="800000"/>
              <a:headEnd type="none" w="sm" len="sm"/>
              <a:tailEnd type="none" w="sm" len="sm"/>
            </a:ln>
          </p:spPr>
          <p:txBody>
            <a:bodyPr wrap="none" anchor="ctr"/>
            <a:lstStyle/>
            <a:p>
              <a:pPr algn="ctr"/>
              <a:endParaRPr lang="zh-CN" altLang="en-US"/>
            </a:p>
          </p:txBody>
        </p:sp>
        <p:sp>
          <p:nvSpPr>
            <p:cNvPr id="85018" name="Rectangle 42"/>
            <p:cNvSpPr>
              <a:spLocks noChangeArrowheads="1"/>
            </p:cNvSpPr>
            <p:nvPr/>
          </p:nvSpPr>
          <p:spPr bwMode="auto">
            <a:xfrm>
              <a:off x="3312" y="1747"/>
              <a:ext cx="637" cy="605"/>
            </a:xfrm>
            <a:prstGeom prst="rect">
              <a:avLst/>
            </a:prstGeom>
            <a:solidFill>
              <a:srgbClr val="FFFFFF"/>
            </a:solidFill>
            <a:ln w="12700" cap="sq">
              <a:noFill/>
              <a:miter lim="800000"/>
              <a:headEnd type="none" w="sm" len="sm"/>
              <a:tailEnd type="none" w="sm" len="sm"/>
            </a:ln>
          </p:spPr>
          <p:txBody>
            <a:bodyPr wrap="none" anchor="ctr"/>
            <a:lstStyle/>
            <a:p>
              <a:pPr algn="ctr"/>
              <a:endParaRPr lang="zh-CN" altLang="en-US"/>
            </a:p>
          </p:txBody>
        </p:sp>
        <p:sp>
          <p:nvSpPr>
            <p:cNvPr id="85019" name="AutoShape 43"/>
            <p:cNvSpPr>
              <a:spLocks noChangeArrowheads="1"/>
            </p:cNvSpPr>
            <p:nvPr/>
          </p:nvSpPr>
          <p:spPr bwMode="auto">
            <a:xfrm rot="5400000">
              <a:off x="3647" y="1913"/>
              <a:ext cx="305" cy="297"/>
            </a:xfrm>
            <a:prstGeom prst="upArrow">
              <a:avLst>
                <a:gd name="adj1" fmla="val 39185"/>
                <a:gd name="adj2" fmla="val 47213"/>
              </a:avLst>
            </a:prstGeom>
            <a:solidFill>
              <a:srgbClr val="FF0033"/>
            </a:solidFill>
            <a:ln w="12700" cap="sq">
              <a:noFill/>
              <a:miter lim="800000"/>
              <a:headEnd type="none" w="sm" len="sm"/>
              <a:tailEnd type="none" w="sm" len="sm"/>
            </a:ln>
          </p:spPr>
          <p:txBody>
            <a:bodyPr wrap="none" anchor="ctr"/>
            <a:lstStyle/>
            <a:p>
              <a:pPr algn="ctr"/>
              <a:endParaRPr lang="zh-CN" altLang="en-US"/>
            </a:p>
          </p:txBody>
        </p:sp>
        <p:sp>
          <p:nvSpPr>
            <p:cNvPr id="85020" name="Oval 44"/>
            <p:cNvSpPr>
              <a:spLocks noChangeArrowheads="1"/>
            </p:cNvSpPr>
            <p:nvPr/>
          </p:nvSpPr>
          <p:spPr bwMode="auto">
            <a:xfrm>
              <a:off x="4512" y="1968"/>
              <a:ext cx="176" cy="180"/>
            </a:xfrm>
            <a:prstGeom prst="ellipse">
              <a:avLst/>
            </a:prstGeom>
            <a:solidFill>
              <a:srgbClr val="00FFFF"/>
            </a:solidFill>
            <a:ln w="12700" cap="sq">
              <a:solidFill>
                <a:schemeClr val="tx1"/>
              </a:solidFill>
              <a:miter lim="800000"/>
              <a:headEnd type="none" w="sm" len="sm"/>
              <a:tailEnd type="none" w="sm" len="sm"/>
            </a:ln>
          </p:spPr>
          <p:txBody>
            <a:bodyPr wrap="none" anchor="ctr"/>
            <a:lstStyle/>
            <a:p>
              <a:pPr algn="ctr">
                <a:lnSpc>
                  <a:spcPct val="115000"/>
                </a:lnSpc>
              </a:pPr>
              <a:r>
                <a:rPr kumimoji="1" lang="en-US" altLang="zh-CN" b="1">
                  <a:solidFill>
                    <a:srgbClr val="0000FF"/>
                  </a:solidFill>
                </a:rPr>
                <a:t>2</a:t>
              </a:r>
              <a:endParaRPr kumimoji="1" lang="en-US" altLang="zh-CN" b="1">
                <a:solidFill>
                  <a:srgbClr val="0000FF"/>
                </a:solidFill>
              </a:endParaRPr>
            </a:p>
          </p:txBody>
        </p:sp>
      </p:grpSp>
      <p:grpSp>
        <p:nvGrpSpPr>
          <p:cNvPr id="3" name="Group 45"/>
          <p:cNvGrpSpPr/>
          <p:nvPr/>
        </p:nvGrpSpPr>
        <p:grpSpPr bwMode="auto">
          <a:xfrm>
            <a:off x="973138" y="4168775"/>
            <a:ext cx="3325812" cy="1046163"/>
            <a:chOff x="695" y="1747"/>
            <a:chExt cx="2095" cy="659"/>
          </a:xfrm>
        </p:grpSpPr>
        <p:sp>
          <p:nvSpPr>
            <p:cNvPr id="85012" name="Rectangle 46" descr="5%"/>
            <p:cNvSpPr>
              <a:spLocks noChangeArrowheads="1"/>
            </p:cNvSpPr>
            <p:nvPr/>
          </p:nvSpPr>
          <p:spPr bwMode="auto">
            <a:xfrm rot="5400000">
              <a:off x="1580" y="1196"/>
              <a:ext cx="659" cy="1761"/>
            </a:xfrm>
            <a:prstGeom prst="rect">
              <a:avLst/>
            </a:prstGeom>
            <a:pattFill prst="pct5">
              <a:fgClr>
                <a:srgbClr val="000000"/>
              </a:fgClr>
              <a:bgClr>
                <a:srgbClr val="FFFFFF"/>
              </a:bgClr>
            </a:pattFill>
            <a:ln w="76200" cap="sq">
              <a:solidFill>
                <a:srgbClr val="808080"/>
              </a:solidFill>
              <a:miter lim="800000"/>
              <a:headEnd type="none" w="sm" len="sm"/>
              <a:tailEnd type="none" w="sm" len="sm"/>
            </a:ln>
          </p:spPr>
          <p:txBody>
            <a:bodyPr rot="10800000" vert="eaVert" wrap="none" anchor="ctr"/>
            <a:lstStyle/>
            <a:p>
              <a:pPr algn="ctr">
                <a:lnSpc>
                  <a:spcPct val="115000"/>
                </a:lnSpc>
              </a:pPr>
              <a:endParaRPr kumimoji="1" lang="zh-CN" altLang="zh-CN" sz="3600" b="1">
                <a:solidFill>
                  <a:schemeClr val="bg1"/>
                </a:solidFill>
              </a:endParaRPr>
            </a:p>
          </p:txBody>
        </p:sp>
        <p:sp>
          <p:nvSpPr>
            <p:cNvPr id="85013" name="Rectangle 47"/>
            <p:cNvSpPr>
              <a:spLocks noChangeArrowheads="1"/>
            </p:cNvSpPr>
            <p:nvPr/>
          </p:nvSpPr>
          <p:spPr bwMode="auto">
            <a:xfrm rot="5400000">
              <a:off x="766" y="2010"/>
              <a:ext cx="627" cy="149"/>
            </a:xfrm>
            <a:prstGeom prst="rect">
              <a:avLst/>
            </a:prstGeom>
            <a:gradFill rotWithShape="0">
              <a:gsLst>
                <a:gs pos="0">
                  <a:srgbClr val="765E2F"/>
                </a:gs>
                <a:gs pos="50000">
                  <a:srgbClr val="FFCC66"/>
                </a:gs>
                <a:gs pos="100000">
                  <a:srgbClr val="765E2F"/>
                </a:gs>
              </a:gsLst>
              <a:lin ang="5400000" scaled="1"/>
            </a:gradFill>
            <a:ln w="12700" cap="sq">
              <a:noFill/>
              <a:miter lim="800000"/>
              <a:headEnd type="none" w="sm" len="sm"/>
              <a:tailEnd type="none" w="sm" len="sm"/>
            </a:ln>
          </p:spPr>
          <p:txBody>
            <a:bodyPr wrap="none" anchor="ctr"/>
            <a:lstStyle/>
            <a:p>
              <a:pPr algn="ctr"/>
              <a:endParaRPr lang="zh-CN" altLang="en-US"/>
            </a:p>
          </p:txBody>
        </p:sp>
        <p:sp>
          <p:nvSpPr>
            <p:cNvPr id="85014" name="AutoShape 48"/>
            <p:cNvSpPr>
              <a:spLocks noChangeArrowheads="1"/>
            </p:cNvSpPr>
            <p:nvPr/>
          </p:nvSpPr>
          <p:spPr bwMode="auto">
            <a:xfrm rot="5400000">
              <a:off x="691" y="1913"/>
              <a:ext cx="305" cy="297"/>
            </a:xfrm>
            <a:prstGeom prst="upArrow">
              <a:avLst>
                <a:gd name="adj1" fmla="val 39185"/>
                <a:gd name="adj2" fmla="val 47213"/>
              </a:avLst>
            </a:prstGeom>
            <a:solidFill>
              <a:srgbClr val="FF0033"/>
            </a:solidFill>
            <a:ln w="12700" cap="sq">
              <a:noFill/>
              <a:miter lim="800000"/>
              <a:headEnd type="none" w="sm" len="sm"/>
              <a:tailEnd type="none" w="sm" len="sm"/>
            </a:ln>
          </p:spPr>
          <p:txBody>
            <a:bodyPr wrap="none" anchor="ctr"/>
            <a:lstStyle/>
            <a:p>
              <a:pPr algn="ctr"/>
              <a:endParaRPr lang="zh-CN" altLang="en-US"/>
            </a:p>
          </p:txBody>
        </p:sp>
        <p:sp>
          <p:nvSpPr>
            <p:cNvPr id="85015" name="Oval 49"/>
            <p:cNvSpPr>
              <a:spLocks noChangeArrowheads="1"/>
            </p:cNvSpPr>
            <p:nvPr/>
          </p:nvSpPr>
          <p:spPr bwMode="auto">
            <a:xfrm>
              <a:off x="1912" y="1968"/>
              <a:ext cx="176" cy="180"/>
            </a:xfrm>
            <a:prstGeom prst="ellipse">
              <a:avLst/>
            </a:prstGeom>
            <a:solidFill>
              <a:srgbClr val="00FFFF"/>
            </a:solidFill>
            <a:ln w="12700" cap="sq">
              <a:solidFill>
                <a:schemeClr val="tx1"/>
              </a:solidFill>
              <a:miter lim="800000"/>
              <a:headEnd type="none" w="sm" len="sm"/>
              <a:tailEnd type="none" w="sm" len="sm"/>
            </a:ln>
          </p:spPr>
          <p:txBody>
            <a:bodyPr wrap="none" anchor="ctr"/>
            <a:lstStyle/>
            <a:p>
              <a:pPr algn="ctr">
                <a:lnSpc>
                  <a:spcPct val="115000"/>
                </a:lnSpc>
              </a:pPr>
              <a:r>
                <a:rPr kumimoji="1" lang="en-US" altLang="zh-CN" b="1">
                  <a:solidFill>
                    <a:srgbClr val="0000FF"/>
                  </a:solidFill>
                </a:rPr>
                <a:t>1</a:t>
              </a:r>
              <a:endParaRPr kumimoji="1" lang="en-US" altLang="zh-CN" b="1">
                <a:solidFill>
                  <a:srgbClr val="0000FF"/>
                </a:solidFill>
              </a:endParaRPr>
            </a:p>
          </p:txBody>
        </p:sp>
      </p:grpSp>
      <p:sp>
        <p:nvSpPr>
          <p:cNvPr id="24626" name="Line 50"/>
          <p:cNvSpPr>
            <a:spLocks noChangeShapeType="1"/>
          </p:cNvSpPr>
          <p:nvPr/>
        </p:nvSpPr>
        <p:spPr bwMode="auto">
          <a:xfrm>
            <a:off x="4778375" y="3733800"/>
            <a:ext cx="238125" cy="0"/>
          </a:xfrm>
          <a:prstGeom prst="line">
            <a:avLst/>
          </a:prstGeom>
          <a:noFill/>
          <a:ln w="38100">
            <a:solidFill>
              <a:srgbClr val="FF9900"/>
            </a:solidFill>
            <a:prstDash val="dash"/>
            <a:miter lim="800000"/>
            <a:headEnd type="none" w="sm" len="sm"/>
            <a:tailEnd type="triangle" w="med" len="med"/>
          </a:ln>
        </p:spPr>
        <p:txBody>
          <a:bodyPr wrap="none"/>
          <a:lstStyle/>
          <a:p>
            <a:endParaRPr lang="zh-CN" altLang="en-US"/>
          </a:p>
        </p:txBody>
      </p:sp>
      <p:sp>
        <p:nvSpPr>
          <p:cNvPr id="24627" name="Line 51"/>
          <p:cNvSpPr>
            <a:spLocks noChangeShapeType="1"/>
          </p:cNvSpPr>
          <p:nvPr/>
        </p:nvSpPr>
        <p:spPr bwMode="auto">
          <a:xfrm>
            <a:off x="3843338" y="3733800"/>
            <a:ext cx="238125" cy="0"/>
          </a:xfrm>
          <a:prstGeom prst="line">
            <a:avLst/>
          </a:prstGeom>
          <a:noFill/>
          <a:ln w="38100" cap="sq">
            <a:solidFill>
              <a:srgbClr val="FF9900"/>
            </a:solidFill>
            <a:miter lim="800000"/>
            <a:headEnd type="none" w="sm" len="sm"/>
            <a:tailEnd type="triangle" w="med" len="med"/>
          </a:ln>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wipe(left)">
                                      <p:cBhvr>
                                        <p:cTn id="7" dur="500"/>
                                        <p:tgtEl>
                                          <p:spTgt spid="245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wipe(left)">
                                      <p:cBhvr>
                                        <p:cTn id="12" dur="500"/>
                                        <p:tgtEl>
                                          <p:spTgt spid="245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604"/>
                                        </p:tgtEl>
                                        <p:attrNameLst>
                                          <p:attrName>style.visibility</p:attrName>
                                        </p:attrNameLst>
                                      </p:cBhvr>
                                      <p:to>
                                        <p:strVal val="visible"/>
                                      </p:to>
                                    </p:set>
                                    <p:animEffect transition="in" filter="wipe(left)">
                                      <p:cBhvr>
                                        <p:cTn id="17" dur="500"/>
                                        <p:tgtEl>
                                          <p:spTgt spid="246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603"/>
                                        </p:tgtEl>
                                        <p:attrNameLst>
                                          <p:attrName>style.visibility</p:attrName>
                                        </p:attrNameLst>
                                      </p:cBhvr>
                                      <p:to>
                                        <p:strVal val="visible"/>
                                      </p:to>
                                    </p:set>
                                    <p:animEffect transition="in" filter="wipe(left)">
                                      <p:cBhvr>
                                        <p:cTn id="22" dur="500"/>
                                        <p:tgtEl>
                                          <p:spTgt spid="2460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606"/>
                                        </p:tgtEl>
                                        <p:attrNameLst>
                                          <p:attrName>style.visibility</p:attrName>
                                        </p:attrNameLst>
                                      </p:cBhvr>
                                      <p:to>
                                        <p:strVal val="visible"/>
                                      </p:to>
                                    </p:set>
                                    <p:animEffect transition="in" filter="wipe(left)">
                                      <p:cBhvr>
                                        <p:cTn id="27" dur="500"/>
                                        <p:tgtEl>
                                          <p:spTgt spid="24606"/>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24608"/>
                                        </p:tgtEl>
                                        <p:attrNameLst>
                                          <p:attrName>style.visibility</p:attrName>
                                        </p:attrNameLst>
                                      </p:cBhvr>
                                      <p:to>
                                        <p:strVal val="visible"/>
                                      </p:to>
                                    </p:set>
                                    <p:animEffect transition="in" filter="wipe(left)">
                                      <p:cBhvr>
                                        <p:cTn id="31" dur="500"/>
                                        <p:tgtEl>
                                          <p:spTgt spid="24608"/>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24609"/>
                                        </p:tgtEl>
                                        <p:attrNameLst>
                                          <p:attrName>style.visibility</p:attrName>
                                        </p:attrNameLst>
                                      </p:cBhvr>
                                      <p:to>
                                        <p:strVal val="visible"/>
                                      </p:to>
                                    </p:set>
                                    <p:animEffect transition="in" filter="wipe(left)">
                                      <p:cBhvr>
                                        <p:cTn id="35" dur="500"/>
                                        <p:tgtEl>
                                          <p:spTgt spid="24609"/>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24610"/>
                                        </p:tgtEl>
                                        <p:attrNameLst>
                                          <p:attrName>style.visibility</p:attrName>
                                        </p:attrNameLst>
                                      </p:cBhvr>
                                      <p:to>
                                        <p:strVal val="visible"/>
                                      </p:to>
                                    </p:set>
                                    <p:animEffect transition="in" filter="wipe(left)">
                                      <p:cBhvr>
                                        <p:cTn id="39" dur="500"/>
                                        <p:tgtEl>
                                          <p:spTgt spid="24610"/>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24607"/>
                                        </p:tgtEl>
                                        <p:attrNameLst>
                                          <p:attrName>style.visibility</p:attrName>
                                        </p:attrNameLst>
                                      </p:cBhvr>
                                      <p:to>
                                        <p:strVal val="visible"/>
                                      </p:to>
                                    </p:set>
                                    <p:animEffect transition="in" filter="wipe(left)">
                                      <p:cBhvr>
                                        <p:cTn id="43" dur="500"/>
                                        <p:tgtEl>
                                          <p:spTgt spid="24607"/>
                                        </p:tgtEl>
                                      </p:cBhvr>
                                    </p:animEffect>
                                  </p:childTnLst>
                                </p:cTn>
                              </p:par>
                            </p:childTnLst>
                          </p:cTn>
                        </p:par>
                        <p:par>
                          <p:cTn id="44" fill="hold">
                            <p:stCondLst>
                              <p:cond delay="2500"/>
                            </p:stCondLst>
                            <p:childTnLst>
                              <p:par>
                                <p:cTn id="45" presetID="22" presetClass="entr" presetSubtype="8" fill="hold" grpId="0" nodeType="afterEffect">
                                  <p:stCondLst>
                                    <p:cond delay="0"/>
                                  </p:stCondLst>
                                  <p:childTnLst>
                                    <p:set>
                                      <p:cBhvr>
                                        <p:cTn id="46" dur="1" fill="hold">
                                          <p:stCondLst>
                                            <p:cond delay="0"/>
                                          </p:stCondLst>
                                        </p:cTn>
                                        <p:tgtEl>
                                          <p:spTgt spid="24611"/>
                                        </p:tgtEl>
                                        <p:attrNameLst>
                                          <p:attrName>style.visibility</p:attrName>
                                        </p:attrNameLst>
                                      </p:cBhvr>
                                      <p:to>
                                        <p:strVal val="visible"/>
                                      </p:to>
                                    </p:set>
                                    <p:animEffect transition="in" filter="wipe(left)">
                                      <p:cBhvr>
                                        <p:cTn id="47" dur="500"/>
                                        <p:tgtEl>
                                          <p:spTgt spid="24611"/>
                                        </p:tgtEl>
                                      </p:cBhvr>
                                    </p:animEffect>
                                  </p:childTnLst>
                                </p:cTn>
                              </p:par>
                            </p:childTnLst>
                          </p:cTn>
                        </p:par>
                        <p:par>
                          <p:cTn id="48" fill="hold">
                            <p:stCondLst>
                              <p:cond delay="3000"/>
                            </p:stCondLst>
                            <p:childTnLst>
                              <p:par>
                                <p:cTn id="49" presetID="22" presetClass="entr" presetSubtype="8" fill="hold" grpId="0" nodeType="afterEffect">
                                  <p:stCondLst>
                                    <p:cond delay="0"/>
                                  </p:stCondLst>
                                  <p:childTnLst>
                                    <p:set>
                                      <p:cBhvr>
                                        <p:cTn id="50" dur="1" fill="hold">
                                          <p:stCondLst>
                                            <p:cond delay="0"/>
                                          </p:stCondLst>
                                        </p:cTn>
                                        <p:tgtEl>
                                          <p:spTgt spid="24612"/>
                                        </p:tgtEl>
                                        <p:attrNameLst>
                                          <p:attrName>style.visibility</p:attrName>
                                        </p:attrNameLst>
                                      </p:cBhvr>
                                      <p:to>
                                        <p:strVal val="visible"/>
                                      </p:to>
                                    </p:set>
                                    <p:animEffect transition="in" filter="wipe(left)">
                                      <p:cBhvr>
                                        <p:cTn id="51" dur="500"/>
                                        <p:tgtEl>
                                          <p:spTgt spid="24612"/>
                                        </p:tgtEl>
                                      </p:cBhvr>
                                    </p:animEffect>
                                  </p:childTnLst>
                                </p:cTn>
                              </p:par>
                            </p:childTnLst>
                          </p:cTn>
                        </p:par>
                        <p:par>
                          <p:cTn id="52" fill="hold">
                            <p:stCondLst>
                              <p:cond delay="3500"/>
                            </p:stCondLst>
                            <p:childTnLst>
                              <p:par>
                                <p:cTn id="53" presetID="22" presetClass="entr" presetSubtype="8" fill="hold" grpId="0" nodeType="afterEffect">
                                  <p:stCondLst>
                                    <p:cond delay="0"/>
                                  </p:stCondLst>
                                  <p:childTnLst>
                                    <p:set>
                                      <p:cBhvr>
                                        <p:cTn id="54" dur="1" fill="hold">
                                          <p:stCondLst>
                                            <p:cond delay="0"/>
                                          </p:stCondLst>
                                        </p:cTn>
                                        <p:tgtEl>
                                          <p:spTgt spid="24613"/>
                                        </p:tgtEl>
                                        <p:attrNameLst>
                                          <p:attrName>style.visibility</p:attrName>
                                        </p:attrNameLst>
                                      </p:cBhvr>
                                      <p:to>
                                        <p:strVal val="visible"/>
                                      </p:to>
                                    </p:set>
                                    <p:animEffect transition="in" filter="wipe(left)">
                                      <p:cBhvr>
                                        <p:cTn id="55" dur="500"/>
                                        <p:tgtEl>
                                          <p:spTgt spid="24613"/>
                                        </p:tgtEl>
                                      </p:cBhvr>
                                    </p:animEffect>
                                  </p:childTnLst>
                                </p:cTn>
                              </p:par>
                            </p:childTnLst>
                          </p:cTn>
                        </p:par>
                        <p:par>
                          <p:cTn id="56" fill="hold">
                            <p:stCondLst>
                              <p:cond delay="4000"/>
                            </p:stCondLst>
                            <p:childTnLst>
                              <p:par>
                                <p:cTn id="57" presetID="22" presetClass="entr" presetSubtype="8" fill="hold" grpId="0" nodeType="afterEffect">
                                  <p:stCondLst>
                                    <p:cond delay="0"/>
                                  </p:stCondLst>
                                  <p:childTnLst>
                                    <p:set>
                                      <p:cBhvr>
                                        <p:cTn id="58" dur="1" fill="hold">
                                          <p:stCondLst>
                                            <p:cond delay="0"/>
                                          </p:stCondLst>
                                        </p:cTn>
                                        <p:tgtEl>
                                          <p:spTgt spid="24627"/>
                                        </p:tgtEl>
                                        <p:attrNameLst>
                                          <p:attrName>style.visibility</p:attrName>
                                        </p:attrNameLst>
                                      </p:cBhvr>
                                      <p:to>
                                        <p:strVal val="visible"/>
                                      </p:to>
                                    </p:set>
                                    <p:animEffect transition="in" filter="wipe(left)">
                                      <p:cBhvr>
                                        <p:cTn id="59" dur="500"/>
                                        <p:tgtEl>
                                          <p:spTgt spid="24627"/>
                                        </p:tgtEl>
                                      </p:cBhvr>
                                    </p:animEffect>
                                  </p:childTnLst>
                                </p:cTn>
                              </p:par>
                            </p:childTnLst>
                          </p:cTn>
                        </p:par>
                        <p:par>
                          <p:cTn id="60" fill="hold">
                            <p:stCondLst>
                              <p:cond delay="4500"/>
                            </p:stCondLst>
                            <p:childTnLst>
                              <p:par>
                                <p:cTn id="61" presetID="22" presetClass="entr" presetSubtype="8" fill="hold" grpId="0" nodeType="afterEffect">
                                  <p:stCondLst>
                                    <p:cond delay="0"/>
                                  </p:stCondLst>
                                  <p:childTnLst>
                                    <p:set>
                                      <p:cBhvr>
                                        <p:cTn id="62" dur="1" fill="hold">
                                          <p:stCondLst>
                                            <p:cond delay="0"/>
                                          </p:stCondLst>
                                        </p:cTn>
                                        <p:tgtEl>
                                          <p:spTgt spid="24626"/>
                                        </p:tgtEl>
                                        <p:attrNameLst>
                                          <p:attrName>style.visibility</p:attrName>
                                        </p:attrNameLst>
                                      </p:cBhvr>
                                      <p:to>
                                        <p:strVal val="visible"/>
                                      </p:to>
                                    </p:set>
                                    <p:animEffect transition="in" filter="wipe(left)">
                                      <p:cBhvr>
                                        <p:cTn id="63" dur="500"/>
                                        <p:tgtEl>
                                          <p:spTgt spid="24626"/>
                                        </p:tgtEl>
                                      </p:cBhvr>
                                    </p:animEffect>
                                  </p:childTnLst>
                                </p:cTn>
                              </p:par>
                            </p:childTnLst>
                          </p:cTn>
                        </p:par>
                        <p:par>
                          <p:cTn id="64" fill="hold">
                            <p:stCondLst>
                              <p:cond delay="5000"/>
                            </p:stCondLst>
                            <p:childTnLst>
                              <p:par>
                                <p:cTn id="65" presetID="22" presetClass="entr" presetSubtype="8" fill="hold" grpId="0" nodeType="afterEffect">
                                  <p:stCondLst>
                                    <p:cond delay="0"/>
                                  </p:stCondLst>
                                  <p:childTnLst>
                                    <p:set>
                                      <p:cBhvr>
                                        <p:cTn id="66" dur="1" fill="hold">
                                          <p:stCondLst>
                                            <p:cond delay="0"/>
                                          </p:stCondLst>
                                        </p:cTn>
                                        <p:tgtEl>
                                          <p:spTgt spid="24614"/>
                                        </p:tgtEl>
                                        <p:attrNameLst>
                                          <p:attrName>style.visibility</p:attrName>
                                        </p:attrNameLst>
                                      </p:cBhvr>
                                      <p:to>
                                        <p:strVal val="visible"/>
                                      </p:to>
                                    </p:set>
                                    <p:animEffect transition="in" filter="wipe(left)">
                                      <p:cBhvr>
                                        <p:cTn id="67" dur="500"/>
                                        <p:tgtEl>
                                          <p:spTgt spid="2461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605"/>
                                        </p:tgtEl>
                                        <p:attrNameLst>
                                          <p:attrName>style.visibility</p:attrName>
                                        </p:attrNameLst>
                                      </p:cBhvr>
                                      <p:to>
                                        <p:strVal val="visible"/>
                                      </p:to>
                                    </p:set>
                                    <p:animEffect transition="in" filter="wipe(left)">
                                      <p:cBhvr>
                                        <p:cTn id="72" dur="500"/>
                                        <p:tgtEl>
                                          <p:spTgt spid="2460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wipe(left)">
                                      <p:cBhvr>
                                        <p:cTn id="77" dur="500"/>
                                        <p:tgtEl>
                                          <p:spTgt spid="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
                                        </p:tgtEl>
                                        <p:attrNameLst>
                                          <p:attrName>style.visibility</p:attrName>
                                        </p:attrNameLst>
                                      </p:cBhvr>
                                      <p:to>
                                        <p:strVal val="visible"/>
                                      </p:to>
                                    </p:set>
                                    <p:animEffect transition="in" filter="wipe(left)">
                                      <p:cBhvr>
                                        <p:cTn id="8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p:bldP spid="24581" grpId="0" autoUpdateAnimBg="0"/>
      <p:bldP spid="24603" grpId="0"/>
      <p:bldP spid="24604" grpId="0"/>
      <p:bldP spid="24605" grpId="0" animBg="1"/>
      <p:bldP spid="24606" grpId="0" animBg="1" autoUpdateAnimBg="0"/>
      <p:bldP spid="24607" grpId="0" animBg="1" autoUpdateAnimBg="0"/>
      <p:bldP spid="24608" grpId="0" animBg="1" autoUpdateAnimBg="0"/>
      <p:bldP spid="24609" grpId="0" animBg="1" autoUpdateAnimBg="0"/>
      <p:bldP spid="24610" grpId="0" animBg="1" autoUpdateAnimBg="0"/>
      <p:bldP spid="24611" grpId="0" animBg="1" autoUpdateAnimBg="0"/>
      <p:bldP spid="24612" grpId="0" animBg="1"/>
      <p:bldP spid="24613" grpId="0" animBg="1"/>
      <p:bldP spid="24614" grpId="0" animBg="1"/>
      <p:bldP spid="24626" grpId="0" animBg="1"/>
      <p:bldP spid="246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Arc 2"/>
          <p:cNvSpPr/>
          <p:nvPr/>
        </p:nvSpPr>
        <p:spPr bwMode="auto">
          <a:xfrm>
            <a:off x="3028950" y="762000"/>
            <a:ext cx="2236788" cy="2770188"/>
          </a:xfrm>
          <a:custGeom>
            <a:avLst/>
            <a:gdLst>
              <a:gd name="T0" fmla="*/ 2147483647 w 20524"/>
              <a:gd name="T1" fmla="*/ 2147483647 h 21600"/>
              <a:gd name="T2" fmla="*/ 0 w 20524"/>
              <a:gd name="T3" fmla="*/ 2147483647 h 21600"/>
              <a:gd name="T4" fmla="*/ 2147483647 w 20524"/>
              <a:gd name="T5" fmla="*/ 0 h 21600"/>
              <a:gd name="T6" fmla="*/ 0 60000 65536"/>
              <a:gd name="T7" fmla="*/ 0 60000 65536"/>
              <a:gd name="T8" fmla="*/ 0 60000 65536"/>
              <a:gd name="T9" fmla="*/ 0 w 20524"/>
              <a:gd name="T10" fmla="*/ 0 h 21600"/>
              <a:gd name="T11" fmla="*/ 20524 w 20524"/>
              <a:gd name="T12" fmla="*/ 21600 h 21600"/>
            </a:gdLst>
            <a:ahLst/>
            <a:cxnLst>
              <a:cxn ang="T6">
                <a:pos x="T0" y="T1"/>
              </a:cxn>
              <a:cxn ang="T7">
                <a:pos x="T2" y="T3"/>
              </a:cxn>
              <a:cxn ang="T8">
                <a:pos x="T4" y="T5"/>
              </a:cxn>
            </a:cxnLst>
            <a:rect l="T9" t="T10" r="T11" b="T12"/>
            <a:pathLst>
              <a:path w="20524" h="21600" fill="none" extrusionOk="0">
                <a:moveTo>
                  <a:pt x="20523" y="21597"/>
                </a:moveTo>
                <a:cubicBezTo>
                  <a:pt x="20422" y="21599"/>
                  <a:pt x="20320" y="21599"/>
                  <a:pt x="20218" y="21600"/>
                </a:cubicBezTo>
                <a:cubicBezTo>
                  <a:pt x="11221" y="21600"/>
                  <a:pt x="3166" y="16023"/>
                  <a:pt x="0" y="7602"/>
                </a:cubicBezTo>
              </a:path>
              <a:path w="20524" h="21600" stroke="0" extrusionOk="0">
                <a:moveTo>
                  <a:pt x="20523" y="21597"/>
                </a:moveTo>
                <a:cubicBezTo>
                  <a:pt x="20422" y="21599"/>
                  <a:pt x="20320" y="21599"/>
                  <a:pt x="20218" y="21600"/>
                </a:cubicBezTo>
                <a:cubicBezTo>
                  <a:pt x="11221" y="21600"/>
                  <a:pt x="3166" y="16023"/>
                  <a:pt x="0" y="7602"/>
                </a:cubicBezTo>
                <a:lnTo>
                  <a:pt x="20218" y="0"/>
                </a:lnTo>
                <a:close/>
              </a:path>
            </a:pathLst>
          </a:custGeom>
          <a:noFill/>
          <a:ln w="38100">
            <a:solidFill>
              <a:srgbClr val="FC5050"/>
            </a:solidFill>
            <a:round/>
            <a:headEnd type="none" w="sm" len="sm"/>
            <a:tailEnd type="none" w="sm" len="sm"/>
          </a:ln>
        </p:spPr>
        <p:txBody>
          <a:bodyPr wrap="none" anchor="ctr"/>
          <a:lstStyle/>
          <a:p>
            <a:pPr algn="ctr"/>
            <a:endParaRPr lang="zh-CN" altLang="en-US" b="1"/>
          </a:p>
        </p:txBody>
      </p:sp>
      <p:sp>
        <p:nvSpPr>
          <p:cNvPr id="30" name="Rectangle 3"/>
          <p:cNvSpPr>
            <a:spLocks noChangeArrowheads="1"/>
          </p:cNvSpPr>
          <p:nvPr/>
        </p:nvSpPr>
        <p:spPr bwMode="auto">
          <a:xfrm>
            <a:off x="2057400" y="457200"/>
            <a:ext cx="7086600" cy="490538"/>
          </a:xfrm>
          <a:prstGeom prst="rect">
            <a:avLst/>
          </a:prstGeom>
          <a:noFill/>
          <a:ln w="9525">
            <a:noFill/>
            <a:miter lim="800000"/>
          </a:ln>
        </p:spPr>
        <p:txBody>
          <a:bodyPr>
            <a:spAutoFit/>
          </a:bodyPr>
          <a:lstStyle/>
          <a:p>
            <a:pPr>
              <a:lnSpc>
                <a:spcPct val="125000"/>
              </a:lnSpc>
            </a:pPr>
            <a:r>
              <a:rPr kumimoji="1" lang="zh-CN" altLang="en-US" b="1">
                <a:latin typeface="宋体" panose="02010600030101010101" pitchFamily="2" charset="-122"/>
              </a:rPr>
              <a:t>过程进行的每一时刻，系统都无限地接近</a:t>
            </a:r>
            <a:r>
              <a:rPr kumimoji="1" lang="zh-CN" altLang="en-US" b="1">
                <a:solidFill>
                  <a:srgbClr val="FF6600"/>
                </a:solidFill>
                <a:latin typeface="宋体" panose="02010600030101010101" pitchFamily="2" charset="-122"/>
              </a:rPr>
              <a:t>平衡态</a:t>
            </a:r>
            <a:r>
              <a:rPr kumimoji="1" lang="zh-CN" altLang="en-US" b="1">
                <a:latin typeface="宋体" panose="02010600030101010101" pitchFamily="2" charset="-122"/>
              </a:rPr>
              <a:t>。</a:t>
            </a:r>
            <a:endParaRPr kumimoji="1" lang="zh-CN" altLang="en-US" b="1">
              <a:latin typeface="宋体" panose="02010600030101010101" pitchFamily="2" charset="-122"/>
            </a:endParaRPr>
          </a:p>
        </p:txBody>
      </p:sp>
      <p:sp>
        <p:nvSpPr>
          <p:cNvPr id="31" name="Rectangle 4"/>
          <p:cNvSpPr>
            <a:spLocks noChangeArrowheads="1"/>
          </p:cNvSpPr>
          <p:nvPr/>
        </p:nvSpPr>
        <p:spPr bwMode="auto">
          <a:xfrm>
            <a:off x="55563" y="504825"/>
            <a:ext cx="1944687" cy="457200"/>
          </a:xfrm>
          <a:prstGeom prst="rect">
            <a:avLst/>
          </a:prstGeom>
          <a:noFill/>
          <a:ln w="9525">
            <a:noFill/>
            <a:miter lim="800000"/>
          </a:ln>
        </p:spPr>
        <p:txBody>
          <a:bodyPr>
            <a:spAutoFit/>
          </a:bodyPr>
          <a:lstStyle/>
          <a:p>
            <a:r>
              <a:rPr kumimoji="1" lang="zh-CN" altLang="en-US" b="1">
                <a:solidFill>
                  <a:srgbClr val="FF0000"/>
                </a:solidFill>
                <a:latin typeface="宋体" panose="02010600030101010101" pitchFamily="2" charset="-122"/>
              </a:rPr>
              <a:t>准静态过程</a:t>
            </a:r>
            <a:endParaRPr kumimoji="1" lang="zh-CN" altLang="en-US" b="1">
              <a:solidFill>
                <a:srgbClr val="FF0000"/>
              </a:solidFill>
              <a:latin typeface="宋体" panose="02010600030101010101" pitchFamily="2" charset="-122"/>
            </a:endParaRPr>
          </a:p>
        </p:txBody>
      </p:sp>
      <p:sp>
        <p:nvSpPr>
          <p:cNvPr id="32" name="Rectangle 5"/>
          <p:cNvSpPr>
            <a:spLocks noChangeArrowheads="1"/>
          </p:cNvSpPr>
          <p:nvPr/>
        </p:nvSpPr>
        <p:spPr bwMode="auto">
          <a:xfrm>
            <a:off x="0" y="1143000"/>
            <a:ext cx="2251075" cy="457200"/>
          </a:xfrm>
          <a:prstGeom prst="rect">
            <a:avLst/>
          </a:prstGeom>
          <a:noFill/>
          <a:ln w="9525">
            <a:noFill/>
            <a:miter lim="800000"/>
          </a:ln>
        </p:spPr>
        <p:txBody>
          <a:bodyPr>
            <a:spAutoFit/>
          </a:bodyPr>
          <a:lstStyle/>
          <a:p>
            <a:r>
              <a:rPr kumimoji="1" lang="zh-CN" altLang="en-US" b="1">
                <a:solidFill>
                  <a:srgbClr val="FF0000"/>
                </a:solidFill>
                <a:latin typeface="宋体" panose="02010600030101010101" pitchFamily="2" charset="-122"/>
              </a:rPr>
              <a:t>非准静态过程</a:t>
            </a:r>
            <a:endParaRPr kumimoji="1" lang="zh-CN" altLang="en-US" b="1">
              <a:solidFill>
                <a:srgbClr val="FF0000"/>
              </a:solidFill>
              <a:latin typeface="宋体" panose="02010600030101010101" pitchFamily="2" charset="-122"/>
            </a:endParaRPr>
          </a:p>
        </p:txBody>
      </p:sp>
      <p:sp>
        <p:nvSpPr>
          <p:cNvPr id="33" name="Rectangle 6"/>
          <p:cNvSpPr>
            <a:spLocks noChangeArrowheads="1"/>
          </p:cNvSpPr>
          <p:nvPr/>
        </p:nvSpPr>
        <p:spPr bwMode="auto">
          <a:xfrm>
            <a:off x="2286000" y="1066800"/>
            <a:ext cx="5319713" cy="490538"/>
          </a:xfrm>
          <a:prstGeom prst="rect">
            <a:avLst/>
          </a:prstGeom>
          <a:noFill/>
          <a:ln w="9525">
            <a:noFill/>
            <a:miter lim="800000"/>
          </a:ln>
        </p:spPr>
        <p:txBody>
          <a:bodyPr>
            <a:spAutoFit/>
          </a:bodyPr>
          <a:lstStyle/>
          <a:p>
            <a:pPr>
              <a:lnSpc>
                <a:spcPct val="125000"/>
              </a:lnSpc>
            </a:pPr>
            <a:r>
              <a:rPr kumimoji="1" lang="zh-CN" altLang="en-US" b="1">
                <a:latin typeface="宋体" panose="02010600030101010101" pitchFamily="2" charset="-122"/>
              </a:rPr>
              <a:t>系统经历一系列</a:t>
            </a:r>
            <a:r>
              <a:rPr kumimoji="1" lang="zh-CN" altLang="en-US" b="1">
                <a:solidFill>
                  <a:srgbClr val="FF6600"/>
                </a:solidFill>
                <a:latin typeface="宋体" panose="02010600030101010101" pitchFamily="2" charset="-122"/>
              </a:rPr>
              <a:t>非平衡态</a:t>
            </a:r>
            <a:r>
              <a:rPr kumimoji="1" lang="zh-CN" altLang="en-US" b="1">
                <a:latin typeface="宋体" panose="02010600030101010101" pitchFamily="2" charset="-122"/>
              </a:rPr>
              <a:t>的过程</a:t>
            </a:r>
            <a:endParaRPr kumimoji="1" lang="zh-CN" altLang="en-US" b="1">
              <a:latin typeface="宋体" panose="02010600030101010101" pitchFamily="2" charset="-122"/>
            </a:endParaRPr>
          </a:p>
        </p:txBody>
      </p:sp>
      <p:pic>
        <p:nvPicPr>
          <p:cNvPr id="34" name="Picture 7" descr="a12"/>
          <p:cNvPicPr>
            <a:picLocks noChangeAspect="1" noChangeArrowheads="1" noCrop="1"/>
          </p:cNvPicPr>
          <p:nvPr/>
        </p:nvPicPr>
        <p:blipFill>
          <a:blip r:embed="rId1"/>
          <a:srcRect/>
          <a:stretch>
            <a:fillRect/>
          </a:stretch>
        </p:blipFill>
        <p:spPr bwMode="auto">
          <a:xfrm>
            <a:off x="609600" y="1752600"/>
            <a:ext cx="1819275" cy="2376488"/>
          </a:xfrm>
          <a:prstGeom prst="rect">
            <a:avLst/>
          </a:prstGeom>
          <a:noFill/>
          <a:ln w="9525">
            <a:noFill/>
            <a:miter lim="800000"/>
            <a:headEnd/>
            <a:tailEnd/>
          </a:ln>
        </p:spPr>
      </p:pic>
      <p:pic>
        <p:nvPicPr>
          <p:cNvPr id="35" name="Picture 8" descr="t5_2c"/>
          <p:cNvPicPr>
            <a:picLocks noChangeAspect="1" noChangeArrowheads="1"/>
          </p:cNvPicPr>
          <p:nvPr/>
        </p:nvPicPr>
        <p:blipFill>
          <a:blip r:embed="rId2"/>
          <a:srcRect/>
          <a:stretch>
            <a:fillRect/>
          </a:stretch>
        </p:blipFill>
        <p:spPr bwMode="auto">
          <a:xfrm>
            <a:off x="5715000" y="1676400"/>
            <a:ext cx="2971800" cy="2362200"/>
          </a:xfrm>
          <a:prstGeom prst="rect">
            <a:avLst/>
          </a:prstGeom>
          <a:noFill/>
          <a:ln w="9525">
            <a:noFill/>
            <a:miter lim="800000"/>
            <a:headEnd/>
            <a:tailEnd/>
          </a:ln>
        </p:spPr>
      </p:pic>
      <p:sp>
        <p:nvSpPr>
          <p:cNvPr id="45" name="Oval 18"/>
          <p:cNvSpPr>
            <a:spLocks noChangeArrowheads="1"/>
          </p:cNvSpPr>
          <p:nvPr/>
        </p:nvSpPr>
        <p:spPr bwMode="auto">
          <a:xfrm>
            <a:off x="3144838" y="2098675"/>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sp>
        <p:nvSpPr>
          <p:cNvPr id="46" name="Oval 19"/>
          <p:cNvSpPr>
            <a:spLocks noChangeArrowheads="1"/>
          </p:cNvSpPr>
          <p:nvPr/>
        </p:nvSpPr>
        <p:spPr bwMode="auto">
          <a:xfrm>
            <a:off x="3303588" y="2387600"/>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sp>
        <p:nvSpPr>
          <p:cNvPr id="47" name="Oval 20"/>
          <p:cNvSpPr>
            <a:spLocks noChangeArrowheads="1"/>
          </p:cNvSpPr>
          <p:nvPr/>
        </p:nvSpPr>
        <p:spPr bwMode="auto">
          <a:xfrm>
            <a:off x="3030538" y="1811338"/>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sp>
        <p:nvSpPr>
          <p:cNvPr id="48" name="Oval 21"/>
          <p:cNvSpPr>
            <a:spLocks noChangeArrowheads="1"/>
          </p:cNvSpPr>
          <p:nvPr/>
        </p:nvSpPr>
        <p:spPr bwMode="auto">
          <a:xfrm>
            <a:off x="3630613" y="2819400"/>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sp>
        <p:nvSpPr>
          <p:cNvPr id="49" name="Oval 22"/>
          <p:cNvSpPr>
            <a:spLocks noChangeArrowheads="1"/>
          </p:cNvSpPr>
          <p:nvPr/>
        </p:nvSpPr>
        <p:spPr bwMode="auto">
          <a:xfrm>
            <a:off x="3879850" y="3035300"/>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sp>
        <p:nvSpPr>
          <p:cNvPr id="50" name="Oval 23"/>
          <p:cNvSpPr>
            <a:spLocks noChangeArrowheads="1"/>
          </p:cNvSpPr>
          <p:nvPr/>
        </p:nvSpPr>
        <p:spPr bwMode="auto">
          <a:xfrm>
            <a:off x="4135438" y="3214688"/>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sp>
        <p:nvSpPr>
          <p:cNvPr id="51" name="Oval 24"/>
          <p:cNvSpPr>
            <a:spLocks noChangeArrowheads="1"/>
          </p:cNvSpPr>
          <p:nvPr/>
        </p:nvSpPr>
        <p:spPr bwMode="auto">
          <a:xfrm>
            <a:off x="4411663" y="3351213"/>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sp>
        <p:nvSpPr>
          <p:cNvPr id="52" name="Oval 25"/>
          <p:cNvSpPr>
            <a:spLocks noChangeArrowheads="1"/>
          </p:cNvSpPr>
          <p:nvPr/>
        </p:nvSpPr>
        <p:spPr bwMode="auto">
          <a:xfrm>
            <a:off x="4711700" y="3467100"/>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sp>
        <p:nvSpPr>
          <p:cNvPr id="53" name="Oval 26"/>
          <p:cNvSpPr>
            <a:spLocks noChangeArrowheads="1"/>
          </p:cNvSpPr>
          <p:nvPr/>
        </p:nvSpPr>
        <p:spPr bwMode="auto">
          <a:xfrm>
            <a:off x="5070475" y="3509963"/>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sp>
        <p:nvSpPr>
          <p:cNvPr id="54" name="Oval 27"/>
          <p:cNvSpPr>
            <a:spLocks noChangeArrowheads="1"/>
          </p:cNvSpPr>
          <p:nvPr/>
        </p:nvSpPr>
        <p:spPr bwMode="auto">
          <a:xfrm>
            <a:off x="3454400" y="2603500"/>
            <a:ext cx="107950" cy="107950"/>
          </a:xfrm>
          <a:prstGeom prst="ellipse">
            <a:avLst/>
          </a:prstGeom>
          <a:solidFill>
            <a:srgbClr val="0099FF"/>
          </a:solidFill>
          <a:ln w="12700" cap="sq">
            <a:solidFill>
              <a:srgbClr val="66FFFF"/>
            </a:solidFill>
            <a:miter lim="800000"/>
            <a:headEnd type="none" w="sm" len="sm"/>
            <a:tailEnd type="none" w="sm" len="sm"/>
          </a:ln>
        </p:spPr>
        <p:txBody>
          <a:bodyPr wrap="none" anchor="ctr"/>
          <a:lstStyle/>
          <a:p>
            <a:pPr algn="ctr"/>
            <a:endParaRPr kumimoji="1" lang="zh-CN" altLang="zh-CN" b="1">
              <a:solidFill>
                <a:srgbClr val="FFFF99"/>
              </a:solidFill>
            </a:endParaRPr>
          </a:p>
        </p:txBody>
      </p:sp>
      <p:grpSp>
        <p:nvGrpSpPr>
          <p:cNvPr id="2" name="组合 37"/>
          <p:cNvGrpSpPr/>
          <p:nvPr/>
        </p:nvGrpSpPr>
        <p:grpSpPr bwMode="auto">
          <a:xfrm>
            <a:off x="2438400" y="1498600"/>
            <a:ext cx="3070225" cy="2905125"/>
            <a:chOff x="2438400" y="1498600"/>
            <a:chExt cx="3070225" cy="2905125"/>
          </a:xfrm>
        </p:grpSpPr>
        <p:sp>
          <p:nvSpPr>
            <p:cNvPr id="86042" name="Text Box 15"/>
            <p:cNvSpPr txBox="1">
              <a:spLocks noChangeArrowheads="1"/>
            </p:cNvSpPr>
            <p:nvPr/>
          </p:nvSpPr>
          <p:spPr bwMode="auto">
            <a:xfrm>
              <a:off x="2438400" y="3875088"/>
              <a:ext cx="404813" cy="457200"/>
            </a:xfrm>
            <a:prstGeom prst="rect">
              <a:avLst/>
            </a:prstGeom>
            <a:noFill/>
            <a:ln w="9525" algn="ctr">
              <a:noFill/>
              <a:miter lim="800000"/>
            </a:ln>
          </p:spPr>
          <p:txBody>
            <a:bodyPr wrap="none">
              <a:spAutoFit/>
            </a:bodyPr>
            <a:lstStyle/>
            <a:p>
              <a:pPr algn="ctr"/>
              <a:r>
                <a:rPr lang="en-US" altLang="zh-CN" b="1" i="1">
                  <a:solidFill>
                    <a:srgbClr val="FF6600"/>
                  </a:solidFill>
                </a:rPr>
                <a:t>O</a:t>
              </a:r>
              <a:endParaRPr lang="en-US" altLang="zh-CN" b="1" i="1">
                <a:solidFill>
                  <a:srgbClr val="FF6600"/>
                </a:solidFill>
              </a:endParaRPr>
            </a:p>
          </p:txBody>
        </p:sp>
        <p:grpSp>
          <p:nvGrpSpPr>
            <p:cNvPr id="86043" name="组合 35"/>
            <p:cNvGrpSpPr/>
            <p:nvPr/>
          </p:nvGrpSpPr>
          <p:grpSpPr bwMode="auto">
            <a:xfrm>
              <a:off x="2438400" y="1498600"/>
              <a:ext cx="336550" cy="2492375"/>
              <a:chOff x="2438400" y="1498600"/>
              <a:chExt cx="336550" cy="2492375"/>
            </a:xfrm>
          </p:grpSpPr>
          <p:sp>
            <p:nvSpPr>
              <p:cNvPr id="86047" name="Line 14"/>
              <p:cNvSpPr>
                <a:spLocks noChangeShapeType="1"/>
              </p:cNvSpPr>
              <p:nvPr/>
            </p:nvSpPr>
            <p:spPr bwMode="auto">
              <a:xfrm flipH="1" flipV="1">
                <a:off x="2743200" y="1647825"/>
                <a:ext cx="0" cy="2343150"/>
              </a:xfrm>
              <a:prstGeom prst="line">
                <a:avLst/>
              </a:prstGeom>
              <a:noFill/>
              <a:ln w="28575">
                <a:solidFill>
                  <a:srgbClr val="0000FF"/>
                </a:solidFill>
                <a:round/>
                <a:tailEnd type="triangle" w="med" len="lg"/>
              </a:ln>
            </p:spPr>
            <p:txBody>
              <a:bodyPr wrap="none" anchor="ctr"/>
              <a:lstStyle/>
              <a:p>
                <a:endParaRPr lang="zh-CN" altLang="en-US"/>
              </a:p>
            </p:txBody>
          </p:sp>
          <p:sp>
            <p:nvSpPr>
              <p:cNvPr id="86048" name="Text Box 17"/>
              <p:cNvSpPr txBox="1">
                <a:spLocks noChangeArrowheads="1"/>
              </p:cNvSpPr>
              <p:nvPr/>
            </p:nvSpPr>
            <p:spPr bwMode="auto">
              <a:xfrm>
                <a:off x="2438400" y="1498600"/>
                <a:ext cx="336550" cy="457200"/>
              </a:xfrm>
              <a:prstGeom prst="rect">
                <a:avLst/>
              </a:prstGeom>
              <a:noFill/>
              <a:ln w="9525" algn="ctr">
                <a:noFill/>
                <a:miter lim="800000"/>
              </a:ln>
            </p:spPr>
            <p:txBody>
              <a:bodyPr wrap="none">
                <a:spAutoFit/>
              </a:bodyPr>
              <a:lstStyle/>
              <a:p>
                <a:pPr algn="ctr"/>
                <a:r>
                  <a:rPr lang="en-US" altLang="zh-CN" b="1" i="1">
                    <a:solidFill>
                      <a:srgbClr val="FF6600"/>
                    </a:solidFill>
                  </a:rPr>
                  <a:t>p</a:t>
                </a:r>
                <a:endParaRPr lang="en-US" altLang="zh-CN" b="1" i="1">
                  <a:solidFill>
                    <a:srgbClr val="FF6600"/>
                  </a:solidFill>
                </a:endParaRPr>
              </a:p>
            </p:txBody>
          </p:sp>
        </p:grpSp>
        <p:grpSp>
          <p:nvGrpSpPr>
            <p:cNvPr id="86044" name="组合 36"/>
            <p:cNvGrpSpPr/>
            <p:nvPr/>
          </p:nvGrpSpPr>
          <p:grpSpPr bwMode="auto">
            <a:xfrm>
              <a:off x="2770188" y="3946525"/>
              <a:ext cx="2738437" cy="457200"/>
              <a:chOff x="2770188" y="3946525"/>
              <a:chExt cx="2738437" cy="457200"/>
            </a:xfrm>
          </p:grpSpPr>
          <p:sp>
            <p:nvSpPr>
              <p:cNvPr id="86045" name="Text Box 16"/>
              <p:cNvSpPr txBox="1">
                <a:spLocks noChangeArrowheads="1"/>
              </p:cNvSpPr>
              <p:nvPr/>
            </p:nvSpPr>
            <p:spPr bwMode="auto">
              <a:xfrm>
                <a:off x="4953000" y="3946525"/>
                <a:ext cx="387350" cy="457200"/>
              </a:xfrm>
              <a:prstGeom prst="rect">
                <a:avLst/>
              </a:prstGeom>
              <a:noFill/>
              <a:ln w="9525" algn="ctr">
                <a:noFill/>
                <a:miter lim="800000"/>
              </a:ln>
            </p:spPr>
            <p:txBody>
              <a:bodyPr wrap="none">
                <a:spAutoFit/>
              </a:bodyPr>
              <a:lstStyle/>
              <a:p>
                <a:pPr algn="ctr"/>
                <a:r>
                  <a:rPr lang="en-US" altLang="zh-CN" b="1" i="1">
                    <a:solidFill>
                      <a:srgbClr val="FF6600"/>
                    </a:solidFill>
                  </a:rPr>
                  <a:t>V</a:t>
                </a:r>
                <a:endParaRPr lang="en-US" altLang="zh-CN" b="1" i="1">
                  <a:solidFill>
                    <a:srgbClr val="FF6600"/>
                  </a:solidFill>
                </a:endParaRPr>
              </a:p>
            </p:txBody>
          </p:sp>
          <p:sp>
            <p:nvSpPr>
              <p:cNvPr id="86046" name="Line 13"/>
              <p:cNvSpPr>
                <a:spLocks noChangeShapeType="1"/>
              </p:cNvSpPr>
              <p:nvPr/>
            </p:nvSpPr>
            <p:spPr bwMode="auto">
              <a:xfrm flipV="1">
                <a:off x="2770188" y="3971925"/>
                <a:ext cx="2738437" cy="0"/>
              </a:xfrm>
              <a:prstGeom prst="line">
                <a:avLst/>
              </a:prstGeom>
              <a:noFill/>
              <a:ln w="28575">
                <a:solidFill>
                  <a:srgbClr val="0000FF"/>
                </a:solidFill>
                <a:round/>
                <a:tailEnd type="triangle" w="med" len="lg"/>
              </a:ln>
            </p:spPr>
            <p:txBody>
              <a:bodyPr wrap="none" anchor="ctr"/>
              <a:lstStyle/>
              <a:p>
                <a:endParaRPr lang="zh-CN" altLang="en-US"/>
              </a:p>
            </p:txBody>
          </p:sp>
        </p:grpSp>
      </p:grpSp>
      <p:sp>
        <p:nvSpPr>
          <p:cNvPr id="57" name="Text Box 11"/>
          <p:cNvSpPr txBox="1">
            <a:spLocks noChangeArrowheads="1"/>
          </p:cNvSpPr>
          <p:nvPr/>
        </p:nvSpPr>
        <p:spPr bwMode="auto">
          <a:xfrm>
            <a:off x="1119188" y="4716463"/>
            <a:ext cx="5256212" cy="457200"/>
          </a:xfrm>
          <a:prstGeom prst="rect">
            <a:avLst/>
          </a:prstGeom>
          <a:noFill/>
          <a:ln w="9525">
            <a:noFill/>
            <a:miter lim="800000"/>
          </a:ln>
        </p:spPr>
        <p:txBody>
          <a:bodyPr>
            <a:spAutoFit/>
          </a:bodyPr>
          <a:lstStyle/>
          <a:p>
            <a:r>
              <a:rPr kumimoji="1" lang="en-US" altLang="zh-CN" b="1">
                <a:latin typeface="宋体" panose="02010600030101010101" pitchFamily="2" charset="-122"/>
              </a:rPr>
              <a:t>(1) </a:t>
            </a:r>
            <a:r>
              <a:rPr kumimoji="1" lang="zh-CN" altLang="en-US" b="1">
                <a:latin typeface="宋体" panose="02010600030101010101" pitchFamily="2" charset="-122"/>
              </a:rPr>
              <a:t>准静态过程是一个</a:t>
            </a:r>
            <a:r>
              <a:rPr kumimoji="1" lang="zh-CN" altLang="en-US" b="1">
                <a:solidFill>
                  <a:srgbClr val="FF6600"/>
                </a:solidFill>
                <a:latin typeface="宋体" panose="02010600030101010101" pitchFamily="2" charset="-122"/>
              </a:rPr>
              <a:t>理想过程</a:t>
            </a:r>
            <a:r>
              <a:rPr kumimoji="1" lang="zh-CN" altLang="en-US" b="1">
                <a:latin typeface="宋体" panose="02010600030101010101" pitchFamily="2" charset="-122"/>
              </a:rPr>
              <a:t>；</a:t>
            </a:r>
            <a:endParaRPr kumimoji="1" lang="zh-CN" altLang="en-US" b="1">
              <a:latin typeface="宋体" panose="02010600030101010101" pitchFamily="2" charset="-122"/>
            </a:endParaRPr>
          </a:p>
        </p:txBody>
      </p:sp>
      <p:sp>
        <p:nvSpPr>
          <p:cNvPr id="58" name="Rectangle 12"/>
          <p:cNvSpPr>
            <a:spLocks noChangeArrowheads="1"/>
          </p:cNvSpPr>
          <p:nvPr/>
        </p:nvSpPr>
        <p:spPr bwMode="auto">
          <a:xfrm>
            <a:off x="1119188" y="5305425"/>
            <a:ext cx="7615237" cy="461963"/>
          </a:xfrm>
          <a:prstGeom prst="rect">
            <a:avLst/>
          </a:prstGeom>
          <a:noFill/>
          <a:ln w="9525">
            <a:noFill/>
            <a:miter lim="800000"/>
          </a:ln>
        </p:spPr>
        <p:txBody>
          <a:bodyPr wrap="none">
            <a:spAutoFit/>
          </a:bodyPr>
          <a:lstStyle/>
          <a:p>
            <a:r>
              <a:rPr kumimoji="1" lang="en-US" altLang="zh-CN" b="1">
                <a:latin typeface="宋体" panose="02010600030101010101" pitchFamily="2" charset="-122"/>
              </a:rPr>
              <a:t>(2) </a:t>
            </a:r>
            <a:r>
              <a:rPr kumimoji="1" lang="zh-CN" altLang="en-US" b="1">
                <a:latin typeface="宋体" panose="02010600030101010101" pitchFamily="2" charset="-122"/>
              </a:rPr>
              <a:t>准静态过程在</a:t>
            </a:r>
            <a:r>
              <a:rPr kumimoji="1" lang="zh-CN" altLang="en-US" b="1">
                <a:solidFill>
                  <a:srgbClr val="FF6600"/>
                </a:solidFill>
                <a:latin typeface="宋体" panose="02010600030101010101" pitchFamily="2" charset="-122"/>
              </a:rPr>
              <a:t>状态图</a:t>
            </a:r>
            <a:r>
              <a:rPr kumimoji="1" lang="zh-CN" altLang="en-US" b="1">
                <a:latin typeface="宋体" panose="02010600030101010101" pitchFamily="2" charset="-122"/>
              </a:rPr>
              <a:t>上可用一条曲线表示</a:t>
            </a:r>
            <a:r>
              <a:rPr kumimoji="1" lang="en-US" altLang="zh-CN" b="1">
                <a:latin typeface="宋体" panose="02010600030101010101" pitchFamily="2" charset="-122"/>
              </a:rPr>
              <a:t>, </a:t>
            </a:r>
            <a:r>
              <a:rPr kumimoji="1" lang="zh-CN" altLang="en-US" b="1">
                <a:latin typeface="宋体" panose="02010600030101010101" pitchFamily="2" charset="-122"/>
              </a:rPr>
              <a:t>如图；</a:t>
            </a:r>
            <a:endParaRPr kumimoji="1" lang="en-US" altLang="zh-CN" b="1">
              <a:latin typeface="宋体" panose="02010600030101010101" pitchFamily="2" charset="-122"/>
            </a:endParaRPr>
          </a:p>
        </p:txBody>
      </p:sp>
      <p:grpSp>
        <p:nvGrpSpPr>
          <p:cNvPr id="5" name="组合 58"/>
          <p:cNvGrpSpPr/>
          <p:nvPr/>
        </p:nvGrpSpPr>
        <p:grpSpPr bwMode="auto">
          <a:xfrm>
            <a:off x="357188" y="4214813"/>
            <a:ext cx="1498600" cy="576262"/>
            <a:chOff x="381000" y="4267200"/>
            <a:chExt cx="1498600" cy="576263"/>
          </a:xfrm>
        </p:grpSpPr>
        <p:sp>
          <p:nvSpPr>
            <p:cNvPr id="86040" name="Text Box 9"/>
            <p:cNvSpPr txBox="1">
              <a:spLocks noChangeArrowheads="1"/>
            </p:cNvSpPr>
            <p:nvPr/>
          </p:nvSpPr>
          <p:spPr bwMode="auto">
            <a:xfrm>
              <a:off x="728663" y="4313238"/>
              <a:ext cx="1150937" cy="457200"/>
            </a:xfrm>
            <a:prstGeom prst="rect">
              <a:avLst/>
            </a:prstGeom>
            <a:noFill/>
            <a:ln w="9525">
              <a:noFill/>
              <a:miter lim="800000"/>
            </a:ln>
          </p:spPr>
          <p:txBody>
            <a:bodyPr>
              <a:spAutoFit/>
            </a:bodyPr>
            <a:lstStyle/>
            <a:p>
              <a:r>
                <a:rPr lang="zh-CN" altLang="en-US" b="1">
                  <a:solidFill>
                    <a:srgbClr val="0000FF"/>
                  </a:solidFill>
                </a:rPr>
                <a:t>说明</a:t>
              </a:r>
              <a:endParaRPr lang="zh-CN" altLang="en-US" b="1">
                <a:solidFill>
                  <a:srgbClr val="0000FF"/>
                </a:solidFill>
              </a:endParaRPr>
            </a:p>
          </p:txBody>
        </p:sp>
        <p:sp>
          <p:nvSpPr>
            <p:cNvPr id="86041" name="AutoShape 28"/>
            <p:cNvSpPr>
              <a:spLocks noChangeArrowheads="1"/>
            </p:cNvSpPr>
            <p:nvPr/>
          </p:nvSpPr>
          <p:spPr bwMode="auto">
            <a:xfrm>
              <a:off x="381000" y="4267200"/>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b="1"/>
            </a:p>
          </p:txBody>
        </p:sp>
      </p:grpSp>
      <p:sp>
        <p:nvSpPr>
          <p:cNvPr id="62" name="Text Box 8"/>
          <p:cNvSpPr txBox="1">
            <a:spLocks noChangeArrowheads="1"/>
          </p:cNvSpPr>
          <p:nvPr/>
        </p:nvSpPr>
        <p:spPr bwMode="auto">
          <a:xfrm>
            <a:off x="1000125" y="5857875"/>
            <a:ext cx="7358063" cy="461963"/>
          </a:xfrm>
          <a:prstGeom prst="rect">
            <a:avLst/>
          </a:prstGeom>
          <a:solidFill>
            <a:schemeClr val="bg1">
              <a:alpha val="50195"/>
            </a:schemeClr>
          </a:solidFill>
          <a:ln w="12700" cap="sq">
            <a:noFill/>
            <a:miter lim="800000"/>
            <a:headEnd type="none" w="sm" len="sm"/>
            <a:tailEnd type="none" w="sm" len="sm"/>
          </a:ln>
        </p:spPr>
        <p:txBody>
          <a:bodyPr>
            <a:spAutoFit/>
          </a:bodyPr>
          <a:lstStyle/>
          <a:p>
            <a:r>
              <a:rPr kumimoji="1" lang="zh-CN" altLang="en-US" b="1">
                <a:latin typeface="宋体" panose="02010600030101010101" pitchFamily="2" charset="-122"/>
              </a:rPr>
              <a:t>（</a:t>
            </a:r>
            <a:r>
              <a:rPr kumimoji="1" lang="en-US" altLang="zh-CN" b="1">
                <a:latin typeface="宋体" panose="02010600030101010101" pitchFamily="2" charset="-122"/>
              </a:rPr>
              <a:t>3</a:t>
            </a:r>
            <a:r>
              <a:rPr kumimoji="1" lang="zh-CN" altLang="en-US" b="1">
                <a:latin typeface="宋体" panose="02010600030101010101" pitchFamily="2" charset="-122"/>
              </a:rPr>
              <a:t>）</a:t>
            </a:r>
            <a:r>
              <a:rPr kumimoji="1" lang="zh-CN" altLang="en-US" b="1">
                <a:solidFill>
                  <a:srgbClr val="FF6600"/>
                </a:solidFill>
                <a:latin typeface="宋体" panose="02010600030101010101" pitchFamily="2" charset="-122"/>
              </a:rPr>
              <a:t>“无限缓慢”</a:t>
            </a:r>
            <a:r>
              <a:rPr kumimoji="1" lang="zh-CN" altLang="en-US" b="1">
                <a:latin typeface="宋体" panose="02010600030101010101" pitchFamily="2" charset="-122"/>
              </a:rPr>
              <a:t>进行的过程可看作</a:t>
            </a:r>
            <a:r>
              <a:rPr kumimoji="1" lang="zh-CN" altLang="en-US" b="1">
                <a:solidFill>
                  <a:srgbClr val="FF6600"/>
                </a:solidFill>
                <a:latin typeface="宋体" panose="02010600030101010101" pitchFamily="2" charset="-122"/>
              </a:rPr>
              <a:t>准静态过程 </a:t>
            </a:r>
            <a:endParaRPr kumimoji="1" lang="zh-CN" altLang="en-US" b="1">
              <a:solidFill>
                <a:srgbClr val="FF00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500"/>
                                        <p:tgtEl>
                                          <p:spTgt spid="3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left)">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wipe(left)">
                                      <p:cBhvr>
                                        <p:cTn id="40" dur="500"/>
                                        <p:tgtEl>
                                          <p:spTgt spid="5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wipe(left)">
                                      <p:cBhvr>
                                        <p:cTn id="45" dur="500"/>
                                        <p:tgtEl>
                                          <p:spTgt spid="5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wipe(left)">
                                      <p:cBhvr>
                                        <p:cTn id="50" dur="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left)">
                                      <p:cBhvr>
                                        <p:cTn id="55" dur="5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wipe(left)">
                                      <p:cBhvr>
                                        <p:cTn id="60" dur="500"/>
                                        <p:tgtEl>
                                          <p:spTgt spid="47"/>
                                        </p:tgtEl>
                                      </p:cBhvr>
                                    </p:animEffect>
                                  </p:childTnLst>
                                </p:cTn>
                              </p:par>
                            </p:childTnLst>
                          </p:cTn>
                        </p:par>
                        <p:par>
                          <p:cTn id="61" fill="hold">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wipe(left)">
                                      <p:cBhvr>
                                        <p:cTn id="64" dur="500"/>
                                        <p:tgtEl>
                                          <p:spTgt spid="45"/>
                                        </p:tgtEl>
                                      </p:cBhvr>
                                    </p:animEffect>
                                  </p:childTnLst>
                                </p:cTn>
                              </p:par>
                            </p:childTnLst>
                          </p:cTn>
                        </p:par>
                        <p:par>
                          <p:cTn id="65" fill="hold">
                            <p:stCondLst>
                              <p:cond delay="1000"/>
                            </p:stCondLst>
                            <p:childTnLst>
                              <p:par>
                                <p:cTn id="66" presetID="22" presetClass="entr" presetSubtype="8" fill="hold" grpId="0" nodeType="after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wipe(left)">
                                      <p:cBhvr>
                                        <p:cTn id="68" dur="500"/>
                                        <p:tgtEl>
                                          <p:spTgt spid="46"/>
                                        </p:tgtEl>
                                      </p:cBhvr>
                                    </p:animEffect>
                                  </p:childTnLst>
                                </p:cTn>
                              </p:par>
                            </p:childTnLst>
                          </p:cTn>
                        </p:par>
                        <p:par>
                          <p:cTn id="69" fill="hold">
                            <p:stCondLst>
                              <p:cond delay="1500"/>
                            </p:stCondLst>
                            <p:childTnLst>
                              <p:par>
                                <p:cTn id="70" presetID="22" presetClass="entr" presetSubtype="8" fill="hold" grpId="0" nodeType="afterEffect">
                                  <p:stCondLst>
                                    <p:cond delay="0"/>
                                  </p:stCondLst>
                                  <p:childTnLst>
                                    <p:set>
                                      <p:cBhvr>
                                        <p:cTn id="71" dur="1" fill="hold">
                                          <p:stCondLst>
                                            <p:cond delay="0"/>
                                          </p:stCondLst>
                                        </p:cTn>
                                        <p:tgtEl>
                                          <p:spTgt spid="54"/>
                                        </p:tgtEl>
                                        <p:attrNameLst>
                                          <p:attrName>style.visibility</p:attrName>
                                        </p:attrNameLst>
                                      </p:cBhvr>
                                      <p:to>
                                        <p:strVal val="visible"/>
                                      </p:to>
                                    </p:set>
                                    <p:animEffect transition="in" filter="wipe(left)">
                                      <p:cBhvr>
                                        <p:cTn id="72" dur="500"/>
                                        <p:tgtEl>
                                          <p:spTgt spid="54"/>
                                        </p:tgtEl>
                                      </p:cBhvr>
                                    </p:animEffect>
                                  </p:childTnLst>
                                </p:cTn>
                              </p:par>
                            </p:childTnLst>
                          </p:cTn>
                        </p:par>
                        <p:par>
                          <p:cTn id="73" fill="hold">
                            <p:stCondLst>
                              <p:cond delay="2000"/>
                            </p:stCondLst>
                            <p:childTnLst>
                              <p:par>
                                <p:cTn id="74" presetID="22" presetClass="entr" presetSubtype="8" fill="hold" grpId="0" nodeType="after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wipe(left)">
                                      <p:cBhvr>
                                        <p:cTn id="76" dur="500"/>
                                        <p:tgtEl>
                                          <p:spTgt spid="48"/>
                                        </p:tgtEl>
                                      </p:cBhvr>
                                    </p:animEffect>
                                  </p:childTnLst>
                                </p:cTn>
                              </p:par>
                            </p:childTnLst>
                          </p:cTn>
                        </p:par>
                        <p:par>
                          <p:cTn id="77" fill="hold">
                            <p:stCondLst>
                              <p:cond delay="2500"/>
                            </p:stCondLst>
                            <p:childTnLst>
                              <p:par>
                                <p:cTn id="78" presetID="22" presetClass="entr" presetSubtype="8" fill="hold" grpId="0" nodeType="after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wipe(left)">
                                      <p:cBhvr>
                                        <p:cTn id="80" dur="500"/>
                                        <p:tgtEl>
                                          <p:spTgt spid="49"/>
                                        </p:tgtEl>
                                      </p:cBhvr>
                                    </p:animEffect>
                                  </p:childTnLst>
                                </p:cTn>
                              </p:par>
                            </p:childTnLst>
                          </p:cTn>
                        </p:par>
                        <p:par>
                          <p:cTn id="81" fill="hold">
                            <p:stCondLst>
                              <p:cond delay="3000"/>
                            </p:stCondLst>
                            <p:childTnLst>
                              <p:par>
                                <p:cTn id="82" presetID="22" presetClass="entr" presetSubtype="8" fill="hold" grpId="0" nodeType="afterEffect">
                                  <p:stCondLst>
                                    <p:cond delay="0"/>
                                  </p:stCondLst>
                                  <p:childTnLst>
                                    <p:set>
                                      <p:cBhvr>
                                        <p:cTn id="83" dur="1" fill="hold">
                                          <p:stCondLst>
                                            <p:cond delay="0"/>
                                          </p:stCondLst>
                                        </p:cTn>
                                        <p:tgtEl>
                                          <p:spTgt spid="50"/>
                                        </p:tgtEl>
                                        <p:attrNameLst>
                                          <p:attrName>style.visibility</p:attrName>
                                        </p:attrNameLst>
                                      </p:cBhvr>
                                      <p:to>
                                        <p:strVal val="visible"/>
                                      </p:to>
                                    </p:set>
                                    <p:animEffect transition="in" filter="wipe(left)">
                                      <p:cBhvr>
                                        <p:cTn id="84" dur="500"/>
                                        <p:tgtEl>
                                          <p:spTgt spid="50"/>
                                        </p:tgtEl>
                                      </p:cBhvr>
                                    </p:animEffect>
                                  </p:childTnLst>
                                </p:cTn>
                              </p:par>
                            </p:childTnLst>
                          </p:cTn>
                        </p:par>
                        <p:par>
                          <p:cTn id="85" fill="hold">
                            <p:stCondLst>
                              <p:cond delay="3500"/>
                            </p:stCondLst>
                            <p:childTnLst>
                              <p:par>
                                <p:cTn id="86" presetID="22" presetClass="entr" presetSubtype="8" fill="hold" grpId="0" nodeType="afterEffect">
                                  <p:stCondLst>
                                    <p:cond delay="0"/>
                                  </p:stCondLst>
                                  <p:childTnLst>
                                    <p:set>
                                      <p:cBhvr>
                                        <p:cTn id="87" dur="1" fill="hold">
                                          <p:stCondLst>
                                            <p:cond delay="0"/>
                                          </p:stCondLst>
                                        </p:cTn>
                                        <p:tgtEl>
                                          <p:spTgt spid="51"/>
                                        </p:tgtEl>
                                        <p:attrNameLst>
                                          <p:attrName>style.visibility</p:attrName>
                                        </p:attrNameLst>
                                      </p:cBhvr>
                                      <p:to>
                                        <p:strVal val="visible"/>
                                      </p:to>
                                    </p:set>
                                    <p:animEffect transition="in" filter="wipe(left)">
                                      <p:cBhvr>
                                        <p:cTn id="88" dur="500"/>
                                        <p:tgtEl>
                                          <p:spTgt spid="51"/>
                                        </p:tgtEl>
                                      </p:cBhvr>
                                    </p:animEffect>
                                  </p:childTnLst>
                                </p:cTn>
                              </p:par>
                            </p:childTnLst>
                          </p:cTn>
                        </p:par>
                        <p:par>
                          <p:cTn id="89" fill="hold">
                            <p:stCondLst>
                              <p:cond delay="4000"/>
                            </p:stCondLst>
                            <p:childTnLst>
                              <p:par>
                                <p:cTn id="90" presetID="22" presetClass="entr" presetSubtype="8" fill="hold" grpId="0" nodeType="afterEffect">
                                  <p:stCondLst>
                                    <p:cond delay="0"/>
                                  </p:stCondLst>
                                  <p:childTnLst>
                                    <p:set>
                                      <p:cBhvr>
                                        <p:cTn id="91" dur="1" fill="hold">
                                          <p:stCondLst>
                                            <p:cond delay="0"/>
                                          </p:stCondLst>
                                        </p:cTn>
                                        <p:tgtEl>
                                          <p:spTgt spid="52"/>
                                        </p:tgtEl>
                                        <p:attrNameLst>
                                          <p:attrName>style.visibility</p:attrName>
                                        </p:attrNameLst>
                                      </p:cBhvr>
                                      <p:to>
                                        <p:strVal val="visible"/>
                                      </p:to>
                                    </p:set>
                                    <p:animEffect transition="in" filter="wipe(left)">
                                      <p:cBhvr>
                                        <p:cTn id="92" dur="500"/>
                                        <p:tgtEl>
                                          <p:spTgt spid="52"/>
                                        </p:tgtEl>
                                      </p:cBhvr>
                                    </p:animEffect>
                                  </p:childTnLst>
                                </p:cTn>
                              </p:par>
                            </p:childTnLst>
                          </p:cTn>
                        </p:par>
                        <p:par>
                          <p:cTn id="93" fill="hold">
                            <p:stCondLst>
                              <p:cond delay="4500"/>
                            </p:stCondLst>
                            <p:childTnLst>
                              <p:par>
                                <p:cTn id="94" presetID="22" presetClass="entr" presetSubtype="8" fill="hold" grpId="0" nodeType="afterEffect">
                                  <p:stCondLst>
                                    <p:cond delay="0"/>
                                  </p:stCondLst>
                                  <p:childTnLst>
                                    <p:set>
                                      <p:cBhvr>
                                        <p:cTn id="95" dur="1" fill="hold">
                                          <p:stCondLst>
                                            <p:cond delay="0"/>
                                          </p:stCondLst>
                                        </p:cTn>
                                        <p:tgtEl>
                                          <p:spTgt spid="53"/>
                                        </p:tgtEl>
                                        <p:attrNameLst>
                                          <p:attrName>style.visibility</p:attrName>
                                        </p:attrNameLst>
                                      </p:cBhvr>
                                      <p:to>
                                        <p:strVal val="visible"/>
                                      </p:to>
                                    </p:set>
                                    <p:animEffect transition="in" filter="wipe(left)">
                                      <p:cBhvr>
                                        <p:cTn id="96" dur="500"/>
                                        <p:tgtEl>
                                          <p:spTgt spid="53"/>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62"/>
                                        </p:tgtEl>
                                        <p:attrNameLst>
                                          <p:attrName>style.visibility</p:attrName>
                                        </p:attrNameLst>
                                      </p:cBhvr>
                                      <p:to>
                                        <p:strVal val="visible"/>
                                      </p:to>
                                    </p:set>
                                    <p:animEffect transition="in" filter="wipe(left)">
                                      <p:cBhvr>
                                        <p:cTn id="101"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31" grpId="0"/>
      <p:bldP spid="32" grpId="0"/>
      <p:bldP spid="33" grpId="0"/>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7" grpId="0"/>
      <p:bldP spid="58" grpId="0"/>
      <p:bldP spid="6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500063" y="571500"/>
            <a:ext cx="8358187" cy="1200150"/>
          </a:xfrm>
          <a:prstGeom prst="rect">
            <a:avLst/>
          </a:prstGeom>
          <a:noFill/>
          <a:ln w="57150" cap="sq">
            <a:noFill/>
            <a:miter lim="800000"/>
            <a:headEnd type="none" w="sm" len="sm"/>
            <a:tailEnd type="none" w="sm" len="sm"/>
          </a:ln>
        </p:spPr>
        <p:txBody>
          <a:bodyPr>
            <a:spAutoFit/>
          </a:bodyPr>
          <a:lstStyle/>
          <a:p>
            <a:pPr>
              <a:lnSpc>
                <a:spcPct val="150000"/>
              </a:lnSpc>
            </a:pPr>
            <a:r>
              <a:rPr kumimoji="1" lang="zh-CN" altLang="en-US" b="1">
                <a:solidFill>
                  <a:srgbClr val="FF0000"/>
                </a:solidFill>
                <a:latin typeface="宋体" panose="02010600030101010101" pitchFamily="2" charset="-122"/>
              </a:rPr>
              <a:t>判断标准：</a:t>
            </a:r>
            <a:endParaRPr kumimoji="1" lang="en-US" altLang="zh-CN" b="1">
              <a:solidFill>
                <a:srgbClr val="FF0000"/>
              </a:solidFill>
              <a:latin typeface="宋体" panose="02010600030101010101" pitchFamily="2" charset="-122"/>
            </a:endParaRPr>
          </a:p>
          <a:p>
            <a:pPr>
              <a:lnSpc>
                <a:spcPct val="150000"/>
              </a:lnSpc>
            </a:pPr>
            <a:r>
              <a:rPr kumimoji="1" lang="en-US" altLang="zh-CN" b="1">
                <a:latin typeface="宋体" panose="02010600030101010101" pitchFamily="2" charset="-122"/>
              </a:rPr>
              <a:t>    </a:t>
            </a:r>
            <a:r>
              <a:rPr kumimoji="1" lang="zh-CN" altLang="en-US" b="1">
                <a:latin typeface="宋体" panose="02010600030101010101" pitchFamily="2" charset="-122"/>
              </a:rPr>
              <a:t>过程进行时间 </a:t>
            </a:r>
            <a:r>
              <a:rPr kumimoji="1" lang="en-US" altLang="zh-CN" b="1">
                <a:solidFill>
                  <a:srgbClr val="FF0000"/>
                </a:solidFill>
              </a:rPr>
              <a:t>Δ</a:t>
            </a:r>
            <a:r>
              <a:rPr kumimoji="1" lang="en-US" altLang="zh-CN" b="1" i="1">
                <a:solidFill>
                  <a:srgbClr val="FF0000"/>
                </a:solidFill>
              </a:rPr>
              <a:t>t  </a:t>
            </a:r>
            <a:r>
              <a:rPr kumimoji="1" lang="en-US" altLang="zh-CN" b="1">
                <a:solidFill>
                  <a:srgbClr val="FF0000"/>
                </a:solidFill>
              </a:rPr>
              <a:t>&gt;&gt;</a:t>
            </a:r>
            <a:r>
              <a:rPr kumimoji="1" lang="zh-CN" altLang="en-US" b="1">
                <a:solidFill>
                  <a:srgbClr val="FF0000"/>
                </a:solidFill>
                <a:latin typeface="宋体" panose="02010600030101010101" pitchFamily="2" charset="-122"/>
              </a:rPr>
              <a:t>弛豫时间</a:t>
            </a:r>
            <a:r>
              <a:rPr kumimoji="1" lang="en-US" altLang="zh-CN" b="1" i="1">
                <a:solidFill>
                  <a:srgbClr val="FF0000"/>
                </a:solidFill>
                <a:sym typeface="Symbol" panose="05050102010706020507" pitchFamily="18" charset="2"/>
              </a:rPr>
              <a:t>τ</a:t>
            </a:r>
            <a:r>
              <a:rPr kumimoji="1" lang="zh-CN" altLang="en-US" b="1">
                <a:sym typeface="Symbol" panose="05050102010706020507" pitchFamily="18" charset="2"/>
              </a:rPr>
              <a:t>时，可看作准静态过程。</a:t>
            </a:r>
            <a:endParaRPr kumimoji="1" lang="en-US" altLang="zh-CN" b="1"/>
          </a:p>
        </p:txBody>
      </p:sp>
      <p:sp>
        <p:nvSpPr>
          <p:cNvPr id="3" name="Text Box 3"/>
          <p:cNvSpPr txBox="1">
            <a:spLocks noChangeArrowheads="1"/>
          </p:cNvSpPr>
          <p:nvPr/>
        </p:nvSpPr>
        <p:spPr bwMode="auto">
          <a:xfrm>
            <a:off x="428625" y="1701800"/>
            <a:ext cx="3889375" cy="457200"/>
          </a:xfrm>
          <a:prstGeom prst="rect">
            <a:avLst/>
          </a:prstGeom>
          <a:noFill/>
          <a:ln w="12700" cap="sq">
            <a:noFill/>
            <a:miter lim="800000"/>
            <a:headEnd type="none" w="sm" len="sm"/>
            <a:tailEnd type="none" w="sm" len="sm"/>
          </a:ln>
        </p:spPr>
        <p:txBody>
          <a:bodyPr>
            <a:spAutoFit/>
          </a:bodyPr>
          <a:lstStyle/>
          <a:p>
            <a:r>
              <a:rPr kumimoji="1" lang="zh-CN" altLang="en-US" b="1">
                <a:solidFill>
                  <a:srgbClr val="0000FF"/>
                </a:solidFill>
                <a:latin typeface="宋体" panose="02010600030101010101" pitchFamily="2" charset="-122"/>
              </a:rPr>
              <a:t>例如，实际汽缸的压缩过程</a:t>
            </a:r>
            <a:endParaRPr kumimoji="1" lang="zh-CN" altLang="en-US" b="1">
              <a:solidFill>
                <a:srgbClr val="0000FF"/>
              </a:solidFill>
              <a:latin typeface="宋体" panose="02010600030101010101" pitchFamily="2" charset="-122"/>
            </a:endParaRPr>
          </a:p>
        </p:txBody>
      </p:sp>
      <p:sp>
        <p:nvSpPr>
          <p:cNvPr id="18" name="Text Box 27"/>
          <p:cNvSpPr txBox="1">
            <a:spLocks noChangeArrowheads="1"/>
          </p:cNvSpPr>
          <p:nvPr/>
        </p:nvSpPr>
        <p:spPr bwMode="auto">
          <a:xfrm>
            <a:off x="4714875" y="2282825"/>
            <a:ext cx="4000500" cy="512763"/>
          </a:xfrm>
          <a:prstGeom prst="rect">
            <a:avLst/>
          </a:prstGeom>
          <a:noFill/>
          <a:ln w="12700" cap="sq">
            <a:noFill/>
            <a:miter lim="800000"/>
            <a:headEnd type="none" w="sm" len="sm"/>
            <a:tailEnd type="none" w="sm" len="sm"/>
          </a:ln>
        </p:spPr>
        <p:txBody>
          <a:bodyPr>
            <a:spAutoFit/>
          </a:bodyPr>
          <a:lstStyle/>
          <a:p>
            <a:pPr>
              <a:lnSpc>
                <a:spcPct val="115000"/>
              </a:lnSpc>
              <a:defRPr/>
            </a:pPr>
            <a:r>
              <a:rPr kumimoji="1" lang="zh-CN" altLang="en-US" b="1" dirty="0">
                <a:latin typeface="+mn-ea"/>
                <a:ea typeface="+mn-ea"/>
              </a:rPr>
              <a:t>该过程可看作</a:t>
            </a:r>
            <a:r>
              <a:rPr kumimoji="1" lang="zh-CN" altLang="en-US" b="1" dirty="0">
                <a:solidFill>
                  <a:srgbClr val="FF6600"/>
                </a:solidFill>
                <a:latin typeface="+mn-ea"/>
                <a:ea typeface="+mn-ea"/>
              </a:rPr>
              <a:t>准静态过程</a:t>
            </a:r>
            <a:r>
              <a:rPr kumimoji="1" lang="zh-CN" altLang="en-US" dirty="0">
                <a:latin typeface="+mn-ea"/>
                <a:ea typeface="+mn-ea"/>
              </a:rPr>
              <a:t> </a:t>
            </a:r>
            <a:endParaRPr kumimoji="1" lang="zh-CN" altLang="en-US" b="1" dirty="0">
              <a:latin typeface="+mn-ea"/>
              <a:ea typeface="+mn-ea"/>
            </a:endParaRPr>
          </a:p>
        </p:txBody>
      </p:sp>
      <p:grpSp>
        <p:nvGrpSpPr>
          <p:cNvPr id="4" name="Group 28"/>
          <p:cNvGrpSpPr/>
          <p:nvPr/>
        </p:nvGrpSpPr>
        <p:grpSpPr bwMode="auto">
          <a:xfrm>
            <a:off x="2500313" y="3000375"/>
            <a:ext cx="2857500" cy="1071563"/>
            <a:chOff x="901" y="1802"/>
            <a:chExt cx="1689" cy="576"/>
          </a:xfrm>
        </p:grpSpPr>
        <p:grpSp>
          <p:nvGrpSpPr>
            <p:cNvPr id="87052" name="Group 29"/>
            <p:cNvGrpSpPr/>
            <p:nvPr/>
          </p:nvGrpSpPr>
          <p:grpSpPr bwMode="auto">
            <a:xfrm>
              <a:off x="901" y="1802"/>
              <a:ext cx="1689" cy="576"/>
              <a:chOff x="1409" y="2104"/>
              <a:chExt cx="1536" cy="576"/>
            </a:xfrm>
          </p:grpSpPr>
          <p:sp>
            <p:nvSpPr>
              <p:cNvPr id="87076" name="Line 30"/>
              <p:cNvSpPr>
                <a:spLocks noChangeShapeType="1"/>
              </p:cNvSpPr>
              <p:nvPr/>
            </p:nvSpPr>
            <p:spPr bwMode="auto">
              <a:xfrm>
                <a:off x="1457" y="2104"/>
                <a:ext cx="1488" cy="0"/>
              </a:xfrm>
              <a:prstGeom prst="line">
                <a:avLst/>
              </a:prstGeom>
              <a:noFill/>
              <a:ln w="127000" cap="sq">
                <a:pattFill prst="wdUpDiag">
                  <a:fgClr>
                    <a:schemeClr val="accent1"/>
                  </a:fgClr>
                  <a:bgClr>
                    <a:schemeClr val="hlink"/>
                  </a:bgClr>
                </a:pattFill>
                <a:miter lim="800000"/>
                <a:headEnd type="none" w="sm" len="sm"/>
                <a:tailEnd type="none" w="sm" len="sm"/>
              </a:ln>
            </p:spPr>
            <p:txBody>
              <a:bodyPr wrap="none"/>
              <a:lstStyle/>
              <a:p>
                <a:endParaRPr lang="zh-CN" altLang="en-US"/>
              </a:p>
            </p:txBody>
          </p:sp>
          <p:sp>
            <p:nvSpPr>
              <p:cNvPr id="87077" name="Line 31"/>
              <p:cNvSpPr>
                <a:spLocks noChangeShapeType="1"/>
              </p:cNvSpPr>
              <p:nvPr/>
            </p:nvSpPr>
            <p:spPr bwMode="auto">
              <a:xfrm>
                <a:off x="1457" y="2680"/>
                <a:ext cx="1488" cy="0"/>
              </a:xfrm>
              <a:prstGeom prst="line">
                <a:avLst/>
              </a:prstGeom>
              <a:noFill/>
              <a:ln w="127000" cap="sq">
                <a:pattFill prst="wdUpDiag">
                  <a:fgClr>
                    <a:schemeClr val="accent1"/>
                  </a:fgClr>
                  <a:bgClr>
                    <a:schemeClr val="hlink"/>
                  </a:bgClr>
                </a:pattFill>
                <a:miter lim="800000"/>
                <a:headEnd type="none" w="sm" len="sm"/>
                <a:tailEnd type="none" w="sm" len="sm"/>
              </a:ln>
            </p:spPr>
            <p:txBody>
              <a:bodyPr wrap="none"/>
              <a:lstStyle/>
              <a:p>
                <a:endParaRPr lang="zh-CN" altLang="en-US"/>
              </a:p>
            </p:txBody>
          </p:sp>
          <p:sp>
            <p:nvSpPr>
              <p:cNvPr id="87078" name="Line 32"/>
              <p:cNvSpPr>
                <a:spLocks noChangeShapeType="1"/>
              </p:cNvSpPr>
              <p:nvPr/>
            </p:nvSpPr>
            <p:spPr bwMode="auto">
              <a:xfrm>
                <a:off x="1409" y="2104"/>
                <a:ext cx="0" cy="576"/>
              </a:xfrm>
              <a:prstGeom prst="line">
                <a:avLst/>
              </a:prstGeom>
              <a:noFill/>
              <a:ln w="127000" cap="sq">
                <a:pattFill prst="wdUpDiag">
                  <a:fgClr>
                    <a:schemeClr val="accent1"/>
                  </a:fgClr>
                  <a:bgClr>
                    <a:schemeClr val="hlink"/>
                  </a:bgClr>
                </a:pattFill>
                <a:miter lim="800000"/>
                <a:headEnd type="none" w="sm" len="sm"/>
                <a:tailEnd type="none" w="sm" len="sm"/>
              </a:ln>
            </p:spPr>
            <p:txBody>
              <a:bodyPr wrap="none"/>
              <a:lstStyle/>
              <a:p>
                <a:endParaRPr lang="zh-CN" altLang="en-US"/>
              </a:p>
            </p:txBody>
          </p:sp>
        </p:grpSp>
        <p:grpSp>
          <p:nvGrpSpPr>
            <p:cNvPr id="87053" name="Group 33"/>
            <p:cNvGrpSpPr/>
            <p:nvPr/>
          </p:nvGrpSpPr>
          <p:grpSpPr bwMode="auto">
            <a:xfrm>
              <a:off x="1677" y="1850"/>
              <a:ext cx="672" cy="480"/>
              <a:chOff x="2225" y="2152"/>
              <a:chExt cx="672" cy="480"/>
            </a:xfrm>
          </p:grpSpPr>
          <p:grpSp>
            <p:nvGrpSpPr>
              <p:cNvPr id="87072" name="Group 34"/>
              <p:cNvGrpSpPr/>
              <p:nvPr/>
            </p:nvGrpSpPr>
            <p:grpSpPr bwMode="auto">
              <a:xfrm>
                <a:off x="2225" y="2152"/>
                <a:ext cx="672" cy="480"/>
                <a:chOff x="4224" y="1536"/>
                <a:chExt cx="672" cy="480"/>
              </a:xfrm>
            </p:grpSpPr>
            <p:sp>
              <p:nvSpPr>
                <p:cNvPr id="42" name="Rectangle 35"/>
                <p:cNvSpPr>
                  <a:spLocks noChangeArrowheads="1"/>
                </p:cNvSpPr>
                <p:nvPr/>
              </p:nvSpPr>
              <p:spPr bwMode="auto">
                <a:xfrm>
                  <a:off x="4224" y="1536"/>
                  <a:ext cx="192" cy="48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cap="sq">
                  <a:noFill/>
                  <a:miter lim="800000"/>
                  <a:headEnd type="none" w="sm" len="sm"/>
                  <a:tailEnd type="none" w="sm" len="sm"/>
                </a:ln>
                <a:effectLst/>
              </p:spPr>
              <p:txBody>
                <a:bodyPr wrap="none" anchor="ctr"/>
                <a:lstStyle/>
                <a:p>
                  <a:pPr algn="ctr">
                    <a:defRPr/>
                  </a:pPr>
                  <a:endParaRPr lang="zh-CN" altLang="en-US"/>
                </a:p>
              </p:txBody>
            </p:sp>
            <p:sp>
              <p:nvSpPr>
                <p:cNvPr id="87075" name="Line 36"/>
                <p:cNvSpPr>
                  <a:spLocks noChangeShapeType="1"/>
                </p:cNvSpPr>
                <p:nvPr/>
              </p:nvSpPr>
              <p:spPr bwMode="auto">
                <a:xfrm>
                  <a:off x="4464" y="1776"/>
                  <a:ext cx="432" cy="0"/>
                </a:xfrm>
                <a:prstGeom prst="line">
                  <a:avLst/>
                </a:prstGeom>
                <a:noFill/>
                <a:ln w="101600" cap="sq">
                  <a:solidFill>
                    <a:srgbClr val="009999"/>
                  </a:solidFill>
                  <a:miter lim="800000"/>
                  <a:headEnd type="none" w="sm" len="sm"/>
                  <a:tailEnd type="none" w="sm" len="sm"/>
                </a:ln>
              </p:spPr>
              <p:txBody>
                <a:bodyPr wrap="none"/>
                <a:lstStyle/>
                <a:p>
                  <a:endParaRPr lang="zh-CN" altLang="en-US"/>
                </a:p>
              </p:txBody>
            </p:sp>
          </p:grpSp>
          <p:sp>
            <p:nvSpPr>
              <p:cNvPr id="87073" name="Text Box 37"/>
              <p:cNvSpPr txBox="1">
                <a:spLocks noChangeArrowheads="1"/>
              </p:cNvSpPr>
              <p:nvPr/>
            </p:nvSpPr>
            <p:spPr bwMode="auto">
              <a:xfrm>
                <a:off x="2225" y="2172"/>
                <a:ext cx="223" cy="323"/>
              </a:xfrm>
              <a:prstGeom prst="rect">
                <a:avLst/>
              </a:prstGeom>
              <a:noFill/>
              <a:ln w="12700" cap="sq">
                <a:noFill/>
                <a:miter lim="800000"/>
                <a:headEnd type="none" w="sm" len="sm"/>
                <a:tailEnd type="none" w="sm" len="sm"/>
              </a:ln>
            </p:spPr>
            <p:txBody>
              <a:bodyPr wrap="none">
                <a:spAutoFit/>
              </a:bodyPr>
              <a:lstStyle/>
              <a:p>
                <a:pPr>
                  <a:lnSpc>
                    <a:spcPct val="115000"/>
                  </a:lnSpc>
                </a:pPr>
                <a:r>
                  <a:rPr kumimoji="1" lang="en-US" altLang="zh-CN" b="1">
                    <a:solidFill>
                      <a:schemeClr val="bg1"/>
                    </a:solidFill>
                  </a:rPr>
                  <a:t>S</a:t>
                </a:r>
                <a:endParaRPr kumimoji="1" lang="en-US" altLang="zh-CN" b="1">
                  <a:solidFill>
                    <a:schemeClr val="bg1"/>
                  </a:solidFill>
                </a:endParaRPr>
              </a:p>
            </p:txBody>
          </p:sp>
        </p:grpSp>
        <p:grpSp>
          <p:nvGrpSpPr>
            <p:cNvPr id="87054" name="Group 38"/>
            <p:cNvGrpSpPr/>
            <p:nvPr/>
          </p:nvGrpSpPr>
          <p:grpSpPr bwMode="auto">
            <a:xfrm>
              <a:off x="954" y="1865"/>
              <a:ext cx="723" cy="408"/>
              <a:chOff x="1955" y="1933"/>
              <a:chExt cx="723" cy="408"/>
            </a:xfrm>
          </p:grpSpPr>
          <p:sp>
            <p:nvSpPr>
              <p:cNvPr id="87055" name="Oval 39"/>
              <p:cNvSpPr>
                <a:spLocks noChangeArrowheads="1"/>
              </p:cNvSpPr>
              <p:nvPr/>
            </p:nvSpPr>
            <p:spPr bwMode="auto">
              <a:xfrm>
                <a:off x="1955" y="1952"/>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56" name="Oval 40"/>
              <p:cNvSpPr>
                <a:spLocks noChangeArrowheads="1"/>
              </p:cNvSpPr>
              <p:nvPr/>
            </p:nvSpPr>
            <p:spPr bwMode="auto">
              <a:xfrm>
                <a:off x="2051" y="2048"/>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57" name="Oval 41"/>
              <p:cNvSpPr>
                <a:spLocks noChangeArrowheads="1"/>
              </p:cNvSpPr>
              <p:nvPr/>
            </p:nvSpPr>
            <p:spPr bwMode="auto">
              <a:xfrm>
                <a:off x="2435" y="2048"/>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58" name="Oval 42"/>
              <p:cNvSpPr>
                <a:spLocks noChangeArrowheads="1"/>
              </p:cNvSpPr>
              <p:nvPr/>
            </p:nvSpPr>
            <p:spPr bwMode="auto">
              <a:xfrm>
                <a:off x="2243" y="2240"/>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59" name="Oval 43"/>
              <p:cNvSpPr>
                <a:spLocks noChangeArrowheads="1"/>
              </p:cNvSpPr>
              <p:nvPr/>
            </p:nvSpPr>
            <p:spPr bwMode="auto">
              <a:xfrm>
                <a:off x="2371" y="2163"/>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0" name="Oval 44"/>
              <p:cNvSpPr>
                <a:spLocks noChangeArrowheads="1"/>
              </p:cNvSpPr>
              <p:nvPr/>
            </p:nvSpPr>
            <p:spPr bwMode="auto">
              <a:xfrm>
                <a:off x="2467" y="1952"/>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1" name="Oval 45"/>
              <p:cNvSpPr>
                <a:spLocks noChangeArrowheads="1"/>
              </p:cNvSpPr>
              <p:nvPr/>
            </p:nvSpPr>
            <p:spPr bwMode="auto">
              <a:xfrm>
                <a:off x="2371" y="2014"/>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2" name="Oval 46"/>
              <p:cNvSpPr>
                <a:spLocks noChangeArrowheads="1"/>
              </p:cNvSpPr>
              <p:nvPr/>
            </p:nvSpPr>
            <p:spPr bwMode="auto">
              <a:xfrm>
                <a:off x="2211" y="1949"/>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3" name="Oval 47"/>
              <p:cNvSpPr>
                <a:spLocks noChangeArrowheads="1"/>
              </p:cNvSpPr>
              <p:nvPr/>
            </p:nvSpPr>
            <p:spPr bwMode="auto">
              <a:xfrm>
                <a:off x="2595" y="2157"/>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4" name="Oval 48"/>
              <p:cNvSpPr>
                <a:spLocks noChangeArrowheads="1"/>
              </p:cNvSpPr>
              <p:nvPr/>
            </p:nvSpPr>
            <p:spPr bwMode="auto">
              <a:xfrm>
                <a:off x="2538" y="2093"/>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5" name="Oval 49"/>
              <p:cNvSpPr>
                <a:spLocks noChangeArrowheads="1"/>
              </p:cNvSpPr>
              <p:nvPr/>
            </p:nvSpPr>
            <p:spPr bwMode="auto">
              <a:xfrm>
                <a:off x="2243" y="2093"/>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6" name="Oval 50"/>
              <p:cNvSpPr>
                <a:spLocks noChangeArrowheads="1"/>
              </p:cNvSpPr>
              <p:nvPr/>
            </p:nvSpPr>
            <p:spPr bwMode="auto">
              <a:xfrm>
                <a:off x="2019" y="2240"/>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7" name="Oval 51"/>
              <p:cNvSpPr>
                <a:spLocks noChangeArrowheads="1"/>
              </p:cNvSpPr>
              <p:nvPr/>
            </p:nvSpPr>
            <p:spPr bwMode="auto">
              <a:xfrm>
                <a:off x="2614" y="2014"/>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8" name="Oval 52"/>
              <p:cNvSpPr>
                <a:spLocks noChangeArrowheads="1"/>
              </p:cNvSpPr>
              <p:nvPr/>
            </p:nvSpPr>
            <p:spPr bwMode="auto">
              <a:xfrm>
                <a:off x="2538" y="2260"/>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69" name="Oval 53"/>
              <p:cNvSpPr>
                <a:spLocks noChangeArrowheads="1"/>
              </p:cNvSpPr>
              <p:nvPr/>
            </p:nvSpPr>
            <p:spPr bwMode="auto">
              <a:xfrm>
                <a:off x="2435" y="2260"/>
                <a:ext cx="64" cy="65"/>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70" name="Oval 54"/>
              <p:cNvSpPr>
                <a:spLocks noChangeArrowheads="1"/>
              </p:cNvSpPr>
              <p:nvPr/>
            </p:nvSpPr>
            <p:spPr bwMode="auto">
              <a:xfrm>
                <a:off x="2614" y="2308"/>
                <a:ext cx="64" cy="33"/>
              </a:xfrm>
              <a:prstGeom prst="ellipse">
                <a:avLst/>
              </a:prstGeom>
              <a:solidFill>
                <a:schemeClr val="tx1"/>
              </a:solidFill>
              <a:ln w="3175">
                <a:solidFill>
                  <a:schemeClr val="bg2"/>
                </a:solidFill>
                <a:round/>
              </a:ln>
            </p:spPr>
            <p:txBody>
              <a:bodyPr wrap="none" anchor="ctr"/>
              <a:lstStyle/>
              <a:p>
                <a:pPr algn="ctr"/>
                <a:endParaRPr lang="zh-CN" altLang="en-US"/>
              </a:p>
            </p:txBody>
          </p:sp>
          <p:sp>
            <p:nvSpPr>
              <p:cNvPr id="87071" name="Oval 55"/>
              <p:cNvSpPr>
                <a:spLocks noChangeArrowheads="1"/>
              </p:cNvSpPr>
              <p:nvPr/>
            </p:nvSpPr>
            <p:spPr bwMode="auto">
              <a:xfrm>
                <a:off x="2589" y="1933"/>
                <a:ext cx="64" cy="65"/>
              </a:xfrm>
              <a:prstGeom prst="ellipse">
                <a:avLst/>
              </a:prstGeom>
              <a:solidFill>
                <a:schemeClr val="tx1"/>
              </a:solidFill>
              <a:ln w="3175">
                <a:solidFill>
                  <a:schemeClr val="bg2"/>
                </a:solidFill>
                <a:round/>
              </a:ln>
            </p:spPr>
            <p:txBody>
              <a:bodyPr wrap="none" anchor="ctr"/>
              <a:lstStyle/>
              <a:p>
                <a:pPr algn="ctr"/>
                <a:endParaRPr lang="zh-CN" altLang="en-US"/>
              </a:p>
            </p:txBody>
          </p:sp>
        </p:grpSp>
      </p:grpSp>
      <p:grpSp>
        <p:nvGrpSpPr>
          <p:cNvPr id="9" name="组合 35"/>
          <p:cNvGrpSpPr/>
          <p:nvPr/>
        </p:nvGrpSpPr>
        <p:grpSpPr bwMode="auto">
          <a:xfrm>
            <a:off x="1000125" y="2278063"/>
            <a:ext cx="4035425" cy="465137"/>
            <a:chOff x="1000100" y="2278407"/>
            <a:chExt cx="4036141" cy="464785"/>
          </a:xfrm>
        </p:grpSpPr>
        <p:sp>
          <p:nvSpPr>
            <p:cNvPr id="87050" name="Rectangle 6"/>
            <p:cNvSpPr>
              <a:spLocks noChangeArrowheads="1"/>
            </p:cNvSpPr>
            <p:nvPr/>
          </p:nvSpPr>
          <p:spPr bwMode="auto">
            <a:xfrm>
              <a:off x="2443853" y="2285992"/>
              <a:ext cx="2592388" cy="457200"/>
            </a:xfrm>
            <a:prstGeom prst="rect">
              <a:avLst/>
            </a:prstGeom>
            <a:noFill/>
            <a:ln w="9525">
              <a:noFill/>
              <a:miter lim="800000"/>
            </a:ln>
          </p:spPr>
          <p:txBody>
            <a:bodyPr>
              <a:spAutoFit/>
            </a:bodyPr>
            <a:lstStyle/>
            <a:p>
              <a:r>
                <a:rPr kumimoji="1" lang="en-US" altLang="zh-CN" b="1" i="1">
                  <a:solidFill>
                    <a:srgbClr val="FF6600"/>
                  </a:solidFill>
                  <a:ea typeface="楷体_GB2312" pitchFamily="49" charset="-122"/>
                  <a:sym typeface="Symbol" panose="05050102010706020507" pitchFamily="18" charset="2"/>
                </a:rPr>
                <a:t>τ = </a:t>
              </a:r>
              <a:r>
                <a:rPr kumimoji="1" lang="en-US" altLang="zh-CN" b="1">
                  <a:solidFill>
                    <a:srgbClr val="FF6600"/>
                  </a:solidFill>
                  <a:ea typeface="楷体_GB2312" pitchFamily="49" charset="-122"/>
                  <a:sym typeface="Symbol" panose="05050102010706020507" pitchFamily="18" charset="2"/>
                </a:rPr>
                <a:t>10</a:t>
              </a:r>
              <a:r>
                <a:rPr kumimoji="1" lang="en-US" altLang="zh-CN" b="1" i="1">
                  <a:solidFill>
                    <a:srgbClr val="FF6600"/>
                  </a:solidFill>
                  <a:ea typeface="楷体_GB2312" pitchFamily="49" charset="-122"/>
                  <a:sym typeface="Symbol" panose="05050102010706020507" pitchFamily="18" charset="2"/>
                </a:rPr>
                <a:t> </a:t>
              </a:r>
              <a:r>
                <a:rPr kumimoji="1" lang="en-US" altLang="zh-CN" b="1" i="1" baseline="30000">
                  <a:solidFill>
                    <a:srgbClr val="FF6600"/>
                  </a:solidFill>
                  <a:ea typeface="楷体_GB2312" pitchFamily="49" charset="-122"/>
                  <a:sym typeface="Symbol" panose="05050102010706020507" pitchFamily="18" charset="2"/>
                </a:rPr>
                <a:t>-</a:t>
              </a:r>
              <a:r>
                <a:rPr kumimoji="1" lang="en-US" altLang="zh-CN" b="1" baseline="30000">
                  <a:solidFill>
                    <a:srgbClr val="FF6600"/>
                  </a:solidFill>
                  <a:ea typeface="楷体_GB2312" pitchFamily="49" charset="-122"/>
                  <a:sym typeface="Symbol" panose="05050102010706020507" pitchFamily="18" charset="2"/>
                </a:rPr>
                <a:t>3 </a:t>
              </a:r>
              <a:r>
                <a:rPr kumimoji="1" lang="en-US" altLang="zh-CN" b="1">
                  <a:solidFill>
                    <a:srgbClr val="FF6600"/>
                  </a:solidFill>
                  <a:ea typeface="楷体_GB2312" pitchFamily="49" charset="-122"/>
                  <a:sym typeface="Symbol" panose="05050102010706020507" pitchFamily="18" charset="2"/>
                </a:rPr>
                <a:t>~ 10 </a:t>
              </a:r>
              <a:r>
                <a:rPr kumimoji="1" lang="en-US" altLang="zh-CN" b="1" baseline="30000">
                  <a:solidFill>
                    <a:srgbClr val="FF6600"/>
                  </a:solidFill>
                  <a:ea typeface="楷体_GB2312" pitchFamily="49" charset="-122"/>
                  <a:sym typeface="Symbol" panose="05050102010706020507" pitchFamily="18" charset="2"/>
                </a:rPr>
                <a:t>-2</a:t>
              </a:r>
              <a:r>
                <a:rPr kumimoji="1" lang="en-US" altLang="zh-CN" b="1">
                  <a:solidFill>
                    <a:srgbClr val="FF6600"/>
                  </a:solidFill>
                  <a:ea typeface="楷体_GB2312" pitchFamily="49" charset="-122"/>
                  <a:sym typeface="Symbol" panose="05050102010706020507" pitchFamily="18" charset="2"/>
                </a:rPr>
                <a:t>s</a:t>
              </a:r>
              <a:endParaRPr kumimoji="1" lang="en-US" altLang="zh-CN" b="1">
                <a:solidFill>
                  <a:srgbClr val="FF6600"/>
                </a:solidFill>
                <a:ea typeface="楷体_GB2312" pitchFamily="49" charset="-122"/>
                <a:sym typeface="Symbol" panose="05050102010706020507" pitchFamily="18" charset="2"/>
              </a:endParaRPr>
            </a:p>
          </p:txBody>
        </p:sp>
        <p:sp>
          <p:nvSpPr>
            <p:cNvPr id="87051" name="Text Box 3"/>
            <p:cNvSpPr txBox="1">
              <a:spLocks noChangeArrowheads="1"/>
            </p:cNvSpPr>
            <p:nvPr/>
          </p:nvSpPr>
          <p:spPr bwMode="auto">
            <a:xfrm>
              <a:off x="1000100" y="2278407"/>
              <a:ext cx="1857388" cy="457200"/>
            </a:xfrm>
            <a:prstGeom prst="rect">
              <a:avLst/>
            </a:prstGeom>
            <a:noFill/>
            <a:ln w="12700" cap="sq">
              <a:noFill/>
              <a:miter lim="800000"/>
              <a:headEnd type="none" w="sm" len="sm"/>
              <a:tailEnd type="none" w="sm" len="sm"/>
            </a:ln>
          </p:spPr>
          <p:txBody>
            <a:bodyPr>
              <a:spAutoFit/>
            </a:bodyPr>
            <a:lstStyle/>
            <a:p>
              <a:r>
                <a:rPr kumimoji="1" lang="zh-CN" altLang="en-US" b="1">
                  <a:solidFill>
                    <a:srgbClr val="0000FF"/>
                  </a:solidFill>
                  <a:latin typeface="宋体" panose="02010600030101010101" pitchFamily="2" charset="-122"/>
                </a:rPr>
                <a:t>弛豫时间：</a:t>
              </a:r>
              <a:endParaRPr kumimoji="1" lang="zh-CN" altLang="en-US" b="1">
                <a:solidFill>
                  <a:srgbClr val="0000FF"/>
                </a:solidFill>
                <a:latin typeface="宋体" panose="02010600030101010101" pitchFamily="2" charset="-122"/>
              </a:endParaRPr>
            </a:p>
          </p:txBody>
        </p:sp>
      </p:grpSp>
      <p:grpSp>
        <p:nvGrpSpPr>
          <p:cNvPr id="10" name="组合 37"/>
          <p:cNvGrpSpPr/>
          <p:nvPr/>
        </p:nvGrpSpPr>
        <p:grpSpPr bwMode="auto">
          <a:xfrm>
            <a:off x="428625" y="4500563"/>
            <a:ext cx="8286750" cy="1200150"/>
            <a:chOff x="428625" y="4500563"/>
            <a:chExt cx="8286750" cy="1200329"/>
          </a:xfrm>
        </p:grpSpPr>
        <p:sp>
          <p:nvSpPr>
            <p:cNvPr id="13" name="Text Box 60"/>
            <p:cNvSpPr txBox="1">
              <a:spLocks noChangeArrowheads="1"/>
            </p:cNvSpPr>
            <p:nvPr/>
          </p:nvSpPr>
          <p:spPr bwMode="auto">
            <a:xfrm>
              <a:off x="428625" y="4500563"/>
              <a:ext cx="8286750" cy="1200329"/>
            </a:xfrm>
            <a:prstGeom prst="rect">
              <a:avLst/>
            </a:prstGeom>
            <a:noFill/>
            <a:ln w="9525">
              <a:noFill/>
              <a:miter lim="800000"/>
            </a:ln>
          </p:spPr>
          <p:txBody>
            <a:bodyPr>
              <a:spAutoFit/>
            </a:bodyPr>
            <a:lstStyle/>
            <a:p>
              <a:pPr marL="457200" indent="-457200">
                <a:lnSpc>
                  <a:spcPct val="150000"/>
                </a:lnSpc>
                <a:defRPr/>
              </a:pPr>
              <a:r>
                <a:rPr kumimoji="1" lang="zh-CN" altLang="en-US" b="1" dirty="0">
                  <a:latin typeface="+mn-ea"/>
                  <a:ea typeface="+mn-ea"/>
                </a:rPr>
                <a:t>       除一些进行得极快的过程（如爆炸过程）外，</a:t>
              </a:r>
              <a:r>
                <a:rPr lang="zh-CN" altLang="en-US" b="1" dirty="0">
                  <a:latin typeface="+mn-ea"/>
                  <a:ea typeface="+mn-ea"/>
                </a:rPr>
                <a:t>大多数情况下都可以把实际过程看成是准静态过程。 </a:t>
              </a:r>
              <a:endParaRPr lang="zh-CN" altLang="en-US" b="1" dirty="0">
                <a:latin typeface="+mn-ea"/>
                <a:ea typeface="+mn-ea"/>
              </a:endParaRPr>
            </a:p>
          </p:txBody>
        </p:sp>
        <p:sp>
          <p:nvSpPr>
            <p:cNvPr id="87049" name="AutoShape 28"/>
            <p:cNvSpPr>
              <a:spLocks noChangeArrowheads="1"/>
            </p:cNvSpPr>
            <p:nvPr/>
          </p:nvSpPr>
          <p:spPr bwMode="auto">
            <a:xfrm>
              <a:off x="857224" y="4572008"/>
              <a:ext cx="360363"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righ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Text Box 4"/>
          <p:cNvSpPr txBox="1">
            <a:spLocks noChangeArrowheads="1"/>
          </p:cNvSpPr>
          <p:nvPr/>
        </p:nvSpPr>
        <p:spPr bwMode="auto">
          <a:xfrm>
            <a:off x="107950" y="523875"/>
            <a:ext cx="4935538" cy="457200"/>
          </a:xfrm>
          <a:prstGeom prst="rect">
            <a:avLst/>
          </a:prstGeom>
          <a:noFill/>
          <a:ln w="12700" cap="sq">
            <a:noFill/>
            <a:miter lim="800000"/>
            <a:headEnd type="none" w="sm" len="sm"/>
            <a:tailEnd type="none" w="sm" len="sm"/>
          </a:ln>
        </p:spPr>
        <p:txBody>
          <a:bodyPr>
            <a:spAutoFit/>
          </a:bodyPr>
          <a:lstStyle/>
          <a:p>
            <a:pPr>
              <a:defRPr/>
            </a:pPr>
            <a:r>
              <a:rPr kumimoji="1" lang="en-US" altLang="zh-CN" b="1" dirty="0">
                <a:solidFill>
                  <a:srgbClr val="0000FF"/>
                </a:solidFill>
                <a:latin typeface="+mn-ea"/>
                <a:ea typeface="+mn-ea"/>
              </a:rPr>
              <a:t>7.2.2  </a:t>
            </a:r>
            <a:r>
              <a:rPr kumimoji="1" lang="zh-CN" altLang="en-US" b="1" dirty="0">
                <a:solidFill>
                  <a:srgbClr val="0000FF"/>
                </a:solidFill>
                <a:latin typeface="+mn-ea"/>
                <a:ea typeface="+mn-ea"/>
              </a:rPr>
              <a:t>功   热量   内能</a:t>
            </a:r>
            <a:endParaRPr kumimoji="1" lang="zh-CN" altLang="en-US" b="1" dirty="0">
              <a:solidFill>
                <a:srgbClr val="0000FF"/>
              </a:solidFill>
              <a:latin typeface="+mn-ea"/>
              <a:ea typeface="+mn-ea"/>
            </a:endParaRPr>
          </a:p>
        </p:txBody>
      </p:sp>
      <p:sp>
        <p:nvSpPr>
          <p:cNvPr id="25643" name="Text Box 43"/>
          <p:cNvSpPr txBox="1">
            <a:spLocks noChangeArrowheads="1"/>
          </p:cNvSpPr>
          <p:nvPr/>
        </p:nvSpPr>
        <p:spPr bwMode="auto">
          <a:xfrm>
            <a:off x="1508125" y="1195388"/>
            <a:ext cx="6880225" cy="512762"/>
          </a:xfrm>
          <a:prstGeom prst="rect">
            <a:avLst/>
          </a:prstGeom>
          <a:noFill/>
          <a:ln w="76200" cap="sq">
            <a:noFill/>
            <a:miter lim="800000"/>
          </a:ln>
        </p:spPr>
        <p:txBody>
          <a:bodyPr>
            <a:spAutoFit/>
          </a:bodyPr>
          <a:lstStyle/>
          <a:p>
            <a:pPr>
              <a:lnSpc>
                <a:spcPct val="115000"/>
              </a:lnSpc>
              <a:defRPr/>
            </a:pPr>
            <a:r>
              <a:rPr kumimoji="1" lang="zh-CN" altLang="en-US" b="1">
                <a:latin typeface="+mn-ea"/>
                <a:ea typeface="+mn-ea"/>
              </a:rPr>
              <a:t>是能量传递和转化的量度；是</a:t>
            </a:r>
            <a:r>
              <a:rPr kumimoji="1" lang="zh-CN" altLang="en-US" b="1">
                <a:solidFill>
                  <a:srgbClr val="FF6600"/>
                </a:solidFill>
                <a:latin typeface="+mn-ea"/>
                <a:ea typeface="+mn-ea"/>
              </a:rPr>
              <a:t>过程量</a:t>
            </a:r>
            <a:endParaRPr kumimoji="1" lang="zh-CN" altLang="en-US" b="1" i="1" baseline="-25000">
              <a:solidFill>
                <a:srgbClr val="FF6600"/>
              </a:solidFill>
              <a:latin typeface="+mn-ea"/>
              <a:ea typeface="+mn-ea"/>
            </a:endParaRPr>
          </a:p>
        </p:txBody>
      </p:sp>
      <p:sp>
        <p:nvSpPr>
          <p:cNvPr id="25644" name="Text Box 44"/>
          <p:cNvSpPr txBox="1">
            <a:spLocks noChangeArrowheads="1"/>
          </p:cNvSpPr>
          <p:nvPr/>
        </p:nvSpPr>
        <p:spPr bwMode="auto">
          <a:xfrm>
            <a:off x="225425" y="1223963"/>
            <a:ext cx="1385888" cy="512762"/>
          </a:xfrm>
          <a:prstGeom prst="rect">
            <a:avLst/>
          </a:prstGeom>
          <a:noFill/>
          <a:ln w="12700" cap="sq">
            <a:noFill/>
            <a:miter lim="800000"/>
            <a:headEnd type="none" w="sm" len="sm"/>
            <a:tailEnd type="none" w="sm" len="sm"/>
          </a:ln>
        </p:spPr>
        <p:txBody>
          <a:bodyPr>
            <a:spAutoFit/>
          </a:bodyPr>
          <a:lstStyle/>
          <a:p>
            <a:pPr>
              <a:lnSpc>
                <a:spcPct val="115000"/>
              </a:lnSpc>
              <a:defRPr/>
            </a:pPr>
            <a:r>
              <a:rPr kumimoji="1" lang="zh-CN" altLang="en-US" b="1" dirty="0">
                <a:solidFill>
                  <a:srgbClr val="FF0000"/>
                </a:solidFill>
                <a:latin typeface="+mn-ea"/>
                <a:ea typeface="+mn-ea"/>
              </a:rPr>
              <a:t>功 </a:t>
            </a:r>
            <a:r>
              <a:rPr kumimoji="1" lang="en-US" altLang="zh-CN" b="1" dirty="0">
                <a:solidFill>
                  <a:srgbClr val="FF0000"/>
                </a:solidFill>
                <a:ea typeface="+mn-ea"/>
                <a:cs typeface="Times New Roman" panose="02020603050405020304" pitchFamily="18" charset="0"/>
              </a:rPr>
              <a:t>(</a:t>
            </a:r>
            <a:r>
              <a:rPr kumimoji="1" lang="en-US" altLang="zh-CN" b="1" i="1" dirty="0">
                <a:solidFill>
                  <a:srgbClr val="FF0000"/>
                </a:solidFill>
                <a:ea typeface="+mn-ea"/>
                <a:cs typeface="Times New Roman" panose="02020603050405020304" pitchFamily="18" charset="0"/>
              </a:rPr>
              <a:t>W</a:t>
            </a:r>
            <a:r>
              <a:rPr kumimoji="1" lang="en-US" altLang="zh-CN" b="1" dirty="0">
                <a:solidFill>
                  <a:srgbClr val="FF0000"/>
                </a:solidFill>
                <a:ea typeface="+mn-ea"/>
                <a:cs typeface="Times New Roman" panose="02020603050405020304" pitchFamily="18" charset="0"/>
              </a:rPr>
              <a:t>)</a:t>
            </a:r>
            <a:endParaRPr kumimoji="1" lang="en-US" altLang="zh-CN" dirty="0">
              <a:solidFill>
                <a:srgbClr val="FF0000"/>
              </a:solidFill>
              <a:ea typeface="+mn-ea"/>
              <a:cs typeface="Times New Roman" panose="02020603050405020304" pitchFamily="18" charset="0"/>
            </a:endParaRPr>
          </a:p>
        </p:txBody>
      </p:sp>
      <p:sp>
        <p:nvSpPr>
          <p:cNvPr id="25645" name="Text Box 45"/>
          <p:cNvSpPr txBox="1">
            <a:spLocks noChangeArrowheads="1"/>
          </p:cNvSpPr>
          <p:nvPr/>
        </p:nvSpPr>
        <p:spPr bwMode="auto">
          <a:xfrm>
            <a:off x="179388" y="2544763"/>
            <a:ext cx="1449387" cy="479425"/>
          </a:xfrm>
          <a:prstGeom prst="rect">
            <a:avLst/>
          </a:prstGeom>
          <a:noFill/>
          <a:ln w="12700" cap="sq">
            <a:noFill/>
            <a:miter lim="800000"/>
            <a:headEnd type="none" w="sm" len="sm"/>
            <a:tailEnd type="none" w="sm" len="sm"/>
          </a:ln>
        </p:spPr>
        <p:txBody>
          <a:bodyPr>
            <a:spAutoFit/>
          </a:bodyPr>
          <a:lstStyle/>
          <a:p>
            <a:pPr>
              <a:lnSpc>
                <a:spcPct val="115000"/>
              </a:lnSpc>
              <a:defRPr/>
            </a:pPr>
            <a:r>
              <a:rPr kumimoji="1" lang="zh-CN" altLang="en-US" b="1" dirty="0">
                <a:solidFill>
                  <a:srgbClr val="FF0000"/>
                </a:solidFill>
                <a:latin typeface="+mn-ea"/>
                <a:ea typeface="+mn-ea"/>
              </a:rPr>
              <a:t>热量 </a:t>
            </a:r>
            <a:r>
              <a:rPr kumimoji="1" lang="en-US" altLang="zh-CN" b="1" dirty="0">
                <a:solidFill>
                  <a:srgbClr val="FF0000"/>
                </a:solidFill>
                <a:ea typeface="+mn-ea"/>
                <a:cs typeface="Times New Roman" panose="02020603050405020304" pitchFamily="18" charset="0"/>
              </a:rPr>
              <a:t>(</a:t>
            </a:r>
            <a:r>
              <a:rPr kumimoji="1" lang="en-US" altLang="zh-CN" b="1" i="1" dirty="0">
                <a:solidFill>
                  <a:srgbClr val="FF0000"/>
                </a:solidFill>
                <a:ea typeface="+mn-ea"/>
                <a:cs typeface="Times New Roman" panose="02020603050405020304" pitchFamily="18" charset="0"/>
              </a:rPr>
              <a:t>Q</a:t>
            </a:r>
            <a:r>
              <a:rPr kumimoji="1" lang="en-US" altLang="zh-CN" b="1" dirty="0">
                <a:solidFill>
                  <a:srgbClr val="FF0000"/>
                </a:solidFill>
                <a:ea typeface="+mn-ea"/>
                <a:cs typeface="Times New Roman" panose="02020603050405020304" pitchFamily="18" charset="0"/>
              </a:rPr>
              <a:t>)</a:t>
            </a:r>
            <a:endParaRPr kumimoji="1" lang="en-US" altLang="zh-CN" i="1" dirty="0">
              <a:solidFill>
                <a:srgbClr val="FF0000"/>
              </a:solidFill>
              <a:ea typeface="+mn-ea"/>
              <a:cs typeface="Times New Roman" panose="02020603050405020304" pitchFamily="18" charset="0"/>
            </a:endParaRPr>
          </a:p>
        </p:txBody>
      </p:sp>
      <p:sp>
        <p:nvSpPr>
          <p:cNvPr id="25646" name="Text Box 46"/>
          <p:cNvSpPr txBox="1">
            <a:spLocks noChangeArrowheads="1"/>
          </p:cNvSpPr>
          <p:nvPr/>
        </p:nvSpPr>
        <p:spPr bwMode="auto">
          <a:xfrm>
            <a:off x="1514475" y="2517775"/>
            <a:ext cx="5699125" cy="512763"/>
          </a:xfrm>
          <a:prstGeom prst="rect">
            <a:avLst/>
          </a:prstGeom>
          <a:noFill/>
          <a:ln w="76200" cap="sq">
            <a:noFill/>
            <a:miter lim="800000"/>
          </a:ln>
        </p:spPr>
        <p:txBody>
          <a:bodyPr wrap="none">
            <a:spAutoFit/>
          </a:bodyPr>
          <a:lstStyle/>
          <a:p>
            <a:pPr>
              <a:lnSpc>
                <a:spcPct val="115000"/>
              </a:lnSpc>
              <a:defRPr/>
            </a:pPr>
            <a:r>
              <a:rPr kumimoji="1" lang="zh-CN" altLang="en-US" b="1">
                <a:latin typeface="+mn-ea"/>
                <a:ea typeface="+mn-ea"/>
              </a:rPr>
              <a:t>是传热过程中所传递能量的多少的量度；</a:t>
            </a:r>
            <a:endParaRPr kumimoji="1" lang="zh-CN" altLang="en-US" b="1">
              <a:latin typeface="+mn-ea"/>
              <a:ea typeface="+mn-ea"/>
            </a:endParaRPr>
          </a:p>
        </p:txBody>
      </p:sp>
      <p:sp>
        <p:nvSpPr>
          <p:cNvPr id="25647" name="Text Box 47"/>
          <p:cNvSpPr txBox="1">
            <a:spLocks noChangeArrowheads="1"/>
          </p:cNvSpPr>
          <p:nvPr/>
        </p:nvSpPr>
        <p:spPr bwMode="auto">
          <a:xfrm>
            <a:off x="6932613" y="2500313"/>
            <a:ext cx="1698625" cy="512762"/>
          </a:xfrm>
          <a:prstGeom prst="rect">
            <a:avLst/>
          </a:prstGeom>
          <a:noFill/>
          <a:ln w="76200" cap="sq">
            <a:noFill/>
            <a:miter lim="800000"/>
          </a:ln>
        </p:spPr>
        <p:txBody>
          <a:bodyPr>
            <a:spAutoFit/>
          </a:bodyPr>
          <a:lstStyle/>
          <a:p>
            <a:pPr>
              <a:lnSpc>
                <a:spcPct val="115000"/>
              </a:lnSpc>
              <a:defRPr/>
            </a:pPr>
            <a:r>
              <a:rPr kumimoji="1" lang="zh-CN" altLang="en-US" b="1">
                <a:latin typeface="+mn-ea"/>
                <a:ea typeface="+mn-ea"/>
              </a:rPr>
              <a:t>是</a:t>
            </a:r>
            <a:r>
              <a:rPr kumimoji="1" lang="zh-CN" altLang="en-US" b="1">
                <a:solidFill>
                  <a:srgbClr val="FF6600"/>
                </a:solidFill>
                <a:latin typeface="+mn-ea"/>
                <a:ea typeface="+mn-ea"/>
              </a:rPr>
              <a:t>过程量</a:t>
            </a:r>
            <a:endParaRPr kumimoji="1" lang="zh-CN" altLang="en-US" b="1" i="1" baseline="-25000">
              <a:solidFill>
                <a:srgbClr val="FF6600"/>
              </a:solidFill>
              <a:latin typeface="+mn-ea"/>
              <a:ea typeface="+mn-ea"/>
            </a:endParaRPr>
          </a:p>
        </p:txBody>
      </p:sp>
      <p:sp>
        <p:nvSpPr>
          <p:cNvPr id="25651" name="Text Box 51"/>
          <p:cNvSpPr txBox="1">
            <a:spLocks noChangeArrowheads="1"/>
          </p:cNvSpPr>
          <p:nvPr/>
        </p:nvSpPr>
        <p:spPr bwMode="auto">
          <a:xfrm>
            <a:off x="1516063" y="3060700"/>
            <a:ext cx="3055937" cy="512763"/>
          </a:xfrm>
          <a:prstGeom prst="rect">
            <a:avLst/>
          </a:prstGeom>
          <a:noFill/>
          <a:ln w="76200" cap="sq">
            <a:noFill/>
            <a:miter lim="800000"/>
          </a:ln>
        </p:spPr>
        <p:txBody>
          <a:bodyPr>
            <a:spAutoFit/>
          </a:bodyPr>
          <a:lstStyle/>
          <a:p>
            <a:pPr>
              <a:lnSpc>
                <a:spcPct val="115000"/>
              </a:lnSpc>
              <a:defRPr/>
            </a:pPr>
            <a:r>
              <a:rPr kumimoji="1" lang="zh-CN" altLang="en-US" b="1">
                <a:latin typeface="+mn-ea"/>
                <a:ea typeface="+mn-ea"/>
              </a:rPr>
              <a:t>系统吸热：</a:t>
            </a:r>
            <a:endParaRPr kumimoji="1" lang="zh-CN" altLang="en-US" b="1" i="1" baseline="-25000">
              <a:latin typeface="+mn-ea"/>
              <a:ea typeface="+mn-ea"/>
            </a:endParaRPr>
          </a:p>
        </p:txBody>
      </p:sp>
      <p:graphicFrame>
        <p:nvGraphicFramePr>
          <p:cNvPr id="25652" name="Object 52"/>
          <p:cNvGraphicFramePr>
            <a:graphicFrameLocks noChangeAspect="1"/>
          </p:cNvGraphicFramePr>
          <p:nvPr/>
        </p:nvGraphicFramePr>
        <p:xfrm>
          <a:off x="3822700" y="1870075"/>
          <a:ext cx="777875" cy="320675"/>
        </p:xfrm>
        <a:graphic>
          <a:graphicData uri="http://schemas.openxmlformats.org/presentationml/2006/ole">
            <mc:AlternateContent xmlns:mc="http://schemas.openxmlformats.org/markup-compatibility/2006">
              <mc:Choice xmlns:v="urn:schemas-microsoft-com:vml" Requires="v">
                <p:oleObj spid="_x0000_s5121" name="公式" r:id="rId1" imgW="10363200" imgH="4267200" progId="Equation.3">
                  <p:embed/>
                </p:oleObj>
              </mc:Choice>
              <mc:Fallback>
                <p:oleObj name="公式" r:id="rId1" imgW="10363200" imgH="4267200" progId="Equation.3">
                  <p:embed/>
                  <p:pic>
                    <p:nvPicPr>
                      <p:cNvPr id="0" name="Object 52"/>
                      <p:cNvPicPr>
                        <a:picLocks noChangeAspect="1"/>
                      </p:cNvPicPr>
                      <p:nvPr/>
                    </p:nvPicPr>
                    <p:blipFill>
                      <a:blip r:embed="rId2"/>
                      <a:stretch>
                        <a:fillRect/>
                      </a:stretch>
                    </p:blipFill>
                    <p:spPr>
                      <a:xfrm>
                        <a:off x="3822700" y="1870075"/>
                        <a:ext cx="777875" cy="320675"/>
                      </a:xfrm>
                      <a:prstGeom prst="rect">
                        <a:avLst/>
                      </a:prstGeom>
                      <a:noFill/>
                      <a:ln w="9525">
                        <a:noFill/>
                      </a:ln>
                    </p:spPr>
                  </p:pic>
                </p:oleObj>
              </mc:Fallback>
            </mc:AlternateContent>
          </a:graphicData>
        </a:graphic>
      </p:graphicFrame>
      <p:sp>
        <p:nvSpPr>
          <p:cNvPr id="25653" name="Text Box 53"/>
          <p:cNvSpPr txBox="1">
            <a:spLocks noChangeArrowheads="1"/>
          </p:cNvSpPr>
          <p:nvPr/>
        </p:nvSpPr>
        <p:spPr bwMode="auto">
          <a:xfrm>
            <a:off x="1508125" y="1735138"/>
            <a:ext cx="3495675" cy="512762"/>
          </a:xfrm>
          <a:prstGeom prst="rect">
            <a:avLst/>
          </a:prstGeom>
          <a:noFill/>
          <a:ln w="76200" cap="sq">
            <a:noFill/>
            <a:miter lim="800000"/>
          </a:ln>
        </p:spPr>
        <p:txBody>
          <a:bodyPr>
            <a:spAutoFit/>
          </a:bodyPr>
          <a:lstStyle/>
          <a:p>
            <a:pPr>
              <a:lnSpc>
                <a:spcPct val="115000"/>
              </a:lnSpc>
              <a:defRPr/>
            </a:pPr>
            <a:r>
              <a:rPr kumimoji="1" lang="zh-CN" altLang="en-US" b="1">
                <a:latin typeface="+mn-ea"/>
                <a:ea typeface="+mn-ea"/>
              </a:rPr>
              <a:t>系统对外作功：</a:t>
            </a:r>
            <a:endParaRPr kumimoji="1" lang="zh-CN" altLang="en-US" b="1" i="1" baseline="-25000">
              <a:latin typeface="+mn-ea"/>
              <a:ea typeface="+mn-ea"/>
            </a:endParaRPr>
          </a:p>
        </p:txBody>
      </p:sp>
      <p:sp>
        <p:nvSpPr>
          <p:cNvPr id="25654" name="Text Box 54"/>
          <p:cNvSpPr txBox="1">
            <a:spLocks noChangeArrowheads="1"/>
          </p:cNvSpPr>
          <p:nvPr/>
        </p:nvSpPr>
        <p:spPr bwMode="auto">
          <a:xfrm>
            <a:off x="4530725" y="1763713"/>
            <a:ext cx="3929063" cy="512762"/>
          </a:xfrm>
          <a:prstGeom prst="rect">
            <a:avLst/>
          </a:prstGeom>
          <a:noFill/>
          <a:ln w="76200" cap="sq">
            <a:noFill/>
            <a:miter lim="800000"/>
          </a:ln>
        </p:spPr>
        <p:txBody>
          <a:bodyPr>
            <a:spAutoFit/>
          </a:bodyPr>
          <a:lstStyle/>
          <a:p>
            <a:pPr>
              <a:lnSpc>
                <a:spcPct val="115000"/>
              </a:lnSpc>
              <a:defRPr/>
            </a:pPr>
            <a:r>
              <a:rPr kumimoji="1" lang="zh-CN" altLang="en-US" b="1" dirty="0">
                <a:latin typeface="+mn-ea"/>
                <a:ea typeface="+mn-ea"/>
              </a:rPr>
              <a:t>；外界对系统作功：</a:t>
            </a:r>
            <a:endParaRPr kumimoji="1" lang="zh-CN" altLang="en-US" b="1" i="1" baseline="-25000" dirty="0">
              <a:latin typeface="+mn-ea"/>
              <a:ea typeface="+mn-ea"/>
            </a:endParaRPr>
          </a:p>
        </p:txBody>
      </p:sp>
      <p:graphicFrame>
        <p:nvGraphicFramePr>
          <p:cNvPr id="25655" name="Object 55"/>
          <p:cNvGraphicFramePr>
            <a:graphicFrameLocks noChangeAspect="1"/>
          </p:cNvGraphicFramePr>
          <p:nvPr/>
        </p:nvGraphicFramePr>
        <p:xfrm>
          <a:off x="7543800" y="1884363"/>
          <a:ext cx="773113" cy="320675"/>
        </p:xfrm>
        <a:graphic>
          <a:graphicData uri="http://schemas.openxmlformats.org/presentationml/2006/ole">
            <mc:AlternateContent xmlns:mc="http://schemas.openxmlformats.org/markup-compatibility/2006">
              <mc:Choice xmlns:v="urn:schemas-microsoft-com:vml" Requires="v">
                <p:oleObj spid="_x0000_s5123" name="公式" r:id="rId3" imgW="10363200" imgH="4267200" progId="Equation.3">
                  <p:embed/>
                </p:oleObj>
              </mc:Choice>
              <mc:Fallback>
                <p:oleObj name="公式" r:id="rId3" imgW="10363200" imgH="4267200" progId="Equation.3">
                  <p:embed/>
                  <p:pic>
                    <p:nvPicPr>
                      <p:cNvPr id="0" name="Object 55"/>
                      <p:cNvPicPr>
                        <a:picLocks noChangeAspect="1"/>
                      </p:cNvPicPr>
                      <p:nvPr/>
                    </p:nvPicPr>
                    <p:blipFill>
                      <a:blip r:embed="rId4"/>
                      <a:stretch>
                        <a:fillRect/>
                      </a:stretch>
                    </p:blipFill>
                    <p:spPr>
                      <a:xfrm>
                        <a:off x="7543800" y="1884363"/>
                        <a:ext cx="773113" cy="320675"/>
                      </a:xfrm>
                      <a:prstGeom prst="rect">
                        <a:avLst/>
                      </a:prstGeom>
                      <a:noFill/>
                      <a:ln w="9525">
                        <a:noFill/>
                      </a:ln>
                    </p:spPr>
                  </p:pic>
                </p:oleObj>
              </mc:Fallback>
            </mc:AlternateContent>
          </a:graphicData>
        </a:graphic>
      </p:graphicFrame>
      <p:graphicFrame>
        <p:nvGraphicFramePr>
          <p:cNvPr id="25656" name="Object 56"/>
          <p:cNvGraphicFramePr>
            <a:graphicFrameLocks noChangeAspect="1"/>
          </p:cNvGraphicFramePr>
          <p:nvPr/>
        </p:nvGraphicFramePr>
        <p:xfrm>
          <a:off x="3429000" y="3179763"/>
          <a:ext cx="715963" cy="368300"/>
        </p:xfrm>
        <a:graphic>
          <a:graphicData uri="http://schemas.openxmlformats.org/presentationml/2006/ole">
            <mc:AlternateContent xmlns:mc="http://schemas.openxmlformats.org/markup-compatibility/2006">
              <mc:Choice xmlns:v="urn:schemas-microsoft-com:vml" Requires="v">
                <p:oleObj spid="_x0000_s5124" name="公式" r:id="rId5" imgW="9448800" imgH="4876800" progId="Equation.3">
                  <p:embed/>
                </p:oleObj>
              </mc:Choice>
              <mc:Fallback>
                <p:oleObj name="公式" r:id="rId5" imgW="9448800" imgH="4876800" progId="Equation.3">
                  <p:embed/>
                  <p:pic>
                    <p:nvPicPr>
                      <p:cNvPr id="0" name="Object 56"/>
                      <p:cNvPicPr>
                        <a:picLocks noChangeAspect="1"/>
                      </p:cNvPicPr>
                      <p:nvPr/>
                    </p:nvPicPr>
                    <p:blipFill>
                      <a:blip r:embed="rId6"/>
                      <a:stretch>
                        <a:fillRect/>
                      </a:stretch>
                    </p:blipFill>
                    <p:spPr>
                      <a:xfrm>
                        <a:off x="3429000" y="3179763"/>
                        <a:ext cx="715963" cy="368300"/>
                      </a:xfrm>
                      <a:prstGeom prst="rect">
                        <a:avLst/>
                      </a:prstGeom>
                      <a:noFill/>
                      <a:ln w="9525">
                        <a:noFill/>
                      </a:ln>
                    </p:spPr>
                  </p:pic>
                </p:oleObj>
              </mc:Fallback>
            </mc:AlternateContent>
          </a:graphicData>
        </a:graphic>
      </p:graphicFrame>
      <p:sp>
        <p:nvSpPr>
          <p:cNvPr id="25657" name="Text Box 57"/>
          <p:cNvSpPr txBox="1">
            <a:spLocks noChangeArrowheads="1"/>
          </p:cNvSpPr>
          <p:nvPr/>
        </p:nvSpPr>
        <p:spPr bwMode="auto">
          <a:xfrm>
            <a:off x="4252913" y="3040063"/>
            <a:ext cx="3414712" cy="512762"/>
          </a:xfrm>
          <a:prstGeom prst="rect">
            <a:avLst/>
          </a:prstGeom>
          <a:noFill/>
          <a:ln w="76200" cap="sq">
            <a:noFill/>
            <a:miter lim="800000"/>
          </a:ln>
        </p:spPr>
        <p:txBody>
          <a:bodyPr>
            <a:spAutoFit/>
          </a:bodyPr>
          <a:lstStyle/>
          <a:p>
            <a:pPr>
              <a:lnSpc>
                <a:spcPct val="115000"/>
              </a:lnSpc>
              <a:defRPr/>
            </a:pPr>
            <a:r>
              <a:rPr kumimoji="1" lang="zh-CN" altLang="en-US" b="1">
                <a:latin typeface="+mn-ea"/>
                <a:ea typeface="+mn-ea"/>
              </a:rPr>
              <a:t>；系统放热：</a:t>
            </a:r>
            <a:endParaRPr kumimoji="1" lang="zh-CN" altLang="en-US" b="1" i="1" baseline="-25000">
              <a:latin typeface="+mn-ea"/>
              <a:ea typeface="+mn-ea"/>
            </a:endParaRPr>
          </a:p>
        </p:txBody>
      </p:sp>
      <p:graphicFrame>
        <p:nvGraphicFramePr>
          <p:cNvPr id="25658" name="Object 58"/>
          <p:cNvGraphicFramePr>
            <a:graphicFrameLocks noChangeAspect="1"/>
          </p:cNvGraphicFramePr>
          <p:nvPr/>
        </p:nvGraphicFramePr>
        <p:xfrm>
          <a:off x="6308725" y="3179763"/>
          <a:ext cx="701675" cy="363537"/>
        </p:xfrm>
        <a:graphic>
          <a:graphicData uri="http://schemas.openxmlformats.org/presentationml/2006/ole">
            <mc:AlternateContent xmlns:mc="http://schemas.openxmlformats.org/markup-compatibility/2006">
              <mc:Choice xmlns:v="urn:schemas-microsoft-com:vml" Requires="v">
                <p:oleObj spid="_x0000_s5125" name="公式" r:id="rId7" imgW="9448800" imgH="4876800" progId="Equation.3">
                  <p:embed/>
                </p:oleObj>
              </mc:Choice>
              <mc:Fallback>
                <p:oleObj name="公式" r:id="rId7" imgW="9448800" imgH="4876800" progId="Equation.3">
                  <p:embed/>
                  <p:pic>
                    <p:nvPicPr>
                      <p:cNvPr id="0" name="Object 58"/>
                      <p:cNvPicPr>
                        <a:picLocks noChangeAspect="1"/>
                      </p:cNvPicPr>
                      <p:nvPr/>
                    </p:nvPicPr>
                    <p:blipFill>
                      <a:blip r:embed="rId8"/>
                      <a:stretch>
                        <a:fillRect/>
                      </a:stretch>
                    </p:blipFill>
                    <p:spPr>
                      <a:xfrm>
                        <a:off x="6308725" y="3179763"/>
                        <a:ext cx="701675" cy="363537"/>
                      </a:xfrm>
                      <a:prstGeom prst="rect">
                        <a:avLst/>
                      </a:prstGeom>
                      <a:noFill/>
                      <a:ln w="9525">
                        <a:noFill/>
                      </a:ln>
                    </p:spPr>
                  </p:pic>
                </p:oleObj>
              </mc:Fallback>
            </mc:AlternateContent>
          </a:graphicData>
        </a:graphic>
      </p:graphicFrame>
      <p:sp>
        <p:nvSpPr>
          <p:cNvPr id="16" name="Text Box 48"/>
          <p:cNvSpPr txBox="1">
            <a:spLocks noChangeArrowheads="1"/>
          </p:cNvSpPr>
          <p:nvPr/>
        </p:nvSpPr>
        <p:spPr bwMode="auto">
          <a:xfrm>
            <a:off x="179388" y="3779838"/>
            <a:ext cx="1663700" cy="479425"/>
          </a:xfrm>
          <a:prstGeom prst="rect">
            <a:avLst/>
          </a:prstGeom>
          <a:noFill/>
          <a:ln w="12700" cap="sq">
            <a:noFill/>
            <a:miter lim="800000"/>
            <a:headEnd type="none" w="sm" len="sm"/>
            <a:tailEnd type="none" w="sm" len="sm"/>
          </a:ln>
        </p:spPr>
        <p:txBody>
          <a:bodyPr>
            <a:spAutoFit/>
          </a:bodyPr>
          <a:lstStyle/>
          <a:p>
            <a:pPr>
              <a:lnSpc>
                <a:spcPct val="115000"/>
              </a:lnSpc>
              <a:defRPr/>
            </a:pPr>
            <a:r>
              <a:rPr kumimoji="1" lang="zh-CN" altLang="en-US" b="1" dirty="0">
                <a:solidFill>
                  <a:srgbClr val="FF0000"/>
                </a:solidFill>
                <a:latin typeface="+mn-ea"/>
                <a:ea typeface="+mn-ea"/>
              </a:rPr>
              <a:t>内能 </a:t>
            </a:r>
            <a:r>
              <a:rPr kumimoji="1" lang="en-US" altLang="zh-CN" b="1" dirty="0">
                <a:solidFill>
                  <a:srgbClr val="FF0000"/>
                </a:solidFill>
                <a:ea typeface="+mn-ea"/>
                <a:cs typeface="Times New Roman" panose="02020603050405020304" pitchFamily="18" charset="0"/>
              </a:rPr>
              <a:t>(</a:t>
            </a:r>
            <a:r>
              <a:rPr kumimoji="1" lang="en-US" altLang="zh-CN" b="1" i="1" dirty="0">
                <a:solidFill>
                  <a:srgbClr val="FF0000"/>
                </a:solidFill>
                <a:ea typeface="+mn-ea"/>
                <a:cs typeface="Times New Roman" panose="02020603050405020304" pitchFamily="18" charset="0"/>
              </a:rPr>
              <a:t>E </a:t>
            </a:r>
            <a:r>
              <a:rPr kumimoji="1" lang="en-US" altLang="zh-CN" b="1" dirty="0">
                <a:solidFill>
                  <a:srgbClr val="FF0000"/>
                </a:solidFill>
                <a:ea typeface="+mn-ea"/>
                <a:cs typeface="Times New Roman" panose="02020603050405020304" pitchFamily="18" charset="0"/>
              </a:rPr>
              <a:t>)</a:t>
            </a:r>
            <a:endParaRPr kumimoji="1" lang="en-US" altLang="zh-CN" b="1" dirty="0">
              <a:solidFill>
                <a:srgbClr val="FF0000"/>
              </a:solidFill>
              <a:ea typeface="+mn-ea"/>
              <a:cs typeface="Times New Roman" panose="02020603050405020304" pitchFamily="18" charset="0"/>
            </a:endParaRPr>
          </a:p>
        </p:txBody>
      </p:sp>
      <p:sp>
        <p:nvSpPr>
          <p:cNvPr id="17" name="Text Box 59"/>
          <p:cNvSpPr txBox="1">
            <a:spLocks noChangeArrowheads="1"/>
          </p:cNvSpPr>
          <p:nvPr/>
        </p:nvSpPr>
        <p:spPr bwMode="auto">
          <a:xfrm>
            <a:off x="1547813" y="3822700"/>
            <a:ext cx="6840537" cy="457200"/>
          </a:xfrm>
          <a:prstGeom prst="rect">
            <a:avLst/>
          </a:prstGeom>
          <a:noFill/>
          <a:ln w="76200" cap="sq">
            <a:noFill/>
            <a:miter lim="800000"/>
          </a:ln>
        </p:spPr>
        <p:txBody>
          <a:bodyPr>
            <a:spAutoFit/>
          </a:bodyPr>
          <a:lstStyle/>
          <a:p>
            <a:pPr>
              <a:defRPr/>
            </a:pPr>
            <a:r>
              <a:rPr kumimoji="1" lang="zh-CN" altLang="en-US" b="1" dirty="0">
                <a:latin typeface="+mn-ea"/>
                <a:ea typeface="+mn-ea"/>
              </a:rPr>
              <a:t>热力学系统在确定的状态下具有确定的能量</a:t>
            </a:r>
            <a:r>
              <a:rPr kumimoji="1" lang="zh-CN" altLang="en-US" dirty="0">
                <a:latin typeface="+mn-ea"/>
                <a:ea typeface="+mn-ea"/>
              </a:rPr>
              <a:t> 。</a:t>
            </a:r>
            <a:endParaRPr kumimoji="1" lang="zh-CN" altLang="en-US" dirty="0">
              <a:latin typeface="+mn-ea"/>
              <a:ea typeface="+mn-ea"/>
            </a:endParaRPr>
          </a:p>
        </p:txBody>
      </p:sp>
      <p:sp>
        <p:nvSpPr>
          <p:cNvPr id="18" name="Text Box 60"/>
          <p:cNvSpPr txBox="1">
            <a:spLocks noChangeArrowheads="1"/>
          </p:cNvSpPr>
          <p:nvPr/>
        </p:nvSpPr>
        <p:spPr bwMode="auto">
          <a:xfrm>
            <a:off x="107950" y="4535488"/>
            <a:ext cx="8388350" cy="461962"/>
          </a:xfrm>
          <a:prstGeom prst="rect">
            <a:avLst/>
          </a:prstGeom>
          <a:noFill/>
          <a:ln w="76200" cap="sq">
            <a:noFill/>
            <a:miter lim="800000"/>
          </a:ln>
        </p:spPr>
        <p:txBody>
          <a:bodyPr>
            <a:spAutoFit/>
          </a:bodyPr>
          <a:lstStyle/>
          <a:p>
            <a:pPr>
              <a:buClr>
                <a:srgbClr val="FF0000"/>
              </a:buClr>
              <a:buFont typeface="Wingdings" panose="05000000000000000000" pitchFamily="2" charset="2"/>
              <a:buChar char="Ø"/>
              <a:defRPr/>
            </a:pPr>
            <a:r>
              <a:rPr kumimoji="1" lang="en-US" altLang="zh-CN" b="1">
                <a:latin typeface="+mn-ea"/>
                <a:ea typeface="+mn-ea"/>
              </a:rPr>
              <a:t> </a:t>
            </a:r>
            <a:r>
              <a:rPr kumimoji="1" lang="zh-CN" altLang="en-US" b="1">
                <a:latin typeface="+mn-ea"/>
                <a:ea typeface="+mn-ea"/>
              </a:rPr>
              <a:t>从微观角度来看，是物体中分子无规则运动能量的总和。</a:t>
            </a:r>
            <a:endParaRPr kumimoji="1" lang="zh-CN" altLang="en-US" b="1" i="1" baseline="-25000">
              <a:latin typeface="+mn-ea"/>
              <a:ea typeface="+mn-ea"/>
            </a:endParaRPr>
          </a:p>
        </p:txBody>
      </p:sp>
      <p:sp>
        <p:nvSpPr>
          <p:cNvPr id="19" name="Text Box 61"/>
          <p:cNvSpPr txBox="1">
            <a:spLocks noChangeArrowheads="1"/>
          </p:cNvSpPr>
          <p:nvPr/>
        </p:nvSpPr>
        <p:spPr bwMode="auto">
          <a:xfrm>
            <a:off x="179388" y="5087938"/>
            <a:ext cx="8713787" cy="830262"/>
          </a:xfrm>
          <a:prstGeom prst="rect">
            <a:avLst/>
          </a:prstGeom>
          <a:noFill/>
          <a:ln w="76200" cap="sq">
            <a:noFill/>
            <a:miter lim="800000"/>
          </a:ln>
        </p:spPr>
        <p:txBody>
          <a:bodyPr>
            <a:spAutoFit/>
          </a:bodyPr>
          <a:lstStyle/>
          <a:p>
            <a:pPr>
              <a:buClr>
                <a:srgbClr val="FF0000"/>
              </a:buClr>
              <a:buFont typeface="Wingdings" panose="05000000000000000000" pitchFamily="2" charset="2"/>
              <a:buChar char="Ø"/>
              <a:defRPr/>
            </a:pPr>
            <a:r>
              <a:rPr kumimoji="1" lang="en-US" altLang="zh-CN" b="1" dirty="0">
                <a:latin typeface="+mn-ea"/>
                <a:ea typeface="+mn-ea"/>
              </a:rPr>
              <a:t> </a:t>
            </a:r>
            <a:r>
              <a:rPr kumimoji="1" lang="zh-CN" altLang="en-US" b="1" dirty="0">
                <a:latin typeface="+mn-ea"/>
                <a:ea typeface="+mn-ea"/>
              </a:rPr>
              <a:t>对理想气体，内能只是分子的动能之和，故内能只是</a:t>
            </a:r>
            <a:r>
              <a:rPr kumimoji="1" lang="zh-CN" altLang="en-US" b="1" dirty="0">
                <a:solidFill>
                  <a:srgbClr val="FF6600"/>
                </a:solidFill>
                <a:latin typeface="+mn-ea"/>
                <a:ea typeface="+mn-ea"/>
              </a:rPr>
              <a:t>温度</a:t>
            </a:r>
            <a:r>
              <a:rPr kumimoji="1" lang="zh-CN" altLang="en-US" b="1" dirty="0">
                <a:latin typeface="+mn-ea"/>
                <a:ea typeface="+mn-ea"/>
              </a:rPr>
              <a:t>的函数</a:t>
            </a:r>
            <a:r>
              <a:rPr kumimoji="1" lang="zh-CN" altLang="en-US" dirty="0">
                <a:latin typeface="+mn-ea"/>
                <a:ea typeface="+mn-ea"/>
              </a:rPr>
              <a:t> 。</a:t>
            </a:r>
            <a:endParaRPr kumimoji="1" lang="zh-CN" altLang="en-US" dirty="0">
              <a:latin typeface="+mn-ea"/>
              <a:ea typeface="+mn-ea"/>
            </a:endParaRPr>
          </a:p>
        </p:txBody>
      </p:sp>
      <p:graphicFrame>
        <p:nvGraphicFramePr>
          <p:cNvPr id="20" name="Object 62"/>
          <p:cNvGraphicFramePr>
            <a:graphicFrameLocks noChangeAspect="1"/>
          </p:cNvGraphicFramePr>
          <p:nvPr/>
        </p:nvGraphicFramePr>
        <p:xfrm>
          <a:off x="3617913" y="5805488"/>
          <a:ext cx="1169987" cy="363537"/>
        </p:xfrm>
        <a:graphic>
          <a:graphicData uri="http://schemas.openxmlformats.org/presentationml/2006/ole">
            <mc:AlternateContent xmlns:mc="http://schemas.openxmlformats.org/markup-compatibility/2006">
              <mc:Choice xmlns:v="urn:schemas-microsoft-com:vml" Requires="v">
                <p:oleObj spid="_x0000_s5126" name="公式" r:id="rId9" imgW="15849600" imgH="4876800" progId="Equation.3">
                  <p:embed/>
                </p:oleObj>
              </mc:Choice>
              <mc:Fallback>
                <p:oleObj name="公式" r:id="rId9" imgW="15849600" imgH="4876800" progId="Equation.3">
                  <p:embed/>
                  <p:pic>
                    <p:nvPicPr>
                      <p:cNvPr id="0" name="Object 62"/>
                      <p:cNvPicPr>
                        <a:picLocks noChangeAspect="1"/>
                      </p:cNvPicPr>
                      <p:nvPr/>
                    </p:nvPicPr>
                    <p:blipFill>
                      <a:blip r:embed="rId10"/>
                      <a:stretch>
                        <a:fillRect/>
                      </a:stretch>
                    </p:blipFill>
                    <p:spPr>
                      <a:xfrm>
                        <a:off x="3617913" y="5805488"/>
                        <a:ext cx="1169987" cy="363537"/>
                      </a:xfrm>
                      <a:prstGeom prst="rect">
                        <a:avLst/>
                      </a:prstGeom>
                      <a:solidFill>
                        <a:srgbClr val="CCFFCC"/>
                      </a:solidFill>
                      <a:ln w="9525" cap="flat" cmpd="sng">
                        <a:solidFill>
                          <a:srgbClr val="00FF00"/>
                        </a:solidFill>
                        <a:prstDash val="solid"/>
                        <a:miter/>
                        <a:headEnd type="none" w="med" len="med"/>
                        <a:tailEnd type="none" w="med" len="med"/>
                      </a:ln>
                    </p:spPr>
                  </p:pic>
                </p:oleObj>
              </mc:Fallback>
            </mc:AlternateContent>
          </a:graphicData>
        </a:graphic>
      </p:graphicFrame>
      <p:sp>
        <p:nvSpPr>
          <p:cNvPr id="21" name="Text Box 64"/>
          <p:cNvSpPr txBox="1">
            <a:spLocks noChangeArrowheads="1"/>
          </p:cNvSpPr>
          <p:nvPr/>
        </p:nvSpPr>
        <p:spPr bwMode="auto">
          <a:xfrm>
            <a:off x="5429250" y="5715000"/>
            <a:ext cx="3167063" cy="463550"/>
          </a:xfrm>
          <a:prstGeom prst="rect">
            <a:avLst/>
          </a:prstGeom>
          <a:noFill/>
          <a:ln w="76200" cap="sq">
            <a:noFill/>
            <a:miter lim="800000"/>
          </a:ln>
        </p:spPr>
        <p:txBody>
          <a:bodyPr>
            <a:spAutoFit/>
          </a:bodyPr>
          <a:lstStyle/>
          <a:p>
            <a:pPr>
              <a:lnSpc>
                <a:spcPct val="115000"/>
              </a:lnSpc>
              <a:defRPr/>
            </a:pPr>
            <a:r>
              <a:rPr kumimoji="1" lang="zh-CN" altLang="en-US" b="1" dirty="0">
                <a:latin typeface="+mn-ea"/>
                <a:ea typeface="+mn-ea"/>
              </a:rPr>
              <a:t>内能是</a:t>
            </a:r>
            <a:r>
              <a:rPr kumimoji="1" lang="zh-CN" altLang="en-US" b="1" dirty="0">
                <a:solidFill>
                  <a:srgbClr val="FF6600"/>
                </a:solidFill>
                <a:latin typeface="+mn-ea"/>
                <a:ea typeface="+mn-ea"/>
              </a:rPr>
              <a:t>状态量</a:t>
            </a:r>
            <a:endParaRPr kumimoji="1" lang="zh-CN" altLang="en-US" b="1" i="1" baseline="-25000" dirty="0">
              <a:solidFill>
                <a:srgbClr val="FF6600"/>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wipe(left)">
                                      <p:cBhvr>
                                        <p:cTn id="7" dur="500"/>
                                        <p:tgtEl>
                                          <p:spTgt spid="256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44"/>
                                        </p:tgtEl>
                                        <p:attrNameLst>
                                          <p:attrName>style.visibility</p:attrName>
                                        </p:attrNameLst>
                                      </p:cBhvr>
                                      <p:to>
                                        <p:strVal val="visible"/>
                                      </p:to>
                                    </p:set>
                                    <p:animEffect transition="in" filter="wipe(left)">
                                      <p:cBhvr>
                                        <p:cTn id="12" dur="500"/>
                                        <p:tgtEl>
                                          <p:spTgt spid="256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43"/>
                                        </p:tgtEl>
                                        <p:attrNameLst>
                                          <p:attrName>style.visibility</p:attrName>
                                        </p:attrNameLst>
                                      </p:cBhvr>
                                      <p:to>
                                        <p:strVal val="visible"/>
                                      </p:to>
                                    </p:set>
                                    <p:animEffect transition="in" filter="wipe(left)">
                                      <p:cBhvr>
                                        <p:cTn id="17" dur="500"/>
                                        <p:tgtEl>
                                          <p:spTgt spid="256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53"/>
                                        </p:tgtEl>
                                        <p:attrNameLst>
                                          <p:attrName>style.visibility</p:attrName>
                                        </p:attrNameLst>
                                      </p:cBhvr>
                                      <p:to>
                                        <p:strVal val="visible"/>
                                      </p:to>
                                    </p:set>
                                    <p:animEffect transition="in" filter="wipe(left)">
                                      <p:cBhvr>
                                        <p:cTn id="22" dur="500"/>
                                        <p:tgtEl>
                                          <p:spTgt spid="256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652"/>
                                        </p:tgtEl>
                                        <p:attrNameLst>
                                          <p:attrName>style.visibility</p:attrName>
                                        </p:attrNameLst>
                                      </p:cBhvr>
                                      <p:to>
                                        <p:strVal val="visible"/>
                                      </p:to>
                                    </p:set>
                                    <p:animEffect transition="in" filter="wipe(left)">
                                      <p:cBhvr>
                                        <p:cTn id="27" dur="500"/>
                                        <p:tgtEl>
                                          <p:spTgt spid="2565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654"/>
                                        </p:tgtEl>
                                        <p:attrNameLst>
                                          <p:attrName>style.visibility</p:attrName>
                                        </p:attrNameLst>
                                      </p:cBhvr>
                                      <p:to>
                                        <p:strVal val="visible"/>
                                      </p:to>
                                    </p:set>
                                    <p:animEffect transition="in" filter="wipe(left)">
                                      <p:cBhvr>
                                        <p:cTn id="32" dur="500"/>
                                        <p:tgtEl>
                                          <p:spTgt spid="2565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5655"/>
                                        </p:tgtEl>
                                        <p:attrNameLst>
                                          <p:attrName>style.visibility</p:attrName>
                                        </p:attrNameLst>
                                      </p:cBhvr>
                                      <p:to>
                                        <p:strVal val="visible"/>
                                      </p:to>
                                    </p:set>
                                    <p:animEffect transition="in" filter="wipe(left)">
                                      <p:cBhvr>
                                        <p:cTn id="37" dur="500"/>
                                        <p:tgtEl>
                                          <p:spTgt spid="2565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645"/>
                                        </p:tgtEl>
                                        <p:attrNameLst>
                                          <p:attrName>style.visibility</p:attrName>
                                        </p:attrNameLst>
                                      </p:cBhvr>
                                      <p:to>
                                        <p:strVal val="visible"/>
                                      </p:to>
                                    </p:set>
                                    <p:animEffect transition="in" filter="wipe(left)">
                                      <p:cBhvr>
                                        <p:cTn id="42" dur="500"/>
                                        <p:tgtEl>
                                          <p:spTgt spid="2564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646"/>
                                        </p:tgtEl>
                                        <p:attrNameLst>
                                          <p:attrName>style.visibility</p:attrName>
                                        </p:attrNameLst>
                                      </p:cBhvr>
                                      <p:to>
                                        <p:strVal val="visible"/>
                                      </p:to>
                                    </p:set>
                                    <p:animEffect transition="in" filter="wipe(left)">
                                      <p:cBhvr>
                                        <p:cTn id="47" dur="500"/>
                                        <p:tgtEl>
                                          <p:spTgt spid="256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5647"/>
                                        </p:tgtEl>
                                        <p:attrNameLst>
                                          <p:attrName>style.visibility</p:attrName>
                                        </p:attrNameLst>
                                      </p:cBhvr>
                                      <p:to>
                                        <p:strVal val="visible"/>
                                      </p:to>
                                    </p:set>
                                    <p:animEffect transition="in" filter="wipe(left)">
                                      <p:cBhvr>
                                        <p:cTn id="52" dur="500"/>
                                        <p:tgtEl>
                                          <p:spTgt spid="2564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651"/>
                                        </p:tgtEl>
                                        <p:attrNameLst>
                                          <p:attrName>style.visibility</p:attrName>
                                        </p:attrNameLst>
                                      </p:cBhvr>
                                      <p:to>
                                        <p:strVal val="visible"/>
                                      </p:to>
                                    </p:set>
                                    <p:animEffect transition="in" filter="wipe(left)">
                                      <p:cBhvr>
                                        <p:cTn id="57" dur="500"/>
                                        <p:tgtEl>
                                          <p:spTgt spid="2565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5656"/>
                                        </p:tgtEl>
                                        <p:attrNameLst>
                                          <p:attrName>style.visibility</p:attrName>
                                        </p:attrNameLst>
                                      </p:cBhvr>
                                      <p:to>
                                        <p:strVal val="visible"/>
                                      </p:to>
                                    </p:set>
                                    <p:animEffect transition="in" filter="wipe(left)">
                                      <p:cBhvr>
                                        <p:cTn id="62" dur="500"/>
                                        <p:tgtEl>
                                          <p:spTgt spid="2565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5657"/>
                                        </p:tgtEl>
                                        <p:attrNameLst>
                                          <p:attrName>style.visibility</p:attrName>
                                        </p:attrNameLst>
                                      </p:cBhvr>
                                      <p:to>
                                        <p:strVal val="visible"/>
                                      </p:to>
                                    </p:set>
                                    <p:animEffect transition="in" filter="wipe(left)">
                                      <p:cBhvr>
                                        <p:cTn id="67" dur="500"/>
                                        <p:tgtEl>
                                          <p:spTgt spid="2565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5658"/>
                                        </p:tgtEl>
                                        <p:attrNameLst>
                                          <p:attrName>style.visibility</p:attrName>
                                        </p:attrNameLst>
                                      </p:cBhvr>
                                      <p:to>
                                        <p:strVal val="visible"/>
                                      </p:to>
                                    </p:set>
                                    <p:animEffect transition="in" filter="wipe(left)">
                                      <p:cBhvr>
                                        <p:cTn id="72" dur="500"/>
                                        <p:tgtEl>
                                          <p:spTgt spid="2565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left)">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50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wipe(left)">
                                      <p:cBhvr>
                                        <p:cTn id="87" dur="50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wipe(left)">
                                      <p:cBhvr>
                                        <p:cTn id="92" dur="500"/>
                                        <p:tgtEl>
                                          <p:spTgt spid="19"/>
                                        </p:tgtEl>
                                      </p:cBhvr>
                                    </p:animEffect>
                                  </p:childTnLst>
                                </p:cTn>
                              </p:par>
                              <p:par>
                                <p:cTn id="93" presetID="22" presetClass="entr" presetSubtype="8" fill="hold" nodeType="with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wipe(left)">
                                      <p:cBhvr>
                                        <p:cTn id="95" dur="500"/>
                                        <p:tgtEl>
                                          <p:spTgt spid="2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wipe(left)">
                                      <p:cBhvr>
                                        <p:cTn id="10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autoUpdateAnimBg="0"/>
      <p:bldP spid="25643" grpId="0" autoUpdateAnimBg="0"/>
      <p:bldP spid="25644" grpId="0" autoUpdateAnimBg="0"/>
      <p:bldP spid="25645" grpId="0" autoUpdateAnimBg="0"/>
      <p:bldP spid="25646" grpId="0" autoUpdateAnimBg="0"/>
      <p:bldP spid="25647" grpId="0" autoUpdateAnimBg="0"/>
      <p:bldP spid="25651" grpId="0" autoUpdateAnimBg="0"/>
      <p:bldP spid="25653" grpId="0" autoUpdateAnimBg="0"/>
      <p:bldP spid="25654" grpId="0" autoUpdateAnimBg="0"/>
      <p:bldP spid="25657" grpId="0" autoUpdateAnimBg="0"/>
      <p:bldP spid="16" grpId="0" autoUpdateAnimBg="0"/>
      <p:bldP spid="17" grpId="0" autoUpdateAnimBg="0"/>
      <p:bldP spid="18" grpId="0" autoUpdateAnimBg="0"/>
      <p:bldP spid="19" grpId="0" autoUpdateAnimBg="0"/>
      <p:bldP spid="2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reeform 2"/>
          <p:cNvSpPr/>
          <p:nvPr/>
        </p:nvSpPr>
        <p:spPr bwMode="auto">
          <a:xfrm>
            <a:off x="5618163" y="1731963"/>
            <a:ext cx="1100137" cy="1346200"/>
          </a:xfrm>
          <a:custGeom>
            <a:avLst/>
            <a:gdLst>
              <a:gd name="T0" fmla="*/ 2147483647 w 693"/>
              <a:gd name="T1" fmla="*/ 2147483647 h 848"/>
              <a:gd name="T2" fmla="*/ 2147483647 w 693"/>
              <a:gd name="T3" fmla="*/ 2147483647 h 848"/>
              <a:gd name="T4" fmla="*/ 2147483647 w 693"/>
              <a:gd name="T5" fmla="*/ 2147483647 h 848"/>
              <a:gd name="T6" fmla="*/ 2147483647 w 693"/>
              <a:gd name="T7" fmla="*/ 2147483647 h 848"/>
              <a:gd name="T8" fmla="*/ 2147483647 w 693"/>
              <a:gd name="T9" fmla="*/ 2147483647 h 848"/>
              <a:gd name="T10" fmla="*/ 2147483647 w 693"/>
              <a:gd name="T11" fmla="*/ 2147483647 h 848"/>
              <a:gd name="T12" fmla="*/ 2147483647 w 693"/>
              <a:gd name="T13" fmla="*/ 2147483647 h 848"/>
              <a:gd name="T14" fmla="*/ 2147483647 w 693"/>
              <a:gd name="T15" fmla="*/ 0 h 848"/>
              <a:gd name="T16" fmla="*/ 2147483647 w 693"/>
              <a:gd name="T17" fmla="*/ 2147483647 h 848"/>
              <a:gd name="T18" fmla="*/ 2147483647 w 693"/>
              <a:gd name="T19" fmla="*/ 2147483647 h 848"/>
              <a:gd name="T20" fmla="*/ 2147483647 w 693"/>
              <a:gd name="T21" fmla="*/ 2147483647 h 848"/>
              <a:gd name="T22" fmla="*/ 2147483647 w 693"/>
              <a:gd name="T23" fmla="*/ 2147483647 h 848"/>
              <a:gd name="T24" fmla="*/ 2147483647 w 693"/>
              <a:gd name="T25" fmla="*/ 2147483647 h 848"/>
              <a:gd name="T26" fmla="*/ 2147483647 w 693"/>
              <a:gd name="T27" fmla="*/ 2147483647 h 848"/>
              <a:gd name="T28" fmla="*/ 2147483647 w 693"/>
              <a:gd name="T29" fmla="*/ 2147483647 h 848"/>
              <a:gd name="T30" fmla="*/ 2147483647 w 693"/>
              <a:gd name="T31" fmla="*/ 2147483647 h 848"/>
              <a:gd name="T32" fmla="*/ 2147483647 w 693"/>
              <a:gd name="T33" fmla="*/ 2147483647 h 848"/>
              <a:gd name="T34" fmla="*/ 2147483647 w 693"/>
              <a:gd name="T35" fmla="*/ 2147483647 h 848"/>
              <a:gd name="T36" fmla="*/ 2147483647 w 693"/>
              <a:gd name="T37" fmla="*/ 2147483647 h 848"/>
              <a:gd name="T38" fmla="*/ 2147483647 w 693"/>
              <a:gd name="T39" fmla="*/ 2147483647 h 848"/>
              <a:gd name="T40" fmla="*/ 2147483647 w 693"/>
              <a:gd name="T41" fmla="*/ 2147483647 h 848"/>
              <a:gd name="T42" fmla="*/ 2147483647 w 693"/>
              <a:gd name="T43" fmla="*/ 2147483647 h 848"/>
              <a:gd name="T44" fmla="*/ 2147483647 w 693"/>
              <a:gd name="T45" fmla="*/ 2147483647 h 848"/>
              <a:gd name="T46" fmla="*/ 2147483647 w 693"/>
              <a:gd name="T47" fmla="*/ 2147483647 h 848"/>
              <a:gd name="T48" fmla="*/ 2147483647 w 693"/>
              <a:gd name="T49" fmla="*/ 2147483647 h 848"/>
              <a:gd name="T50" fmla="*/ 2147483647 w 693"/>
              <a:gd name="T51" fmla="*/ 2147483647 h 8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93"/>
              <a:gd name="T79" fmla="*/ 0 h 848"/>
              <a:gd name="T80" fmla="*/ 693 w 693"/>
              <a:gd name="T81" fmla="*/ 848 h 84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93" h="848">
                <a:moveTo>
                  <a:pt x="691" y="842"/>
                </a:moveTo>
                <a:cubicBezTo>
                  <a:pt x="690" y="848"/>
                  <a:pt x="12" y="841"/>
                  <a:pt x="9" y="846"/>
                </a:cubicBezTo>
                <a:cubicBezTo>
                  <a:pt x="9" y="846"/>
                  <a:pt x="7" y="738"/>
                  <a:pt x="7" y="738"/>
                </a:cubicBezTo>
                <a:cubicBezTo>
                  <a:pt x="6" y="608"/>
                  <a:pt x="0" y="161"/>
                  <a:pt x="11" y="42"/>
                </a:cubicBezTo>
                <a:cubicBezTo>
                  <a:pt x="29" y="30"/>
                  <a:pt x="49" y="27"/>
                  <a:pt x="71" y="24"/>
                </a:cubicBezTo>
                <a:cubicBezTo>
                  <a:pt x="89" y="18"/>
                  <a:pt x="91" y="16"/>
                  <a:pt x="113" y="14"/>
                </a:cubicBezTo>
                <a:cubicBezTo>
                  <a:pt x="120" y="12"/>
                  <a:pt x="126" y="10"/>
                  <a:pt x="133" y="6"/>
                </a:cubicBezTo>
                <a:cubicBezTo>
                  <a:pt x="144" y="4"/>
                  <a:pt x="151" y="0"/>
                  <a:pt x="163" y="0"/>
                </a:cubicBezTo>
                <a:cubicBezTo>
                  <a:pt x="175" y="0"/>
                  <a:pt x="192" y="4"/>
                  <a:pt x="203" y="8"/>
                </a:cubicBezTo>
                <a:cubicBezTo>
                  <a:pt x="213" y="13"/>
                  <a:pt x="221" y="11"/>
                  <a:pt x="231" y="22"/>
                </a:cubicBezTo>
                <a:cubicBezTo>
                  <a:pt x="241" y="33"/>
                  <a:pt x="255" y="61"/>
                  <a:pt x="265" y="74"/>
                </a:cubicBezTo>
                <a:cubicBezTo>
                  <a:pt x="268" y="84"/>
                  <a:pt x="283" y="89"/>
                  <a:pt x="289" y="98"/>
                </a:cubicBezTo>
                <a:cubicBezTo>
                  <a:pt x="293" y="103"/>
                  <a:pt x="297" y="116"/>
                  <a:pt x="297" y="116"/>
                </a:cubicBezTo>
                <a:cubicBezTo>
                  <a:pt x="301" y="141"/>
                  <a:pt x="313" y="163"/>
                  <a:pt x="323" y="186"/>
                </a:cubicBezTo>
                <a:cubicBezTo>
                  <a:pt x="326" y="192"/>
                  <a:pt x="325" y="199"/>
                  <a:pt x="329" y="204"/>
                </a:cubicBezTo>
                <a:cubicBezTo>
                  <a:pt x="332" y="208"/>
                  <a:pt x="335" y="211"/>
                  <a:pt x="337" y="216"/>
                </a:cubicBezTo>
                <a:cubicBezTo>
                  <a:pt x="345" y="240"/>
                  <a:pt x="355" y="272"/>
                  <a:pt x="377" y="286"/>
                </a:cubicBezTo>
                <a:cubicBezTo>
                  <a:pt x="382" y="294"/>
                  <a:pt x="388" y="303"/>
                  <a:pt x="397" y="306"/>
                </a:cubicBezTo>
                <a:cubicBezTo>
                  <a:pt x="403" y="312"/>
                  <a:pt x="410" y="322"/>
                  <a:pt x="417" y="324"/>
                </a:cubicBezTo>
                <a:cubicBezTo>
                  <a:pt x="423" y="334"/>
                  <a:pt x="435" y="334"/>
                  <a:pt x="445" y="340"/>
                </a:cubicBezTo>
                <a:cubicBezTo>
                  <a:pt x="461" y="365"/>
                  <a:pt x="490" y="362"/>
                  <a:pt x="517" y="366"/>
                </a:cubicBezTo>
                <a:cubicBezTo>
                  <a:pt x="530" y="365"/>
                  <a:pt x="544" y="367"/>
                  <a:pt x="557" y="364"/>
                </a:cubicBezTo>
                <a:cubicBezTo>
                  <a:pt x="562" y="363"/>
                  <a:pt x="590" y="342"/>
                  <a:pt x="595" y="340"/>
                </a:cubicBezTo>
                <a:cubicBezTo>
                  <a:pt x="625" y="330"/>
                  <a:pt x="616" y="320"/>
                  <a:pt x="645" y="310"/>
                </a:cubicBezTo>
                <a:cubicBezTo>
                  <a:pt x="651" y="301"/>
                  <a:pt x="676" y="274"/>
                  <a:pt x="685" y="268"/>
                </a:cubicBezTo>
                <a:cubicBezTo>
                  <a:pt x="693" y="325"/>
                  <a:pt x="688" y="593"/>
                  <a:pt x="693" y="654"/>
                </a:cubicBezTo>
              </a:path>
            </a:pathLst>
          </a:custGeom>
          <a:pattFill prst="wdUpDiag">
            <a:fgClr>
              <a:schemeClr val="hlink"/>
            </a:fgClr>
            <a:bgClr>
              <a:schemeClr val="bg1"/>
            </a:bgClr>
          </a:pattFill>
          <a:ln w="9525">
            <a:noFill/>
            <a:round/>
          </a:ln>
        </p:spPr>
        <p:txBody>
          <a:bodyPr/>
          <a:lstStyle/>
          <a:p>
            <a:pPr algn="ctr"/>
            <a:endParaRPr lang="zh-CN" altLang="en-US"/>
          </a:p>
        </p:txBody>
      </p:sp>
      <p:sp>
        <p:nvSpPr>
          <p:cNvPr id="70659" name="Rectangle 3"/>
          <p:cNvSpPr>
            <a:spLocks noChangeArrowheads="1"/>
          </p:cNvSpPr>
          <p:nvPr/>
        </p:nvSpPr>
        <p:spPr bwMode="auto">
          <a:xfrm>
            <a:off x="1754188" y="2060575"/>
            <a:ext cx="1439862" cy="1079500"/>
          </a:xfrm>
          <a:prstGeom prst="rect">
            <a:avLst/>
          </a:prstGeom>
          <a:solidFill>
            <a:schemeClr val="accent1"/>
          </a:solidFill>
          <a:ln w="9525">
            <a:solidFill>
              <a:schemeClr val="tx1"/>
            </a:solidFill>
            <a:miter lim="800000"/>
          </a:ln>
        </p:spPr>
        <p:txBody>
          <a:bodyPr wrap="none" anchor="ctr"/>
          <a:lstStyle/>
          <a:p>
            <a:pPr algn="ctr"/>
            <a:endParaRPr lang="zh-CN" altLang="en-US"/>
          </a:p>
        </p:txBody>
      </p:sp>
      <p:sp>
        <p:nvSpPr>
          <p:cNvPr id="70660" name="Text Box 4"/>
          <p:cNvSpPr txBox="1">
            <a:spLocks noChangeArrowheads="1"/>
          </p:cNvSpPr>
          <p:nvPr/>
        </p:nvSpPr>
        <p:spPr bwMode="auto">
          <a:xfrm>
            <a:off x="285750" y="1143000"/>
            <a:ext cx="5000625" cy="461963"/>
          </a:xfrm>
          <a:prstGeom prst="rect">
            <a:avLst/>
          </a:prstGeom>
          <a:noFill/>
          <a:ln w="12700" cap="sq">
            <a:noFill/>
            <a:miter lim="800000"/>
            <a:headEnd type="none" w="sm" len="sm"/>
            <a:tailEnd type="none" w="sm" len="sm"/>
          </a:ln>
        </p:spPr>
        <p:txBody>
          <a:bodyPr>
            <a:spAutoFit/>
          </a:bodyPr>
          <a:lstStyle/>
          <a:p>
            <a:r>
              <a:rPr kumimoji="1" lang="en-US" altLang="zh-CN" b="1">
                <a:solidFill>
                  <a:srgbClr val="FF0000"/>
                </a:solidFill>
                <a:cs typeface="Times New Roman" panose="02020603050405020304" pitchFamily="18" charset="0"/>
              </a:rPr>
              <a:t>1</a:t>
            </a:r>
            <a:r>
              <a:rPr kumimoji="1" lang="zh-CN" altLang="en-US" b="1">
                <a:solidFill>
                  <a:srgbClr val="FF0000"/>
                </a:solidFill>
                <a:latin typeface="宋体" panose="02010600030101010101" pitchFamily="2" charset="-122"/>
              </a:rPr>
              <a:t>、准静态过程的体积功</a:t>
            </a:r>
            <a:r>
              <a:rPr lang="en-US" altLang="zh-CN" b="1" i="1">
                <a:solidFill>
                  <a:srgbClr val="FF0000"/>
                </a:solidFill>
                <a:cs typeface="Times New Roman" panose="02020603050405020304" pitchFamily="18" charset="0"/>
              </a:rPr>
              <a:t>W</a:t>
            </a:r>
            <a:endParaRPr kumimoji="1" lang="zh-CN" altLang="en-US" b="1">
              <a:solidFill>
                <a:srgbClr val="FF0000"/>
              </a:solidFill>
              <a:latin typeface="宋体" panose="02010600030101010101" pitchFamily="2" charset="-122"/>
            </a:endParaRPr>
          </a:p>
        </p:txBody>
      </p:sp>
      <p:sp>
        <p:nvSpPr>
          <p:cNvPr id="70661" name="Rectangle 5"/>
          <p:cNvSpPr>
            <a:spLocks noChangeArrowheads="1"/>
          </p:cNvSpPr>
          <p:nvPr/>
        </p:nvSpPr>
        <p:spPr bwMode="auto">
          <a:xfrm>
            <a:off x="1609725" y="2001838"/>
            <a:ext cx="144463" cy="1195387"/>
          </a:xfrm>
          <a:prstGeom prst="rect">
            <a:avLst/>
          </a:prstGeom>
          <a:solidFill>
            <a:schemeClr val="accent1"/>
          </a:solidFill>
          <a:ln w="9525">
            <a:solidFill>
              <a:schemeClr val="tx1"/>
            </a:solidFill>
            <a:miter lim="800000"/>
          </a:ln>
        </p:spPr>
        <p:txBody>
          <a:bodyPr wrap="none" anchor="ctr"/>
          <a:lstStyle/>
          <a:p>
            <a:pPr algn="ctr"/>
            <a:endParaRPr lang="zh-CN" altLang="en-US"/>
          </a:p>
        </p:txBody>
      </p:sp>
      <p:sp>
        <p:nvSpPr>
          <p:cNvPr id="70662" name="Rectangle 6"/>
          <p:cNvSpPr>
            <a:spLocks noChangeArrowheads="1"/>
          </p:cNvSpPr>
          <p:nvPr/>
        </p:nvSpPr>
        <p:spPr bwMode="auto">
          <a:xfrm>
            <a:off x="1754188" y="2132013"/>
            <a:ext cx="1360487" cy="936625"/>
          </a:xfrm>
          <a:prstGeom prst="rect">
            <a:avLst/>
          </a:prstGeom>
          <a:solidFill>
            <a:schemeClr val="accent1"/>
          </a:solidFill>
          <a:ln w="9525">
            <a:solidFill>
              <a:schemeClr val="tx1"/>
            </a:solidFill>
            <a:miter lim="800000"/>
          </a:ln>
        </p:spPr>
        <p:txBody>
          <a:bodyPr wrap="none" anchor="ctr"/>
          <a:lstStyle/>
          <a:p>
            <a:pPr algn="ctr"/>
            <a:endParaRPr lang="zh-CN" altLang="en-US"/>
          </a:p>
        </p:txBody>
      </p:sp>
      <p:sp>
        <p:nvSpPr>
          <p:cNvPr id="70663" name="Rectangle 7"/>
          <p:cNvSpPr>
            <a:spLocks noChangeArrowheads="1"/>
          </p:cNvSpPr>
          <p:nvPr/>
        </p:nvSpPr>
        <p:spPr bwMode="auto">
          <a:xfrm>
            <a:off x="1754188" y="2132013"/>
            <a:ext cx="503237" cy="936625"/>
          </a:xfrm>
          <a:prstGeom prst="rect">
            <a:avLst/>
          </a:prstGeom>
          <a:pattFill prst="pct10">
            <a:fgClr>
              <a:schemeClr val="tx2"/>
            </a:fgClr>
            <a:bgClr>
              <a:schemeClr val="bg1"/>
            </a:bgClr>
          </a:pattFill>
          <a:ln w="9525">
            <a:solidFill>
              <a:schemeClr val="tx1"/>
            </a:solidFill>
            <a:miter lim="800000"/>
          </a:ln>
        </p:spPr>
        <p:txBody>
          <a:bodyPr wrap="none" anchor="ctr"/>
          <a:lstStyle/>
          <a:p>
            <a:pPr algn="ctr"/>
            <a:endParaRPr lang="zh-CN" altLang="en-US"/>
          </a:p>
        </p:txBody>
      </p:sp>
      <p:grpSp>
        <p:nvGrpSpPr>
          <p:cNvPr id="2" name="Group 8"/>
          <p:cNvGrpSpPr/>
          <p:nvPr/>
        </p:nvGrpSpPr>
        <p:grpSpPr bwMode="auto">
          <a:xfrm>
            <a:off x="2257425" y="2132013"/>
            <a:ext cx="1152525" cy="936625"/>
            <a:chOff x="4331" y="1389"/>
            <a:chExt cx="726" cy="590"/>
          </a:xfrm>
        </p:grpSpPr>
        <p:sp>
          <p:nvSpPr>
            <p:cNvPr id="6194" name="Rectangle 9"/>
            <p:cNvSpPr>
              <a:spLocks noChangeArrowheads="1"/>
            </p:cNvSpPr>
            <p:nvPr/>
          </p:nvSpPr>
          <p:spPr bwMode="auto">
            <a:xfrm>
              <a:off x="4377" y="1634"/>
              <a:ext cx="680" cy="90"/>
            </a:xfrm>
            <a:prstGeom prst="rect">
              <a:avLst/>
            </a:prstGeom>
            <a:blipFill dpi="0" rotWithShape="1">
              <a:blip r:embed="rId1">
                <a:alphaModFix amt="30000"/>
              </a:blip>
              <a:srcRect/>
              <a:tile tx="0" ty="0" sx="100000" sy="100000" flip="none" algn="tl"/>
            </a:blipFill>
            <a:ln w="9525">
              <a:solidFill>
                <a:srgbClr val="969696"/>
              </a:solidFill>
              <a:miter lim="800000"/>
            </a:ln>
          </p:spPr>
          <p:txBody>
            <a:bodyPr wrap="none" anchor="ctr"/>
            <a:lstStyle/>
            <a:p>
              <a:pPr algn="ctr"/>
              <a:endParaRPr lang="zh-CN" altLang="en-US"/>
            </a:p>
          </p:txBody>
        </p:sp>
        <p:sp>
          <p:nvSpPr>
            <p:cNvPr id="6195" name="Rectangle 10"/>
            <p:cNvSpPr>
              <a:spLocks noChangeArrowheads="1"/>
            </p:cNvSpPr>
            <p:nvPr/>
          </p:nvSpPr>
          <p:spPr bwMode="auto">
            <a:xfrm>
              <a:off x="4331" y="1389"/>
              <a:ext cx="46" cy="590"/>
            </a:xfrm>
            <a:prstGeom prst="rect">
              <a:avLst/>
            </a:prstGeom>
            <a:blipFill dpi="0" rotWithShape="1">
              <a:blip r:embed="rId1">
                <a:alphaModFix amt="30000"/>
              </a:blip>
              <a:srcRect/>
              <a:tile tx="0" ty="0" sx="100000" sy="100000" flip="none" algn="tl"/>
            </a:blipFill>
            <a:ln w="9525">
              <a:solidFill>
                <a:srgbClr val="969696"/>
              </a:solidFill>
              <a:miter lim="800000"/>
            </a:ln>
          </p:spPr>
          <p:txBody>
            <a:bodyPr wrap="none" anchor="ctr"/>
            <a:lstStyle/>
            <a:p>
              <a:pPr algn="ctr"/>
              <a:endParaRPr lang="zh-CN" altLang="en-US"/>
            </a:p>
          </p:txBody>
        </p:sp>
      </p:grpSp>
      <p:grpSp>
        <p:nvGrpSpPr>
          <p:cNvPr id="3" name="Group 11"/>
          <p:cNvGrpSpPr/>
          <p:nvPr/>
        </p:nvGrpSpPr>
        <p:grpSpPr bwMode="auto">
          <a:xfrm>
            <a:off x="2257425" y="2132013"/>
            <a:ext cx="1152525" cy="936625"/>
            <a:chOff x="4195" y="1389"/>
            <a:chExt cx="726" cy="590"/>
          </a:xfrm>
        </p:grpSpPr>
        <p:sp>
          <p:nvSpPr>
            <p:cNvPr id="6192" name="Rectangle 12"/>
            <p:cNvSpPr>
              <a:spLocks noChangeArrowheads="1"/>
            </p:cNvSpPr>
            <p:nvPr/>
          </p:nvSpPr>
          <p:spPr bwMode="auto">
            <a:xfrm>
              <a:off x="4195" y="1389"/>
              <a:ext cx="46" cy="590"/>
            </a:xfrm>
            <a:prstGeom prst="rect">
              <a:avLst/>
            </a:prstGeom>
            <a:blipFill dpi="0" rotWithShape="1">
              <a:blip r:embed="rId1"/>
              <a:srcRect/>
              <a:tile tx="0" ty="0" sx="100000" sy="100000" flip="none" algn="tl"/>
            </a:blipFill>
            <a:ln w="9525">
              <a:solidFill>
                <a:schemeClr val="tx1"/>
              </a:solidFill>
              <a:miter lim="800000"/>
            </a:ln>
          </p:spPr>
          <p:txBody>
            <a:bodyPr wrap="none" anchor="ctr"/>
            <a:lstStyle/>
            <a:p>
              <a:pPr algn="ctr"/>
              <a:endParaRPr lang="zh-CN" altLang="en-US"/>
            </a:p>
          </p:txBody>
        </p:sp>
        <p:sp>
          <p:nvSpPr>
            <p:cNvPr id="6193" name="Rectangle 13"/>
            <p:cNvSpPr>
              <a:spLocks noChangeArrowheads="1"/>
            </p:cNvSpPr>
            <p:nvPr/>
          </p:nvSpPr>
          <p:spPr bwMode="auto">
            <a:xfrm>
              <a:off x="4241" y="1634"/>
              <a:ext cx="680" cy="90"/>
            </a:xfrm>
            <a:prstGeom prst="rect">
              <a:avLst/>
            </a:prstGeom>
            <a:blipFill dpi="0" rotWithShape="1">
              <a:blip r:embed="rId1"/>
              <a:srcRect/>
              <a:tile tx="0" ty="0" sx="100000" sy="100000" flip="none" algn="tl"/>
            </a:blipFill>
            <a:ln w="9525">
              <a:solidFill>
                <a:schemeClr val="tx1"/>
              </a:solidFill>
              <a:miter lim="800000"/>
            </a:ln>
          </p:spPr>
          <p:txBody>
            <a:bodyPr wrap="none" anchor="ctr"/>
            <a:lstStyle/>
            <a:p>
              <a:pPr algn="ctr"/>
              <a:endParaRPr lang="zh-CN" altLang="en-US"/>
            </a:p>
          </p:txBody>
        </p:sp>
      </p:grpSp>
      <p:graphicFrame>
        <p:nvGraphicFramePr>
          <p:cNvPr id="70670" name="Object 14"/>
          <p:cNvGraphicFramePr>
            <a:graphicFrameLocks noChangeAspect="1"/>
          </p:cNvGraphicFramePr>
          <p:nvPr/>
        </p:nvGraphicFramePr>
        <p:xfrm>
          <a:off x="3248025" y="3609975"/>
          <a:ext cx="3908425" cy="463550"/>
        </p:xfrm>
        <a:graphic>
          <a:graphicData uri="http://schemas.openxmlformats.org/presentationml/2006/ole">
            <mc:AlternateContent xmlns:mc="http://schemas.openxmlformats.org/markup-compatibility/2006">
              <mc:Choice xmlns:v="urn:schemas-microsoft-com:vml" Requires="v">
                <p:oleObj spid="_x0000_s6145" name="Equation" r:id="rId2" imgW="41148000" imgH="4876800" progId="Equation.DSMT4">
                  <p:embed/>
                </p:oleObj>
              </mc:Choice>
              <mc:Fallback>
                <p:oleObj name="Equation" r:id="rId2" imgW="41148000" imgH="4876800" progId="Equation.DSMT4">
                  <p:embed/>
                  <p:pic>
                    <p:nvPicPr>
                      <p:cNvPr id="0" name="Object 14"/>
                      <p:cNvPicPr>
                        <a:picLocks noChangeAspect="1"/>
                      </p:cNvPicPr>
                      <p:nvPr/>
                    </p:nvPicPr>
                    <p:blipFill>
                      <a:blip r:embed="rId3"/>
                      <a:stretch>
                        <a:fillRect/>
                      </a:stretch>
                    </p:blipFill>
                    <p:spPr>
                      <a:xfrm>
                        <a:off x="3248025" y="3609975"/>
                        <a:ext cx="3908425" cy="463550"/>
                      </a:xfrm>
                      <a:prstGeom prst="rect">
                        <a:avLst/>
                      </a:prstGeom>
                      <a:noFill/>
                      <a:ln w="9525">
                        <a:noFill/>
                      </a:ln>
                    </p:spPr>
                  </p:pic>
                </p:oleObj>
              </mc:Fallback>
            </mc:AlternateContent>
          </a:graphicData>
        </a:graphic>
      </p:graphicFrame>
      <p:graphicFrame>
        <p:nvGraphicFramePr>
          <p:cNvPr id="70671" name="Object 15"/>
          <p:cNvGraphicFramePr>
            <a:graphicFrameLocks noChangeAspect="1"/>
          </p:cNvGraphicFramePr>
          <p:nvPr/>
        </p:nvGraphicFramePr>
        <p:xfrm>
          <a:off x="2843213" y="4094163"/>
          <a:ext cx="2924175" cy="811212"/>
        </p:xfrm>
        <a:graphic>
          <a:graphicData uri="http://schemas.openxmlformats.org/presentationml/2006/ole">
            <mc:AlternateContent xmlns:mc="http://schemas.openxmlformats.org/markup-compatibility/2006">
              <mc:Choice xmlns:v="urn:schemas-microsoft-com:vml" Requires="v">
                <p:oleObj spid="_x0000_s6147" name="Equation" r:id="rId4" imgW="30784800" imgH="8534400" progId="Equation.DSMT4">
                  <p:embed/>
                </p:oleObj>
              </mc:Choice>
              <mc:Fallback>
                <p:oleObj name="Equation" r:id="rId4" imgW="30784800" imgH="8534400" progId="Equation.DSMT4">
                  <p:embed/>
                  <p:pic>
                    <p:nvPicPr>
                      <p:cNvPr id="0" name="Object 15"/>
                      <p:cNvPicPr>
                        <a:picLocks noChangeAspect="1"/>
                      </p:cNvPicPr>
                      <p:nvPr/>
                    </p:nvPicPr>
                    <p:blipFill>
                      <a:blip r:embed="rId5"/>
                      <a:stretch>
                        <a:fillRect/>
                      </a:stretch>
                    </p:blipFill>
                    <p:spPr>
                      <a:xfrm>
                        <a:off x="2843213" y="4094163"/>
                        <a:ext cx="2924175" cy="811212"/>
                      </a:xfrm>
                      <a:prstGeom prst="rect">
                        <a:avLst/>
                      </a:prstGeom>
                      <a:noFill/>
                      <a:ln w="9525">
                        <a:noFill/>
                      </a:ln>
                    </p:spPr>
                  </p:pic>
                </p:oleObj>
              </mc:Fallback>
            </mc:AlternateContent>
          </a:graphicData>
        </a:graphic>
      </p:graphicFrame>
      <p:sp>
        <p:nvSpPr>
          <p:cNvPr id="70672" name="AutoShape 16"/>
          <p:cNvSpPr>
            <a:spLocks noChangeArrowheads="1"/>
          </p:cNvSpPr>
          <p:nvPr/>
        </p:nvSpPr>
        <p:spPr bwMode="auto">
          <a:xfrm>
            <a:off x="323850" y="4402138"/>
            <a:ext cx="649288" cy="144462"/>
          </a:xfrm>
          <a:prstGeom prst="rightArrow">
            <a:avLst>
              <a:gd name="adj1" fmla="val 50000"/>
              <a:gd name="adj2" fmla="val 112363"/>
            </a:avLst>
          </a:prstGeom>
          <a:solidFill>
            <a:schemeClr val="accent1"/>
          </a:solidFill>
          <a:ln w="9525">
            <a:solidFill>
              <a:schemeClr val="tx1"/>
            </a:solidFill>
            <a:miter lim="800000"/>
          </a:ln>
        </p:spPr>
        <p:txBody>
          <a:bodyPr wrap="none" anchor="ctr"/>
          <a:lstStyle/>
          <a:p>
            <a:pPr algn="ctr"/>
            <a:endParaRPr lang="zh-CN" altLang="en-US"/>
          </a:p>
        </p:txBody>
      </p:sp>
      <p:sp>
        <p:nvSpPr>
          <p:cNvPr id="70673" name="Text Box 17"/>
          <p:cNvSpPr txBox="1">
            <a:spLocks noChangeArrowheads="1"/>
          </p:cNvSpPr>
          <p:nvPr/>
        </p:nvSpPr>
        <p:spPr bwMode="auto">
          <a:xfrm>
            <a:off x="2143125" y="5719763"/>
            <a:ext cx="2520950" cy="457200"/>
          </a:xfrm>
          <a:prstGeom prst="rect">
            <a:avLst/>
          </a:prstGeom>
          <a:noFill/>
          <a:ln w="9525">
            <a:noFill/>
            <a:miter lim="800000"/>
          </a:ln>
        </p:spPr>
        <p:txBody>
          <a:bodyPr>
            <a:spAutoFit/>
          </a:bodyPr>
          <a:lstStyle/>
          <a:p>
            <a:pPr>
              <a:buClr>
                <a:srgbClr val="FF0000"/>
              </a:buClr>
              <a:buFont typeface="Wingdings" panose="05000000000000000000" pitchFamily="2" charset="2"/>
              <a:buNone/>
            </a:pPr>
            <a:r>
              <a:rPr lang="zh-CN" altLang="en-US" b="1"/>
              <a:t>（</a:t>
            </a:r>
            <a:r>
              <a:rPr lang="en-US" altLang="zh-CN" b="1"/>
              <a:t>2</a:t>
            </a:r>
            <a:r>
              <a:rPr lang="zh-CN" altLang="en-US" b="1"/>
              <a:t>）</a:t>
            </a:r>
            <a:r>
              <a:rPr lang="zh-CN" altLang="en-US" b="1">
                <a:solidFill>
                  <a:srgbClr val="FF0000"/>
                </a:solidFill>
              </a:rPr>
              <a:t>功是过程量</a:t>
            </a:r>
            <a:endParaRPr lang="zh-CN" altLang="en-US" b="1">
              <a:solidFill>
                <a:srgbClr val="FF0000"/>
              </a:solidFill>
            </a:endParaRPr>
          </a:p>
        </p:txBody>
      </p:sp>
      <p:grpSp>
        <p:nvGrpSpPr>
          <p:cNvPr id="4" name="Group 18"/>
          <p:cNvGrpSpPr/>
          <p:nvPr/>
        </p:nvGrpSpPr>
        <p:grpSpPr bwMode="auto">
          <a:xfrm>
            <a:off x="4849813" y="1281113"/>
            <a:ext cx="2835275" cy="2184400"/>
            <a:chOff x="3055" y="1056"/>
            <a:chExt cx="1786" cy="1376"/>
          </a:xfrm>
        </p:grpSpPr>
        <p:sp>
          <p:nvSpPr>
            <p:cNvPr id="6187" name="Line 19"/>
            <p:cNvSpPr>
              <a:spLocks noChangeShapeType="1"/>
            </p:cNvSpPr>
            <p:nvPr/>
          </p:nvSpPr>
          <p:spPr bwMode="auto">
            <a:xfrm flipV="1">
              <a:off x="3282" y="1192"/>
              <a:ext cx="0" cy="998"/>
            </a:xfrm>
            <a:prstGeom prst="line">
              <a:avLst/>
            </a:prstGeom>
            <a:noFill/>
            <a:ln w="38100">
              <a:solidFill>
                <a:schemeClr val="tx1"/>
              </a:solidFill>
              <a:round/>
              <a:tailEnd type="triangle" w="med" len="med"/>
            </a:ln>
          </p:spPr>
          <p:txBody>
            <a:bodyPr/>
            <a:lstStyle/>
            <a:p>
              <a:endParaRPr lang="zh-CN" altLang="en-US"/>
            </a:p>
          </p:txBody>
        </p:sp>
        <p:sp>
          <p:nvSpPr>
            <p:cNvPr id="6188" name="Line 20"/>
            <p:cNvSpPr>
              <a:spLocks noChangeShapeType="1"/>
            </p:cNvSpPr>
            <p:nvPr/>
          </p:nvSpPr>
          <p:spPr bwMode="auto">
            <a:xfrm>
              <a:off x="3282" y="2190"/>
              <a:ext cx="1360" cy="0"/>
            </a:xfrm>
            <a:prstGeom prst="line">
              <a:avLst/>
            </a:prstGeom>
            <a:noFill/>
            <a:ln w="38100">
              <a:solidFill>
                <a:schemeClr val="tx1"/>
              </a:solidFill>
              <a:round/>
              <a:tailEnd type="triangle" w="med" len="med"/>
            </a:ln>
          </p:spPr>
          <p:txBody>
            <a:bodyPr/>
            <a:lstStyle/>
            <a:p>
              <a:endParaRPr lang="zh-CN" altLang="en-US"/>
            </a:p>
          </p:txBody>
        </p:sp>
        <p:sp>
          <p:nvSpPr>
            <p:cNvPr id="6189" name="Text Box 21"/>
            <p:cNvSpPr txBox="1">
              <a:spLocks noChangeArrowheads="1"/>
            </p:cNvSpPr>
            <p:nvPr/>
          </p:nvSpPr>
          <p:spPr bwMode="auto">
            <a:xfrm>
              <a:off x="3055" y="2144"/>
              <a:ext cx="255" cy="288"/>
            </a:xfrm>
            <a:prstGeom prst="rect">
              <a:avLst/>
            </a:prstGeom>
            <a:noFill/>
            <a:ln w="9525">
              <a:noFill/>
              <a:miter lim="800000"/>
            </a:ln>
          </p:spPr>
          <p:txBody>
            <a:bodyPr wrap="none">
              <a:spAutoFit/>
            </a:bodyPr>
            <a:lstStyle/>
            <a:p>
              <a:r>
                <a:rPr lang="en-US" altLang="zh-CN" i="1"/>
                <a:t>O</a:t>
              </a:r>
              <a:endParaRPr lang="en-US" altLang="zh-CN" i="1"/>
            </a:p>
          </p:txBody>
        </p:sp>
        <p:sp>
          <p:nvSpPr>
            <p:cNvPr id="6190" name="Text Box 22"/>
            <p:cNvSpPr txBox="1">
              <a:spLocks noChangeArrowheads="1"/>
            </p:cNvSpPr>
            <p:nvPr/>
          </p:nvSpPr>
          <p:spPr bwMode="auto">
            <a:xfrm>
              <a:off x="3055" y="1056"/>
              <a:ext cx="212" cy="288"/>
            </a:xfrm>
            <a:prstGeom prst="rect">
              <a:avLst/>
            </a:prstGeom>
            <a:noFill/>
            <a:ln w="9525">
              <a:noFill/>
              <a:miter lim="800000"/>
            </a:ln>
          </p:spPr>
          <p:txBody>
            <a:bodyPr wrap="none">
              <a:spAutoFit/>
            </a:bodyPr>
            <a:lstStyle/>
            <a:p>
              <a:r>
                <a:rPr lang="en-US" altLang="zh-CN" i="1"/>
                <a:t>p</a:t>
              </a:r>
              <a:endParaRPr lang="en-US" altLang="zh-CN" i="1"/>
            </a:p>
          </p:txBody>
        </p:sp>
        <p:sp>
          <p:nvSpPr>
            <p:cNvPr id="6191" name="Text Box 23"/>
            <p:cNvSpPr txBox="1">
              <a:spLocks noChangeArrowheads="1"/>
            </p:cNvSpPr>
            <p:nvPr/>
          </p:nvSpPr>
          <p:spPr bwMode="auto">
            <a:xfrm>
              <a:off x="4597" y="2144"/>
              <a:ext cx="244" cy="288"/>
            </a:xfrm>
            <a:prstGeom prst="rect">
              <a:avLst/>
            </a:prstGeom>
            <a:noFill/>
            <a:ln w="9525">
              <a:noFill/>
              <a:miter lim="800000"/>
            </a:ln>
          </p:spPr>
          <p:txBody>
            <a:bodyPr wrap="none">
              <a:spAutoFit/>
            </a:bodyPr>
            <a:lstStyle/>
            <a:p>
              <a:r>
                <a:rPr lang="en-US" altLang="zh-CN" i="1"/>
                <a:t>V</a:t>
              </a:r>
              <a:endParaRPr lang="en-US" altLang="zh-CN" i="1"/>
            </a:p>
          </p:txBody>
        </p:sp>
      </p:grpSp>
      <p:grpSp>
        <p:nvGrpSpPr>
          <p:cNvPr id="5" name="Group 24"/>
          <p:cNvGrpSpPr/>
          <p:nvPr/>
        </p:nvGrpSpPr>
        <p:grpSpPr bwMode="auto">
          <a:xfrm>
            <a:off x="5641975" y="1685925"/>
            <a:ext cx="1063625" cy="625475"/>
            <a:chOff x="3554" y="1311"/>
            <a:chExt cx="670" cy="394"/>
          </a:xfrm>
        </p:grpSpPr>
        <p:sp>
          <p:nvSpPr>
            <p:cNvPr id="6185" name="Freeform 25"/>
            <p:cNvSpPr/>
            <p:nvPr/>
          </p:nvSpPr>
          <p:spPr bwMode="auto">
            <a:xfrm>
              <a:off x="3554" y="1311"/>
              <a:ext cx="670" cy="394"/>
            </a:xfrm>
            <a:custGeom>
              <a:avLst/>
              <a:gdLst>
                <a:gd name="T0" fmla="*/ 0 w 670"/>
                <a:gd name="T1" fmla="*/ 62 h 394"/>
                <a:gd name="T2" fmla="*/ 213 w 670"/>
                <a:gd name="T3" fmla="*/ 42 h 394"/>
                <a:gd name="T4" fmla="*/ 368 w 670"/>
                <a:gd name="T5" fmla="*/ 316 h 394"/>
                <a:gd name="T6" fmla="*/ 524 w 670"/>
                <a:gd name="T7" fmla="*/ 390 h 394"/>
                <a:gd name="T8" fmla="*/ 670 w 670"/>
                <a:gd name="T9" fmla="*/ 289 h 394"/>
                <a:gd name="T10" fmla="*/ 0 60000 65536"/>
                <a:gd name="T11" fmla="*/ 0 60000 65536"/>
                <a:gd name="T12" fmla="*/ 0 60000 65536"/>
                <a:gd name="T13" fmla="*/ 0 60000 65536"/>
                <a:gd name="T14" fmla="*/ 0 60000 65536"/>
                <a:gd name="T15" fmla="*/ 0 w 670"/>
                <a:gd name="T16" fmla="*/ 0 h 394"/>
                <a:gd name="T17" fmla="*/ 670 w 670"/>
                <a:gd name="T18" fmla="*/ 394 h 394"/>
              </a:gdLst>
              <a:ahLst/>
              <a:cxnLst>
                <a:cxn ang="T10">
                  <a:pos x="T0" y="T1"/>
                </a:cxn>
                <a:cxn ang="T11">
                  <a:pos x="T2" y="T3"/>
                </a:cxn>
                <a:cxn ang="T12">
                  <a:pos x="T4" y="T5"/>
                </a:cxn>
                <a:cxn ang="T13">
                  <a:pos x="T6" y="T7"/>
                </a:cxn>
                <a:cxn ang="T14">
                  <a:pos x="T8" y="T9"/>
                </a:cxn>
              </a:cxnLst>
              <a:rect l="T15" t="T16" r="T17" b="T18"/>
              <a:pathLst>
                <a:path w="670" h="394">
                  <a:moveTo>
                    <a:pt x="0" y="62"/>
                  </a:moveTo>
                  <a:cubicBezTo>
                    <a:pt x="35" y="59"/>
                    <a:pt x="152" y="0"/>
                    <a:pt x="213" y="42"/>
                  </a:cubicBezTo>
                  <a:cubicBezTo>
                    <a:pt x="274" y="84"/>
                    <a:pt x="316" y="258"/>
                    <a:pt x="368" y="316"/>
                  </a:cubicBezTo>
                  <a:cubicBezTo>
                    <a:pt x="420" y="374"/>
                    <a:pt x="474" y="394"/>
                    <a:pt x="524" y="390"/>
                  </a:cubicBezTo>
                  <a:cubicBezTo>
                    <a:pt x="574" y="386"/>
                    <a:pt x="640" y="310"/>
                    <a:pt x="670" y="289"/>
                  </a:cubicBezTo>
                </a:path>
              </a:pathLst>
            </a:custGeom>
            <a:noFill/>
            <a:ln w="19050">
              <a:solidFill>
                <a:srgbClr val="3333CC"/>
              </a:solidFill>
              <a:round/>
              <a:headEnd type="oval" w="med" len="med"/>
              <a:tailEnd type="oval" w="med" len="med"/>
            </a:ln>
          </p:spPr>
          <p:txBody>
            <a:bodyPr/>
            <a:lstStyle/>
            <a:p>
              <a:pPr algn="ctr"/>
              <a:endParaRPr lang="zh-CN" altLang="en-US"/>
            </a:p>
          </p:txBody>
        </p:sp>
        <p:sp>
          <p:nvSpPr>
            <p:cNvPr id="6186" name="Line 26"/>
            <p:cNvSpPr>
              <a:spLocks noChangeShapeType="1"/>
            </p:cNvSpPr>
            <p:nvPr/>
          </p:nvSpPr>
          <p:spPr bwMode="auto">
            <a:xfrm>
              <a:off x="3878" y="1555"/>
              <a:ext cx="46" cy="91"/>
            </a:xfrm>
            <a:prstGeom prst="line">
              <a:avLst/>
            </a:prstGeom>
            <a:noFill/>
            <a:ln w="19050">
              <a:solidFill>
                <a:srgbClr val="3333CC"/>
              </a:solidFill>
              <a:round/>
              <a:tailEnd type="triangle" w="med" len="med"/>
            </a:ln>
          </p:spPr>
          <p:txBody>
            <a:bodyPr/>
            <a:lstStyle/>
            <a:p>
              <a:endParaRPr lang="zh-CN" altLang="en-US"/>
            </a:p>
          </p:txBody>
        </p:sp>
      </p:grpSp>
      <p:sp>
        <p:nvSpPr>
          <p:cNvPr id="70683" name="Rectangle 27"/>
          <p:cNvSpPr>
            <a:spLocks noChangeArrowheads="1"/>
          </p:cNvSpPr>
          <p:nvPr/>
        </p:nvSpPr>
        <p:spPr bwMode="auto">
          <a:xfrm>
            <a:off x="6003925" y="1809750"/>
            <a:ext cx="69850" cy="1271588"/>
          </a:xfrm>
          <a:prstGeom prst="rect">
            <a:avLst/>
          </a:prstGeom>
          <a:pattFill prst="wdUpDiag">
            <a:fgClr>
              <a:srgbClr val="0000FF"/>
            </a:fgClr>
            <a:bgClr>
              <a:schemeClr val="bg1"/>
            </a:bgClr>
          </a:pattFill>
          <a:ln w="9525">
            <a:solidFill>
              <a:srgbClr val="0000FF"/>
            </a:solidFill>
            <a:miter lim="800000"/>
          </a:ln>
        </p:spPr>
        <p:txBody>
          <a:bodyPr wrap="none" anchor="ctr"/>
          <a:lstStyle/>
          <a:p>
            <a:pPr algn="ctr"/>
            <a:endParaRPr lang="zh-CN" altLang="en-US"/>
          </a:p>
        </p:txBody>
      </p:sp>
      <p:sp>
        <p:nvSpPr>
          <p:cNvPr id="70684" name="Text Box 28"/>
          <p:cNvSpPr txBox="1">
            <a:spLocks noChangeArrowheads="1"/>
          </p:cNvSpPr>
          <p:nvPr/>
        </p:nvSpPr>
        <p:spPr bwMode="auto">
          <a:xfrm>
            <a:off x="5810250" y="3076575"/>
            <a:ext cx="463550" cy="366713"/>
          </a:xfrm>
          <a:prstGeom prst="rect">
            <a:avLst/>
          </a:prstGeom>
          <a:noFill/>
          <a:ln w="9525">
            <a:noFill/>
            <a:miter lim="800000"/>
          </a:ln>
        </p:spPr>
        <p:txBody>
          <a:bodyPr wrap="none">
            <a:spAutoFit/>
          </a:bodyPr>
          <a:lstStyle/>
          <a:p>
            <a:r>
              <a:rPr lang="en-US" altLang="zh-CN" sz="1800">
                <a:solidFill>
                  <a:srgbClr val="FF0000"/>
                </a:solidFill>
              </a:rPr>
              <a:t>d</a:t>
            </a:r>
            <a:r>
              <a:rPr lang="en-US" altLang="zh-CN" sz="1800" i="1">
                <a:solidFill>
                  <a:srgbClr val="FF0000"/>
                </a:solidFill>
              </a:rPr>
              <a:t>V</a:t>
            </a:r>
            <a:endParaRPr lang="en-US" altLang="zh-CN" sz="1800" i="1">
              <a:solidFill>
                <a:srgbClr val="FF0000"/>
              </a:solidFill>
            </a:endParaRPr>
          </a:p>
        </p:txBody>
      </p:sp>
      <p:sp>
        <p:nvSpPr>
          <p:cNvPr id="70685" name="Text Box 29"/>
          <p:cNvSpPr txBox="1">
            <a:spLocks noChangeArrowheads="1"/>
          </p:cNvSpPr>
          <p:nvPr/>
        </p:nvSpPr>
        <p:spPr bwMode="auto">
          <a:xfrm>
            <a:off x="5603875" y="2162175"/>
            <a:ext cx="336550" cy="457200"/>
          </a:xfrm>
          <a:prstGeom prst="rect">
            <a:avLst/>
          </a:prstGeom>
          <a:noFill/>
          <a:ln w="9525">
            <a:noFill/>
            <a:miter lim="800000"/>
          </a:ln>
        </p:spPr>
        <p:txBody>
          <a:bodyPr wrap="none">
            <a:spAutoFit/>
          </a:bodyPr>
          <a:lstStyle/>
          <a:p>
            <a:r>
              <a:rPr lang="en-US" altLang="zh-CN" i="1">
                <a:solidFill>
                  <a:srgbClr val="FF0000"/>
                </a:solidFill>
              </a:rPr>
              <a:t>p</a:t>
            </a:r>
            <a:endParaRPr lang="en-US" altLang="zh-CN" i="1">
              <a:solidFill>
                <a:srgbClr val="FF0000"/>
              </a:solidFill>
            </a:endParaRPr>
          </a:p>
        </p:txBody>
      </p:sp>
      <p:grpSp>
        <p:nvGrpSpPr>
          <p:cNvPr id="6" name="Group 30"/>
          <p:cNvGrpSpPr/>
          <p:nvPr/>
        </p:nvGrpSpPr>
        <p:grpSpPr bwMode="auto">
          <a:xfrm>
            <a:off x="5795963" y="1809750"/>
            <a:ext cx="215900" cy="1271588"/>
            <a:chOff x="3651" y="1389"/>
            <a:chExt cx="136" cy="801"/>
          </a:xfrm>
        </p:grpSpPr>
        <p:sp>
          <p:nvSpPr>
            <p:cNvPr id="6183" name="Line 31"/>
            <p:cNvSpPr>
              <a:spLocks noChangeShapeType="1"/>
            </p:cNvSpPr>
            <p:nvPr/>
          </p:nvSpPr>
          <p:spPr bwMode="auto">
            <a:xfrm>
              <a:off x="3651" y="1389"/>
              <a:ext cx="136" cy="0"/>
            </a:xfrm>
            <a:prstGeom prst="line">
              <a:avLst/>
            </a:prstGeom>
            <a:noFill/>
            <a:ln w="9525">
              <a:solidFill>
                <a:schemeClr val="tx1"/>
              </a:solidFill>
              <a:round/>
            </a:ln>
          </p:spPr>
          <p:txBody>
            <a:bodyPr/>
            <a:lstStyle/>
            <a:p>
              <a:endParaRPr lang="zh-CN" altLang="en-US"/>
            </a:p>
          </p:txBody>
        </p:sp>
        <p:sp>
          <p:nvSpPr>
            <p:cNvPr id="6184" name="Line 32"/>
            <p:cNvSpPr>
              <a:spLocks noChangeShapeType="1"/>
            </p:cNvSpPr>
            <p:nvPr/>
          </p:nvSpPr>
          <p:spPr bwMode="auto">
            <a:xfrm flipH="1">
              <a:off x="3690" y="1389"/>
              <a:ext cx="6" cy="801"/>
            </a:xfrm>
            <a:prstGeom prst="line">
              <a:avLst/>
            </a:prstGeom>
            <a:noFill/>
            <a:ln w="9525">
              <a:solidFill>
                <a:schemeClr val="tx1"/>
              </a:solidFill>
              <a:round/>
              <a:headEnd type="triangle" w="med" len="med"/>
              <a:tailEnd type="triangle" w="med" len="med"/>
            </a:ln>
          </p:spPr>
          <p:txBody>
            <a:bodyPr/>
            <a:lstStyle/>
            <a:p>
              <a:endParaRPr lang="zh-CN" altLang="en-US"/>
            </a:p>
          </p:txBody>
        </p:sp>
      </p:grpSp>
      <p:sp>
        <p:nvSpPr>
          <p:cNvPr id="70689" name="Line 33"/>
          <p:cNvSpPr>
            <a:spLocks noChangeShapeType="1"/>
          </p:cNvSpPr>
          <p:nvPr/>
        </p:nvSpPr>
        <p:spPr bwMode="auto">
          <a:xfrm>
            <a:off x="5629275" y="1784350"/>
            <a:ext cx="0" cy="1296988"/>
          </a:xfrm>
          <a:prstGeom prst="line">
            <a:avLst/>
          </a:prstGeom>
          <a:noFill/>
          <a:ln w="9525">
            <a:solidFill>
              <a:schemeClr val="tx1"/>
            </a:solidFill>
            <a:prstDash val="dash"/>
            <a:round/>
          </a:ln>
        </p:spPr>
        <p:txBody>
          <a:bodyPr/>
          <a:lstStyle/>
          <a:p>
            <a:endParaRPr lang="zh-CN" altLang="en-US"/>
          </a:p>
        </p:txBody>
      </p:sp>
      <p:sp>
        <p:nvSpPr>
          <p:cNvPr id="70690" name="Line 34"/>
          <p:cNvSpPr>
            <a:spLocks noChangeShapeType="1"/>
          </p:cNvSpPr>
          <p:nvPr/>
        </p:nvSpPr>
        <p:spPr bwMode="auto">
          <a:xfrm>
            <a:off x="6721475" y="2170113"/>
            <a:ext cx="0" cy="911225"/>
          </a:xfrm>
          <a:prstGeom prst="line">
            <a:avLst/>
          </a:prstGeom>
          <a:noFill/>
          <a:ln w="9525">
            <a:solidFill>
              <a:schemeClr val="tx1"/>
            </a:solidFill>
            <a:prstDash val="dash"/>
            <a:round/>
          </a:ln>
        </p:spPr>
        <p:txBody>
          <a:bodyPr/>
          <a:lstStyle/>
          <a:p>
            <a:endParaRPr lang="zh-CN" altLang="en-US"/>
          </a:p>
        </p:txBody>
      </p:sp>
      <p:sp>
        <p:nvSpPr>
          <p:cNvPr id="70691" name="Text Box 35"/>
          <p:cNvSpPr txBox="1">
            <a:spLocks noChangeArrowheads="1"/>
          </p:cNvSpPr>
          <p:nvPr/>
        </p:nvSpPr>
        <p:spPr bwMode="auto">
          <a:xfrm>
            <a:off x="5353050" y="3081338"/>
            <a:ext cx="412750" cy="366712"/>
          </a:xfrm>
          <a:prstGeom prst="rect">
            <a:avLst/>
          </a:prstGeom>
          <a:noFill/>
          <a:ln w="9525">
            <a:noFill/>
            <a:miter lim="800000"/>
          </a:ln>
        </p:spPr>
        <p:txBody>
          <a:bodyPr wrap="none">
            <a:spAutoFit/>
          </a:bodyPr>
          <a:lstStyle/>
          <a:p>
            <a:r>
              <a:rPr lang="en-US" altLang="zh-CN" sz="1800" i="1">
                <a:solidFill>
                  <a:srgbClr val="FF0000"/>
                </a:solidFill>
              </a:rPr>
              <a:t>V</a:t>
            </a:r>
            <a:r>
              <a:rPr lang="en-US" altLang="zh-CN" sz="1800" baseline="-25000">
                <a:solidFill>
                  <a:srgbClr val="FF0000"/>
                </a:solidFill>
              </a:rPr>
              <a:t>1</a:t>
            </a:r>
            <a:endParaRPr lang="en-US" altLang="zh-CN" sz="1800" i="1">
              <a:solidFill>
                <a:srgbClr val="FF0000"/>
              </a:solidFill>
            </a:endParaRPr>
          </a:p>
        </p:txBody>
      </p:sp>
      <p:sp>
        <p:nvSpPr>
          <p:cNvPr id="70692" name="Text Box 36"/>
          <p:cNvSpPr txBox="1">
            <a:spLocks noChangeArrowheads="1"/>
          </p:cNvSpPr>
          <p:nvPr/>
        </p:nvSpPr>
        <p:spPr bwMode="auto">
          <a:xfrm>
            <a:off x="6505575" y="3081338"/>
            <a:ext cx="412750" cy="366712"/>
          </a:xfrm>
          <a:prstGeom prst="rect">
            <a:avLst/>
          </a:prstGeom>
          <a:noFill/>
          <a:ln w="9525">
            <a:noFill/>
            <a:miter lim="800000"/>
          </a:ln>
        </p:spPr>
        <p:txBody>
          <a:bodyPr wrap="none">
            <a:spAutoFit/>
          </a:bodyPr>
          <a:lstStyle/>
          <a:p>
            <a:r>
              <a:rPr lang="en-US" altLang="zh-CN" sz="1800" i="1">
                <a:solidFill>
                  <a:srgbClr val="FF0000"/>
                </a:solidFill>
              </a:rPr>
              <a:t>V</a:t>
            </a:r>
            <a:r>
              <a:rPr lang="en-US" altLang="zh-CN" sz="1800" baseline="-25000">
                <a:solidFill>
                  <a:srgbClr val="FF0000"/>
                </a:solidFill>
              </a:rPr>
              <a:t>2</a:t>
            </a:r>
            <a:endParaRPr lang="en-US" altLang="zh-CN" sz="1800" i="1">
              <a:solidFill>
                <a:srgbClr val="FF0000"/>
              </a:solidFill>
            </a:endParaRPr>
          </a:p>
        </p:txBody>
      </p:sp>
      <p:sp>
        <p:nvSpPr>
          <p:cNvPr id="70693" name="Text Box 37"/>
          <p:cNvSpPr txBox="1">
            <a:spLocks noChangeArrowheads="1"/>
          </p:cNvSpPr>
          <p:nvPr/>
        </p:nvSpPr>
        <p:spPr bwMode="auto">
          <a:xfrm>
            <a:off x="5426075" y="1490663"/>
            <a:ext cx="273050" cy="366712"/>
          </a:xfrm>
          <a:prstGeom prst="rect">
            <a:avLst/>
          </a:prstGeom>
          <a:noFill/>
          <a:ln w="9525">
            <a:noFill/>
            <a:miter lim="800000"/>
          </a:ln>
        </p:spPr>
        <p:txBody>
          <a:bodyPr wrap="none">
            <a:spAutoFit/>
          </a:bodyPr>
          <a:lstStyle/>
          <a:p>
            <a:r>
              <a:rPr lang="en-US" altLang="zh-CN" sz="1800" i="1">
                <a:solidFill>
                  <a:srgbClr val="FF0000"/>
                </a:solidFill>
              </a:rPr>
              <a:t>I</a:t>
            </a:r>
            <a:endParaRPr lang="en-US" altLang="zh-CN" sz="1800" i="1">
              <a:solidFill>
                <a:srgbClr val="FF0000"/>
              </a:solidFill>
            </a:endParaRPr>
          </a:p>
        </p:txBody>
      </p:sp>
      <p:sp>
        <p:nvSpPr>
          <p:cNvPr id="70694" name="Text Box 38"/>
          <p:cNvSpPr txBox="1">
            <a:spLocks noChangeArrowheads="1"/>
          </p:cNvSpPr>
          <p:nvPr/>
        </p:nvSpPr>
        <p:spPr bwMode="auto">
          <a:xfrm>
            <a:off x="6721475" y="1809750"/>
            <a:ext cx="361950" cy="366713"/>
          </a:xfrm>
          <a:prstGeom prst="rect">
            <a:avLst/>
          </a:prstGeom>
          <a:noFill/>
          <a:ln w="9525">
            <a:noFill/>
            <a:miter lim="800000"/>
          </a:ln>
        </p:spPr>
        <p:txBody>
          <a:bodyPr wrap="none">
            <a:spAutoFit/>
          </a:bodyPr>
          <a:lstStyle/>
          <a:p>
            <a:r>
              <a:rPr lang="en-US" altLang="zh-CN" sz="1800" i="1">
                <a:solidFill>
                  <a:srgbClr val="FF0000"/>
                </a:solidFill>
              </a:rPr>
              <a:t>II</a:t>
            </a:r>
            <a:endParaRPr lang="en-US" altLang="zh-CN" sz="1800" i="1">
              <a:solidFill>
                <a:srgbClr val="FF0000"/>
              </a:solidFill>
            </a:endParaRPr>
          </a:p>
        </p:txBody>
      </p:sp>
      <p:sp>
        <p:nvSpPr>
          <p:cNvPr id="70695" name="Text Box 39"/>
          <p:cNvSpPr txBox="1">
            <a:spLocks noChangeArrowheads="1"/>
          </p:cNvSpPr>
          <p:nvPr/>
        </p:nvSpPr>
        <p:spPr bwMode="auto">
          <a:xfrm>
            <a:off x="2143125" y="5072063"/>
            <a:ext cx="4984750" cy="457200"/>
          </a:xfrm>
          <a:prstGeom prst="rect">
            <a:avLst/>
          </a:prstGeom>
          <a:noFill/>
          <a:ln w="9525">
            <a:noFill/>
            <a:miter lim="800000"/>
          </a:ln>
        </p:spPr>
        <p:txBody>
          <a:bodyPr>
            <a:spAutoFit/>
          </a:bodyPr>
          <a:lstStyle/>
          <a:p>
            <a:pPr>
              <a:buClr>
                <a:srgbClr val="FF0000"/>
              </a:buClr>
              <a:buFont typeface="Wingdings" panose="05000000000000000000" pitchFamily="2" charset="2"/>
              <a:buNone/>
            </a:pPr>
            <a:r>
              <a:rPr lang="zh-CN" altLang="en-US" b="1"/>
              <a:t>（</a:t>
            </a:r>
            <a:r>
              <a:rPr lang="en-US" altLang="zh-CN" b="1"/>
              <a:t>1</a:t>
            </a:r>
            <a:r>
              <a:rPr lang="zh-CN" altLang="en-US" b="1"/>
              <a:t>）</a:t>
            </a:r>
            <a:r>
              <a:rPr lang="zh-CN" altLang="en-US" b="1">
                <a:solidFill>
                  <a:srgbClr val="FF0000"/>
                </a:solidFill>
              </a:rPr>
              <a:t>做功等于曲边梯形的面积；</a:t>
            </a:r>
            <a:endParaRPr lang="zh-CN" altLang="en-US" b="1">
              <a:solidFill>
                <a:srgbClr val="FF0000"/>
              </a:solidFill>
            </a:endParaRPr>
          </a:p>
        </p:txBody>
      </p:sp>
      <p:grpSp>
        <p:nvGrpSpPr>
          <p:cNvPr id="7" name="Group 41"/>
          <p:cNvGrpSpPr/>
          <p:nvPr/>
        </p:nvGrpSpPr>
        <p:grpSpPr bwMode="auto">
          <a:xfrm>
            <a:off x="5637213" y="1487488"/>
            <a:ext cx="1081087" cy="609600"/>
            <a:chOff x="3560" y="1186"/>
            <a:chExt cx="681" cy="384"/>
          </a:xfrm>
        </p:grpSpPr>
        <p:sp>
          <p:nvSpPr>
            <p:cNvPr id="6181" name="Freeform 42"/>
            <p:cNvSpPr/>
            <p:nvPr/>
          </p:nvSpPr>
          <p:spPr bwMode="auto">
            <a:xfrm>
              <a:off x="3560" y="1186"/>
              <a:ext cx="681" cy="384"/>
            </a:xfrm>
            <a:custGeom>
              <a:avLst/>
              <a:gdLst>
                <a:gd name="T0" fmla="*/ 0 w 681"/>
                <a:gd name="T1" fmla="*/ 203 h 384"/>
                <a:gd name="T2" fmla="*/ 115 w 681"/>
                <a:gd name="T3" fmla="*/ 48 h 384"/>
                <a:gd name="T4" fmla="*/ 363 w 681"/>
                <a:gd name="T5" fmla="*/ 21 h 384"/>
                <a:gd name="T6" fmla="*/ 563 w 681"/>
                <a:gd name="T7" fmla="*/ 176 h 384"/>
                <a:gd name="T8" fmla="*/ 681 w 681"/>
                <a:gd name="T9" fmla="*/ 384 h 384"/>
                <a:gd name="T10" fmla="*/ 0 60000 65536"/>
                <a:gd name="T11" fmla="*/ 0 60000 65536"/>
                <a:gd name="T12" fmla="*/ 0 60000 65536"/>
                <a:gd name="T13" fmla="*/ 0 60000 65536"/>
                <a:gd name="T14" fmla="*/ 0 60000 65536"/>
                <a:gd name="T15" fmla="*/ 0 w 681"/>
                <a:gd name="T16" fmla="*/ 0 h 384"/>
                <a:gd name="T17" fmla="*/ 681 w 681"/>
                <a:gd name="T18" fmla="*/ 384 h 384"/>
              </a:gdLst>
              <a:ahLst/>
              <a:cxnLst>
                <a:cxn ang="T10">
                  <a:pos x="T0" y="T1"/>
                </a:cxn>
                <a:cxn ang="T11">
                  <a:pos x="T2" y="T3"/>
                </a:cxn>
                <a:cxn ang="T12">
                  <a:pos x="T4" y="T5"/>
                </a:cxn>
                <a:cxn ang="T13">
                  <a:pos x="T6" y="T7"/>
                </a:cxn>
                <a:cxn ang="T14">
                  <a:pos x="T8" y="T9"/>
                </a:cxn>
              </a:cxnLst>
              <a:rect l="T15" t="T16" r="T17" b="T18"/>
              <a:pathLst>
                <a:path w="681" h="384">
                  <a:moveTo>
                    <a:pt x="0" y="203"/>
                  </a:moveTo>
                  <a:cubicBezTo>
                    <a:pt x="19" y="177"/>
                    <a:pt x="55" y="78"/>
                    <a:pt x="115" y="48"/>
                  </a:cubicBezTo>
                  <a:cubicBezTo>
                    <a:pt x="175" y="18"/>
                    <a:pt x="288" y="0"/>
                    <a:pt x="363" y="21"/>
                  </a:cubicBezTo>
                  <a:cubicBezTo>
                    <a:pt x="438" y="42"/>
                    <a:pt x="510" y="116"/>
                    <a:pt x="563" y="176"/>
                  </a:cubicBezTo>
                  <a:cubicBezTo>
                    <a:pt x="616" y="236"/>
                    <a:pt x="656" y="341"/>
                    <a:pt x="681" y="384"/>
                  </a:cubicBezTo>
                </a:path>
              </a:pathLst>
            </a:custGeom>
            <a:noFill/>
            <a:ln w="19050">
              <a:solidFill>
                <a:srgbClr val="800080"/>
              </a:solidFill>
              <a:round/>
            </a:ln>
          </p:spPr>
          <p:txBody>
            <a:bodyPr/>
            <a:lstStyle/>
            <a:p>
              <a:pPr algn="ctr"/>
              <a:endParaRPr lang="zh-CN" altLang="en-US"/>
            </a:p>
          </p:txBody>
        </p:sp>
        <p:sp>
          <p:nvSpPr>
            <p:cNvPr id="6182" name="Line 43"/>
            <p:cNvSpPr>
              <a:spLocks noChangeShapeType="1"/>
            </p:cNvSpPr>
            <p:nvPr/>
          </p:nvSpPr>
          <p:spPr bwMode="auto">
            <a:xfrm rot="-1936539">
              <a:off x="3932" y="1198"/>
              <a:ext cx="46" cy="46"/>
            </a:xfrm>
            <a:prstGeom prst="line">
              <a:avLst/>
            </a:prstGeom>
            <a:noFill/>
            <a:ln w="19050">
              <a:solidFill>
                <a:srgbClr val="800080"/>
              </a:solidFill>
              <a:round/>
              <a:tailEnd type="triangle" w="med" len="med"/>
            </a:ln>
          </p:spPr>
          <p:txBody>
            <a:bodyPr/>
            <a:lstStyle/>
            <a:p>
              <a:endParaRPr lang="zh-CN" altLang="en-US"/>
            </a:p>
          </p:txBody>
        </p:sp>
      </p:grpSp>
      <p:sp>
        <p:nvSpPr>
          <p:cNvPr id="70700" name="Line 44"/>
          <p:cNvSpPr>
            <a:spLocks noChangeShapeType="1"/>
          </p:cNvSpPr>
          <p:nvPr/>
        </p:nvSpPr>
        <p:spPr bwMode="auto">
          <a:xfrm>
            <a:off x="5997575" y="1809750"/>
            <a:ext cx="0" cy="1223963"/>
          </a:xfrm>
          <a:prstGeom prst="line">
            <a:avLst/>
          </a:prstGeom>
          <a:noFill/>
          <a:ln w="9525">
            <a:solidFill>
              <a:schemeClr val="tx1"/>
            </a:solidFill>
            <a:prstDash val="dash"/>
            <a:round/>
          </a:ln>
        </p:spPr>
        <p:txBody>
          <a:bodyPr/>
          <a:lstStyle/>
          <a:p>
            <a:endParaRPr lang="zh-CN" altLang="en-US"/>
          </a:p>
        </p:txBody>
      </p:sp>
      <p:sp>
        <p:nvSpPr>
          <p:cNvPr id="70701" name="Line 45"/>
          <p:cNvSpPr>
            <a:spLocks noChangeShapeType="1"/>
          </p:cNvSpPr>
          <p:nvPr/>
        </p:nvSpPr>
        <p:spPr bwMode="auto">
          <a:xfrm>
            <a:off x="6070600" y="1809750"/>
            <a:ext cx="0" cy="1223963"/>
          </a:xfrm>
          <a:prstGeom prst="line">
            <a:avLst/>
          </a:prstGeom>
          <a:noFill/>
          <a:ln w="9525">
            <a:solidFill>
              <a:schemeClr val="tx1"/>
            </a:solidFill>
            <a:prstDash val="dash"/>
            <a:round/>
          </a:ln>
        </p:spPr>
        <p:txBody>
          <a:bodyPr/>
          <a:lstStyle/>
          <a:p>
            <a:endParaRPr lang="zh-CN" altLang="en-US"/>
          </a:p>
        </p:txBody>
      </p:sp>
      <p:sp>
        <p:nvSpPr>
          <p:cNvPr id="70702" name="Line 46"/>
          <p:cNvSpPr>
            <a:spLocks noChangeShapeType="1"/>
          </p:cNvSpPr>
          <p:nvPr/>
        </p:nvSpPr>
        <p:spPr bwMode="auto">
          <a:xfrm>
            <a:off x="6011863" y="1784350"/>
            <a:ext cx="73025" cy="71438"/>
          </a:xfrm>
          <a:prstGeom prst="line">
            <a:avLst/>
          </a:prstGeom>
          <a:noFill/>
          <a:ln w="9525">
            <a:solidFill>
              <a:srgbClr val="FF0000"/>
            </a:solidFill>
            <a:round/>
            <a:tailEnd type="triangle" w="med" len="med"/>
          </a:ln>
        </p:spPr>
        <p:txBody>
          <a:bodyPr/>
          <a:lstStyle/>
          <a:p>
            <a:endParaRPr lang="zh-CN" altLang="en-US"/>
          </a:p>
        </p:txBody>
      </p:sp>
      <p:sp>
        <p:nvSpPr>
          <p:cNvPr id="70703" name="Text Box 47"/>
          <p:cNvSpPr txBox="1">
            <a:spLocks noChangeArrowheads="1"/>
          </p:cNvSpPr>
          <p:nvPr/>
        </p:nvSpPr>
        <p:spPr bwMode="auto">
          <a:xfrm>
            <a:off x="303213" y="3584575"/>
            <a:ext cx="2900362" cy="457200"/>
          </a:xfrm>
          <a:prstGeom prst="rect">
            <a:avLst/>
          </a:prstGeom>
          <a:noFill/>
          <a:ln w="9525">
            <a:noFill/>
            <a:miter lim="800000"/>
          </a:ln>
        </p:spPr>
        <p:txBody>
          <a:bodyPr>
            <a:spAutoFit/>
          </a:bodyPr>
          <a:lstStyle/>
          <a:p>
            <a:r>
              <a:rPr lang="zh-CN" altLang="en-US" b="1">
                <a:solidFill>
                  <a:schemeClr val="accent2"/>
                </a:solidFill>
              </a:rPr>
              <a:t>微小热力学过程</a:t>
            </a:r>
            <a:endParaRPr lang="zh-CN" altLang="en-US" b="1">
              <a:solidFill>
                <a:schemeClr val="accent2"/>
              </a:solidFill>
            </a:endParaRPr>
          </a:p>
        </p:txBody>
      </p:sp>
      <p:sp>
        <p:nvSpPr>
          <p:cNvPr id="70704" name="Text Box 48"/>
          <p:cNvSpPr txBox="1">
            <a:spLocks noChangeArrowheads="1"/>
          </p:cNvSpPr>
          <p:nvPr/>
        </p:nvSpPr>
        <p:spPr bwMode="auto">
          <a:xfrm>
            <a:off x="1187450" y="4232275"/>
            <a:ext cx="1655763" cy="457200"/>
          </a:xfrm>
          <a:prstGeom prst="rect">
            <a:avLst/>
          </a:prstGeom>
          <a:noFill/>
          <a:ln w="9525">
            <a:noFill/>
            <a:miter lim="800000"/>
          </a:ln>
        </p:spPr>
        <p:txBody>
          <a:bodyPr>
            <a:spAutoFit/>
          </a:bodyPr>
          <a:lstStyle/>
          <a:p>
            <a:r>
              <a:rPr lang="zh-CN" altLang="en-US" b="1">
                <a:solidFill>
                  <a:schemeClr val="accent2"/>
                </a:solidFill>
              </a:rPr>
              <a:t>全过程</a:t>
            </a:r>
            <a:endParaRPr lang="zh-CN" altLang="en-US" b="1">
              <a:solidFill>
                <a:schemeClr val="accent2"/>
              </a:solidFill>
            </a:endParaRPr>
          </a:p>
        </p:txBody>
      </p:sp>
      <p:sp>
        <p:nvSpPr>
          <p:cNvPr id="49" name="Text Box 4"/>
          <p:cNvSpPr txBox="1">
            <a:spLocks noChangeArrowheads="1"/>
          </p:cNvSpPr>
          <p:nvPr/>
        </p:nvSpPr>
        <p:spPr bwMode="auto">
          <a:xfrm>
            <a:off x="107950" y="523875"/>
            <a:ext cx="4935538" cy="461963"/>
          </a:xfrm>
          <a:prstGeom prst="rect">
            <a:avLst/>
          </a:prstGeom>
          <a:noFill/>
          <a:ln w="12700" cap="sq">
            <a:noFill/>
            <a:miter lim="800000"/>
            <a:headEnd type="none" w="sm" len="sm"/>
            <a:tailEnd type="none" w="sm" len="sm"/>
          </a:ln>
        </p:spPr>
        <p:txBody>
          <a:bodyPr>
            <a:spAutoFit/>
          </a:bodyPr>
          <a:lstStyle/>
          <a:p>
            <a:pPr>
              <a:defRPr/>
            </a:pPr>
            <a:r>
              <a:rPr kumimoji="1" lang="en-US" altLang="zh-CN" b="1" dirty="0">
                <a:solidFill>
                  <a:srgbClr val="0000FF"/>
                </a:solidFill>
                <a:latin typeface="+mn-ea"/>
                <a:ea typeface="+mn-ea"/>
              </a:rPr>
              <a:t>7.2.3  </a:t>
            </a:r>
            <a:r>
              <a:rPr kumimoji="1" lang="zh-CN" altLang="en-US" b="1" dirty="0">
                <a:solidFill>
                  <a:srgbClr val="0000FF"/>
                </a:solidFill>
                <a:latin typeface="宋体" panose="02010600030101010101" pitchFamily="2" charset="-122"/>
              </a:rPr>
              <a:t>准静态过程的功和</a:t>
            </a:r>
            <a:r>
              <a:rPr kumimoji="1" lang="zh-CN" altLang="en-US" b="1" dirty="0">
                <a:solidFill>
                  <a:srgbClr val="0000FF"/>
                </a:solidFill>
                <a:latin typeface="+mn-ea"/>
                <a:ea typeface="+mn-ea"/>
              </a:rPr>
              <a:t>热量</a:t>
            </a:r>
            <a:endParaRPr kumimoji="1" lang="zh-CN" altLang="en-US" b="1" dirty="0">
              <a:solidFill>
                <a:srgbClr val="0000FF"/>
              </a:solidFill>
              <a:latin typeface="+mn-ea"/>
              <a:ea typeface="+mn-ea"/>
            </a:endParaRPr>
          </a:p>
        </p:txBody>
      </p:sp>
      <p:grpSp>
        <p:nvGrpSpPr>
          <p:cNvPr id="8" name="组合 52"/>
          <p:cNvGrpSpPr/>
          <p:nvPr/>
        </p:nvGrpSpPr>
        <p:grpSpPr bwMode="auto">
          <a:xfrm>
            <a:off x="928688" y="5000625"/>
            <a:ext cx="2027237" cy="576263"/>
            <a:chOff x="928662" y="5000636"/>
            <a:chExt cx="2027263" cy="576262"/>
          </a:xfrm>
        </p:grpSpPr>
        <p:sp>
          <p:nvSpPr>
            <p:cNvPr id="6179" name="Text Box 48"/>
            <p:cNvSpPr txBox="1">
              <a:spLocks noChangeArrowheads="1"/>
            </p:cNvSpPr>
            <p:nvPr/>
          </p:nvSpPr>
          <p:spPr bwMode="auto">
            <a:xfrm>
              <a:off x="1300163" y="5094288"/>
              <a:ext cx="1655762" cy="457200"/>
            </a:xfrm>
            <a:prstGeom prst="rect">
              <a:avLst/>
            </a:prstGeom>
            <a:noFill/>
            <a:ln w="9525">
              <a:noFill/>
              <a:miter lim="800000"/>
            </a:ln>
          </p:spPr>
          <p:txBody>
            <a:bodyPr>
              <a:spAutoFit/>
            </a:bodyPr>
            <a:lstStyle/>
            <a:p>
              <a:r>
                <a:rPr lang="zh-CN" altLang="en-US" b="1">
                  <a:solidFill>
                    <a:srgbClr val="FF0000"/>
                  </a:solidFill>
                </a:rPr>
                <a:t>说明：</a:t>
              </a:r>
              <a:endParaRPr lang="zh-CN" altLang="en-US" b="1">
                <a:solidFill>
                  <a:srgbClr val="FF0000"/>
                </a:solidFill>
              </a:endParaRPr>
            </a:p>
          </p:txBody>
        </p:sp>
        <p:sp>
          <p:nvSpPr>
            <p:cNvPr id="6180" name="AutoShape 40"/>
            <p:cNvSpPr>
              <a:spLocks noChangeArrowheads="1"/>
            </p:cNvSpPr>
            <p:nvPr/>
          </p:nvSpPr>
          <p:spPr bwMode="auto">
            <a:xfrm>
              <a:off x="928662" y="5000636"/>
              <a:ext cx="360363"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660"/>
                                        </p:tgtEl>
                                        <p:attrNameLst>
                                          <p:attrName>style.visibility</p:attrName>
                                        </p:attrNameLst>
                                      </p:cBhvr>
                                      <p:to>
                                        <p:strVal val="visible"/>
                                      </p:to>
                                    </p:set>
                                    <p:animEffect transition="in" filter="wipe(left)">
                                      <p:cBhvr>
                                        <p:cTn id="12" dur="500"/>
                                        <p:tgtEl>
                                          <p:spTgt spid="7066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0659"/>
                                        </p:tgtEl>
                                        <p:attrNameLst>
                                          <p:attrName>style.visibility</p:attrName>
                                        </p:attrNameLst>
                                      </p:cBhvr>
                                      <p:to>
                                        <p:strVal val="visible"/>
                                      </p:to>
                                    </p:set>
                                    <p:animEffect transition="in" filter="box(in)">
                                      <p:cBhvr>
                                        <p:cTn id="17" dur="500"/>
                                        <p:tgtEl>
                                          <p:spTgt spid="70659"/>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70661"/>
                                        </p:tgtEl>
                                        <p:attrNameLst>
                                          <p:attrName>style.visibility</p:attrName>
                                        </p:attrNameLst>
                                      </p:cBhvr>
                                      <p:to>
                                        <p:strVal val="visible"/>
                                      </p:to>
                                    </p:set>
                                    <p:animEffect transition="in" filter="box(in)">
                                      <p:cBhvr>
                                        <p:cTn id="20" dur="500"/>
                                        <p:tgtEl>
                                          <p:spTgt spid="70661"/>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70662"/>
                                        </p:tgtEl>
                                        <p:attrNameLst>
                                          <p:attrName>style.visibility</p:attrName>
                                        </p:attrNameLst>
                                      </p:cBhvr>
                                      <p:to>
                                        <p:strVal val="visible"/>
                                      </p:to>
                                    </p:set>
                                    <p:animEffect transition="in" filter="box(in)">
                                      <p:cBhvr>
                                        <p:cTn id="23" dur="500"/>
                                        <p:tgtEl>
                                          <p:spTgt spid="70662"/>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70663"/>
                                        </p:tgtEl>
                                        <p:attrNameLst>
                                          <p:attrName>style.visibility</p:attrName>
                                        </p:attrNameLst>
                                      </p:cBhvr>
                                      <p:to>
                                        <p:strVal val="visible"/>
                                      </p:to>
                                    </p:set>
                                    <p:animEffect transition="in" filter="box(in)">
                                      <p:cBhvr>
                                        <p:cTn id="26" dur="500"/>
                                        <p:tgtEl>
                                          <p:spTgt spid="70663"/>
                                        </p:tgtEl>
                                      </p:cBhvr>
                                    </p:animEffect>
                                  </p:childTnLst>
                                </p:cTn>
                              </p:par>
                              <p:par>
                                <p:cTn id="27" presetID="4" presetClass="entr" presetSubtype="16" fill="hold"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ox(in)">
                                      <p:cBhvr>
                                        <p:cTn id="29" dur="500"/>
                                        <p:tgtEl>
                                          <p:spTgt spid="2"/>
                                        </p:tgtEl>
                                      </p:cBhvr>
                                    </p:animEffect>
                                  </p:childTnLst>
                                </p:cTn>
                              </p:par>
                              <p:par>
                                <p:cTn id="30" presetID="4" presetClass="entr" presetSubtype="16"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ox(in)">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63" presetClass="path" presetSubtype="0" accel="50000" decel="50000" fill="hold" nodeType="clickEffect">
                                  <p:stCondLst>
                                    <p:cond delay="0"/>
                                  </p:stCondLst>
                                  <p:childTnLst>
                                    <p:animMotion origin="layout" path="M 4.16667E-6 -5.78035E-7 L 0.0552 -5.78035E-7 " pathEditMode="relative" rAng="0" ptsTypes="AA">
                                      <p:cBhvr>
                                        <p:cTn id="36" dur="2000" fill="hold"/>
                                        <p:tgtEl>
                                          <p:spTgt spid="2"/>
                                        </p:tgtEl>
                                        <p:attrNameLst>
                                          <p:attrName>ppt_x</p:attrName>
                                          <p:attrName>ppt_y</p:attrName>
                                        </p:attrNameLst>
                                      </p:cBhvr>
                                      <p:rCtr x="28" y="0"/>
                                    </p:animMotion>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ox(in)">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500"/>
                                        <p:tgtEl>
                                          <p:spTgt spid="5"/>
                                        </p:tgtEl>
                                      </p:cBhvr>
                                    </p:animEffect>
                                  </p:childTnLst>
                                </p:cTn>
                              </p:par>
                            </p:childTnLst>
                          </p:cTn>
                        </p:par>
                        <p:par>
                          <p:cTn id="47" fill="hold">
                            <p:stCondLst>
                              <p:cond delay="500"/>
                            </p:stCondLst>
                            <p:childTnLst>
                              <p:par>
                                <p:cTn id="48" presetID="22" presetClass="entr" presetSubtype="4" fill="hold" grpId="0" nodeType="afterEffect">
                                  <p:stCondLst>
                                    <p:cond delay="0"/>
                                  </p:stCondLst>
                                  <p:childTnLst>
                                    <p:set>
                                      <p:cBhvr>
                                        <p:cTn id="49" dur="1" fill="hold">
                                          <p:stCondLst>
                                            <p:cond delay="0"/>
                                          </p:stCondLst>
                                        </p:cTn>
                                        <p:tgtEl>
                                          <p:spTgt spid="70693"/>
                                        </p:tgtEl>
                                        <p:attrNameLst>
                                          <p:attrName>style.visibility</p:attrName>
                                        </p:attrNameLst>
                                      </p:cBhvr>
                                      <p:to>
                                        <p:strVal val="visible"/>
                                      </p:to>
                                    </p:set>
                                    <p:animEffect transition="in" filter="wipe(down)">
                                      <p:cBhvr>
                                        <p:cTn id="50" dur="500"/>
                                        <p:tgtEl>
                                          <p:spTgt spid="70693"/>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70694"/>
                                        </p:tgtEl>
                                        <p:attrNameLst>
                                          <p:attrName>style.visibility</p:attrName>
                                        </p:attrNameLst>
                                      </p:cBhvr>
                                      <p:to>
                                        <p:strVal val="visible"/>
                                      </p:to>
                                    </p:set>
                                    <p:animEffect transition="in" filter="wipe(down)">
                                      <p:cBhvr>
                                        <p:cTn id="53" dur="500"/>
                                        <p:tgtEl>
                                          <p:spTgt spid="7069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70689"/>
                                        </p:tgtEl>
                                        <p:attrNameLst>
                                          <p:attrName>style.visibility</p:attrName>
                                        </p:attrNameLst>
                                      </p:cBhvr>
                                      <p:to>
                                        <p:strVal val="visible"/>
                                      </p:to>
                                    </p:set>
                                    <p:animEffect transition="in" filter="wipe(up)">
                                      <p:cBhvr>
                                        <p:cTn id="58" dur="500"/>
                                        <p:tgtEl>
                                          <p:spTgt spid="70689"/>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70691"/>
                                        </p:tgtEl>
                                        <p:attrNameLst>
                                          <p:attrName>style.visibility</p:attrName>
                                        </p:attrNameLst>
                                      </p:cBhvr>
                                      <p:to>
                                        <p:strVal val="visible"/>
                                      </p:to>
                                    </p:set>
                                    <p:animEffect transition="in" filter="wipe(left)">
                                      <p:cBhvr>
                                        <p:cTn id="62" dur="500"/>
                                        <p:tgtEl>
                                          <p:spTgt spid="70691"/>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70690"/>
                                        </p:tgtEl>
                                        <p:attrNameLst>
                                          <p:attrName>style.visibility</p:attrName>
                                        </p:attrNameLst>
                                      </p:cBhvr>
                                      <p:to>
                                        <p:strVal val="visible"/>
                                      </p:to>
                                    </p:set>
                                    <p:animEffect transition="in" filter="wipe(up)">
                                      <p:cBhvr>
                                        <p:cTn id="65" dur="500"/>
                                        <p:tgtEl>
                                          <p:spTgt spid="70690"/>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70692"/>
                                        </p:tgtEl>
                                        <p:attrNameLst>
                                          <p:attrName>style.visibility</p:attrName>
                                        </p:attrNameLst>
                                      </p:cBhvr>
                                      <p:to>
                                        <p:strVal val="visible"/>
                                      </p:to>
                                    </p:set>
                                    <p:animEffect transition="in" filter="wipe(left)">
                                      <p:cBhvr>
                                        <p:cTn id="68" dur="500"/>
                                        <p:tgtEl>
                                          <p:spTgt spid="7069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70702"/>
                                        </p:tgtEl>
                                        <p:attrNameLst>
                                          <p:attrName>style.visibility</p:attrName>
                                        </p:attrNameLst>
                                      </p:cBhvr>
                                      <p:to>
                                        <p:strVal val="visible"/>
                                      </p:to>
                                    </p:set>
                                    <p:animEffect transition="in" filter="wipe(left)">
                                      <p:cBhvr>
                                        <p:cTn id="73" dur="500"/>
                                        <p:tgtEl>
                                          <p:spTgt spid="70702"/>
                                        </p:tgtEl>
                                      </p:cBhvr>
                                    </p:animEffect>
                                  </p:childTnLst>
                                </p:cTn>
                              </p:par>
                            </p:childTnLst>
                          </p:cTn>
                        </p:par>
                      </p:childTnLst>
                    </p:cTn>
                  </p:par>
                  <p:par>
                    <p:cTn id="74" fill="hold">
                      <p:stCondLst>
                        <p:cond delay="indefinite"/>
                      </p:stCondLst>
                      <p:childTnLst>
                        <p:par>
                          <p:cTn id="75" fill="hold">
                            <p:stCondLst>
                              <p:cond delay="0"/>
                            </p:stCondLst>
                            <p:childTnLst>
                              <p:par>
                                <p:cTn id="76" presetID="17" presetClass="entr" presetSubtype="4" fill="hold" nodeType="clickEffect">
                                  <p:stCondLst>
                                    <p:cond delay="0"/>
                                  </p:stCondLst>
                                  <p:childTnLst>
                                    <p:set>
                                      <p:cBhvr>
                                        <p:cTn id="77" dur="1" fill="hold">
                                          <p:stCondLst>
                                            <p:cond delay="0"/>
                                          </p:stCondLst>
                                        </p:cTn>
                                        <p:tgtEl>
                                          <p:spTgt spid="6"/>
                                        </p:tgtEl>
                                        <p:attrNameLst>
                                          <p:attrName>style.visibility</p:attrName>
                                        </p:attrNameLst>
                                      </p:cBhvr>
                                      <p:to>
                                        <p:strVal val="visible"/>
                                      </p:to>
                                    </p:set>
                                    <p:anim calcmode="lin" valueType="num">
                                      <p:cBhvr>
                                        <p:cTn id="78" dur="500" fill="hold"/>
                                        <p:tgtEl>
                                          <p:spTgt spid="6"/>
                                        </p:tgtEl>
                                        <p:attrNameLst>
                                          <p:attrName>ppt_x</p:attrName>
                                        </p:attrNameLst>
                                      </p:cBhvr>
                                      <p:tavLst>
                                        <p:tav tm="0">
                                          <p:val>
                                            <p:strVal val="#ppt_x"/>
                                          </p:val>
                                        </p:tav>
                                        <p:tav tm="100000">
                                          <p:val>
                                            <p:strVal val="#ppt_x"/>
                                          </p:val>
                                        </p:tav>
                                      </p:tavLst>
                                    </p:anim>
                                    <p:anim calcmode="lin" valueType="num">
                                      <p:cBhvr>
                                        <p:cTn id="79" dur="500" fill="hold"/>
                                        <p:tgtEl>
                                          <p:spTgt spid="6"/>
                                        </p:tgtEl>
                                        <p:attrNameLst>
                                          <p:attrName>ppt_y</p:attrName>
                                        </p:attrNameLst>
                                      </p:cBhvr>
                                      <p:tavLst>
                                        <p:tav tm="0">
                                          <p:val>
                                            <p:strVal val="#ppt_y+#ppt_h/2"/>
                                          </p:val>
                                        </p:tav>
                                        <p:tav tm="100000">
                                          <p:val>
                                            <p:strVal val="#ppt_y"/>
                                          </p:val>
                                        </p:tav>
                                      </p:tavLst>
                                    </p:anim>
                                    <p:anim calcmode="lin" valueType="num">
                                      <p:cBhvr>
                                        <p:cTn id="80" dur="500" fill="hold"/>
                                        <p:tgtEl>
                                          <p:spTgt spid="6"/>
                                        </p:tgtEl>
                                        <p:attrNameLst>
                                          <p:attrName>ppt_w</p:attrName>
                                        </p:attrNameLst>
                                      </p:cBhvr>
                                      <p:tavLst>
                                        <p:tav tm="0">
                                          <p:val>
                                            <p:strVal val="#ppt_w"/>
                                          </p:val>
                                        </p:tav>
                                        <p:tav tm="100000">
                                          <p:val>
                                            <p:strVal val="#ppt_w"/>
                                          </p:val>
                                        </p:tav>
                                      </p:tavLst>
                                    </p:anim>
                                    <p:anim calcmode="lin" valueType="num">
                                      <p:cBhvr>
                                        <p:cTn id="81" dur="500" fill="hold"/>
                                        <p:tgtEl>
                                          <p:spTgt spid="6"/>
                                        </p:tgtEl>
                                        <p:attrNameLst>
                                          <p:attrName>ppt_h</p:attrName>
                                        </p:attrNameLst>
                                      </p:cBhvr>
                                      <p:tavLst>
                                        <p:tav tm="0">
                                          <p:val>
                                            <p:fltVal val="0"/>
                                          </p:val>
                                        </p:tav>
                                        <p:tav tm="100000">
                                          <p:val>
                                            <p:strVal val="#ppt_h"/>
                                          </p:val>
                                        </p:tav>
                                      </p:tavLst>
                                    </p:anim>
                                  </p:childTnLst>
                                </p:cTn>
                              </p:par>
                            </p:childTnLst>
                          </p:cTn>
                        </p:par>
                        <p:par>
                          <p:cTn id="82" fill="hold">
                            <p:stCondLst>
                              <p:cond delay="500"/>
                            </p:stCondLst>
                            <p:childTnLst>
                              <p:par>
                                <p:cTn id="83" presetID="22" presetClass="entr" presetSubtype="8" fill="hold" grpId="0" nodeType="afterEffect">
                                  <p:stCondLst>
                                    <p:cond delay="0"/>
                                  </p:stCondLst>
                                  <p:childTnLst>
                                    <p:set>
                                      <p:cBhvr>
                                        <p:cTn id="84" dur="1" fill="hold">
                                          <p:stCondLst>
                                            <p:cond delay="0"/>
                                          </p:stCondLst>
                                        </p:cTn>
                                        <p:tgtEl>
                                          <p:spTgt spid="70685"/>
                                        </p:tgtEl>
                                        <p:attrNameLst>
                                          <p:attrName>style.visibility</p:attrName>
                                        </p:attrNameLst>
                                      </p:cBhvr>
                                      <p:to>
                                        <p:strVal val="visible"/>
                                      </p:to>
                                    </p:set>
                                    <p:animEffect transition="in" filter="wipe(left)">
                                      <p:cBhvr>
                                        <p:cTn id="85" dur="500"/>
                                        <p:tgtEl>
                                          <p:spTgt spid="70685"/>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70700"/>
                                        </p:tgtEl>
                                        <p:attrNameLst>
                                          <p:attrName>style.visibility</p:attrName>
                                        </p:attrNameLst>
                                      </p:cBhvr>
                                      <p:to>
                                        <p:strVal val="visible"/>
                                      </p:to>
                                    </p:set>
                                    <p:animEffect transition="in" filter="wipe(up)">
                                      <p:cBhvr>
                                        <p:cTn id="90" dur="500"/>
                                        <p:tgtEl>
                                          <p:spTgt spid="70700"/>
                                        </p:tgtEl>
                                      </p:cBhvr>
                                    </p:animEffect>
                                  </p:childTnLst>
                                </p:cTn>
                              </p:par>
                            </p:childTnLst>
                          </p:cTn>
                        </p:par>
                        <p:par>
                          <p:cTn id="91" fill="hold">
                            <p:stCondLst>
                              <p:cond delay="500"/>
                            </p:stCondLst>
                            <p:childTnLst>
                              <p:par>
                                <p:cTn id="92" presetID="22" presetClass="entr" presetSubtype="1" fill="hold" grpId="0" nodeType="afterEffect">
                                  <p:stCondLst>
                                    <p:cond delay="0"/>
                                  </p:stCondLst>
                                  <p:childTnLst>
                                    <p:set>
                                      <p:cBhvr>
                                        <p:cTn id="93" dur="1" fill="hold">
                                          <p:stCondLst>
                                            <p:cond delay="0"/>
                                          </p:stCondLst>
                                        </p:cTn>
                                        <p:tgtEl>
                                          <p:spTgt spid="70701"/>
                                        </p:tgtEl>
                                        <p:attrNameLst>
                                          <p:attrName>style.visibility</p:attrName>
                                        </p:attrNameLst>
                                      </p:cBhvr>
                                      <p:to>
                                        <p:strVal val="visible"/>
                                      </p:to>
                                    </p:set>
                                    <p:animEffect transition="in" filter="wipe(up)">
                                      <p:cBhvr>
                                        <p:cTn id="94" dur="500"/>
                                        <p:tgtEl>
                                          <p:spTgt spid="70701"/>
                                        </p:tgtEl>
                                      </p:cBhvr>
                                    </p:animEffect>
                                  </p:childTnLst>
                                </p:cTn>
                              </p:par>
                            </p:childTnLst>
                          </p:cTn>
                        </p:par>
                        <p:par>
                          <p:cTn id="95" fill="hold">
                            <p:stCondLst>
                              <p:cond delay="1000"/>
                            </p:stCondLst>
                            <p:childTnLst>
                              <p:par>
                                <p:cTn id="96" presetID="22" presetClass="entr" presetSubtype="8" fill="hold" grpId="0" nodeType="afterEffect">
                                  <p:stCondLst>
                                    <p:cond delay="0"/>
                                  </p:stCondLst>
                                  <p:childTnLst>
                                    <p:set>
                                      <p:cBhvr>
                                        <p:cTn id="97" dur="1" fill="hold">
                                          <p:stCondLst>
                                            <p:cond delay="0"/>
                                          </p:stCondLst>
                                        </p:cTn>
                                        <p:tgtEl>
                                          <p:spTgt spid="70684"/>
                                        </p:tgtEl>
                                        <p:attrNameLst>
                                          <p:attrName>style.visibility</p:attrName>
                                        </p:attrNameLst>
                                      </p:cBhvr>
                                      <p:to>
                                        <p:strVal val="visible"/>
                                      </p:to>
                                    </p:set>
                                    <p:animEffect transition="in" filter="wipe(left)">
                                      <p:cBhvr>
                                        <p:cTn id="98" dur="500"/>
                                        <p:tgtEl>
                                          <p:spTgt spid="70684"/>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70683"/>
                                        </p:tgtEl>
                                        <p:attrNameLst>
                                          <p:attrName>style.visibility</p:attrName>
                                        </p:attrNameLst>
                                      </p:cBhvr>
                                      <p:to>
                                        <p:strVal val="visible"/>
                                      </p:to>
                                    </p:set>
                                    <p:animEffect transition="in" filter="wipe(left)">
                                      <p:cBhvr>
                                        <p:cTn id="103" dur="1000"/>
                                        <p:tgtEl>
                                          <p:spTgt spid="70683"/>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70703"/>
                                        </p:tgtEl>
                                        <p:attrNameLst>
                                          <p:attrName>style.visibility</p:attrName>
                                        </p:attrNameLst>
                                      </p:cBhvr>
                                      <p:to>
                                        <p:strVal val="visible"/>
                                      </p:to>
                                    </p:set>
                                    <p:animEffect transition="in" filter="wipe(left)">
                                      <p:cBhvr>
                                        <p:cTn id="108" dur="500"/>
                                        <p:tgtEl>
                                          <p:spTgt spid="70703"/>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70670"/>
                                        </p:tgtEl>
                                        <p:attrNameLst>
                                          <p:attrName>style.visibility</p:attrName>
                                        </p:attrNameLst>
                                      </p:cBhvr>
                                      <p:to>
                                        <p:strVal val="visible"/>
                                      </p:to>
                                    </p:set>
                                    <p:animEffect transition="in" filter="wipe(left)">
                                      <p:cBhvr>
                                        <p:cTn id="113" dur="500"/>
                                        <p:tgtEl>
                                          <p:spTgt spid="70670"/>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70672"/>
                                        </p:tgtEl>
                                        <p:attrNameLst>
                                          <p:attrName>style.visibility</p:attrName>
                                        </p:attrNameLst>
                                      </p:cBhvr>
                                      <p:to>
                                        <p:strVal val="visible"/>
                                      </p:to>
                                    </p:set>
                                    <p:animEffect transition="in" filter="wipe(left)">
                                      <p:cBhvr>
                                        <p:cTn id="118" dur="500"/>
                                        <p:tgtEl>
                                          <p:spTgt spid="70672"/>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70704"/>
                                        </p:tgtEl>
                                        <p:attrNameLst>
                                          <p:attrName>style.visibility</p:attrName>
                                        </p:attrNameLst>
                                      </p:cBhvr>
                                      <p:to>
                                        <p:strVal val="visible"/>
                                      </p:to>
                                    </p:set>
                                    <p:animEffect transition="in" filter="wipe(left)">
                                      <p:cBhvr>
                                        <p:cTn id="123" dur="500"/>
                                        <p:tgtEl>
                                          <p:spTgt spid="70704"/>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70671"/>
                                        </p:tgtEl>
                                        <p:attrNameLst>
                                          <p:attrName>style.visibility</p:attrName>
                                        </p:attrNameLst>
                                      </p:cBhvr>
                                      <p:to>
                                        <p:strVal val="visible"/>
                                      </p:to>
                                    </p:set>
                                    <p:animEffect transition="in" filter="wipe(left)">
                                      <p:cBhvr>
                                        <p:cTn id="128" dur="500"/>
                                        <p:tgtEl>
                                          <p:spTgt spid="70671"/>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70658"/>
                                        </p:tgtEl>
                                        <p:attrNameLst>
                                          <p:attrName>style.visibility</p:attrName>
                                        </p:attrNameLst>
                                      </p:cBhvr>
                                      <p:to>
                                        <p:strVal val="visible"/>
                                      </p:to>
                                    </p:set>
                                    <p:animEffect transition="in" filter="wipe(left)">
                                      <p:cBhvr>
                                        <p:cTn id="133" dur="500"/>
                                        <p:tgtEl>
                                          <p:spTgt spid="70658"/>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8"/>
                                        </p:tgtEl>
                                        <p:attrNameLst>
                                          <p:attrName>style.visibility</p:attrName>
                                        </p:attrNameLst>
                                      </p:cBhvr>
                                      <p:to>
                                        <p:strVal val="visible"/>
                                      </p:to>
                                    </p:set>
                                    <p:animEffect transition="in" filter="wipe(left)">
                                      <p:cBhvr>
                                        <p:cTn id="138" dur="500"/>
                                        <p:tgtEl>
                                          <p:spTgt spid="8"/>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70695"/>
                                        </p:tgtEl>
                                        <p:attrNameLst>
                                          <p:attrName>style.visibility</p:attrName>
                                        </p:attrNameLst>
                                      </p:cBhvr>
                                      <p:to>
                                        <p:strVal val="visible"/>
                                      </p:to>
                                    </p:set>
                                    <p:animEffect transition="in" filter="wipe(left)">
                                      <p:cBhvr>
                                        <p:cTn id="143" dur="500"/>
                                        <p:tgtEl>
                                          <p:spTgt spid="70695"/>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70673"/>
                                        </p:tgtEl>
                                        <p:attrNameLst>
                                          <p:attrName>style.visibility</p:attrName>
                                        </p:attrNameLst>
                                      </p:cBhvr>
                                      <p:to>
                                        <p:strVal val="visible"/>
                                      </p:to>
                                    </p:set>
                                    <p:animEffect transition="in" filter="wipe(left)">
                                      <p:cBhvr>
                                        <p:cTn id="148" dur="500"/>
                                        <p:tgtEl>
                                          <p:spTgt spid="70673"/>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7"/>
                                        </p:tgtEl>
                                        <p:attrNameLst>
                                          <p:attrName>style.visibility</p:attrName>
                                        </p:attrNameLst>
                                      </p:cBhvr>
                                      <p:to>
                                        <p:strVal val="visible"/>
                                      </p:to>
                                    </p:set>
                                    <p:animEffect transition="in" filter="wipe(left)">
                                      <p:cBhvr>
                                        <p:cTn id="15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animBg="1"/>
      <p:bldP spid="70659" grpId="0" animBg="1"/>
      <p:bldP spid="70660" grpId="0"/>
      <p:bldP spid="70661" grpId="0" animBg="1"/>
      <p:bldP spid="70662" grpId="0" animBg="1"/>
      <p:bldP spid="70663" grpId="0" animBg="1"/>
      <p:bldP spid="70672" grpId="0" animBg="1"/>
      <p:bldP spid="70673" grpId="0"/>
      <p:bldP spid="70683" grpId="0" animBg="1"/>
      <p:bldP spid="70684" grpId="0"/>
      <p:bldP spid="70685" grpId="0"/>
      <p:bldP spid="70689" grpId="0" animBg="1"/>
      <p:bldP spid="70690" grpId="0" animBg="1"/>
      <p:bldP spid="70691" grpId="0"/>
      <p:bldP spid="70692" grpId="0"/>
      <p:bldP spid="70693" grpId="0"/>
      <p:bldP spid="70694" grpId="0"/>
      <p:bldP spid="70695" grpId="0"/>
      <p:bldP spid="70700" grpId="0" animBg="1"/>
      <p:bldP spid="70701" grpId="0" animBg="1"/>
      <p:bldP spid="70702" grpId="0" animBg="1"/>
      <p:bldP spid="70703" grpId="0"/>
      <p:bldP spid="70704" grpId="0"/>
      <p:bldP spid="49"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8"/>
          <p:cNvSpPr txBox="1">
            <a:spLocks noChangeArrowheads="1"/>
          </p:cNvSpPr>
          <p:nvPr/>
        </p:nvSpPr>
        <p:spPr bwMode="auto">
          <a:xfrm>
            <a:off x="285750" y="428625"/>
            <a:ext cx="7000875" cy="461963"/>
          </a:xfrm>
          <a:prstGeom prst="rect">
            <a:avLst/>
          </a:prstGeom>
          <a:noFill/>
          <a:ln w="9525">
            <a:noFill/>
            <a:miter lim="800000"/>
          </a:ln>
        </p:spPr>
        <p:txBody>
          <a:bodyPr>
            <a:spAutoFit/>
          </a:bodyPr>
          <a:lstStyle/>
          <a:p>
            <a:r>
              <a:rPr lang="en-US" altLang="zh-CN" b="1">
                <a:solidFill>
                  <a:srgbClr val="FF0000"/>
                </a:solidFill>
              </a:rPr>
              <a:t>2</a:t>
            </a:r>
            <a:r>
              <a:rPr lang="zh-CN" altLang="en-US" b="1">
                <a:solidFill>
                  <a:srgbClr val="FF0000"/>
                </a:solidFill>
              </a:rPr>
              <a:t>、准静态过程热量</a:t>
            </a:r>
            <a:r>
              <a:rPr lang="en-US" altLang="zh-CN" b="1" i="1">
                <a:solidFill>
                  <a:srgbClr val="FF0000"/>
                </a:solidFill>
                <a:cs typeface="Times New Roman" panose="02020603050405020304" pitchFamily="18" charset="0"/>
              </a:rPr>
              <a:t>Q</a:t>
            </a:r>
            <a:r>
              <a:rPr lang="zh-CN" altLang="en-US" b="1">
                <a:solidFill>
                  <a:srgbClr val="FF0000"/>
                </a:solidFill>
              </a:rPr>
              <a:t>的计算方法</a:t>
            </a:r>
            <a:r>
              <a:rPr lang="en-US" altLang="zh-CN" b="1">
                <a:solidFill>
                  <a:srgbClr val="FF0000"/>
                </a:solidFill>
              </a:rPr>
              <a:t>——</a:t>
            </a:r>
            <a:r>
              <a:rPr lang="zh-CN" altLang="en-US" b="1">
                <a:solidFill>
                  <a:srgbClr val="FF0000"/>
                </a:solidFill>
              </a:rPr>
              <a:t>热容量法</a:t>
            </a:r>
            <a:endParaRPr lang="zh-CN" altLang="en-US" b="1">
              <a:solidFill>
                <a:srgbClr val="FF0000"/>
              </a:solidFill>
              <a:cs typeface="Times New Roman" panose="02020603050405020304" pitchFamily="18" charset="0"/>
            </a:endParaRPr>
          </a:p>
        </p:txBody>
      </p:sp>
      <p:sp>
        <p:nvSpPr>
          <p:cNvPr id="3" name="Text Box 22"/>
          <p:cNvSpPr txBox="1">
            <a:spLocks noChangeArrowheads="1"/>
          </p:cNvSpPr>
          <p:nvPr/>
        </p:nvSpPr>
        <p:spPr bwMode="auto">
          <a:xfrm>
            <a:off x="571500" y="3500438"/>
            <a:ext cx="7858125" cy="461962"/>
          </a:xfrm>
          <a:prstGeom prst="rect">
            <a:avLst/>
          </a:prstGeom>
          <a:noFill/>
          <a:ln w="9525">
            <a:noFill/>
            <a:miter lim="800000"/>
          </a:ln>
        </p:spPr>
        <p:txBody>
          <a:bodyPr>
            <a:spAutoFit/>
          </a:bodyPr>
          <a:lstStyle/>
          <a:p>
            <a:r>
              <a:rPr lang="zh-CN" altLang="en-US" b="1">
                <a:solidFill>
                  <a:srgbClr val="0000FF"/>
                </a:solidFill>
              </a:rPr>
              <a:t>摩尔热容</a:t>
            </a:r>
            <a:r>
              <a:rPr kumimoji="1" lang="en-US" altLang="zh-CN" b="1" i="1">
                <a:solidFill>
                  <a:srgbClr val="0000FF"/>
                </a:solidFill>
              </a:rPr>
              <a:t>C </a:t>
            </a:r>
            <a:r>
              <a:rPr kumimoji="1" lang="en-US" altLang="zh-CN" b="1" i="1" baseline="-25000">
                <a:solidFill>
                  <a:srgbClr val="0000FF"/>
                </a:solidFill>
              </a:rPr>
              <a:t>x </a:t>
            </a:r>
            <a:r>
              <a:rPr lang="zh-CN" altLang="en-US" b="1">
                <a:solidFill>
                  <a:srgbClr val="0000FF"/>
                </a:solidFill>
              </a:rPr>
              <a:t>：</a:t>
            </a:r>
            <a:endParaRPr lang="zh-CN" altLang="en-US" b="1">
              <a:solidFill>
                <a:srgbClr val="0000FF"/>
              </a:solidFill>
            </a:endParaRPr>
          </a:p>
        </p:txBody>
      </p:sp>
      <p:sp>
        <p:nvSpPr>
          <p:cNvPr id="4" name="Text Box 9"/>
          <p:cNvSpPr txBox="1">
            <a:spLocks noChangeArrowheads="1"/>
          </p:cNvSpPr>
          <p:nvPr/>
        </p:nvSpPr>
        <p:spPr bwMode="auto">
          <a:xfrm>
            <a:off x="500063" y="887413"/>
            <a:ext cx="2000250" cy="541337"/>
          </a:xfrm>
          <a:prstGeom prst="rect">
            <a:avLst/>
          </a:prstGeom>
          <a:noFill/>
          <a:ln w="9525">
            <a:noFill/>
            <a:miter lim="800000"/>
          </a:ln>
        </p:spPr>
        <p:txBody>
          <a:bodyPr>
            <a:spAutoFit/>
          </a:bodyPr>
          <a:lstStyle/>
          <a:p>
            <a:pPr>
              <a:lnSpc>
                <a:spcPts val="3500"/>
              </a:lnSpc>
            </a:pPr>
            <a:r>
              <a:rPr kumimoji="1" lang="zh-CN" altLang="en-US" b="1">
                <a:solidFill>
                  <a:srgbClr val="0000FF"/>
                </a:solidFill>
              </a:rPr>
              <a:t>热容</a:t>
            </a:r>
            <a:r>
              <a:rPr kumimoji="1" lang="en-US" altLang="zh-CN" b="1" i="1">
                <a:solidFill>
                  <a:srgbClr val="0000FF"/>
                </a:solidFill>
              </a:rPr>
              <a:t>C</a:t>
            </a:r>
            <a:r>
              <a:rPr kumimoji="1" lang="zh-CN" altLang="en-US" b="1">
                <a:solidFill>
                  <a:srgbClr val="0000FF"/>
                </a:solidFill>
              </a:rPr>
              <a:t>：</a:t>
            </a:r>
            <a:endParaRPr lang="zh-CN" altLang="en-US" b="1">
              <a:solidFill>
                <a:srgbClr val="FF6600"/>
              </a:solidFill>
              <a:latin typeface="Arial" panose="020B0604020202020204" pitchFamily="34" charset="0"/>
            </a:endParaRPr>
          </a:p>
        </p:txBody>
      </p:sp>
      <p:sp>
        <p:nvSpPr>
          <p:cNvPr id="7177" name="矩形 7"/>
          <p:cNvSpPr>
            <a:spLocks noChangeArrowheads="1"/>
          </p:cNvSpPr>
          <p:nvPr/>
        </p:nvSpPr>
        <p:spPr bwMode="auto">
          <a:xfrm>
            <a:off x="428625" y="3929063"/>
            <a:ext cx="8358188" cy="946150"/>
          </a:xfrm>
          <a:prstGeom prst="rect">
            <a:avLst/>
          </a:prstGeom>
          <a:noFill/>
          <a:ln w="9525">
            <a:noFill/>
            <a:miter lim="800000"/>
          </a:ln>
        </p:spPr>
        <p:txBody>
          <a:bodyPr>
            <a:spAutoFit/>
          </a:bodyPr>
          <a:lstStyle/>
          <a:p>
            <a:pPr>
              <a:lnSpc>
                <a:spcPts val="3500"/>
              </a:lnSpc>
            </a:pPr>
            <a:r>
              <a:rPr kumimoji="1" lang="zh-CN" altLang="en-US" b="1">
                <a:solidFill>
                  <a:srgbClr val="FF6600"/>
                </a:solidFill>
              </a:rPr>
              <a:t>         </a:t>
            </a:r>
            <a:r>
              <a:rPr kumimoji="1" lang="en-US" altLang="zh-CN" b="1">
                <a:solidFill>
                  <a:srgbClr val="FF6600"/>
                </a:solidFill>
              </a:rPr>
              <a:t>1mol</a:t>
            </a:r>
            <a:r>
              <a:rPr kumimoji="1" lang="zh-CN" altLang="en-US" b="1">
                <a:solidFill>
                  <a:srgbClr val="FF6600"/>
                </a:solidFill>
              </a:rPr>
              <a:t>物质</a:t>
            </a:r>
            <a:r>
              <a:rPr lang="zh-CN" altLang="en-US" b="1"/>
              <a:t>在某一过程中温度升高（或降低）</a:t>
            </a:r>
            <a:r>
              <a:rPr lang="en-US" altLang="zh-CN" b="1">
                <a:solidFill>
                  <a:srgbClr val="FF6600"/>
                </a:solidFill>
              </a:rPr>
              <a:t>1 K</a:t>
            </a:r>
            <a:r>
              <a:rPr lang="zh-CN" altLang="en-US" b="1"/>
              <a:t>所吸收（或放出）的</a:t>
            </a:r>
            <a:r>
              <a:rPr lang="zh-CN" altLang="en-US" b="1">
                <a:solidFill>
                  <a:srgbClr val="FF6600"/>
                </a:solidFill>
              </a:rPr>
              <a:t>热量</a:t>
            </a:r>
            <a:r>
              <a:rPr lang="zh-CN" altLang="en-US" b="1"/>
              <a:t>称为摩尔热容．单位是</a:t>
            </a:r>
            <a:r>
              <a:rPr lang="en-US" altLang="zh-CN" b="1">
                <a:solidFill>
                  <a:srgbClr val="FF6600"/>
                </a:solidFill>
              </a:rPr>
              <a:t>J·K</a:t>
            </a:r>
            <a:r>
              <a:rPr lang="en-US" altLang="zh-CN" b="1" baseline="30000">
                <a:solidFill>
                  <a:srgbClr val="FF6600"/>
                </a:solidFill>
              </a:rPr>
              <a:t>–1</a:t>
            </a:r>
            <a:r>
              <a:rPr lang="en-US" altLang="zh-CN" b="1">
                <a:solidFill>
                  <a:srgbClr val="FF6600"/>
                </a:solidFill>
              </a:rPr>
              <a:t>·mol</a:t>
            </a:r>
            <a:r>
              <a:rPr lang="en-US" altLang="zh-CN" b="1" baseline="30000">
                <a:solidFill>
                  <a:srgbClr val="FF6600"/>
                </a:solidFill>
              </a:rPr>
              <a:t>–1</a:t>
            </a:r>
            <a:endParaRPr lang="zh-CN" altLang="en-US">
              <a:solidFill>
                <a:srgbClr val="FF6600"/>
              </a:solidFill>
            </a:endParaRPr>
          </a:p>
        </p:txBody>
      </p:sp>
      <p:sp>
        <p:nvSpPr>
          <p:cNvPr id="7178" name="TextBox 8"/>
          <p:cNvSpPr txBox="1">
            <a:spLocks noChangeArrowheads="1"/>
          </p:cNvSpPr>
          <p:nvPr/>
        </p:nvSpPr>
        <p:spPr bwMode="auto">
          <a:xfrm>
            <a:off x="500063" y="1397000"/>
            <a:ext cx="8429625" cy="946150"/>
          </a:xfrm>
          <a:prstGeom prst="rect">
            <a:avLst/>
          </a:prstGeom>
          <a:noFill/>
          <a:ln w="9525">
            <a:noFill/>
            <a:miter lim="800000"/>
          </a:ln>
        </p:spPr>
        <p:txBody>
          <a:bodyPr>
            <a:spAutoFit/>
          </a:bodyPr>
          <a:lstStyle/>
          <a:p>
            <a:pPr>
              <a:lnSpc>
                <a:spcPts val="3500"/>
              </a:lnSpc>
            </a:pPr>
            <a:r>
              <a:rPr kumimoji="1" lang="zh-CN" altLang="en-US" b="1"/>
              <a:t>       系统</a:t>
            </a:r>
            <a:r>
              <a:rPr lang="zh-CN" altLang="en-US" b="1"/>
              <a:t>在某一过程中温度升高（或降低）</a:t>
            </a:r>
            <a:r>
              <a:rPr lang="en-US" altLang="zh-CN" b="1">
                <a:solidFill>
                  <a:srgbClr val="FF6600"/>
                </a:solidFill>
              </a:rPr>
              <a:t>1 K</a:t>
            </a:r>
            <a:r>
              <a:rPr lang="zh-CN" altLang="en-US" b="1"/>
              <a:t>所吸收（或放出）的</a:t>
            </a:r>
            <a:r>
              <a:rPr lang="zh-CN" altLang="en-US" b="1">
                <a:solidFill>
                  <a:srgbClr val="FF6600"/>
                </a:solidFill>
              </a:rPr>
              <a:t>热量</a:t>
            </a:r>
            <a:r>
              <a:rPr lang="zh-CN" altLang="en-US" b="1"/>
              <a:t>称为该系统在这一过程中的热容．单位是</a:t>
            </a:r>
            <a:r>
              <a:rPr lang="en-US" altLang="zh-CN" b="1">
                <a:solidFill>
                  <a:srgbClr val="FF6600"/>
                </a:solidFill>
              </a:rPr>
              <a:t>J·K</a:t>
            </a:r>
            <a:r>
              <a:rPr lang="en-US" altLang="zh-CN" b="1" baseline="30000">
                <a:solidFill>
                  <a:srgbClr val="FF6600"/>
                </a:solidFill>
              </a:rPr>
              <a:t>–1</a:t>
            </a:r>
            <a:endParaRPr lang="zh-CN" altLang="en-US"/>
          </a:p>
        </p:txBody>
      </p:sp>
      <p:graphicFrame>
        <p:nvGraphicFramePr>
          <p:cNvPr id="174080" name="Object 0"/>
          <p:cNvGraphicFramePr>
            <a:graphicFrameLocks noChangeAspect="1"/>
          </p:cNvGraphicFramePr>
          <p:nvPr/>
        </p:nvGraphicFramePr>
        <p:xfrm>
          <a:off x="1854200" y="5000625"/>
          <a:ext cx="2032000" cy="884238"/>
        </p:xfrm>
        <a:graphic>
          <a:graphicData uri="http://schemas.openxmlformats.org/presentationml/2006/ole">
            <mc:AlternateContent xmlns:mc="http://schemas.openxmlformats.org/markup-compatibility/2006">
              <mc:Choice xmlns:v="urn:schemas-microsoft-com:vml" Requires="v">
                <p:oleObj spid="_x0000_s7169" name="Equation" r:id="rId1" imgW="23774400" imgH="10363200" progId="Equation.DSMT4">
                  <p:embed/>
                </p:oleObj>
              </mc:Choice>
              <mc:Fallback>
                <p:oleObj name="Equation" r:id="rId1" imgW="23774400" imgH="10363200" progId="Equation.DSMT4">
                  <p:embed/>
                  <p:pic>
                    <p:nvPicPr>
                      <p:cNvPr id="0" name="Object 0"/>
                      <p:cNvPicPr>
                        <a:picLocks noChangeAspect="1"/>
                      </p:cNvPicPr>
                      <p:nvPr/>
                    </p:nvPicPr>
                    <p:blipFill>
                      <a:blip r:embed="rId2"/>
                      <a:stretch>
                        <a:fillRect/>
                      </a:stretch>
                    </p:blipFill>
                    <p:spPr>
                      <a:xfrm>
                        <a:off x="1854200" y="5000625"/>
                        <a:ext cx="2032000" cy="884238"/>
                      </a:xfrm>
                      <a:prstGeom prst="rect">
                        <a:avLst/>
                      </a:prstGeom>
                      <a:noFill/>
                      <a:ln w="9525">
                        <a:noFill/>
                      </a:ln>
                    </p:spPr>
                  </p:pic>
                </p:oleObj>
              </mc:Fallback>
            </mc:AlternateContent>
          </a:graphicData>
        </a:graphic>
      </p:graphicFrame>
      <p:graphicFrame>
        <p:nvGraphicFramePr>
          <p:cNvPr id="5" name="Object 4"/>
          <p:cNvGraphicFramePr>
            <a:graphicFrameLocks noChangeAspect="1"/>
          </p:cNvGraphicFramePr>
          <p:nvPr/>
        </p:nvGraphicFramePr>
        <p:xfrm>
          <a:off x="2428875" y="2408238"/>
          <a:ext cx="1068388" cy="806450"/>
        </p:xfrm>
        <a:graphic>
          <a:graphicData uri="http://schemas.openxmlformats.org/presentationml/2006/ole">
            <mc:AlternateContent xmlns:mc="http://schemas.openxmlformats.org/markup-compatibility/2006">
              <mc:Choice xmlns:v="urn:schemas-microsoft-com:vml" Requires="v">
                <p:oleObj spid="_x0000_s7171" name="Equation" r:id="rId3" imgW="12496800" imgH="9448800" progId="Equation.DSMT4">
                  <p:embed/>
                </p:oleObj>
              </mc:Choice>
              <mc:Fallback>
                <p:oleObj name="Equation" r:id="rId3" imgW="12496800" imgH="9448800" progId="Equation.DSMT4">
                  <p:embed/>
                  <p:pic>
                    <p:nvPicPr>
                      <p:cNvPr id="0" name="Object 4"/>
                      <p:cNvPicPr>
                        <a:picLocks noChangeAspect="1"/>
                      </p:cNvPicPr>
                      <p:nvPr/>
                    </p:nvPicPr>
                    <p:blipFill>
                      <a:blip r:embed="rId4"/>
                      <a:stretch>
                        <a:fillRect/>
                      </a:stretch>
                    </p:blipFill>
                    <p:spPr>
                      <a:xfrm>
                        <a:off x="2428875" y="2408238"/>
                        <a:ext cx="1068388" cy="806450"/>
                      </a:xfrm>
                      <a:prstGeom prst="rect">
                        <a:avLst/>
                      </a:prstGeom>
                      <a:noFill/>
                      <a:ln w="9525">
                        <a:noFill/>
                      </a:ln>
                    </p:spPr>
                  </p:pic>
                </p:oleObj>
              </mc:Fallback>
            </mc:AlternateContent>
          </a:graphicData>
        </a:graphic>
      </p:graphicFrame>
      <p:graphicFrame>
        <p:nvGraphicFramePr>
          <p:cNvPr id="14" name="Object 5"/>
          <p:cNvGraphicFramePr>
            <a:graphicFrameLocks noChangeAspect="1"/>
          </p:cNvGraphicFramePr>
          <p:nvPr/>
        </p:nvGraphicFramePr>
        <p:xfrm>
          <a:off x="3714750" y="2487613"/>
          <a:ext cx="1955800" cy="727075"/>
        </p:xfrm>
        <a:graphic>
          <a:graphicData uri="http://schemas.openxmlformats.org/presentationml/2006/ole">
            <mc:AlternateContent xmlns:mc="http://schemas.openxmlformats.org/markup-compatibility/2006">
              <mc:Choice xmlns:v="urn:schemas-microsoft-com:vml" Requires="v">
                <p:oleObj spid="_x0000_s7172" name="Equation" r:id="rId5" imgW="22860000" imgH="8534400" progId="Equation.DSMT4">
                  <p:embed/>
                </p:oleObj>
              </mc:Choice>
              <mc:Fallback>
                <p:oleObj name="Equation" r:id="rId5" imgW="22860000" imgH="8534400" progId="Equation.DSMT4">
                  <p:embed/>
                  <p:pic>
                    <p:nvPicPr>
                      <p:cNvPr id="0" name="Object 5"/>
                      <p:cNvPicPr>
                        <a:picLocks noChangeAspect="1"/>
                      </p:cNvPicPr>
                      <p:nvPr/>
                    </p:nvPicPr>
                    <p:blipFill>
                      <a:blip r:embed="rId6"/>
                      <a:stretch>
                        <a:fillRect/>
                      </a:stretch>
                    </p:blipFill>
                    <p:spPr>
                      <a:xfrm>
                        <a:off x="3714750" y="2487613"/>
                        <a:ext cx="1955800" cy="727075"/>
                      </a:xfrm>
                      <a:prstGeom prst="rect">
                        <a:avLst/>
                      </a:prstGeom>
                      <a:noFill/>
                      <a:ln w="9525">
                        <a:noFill/>
                      </a:ln>
                    </p:spPr>
                  </p:pic>
                </p:oleObj>
              </mc:Fallback>
            </mc:AlternateContent>
          </a:graphicData>
        </a:graphic>
      </p:graphicFrame>
      <p:graphicFrame>
        <p:nvGraphicFramePr>
          <p:cNvPr id="15" name="Object 6"/>
          <p:cNvGraphicFramePr>
            <a:graphicFrameLocks noChangeAspect="1"/>
          </p:cNvGraphicFramePr>
          <p:nvPr/>
        </p:nvGraphicFramePr>
        <p:xfrm>
          <a:off x="4003675" y="5033963"/>
          <a:ext cx="2478088" cy="804862"/>
        </p:xfrm>
        <a:graphic>
          <a:graphicData uri="http://schemas.openxmlformats.org/presentationml/2006/ole">
            <mc:AlternateContent xmlns:mc="http://schemas.openxmlformats.org/markup-compatibility/2006">
              <mc:Choice xmlns:v="urn:schemas-microsoft-com:vml" Requires="v">
                <p:oleObj spid="_x0000_s7173" name="Equation" r:id="rId7" imgW="28956000" imgH="9448800" progId="Equation.DSMT4">
                  <p:embed/>
                </p:oleObj>
              </mc:Choice>
              <mc:Fallback>
                <p:oleObj name="Equation" r:id="rId7" imgW="28956000" imgH="9448800" progId="Equation.DSMT4">
                  <p:embed/>
                  <p:pic>
                    <p:nvPicPr>
                      <p:cNvPr id="0" name="Object 6"/>
                      <p:cNvPicPr>
                        <a:picLocks noChangeAspect="1"/>
                      </p:cNvPicPr>
                      <p:nvPr/>
                    </p:nvPicPr>
                    <p:blipFill>
                      <a:blip r:embed="rId8"/>
                      <a:stretch>
                        <a:fillRect/>
                      </a:stretch>
                    </p:blipFill>
                    <p:spPr>
                      <a:xfrm>
                        <a:off x="4003675" y="5033963"/>
                        <a:ext cx="2478088" cy="804862"/>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178"/>
                                        </p:tgtEl>
                                        <p:attrNameLst>
                                          <p:attrName>style.visibility</p:attrName>
                                        </p:attrNameLst>
                                      </p:cBhvr>
                                      <p:to>
                                        <p:strVal val="visible"/>
                                      </p:to>
                                    </p:set>
                                    <p:animEffect transition="in" filter="wipe(left)">
                                      <p:cBhvr>
                                        <p:cTn id="16" dur="1000"/>
                                        <p:tgtEl>
                                          <p:spTgt spid="7178"/>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177"/>
                                        </p:tgtEl>
                                        <p:attrNameLst>
                                          <p:attrName>style.visibility</p:attrName>
                                        </p:attrNameLst>
                                      </p:cBhvr>
                                      <p:to>
                                        <p:strVal val="visible"/>
                                      </p:to>
                                    </p:set>
                                    <p:animEffect transition="in" filter="wipe(left)">
                                      <p:cBhvr>
                                        <p:cTn id="34" dur="1000"/>
                                        <p:tgtEl>
                                          <p:spTgt spid="7177"/>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174080"/>
                                        </p:tgtEl>
                                        <p:attrNameLst>
                                          <p:attrName>style.visibility</p:attrName>
                                        </p:attrNameLst>
                                      </p:cBhvr>
                                      <p:to>
                                        <p:strVal val="visible"/>
                                      </p:to>
                                    </p:set>
                                    <p:animEffect transition="in" filter="wipe(left)">
                                      <p:cBhvr>
                                        <p:cTn id="38" dur="500"/>
                                        <p:tgtEl>
                                          <p:spTgt spid="174080"/>
                                        </p:tgtEl>
                                      </p:cBhvr>
                                    </p:animEffect>
                                  </p:childTnLst>
                                </p:cTn>
                              </p:par>
                            </p:childTnLst>
                          </p:cTn>
                        </p:par>
                        <p:par>
                          <p:cTn id="39" fill="hold">
                            <p:stCondLst>
                              <p:cond delay="1500"/>
                            </p:stCondLst>
                            <p:childTnLst>
                              <p:par>
                                <p:cTn id="40" presetID="22" presetClass="entr" presetSubtype="8" fill="hold"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P spid="7177" grpId="0"/>
      <p:bldP spid="717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4"/>
          <p:cNvSpPr txBox="1">
            <a:spLocks noChangeArrowheads="1"/>
          </p:cNvSpPr>
          <p:nvPr/>
        </p:nvSpPr>
        <p:spPr bwMode="auto">
          <a:xfrm>
            <a:off x="428625" y="571500"/>
            <a:ext cx="2836863" cy="461963"/>
          </a:xfrm>
          <a:prstGeom prst="rect">
            <a:avLst/>
          </a:prstGeom>
          <a:noFill/>
          <a:ln w="9525">
            <a:noFill/>
            <a:miter lim="800000"/>
          </a:ln>
        </p:spPr>
        <p:txBody>
          <a:bodyPr wrap="none">
            <a:spAutoFit/>
          </a:bodyPr>
          <a:lstStyle/>
          <a:p>
            <a:r>
              <a:rPr lang="zh-CN" altLang="en-US" b="1">
                <a:solidFill>
                  <a:srgbClr val="0000FF"/>
                </a:solidFill>
              </a:rPr>
              <a:t>等体摩尔热容</a:t>
            </a:r>
            <a:r>
              <a:rPr kumimoji="1" lang="en-US" altLang="zh-CN" b="1" i="1">
                <a:solidFill>
                  <a:srgbClr val="0000FF"/>
                </a:solidFill>
              </a:rPr>
              <a:t>C </a:t>
            </a:r>
            <a:r>
              <a:rPr kumimoji="1" lang="en-US" altLang="zh-CN" b="1" i="1" baseline="-25000">
                <a:solidFill>
                  <a:srgbClr val="0000FF"/>
                </a:solidFill>
              </a:rPr>
              <a:t>V</a:t>
            </a:r>
            <a:r>
              <a:rPr lang="zh-CN" altLang="en-US" b="1">
                <a:solidFill>
                  <a:srgbClr val="0000FF"/>
                </a:solidFill>
              </a:rPr>
              <a:t>：</a:t>
            </a:r>
            <a:endParaRPr lang="zh-CN" altLang="en-US" b="1">
              <a:solidFill>
                <a:srgbClr val="0000FF"/>
              </a:solidFill>
            </a:endParaRPr>
          </a:p>
        </p:txBody>
      </p:sp>
      <p:sp>
        <p:nvSpPr>
          <p:cNvPr id="8200" name="矩形 2"/>
          <p:cNvSpPr>
            <a:spLocks noChangeArrowheads="1"/>
          </p:cNvSpPr>
          <p:nvPr/>
        </p:nvSpPr>
        <p:spPr bwMode="auto">
          <a:xfrm>
            <a:off x="285750" y="1000125"/>
            <a:ext cx="8358188" cy="990600"/>
          </a:xfrm>
          <a:prstGeom prst="rect">
            <a:avLst/>
          </a:prstGeom>
          <a:noFill/>
          <a:ln w="9525">
            <a:noFill/>
            <a:miter lim="800000"/>
          </a:ln>
        </p:spPr>
        <p:txBody>
          <a:bodyPr>
            <a:spAutoFit/>
          </a:bodyPr>
          <a:lstStyle/>
          <a:p>
            <a:pPr>
              <a:lnSpc>
                <a:spcPts val="3500"/>
              </a:lnSpc>
            </a:pPr>
            <a:r>
              <a:rPr kumimoji="1" lang="zh-CN" altLang="en-US" b="1">
                <a:solidFill>
                  <a:srgbClr val="FF6600"/>
                </a:solidFill>
              </a:rPr>
              <a:t>         </a:t>
            </a:r>
            <a:r>
              <a:rPr kumimoji="1" lang="en-US" altLang="zh-CN" b="1">
                <a:solidFill>
                  <a:srgbClr val="FF6600"/>
                </a:solidFill>
              </a:rPr>
              <a:t>1mol</a:t>
            </a:r>
            <a:r>
              <a:rPr kumimoji="1" lang="zh-CN" altLang="en-US" b="1">
                <a:solidFill>
                  <a:srgbClr val="FF6600"/>
                </a:solidFill>
              </a:rPr>
              <a:t>物质</a:t>
            </a:r>
            <a:r>
              <a:rPr lang="zh-CN" altLang="en-US" b="1"/>
              <a:t>在</a:t>
            </a:r>
            <a:r>
              <a:rPr lang="zh-CN" altLang="en-US" b="1">
                <a:solidFill>
                  <a:srgbClr val="FF6600"/>
                </a:solidFill>
              </a:rPr>
              <a:t>等体过程</a:t>
            </a:r>
            <a:r>
              <a:rPr lang="zh-CN" altLang="en-US" b="1"/>
              <a:t>中温度升高（或降低）</a:t>
            </a:r>
            <a:r>
              <a:rPr lang="en-US" altLang="zh-CN" b="1">
                <a:solidFill>
                  <a:srgbClr val="FF6600"/>
                </a:solidFill>
              </a:rPr>
              <a:t>1 K</a:t>
            </a:r>
            <a:r>
              <a:rPr lang="zh-CN" altLang="en-US" b="1"/>
              <a:t>所吸收（或放出）的</a:t>
            </a:r>
            <a:r>
              <a:rPr lang="zh-CN" altLang="en-US" b="1">
                <a:solidFill>
                  <a:srgbClr val="FF6600"/>
                </a:solidFill>
              </a:rPr>
              <a:t>热量</a:t>
            </a:r>
            <a:r>
              <a:rPr lang="zh-CN" altLang="en-US" b="1"/>
              <a:t>称为摩尔热容．单位是</a:t>
            </a:r>
            <a:r>
              <a:rPr lang="en-US" altLang="zh-CN" b="1">
                <a:solidFill>
                  <a:srgbClr val="FF6600"/>
                </a:solidFill>
              </a:rPr>
              <a:t>J·K</a:t>
            </a:r>
            <a:r>
              <a:rPr lang="en-US" altLang="zh-CN" b="1" baseline="30000">
                <a:solidFill>
                  <a:srgbClr val="FF6600"/>
                </a:solidFill>
              </a:rPr>
              <a:t>–1</a:t>
            </a:r>
            <a:r>
              <a:rPr lang="en-US" altLang="zh-CN" b="1">
                <a:solidFill>
                  <a:srgbClr val="FF6600"/>
                </a:solidFill>
              </a:rPr>
              <a:t>·mol</a:t>
            </a:r>
            <a:r>
              <a:rPr lang="en-US" altLang="zh-CN" b="1" baseline="30000">
                <a:solidFill>
                  <a:srgbClr val="FF6600"/>
                </a:solidFill>
              </a:rPr>
              <a:t>–1</a:t>
            </a:r>
            <a:endParaRPr lang="zh-CN" altLang="en-US">
              <a:solidFill>
                <a:srgbClr val="FF6600"/>
              </a:solidFill>
            </a:endParaRPr>
          </a:p>
        </p:txBody>
      </p:sp>
      <p:sp>
        <p:nvSpPr>
          <p:cNvPr id="4" name="Text Box 14"/>
          <p:cNvSpPr txBox="1">
            <a:spLocks noChangeArrowheads="1"/>
          </p:cNvSpPr>
          <p:nvPr/>
        </p:nvSpPr>
        <p:spPr bwMode="auto">
          <a:xfrm>
            <a:off x="428625" y="2071688"/>
            <a:ext cx="2786063" cy="461962"/>
          </a:xfrm>
          <a:prstGeom prst="rect">
            <a:avLst/>
          </a:prstGeom>
          <a:noFill/>
          <a:ln w="9525">
            <a:noFill/>
            <a:miter lim="800000"/>
          </a:ln>
        </p:spPr>
        <p:txBody>
          <a:bodyPr wrap="none">
            <a:spAutoFit/>
          </a:bodyPr>
          <a:lstStyle/>
          <a:p>
            <a:r>
              <a:rPr lang="zh-CN" altLang="en-US" b="1">
                <a:solidFill>
                  <a:srgbClr val="0000FF"/>
                </a:solidFill>
              </a:rPr>
              <a:t>等压摩尔热容</a:t>
            </a:r>
            <a:r>
              <a:rPr kumimoji="1" lang="en-US" altLang="zh-CN" b="1" i="1">
                <a:solidFill>
                  <a:srgbClr val="0000FF"/>
                </a:solidFill>
              </a:rPr>
              <a:t>C </a:t>
            </a:r>
            <a:r>
              <a:rPr kumimoji="1" lang="en-US" altLang="zh-CN" b="1" i="1" baseline="-25000">
                <a:solidFill>
                  <a:srgbClr val="0000FF"/>
                </a:solidFill>
              </a:rPr>
              <a:t>p</a:t>
            </a:r>
            <a:r>
              <a:rPr lang="zh-CN" altLang="en-US" b="1">
                <a:solidFill>
                  <a:srgbClr val="0000FF"/>
                </a:solidFill>
              </a:rPr>
              <a:t>：</a:t>
            </a:r>
            <a:endParaRPr lang="zh-CN" altLang="en-US" b="1">
              <a:solidFill>
                <a:srgbClr val="0000FF"/>
              </a:solidFill>
            </a:endParaRPr>
          </a:p>
        </p:txBody>
      </p:sp>
      <p:sp>
        <p:nvSpPr>
          <p:cNvPr id="8202" name="矩形 4"/>
          <p:cNvSpPr>
            <a:spLocks noChangeArrowheads="1"/>
          </p:cNvSpPr>
          <p:nvPr/>
        </p:nvSpPr>
        <p:spPr bwMode="auto">
          <a:xfrm>
            <a:off x="285750" y="2500313"/>
            <a:ext cx="8358188" cy="990600"/>
          </a:xfrm>
          <a:prstGeom prst="rect">
            <a:avLst/>
          </a:prstGeom>
          <a:noFill/>
          <a:ln w="9525">
            <a:noFill/>
            <a:miter lim="800000"/>
          </a:ln>
        </p:spPr>
        <p:txBody>
          <a:bodyPr>
            <a:spAutoFit/>
          </a:bodyPr>
          <a:lstStyle/>
          <a:p>
            <a:pPr>
              <a:lnSpc>
                <a:spcPts val="3500"/>
              </a:lnSpc>
            </a:pPr>
            <a:r>
              <a:rPr kumimoji="1" lang="zh-CN" altLang="en-US" b="1">
                <a:solidFill>
                  <a:srgbClr val="FF6600"/>
                </a:solidFill>
              </a:rPr>
              <a:t>         </a:t>
            </a:r>
            <a:r>
              <a:rPr kumimoji="1" lang="en-US" altLang="zh-CN" b="1">
                <a:solidFill>
                  <a:srgbClr val="FF6600"/>
                </a:solidFill>
              </a:rPr>
              <a:t>1mol</a:t>
            </a:r>
            <a:r>
              <a:rPr kumimoji="1" lang="zh-CN" altLang="en-US" b="1">
                <a:solidFill>
                  <a:srgbClr val="FF6600"/>
                </a:solidFill>
              </a:rPr>
              <a:t>物质</a:t>
            </a:r>
            <a:r>
              <a:rPr lang="zh-CN" altLang="en-US" b="1"/>
              <a:t>在</a:t>
            </a:r>
            <a:r>
              <a:rPr lang="zh-CN" altLang="en-US" b="1">
                <a:solidFill>
                  <a:srgbClr val="FF6600"/>
                </a:solidFill>
              </a:rPr>
              <a:t>等压过程</a:t>
            </a:r>
            <a:r>
              <a:rPr lang="zh-CN" altLang="en-US" b="1"/>
              <a:t>中温度升高（或降低）</a:t>
            </a:r>
            <a:r>
              <a:rPr lang="en-US" altLang="zh-CN" b="1">
                <a:solidFill>
                  <a:srgbClr val="FF6600"/>
                </a:solidFill>
              </a:rPr>
              <a:t>1 K</a:t>
            </a:r>
            <a:r>
              <a:rPr lang="zh-CN" altLang="en-US" b="1"/>
              <a:t>所吸收（或放出）的</a:t>
            </a:r>
            <a:r>
              <a:rPr lang="zh-CN" altLang="en-US" b="1">
                <a:solidFill>
                  <a:srgbClr val="FF6600"/>
                </a:solidFill>
              </a:rPr>
              <a:t>热量</a:t>
            </a:r>
            <a:r>
              <a:rPr lang="zh-CN" altLang="en-US" b="1"/>
              <a:t>称为摩尔热容．单位是</a:t>
            </a:r>
            <a:r>
              <a:rPr lang="en-US" altLang="zh-CN" b="1">
                <a:solidFill>
                  <a:srgbClr val="FF6600"/>
                </a:solidFill>
              </a:rPr>
              <a:t>J·K</a:t>
            </a:r>
            <a:r>
              <a:rPr lang="en-US" altLang="zh-CN" b="1" baseline="30000">
                <a:solidFill>
                  <a:srgbClr val="FF6600"/>
                </a:solidFill>
              </a:rPr>
              <a:t>–1</a:t>
            </a:r>
            <a:r>
              <a:rPr lang="en-US" altLang="zh-CN" b="1">
                <a:solidFill>
                  <a:srgbClr val="FF6600"/>
                </a:solidFill>
              </a:rPr>
              <a:t>·mol</a:t>
            </a:r>
            <a:r>
              <a:rPr lang="en-US" altLang="zh-CN" b="1" baseline="30000">
                <a:solidFill>
                  <a:srgbClr val="FF6600"/>
                </a:solidFill>
              </a:rPr>
              <a:t>–1</a:t>
            </a:r>
            <a:endParaRPr lang="zh-CN" altLang="en-US">
              <a:solidFill>
                <a:srgbClr val="FF6600"/>
              </a:solidFill>
            </a:endParaRPr>
          </a:p>
        </p:txBody>
      </p:sp>
      <p:sp>
        <p:nvSpPr>
          <p:cNvPr id="6" name="Text Box 14"/>
          <p:cNvSpPr txBox="1">
            <a:spLocks noChangeArrowheads="1"/>
          </p:cNvSpPr>
          <p:nvPr/>
        </p:nvSpPr>
        <p:spPr bwMode="auto">
          <a:xfrm>
            <a:off x="500063" y="3778250"/>
            <a:ext cx="1731962" cy="461963"/>
          </a:xfrm>
          <a:prstGeom prst="rect">
            <a:avLst/>
          </a:prstGeom>
          <a:noFill/>
          <a:ln w="9525">
            <a:noFill/>
            <a:miter lim="800000"/>
          </a:ln>
        </p:spPr>
        <p:txBody>
          <a:bodyPr wrap="none">
            <a:spAutoFit/>
          </a:bodyPr>
          <a:lstStyle/>
          <a:p>
            <a:r>
              <a:rPr lang="zh-CN" altLang="en-US" b="1">
                <a:solidFill>
                  <a:srgbClr val="0000FF"/>
                </a:solidFill>
              </a:rPr>
              <a:t>比热容比：</a:t>
            </a:r>
            <a:endParaRPr lang="zh-CN" altLang="en-US" b="1">
              <a:solidFill>
                <a:srgbClr val="0000FF"/>
              </a:solidFill>
            </a:endParaRPr>
          </a:p>
        </p:txBody>
      </p:sp>
      <p:graphicFrame>
        <p:nvGraphicFramePr>
          <p:cNvPr id="174082" name="Object 2"/>
          <p:cNvGraphicFramePr>
            <a:graphicFrameLocks noChangeAspect="1"/>
          </p:cNvGraphicFramePr>
          <p:nvPr/>
        </p:nvGraphicFramePr>
        <p:xfrm>
          <a:off x="2714625" y="3563938"/>
          <a:ext cx="990600" cy="936625"/>
        </p:xfrm>
        <a:graphic>
          <a:graphicData uri="http://schemas.openxmlformats.org/presentationml/2006/ole">
            <mc:AlternateContent xmlns:mc="http://schemas.openxmlformats.org/markup-compatibility/2006">
              <mc:Choice xmlns:v="urn:schemas-microsoft-com:vml" Requires="v">
                <p:oleObj spid="_x0000_s8193" name="公式" r:id="rId1" imgW="11582400" imgH="10972800" progId="Equation.3">
                  <p:embed/>
                </p:oleObj>
              </mc:Choice>
              <mc:Fallback>
                <p:oleObj name="公式" r:id="rId1" imgW="11582400" imgH="10972800" progId="Equation.3">
                  <p:embed/>
                  <p:pic>
                    <p:nvPicPr>
                      <p:cNvPr id="0" name="Object 2"/>
                      <p:cNvPicPr>
                        <a:picLocks noChangeAspect="1"/>
                      </p:cNvPicPr>
                      <p:nvPr/>
                    </p:nvPicPr>
                    <p:blipFill>
                      <a:blip r:embed="rId2"/>
                      <a:stretch>
                        <a:fillRect/>
                      </a:stretch>
                    </p:blipFill>
                    <p:spPr>
                      <a:xfrm>
                        <a:off x="2714625" y="3563938"/>
                        <a:ext cx="990600" cy="936625"/>
                      </a:xfrm>
                      <a:prstGeom prst="rect">
                        <a:avLst/>
                      </a:prstGeom>
                      <a:noFill/>
                      <a:ln w="9525">
                        <a:noFill/>
                      </a:ln>
                    </p:spPr>
                  </p:pic>
                </p:oleObj>
              </mc:Fallback>
            </mc:AlternateContent>
          </a:graphicData>
        </a:graphic>
      </p:graphicFrame>
      <p:graphicFrame>
        <p:nvGraphicFramePr>
          <p:cNvPr id="8" name="Object 4"/>
          <p:cNvGraphicFramePr>
            <a:graphicFrameLocks noChangeAspect="1"/>
          </p:cNvGraphicFramePr>
          <p:nvPr/>
        </p:nvGraphicFramePr>
        <p:xfrm>
          <a:off x="4143375" y="4643438"/>
          <a:ext cx="1295400" cy="928687"/>
        </p:xfrm>
        <a:graphic>
          <a:graphicData uri="http://schemas.openxmlformats.org/presentationml/2006/ole">
            <mc:AlternateContent xmlns:mc="http://schemas.openxmlformats.org/markup-compatibility/2006">
              <mc:Choice xmlns:v="urn:schemas-microsoft-com:vml" Requires="v">
                <p:oleObj spid="_x0000_s8195" name="Equation" r:id="rId3" imgW="14935200" imgH="9448800" progId="Equation.3">
                  <p:embed/>
                </p:oleObj>
              </mc:Choice>
              <mc:Fallback>
                <p:oleObj name="Equation" r:id="rId3" imgW="14935200" imgH="9448800" progId="Equation.3">
                  <p:embed/>
                  <p:pic>
                    <p:nvPicPr>
                      <p:cNvPr id="0" name="Object 4"/>
                      <p:cNvPicPr>
                        <a:picLocks noChangeAspect="1"/>
                      </p:cNvPicPr>
                      <p:nvPr/>
                    </p:nvPicPr>
                    <p:blipFill>
                      <a:blip r:embed="rId4"/>
                      <a:stretch>
                        <a:fillRect/>
                      </a:stretch>
                    </p:blipFill>
                    <p:spPr>
                      <a:xfrm>
                        <a:off x="4143375" y="4643438"/>
                        <a:ext cx="1295400" cy="928687"/>
                      </a:xfrm>
                      <a:prstGeom prst="rect">
                        <a:avLst/>
                      </a:prstGeom>
                      <a:noFill/>
                      <a:ln w="9525">
                        <a:noFill/>
                      </a:ln>
                    </p:spPr>
                  </p:pic>
                </p:oleObj>
              </mc:Fallback>
            </mc:AlternateContent>
          </a:graphicData>
        </a:graphic>
      </p:graphicFrame>
      <p:grpSp>
        <p:nvGrpSpPr>
          <p:cNvPr id="3" name="Group 33"/>
          <p:cNvGrpSpPr/>
          <p:nvPr/>
        </p:nvGrpSpPr>
        <p:grpSpPr bwMode="auto">
          <a:xfrm>
            <a:off x="6000750" y="4143375"/>
            <a:ext cx="2209800" cy="469900"/>
            <a:chOff x="3168" y="2736"/>
            <a:chExt cx="1392" cy="296"/>
          </a:xfrm>
        </p:grpSpPr>
        <p:graphicFrame>
          <p:nvGraphicFramePr>
            <p:cNvPr id="8198" name="Object 7"/>
            <p:cNvGraphicFramePr>
              <a:graphicFrameLocks noChangeAspect="1"/>
            </p:cNvGraphicFramePr>
            <p:nvPr/>
          </p:nvGraphicFramePr>
          <p:xfrm>
            <a:off x="4032" y="2736"/>
            <a:ext cx="528" cy="296"/>
          </p:xfrm>
          <a:graphic>
            <a:graphicData uri="http://schemas.openxmlformats.org/presentationml/2006/ole">
              <mc:AlternateContent xmlns:mc="http://schemas.openxmlformats.org/markup-compatibility/2006">
                <mc:Choice xmlns:v="urn:schemas-microsoft-com:vml" Requires="v">
                  <p:oleObj spid="_x0000_s8198" name="Equation" r:id="rId5" imgW="7620000" imgH="4267200" progId="Equation.DSMT4">
                    <p:embed/>
                  </p:oleObj>
                </mc:Choice>
                <mc:Fallback>
                  <p:oleObj name="Equation" r:id="rId5" imgW="7620000" imgH="4267200" progId="Equation.DSMT4">
                    <p:embed/>
                    <p:pic>
                      <p:nvPicPr>
                        <p:cNvPr id="0" name="Object 7"/>
                        <p:cNvPicPr>
                          <a:picLocks noChangeAspect="1"/>
                        </p:cNvPicPr>
                        <p:nvPr/>
                      </p:nvPicPr>
                      <p:blipFill>
                        <a:blip r:embed="rId6"/>
                        <a:stretch>
                          <a:fillRect/>
                        </a:stretch>
                      </p:blipFill>
                      <p:spPr>
                        <a:xfrm>
                          <a:off x="4032" y="2736"/>
                          <a:ext cx="528" cy="296"/>
                        </a:xfrm>
                        <a:prstGeom prst="rect">
                          <a:avLst/>
                        </a:prstGeom>
                        <a:noFill/>
                        <a:ln w="9525">
                          <a:noFill/>
                        </a:ln>
                      </p:spPr>
                    </p:pic>
                  </p:oleObj>
                </mc:Fallback>
              </mc:AlternateContent>
            </a:graphicData>
          </a:graphic>
        </p:graphicFrame>
        <p:sp>
          <p:nvSpPr>
            <p:cNvPr id="8213" name="Text Box 28"/>
            <p:cNvSpPr txBox="1">
              <a:spLocks noChangeArrowheads="1"/>
            </p:cNvSpPr>
            <p:nvPr/>
          </p:nvSpPr>
          <p:spPr bwMode="auto">
            <a:xfrm>
              <a:off x="3168" y="2736"/>
              <a:ext cx="768" cy="288"/>
            </a:xfrm>
            <a:prstGeom prst="rect">
              <a:avLst/>
            </a:prstGeom>
            <a:noFill/>
            <a:ln w="19050">
              <a:noFill/>
              <a:miter lim="800000"/>
            </a:ln>
          </p:spPr>
          <p:txBody>
            <a:bodyPr>
              <a:spAutoFit/>
            </a:bodyPr>
            <a:lstStyle/>
            <a:p>
              <a:pPr algn="ctr">
                <a:spcBef>
                  <a:spcPct val="50000"/>
                </a:spcBef>
              </a:pPr>
              <a:r>
                <a:rPr lang="zh-CN" altLang="en-US" b="1"/>
                <a:t>单原子</a:t>
              </a:r>
              <a:endParaRPr lang="zh-CN" altLang="en-US" b="1"/>
            </a:p>
          </p:txBody>
        </p:sp>
      </p:grpSp>
      <p:grpSp>
        <p:nvGrpSpPr>
          <p:cNvPr id="5" name="Group 34"/>
          <p:cNvGrpSpPr/>
          <p:nvPr/>
        </p:nvGrpSpPr>
        <p:grpSpPr bwMode="auto">
          <a:xfrm>
            <a:off x="6000750" y="4829175"/>
            <a:ext cx="2209800" cy="546100"/>
            <a:chOff x="3168" y="3216"/>
            <a:chExt cx="1392" cy="344"/>
          </a:xfrm>
        </p:grpSpPr>
        <p:graphicFrame>
          <p:nvGraphicFramePr>
            <p:cNvPr id="8197" name="Object 6"/>
            <p:cNvGraphicFramePr>
              <a:graphicFrameLocks noChangeAspect="1"/>
            </p:cNvGraphicFramePr>
            <p:nvPr/>
          </p:nvGraphicFramePr>
          <p:xfrm>
            <a:off x="4032" y="3264"/>
            <a:ext cx="528" cy="296"/>
          </p:xfrm>
          <a:graphic>
            <a:graphicData uri="http://schemas.openxmlformats.org/presentationml/2006/ole">
              <mc:AlternateContent xmlns:mc="http://schemas.openxmlformats.org/markup-compatibility/2006">
                <mc:Choice xmlns:v="urn:schemas-microsoft-com:vml" Requires="v">
                  <p:oleObj spid="_x0000_s8197" name="Equation" r:id="rId7" imgW="7620000" imgH="4267200" progId="Equation.3">
                    <p:embed/>
                  </p:oleObj>
                </mc:Choice>
                <mc:Fallback>
                  <p:oleObj name="Equation" r:id="rId7" imgW="7620000" imgH="4267200" progId="Equation.3">
                    <p:embed/>
                    <p:pic>
                      <p:nvPicPr>
                        <p:cNvPr id="0" name="Object 6"/>
                        <p:cNvPicPr>
                          <a:picLocks noChangeAspect="1"/>
                        </p:cNvPicPr>
                        <p:nvPr/>
                      </p:nvPicPr>
                      <p:blipFill>
                        <a:blip r:embed="rId8"/>
                        <a:stretch>
                          <a:fillRect/>
                        </a:stretch>
                      </p:blipFill>
                      <p:spPr>
                        <a:xfrm>
                          <a:off x="4032" y="3264"/>
                          <a:ext cx="528" cy="296"/>
                        </a:xfrm>
                        <a:prstGeom prst="rect">
                          <a:avLst/>
                        </a:prstGeom>
                        <a:noFill/>
                        <a:ln w="9525">
                          <a:noFill/>
                        </a:ln>
                      </p:spPr>
                    </p:pic>
                  </p:oleObj>
                </mc:Fallback>
              </mc:AlternateContent>
            </a:graphicData>
          </a:graphic>
        </p:graphicFrame>
        <p:sp>
          <p:nvSpPr>
            <p:cNvPr id="8212" name="Text Box 29"/>
            <p:cNvSpPr txBox="1">
              <a:spLocks noChangeArrowheads="1"/>
            </p:cNvSpPr>
            <p:nvPr/>
          </p:nvSpPr>
          <p:spPr bwMode="auto">
            <a:xfrm>
              <a:off x="3168" y="3216"/>
              <a:ext cx="768" cy="288"/>
            </a:xfrm>
            <a:prstGeom prst="rect">
              <a:avLst/>
            </a:prstGeom>
            <a:noFill/>
            <a:ln w="19050">
              <a:noFill/>
              <a:miter lim="800000"/>
            </a:ln>
          </p:spPr>
          <p:txBody>
            <a:bodyPr>
              <a:spAutoFit/>
            </a:bodyPr>
            <a:lstStyle/>
            <a:p>
              <a:pPr algn="ctr">
                <a:spcBef>
                  <a:spcPct val="50000"/>
                </a:spcBef>
              </a:pPr>
              <a:r>
                <a:rPr lang="zh-CN" altLang="en-US" b="1"/>
                <a:t>双原子</a:t>
              </a:r>
              <a:endParaRPr lang="zh-CN" altLang="en-US" b="1"/>
            </a:p>
          </p:txBody>
        </p:sp>
      </p:grpSp>
      <p:grpSp>
        <p:nvGrpSpPr>
          <p:cNvPr id="7" name="Group 37"/>
          <p:cNvGrpSpPr/>
          <p:nvPr/>
        </p:nvGrpSpPr>
        <p:grpSpPr bwMode="auto">
          <a:xfrm>
            <a:off x="6000750" y="5591175"/>
            <a:ext cx="2243138" cy="469900"/>
            <a:chOff x="2907" y="3688"/>
            <a:chExt cx="1413" cy="296"/>
          </a:xfrm>
        </p:grpSpPr>
        <p:graphicFrame>
          <p:nvGraphicFramePr>
            <p:cNvPr id="8196" name="Object 5"/>
            <p:cNvGraphicFramePr>
              <a:graphicFrameLocks noChangeAspect="1"/>
            </p:cNvGraphicFramePr>
            <p:nvPr/>
          </p:nvGraphicFramePr>
          <p:xfrm>
            <a:off x="3771" y="3688"/>
            <a:ext cx="549" cy="296"/>
          </p:xfrm>
          <a:graphic>
            <a:graphicData uri="http://schemas.openxmlformats.org/presentationml/2006/ole">
              <mc:AlternateContent xmlns:mc="http://schemas.openxmlformats.org/markup-compatibility/2006">
                <mc:Choice xmlns:v="urn:schemas-microsoft-com:vml" Requires="v">
                  <p:oleObj spid="_x0000_s8196" name="Equation" r:id="rId9" imgW="7924800" imgH="4267200" progId="Equation.3">
                    <p:embed/>
                  </p:oleObj>
                </mc:Choice>
                <mc:Fallback>
                  <p:oleObj name="Equation" r:id="rId9" imgW="7924800" imgH="4267200" progId="Equation.3">
                    <p:embed/>
                    <p:pic>
                      <p:nvPicPr>
                        <p:cNvPr id="0" name="Object 5"/>
                        <p:cNvPicPr>
                          <a:picLocks noChangeAspect="1"/>
                        </p:cNvPicPr>
                        <p:nvPr/>
                      </p:nvPicPr>
                      <p:blipFill>
                        <a:blip r:embed="rId10"/>
                        <a:stretch>
                          <a:fillRect/>
                        </a:stretch>
                      </p:blipFill>
                      <p:spPr>
                        <a:xfrm>
                          <a:off x="3771" y="3688"/>
                          <a:ext cx="549" cy="296"/>
                        </a:xfrm>
                        <a:prstGeom prst="rect">
                          <a:avLst/>
                        </a:prstGeom>
                        <a:noFill/>
                        <a:ln w="9525">
                          <a:noFill/>
                        </a:ln>
                      </p:spPr>
                    </p:pic>
                  </p:oleObj>
                </mc:Fallback>
              </mc:AlternateContent>
            </a:graphicData>
          </a:graphic>
        </p:graphicFrame>
        <p:sp>
          <p:nvSpPr>
            <p:cNvPr id="8211" name="Text Box 30"/>
            <p:cNvSpPr txBox="1">
              <a:spLocks noChangeArrowheads="1"/>
            </p:cNvSpPr>
            <p:nvPr/>
          </p:nvSpPr>
          <p:spPr bwMode="auto">
            <a:xfrm>
              <a:off x="2907" y="3688"/>
              <a:ext cx="768" cy="288"/>
            </a:xfrm>
            <a:prstGeom prst="rect">
              <a:avLst/>
            </a:prstGeom>
            <a:noFill/>
            <a:ln w="19050">
              <a:noFill/>
              <a:miter lim="800000"/>
            </a:ln>
          </p:spPr>
          <p:txBody>
            <a:bodyPr>
              <a:spAutoFit/>
            </a:bodyPr>
            <a:lstStyle/>
            <a:p>
              <a:pPr algn="ctr">
                <a:spcBef>
                  <a:spcPct val="50000"/>
                </a:spcBef>
              </a:pPr>
              <a:r>
                <a:rPr lang="zh-CN" altLang="en-US" b="1"/>
                <a:t>多原子</a:t>
              </a:r>
              <a:endParaRPr lang="zh-CN" altLang="en-US" b="1"/>
            </a:p>
          </p:txBody>
        </p:sp>
      </p:grpSp>
      <p:sp>
        <p:nvSpPr>
          <p:cNvPr id="20" name="AutoShape 36"/>
          <p:cNvSpPr/>
          <p:nvPr/>
        </p:nvSpPr>
        <p:spPr bwMode="auto">
          <a:xfrm>
            <a:off x="5643563" y="4308475"/>
            <a:ext cx="152400" cy="1676400"/>
          </a:xfrm>
          <a:prstGeom prst="leftBrace">
            <a:avLst>
              <a:gd name="adj1" fmla="val 91667"/>
              <a:gd name="adj2" fmla="val 50000"/>
            </a:avLst>
          </a:prstGeom>
          <a:noFill/>
          <a:ln w="9525">
            <a:solidFill>
              <a:srgbClr val="0000FF"/>
            </a:solidFill>
            <a:round/>
          </a:ln>
        </p:spPr>
        <p:txBody>
          <a:bodyPr wrap="none" anchor="ctr"/>
          <a:lstStyle/>
          <a:p>
            <a:pPr algn="ctr"/>
            <a:endParaRPr lang="zh-CN" altLang="en-US"/>
          </a:p>
        </p:txBody>
      </p:sp>
      <p:grpSp>
        <p:nvGrpSpPr>
          <p:cNvPr id="9" name="组合 21"/>
          <p:cNvGrpSpPr/>
          <p:nvPr/>
        </p:nvGrpSpPr>
        <p:grpSpPr bwMode="auto">
          <a:xfrm>
            <a:off x="214313" y="4857750"/>
            <a:ext cx="3857625" cy="576263"/>
            <a:chOff x="214313" y="4857750"/>
            <a:chExt cx="3857625" cy="576263"/>
          </a:xfrm>
        </p:grpSpPr>
        <p:sp>
          <p:nvSpPr>
            <p:cNvPr id="8209" name="Text Box 31"/>
            <p:cNvSpPr txBox="1">
              <a:spLocks noChangeArrowheads="1"/>
            </p:cNvSpPr>
            <p:nvPr/>
          </p:nvSpPr>
          <p:spPr bwMode="auto">
            <a:xfrm>
              <a:off x="571500" y="4918075"/>
              <a:ext cx="3500438" cy="461963"/>
            </a:xfrm>
            <a:prstGeom prst="rect">
              <a:avLst/>
            </a:prstGeom>
            <a:noFill/>
            <a:ln w="19050">
              <a:noFill/>
              <a:miter lim="800000"/>
            </a:ln>
          </p:spPr>
          <p:txBody>
            <a:bodyPr>
              <a:spAutoFit/>
            </a:bodyPr>
            <a:lstStyle/>
            <a:p>
              <a:pPr>
                <a:spcBef>
                  <a:spcPct val="50000"/>
                </a:spcBef>
              </a:pPr>
              <a:r>
                <a:rPr lang="zh-CN" altLang="en-US" b="1">
                  <a:solidFill>
                    <a:srgbClr val="FF0000"/>
                  </a:solidFill>
                </a:rPr>
                <a:t>实验表明，一般情况下：</a:t>
              </a:r>
              <a:endParaRPr lang="zh-CN" altLang="en-US" b="1">
                <a:solidFill>
                  <a:srgbClr val="FF0000"/>
                </a:solidFill>
              </a:endParaRPr>
            </a:p>
          </p:txBody>
        </p:sp>
        <p:sp>
          <p:nvSpPr>
            <p:cNvPr id="8210" name="AutoShape 40"/>
            <p:cNvSpPr>
              <a:spLocks noChangeArrowheads="1"/>
            </p:cNvSpPr>
            <p:nvPr/>
          </p:nvSpPr>
          <p:spPr bwMode="auto">
            <a:xfrm>
              <a:off x="214313" y="4857750"/>
              <a:ext cx="360362"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00"/>
                                        </p:tgtEl>
                                        <p:attrNameLst>
                                          <p:attrName>style.visibility</p:attrName>
                                        </p:attrNameLst>
                                      </p:cBhvr>
                                      <p:to>
                                        <p:strVal val="visible"/>
                                      </p:to>
                                    </p:set>
                                    <p:animEffect transition="in" filter="wipe(left)">
                                      <p:cBhvr>
                                        <p:cTn id="12" dur="1000"/>
                                        <p:tgtEl>
                                          <p:spTgt spid="82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202"/>
                                        </p:tgtEl>
                                        <p:attrNameLst>
                                          <p:attrName>style.visibility</p:attrName>
                                        </p:attrNameLst>
                                      </p:cBhvr>
                                      <p:to>
                                        <p:strVal val="visible"/>
                                      </p:to>
                                    </p:set>
                                    <p:animEffect transition="in" filter="wipe(left)">
                                      <p:cBhvr>
                                        <p:cTn id="22" dur="1000"/>
                                        <p:tgtEl>
                                          <p:spTgt spid="820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4082"/>
                                        </p:tgtEl>
                                        <p:attrNameLst>
                                          <p:attrName>style.visibility</p:attrName>
                                        </p:attrNameLst>
                                      </p:cBhvr>
                                      <p:to>
                                        <p:strVal val="visible"/>
                                      </p:to>
                                    </p:set>
                                    <p:animEffect transition="in" filter="wipe(left)">
                                      <p:cBhvr>
                                        <p:cTn id="32" dur="500"/>
                                        <p:tgtEl>
                                          <p:spTgt spid="17408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1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8200" grpId="0"/>
      <p:bldP spid="4" grpId="0" autoUpdateAnimBg="0"/>
      <p:bldP spid="8202" grpId="0"/>
      <p:bldP spid="6" grpId="0" autoUpdateAnimBg="0"/>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Text Box 4"/>
          <p:cNvSpPr txBox="1">
            <a:spLocks noChangeArrowheads="1"/>
          </p:cNvSpPr>
          <p:nvPr/>
        </p:nvSpPr>
        <p:spPr bwMode="auto">
          <a:xfrm>
            <a:off x="611188" y="755650"/>
            <a:ext cx="1150937" cy="512763"/>
          </a:xfrm>
          <a:prstGeom prst="rect">
            <a:avLst/>
          </a:prstGeom>
          <a:noFill/>
          <a:ln w="9525">
            <a:noFill/>
            <a:miter lim="800000"/>
          </a:ln>
        </p:spPr>
        <p:txBody>
          <a:bodyPr>
            <a:spAutoFit/>
          </a:bodyPr>
          <a:lstStyle/>
          <a:p>
            <a:pPr>
              <a:lnSpc>
                <a:spcPct val="115000"/>
              </a:lnSpc>
              <a:defRPr/>
            </a:pPr>
            <a:r>
              <a:rPr lang="zh-CN" altLang="en-US" b="1">
                <a:solidFill>
                  <a:srgbClr val="FF0000"/>
                </a:solidFill>
                <a:latin typeface="+mn-ea"/>
                <a:ea typeface="+mn-ea"/>
              </a:rPr>
              <a:t>说明</a:t>
            </a:r>
            <a:endParaRPr lang="zh-CN" altLang="en-US" b="1">
              <a:solidFill>
                <a:srgbClr val="FF0000"/>
              </a:solidFill>
              <a:latin typeface="+mn-ea"/>
              <a:ea typeface="+mn-ea"/>
            </a:endParaRPr>
          </a:p>
        </p:txBody>
      </p:sp>
      <p:sp>
        <p:nvSpPr>
          <p:cNvPr id="156677" name="AutoShape 5"/>
          <p:cNvSpPr>
            <a:spLocks noChangeArrowheads="1"/>
          </p:cNvSpPr>
          <p:nvPr/>
        </p:nvSpPr>
        <p:spPr bwMode="auto">
          <a:xfrm>
            <a:off x="250825" y="709613"/>
            <a:ext cx="360363"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ln>
        </p:spPr>
        <p:txBody>
          <a:bodyPr wrap="none" anchor="ctr"/>
          <a:lstStyle/>
          <a:p>
            <a:pPr algn="ctr">
              <a:defRPr/>
            </a:pPr>
            <a:endParaRPr lang="zh-CN" altLang="en-US">
              <a:latin typeface="+mn-ea"/>
              <a:ea typeface="+mn-ea"/>
            </a:endParaRPr>
          </a:p>
        </p:txBody>
      </p:sp>
      <p:sp>
        <p:nvSpPr>
          <p:cNvPr id="156678" name="Text Box 6"/>
          <p:cNvSpPr txBox="1">
            <a:spLocks noChangeArrowheads="1"/>
          </p:cNvSpPr>
          <p:nvPr/>
        </p:nvSpPr>
        <p:spPr bwMode="auto">
          <a:xfrm>
            <a:off x="323850" y="1484313"/>
            <a:ext cx="7777163" cy="457200"/>
          </a:xfrm>
          <a:prstGeom prst="rect">
            <a:avLst/>
          </a:prstGeom>
          <a:noFill/>
          <a:ln w="12700" cap="sq">
            <a:noFill/>
            <a:miter lim="800000"/>
            <a:headEnd type="none" w="sm" len="sm"/>
            <a:tailEnd type="none" w="sm" len="sm"/>
          </a:ln>
        </p:spPr>
        <p:txBody>
          <a:bodyPr>
            <a:spAutoFit/>
          </a:bodyPr>
          <a:lstStyle/>
          <a:p>
            <a:pPr>
              <a:defRPr/>
            </a:pPr>
            <a:r>
              <a:rPr kumimoji="1" lang="en-US" altLang="zh-CN" b="1" dirty="0">
                <a:ea typeface="+mn-ea"/>
                <a:cs typeface="Times New Roman" panose="02020603050405020304" pitchFamily="18" charset="0"/>
              </a:rPr>
              <a:t>(1)  </a:t>
            </a:r>
            <a:r>
              <a:rPr kumimoji="1" lang="zh-CN" altLang="en-US" b="1" dirty="0">
                <a:latin typeface="+mn-ea"/>
                <a:ea typeface="+mn-ea"/>
              </a:rPr>
              <a:t>热力学系统</a:t>
            </a:r>
            <a:r>
              <a:rPr kumimoji="1" lang="zh-CN" altLang="en-US" b="1" dirty="0">
                <a:solidFill>
                  <a:srgbClr val="FF6600"/>
                </a:solidFill>
                <a:latin typeface="+mn-ea"/>
                <a:ea typeface="+mn-ea"/>
              </a:rPr>
              <a:t>内能</a:t>
            </a:r>
            <a:r>
              <a:rPr kumimoji="1" lang="zh-CN" altLang="en-US" b="1" dirty="0">
                <a:latin typeface="+mn-ea"/>
                <a:ea typeface="+mn-ea"/>
              </a:rPr>
              <a:t>改变的两种方式：</a:t>
            </a:r>
            <a:r>
              <a:rPr kumimoji="1" lang="zh-CN" altLang="en-US" b="1" dirty="0">
                <a:solidFill>
                  <a:srgbClr val="FF6600"/>
                </a:solidFill>
                <a:latin typeface="+mn-ea"/>
                <a:ea typeface="+mn-ea"/>
              </a:rPr>
              <a:t>作功</a:t>
            </a:r>
            <a:r>
              <a:rPr kumimoji="1" lang="zh-CN" altLang="en-US" b="1" dirty="0">
                <a:latin typeface="+mn-ea"/>
                <a:ea typeface="+mn-ea"/>
              </a:rPr>
              <a:t>和</a:t>
            </a:r>
            <a:r>
              <a:rPr kumimoji="1" lang="zh-CN" altLang="en-US" b="1" dirty="0">
                <a:solidFill>
                  <a:srgbClr val="FF6600"/>
                </a:solidFill>
                <a:latin typeface="+mn-ea"/>
                <a:ea typeface="+mn-ea"/>
              </a:rPr>
              <a:t>传热</a:t>
            </a:r>
            <a:r>
              <a:rPr kumimoji="1" lang="zh-CN" altLang="en-US" b="1" dirty="0">
                <a:latin typeface="+mn-ea"/>
                <a:ea typeface="+mn-ea"/>
              </a:rPr>
              <a:t>。</a:t>
            </a:r>
            <a:endParaRPr kumimoji="1" lang="zh-CN" altLang="en-US" b="1" dirty="0">
              <a:latin typeface="+mn-ea"/>
              <a:ea typeface="+mn-ea"/>
            </a:endParaRPr>
          </a:p>
        </p:txBody>
      </p:sp>
      <p:sp>
        <p:nvSpPr>
          <p:cNvPr id="156679" name="Rectangle 7"/>
          <p:cNvSpPr>
            <a:spLocks noChangeArrowheads="1"/>
          </p:cNvSpPr>
          <p:nvPr/>
        </p:nvSpPr>
        <p:spPr bwMode="auto">
          <a:xfrm>
            <a:off x="323850" y="2133600"/>
            <a:ext cx="7773988" cy="461963"/>
          </a:xfrm>
          <a:prstGeom prst="rect">
            <a:avLst/>
          </a:prstGeom>
          <a:noFill/>
          <a:ln w="76200" cap="sq">
            <a:noFill/>
            <a:miter lim="800000"/>
          </a:ln>
        </p:spPr>
        <p:txBody>
          <a:bodyPr wrap="none">
            <a:spAutoFit/>
          </a:bodyPr>
          <a:lstStyle/>
          <a:p>
            <a:pPr>
              <a:defRPr/>
            </a:pPr>
            <a:r>
              <a:rPr kumimoji="1" lang="en-US" altLang="zh-CN" b="1" dirty="0">
                <a:ea typeface="+mn-ea"/>
                <a:cs typeface="Times New Roman" panose="02020603050405020304" pitchFamily="18" charset="0"/>
              </a:rPr>
              <a:t>(2) </a:t>
            </a:r>
            <a:r>
              <a:rPr kumimoji="1" lang="zh-CN" altLang="en-US" b="1" dirty="0">
                <a:latin typeface="+mn-ea"/>
                <a:ea typeface="+mn-ea"/>
              </a:rPr>
              <a:t>内能是系统状态的单值函数，</a:t>
            </a:r>
            <a:r>
              <a:rPr kumimoji="1" lang="en-US" altLang="zh-CN" b="1" i="1" dirty="0">
                <a:solidFill>
                  <a:srgbClr val="FF6600"/>
                </a:solidFill>
                <a:ea typeface="+mn-ea"/>
                <a:cs typeface="Times New Roman" panose="02020603050405020304" pitchFamily="18" charset="0"/>
              </a:rPr>
              <a:t>E</a:t>
            </a:r>
            <a:r>
              <a:rPr kumimoji="1" lang="en-US" altLang="zh-CN" b="1" dirty="0">
                <a:solidFill>
                  <a:srgbClr val="FF6600"/>
                </a:solidFill>
                <a:ea typeface="+mn-ea"/>
                <a:cs typeface="Times New Roman" panose="02020603050405020304" pitchFamily="18" charset="0"/>
              </a:rPr>
              <a:t>=</a:t>
            </a:r>
            <a:r>
              <a:rPr kumimoji="1" lang="en-US" altLang="zh-CN" b="1" i="1" dirty="0">
                <a:solidFill>
                  <a:srgbClr val="FF6600"/>
                </a:solidFill>
                <a:ea typeface="+mn-ea"/>
                <a:cs typeface="Times New Roman" panose="02020603050405020304" pitchFamily="18" charset="0"/>
              </a:rPr>
              <a:t>E</a:t>
            </a:r>
            <a:r>
              <a:rPr kumimoji="1" lang="en-US" altLang="zh-CN" b="1" dirty="0">
                <a:solidFill>
                  <a:srgbClr val="FF6600"/>
                </a:solidFill>
                <a:ea typeface="+mn-ea"/>
                <a:cs typeface="Times New Roman" panose="02020603050405020304" pitchFamily="18" charset="0"/>
              </a:rPr>
              <a:t>(</a:t>
            </a:r>
            <a:r>
              <a:rPr kumimoji="1" lang="en-US" altLang="zh-CN" b="1" i="1" dirty="0">
                <a:solidFill>
                  <a:srgbClr val="FF6600"/>
                </a:solidFill>
                <a:ea typeface="+mn-ea"/>
                <a:cs typeface="Times New Roman" panose="02020603050405020304" pitchFamily="18" charset="0"/>
              </a:rPr>
              <a:t>T</a:t>
            </a:r>
            <a:r>
              <a:rPr kumimoji="1" lang="en-US" altLang="zh-CN" b="1" dirty="0">
                <a:solidFill>
                  <a:srgbClr val="FF6600"/>
                </a:solidFill>
                <a:ea typeface="+mn-ea"/>
                <a:cs typeface="Times New Roman" panose="02020603050405020304" pitchFamily="18" charset="0"/>
              </a:rPr>
              <a:t>)</a:t>
            </a:r>
            <a:r>
              <a:rPr kumimoji="1" lang="zh-CN" altLang="en-US" b="1" dirty="0">
                <a:latin typeface="+mn-ea"/>
                <a:ea typeface="+mn-ea"/>
              </a:rPr>
              <a:t>，是</a:t>
            </a:r>
            <a:r>
              <a:rPr kumimoji="1" lang="zh-CN" altLang="en-US" b="1" dirty="0">
                <a:solidFill>
                  <a:srgbClr val="FF6600"/>
                </a:solidFill>
                <a:latin typeface="+mn-ea"/>
                <a:ea typeface="+mn-ea"/>
              </a:rPr>
              <a:t>状态量</a:t>
            </a:r>
            <a:r>
              <a:rPr kumimoji="1" lang="zh-CN" altLang="en-US" b="1" dirty="0">
                <a:latin typeface="+mn-ea"/>
                <a:ea typeface="+mn-ea"/>
              </a:rPr>
              <a:t>。 </a:t>
            </a:r>
            <a:endParaRPr kumimoji="1" lang="zh-CN" altLang="en-US" b="1" dirty="0">
              <a:latin typeface="+mn-ea"/>
              <a:ea typeface="+mn-ea"/>
            </a:endParaRPr>
          </a:p>
        </p:txBody>
      </p:sp>
      <p:sp>
        <p:nvSpPr>
          <p:cNvPr id="156680" name="Rectangle 8"/>
          <p:cNvSpPr>
            <a:spLocks noChangeArrowheads="1"/>
          </p:cNvSpPr>
          <p:nvPr/>
        </p:nvSpPr>
        <p:spPr bwMode="auto">
          <a:xfrm>
            <a:off x="323850" y="2852738"/>
            <a:ext cx="6376988" cy="461962"/>
          </a:xfrm>
          <a:prstGeom prst="rect">
            <a:avLst/>
          </a:prstGeom>
          <a:noFill/>
          <a:ln w="76200" cap="sq">
            <a:noFill/>
            <a:miter lim="800000"/>
          </a:ln>
        </p:spPr>
        <p:txBody>
          <a:bodyPr wrap="none">
            <a:spAutoFit/>
          </a:bodyPr>
          <a:lstStyle/>
          <a:p>
            <a:pPr>
              <a:defRPr/>
            </a:pPr>
            <a:r>
              <a:rPr kumimoji="1" lang="en-US" altLang="zh-CN" b="1" dirty="0">
                <a:ea typeface="+mn-ea"/>
                <a:cs typeface="Times New Roman" panose="02020603050405020304" pitchFamily="18" charset="0"/>
              </a:rPr>
              <a:t>(3) </a:t>
            </a:r>
            <a:r>
              <a:rPr kumimoji="1" lang="zh-CN" altLang="en-US" b="1" dirty="0">
                <a:latin typeface="+mn-ea"/>
                <a:ea typeface="+mn-ea"/>
              </a:rPr>
              <a:t>功和热量是</a:t>
            </a:r>
            <a:r>
              <a:rPr kumimoji="1" lang="zh-CN" altLang="en-US" b="1" dirty="0">
                <a:solidFill>
                  <a:srgbClr val="FF6600"/>
                </a:solidFill>
                <a:latin typeface="+mn-ea"/>
                <a:ea typeface="+mn-ea"/>
              </a:rPr>
              <a:t>过程量</a:t>
            </a:r>
            <a:r>
              <a:rPr kumimoji="1" lang="zh-CN" altLang="en-US" b="1" dirty="0">
                <a:latin typeface="+mn-ea"/>
                <a:ea typeface="+mn-ea"/>
              </a:rPr>
              <a:t>，不属于任何系统。  </a:t>
            </a:r>
            <a:endParaRPr kumimoji="1" lang="zh-CN" altLang="en-US" b="1" dirty="0">
              <a:latin typeface="+mn-ea"/>
              <a:ea typeface="+mn-ea"/>
            </a:endParaRPr>
          </a:p>
        </p:txBody>
      </p:sp>
      <p:sp>
        <p:nvSpPr>
          <p:cNvPr id="156681" name="Rectangle 9"/>
          <p:cNvSpPr>
            <a:spLocks noChangeArrowheads="1"/>
          </p:cNvSpPr>
          <p:nvPr/>
        </p:nvSpPr>
        <p:spPr bwMode="auto">
          <a:xfrm>
            <a:off x="323850" y="3548063"/>
            <a:ext cx="6408738" cy="457200"/>
          </a:xfrm>
          <a:prstGeom prst="rect">
            <a:avLst/>
          </a:prstGeom>
          <a:noFill/>
          <a:ln w="76200" cap="sq">
            <a:noFill/>
            <a:miter lim="800000"/>
          </a:ln>
        </p:spPr>
        <p:txBody>
          <a:bodyPr>
            <a:spAutoFit/>
          </a:bodyPr>
          <a:lstStyle/>
          <a:p>
            <a:pPr>
              <a:defRPr/>
            </a:pPr>
            <a:r>
              <a:rPr kumimoji="1" lang="en-US" altLang="zh-CN" b="1" dirty="0">
                <a:ea typeface="+mn-ea"/>
                <a:cs typeface="Times New Roman" panose="02020603050405020304" pitchFamily="18" charset="0"/>
              </a:rPr>
              <a:t>(4) </a:t>
            </a:r>
            <a:r>
              <a:rPr kumimoji="1" lang="zh-CN" altLang="en-US" b="1" dirty="0">
                <a:solidFill>
                  <a:schemeClr val="tx2"/>
                </a:solidFill>
                <a:latin typeface="+mn-ea"/>
                <a:ea typeface="+mn-ea"/>
              </a:rPr>
              <a:t>作功和传热效果一样，本质不同</a:t>
            </a:r>
            <a:r>
              <a:rPr kumimoji="1" lang="en-US" altLang="zh-CN" b="1" dirty="0">
                <a:latin typeface="+mn-ea"/>
                <a:ea typeface="+mn-ea"/>
              </a:rPr>
              <a:t>:</a:t>
            </a:r>
            <a:endParaRPr kumimoji="1" lang="zh-CN" altLang="en-US" b="1" dirty="0">
              <a:latin typeface="+mn-ea"/>
              <a:ea typeface="+mn-ea"/>
            </a:endParaRPr>
          </a:p>
        </p:txBody>
      </p:sp>
      <p:sp>
        <p:nvSpPr>
          <p:cNvPr id="156682" name="Text Box 10"/>
          <p:cNvSpPr txBox="1">
            <a:spLocks noChangeArrowheads="1"/>
          </p:cNvSpPr>
          <p:nvPr/>
        </p:nvSpPr>
        <p:spPr bwMode="auto">
          <a:xfrm>
            <a:off x="827088" y="4371975"/>
            <a:ext cx="936625" cy="469900"/>
          </a:xfrm>
          <a:prstGeom prst="rect">
            <a:avLst/>
          </a:prstGeom>
          <a:noFill/>
          <a:ln w="12700" cap="sq">
            <a:solidFill>
              <a:srgbClr val="0000FF"/>
            </a:solidFill>
            <a:miter lim="800000"/>
            <a:headEnd type="none" w="sm" len="sm"/>
            <a:tailEnd type="none" w="sm" len="sm"/>
          </a:ln>
        </p:spPr>
        <p:txBody>
          <a:bodyPr>
            <a:spAutoFit/>
          </a:bodyPr>
          <a:lstStyle/>
          <a:p>
            <a:pPr>
              <a:defRPr/>
            </a:pPr>
            <a:r>
              <a:rPr kumimoji="1" lang="zh-CN" altLang="en-US" b="1">
                <a:latin typeface="+mn-ea"/>
                <a:ea typeface="+mn-ea"/>
              </a:rPr>
              <a:t>作功</a:t>
            </a:r>
            <a:endParaRPr kumimoji="1" lang="zh-CN" altLang="en-US" b="1">
              <a:latin typeface="+mn-ea"/>
              <a:ea typeface="+mn-ea"/>
            </a:endParaRPr>
          </a:p>
        </p:txBody>
      </p:sp>
      <p:sp>
        <p:nvSpPr>
          <p:cNvPr id="156683" name="AutoShape 11"/>
          <p:cNvSpPr>
            <a:spLocks noChangeArrowheads="1"/>
          </p:cNvSpPr>
          <p:nvPr/>
        </p:nvSpPr>
        <p:spPr bwMode="auto">
          <a:xfrm>
            <a:off x="1835150" y="4516438"/>
            <a:ext cx="863600" cy="144462"/>
          </a:xfrm>
          <a:prstGeom prst="rightArrow">
            <a:avLst>
              <a:gd name="adj1" fmla="val 50000"/>
              <a:gd name="adj2" fmla="val 149451"/>
            </a:avLst>
          </a:prstGeom>
          <a:solidFill>
            <a:srgbClr val="FF0000"/>
          </a:solidFill>
          <a:ln w="19050" algn="ctr">
            <a:solidFill>
              <a:srgbClr val="FF0000"/>
            </a:solidFill>
            <a:miter lim="800000"/>
          </a:ln>
        </p:spPr>
        <p:txBody>
          <a:bodyPr wrap="none" anchor="ctr"/>
          <a:lstStyle/>
          <a:p>
            <a:pPr algn="ctr">
              <a:defRPr/>
            </a:pPr>
            <a:endParaRPr lang="zh-CN" altLang="en-US">
              <a:latin typeface="+mn-ea"/>
              <a:ea typeface="+mn-ea"/>
            </a:endParaRPr>
          </a:p>
        </p:txBody>
      </p:sp>
      <p:sp>
        <p:nvSpPr>
          <p:cNvPr id="156684" name="Text Box 12"/>
          <p:cNvSpPr txBox="1">
            <a:spLocks noChangeArrowheads="1"/>
          </p:cNvSpPr>
          <p:nvPr/>
        </p:nvSpPr>
        <p:spPr bwMode="auto">
          <a:xfrm>
            <a:off x="2771775" y="4371975"/>
            <a:ext cx="1079500" cy="469900"/>
          </a:xfrm>
          <a:prstGeom prst="rect">
            <a:avLst/>
          </a:prstGeom>
          <a:noFill/>
          <a:ln w="12700" cap="sq">
            <a:solidFill>
              <a:srgbClr val="0000FF"/>
            </a:solidFill>
            <a:miter lim="800000"/>
            <a:headEnd type="none" w="sm" len="sm"/>
            <a:tailEnd type="none" w="sm" len="sm"/>
          </a:ln>
        </p:spPr>
        <p:txBody>
          <a:bodyPr>
            <a:spAutoFit/>
          </a:bodyPr>
          <a:lstStyle/>
          <a:p>
            <a:pPr>
              <a:defRPr/>
            </a:pPr>
            <a:r>
              <a:rPr kumimoji="1" lang="zh-CN" altLang="en-US" b="1">
                <a:latin typeface="+mn-ea"/>
                <a:ea typeface="+mn-ea"/>
              </a:rPr>
              <a:t>内能</a:t>
            </a:r>
            <a:endParaRPr kumimoji="1" lang="zh-CN" altLang="en-US" b="1">
              <a:latin typeface="+mn-ea"/>
              <a:ea typeface="+mn-ea"/>
            </a:endParaRPr>
          </a:p>
        </p:txBody>
      </p:sp>
      <p:sp>
        <p:nvSpPr>
          <p:cNvPr id="156685" name="Text Box 13"/>
          <p:cNvSpPr txBox="1">
            <a:spLocks noChangeArrowheads="1"/>
          </p:cNvSpPr>
          <p:nvPr/>
        </p:nvSpPr>
        <p:spPr bwMode="auto">
          <a:xfrm>
            <a:off x="4716463" y="4371975"/>
            <a:ext cx="954087" cy="469900"/>
          </a:xfrm>
          <a:prstGeom prst="rect">
            <a:avLst/>
          </a:prstGeom>
          <a:noFill/>
          <a:ln w="12700" cap="sq">
            <a:solidFill>
              <a:srgbClr val="0000FF"/>
            </a:solidFill>
            <a:miter lim="800000"/>
            <a:headEnd type="none" w="sm" len="sm"/>
            <a:tailEnd type="none" w="sm" len="sm"/>
          </a:ln>
        </p:spPr>
        <p:txBody>
          <a:bodyPr>
            <a:spAutoFit/>
          </a:bodyPr>
          <a:lstStyle/>
          <a:p>
            <a:pPr>
              <a:defRPr/>
            </a:pPr>
            <a:r>
              <a:rPr kumimoji="1" lang="zh-CN" altLang="en-US" b="1">
                <a:latin typeface="+mn-ea"/>
                <a:ea typeface="+mn-ea"/>
              </a:rPr>
              <a:t>传热</a:t>
            </a:r>
            <a:endParaRPr kumimoji="1" lang="zh-CN" altLang="en-US" b="1">
              <a:latin typeface="+mn-ea"/>
              <a:ea typeface="+mn-ea"/>
            </a:endParaRPr>
          </a:p>
        </p:txBody>
      </p:sp>
      <p:sp>
        <p:nvSpPr>
          <p:cNvPr id="156686" name="AutoShape 14"/>
          <p:cNvSpPr>
            <a:spLocks noChangeArrowheads="1"/>
          </p:cNvSpPr>
          <p:nvPr/>
        </p:nvSpPr>
        <p:spPr bwMode="auto">
          <a:xfrm>
            <a:off x="5776913" y="4516438"/>
            <a:ext cx="863600" cy="144462"/>
          </a:xfrm>
          <a:prstGeom prst="rightArrow">
            <a:avLst>
              <a:gd name="adj1" fmla="val 50000"/>
              <a:gd name="adj2" fmla="val 149451"/>
            </a:avLst>
          </a:prstGeom>
          <a:solidFill>
            <a:srgbClr val="FF0000"/>
          </a:solidFill>
          <a:ln w="19050" algn="ctr">
            <a:solidFill>
              <a:srgbClr val="FF0000"/>
            </a:solidFill>
            <a:miter lim="800000"/>
          </a:ln>
        </p:spPr>
        <p:txBody>
          <a:bodyPr wrap="none" anchor="ctr"/>
          <a:lstStyle/>
          <a:p>
            <a:pPr algn="ctr">
              <a:defRPr/>
            </a:pPr>
            <a:endParaRPr lang="zh-CN" altLang="en-US">
              <a:latin typeface="+mn-ea"/>
              <a:ea typeface="+mn-ea"/>
            </a:endParaRPr>
          </a:p>
        </p:txBody>
      </p:sp>
      <p:sp>
        <p:nvSpPr>
          <p:cNvPr id="156687" name="Text Box 15"/>
          <p:cNvSpPr txBox="1">
            <a:spLocks noChangeArrowheads="1"/>
          </p:cNvSpPr>
          <p:nvPr/>
        </p:nvSpPr>
        <p:spPr bwMode="auto">
          <a:xfrm>
            <a:off x="6713538" y="4371975"/>
            <a:ext cx="1171575" cy="469900"/>
          </a:xfrm>
          <a:prstGeom prst="rect">
            <a:avLst/>
          </a:prstGeom>
          <a:noFill/>
          <a:ln w="12700" cap="sq">
            <a:solidFill>
              <a:srgbClr val="0000FF"/>
            </a:solidFill>
            <a:miter lim="800000"/>
            <a:headEnd type="none" w="sm" len="sm"/>
            <a:tailEnd type="none" w="sm" len="sm"/>
          </a:ln>
        </p:spPr>
        <p:txBody>
          <a:bodyPr>
            <a:spAutoFit/>
          </a:bodyPr>
          <a:lstStyle/>
          <a:p>
            <a:pPr algn="ctr">
              <a:defRPr/>
            </a:pPr>
            <a:r>
              <a:rPr kumimoji="1" lang="zh-CN" altLang="en-US" b="1" dirty="0">
                <a:latin typeface="+mn-ea"/>
                <a:ea typeface="+mn-ea"/>
              </a:rPr>
              <a:t>内能</a:t>
            </a:r>
            <a:endParaRPr kumimoji="1" lang="zh-CN" altLang="en-US" b="1" dirty="0">
              <a:latin typeface="+mn-ea"/>
              <a:ea typeface="+mn-ea"/>
            </a:endParaRPr>
          </a:p>
        </p:txBody>
      </p:sp>
      <p:sp>
        <p:nvSpPr>
          <p:cNvPr id="156688" name="Rectangle 16"/>
          <p:cNvSpPr>
            <a:spLocks noChangeArrowheads="1"/>
          </p:cNvSpPr>
          <p:nvPr/>
        </p:nvSpPr>
        <p:spPr bwMode="auto">
          <a:xfrm>
            <a:off x="539750" y="4948238"/>
            <a:ext cx="1800225" cy="641350"/>
          </a:xfrm>
          <a:prstGeom prst="rect">
            <a:avLst/>
          </a:prstGeom>
          <a:noFill/>
          <a:ln w="76200" cap="sq">
            <a:noFill/>
            <a:miter lim="800000"/>
          </a:ln>
        </p:spPr>
        <p:txBody>
          <a:bodyPr>
            <a:spAutoFit/>
          </a:bodyPr>
          <a:lstStyle/>
          <a:p>
            <a:pPr>
              <a:defRPr/>
            </a:pPr>
            <a:r>
              <a:rPr kumimoji="1" lang="en-US" altLang="zh-CN" sz="1800" b="1" dirty="0">
                <a:solidFill>
                  <a:srgbClr val="0000FF"/>
                </a:solidFill>
                <a:latin typeface="+mn-ea"/>
                <a:ea typeface="+mn-ea"/>
              </a:rPr>
              <a:t>(</a:t>
            </a:r>
            <a:r>
              <a:rPr kumimoji="1" lang="zh-CN" altLang="en-US" sz="1800" b="1" dirty="0">
                <a:solidFill>
                  <a:srgbClr val="0000FF"/>
                </a:solidFill>
                <a:latin typeface="+mn-ea"/>
                <a:ea typeface="+mn-ea"/>
              </a:rPr>
              <a:t>宏观机械</a:t>
            </a:r>
            <a:endParaRPr kumimoji="1" lang="zh-CN" altLang="en-US" sz="1800" b="1" dirty="0">
              <a:solidFill>
                <a:srgbClr val="0000FF"/>
              </a:solidFill>
              <a:latin typeface="+mn-ea"/>
              <a:ea typeface="+mn-ea"/>
            </a:endParaRPr>
          </a:p>
          <a:p>
            <a:pPr>
              <a:defRPr/>
            </a:pPr>
            <a:r>
              <a:rPr kumimoji="1" lang="zh-CN" altLang="en-US" sz="1800" b="1" dirty="0">
                <a:solidFill>
                  <a:srgbClr val="0000FF"/>
                </a:solidFill>
                <a:latin typeface="+mn-ea"/>
                <a:ea typeface="+mn-ea"/>
              </a:rPr>
              <a:t> 运动能量</a:t>
            </a:r>
            <a:r>
              <a:rPr kumimoji="1" lang="en-US" altLang="zh-CN" sz="1800" b="1" dirty="0">
                <a:solidFill>
                  <a:srgbClr val="0000FF"/>
                </a:solidFill>
                <a:latin typeface="+mn-ea"/>
                <a:ea typeface="+mn-ea"/>
              </a:rPr>
              <a:t>)</a:t>
            </a:r>
            <a:r>
              <a:rPr kumimoji="1" lang="en-US" altLang="zh-CN" sz="1800" dirty="0">
                <a:solidFill>
                  <a:srgbClr val="0000FF"/>
                </a:solidFill>
                <a:latin typeface="+mn-ea"/>
                <a:ea typeface="+mn-ea"/>
              </a:rPr>
              <a:t> </a:t>
            </a:r>
            <a:endParaRPr kumimoji="1" lang="en-US" altLang="zh-CN" sz="1800" dirty="0">
              <a:solidFill>
                <a:srgbClr val="0000FF"/>
              </a:solidFill>
              <a:latin typeface="+mn-ea"/>
              <a:ea typeface="+mn-ea"/>
            </a:endParaRPr>
          </a:p>
        </p:txBody>
      </p:sp>
      <p:sp>
        <p:nvSpPr>
          <p:cNvPr id="156689" name="Rectangle 17"/>
          <p:cNvSpPr>
            <a:spLocks noChangeArrowheads="1"/>
          </p:cNvSpPr>
          <p:nvPr/>
        </p:nvSpPr>
        <p:spPr bwMode="auto">
          <a:xfrm>
            <a:off x="2555875" y="4948238"/>
            <a:ext cx="1584325" cy="641350"/>
          </a:xfrm>
          <a:prstGeom prst="rect">
            <a:avLst/>
          </a:prstGeom>
          <a:noFill/>
          <a:ln w="76200" cap="sq">
            <a:noFill/>
            <a:miter lim="800000"/>
          </a:ln>
        </p:spPr>
        <p:txBody>
          <a:bodyPr>
            <a:spAutoFit/>
          </a:bodyPr>
          <a:lstStyle/>
          <a:p>
            <a:pPr>
              <a:defRPr/>
            </a:pPr>
            <a:r>
              <a:rPr kumimoji="1" lang="en-US" altLang="zh-CN" sz="1800" b="1">
                <a:solidFill>
                  <a:srgbClr val="0000FF"/>
                </a:solidFill>
                <a:latin typeface="+mn-ea"/>
                <a:ea typeface="+mn-ea"/>
              </a:rPr>
              <a:t>(</a:t>
            </a:r>
            <a:r>
              <a:rPr kumimoji="1" lang="zh-CN" altLang="en-US" sz="1800" b="1">
                <a:solidFill>
                  <a:srgbClr val="0000FF"/>
                </a:solidFill>
                <a:latin typeface="+mn-ea"/>
                <a:ea typeface="+mn-ea"/>
              </a:rPr>
              <a:t>分子无规则热运动能量</a:t>
            </a:r>
            <a:r>
              <a:rPr kumimoji="1" lang="en-US" altLang="zh-CN" sz="1800" b="1">
                <a:solidFill>
                  <a:srgbClr val="0000FF"/>
                </a:solidFill>
                <a:latin typeface="+mn-ea"/>
                <a:ea typeface="+mn-ea"/>
              </a:rPr>
              <a:t>)</a:t>
            </a:r>
            <a:endParaRPr kumimoji="1" lang="en-US" altLang="zh-CN" sz="1800" b="1">
              <a:solidFill>
                <a:srgbClr val="0000FF"/>
              </a:solidFill>
              <a:latin typeface="+mn-ea"/>
              <a:ea typeface="+mn-ea"/>
            </a:endParaRPr>
          </a:p>
        </p:txBody>
      </p:sp>
      <p:sp>
        <p:nvSpPr>
          <p:cNvPr id="156690" name="Rectangle 18"/>
          <p:cNvSpPr>
            <a:spLocks noChangeArrowheads="1"/>
          </p:cNvSpPr>
          <p:nvPr/>
        </p:nvSpPr>
        <p:spPr bwMode="auto">
          <a:xfrm>
            <a:off x="4714875" y="4948238"/>
            <a:ext cx="1512888" cy="641350"/>
          </a:xfrm>
          <a:prstGeom prst="rect">
            <a:avLst/>
          </a:prstGeom>
          <a:noFill/>
          <a:ln w="76200" cap="sq">
            <a:noFill/>
            <a:miter lim="800000"/>
          </a:ln>
        </p:spPr>
        <p:txBody>
          <a:bodyPr>
            <a:spAutoFit/>
          </a:bodyPr>
          <a:lstStyle/>
          <a:p>
            <a:pPr>
              <a:defRPr/>
            </a:pPr>
            <a:r>
              <a:rPr kumimoji="1" lang="en-US" altLang="zh-CN" sz="1800" b="1">
                <a:solidFill>
                  <a:srgbClr val="0000FF"/>
                </a:solidFill>
                <a:latin typeface="+mn-ea"/>
                <a:ea typeface="+mn-ea"/>
              </a:rPr>
              <a:t>(</a:t>
            </a:r>
            <a:r>
              <a:rPr kumimoji="1" lang="zh-CN" altLang="en-US" sz="1800" b="1">
                <a:solidFill>
                  <a:srgbClr val="0000FF"/>
                </a:solidFill>
                <a:latin typeface="+mn-ea"/>
                <a:ea typeface="+mn-ea"/>
              </a:rPr>
              <a:t>分子无规则热运动能量</a:t>
            </a:r>
            <a:r>
              <a:rPr kumimoji="1" lang="en-US" altLang="zh-CN" sz="1800" b="1">
                <a:solidFill>
                  <a:srgbClr val="0000FF"/>
                </a:solidFill>
                <a:latin typeface="+mn-ea"/>
                <a:ea typeface="+mn-ea"/>
              </a:rPr>
              <a:t>)</a:t>
            </a:r>
            <a:endParaRPr kumimoji="1" lang="en-US" altLang="zh-CN" sz="1800" b="1">
              <a:solidFill>
                <a:srgbClr val="0000FF"/>
              </a:solidFill>
              <a:latin typeface="+mn-ea"/>
              <a:ea typeface="+mn-ea"/>
            </a:endParaRPr>
          </a:p>
        </p:txBody>
      </p:sp>
      <p:sp>
        <p:nvSpPr>
          <p:cNvPr id="156691" name="Rectangle 19"/>
          <p:cNvSpPr>
            <a:spLocks noChangeArrowheads="1"/>
          </p:cNvSpPr>
          <p:nvPr/>
        </p:nvSpPr>
        <p:spPr bwMode="auto">
          <a:xfrm>
            <a:off x="6804025" y="4948238"/>
            <a:ext cx="1511300" cy="641350"/>
          </a:xfrm>
          <a:prstGeom prst="rect">
            <a:avLst/>
          </a:prstGeom>
          <a:noFill/>
          <a:ln w="76200" cap="sq">
            <a:noFill/>
            <a:miter lim="800000"/>
          </a:ln>
        </p:spPr>
        <p:txBody>
          <a:bodyPr>
            <a:spAutoFit/>
          </a:bodyPr>
          <a:lstStyle/>
          <a:p>
            <a:pPr>
              <a:defRPr/>
            </a:pPr>
            <a:r>
              <a:rPr kumimoji="1" lang="en-US" altLang="zh-CN" sz="1800" b="1">
                <a:solidFill>
                  <a:srgbClr val="0000FF"/>
                </a:solidFill>
                <a:latin typeface="+mn-ea"/>
                <a:ea typeface="+mn-ea"/>
              </a:rPr>
              <a:t>(</a:t>
            </a:r>
            <a:r>
              <a:rPr kumimoji="1" lang="zh-CN" altLang="en-US" sz="1800" b="1">
                <a:solidFill>
                  <a:srgbClr val="0000FF"/>
                </a:solidFill>
                <a:latin typeface="+mn-ea"/>
                <a:ea typeface="+mn-ea"/>
              </a:rPr>
              <a:t>分子无规则热运动能量</a:t>
            </a:r>
            <a:r>
              <a:rPr kumimoji="1" lang="en-US" altLang="zh-CN" sz="1800" b="1">
                <a:solidFill>
                  <a:srgbClr val="0000FF"/>
                </a:solidFill>
                <a:latin typeface="+mn-ea"/>
                <a:ea typeface="+mn-ea"/>
              </a:rPr>
              <a:t>)</a:t>
            </a:r>
            <a:endParaRPr kumimoji="1" lang="en-US" altLang="zh-CN" sz="1800" b="1">
              <a:solidFill>
                <a:srgbClr val="0000FF"/>
              </a:solidFill>
              <a:latin typeface="+mn-ea"/>
              <a:ea typeface="+mn-ea"/>
            </a:endParaRPr>
          </a:p>
        </p:txBody>
      </p:sp>
      <p:sp>
        <p:nvSpPr>
          <p:cNvPr id="18" name="AutoShape 14">
            <a:hlinkClick r:id="rId1" action="ppaction://hlinksldjump" highlightClick="1"/>
          </p:cNvPr>
          <p:cNvSpPr>
            <a:spLocks noChangeArrowheads="1"/>
          </p:cNvSpPr>
          <p:nvPr/>
        </p:nvSpPr>
        <p:spPr bwMode="auto">
          <a:xfrm>
            <a:off x="8001000" y="5929313"/>
            <a:ext cx="287338" cy="287337"/>
          </a:xfrm>
          <a:prstGeom prst="actionButtonBeginning">
            <a:avLst/>
          </a:prstGeom>
          <a:solidFill>
            <a:srgbClr val="99CCFF"/>
          </a:solidFill>
          <a:ln w="9525">
            <a:noFill/>
            <a:miter lim="800000"/>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56677"/>
                                        </p:tgtEl>
                                        <p:attrNameLst>
                                          <p:attrName>style.visibility</p:attrName>
                                        </p:attrNameLst>
                                      </p:cBhvr>
                                      <p:to>
                                        <p:strVal val="visible"/>
                                      </p:to>
                                    </p:set>
                                    <p:anim calcmode="lin" valueType="num">
                                      <p:cBhvr>
                                        <p:cTn id="7" dur="500" fill="hold"/>
                                        <p:tgtEl>
                                          <p:spTgt spid="156677"/>
                                        </p:tgtEl>
                                        <p:attrNameLst>
                                          <p:attrName>ppt_w</p:attrName>
                                        </p:attrNameLst>
                                      </p:cBhvr>
                                      <p:tavLst>
                                        <p:tav tm="0">
                                          <p:val>
                                            <p:strVal val="4*#ppt_w"/>
                                          </p:val>
                                        </p:tav>
                                        <p:tav tm="100000">
                                          <p:val>
                                            <p:strVal val="#ppt_w"/>
                                          </p:val>
                                        </p:tav>
                                      </p:tavLst>
                                    </p:anim>
                                    <p:anim calcmode="lin" valueType="num">
                                      <p:cBhvr>
                                        <p:cTn id="8" dur="500" fill="hold"/>
                                        <p:tgtEl>
                                          <p:spTgt spid="156677"/>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56676"/>
                                        </p:tgtEl>
                                        <p:attrNameLst>
                                          <p:attrName>style.visibility</p:attrName>
                                        </p:attrNameLst>
                                      </p:cBhvr>
                                      <p:to>
                                        <p:strVal val="visible"/>
                                      </p:to>
                                    </p:set>
                                    <p:animEffect transition="in" filter="wipe(left)">
                                      <p:cBhvr>
                                        <p:cTn id="12" dur="500"/>
                                        <p:tgtEl>
                                          <p:spTgt spid="1566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6678"/>
                                        </p:tgtEl>
                                        <p:attrNameLst>
                                          <p:attrName>style.visibility</p:attrName>
                                        </p:attrNameLst>
                                      </p:cBhvr>
                                      <p:to>
                                        <p:strVal val="visible"/>
                                      </p:to>
                                    </p:set>
                                    <p:animEffect transition="in" filter="wipe(left)">
                                      <p:cBhvr>
                                        <p:cTn id="17" dur="500"/>
                                        <p:tgtEl>
                                          <p:spTgt spid="15667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6679"/>
                                        </p:tgtEl>
                                        <p:attrNameLst>
                                          <p:attrName>style.visibility</p:attrName>
                                        </p:attrNameLst>
                                      </p:cBhvr>
                                      <p:to>
                                        <p:strVal val="visible"/>
                                      </p:to>
                                    </p:set>
                                    <p:animEffect transition="in" filter="wipe(left)">
                                      <p:cBhvr>
                                        <p:cTn id="22" dur="500"/>
                                        <p:tgtEl>
                                          <p:spTgt spid="15667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6680"/>
                                        </p:tgtEl>
                                        <p:attrNameLst>
                                          <p:attrName>style.visibility</p:attrName>
                                        </p:attrNameLst>
                                      </p:cBhvr>
                                      <p:to>
                                        <p:strVal val="visible"/>
                                      </p:to>
                                    </p:set>
                                    <p:animEffect transition="in" filter="wipe(left)">
                                      <p:cBhvr>
                                        <p:cTn id="27" dur="500"/>
                                        <p:tgtEl>
                                          <p:spTgt spid="15668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6681"/>
                                        </p:tgtEl>
                                        <p:attrNameLst>
                                          <p:attrName>style.visibility</p:attrName>
                                        </p:attrNameLst>
                                      </p:cBhvr>
                                      <p:to>
                                        <p:strVal val="visible"/>
                                      </p:to>
                                    </p:set>
                                    <p:animEffect transition="in" filter="wipe(left)">
                                      <p:cBhvr>
                                        <p:cTn id="32" dur="500"/>
                                        <p:tgtEl>
                                          <p:spTgt spid="15668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6682"/>
                                        </p:tgtEl>
                                        <p:attrNameLst>
                                          <p:attrName>style.visibility</p:attrName>
                                        </p:attrNameLst>
                                      </p:cBhvr>
                                      <p:to>
                                        <p:strVal val="visible"/>
                                      </p:to>
                                    </p:set>
                                    <p:animEffect transition="in" filter="wipe(left)">
                                      <p:cBhvr>
                                        <p:cTn id="37" dur="500"/>
                                        <p:tgtEl>
                                          <p:spTgt spid="156682"/>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56683"/>
                                        </p:tgtEl>
                                        <p:attrNameLst>
                                          <p:attrName>style.visibility</p:attrName>
                                        </p:attrNameLst>
                                      </p:cBhvr>
                                      <p:to>
                                        <p:strVal val="visible"/>
                                      </p:to>
                                    </p:set>
                                    <p:animEffect transition="in" filter="wipe(left)">
                                      <p:cBhvr>
                                        <p:cTn id="40" dur="500"/>
                                        <p:tgtEl>
                                          <p:spTgt spid="156683"/>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56684"/>
                                        </p:tgtEl>
                                        <p:attrNameLst>
                                          <p:attrName>style.visibility</p:attrName>
                                        </p:attrNameLst>
                                      </p:cBhvr>
                                      <p:to>
                                        <p:strVal val="visible"/>
                                      </p:to>
                                    </p:set>
                                    <p:animEffect transition="in" filter="wipe(left)">
                                      <p:cBhvr>
                                        <p:cTn id="44" dur="500"/>
                                        <p:tgtEl>
                                          <p:spTgt spid="15668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56688"/>
                                        </p:tgtEl>
                                        <p:attrNameLst>
                                          <p:attrName>style.visibility</p:attrName>
                                        </p:attrNameLst>
                                      </p:cBhvr>
                                      <p:to>
                                        <p:strVal val="visible"/>
                                      </p:to>
                                    </p:set>
                                    <p:animEffect transition="in" filter="wipe(left)">
                                      <p:cBhvr>
                                        <p:cTn id="49" dur="500"/>
                                        <p:tgtEl>
                                          <p:spTgt spid="15668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56689"/>
                                        </p:tgtEl>
                                        <p:attrNameLst>
                                          <p:attrName>style.visibility</p:attrName>
                                        </p:attrNameLst>
                                      </p:cBhvr>
                                      <p:to>
                                        <p:strVal val="visible"/>
                                      </p:to>
                                    </p:set>
                                    <p:animEffect transition="in" filter="wipe(left)">
                                      <p:cBhvr>
                                        <p:cTn id="54" dur="500"/>
                                        <p:tgtEl>
                                          <p:spTgt spid="15668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56685"/>
                                        </p:tgtEl>
                                        <p:attrNameLst>
                                          <p:attrName>style.visibility</p:attrName>
                                        </p:attrNameLst>
                                      </p:cBhvr>
                                      <p:to>
                                        <p:strVal val="visible"/>
                                      </p:to>
                                    </p:set>
                                    <p:animEffect transition="in" filter="wipe(left)">
                                      <p:cBhvr>
                                        <p:cTn id="59" dur="500"/>
                                        <p:tgtEl>
                                          <p:spTgt spid="156685"/>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56686"/>
                                        </p:tgtEl>
                                        <p:attrNameLst>
                                          <p:attrName>style.visibility</p:attrName>
                                        </p:attrNameLst>
                                      </p:cBhvr>
                                      <p:to>
                                        <p:strVal val="visible"/>
                                      </p:to>
                                    </p:set>
                                    <p:animEffect transition="in" filter="wipe(left)">
                                      <p:cBhvr>
                                        <p:cTn id="62" dur="500"/>
                                        <p:tgtEl>
                                          <p:spTgt spid="156686"/>
                                        </p:tgtEl>
                                      </p:cBhvr>
                                    </p:animEffect>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156687"/>
                                        </p:tgtEl>
                                        <p:attrNameLst>
                                          <p:attrName>style.visibility</p:attrName>
                                        </p:attrNameLst>
                                      </p:cBhvr>
                                      <p:to>
                                        <p:strVal val="visible"/>
                                      </p:to>
                                    </p:set>
                                    <p:animEffect transition="in" filter="wipe(left)">
                                      <p:cBhvr>
                                        <p:cTn id="66" dur="500"/>
                                        <p:tgtEl>
                                          <p:spTgt spid="15668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56690"/>
                                        </p:tgtEl>
                                        <p:attrNameLst>
                                          <p:attrName>style.visibility</p:attrName>
                                        </p:attrNameLst>
                                      </p:cBhvr>
                                      <p:to>
                                        <p:strVal val="visible"/>
                                      </p:to>
                                    </p:set>
                                    <p:animEffect transition="in" filter="wipe(left)">
                                      <p:cBhvr>
                                        <p:cTn id="71" dur="500"/>
                                        <p:tgtEl>
                                          <p:spTgt spid="15669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56691"/>
                                        </p:tgtEl>
                                        <p:attrNameLst>
                                          <p:attrName>style.visibility</p:attrName>
                                        </p:attrNameLst>
                                      </p:cBhvr>
                                      <p:to>
                                        <p:strVal val="visible"/>
                                      </p:to>
                                    </p:set>
                                    <p:animEffect transition="in" filter="wipe(left)">
                                      <p:cBhvr>
                                        <p:cTn id="76" dur="500"/>
                                        <p:tgtEl>
                                          <p:spTgt spid="156691"/>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wipe(down)">
                                      <p:cBhvr>
                                        <p:cTn id="8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6" grpId="0"/>
      <p:bldP spid="156677" grpId="0" animBg="1"/>
      <p:bldP spid="156678" grpId="0" autoUpdateAnimBg="0"/>
      <p:bldP spid="156679" grpId="0" autoUpdateAnimBg="0"/>
      <p:bldP spid="156680" grpId="0" autoUpdateAnimBg="0"/>
      <p:bldP spid="156681" grpId="0" autoUpdateAnimBg="0"/>
      <p:bldP spid="156682" grpId="0" animBg="1" autoUpdateAnimBg="0"/>
      <p:bldP spid="156683" grpId="0" animBg="1"/>
      <p:bldP spid="156684" grpId="0" animBg="1" autoUpdateAnimBg="0"/>
      <p:bldP spid="156685" grpId="0" animBg="1" autoUpdateAnimBg="0"/>
      <p:bldP spid="156686" grpId="0" animBg="1"/>
      <p:bldP spid="156687" grpId="0" animBg="1" autoUpdateAnimBg="0"/>
      <p:bldP spid="156688" grpId="0" autoUpdateAnimBg="0"/>
      <p:bldP spid="156689" grpId="0" autoUpdateAnimBg="0"/>
      <p:bldP spid="156690" grpId="0" autoUpdateAnimBg="0"/>
      <p:bldP spid="156691" grpId="0" autoUpdateAnimBg="0"/>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 name="Text Box 4">
            <a:hlinkClick r:id="rId1" action="ppaction://hlinkpres?slideindex=1&amp;slidetitle="/>
          </p:cNvPr>
          <p:cNvSpPr txBox="1">
            <a:spLocks noChangeArrowheads="1"/>
          </p:cNvSpPr>
          <p:nvPr/>
        </p:nvSpPr>
        <p:spPr bwMode="auto">
          <a:xfrm>
            <a:off x="1908175" y="404813"/>
            <a:ext cx="5040313" cy="519112"/>
          </a:xfrm>
          <a:prstGeom prst="rect">
            <a:avLst/>
          </a:prstGeom>
          <a:noFill/>
          <a:ln w="9525">
            <a:noFill/>
            <a:miter lim="800000"/>
          </a:ln>
        </p:spPr>
        <p:txBody>
          <a:bodyPr>
            <a:spAutoFit/>
          </a:bodyPr>
          <a:lstStyle/>
          <a:p>
            <a:pPr algn="ctr">
              <a:spcBef>
                <a:spcPct val="50000"/>
              </a:spcBef>
            </a:pPr>
            <a:r>
              <a:rPr lang="en-US" altLang="zh-CN" sz="2800" b="1">
                <a:solidFill>
                  <a:srgbClr val="0000FF"/>
                </a:solidFill>
              </a:rPr>
              <a:t>§7.3  </a:t>
            </a:r>
            <a:r>
              <a:rPr lang="zh-CN" altLang="en-US" sz="2800" b="1">
                <a:solidFill>
                  <a:srgbClr val="0000FF"/>
                </a:solidFill>
              </a:rPr>
              <a:t>热力学第一定律</a:t>
            </a:r>
            <a:endParaRPr lang="zh-CN" altLang="en-US" sz="2800" b="1">
              <a:solidFill>
                <a:srgbClr val="0000FF"/>
              </a:solidFill>
            </a:endParaRPr>
          </a:p>
        </p:txBody>
      </p:sp>
      <p:sp>
        <p:nvSpPr>
          <p:cNvPr id="27653" name="Text Box 5"/>
          <p:cNvSpPr txBox="1">
            <a:spLocks noChangeArrowheads="1"/>
          </p:cNvSpPr>
          <p:nvPr/>
        </p:nvSpPr>
        <p:spPr bwMode="auto">
          <a:xfrm>
            <a:off x="185738" y="1171575"/>
            <a:ext cx="5033962" cy="457200"/>
          </a:xfrm>
          <a:prstGeom prst="rect">
            <a:avLst/>
          </a:prstGeom>
          <a:noFill/>
          <a:ln w="12700" cap="sq">
            <a:noFill/>
            <a:miter lim="800000"/>
            <a:headEnd type="none" w="sm" len="sm"/>
            <a:tailEnd type="none" w="sm" len="sm"/>
          </a:ln>
        </p:spPr>
        <p:txBody>
          <a:bodyPr>
            <a:spAutoFit/>
          </a:bodyPr>
          <a:lstStyle/>
          <a:p>
            <a:r>
              <a:rPr kumimoji="1" lang="en-US" altLang="zh-CN" b="1">
                <a:solidFill>
                  <a:srgbClr val="0000FF"/>
                </a:solidFill>
              </a:rPr>
              <a:t>7.3.1  </a:t>
            </a:r>
            <a:r>
              <a:rPr kumimoji="1" lang="zh-CN" altLang="en-US" b="1">
                <a:solidFill>
                  <a:srgbClr val="0000FF"/>
                </a:solidFill>
              </a:rPr>
              <a:t>热力学第一定律</a:t>
            </a:r>
            <a:endParaRPr kumimoji="1" lang="zh-CN" altLang="en-US" b="1">
              <a:solidFill>
                <a:srgbClr val="0000FF"/>
              </a:solidFill>
            </a:endParaRPr>
          </a:p>
        </p:txBody>
      </p:sp>
      <p:sp>
        <p:nvSpPr>
          <p:cNvPr id="27654" name="Text Box 6"/>
          <p:cNvSpPr txBox="1">
            <a:spLocks noChangeArrowheads="1"/>
          </p:cNvSpPr>
          <p:nvPr/>
        </p:nvSpPr>
        <p:spPr bwMode="auto">
          <a:xfrm>
            <a:off x="611188" y="1722438"/>
            <a:ext cx="7993062" cy="457200"/>
          </a:xfrm>
          <a:prstGeom prst="rect">
            <a:avLst/>
          </a:prstGeom>
          <a:noFill/>
          <a:ln w="12700" cap="sq">
            <a:noFill/>
            <a:miter lim="800000"/>
            <a:headEnd type="none" w="sm" len="sm"/>
            <a:tailEnd type="none" w="sm" len="sm"/>
          </a:ln>
        </p:spPr>
        <p:txBody>
          <a:bodyPr>
            <a:spAutoFit/>
          </a:bodyPr>
          <a:lstStyle/>
          <a:p>
            <a:pPr>
              <a:spcBef>
                <a:spcPct val="50000"/>
              </a:spcBef>
            </a:pPr>
            <a:r>
              <a:rPr kumimoji="1" lang="en-US" altLang="zh-CN" b="1"/>
              <a:t> </a:t>
            </a:r>
            <a:r>
              <a:rPr kumimoji="1" lang="zh-CN" altLang="en-US" b="1"/>
              <a:t>外界与系统之间不仅作功，而且</a:t>
            </a:r>
            <a:r>
              <a:rPr kumimoji="1" lang="zh-CN" altLang="en-US" b="1">
                <a:latin typeface="Arial" panose="020B0604020202020204" pitchFamily="34" charset="0"/>
              </a:rPr>
              <a:t>传递热量，则有</a:t>
            </a:r>
            <a:endParaRPr kumimoji="1" lang="zh-CN" altLang="en-US" b="1">
              <a:latin typeface="Arial" panose="020B0604020202020204" pitchFamily="34" charset="0"/>
            </a:endParaRPr>
          </a:p>
        </p:txBody>
      </p:sp>
      <p:sp>
        <p:nvSpPr>
          <p:cNvPr id="27655" name="Text Box 7"/>
          <p:cNvSpPr txBox="1">
            <a:spLocks noChangeArrowheads="1"/>
          </p:cNvSpPr>
          <p:nvPr/>
        </p:nvSpPr>
        <p:spPr bwMode="auto">
          <a:xfrm>
            <a:off x="468313" y="2852738"/>
            <a:ext cx="8388350" cy="1006475"/>
          </a:xfrm>
          <a:prstGeom prst="rect">
            <a:avLst/>
          </a:prstGeom>
          <a:noFill/>
          <a:ln w="12700" cap="sq">
            <a:noFill/>
            <a:miter lim="800000"/>
            <a:headEnd type="none" w="sm" len="sm"/>
            <a:tailEnd type="none" w="sm" len="sm"/>
          </a:ln>
        </p:spPr>
        <p:txBody>
          <a:bodyPr>
            <a:spAutoFit/>
          </a:bodyPr>
          <a:lstStyle/>
          <a:p>
            <a:pPr>
              <a:lnSpc>
                <a:spcPct val="125000"/>
              </a:lnSpc>
            </a:pPr>
            <a:r>
              <a:rPr kumimoji="1" lang="en-US" altLang="zh-CN" b="1">
                <a:latin typeface="宋体" panose="02010600030101010101" pitchFamily="2" charset="-122"/>
              </a:rPr>
              <a:t>    </a:t>
            </a:r>
            <a:r>
              <a:rPr kumimoji="1" lang="zh-CN" altLang="en-US" b="1">
                <a:latin typeface="宋体" panose="02010600030101010101" pitchFamily="2" charset="-122"/>
              </a:rPr>
              <a:t>系统从外界吸收的热量，一部分使其内能增加，另一部分则用以对外界作功。</a:t>
            </a:r>
            <a:r>
              <a:rPr kumimoji="1" lang="en-US" altLang="zh-CN" b="1">
                <a:solidFill>
                  <a:srgbClr val="FF0000"/>
                </a:solidFill>
                <a:latin typeface="宋体" panose="02010600030101010101" pitchFamily="2" charset="-122"/>
              </a:rPr>
              <a:t>—— </a:t>
            </a:r>
            <a:r>
              <a:rPr kumimoji="1" lang="zh-CN" altLang="en-US" b="1">
                <a:solidFill>
                  <a:srgbClr val="FF0000"/>
                </a:solidFill>
                <a:latin typeface="宋体" panose="02010600030101010101" pitchFamily="2" charset="-122"/>
              </a:rPr>
              <a:t>热力学第一定律</a:t>
            </a:r>
            <a:endParaRPr kumimoji="1" lang="zh-CN" altLang="en-US" b="1">
              <a:solidFill>
                <a:srgbClr val="FF0000"/>
              </a:solidFill>
              <a:latin typeface="宋体" panose="02010600030101010101" pitchFamily="2" charset="-122"/>
            </a:endParaRPr>
          </a:p>
        </p:txBody>
      </p:sp>
      <p:graphicFrame>
        <p:nvGraphicFramePr>
          <p:cNvPr id="27656" name="Object 8"/>
          <p:cNvGraphicFramePr>
            <a:graphicFrameLocks noChangeAspect="1"/>
          </p:cNvGraphicFramePr>
          <p:nvPr/>
        </p:nvGraphicFramePr>
        <p:xfrm>
          <a:off x="1468438" y="2395538"/>
          <a:ext cx="2397125" cy="431800"/>
        </p:xfrm>
        <a:graphic>
          <a:graphicData uri="http://schemas.openxmlformats.org/presentationml/2006/ole">
            <mc:AlternateContent xmlns:mc="http://schemas.openxmlformats.org/markup-compatibility/2006">
              <mc:Choice xmlns:v="urn:schemas-microsoft-com:vml" Requires="v">
                <p:oleObj spid="_x0000_s9217" name="公式" r:id="rId2" imgW="28956000" imgH="5181600" progId="Equation.3">
                  <p:embed/>
                </p:oleObj>
              </mc:Choice>
              <mc:Fallback>
                <p:oleObj name="公式" r:id="rId2" imgW="28956000" imgH="5181600" progId="Equation.3">
                  <p:embed/>
                  <p:pic>
                    <p:nvPicPr>
                      <p:cNvPr id="0" name="Object 8"/>
                      <p:cNvPicPr>
                        <a:picLocks noChangeAspect="1"/>
                      </p:cNvPicPr>
                      <p:nvPr/>
                    </p:nvPicPr>
                    <p:blipFill>
                      <a:blip r:embed="rId3"/>
                      <a:stretch>
                        <a:fillRect/>
                      </a:stretch>
                    </p:blipFill>
                    <p:spPr>
                      <a:xfrm>
                        <a:off x="1468438" y="2395538"/>
                        <a:ext cx="2397125" cy="431800"/>
                      </a:xfrm>
                      <a:prstGeom prst="rect">
                        <a:avLst/>
                      </a:prstGeom>
                      <a:solidFill>
                        <a:srgbClr val="66FFFF">
                          <a:alpha val="50000"/>
                        </a:srgbClr>
                      </a:solidFill>
                      <a:ln w="9525">
                        <a:noFill/>
                      </a:ln>
                    </p:spPr>
                  </p:pic>
                </p:oleObj>
              </mc:Fallback>
            </mc:AlternateContent>
          </a:graphicData>
        </a:graphic>
      </p:graphicFrame>
      <p:sp>
        <p:nvSpPr>
          <p:cNvPr id="27657" name="Text Box 9"/>
          <p:cNvSpPr txBox="1">
            <a:spLocks noChangeArrowheads="1"/>
          </p:cNvSpPr>
          <p:nvPr/>
        </p:nvSpPr>
        <p:spPr bwMode="auto">
          <a:xfrm>
            <a:off x="754063" y="4937125"/>
            <a:ext cx="1966912" cy="457200"/>
          </a:xfrm>
          <a:prstGeom prst="rect">
            <a:avLst/>
          </a:prstGeom>
          <a:noFill/>
          <a:ln w="76200" cap="sq">
            <a:noFill/>
            <a:miter lim="800000"/>
          </a:ln>
        </p:spPr>
        <p:txBody>
          <a:bodyPr>
            <a:spAutoFit/>
          </a:bodyPr>
          <a:lstStyle/>
          <a:p>
            <a:r>
              <a:rPr kumimoji="1" lang="zh-CN" altLang="en-US" b="1">
                <a:latin typeface="宋体" panose="02010600030101010101" pitchFamily="2" charset="-122"/>
              </a:rPr>
              <a:t>系统吸热：</a:t>
            </a:r>
            <a:endParaRPr kumimoji="1" lang="zh-CN" altLang="en-US" b="1" i="1" baseline="-25000">
              <a:latin typeface="宋体" panose="02010600030101010101" pitchFamily="2" charset="-122"/>
            </a:endParaRPr>
          </a:p>
        </p:txBody>
      </p:sp>
      <p:graphicFrame>
        <p:nvGraphicFramePr>
          <p:cNvPr id="27658" name="Object 10"/>
          <p:cNvGraphicFramePr/>
          <p:nvPr/>
        </p:nvGraphicFramePr>
        <p:xfrm>
          <a:off x="2771775" y="4621213"/>
          <a:ext cx="777875" cy="320675"/>
        </p:xfrm>
        <a:graphic>
          <a:graphicData uri="http://schemas.openxmlformats.org/presentationml/2006/ole">
            <mc:AlternateContent xmlns:mc="http://schemas.openxmlformats.org/markup-compatibility/2006">
              <mc:Choice xmlns:v="urn:schemas-microsoft-com:vml" Requires="v">
                <p:oleObj spid="_x0000_s9219" name="公式" r:id="rId4" imgW="10363200" imgH="4267200" progId="Equation.3">
                  <p:embed/>
                </p:oleObj>
              </mc:Choice>
              <mc:Fallback>
                <p:oleObj name="公式" r:id="rId4" imgW="10363200" imgH="4267200" progId="Equation.3">
                  <p:embed/>
                  <p:pic>
                    <p:nvPicPr>
                      <p:cNvPr id="0" name="Object 10"/>
                      <p:cNvPicPr/>
                      <p:nvPr/>
                    </p:nvPicPr>
                    <p:blipFill>
                      <a:blip r:embed="rId5"/>
                      <a:stretch>
                        <a:fillRect/>
                      </a:stretch>
                    </p:blipFill>
                    <p:spPr>
                      <a:xfrm>
                        <a:off x="2771775" y="4621213"/>
                        <a:ext cx="777875" cy="320675"/>
                      </a:xfrm>
                      <a:prstGeom prst="rect">
                        <a:avLst/>
                      </a:prstGeom>
                      <a:noFill/>
                      <a:ln w="9525">
                        <a:noFill/>
                      </a:ln>
                    </p:spPr>
                  </p:pic>
                </p:oleObj>
              </mc:Fallback>
            </mc:AlternateContent>
          </a:graphicData>
        </a:graphic>
      </p:graphicFrame>
      <p:sp>
        <p:nvSpPr>
          <p:cNvPr id="27659" name="Text Box 11"/>
          <p:cNvSpPr txBox="1">
            <a:spLocks noChangeArrowheads="1"/>
          </p:cNvSpPr>
          <p:nvPr/>
        </p:nvSpPr>
        <p:spPr bwMode="auto">
          <a:xfrm>
            <a:off x="539750" y="4508500"/>
            <a:ext cx="2952750" cy="457200"/>
          </a:xfrm>
          <a:prstGeom prst="rect">
            <a:avLst/>
          </a:prstGeom>
          <a:noFill/>
          <a:ln w="76200" cap="sq">
            <a:noFill/>
            <a:miter lim="800000"/>
          </a:ln>
        </p:spPr>
        <p:txBody>
          <a:bodyPr>
            <a:spAutoFit/>
          </a:bodyPr>
          <a:lstStyle/>
          <a:p>
            <a:r>
              <a:rPr kumimoji="1" lang="zh-CN" altLang="en-US" b="1">
                <a:latin typeface="宋体" panose="02010600030101010101" pitchFamily="2" charset="-122"/>
              </a:rPr>
              <a:t>系统对外作功：</a:t>
            </a:r>
            <a:endParaRPr kumimoji="1" lang="zh-CN" altLang="en-US" b="1" i="1" baseline="-25000">
              <a:latin typeface="宋体" panose="02010600030101010101" pitchFamily="2" charset="-122"/>
            </a:endParaRPr>
          </a:p>
        </p:txBody>
      </p:sp>
      <p:sp>
        <p:nvSpPr>
          <p:cNvPr id="27660" name="Text Box 12"/>
          <p:cNvSpPr txBox="1">
            <a:spLocks noChangeArrowheads="1"/>
          </p:cNvSpPr>
          <p:nvPr/>
        </p:nvSpPr>
        <p:spPr bwMode="auto">
          <a:xfrm>
            <a:off x="3779838" y="4484688"/>
            <a:ext cx="3311525" cy="457200"/>
          </a:xfrm>
          <a:prstGeom prst="rect">
            <a:avLst/>
          </a:prstGeom>
          <a:noFill/>
          <a:ln w="76200" cap="sq">
            <a:noFill/>
            <a:miter lim="800000"/>
          </a:ln>
        </p:spPr>
        <p:txBody>
          <a:bodyPr>
            <a:spAutoFit/>
          </a:bodyPr>
          <a:lstStyle/>
          <a:p>
            <a:r>
              <a:rPr kumimoji="1" lang="zh-CN" altLang="en-US" b="1">
                <a:latin typeface="宋体" panose="02010600030101010101" pitchFamily="2" charset="-122"/>
              </a:rPr>
              <a:t>； 外界对系统作功：</a:t>
            </a:r>
            <a:endParaRPr kumimoji="1" lang="zh-CN" altLang="en-US" b="1" i="1" baseline="-25000">
              <a:latin typeface="宋体" panose="02010600030101010101" pitchFamily="2" charset="-122"/>
            </a:endParaRPr>
          </a:p>
        </p:txBody>
      </p:sp>
      <p:graphicFrame>
        <p:nvGraphicFramePr>
          <p:cNvPr id="27661" name="Object 13"/>
          <p:cNvGraphicFramePr/>
          <p:nvPr/>
        </p:nvGraphicFramePr>
        <p:xfrm>
          <a:off x="6877050" y="4621213"/>
          <a:ext cx="777875" cy="320675"/>
        </p:xfrm>
        <a:graphic>
          <a:graphicData uri="http://schemas.openxmlformats.org/presentationml/2006/ole">
            <mc:AlternateContent xmlns:mc="http://schemas.openxmlformats.org/markup-compatibility/2006">
              <mc:Choice xmlns:v="urn:schemas-microsoft-com:vml" Requires="v">
                <p:oleObj spid="_x0000_s9220" name="公式" r:id="rId6" imgW="10363200" imgH="4267200" progId="Equation.3">
                  <p:embed/>
                </p:oleObj>
              </mc:Choice>
              <mc:Fallback>
                <p:oleObj name="公式" r:id="rId6" imgW="10363200" imgH="4267200" progId="Equation.3">
                  <p:embed/>
                  <p:pic>
                    <p:nvPicPr>
                      <p:cNvPr id="0" name="Object 13"/>
                      <p:cNvPicPr/>
                      <p:nvPr/>
                    </p:nvPicPr>
                    <p:blipFill>
                      <a:blip r:embed="rId7"/>
                      <a:stretch>
                        <a:fillRect/>
                      </a:stretch>
                    </p:blipFill>
                    <p:spPr>
                      <a:xfrm>
                        <a:off x="6877050" y="4621213"/>
                        <a:ext cx="777875" cy="320675"/>
                      </a:xfrm>
                      <a:prstGeom prst="rect">
                        <a:avLst/>
                      </a:prstGeom>
                      <a:noFill/>
                      <a:ln w="9525">
                        <a:noFill/>
                      </a:ln>
                    </p:spPr>
                  </p:pic>
                </p:oleObj>
              </mc:Fallback>
            </mc:AlternateContent>
          </a:graphicData>
        </a:graphic>
      </p:graphicFrame>
      <p:graphicFrame>
        <p:nvGraphicFramePr>
          <p:cNvPr id="27662" name="Object 14"/>
          <p:cNvGraphicFramePr>
            <a:graphicFrameLocks noChangeAspect="1"/>
          </p:cNvGraphicFramePr>
          <p:nvPr/>
        </p:nvGraphicFramePr>
        <p:xfrm>
          <a:off x="2700338" y="5013325"/>
          <a:ext cx="701675" cy="363538"/>
        </p:xfrm>
        <a:graphic>
          <a:graphicData uri="http://schemas.openxmlformats.org/presentationml/2006/ole">
            <mc:AlternateContent xmlns:mc="http://schemas.openxmlformats.org/markup-compatibility/2006">
              <mc:Choice xmlns:v="urn:schemas-microsoft-com:vml" Requires="v">
                <p:oleObj spid="_x0000_s9221" name="公式" r:id="rId8" imgW="9448800" imgH="4876800" progId="Equation.3">
                  <p:embed/>
                </p:oleObj>
              </mc:Choice>
              <mc:Fallback>
                <p:oleObj name="公式" r:id="rId8" imgW="9448800" imgH="4876800" progId="Equation.3">
                  <p:embed/>
                  <p:pic>
                    <p:nvPicPr>
                      <p:cNvPr id="0" name="Object 14"/>
                      <p:cNvPicPr>
                        <a:picLocks noChangeAspect="1"/>
                      </p:cNvPicPr>
                      <p:nvPr/>
                    </p:nvPicPr>
                    <p:blipFill>
                      <a:blip r:embed="rId9"/>
                      <a:stretch>
                        <a:fillRect/>
                      </a:stretch>
                    </p:blipFill>
                    <p:spPr>
                      <a:xfrm>
                        <a:off x="2700338" y="5013325"/>
                        <a:ext cx="701675" cy="363538"/>
                      </a:xfrm>
                      <a:prstGeom prst="rect">
                        <a:avLst/>
                      </a:prstGeom>
                      <a:noFill/>
                      <a:ln w="9525">
                        <a:noFill/>
                      </a:ln>
                    </p:spPr>
                  </p:pic>
                </p:oleObj>
              </mc:Fallback>
            </mc:AlternateContent>
          </a:graphicData>
        </a:graphic>
      </p:graphicFrame>
      <p:sp>
        <p:nvSpPr>
          <p:cNvPr id="27663" name="Text Box 15"/>
          <p:cNvSpPr txBox="1">
            <a:spLocks noChangeArrowheads="1"/>
          </p:cNvSpPr>
          <p:nvPr/>
        </p:nvSpPr>
        <p:spPr bwMode="auto">
          <a:xfrm>
            <a:off x="3779838" y="4895850"/>
            <a:ext cx="2747962" cy="457200"/>
          </a:xfrm>
          <a:prstGeom prst="rect">
            <a:avLst/>
          </a:prstGeom>
          <a:noFill/>
          <a:ln w="76200" cap="sq">
            <a:noFill/>
            <a:miter lim="800000"/>
          </a:ln>
        </p:spPr>
        <p:txBody>
          <a:bodyPr>
            <a:spAutoFit/>
          </a:bodyPr>
          <a:lstStyle/>
          <a:p>
            <a:r>
              <a:rPr kumimoji="1" lang="zh-CN" altLang="en-US" b="1">
                <a:latin typeface="宋体" panose="02010600030101010101" pitchFamily="2" charset="-122"/>
              </a:rPr>
              <a:t>；系统放热：</a:t>
            </a:r>
            <a:endParaRPr kumimoji="1" lang="zh-CN" altLang="en-US" b="1" i="1" baseline="-25000">
              <a:latin typeface="宋体" panose="02010600030101010101" pitchFamily="2" charset="-122"/>
            </a:endParaRPr>
          </a:p>
        </p:txBody>
      </p:sp>
      <p:graphicFrame>
        <p:nvGraphicFramePr>
          <p:cNvPr id="27664" name="Object 16"/>
          <p:cNvGraphicFramePr>
            <a:graphicFrameLocks noChangeAspect="1"/>
          </p:cNvGraphicFramePr>
          <p:nvPr/>
        </p:nvGraphicFramePr>
        <p:xfrm>
          <a:off x="6011863" y="5013325"/>
          <a:ext cx="698500" cy="363538"/>
        </p:xfrm>
        <a:graphic>
          <a:graphicData uri="http://schemas.openxmlformats.org/presentationml/2006/ole">
            <mc:AlternateContent xmlns:mc="http://schemas.openxmlformats.org/markup-compatibility/2006">
              <mc:Choice xmlns:v="urn:schemas-microsoft-com:vml" Requires="v">
                <p:oleObj spid="_x0000_s9222" name="公式" r:id="rId10" imgW="9448800" imgH="4876800" progId="Equation.3">
                  <p:embed/>
                </p:oleObj>
              </mc:Choice>
              <mc:Fallback>
                <p:oleObj name="公式" r:id="rId10" imgW="9448800" imgH="4876800" progId="Equation.3">
                  <p:embed/>
                  <p:pic>
                    <p:nvPicPr>
                      <p:cNvPr id="0" name="Object 16"/>
                      <p:cNvPicPr>
                        <a:picLocks noChangeAspect="1"/>
                      </p:cNvPicPr>
                      <p:nvPr/>
                    </p:nvPicPr>
                    <p:blipFill>
                      <a:blip r:embed="rId11"/>
                      <a:stretch>
                        <a:fillRect/>
                      </a:stretch>
                    </p:blipFill>
                    <p:spPr>
                      <a:xfrm>
                        <a:off x="6011863" y="5013325"/>
                        <a:ext cx="698500" cy="363538"/>
                      </a:xfrm>
                      <a:prstGeom prst="rect">
                        <a:avLst/>
                      </a:prstGeom>
                      <a:noFill/>
                      <a:ln w="9525">
                        <a:noFill/>
                      </a:ln>
                    </p:spPr>
                  </p:pic>
                </p:oleObj>
              </mc:Fallback>
            </mc:AlternateContent>
          </a:graphicData>
        </a:graphic>
      </p:graphicFrame>
      <p:graphicFrame>
        <p:nvGraphicFramePr>
          <p:cNvPr id="27666" name="Object 18"/>
          <p:cNvGraphicFramePr>
            <a:graphicFrameLocks noChangeAspect="1"/>
          </p:cNvGraphicFramePr>
          <p:nvPr/>
        </p:nvGraphicFramePr>
        <p:xfrm>
          <a:off x="5121275" y="2420938"/>
          <a:ext cx="1971675" cy="406400"/>
        </p:xfrm>
        <a:graphic>
          <a:graphicData uri="http://schemas.openxmlformats.org/presentationml/2006/ole">
            <mc:AlternateContent xmlns:mc="http://schemas.openxmlformats.org/markup-compatibility/2006">
              <mc:Choice xmlns:v="urn:schemas-microsoft-com:vml" Requires="v">
                <p:oleObj spid="_x0000_s9223" name="公式" r:id="rId12" imgW="23469600" imgH="4876800" progId="Equation.3">
                  <p:embed/>
                </p:oleObj>
              </mc:Choice>
              <mc:Fallback>
                <p:oleObj name="公式" r:id="rId12" imgW="23469600" imgH="4876800" progId="Equation.3">
                  <p:embed/>
                  <p:pic>
                    <p:nvPicPr>
                      <p:cNvPr id="0" name="Object 18"/>
                      <p:cNvPicPr>
                        <a:picLocks noChangeAspect="1"/>
                      </p:cNvPicPr>
                      <p:nvPr/>
                    </p:nvPicPr>
                    <p:blipFill>
                      <a:blip r:embed="rId13"/>
                      <a:stretch>
                        <a:fillRect/>
                      </a:stretch>
                    </p:blipFill>
                    <p:spPr>
                      <a:xfrm>
                        <a:off x="5121275" y="2420938"/>
                        <a:ext cx="1971675" cy="406400"/>
                      </a:xfrm>
                      <a:prstGeom prst="rect">
                        <a:avLst/>
                      </a:prstGeom>
                      <a:solidFill>
                        <a:srgbClr val="66FFFF">
                          <a:alpha val="50000"/>
                        </a:srgbClr>
                      </a:solidFill>
                      <a:ln w="9525">
                        <a:noFill/>
                      </a:ln>
                    </p:spPr>
                  </p:pic>
                </p:oleObj>
              </mc:Fallback>
            </mc:AlternateContent>
          </a:graphicData>
        </a:graphic>
      </p:graphicFrame>
      <p:graphicFrame>
        <p:nvGraphicFramePr>
          <p:cNvPr id="27667" name="Object 19"/>
          <p:cNvGraphicFramePr/>
          <p:nvPr/>
        </p:nvGraphicFramePr>
        <p:xfrm>
          <a:off x="2974975" y="5556250"/>
          <a:ext cx="866775" cy="320675"/>
        </p:xfrm>
        <a:graphic>
          <a:graphicData uri="http://schemas.openxmlformats.org/presentationml/2006/ole">
            <mc:AlternateContent xmlns:mc="http://schemas.openxmlformats.org/markup-compatibility/2006">
              <mc:Choice xmlns:v="urn:schemas-microsoft-com:vml" Requires="v">
                <p:oleObj spid="_x0000_s9224" name="公式" r:id="rId14" imgW="11582400" imgH="4267200" progId="Equation.3">
                  <p:embed/>
                </p:oleObj>
              </mc:Choice>
              <mc:Fallback>
                <p:oleObj name="公式" r:id="rId14" imgW="11582400" imgH="4267200" progId="Equation.3">
                  <p:embed/>
                  <p:pic>
                    <p:nvPicPr>
                      <p:cNvPr id="0" name="Object 19"/>
                      <p:cNvPicPr/>
                      <p:nvPr/>
                    </p:nvPicPr>
                    <p:blipFill>
                      <a:blip r:embed="rId15"/>
                      <a:stretch>
                        <a:fillRect/>
                      </a:stretch>
                    </p:blipFill>
                    <p:spPr>
                      <a:xfrm>
                        <a:off x="2974975" y="5556250"/>
                        <a:ext cx="866775" cy="320675"/>
                      </a:xfrm>
                      <a:prstGeom prst="rect">
                        <a:avLst/>
                      </a:prstGeom>
                      <a:noFill/>
                      <a:ln w="9525">
                        <a:noFill/>
                      </a:ln>
                    </p:spPr>
                  </p:pic>
                </p:oleObj>
              </mc:Fallback>
            </mc:AlternateContent>
          </a:graphicData>
        </a:graphic>
      </p:graphicFrame>
      <p:graphicFrame>
        <p:nvGraphicFramePr>
          <p:cNvPr id="27668" name="Object 20"/>
          <p:cNvGraphicFramePr/>
          <p:nvPr/>
        </p:nvGraphicFramePr>
        <p:xfrm>
          <a:off x="6443663" y="5629275"/>
          <a:ext cx="866775" cy="320675"/>
        </p:xfrm>
        <a:graphic>
          <a:graphicData uri="http://schemas.openxmlformats.org/presentationml/2006/ole">
            <mc:AlternateContent xmlns:mc="http://schemas.openxmlformats.org/markup-compatibility/2006">
              <mc:Choice xmlns:v="urn:schemas-microsoft-com:vml" Requires="v">
                <p:oleObj spid="_x0000_s9225" name="公式" r:id="rId16" imgW="11582400" imgH="4267200" progId="Equation.3">
                  <p:embed/>
                </p:oleObj>
              </mc:Choice>
              <mc:Fallback>
                <p:oleObj name="公式" r:id="rId16" imgW="11582400" imgH="4267200" progId="Equation.3">
                  <p:embed/>
                  <p:pic>
                    <p:nvPicPr>
                      <p:cNvPr id="0" name="Object 20"/>
                      <p:cNvPicPr/>
                      <p:nvPr/>
                    </p:nvPicPr>
                    <p:blipFill>
                      <a:blip r:embed="rId17"/>
                      <a:stretch>
                        <a:fillRect/>
                      </a:stretch>
                    </p:blipFill>
                    <p:spPr>
                      <a:xfrm>
                        <a:off x="6443663" y="5629275"/>
                        <a:ext cx="866775" cy="320675"/>
                      </a:xfrm>
                      <a:prstGeom prst="rect">
                        <a:avLst/>
                      </a:prstGeom>
                      <a:noFill/>
                      <a:ln w="9525">
                        <a:noFill/>
                      </a:ln>
                    </p:spPr>
                  </p:pic>
                </p:oleObj>
              </mc:Fallback>
            </mc:AlternateContent>
          </a:graphicData>
        </a:graphic>
      </p:graphicFrame>
      <p:sp>
        <p:nvSpPr>
          <p:cNvPr id="27669" name="Text Box 21"/>
          <p:cNvSpPr txBox="1">
            <a:spLocks noChangeArrowheads="1"/>
          </p:cNvSpPr>
          <p:nvPr/>
        </p:nvSpPr>
        <p:spPr bwMode="auto">
          <a:xfrm>
            <a:off x="754063" y="5419725"/>
            <a:ext cx="2735262" cy="457200"/>
          </a:xfrm>
          <a:prstGeom prst="rect">
            <a:avLst/>
          </a:prstGeom>
          <a:noFill/>
          <a:ln w="9525">
            <a:noFill/>
            <a:miter lim="800000"/>
          </a:ln>
        </p:spPr>
        <p:txBody>
          <a:bodyPr>
            <a:spAutoFit/>
          </a:bodyPr>
          <a:lstStyle/>
          <a:p>
            <a:pPr>
              <a:spcBef>
                <a:spcPct val="50000"/>
              </a:spcBef>
            </a:pPr>
            <a:r>
              <a:rPr lang="zh-CN" altLang="en-US" b="1">
                <a:latin typeface="宋体" panose="02010600030101010101" pitchFamily="2" charset="-122"/>
              </a:rPr>
              <a:t>系统内能增加</a:t>
            </a:r>
            <a:r>
              <a:rPr lang="en-US" altLang="zh-CN" b="1">
                <a:latin typeface="宋体" panose="02010600030101010101" pitchFamily="2" charset="-122"/>
              </a:rPr>
              <a:t>:</a:t>
            </a:r>
            <a:endParaRPr lang="en-US" altLang="zh-CN" b="1">
              <a:latin typeface="宋体" panose="02010600030101010101" pitchFamily="2" charset="-122"/>
            </a:endParaRPr>
          </a:p>
        </p:txBody>
      </p:sp>
      <p:sp>
        <p:nvSpPr>
          <p:cNvPr id="27670" name="Text Box 22"/>
          <p:cNvSpPr txBox="1">
            <a:spLocks noChangeArrowheads="1"/>
          </p:cNvSpPr>
          <p:nvPr/>
        </p:nvSpPr>
        <p:spPr bwMode="auto">
          <a:xfrm>
            <a:off x="3779838" y="5492750"/>
            <a:ext cx="3108325" cy="457200"/>
          </a:xfrm>
          <a:prstGeom prst="rect">
            <a:avLst/>
          </a:prstGeom>
          <a:noFill/>
          <a:ln w="9525">
            <a:noFill/>
            <a:miter lim="800000"/>
          </a:ln>
        </p:spPr>
        <p:txBody>
          <a:bodyPr>
            <a:spAutoFit/>
          </a:bodyPr>
          <a:lstStyle/>
          <a:p>
            <a:pPr>
              <a:spcBef>
                <a:spcPct val="50000"/>
              </a:spcBef>
            </a:pPr>
            <a:r>
              <a:rPr lang="zh-CN" altLang="en-US" b="1">
                <a:latin typeface="宋体" panose="02010600030101010101" pitchFamily="2" charset="-122"/>
              </a:rPr>
              <a:t>；系统内能减小：</a:t>
            </a:r>
            <a:endParaRPr lang="zh-CN" altLang="en-US" b="1">
              <a:latin typeface="宋体" panose="02010600030101010101" pitchFamily="2" charset="-122"/>
            </a:endParaRPr>
          </a:p>
        </p:txBody>
      </p:sp>
      <p:sp>
        <p:nvSpPr>
          <p:cNvPr id="27671" name="Text Box 23"/>
          <p:cNvSpPr txBox="1">
            <a:spLocks noChangeArrowheads="1"/>
          </p:cNvSpPr>
          <p:nvPr/>
        </p:nvSpPr>
        <p:spPr bwMode="auto">
          <a:xfrm>
            <a:off x="4284663" y="2395538"/>
            <a:ext cx="647700" cy="457200"/>
          </a:xfrm>
          <a:prstGeom prst="rect">
            <a:avLst/>
          </a:prstGeom>
          <a:noFill/>
          <a:ln w="76200" cap="sq">
            <a:noFill/>
            <a:miter lim="800000"/>
          </a:ln>
        </p:spPr>
        <p:txBody>
          <a:bodyPr>
            <a:spAutoFit/>
          </a:bodyPr>
          <a:lstStyle/>
          <a:p>
            <a:pPr>
              <a:defRPr/>
            </a:pPr>
            <a:r>
              <a:rPr kumimoji="1" lang="zh-CN" altLang="en-US" b="1" dirty="0">
                <a:latin typeface="+mn-ea"/>
                <a:ea typeface="+mn-ea"/>
              </a:rPr>
              <a:t>或</a:t>
            </a:r>
            <a:endParaRPr kumimoji="1" lang="zh-CN" altLang="en-US" b="1" i="1" baseline="-25000" dirty="0">
              <a:latin typeface="+mn-ea"/>
              <a:ea typeface="+mn-ea"/>
            </a:endParaRPr>
          </a:p>
        </p:txBody>
      </p:sp>
      <p:sp>
        <p:nvSpPr>
          <p:cNvPr id="27672" name="Text Box 24"/>
          <p:cNvSpPr txBox="1">
            <a:spLocks noChangeArrowheads="1"/>
          </p:cNvSpPr>
          <p:nvPr/>
        </p:nvSpPr>
        <p:spPr bwMode="auto">
          <a:xfrm>
            <a:off x="611188" y="4005263"/>
            <a:ext cx="2447925" cy="457200"/>
          </a:xfrm>
          <a:prstGeom prst="rect">
            <a:avLst/>
          </a:prstGeom>
          <a:noFill/>
          <a:ln w="76200" cap="sq">
            <a:noFill/>
            <a:miter lim="800000"/>
          </a:ln>
        </p:spPr>
        <p:txBody>
          <a:bodyPr>
            <a:spAutoFit/>
          </a:bodyPr>
          <a:lstStyle/>
          <a:p>
            <a:pPr>
              <a:buClr>
                <a:srgbClr val="CC3300"/>
              </a:buClr>
              <a:buFont typeface="Wingdings" panose="05000000000000000000" pitchFamily="2" charset="2"/>
              <a:buChar char="Ø"/>
            </a:pPr>
            <a:r>
              <a:rPr lang="en-US" altLang="zh-CN" b="1">
                <a:solidFill>
                  <a:srgbClr val="0000FF"/>
                </a:solidFill>
                <a:latin typeface="Arial" panose="020B0604020202020204" pitchFamily="34" charset="0"/>
              </a:rPr>
              <a:t> </a:t>
            </a:r>
            <a:r>
              <a:rPr lang="zh-CN" altLang="en-US" b="1">
                <a:solidFill>
                  <a:srgbClr val="0000FF"/>
                </a:solidFill>
                <a:latin typeface="Arial" panose="020B0604020202020204" pitchFamily="34" charset="0"/>
                <a:ea typeface="楷体_GB2312" pitchFamily="49" charset="-122"/>
              </a:rPr>
              <a:t>符号规定</a:t>
            </a:r>
            <a:endParaRPr lang="zh-CN" altLang="en-US" b="1">
              <a:solidFill>
                <a:srgbClr val="0000FF"/>
              </a:solidFill>
              <a:latin typeface="Arial" panose="020B0604020202020204" pitchFamily="34" charset="0"/>
              <a:ea typeface="楷体_GB2312" pitchFamily="49" charset="-122"/>
            </a:endParaRPr>
          </a:p>
        </p:txBody>
      </p:sp>
      <p:sp>
        <p:nvSpPr>
          <p:cNvPr id="27673" name="Text Box 25"/>
          <p:cNvSpPr txBox="1">
            <a:spLocks noChangeArrowheads="1"/>
          </p:cNvSpPr>
          <p:nvPr/>
        </p:nvSpPr>
        <p:spPr bwMode="auto">
          <a:xfrm>
            <a:off x="611188" y="6021388"/>
            <a:ext cx="5832475" cy="457200"/>
          </a:xfrm>
          <a:prstGeom prst="rect">
            <a:avLst/>
          </a:prstGeom>
          <a:noFill/>
          <a:ln w="76200" cap="sq">
            <a:noFill/>
            <a:miter lim="800000"/>
          </a:ln>
        </p:spPr>
        <p:txBody>
          <a:bodyPr>
            <a:spAutoFit/>
          </a:bodyPr>
          <a:lstStyle/>
          <a:p>
            <a:pPr>
              <a:buClr>
                <a:srgbClr val="CC3300"/>
              </a:buClr>
              <a:buFont typeface="Wingdings" panose="05000000000000000000" pitchFamily="2" charset="2"/>
              <a:buChar char="Ø"/>
            </a:pPr>
            <a:r>
              <a:rPr lang="en-US" altLang="zh-CN" b="1">
                <a:solidFill>
                  <a:srgbClr val="0000FF"/>
                </a:solidFill>
                <a:latin typeface="Arial" panose="020B0604020202020204" pitchFamily="34" charset="0"/>
                <a:ea typeface="楷体_GB2312" pitchFamily="49" charset="-122"/>
              </a:rPr>
              <a:t>  </a:t>
            </a:r>
            <a:r>
              <a:rPr lang="zh-CN" altLang="en-US" b="1">
                <a:solidFill>
                  <a:srgbClr val="0000FF"/>
                </a:solidFill>
                <a:latin typeface="Arial" panose="020B0604020202020204" pitchFamily="34" charset="0"/>
                <a:ea typeface="楷体_GB2312" pitchFamily="49" charset="-122"/>
              </a:rPr>
              <a:t>各物理量的单位统一用国际单位制。</a:t>
            </a:r>
            <a:endParaRPr lang="zh-CN" altLang="en-US" b="1">
              <a:solidFill>
                <a:srgbClr val="0000FF"/>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left)">
                                      <p:cBhvr>
                                        <p:cTn id="7" dur="500"/>
                                        <p:tgtEl>
                                          <p:spTgt spid="276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4"/>
                                        </p:tgtEl>
                                        <p:attrNameLst>
                                          <p:attrName>style.visibility</p:attrName>
                                        </p:attrNameLst>
                                      </p:cBhvr>
                                      <p:to>
                                        <p:strVal val="visible"/>
                                      </p:to>
                                    </p:set>
                                    <p:animEffect transition="in" filter="wipe(left)">
                                      <p:cBhvr>
                                        <p:cTn id="12" dur="500"/>
                                        <p:tgtEl>
                                          <p:spTgt spid="276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656"/>
                                        </p:tgtEl>
                                        <p:attrNameLst>
                                          <p:attrName>style.visibility</p:attrName>
                                        </p:attrNameLst>
                                      </p:cBhvr>
                                      <p:to>
                                        <p:strVal val="visible"/>
                                      </p:to>
                                    </p:set>
                                    <p:animEffect transition="in" filter="wipe(left)">
                                      <p:cBhvr>
                                        <p:cTn id="17" dur="500"/>
                                        <p:tgtEl>
                                          <p:spTgt spid="276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671"/>
                                        </p:tgtEl>
                                        <p:attrNameLst>
                                          <p:attrName>style.visibility</p:attrName>
                                        </p:attrNameLst>
                                      </p:cBhvr>
                                      <p:to>
                                        <p:strVal val="visible"/>
                                      </p:to>
                                    </p:set>
                                    <p:animEffect transition="in" filter="wipe(left)">
                                      <p:cBhvr>
                                        <p:cTn id="22" dur="500"/>
                                        <p:tgtEl>
                                          <p:spTgt spid="27671"/>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27666"/>
                                        </p:tgtEl>
                                        <p:attrNameLst>
                                          <p:attrName>style.visibility</p:attrName>
                                        </p:attrNameLst>
                                      </p:cBhvr>
                                      <p:to>
                                        <p:strVal val="visible"/>
                                      </p:to>
                                    </p:set>
                                    <p:animEffect transition="in" filter="wipe(left)">
                                      <p:cBhvr>
                                        <p:cTn id="26" dur="500"/>
                                        <p:tgtEl>
                                          <p:spTgt spid="2766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7655"/>
                                        </p:tgtEl>
                                        <p:attrNameLst>
                                          <p:attrName>style.visibility</p:attrName>
                                        </p:attrNameLst>
                                      </p:cBhvr>
                                      <p:to>
                                        <p:strVal val="visible"/>
                                      </p:to>
                                    </p:set>
                                    <p:animEffect transition="in" filter="wipe(left)">
                                      <p:cBhvr>
                                        <p:cTn id="31" dur="500"/>
                                        <p:tgtEl>
                                          <p:spTgt spid="2765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7672"/>
                                        </p:tgtEl>
                                        <p:attrNameLst>
                                          <p:attrName>style.visibility</p:attrName>
                                        </p:attrNameLst>
                                      </p:cBhvr>
                                      <p:to>
                                        <p:strVal val="visible"/>
                                      </p:to>
                                    </p:set>
                                    <p:animEffect transition="in" filter="wipe(left)">
                                      <p:cBhvr>
                                        <p:cTn id="36" dur="500"/>
                                        <p:tgtEl>
                                          <p:spTgt spid="2767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7659"/>
                                        </p:tgtEl>
                                        <p:attrNameLst>
                                          <p:attrName>style.visibility</p:attrName>
                                        </p:attrNameLst>
                                      </p:cBhvr>
                                      <p:to>
                                        <p:strVal val="visible"/>
                                      </p:to>
                                    </p:set>
                                    <p:animEffect transition="in" filter="wipe(left)">
                                      <p:cBhvr>
                                        <p:cTn id="41" dur="500"/>
                                        <p:tgtEl>
                                          <p:spTgt spid="27659"/>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7658"/>
                                        </p:tgtEl>
                                        <p:attrNameLst>
                                          <p:attrName>style.visibility</p:attrName>
                                        </p:attrNameLst>
                                      </p:cBhvr>
                                      <p:to>
                                        <p:strVal val="visible"/>
                                      </p:to>
                                    </p:set>
                                    <p:animEffect transition="in" filter="wipe(left)">
                                      <p:cBhvr>
                                        <p:cTn id="45" dur="500"/>
                                        <p:tgtEl>
                                          <p:spTgt spid="2765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7660"/>
                                        </p:tgtEl>
                                        <p:attrNameLst>
                                          <p:attrName>style.visibility</p:attrName>
                                        </p:attrNameLst>
                                      </p:cBhvr>
                                      <p:to>
                                        <p:strVal val="visible"/>
                                      </p:to>
                                    </p:set>
                                    <p:animEffect transition="in" filter="wipe(left)">
                                      <p:cBhvr>
                                        <p:cTn id="50" dur="500"/>
                                        <p:tgtEl>
                                          <p:spTgt spid="27660"/>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27661"/>
                                        </p:tgtEl>
                                        <p:attrNameLst>
                                          <p:attrName>style.visibility</p:attrName>
                                        </p:attrNameLst>
                                      </p:cBhvr>
                                      <p:to>
                                        <p:strVal val="visible"/>
                                      </p:to>
                                    </p:set>
                                    <p:animEffect transition="in" filter="wipe(left)">
                                      <p:cBhvr>
                                        <p:cTn id="54" dur="500"/>
                                        <p:tgtEl>
                                          <p:spTgt spid="2766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7657"/>
                                        </p:tgtEl>
                                        <p:attrNameLst>
                                          <p:attrName>style.visibility</p:attrName>
                                        </p:attrNameLst>
                                      </p:cBhvr>
                                      <p:to>
                                        <p:strVal val="visible"/>
                                      </p:to>
                                    </p:set>
                                    <p:animEffect transition="in" filter="wipe(left)">
                                      <p:cBhvr>
                                        <p:cTn id="59" dur="500"/>
                                        <p:tgtEl>
                                          <p:spTgt spid="27657"/>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27662"/>
                                        </p:tgtEl>
                                        <p:attrNameLst>
                                          <p:attrName>style.visibility</p:attrName>
                                        </p:attrNameLst>
                                      </p:cBhvr>
                                      <p:to>
                                        <p:strVal val="visible"/>
                                      </p:to>
                                    </p:set>
                                    <p:animEffect transition="in" filter="wipe(left)">
                                      <p:cBhvr>
                                        <p:cTn id="63" dur="500"/>
                                        <p:tgtEl>
                                          <p:spTgt spid="2766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7663"/>
                                        </p:tgtEl>
                                        <p:attrNameLst>
                                          <p:attrName>style.visibility</p:attrName>
                                        </p:attrNameLst>
                                      </p:cBhvr>
                                      <p:to>
                                        <p:strVal val="visible"/>
                                      </p:to>
                                    </p:set>
                                    <p:animEffect transition="in" filter="wipe(left)">
                                      <p:cBhvr>
                                        <p:cTn id="68" dur="500"/>
                                        <p:tgtEl>
                                          <p:spTgt spid="27663"/>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27664"/>
                                        </p:tgtEl>
                                        <p:attrNameLst>
                                          <p:attrName>style.visibility</p:attrName>
                                        </p:attrNameLst>
                                      </p:cBhvr>
                                      <p:to>
                                        <p:strVal val="visible"/>
                                      </p:to>
                                    </p:set>
                                    <p:animEffect transition="in" filter="wipe(left)">
                                      <p:cBhvr>
                                        <p:cTn id="72" dur="500"/>
                                        <p:tgtEl>
                                          <p:spTgt spid="2766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7669"/>
                                        </p:tgtEl>
                                        <p:attrNameLst>
                                          <p:attrName>style.visibility</p:attrName>
                                        </p:attrNameLst>
                                      </p:cBhvr>
                                      <p:to>
                                        <p:strVal val="visible"/>
                                      </p:to>
                                    </p:set>
                                    <p:animEffect transition="in" filter="wipe(left)">
                                      <p:cBhvr>
                                        <p:cTn id="77" dur="1000"/>
                                        <p:tgtEl>
                                          <p:spTgt spid="27669"/>
                                        </p:tgtEl>
                                      </p:cBhvr>
                                    </p:animEffect>
                                  </p:childTnLst>
                                </p:cTn>
                              </p:par>
                            </p:childTnLst>
                          </p:cTn>
                        </p:par>
                        <p:par>
                          <p:cTn id="78" fill="hold">
                            <p:stCondLst>
                              <p:cond delay="1000"/>
                            </p:stCondLst>
                            <p:childTnLst>
                              <p:par>
                                <p:cTn id="79" presetID="22" presetClass="entr" presetSubtype="8" fill="hold" nodeType="afterEffect">
                                  <p:stCondLst>
                                    <p:cond delay="0"/>
                                  </p:stCondLst>
                                  <p:childTnLst>
                                    <p:set>
                                      <p:cBhvr>
                                        <p:cTn id="80" dur="1" fill="hold">
                                          <p:stCondLst>
                                            <p:cond delay="0"/>
                                          </p:stCondLst>
                                        </p:cTn>
                                        <p:tgtEl>
                                          <p:spTgt spid="27667"/>
                                        </p:tgtEl>
                                        <p:attrNameLst>
                                          <p:attrName>style.visibility</p:attrName>
                                        </p:attrNameLst>
                                      </p:cBhvr>
                                      <p:to>
                                        <p:strVal val="visible"/>
                                      </p:to>
                                    </p:set>
                                    <p:animEffect transition="in" filter="wipe(left)">
                                      <p:cBhvr>
                                        <p:cTn id="81" dur="1000"/>
                                        <p:tgtEl>
                                          <p:spTgt spid="2766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7670"/>
                                        </p:tgtEl>
                                        <p:attrNameLst>
                                          <p:attrName>style.visibility</p:attrName>
                                        </p:attrNameLst>
                                      </p:cBhvr>
                                      <p:to>
                                        <p:strVal val="visible"/>
                                      </p:to>
                                    </p:set>
                                    <p:animEffect transition="in" filter="wipe(left)">
                                      <p:cBhvr>
                                        <p:cTn id="86" dur="1000"/>
                                        <p:tgtEl>
                                          <p:spTgt spid="27670"/>
                                        </p:tgtEl>
                                      </p:cBhvr>
                                    </p:animEffect>
                                  </p:childTnLst>
                                </p:cTn>
                              </p:par>
                            </p:childTnLst>
                          </p:cTn>
                        </p:par>
                        <p:par>
                          <p:cTn id="87" fill="hold">
                            <p:stCondLst>
                              <p:cond delay="1000"/>
                            </p:stCondLst>
                            <p:childTnLst>
                              <p:par>
                                <p:cTn id="88" presetID="22" presetClass="entr" presetSubtype="8" fill="hold" nodeType="afterEffect">
                                  <p:stCondLst>
                                    <p:cond delay="0"/>
                                  </p:stCondLst>
                                  <p:childTnLst>
                                    <p:set>
                                      <p:cBhvr>
                                        <p:cTn id="89" dur="1" fill="hold">
                                          <p:stCondLst>
                                            <p:cond delay="0"/>
                                          </p:stCondLst>
                                        </p:cTn>
                                        <p:tgtEl>
                                          <p:spTgt spid="27668"/>
                                        </p:tgtEl>
                                        <p:attrNameLst>
                                          <p:attrName>style.visibility</p:attrName>
                                        </p:attrNameLst>
                                      </p:cBhvr>
                                      <p:to>
                                        <p:strVal val="visible"/>
                                      </p:to>
                                    </p:set>
                                    <p:animEffect transition="in" filter="wipe(left)">
                                      <p:cBhvr>
                                        <p:cTn id="90" dur="1000"/>
                                        <p:tgtEl>
                                          <p:spTgt spid="27668"/>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7673"/>
                                        </p:tgtEl>
                                        <p:attrNameLst>
                                          <p:attrName>style.visibility</p:attrName>
                                        </p:attrNameLst>
                                      </p:cBhvr>
                                      <p:to>
                                        <p:strVal val="visible"/>
                                      </p:to>
                                    </p:set>
                                    <p:animEffect transition="in" filter="wipe(left)">
                                      <p:cBhvr>
                                        <p:cTn id="95" dur="500"/>
                                        <p:tgtEl>
                                          <p:spTgt spid="27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p:bldP spid="27654" grpId="0" autoUpdateAnimBg="0"/>
      <p:bldP spid="27655" grpId="0"/>
      <p:bldP spid="27657" grpId="0" autoUpdateAnimBg="0"/>
      <p:bldP spid="27659" grpId="0" autoUpdateAnimBg="0"/>
      <p:bldP spid="27660" grpId="0" autoUpdateAnimBg="0"/>
      <p:bldP spid="27663" grpId="0" autoUpdateAnimBg="0"/>
      <p:bldP spid="27669" grpId="0"/>
      <p:bldP spid="27670" grpId="0"/>
      <p:bldP spid="27671" grpId="0" autoUpdateAnimBg="0"/>
      <p:bldP spid="27672" grpId="0" autoUpdateAnimBg="0"/>
      <p:bldP spid="2767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2"/>
          <p:cNvGrpSpPr/>
          <p:nvPr/>
        </p:nvGrpSpPr>
        <p:grpSpPr bwMode="auto">
          <a:xfrm>
            <a:off x="250825" y="971550"/>
            <a:ext cx="1511300" cy="576263"/>
            <a:chOff x="250825" y="971550"/>
            <a:chExt cx="1511300" cy="576263"/>
          </a:xfrm>
        </p:grpSpPr>
        <p:sp>
          <p:nvSpPr>
            <p:cNvPr id="161796" name="Text Box 4"/>
            <p:cNvSpPr txBox="1">
              <a:spLocks noChangeArrowheads="1"/>
            </p:cNvSpPr>
            <p:nvPr/>
          </p:nvSpPr>
          <p:spPr bwMode="auto">
            <a:xfrm>
              <a:off x="611188" y="1017588"/>
              <a:ext cx="1150937" cy="512762"/>
            </a:xfrm>
            <a:prstGeom prst="rect">
              <a:avLst/>
            </a:prstGeom>
            <a:noFill/>
            <a:ln w="9525">
              <a:noFill/>
              <a:miter lim="800000"/>
            </a:ln>
          </p:spPr>
          <p:txBody>
            <a:bodyPr>
              <a:spAutoFit/>
            </a:bodyPr>
            <a:lstStyle/>
            <a:p>
              <a:pPr>
                <a:lnSpc>
                  <a:spcPct val="115000"/>
                </a:lnSpc>
                <a:defRPr/>
              </a:pPr>
              <a:r>
                <a:rPr lang="zh-CN" altLang="en-US" b="1" dirty="0">
                  <a:solidFill>
                    <a:srgbClr val="FF0000"/>
                  </a:solidFill>
                  <a:latin typeface="+mn-ea"/>
                  <a:ea typeface="+mn-ea"/>
                </a:rPr>
                <a:t>说明</a:t>
              </a:r>
              <a:endParaRPr lang="zh-CN" altLang="en-US" b="1" dirty="0">
                <a:solidFill>
                  <a:srgbClr val="FF0000"/>
                </a:solidFill>
                <a:latin typeface="+mn-ea"/>
                <a:ea typeface="+mn-ea"/>
              </a:endParaRPr>
            </a:p>
          </p:txBody>
        </p:sp>
        <p:sp>
          <p:nvSpPr>
            <p:cNvPr id="161797" name="AutoShape 5"/>
            <p:cNvSpPr>
              <a:spLocks noChangeArrowheads="1"/>
            </p:cNvSpPr>
            <p:nvPr/>
          </p:nvSpPr>
          <p:spPr bwMode="auto">
            <a:xfrm>
              <a:off x="250825" y="971550"/>
              <a:ext cx="360363"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ln>
          </p:spPr>
          <p:txBody>
            <a:bodyPr wrap="none" anchor="ctr"/>
            <a:lstStyle/>
            <a:p>
              <a:pPr algn="ctr">
                <a:defRPr/>
              </a:pPr>
              <a:endParaRPr lang="zh-CN" altLang="en-US">
                <a:latin typeface="+mn-ea"/>
                <a:ea typeface="+mn-ea"/>
              </a:endParaRPr>
            </a:p>
          </p:txBody>
        </p:sp>
      </p:grpSp>
      <p:sp>
        <p:nvSpPr>
          <p:cNvPr id="161798" name="Text Box 6"/>
          <p:cNvSpPr txBox="1">
            <a:spLocks noChangeArrowheads="1"/>
          </p:cNvSpPr>
          <p:nvPr/>
        </p:nvSpPr>
        <p:spPr bwMode="auto">
          <a:xfrm>
            <a:off x="323850" y="1547813"/>
            <a:ext cx="8248650" cy="1920875"/>
          </a:xfrm>
          <a:prstGeom prst="rect">
            <a:avLst/>
          </a:prstGeom>
          <a:noFill/>
          <a:ln w="12700" cap="sq">
            <a:noFill/>
            <a:miter lim="800000"/>
            <a:headEnd type="none" w="sm" len="sm"/>
            <a:tailEnd type="none" w="sm" len="sm"/>
          </a:ln>
        </p:spPr>
        <p:txBody>
          <a:bodyPr>
            <a:spAutoFit/>
          </a:bodyPr>
          <a:lstStyle/>
          <a:p>
            <a:pPr marL="342900" indent="-342900">
              <a:lnSpc>
                <a:spcPct val="125000"/>
              </a:lnSpc>
              <a:defRPr/>
            </a:pPr>
            <a:r>
              <a:rPr kumimoji="1" lang="en-US" altLang="zh-CN" b="1" dirty="0">
                <a:ea typeface="+mn-ea"/>
                <a:cs typeface="Times New Roman" panose="02020603050405020304" pitchFamily="18" charset="0"/>
              </a:rPr>
              <a:t>(1)</a:t>
            </a:r>
            <a:r>
              <a:rPr kumimoji="1" lang="zh-CN" altLang="en-US" b="1" dirty="0">
                <a:latin typeface="+mn-ea"/>
                <a:ea typeface="+mn-ea"/>
              </a:rPr>
              <a:t>上述热</a:t>
            </a:r>
            <a:r>
              <a:rPr kumimoji="1" lang="en-US" altLang="zh-CN" b="1" dirty="0">
                <a:latin typeface="+mn-ea"/>
                <a:ea typeface="宋体" panose="02010600030101010101" pitchFamily="2" charset="-122"/>
              </a:rPr>
              <a:t>Ⅰ</a:t>
            </a:r>
            <a:r>
              <a:rPr kumimoji="1" lang="zh-CN" altLang="en-US" b="1" dirty="0">
                <a:latin typeface="+mn-ea"/>
                <a:ea typeface="+mn-ea"/>
              </a:rPr>
              <a:t>定律的表达式</a:t>
            </a:r>
            <a:r>
              <a:rPr kumimoji="1" lang="zh-CN" altLang="en-US" b="1" dirty="0">
                <a:solidFill>
                  <a:srgbClr val="FF6600"/>
                </a:solidFill>
                <a:latin typeface="+mn-ea"/>
                <a:ea typeface="+mn-ea"/>
              </a:rPr>
              <a:t>对准静态过程普遍适用</a:t>
            </a:r>
            <a:r>
              <a:rPr kumimoji="1" lang="zh-CN" altLang="en-US" b="1" dirty="0">
                <a:latin typeface="+mn-ea"/>
                <a:ea typeface="+mn-ea"/>
              </a:rPr>
              <a:t>，而 对非静态过程，则要求系统的初、末状态是</a:t>
            </a:r>
            <a:r>
              <a:rPr kumimoji="1" lang="zh-CN" altLang="en-US" b="1" dirty="0">
                <a:solidFill>
                  <a:srgbClr val="FF6600"/>
                </a:solidFill>
                <a:latin typeface="+mn-ea"/>
                <a:ea typeface="+mn-ea"/>
              </a:rPr>
              <a:t>平衡态</a:t>
            </a:r>
            <a:r>
              <a:rPr kumimoji="1" lang="zh-CN" altLang="en-US" b="1" dirty="0">
                <a:latin typeface="+mn-ea"/>
                <a:ea typeface="+mn-ea"/>
              </a:rPr>
              <a:t>时才成立。若热力学状态变化过程是准静态过程，且系统对外界做功为体积功时，还可表示为</a:t>
            </a:r>
            <a:r>
              <a:rPr kumimoji="1" lang="zh-CN" altLang="en-US" dirty="0">
                <a:latin typeface="+mn-ea"/>
                <a:ea typeface="+mn-ea"/>
              </a:rPr>
              <a:t> </a:t>
            </a:r>
            <a:endParaRPr kumimoji="1" lang="zh-CN" altLang="en-US" dirty="0">
              <a:latin typeface="+mn-ea"/>
              <a:ea typeface="+mn-ea"/>
            </a:endParaRPr>
          </a:p>
        </p:txBody>
      </p:sp>
      <p:graphicFrame>
        <p:nvGraphicFramePr>
          <p:cNvPr id="161799" name="Object 7"/>
          <p:cNvGraphicFramePr/>
          <p:nvPr/>
        </p:nvGraphicFramePr>
        <p:xfrm>
          <a:off x="1636713" y="3529013"/>
          <a:ext cx="2079625" cy="406400"/>
        </p:xfrm>
        <a:graphic>
          <a:graphicData uri="http://schemas.openxmlformats.org/presentationml/2006/ole">
            <mc:AlternateContent xmlns:mc="http://schemas.openxmlformats.org/markup-compatibility/2006">
              <mc:Choice xmlns:v="urn:schemas-microsoft-com:vml" Requires="v">
                <p:oleObj spid="_x0000_s10241" name="公式" r:id="rId1" imgW="24993600" imgH="4876800" progId="Equation.3">
                  <p:embed/>
                </p:oleObj>
              </mc:Choice>
              <mc:Fallback>
                <p:oleObj name="公式" r:id="rId1" imgW="24993600" imgH="4876800" progId="Equation.3">
                  <p:embed/>
                  <p:pic>
                    <p:nvPicPr>
                      <p:cNvPr id="0" name="Object 7"/>
                      <p:cNvPicPr/>
                      <p:nvPr/>
                    </p:nvPicPr>
                    <p:blipFill>
                      <a:blip r:embed="rId2"/>
                      <a:stretch>
                        <a:fillRect/>
                      </a:stretch>
                    </p:blipFill>
                    <p:spPr>
                      <a:xfrm>
                        <a:off x="1636713" y="3529013"/>
                        <a:ext cx="2079625" cy="406400"/>
                      </a:xfrm>
                      <a:prstGeom prst="rect">
                        <a:avLst/>
                      </a:prstGeom>
                      <a:solidFill>
                        <a:srgbClr val="66FFFF">
                          <a:alpha val="50000"/>
                        </a:srgbClr>
                      </a:solidFill>
                      <a:ln w="9525">
                        <a:noFill/>
                      </a:ln>
                    </p:spPr>
                  </p:pic>
                </p:oleObj>
              </mc:Fallback>
            </mc:AlternateContent>
          </a:graphicData>
        </a:graphic>
      </p:graphicFrame>
      <p:sp>
        <p:nvSpPr>
          <p:cNvPr id="161800" name="Text Box 8"/>
          <p:cNvSpPr txBox="1">
            <a:spLocks noChangeArrowheads="1"/>
          </p:cNvSpPr>
          <p:nvPr/>
        </p:nvSpPr>
        <p:spPr bwMode="auto">
          <a:xfrm>
            <a:off x="3924300" y="3502025"/>
            <a:ext cx="647700" cy="457200"/>
          </a:xfrm>
          <a:prstGeom prst="rect">
            <a:avLst/>
          </a:prstGeom>
          <a:noFill/>
          <a:ln w="76200" cap="sq">
            <a:noFill/>
            <a:miter lim="800000"/>
          </a:ln>
        </p:spPr>
        <p:txBody>
          <a:bodyPr>
            <a:spAutoFit/>
          </a:bodyPr>
          <a:lstStyle/>
          <a:p>
            <a:pPr>
              <a:defRPr/>
            </a:pPr>
            <a:r>
              <a:rPr kumimoji="1" lang="zh-CN" altLang="en-US" b="1" dirty="0">
                <a:latin typeface="+mn-ea"/>
                <a:ea typeface="+mn-ea"/>
              </a:rPr>
              <a:t>或</a:t>
            </a:r>
            <a:endParaRPr kumimoji="1" lang="zh-CN" altLang="en-US" b="1" i="1" baseline="-25000" dirty="0">
              <a:latin typeface="+mn-ea"/>
              <a:ea typeface="+mn-ea"/>
            </a:endParaRPr>
          </a:p>
        </p:txBody>
      </p:sp>
      <p:graphicFrame>
        <p:nvGraphicFramePr>
          <p:cNvPr id="161801" name="Object 9"/>
          <p:cNvGraphicFramePr/>
          <p:nvPr/>
        </p:nvGraphicFramePr>
        <p:xfrm>
          <a:off x="4814888" y="3419475"/>
          <a:ext cx="2133600" cy="587375"/>
        </p:xfrm>
        <a:graphic>
          <a:graphicData uri="http://schemas.openxmlformats.org/presentationml/2006/ole">
            <mc:AlternateContent xmlns:mc="http://schemas.openxmlformats.org/markup-compatibility/2006">
              <mc:Choice xmlns:v="urn:schemas-microsoft-com:vml" Requires="v">
                <p:oleObj spid="_x0000_s10243" name="公式" r:id="rId3" imgW="25603200" imgH="7010400" progId="Equation.3">
                  <p:embed/>
                </p:oleObj>
              </mc:Choice>
              <mc:Fallback>
                <p:oleObj name="公式" r:id="rId3" imgW="25603200" imgH="7010400" progId="Equation.3">
                  <p:embed/>
                  <p:pic>
                    <p:nvPicPr>
                      <p:cNvPr id="0" name="Object 9"/>
                      <p:cNvPicPr/>
                      <p:nvPr/>
                    </p:nvPicPr>
                    <p:blipFill>
                      <a:blip r:embed="rId4"/>
                      <a:stretch>
                        <a:fillRect/>
                      </a:stretch>
                    </p:blipFill>
                    <p:spPr>
                      <a:xfrm>
                        <a:off x="4814888" y="3419475"/>
                        <a:ext cx="2133600" cy="587375"/>
                      </a:xfrm>
                      <a:prstGeom prst="rect">
                        <a:avLst/>
                      </a:prstGeom>
                      <a:solidFill>
                        <a:srgbClr val="66FFFF">
                          <a:alpha val="50000"/>
                        </a:srgbClr>
                      </a:solidFill>
                      <a:ln w="9525">
                        <a:noFill/>
                      </a:ln>
                    </p:spPr>
                  </p:pic>
                </p:oleObj>
              </mc:Fallback>
            </mc:AlternateContent>
          </a:graphicData>
        </a:graphic>
      </p:graphicFrame>
      <p:sp>
        <p:nvSpPr>
          <p:cNvPr id="161802" name="Text Box 10"/>
          <p:cNvSpPr txBox="1">
            <a:spLocks noChangeArrowheads="1"/>
          </p:cNvSpPr>
          <p:nvPr/>
        </p:nvSpPr>
        <p:spPr bwMode="auto">
          <a:xfrm>
            <a:off x="285750" y="4786313"/>
            <a:ext cx="8547100" cy="952500"/>
          </a:xfrm>
          <a:prstGeom prst="rect">
            <a:avLst/>
          </a:prstGeom>
          <a:noFill/>
          <a:ln w="12700" cap="sq">
            <a:noFill/>
            <a:miter lim="800000"/>
            <a:headEnd type="none" w="sm" len="sm"/>
            <a:tailEnd type="none" w="sm" len="sm"/>
          </a:ln>
        </p:spPr>
        <p:txBody>
          <a:bodyPr>
            <a:spAutoFit/>
          </a:bodyPr>
          <a:lstStyle/>
          <a:p>
            <a:pPr>
              <a:lnSpc>
                <a:spcPct val="125000"/>
              </a:lnSpc>
              <a:defRPr/>
            </a:pPr>
            <a:r>
              <a:rPr kumimoji="1" lang="en-US" altLang="zh-CN" b="1" dirty="0">
                <a:ea typeface="+mn-ea"/>
                <a:cs typeface="Times New Roman" panose="02020603050405020304" pitchFamily="18" charset="0"/>
              </a:rPr>
              <a:t>(3) </a:t>
            </a:r>
            <a:r>
              <a:rPr kumimoji="1" lang="zh-CN" altLang="en-US" b="1" dirty="0">
                <a:solidFill>
                  <a:srgbClr val="FF6600"/>
                </a:solidFill>
                <a:latin typeface="+mn-ea"/>
                <a:ea typeface="+mn-ea"/>
              </a:rPr>
              <a:t>第一类永动机是不可能实现的</a:t>
            </a:r>
            <a:r>
              <a:rPr kumimoji="1" lang="zh-CN" altLang="en-US" b="1" dirty="0">
                <a:latin typeface="+mn-ea"/>
                <a:ea typeface="+mn-ea"/>
              </a:rPr>
              <a:t>，这是热</a:t>
            </a:r>
            <a:r>
              <a:rPr kumimoji="1" lang="en-US" altLang="zh-CN" b="1" dirty="0">
                <a:latin typeface="+mn-ea"/>
                <a:ea typeface="宋体" panose="02010600030101010101" pitchFamily="2" charset="-122"/>
              </a:rPr>
              <a:t>Ⅰ</a:t>
            </a:r>
            <a:r>
              <a:rPr kumimoji="1" lang="zh-CN" altLang="en-US" b="1" dirty="0">
                <a:latin typeface="+mn-ea"/>
                <a:ea typeface="+mn-ea"/>
              </a:rPr>
              <a:t>定律的另一种表</a:t>
            </a:r>
            <a:endParaRPr kumimoji="1" lang="en-US" altLang="zh-CN" b="1" dirty="0">
              <a:latin typeface="+mn-ea"/>
              <a:ea typeface="+mn-ea"/>
            </a:endParaRPr>
          </a:p>
          <a:p>
            <a:pPr>
              <a:lnSpc>
                <a:spcPct val="125000"/>
              </a:lnSpc>
              <a:defRPr/>
            </a:pPr>
            <a:r>
              <a:rPr kumimoji="1" lang="en-US" altLang="zh-CN" b="1" dirty="0">
                <a:latin typeface="+mn-ea"/>
                <a:ea typeface="+mn-ea"/>
              </a:rPr>
              <a:t>    </a:t>
            </a:r>
            <a:r>
              <a:rPr kumimoji="1" lang="zh-CN" altLang="en-US" b="1" dirty="0">
                <a:latin typeface="+mn-ea"/>
                <a:ea typeface="+mn-ea"/>
              </a:rPr>
              <a:t>述形式。</a:t>
            </a:r>
            <a:endParaRPr kumimoji="1" lang="zh-CN" altLang="en-US" b="1" dirty="0">
              <a:latin typeface="+mn-ea"/>
              <a:ea typeface="+mn-ea"/>
            </a:endParaRPr>
          </a:p>
        </p:txBody>
      </p:sp>
      <p:sp>
        <p:nvSpPr>
          <p:cNvPr id="161803" name="Text Box 11"/>
          <p:cNvSpPr txBox="1">
            <a:spLocks noChangeArrowheads="1"/>
          </p:cNvSpPr>
          <p:nvPr/>
        </p:nvSpPr>
        <p:spPr bwMode="auto">
          <a:xfrm>
            <a:off x="274638" y="4160838"/>
            <a:ext cx="8532812" cy="554037"/>
          </a:xfrm>
          <a:prstGeom prst="rect">
            <a:avLst/>
          </a:prstGeom>
          <a:noFill/>
          <a:ln w="12700" cap="sq">
            <a:noFill/>
            <a:miter lim="800000"/>
            <a:headEnd type="none" w="sm" len="sm"/>
            <a:tailEnd type="none" w="sm" len="sm"/>
          </a:ln>
        </p:spPr>
        <p:txBody>
          <a:bodyPr>
            <a:spAutoFit/>
          </a:bodyPr>
          <a:lstStyle/>
          <a:p>
            <a:pPr marL="342900" indent="-342900">
              <a:lnSpc>
                <a:spcPct val="125000"/>
              </a:lnSpc>
              <a:defRPr/>
            </a:pPr>
            <a:r>
              <a:rPr kumimoji="1" lang="en-US" altLang="zh-CN" b="1" dirty="0">
                <a:ea typeface="+mn-ea"/>
                <a:cs typeface="Times New Roman" panose="02020603050405020304" pitchFamily="18" charset="0"/>
              </a:rPr>
              <a:t>(2) </a:t>
            </a:r>
            <a:r>
              <a:rPr kumimoji="1" lang="zh-CN" altLang="en-US" b="1" dirty="0">
                <a:latin typeface="+mn-ea"/>
                <a:ea typeface="+mn-ea"/>
              </a:rPr>
              <a:t>热</a:t>
            </a:r>
            <a:r>
              <a:rPr kumimoji="1" lang="en-US" altLang="zh-CN" b="1" dirty="0">
                <a:latin typeface="+mn-ea"/>
                <a:ea typeface="+mn-ea"/>
              </a:rPr>
              <a:t>Ⅰ</a:t>
            </a:r>
            <a:r>
              <a:rPr kumimoji="1" lang="zh-CN" altLang="en-US" b="1" dirty="0">
                <a:latin typeface="+mn-ea"/>
                <a:ea typeface="+mn-ea"/>
              </a:rPr>
              <a:t>定律是</a:t>
            </a:r>
            <a:r>
              <a:rPr kumimoji="1" lang="zh-CN" altLang="en-US" b="1" dirty="0">
                <a:solidFill>
                  <a:srgbClr val="FF6600"/>
                </a:solidFill>
                <a:latin typeface="+mn-ea"/>
                <a:ea typeface="+mn-ea"/>
              </a:rPr>
              <a:t>能量转化和守恒定律</a:t>
            </a:r>
            <a:r>
              <a:rPr kumimoji="1" lang="zh-CN" altLang="en-US" b="1" dirty="0">
                <a:latin typeface="+mn-ea"/>
                <a:ea typeface="+mn-ea"/>
              </a:rPr>
              <a:t>在热力学中的表达形式。</a:t>
            </a:r>
            <a:endParaRPr kumimoji="1" lang="zh-CN" altLang="en-US" b="1" dirty="0">
              <a:latin typeface="+mn-ea"/>
              <a:ea typeface="+mn-ea"/>
            </a:endParaRPr>
          </a:p>
        </p:txBody>
      </p:sp>
      <p:graphicFrame>
        <p:nvGraphicFramePr>
          <p:cNvPr id="27656" name="Object 8"/>
          <p:cNvGraphicFramePr>
            <a:graphicFrameLocks noChangeAspect="1"/>
          </p:cNvGraphicFramePr>
          <p:nvPr/>
        </p:nvGraphicFramePr>
        <p:xfrm>
          <a:off x="1857375" y="571500"/>
          <a:ext cx="2397125" cy="431800"/>
        </p:xfrm>
        <a:graphic>
          <a:graphicData uri="http://schemas.openxmlformats.org/presentationml/2006/ole">
            <mc:AlternateContent xmlns:mc="http://schemas.openxmlformats.org/markup-compatibility/2006">
              <mc:Choice xmlns:v="urn:schemas-microsoft-com:vml" Requires="v">
                <p:oleObj spid="_x0000_s10244" name="公式" r:id="rId5" imgW="28956000" imgH="5181600" progId="Equation.3">
                  <p:embed/>
                </p:oleObj>
              </mc:Choice>
              <mc:Fallback>
                <p:oleObj name="公式" r:id="rId5" imgW="28956000" imgH="5181600" progId="Equation.3">
                  <p:embed/>
                  <p:pic>
                    <p:nvPicPr>
                      <p:cNvPr id="0" name="Object 8"/>
                      <p:cNvPicPr>
                        <a:picLocks noChangeAspect="1"/>
                      </p:cNvPicPr>
                      <p:nvPr/>
                    </p:nvPicPr>
                    <p:blipFill>
                      <a:blip r:embed="rId6"/>
                      <a:stretch>
                        <a:fillRect/>
                      </a:stretch>
                    </p:blipFill>
                    <p:spPr>
                      <a:xfrm>
                        <a:off x="1857375" y="571500"/>
                        <a:ext cx="2397125" cy="431800"/>
                      </a:xfrm>
                      <a:prstGeom prst="rect">
                        <a:avLst/>
                      </a:prstGeom>
                      <a:solidFill>
                        <a:srgbClr val="66FFFF">
                          <a:alpha val="50000"/>
                        </a:srgbClr>
                      </a:solidFill>
                      <a:ln w="9525">
                        <a:noFill/>
                      </a:ln>
                    </p:spPr>
                  </p:pic>
                </p:oleObj>
              </mc:Fallback>
            </mc:AlternateContent>
          </a:graphicData>
        </a:graphic>
      </p:graphicFrame>
      <p:graphicFrame>
        <p:nvGraphicFramePr>
          <p:cNvPr id="27666" name="Object 18"/>
          <p:cNvGraphicFramePr>
            <a:graphicFrameLocks noChangeAspect="1"/>
          </p:cNvGraphicFramePr>
          <p:nvPr/>
        </p:nvGraphicFramePr>
        <p:xfrm>
          <a:off x="5072063" y="571500"/>
          <a:ext cx="1971675" cy="406400"/>
        </p:xfrm>
        <a:graphic>
          <a:graphicData uri="http://schemas.openxmlformats.org/presentationml/2006/ole">
            <mc:AlternateContent xmlns:mc="http://schemas.openxmlformats.org/markup-compatibility/2006">
              <mc:Choice xmlns:v="urn:schemas-microsoft-com:vml" Requires="v">
                <p:oleObj spid="_x0000_s10245" name="公式" r:id="rId7" imgW="23469600" imgH="4876800" progId="Equation.3">
                  <p:embed/>
                </p:oleObj>
              </mc:Choice>
              <mc:Fallback>
                <p:oleObj name="公式" r:id="rId7" imgW="23469600" imgH="4876800" progId="Equation.3">
                  <p:embed/>
                  <p:pic>
                    <p:nvPicPr>
                      <p:cNvPr id="0" name="Object 18"/>
                      <p:cNvPicPr>
                        <a:picLocks noChangeAspect="1"/>
                      </p:cNvPicPr>
                      <p:nvPr/>
                    </p:nvPicPr>
                    <p:blipFill>
                      <a:blip r:embed="rId8"/>
                      <a:stretch>
                        <a:fillRect/>
                      </a:stretch>
                    </p:blipFill>
                    <p:spPr>
                      <a:xfrm>
                        <a:off x="5072063" y="571500"/>
                        <a:ext cx="1971675" cy="406400"/>
                      </a:xfrm>
                      <a:prstGeom prst="rect">
                        <a:avLst/>
                      </a:prstGeom>
                      <a:solidFill>
                        <a:srgbClr val="66FFFF">
                          <a:alpha val="50000"/>
                        </a:srgbClr>
                      </a:solidFill>
                      <a:ln w="9525">
                        <a:noFill/>
                      </a:ln>
                    </p:spPr>
                  </p:pic>
                </p:oleObj>
              </mc:Fallback>
            </mc:AlternateContent>
          </a:graphicData>
        </a:graphic>
      </p:graphicFrame>
      <p:sp>
        <p:nvSpPr>
          <p:cNvPr id="12" name="Text Box 23"/>
          <p:cNvSpPr txBox="1">
            <a:spLocks noChangeArrowheads="1"/>
          </p:cNvSpPr>
          <p:nvPr/>
        </p:nvSpPr>
        <p:spPr bwMode="auto">
          <a:xfrm>
            <a:off x="4352925" y="500063"/>
            <a:ext cx="647700" cy="457200"/>
          </a:xfrm>
          <a:prstGeom prst="rect">
            <a:avLst/>
          </a:prstGeom>
          <a:noFill/>
          <a:ln w="76200" cap="sq">
            <a:noFill/>
            <a:miter lim="800000"/>
          </a:ln>
        </p:spPr>
        <p:txBody>
          <a:bodyPr>
            <a:spAutoFit/>
          </a:bodyPr>
          <a:lstStyle/>
          <a:p>
            <a:pPr>
              <a:defRPr/>
            </a:pPr>
            <a:r>
              <a:rPr kumimoji="1" lang="zh-CN" altLang="en-US" b="1" dirty="0">
                <a:latin typeface="+mn-ea"/>
                <a:ea typeface="+mn-ea"/>
              </a:rPr>
              <a:t>或</a:t>
            </a:r>
            <a:endParaRPr kumimoji="1" lang="zh-CN" altLang="en-US" b="1" i="1" baseline="-25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656"/>
                                        </p:tgtEl>
                                        <p:attrNameLst>
                                          <p:attrName>style.visibility</p:attrName>
                                        </p:attrNameLst>
                                      </p:cBhvr>
                                      <p:to>
                                        <p:strVal val="visible"/>
                                      </p:to>
                                    </p:set>
                                    <p:animEffect transition="in" filter="wipe(left)">
                                      <p:cBhvr>
                                        <p:cTn id="7" dur="500"/>
                                        <p:tgtEl>
                                          <p:spTgt spid="2765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7666"/>
                                        </p:tgtEl>
                                        <p:attrNameLst>
                                          <p:attrName>style.visibility</p:attrName>
                                        </p:attrNameLst>
                                      </p:cBhvr>
                                      <p:to>
                                        <p:strVal val="visible"/>
                                      </p:to>
                                    </p:set>
                                    <p:animEffect transition="in" filter="wipe(left)">
                                      <p:cBhvr>
                                        <p:cTn id="11" dur="500"/>
                                        <p:tgtEl>
                                          <p:spTgt spid="2766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1798"/>
                                        </p:tgtEl>
                                        <p:attrNameLst>
                                          <p:attrName>style.visibility</p:attrName>
                                        </p:attrNameLst>
                                      </p:cBhvr>
                                      <p:to>
                                        <p:strVal val="visible"/>
                                      </p:to>
                                    </p:set>
                                    <p:animEffect transition="in" filter="wipe(left)">
                                      <p:cBhvr>
                                        <p:cTn id="25" dur="500"/>
                                        <p:tgtEl>
                                          <p:spTgt spid="16179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61799"/>
                                        </p:tgtEl>
                                        <p:attrNameLst>
                                          <p:attrName>style.visibility</p:attrName>
                                        </p:attrNameLst>
                                      </p:cBhvr>
                                      <p:to>
                                        <p:strVal val="visible"/>
                                      </p:to>
                                    </p:set>
                                    <p:animEffect transition="in" filter="wipe(left)">
                                      <p:cBhvr>
                                        <p:cTn id="30" dur="500"/>
                                        <p:tgtEl>
                                          <p:spTgt spid="161799"/>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61800"/>
                                        </p:tgtEl>
                                        <p:attrNameLst>
                                          <p:attrName>style.visibility</p:attrName>
                                        </p:attrNameLst>
                                      </p:cBhvr>
                                      <p:to>
                                        <p:strVal val="visible"/>
                                      </p:to>
                                    </p:set>
                                    <p:animEffect transition="in" filter="wipe(left)">
                                      <p:cBhvr>
                                        <p:cTn id="34" dur="500"/>
                                        <p:tgtEl>
                                          <p:spTgt spid="161800"/>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161801"/>
                                        </p:tgtEl>
                                        <p:attrNameLst>
                                          <p:attrName>style.visibility</p:attrName>
                                        </p:attrNameLst>
                                      </p:cBhvr>
                                      <p:to>
                                        <p:strVal val="visible"/>
                                      </p:to>
                                    </p:set>
                                    <p:animEffect transition="in" filter="wipe(left)">
                                      <p:cBhvr>
                                        <p:cTn id="38" dur="500"/>
                                        <p:tgtEl>
                                          <p:spTgt spid="16180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61803"/>
                                        </p:tgtEl>
                                        <p:attrNameLst>
                                          <p:attrName>style.visibility</p:attrName>
                                        </p:attrNameLst>
                                      </p:cBhvr>
                                      <p:to>
                                        <p:strVal val="visible"/>
                                      </p:to>
                                    </p:set>
                                    <p:animEffect transition="in" filter="wipe(left)">
                                      <p:cBhvr>
                                        <p:cTn id="43" dur="500"/>
                                        <p:tgtEl>
                                          <p:spTgt spid="16180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61802"/>
                                        </p:tgtEl>
                                        <p:attrNameLst>
                                          <p:attrName>style.visibility</p:attrName>
                                        </p:attrNameLst>
                                      </p:cBhvr>
                                      <p:to>
                                        <p:strVal val="visible"/>
                                      </p:to>
                                    </p:set>
                                    <p:animEffect transition="in" filter="wipe(left)">
                                      <p:cBhvr>
                                        <p:cTn id="48" dur="500"/>
                                        <p:tgtEl>
                                          <p:spTgt spid="161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8" grpId="0"/>
      <p:bldP spid="161800" grpId="0" autoUpdateAnimBg="0"/>
      <p:bldP spid="161802" grpId="0"/>
      <p:bldP spid="161803" grpId="0"/>
      <p:bldP spid="12"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4"/>
          <p:cNvSpPr txBox="1">
            <a:spLocks noChangeArrowheads="1"/>
          </p:cNvSpPr>
          <p:nvPr/>
        </p:nvSpPr>
        <p:spPr bwMode="auto">
          <a:xfrm>
            <a:off x="179388" y="476250"/>
            <a:ext cx="2952750" cy="490538"/>
          </a:xfrm>
          <a:prstGeom prst="rect">
            <a:avLst/>
          </a:prstGeom>
          <a:noFill/>
          <a:ln w="12700" cap="sq">
            <a:noFill/>
            <a:miter lim="800000"/>
            <a:headEnd type="none" w="sm" len="sm"/>
            <a:tailEnd type="none" w="sm" len="sm"/>
          </a:ln>
        </p:spPr>
        <p:txBody>
          <a:bodyPr>
            <a:spAutoFit/>
          </a:bodyPr>
          <a:lstStyle/>
          <a:p>
            <a:pPr>
              <a:lnSpc>
                <a:spcPct val="125000"/>
              </a:lnSpc>
              <a:defRPr/>
            </a:pPr>
            <a:r>
              <a:rPr kumimoji="1" lang="zh-CN" altLang="en-US" b="1" dirty="0">
                <a:solidFill>
                  <a:srgbClr val="FF0000"/>
                </a:solidFill>
                <a:latin typeface="+mn-ea"/>
                <a:ea typeface="+mn-ea"/>
              </a:rPr>
              <a:t>第一类永动机简介</a:t>
            </a:r>
            <a:endParaRPr kumimoji="1" lang="zh-CN" altLang="en-US" b="1" dirty="0">
              <a:solidFill>
                <a:srgbClr val="FF0000"/>
              </a:solidFill>
              <a:latin typeface="+mn-ea"/>
              <a:ea typeface="+mn-ea"/>
            </a:endParaRPr>
          </a:p>
        </p:txBody>
      </p:sp>
      <p:pic>
        <p:nvPicPr>
          <p:cNvPr id="53254" name="Picture 6" descr="第一台永动机"/>
          <p:cNvPicPr>
            <a:picLocks noChangeAspect="1" noChangeArrowheads="1"/>
          </p:cNvPicPr>
          <p:nvPr/>
        </p:nvPicPr>
        <p:blipFill>
          <a:blip r:embed="rId1"/>
          <a:srcRect/>
          <a:stretch>
            <a:fillRect/>
          </a:stretch>
        </p:blipFill>
        <p:spPr bwMode="auto">
          <a:xfrm>
            <a:off x="928688" y="1571625"/>
            <a:ext cx="2447925" cy="2071688"/>
          </a:xfrm>
          <a:prstGeom prst="rect">
            <a:avLst/>
          </a:prstGeom>
          <a:noFill/>
          <a:ln w="12700">
            <a:solidFill>
              <a:srgbClr val="00FFFF"/>
            </a:solidFill>
            <a:miter lim="800000"/>
            <a:headEnd/>
            <a:tailEnd/>
          </a:ln>
        </p:spPr>
      </p:pic>
      <p:pic>
        <p:nvPicPr>
          <p:cNvPr id="53255" name="Picture 7" descr="new_pa15"/>
          <p:cNvPicPr>
            <a:picLocks noChangeAspect="1" noChangeArrowheads="1"/>
          </p:cNvPicPr>
          <p:nvPr/>
        </p:nvPicPr>
        <p:blipFill>
          <a:blip r:embed="rId2"/>
          <a:srcRect/>
          <a:stretch>
            <a:fillRect/>
          </a:stretch>
        </p:blipFill>
        <p:spPr bwMode="auto">
          <a:xfrm>
            <a:off x="3857625" y="857250"/>
            <a:ext cx="4702175" cy="3286125"/>
          </a:xfrm>
          <a:prstGeom prst="rect">
            <a:avLst/>
          </a:prstGeom>
          <a:noFill/>
          <a:ln w="9525">
            <a:noFill/>
            <a:miter lim="800000"/>
            <a:headEnd/>
            <a:tailEnd/>
          </a:ln>
        </p:spPr>
      </p:pic>
      <p:sp>
        <p:nvSpPr>
          <p:cNvPr id="53256" name="Text Box 8"/>
          <p:cNvSpPr txBox="1">
            <a:spLocks noChangeArrowheads="1"/>
          </p:cNvSpPr>
          <p:nvPr/>
        </p:nvSpPr>
        <p:spPr bwMode="auto">
          <a:xfrm>
            <a:off x="539750" y="5157788"/>
            <a:ext cx="8153400" cy="461962"/>
          </a:xfrm>
          <a:prstGeom prst="rect">
            <a:avLst/>
          </a:prstGeom>
          <a:noFill/>
          <a:ln w="9525">
            <a:noFill/>
            <a:miter lim="800000"/>
          </a:ln>
        </p:spPr>
        <p:txBody>
          <a:bodyPr>
            <a:spAutoFit/>
          </a:bodyPr>
          <a:lstStyle/>
          <a:p>
            <a:pPr>
              <a:spcBef>
                <a:spcPct val="50000"/>
              </a:spcBef>
              <a:defRPr/>
            </a:pPr>
            <a:r>
              <a:rPr kumimoji="1" lang="en-US" altLang="zh-CN" b="1" dirty="0">
                <a:solidFill>
                  <a:srgbClr val="FF0000"/>
                </a:solidFill>
                <a:latin typeface="+mn-ea"/>
                <a:ea typeface="+mn-ea"/>
              </a:rPr>
              <a:t>“</a:t>
            </a:r>
            <a:r>
              <a:rPr kumimoji="1" lang="zh-CN" altLang="en-US" b="1" dirty="0">
                <a:solidFill>
                  <a:srgbClr val="FF0000"/>
                </a:solidFill>
                <a:latin typeface="+mn-ea"/>
                <a:ea typeface="+mn-ea"/>
              </a:rPr>
              <a:t>要科学，不要永动机！”    </a:t>
            </a:r>
            <a:r>
              <a:rPr kumimoji="1" lang="en-US" altLang="zh-CN" b="1" dirty="0">
                <a:solidFill>
                  <a:schemeClr val="tx2"/>
                </a:solidFill>
                <a:latin typeface="+mn-ea"/>
                <a:ea typeface="+mn-ea"/>
              </a:rPr>
              <a:t>— </a:t>
            </a:r>
            <a:r>
              <a:rPr kumimoji="1" lang="zh-CN" altLang="en-US" b="1" dirty="0">
                <a:solidFill>
                  <a:schemeClr val="tx2"/>
                </a:solidFill>
                <a:latin typeface="+mn-ea"/>
                <a:ea typeface="+mn-ea"/>
              </a:rPr>
              <a:t>焦耳</a:t>
            </a:r>
            <a:endParaRPr kumimoji="1" lang="zh-CN" altLang="en-US" b="1" dirty="0">
              <a:solidFill>
                <a:schemeClr val="tx2"/>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254"/>
                                        </p:tgtEl>
                                        <p:attrNameLst>
                                          <p:attrName>style.visibility</p:attrName>
                                        </p:attrNameLst>
                                      </p:cBhvr>
                                      <p:to>
                                        <p:strVal val="visible"/>
                                      </p:to>
                                    </p:set>
                                    <p:animEffect transition="in" filter="blinds(horizontal)">
                                      <p:cBhvr>
                                        <p:cTn id="7" dur="500"/>
                                        <p:tgtEl>
                                          <p:spTgt spid="53254"/>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53255"/>
                                        </p:tgtEl>
                                        <p:attrNameLst>
                                          <p:attrName>style.visibility</p:attrName>
                                        </p:attrNameLst>
                                      </p:cBhvr>
                                      <p:to>
                                        <p:strVal val="visible"/>
                                      </p:to>
                                    </p:set>
                                    <p:animEffect transition="in" filter="box(out)">
                                      <p:cBhvr>
                                        <p:cTn id="11" dur="500"/>
                                        <p:tgtEl>
                                          <p:spTgt spid="5325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53256"/>
                                        </p:tgtEl>
                                        <p:attrNameLst>
                                          <p:attrName>style.visibility</p:attrName>
                                        </p:attrNameLst>
                                      </p:cBhvr>
                                      <p:to>
                                        <p:strVal val="visible"/>
                                      </p:to>
                                    </p:set>
                                    <p:anim calcmode="lin" valueType="num">
                                      <p:cBhvr additive="base">
                                        <p:cTn id="16" dur="500" fill="hold"/>
                                        <p:tgtEl>
                                          <p:spTgt spid="53256"/>
                                        </p:tgtEl>
                                        <p:attrNameLst>
                                          <p:attrName>ppt_x</p:attrName>
                                        </p:attrNameLst>
                                      </p:cBhvr>
                                      <p:tavLst>
                                        <p:tav tm="0">
                                          <p:val>
                                            <p:strVal val="#ppt_x"/>
                                          </p:val>
                                        </p:tav>
                                        <p:tav tm="100000">
                                          <p:val>
                                            <p:strVal val="#ppt_x"/>
                                          </p:val>
                                        </p:tav>
                                      </p:tavLst>
                                    </p:anim>
                                    <p:anim calcmode="lin" valueType="num">
                                      <p:cBhvr additive="base">
                                        <p:cTn id="17" dur="500" fill="hold"/>
                                        <p:tgtEl>
                                          <p:spTgt spid="532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5940425" y="2879725"/>
            <a:ext cx="2684463" cy="1044575"/>
            <a:chOff x="3878" y="2500"/>
            <a:chExt cx="1691" cy="658"/>
          </a:xfrm>
        </p:grpSpPr>
        <p:sp>
          <p:nvSpPr>
            <p:cNvPr id="168963" name="Rectangle 3"/>
            <p:cNvSpPr>
              <a:spLocks noChangeArrowheads="1"/>
            </p:cNvSpPr>
            <p:nvPr/>
          </p:nvSpPr>
          <p:spPr bwMode="auto">
            <a:xfrm>
              <a:off x="3878" y="2500"/>
              <a:ext cx="1691" cy="658"/>
            </a:xfrm>
            <a:prstGeom prst="rect">
              <a:avLst/>
            </a:prstGeom>
            <a:gradFill rotWithShape="1">
              <a:gsLst>
                <a:gs pos="0">
                  <a:schemeClr val="accent1">
                    <a:gamma/>
                    <a:shade val="46275"/>
                    <a:invGamma/>
                    <a:alpha val="67000"/>
                  </a:schemeClr>
                </a:gs>
                <a:gs pos="100000">
                  <a:schemeClr val="accent1">
                    <a:alpha val="75000"/>
                  </a:schemeClr>
                </a:gs>
              </a:gsLst>
              <a:path path="shape">
                <a:fillToRect l="50000" t="50000" r="50000" b="50000"/>
              </a:path>
            </a:gradFill>
            <a:ln w="12700" cap="sq">
              <a:solidFill>
                <a:schemeClr val="tx1"/>
              </a:solidFill>
              <a:miter lim="800000"/>
              <a:headEnd type="none" w="sm" len="sm"/>
              <a:tailEnd type="none" w="sm" len="sm"/>
            </a:ln>
            <a:effectLst/>
          </p:spPr>
          <p:txBody>
            <a:bodyPr wrap="none" anchor="ctr"/>
            <a:lstStyle/>
            <a:p>
              <a:pPr algn="ctr">
                <a:defRPr/>
              </a:pPr>
              <a:endParaRPr lang="zh-CN" altLang="en-US"/>
            </a:p>
          </p:txBody>
        </p:sp>
        <p:sp>
          <p:nvSpPr>
            <p:cNvPr id="11292" name="Rectangle 4"/>
            <p:cNvSpPr>
              <a:spLocks noChangeArrowheads="1"/>
            </p:cNvSpPr>
            <p:nvPr/>
          </p:nvSpPr>
          <p:spPr bwMode="auto">
            <a:xfrm>
              <a:off x="4000" y="2601"/>
              <a:ext cx="1436" cy="432"/>
            </a:xfrm>
            <a:prstGeom prst="rect">
              <a:avLst/>
            </a:prstGeom>
            <a:solidFill>
              <a:srgbClr val="006699"/>
            </a:solidFill>
            <a:ln w="12700" cap="sq">
              <a:solidFill>
                <a:schemeClr val="bg2"/>
              </a:solidFill>
              <a:miter lim="800000"/>
              <a:headEnd type="none" w="sm" len="sm"/>
              <a:tailEnd type="none" w="sm" len="sm"/>
            </a:ln>
          </p:spPr>
          <p:txBody>
            <a:bodyPr wrap="none" anchor="ctr"/>
            <a:lstStyle/>
            <a:p>
              <a:pPr algn="ctr"/>
              <a:endParaRPr lang="zh-CN" altLang="en-US"/>
            </a:p>
          </p:txBody>
        </p:sp>
        <p:sp>
          <p:nvSpPr>
            <p:cNvPr id="11293" name="Rectangle 5"/>
            <p:cNvSpPr>
              <a:spLocks noChangeArrowheads="1"/>
            </p:cNvSpPr>
            <p:nvPr/>
          </p:nvSpPr>
          <p:spPr bwMode="auto">
            <a:xfrm>
              <a:off x="4005" y="2613"/>
              <a:ext cx="1415" cy="432"/>
            </a:xfrm>
            <a:prstGeom prst="rect">
              <a:avLst/>
            </a:prstGeom>
            <a:solidFill>
              <a:srgbClr val="FFFFFF"/>
            </a:solidFill>
            <a:ln w="12700" cap="sq">
              <a:solidFill>
                <a:schemeClr val="tx1"/>
              </a:solidFill>
              <a:miter lim="800000"/>
              <a:headEnd type="none" w="sm" len="sm"/>
              <a:tailEnd type="none" w="sm" len="sm"/>
            </a:ln>
          </p:spPr>
          <p:txBody>
            <a:bodyPr wrap="none" anchor="ctr"/>
            <a:lstStyle/>
            <a:p>
              <a:pPr algn="ctr"/>
              <a:endParaRPr lang="zh-CN" altLang="en-US"/>
            </a:p>
          </p:txBody>
        </p:sp>
        <p:graphicFrame>
          <p:nvGraphicFramePr>
            <p:cNvPr id="11273" name="Object 6"/>
            <p:cNvGraphicFramePr/>
            <p:nvPr/>
          </p:nvGraphicFramePr>
          <p:xfrm>
            <a:off x="4708" y="2750"/>
            <a:ext cx="168" cy="193"/>
          </p:xfrm>
          <a:graphic>
            <a:graphicData uri="http://schemas.openxmlformats.org/presentationml/2006/ole">
              <mc:AlternateContent xmlns:mc="http://schemas.openxmlformats.org/markup-compatibility/2006">
                <mc:Choice xmlns:v="urn:schemas-microsoft-com:vml" Requires="v">
                  <p:oleObj spid="_x0000_s11265" name="公式" r:id="rId1" imgW="6400800" imgH="7315200" progId="Equation.3">
                    <p:embed/>
                  </p:oleObj>
                </mc:Choice>
                <mc:Fallback>
                  <p:oleObj name="公式" r:id="rId1" imgW="6400800" imgH="7315200" progId="Equation.3">
                    <p:embed/>
                    <p:pic>
                      <p:nvPicPr>
                        <p:cNvPr id="0" name="Object 6"/>
                        <p:cNvPicPr/>
                        <p:nvPr/>
                      </p:nvPicPr>
                      <p:blipFill>
                        <a:blip r:embed="rId2"/>
                        <a:stretch>
                          <a:fillRect/>
                        </a:stretch>
                      </p:blipFill>
                      <p:spPr>
                        <a:xfrm>
                          <a:off x="4708" y="2750"/>
                          <a:ext cx="168" cy="193"/>
                        </a:xfrm>
                        <a:prstGeom prst="rect">
                          <a:avLst/>
                        </a:prstGeom>
                        <a:noFill/>
                        <a:ln w="9525">
                          <a:noFill/>
                        </a:ln>
                      </p:spPr>
                    </p:pic>
                  </p:oleObj>
                </mc:Fallback>
              </mc:AlternateContent>
            </a:graphicData>
          </a:graphic>
        </p:graphicFrame>
      </p:grpSp>
      <p:sp>
        <p:nvSpPr>
          <p:cNvPr id="168967" name="Text Box 7"/>
          <p:cNvSpPr txBox="1">
            <a:spLocks noChangeArrowheads="1"/>
          </p:cNvSpPr>
          <p:nvPr/>
        </p:nvSpPr>
        <p:spPr bwMode="auto">
          <a:xfrm>
            <a:off x="735013" y="3716338"/>
            <a:ext cx="4752975" cy="512762"/>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ea typeface="楷体_GB2312" pitchFamily="49" charset="-122"/>
              </a:rPr>
              <a:t>根据热力学第一定律，有</a:t>
            </a:r>
            <a:endParaRPr kumimoji="1" lang="zh-CN" altLang="en-US" b="1">
              <a:ea typeface="楷体_GB2312" pitchFamily="49" charset="-122"/>
            </a:endParaRPr>
          </a:p>
        </p:txBody>
      </p:sp>
      <p:sp>
        <p:nvSpPr>
          <p:cNvPr id="168968" name="Text Box 8"/>
          <p:cNvSpPr txBox="1">
            <a:spLocks noChangeArrowheads="1"/>
          </p:cNvSpPr>
          <p:nvPr/>
        </p:nvSpPr>
        <p:spPr bwMode="auto">
          <a:xfrm>
            <a:off x="115888" y="2408238"/>
            <a:ext cx="1104900" cy="512762"/>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solidFill>
                  <a:srgbClr val="FF0000"/>
                </a:solidFill>
              </a:rPr>
              <a:t>解</a:t>
            </a:r>
            <a:endParaRPr kumimoji="1" lang="zh-CN" altLang="en-US" b="1" i="1">
              <a:solidFill>
                <a:srgbClr val="FF0000"/>
              </a:solidFill>
            </a:endParaRPr>
          </a:p>
        </p:txBody>
      </p:sp>
      <p:sp>
        <p:nvSpPr>
          <p:cNvPr id="168969" name="Text Box 9"/>
          <p:cNvSpPr txBox="1">
            <a:spLocks noChangeArrowheads="1"/>
          </p:cNvSpPr>
          <p:nvPr/>
        </p:nvSpPr>
        <p:spPr bwMode="auto">
          <a:xfrm>
            <a:off x="755650" y="4941888"/>
            <a:ext cx="7669213" cy="512762"/>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ea typeface="楷体_GB2312" pitchFamily="49" charset="-122"/>
              </a:rPr>
              <a:t>因为初、末两态是平衡态，所以有</a:t>
            </a:r>
            <a:endParaRPr kumimoji="1" lang="zh-CN" altLang="en-US">
              <a:ea typeface="楷体_GB2312" pitchFamily="49" charset="-122"/>
            </a:endParaRPr>
          </a:p>
        </p:txBody>
      </p:sp>
      <p:graphicFrame>
        <p:nvGraphicFramePr>
          <p:cNvPr id="168970" name="Object 10"/>
          <p:cNvGraphicFramePr>
            <a:graphicFrameLocks noChangeAspect="1"/>
          </p:cNvGraphicFramePr>
          <p:nvPr/>
        </p:nvGraphicFramePr>
        <p:xfrm>
          <a:off x="2681288" y="5599113"/>
          <a:ext cx="2058987" cy="800100"/>
        </p:xfrm>
        <a:graphic>
          <a:graphicData uri="http://schemas.openxmlformats.org/presentationml/2006/ole">
            <mc:AlternateContent xmlns:mc="http://schemas.openxmlformats.org/markup-compatibility/2006">
              <mc:Choice xmlns:v="urn:schemas-microsoft-com:vml" Requires="v">
                <p:oleObj spid="_x0000_s11266" name="公式" r:id="rId3" imgW="27432000" imgH="10668000" progId="Equation.3">
                  <p:embed/>
                </p:oleObj>
              </mc:Choice>
              <mc:Fallback>
                <p:oleObj name="公式" r:id="rId3" imgW="27432000" imgH="10668000" progId="Equation.3">
                  <p:embed/>
                  <p:pic>
                    <p:nvPicPr>
                      <p:cNvPr id="0" name="Object 10"/>
                      <p:cNvPicPr>
                        <a:picLocks noChangeAspect="1"/>
                      </p:cNvPicPr>
                      <p:nvPr/>
                    </p:nvPicPr>
                    <p:blipFill>
                      <a:blip r:embed="rId4"/>
                      <a:stretch>
                        <a:fillRect/>
                      </a:stretch>
                    </p:blipFill>
                    <p:spPr>
                      <a:xfrm>
                        <a:off x="2681288" y="5599113"/>
                        <a:ext cx="2058987" cy="800100"/>
                      </a:xfrm>
                      <a:prstGeom prst="rect">
                        <a:avLst/>
                      </a:prstGeom>
                      <a:noFill/>
                      <a:ln w="9525">
                        <a:noFill/>
                      </a:ln>
                    </p:spPr>
                  </p:pic>
                </p:oleObj>
              </mc:Fallback>
            </mc:AlternateContent>
          </a:graphicData>
        </a:graphic>
      </p:graphicFrame>
      <p:graphicFrame>
        <p:nvGraphicFramePr>
          <p:cNvPr id="168971" name="Object 11"/>
          <p:cNvGraphicFramePr>
            <a:graphicFrameLocks noChangeAspect="1"/>
          </p:cNvGraphicFramePr>
          <p:nvPr/>
        </p:nvGraphicFramePr>
        <p:xfrm>
          <a:off x="2840038" y="2570163"/>
          <a:ext cx="709612" cy="363537"/>
        </p:xfrm>
        <a:graphic>
          <a:graphicData uri="http://schemas.openxmlformats.org/presentationml/2006/ole">
            <mc:AlternateContent xmlns:mc="http://schemas.openxmlformats.org/markup-compatibility/2006">
              <mc:Choice xmlns:v="urn:schemas-microsoft-com:vml" Requires="v">
                <p:oleObj spid="_x0000_s11267" name="公式" r:id="rId5" imgW="9448800" imgH="4876800" progId="Equation.3">
                  <p:embed/>
                </p:oleObj>
              </mc:Choice>
              <mc:Fallback>
                <p:oleObj name="公式" r:id="rId5" imgW="9448800" imgH="4876800" progId="Equation.3">
                  <p:embed/>
                  <p:pic>
                    <p:nvPicPr>
                      <p:cNvPr id="0" name="Object 11"/>
                      <p:cNvPicPr>
                        <a:picLocks noChangeAspect="1"/>
                      </p:cNvPicPr>
                      <p:nvPr/>
                    </p:nvPicPr>
                    <p:blipFill>
                      <a:blip r:embed="rId6"/>
                      <a:stretch>
                        <a:fillRect/>
                      </a:stretch>
                    </p:blipFill>
                    <p:spPr>
                      <a:xfrm>
                        <a:off x="2840038" y="2570163"/>
                        <a:ext cx="709612" cy="363537"/>
                      </a:xfrm>
                      <a:prstGeom prst="rect">
                        <a:avLst/>
                      </a:prstGeom>
                      <a:noFill/>
                      <a:ln w="9525">
                        <a:noFill/>
                      </a:ln>
                    </p:spPr>
                  </p:pic>
                </p:oleObj>
              </mc:Fallback>
            </mc:AlternateContent>
          </a:graphicData>
        </a:graphic>
      </p:graphicFrame>
      <p:graphicFrame>
        <p:nvGraphicFramePr>
          <p:cNvPr id="168972" name="Object 12"/>
          <p:cNvGraphicFramePr>
            <a:graphicFrameLocks noChangeAspect="1"/>
          </p:cNvGraphicFramePr>
          <p:nvPr/>
        </p:nvGraphicFramePr>
        <p:xfrm>
          <a:off x="3024188" y="3159125"/>
          <a:ext cx="773112" cy="320675"/>
        </p:xfrm>
        <a:graphic>
          <a:graphicData uri="http://schemas.openxmlformats.org/presentationml/2006/ole">
            <mc:AlternateContent xmlns:mc="http://schemas.openxmlformats.org/markup-compatibility/2006">
              <mc:Choice xmlns:v="urn:schemas-microsoft-com:vml" Requires="v">
                <p:oleObj spid="_x0000_s11268" name="公式" r:id="rId7" imgW="10363200" imgH="4267200" progId="Equation.3">
                  <p:embed/>
                </p:oleObj>
              </mc:Choice>
              <mc:Fallback>
                <p:oleObj name="公式" r:id="rId7" imgW="10363200" imgH="4267200" progId="Equation.3">
                  <p:embed/>
                  <p:pic>
                    <p:nvPicPr>
                      <p:cNvPr id="0" name="Object 12"/>
                      <p:cNvPicPr>
                        <a:picLocks noChangeAspect="1"/>
                      </p:cNvPicPr>
                      <p:nvPr/>
                    </p:nvPicPr>
                    <p:blipFill>
                      <a:blip r:embed="rId8"/>
                      <a:stretch>
                        <a:fillRect/>
                      </a:stretch>
                    </p:blipFill>
                    <p:spPr>
                      <a:xfrm>
                        <a:off x="3024188" y="3159125"/>
                        <a:ext cx="773112" cy="320675"/>
                      </a:xfrm>
                      <a:prstGeom prst="rect">
                        <a:avLst/>
                      </a:prstGeom>
                      <a:noFill/>
                      <a:ln w="9525">
                        <a:noFill/>
                      </a:ln>
                    </p:spPr>
                  </p:pic>
                </p:oleObj>
              </mc:Fallback>
            </mc:AlternateContent>
          </a:graphicData>
        </a:graphic>
      </p:graphicFrame>
      <p:graphicFrame>
        <p:nvGraphicFramePr>
          <p:cNvPr id="168973" name="Object 13"/>
          <p:cNvGraphicFramePr>
            <a:graphicFrameLocks noChangeAspect="1"/>
          </p:cNvGraphicFramePr>
          <p:nvPr/>
        </p:nvGraphicFramePr>
        <p:xfrm>
          <a:off x="2141538" y="4413250"/>
          <a:ext cx="874712" cy="320675"/>
        </p:xfrm>
        <a:graphic>
          <a:graphicData uri="http://schemas.openxmlformats.org/presentationml/2006/ole">
            <mc:AlternateContent xmlns:mc="http://schemas.openxmlformats.org/markup-compatibility/2006">
              <mc:Choice xmlns:v="urn:schemas-microsoft-com:vml" Requires="v">
                <p:oleObj spid="_x0000_s11269" name="公式" r:id="rId9" imgW="11582400" imgH="4267200" progId="Equation.3">
                  <p:embed/>
                </p:oleObj>
              </mc:Choice>
              <mc:Fallback>
                <p:oleObj name="公式" r:id="rId9" imgW="11582400" imgH="4267200" progId="Equation.3">
                  <p:embed/>
                  <p:pic>
                    <p:nvPicPr>
                      <p:cNvPr id="0" name="Object 13"/>
                      <p:cNvPicPr>
                        <a:picLocks noChangeAspect="1"/>
                      </p:cNvPicPr>
                      <p:nvPr/>
                    </p:nvPicPr>
                    <p:blipFill>
                      <a:blip r:embed="rId10"/>
                      <a:stretch>
                        <a:fillRect/>
                      </a:stretch>
                    </p:blipFill>
                    <p:spPr>
                      <a:xfrm>
                        <a:off x="2141538" y="4413250"/>
                        <a:ext cx="874712" cy="320675"/>
                      </a:xfrm>
                      <a:prstGeom prst="rect">
                        <a:avLst/>
                      </a:prstGeom>
                      <a:noFill/>
                      <a:ln w="9525">
                        <a:noFill/>
                      </a:ln>
                    </p:spPr>
                  </p:pic>
                </p:oleObj>
              </mc:Fallback>
            </mc:AlternateContent>
          </a:graphicData>
        </a:graphic>
      </p:graphicFrame>
      <p:graphicFrame>
        <p:nvGraphicFramePr>
          <p:cNvPr id="168974" name="Object 14"/>
          <p:cNvGraphicFramePr>
            <a:graphicFrameLocks noChangeAspect="1"/>
          </p:cNvGraphicFramePr>
          <p:nvPr/>
        </p:nvGraphicFramePr>
        <p:xfrm>
          <a:off x="4457700" y="4373563"/>
          <a:ext cx="823913" cy="388937"/>
        </p:xfrm>
        <a:graphic>
          <a:graphicData uri="http://schemas.openxmlformats.org/presentationml/2006/ole">
            <mc:AlternateContent xmlns:mc="http://schemas.openxmlformats.org/markup-compatibility/2006">
              <mc:Choice xmlns:v="urn:schemas-microsoft-com:vml" Requires="v">
                <p:oleObj spid="_x0000_s11270" name="公式" r:id="rId11" imgW="10972800" imgH="5181600" progId="Equation.3">
                  <p:embed/>
                </p:oleObj>
              </mc:Choice>
              <mc:Fallback>
                <p:oleObj name="公式" r:id="rId11" imgW="10972800" imgH="5181600" progId="Equation.3">
                  <p:embed/>
                  <p:pic>
                    <p:nvPicPr>
                      <p:cNvPr id="0" name="Object 14"/>
                      <p:cNvPicPr>
                        <a:picLocks noChangeAspect="1"/>
                      </p:cNvPicPr>
                      <p:nvPr/>
                    </p:nvPicPr>
                    <p:blipFill>
                      <a:blip r:embed="rId12"/>
                      <a:stretch>
                        <a:fillRect/>
                      </a:stretch>
                    </p:blipFill>
                    <p:spPr>
                      <a:xfrm>
                        <a:off x="4457700" y="4373563"/>
                        <a:ext cx="823913" cy="388937"/>
                      </a:xfrm>
                      <a:prstGeom prst="rect">
                        <a:avLst/>
                      </a:prstGeom>
                      <a:noFill/>
                      <a:ln w="9525">
                        <a:noFill/>
                      </a:ln>
                    </p:spPr>
                  </p:pic>
                </p:oleObj>
              </mc:Fallback>
            </mc:AlternateContent>
          </a:graphicData>
        </a:graphic>
      </p:graphicFrame>
      <p:graphicFrame>
        <p:nvGraphicFramePr>
          <p:cNvPr id="168975" name="Object 15"/>
          <p:cNvGraphicFramePr>
            <a:graphicFrameLocks noChangeAspect="1"/>
          </p:cNvGraphicFramePr>
          <p:nvPr/>
        </p:nvGraphicFramePr>
        <p:xfrm>
          <a:off x="5840413" y="5626100"/>
          <a:ext cx="866775" cy="728663"/>
        </p:xfrm>
        <a:graphic>
          <a:graphicData uri="http://schemas.openxmlformats.org/presentationml/2006/ole">
            <mc:AlternateContent xmlns:mc="http://schemas.openxmlformats.org/markup-compatibility/2006">
              <mc:Choice xmlns:v="urn:schemas-microsoft-com:vml" Requires="v">
                <p:oleObj spid="_x0000_s11271" name="公式" r:id="rId13" imgW="11582400" imgH="9753600" progId="Equation.3">
                  <p:embed/>
                </p:oleObj>
              </mc:Choice>
              <mc:Fallback>
                <p:oleObj name="公式" r:id="rId13" imgW="11582400" imgH="9753600" progId="Equation.3">
                  <p:embed/>
                  <p:pic>
                    <p:nvPicPr>
                      <p:cNvPr id="0" name="Object 15"/>
                      <p:cNvPicPr>
                        <a:picLocks noChangeAspect="1"/>
                      </p:cNvPicPr>
                      <p:nvPr/>
                    </p:nvPicPr>
                    <p:blipFill>
                      <a:blip r:embed="rId14"/>
                      <a:stretch>
                        <a:fillRect/>
                      </a:stretch>
                    </p:blipFill>
                    <p:spPr>
                      <a:xfrm>
                        <a:off x="5840413" y="5626100"/>
                        <a:ext cx="866775" cy="728663"/>
                      </a:xfrm>
                      <a:prstGeom prst="rect">
                        <a:avLst/>
                      </a:prstGeom>
                      <a:noFill/>
                      <a:ln w="9525">
                        <a:noFill/>
                      </a:ln>
                    </p:spPr>
                  </p:pic>
                </p:oleObj>
              </mc:Fallback>
            </mc:AlternateContent>
          </a:graphicData>
        </a:graphic>
      </p:graphicFrame>
      <p:sp>
        <p:nvSpPr>
          <p:cNvPr id="168976" name="Text Box 16"/>
          <p:cNvSpPr txBox="1">
            <a:spLocks noChangeArrowheads="1"/>
          </p:cNvSpPr>
          <p:nvPr/>
        </p:nvSpPr>
        <p:spPr bwMode="auto">
          <a:xfrm>
            <a:off x="701675" y="458788"/>
            <a:ext cx="8064500" cy="1354137"/>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t>如图，一</a:t>
            </a:r>
            <a:r>
              <a:rPr kumimoji="1" lang="zh-CN" altLang="en-US" b="1">
                <a:solidFill>
                  <a:srgbClr val="008000"/>
                </a:solidFill>
              </a:rPr>
              <a:t>绝热</a:t>
            </a:r>
            <a:r>
              <a:rPr kumimoji="1" lang="zh-CN" altLang="en-US" b="1"/>
              <a:t>密封容器，体积为 </a:t>
            </a:r>
            <a:r>
              <a:rPr kumimoji="1" lang="en-US" altLang="zh-CN" b="1" i="1">
                <a:solidFill>
                  <a:srgbClr val="FF6600"/>
                </a:solidFill>
              </a:rPr>
              <a:t>V</a:t>
            </a:r>
            <a:r>
              <a:rPr kumimoji="1" lang="en-US" altLang="zh-CN" b="1" baseline="-25000">
                <a:solidFill>
                  <a:srgbClr val="FF6600"/>
                </a:solidFill>
              </a:rPr>
              <a:t>0</a:t>
            </a:r>
            <a:r>
              <a:rPr kumimoji="1" lang="en-US" altLang="zh-CN" b="1" baseline="-25000"/>
              <a:t> </a:t>
            </a:r>
            <a:r>
              <a:rPr kumimoji="1" lang="zh-CN" altLang="en-US" b="1"/>
              <a:t>，中间用隔板分成相等的两部分。左边盛有一定量的氧气，压强为  </a:t>
            </a:r>
            <a:r>
              <a:rPr kumimoji="1" lang="en-US" altLang="zh-CN" b="1" i="1">
                <a:solidFill>
                  <a:srgbClr val="FF6600"/>
                </a:solidFill>
              </a:rPr>
              <a:t>p</a:t>
            </a:r>
            <a:r>
              <a:rPr kumimoji="1" lang="en-US" altLang="zh-CN" b="1" baseline="-25000">
                <a:solidFill>
                  <a:srgbClr val="FF6600"/>
                </a:solidFill>
              </a:rPr>
              <a:t>0 </a:t>
            </a:r>
            <a:r>
              <a:rPr kumimoji="1" lang="zh-CN" altLang="en-US" b="1"/>
              <a:t>，右边一半为</a:t>
            </a:r>
            <a:r>
              <a:rPr kumimoji="1" lang="zh-CN" altLang="en-US" b="1">
                <a:solidFill>
                  <a:srgbClr val="008000"/>
                </a:solidFill>
              </a:rPr>
              <a:t>真空</a:t>
            </a:r>
            <a:r>
              <a:rPr kumimoji="1" lang="zh-CN" altLang="en-US" b="1"/>
              <a:t>。  </a:t>
            </a:r>
            <a:endParaRPr kumimoji="1" lang="zh-CN" altLang="en-US" b="1"/>
          </a:p>
        </p:txBody>
      </p:sp>
      <p:grpSp>
        <p:nvGrpSpPr>
          <p:cNvPr id="3" name="Group 17"/>
          <p:cNvGrpSpPr/>
          <p:nvPr/>
        </p:nvGrpSpPr>
        <p:grpSpPr bwMode="auto">
          <a:xfrm>
            <a:off x="5940425" y="2879725"/>
            <a:ext cx="2684463" cy="1044575"/>
            <a:chOff x="3787" y="1026"/>
            <a:chExt cx="1691" cy="658"/>
          </a:xfrm>
        </p:grpSpPr>
        <p:sp>
          <p:nvSpPr>
            <p:cNvPr id="11287" name="Rectangle 18"/>
            <p:cNvSpPr>
              <a:spLocks noChangeArrowheads="1"/>
            </p:cNvSpPr>
            <p:nvPr/>
          </p:nvSpPr>
          <p:spPr bwMode="auto">
            <a:xfrm>
              <a:off x="3787" y="1026"/>
              <a:ext cx="1691" cy="658"/>
            </a:xfrm>
            <a:prstGeom prst="rect">
              <a:avLst/>
            </a:prstGeom>
            <a:solidFill>
              <a:srgbClr val="00CC99">
                <a:alpha val="74901"/>
              </a:srgbClr>
            </a:solidFill>
            <a:ln w="12700" cap="sq">
              <a:solidFill>
                <a:schemeClr val="tx1"/>
              </a:solidFill>
              <a:miter lim="800000"/>
              <a:headEnd type="none" w="sm" len="sm"/>
              <a:tailEnd type="none" w="sm" len="sm"/>
            </a:ln>
          </p:spPr>
          <p:txBody>
            <a:bodyPr wrap="none" anchor="ctr"/>
            <a:lstStyle/>
            <a:p>
              <a:pPr algn="ctr"/>
              <a:endParaRPr lang="zh-CN" altLang="en-US"/>
            </a:p>
          </p:txBody>
        </p:sp>
        <p:sp>
          <p:nvSpPr>
            <p:cNvPr id="11288" name="Rectangle 19"/>
            <p:cNvSpPr>
              <a:spLocks noChangeArrowheads="1"/>
            </p:cNvSpPr>
            <p:nvPr/>
          </p:nvSpPr>
          <p:spPr bwMode="auto">
            <a:xfrm>
              <a:off x="3909" y="1127"/>
              <a:ext cx="1436" cy="432"/>
            </a:xfrm>
            <a:prstGeom prst="rect">
              <a:avLst/>
            </a:prstGeom>
            <a:solidFill>
              <a:srgbClr val="FFFFFF"/>
            </a:solidFill>
            <a:ln w="12700" cap="sq">
              <a:solidFill>
                <a:schemeClr val="tx1"/>
              </a:solidFill>
              <a:miter lim="800000"/>
              <a:headEnd type="none" w="sm" len="sm"/>
              <a:tailEnd type="none" w="sm" len="sm"/>
            </a:ln>
          </p:spPr>
          <p:txBody>
            <a:bodyPr wrap="none" anchor="ctr"/>
            <a:lstStyle/>
            <a:p>
              <a:pPr algn="ctr"/>
              <a:endParaRPr lang="zh-CN" altLang="en-US"/>
            </a:p>
          </p:txBody>
        </p:sp>
        <p:sp>
          <p:nvSpPr>
            <p:cNvPr id="11289" name="Rectangle 20" descr="80%"/>
            <p:cNvSpPr>
              <a:spLocks noChangeArrowheads="1"/>
            </p:cNvSpPr>
            <p:nvPr/>
          </p:nvSpPr>
          <p:spPr bwMode="auto">
            <a:xfrm>
              <a:off x="3914" y="1139"/>
              <a:ext cx="750" cy="432"/>
            </a:xfrm>
            <a:prstGeom prst="rect">
              <a:avLst/>
            </a:prstGeom>
            <a:pattFill prst="pct80">
              <a:fgClr>
                <a:schemeClr val="bg1"/>
              </a:fgClr>
              <a:bgClr>
                <a:schemeClr val="tx1"/>
              </a:bgClr>
            </a:pattFill>
            <a:ln w="12700" cap="sq">
              <a:solidFill>
                <a:schemeClr val="tx1"/>
              </a:solidFill>
              <a:miter lim="800000"/>
              <a:headEnd type="none" w="sm" len="sm"/>
              <a:tailEnd type="none" w="sm" len="sm"/>
            </a:ln>
          </p:spPr>
          <p:txBody>
            <a:bodyPr wrap="none" anchor="ctr"/>
            <a:lstStyle/>
            <a:p>
              <a:pPr algn="ctr"/>
              <a:endParaRPr lang="zh-CN" altLang="en-US"/>
            </a:p>
          </p:txBody>
        </p:sp>
        <p:sp>
          <p:nvSpPr>
            <p:cNvPr id="11290" name="Rectangle 21"/>
            <p:cNvSpPr>
              <a:spLocks noChangeArrowheads="1"/>
            </p:cNvSpPr>
            <p:nvPr/>
          </p:nvSpPr>
          <p:spPr bwMode="auto">
            <a:xfrm>
              <a:off x="4625" y="1139"/>
              <a:ext cx="77" cy="432"/>
            </a:xfrm>
            <a:prstGeom prst="rect">
              <a:avLst/>
            </a:prstGeom>
            <a:solidFill>
              <a:schemeClr val="folHlink"/>
            </a:solidFill>
            <a:ln w="12700" cap="sq">
              <a:solidFill>
                <a:schemeClr val="bg2"/>
              </a:solidFill>
              <a:miter lim="800000"/>
              <a:headEnd type="none" w="sm" len="sm"/>
              <a:tailEnd type="none" w="sm" len="sm"/>
            </a:ln>
          </p:spPr>
          <p:txBody>
            <a:bodyPr wrap="none" anchor="ctr"/>
            <a:lstStyle/>
            <a:p>
              <a:pPr algn="ctr"/>
              <a:endParaRPr lang="zh-CN" altLang="en-US"/>
            </a:p>
          </p:txBody>
        </p:sp>
        <p:graphicFrame>
          <p:nvGraphicFramePr>
            <p:cNvPr id="11272" name="Object 22"/>
            <p:cNvGraphicFramePr>
              <a:graphicFrameLocks noChangeAspect="1"/>
            </p:cNvGraphicFramePr>
            <p:nvPr/>
          </p:nvGraphicFramePr>
          <p:xfrm>
            <a:off x="4067" y="1140"/>
            <a:ext cx="290" cy="348"/>
          </p:xfrm>
          <a:graphic>
            <a:graphicData uri="http://schemas.openxmlformats.org/presentationml/2006/ole">
              <mc:AlternateContent xmlns:mc="http://schemas.openxmlformats.org/markup-compatibility/2006">
                <mc:Choice xmlns:v="urn:schemas-microsoft-com:vml" Requires="v">
                  <p:oleObj spid="_x0000_s11272" name="Equation" r:id="rId15" imgW="4572000" imgH="5486400" progId="Equation.3">
                    <p:embed/>
                  </p:oleObj>
                </mc:Choice>
                <mc:Fallback>
                  <p:oleObj name="Equation" r:id="rId15" imgW="4572000" imgH="5486400" progId="Equation.3">
                    <p:embed/>
                    <p:pic>
                      <p:nvPicPr>
                        <p:cNvPr id="0" name="Object 22"/>
                        <p:cNvPicPr>
                          <a:picLocks noChangeAspect="1"/>
                        </p:cNvPicPr>
                        <p:nvPr/>
                      </p:nvPicPr>
                      <p:blipFill>
                        <a:blip r:embed="rId16"/>
                        <a:stretch>
                          <a:fillRect/>
                        </a:stretch>
                      </p:blipFill>
                      <p:spPr>
                        <a:xfrm>
                          <a:off x="4067" y="1140"/>
                          <a:ext cx="290" cy="348"/>
                        </a:xfrm>
                        <a:prstGeom prst="rect">
                          <a:avLst/>
                        </a:prstGeom>
                        <a:noFill/>
                        <a:ln w="9525">
                          <a:noFill/>
                        </a:ln>
                      </p:spPr>
                    </p:pic>
                  </p:oleObj>
                </mc:Fallback>
              </mc:AlternateContent>
            </a:graphicData>
          </a:graphic>
        </p:graphicFrame>
      </p:grpSp>
      <p:sp>
        <p:nvSpPr>
          <p:cNvPr id="168983" name="Line 23"/>
          <p:cNvSpPr>
            <a:spLocks noChangeShapeType="1"/>
          </p:cNvSpPr>
          <p:nvPr/>
        </p:nvSpPr>
        <p:spPr bwMode="auto">
          <a:xfrm>
            <a:off x="3314700" y="4581525"/>
            <a:ext cx="863600" cy="0"/>
          </a:xfrm>
          <a:prstGeom prst="line">
            <a:avLst/>
          </a:prstGeom>
          <a:noFill/>
          <a:ln w="76200">
            <a:solidFill>
              <a:srgbClr val="0000FF"/>
            </a:solidFill>
            <a:round/>
            <a:tailEnd type="triangle" w="med" len="med"/>
          </a:ln>
        </p:spPr>
        <p:txBody>
          <a:bodyPr/>
          <a:lstStyle/>
          <a:p>
            <a:endParaRPr lang="zh-CN" altLang="en-US"/>
          </a:p>
        </p:txBody>
      </p:sp>
      <p:sp>
        <p:nvSpPr>
          <p:cNvPr id="168984" name="Text Box 24"/>
          <p:cNvSpPr txBox="1">
            <a:spLocks noChangeArrowheads="1"/>
          </p:cNvSpPr>
          <p:nvPr/>
        </p:nvSpPr>
        <p:spPr bwMode="auto">
          <a:xfrm>
            <a:off x="161925" y="441325"/>
            <a:ext cx="490538" cy="512763"/>
          </a:xfrm>
          <a:prstGeom prst="rect">
            <a:avLst/>
          </a:prstGeom>
          <a:noFill/>
          <a:ln w="9525">
            <a:noFill/>
            <a:miter lim="800000"/>
          </a:ln>
        </p:spPr>
        <p:txBody>
          <a:bodyPr wrap="none">
            <a:spAutoFit/>
          </a:bodyPr>
          <a:lstStyle/>
          <a:p>
            <a:pPr>
              <a:lnSpc>
                <a:spcPct val="115000"/>
              </a:lnSpc>
            </a:pPr>
            <a:r>
              <a:rPr kumimoji="1" lang="zh-CN" altLang="en-US" b="1">
                <a:solidFill>
                  <a:srgbClr val="FF0000"/>
                </a:solidFill>
                <a:latin typeface="Arial" panose="020B0604020202020204" pitchFamily="34" charset="0"/>
              </a:rPr>
              <a:t>例</a:t>
            </a:r>
            <a:endParaRPr kumimoji="1" lang="zh-CN" altLang="en-US" b="1">
              <a:solidFill>
                <a:srgbClr val="FF0000"/>
              </a:solidFill>
              <a:latin typeface="Arial" panose="020B0604020202020204" pitchFamily="34" charset="0"/>
            </a:endParaRPr>
          </a:p>
        </p:txBody>
      </p:sp>
      <p:sp>
        <p:nvSpPr>
          <p:cNvPr id="168985" name="Rectangle 25"/>
          <p:cNvSpPr>
            <a:spLocks noChangeArrowheads="1"/>
          </p:cNvSpPr>
          <p:nvPr/>
        </p:nvSpPr>
        <p:spPr bwMode="auto">
          <a:xfrm>
            <a:off x="115888" y="1808163"/>
            <a:ext cx="490537" cy="512762"/>
          </a:xfrm>
          <a:prstGeom prst="rect">
            <a:avLst/>
          </a:prstGeom>
          <a:noFill/>
          <a:ln w="9525">
            <a:noFill/>
            <a:miter lim="800000"/>
          </a:ln>
        </p:spPr>
        <p:txBody>
          <a:bodyPr wrap="none">
            <a:spAutoFit/>
          </a:bodyPr>
          <a:lstStyle/>
          <a:p>
            <a:pPr>
              <a:lnSpc>
                <a:spcPct val="115000"/>
              </a:lnSpc>
            </a:pPr>
            <a:r>
              <a:rPr kumimoji="1" lang="zh-CN" altLang="en-US" b="1">
                <a:solidFill>
                  <a:srgbClr val="FF0000"/>
                </a:solidFill>
                <a:latin typeface="Arial" panose="020B0604020202020204" pitchFamily="34" charset="0"/>
              </a:rPr>
              <a:t>求</a:t>
            </a:r>
            <a:endParaRPr kumimoji="1" lang="zh-CN" altLang="en-US" b="1">
              <a:solidFill>
                <a:srgbClr val="FF0000"/>
              </a:solidFill>
              <a:latin typeface="Arial" panose="020B0604020202020204" pitchFamily="34" charset="0"/>
            </a:endParaRPr>
          </a:p>
        </p:txBody>
      </p:sp>
      <p:sp>
        <p:nvSpPr>
          <p:cNvPr id="168986" name="Rectangle 26"/>
          <p:cNvSpPr>
            <a:spLocks noChangeArrowheads="1"/>
          </p:cNvSpPr>
          <p:nvPr/>
        </p:nvSpPr>
        <p:spPr bwMode="auto">
          <a:xfrm>
            <a:off x="701675" y="1836738"/>
            <a:ext cx="7740650" cy="512762"/>
          </a:xfrm>
          <a:prstGeom prst="rect">
            <a:avLst/>
          </a:prstGeom>
          <a:noFill/>
          <a:ln w="9525">
            <a:noFill/>
            <a:miter lim="800000"/>
          </a:ln>
        </p:spPr>
        <p:txBody>
          <a:bodyPr>
            <a:spAutoFit/>
          </a:bodyPr>
          <a:lstStyle/>
          <a:p>
            <a:pPr>
              <a:lnSpc>
                <a:spcPct val="115000"/>
              </a:lnSpc>
            </a:pPr>
            <a:r>
              <a:rPr kumimoji="1" lang="zh-CN" altLang="en-US" b="1"/>
              <a:t>把中间隔板抽去后，</a:t>
            </a:r>
            <a:r>
              <a:rPr kumimoji="1" lang="zh-CN" altLang="en-US" b="1">
                <a:latin typeface="Arial" panose="020B0604020202020204" pitchFamily="34" charset="0"/>
              </a:rPr>
              <a:t>达到新平衡时气体的压强。</a:t>
            </a:r>
            <a:endParaRPr kumimoji="1" lang="zh-CN" altLang="en-US" b="1">
              <a:latin typeface="Arial" panose="020B0604020202020204" pitchFamily="34" charset="0"/>
            </a:endParaRPr>
          </a:p>
        </p:txBody>
      </p:sp>
      <p:sp>
        <p:nvSpPr>
          <p:cNvPr id="168987" name="Text Box 27"/>
          <p:cNvSpPr txBox="1">
            <a:spLocks noChangeArrowheads="1"/>
          </p:cNvSpPr>
          <p:nvPr/>
        </p:nvSpPr>
        <p:spPr bwMode="auto">
          <a:xfrm>
            <a:off x="755650" y="2417763"/>
            <a:ext cx="2181225" cy="512762"/>
          </a:xfrm>
          <a:prstGeom prst="rect">
            <a:avLst/>
          </a:prstGeom>
          <a:noFill/>
          <a:ln w="9525">
            <a:noFill/>
            <a:miter lim="800000"/>
          </a:ln>
        </p:spPr>
        <p:txBody>
          <a:bodyPr>
            <a:spAutoFit/>
          </a:bodyPr>
          <a:lstStyle/>
          <a:p>
            <a:pPr>
              <a:lnSpc>
                <a:spcPct val="115000"/>
              </a:lnSpc>
            </a:pPr>
            <a:r>
              <a:rPr kumimoji="1" lang="zh-CN" altLang="en-US" b="1">
                <a:ea typeface="楷体_GB2312" pitchFamily="49" charset="-122"/>
              </a:rPr>
              <a:t>绝热过程</a:t>
            </a:r>
            <a:endParaRPr kumimoji="1" lang="zh-CN" altLang="en-US" b="1">
              <a:ea typeface="楷体_GB2312" pitchFamily="49" charset="-122"/>
            </a:endParaRPr>
          </a:p>
        </p:txBody>
      </p:sp>
      <p:sp>
        <p:nvSpPr>
          <p:cNvPr id="168988" name="Text Box 28"/>
          <p:cNvSpPr txBox="1">
            <a:spLocks noChangeArrowheads="1"/>
          </p:cNvSpPr>
          <p:nvPr/>
        </p:nvSpPr>
        <p:spPr bwMode="auto">
          <a:xfrm>
            <a:off x="714375" y="3043238"/>
            <a:ext cx="2827338" cy="512762"/>
          </a:xfrm>
          <a:prstGeom prst="rect">
            <a:avLst/>
          </a:prstGeom>
          <a:noFill/>
          <a:ln w="9525">
            <a:noFill/>
            <a:miter lim="800000"/>
          </a:ln>
        </p:spPr>
        <p:txBody>
          <a:bodyPr>
            <a:spAutoFit/>
          </a:bodyPr>
          <a:lstStyle/>
          <a:p>
            <a:pPr>
              <a:lnSpc>
                <a:spcPct val="115000"/>
              </a:lnSpc>
            </a:pPr>
            <a:r>
              <a:rPr kumimoji="1" lang="zh-CN" altLang="en-US" b="1">
                <a:ea typeface="楷体_GB2312" pitchFamily="49" charset="-122"/>
              </a:rPr>
              <a:t>自由膨胀过程</a:t>
            </a:r>
            <a:endParaRPr kumimoji="1" lang="zh-CN" altLang="en-US" b="1">
              <a:ea typeface="楷体_GB2312" pitchFamily="49" charset="-122"/>
            </a:endParaRPr>
          </a:p>
        </p:txBody>
      </p:sp>
      <p:sp>
        <p:nvSpPr>
          <p:cNvPr id="29" name="AutoShape 14">
            <a:hlinkClick r:id="rId17" action="ppaction://hlinksldjump" highlightClick="1"/>
          </p:cNvPr>
          <p:cNvSpPr>
            <a:spLocks noChangeArrowheads="1"/>
          </p:cNvSpPr>
          <p:nvPr/>
        </p:nvSpPr>
        <p:spPr bwMode="auto">
          <a:xfrm>
            <a:off x="8001000" y="5929313"/>
            <a:ext cx="287338" cy="287337"/>
          </a:xfrm>
          <a:prstGeom prst="actionButtonBeginning">
            <a:avLst/>
          </a:prstGeom>
          <a:solidFill>
            <a:srgbClr val="99CCFF"/>
          </a:solidFill>
          <a:ln w="9525">
            <a:noFill/>
            <a:miter lim="800000"/>
          </a:ln>
        </p:spPr>
        <p:txBody>
          <a:bodyPr wrap="none"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84"/>
                                        </p:tgtEl>
                                        <p:attrNameLst>
                                          <p:attrName>style.visibility</p:attrName>
                                        </p:attrNameLst>
                                      </p:cBhvr>
                                      <p:to>
                                        <p:strVal val="visible"/>
                                      </p:to>
                                    </p:set>
                                    <p:animEffect transition="in" filter="wipe(left)">
                                      <p:cBhvr>
                                        <p:cTn id="7" dur="500"/>
                                        <p:tgtEl>
                                          <p:spTgt spid="16898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8976"/>
                                        </p:tgtEl>
                                        <p:attrNameLst>
                                          <p:attrName>style.visibility</p:attrName>
                                        </p:attrNameLst>
                                      </p:cBhvr>
                                      <p:to>
                                        <p:strVal val="visible"/>
                                      </p:to>
                                    </p:set>
                                    <p:animEffect transition="in" filter="wipe(left)">
                                      <p:cBhvr>
                                        <p:cTn id="11" dur="500"/>
                                        <p:tgtEl>
                                          <p:spTgt spid="16897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8985"/>
                                        </p:tgtEl>
                                        <p:attrNameLst>
                                          <p:attrName>style.visibility</p:attrName>
                                        </p:attrNameLst>
                                      </p:cBhvr>
                                      <p:to>
                                        <p:strVal val="visible"/>
                                      </p:to>
                                    </p:set>
                                    <p:animEffect transition="in" filter="wipe(left)">
                                      <p:cBhvr>
                                        <p:cTn id="21" dur="500"/>
                                        <p:tgtEl>
                                          <p:spTgt spid="168985"/>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68986"/>
                                        </p:tgtEl>
                                        <p:attrNameLst>
                                          <p:attrName>style.visibility</p:attrName>
                                        </p:attrNameLst>
                                      </p:cBhvr>
                                      <p:to>
                                        <p:strVal val="visible"/>
                                      </p:to>
                                    </p:set>
                                    <p:animEffect transition="in" filter="wipe(left)">
                                      <p:cBhvr>
                                        <p:cTn id="25" dur="500"/>
                                        <p:tgtEl>
                                          <p:spTgt spid="16898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8968"/>
                                        </p:tgtEl>
                                        <p:attrNameLst>
                                          <p:attrName>style.visibility</p:attrName>
                                        </p:attrNameLst>
                                      </p:cBhvr>
                                      <p:to>
                                        <p:strVal val="visible"/>
                                      </p:to>
                                    </p:set>
                                    <p:animEffect transition="in" filter="wipe(left)">
                                      <p:cBhvr>
                                        <p:cTn id="30" dur="500"/>
                                        <p:tgtEl>
                                          <p:spTgt spid="16896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 presetClass="exit" presetSubtype="32" fill="hold" nodeType="clickEffect">
                                  <p:stCondLst>
                                    <p:cond delay="0"/>
                                  </p:stCondLst>
                                  <p:childTnLst>
                                    <p:animEffect transition="out" filter="box(out)">
                                      <p:cBhvr>
                                        <p:cTn id="38" dur="500"/>
                                        <p:tgtEl>
                                          <p:spTgt spid="3"/>
                                        </p:tgtEl>
                                      </p:cBhvr>
                                    </p:animEffect>
                                    <p:set>
                                      <p:cBhvr>
                                        <p:cTn id="39" dur="1" fill="hold">
                                          <p:stCondLst>
                                            <p:cond delay="499"/>
                                          </p:stCondLst>
                                        </p:cTn>
                                        <p:tgtEl>
                                          <p:spTgt spid="3"/>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68987"/>
                                        </p:tgtEl>
                                        <p:attrNameLst>
                                          <p:attrName>style.visibility</p:attrName>
                                        </p:attrNameLst>
                                      </p:cBhvr>
                                      <p:to>
                                        <p:strVal val="visible"/>
                                      </p:to>
                                    </p:set>
                                    <p:animEffect transition="in" filter="wipe(left)">
                                      <p:cBhvr>
                                        <p:cTn id="44" dur="500"/>
                                        <p:tgtEl>
                                          <p:spTgt spid="16898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68971"/>
                                        </p:tgtEl>
                                        <p:attrNameLst>
                                          <p:attrName>style.visibility</p:attrName>
                                        </p:attrNameLst>
                                      </p:cBhvr>
                                      <p:to>
                                        <p:strVal val="visible"/>
                                      </p:to>
                                    </p:set>
                                    <p:animEffect transition="in" filter="wipe(left)">
                                      <p:cBhvr>
                                        <p:cTn id="49" dur="500"/>
                                        <p:tgtEl>
                                          <p:spTgt spid="16897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68988"/>
                                        </p:tgtEl>
                                        <p:attrNameLst>
                                          <p:attrName>style.visibility</p:attrName>
                                        </p:attrNameLst>
                                      </p:cBhvr>
                                      <p:to>
                                        <p:strVal val="visible"/>
                                      </p:to>
                                    </p:set>
                                    <p:animEffect transition="in" filter="wipe(left)">
                                      <p:cBhvr>
                                        <p:cTn id="54" dur="500"/>
                                        <p:tgtEl>
                                          <p:spTgt spid="16898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68972"/>
                                        </p:tgtEl>
                                        <p:attrNameLst>
                                          <p:attrName>style.visibility</p:attrName>
                                        </p:attrNameLst>
                                      </p:cBhvr>
                                      <p:to>
                                        <p:strVal val="visible"/>
                                      </p:to>
                                    </p:set>
                                    <p:animEffect transition="in" filter="wipe(left)">
                                      <p:cBhvr>
                                        <p:cTn id="59" dur="500"/>
                                        <p:tgtEl>
                                          <p:spTgt spid="16897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68967"/>
                                        </p:tgtEl>
                                        <p:attrNameLst>
                                          <p:attrName>style.visibility</p:attrName>
                                        </p:attrNameLst>
                                      </p:cBhvr>
                                      <p:to>
                                        <p:strVal val="visible"/>
                                      </p:to>
                                    </p:set>
                                    <p:animEffect transition="in" filter="wipe(left)">
                                      <p:cBhvr>
                                        <p:cTn id="64" dur="500"/>
                                        <p:tgtEl>
                                          <p:spTgt spid="16896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68973"/>
                                        </p:tgtEl>
                                        <p:attrNameLst>
                                          <p:attrName>style.visibility</p:attrName>
                                        </p:attrNameLst>
                                      </p:cBhvr>
                                      <p:to>
                                        <p:strVal val="visible"/>
                                      </p:to>
                                    </p:set>
                                    <p:animEffect transition="in" filter="wipe(left)">
                                      <p:cBhvr>
                                        <p:cTn id="69" dur="500"/>
                                        <p:tgtEl>
                                          <p:spTgt spid="16897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68983"/>
                                        </p:tgtEl>
                                        <p:attrNameLst>
                                          <p:attrName>style.visibility</p:attrName>
                                        </p:attrNameLst>
                                      </p:cBhvr>
                                      <p:to>
                                        <p:strVal val="visible"/>
                                      </p:to>
                                    </p:set>
                                    <p:animEffect transition="in" filter="wipe(left)">
                                      <p:cBhvr>
                                        <p:cTn id="74" dur="500"/>
                                        <p:tgtEl>
                                          <p:spTgt spid="16898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68974"/>
                                        </p:tgtEl>
                                        <p:attrNameLst>
                                          <p:attrName>style.visibility</p:attrName>
                                        </p:attrNameLst>
                                      </p:cBhvr>
                                      <p:to>
                                        <p:strVal val="visible"/>
                                      </p:to>
                                    </p:set>
                                    <p:animEffect transition="in" filter="wipe(left)">
                                      <p:cBhvr>
                                        <p:cTn id="79" dur="500"/>
                                        <p:tgtEl>
                                          <p:spTgt spid="168974"/>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68969"/>
                                        </p:tgtEl>
                                        <p:attrNameLst>
                                          <p:attrName>style.visibility</p:attrName>
                                        </p:attrNameLst>
                                      </p:cBhvr>
                                      <p:to>
                                        <p:strVal val="visible"/>
                                      </p:to>
                                    </p:set>
                                    <p:animEffect transition="in" filter="wipe(left)">
                                      <p:cBhvr>
                                        <p:cTn id="84" dur="500"/>
                                        <p:tgtEl>
                                          <p:spTgt spid="16896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68970"/>
                                        </p:tgtEl>
                                        <p:attrNameLst>
                                          <p:attrName>style.visibility</p:attrName>
                                        </p:attrNameLst>
                                      </p:cBhvr>
                                      <p:to>
                                        <p:strVal val="visible"/>
                                      </p:to>
                                    </p:set>
                                    <p:animEffect transition="in" filter="wipe(left)">
                                      <p:cBhvr>
                                        <p:cTn id="89" dur="500"/>
                                        <p:tgtEl>
                                          <p:spTgt spid="16897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168975"/>
                                        </p:tgtEl>
                                        <p:attrNameLst>
                                          <p:attrName>style.visibility</p:attrName>
                                        </p:attrNameLst>
                                      </p:cBhvr>
                                      <p:to>
                                        <p:strVal val="visible"/>
                                      </p:to>
                                    </p:set>
                                    <p:animEffect transition="in" filter="wipe(left)">
                                      <p:cBhvr>
                                        <p:cTn id="94" dur="500"/>
                                        <p:tgtEl>
                                          <p:spTgt spid="16897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grpId="0" nodeType="click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wipe(down)">
                                      <p:cBhvr>
                                        <p:cTn id="9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7" grpId="0"/>
      <p:bldP spid="168968" grpId="0"/>
      <p:bldP spid="168969" grpId="0"/>
      <p:bldP spid="168976" grpId="0"/>
      <p:bldP spid="168983" grpId="0" animBg="1"/>
      <p:bldP spid="168984" grpId="0"/>
      <p:bldP spid="168985" grpId="0"/>
      <p:bldP spid="168986" grpId="0"/>
      <p:bldP spid="168987" grpId="0"/>
      <p:bldP spid="168988" grpId="0"/>
      <p:bldP spid="2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5" name="Line 103"/>
          <p:cNvSpPr>
            <a:spLocks noChangeShapeType="1"/>
          </p:cNvSpPr>
          <p:nvPr/>
        </p:nvSpPr>
        <p:spPr bwMode="auto">
          <a:xfrm>
            <a:off x="7526338" y="4087813"/>
            <a:ext cx="0" cy="504825"/>
          </a:xfrm>
          <a:prstGeom prst="line">
            <a:avLst/>
          </a:prstGeom>
          <a:noFill/>
          <a:ln w="12700">
            <a:solidFill>
              <a:srgbClr val="000099"/>
            </a:solidFill>
            <a:prstDash val="dash"/>
            <a:round/>
          </a:ln>
        </p:spPr>
        <p:txBody>
          <a:bodyPr/>
          <a:lstStyle/>
          <a:p>
            <a:endParaRPr lang="zh-CN" altLang="en-US"/>
          </a:p>
        </p:txBody>
      </p:sp>
      <p:sp>
        <p:nvSpPr>
          <p:cNvPr id="28782" name="Line 110"/>
          <p:cNvSpPr>
            <a:spLocks noChangeShapeType="1"/>
          </p:cNvSpPr>
          <p:nvPr/>
        </p:nvSpPr>
        <p:spPr bwMode="auto">
          <a:xfrm>
            <a:off x="6607175" y="4081463"/>
            <a:ext cx="915988" cy="23812"/>
          </a:xfrm>
          <a:prstGeom prst="line">
            <a:avLst/>
          </a:prstGeom>
          <a:noFill/>
          <a:ln w="12700">
            <a:solidFill>
              <a:srgbClr val="000099"/>
            </a:solidFill>
            <a:prstDash val="dash"/>
            <a:miter lim="800000"/>
            <a:headEnd type="none" w="sm" len="sm"/>
            <a:tailEnd type="none" w="sm" len="sm"/>
          </a:ln>
        </p:spPr>
        <p:txBody>
          <a:bodyPr wrap="none"/>
          <a:lstStyle/>
          <a:p>
            <a:endParaRPr lang="zh-CN" altLang="en-US"/>
          </a:p>
        </p:txBody>
      </p:sp>
      <p:graphicFrame>
        <p:nvGraphicFramePr>
          <p:cNvPr id="28783" name="Object 111"/>
          <p:cNvGraphicFramePr>
            <a:graphicFrameLocks noChangeAspect="1"/>
          </p:cNvGraphicFramePr>
          <p:nvPr/>
        </p:nvGraphicFramePr>
        <p:xfrm>
          <a:off x="6275388" y="3840163"/>
          <a:ext cx="341312" cy="387350"/>
        </p:xfrm>
        <a:graphic>
          <a:graphicData uri="http://schemas.openxmlformats.org/presentationml/2006/ole">
            <mc:AlternateContent xmlns:mc="http://schemas.openxmlformats.org/markup-compatibility/2006">
              <mc:Choice xmlns:v="urn:schemas-microsoft-com:vml" Requires="v">
                <p:oleObj spid="_x0000_s12289" name="Equation" r:id="rId1" imgW="4572000" imgH="5181600" progId="Equation.DSMT4">
                  <p:embed/>
                </p:oleObj>
              </mc:Choice>
              <mc:Fallback>
                <p:oleObj name="Equation" r:id="rId1" imgW="4572000" imgH="5181600" progId="Equation.DSMT4">
                  <p:embed/>
                  <p:pic>
                    <p:nvPicPr>
                      <p:cNvPr id="0" name="Object 111"/>
                      <p:cNvPicPr>
                        <a:picLocks noChangeAspect="1"/>
                      </p:cNvPicPr>
                      <p:nvPr/>
                    </p:nvPicPr>
                    <p:blipFill>
                      <a:blip r:embed="rId2"/>
                      <a:stretch>
                        <a:fillRect/>
                      </a:stretch>
                    </p:blipFill>
                    <p:spPr>
                      <a:xfrm>
                        <a:off x="6275388" y="3840163"/>
                        <a:ext cx="341312" cy="387350"/>
                      </a:xfrm>
                      <a:prstGeom prst="rect">
                        <a:avLst/>
                      </a:prstGeom>
                      <a:noFill/>
                      <a:ln w="9525">
                        <a:noFill/>
                      </a:ln>
                    </p:spPr>
                  </p:pic>
                </p:oleObj>
              </mc:Fallback>
            </mc:AlternateContent>
          </a:graphicData>
        </a:graphic>
      </p:graphicFrame>
      <p:sp>
        <p:nvSpPr>
          <p:cNvPr id="28784" name="Line 112"/>
          <p:cNvSpPr>
            <a:spLocks noChangeShapeType="1"/>
          </p:cNvSpPr>
          <p:nvPr/>
        </p:nvSpPr>
        <p:spPr bwMode="auto">
          <a:xfrm>
            <a:off x="6607175" y="3362325"/>
            <a:ext cx="858838" cy="25400"/>
          </a:xfrm>
          <a:prstGeom prst="line">
            <a:avLst/>
          </a:prstGeom>
          <a:noFill/>
          <a:ln w="12700">
            <a:solidFill>
              <a:srgbClr val="000099"/>
            </a:solidFill>
            <a:prstDash val="dash"/>
            <a:miter lim="800000"/>
            <a:headEnd type="none" w="sm" len="sm"/>
            <a:tailEnd type="none" w="sm" len="sm"/>
          </a:ln>
        </p:spPr>
        <p:txBody>
          <a:bodyPr wrap="none"/>
          <a:lstStyle/>
          <a:p>
            <a:endParaRPr lang="zh-CN" altLang="en-US"/>
          </a:p>
        </p:txBody>
      </p:sp>
      <p:graphicFrame>
        <p:nvGraphicFramePr>
          <p:cNvPr id="28785" name="Object 113"/>
          <p:cNvGraphicFramePr>
            <a:graphicFrameLocks noChangeAspect="1"/>
          </p:cNvGraphicFramePr>
          <p:nvPr/>
        </p:nvGraphicFramePr>
        <p:xfrm>
          <a:off x="7967663" y="3886200"/>
          <a:ext cx="298450" cy="385763"/>
        </p:xfrm>
        <a:graphic>
          <a:graphicData uri="http://schemas.openxmlformats.org/presentationml/2006/ole">
            <mc:AlternateContent xmlns:mc="http://schemas.openxmlformats.org/markup-compatibility/2006">
              <mc:Choice xmlns:v="urn:schemas-microsoft-com:vml" Requires="v">
                <p:oleObj spid="_x0000_s12291" name="公式" r:id="rId3" imgW="3962400" imgH="5181600" progId="Equation.3">
                  <p:embed/>
                </p:oleObj>
              </mc:Choice>
              <mc:Fallback>
                <p:oleObj name="公式" r:id="rId3" imgW="3962400" imgH="5181600" progId="Equation.3">
                  <p:embed/>
                  <p:pic>
                    <p:nvPicPr>
                      <p:cNvPr id="0" name="Object 113"/>
                      <p:cNvPicPr>
                        <a:picLocks noChangeAspect="1"/>
                      </p:cNvPicPr>
                      <p:nvPr/>
                    </p:nvPicPr>
                    <p:blipFill>
                      <a:blip r:embed="rId4"/>
                      <a:stretch>
                        <a:fillRect/>
                      </a:stretch>
                    </p:blipFill>
                    <p:spPr>
                      <a:xfrm>
                        <a:off x="7967663" y="3886200"/>
                        <a:ext cx="298450" cy="385763"/>
                      </a:xfrm>
                      <a:prstGeom prst="rect">
                        <a:avLst/>
                      </a:prstGeom>
                      <a:noFill/>
                      <a:ln w="9525">
                        <a:noFill/>
                      </a:ln>
                    </p:spPr>
                  </p:pic>
                </p:oleObj>
              </mc:Fallback>
            </mc:AlternateContent>
          </a:graphicData>
        </a:graphic>
      </p:graphicFrame>
      <p:grpSp>
        <p:nvGrpSpPr>
          <p:cNvPr id="2" name="Group 114"/>
          <p:cNvGrpSpPr/>
          <p:nvPr/>
        </p:nvGrpSpPr>
        <p:grpSpPr bwMode="auto">
          <a:xfrm>
            <a:off x="7535863" y="3478213"/>
            <a:ext cx="93662" cy="627062"/>
            <a:chOff x="7392999" y="3478208"/>
            <a:chExt cx="93662" cy="627062"/>
          </a:xfrm>
        </p:grpSpPr>
        <p:sp>
          <p:nvSpPr>
            <p:cNvPr id="12333" name="Line 115"/>
            <p:cNvSpPr>
              <a:spLocks noChangeShapeType="1"/>
            </p:cNvSpPr>
            <p:nvPr/>
          </p:nvSpPr>
          <p:spPr bwMode="auto">
            <a:xfrm flipV="1">
              <a:off x="4896" y="1440"/>
              <a:ext cx="0" cy="576"/>
            </a:xfrm>
            <a:prstGeom prst="line">
              <a:avLst/>
            </a:prstGeom>
            <a:noFill/>
            <a:ln w="38100" cap="sq">
              <a:solidFill>
                <a:srgbClr val="FF0000"/>
              </a:solidFill>
              <a:miter lim="800000"/>
              <a:headEnd type="none" w="sm" len="sm"/>
            </a:ln>
          </p:spPr>
          <p:txBody>
            <a:bodyPr wrap="none"/>
            <a:lstStyle/>
            <a:p>
              <a:endParaRPr lang="zh-CN" altLang="en-US"/>
            </a:p>
          </p:txBody>
        </p:sp>
        <p:sp>
          <p:nvSpPr>
            <p:cNvPr id="12334" name="Line 116"/>
            <p:cNvSpPr>
              <a:spLocks noChangeShapeType="1"/>
            </p:cNvSpPr>
            <p:nvPr/>
          </p:nvSpPr>
          <p:spPr bwMode="auto">
            <a:xfrm flipV="1">
              <a:off x="4896" y="1632"/>
              <a:ext cx="0" cy="240"/>
            </a:xfrm>
            <a:prstGeom prst="line">
              <a:avLst/>
            </a:prstGeom>
            <a:noFill/>
            <a:ln w="38100">
              <a:solidFill>
                <a:srgbClr val="FF0000"/>
              </a:solidFill>
              <a:round/>
              <a:tailEnd type="triangle" w="med" len="med"/>
            </a:ln>
          </p:spPr>
          <p:txBody>
            <a:bodyPr wrap="none"/>
            <a:lstStyle/>
            <a:p>
              <a:endParaRPr lang="zh-CN" altLang="en-US"/>
            </a:p>
          </p:txBody>
        </p:sp>
      </p:grpSp>
      <p:sp>
        <p:nvSpPr>
          <p:cNvPr id="28789" name="Text Box 117"/>
          <p:cNvSpPr txBox="1">
            <a:spLocks noChangeArrowheads="1"/>
          </p:cNvSpPr>
          <p:nvPr/>
        </p:nvSpPr>
        <p:spPr bwMode="auto">
          <a:xfrm>
            <a:off x="7564438" y="3798888"/>
            <a:ext cx="439737" cy="442912"/>
          </a:xfrm>
          <a:prstGeom prst="rect">
            <a:avLst/>
          </a:prstGeom>
          <a:noFill/>
          <a:ln w="12700" cap="sq">
            <a:noFill/>
            <a:miter lim="800000"/>
            <a:headEnd type="none" w="sm" len="sm"/>
            <a:tailEnd type="none" w="sm" len="sm"/>
          </a:ln>
        </p:spPr>
        <p:txBody>
          <a:bodyPr wrap="none">
            <a:spAutoFit/>
          </a:bodyPr>
          <a:lstStyle/>
          <a:p>
            <a:pPr>
              <a:lnSpc>
                <a:spcPct val="115000"/>
              </a:lnSpc>
            </a:pPr>
            <a:r>
              <a:rPr kumimoji="1" lang="en-US" altLang="zh-CN" sz="2000" b="1">
                <a:solidFill>
                  <a:srgbClr val="A50021"/>
                </a:solidFill>
                <a:latin typeface="宋体" panose="02010600030101010101" pitchFamily="2" charset="-122"/>
              </a:rPr>
              <a:t>Ⅰ</a:t>
            </a:r>
            <a:endParaRPr kumimoji="1" lang="en-US" altLang="zh-CN" sz="2000" b="1">
              <a:solidFill>
                <a:srgbClr val="A50021"/>
              </a:solidFill>
              <a:latin typeface="宋体" panose="02010600030101010101" pitchFamily="2" charset="-122"/>
            </a:endParaRPr>
          </a:p>
        </p:txBody>
      </p:sp>
      <p:graphicFrame>
        <p:nvGraphicFramePr>
          <p:cNvPr id="28790" name="Object 118"/>
          <p:cNvGraphicFramePr>
            <a:graphicFrameLocks noChangeAspect="1"/>
          </p:cNvGraphicFramePr>
          <p:nvPr/>
        </p:nvGraphicFramePr>
        <p:xfrm>
          <a:off x="7458075" y="3968750"/>
          <a:ext cx="193675" cy="192088"/>
        </p:xfrm>
        <a:graphic>
          <a:graphicData uri="http://schemas.openxmlformats.org/presentationml/2006/ole">
            <mc:AlternateContent xmlns:mc="http://schemas.openxmlformats.org/markup-compatibility/2006">
              <mc:Choice xmlns:v="urn:schemas-microsoft-com:vml" Requires="v">
                <p:oleObj spid="_x0000_s12292" name="公式" r:id="rId5" imgW="4572000" imgH="4572000" progId="Equation.3">
                  <p:embed/>
                </p:oleObj>
              </mc:Choice>
              <mc:Fallback>
                <p:oleObj name="公式" r:id="rId5" imgW="4572000" imgH="4572000" progId="Equation.3">
                  <p:embed/>
                  <p:pic>
                    <p:nvPicPr>
                      <p:cNvPr id="0" name="Object 118"/>
                      <p:cNvPicPr>
                        <a:picLocks noChangeAspect="1"/>
                      </p:cNvPicPr>
                      <p:nvPr/>
                    </p:nvPicPr>
                    <p:blipFill>
                      <a:blip r:embed="rId6"/>
                      <a:stretch>
                        <a:fillRect/>
                      </a:stretch>
                    </p:blipFill>
                    <p:spPr>
                      <a:xfrm>
                        <a:off x="7458075" y="3968750"/>
                        <a:ext cx="193675" cy="192088"/>
                      </a:xfrm>
                      <a:prstGeom prst="rect">
                        <a:avLst/>
                      </a:prstGeom>
                      <a:noFill/>
                      <a:ln w="9525">
                        <a:noFill/>
                      </a:ln>
                    </p:spPr>
                  </p:pic>
                </p:oleObj>
              </mc:Fallback>
            </mc:AlternateContent>
          </a:graphicData>
        </a:graphic>
      </p:graphicFrame>
      <p:sp>
        <p:nvSpPr>
          <p:cNvPr id="28791" name="Text Box 119"/>
          <p:cNvSpPr txBox="1">
            <a:spLocks noChangeArrowheads="1"/>
          </p:cNvSpPr>
          <p:nvPr/>
        </p:nvSpPr>
        <p:spPr bwMode="auto">
          <a:xfrm>
            <a:off x="7543800" y="3167063"/>
            <a:ext cx="439738" cy="442912"/>
          </a:xfrm>
          <a:prstGeom prst="rect">
            <a:avLst/>
          </a:prstGeom>
          <a:noFill/>
          <a:ln w="12700" cap="sq">
            <a:noFill/>
            <a:miter lim="800000"/>
            <a:headEnd type="none" w="sm" len="sm"/>
            <a:tailEnd type="none" w="sm" len="sm"/>
          </a:ln>
        </p:spPr>
        <p:txBody>
          <a:bodyPr wrap="none">
            <a:spAutoFit/>
          </a:bodyPr>
          <a:lstStyle/>
          <a:p>
            <a:pPr>
              <a:lnSpc>
                <a:spcPct val="115000"/>
              </a:lnSpc>
            </a:pPr>
            <a:r>
              <a:rPr kumimoji="1" lang="en-US" altLang="zh-CN" sz="2000" b="1">
                <a:solidFill>
                  <a:srgbClr val="A50021"/>
                </a:solidFill>
                <a:latin typeface="宋体" panose="02010600030101010101" pitchFamily="2" charset="-122"/>
              </a:rPr>
              <a:t>Ⅱ</a:t>
            </a:r>
            <a:endParaRPr kumimoji="1" lang="en-US" altLang="zh-CN" sz="2000" b="1">
              <a:solidFill>
                <a:srgbClr val="A50021"/>
              </a:solidFill>
              <a:latin typeface="宋体" panose="02010600030101010101" pitchFamily="2" charset="-122"/>
            </a:endParaRPr>
          </a:p>
        </p:txBody>
      </p:sp>
      <p:graphicFrame>
        <p:nvGraphicFramePr>
          <p:cNvPr id="28792" name="Object 120"/>
          <p:cNvGraphicFramePr>
            <a:graphicFrameLocks noChangeAspect="1"/>
          </p:cNvGraphicFramePr>
          <p:nvPr/>
        </p:nvGraphicFramePr>
        <p:xfrm>
          <a:off x="7459663" y="3289300"/>
          <a:ext cx="193675" cy="192088"/>
        </p:xfrm>
        <a:graphic>
          <a:graphicData uri="http://schemas.openxmlformats.org/presentationml/2006/ole">
            <mc:AlternateContent xmlns:mc="http://schemas.openxmlformats.org/markup-compatibility/2006">
              <mc:Choice xmlns:v="urn:schemas-microsoft-com:vml" Requires="v">
                <p:oleObj spid="_x0000_s12293" name="公式" r:id="rId7" imgW="4572000" imgH="4572000" progId="Equation.3">
                  <p:embed/>
                </p:oleObj>
              </mc:Choice>
              <mc:Fallback>
                <p:oleObj name="公式" r:id="rId7" imgW="4572000" imgH="4572000" progId="Equation.3">
                  <p:embed/>
                  <p:pic>
                    <p:nvPicPr>
                      <p:cNvPr id="0" name="Object 120"/>
                      <p:cNvPicPr>
                        <a:picLocks noChangeAspect="1"/>
                      </p:cNvPicPr>
                      <p:nvPr/>
                    </p:nvPicPr>
                    <p:blipFill>
                      <a:blip r:embed="rId6"/>
                      <a:stretch>
                        <a:fillRect/>
                      </a:stretch>
                    </p:blipFill>
                    <p:spPr>
                      <a:xfrm>
                        <a:off x="7459663" y="3289300"/>
                        <a:ext cx="193675" cy="192088"/>
                      </a:xfrm>
                      <a:prstGeom prst="rect">
                        <a:avLst/>
                      </a:prstGeom>
                      <a:noFill/>
                      <a:ln w="9525">
                        <a:noFill/>
                      </a:ln>
                    </p:spPr>
                  </p:pic>
                </p:oleObj>
              </mc:Fallback>
            </mc:AlternateContent>
          </a:graphicData>
        </a:graphic>
      </p:graphicFrame>
      <p:graphicFrame>
        <p:nvGraphicFramePr>
          <p:cNvPr id="28793" name="Object 121"/>
          <p:cNvGraphicFramePr>
            <a:graphicFrameLocks noChangeAspect="1"/>
          </p:cNvGraphicFramePr>
          <p:nvPr/>
        </p:nvGraphicFramePr>
        <p:xfrm>
          <a:off x="7967663" y="3192463"/>
          <a:ext cx="320675" cy="387350"/>
        </p:xfrm>
        <a:graphic>
          <a:graphicData uri="http://schemas.openxmlformats.org/presentationml/2006/ole">
            <mc:AlternateContent xmlns:mc="http://schemas.openxmlformats.org/markup-compatibility/2006">
              <mc:Choice xmlns:v="urn:schemas-microsoft-com:vml" Requires="v">
                <p:oleObj spid="_x0000_s12294" name="公式" r:id="rId8" imgW="4267200" imgH="5181600" progId="Equation.3">
                  <p:embed/>
                </p:oleObj>
              </mc:Choice>
              <mc:Fallback>
                <p:oleObj name="公式" r:id="rId8" imgW="4267200" imgH="5181600" progId="Equation.3">
                  <p:embed/>
                  <p:pic>
                    <p:nvPicPr>
                      <p:cNvPr id="0" name="Object 121"/>
                      <p:cNvPicPr>
                        <a:picLocks noChangeAspect="1"/>
                      </p:cNvPicPr>
                      <p:nvPr/>
                    </p:nvPicPr>
                    <p:blipFill>
                      <a:blip r:embed="rId9"/>
                      <a:stretch>
                        <a:fillRect/>
                      </a:stretch>
                    </p:blipFill>
                    <p:spPr>
                      <a:xfrm>
                        <a:off x="7967663" y="3192463"/>
                        <a:ext cx="320675" cy="387350"/>
                      </a:xfrm>
                      <a:prstGeom prst="rect">
                        <a:avLst/>
                      </a:prstGeom>
                      <a:noFill/>
                      <a:ln w="9525">
                        <a:noFill/>
                      </a:ln>
                    </p:spPr>
                  </p:pic>
                </p:oleObj>
              </mc:Fallback>
            </mc:AlternateContent>
          </a:graphicData>
        </a:graphic>
      </p:graphicFrame>
      <p:graphicFrame>
        <p:nvGraphicFramePr>
          <p:cNvPr id="28794" name="Object 122"/>
          <p:cNvGraphicFramePr>
            <a:graphicFrameLocks noChangeAspect="1"/>
          </p:cNvGraphicFramePr>
          <p:nvPr/>
        </p:nvGraphicFramePr>
        <p:xfrm>
          <a:off x="6256338" y="3233738"/>
          <a:ext cx="341312" cy="387350"/>
        </p:xfrm>
        <a:graphic>
          <a:graphicData uri="http://schemas.openxmlformats.org/presentationml/2006/ole">
            <mc:AlternateContent xmlns:mc="http://schemas.openxmlformats.org/markup-compatibility/2006">
              <mc:Choice xmlns:v="urn:schemas-microsoft-com:vml" Requires="v">
                <p:oleObj spid="_x0000_s12295" name="公式" r:id="rId10" imgW="4572000" imgH="5181600" progId="Equation.3">
                  <p:embed/>
                </p:oleObj>
              </mc:Choice>
              <mc:Fallback>
                <p:oleObj name="公式" r:id="rId10" imgW="4572000" imgH="5181600" progId="Equation.3">
                  <p:embed/>
                  <p:pic>
                    <p:nvPicPr>
                      <p:cNvPr id="0" name="Object 122"/>
                      <p:cNvPicPr>
                        <a:picLocks noChangeAspect="1"/>
                      </p:cNvPicPr>
                      <p:nvPr/>
                    </p:nvPicPr>
                    <p:blipFill>
                      <a:blip r:embed="rId11"/>
                      <a:stretch>
                        <a:fillRect/>
                      </a:stretch>
                    </p:blipFill>
                    <p:spPr>
                      <a:xfrm>
                        <a:off x="6256338" y="3233738"/>
                        <a:ext cx="341312" cy="387350"/>
                      </a:xfrm>
                      <a:prstGeom prst="rect">
                        <a:avLst/>
                      </a:prstGeom>
                      <a:noFill/>
                      <a:ln w="9525">
                        <a:noFill/>
                      </a:ln>
                    </p:spPr>
                  </p:pic>
                </p:oleObj>
              </mc:Fallback>
            </mc:AlternateContent>
          </a:graphicData>
        </a:graphic>
      </p:graphicFrame>
      <p:grpSp>
        <p:nvGrpSpPr>
          <p:cNvPr id="3" name="Group 123"/>
          <p:cNvGrpSpPr/>
          <p:nvPr/>
        </p:nvGrpSpPr>
        <p:grpSpPr bwMode="auto">
          <a:xfrm>
            <a:off x="6357938" y="2714625"/>
            <a:ext cx="2390775" cy="2359025"/>
            <a:chOff x="3642" y="2359"/>
            <a:chExt cx="1815" cy="1486"/>
          </a:xfrm>
        </p:grpSpPr>
        <p:sp>
          <p:nvSpPr>
            <p:cNvPr id="12328" name="Line 124"/>
            <p:cNvSpPr>
              <a:spLocks noChangeAspect="1" noChangeShapeType="1"/>
            </p:cNvSpPr>
            <p:nvPr/>
          </p:nvSpPr>
          <p:spPr bwMode="auto">
            <a:xfrm flipV="1">
              <a:off x="3827" y="3566"/>
              <a:ext cx="1573" cy="0"/>
            </a:xfrm>
            <a:prstGeom prst="line">
              <a:avLst/>
            </a:prstGeom>
            <a:noFill/>
            <a:ln w="28575">
              <a:solidFill>
                <a:srgbClr val="000099"/>
              </a:solidFill>
              <a:round/>
              <a:tailEnd type="triangle" w="med" len="lg"/>
            </a:ln>
          </p:spPr>
          <p:txBody>
            <a:bodyPr wrap="none" anchor="ctr"/>
            <a:lstStyle/>
            <a:p>
              <a:endParaRPr lang="zh-CN" altLang="en-US"/>
            </a:p>
          </p:txBody>
        </p:sp>
        <p:sp>
          <p:nvSpPr>
            <p:cNvPr id="12329" name="Line 125"/>
            <p:cNvSpPr>
              <a:spLocks noChangeAspect="1" noChangeShapeType="1"/>
            </p:cNvSpPr>
            <p:nvPr/>
          </p:nvSpPr>
          <p:spPr bwMode="auto">
            <a:xfrm flipH="1" flipV="1">
              <a:off x="3827" y="2493"/>
              <a:ext cx="0" cy="1073"/>
            </a:xfrm>
            <a:prstGeom prst="line">
              <a:avLst/>
            </a:prstGeom>
            <a:noFill/>
            <a:ln w="28575">
              <a:solidFill>
                <a:srgbClr val="000099"/>
              </a:solidFill>
              <a:round/>
              <a:tailEnd type="triangle" w="med" len="lg"/>
            </a:ln>
          </p:spPr>
          <p:txBody>
            <a:bodyPr wrap="none" anchor="ctr"/>
            <a:lstStyle/>
            <a:p>
              <a:endParaRPr lang="zh-CN" altLang="en-US"/>
            </a:p>
          </p:txBody>
        </p:sp>
        <p:sp>
          <p:nvSpPr>
            <p:cNvPr id="12330" name="Text Box 126"/>
            <p:cNvSpPr txBox="1">
              <a:spLocks noChangeAspect="1" noChangeArrowheads="1"/>
            </p:cNvSpPr>
            <p:nvPr/>
          </p:nvSpPr>
          <p:spPr bwMode="auto">
            <a:xfrm>
              <a:off x="3642" y="3522"/>
              <a:ext cx="307" cy="323"/>
            </a:xfrm>
            <a:prstGeom prst="rect">
              <a:avLst/>
            </a:prstGeom>
            <a:noFill/>
            <a:ln w="9525" algn="ctr">
              <a:noFill/>
              <a:miter lim="800000"/>
            </a:ln>
          </p:spPr>
          <p:txBody>
            <a:bodyPr wrap="none">
              <a:spAutoFit/>
            </a:bodyPr>
            <a:lstStyle/>
            <a:p>
              <a:pPr algn="ctr">
                <a:lnSpc>
                  <a:spcPct val="115000"/>
                </a:lnSpc>
              </a:pPr>
              <a:r>
                <a:rPr lang="en-US" altLang="zh-CN" b="1" i="1">
                  <a:solidFill>
                    <a:srgbClr val="000099"/>
                  </a:solidFill>
                  <a:ea typeface="楷体_GB2312" pitchFamily="49" charset="-122"/>
                </a:rPr>
                <a:t>O</a:t>
              </a:r>
              <a:endParaRPr lang="en-US" altLang="zh-CN" b="1" i="1">
                <a:solidFill>
                  <a:srgbClr val="000099"/>
                </a:solidFill>
                <a:ea typeface="楷体_GB2312" pitchFamily="49" charset="-122"/>
              </a:endParaRPr>
            </a:p>
          </p:txBody>
        </p:sp>
        <p:sp>
          <p:nvSpPr>
            <p:cNvPr id="12331" name="Text Box 127"/>
            <p:cNvSpPr txBox="1">
              <a:spLocks noChangeAspect="1" noChangeArrowheads="1"/>
            </p:cNvSpPr>
            <p:nvPr/>
          </p:nvSpPr>
          <p:spPr bwMode="auto">
            <a:xfrm>
              <a:off x="5163" y="3522"/>
              <a:ext cx="294" cy="323"/>
            </a:xfrm>
            <a:prstGeom prst="rect">
              <a:avLst/>
            </a:prstGeom>
            <a:noFill/>
            <a:ln w="9525" algn="ctr">
              <a:noFill/>
              <a:miter lim="800000"/>
            </a:ln>
          </p:spPr>
          <p:txBody>
            <a:bodyPr wrap="none">
              <a:spAutoFit/>
            </a:bodyPr>
            <a:lstStyle/>
            <a:p>
              <a:pPr algn="ctr">
                <a:lnSpc>
                  <a:spcPct val="115000"/>
                </a:lnSpc>
              </a:pPr>
              <a:r>
                <a:rPr lang="en-US" altLang="zh-CN" b="1" i="1">
                  <a:solidFill>
                    <a:srgbClr val="000099"/>
                  </a:solidFill>
                  <a:ea typeface="楷体_GB2312" pitchFamily="49" charset="-122"/>
                </a:rPr>
                <a:t>V</a:t>
              </a:r>
              <a:endParaRPr lang="en-US" altLang="zh-CN" b="1" i="1">
                <a:solidFill>
                  <a:srgbClr val="000099"/>
                </a:solidFill>
                <a:ea typeface="楷体_GB2312" pitchFamily="49" charset="-122"/>
              </a:endParaRPr>
            </a:p>
          </p:txBody>
        </p:sp>
        <p:sp>
          <p:nvSpPr>
            <p:cNvPr id="12332" name="Text Box 128"/>
            <p:cNvSpPr txBox="1">
              <a:spLocks noChangeAspect="1" noChangeArrowheads="1"/>
            </p:cNvSpPr>
            <p:nvPr/>
          </p:nvSpPr>
          <p:spPr bwMode="auto">
            <a:xfrm>
              <a:off x="3812" y="2359"/>
              <a:ext cx="255" cy="323"/>
            </a:xfrm>
            <a:prstGeom prst="rect">
              <a:avLst/>
            </a:prstGeom>
            <a:noFill/>
            <a:ln w="9525" algn="ctr">
              <a:noFill/>
              <a:miter lim="800000"/>
            </a:ln>
          </p:spPr>
          <p:txBody>
            <a:bodyPr wrap="none">
              <a:spAutoFit/>
            </a:bodyPr>
            <a:lstStyle/>
            <a:p>
              <a:pPr algn="ctr">
                <a:lnSpc>
                  <a:spcPct val="115000"/>
                </a:lnSpc>
              </a:pPr>
              <a:r>
                <a:rPr lang="en-US" altLang="zh-CN" b="1" i="1">
                  <a:solidFill>
                    <a:srgbClr val="000099"/>
                  </a:solidFill>
                  <a:ea typeface="楷体_GB2312" pitchFamily="49" charset="-122"/>
                </a:rPr>
                <a:t>p</a:t>
              </a:r>
              <a:endParaRPr lang="en-US" altLang="zh-CN" b="1" i="1">
                <a:solidFill>
                  <a:srgbClr val="000099"/>
                </a:solidFill>
                <a:ea typeface="楷体_GB2312" pitchFamily="49" charset="-122"/>
              </a:endParaRPr>
            </a:p>
          </p:txBody>
        </p:sp>
      </p:grpSp>
      <p:sp>
        <p:nvSpPr>
          <p:cNvPr id="28801" name="Text Box 129"/>
          <p:cNvSpPr txBox="1">
            <a:spLocks noChangeArrowheads="1"/>
          </p:cNvSpPr>
          <p:nvPr/>
        </p:nvSpPr>
        <p:spPr bwMode="auto">
          <a:xfrm>
            <a:off x="7327900" y="4587875"/>
            <a:ext cx="465138" cy="477838"/>
          </a:xfrm>
          <a:prstGeom prst="rect">
            <a:avLst/>
          </a:prstGeom>
          <a:noFill/>
          <a:ln w="9525">
            <a:noFill/>
            <a:miter lim="800000"/>
          </a:ln>
        </p:spPr>
        <p:txBody>
          <a:bodyPr wrap="none">
            <a:spAutoFit/>
          </a:bodyPr>
          <a:lstStyle/>
          <a:p>
            <a:pPr>
              <a:lnSpc>
                <a:spcPct val="115000"/>
              </a:lnSpc>
            </a:pPr>
            <a:r>
              <a:rPr lang="en-US" altLang="zh-CN" sz="2200" b="1" i="1">
                <a:solidFill>
                  <a:srgbClr val="000099"/>
                </a:solidFill>
                <a:ea typeface="楷体_GB2312" pitchFamily="49" charset="-122"/>
              </a:rPr>
              <a:t>V</a:t>
            </a:r>
            <a:r>
              <a:rPr lang="en-US" altLang="zh-CN" sz="2200" b="1" baseline="-25000">
                <a:solidFill>
                  <a:srgbClr val="000099"/>
                </a:solidFill>
                <a:ea typeface="楷体_GB2312" pitchFamily="49" charset="-122"/>
              </a:rPr>
              <a:t>1</a:t>
            </a:r>
            <a:endParaRPr lang="en-US" altLang="zh-CN" sz="2200">
              <a:solidFill>
                <a:srgbClr val="000099"/>
              </a:solidFill>
              <a:latin typeface="Arial" panose="020B0604020202020204" pitchFamily="34" charset="0"/>
            </a:endParaRPr>
          </a:p>
        </p:txBody>
      </p:sp>
      <p:sp>
        <p:nvSpPr>
          <p:cNvPr id="48" name="Text Box 4"/>
          <p:cNvSpPr txBox="1">
            <a:spLocks noChangeArrowheads="1"/>
          </p:cNvSpPr>
          <p:nvPr/>
        </p:nvSpPr>
        <p:spPr bwMode="auto">
          <a:xfrm>
            <a:off x="107950" y="431800"/>
            <a:ext cx="8135938" cy="549275"/>
          </a:xfrm>
          <a:prstGeom prst="rect">
            <a:avLst/>
          </a:prstGeom>
          <a:noFill/>
          <a:ln w="12700" cap="sq">
            <a:noFill/>
            <a:miter lim="800000"/>
            <a:headEnd type="none" w="sm" len="sm"/>
            <a:tailEnd type="none" w="sm" len="sm"/>
          </a:ln>
        </p:spPr>
        <p:txBody>
          <a:bodyPr>
            <a:spAutoFit/>
          </a:bodyPr>
          <a:lstStyle/>
          <a:p>
            <a:pPr marL="995680" indent="-995680">
              <a:lnSpc>
                <a:spcPct val="125000"/>
              </a:lnSpc>
            </a:pPr>
            <a:r>
              <a:rPr kumimoji="1" lang="en-US" altLang="zh-CN" b="1">
                <a:solidFill>
                  <a:srgbClr val="3333CC"/>
                </a:solidFill>
                <a:ea typeface="黑体" panose="02010609060101010101" pitchFamily="49" charset="-122"/>
                <a:cs typeface="Times New Roman" panose="02020603050405020304" pitchFamily="18" charset="0"/>
              </a:rPr>
              <a:t>7.3.2   </a:t>
            </a:r>
            <a:r>
              <a:rPr kumimoji="1" lang="zh-CN" altLang="en-US" b="1">
                <a:solidFill>
                  <a:srgbClr val="3333CC"/>
                </a:solidFill>
                <a:ea typeface="黑体" panose="02010609060101010101" pitchFamily="49" charset="-122"/>
                <a:cs typeface="Times New Roman" panose="02020603050405020304" pitchFamily="18" charset="0"/>
              </a:rPr>
              <a:t>热力学第一定律在理想气体准静态过程中的应用</a:t>
            </a:r>
            <a:r>
              <a:rPr kumimoji="1" lang="zh-CN" altLang="en-US" b="1">
                <a:solidFill>
                  <a:srgbClr val="66FF33"/>
                </a:solidFill>
                <a:ea typeface="黑体" panose="02010609060101010101" pitchFamily="49" charset="-122"/>
                <a:cs typeface="Times New Roman" panose="02020603050405020304" pitchFamily="18" charset="0"/>
              </a:rPr>
              <a:t> </a:t>
            </a:r>
            <a:endParaRPr kumimoji="1" lang="zh-CN" altLang="en-US" b="1">
              <a:solidFill>
                <a:srgbClr val="66FF33"/>
              </a:solidFill>
              <a:ea typeface="黑体" panose="02010609060101010101" pitchFamily="49" charset="-122"/>
              <a:cs typeface="Times New Roman" panose="02020603050405020304" pitchFamily="18" charset="0"/>
            </a:endParaRPr>
          </a:p>
        </p:txBody>
      </p:sp>
      <p:sp>
        <p:nvSpPr>
          <p:cNvPr id="49" name="Text Box 90"/>
          <p:cNvSpPr txBox="1">
            <a:spLocks noChangeArrowheads="1"/>
          </p:cNvSpPr>
          <p:nvPr/>
        </p:nvSpPr>
        <p:spPr bwMode="auto">
          <a:xfrm>
            <a:off x="1500188" y="1071563"/>
            <a:ext cx="2663825" cy="517525"/>
          </a:xfrm>
          <a:prstGeom prst="rect">
            <a:avLst/>
          </a:prstGeom>
          <a:noFill/>
          <a:ln w="9525">
            <a:noFill/>
            <a:miter lim="800000"/>
          </a:ln>
        </p:spPr>
        <p:txBody>
          <a:bodyPr>
            <a:spAutoFit/>
          </a:bodyPr>
          <a:lstStyle/>
          <a:p>
            <a:pPr>
              <a:lnSpc>
                <a:spcPct val="115000"/>
              </a:lnSpc>
              <a:defRPr/>
            </a:pPr>
            <a:r>
              <a:rPr lang="zh-CN" altLang="en-US" b="1" dirty="0">
                <a:latin typeface="+mn-ea"/>
                <a:ea typeface="+mn-ea"/>
              </a:rPr>
              <a:t>热力学第一定律</a:t>
            </a:r>
            <a:endParaRPr lang="zh-CN" altLang="en-US" b="1" dirty="0">
              <a:latin typeface="+mn-ea"/>
              <a:ea typeface="+mn-ea"/>
            </a:endParaRPr>
          </a:p>
        </p:txBody>
      </p:sp>
      <p:sp>
        <p:nvSpPr>
          <p:cNvPr id="50" name="Text Box 93"/>
          <p:cNvSpPr txBox="1">
            <a:spLocks noChangeArrowheads="1"/>
          </p:cNvSpPr>
          <p:nvPr/>
        </p:nvSpPr>
        <p:spPr bwMode="auto">
          <a:xfrm>
            <a:off x="1454150" y="1754188"/>
            <a:ext cx="3117850" cy="479425"/>
          </a:xfrm>
          <a:prstGeom prst="rect">
            <a:avLst/>
          </a:prstGeom>
          <a:noFill/>
          <a:ln w="9525">
            <a:noFill/>
            <a:miter lim="800000"/>
          </a:ln>
        </p:spPr>
        <p:txBody>
          <a:bodyPr>
            <a:spAutoFit/>
          </a:bodyPr>
          <a:lstStyle/>
          <a:p>
            <a:pPr>
              <a:lnSpc>
                <a:spcPct val="115000"/>
              </a:lnSpc>
              <a:defRPr/>
            </a:pPr>
            <a:r>
              <a:rPr kumimoji="1" lang="zh-CN" altLang="en-US" b="1" dirty="0">
                <a:latin typeface="+mn-ea"/>
                <a:ea typeface="+mn-ea"/>
              </a:rPr>
              <a:t>理想气体的状态方程</a:t>
            </a:r>
            <a:endParaRPr kumimoji="1" lang="zh-CN" altLang="en-US" b="1" dirty="0">
              <a:latin typeface="+mn-ea"/>
              <a:ea typeface="+mn-ea"/>
            </a:endParaRPr>
          </a:p>
        </p:txBody>
      </p:sp>
      <p:graphicFrame>
        <p:nvGraphicFramePr>
          <p:cNvPr id="51" name="Object 10"/>
          <p:cNvGraphicFramePr>
            <a:graphicFrameLocks noChangeAspect="1"/>
          </p:cNvGraphicFramePr>
          <p:nvPr/>
        </p:nvGraphicFramePr>
        <p:xfrm>
          <a:off x="4214813" y="928688"/>
          <a:ext cx="2576512" cy="673100"/>
        </p:xfrm>
        <a:graphic>
          <a:graphicData uri="http://schemas.openxmlformats.org/presentationml/2006/ole">
            <mc:AlternateContent xmlns:mc="http://schemas.openxmlformats.org/markup-compatibility/2006">
              <mc:Choice xmlns:v="urn:schemas-microsoft-com:vml" Requires="v">
                <p:oleObj spid="_x0000_s12296" name="Equation" r:id="rId12" imgW="32613600" imgH="8534400" progId="Equation.DSMT4">
                  <p:embed/>
                </p:oleObj>
              </mc:Choice>
              <mc:Fallback>
                <p:oleObj name="Equation" r:id="rId12" imgW="32613600" imgH="8534400" progId="Equation.DSMT4">
                  <p:embed/>
                  <p:pic>
                    <p:nvPicPr>
                      <p:cNvPr id="0" name="Object 10"/>
                      <p:cNvPicPr>
                        <a:picLocks noChangeAspect="1"/>
                      </p:cNvPicPr>
                      <p:nvPr/>
                    </p:nvPicPr>
                    <p:blipFill>
                      <a:blip r:embed="rId13"/>
                      <a:stretch>
                        <a:fillRect/>
                      </a:stretch>
                    </p:blipFill>
                    <p:spPr>
                      <a:xfrm>
                        <a:off x="4214813" y="928688"/>
                        <a:ext cx="2576512" cy="673100"/>
                      </a:xfrm>
                      <a:prstGeom prst="rect">
                        <a:avLst/>
                      </a:prstGeom>
                      <a:noFill/>
                      <a:ln w="9525">
                        <a:noFill/>
                      </a:ln>
                    </p:spPr>
                  </p:pic>
                </p:oleObj>
              </mc:Fallback>
            </mc:AlternateContent>
          </a:graphicData>
        </a:graphic>
      </p:graphicFrame>
      <p:graphicFrame>
        <p:nvGraphicFramePr>
          <p:cNvPr id="52" name="Object 3"/>
          <p:cNvGraphicFramePr>
            <a:graphicFrameLocks noChangeAspect="1"/>
          </p:cNvGraphicFramePr>
          <p:nvPr/>
        </p:nvGraphicFramePr>
        <p:xfrm>
          <a:off x="4786313" y="1519238"/>
          <a:ext cx="1784350" cy="838200"/>
        </p:xfrm>
        <a:graphic>
          <a:graphicData uri="http://schemas.openxmlformats.org/presentationml/2006/ole">
            <mc:AlternateContent xmlns:mc="http://schemas.openxmlformats.org/markup-compatibility/2006">
              <mc:Choice xmlns:v="urn:schemas-microsoft-com:vml" Requires="v">
                <p:oleObj spid="_x0000_s12297" name="Equation" r:id="rId14" imgW="19812000" imgH="9448800" progId="Equation.3">
                  <p:embed/>
                </p:oleObj>
              </mc:Choice>
              <mc:Fallback>
                <p:oleObj name="Equation" r:id="rId14" imgW="19812000" imgH="9448800" progId="Equation.3">
                  <p:embed/>
                  <p:pic>
                    <p:nvPicPr>
                      <p:cNvPr id="0" name="Object 3"/>
                      <p:cNvPicPr>
                        <a:picLocks noChangeAspect="1"/>
                      </p:cNvPicPr>
                      <p:nvPr/>
                    </p:nvPicPr>
                    <p:blipFill>
                      <a:blip r:embed="rId15"/>
                      <a:stretch>
                        <a:fillRect/>
                      </a:stretch>
                    </p:blipFill>
                    <p:spPr>
                      <a:xfrm>
                        <a:off x="4786313" y="1519238"/>
                        <a:ext cx="1784350" cy="838200"/>
                      </a:xfrm>
                      <a:prstGeom prst="rect">
                        <a:avLst/>
                      </a:prstGeom>
                      <a:noFill/>
                      <a:ln w="9525">
                        <a:noFill/>
                      </a:ln>
                    </p:spPr>
                  </p:pic>
                </p:oleObj>
              </mc:Fallback>
            </mc:AlternateContent>
          </a:graphicData>
        </a:graphic>
      </p:graphicFrame>
      <p:sp>
        <p:nvSpPr>
          <p:cNvPr id="53" name="Text Box 1028"/>
          <p:cNvSpPr txBox="1">
            <a:spLocks noChangeArrowheads="1"/>
          </p:cNvSpPr>
          <p:nvPr/>
        </p:nvSpPr>
        <p:spPr bwMode="auto">
          <a:xfrm>
            <a:off x="228600" y="2395538"/>
            <a:ext cx="2271713" cy="461962"/>
          </a:xfrm>
          <a:prstGeom prst="rect">
            <a:avLst/>
          </a:prstGeom>
          <a:noFill/>
          <a:ln w="12700" cap="sq">
            <a:noFill/>
            <a:miter lim="800000"/>
            <a:headEnd type="none" w="sm" len="sm"/>
            <a:tailEnd type="none" w="sm" len="sm"/>
          </a:ln>
        </p:spPr>
        <p:txBody>
          <a:bodyPr wrap="none">
            <a:spAutoFit/>
          </a:bodyPr>
          <a:lstStyle/>
          <a:p>
            <a:r>
              <a:rPr kumimoji="1" lang="en-US" altLang="zh-CN" b="1">
                <a:solidFill>
                  <a:srgbClr val="FF0000"/>
                </a:solidFill>
                <a:latin typeface="宋体" panose="02010600030101010101" pitchFamily="2" charset="-122"/>
              </a:rPr>
              <a:t>1</a:t>
            </a:r>
            <a:r>
              <a:rPr kumimoji="1" lang="zh-CN" altLang="en-US" b="1">
                <a:solidFill>
                  <a:srgbClr val="FF0000"/>
                </a:solidFill>
                <a:latin typeface="宋体" panose="02010600030101010101" pitchFamily="2" charset="-122"/>
              </a:rPr>
              <a:t>、等体过程</a:t>
            </a:r>
            <a:r>
              <a:rPr kumimoji="1" lang="zh-CN" altLang="en-US" b="1"/>
              <a:t>     </a:t>
            </a:r>
            <a:endParaRPr kumimoji="1" lang="zh-CN" altLang="en-US" b="1"/>
          </a:p>
        </p:txBody>
      </p:sp>
      <p:sp>
        <p:nvSpPr>
          <p:cNvPr id="55" name="Text Box 1030"/>
          <p:cNvSpPr txBox="1">
            <a:spLocks noChangeArrowheads="1"/>
          </p:cNvSpPr>
          <p:nvPr/>
        </p:nvSpPr>
        <p:spPr bwMode="auto">
          <a:xfrm>
            <a:off x="758825" y="3575050"/>
            <a:ext cx="2705100" cy="457200"/>
          </a:xfrm>
          <a:prstGeom prst="rect">
            <a:avLst/>
          </a:prstGeom>
          <a:noFill/>
          <a:ln w="76200" cap="sq">
            <a:noFill/>
            <a:miter lim="800000"/>
          </a:ln>
        </p:spPr>
        <p:txBody>
          <a:bodyPr>
            <a:spAutoFit/>
          </a:bodyPr>
          <a:lstStyle/>
          <a:p>
            <a:r>
              <a:rPr kumimoji="1" lang="zh-CN" altLang="en-US" b="1">
                <a:solidFill>
                  <a:srgbClr val="FF6600"/>
                </a:solidFill>
                <a:latin typeface="宋体" panose="02010600030101010101" pitchFamily="2" charset="-122"/>
              </a:rPr>
              <a:t>吸收的热量</a:t>
            </a:r>
            <a:endParaRPr kumimoji="1" lang="zh-CN" altLang="en-US" b="1">
              <a:solidFill>
                <a:srgbClr val="FF6600"/>
              </a:solidFill>
              <a:latin typeface="宋体" panose="02010600030101010101" pitchFamily="2" charset="-122"/>
            </a:endParaRPr>
          </a:p>
        </p:txBody>
      </p:sp>
      <p:graphicFrame>
        <p:nvGraphicFramePr>
          <p:cNvPr id="56" name="Object 1032"/>
          <p:cNvGraphicFramePr>
            <a:graphicFrameLocks noChangeAspect="1"/>
          </p:cNvGraphicFramePr>
          <p:nvPr/>
        </p:nvGraphicFramePr>
        <p:xfrm>
          <a:off x="2928938" y="3386138"/>
          <a:ext cx="2457450" cy="769937"/>
        </p:xfrm>
        <a:graphic>
          <a:graphicData uri="http://schemas.openxmlformats.org/presentationml/2006/ole">
            <mc:AlternateContent xmlns:mc="http://schemas.openxmlformats.org/markup-compatibility/2006">
              <mc:Choice xmlns:v="urn:schemas-microsoft-com:vml" Requires="v">
                <p:oleObj spid="_x0000_s12298" name="公式" r:id="rId16" imgW="29870400" imgH="9448800" progId="Equation.3">
                  <p:embed/>
                </p:oleObj>
              </mc:Choice>
              <mc:Fallback>
                <p:oleObj name="公式" r:id="rId16" imgW="29870400" imgH="9448800" progId="Equation.3">
                  <p:embed/>
                  <p:pic>
                    <p:nvPicPr>
                      <p:cNvPr id="0" name="Object 1032"/>
                      <p:cNvPicPr>
                        <a:picLocks noChangeAspect="1"/>
                      </p:cNvPicPr>
                      <p:nvPr/>
                    </p:nvPicPr>
                    <p:blipFill>
                      <a:blip r:embed="rId17"/>
                      <a:stretch>
                        <a:fillRect/>
                      </a:stretch>
                    </p:blipFill>
                    <p:spPr>
                      <a:xfrm>
                        <a:off x="2928938" y="3386138"/>
                        <a:ext cx="2457450" cy="769937"/>
                      </a:xfrm>
                      <a:prstGeom prst="rect">
                        <a:avLst/>
                      </a:prstGeom>
                      <a:noFill/>
                      <a:ln w="9525">
                        <a:noFill/>
                      </a:ln>
                    </p:spPr>
                  </p:pic>
                </p:oleObj>
              </mc:Fallback>
            </mc:AlternateContent>
          </a:graphicData>
        </a:graphic>
      </p:graphicFrame>
      <p:sp>
        <p:nvSpPr>
          <p:cNvPr id="57" name="Text Box 1033"/>
          <p:cNvSpPr txBox="1">
            <a:spLocks noChangeArrowheads="1"/>
          </p:cNvSpPr>
          <p:nvPr/>
        </p:nvSpPr>
        <p:spPr bwMode="auto">
          <a:xfrm>
            <a:off x="785813" y="4441825"/>
            <a:ext cx="2808287" cy="457200"/>
          </a:xfrm>
          <a:prstGeom prst="rect">
            <a:avLst/>
          </a:prstGeom>
          <a:noFill/>
          <a:ln w="76200" cap="sq">
            <a:noFill/>
            <a:miter lim="800000"/>
          </a:ln>
        </p:spPr>
        <p:txBody>
          <a:bodyPr>
            <a:spAutoFit/>
          </a:bodyPr>
          <a:lstStyle/>
          <a:p>
            <a:r>
              <a:rPr kumimoji="1" lang="zh-CN" altLang="en-US" b="1">
                <a:solidFill>
                  <a:srgbClr val="FF6600"/>
                </a:solidFill>
                <a:latin typeface="宋体" panose="02010600030101010101" pitchFamily="2" charset="-122"/>
              </a:rPr>
              <a:t>内能的增量</a:t>
            </a:r>
            <a:endParaRPr kumimoji="1" lang="zh-CN" altLang="en-US" b="1">
              <a:solidFill>
                <a:srgbClr val="FF6600"/>
              </a:solidFill>
              <a:latin typeface="宋体" panose="02010600030101010101" pitchFamily="2" charset="-122"/>
            </a:endParaRPr>
          </a:p>
        </p:txBody>
      </p:sp>
      <p:graphicFrame>
        <p:nvGraphicFramePr>
          <p:cNvPr id="58" name="Object 1035"/>
          <p:cNvGraphicFramePr>
            <a:graphicFrameLocks noChangeAspect="1"/>
          </p:cNvGraphicFramePr>
          <p:nvPr/>
        </p:nvGraphicFramePr>
        <p:xfrm>
          <a:off x="2857500" y="4298950"/>
          <a:ext cx="2551113" cy="785813"/>
        </p:xfrm>
        <a:graphic>
          <a:graphicData uri="http://schemas.openxmlformats.org/presentationml/2006/ole">
            <mc:AlternateContent xmlns:mc="http://schemas.openxmlformats.org/markup-compatibility/2006">
              <mc:Choice xmlns:v="urn:schemas-microsoft-com:vml" Requires="v">
                <p:oleObj spid="_x0000_s12299" name="公式" r:id="rId18" imgW="30175200" imgH="9448800" progId="Equation.3">
                  <p:embed/>
                </p:oleObj>
              </mc:Choice>
              <mc:Fallback>
                <p:oleObj name="公式" r:id="rId18" imgW="30175200" imgH="9448800" progId="Equation.3">
                  <p:embed/>
                  <p:pic>
                    <p:nvPicPr>
                      <p:cNvPr id="0" name="Object 1035"/>
                      <p:cNvPicPr>
                        <a:picLocks noChangeAspect="1"/>
                      </p:cNvPicPr>
                      <p:nvPr/>
                    </p:nvPicPr>
                    <p:blipFill>
                      <a:blip r:embed="rId19"/>
                      <a:stretch>
                        <a:fillRect/>
                      </a:stretch>
                    </p:blipFill>
                    <p:spPr>
                      <a:xfrm>
                        <a:off x="2857500" y="4298950"/>
                        <a:ext cx="2551113" cy="785813"/>
                      </a:xfrm>
                      <a:prstGeom prst="rect">
                        <a:avLst/>
                      </a:prstGeom>
                      <a:noFill/>
                      <a:ln w="28575">
                        <a:noFill/>
                      </a:ln>
                    </p:spPr>
                  </p:pic>
                </p:oleObj>
              </mc:Fallback>
            </mc:AlternateContent>
          </a:graphicData>
        </a:graphic>
      </p:graphicFrame>
      <p:sp>
        <p:nvSpPr>
          <p:cNvPr id="59" name="Rectangle 1049"/>
          <p:cNvSpPr>
            <a:spLocks noChangeArrowheads="1"/>
          </p:cNvSpPr>
          <p:nvPr/>
        </p:nvSpPr>
        <p:spPr bwMode="auto">
          <a:xfrm>
            <a:off x="500063" y="3357563"/>
            <a:ext cx="357187" cy="923925"/>
          </a:xfrm>
          <a:prstGeom prst="rect">
            <a:avLst/>
          </a:prstGeom>
          <a:noFill/>
          <a:ln w="9525">
            <a:noFill/>
            <a:miter lim="800000"/>
          </a:ln>
        </p:spPr>
        <p:txBody>
          <a:bodyPr wrap="none">
            <a:spAutoFit/>
          </a:bodyPr>
          <a:lstStyle/>
          <a:p>
            <a:r>
              <a:rPr kumimoji="1" lang="en-US" altLang="zh-CN" sz="5400" b="1">
                <a:solidFill>
                  <a:srgbClr val="0000FF"/>
                </a:solidFill>
                <a:cs typeface="Times New Roman" panose="02020603050405020304" pitchFamily="18" charset="0"/>
              </a:rPr>
              <a:t>·</a:t>
            </a:r>
            <a:endParaRPr kumimoji="1" lang="en-US" altLang="zh-CN" sz="5400" b="1">
              <a:solidFill>
                <a:srgbClr val="0000FF"/>
              </a:solidFill>
              <a:cs typeface="Times New Roman" panose="02020603050405020304" pitchFamily="18" charset="0"/>
            </a:endParaRPr>
          </a:p>
        </p:txBody>
      </p:sp>
      <p:sp>
        <p:nvSpPr>
          <p:cNvPr id="60" name="Rectangle 1050"/>
          <p:cNvSpPr>
            <a:spLocks noChangeArrowheads="1"/>
          </p:cNvSpPr>
          <p:nvPr/>
        </p:nvSpPr>
        <p:spPr bwMode="auto">
          <a:xfrm>
            <a:off x="520700" y="4219575"/>
            <a:ext cx="357188" cy="923925"/>
          </a:xfrm>
          <a:prstGeom prst="rect">
            <a:avLst/>
          </a:prstGeom>
          <a:noFill/>
          <a:ln w="9525">
            <a:noFill/>
            <a:miter lim="800000"/>
          </a:ln>
        </p:spPr>
        <p:txBody>
          <a:bodyPr wrap="none">
            <a:spAutoFit/>
          </a:bodyPr>
          <a:lstStyle/>
          <a:p>
            <a:r>
              <a:rPr kumimoji="1" lang="en-US" altLang="zh-CN" sz="5400" b="1">
                <a:solidFill>
                  <a:srgbClr val="0000FF"/>
                </a:solidFill>
                <a:cs typeface="Times New Roman" panose="02020603050405020304" pitchFamily="18" charset="0"/>
              </a:rPr>
              <a:t>·</a:t>
            </a:r>
            <a:endParaRPr kumimoji="1" lang="en-US" altLang="zh-CN" sz="5400" b="1">
              <a:solidFill>
                <a:srgbClr val="0000FF"/>
              </a:solidFill>
              <a:cs typeface="Times New Roman" panose="02020603050405020304" pitchFamily="18" charset="0"/>
            </a:endParaRPr>
          </a:p>
        </p:txBody>
      </p:sp>
      <p:sp>
        <p:nvSpPr>
          <p:cNvPr id="54" name="Text Box 1029"/>
          <p:cNvSpPr txBox="1">
            <a:spLocks noChangeArrowheads="1"/>
          </p:cNvSpPr>
          <p:nvPr/>
        </p:nvSpPr>
        <p:spPr bwMode="auto">
          <a:xfrm>
            <a:off x="739775" y="2873375"/>
            <a:ext cx="492125" cy="457200"/>
          </a:xfrm>
          <a:prstGeom prst="rect">
            <a:avLst/>
          </a:prstGeom>
          <a:noFill/>
          <a:ln w="76200" cap="sq">
            <a:noFill/>
            <a:miter lim="800000"/>
          </a:ln>
        </p:spPr>
        <p:txBody>
          <a:bodyPr wrap="none">
            <a:spAutoFit/>
          </a:bodyPr>
          <a:lstStyle/>
          <a:p>
            <a:r>
              <a:rPr kumimoji="1" lang="zh-CN" altLang="en-US" b="1">
                <a:solidFill>
                  <a:srgbClr val="FF6600"/>
                </a:solidFill>
                <a:latin typeface="宋体" panose="02010600030101010101" pitchFamily="2" charset="-122"/>
              </a:rPr>
              <a:t>功</a:t>
            </a:r>
            <a:endParaRPr kumimoji="1" lang="zh-CN" altLang="en-US" b="1">
              <a:solidFill>
                <a:srgbClr val="FF6600"/>
              </a:solidFill>
              <a:latin typeface="宋体" panose="02010600030101010101" pitchFamily="2" charset="-122"/>
            </a:endParaRPr>
          </a:p>
        </p:txBody>
      </p:sp>
      <p:sp>
        <p:nvSpPr>
          <p:cNvPr id="61" name="Rectangle 1051"/>
          <p:cNvSpPr>
            <a:spLocks noChangeArrowheads="1"/>
          </p:cNvSpPr>
          <p:nvPr/>
        </p:nvSpPr>
        <p:spPr bwMode="auto">
          <a:xfrm>
            <a:off x="500063" y="2662238"/>
            <a:ext cx="357187" cy="922337"/>
          </a:xfrm>
          <a:prstGeom prst="rect">
            <a:avLst/>
          </a:prstGeom>
          <a:noFill/>
          <a:ln w="9525">
            <a:noFill/>
            <a:miter lim="800000"/>
          </a:ln>
        </p:spPr>
        <p:txBody>
          <a:bodyPr wrap="none">
            <a:spAutoFit/>
          </a:bodyPr>
          <a:lstStyle/>
          <a:p>
            <a:r>
              <a:rPr kumimoji="1" lang="en-US" altLang="zh-CN" sz="5400" b="1">
                <a:solidFill>
                  <a:srgbClr val="0000FF"/>
                </a:solidFill>
                <a:cs typeface="Times New Roman" panose="02020603050405020304" pitchFamily="18" charset="0"/>
              </a:rPr>
              <a:t>·</a:t>
            </a:r>
            <a:endParaRPr kumimoji="1" lang="en-US" altLang="zh-CN" sz="5400" b="1">
              <a:solidFill>
                <a:srgbClr val="0000FF"/>
              </a:solidFill>
              <a:cs typeface="Times New Roman" panose="02020603050405020304" pitchFamily="18" charset="0"/>
            </a:endParaRPr>
          </a:p>
        </p:txBody>
      </p:sp>
      <p:graphicFrame>
        <p:nvGraphicFramePr>
          <p:cNvPr id="62" name="Object 1052"/>
          <p:cNvGraphicFramePr>
            <a:graphicFrameLocks noChangeAspect="1"/>
          </p:cNvGraphicFramePr>
          <p:nvPr/>
        </p:nvGraphicFramePr>
        <p:xfrm>
          <a:off x="1614488" y="2901950"/>
          <a:ext cx="1419225" cy="558800"/>
        </p:xfrm>
        <a:graphic>
          <a:graphicData uri="http://schemas.openxmlformats.org/presentationml/2006/ole">
            <mc:AlternateContent xmlns:mc="http://schemas.openxmlformats.org/markup-compatibility/2006">
              <mc:Choice xmlns:v="urn:schemas-microsoft-com:vml" Requires="v">
                <p:oleObj spid="_x0000_s12300" name="公式" r:id="rId20" imgW="14935200" imgH="5486400" progId="Equation.3">
                  <p:embed/>
                </p:oleObj>
              </mc:Choice>
              <mc:Fallback>
                <p:oleObj name="公式" r:id="rId20" imgW="14935200" imgH="5486400" progId="Equation.3">
                  <p:embed/>
                  <p:pic>
                    <p:nvPicPr>
                      <p:cNvPr id="0" name="Object 1052"/>
                      <p:cNvPicPr>
                        <a:picLocks noChangeAspect="1"/>
                      </p:cNvPicPr>
                      <p:nvPr/>
                    </p:nvPicPr>
                    <p:blipFill>
                      <a:blip r:embed="rId21"/>
                      <a:stretch>
                        <a:fillRect/>
                      </a:stretch>
                    </p:blipFill>
                    <p:spPr>
                      <a:xfrm>
                        <a:off x="1614488" y="2901950"/>
                        <a:ext cx="1419225" cy="558800"/>
                      </a:xfrm>
                      <a:prstGeom prst="rect">
                        <a:avLst/>
                      </a:prstGeom>
                      <a:noFill/>
                      <a:ln w="9525">
                        <a:noFill/>
                      </a:ln>
                    </p:spPr>
                  </p:pic>
                </p:oleObj>
              </mc:Fallback>
            </mc:AlternateContent>
          </a:graphicData>
        </a:graphic>
      </p:graphicFrame>
      <p:sp>
        <p:nvSpPr>
          <p:cNvPr id="63" name="Rectangle 1060"/>
          <p:cNvSpPr>
            <a:spLocks noChangeArrowheads="1"/>
          </p:cNvSpPr>
          <p:nvPr/>
        </p:nvSpPr>
        <p:spPr bwMode="auto">
          <a:xfrm>
            <a:off x="733425" y="5429250"/>
            <a:ext cx="7777163" cy="919163"/>
          </a:xfrm>
          <a:prstGeom prst="rect">
            <a:avLst/>
          </a:prstGeom>
          <a:noFill/>
          <a:ln w="76200" cap="sq">
            <a:noFill/>
            <a:miter lim="800000"/>
          </a:ln>
        </p:spPr>
        <p:txBody>
          <a:bodyPr>
            <a:spAutoFit/>
          </a:bodyPr>
          <a:lstStyle/>
          <a:p>
            <a:pPr>
              <a:lnSpc>
                <a:spcPct val="120000"/>
              </a:lnSpc>
            </a:pPr>
            <a:r>
              <a:rPr kumimoji="1" lang="zh-CN" altLang="en-US" b="1"/>
              <a:t>等体过程中气体</a:t>
            </a:r>
            <a:r>
              <a:rPr kumimoji="1" lang="zh-CN" altLang="en-US" b="1">
                <a:latin typeface="楷体_GB2312" pitchFamily="49" charset="-122"/>
              </a:rPr>
              <a:t>吸收的热量，全部用来增加它的内能，使其温度上升。</a:t>
            </a:r>
            <a:endParaRPr kumimoji="1" lang="zh-CN" altLang="en-US" b="1">
              <a:latin typeface="楷体_GB2312" pitchFamily="49" charset="-122"/>
            </a:endParaRPr>
          </a:p>
        </p:txBody>
      </p:sp>
      <p:sp>
        <p:nvSpPr>
          <p:cNvPr id="64" name="AutoShape 1063"/>
          <p:cNvSpPr>
            <a:spLocks noChangeArrowheads="1"/>
          </p:cNvSpPr>
          <p:nvPr/>
        </p:nvSpPr>
        <p:spPr bwMode="auto">
          <a:xfrm>
            <a:off x="304800" y="5443538"/>
            <a:ext cx="360363"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b="1"/>
          </a:p>
        </p:txBody>
      </p:sp>
      <p:grpSp>
        <p:nvGrpSpPr>
          <p:cNvPr id="12321" name="Group 114"/>
          <p:cNvGrpSpPr/>
          <p:nvPr/>
        </p:nvGrpSpPr>
        <p:grpSpPr bwMode="auto">
          <a:xfrm>
            <a:off x="8315325" y="4557713"/>
            <a:ext cx="93663" cy="627062"/>
            <a:chOff x="7507288" y="3849688"/>
            <a:chExt cx="93662" cy="627062"/>
          </a:xfrm>
        </p:grpSpPr>
        <p:sp>
          <p:nvSpPr>
            <p:cNvPr id="12326" name="Line 115"/>
            <p:cNvSpPr>
              <a:spLocks noChangeShapeType="1"/>
            </p:cNvSpPr>
            <p:nvPr/>
          </p:nvSpPr>
          <p:spPr bwMode="auto">
            <a:xfrm flipV="1">
              <a:off x="4896" y="1440"/>
              <a:ext cx="0" cy="576"/>
            </a:xfrm>
            <a:prstGeom prst="line">
              <a:avLst/>
            </a:prstGeom>
            <a:noFill/>
            <a:ln w="38100" cap="sq">
              <a:solidFill>
                <a:srgbClr val="0000FF"/>
              </a:solidFill>
              <a:miter lim="800000"/>
              <a:headEnd type="none" w="sm" len="sm"/>
            </a:ln>
          </p:spPr>
          <p:txBody>
            <a:bodyPr wrap="none"/>
            <a:lstStyle/>
            <a:p>
              <a:endParaRPr lang="zh-CN" altLang="en-US"/>
            </a:p>
          </p:txBody>
        </p:sp>
        <p:sp>
          <p:nvSpPr>
            <p:cNvPr id="12327" name="Line 116"/>
            <p:cNvSpPr>
              <a:spLocks noChangeShapeType="1"/>
            </p:cNvSpPr>
            <p:nvPr/>
          </p:nvSpPr>
          <p:spPr bwMode="auto">
            <a:xfrm flipV="1">
              <a:off x="4896" y="1632"/>
              <a:ext cx="0" cy="240"/>
            </a:xfrm>
            <a:prstGeom prst="line">
              <a:avLst/>
            </a:prstGeom>
            <a:noFill/>
            <a:ln w="38100">
              <a:solidFill>
                <a:srgbClr val="0000FF"/>
              </a:solidFill>
              <a:round/>
              <a:tailEnd type="triangle" w="med" len="med"/>
            </a:ln>
          </p:spPr>
          <p:txBody>
            <a:bodyPr wrap="none"/>
            <a:lstStyle/>
            <a:p>
              <a:endParaRPr lang="zh-CN" altLang="en-US"/>
            </a:p>
          </p:txBody>
        </p:sp>
      </p:grpSp>
      <p:sp>
        <p:nvSpPr>
          <p:cNvPr id="68" name="AutoShape 6"/>
          <p:cNvSpPr/>
          <p:nvPr/>
        </p:nvSpPr>
        <p:spPr bwMode="auto">
          <a:xfrm>
            <a:off x="1285875" y="1214438"/>
            <a:ext cx="215900" cy="900112"/>
          </a:xfrm>
          <a:prstGeom prst="leftBrace">
            <a:avLst>
              <a:gd name="adj1" fmla="val 63946"/>
              <a:gd name="adj2" fmla="val 50000"/>
            </a:avLst>
          </a:prstGeom>
          <a:noFill/>
          <a:ln w="9525">
            <a:solidFill>
              <a:srgbClr val="0000FF"/>
            </a:solidFill>
            <a:round/>
          </a:ln>
        </p:spPr>
        <p:txBody>
          <a:bodyPr wrap="none" anchor="ctr"/>
          <a:lstStyle/>
          <a:p>
            <a:endParaRPr lang="zh-CN" altLang="en-US" b="1"/>
          </a:p>
        </p:txBody>
      </p:sp>
      <p:grpSp>
        <p:nvGrpSpPr>
          <p:cNvPr id="5" name="组合 72"/>
          <p:cNvGrpSpPr/>
          <p:nvPr/>
        </p:nvGrpSpPr>
        <p:grpSpPr bwMode="auto">
          <a:xfrm>
            <a:off x="7537450" y="3430588"/>
            <a:ext cx="9525" cy="642937"/>
            <a:chOff x="7537735" y="3429794"/>
            <a:chExt cx="9173" cy="642942"/>
          </a:xfrm>
        </p:grpSpPr>
        <p:cxnSp>
          <p:nvCxnSpPr>
            <p:cNvPr id="12324" name="直接连接符 69"/>
            <p:cNvCxnSpPr>
              <a:cxnSpLocks noChangeShapeType="1"/>
            </p:cNvCxnSpPr>
            <p:nvPr/>
          </p:nvCxnSpPr>
          <p:spPr bwMode="auto">
            <a:xfrm rot="5400000" flipH="1" flipV="1">
              <a:off x="7224643" y="3750471"/>
              <a:ext cx="642942" cy="1588"/>
            </a:xfrm>
            <a:prstGeom prst="line">
              <a:avLst/>
            </a:prstGeom>
            <a:noFill/>
            <a:ln w="25400" algn="ctr">
              <a:solidFill>
                <a:srgbClr val="0000FF"/>
              </a:solidFill>
              <a:round/>
            </a:ln>
          </p:spPr>
        </p:cxnSp>
        <p:cxnSp>
          <p:nvCxnSpPr>
            <p:cNvPr id="12325" name="直接箭头连接符 71"/>
            <p:cNvCxnSpPr>
              <a:cxnSpLocks noChangeShapeType="1"/>
            </p:cNvCxnSpPr>
            <p:nvPr/>
          </p:nvCxnSpPr>
          <p:spPr bwMode="auto">
            <a:xfrm rot="5400000" flipH="1" flipV="1">
              <a:off x="7324215" y="3857628"/>
              <a:ext cx="428628" cy="1588"/>
            </a:xfrm>
            <a:prstGeom prst="straightConnector1">
              <a:avLst/>
            </a:prstGeom>
            <a:noFill/>
            <a:ln w="25400" algn="ctr">
              <a:solidFill>
                <a:srgbClr val="0000FF"/>
              </a:solidFill>
              <a:round/>
              <a:tailEnd type="stealth" w="lg" len="lg"/>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
                                        </p:tgtEl>
                                        <p:attrNameLst>
                                          <p:attrName>style.visibility</p:attrName>
                                        </p:attrNameLst>
                                      </p:cBhvr>
                                      <p:to>
                                        <p:strVal val="visible"/>
                                      </p:to>
                                    </p:set>
                                    <p:animEffect transition="in" filter="blinds(horizontal)">
                                      <p:cBhvr>
                                        <p:cTn id="12" dur="500"/>
                                        <p:tgtEl>
                                          <p:spTgt spid="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left)">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wipe(left)">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50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wipe(left)">
                                      <p:cBhvr>
                                        <p:cTn id="37" dur="500"/>
                                        <p:tgtEl>
                                          <p:spTgt spid="53"/>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p:cTn id="42" dur="500" fill="hold"/>
                                        <p:tgtEl>
                                          <p:spTgt spid="3"/>
                                        </p:tgtEl>
                                        <p:attrNameLst>
                                          <p:attrName>ppt_w</p:attrName>
                                        </p:attrNameLst>
                                      </p:cBhvr>
                                      <p:tavLst>
                                        <p:tav tm="0">
                                          <p:val>
                                            <p:fltVal val="0"/>
                                          </p:val>
                                        </p:tav>
                                        <p:tav tm="100000">
                                          <p:val>
                                            <p:strVal val="#ppt_w"/>
                                          </p:val>
                                        </p:tav>
                                      </p:tavLst>
                                    </p:anim>
                                    <p:anim calcmode="lin" valueType="num">
                                      <p:cBhvr>
                                        <p:cTn id="43"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8790"/>
                                        </p:tgtEl>
                                        <p:attrNameLst>
                                          <p:attrName>style.visibility</p:attrName>
                                        </p:attrNameLst>
                                      </p:cBhvr>
                                      <p:to>
                                        <p:strVal val="visible"/>
                                      </p:to>
                                    </p:set>
                                    <p:animEffect transition="in" filter="wipe(left)">
                                      <p:cBhvr>
                                        <p:cTn id="48" dur="500"/>
                                        <p:tgtEl>
                                          <p:spTgt spid="28790"/>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28789"/>
                                        </p:tgtEl>
                                        <p:attrNameLst>
                                          <p:attrName>style.visibility</p:attrName>
                                        </p:attrNameLst>
                                      </p:cBhvr>
                                      <p:to>
                                        <p:strVal val="visible"/>
                                      </p:to>
                                    </p:set>
                                    <p:animEffect transition="in" filter="wipe(left)">
                                      <p:cBhvr>
                                        <p:cTn id="52" dur="500"/>
                                        <p:tgtEl>
                                          <p:spTgt spid="2878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8801"/>
                                        </p:tgtEl>
                                        <p:attrNameLst>
                                          <p:attrName>style.visibility</p:attrName>
                                        </p:attrNameLst>
                                      </p:cBhvr>
                                      <p:to>
                                        <p:strVal val="visible"/>
                                      </p:to>
                                    </p:set>
                                    <p:animEffect transition="in" filter="wipe(up)">
                                      <p:cBhvr>
                                        <p:cTn id="57" dur="500"/>
                                        <p:tgtEl>
                                          <p:spTgt spid="28801"/>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28775"/>
                                        </p:tgtEl>
                                        <p:attrNameLst>
                                          <p:attrName>style.visibility</p:attrName>
                                        </p:attrNameLst>
                                      </p:cBhvr>
                                      <p:to>
                                        <p:strVal val="visible"/>
                                      </p:to>
                                    </p:set>
                                    <p:animEffect transition="in" filter="wipe(up)">
                                      <p:cBhvr>
                                        <p:cTn id="60" dur="500"/>
                                        <p:tgtEl>
                                          <p:spTgt spid="28775"/>
                                        </p:tgtEl>
                                      </p:cBhvr>
                                    </p:animEffect>
                                  </p:childTnLst>
                                </p:cTn>
                              </p:par>
                            </p:childTnLst>
                          </p:cTn>
                        </p:par>
                        <p:par>
                          <p:cTn id="61" fill="hold">
                            <p:stCondLst>
                              <p:cond delay="500"/>
                            </p:stCondLst>
                            <p:childTnLst>
                              <p:par>
                                <p:cTn id="62" presetID="22" presetClass="entr" presetSubtype="4" fill="hold" nodeType="after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wipe(down)">
                                      <p:cBhvr>
                                        <p:cTn id="64" dur="1000"/>
                                        <p:tgtEl>
                                          <p:spTgt spid="5"/>
                                        </p:tgtEl>
                                      </p:cBhvr>
                                    </p:animEffect>
                                  </p:childTnLst>
                                </p:cTn>
                              </p:par>
                            </p:childTnLst>
                          </p:cTn>
                        </p:par>
                        <p:par>
                          <p:cTn id="65" fill="hold">
                            <p:stCondLst>
                              <p:cond delay="1500"/>
                            </p:stCondLst>
                            <p:childTnLst>
                              <p:par>
                                <p:cTn id="66" presetID="22" presetClass="entr" presetSubtype="8" fill="hold" nodeType="afterEffect">
                                  <p:stCondLst>
                                    <p:cond delay="0"/>
                                  </p:stCondLst>
                                  <p:childTnLst>
                                    <p:set>
                                      <p:cBhvr>
                                        <p:cTn id="67" dur="1" fill="hold">
                                          <p:stCondLst>
                                            <p:cond delay="0"/>
                                          </p:stCondLst>
                                        </p:cTn>
                                        <p:tgtEl>
                                          <p:spTgt spid="28792"/>
                                        </p:tgtEl>
                                        <p:attrNameLst>
                                          <p:attrName>style.visibility</p:attrName>
                                        </p:attrNameLst>
                                      </p:cBhvr>
                                      <p:to>
                                        <p:strVal val="visible"/>
                                      </p:to>
                                    </p:set>
                                    <p:animEffect transition="in" filter="wipe(left)">
                                      <p:cBhvr>
                                        <p:cTn id="68" dur="500"/>
                                        <p:tgtEl>
                                          <p:spTgt spid="28792"/>
                                        </p:tgtEl>
                                      </p:cBhvr>
                                    </p:animEffect>
                                  </p:childTnLst>
                                </p:cTn>
                              </p:par>
                            </p:childTnLst>
                          </p:cTn>
                        </p:par>
                        <p:par>
                          <p:cTn id="69" fill="hold">
                            <p:stCondLst>
                              <p:cond delay="2000"/>
                            </p:stCondLst>
                            <p:childTnLst>
                              <p:par>
                                <p:cTn id="70" presetID="22" presetClass="entr" presetSubtype="8" fill="hold" grpId="0" nodeType="afterEffect">
                                  <p:stCondLst>
                                    <p:cond delay="0"/>
                                  </p:stCondLst>
                                  <p:childTnLst>
                                    <p:set>
                                      <p:cBhvr>
                                        <p:cTn id="71" dur="1" fill="hold">
                                          <p:stCondLst>
                                            <p:cond delay="0"/>
                                          </p:stCondLst>
                                        </p:cTn>
                                        <p:tgtEl>
                                          <p:spTgt spid="28791"/>
                                        </p:tgtEl>
                                        <p:attrNameLst>
                                          <p:attrName>style.visibility</p:attrName>
                                        </p:attrNameLst>
                                      </p:cBhvr>
                                      <p:to>
                                        <p:strVal val="visible"/>
                                      </p:to>
                                    </p:set>
                                    <p:animEffect transition="in" filter="wipe(left)">
                                      <p:cBhvr>
                                        <p:cTn id="72" dur="500"/>
                                        <p:tgtEl>
                                          <p:spTgt spid="2879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8785"/>
                                        </p:tgtEl>
                                        <p:attrNameLst>
                                          <p:attrName>style.visibility</p:attrName>
                                        </p:attrNameLst>
                                      </p:cBhvr>
                                      <p:to>
                                        <p:strVal val="visible"/>
                                      </p:to>
                                    </p:set>
                                    <p:animEffect transition="in" filter="wipe(left)">
                                      <p:cBhvr>
                                        <p:cTn id="77" dur="500"/>
                                        <p:tgtEl>
                                          <p:spTgt spid="2878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8793"/>
                                        </p:tgtEl>
                                        <p:attrNameLst>
                                          <p:attrName>style.visibility</p:attrName>
                                        </p:attrNameLst>
                                      </p:cBhvr>
                                      <p:to>
                                        <p:strVal val="visible"/>
                                      </p:to>
                                    </p:set>
                                    <p:animEffect transition="in" filter="wipe(left)">
                                      <p:cBhvr>
                                        <p:cTn id="82" dur="500"/>
                                        <p:tgtEl>
                                          <p:spTgt spid="28793"/>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28782"/>
                                        </p:tgtEl>
                                        <p:attrNameLst>
                                          <p:attrName>style.visibility</p:attrName>
                                        </p:attrNameLst>
                                      </p:cBhvr>
                                      <p:to>
                                        <p:strVal val="visible"/>
                                      </p:to>
                                    </p:set>
                                    <p:animEffect transition="in" filter="wipe(left)">
                                      <p:cBhvr>
                                        <p:cTn id="86" dur="500"/>
                                        <p:tgtEl>
                                          <p:spTgt spid="28782"/>
                                        </p:tgtEl>
                                      </p:cBhvr>
                                    </p:animEffect>
                                  </p:childTnLst>
                                </p:cTn>
                              </p:par>
                            </p:childTnLst>
                          </p:cTn>
                        </p:par>
                        <p:par>
                          <p:cTn id="87" fill="hold">
                            <p:stCondLst>
                              <p:cond delay="1000"/>
                            </p:stCondLst>
                            <p:childTnLst>
                              <p:par>
                                <p:cTn id="88" presetID="22" presetClass="entr" presetSubtype="8" fill="hold" nodeType="afterEffect">
                                  <p:stCondLst>
                                    <p:cond delay="0"/>
                                  </p:stCondLst>
                                  <p:childTnLst>
                                    <p:set>
                                      <p:cBhvr>
                                        <p:cTn id="89" dur="1" fill="hold">
                                          <p:stCondLst>
                                            <p:cond delay="0"/>
                                          </p:stCondLst>
                                        </p:cTn>
                                        <p:tgtEl>
                                          <p:spTgt spid="28783"/>
                                        </p:tgtEl>
                                        <p:attrNameLst>
                                          <p:attrName>style.visibility</p:attrName>
                                        </p:attrNameLst>
                                      </p:cBhvr>
                                      <p:to>
                                        <p:strVal val="visible"/>
                                      </p:to>
                                    </p:set>
                                    <p:animEffect transition="in" filter="wipe(left)">
                                      <p:cBhvr>
                                        <p:cTn id="90" dur="500"/>
                                        <p:tgtEl>
                                          <p:spTgt spid="28783"/>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2"/>
                                        </p:tgtEl>
                                        <p:attrNameLst>
                                          <p:attrName>style.visibility</p:attrName>
                                        </p:attrNameLst>
                                      </p:cBhvr>
                                      <p:to>
                                        <p:strVal val="visible"/>
                                      </p:to>
                                    </p:set>
                                    <p:animEffect transition="in" filter="wipe(left)">
                                      <p:cBhvr>
                                        <p:cTn id="95" dur="500"/>
                                        <p:tgtEl>
                                          <p:spTgt spid="2"/>
                                        </p:tgtEl>
                                      </p:cBhvr>
                                    </p:animEffect>
                                  </p:childTnLst>
                                </p:cTn>
                              </p:par>
                            </p:childTnLst>
                          </p:cTn>
                        </p:par>
                        <p:par>
                          <p:cTn id="96" fill="hold">
                            <p:stCondLst>
                              <p:cond delay="500"/>
                            </p:stCondLst>
                            <p:childTnLst>
                              <p:par>
                                <p:cTn id="97" presetID="22" presetClass="entr" presetSubtype="8" fill="hold" grpId="0" nodeType="afterEffect">
                                  <p:stCondLst>
                                    <p:cond delay="0"/>
                                  </p:stCondLst>
                                  <p:childTnLst>
                                    <p:set>
                                      <p:cBhvr>
                                        <p:cTn id="98" dur="1" fill="hold">
                                          <p:stCondLst>
                                            <p:cond delay="0"/>
                                          </p:stCondLst>
                                        </p:cTn>
                                        <p:tgtEl>
                                          <p:spTgt spid="28784"/>
                                        </p:tgtEl>
                                        <p:attrNameLst>
                                          <p:attrName>style.visibility</p:attrName>
                                        </p:attrNameLst>
                                      </p:cBhvr>
                                      <p:to>
                                        <p:strVal val="visible"/>
                                      </p:to>
                                    </p:set>
                                    <p:animEffect transition="in" filter="wipe(left)">
                                      <p:cBhvr>
                                        <p:cTn id="99" dur="500"/>
                                        <p:tgtEl>
                                          <p:spTgt spid="28784"/>
                                        </p:tgtEl>
                                      </p:cBhvr>
                                    </p:animEffect>
                                  </p:childTnLst>
                                </p:cTn>
                              </p:par>
                            </p:childTnLst>
                          </p:cTn>
                        </p:par>
                        <p:par>
                          <p:cTn id="100" fill="hold">
                            <p:stCondLst>
                              <p:cond delay="1000"/>
                            </p:stCondLst>
                            <p:childTnLst>
                              <p:par>
                                <p:cTn id="101" presetID="22" presetClass="entr" presetSubtype="8" fill="hold" nodeType="afterEffect">
                                  <p:stCondLst>
                                    <p:cond delay="0"/>
                                  </p:stCondLst>
                                  <p:childTnLst>
                                    <p:set>
                                      <p:cBhvr>
                                        <p:cTn id="102" dur="1" fill="hold">
                                          <p:stCondLst>
                                            <p:cond delay="0"/>
                                          </p:stCondLst>
                                        </p:cTn>
                                        <p:tgtEl>
                                          <p:spTgt spid="28794"/>
                                        </p:tgtEl>
                                        <p:attrNameLst>
                                          <p:attrName>style.visibility</p:attrName>
                                        </p:attrNameLst>
                                      </p:cBhvr>
                                      <p:to>
                                        <p:strVal val="visible"/>
                                      </p:to>
                                    </p:set>
                                    <p:animEffect transition="in" filter="wipe(left)">
                                      <p:cBhvr>
                                        <p:cTn id="103" dur="500"/>
                                        <p:tgtEl>
                                          <p:spTgt spid="28794"/>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left)">
                                      <p:cBhvr>
                                        <p:cTn id="108" dur="500"/>
                                        <p:tgtEl>
                                          <p:spTgt spid="61"/>
                                        </p:tgtEl>
                                      </p:cBhvr>
                                    </p:animEffect>
                                  </p:childTnLst>
                                </p:cTn>
                              </p:par>
                            </p:childTnLst>
                          </p:cTn>
                        </p:par>
                        <p:par>
                          <p:cTn id="109" fill="hold">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54"/>
                                        </p:tgtEl>
                                        <p:attrNameLst>
                                          <p:attrName>style.visibility</p:attrName>
                                        </p:attrNameLst>
                                      </p:cBhvr>
                                      <p:to>
                                        <p:strVal val="visible"/>
                                      </p:to>
                                    </p:set>
                                    <p:animEffect transition="in" filter="wipe(left)">
                                      <p:cBhvr>
                                        <p:cTn id="112" dur="500"/>
                                        <p:tgtEl>
                                          <p:spTgt spid="5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62"/>
                                        </p:tgtEl>
                                        <p:attrNameLst>
                                          <p:attrName>style.visibility</p:attrName>
                                        </p:attrNameLst>
                                      </p:cBhvr>
                                      <p:to>
                                        <p:strVal val="visible"/>
                                      </p:to>
                                    </p:set>
                                    <p:animEffect transition="in" filter="wipe(left)">
                                      <p:cBhvr>
                                        <p:cTn id="117" dur="500"/>
                                        <p:tgtEl>
                                          <p:spTgt spid="62"/>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59"/>
                                        </p:tgtEl>
                                        <p:attrNameLst>
                                          <p:attrName>style.visibility</p:attrName>
                                        </p:attrNameLst>
                                      </p:cBhvr>
                                      <p:to>
                                        <p:strVal val="visible"/>
                                      </p:to>
                                    </p:set>
                                    <p:animEffect transition="in" filter="wipe(left)">
                                      <p:cBhvr>
                                        <p:cTn id="122" dur="500"/>
                                        <p:tgtEl>
                                          <p:spTgt spid="59"/>
                                        </p:tgtEl>
                                      </p:cBhvr>
                                    </p:animEffect>
                                  </p:childTnLst>
                                </p:cTn>
                              </p:par>
                            </p:childTnLst>
                          </p:cTn>
                        </p:par>
                        <p:par>
                          <p:cTn id="123" fill="hold">
                            <p:stCondLst>
                              <p:cond delay="500"/>
                            </p:stCondLst>
                            <p:childTnLst>
                              <p:par>
                                <p:cTn id="124" presetID="22" presetClass="entr" presetSubtype="8" fill="hold" grpId="0" nodeType="afterEffect">
                                  <p:stCondLst>
                                    <p:cond delay="0"/>
                                  </p:stCondLst>
                                  <p:childTnLst>
                                    <p:set>
                                      <p:cBhvr>
                                        <p:cTn id="125" dur="1" fill="hold">
                                          <p:stCondLst>
                                            <p:cond delay="0"/>
                                          </p:stCondLst>
                                        </p:cTn>
                                        <p:tgtEl>
                                          <p:spTgt spid="55"/>
                                        </p:tgtEl>
                                        <p:attrNameLst>
                                          <p:attrName>style.visibility</p:attrName>
                                        </p:attrNameLst>
                                      </p:cBhvr>
                                      <p:to>
                                        <p:strVal val="visible"/>
                                      </p:to>
                                    </p:set>
                                    <p:animEffect transition="in" filter="wipe(left)">
                                      <p:cBhvr>
                                        <p:cTn id="126" dur="500"/>
                                        <p:tgtEl>
                                          <p:spTgt spid="55"/>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56"/>
                                        </p:tgtEl>
                                        <p:attrNameLst>
                                          <p:attrName>style.visibility</p:attrName>
                                        </p:attrNameLst>
                                      </p:cBhvr>
                                      <p:to>
                                        <p:strVal val="visible"/>
                                      </p:to>
                                    </p:set>
                                    <p:animEffect transition="in" filter="wipe(left)">
                                      <p:cBhvr>
                                        <p:cTn id="131" dur="500"/>
                                        <p:tgtEl>
                                          <p:spTgt spid="56"/>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60"/>
                                        </p:tgtEl>
                                        <p:attrNameLst>
                                          <p:attrName>style.visibility</p:attrName>
                                        </p:attrNameLst>
                                      </p:cBhvr>
                                      <p:to>
                                        <p:strVal val="visible"/>
                                      </p:to>
                                    </p:set>
                                    <p:animEffect transition="in" filter="wipe(left)">
                                      <p:cBhvr>
                                        <p:cTn id="136" dur="500"/>
                                        <p:tgtEl>
                                          <p:spTgt spid="60"/>
                                        </p:tgtEl>
                                      </p:cBhvr>
                                    </p:animEffect>
                                  </p:childTnLst>
                                </p:cTn>
                              </p:par>
                            </p:childTnLst>
                          </p:cTn>
                        </p:par>
                        <p:par>
                          <p:cTn id="137" fill="hold">
                            <p:stCondLst>
                              <p:cond delay="500"/>
                            </p:stCondLst>
                            <p:childTnLst>
                              <p:par>
                                <p:cTn id="138" presetID="22" presetClass="entr" presetSubtype="8" fill="hold" grpId="0" nodeType="afterEffect">
                                  <p:stCondLst>
                                    <p:cond delay="0"/>
                                  </p:stCondLst>
                                  <p:childTnLst>
                                    <p:set>
                                      <p:cBhvr>
                                        <p:cTn id="139" dur="1" fill="hold">
                                          <p:stCondLst>
                                            <p:cond delay="0"/>
                                          </p:stCondLst>
                                        </p:cTn>
                                        <p:tgtEl>
                                          <p:spTgt spid="57"/>
                                        </p:tgtEl>
                                        <p:attrNameLst>
                                          <p:attrName>style.visibility</p:attrName>
                                        </p:attrNameLst>
                                      </p:cBhvr>
                                      <p:to>
                                        <p:strVal val="visible"/>
                                      </p:to>
                                    </p:set>
                                    <p:animEffect transition="in" filter="wipe(left)">
                                      <p:cBhvr>
                                        <p:cTn id="140" dur="500"/>
                                        <p:tgtEl>
                                          <p:spTgt spid="57"/>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nodeType="clickEffect">
                                  <p:stCondLst>
                                    <p:cond delay="0"/>
                                  </p:stCondLst>
                                  <p:childTnLst>
                                    <p:set>
                                      <p:cBhvr>
                                        <p:cTn id="144" dur="1" fill="hold">
                                          <p:stCondLst>
                                            <p:cond delay="0"/>
                                          </p:stCondLst>
                                        </p:cTn>
                                        <p:tgtEl>
                                          <p:spTgt spid="58"/>
                                        </p:tgtEl>
                                        <p:attrNameLst>
                                          <p:attrName>style.visibility</p:attrName>
                                        </p:attrNameLst>
                                      </p:cBhvr>
                                      <p:to>
                                        <p:strVal val="visible"/>
                                      </p:to>
                                    </p:set>
                                    <p:animEffect transition="in" filter="wipe(left)">
                                      <p:cBhvr>
                                        <p:cTn id="145" dur="500"/>
                                        <p:tgtEl>
                                          <p:spTgt spid="58"/>
                                        </p:tgtEl>
                                      </p:cBhvr>
                                    </p:animEffect>
                                  </p:childTnLst>
                                </p:cTn>
                              </p:par>
                            </p:childTnLst>
                          </p:cTn>
                        </p:par>
                      </p:childTnLst>
                    </p:cTn>
                  </p:par>
                  <p:par>
                    <p:cTn id="146" fill="hold">
                      <p:stCondLst>
                        <p:cond delay="indefinite"/>
                      </p:stCondLst>
                      <p:childTnLst>
                        <p:par>
                          <p:cTn id="147" fill="hold">
                            <p:stCondLst>
                              <p:cond delay="0"/>
                            </p:stCondLst>
                            <p:childTnLst>
                              <p:par>
                                <p:cTn id="148" presetID="23" presetClass="entr" presetSubtype="32" fill="hold" grpId="0" nodeType="clickEffect">
                                  <p:stCondLst>
                                    <p:cond delay="0"/>
                                  </p:stCondLst>
                                  <p:childTnLst>
                                    <p:set>
                                      <p:cBhvr>
                                        <p:cTn id="149" dur="1" fill="hold">
                                          <p:stCondLst>
                                            <p:cond delay="0"/>
                                          </p:stCondLst>
                                        </p:cTn>
                                        <p:tgtEl>
                                          <p:spTgt spid="64"/>
                                        </p:tgtEl>
                                        <p:attrNameLst>
                                          <p:attrName>style.visibility</p:attrName>
                                        </p:attrNameLst>
                                      </p:cBhvr>
                                      <p:to>
                                        <p:strVal val="visible"/>
                                      </p:to>
                                    </p:set>
                                    <p:anim calcmode="lin" valueType="num">
                                      <p:cBhvr>
                                        <p:cTn id="150" dur="500" fill="hold"/>
                                        <p:tgtEl>
                                          <p:spTgt spid="64"/>
                                        </p:tgtEl>
                                        <p:attrNameLst>
                                          <p:attrName>ppt_w</p:attrName>
                                        </p:attrNameLst>
                                      </p:cBhvr>
                                      <p:tavLst>
                                        <p:tav tm="0">
                                          <p:val>
                                            <p:strVal val="4*#ppt_w"/>
                                          </p:val>
                                        </p:tav>
                                        <p:tav tm="100000">
                                          <p:val>
                                            <p:strVal val="#ppt_w"/>
                                          </p:val>
                                        </p:tav>
                                      </p:tavLst>
                                    </p:anim>
                                    <p:anim calcmode="lin" valueType="num">
                                      <p:cBhvr>
                                        <p:cTn id="151" dur="500" fill="hold"/>
                                        <p:tgtEl>
                                          <p:spTgt spid="64"/>
                                        </p:tgtEl>
                                        <p:attrNameLst>
                                          <p:attrName>ppt_h</p:attrName>
                                        </p:attrNameLst>
                                      </p:cBhvr>
                                      <p:tavLst>
                                        <p:tav tm="0">
                                          <p:val>
                                            <p:strVal val="4*#ppt_h"/>
                                          </p:val>
                                        </p:tav>
                                        <p:tav tm="100000">
                                          <p:val>
                                            <p:strVal val="#ppt_h"/>
                                          </p:val>
                                        </p:tav>
                                      </p:tavLst>
                                    </p:anim>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63"/>
                                        </p:tgtEl>
                                        <p:attrNameLst>
                                          <p:attrName>style.visibility</p:attrName>
                                        </p:attrNameLst>
                                      </p:cBhvr>
                                      <p:to>
                                        <p:strVal val="visible"/>
                                      </p:to>
                                    </p:set>
                                    <p:animEffect transition="in" filter="wipe(left)">
                                      <p:cBhvr>
                                        <p:cTn id="15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5" grpId="0" animBg="1"/>
      <p:bldP spid="28782" grpId="0" animBg="1"/>
      <p:bldP spid="28784" grpId="0" animBg="1"/>
      <p:bldP spid="28789" grpId="0"/>
      <p:bldP spid="28791" grpId="0"/>
      <p:bldP spid="28801" grpId="0"/>
      <p:bldP spid="48" grpId="0"/>
      <p:bldP spid="49" grpId="0"/>
      <p:bldP spid="50" grpId="0" autoUpdateAnimBg="0"/>
      <p:bldP spid="53" grpId="0" autoUpdateAnimBg="0"/>
      <p:bldP spid="55" grpId="0" autoUpdateAnimBg="0"/>
      <p:bldP spid="57" grpId="0" autoUpdateAnimBg="0"/>
      <p:bldP spid="59" grpId="0" autoUpdateAnimBg="0"/>
      <p:bldP spid="60" grpId="0" autoUpdateAnimBg="0"/>
      <p:bldP spid="54" grpId="0"/>
      <p:bldP spid="61" grpId="0"/>
      <p:bldP spid="63" grpId="0" autoUpdateAnimBg="0"/>
      <p:bldP spid="64" grpId="0" animBg="1"/>
      <p:bldP spid="6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83" name="Rectangle 35"/>
          <p:cNvSpPr>
            <a:spLocks noChangeArrowheads="1"/>
          </p:cNvSpPr>
          <p:nvPr/>
        </p:nvSpPr>
        <p:spPr bwMode="auto">
          <a:xfrm>
            <a:off x="6764338" y="4054475"/>
            <a:ext cx="1296987" cy="936625"/>
          </a:xfrm>
          <a:prstGeom prst="rect">
            <a:avLst/>
          </a:prstGeom>
          <a:pattFill prst="wdUpDiag">
            <a:fgClr>
              <a:schemeClr val="accent1"/>
            </a:fgClr>
            <a:bgClr>
              <a:schemeClr val="bg1"/>
            </a:bgClr>
          </a:pattFill>
          <a:ln w="9525">
            <a:noFill/>
            <a:miter lim="800000"/>
          </a:ln>
        </p:spPr>
        <p:txBody>
          <a:bodyPr wrap="none" anchor="ctr"/>
          <a:lstStyle/>
          <a:p>
            <a:pPr algn="ctr"/>
            <a:endParaRPr lang="zh-CN" altLang="en-US" b="1"/>
          </a:p>
        </p:txBody>
      </p:sp>
      <p:sp>
        <p:nvSpPr>
          <p:cNvPr id="27652" name="Text Box 4"/>
          <p:cNvSpPr txBox="1">
            <a:spLocks noChangeArrowheads="1"/>
          </p:cNvSpPr>
          <p:nvPr/>
        </p:nvSpPr>
        <p:spPr bwMode="auto">
          <a:xfrm>
            <a:off x="304800" y="533400"/>
            <a:ext cx="2519363" cy="461963"/>
          </a:xfrm>
          <a:prstGeom prst="rect">
            <a:avLst/>
          </a:prstGeom>
          <a:noFill/>
          <a:ln w="9525">
            <a:noFill/>
            <a:miter lim="800000"/>
          </a:ln>
        </p:spPr>
        <p:txBody>
          <a:bodyPr>
            <a:spAutoFit/>
          </a:bodyPr>
          <a:lstStyle/>
          <a:p>
            <a:r>
              <a:rPr lang="en-US" altLang="zh-CN" b="1">
                <a:solidFill>
                  <a:srgbClr val="FF0000"/>
                </a:solidFill>
                <a:cs typeface="Times New Roman" panose="02020603050405020304" pitchFamily="18" charset="0"/>
              </a:rPr>
              <a:t>2</a:t>
            </a:r>
            <a:r>
              <a:rPr lang="zh-CN" altLang="en-US" b="1">
                <a:solidFill>
                  <a:srgbClr val="FF0000"/>
                </a:solidFill>
                <a:latin typeface="宋体" panose="02010600030101010101" pitchFamily="2" charset="-122"/>
              </a:rPr>
              <a:t>、等压过程</a:t>
            </a:r>
            <a:endParaRPr lang="zh-CN" altLang="en-US" b="1">
              <a:solidFill>
                <a:srgbClr val="FF0000"/>
              </a:solidFill>
              <a:latin typeface="宋体" panose="02010600030101010101" pitchFamily="2" charset="-122"/>
            </a:endParaRPr>
          </a:p>
        </p:txBody>
      </p:sp>
      <p:sp>
        <p:nvSpPr>
          <p:cNvPr id="27653" name="Text Box 5"/>
          <p:cNvSpPr txBox="1">
            <a:spLocks noChangeArrowheads="1"/>
          </p:cNvSpPr>
          <p:nvPr/>
        </p:nvSpPr>
        <p:spPr bwMode="auto">
          <a:xfrm>
            <a:off x="914400" y="2362200"/>
            <a:ext cx="914400" cy="457200"/>
          </a:xfrm>
          <a:prstGeom prst="rect">
            <a:avLst/>
          </a:prstGeom>
          <a:noFill/>
          <a:ln w="9525">
            <a:noFill/>
            <a:miter lim="800000"/>
          </a:ln>
        </p:spPr>
        <p:txBody>
          <a:bodyPr>
            <a:spAutoFit/>
          </a:bodyPr>
          <a:lstStyle/>
          <a:p>
            <a:r>
              <a:rPr lang="zh-CN" altLang="en-US" b="1">
                <a:solidFill>
                  <a:srgbClr val="FF6600"/>
                </a:solidFill>
              </a:rPr>
              <a:t>热量</a:t>
            </a:r>
            <a:endParaRPr lang="zh-CN" altLang="en-US" b="1">
              <a:solidFill>
                <a:srgbClr val="FF6600"/>
              </a:solidFill>
            </a:endParaRPr>
          </a:p>
        </p:txBody>
      </p:sp>
      <p:sp>
        <p:nvSpPr>
          <p:cNvPr id="27655" name="Line 7"/>
          <p:cNvSpPr>
            <a:spLocks noChangeShapeType="1"/>
          </p:cNvSpPr>
          <p:nvPr/>
        </p:nvSpPr>
        <p:spPr bwMode="auto">
          <a:xfrm flipH="1">
            <a:off x="6318250" y="4049713"/>
            <a:ext cx="431800" cy="0"/>
          </a:xfrm>
          <a:prstGeom prst="line">
            <a:avLst/>
          </a:prstGeom>
          <a:noFill/>
          <a:ln w="9525">
            <a:solidFill>
              <a:schemeClr val="tx1"/>
            </a:solidFill>
            <a:prstDash val="dash"/>
            <a:round/>
          </a:ln>
        </p:spPr>
        <p:txBody>
          <a:bodyPr/>
          <a:lstStyle/>
          <a:p>
            <a:endParaRPr lang="zh-CN" altLang="en-US"/>
          </a:p>
        </p:txBody>
      </p:sp>
      <p:sp>
        <p:nvSpPr>
          <p:cNvPr id="27656" name="Line 8"/>
          <p:cNvSpPr>
            <a:spLocks noChangeShapeType="1"/>
          </p:cNvSpPr>
          <p:nvPr/>
        </p:nvSpPr>
        <p:spPr bwMode="auto">
          <a:xfrm>
            <a:off x="6762750" y="4057650"/>
            <a:ext cx="0" cy="99060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27657" name="Object 9"/>
          <p:cNvGraphicFramePr>
            <a:graphicFrameLocks noChangeAspect="1"/>
          </p:cNvGraphicFramePr>
          <p:nvPr/>
        </p:nvGraphicFramePr>
        <p:xfrm>
          <a:off x="6689725" y="5046663"/>
          <a:ext cx="223838" cy="338137"/>
        </p:xfrm>
        <a:graphic>
          <a:graphicData uri="http://schemas.openxmlformats.org/presentationml/2006/ole">
            <mc:AlternateContent xmlns:mc="http://schemas.openxmlformats.org/markup-compatibility/2006">
              <mc:Choice xmlns:v="urn:schemas-microsoft-com:vml" Requires="v">
                <p:oleObj spid="_x0000_s13313" name="公式" r:id="rId1" imgW="6705600" imgH="10058400" progId="Equation.3">
                  <p:embed/>
                </p:oleObj>
              </mc:Choice>
              <mc:Fallback>
                <p:oleObj name="公式" r:id="rId1" imgW="6705600" imgH="10058400" progId="Equation.3">
                  <p:embed/>
                  <p:pic>
                    <p:nvPicPr>
                      <p:cNvPr id="0" name="Object 9"/>
                      <p:cNvPicPr>
                        <a:picLocks noChangeAspect="1"/>
                      </p:cNvPicPr>
                      <p:nvPr/>
                    </p:nvPicPr>
                    <p:blipFill>
                      <a:blip r:embed="rId2"/>
                      <a:stretch>
                        <a:fillRect/>
                      </a:stretch>
                    </p:blipFill>
                    <p:spPr>
                      <a:xfrm>
                        <a:off x="6689725" y="5046663"/>
                        <a:ext cx="223838" cy="338137"/>
                      </a:xfrm>
                      <a:prstGeom prst="rect">
                        <a:avLst/>
                      </a:prstGeom>
                      <a:noFill/>
                      <a:ln w="9525">
                        <a:noFill/>
                      </a:ln>
                    </p:spPr>
                  </p:pic>
                </p:oleObj>
              </mc:Fallback>
            </mc:AlternateContent>
          </a:graphicData>
        </a:graphic>
      </p:graphicFrame>
      <p:sp>
        <p:nvSpPr>
          <p:cNvPr id="27658" name="Line 10"/>
          <p:cNvSpPr>
            <a:spLocks noChangeShapeType="1"/>
          </p:cNvSpPr>
          <p:nvPr/>
        </p:nvSpPr>
        <p:spPr bwMode="auto">
          <a:xfrm>
            <a:off x="8058150" y="4057650"/>
            <a:ext cx="0" cy="99060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pSp>
        <p:nvGrpSpPr>
          <p:cNvPr id="2" name="Group 11"/>
          <p:cNvGrpSpPr/>
          <p:nvPr/>
        </p:nvGrpSpPr>
        <p:grpSpPr bwMode="auto">
          <a:xfrm>
            <a:off x="6762750" y="4057650"/>
            <a:ext cx="1295400" cy="0"/>
            <a:chOff x="4320" y="1920"/>
            <a:chExt cx="816" cy="0"/>
          </a:xfrm>
        </p:grpSpPr>
        <p:sp>
          <p:nvSpPr>
            <p:cNvPr id="13347" name="Line 12"/>
            <p:cNvSpPr>
              <a:spLocks noChangeShapeType="1"/>
            </p:cNvSpPr>
            <p:nvPr/>
          </p:nvSpPr>
          <p:spPr bwMode="auto">
            <a:xfrm>
              <a:off x="4320" y="1920"/>
              <a:ext cx="816" cy="0"/>
            </a:xfrm>
            <a:prstGeom prst="line">
              <a:avLst/>
            </a:prstGeom>
            <a:noFill/>
            <a:ln w="38100" cap="sq">
              <a:solidFill>
                <a:srgbClr val="3333CC"/>
              </a:solidFill>
              <a:miter lim="800000"/>
              <a:headEnd type="none" w="sm" len="sm"/>
            </a:ln>
          </p:spPr>
          <p:txBody>
            <a:bodyPr wrap="none"/>
            <a:lstStyle/>
            <a:p>
              <a:endParaRPr lang="zh-CN" altLang="en-US"/>
            </a:p>
          </p:txBody>
        </p:sp>
        <p:sp>
          <p:nvSpPr>
            <p:cNvPr id="13348" name="Line 13"/>
            <p:cNvSpPr>
              <a:spLocks noChangeShapeType="1"/>
            </p:cNvSpPr>
            <p:nvPr/>
          </p:nvSpPr>
          <p:spPr bwMode="auto">
            <a:xfrm>
              <a:off x="4560" y="1920"/>
              <a:ext cx="192" cy="0"/>
            </a:xfrm>
            <a:prstGeom prst="line">
              <a:avLst/>
            </a:prstGeom>
            <a:noFill/>
            <a:ln w="38100">
              <a:solidFill>
                <a:srgbClr val="3333CC"/>
              </a:solidFill>
              <a:round/>
              <a:tailEnd type="triangle" w="med" len="med"/>
            </a:ln>
          </p:spPr>
          <p:txBody>
            <a:bodyPr wrap="none"/>
            <a:lstStyle/>
            <a:p>
              <a:endParaRPr lang="zh-CN" altLang="en-US"/>
            </a:p>
          </p:txBody>
        </p:sp>
      </p:grpSp>
      <p:graphicFrame>
        <p:nvGraphicFramePr>
          <p:cNvPr id="27662" name="Object 14"/>
          <p:cNvGraphicFramePr>
            <a:graphicFrameLocks noChangeAspect="1"/>
          </p:cNvGraphicFramePr>
          <p:nvPr/>
        </p:nvGraphicFramePr>
        <p:xfrm>
          <a:off x="7947025" y="5046663"/>
          <a:ext cx="254000" cy="338137"/>
        </p:xfrm>
        <a:graphic>
          <a:graphicData uri="http://schemas.openxmlformats.org/presentationml/2006/ole">
            <mc:AlternateContent xmlns:mc="http://schemas.openxmlformats.org/markup-compatibility/2006">
              <mc:Choice xmlns:v="urn:schemas-microsoft-com:vml" Requires="v">
                <p:oleObj spid="_x0000_s13315" name="公式" r:id="rId3" imgW="7620000" imgH="10058400" progId="Equation.3">
                  <p:embed/>
                </p:oleObj>
              </mc:Choice>
              <mc:Fallback>
                <p:oleObj name="公式" r:id="rId3" imgW="7620000" imgH="10058400" progId="Equation.3">
                  <p:embed/>
                  <p:pic>
                    <p:nvPicPr>
                      <p:cNvPr id="0" name="Object 14"/>
                      <p:cNvPicPr>
                        <a:picLocks noChangeAspect="1"/>
                      </p:cNvPicPr>
                      <p:nvPr/>
                    </p:nvPicPr>
                    <p:blipFill>
                      <a:blip r:embed="rId4"/>
                      <a:stretch>
                        <a:fillRect/>
                      </a:stretch>
                    </p:blipFill>
                    <p:spPr>
                      <a:xfrm>
                        <a:off x="7947025" y="5046663"/>
                        <a:ext cx="254000" cy="338137"/>
                      </a:xfrm>
                      <a:prstGeom prst="rect">
                        <a:avLst/>
                      </a:prstGeom>
                      <a:noFill/>
                      <a:ln w="9525">
                        <a:noFill/>
                      </a:ln>
                    </p:spPr>
                  </p:pic>
                </p:oleObj>
              </mc:Fallback>
            </mc:AlternateContent>
          </a:graphicData>
        </a:graphic>
      </p:graphicFrame>
      <p:graphicFrame>
        <p:nvGraphicFramePr>
          <p:cNvPr id="27663" name="Object 15"/>
          <p:cNvGraphicFramePr>
            <a:graphicFrameLocks noChangeAspect="1"/>
          </p:cNvGraphicFramePr>
          <p:nvPr/>
        </p:nvGraphicFramePr>
        <p:xfrm>
          <a:off x="6699250" y="3535363"/>
          <a:ext cx="266700" cy="419100"/>
        </p:xfrm>
        <a:graphic>
          <a:graphicData uri="http://schemas.openxmlformats.org/presentationml/2006/ole">
            <mc:AlternateContent xmlns:mc="http://schemas.openxmlformats.org/markup-compatibility/2006">
              <mc:Choice xmlns:v="urn:schemas-microsoft-com:vml" Requires="v">
                <p:oleObj spid="_x0000_s13316" name="公式" r:id="rId5" imgW="6400800" imgH="10058400" progId="Equation.3">
                  <p:embed/>
                </p:oleObj>
              </mc:Choice>
              <mc:Fallback>
                <p:oleObj name="公式" r:id="rId5" imgW="6400800" imgH="10058400" progId="Equation.3">
                  <p:embed/>
                  <p:pic>
                    <p:nvPicPr>
                      <p:cNvPr id="0" name="Object 15"/>
                      <p:cNvPicPr>
                        <a:picLocks noChangeAspect="1"/>
                      </p:cNvPicPr>
                      <p:nvPr/>
                    </p:nvPicPr>
                    <p:blipFill>
                      <a:blip r:embed="rId6"/>
                      <a:stretch>
                        <a:fillRect/>
                      </a:stretch>
                    </p:blipFill>
                    <p:spPr>
                      <a:xfrm>
                        <a:off x="6699250" y="3535363"/>
                        <a:ext cx="266700" cy="419100"/>
                      </a:xfrm>
                      <a:prstGeom prst="rect">
                        <a:avLst/>
                      </a:prstGeom>
                      <a:noFill/>
                      <a:ln w="9525">
                        <a:noFill/>
                      </a:ln>
                    </p:spPr>
                  </p:pic>
                </p:oleObj>
              </mc:Fallback>
            </mc:AlternateContent>
          </a:graphicData>
        </a:graphic>
      </p:graphicFrame>
      <p:sp>
        <p:nvSpPr>
          <p:cNvPr id="27664" name="Text Box 16"/>
          <p:cNvSpPr txBox="1">
            <a:spLocks noChangeArrowheads="1"/>
          </p:cNvSpPr>
          <p:nvPr/>
        </p:nvSpPr>
        <p:spPr bwMode="auto">
          <a:xfrm>
            <a:off x="6678613" y="4040188"/>
            <a:ext cx="719137" cy="396875"/>
          </a:xfrm>
          <a:prstGeom prst="rect">
            <a:avLst/>
          </a:prstGeom>
          <a:noFill/>
          <a:ln w="12700" cap="sq">
            <a:noFill/>
            <a:miter lim="800000"/>
            <a:headEnd type="none" w="sm" len="sm"/>
            <a:tailEnd type="none" w="sm" len="sm"/>
          </a:ln>
        </p:spPr>
        <p:txBody>
          <a:bodyPr>
            <a:spAutoFit/>
          </a:bodyPr>
          <a:lstStyle/>
          <a:p>
            <a:r>
              <a:rPr kumimoji="1" lang="en-US" altLang="zh-CN" sz="2000" b="1" i="1"/>
              <a:t>Ⅰ</a:t>
            </a:r>
            <a:endParaRPr kumimoji="1" lang="en-US" altLang="zh-CN" sz="2000" b="1" i="1"/>
          </a:p>
        </p:txBody>
      </p:sp>
      <p:graphicFrame>
        <p:nvGraphicFramePr>
          <p:cNvPr id="27665" name="Object 17"/>
          <p:cNvGraphicFramePr>
            <a:graphicFrameLocks noChangeAspect="1"/>
          </p:cNvGraphicFramePr>
          <p:nvPr/>
        </p:nvGraphicFramePr>
        <p:xfrm>
          <a:off x="6675438" y="3956050"/>
          <a:ext cx="193675" cy="192088"/>
        </p:xfrm>
        <a:graphic>
          <a:graphicData uri="http://schemas.openxmlformats.org/presentationml/2006/ole">
            <mc:AlternateContent xmlns:mc="http://schemas.openxmlformats.org/markup-compatibility/2006">
              <mc:Choice xmlns:v="urn:schemas-microsoft-com:vml" Requires="v">
                <p:oleObj spid="_x0000_s13317" name="公式" r:id="rId7" imgW="4572000" imgH="4572000" progId="Equation.3">
                  <p:embed/>
                </p:oleObj>
              </mc:Choice>
              <mc:Fallback>
                <p:oleObj name="公式" r:id="rId7" imgW="4572000" imgH="4572000" progId="Equation.3">
                  <p:embed/>
                  <p:pic>
                    <p:nvPicPr>
                      <p:cNvPr id="0" name="Object 17"/>
                      <p:cNvPicPr>
                        <a:picLocks noChangeAspect="1"/>
                      </p:cNvPicPr>
                      <p:nvPr/>
                    </p:nvPicPr>
                    <p:blipFill>
                      <a:blip r:embed="rId8"/>
                      <a:stretch>
                        <a:fillRect/>
                      </a:stretch>
                    </p:blipFill>
                    <p:spPr>
                      <a:xfrm>
                        <a:off x="6675438" y="3956050"/>
                        <a:ext cx="193675" cy="192088"/>
                      </a:xfrm>
                      <a:prstGeom prst="rect">
                        <a:avLst/>
                      </a:prstGeom>
                      <a:noFill/>
                      <a:ln w="9525">
                        <a:noFill/>
                      </a:ln>
                    </p:spPr>
                  </p:pic>
                </p:oleObj>
              </mc:Fallback>
            </mc:AlternateContent>
          </a:graphicData>
        </a:graphic>
      </p:graphicFrame>
      <p:sp>
        <p:nvSpPr>
          <p:cNvPr id="27666" name="Text Box 18"/>
          <p:cNvSpPr txBox="1">
            <a:spLocks noChangeArrowheads="1"/>
          </p:cNvSpPr>
          <p:nvPr/>
        </p:nvSpPr>
        <p:spPr bwMode="auto">
          <a:xfrm>
            <a:off x="8047038" y="4003675"/>
            <a:ext cx="719137" cy="396875"/>
          </a:xfrm>
          <a:prstGeom prst="rect">
            <a:avLst/>
          </a:prstGeom>
          <a:noFill/>
          <a:ln w="12700" cap="sq">
            <a:noFill/>
            <a:miter lim="800000"/>
            <a:headEnd type="none" w="sm" len="sm"/>
            <a:tailEnd type="none" w="sm" len="sm"/>
          </a:ln>
        </p:spPr>
        <p:txBody>
          <a:bodyPr>
            <a:spAutoFit/>
          </a:bodyPr>
          <a:lstStyle/>
          <a:p>
            <a:r>
              <a:rPr kumimoji="1" lang="en-US" altLang="zh-CN" sz="2000" b="1" i="1"/>
              <a:t>Ⅱ</a:t>
            </a:r>
            <a:endParaRPr kumimoji="1" lang="en-US" altLang="zh-CN" sz="2000" b="1" i="1"/>
          </a:p>
        </p:txBody>
      </p:sp>
      <p:graphicFrame>
        <p:nvGraphicFramePr>
          <p:cNvPr id="27667" name="Object 19"/>
          <p:cNvGraphicFramePr>
            <a:graphicFrameLocks noChangeAspect="1"/>
          </p:cNvGraphicFramePr>
          <p:nvPr/>
        </p:nvGraphicFramePr>
        <p:xfrm>
          <a:off x="7964488" y="3956050"/>
          <a:ext cx="193675" cy="192088"/>
        </p:xfrm>
        <a:graphic>
          <a:graphicData uri="http://schemas.openxmlformats.org/presentationml/2006/ole">
            <mc:AlternateContent xmlns:mc="http://schemas.openxmlformats.org/markup-compatibility/2006">
              <mc:Choice xmlns:v="urn:schemas-microsoft-com:vml" Requires="v">
                <p:oleObj spid="_x0000_s13318" name="公式" r:id="rId9" imgW="4572000" imgH="4572000" progId="Equation.3">
                  <p:embed/>
                </p:oleObj>
              </mc:Choice>
              <mc:Fallback>
                <p:oleObj name="公式" r:id="rId9" imgW="4572000" imgH="4572000" progId="Equation.3">
                  <p:embed/>
                  <p:pic>
                    <p:nvPicPr>
                      <p:cNvPr id="0" name="Object 19"/>
                      <p:cNvPicPr>
                        <a:picLocks noChangeAspect="1"/>
                      </p:cNvPicPr>
                      <p:nvPr/>
                    </p:nvPicPr>
                    <p:blipFill>
                      <a:blip r:embed="rId8"/>
                      <a:stretch>
                        <a:fillRect/>
                      </a:stretch>
                    </p:blipFill>
                    <p:spPr>
                      <a:xfrm>
                        <a:off x="7964488" y="3956050"/>
                        <a:ext cx="193675" cy="192088"/>
                      </a:xfrm>
                      <a:prstGeom prst="rect">
                        <a:avLst/>
                      </a:prstGeom>
                      <a:noFill/>
                      <a:ln w="9525">
                        <a:noFill/>
                      </a:ln>
                    </p:spPr>
                  </p:pic>
                </p:oleObj>
              </mc:Fallback>
            </mc:AlternateContent>
          </a:graphicData>
        </a:graphic>
      </p:graphicFrame>
      <p:graphicFrame>
        <p:nvGraphicFramePr>
          <p:cNvPr id="27668" name="Object 20"/>
          <p:cNvGraphicFramePr>
            <a:graphicFrameLocks noChangeAspect="1"/>
          </p:cNvGraphicFramePr>
          <p:nvPr/>
        </p:nvGraphicFramePr>
        <p:xfrm>
          <a:off x="7985125" y="3549650"/>
          <a:ext cx="304800" cy="419100"/>
        </p:xfrm>
        <a:graphic>
          <a:graphicData uri="http://schemas.openxmlformats.org/presentationml/2006/ole">
            <mc:AlternateContent xmlns:mc="http://schemas.openxmlformats.org/markup-compatibility/2006">
              <mc:Choice xmlns:v="urn:schemas-microsoft-com:vml" Requires="v">
                <p:oleObj spid="_x0000_s13319" name="公式" r:id="rId10" imgW="7315200" imgH="10058400" progId="Equation.3">
                  <p:embed/>
                </p:oleObj>
              </mc:Choice>
              <mc:Fallback>
                <p:oleObj name="公式" r:id="rId10" imgW="7315200" imgH="10058400" progId="Equation.3">
                  <p:embed/>
                  <p:pic>
                    <p:nvPicPr>
                      <p:cNvPr id="0" name="Object 20"/>
                      <p:cNvPicPr>
                        <a:picLocks noChangeAspect="1"/>
                      </p:cNvPicPr>
                      <p:nvPr/>
                    </p:nvPicPr>
                    <p:blipFill>
                      <a:blip r:embed="rId11"/>
                      <a:stretch>
                        <a:fillRect/>
                      </a:stretch>
                    </p:blipFill>
                    <p:spPr>
                      <a:xfrm>
                        <a:off x="7985125" y="3549650"/>
                        <a:ext cx="304800" cy="419100"/>
                      </a:xfrm>
                      <a:prstGeom prst="rect">
                        <a:avLst/>
                      </a:prstGeom>
                      <a:noFill/>
                      <a:ln w="9525">
                        <a:noFill/>
                      </a:ln>
                    </p:spPr>
                  </p:pic>
                </p:oleObj>
              </mc:Fallback>
            </mc:AlternateContent>
          </a:graphicData>
        </a:graphic>
      </p:graphicFrame>
      <p:sp>
        <p:nvSpPr>
          <p:cNvPr id="27669" name="Text Box 21"/>
          <p:cNvSpPr txBox="1">
            <a:spLocks noChangeArrowheads="1"/>
          </p:cNvSpPr>
          <p:nvPr/>
        </p:nvSpPr>
        <p:spPr bwMode="auto">
          <a:xfrm>
            <a:off x="5813425" y="3751263"/>
            <a:ext cx="438150" cy="457200"/>
          </a:xfrm>
          <a:prstGeom prst="rect">
            <a:avLst/>
          </a:prstGeom>
          <a:noFill/>
          <a:ln w="9525">
            <a:noFill/>
            <a:miter lim="800000"/>
          </a:ln>
        </p:spPr>
        <p:txBody>
          <a:bodyPr wrap="none">
            <a:spAutoFit/>
          </a:bodyPr>
          <a:lstStyle/>
          <a:p>
            <a:r>
              <a:rPr lang="en-US" altLang="zh-CN" b="1" i="1">
                <a:solidFill>
                  <a:srgbClr val="3333CC"/>
                </a:solidFill>
              </a:rPr>
              <a:t>p</a:t>
            </a:r>
            <a:r>
              <a:rPr lang="en-US" altLang="zh-CN" b="1" baseline="-25000">
                <a:solidFill>
                  <a:srgbClr val="3333CC"/>
                </a:solidFill>
              </a:rPr>
              <a:t>1</a:t>
            </a:r>
            <a:endParaRPr lang="en-US" altLang="zh-CN" b="1">
              <a:solidFill>
                <a:srgbClr val="3333CC"/>
              </a:solidFill>
            </a:endParaRPr>
          </a:p>
        </p:txBody>
      </p:sp>
      <p:grpSp>
        <p:nvGrpSpPr>
          <p:cNvPr id="3" name="Group 22"/>
          <p:cNvGrpSpPr>
            <a:grpSpLocks noChangeAspect="1"/>
          </p:cNvGrpSpPr>
          <p:nvPr/>
        </p:nvGrpSpPr>
        <p:grpSpPr bwMode="auto">
          <a:xfrm>
            <a:off x="5929313" y="2743200"/>
            <a:ext cx="2909887" cy="2727325"/>
            <a:chOff x="3443" y="2160"/>
            <a:chExt cx="2035" cy="1908"/>
          </a:xfrm>
        </p:grpSpPr>
        <p:sp>
          <p:nvSpPr>
            <p:cNvPr id="13342" name="Line 23"/>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13343" name="Line 24"/>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13344" name="Text Box 25"/>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b="1" i="1"/>
                <a:t>O</a:t>
              </a:r>
              <a:endParaRPr lang="en-US" altLang="zh-CN" b="1" i="1"/>
            </a:p>
          </p:txBody>
        </p:sp>
        <p:sp>
          <p:nvSpPr>
            <p:cNvPr id="13345" name="Text Box 26"/>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b="1" i="1"/>
                <a:t>V</a:t>
              </a:r>
              <a:endParaRPr lang="en-US" altLang="zh-CN" b="1" i="1"/>
            </a:p>
          </p:txBody>
        </p:sp>
        <p:sp>
          <p:nvSpPr>
            <p:cNvPr id="13346" name="Text Box 27"/>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b="1" i="1"/>
                <a:t>p</a:t>
              </a:r>
              <a:endParaRPr lang="en-US" altLang="zh-CN" b="1" i="1"/>
            </a:p>
          </p:txBody>
        </p:sp>
      </p:grpSp>
      <p:graphicFrame>
        <p:nvGraphicFramePr>
          <p:cNvPr id="27679" name="Object 31"/>
          <p:cNvGraphicFramePr>
            <a:graphicFrameLocks noChangeAspect="1"/>
          </p:cNvGraphicFramePr>
          <p:nvPr/>
        </p:nvGraphicFramePr>
        <p:xfrm>
          <a:off x="1966913" y="2819400"/>
          <a:ext cx="2528887" cy="806450"/>
        </p:xfrm>
        <a:graphic>
          <a:graphicData uri="http://schemas.openxmlformats.org/presentationml/2006/ole">
            <mc:AlternateContent xmlns:mc="http://schemas.openxmlformats.org/markup-compatibility/2006">
              <mc:Choice xmlns:v="urn:schemas-microsoft-com:vml" Requires="v">
                <p:oleObj spid="_x0000_s13320" name="公式" r:id="rId12" imgW="29565600" imgH="9448800" progId="Equation.3">
                  <p:embed/>
                </p:oleObj>
              </mc:Choice>
              <mc:Fallback>
                <p:oleObj name="公式" r:id="rId12" imgW="29565600" imgH="9448800" progId="Equation.3">
                  <p:embed/>
                  <p:pic>
                    <p:nvPicPr>
                      <p:cNvPr id="0" name="Object 31"/>
                      <p:cNvPicPr>
                        <a:picLocks noChangeAspect="1"/>
                      </p:cNvPicPr>
                      <p:nvPr/>
                    </p:nvPicPr>
                    <p:blipFill>
                      <a:blip r:embed="rId13"/>
                      <a:stretch>
                        <a:fillRect/>
                      </a:stretch>
                    </p:blipFill>
                    <p:spPr>
                      <a:xfrm>
                        <a:off x="1966913" y="2819400"/>
                        <a:ext cx="2528887" cy="806450"/>
                      </a:xfrm>
                      <a:prstGeom prst="rect">
                        <a:avLst/>
                      </a:prstGeom>
                      <a:noFill/>
                      <a:ln w="9525">
                        <a:noFill/>
                      </a:ln>
                    </p:spPr>
                  </p:pic>
                </p:oleObj>
              </mc:Fallback>
            </mc:AlternateContent>
          </a:graphicData>
        </a:graphic>
      </p:graphicFrame>
      <p:sp>
        <p:nvSpPr>
          <p:cNvPr id="27680" name="Text Box 32"/>
          <p:cNvSpPr txBox="1">
            <a:spLocks noChangeArrowheads="1"/>
          </p:cNvSpPr>
          <p:nvPr/>
        </p:nvSpPr>
        <p:spPr bwMode="auto">
          <a:xfrm>
            <a:off x="914400" y="1241425"/>
            <a:ext cx="685800" cy="457200"/>
          </a:xfrm>
          <a:prstGeom prst="rect">
            <a:avLst/>
          </a:prstGeom>
          <a:noFill/>
          <a:ln w="9525">
            <a:noFill/>
            <a:miter lim="800000"/>
          </a:ln>
        </p:spPr>
        <p:txBody>
          <a:bodyPr>
            <a:spAutoFit/>
          </a:bodyPr>
          <a:lstStyle/>
          <a:p>
            <a:r>
              <a:rPr lang="zh-CN" altLang="en-US" b="1">
                <a:solidFill>
                  <a:srgbClr val="FF6600"/>
                </a:solidFill>
              </a:rPr>
              <a:t>功</a:t>
            </a:r>
            <a:endParaRPr lang="zh-CN" altLang="en-US" b="1">
              <a:solidFill>
                <a:srgbClr val="FF6600"/>
              </a:solidFill>
            </a:endParaRPr>
          </a:p>
        </p:txBody>
      </p:sp>
      <p:graphicFrame>
        <p:nvGraphicFramePr>
          <p:cNvPr id="27681" name="Object 33"/>
          <p:cNvGraphicFramePr>
            <a:graphicFrameLocks noChangeAspect="1"/>
          </p:cNvGraphicFramePr>
          <p:nvPr/>
        </p:nvGraphicFramePr>
        <p:xfrm>
          <a:off x="1585913" y="1066800"/>
          <a:ext cx="1901825" cy="793750"/>
        </p:xfrm>
        <a:graphic>
          <a:graphicData uri="http://schemas.openxmlformats.org/presentationml/2006/ole">
            <mc:AlternateContent xmlns:mc="http://schemas.openxmlformats.org/markup-compatibility/2006">
              <mc:Choice xmlns:v="urn:schemas-microsoft-com:vml" Requires="v">
                <p:oleObj spid="_x0000_s13321" name="公式" r:id="rId14" imgW="20421600" imgH="8534400" progId="Equation.3">
                  <p:embed/>
                </p:oleObj>
              </mc:Choice>
              <mc:Fallback>
                <p:oleObj name="公式" r:id="rId14" imgW="20421600" imgH="8534400" progId="Equation.3">
                  <p:embed/>
                  <p:pic>
                    <p:nvPicPr>
                      <p:cNvPr id="0" name="Object 33"/>
                      <p:cNvPicPr>
                        <a:picLocks noChangeAspect="1"/>
                      </p:cNvPicPr>
                      <p:nvPr/>
                    </p:nvPicPr>
                    <p:blipFill>
                      <a:blip r:embed="rId15"/>
                      <a:stretch>
                        <a:fillRect/>
                      </a:stretch>
                    </p:blipFill>
                    <p:spPr>
                      <a:xfrm>
                        <a:off x="1585913" y="1066800"/>
                        <a:ext cx="1901825" cy="793750"/>
                      </a:xfrm>
                      <a:prstGeom prst="rect">
                        <a:avLst/>
                      </a:prstGeom>
                      <a:noFill/>
                      <a:ln w="9525">
                        <a:noFill/>
                      </a:ln>
                    </p:spPr>
                  </p:pic>
                </p:oleObj>
              </mc:Fallback>
            </mc:AlternateContent>
          </a:graphicData>
        </a:graphic>
      </p:graphicFrame>
      <p:graphicFrame>
        <p:nvGraphicFramePr>
          <p:cNvPr id="27682" name="Object 34"/>
          <p:cNvGraphicFramePr>
            <a:graphicFrameLocks noChangeAspect="1"/>
          </p:cNvGraphicFramePr>
          <p:nvPr/>
        </p:nvGraphicFramePr>
        <p:xfrm>
          <a:off x="2139950" y="1676400"/>
          <a:ext cx="3803650" cy="879475"/>
        </p:xfrm>
        <a:graphic>
          <a:graphicData uri="http://schemas.openxmlformats.org/presentationml/2006/ole">
            <mc:AlternateContent xmlns:mc="http://schemas.openxmlformats.org/markup-compatibility/2006">
              <mc:Choice xmlns:v="urn:schemas-microsoft-com:vml" Requires="v">
                <p:oleObj spid="_x0000_s13322" name="公式" r:id="rId16" imgW="40843200" imgH="9448800" progId="Equation.3">
                  <p:embed/>
                </p:oleObj>
              </mc:Choice>
              <mc:Fallback>
                <p:oleObj name="公式" r:id="rId16" imgW="40843200" imgH="9448800" progId="Equation.3">
                  <p:embed/>
                  <p:pic>
                    <p:nvPicPr>
                      <p:cNvPr id="0" name="Object 34"/>
                      <p:cNvPicPr>
                        <a:picLocks noChangeAspect="1"/>
                      </p:cNvPicPr>
                      <p:nvPr/>
                    </p:nvPicPr>
                    <p:blipFill>
                      <a:blip r:embed="rId17"/>
                      <a:stretch>
                        <a:fillRect/>
                      </a:stretch>
                    </p:blipFill>
                    <p:spPr>
                      <a:xfrm>
                        <a:off x="2139950" y="1676400"/>
                        <a:ext cx="3803650" cy="879475"/>
                      </a:xfrm>
                      <a:prstGeom prst="rect">
                        <a:avLst/>
                      </a:prstGeom>
                      <a:noFill/>
                      <a:ln w="9525">
                        <a:noFill/>
                      </a:ln>
                    </p:spPr>
                  </p:pic>
                </p:oleObj>
              </mc:Fallback>
            </mc:AlternateContent>
          </a:graphicData>
        </a:graphic>
      </p:graphicFrame>
      <p:sp>
        <p:nvSpPr>
          <p:cNvPr id="27684" name="Rectangle 36"/>
          <p:cNvSpPr>
            <a:spLocks noChangeArrowheads="1"/>
          </p:cNvSpPr>
          <p:nvPr/>
        </p:nvSpPr>
        <p:spPr bwMode="auto">
          <a:xfrm>
            <a:off x="533400" y="1012825"/>
            <a:ext cx="355600" cy="914400"/>
          </a:xfrm>
          <a:prstGeom prst="rect">
            <a:avLst/>
          </a:prstGeom>
          <a:noFill/>
          <a:ln w="9525">
            <a:noFill/>
            <a:miter lim="800000"/>
          </a:ln>
        </p:spPr>
        <p:txBody>
          <a:bodyPr wrap="none">
            <a:spAutoFit/>
          </a:bodyPr>
          <a:lstStyle/>
          <a:p>
            <a:r>
              <a:rPr kumimoji="1" lang="en-US" altLang="zh-CN" sz="5400" b="1">
                <a:solidFill>
                  <a:srgbClr val="0000FF"/>
                </a:solidFill>
                <a:cs typeface="Times New Roman" panose="02020603050405020304" pitchFamily="18" charset="0"/>
              </a:rPr>
              <a:t>·</a:t>
            </a:r>
            <a:endParaRPr kumimoji="1" lang="en-US" altLang="zh-CN" sz="5400" b="1">
              <a:solidFill>
                <a:srgbClr val="0000FF"/>
              </a:solidFill>
              <a:cs typeface="Times New Roman" panose="02020603050405020304" pitchFamily="18" charset="0"/>
            </a:endParaRPr>
          </a:p>
        </p:txBody>
      </p:sp>
      <p:sp>
        <p:nvSpPr>
          <p:cNvPr id="27685" name="Rectangle 37"/>
          <p:cNvSpPr>
            <a:spLocks noChangeArrowheads="1"/>
          </p:cNvSpPr>
          <p:nvPr/>
        </p:nvSpPr>
        <p:spPr bwMode="auto">
          <a:xfrm>
            <a:off x="533400" y="2133600"/>
            <a:ext cx="355600" cy="914400"/>
          </a:xfrm>
          <a:prstGeom prst="rect">
            <a:avLst/>
          </a:prstGeom>
          <a:noFill/>
          <a:ln w="9525">
            <a:noFill/>
            <a:miter lim="800000"/>
          </a:ln>
        </p:spPr>
        <p:txBody>
          <a:bodyPr wrap="none">
            <a:spAutoFit/>
          </a:bodyPr>
          <a:lstStyle/>
          <a:p>
            <a:r>
              <a:rPr kumimoji="1" lang="en-US" altLang="zh-CN" sz="5400" b="1">
                <a:solidFill>
                  <a:srgbClr val="0000FF"/>
                </a:solidFill>
                <a:cs typeface="Times New Roman" panose="02020603050405020304" pitchFamily="18" charset="0"/>
              </a:rPr>
              <a:t>·</a:t>
            </a:r>
            <a:endParaRPr kumimoji="1" lang="en-US" altLang="zh-CN" sz="5400" b="1">
              <a:solidFill>
                <a:srgbClr val="0000FF"/>
              </a:solidFill>
              <a:cs typeface="Times New Roman" panose="02020603050405020304" pitchFamily="18" charset="0"/>
            </a:endParaRPr>
          </a:p>
        </p:txBody>
      </p:sp>
      <p:sp>
        <p:nvSpPr>
          <p:cNvPr id="27686" name="Rectangle 38"/>
          <p:cNvSpPr>
            <a:spLocks noChangeArrowheads="1"/>
          </p:cNvSpPr>
          <p:nvPr/>
        </p:nvSpPr>
        <p:spPr bwMode="auto">
          <a:xfrm>
            <a:off x="533400" y="3657600"/>
            <a:ext cx="355600" cy="914400"/>
          </a:xfrm>
          <a:prstGeom prst="rect">
            <a:avLst/>
          </a:prstGeom>
          <a:noFill/>
          <a:ln w="9525">
            <a:noFill/>
            <a:miter lim="800000"/>
          </a:ln>
        </p:spPr>
        <p:txBody>
          <a:bodyPr wrap="none">
            <a:spAutoFit/>
          </a:bodyPr>
          <a:lstStyle/>
          <a:p>
            <a:pPr eaLnBrk="0" hangingPunct="0"/>
            <a:r>
              <a:rPr lang="en-US" altLang="zh-CN" sz="5400" b="1">
                <a:solidFill>
                  <a:srgbClr val="0000FF"/>
                </a:solidFill>
              </a:rPr>
              <a:t>·</a:t>
            </a:r>
            <a:endParaRPr lang="en-US" altLang="zh-CN" sz="5400" b="1">
              <a:solidFill>
                <a:srgbClr val="0000FF"/>
              </a:solidFill>
            </a:endParaRPr>
          </a:p>
        </p:txBody>
      </p:sp>
      <p:sp>
        <p:nvSpPr>
          <p:cNvPr id="27687" name="Text Box 39"/>
          <p:cNvSpPr txBox="1">
            <a:spLocks noChangeArrowheads="1"/>
          </p:cNvSpPr>
          <p:nvPr/>
        </p:nvSpPr>
        <p:spPr bwMode="auto">
          <a:xfrm>
            <a:off x="914400" y="3886200"/>
            <a:ext cx="1716088" cy="457200"/>
          </a:xfrm>
          <a:prstGeom prst="rect">
            <a:avLst/>
          </a:prstGeom>
          <a:noFill/>
          <a:ln w="9525">
            <a:noFill/>
            <a:miter lim="800000"/>
          </a:ln>
        </p:spPr>
        <p:txBody>
          <a:bodyPr wrap="none">
            <a:spAutoFit/>
          </a:bodyPr>
          <a:lstStyle/>
          <a:p>
            <a:r>
              <a:rPr lang="zh-CN" altLang="en-US" b="1">
                <a:solidFill>
                  <a:srgbClr val="FF6600"/>
                </a:solidFill>
              </a:rPr>
              <a:t>内能变化量</a:t>
            </a:r>
            <a:endParaRPr lang="zh-CN" altLang="en-US" b="1">
              <a:solidFill>
                <a:srgbClr val="FF6600"/>
              </a:solidFill>
            </a:endParaRPr>
          </a:p>
        </p:txBody>
      </p:sp>
      <p:graphicFrame>
        <p:nvGraphicFramePr>
          <p:cNvPr id="27688" name="Object 40"/>
          <p:cNvGraphicFramePr>
            <a:graphicFrameLocks noChangeAspect="1"/>
          </p:cNvGraphicFramePr>
          <p:nvPr/>
        </p:nvGraphicFramePr>
        <p:xfrm>
          <a:off x="1181100" y="5334000"/>
          <a:ext cx="5600700" cy="884238"/>
        </p:xfrm>
        <a:graphic>
          <a:graphicData uri="http://schemas.openxmlformats.org/presentationml/2006/ole">
            <mc:AlternateContent xmlns:mc="http://schemas.openxmlformats.org/markup-compatibility/2006">
              <mc:Choice xmlns:v="urn:schemas-microsoft-com:vml" Requires="v">
                <p:oleObj spid="_x0000_s13323" name="公式" r:id="rId18" imgW="59740800" imgH="9448800" progId="Equation.3">
                  <p:embed/>
                </p:oleObj>
              </mc:Choice>
              <mc:Fallback>
                <p:oleObj name="公式" r:id="rId18" imgW="59740800" imgH="9448800" progId="Equation.3">
                  <p:embed/>
                  <p:pic>
                    <p:nvPicPr>
                      <p:cNvPr id="0" name="Object 40"/>
                      <p:cNvPicPr>
                        <a:picLocks noChangeAspect="1"/>
                      </p:cNvPicPr>
                      <p:nvPr/>
                    </p:nvPicPr>
                    <p:blipFill>
                      <a:blip r:embed="rId19"/>
                      <a:stretch>
                        <a:fillRect/>
                      </a:stretch>
                    </p:blipFill>
                    <p:spPr>
                      <a:xfrm>
                        <a:off x="1181100" y="5334000"/>
                        <a:ext cx="5600700" cy="884238"/>
                      </a:xfrm>
                      <a:prstGeom prst="rect">
                        <a:avLst/>
                      </a:prstGeom>
                      <a:noFill/>
                      <a:ln w="9525">
                        <a:noFill/>
                      </a:ln>
                    </p:spPr>
                  </p:pic>
                </p:oleObj>
              </mc:Fallback>
            </mc:AlternateContent>
          </a:graphicData>
        </a:graphic>
      </p:graphicFrame>
      <p:sp>
        <p:nvSpPr>
          <p:cNvPr id="27691" name="Text Box 43"/>
          <p:cNvSpPr txBox="1">
            <a:spLocks noChangeArrowheads="1"/>
          </p:cNvSpPr>
          <p:nvPr/>
        </p:nvSpPr>
        <p:spPr bwMode="auto">
          <a:xfrm>
            <a:off x="950913" y="4595813"/>
            <a:ext cx="1409700" cy="457200"/>
          </a:xfrm>
          <a:prstGeom prst="rect">
            <a:avLst/>
          </a:prstGeom>
          <a:noFill/>
          <a:ln w="9525">
            <a:noFill/>
            <a:miter lim="800000"/>
          </a:ln>
        </p:spPr>
        <p:txBody>
          <a:bodyPr wrap="none">
            <a:spAutoFit/>
          </a:bodyPr>
          <a:lstStyle/>
          <a:p>
            <a:r>
              <a:rPr lang="zh-CN" altLang="en-US" b="1">
                <a:solidFill>
                  <a:srgbClr val="0000FF"/>
                </a:solidFill>
              </a:rPr>
              <a:t>方法一：</a:t>
            </a:r>
            <a:endParaRPr lang="zh-CN" altLang="en-US" b="1">
              <a:solidFill>
                <a:srgbClr val="0000FF"/>
              </a:solidFill>
            </a:endParaRPr>
          </a:p>
        </p:txBody>
      </p:sp>
      <p:sp>
        <p:nvSpPr>
          <p:cNvPr id="27692" name="Text Box 44"/>
          <p:cNvSpPr txBox="1">
            <a:spLocks noChangeArrowheads="1"/>
          </p:cNvSpPr>
          <p:nvPr/>
        </p:nvSpPr>
        <p:spPr bwMode="auto">
          <a:xfrm>
            <a:off x="2339975" y="4572000"/>
            <a:ext cx="2635250" cy="457200"/>
          </a:xfrm>
          <a:prstGeom prst="rect">
            <a:avLst/>
          </a:prstGeom>
          <a:noFill/>
          <a:ln w="9525">
            <a:noFill/>
            <a:miter lim="800000"/>
          </a:ln>
        </p:spPr>
        <p:txBody>
          <a:bodyPr wrap="none">
            <a:spAutoFit/>
          </a:bodyPr>
          <a:lstStyle/>
          <a:p>
            <a:r>
              <a:rPr lang="zh-CN" altLang="en-US" b="1">
                <a:solidFill>
                  <a:srgbClr val="0000FF"/>
                </a:solidFill>
              </a:rPr>
              <a:t>由热力学第一定律</a:t>
            </a:r>
            <a:endParaRPr lang="zh-CN" altLang="en-US" b="1">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wipe(left)">
                                      <p:cBhvr>
                                        <p:cTn id="7" dur="500"/>
                                        <p:tgtEl>
                                          <p:spTgt spid="276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7665"/>
                                        </p:tgtEl>
                                        <p:attrNameLst>
                                          <p:attrName>style.visibility</p:attrName>
                                        </p:attrNameLst>
                                      </p:cBhvr>
                                      <p:to>
                                        <p:strVal val="visible"/>
                                      </p:to>
                                    </p:set>
                                    <p:animEffect transition="in" filter="wipe(up)">
                                      <p:cBhvr>
                                        <p:cTn id="17" dur="500"/>
                                        <p:tgtEl>
                                          <p:spTgt spid="27665"/>
                                        </p:tgtEl>
                                      </p:cBhvr>
                                    </p:animEffect>
                                  </p:childTnLst>
                                </p:cTn>
                              </p:par>
                            </p:childTnLst>
                          </p:cTn>
                        </p:par>
                        <p:par>
                          <p:cTn id="18" fill="hold">
                            <p:stCondLst>
                              <p:cond delay="500"/>
                            </p:stCondLst>
                            <p:childTnLst>
                              <p:par>
                                <p:cTn id="19" presetID="22" presetClass="entr" presetSubtype="2" fill="hold" grpId="0" nodeType="afterEffect">
                                  <p:stCondLst>
                                    <p:cond delay="0"/>
                                  </p:stCondLst>
                                  <p:childTnLst>
                                    <p:set>
                                      <p:cBhvr>
                                        <p:cTn id="20" dur="1" fill="hold">
                                          <p:stCondLst>
                                            <p:cond delay="0"/>
                                          </p:stCondLst>
                                        </p:cTn>
                                        <p:tgtEl>
                                          <p:spTgt spid="27655"/>
                                        </p:tgtEl>
                                        <p:attrNameLst>
                                          <p:attrName>style.visibility</p:attrName>
                                        </p:attrNameLst>
                                      </p:cBhvr>
                                      <p:to>
                                        <p:strVal val="visible"/>
                                      </p:to>
                                    </p:set>
                                    <p:animEffect transition="in" filter="wipe(right)">
                                      <p:cBhvr>
                                        <p:cTn id="21" dur="500"/>
                                        <p:tgtEl>
                                          <p:spTgt spid="27655"/>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7669"/>
                                        </p:tgtEl>
                                        <p:attrNameLst>
                                          <p:attrName>style.visibility</p:attrName>
                                        </p:attrNameLst>
                                      </p:cBhvr>
                                      <p:to>
                                        <p:strVal val="visible"/>
                                      </p:to>
                                    </p:set>
                                    <p:animEffect transition="in" filter="wipe(left)">
                                      <p:cBhvr>
                                        <p:cTn id="25" dur="500"/>
                                        <p:tgtEl>
                                          <p:spTgt spid="27669"/>
                                        </p:tgtEl>
                                      </p:cBhvr>
                                    </p:animEffect>
                                  </p:childTnLst>
                                </p:cTn>
                              </p:par>
                            </p:childTnLst>
                          </p:cTn>
                        </p:par>
                        <p:par>
                          <p:cTn id="26" fill="hold">
                            <p:stCondLst>
                              <p:cond delay="1500"/>
                            </p:stCondLst>
                            <p:childTnLst>
                              <p:par>
                                <p:cTn id="27" presetID="22" presetClass="entr" presetSubtype="1" fill="hold" grpId="0" nodeType="afterEffect">
                                  <p:stCondLst>
                                    <p:cond delay="0"/>
                                  </p:stCondLst>
                                  <p:childTnLst>
                                    <p:set>
                                      <p:cBhvr>
                                        <p:cTn id="28" dur="1" fill="hold">
                                          <p:stCondLst>
                                            <p:cond delay="0"/>
                                          </p:stCondLst>
                                        </p:cTn>
                                        <p:tgtEl>
                                          <p:spTgt spid="27664"/>
                                        </p:tgtEl>
                                        <p:attrNameLst>
                                          <p:attrName>style.visibility</p:attrName>
                                        </p:attrNameLst>
                                      </p:cBhvr>
                                      <p:to>
                                        <p:strVal val="visible"/>
                                      </p:to>
                                    </p:set>
                                    <p:animEffect transition="in" filter="wipe(up)">
                                      <p:cBhvr>
                                        <p:cTn id="29" dur="500"/>
                                        <p:tgtEl>
                                          <p:spTgt spid="27664"/>
                                        </p:tgtEl>
                                      </p:cBhvr>
                                    </p:animEffect>
                                  </p:childTnLst>
                                </p:cTn>
                              </p:par>
                            </p:childTnLst>
                          </p:cTn>
                        </p:par>
                        <p:par>
                          <p:cTn id="30" fill="hold">
                            <p:stCondLst>
                              <p:cond delay="2000"/>
                            </p:stCondLst>
                            <p:childTnLst>
                              <p:par>
                                <p:cTn id="31" presetID="22" presetClass="entr" presetSubtype="1" fill="hold" nodeType="afterEffect">
                                  <p:stCondLst>
                                    <p:cond delay="0"/>
                                  </p:stCondLst>
                                  <p:childTnLst>
                                    <p:set>
                                      <p:cBhvr>
                                        <p:cTn id="32" dur="1" fill="hold">
                                          <p:stCondLst>
                                            <p:cond delay="0"/>
                                          </p:stCondLst>
                                        </p:cTn>
                                        <p:tgtEl>
                                          <p:spTgt spid="27663"/>
                                        </p:tgtEl>
                                        <p:attrNameLst>
                                          <p:attrName>style.visibility</p:attrName>
                                        </p:attrNameLst>
                                      </p:cBhvr>
                                      <p:to>
                                        <p:strVal val="visible"/>
                                      </p:to>
                                    </p:set>
                                    <p:animEffect transition="in" filter="wipe(up)">
                                      <p:cBhvr>
                                        <p:cTn id="33" dur="500"/>
                                        <p:tgtEl>
                                          <p:spTgt spid="27663"/>
                                        </p:tgtEl>
                                      </p:cBhvr>
                                    </p:animEffect>
                                  </p:childTnLst>
                                </p:cTn>
                              </p:par>
                            </p:childTnLst>
                          </p:cTn>
                        </p:par>
                        <p:par>
                          <p:cTn id="34" fill="hold">
                            <p:stCondLst>
                              <p:cond delay="2500"/>
                            </p:stCondLst>
                            <p:childTnLst>
                              <p:par>
                                <p:cTn id="35" presetID="22" presetClass="entr" presetSubtype="1" fill="hold" grpId="0" nodeType="afterEffect">
                                  <p:stCondLst>
                                    <p:cond delay="0"/>
                                  </p:stCondLst>
                                  <p:childTnLst>
                                    <p:set>
                                      <p:cBhvr>
                                        <p:cTn id="36" dur="1" fill="hold">
                                          <p:stCondLst>
                                            <p:cond delay="0"/>
                                          </p:stCondLst>
                                        </p:cTn>
                                        <p:tgtEl>
                                          <p:spTgt spid="27656"/>
                                        </p:tgtEl>
                                        <p:attrNameLst>
                                          <p:attrName>style.visibility</p:attrName>
                                        </p:attrNameLst>
                                      </p:cBhvr>
                                      <p:to>
                                        <p:strVal val="visible"/>
                                      </p:to>
                                    </p:set>
                                    <p:animEffect transition="in" filter="wipe(up)">
                                      <p:cBhvr>
                                        <p:cTn id="37" dur="500"/>
                                        <p:tgtEl>
                                          <p:spTgt spid="27656"/>
                                        </p:tgtEl>
                                      </p:cBhvr>
                                    </p:animEffect>
                                  </p:childTnLst>
                                </p:cTn>
                              </p:par>
                            </p:childTnLst>
                          </p:cTn>
                        </p:par>
                        <p:par>
                          <p:cTn id="38" fill="hold">
                            <p:stCondLst>
                              <p:cond delay="3000"/>
                            </p:stCondLst>
                            <p:childTnLst>
                              <p:par>
                                <p:cTn id="39" presetID="22" presetClass="entr" presetSubtype="1" fill="hold" nodeType="afterEffect">
                                  <p:stCondLst>
                                    <p:cond delay="0"/>
                                  </p:stCondLst>
                                  <p:childTnLst>
                                    <p:set>
                                      <p:cBhvr>
                                        <p:cTn id="40" dur="1" fill="hold">
                                          <p:stCondLst>
                                            <p:cond delay="0"/>
                                          </p:stCondLst>
                                        </p:cTn>
                                        <p:tgtEl>
                                          <p:spTgt spid="27657"/>
                                        </p:tgtEl>
                                        <p:attrNameLst>
                                          <p:attrName>style.visibility</p:attrName>
                                        </p:attrNameLst>
                                      </p:cBhvr>
                                      <p:to>
                                        <p:strVal val="visible"/>
                                      </p:to>
                                    </p:set>
                                    <p:animEffect transition="in" filter="wipe(up)">
                                      <p:cBhvr>
                                        <p:cTn id="41" dur="500"/>
                                        <p:tgtEl>
                                          <p:spTgt spid="2765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left)">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7667"/>
                                        </p:tgtEl>
                                        <p:attrNameLst>
                                          <p:attrName>style.visibility</p:attrName>
                                        </p:attrNameLst>
                                      </p:cBhvr>
                                      <p:to>
                                        <p:strVal val="visible"/>
                                      </p:to>
                                    </p:set>
                                    <p:animEffect transition="in" filter="wipe(up)">
                                      <p:cBhvr>
                                        <p:cTn id="51" dur="500"/>
                                        <p:tgtEl>
                                          <p:spTgt spid="27667"/>
                                        </p:tgtEl>
                                      </p:cBhvr>
                                    </p:animEffect>
                                  </p:childTnLst>
                                </p:cTn>
                              </p:par>
                            </p:childTnLst>
                          </p:cTn>
                        </p:par>
                        <p:par>
                          <p:cTn id="52" fill="hold">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27666"/>
                                        </p:tgtEl>
                                        <p:attrNameLst>
                                          <p:attrName>style.visibility</p:attrName>
                                        </p:attrNameLst>
                                      </p:cBhvr>
                                      <p:to>
                                        <p:strVal val="visible"/>
                                      </p:to>
                                    </p:set>
                                    <p:animEffect transition="in" filter="wipe(up)">
                                      <p:cBhvr>
                                        <p:cTn id="55" dur="500"/>
                                        <p:tgtEl>
                                          <p:spTgt spid="27666"/>
                                        </p:tgtEl>
                                      </p:cBhvr>
                                    </p:animEffect>
                                  </p:childTnLst>
                                </p:cTn>
                              </p:par>
                            </p:childTnLst>
                          </p:cTn>
                        </p:par>
                        <p:par>
                          <p:cTn id="56" fill="hold">
                            <p:stCondLst>
                              <p:cond delay="1000"/>
                            </p:stCondLst>
                            <p:childTnLst>
                              <p:par>
                                <p:cTn id="57" presetID="22" presetClass="entr" presetSubtype="1" fill="hold" nodeType="afterEffect">
                                  <p:stCondLst>
                                    <p:cond delay="0"/>
                                  </p:stCondLst>
                                  <p:childTnLst>
                                    <p:set>
                                      <p:cBhvr>
                                        <p:cTn id="58" dur="1" fill="hold">
                                          <p:stCondLst>
                                            <p:cond delay="0"/>
                                          </p:stCondLst>
                                        </p:cTn>
                                        <p:tgtEl>
                                          <p:spTgt spid="27668"/>
                                        </p:tgtEl>
                                        <p:attrNameLst>
                                          <p:attrName>style.visibility</p:attrName>
                                        </p:attrNameLst>
                                      </p:cBhvr>
                                      <p:to>
                                        <p:strVal val="visible"/>
                                      </p:to>
                                    </p:set>
                                    <p:animEffect transition="in" filter="wipe(up)">
                                      <p:cBhvr>
                                        <p:cTn id="59" dur="500"/>
                                        <p:tgtEl>
                                          <p:spTgt spid="27668"/>
                                        </p:tgtEl>
                                      </p:cBhvr>
                                    </p:animEffect>
                                  </p:childTnLst>
                                </p:cTn>
                              </p:par>
                            </p:childTnLst>
                          </p:cTn>
                        </p:par>
                        <p:par>
                          <p:cTn id="60" fill="hold">
                            <p:stCondLst>
                              <p:cond delay="1500"/>
                            </p:stCondLst>
                            <p:childTnLst>
                              <p:par>
                                <p:cTn id="61" presetID="22" presetClass="entr" presetSubtype="1" fill="hold" grpId="0" nodeType="afterEffect">
                                  <p:stCondLst>
                                    <p:cond delay="0"/>
                                  </p:stCondLst>
                                  <p:childTnLst>
                                    <p:set>
                                      <p:cBhvr>
                                        <p:cTn id="62" dur="1" fill="hold">
                                          <p:stCondLst>
                                            <p:cond delay="0"/>
                                          </p:stCondLst>
                                        </p:cTn>
                                        <p:tgtEl>
                                          <p:spTgt spid="27658"/>
                                        </p:tgtEl>
                                        <p:attrNameLst>
                                          <p:attrName>style.visibility</p:attrName>
                                        </p:attrNameLst>
                                      </p:cBhvr>
                                      <p:to>
                                        <p:strVal val="visible"/>
                                      </p:to>
                                    </p:set>
                                    <p:animEffect transition="in" filter="wipe(up)">
                                      <p:cBhvr>
                                        <p:cTn id="63" dur="500"/>
                                        <p:tgtEl>
                                          <p:spTgt spid="27658"/>
                                        </p:tgtEl>
                                      </p:cBhvr>
                                    </p:animEffect>
                                  </p:childTnLst>
                                </p:cTn>
                              </p:par>
                            </p:childTnLst>
                          </p:cTn>
                        </p:par>
                        <p:par>
                          <p:cTn id="64" fill="hold">
                            <p:stCondLst>
                              <p:cond delay="2000"/>
                            </p:stCondLst>
                            <p:childTnLst>
                              <p:par>
                                <p:cTn id="65" presetID="22" presetClass="entr" presetSubtype="1" fill="hold" nodeType="afterEffect">
                                  <p:stCondLst>
                                    <p:cond delay="0"/>
                                  </p:stCondLst>
                                  <p:childTnLst>
                                    <p:set>
                                      <p:cBhvr>
                                        <p:cTn id="66" dur="1" fill="hold">
                                          <p:stCondLst>
                                            <p:cond delay="0"/>
                                          </p:stCondLst>
                                        </p:cTn>
                                        <p:tgtEl>
                                          <p:spTgt spid="27662"/>
                                        </p:tgtEl>
                                        <p:attrNameLst>
                                          <p:attrName>style.visibility</p:attrName>
                                        </p:attrNameLst>
                                      </p:cBhvr>
                                      <p:to>
                                        <p:strVal val="visible"/>
                                      </p:to>
                                    </p:set>
                                    <p:animEffect transition="in" filter="wipe(up)">
                                      <p:cBhvr>
                                        <p:cTn id="67" dur="500"/>
                                        <p:tgtEl>
                                          <p:spTgt spid="2766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7684"/>
                                        </p:tgtEl>
                                        <p:attrNameLst>
                                          <p:attrName>style.visibility</p:attrName>
                                        </p:attrNameLst>
                                      </p:cBhvr>
                                      <p:to>
                                        <p:strVal val="visible"/>
                                      </p:to>
                                    </p:set>
                                    <p:animEffect transition="in" filter="wipe(left)">
                                      <p:cBhvr>
                                        <p:cTn id="72" dur="500"/>
                                        <p:tgtEl>
                                          <p:spTgt spid="27684"/>
                                        </p:tgtEl>
                                      </p:cBhvr>
                                    </p:animEffect>
                                  </p:child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27680"/>
                                        </p:tgtEl>
                                        <p:attrNameLst>
                                          <p:attrName>style.visibility</p:attrName>
                                        </p:attrNameLst>
                                      </p:cBhvr>
                                      <p:to>
                                        <p:strVal val="visible"/>
                                      </p:to>
                                    </p:set>
                                    <p:animEffect transition="in" filter="wipe(left)">
                                      <p:cBhvr>
                                        <p:cTn id="76" dur="500"/>
                                        <p:tgtEl>
                                          <p:spTgt spid="2768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7681"/>
                                        </p:tgtEl>
                                        <p:attrNameLst>
                                          <p:attrName>style.visibility</p:attrName>
                                        </p:attrNameLst>
                                      </p:cBhvr>
                                      <p:to>
                                        <p:strVal val="visible"/>
                                      </p:to>
                                    </p:set>
                                    <p:animEffect transition="in" filter="wipe(left)">
                                      <p:cBhvr>
                                        <p:cTn id="81" dur="500"/>
                                        <p:tgtEl>
                                          <p:spTgt spid="2768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7682"/>
                                        </p:tgtEl>
                                        <p:attrNameLst>
                                          <p:attrName>style.visibility</p:attrName>
                                        </p:attrNameLst>
                                      </p:cBhvr>
                                      <p:to>
                                        <p:strVal val="visible"/>
                                      </p:to>
                                    </p:set>
                                    <p:animEffect transition="in" filter="wipe(left)">
                                      <p:cBhvr>
                                        <p:cTn id="86" dur="500"/>
                                        <p:tgtEl>
                                          <p:spTgt spid="2768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7683"/>
                                        </p:tgtEl>
                                        <p:attrNameLst>
                                          <p:attrName>style.visibility</p:attrName>
                                        </p:attrNameLst>
                                      </p:cBhvr>
                                      <p:to>
                                        <p:strVal val="visible"/>
                                      </p:to>
                                    </p:set>
                                    <p:animEffect transition="in" filter="wipe(left)">
                                      <p:cBhvr>
                                        <p:cTn id="91" dur="500"/>
                                        <p:tgtEl>
                                          <p:spTgt spid="2768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7685"/>
                                        </p:tgtEl>
                                        <p:attrNameLst>
                                          <p:attrName>style.visibility</p:attrName>
                                        </p:attrNameLst>
                                      </p:cBhvr>
                                      <p:to>
                                        <p:strVal val="visible"/>
                                      </p:to>
                                    </p:set>
                                    <p:animEffect transition="in" filter="wipe(left)">
                                      <p:cBhvr>
                                        <p:cTn id="96" dur="500"/>
                                        <p:tgtEl>
                                          <p:spTgt spid="27685"/>
                                        </p:tgtEl>
                                      </p:cBhvr>
                                    </p:animEffect>
                                  </p:childTnLst>
                                </p:cTn>
                              </p:par>
                            </p:childTnLst>
                          </p:cTn>
                        </p:par>
                        <p:par>
                          <p:cTn id="97" fill="hold">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27653"/>
                                        </p:tgtEl>
                                        <p:attrNameLst>
                                          <p:attrName>style.visibility</p:attrName>
                                        </p:attrNameLst>
                                      </p:cBhvr>
                                      <p:to>
                                        <p:strVal val="visible"/>
                                      </p:to>
                                    </p:set>
                                    <p:animEffect transition="in" filter="wipe(left)">
                                      <p:cBhvr>
                                        <p:cTn id="100" dur="500"/>
                                        <p:tgtEl>
                                          <p:spTgt spid="27653"/>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27679"/>
                                        </p:tgtEl>
                                        <p:attrNameLst>
                                          <p:attrName>style.visibility</p:attrName>
                                        </p:attrNameLst>
                                      </p:cBhvr>
                                      <p:to>
                                        <p:strVal val="visible"/>
                                      </p:to>
                                    </p:set>
                                    <p:animEffect transition="in" filter="wipe(left)">
                                      <p:cBhvr>
                                        <p:cTn id="105" dur="500"/>
                                        <p:tgtEl>
                                          <p:spTgt spid="27679"/>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27686"/>
                                        </p:tgtEl>
                                        <p:attrNameLst>
                                          <p:attrName>style.visibility</p:attrName>
                                        </p:attrNameLst>
                                      </p:cBhvr>
                                      <p:to>
                                        <p:strVal val="visible"/>
                                      </p:to>
                                    </p:set>
                                    <p:animEffect transition="in" filter="wipe(left)">
                                      <p:cBhvr>
                                        <p:cTn id="110" dur="500"/>
                                        <p:tgtEl>
                                          <p:spTgt spid="27686"/>
                                        </p:tgtEl>
                                      </p:cBhvr>
                                    </p:animEffect>
                                  </p:childTnLst>
                                </p:cTn>
                              </p:par>
                            </p:childTnLst>
                          </p:cTn>
                        </p:par>
                        <p:par>
                          <p:cTn id="111" fill="hold">
                            <p:stCondLst>
                              <p:cond delay="500"/>
                            </p:stCondLst>
                            <p:childTnLst>
                              <p:par>
                                <p:cTn id="112" presetID="22" presetClass="entr" presetSubtype="8" fill="hold" grpId="0" nodeType="afterEffect">
                                  <p:stCondLst>
                                    <p:cond delay="0"/>
                                  </p:stCondLst>
                                  <p:childTnLst>
                                    <p:set>
                                      <p:cBhvr>
                                        <p:cTn id="113" dur="1" fill="hold">
                                          <p:stCondLst>
                                            <p:cond delay="0"/>
                                          </p:stCondLst>
                                        </p:cTn>
                                        <p:tgtEl>
                                          <p:spTgt spid="27687"/>
                                        </p:tgtEl>
                                        <p:attrNameLst>
                                          <p:attrName>style.visibility</p:attrName>
                                        </p:attrNameLst>
                                      </p:cBhvr>
                                      <p:to>
                                        <p:strVal val="visible"/>
                                      </p:to>
                                    </p:set>
                                    <p:animEffect transition="in" filter="wipe(left)">
                                      <p:cBhvr>
                                        <p:cTn id="114" dur="500"/>
                                        <p:tgtEl>
                                          <p:spTgt spid="27687"/>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7691"/>
                                        </p:tgtEl>
                                        <p:attrNameLst>
                                          <p:attrName>style.visibility</p:attrName>
                                        </p:attrNameLst>
                                      </p:cBhvr>
                                      <p:to>
                                        <p:strVal val="visible"/>
                                      </p:to>
                                    </p:set>
                                    <p:animEffect transition="in" filter="wipe(left)">
                                      <p:cBhvr>
                                        <p:cTn id="119" dur="500"/>
                                        <p:tgtEl>
                                          <p:spTgt spid="27691"/>
                                        </p:tgtEl>
                                      </p:cBhvr>
                                    </p:animEffect>
                                  </p:childTnLst>
                                </p:cTn>
                              </p:par>
                            </p:childTnLst>
                          </p:cTn>
                        </p:par>
                        <p:par>
                          <p:cTn id="120" fill="hold">
                            <p:stCondLst>
                              <p:cond delay="500"/>
                            </p:stCondLst>
                            <p:childTnLst>
                              <p:par>
                                <p:cTn id="121" presetID="22" presetClass="entr" presetSubtype="8" fill="hold" grpId="0" nodeType="afterEffect">
                                  <p:stCondLst>
                                    <p:cond delay="0"/>
                                  </p:stCondLst>
                                  <p:childTnLst>
                                    <p:set>
                                      <p:cBhvr>
                                        <p:cTn id="122" dur="1" fill="hold">
                                          <p:stCondLst>
                                            <p:cond delay="0"/>
                                          </p:stCondLst>
                                        </p:cTn>
                                        <p:tgtEl>
                                          <p:spTgt spid="27692"/>
                                        </p:tgtEl>
                                        <p:attrNameLst>
                                          <p:attrName>style.visibility</p:attrName>
                                        </p:attrNameLst>
                                      </p:cBhvr>
                                      <p:to>
                                        <p:strVal val="visible"/>
                                      </p:to>
                                    </p:set>
                                    <p:animEffect transition="in" filter="wipe(left)">
                                      <p:cBhvr>
                                        <p:cTn id="123" dur="500"/>
                                        <p:tgtEl>
                                          <p:spTgt spid="27692"/>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27688"/>
                                        </p:tgtEl>
                                        <p:attrNameLst>
                                          <p:attrName>style.visibility</p:attrName>
                                        </p:attrNameLst>
                                      </p:cBhvr>
                                      <p:to>
                                        <p:strVal val="visible"/>
                                      </p:to>
                                    </p:set>
                                    <p:animEffect transition="in" filter="wipe(left)">
                                      <p:cBhvr>
                                        <p:cTn id="128" dur="500"/>
                                        <p:tgtEl>
                                          <p:spTgt spid="27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83" grpId="0" animBg="1"/>
      <p:bldP spid="27652" grpId="0" autoUpdateAnimBg="0"/>
      <p:bldP spid="27653" grpId="0" autoUpdateAnimBg="0"/>
      <p:bldP spid="27655" grpId="0" animBg="1"/>
      <p:bldP spid="27656" grpId="0" animBg="1"/>
      <p:bldP spid="27658" grpId="0" animBg="1"/>
      <p:bldP spid="27664" grpId="0" autoUpdateAnimBg="0"/>
      <p:bldP spid="27666" grpId="0" autoUpdateAnimBg="0"/>
      <p:bldP spid="27669" grpId="0" autoUpdateAnimBg="0"/>
      <p:bldP spid="27680" grpId="0" autoUpdateAnimBg="0"/>
      <p:bldP spid="27684" grpId="0" autoUpdateAnimBg="0"/>
      <p:bldP spid="27685" grpId="0" autoUpdateAnimBg="0"/>
      <p:bldP spid="27686" grpId="0" autoUpdateAnimBg="0"/>
      <p:bldP spid="27687" grpId="0" autoUpdateAnimBg="0"/>
      <p:bldP spid="27691" grpId="0" autoUpdateAnimBg="0"/>
      <p:bldP spid="2769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22" name="Text Box 26"/>
          <p:cNvSpPr txBox="1">
            <a:spLocks noChangeArrowheads="1"/>
          </p:cNvSpPr>
          <p:nvPr/>
        </p:nvSpPr>
        <p:spPr bwMode="auto">
          <a:xfrm>
            <a:off x="1066800" y="609600"/>
            <a:ext cx="6934200" cy="1006475"/>
          </a:xfrm>
          <a:prstGeom prst="rect">
            <a:avLst/>
          </a:prstGeom>
          <a:noFill/>
          <a:ln w="9525">
            <a:noFill/>
            <a:miter lim="800000"/>
          </a:ln>
        </p:spPr>
        <p:txBody>
          <a:bodyPr>
            <a:spAutoFit/>
          </a:bodyPr>
          <a:lstStyle/>
          <a:p>
            <a:pPr>
              <a:lnSpc>
                <a:spcPct val="125000"/>
              </a:lnSpc>
            </a:pPr>
            <a:r>
              <a:rPr lang="en-US" altLang="zh-CN" b="1">
                <a:solidFill>
                  <a:srgbClr val="0000FF"/>
                </a:solidFill>
              </a:rPr>
              <a:t>        </a:t>
            </a:r>
            <a:r>
              <a:rPr lang="zh-CN" altLang="en-US" b="1">
                <a:solidFill>
                  <a:srgbClr val="0000FF"/>
                </a:solidFill>
              </a:rPr>
              <a:t>由于内能是状态量，因此内能改变量仅与始末状态有关，与过程无关。</a:t>
            </a:r>
            <a:endParaRPr lang="zh-CN" altLang="en-US" b="1">
              <a:solidFill>
                <a:srgbClr val="0000FF"/>
              </a:solidFill>
            </a:endParaRPr>
          </a:p>
        </p:txBody>
      </p:sp>
      <p:grpSp>
        <p:nvGrpSpPr>
          <p:cNvPr id="2" name="Group 41"/>
          <p:cNvGrpSpPr/>
          <p:nvPr/>
        </p:nvGrpSpPr>
        <p:grpSpPr bwMode="auto">
          <a:xfrm>
            <a:off x="6651625" y="1612900"/>
            <a:ext cx="0" cy="863600"/>
            <a:chOff x="4241" y="994"/>
            <a:chExt cx="0" cy="544"/>
          </a:xfrm>
        </p:grpSpPr>
        <p:sp>
          <p:nvSpPr>
            <p:cNvPr id="14374" name="Line 31"/>
            <p:cNvSpPr>
              <a:spLocks noChangeShapeType="1"/>
            </p:cNvSpPr>
            <p:nvPr/>
          </p:nvSpPr>
          <p:spPr bwMode="auto">
            <a:xfrm flipV="1">
              <a:off x="4241" y="1266"/>
              <a:ext cx="0" cy="272"/>
            </a:xfrm>
            <a:prstGeom prst="line">
              <a:avLst/>
            </a:prstGeom>
            <a:noFill/>
            <a:ln w="38100">
              <a:solidFill>
                <a:schemeClr val="hlink"/>
              </a:solidFill>
              <a:prstDash val="dash"/>
              <a:round/>
              <a:tailEnd type="triangle" w="med" len="med"/>
            </a:ln>
          </p:spPr>
          <p:txBody>
            <a:bodyPr/>
            <a:lstStyle/>
            <a:p>
              <a:endParaRPr lang="zh-CN" altLang="en-US"/>
            </a:p>
          </p:txBody>
        </p:sp>
        <p:sp>
          <p:nvSpPr>
            <p:cNvPr id="14375" name="Line 32"/>
            <p:cNvSpPr>
              <a:spLocks noChangeShapeType="1"/>
            </p:cNvSpPr>
            <p:nvPr/>
          </p:nvSpPr>
          <p:spPr bwMode="auto">
            <a:xfrm flipV="1">
              <a:off x="4241" y="994"/>
              <a:ext cx="0" cy="362"/>
            </a:xfrm>
            <a:prstGeom prst="line">
              <a:avLst/>
            </a:prstGeom>
            <a:noFill/>
            <a:ln w="38100">
              <a:solidFill>
                <a:schemeClr val="hlink"/>
              </a:solidFill>
              <a:prstDash val="dash"/>
              <a:round/>
            </a:ln>
          </p:spPr>
          <p:txBody>
            <a:bodyPr/>
            <a:lstStyle/>
            <a:p>
              <a:endParaRPr lang="zh-CN" altLang="en-US"/>
            </a:p>
          </p:txBody>
        </p:sp>
      </p:grpSp>
      <p:grpSp>
        <p:nvGrpSpPr>
          <p:cNvPr id="3" name="Group 42"/>
          <p:cNvGrpSpPr/>
          <p:nvPr/>
        </p:nvGrpSpPr>
        <p:grpSpPr bwMode="auto">
          <a:xfrm>
            <a:off x="6651625" y="1539875"/>
            <a:ext cx="1295400" cy="936625"/>
            <a:chOff x="4241" y="948"/>
            <a:chExt cx="816" cy="590"/>
          </a:xfrm>
        </p:grpSpPr>
        <p:sp>
          <p:nvSpPr>
            <p:cNvPr id="14372" name="Freeform 28"/>
            <p:cNvSpPr/>
            <p:nvPr/>
          </p:nvSpPr>
          <p:spPr bwMode="auto">
            <a:xfrm>
              <a:off x="4241" y="948"/>
              <a:ext cx="816" cy="590"/>
            </a:xfrm>
            <a:custGeom>
              <a:avLst/>
              <a:gdLst>
                <a:gd name="T0" fmla="*/ 0 w 816"/>
                <a:gd name="T1" fmla="*/ 0 h 590"/>
                <a:gd name="T2" fmla="*/ 363 w 816"/>
                <a:gd name="T3" fmla="*/ 408 h 590"/>
                <a:gd name="T4" fmla="*/ 816 w 816"/>
                <a:gd name="T5" fmla="*/ 590 h 590"/>
                <a:gd name="T6" fmla="*/ 0 60000 65536"/>
                <a:gd name="T7" fmla="*/ 0 60000 65536"/>
                <a:gd name="T8" fmla="*/ 0 60000 65536"/>
                <a:gd name="T9" fmla="*/ 0 w 816"/>
                <a:gd name="T10" fmla="*/ 0 h 590"/>
                <a:gd name="T11" fmla="*/ 816 w 816"/>
                <a:gd name="T12" fmla="*/ 590 h 590"/>
              </a:gdLst>
              <a:ahLst/>
              <a:cxnLst>
                <a:cxn ang="T6">
                  <a:pos x="T0" y="T1"/>
                </a:cxn>
                <a:cxn ang="T7">
                  <a:pos x="T2" y="T3"/>
                </a:cxn>
                <a:cxn ang="T8">
                  <a:pos x="T4" y="T5"/>
                </a:cxn>
              </a:cxnLst>
              <a:rect l="T9" t="T10" r="T11" b="T12"/>
              <a:pathLst>
                <a:path w="816" h="590">
                  <a:moveTo>
                    <a:pt x="0" y="0"/>
                  </a:moveTo>
                  <a:cubicBezTo>
                    <a:pt x="113" y="155"/>
                    <a:pt x="227" y="310"/>
                    <a:pt x="363" y="408"/>
                  </a:cubicBezTo>
                  <a:cubicBezTo>
                    <a:pt x="499" y="506"/>
                    <a:pt x="657" y="548"/>
                    <a:pt x="816" y="590"/>
                  </a:cubicBezTo>
                </a:path>
              </a:pathLst>
            </a:custGeom>
            <a:noFill/>
            <a:ln w="38100">
              <a:solidFill>
                <a:schemeClr val="hlink"/>
              </a:solidFill>
              <a:prstDash val="dash"/>
              <a:round/>
            </a:ln>
          </p:spPr>
          <p:txBody>
            <a:bodyPr/>
            <a:lstStyle/>
            <a:p>
              <a:pPr algn="ctr"/>
              <a:endParaRPr lang="zh-CN" altLang="en-US" b="1"/>
            </a:p>
          </p:txBody>
        </p:sp>
        <p:sp>
          <p:nvSpPr>
            <p:cNvPr id="14373" name="Line 30"/>
            <p:cNvSpPr>
              <a:spLocks noChangeShapeType="1"/>
            </p:cNvSpPr>
            <p:nvPr/>
          </p:nvSpPr>
          <p:spPr bwMode="auto">
            <a:xfrm>
              <a:off x="4459" y="1220"/>
              <a:ext cx="90" cy="91"/>
            </a:xfrm>
            <a:prstGeom prst="line">
              <a:avLst/>
            </a:prstGeom>
            <a:noFill/>
            <a:ln w="38100">
              <a:solidFill>
                <a:schemeClr val="hlink"/>
              </a:solidFill>
              <a:round/>
              <a:tailEnd type="triangle" w="med" len="med"/>
            </a:ln>
          </p:spPr>
          <p:txBody>
            <a:bodyPr/>
            <a:lstStyle/>
            <a:p>
              <a:endParaRPr lang="zh-CN" altLang="en-US"/>
            </a:p>
          </p:txBody>
        </p:sp>
      </p:grpSp>
      <p:sp>
        <p:nvSpPr>
          <p:cNvPr id="14352" name="Line 4"/>
          <p:cNvSpPr>
            <a:spLocks noChangeShapeType="1"/>
          </p:cNvSpPr>
          <p:nvPr/>
        </p:nvSpPr>
        <p:spPr bwMode="auto">
          <a:xfrm flipH="1">
            <a:off x="6219825" y="2486025"/>
            <a:ext cx="431800" cy="0"/>
          </a:xfrm>
          <a:prstGeom prst="line">
            <a:avLst/>
          </a:prstGeom>
          <a:noFill/>
          <a:ln w="9525">
            <a:solidFill>
              <a:schemeClr val="tx1"/>
            </a:solidFill>
            <a:prstDash val="dash"/>
            <a:round/>
          </a:ln>
        </p:spPr>
        <p:txBody>
          <a:bodyPr/>
          <a:lstStyle/>
          <a:p>
            <a:endParaRPr lang="zh-CN" altLang="en-US"/>
          </a:p>
        </p:txBody>
      </p:sp>
      <p:sp>
        <p:nvSpPr>
          <p:cNvPr id="14353" name="Line 5"/>
          <p:cNvSpPr>
            <a:spLocks noChangeShapeType="1"/>
          </p:cNvSpPr>
          <p:nvPr/>
        </p:nvSpPr>
        <p:spPr bwMode="auto">
          <a:xfrm>
            <a:off x="6664325" y="2493963"/>
            <a:ext cx="0" cy="99060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14338" name="Object 6"/>
          <p:cNvGraphicFramePr>
            <a:graphicFrameLocks noChangeAspect="1"/>
          </p:cNvGraphicFramePr>
          <p:nvPr/>
        </p:nvGraphicFramePr>
        <p:xfrm>
          <a:off x="6591300" y="3482975"/>
          <a:ext cx="223838" cy="338138"/>
        </p:xfrm>
        <a:graphic>
          <a:graphicData uri="http://schemas.openxmlformats.org/presentationml/2006/ole">
            <mc:AlternateContent xmlns:mc="http://schemas.openxmlformats.org/markup-compatibility/2006">
              <mc:Choice xmlns:v="urn:schemas-microsoft-com:vml" Requires="v">
                <p:oleObj spid="_x0000_s14337" name="公式" r:id="rId1" imgW="6705600" imgH="10058400" progId="Equation.3">
                  <p:embed/>
                </p:oleObj>
              </mc:Choice>
              <mc:Fallback>
                <p:oleObj name="公式" r:id="rId1" imgW="6705600" imgH="10058400" progId="Equation.3">
                  <p:embed/>
                  <p:pic>
                    <p:nvPicPr>
                      <p:cNvPr id="0" name="Object 6"/>
                      <p:cNvPicPr>
                        <a:picLocks noChangeAspect="1"/>
                      </p:cNvPicPr>
                      <p:nvPr/>
                    </p:nvPicPr>
                    <p:blipFill>
                      <a:blip r:embed="rId2"/>
                      <a:stretch>
                        <a:fillRect/>
                      </a:stretch>
                    </p:blipFill>
                    <p:spPr>
                      <a:xfrm>
                        <a:off x="6591300" y="3482975"/>
                        <a:ext cx="223838" cy="338138"/>
                      </a:xfrm>
                      <a:prstGeom prst="rect">
                        <a:avLst/>
                      </a:prstGeom>
                      <a:noFill/>
                      <a:ln w="9525">
                        <a:noFill/>
                      </a:ln>
                    </p:spPr>
                  </p:pic>
                </p:oleObj>
              </mc:Fallback>
            </mc:AlternateContent>
          </a:graphicData>
        </a:graphic>
      </p:graphicFrame>
      <p:sp>
        <p:nvSpPr>
          <p:cNvPr id="14354" name="Line 7"/>
          <p:cNvSpPr>
            <a:spLocks noChangeShapeType="1"/>
          </p:cNvSpPr>
          <p:nvPr/>
        </p:nvSpPr>
        <p:spPr bwMode="auto">
          <a:xfrm>
            <a:off x="7959725" y="2493963"/>
            <a:ext cx="0" cy="99060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pSp>
        <p:nvGrpSpPr>
          <p:cNvPr id="14355" name="Group 8"/>
          <p:cNvGrpSpPr/>
          <p:nvPr/>
        </p:nvGrpSpPr>
        <p:grpSpPr bwMode="auto">
          <a:xfrm>
            <a:off x="6664325" y="2493963"/>
            <a:ext cx="1295400" cy="0"/>
            <a:chOff x="4320" y="1920"/>
            <a:chExt cx="816" cy="0"/>
          </a:xfrm>
        </p:grpSpPr>
        <p:sp>
          <p:nvSpPr>
            <p:cNvPr id="14370" name="Line 9"/>
            <p:cNvSpPr>
              <a:spLocks noChangeShapeType="1"/>
            </p:cNvSpPr>
            <p:nvPr/>
          </p:nvSpPr>
          <p:spPr bwMode="auto">
            <a:xfrm>
              <a:off x="4320" y="1920"/>
              <a:ext cx="816" cy="0"/>
            </a:xfrm>
            <a:prstGeom prst="line">
              <a:avLst/>
            </a:prstGeom>
            <a:noFill/>
            <a:ln w="38100" cap="sq">
              <a:solidFill>
                <a:srgbClr val="3333CC"/>
              </a:solidFill>
              <a:miter lim="800000"/>
              <a:headEnd type="none" w="sm" len="sm"/>
            </a:ln>
          </p:spPr>
          <p:txBody>
            <a:bodyPr wrap="none"/>
            <a:lstStyle/>
            <a:p>
              <a:endParaRPr lang="zh-CN" altLang="en-US"/>
            </a:p>
          </p:txBody>
        </p:sp>
        <p:sp>
          <p:nvSpPr>
            <p:cNvPr id="14371" name="Line 10"/>
            <p:cNvSpPr>
              <a:spLocks noChangeShapeType="1"/>
            </p:cNvSpPr>
            <p:nvPr/>
          </p:nvSpPr>
          <p:spPr bwMode="auto">
            <a:xfrm>
              <a:off x="4560" y="1920"/>
              <a:ext cx="192" cy="0"/>
            </a:xfrm>
            <a:prstGeom prst="line">
              <a:avLst/>
            </a:prstGeom>
            <a:noFill/>
            <a:ln w="38100">
              <a:solidFill>
                <a:srgbClr val="3333CC"/>
              </a:solidFill>
              <a:round/>
              <a:tailEnd type="triangle" w="med" len="med"/>
            </a:ln>
          </p:spPr>
          <p:txBody>
            <a:bodyPr wrap="none"/>
            <a:lstStyle/>
            <a:p>
              <a:endParaRPr lang="zh-CN" altLang="en-US"/>
            </a:p>
          </p:txBody>
        </p:sp>
      </p:grpSp>
      <p:graphicFrame>
        <p:nvGraphicFramePr>
          <p:cNvPr id="14339" name="Object 11"/>
          <p:cNvGraphicFramePr>
            <a:graphicFrameLocks noChangeAspect="1"/>
          </p:cNvGraphicFramePr>
          <p:nvPr/>
        </p:nvGraphicFramePr>
        <p:xfrm>
          <a:off x="7848600" y="3482975"/>
          <a:ext cx="254000" cy="338138"/>
        </p:xfrm>
        <a:graphic>
          <a:graphicData uri="http://schemas.openxmlformats.org/presentationml/2006/ole">
            <mc:AlternateContent xmlns:mc="http://schemas.openxmlformats.org/markup-compatibility/2006">
              <mc:Choice xmlns:v="urn:schemas-microsoft-com:vml" Requires="v">
                <p:oleObj spid="_x0000_s14339" name="公式" r:id="rId3" imgW="7620000" imgH="10058400" progId="Equation.3">
                  <p:embed/>
                </p:oleObj>
              </mc:Choice>
              <mc:Fallback>
                <p:oleObj name="公式" r:id="rId3" imgW="7620000" imgH="10058400" progId="Equation.3">
                  <p:embed/>
                  <p:pic>
                    <p:nvPicPr>
                      <p:cNvPr id="0" name="Object 11"/>
                      <p:cNvPicPr>
                        <a:picLocks noChangeAspect="1"/>
                      </p:cNvPicPr>
                      <p:nvPr/>
                    </p:nvPicPr>
                    <p:blipFill>
                      <a:blip r:embed="rId4"/>
                      <a:stretch>
                        <a:fillRect/>
                      </a:stretch>
                    </p:blipFill>
                    <p:spPr>
                      <a:xfrm>
                        <a:off x="7848600" y="3482975"/>
                        <a:ext cx="254000" cy="338138"/>
                      </a:xfrm>
                      <a:prstGeom prst="rect">
                        <a:avLst/>
                      </a:prstGeom>
                      <a:noFill/>
                      <a:ln w="9525">
                        <a:noFill/>
                      </a:ln>
                    </p:spPr>
                  </p:pic>
                </p:oleObj>
              </mc:Fallback>
            </mc:AlternateContent>
          </a:graphicData>
        </a:graphic>
      </p:graphicFrame>
      <p:graphicFrame>
        <p:nvGraphicFramePr>
          <p:cNvPr id="14340" name="Object 12"/>
          <p:cNvGraphicFramePr>
            <a:graphicFrameLocks noChangeAspect="1"/>
          </p:cNvGraphicFramePr>
          <p:nvPr/>
        </p:nvGraphicFramePr>
        <p:xfrm>
          <a:off x="6311900" y="2057400"/>
          <a:ext cx="266700" cy="419100"/>
        </p:xfrm>
        <a:graphic>
          <a:graphicData uri="http://schemas.openxmlformats.org/presentationml/2006/ole">
            <mc:AlternateContent xmlns:mc="http://schemas.openxmlformats.org/markup-compatibility/2006">
              <mc:Choice xmlns:v="urn:schemas-microsoft-com:vml" Requires="v">
                <p:oleObj spid="_x0000_s14340" name="公式" r:id="rId5" imgW="6400800" imgH="10058400" progId="Equation.3">
                  <p:embed/>
                </p:oleObj>
              </mc:Choice>
              <mc:Fallback>
                <p:oleObj name="公式" r:id="rId5" imgW="6400800" imgH="10058400" progId="Equation.3">
                  <p:embed/>
                  <p:pic>
                    <p:nvPicPr>
                      <p:cNvPr id="0" name="Object 12"/>
                      <p:cNvPicPr>
                        <a:picLocks noChangeAspect="1"/>
                      </p:cNvPicPr>
                      <p:nvPr/>
                    </p:nvPicPr>
                    <p:blipFill>
                      <a:blip r:embed="rId6"/>
                      <a:stretch>
                        <a:fillRect/>
                      </a:stretch>
                    </p:blipFill>
                    <p:spPr>
                      <a:xfrm>
                        <a:off x="6311900" y="2057400"/>
                        <a:ext cx="266700" cy="419100"/>
                      </a:xfrm>
                      <a:prstGeom prst="rect">
                        <a:avLst/>
                      </a:prstGeom>
                      <a:noFill/>
                      <a:ln w="9525">
                        <a:noFill/>
                      </a:ln>
                    </p:spPr>
                  </p:pic>
                </p:oleObj>
              </mc:Fallback>
            </mc:AlternateContent>
          </a:graphicData>
        </a:graphic>
      </p:graphicFrame>
      <p:sp>
        <p:nvSpPr>
          <p:cNvPr id="14356" name="Text Box 13"/>
          <p:cNvSpPr txBox="1">
            <a:spLocks noChangeArrowheads="1"/>
          </p:cNvSpPr>
          <p:nvPr/>
        </p:nvSpPr>
        <p:spPr bwMode="auto">
          <a:xfrm>
            <a:off x="6580188" y="2476500"/>
            <a:ext cx="719137" cy="396875"/>
          </a:xfrm>
          <a:prstGeom prst="rect">
            <a:avLst/>
          </a:prstGeom>
          <a:noFill/>
          <a:ln w="12700" cap="sq">
            <a:noFill/>
            <a:miter lim="800000"/>
            <a:headEnd type="none" w="sm" len="sm"/>
            <a:tailEnd type="none" w="sm" len="sm"/>
          </a:ln>
        </p:spPr>
        <p:txBody>
          <a:bodyPr>
            <a:spAutoFit/>
          </a:bodyPr>
          <a:lstStyle/>
          <a:p>
            <a:r>
              <a:rPr kumimoji="1" lang="en-US" altLang="zh-CN" sz="2000" b="1" i="1"/>
              <a:t>Ⅰ</a:t>
            </a:r>
            <a:endParaRPr kumimoji="1" lang="en-US" altLang="zh-CN" sz="2000" b="1" i="1"/>
          </a:p>
        </p:txBody>
      </p:sp>
      <p:sp>
        <p:nvSpPr>
          <p:cNvPr id="14357" name="Text Box 15"/>
          <p:cNvSpPr txBox="1">
            <a:spLocks noChangeArrowheads="1"/>
          </p:cNvSpPr>
          <p:nvPr/>
        </p:nvSpPr>
        <p:spPr bwMode="auto">
          <a:xfrm>
            <a:off x="7948613" y="2439988"/>
            <a:ext cx="647700" cy="396875"/>
          </a:xfrm>
          <a:prstGeom prst="rect">
            <a:avLst/>
          </a:prstGeom>
          <a:noFill/>
          <a:ln w="12700" cap="sq">
            <a:noFill/>
            <a:miter lim="800000"/>
            <a:headEnd type="none" w="sm" len="sm"/>
            <a:tailEnd type="none" w="sm" len="sm"/>
          </a:ln>
        </p:spPr>
        <p:txBody>
          <a:bodyPr>
            <a:spAutoFit/>
          </a:bodyPr>
          <a:lstStyle/>
          <a:p>
            <a:r>
              <a:rPr kumimoji="1" lang="en-US" altLang="zh-CN" sz="2000" b="1" i="1"/>
              <a:t>Ⅱ</a:t>
            </a:r>
            <a:endParaRPr kumimoji="1" lang="en-US" altLang="zh-CN" sz="2000" b="1" i="1"/>
          </a:p>
        </p:txBody>
      </p:sp>
      <p:graphicFrame>
        <p:nvGraphicFramePr>
          <p:cNvPr id="14341" name="Object 16"/>
          <p:cNvGraphicFramePr>
            <a:graphicFrameLocks noChangeAspect="1"/>
          </p:cNvGraphicFramePr>
          <p:nvPr/>
        </p:nvGraphicFramePr>
        <p:xfrm>
          <a:off x="7866063" y="2392363"/>
          <a:ext cx="193675" cy="192087"/>
        </p:xfrm>
        <a:graphic>
          <a:graphicData uri="http://schemas.openxmlformats.org/presentationml/2006/ole">
            <mc:AlternateContent xmlns:mc="http://schemas.openxmlformats.org/markup-compatibility/2006">
              <mc:Choice xmlns:v="urn:schemas-microsoft-com:vml" Requires="v">
                <p:oleObj spid="_x0000_s14341" name="公式" r:id="rId7" imgW="4572000" imgH="4572000" progId="Equation.3">
                  <p:embed/>
                </p:oleObj>
              </mc:Choice>
              <mc:Fallback>
                <p:oleObj name="公式" r:id="rId7" imgW="4572000" imgH="4572000" progId="Equation.3">
                  <p:embed/>
                  <p:pic>
                    <p:nvPicPr>
                      <p:cNvPr id="0" name="Object 16"/>
                      <p:cNvPicPr>
                        <a:picLocks noChangeAspect="1"/>
                      </p:cNvPicPr>
                      <p:nvPr/>
                    </p:nvPicPr>
                    <p:blipFill>
                      <a:blip r:embed="rId8"/>
                      <a:stretch>
                        <a:fillRect/>
                      </a:stretch>
                    </p:blipFill>
                    <p:spPr>
                      <a:xfrm>
                        <a:off x="7866063" y="2392363"/>
                        <a:ext cx="193675" cy="192087"/>
                      </a:xfrm>
                      <a:prstGeom prst="rect">
                        <a:avLst/>
                      </a:prstGeom>
                      <a:noFill/>
                      <a:ln w="9525">
                        <a:noFill/>
                      </a:ln>
                    </p:spPr>
                  </p:pic>
                </p:oleObj>
              </mc:Fallback>
            </mc:AlternateContent>
          </a:graphicData>
        </a:graphic>
      </p:graphicFrame>
      <p:sp>
        <p:nvSpPr>
          <p:cNvPr id="14358" name="Text Box 18"/>
          <p:cNvSpPr txBox="1">
            <a:spLocks noChangeArrowheads="1"/>
          </p:cNvSpPr>
          <p:nvPr/>
        </p:nvSpPr>
        <p:spPr bwMode="auto">
          <a:xfrm>
            <a:off x="5715000" y="2187575"/>
            <a:ext cx="438150" cy="457200"/>
          </a:xfrm>
          <a:prstGeom prst="rect">
            <a:avLst/>
          </a:prstGeom>
          <a:noFill/>
          <a:ln w="9525">
            <a:noFill/>
            <a:miter lim="800000"/>
          </a:ln>
        </p:spPr>
        <p:txBody>
          <a:bodyPr wrap="none">
            <a:spAutoFit/>
          </a:bodyPr>
          <a:lstStyle/>
          <a:p>
            <a:r>
              <a:rPr lang="en-US" altLang="zh-CN" b="1" i="1">
                <a:solidFill>
                  <a:srgbClr val="3333CC"/>
                </a:solidFill>
              </a:rPr>
              <a:t>p</a:t>
            </a:r>
            <a:r>
              <a:rPr lang="en-US" altLang="zh-CN" b="1" baseline="-25000">
                <a:solidFill>
                  <a:srgbClr val="3333CC"/>
                </a:solidFill>
              </a:rPr>
              <a:t>1</a:t>
            </a:r>
            <a:endParaRPr lang="en-US" altLang="zh-CN" b="1">
              <a:solidFill>
                <a:srgbClr val="3333CC"/>
              </a:solidFill>
            </a:endParaRPr>
          </a:p>
        </p:txBody>
      </p:sp>
      <p:grpSp>
        <p:nvGrpSpPr>
          <p:cNvPr id="14359" name="Group 19"/>
          <p:cNvGrpSpPr>
            <a:grpSpLocks noChangeAspect="1"/>
          </p:cNvGrpSpPr>
          <p:nvPr/>
        </p:nvGrpSpPr>
        <p:grpSpPr bwMode="auto">
          <a:xfrm>
            <a:off x="5830888" y="1179513"/>
            <a:ext cx="2909887" cy="2727325"/>
            <a:chOff x="3443" y="2160"/>
            <a:chExt cx="2035" cy="1908"/>
          </a:xfrm>
        </p:grpSpPr>
        <p:sp>
          <p:nvSpPr>
            <p:cNvPr id="14365" name="Line 20"/>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14366" name="Line 21"/>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14367" name="Text Box 22"/>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b="1" i="1"/>
                <a:t>O</a:t>
              </a:r>
              <a:endParaRPr lang="en-US" altLang="zh-CN" b="1" i="1"/>
            </a:p>
          </p:txBody>
        </p:sp>
        <p:sp>
          <p:nvSpPr>
            <p:cNvPr id="14368" name="Text Box 23"/>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b="1" i="1"/>
                <a:t>V</a:t>
              </a:r>
              <a:endParaRPr lang="en-US" altLang="zh-CN" b="1" i="1"/>
            </a:p>
          </p:txBody>
        </p:sp>
        <p:sp>
          <p:nvSpPr>
            <p:cNvPr id="14369" name="Text Box 24"/>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b="1" i="1"/>
                <a:t>p</a:t>
              </a:r>
              <a:endParaRPr lang="en-US" altLang="zh-CN" b="1" i="1"/>
            </a:p>
          </p:txBody>
        </p:sp>
      </p:grpSp>
      <p:sp>
        <p:nvSpPr>
          <p:cNvPr id="29721" name="Text Box 25"/>
          <p:cNvSpPr txBox="1">
            <a:spLocks noChangeArrowheads="1"/>
          </p:cNvSpPr>
          <p:nvPr/>
        </p:nvSpPr>
        <p:spPr bwMode="auto">
          <a:xfrm>
            <a:off x="304800" y="685800"/>
            <a:ext cx="1409700" cy="457200"/>
          </a:xfrm>
          <a:prstGeom prst="rect">
            <a:avLst/>
          </a:prstGeom>
          <a:noFill/>
          <a:ln w="9525">
            <a:noFill/>
            <a:miter lim="800000"/>
          </a:ln>
        </p:spPr>
        <p:txBody>
          <a:bodyPr wrap="none">
            <a:spAutoFit/>
          </a:bodyPr>
          <a:lstStyle/>
          <a:p>
            <a:r>
              <a:rPr lang="zh-CN" altLang="en-US" b="1">
                <a:solidFill>
                  <a:srgbClr val="0000FF"/>
                </a:solidFill>
              </a:rPr>
              <a:t>方法二：</a:t>
            </a:r>
            <a:endParaRPr lang="zh-CN" altLang="en-US" b="1">
              <a:solidFill>
                <a:srgbClr val="0000FF"/>
              </a:solidFill>
            </a:endParaRPr>
          </a:p>
        </p:txBody>
      </p:sp>
      <p:graphicFrame>
        <p:nvGraphicFramePr>
          <p:cNvPr id="29723" name="Object 27"/>
          <p:cNvGraphicFramePr>
            <a:graphicFrameLocks noChangeAspect="1"/>
          </p:cNvGraphicFramePr>
          <p:nvPr/>
        </p:nvGraphicFramePr>
        <p:xfrm>
          <a:off x="1752600" y="1692275"/>
          <a:ext cx="3028950" cy="593725"/>
        </p:xfrm>
        <a:graphic>
          <a:graphicData uri="http://schemas.openxmlformats.org/presentationml/2006/ole">
            <mc:AlternateContent xmlns:mc="http://schemas.openxmlformats.org/markup-compatibility/2006">
              <mc:Choice xmlns:v="urn:schemas-microsoft-com:vml" Requires="v">
                <p:oleObj spid="_x0000_s14342" name="公式" r:id="rId9" imgW="28041600" imgH="5486400" progId="Equation.3">
                  <p:embed/>
                </p:oleObj>
              </mc:Choice>
              <mc:Fallback>
                <p:oleObj name="公式" r:id="rId9" imgW="28041600" imgH="5486400" progId="Equation.3">
                  <p:embed/>
                  <p:pic>
                    <p:nvPicPr>
                      <p:cNvPr id="0" name="Object 27"/>
                      <p:cNvPicPr>
                        <a:picLocks noChangeAspect="1"/>
                      </p:cNvPicPr>
                      <p:nvPr/>
                    </p:nvPicPr>
                    <p:blipFill>
                      <a:blip r:embed="rId10"/>
                      <a:stretch>
                        <a:fillRect/>
                      </a:stretch>
                    </p:blipFill>
                    <p:spPr>
                      <a:xfrm>
                        <a:off x="1752600" y="1692275"/>
                        <a:ext cx="3028950" cy="593725"/>
                      </a:xfrm>
                      <a:prstGeom prst="rect">
                        <a:avLst/>
                      </a:prstGeom>
                      <a:noFill/>
                      <a:ln w="9525">
                        <a:noFill/>
                      </a:ln>
                    </p:spPr>
                  </p:pic>
                </p:oleObj>
              </mc:Fallback>
            </mc:AlternateContent>
          </a:graphicData>
        </a:graphic>
      </p:graphicFrame>
      <p:graphicFrame>
        <p:nvGraphicFramePr>
          <p:cNvPr id="14343" name="Object 14"/>
          <p:cNvGraphicFramePr>
            <a:graphicFrameLocks noChangeAspect="1"/>
          </p:cNvGraphicFramePr>
          <p:nvPr/>
        </p:nvGraphicFramePr>
        <p:xfrm>
          <a:off x="6577013" y="2392363"/>
          <a:ext cx="193675" cy="192087"/>
        </p:xfrm>
        <a:graphic>
          <a:graphicData uri="http://schemas.openxmlformats.org/presentationml/2006/ole">
            <mc:AlternateContent xmlns:mc="http://schemas.openxmlformats.org/markup-compatibility/2006">
              <mc:Choice xmlns:v="urn:schemas-microsoft-com:vml" Requires="v">
                <p:oleObj spid="_x0000_s14343" name="公式" r:id="rId11" imgW="4572000" imgH="4572000" progId="Equation.3">
                  <p:embed/>
                </p:oleObj>
              </mc:Choice>
              <mc:Fallback>
                <p:oleObj name="公式" r:id="rId11" imgW="4572000" imgH="4572000" progId="Equation.3">
                  <p:embed/>
                  <p:pic>
                    <p:nvPicPr>
                      <p:cNvPr id="0" name="Object 14"/>
                      <p:cNvPicPr>
                        <a:picLocks noChangeAspect="1"/>
                      </p:cNvPicPr>
                      <p:nvPr/>
                    </p:nvPicPr>
                    <p:blipFill>
                      <a:blip r:embed="rId8"/>
                      <a:stretch>
                        <a:fillRect/>
                      </a:stretch>
                    </p:blipFill>
                    <p:spPr>
                      <a:xfrm>
                        <a:off x="6577013" y="2392363"/>
                        <a:ext cx="193675" cy="192087"/>
                      </a:xfrm>
                      <a:prstGeom prst="rect">
                        <a:avLst/>
                      </a:prstGeom>
                      <a:noFill/>
                      <a:ln w="9525">
                        <a:noFill/>
                      </a:ln>
                    </p:spPr>
                  </p:pic>
                </p:oleObj>
              </mc:Fallback>
            </mc:AlternateContent>
          </a:graphicData>
        </a:graphic>
      </p:graphicFrame>
      <p:graphicFrame>
        <p:nvGraphicFramePr>
          <p:cNvPr id="29725" name="Object 29"/>
          <p:cNvGraphicFramePr>
            <a:graphicFrameLocks noChangeAspect="1"/>
          </p:cNvGraphicFramePr>
          <p:nvPr/>
        </p:nvGraphicFramePr>
        <p:xfrm>
          <a:off x="6578600" y="1468438"/>
          <a:ext cx="193675" cy="192087"/>
        </p:xfrm>
        <a:graphic>
          <a:graphicData uri="http://schemas.openxmlformats.org/presentationml/2006/ole">
            <mc:AlternateContent xmlns:mc="http://schemas.openxmlformats.org/markup-compatibility/2006">
              <mc:Choice xmlns:v="urn:schemas-microsoft-com:vml" Requires="v">
                <p:oleObj spid="_x0000_s14344" name="公式" r:id="rId12" imgW="4572000" imgH="4572000" progId="Equation.3">
                  <p:embed/>
                </p:oleObj>
              </mc:Choice>
              <mc:Fallback>
                <p:oleObj name="公式" r:id="rId12" imgW="4572000" imgH="4572000" progId="Equation.3">
                  <p:embed/>
                  <p:pic>
                    <p:nvPicPr>
                      <p:cNvPr id="0" name="Object 29"/>
                      <p:cNvPicPr>
                        <a:picLocks noChangeAspect="1"/>
                      </p:cNvPicPr>
                      <p:nvPr/>
                    </p:nvPicPr>
                    <p:blipFill>
                      <a:blip r:embed="rId8"/>
                      <a:stretch>
                        <a:fillRect/>
                      </a:stretch>
                    </p:blipFill>
                    <p:spPr>
                      <a:xfrm>
                        <a:off x="6578600" y="1468438"/>
                        <a:ext cx="193675" cy="192087"/>
                      </a:xfrm>
                      <a:prstGeom prst="rect">
                        <a:avLst/>
                      </a:prstGeom>
                      <a:noFill/>
                      <a:ln w="9525">
                        <a:noFill/>
                      </a:ln>
                    </p:spPr>
                  </p:pic>
                </p:oleObj>
              </mc:Fallback>
            </mc:AlternateContent>
          </a:graphicData>
        </a:graphic>
      </p:graphicFrame>
      <p:graphicFrame>
        <p:nvGraphicFramePr>
          <p:cNvPr id="14345" name="Object 33"/>
          <p:cNvGraphicFramePr>
            <a:graphicFrameLocks noChangeAspect="1"/>
          </p:cNvGraphicFramePr>
          <p:nvPr/>
        </p:nvGraphicFramePr>
        <p:xfrm>
          <a:off x="7281863" y="1684338"/>
          <a:ext cx="304800" cy="419100"/>
        </p:xfrm>
        <a:graphic>
          <a:graphicData uri="http://schemas.openxmlformats.org/presentationml/2006/ole">
            <mc:AlternateContent xmlns:mc="http://schemas.openxmlformats.org/markup-compatibility/2006">
              <mc:Choice xmlns:v="urn:schemas-microsoft-com:vml" Requires="v">
                <p:oleObj spid="_x0000_s14345" name="公式" r:id="rId13" imgW="7315200" imgH="10058400" progId="Equation.3">
                  <p:embed/>
                </p:oleObj>
              </mc:Choice>
              <mc:Fallback>
                <p:oleObj name="公式" r:id="rId13" imgW="7315200" imgH="10058400" progId="Equation.3">
                  <p:embed/>
                  <p:pic>
                    <p:nvPicPr>
                      <p:cNvPr id="0" name="Object 33"/>
                      <p:cNvPicPr>
                        <a:picLocks noChangeAspect="1"/>
                      </p:cNvPicPr>
                      <p:nvPr/>
                    </p:nvPicPr>
                    <p:blipFill>
                      <a:blip r:embed="rId14"/>
                      <a:stretch>
                        <a:fillRect/>
                      </a:stretch>
                    </p:blipFill>
                    <p:spPr>
                      <a:xfrm>
                        <a:off x="7281863" y="1684338"/>
                        <a:ext cx="304800" cy="419100"/>
                      </a:xfrm>
                      <a:prstGeom prst="rect">
                        <a:avLst/>
                      </a:prstGeom>
                      <a:noFill/>
                      <a:ln w="9525">
                        <a:noFill/>
                      </a:ln>
                    </p:spPr>
                  </p:pic>
                </p:oleObj>
              </mc:Fallback>
            </mc:AlternateContent>
          </a:graphicData>
        </a:graphic>
      </p:graphicFrame>
      <p:sp>
        <p:nvSpPr>
          <p:cNvPr id="29730" name="Text Box 34"/>
          <p:cNvSpPr txBox="1">
            <a:spLocks noChangeArrowheads="1"/>
          </p:cNvSpPr>
          <p:nvPr/>
        </p:nvSpPr>
        <p:spPr bwMode="auto">
          <a:xfrm>
            <a:off x="6580188" y="1143000"/>
            <a:ext cx="574675" cy="396875"/>
          </a:xfrm>
          <a:prstGeom prst="rect">
            <a:avLst/>
          </a:prstGeom>
          <a:noFill/>
          <a:ln w="12700" cap="sq">
            <a:noFill/>
            <a:miter lim="800000"/>
            <a:headEnd type="none" w="sm" len="sm"/>
            <a:tailEnd type="none" w="sm" len="sm"/>
          </a:ln>
        </p:spPr>
        <p:txBody>
          <a:bodyPr>
            <a:spAutoFit/>
          </a:bodyPr>
          <a:lstStyle/>
          <a:p>
            <a:r>
              <a:rPr kumimoji="1" lang="en-US" altLang="zh-CN" sz="2000" b="1" i="1"/>
              <a:t>Ⅰ</a:t>
            </a:r>
            <a:r>
              <a:rPr kumimoji="1" lang="en-US" altLang="zh-CN" sz="2000" b="1"/>
              <a:t>’</a:t>
            </a:r>
            <a:endParaRPr kumimoji="1" lang="en-US" altLang="zh-CN" sz="2000" b="1"/>
          </a:p>
        </p:txBody>
      </p:sp>
      <p:sp>
        <p:nvSpPr>
          <p:cNvPr id="29731" name="Text Box 35"/>
          <p:cNvSpPr txBox="1">
            <a:spLocks noChangeArrowheads="1"/>
          </p:cNvSpPr>
          <p:nvPr/>
        </p:nvSpPr>
        <p:spPr bwMode="auto">
          <a:xfrm>
            <a:off x="762000" y="2438400"/>
            <a:ext cx="2744788" cy="457200"/>
          </a:xfrm>
          <a:prstGeom prst="rect">
            <a:avLst/>
          </a:prstGeom>
          <a:noFill/>
          <a:ln w="9525">
            <a:noFill/>
            <a:miter lim="800000"/>
          </a:ln>
        </p:spPr>
        <p:txBody>
          <a:bodyPr wrap="none">
            <a:spAutoFit/>
          </a:bodyPr>
          <a:lstStyle/>
          <a:p>
            <a:r>
              <a:rPr lang="en-US" altLang="zh-CN" b="1" i="1"/>
              <a:t>I </a:t>
            </a:r>
            <a:r>
              <a:rPr lang="en-US" altLang="zh-CN" b="1"/>
              <a:t>→</a:t>
            </a:r>
            <a:r>
              <a:rPr lang="en-US" altLang="zh-CN" b="1" i="1"/>
              <a:t>I</a:t>
            </a:r>
            <a:r>
              <a:rPr lang="en-US" altLang="zh-CN" b="1"/>
              <a:t>’</a:t>
            </a:r>
            <a:r>
              <a:rPr lang="zh-CN" altLang="en-US" b="1"/>
              <a:t>为等体过程：</a:t>
            </a:r>
            <a:endParaRPr lang="zh-CN" altLang="en-US" b="1"/>
          </a:p>
        </p:txBody>
      </p:sp>
      <p:graphicFrame>
        <p:nvGraphicFramePr>
          <p:cNvPr id="29732" name="Object 36"/>
          <p:cNvGraphicFramePr>
            <a:graphicFrameLocks noChangeAspect="1"/>
          </p:cNvGraphicFramePr>
          <p:nvPr/>
        </p:nvGraphicFramePr>
        <p:xfrm>
          <a:off x="1219200" y="2743200"/>
          <a:ext cx="4214813" cy="928688"/>
        </p:xfrm>
        <a:graphic>
          <a:graphicData uri="http://schemas.openxmlformats.org/presentationml/2006/ole">
            <mc:AlternateContent xmlns:mc="http://schemas.openxmlformats.org/markup-compatibility/2006">
              <mc:Choice xmlns:v="urn:schemas-microsoft-com:vml" Requires="v">
                <p:oleObj spid="_x0000_s14346" name="公式" r:id="rId15" imgW="42976800" imgH="9448800" progId="Equation.3">
                  <p:embed/>
                </p:oleObj>
              </mc:Choice>
              <mc:Fallback>
                <p:oleObj name="公式" r:id="rId15" imgW="42976800" imgH="9448800" progId="Equation.3">
                  <p:embed/>
                  <p:pic>
                    <p:nvPicPr>
                      <p:cNvPr id="0" name="Object 36"/>
                      <p:cNvPicPr>
                        <a:picLocks noChangeAspect="1"/>
                      </p:cNvPicPr>
                      <p:nvPr/>
                    </p:nvPicPr>
                    <p:blipFill>
                      <a:blip r:embed="rId16"/>
                      <a:stretch>
                        <a:fillRect/>
                      </a:stretch>
                    </p:blipFill>
                    <p:spPr>
                      <a:xfrm>
                        <a:off x="1219200" y="2743200"/>
                        <a:ext cx="4214813" cy="928688"/>
                      </a:xfrm>
                      <a:prstGeom prst="rect">
                        <a:avLst/>
                      </a:prstGeom>
                      <a:noFill/>
                      <a:ln w="9525">
                        <a:noFill/>
                      </a:ln>
                    </p:spPr>
                  </p:pic>
                </p:oleObj>
              </mc:Fallback>
            </mc:AlternateContent>
          </a:graphicData>
        </a:graphic>
      </p:graphicFrame>
      <p:sp>
        <p:nvSpPr>
          <p:cNvPr id="29739" name="Text Box 43"/>
          <p:cNvSpPr txBox="1">
            <a:spLocks noChangeArrowheads="1"/>
          </p:cNvSpPr>
          <p:nvPr/>
        </p:nvSpPr>
        <p:spPr bwMode="auto">
          <a:xfrm>
            <a:off x="685800" y="3962400"/>
            <a:ext cx="7777163" cy="1006475"/>
          </a:xfrm>
          <a:prstGeom prst="rect">
            <a:avLst/>
          </a:prstGeom>
          <a:noFill/>
          <a:ln w="9525">
            <a:noFill/>
            <a:miter lim="800000"/>
          </a:ln>
        </p:spPr>
        <p:txBody>
          <a:bodyPr>
            <a:spAutoFit/>
          </a:bodyPr>
          <a:lstStyle/>
          <a:p>
            <a:pPr>
              <a:lnSpc>
                <a:spcPct val="125000"/>
              </a:lnSpc>
            </a:pPr>
            <a:r>
              <a:rPr lang="en-US" altLang="zh-CN" b="1" i="1"/>
              <a:t>I</a:t>
            </a:r>
            <a:r>
              <a:rPr lang="en-US" altLang="zh-CN" b="1"/>
              <a:t>’ →</a:t>
            </a:r>
            <a:r>
              <a:rPr lang="en-US" altLang="zh-CN" b="1" i="1"/>
              <a:t>II </a:t>
            </a:r>
            <a:r>
              <a:rPr lang="zh-CN" altLang="en-US" b="1"/>
              <a:t>为等温过程，由于</a:t>
            </a:r>
            <a:r>
              <a:rPr lang="zh-CN" altLang="en-US" b="1">
                <a:solidFill>
                  <a:srgbClr val="FF6600"/>
                </a:solidFill>
              </a:rPr>
              <a:t>内能是温度的单值函数</a:t>
            </a:r>
            <a:r>
              <a:rPr lang="zh-CN" altLang="en-US" b="1"/>
              <a:t>，因此</a:t>
            </a:r>
            <a:r>
              <a:rPr lang="zh-CN" altLang="en-US" b="1">
                <a:solidFill>
                  <a:srgbClr val="FF6600"/>
                </a:solidFill>
              </a:rPr>
              <a:t>等温过程内能不变</a:t>
            </a:r>
            <a:r>
              <a:rPr lang="zh-CN" altLang="en-US" b="1"/>
              <a:t>：</a:t>
            </a:r>
            <a:endParaRPr lang="zh-CN" altLang="en-US" b="1"/>
          </a:p>
        </p:txBody>
      </p:sp>
      <p:graphicFrame>
        <p:nvGraphicFramePr>
          <p:cNvPr id="29740" name="Object 44"/>
          <p:cNvGraphicFramePr>
            <a:graphicFrameLocks noChangeAspect="1"/>
          </p:cNvGraphicFramePr>
          <p:nvPr/>
        </p:nvGraphicFramePr>
        <p:xfrm>
          <a:off x="3962400" y="4495800"/>
          <a:ext cx="1698625" cy="547688"/>
        </p:xfrm>
        <a:graphic>
          <a:graphicData uri="http://schemas.openxmlformats.org/presentationml/2006/ole">
            <mc:AlternateContent xmlns:mc="http://schemas.openxmlformats.org/markup-compatibility/2006">
              <mc:Choice xmlns:v="urn:schemas-microsoft-com:vml" Requires="v">
                <p:oleObj spid="_x0000_s14347" name="公式" r:id="rId17" imgW="17068800" imgH="5486400" progId="Equation.3">
                  <p:embed/>
                </p:oleObj>
              </mc:Choice>
              <mc:Fallback>
                <p:oleObj name="公式" r:id="rId17" imgW="17068800" imgH="5486400" progId="Equation.3">
                  <p:embed/>
                  <p:pic>
                    <p:nvPicPr>
                      <p:cNvPr id="0" name="Object 44"/>
                      <p:cNvPicPr>
                        <a:picLocks noChangeAspect="1"/>
                      </p:cNvPicPr>
                      <p:nvPr/>
                    </p:nvPicPr>
                    <p:blipFill>
                      <a:blip r:embed="rId18"/>
                      <a:stretch>
                        <a:fillRect/>
                      </a:stretch>
                    </p:blipFill>
                    <p:spPr>
                      <a:xfrm>
                        <a:off x="3962400" y="4495800"/>
                        <a:ext cx="1698625" cy="547688"/>
                      </a:xfrm>
                      <a:prstGeom prst="rect">
                        <a:avLst/>
                      </a:prstGeom>
                      <a:noFill/>
                      <a:ln w="9525">
                        <a:noFill/>
                      </a:ln>
                    </p:spPr>
                  </p:pic>
                </p:oleObj>
              </mc:Fallback>
            </mc:AlternateContent>
          </a:graphicData>
        </a:graphic>
      </p:graphicFrame>
      <p:sp>
        <p:nvSpPr>
          <p:cNvPr id="29741" name="AutoShape 45"/>
          <p:cNvSpPr>
            <a:spLocks noChangeArrowheads="1"/>
          </p:cNvSpPr>
          <p:nvPr/>
        </p:nvSpPr>
        <p:spPr bwMode="auto">
          <a:xfrm>
            <a:off x="1184275" y="5486400"/>
            <a:ext cx="720725" cy="144463"/>
          </a:xfrm>
          <a:prstGeom prst="rightArrow">
            <a:avLst>
              <a:gd name="adj1" fmla="val 50000"/>
              <a:gd name="adj2" fmla="val 124725"/>
            </a:avLst>
          </a:prstGeom>
          <a:solidFill>
            <a:schemeClr val="accent1"/>
          </a:solidFill>
          <a:ln w="9525">
            <a:solidFill>
              <a:schemeClr val="tx1"/>
            </a:solidFill>
            <a:miter lim="800000"/>
          </a:ln>
        </p:spPr>
        <p:txBody>
          <a:bodyPr wrap="none" anchor="ctr"/>
          <a:lstStyle/>
          <a:p>
            <a:pPr algn="ctr"/>
            <a:endParaRPr lang="zh-CN" altLang="en-US" b="1"/>
          </a:p>
        </p:txBody>
      </p:sp>
      <p:graphicFrame>
        <p:nvGraphicFramePr>
          <p:cNvPr id="29742" name="Object 46"/>
          <p:cNvGraphicFramePr>
            <a:graphicFrameLocks noChangeAspect="1"/>
          </p:cNvGraphicFramePr>
          <p:nvPr/>
        </p:nvGraphicFramePr>
        <p:xfrm>
          <a:off x="2133600" y="5029200"/>
          <a:ext cx="5486400" cy="952500"/>
        </p:xfrm>
        <a:graphic>
          <a:graphicData uri="http://schemas.openxmlformats.org/presentationml/2006/ole">
            <mc:AlternateContent xmlns:mc="http://schemas.openxmlformats.org/markup-compatibility/2006">
              <mc:Choice xmlns:v="urn:schemas-microsoft-com:vml" Requires="v">
                <p:oleObj spid="_x0000_s14348" name="Equation" r:id="rId19" imgW="54559200" imgH="9448800" progId="Equation.3">
                  <p:embed/>
                </p:oleObj>
              </mc:Choice>
              <mc:Fallback>
                <p:oleObj name="Equation" r:id="rId19" imgW="54559200" imgH="9448800" progId="Equation.3">
                  <p:embed/>
                  <p:pic>
                    <p:nvPicPr>
                      <p:cNvPr id="0" name="Object 46"/>
                      <p:cNvPicPr>
                        <a:picLocks noChangeAspect="1"/>
                      </p:cNvPicPr>
                      <p:nvPr/>
                    </p:nvPicPr>
                    <p:blipFill>
                      <a:blip r:embed="rId20"/>
                      <a:stretch>
                        <a:fillRect/>
                      </a:stretch>
                    </p:blipFill>
                    <p:spPr>
                      <a:xfrm>
                        <a:off x="2133600" y="5029200"/>
                        <a:ext cx="5486400" cy="9525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21"/>
                                        </p:tgtEl>
                                        <p:attrNameLst>
                                          <p:attrName>style.visibility</p:attrName>
                                        </p:attrNameLst>
                                      </p:cBhvr>
                                      <p:to>
                                        <p:strVal val="visible"/>
                                      </p:to>
                                    </p:set>
                                    <p:animEffect transition="in" filter="wipe(left)">
                                      <p:cBhvr>
                                        <p:cTn id="7" dur="500"/>
                                        <p:tgtEl>
                                          <p:spTgt spid="297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22"/>
                                        </p:tgtEl>
                                        <p:attrNameLst>
                                          <p:attrName>style.visibility</p:attrName>
                                        </p:attrNameLst>
                                      </p:cBhvr>
                                      <p:to>
                                        <p:strVal val="visible"/>
                                      </p:to>
                                    </p:set>
                                    <p:animEffect transition="in" filter="wipe(left)">
                                      <p:cBhvr>
                                        <p:cTn id="12" dur="500"/>
                                        <p:tgtEl>
                                          <p:spTgt spid="297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29725"/>
                                        </p:tgtEl>
                                        <p:attrNameLst>
                                          <p:attrName>style.visibility</p:attrName>
                                        </p:attrNameLst>
                                      </p:cBhvr>
                                      <p:to>
                                        <p:strVal val="visible"/>
                                      </p:to>
                                    </p:set>
                                    <p:animEffect transition="in" filter="wipe(up)">
                                      <p:cBhvr>
                                        <p:cTn id="21" dur="500"/>
                                        <p:tgtEl>
                                          <p:spTgt spid="29725"/>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29730"/>
                                        </p:tgtEl>
                                        <p:attrNameLst>
                                          <p:attrName>style.visibility</p:attrName>
                                        </p:attrNameLst>
                                      </p:cBhvr>
                                      <p:to>
                                        <p:strVal val="visible"/>
                                      </p:to>
                                    </p:set>
                                    <p:animEffect transition="in" filter="wipe(up)">
                                      <p:cBhvr>
                                        <p:cTn id="25" dur="500"/>
                                        <p:tgtEl>
                                          <p:spTgt spid="2973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9723"/>
                                        </p:tgtEl>
                                        <p:attrNameLst>
                                          <p:attrName>style.visibility</p:attrName>
                                        </p:attrNameLst>
                                      </p:cBhvr>
                                      <p:to>
                                        <p:strVal val="visible"/>
                                      </p:to>
                                    </p:set>
                                    <p:animEffect transition="in" filter="wipe(left)">
                                      <p:cBhvr>
                                        <p:cTn id="35" dur="500"/>
                                        <p:tgtEl>
                                          <p:spTgt spid="2972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9731"/>
                                        </p:tgtEl>
                                        <p:attrNameLst>
                                          <p:attrName>style.visibility</p:attrName>
                                        </p:attrNameLst>
                                      </p:cBhvr>
                                      <p:to>
                                        <p:strVal val="visible"/>
                                      </p:to>
                                    </p:set>
                                    <p:animEffect transition="in" filter="wipe(left)">
                                      <p:cBhvr>
                                        <p:cTn id="40" dur="500"/>
                                        <p:tgtEl>
                                          <p:spTgt spid="2973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9732"/>
                                        </p:tgtEl>
                                        <p:attrNameLst>
                                          <p:attrName>style.visibility</p:attrName>
                                        </p:attrNameLst>
                                      </p:cBhvr>
                                      <p:to>
                                        <p:strVal val="visible"/>
                                      </p:to>
                                    </p:set>
                                    <p:animEffect transition="in" filter="wipe(left)">
                                      <p:cBhvr>
                                        <p:cTn id="45" dur="500"/>
                                        <p:tgtEl>
                                          <p:spTgt spid="2973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9739"/>
                                        </p:tgtEl>
                                        <p:attrNameLst>
                                          <p:attrName>style.visibility</p:attrName>
                                        </p:attrNameLst>
                                      </p:cBhvr>
                                      <p:to>
                                        <p:strVal val="visible"/>
                                      </p:to>
                                    </p:set>
                                    <p:animEffect transition="in" filter="wipe(left)">
                                      <p:cBhvr>
                                        <p:cTn id="50" dur="500"/>
                                        <p:tgtEl>
                                          <p:spTgt spid="2973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9740"/>
                                        </p:tgtEl>
                                        <p:attrNameLst>
                                          <p:attrName>style.visibility</p:attrName>
                                        </p:attrNameLst>
                                      </p:cBhvr>
                                      <p:to>
                                        <p:strVal val="visible"/>
                                      </p:to>
                                    </p:set>
                                    <p:animEffect transition="in" filter="wipe(left)">
                                      <p:cBhvr>
                                        <p:cTn id="55" dur="500"/>
                                        <p:tgtEl>
                                          <p:spTgt spid="29740"/>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29741"/>
                                        </p:tgtEl>
                                        <p:attrNameLst>
                                          <p:attrName>style.visibility</p:attrName>
                                        </p:attrNameLst>
                                      </p:cBhvr>
                                      <p:to>
                                        <p:strVal val="visible"/>
                                      </p:to>
                                    </p:set>
                                    <p:animEffect transition="in" filter="wipe(left)">
                                      <p:cBhvr>
                                        <p:cTn id="59" dur="500"/>
                                        <p:tgtEl>
                                          <p:spTgt spid="29741"/>
                                        </p:tgtEl>
                                      </p:cBhvr>
                                    </p:animEffect>
                                  </p:childTnLst>
                                </p:cTn>
                              </p:par>
                            </p:childTnLst>
                          </p:cTn>
                        </p:par>
                        <p:par>
                          <p:cTn id="60" fill="hold">
                            <p:stCondLst>
                              <p:cond delay="1000"/>
                            </p:stCondLst>
                            <p:childTnLst>
                              <p:par>
                                <p:cTn id="61" presetID="22" presetClass="entr" presetSubtype="8" fill="hold" nodeType="afterEffect">
                                  <p:stCondLst>
                                    <p:cond delay="0"/>
                                  </p:stCondLst>
                                  <p:childTnLst>
                                    <p:set>
                                      <p:cBhvr>
                                        <p:cTn id="62" dur="1" fill="hold">
                                          <p:stCondLst>
                                            <p:cond delay="0"/>
                                          </p:stCondLst>
                                        </p:cTn>
                                        <p:tgtEl>
                                          <p:spTgt spid="29742"/>
                                        </p:tgtEl>
                                        <p:attrNameLst>
                                          <p:attrName>style.visibility</p:attrName>
                                        </p:attrNameLst>
                                      </p:cBhvr>
                                      <p:to>
                                        <p:strVal val="visible"/>
                                      </p:to>
                                    </p:set>
                                    <p:animEffect transition="in" filter="wipe(left)">
                                      <p:cBhvr>
                                        <p:cTn id="63" dur="500"/>
                                        <p:tgtEl>
                                          <p:spTgt spid="29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2" grpId="0" autoUpdateAnimBg="0"/>
      <p:bldP spid="29721" grpId="0" autoUpdateAnimBg="0"/>
      <p:bldP spid="29730" grpId="0" autoUpdateAnimBg="0"/>
      <p:bldP spid="29731" grpId="0" autoUpdateAnimBg="0"/>
      <p:bldP spid="29739" grpId="0" autoUpdateAnimBg="0"/>
      <p:bldP spid="297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81"/>
          <p:cNvGrpSpPr/>
          <p:nvPr/>
        </p:nvGrpSpPr>
        <p:grpSpPr bwMode="auto">
          <a:xfrm>
            <a:off x="6858000" y="2857500"/>
            <a:ext cx="1439863" cy="2544763"/>
            <a:chOff x="4272" y="480"/>
            <a:chExt cx="1058" cy="1775"/>
          </a:xfrm>
        </p:grpSpPr>
        <p:pic>
          <p:nvPicPr>
            <p:cNvPr id="15410" name="Picture 1082" descr="迈尔像"/>
            <p:cNvPicPr>
              <a:picLocks noChangeAspect="1" noChangeArrowheads="1"/>
            </p:cNvPicPr>
            <p:nvPr/>
          </p:nvPicPr>
          <p:blipFill>
            <a:blip r:embed="rId1"/>
            <a:srcRect/>
            <a:stretch>
              <a:fillRect/>
            </a:stretch>
          </p:blipFill>
          <p:spPr bwMode="auto">
            <a:xfrm>
              <a:off x="4272" y="480"/>
              <a:ext cx="943" cy="1152"/>
            </a:xfrm>
            <a:prstGeom prst="rect">
              <a:avLst/>
            </a:prstGeom>
            <a:noFill/>
            <a:ln w="9525">
              <a:noFill/>
              <a:miter lim="800000"/>
              <a:headEnd/>
              <a:tailEnd/>
            </a:ln>
          </p:spPr>
        </p:pic>
        <p:sp>
          <p:nvSpPr>
            <p:cNvPr id="15411" name="Text Box 1083"/>
            <p:cNvSpPr txBox="1">
              <a:spLocks noChangeArrowheads="1"/>
            </p:cNvSpPr>
            <p:nvPr/>
          </p:nvSpPr>
          <p:spPr bwMode="auto">
            <a:xfrm>
              <a:off x="4377" y="1707"/>
              <a:ext cx="953" cy="548"/>
            </a:xfrm>
            <a:prstGeom prst="rect">
              <a:avLst/>
            </a:prstGeom>
            <a:noFill/>
            <a:ln w="12700" cap="sq">
              <a:noFill/>
              <a:miter lim="800000"/>
              <a:headEnd type="none" w="sm" len="sm"/>
              <a:tailEnd type="none" w="sm" len="sm"/>
            </a:ln>
          </p:spPr>
          <p:txBody>
            <a:bodyPr>
              <a:spAutoFit/>
            </a:bodyPr>
            <a:lstStyle/>
            <a:p>
              <a:pPr>
                <a:spcBef>
                  <a:spcPct val="50000"/>
                </a:spcBef>
              </a:pPr>
              <a:r>
                <a:rPr kumimoji="1" lang="en-US" altLang="zh-CN" sz="1800" b="1">
                  <a:solidFill>
                    <a:srgbClr val="0000FF"/>
                  </a:solidFill>
                </a:rPr>
                <a:t>(J.Mayer)</a:t>
              </a:r>
              <a:endParaRPr kumimoji="1" lang="en-US" altLang="zh-CN" sz="1800" b="1">
                <a:solidFill>
                  <a:srgbClr val="0000FF"/>
                </a:solidFill>
              </a:endParaRPr>
            </a:p>
            <a:p>
              <a:pPr>
                <a:spcBef>
                  <a:spcPct val="50000"/>
                </a:spcBef>
              </a:pPr>
              <a:r>
                <a:rPr kumimoji="1" lang="en-US" altLang="zh-CN" sz="1800" b="1">
                  <a:solidFill>
                    <a:srgbClr val="0000FF"/>
                  </a:solidFill>
                </a:rPr>
                <a:t>1814-1878</a:t>
              </a:r>
              <a:endParaRPr kumimoji="1" lang="en-US" altLang="zh-CN" sz="1800" b="1">
                <a:solidFill>
                  <a:srgbClr val="0000FF"/>
                </a:solidFill>
              </a:endParaRPr>
            </a:p>
          </p:txBody>
        </p:sp>
      </p:grpSp>
      <p:grpSp>
        <p:nvGrpSpPr>
          <p:cNvPr id="15375" name="Group 1032"/>
          <p:cNvGrpSpPr/>
          <p:nvPr/>
        </p:nvGrpSpPr>
        <p:grpSpPr bwMode="auto">
          <a:xfrm>
            <a:off x="6875463" y="874713"/>
            <a:ext cx="0" cy="863600"/>
            <a:chOff x="4241" y="994"/>
            <a:chExt cx="0" cy="544"/>
          </a:xfrm>
        </p:grpSpPr>
        <p:sp>
          <p:nvSpPr>
            <p:cNvPr id="15408" name="Line 1033"/>
            <p:cNvSpPr>
              <a:spLocks noChangeShapeType="1"/>
            </p:cNvSpPr>
            <p:nvPr/>
          </p:nvSpPr>
          <p:spPr bwMode="auto">
            <a:xfrm flipV="1">
              <a:off x="4241" y="1266"/>
              <a:ext cx="0" cy="272"/>
            </a:xfrm>
            <a:prstGeom prst="line">
              <a:avLst/>
            </a:prstGeom>
            <a:noFill/>
            <a:ln w="38100">
              <a:solidFill>
                <a:schemeClr val="hlink"/>
              </a:solidFill>
              <a:prstDash val="dash"/>
              <a:round/>
              <a:tailEnd type="triangle" w="med" len="med"/>
            </a:ln>
          </p:spPr>
          <p:txBody>
            <a:bodyPr/>
            <a:lstStyle/>
            <a:p>
              <a:endParaRPr lang="zh-CN" altLang="en-US"/>
            </a:p>
          </p:txBody>
        </p:sp>
        <p:sp>
          <p:nvSpPr>
            <p:cNvPr id="15409" name="Line 1034"/>
            <p:cNvSpPr>
              <a:spLocks noChangeShapeType="1"/>
            </p:cNvSpPr>
            <p:nvPr/>
          </p:nvSpPr>
          <p:spPr bwMode="auto">
            <a:xfrm flipV="1">
              <a:off x="4241" y="994"/>
              <a:ext cx="0" cy="362"/>
            </a:xfrm>
            <a:prstGeom prst="line">
              <a:avLst/>
            </a:prstGeom>
            <a:noFill/>
            <a:ln w="38100">
              <a:solidFill>
                <a:schemeClr val="hlink"/>
              </a:solidFill>
              <a:prstDash val="dash"/>
              <a:round/>
            </a:ln>
          </p:spPr>
          <p:txBody>
            <a:bodyPr/>
            <a:lstStyle/>
            <a:p>
              <a:endParaRPr lang="zh-CN" altLang="en-US"/>
            </a:p>
          </p:txBody>
        </p:sp>
      </p:grpSp>
      <p:grpSp>
        <p:nvGrpSpPr>
          <p:cNvPr id="15376" name="Group 1035"/>
          <p:cNvGrpSpPr/>
          <p:nvPr/>
        </p:nvGrpSpPr>
        <p:grpSpPr bwMode="auto">
          <a:xfrm>
            <a:off x="6875463" y="801688"/>
            <a:ext cx="1295400" cy="936625"/>
            <a:chOff x="4241" y="948"/>
            <a:chExt cx="816" cy="590"/>
          </a:xfrm>
        </p:grpSpPr>
        <p:sp>
          <p:nvSpPr>
            <p:cNvPr id="15406" name="Freeform 1036"/>
            <p:cNvSpPr/>
            <p:nvPr/>
          </p:nvSpPr>
          <p:spPr bwMode="auto">
            <a:xfrm>
              <a:off x="4241" y="948"/>
              <a:ext cx="816" cy="590"/>
            </a:xfrm>
            <a:custGeom>
              <a:avLst/>
              <a:gdLst>
                <a:gd name="T0" fmla="*/ 0 w 816"/>
                <a:gd name="T1" fmla="*/ 0 h 590"/>
                <a:gd name="T2" fmla="*/ 363 w 816"/>
                <a:gd name="T3" fmla="*/ 408 h 590"/>
                <a:gd name="T4" fmla="*/ 816 w 816"/>
                <a:gd name="T5" fmla="*/ 590 h 590"/>
                <a:gd name="T6" fmla="*/ 0 60000 65536"/>
                <a:gd name="T7" fmla="*/ 0 60000 65536"/>
                <a:gd name="T8" fmla="*/ 0 60000 65536"/>
                <a:gd name="T9" fmla="*/ 0 w 816"/>
                <a:gd name="T10" fmla="*/ 0 h 590"/>
                <a:gd name="T11" fmla="*/ 816 w 816"/>
                <a:gd name="T12" fmla="*/ 590 h 590"/>
              </a:gdLst>
              <a:ahLst/>
              <a:cxnLst>
                <a:cxn ang="T6">
                  <a:pos x="T0" y="T1"/>
                </a:cxn>
                <a:cxn ang="T7">
                  <a:pos x="T2" y="T3"/>
                </a:cxn>
                <a:cxn ang="T8">
                  <a:pos x="T4" y="T5"/>
                </a:cxn>
              </a:cxnLst>
              <a:rect l="T9" t="T10" r="T11" b="T12"/>
              <a:pathLst>
                <a:path w="816" h="590">
                  <a:moveTo>
                    <a:pt x="0" y="0"/>
                  </a:moveTo>
                  <a:cubicBezTo>
                    <a:pt x="113" y="155"/>
                    <a:pt x="227" y="310"/>
                    <a:pt x="363" y="408"/>
                  </a:cubicBezTo>
                  <a:cubicBezTo>
                    <a:pt x="499" y="506"/>
                    <a:pt x="657" y="548"/>
                    <a:pt x="816" y="590"/>
                  </a:cubicBezTo>
                </a:path>
              </a:pathLst>
            </a:custGeom>
            <a:noFill/>
            <a:ln w="38100">
              <a:solidFill>
                <a:schemeClr val="hlink"/>
              </a:solidFill>
              <a:prstDash val="dash"/>
              <a:round/>
            </a:ln>
          </p:spPr>
          <p:txBody>
            <a:bodyPr/>
            <a:lstStyle/>
            <a:p>
              <a:pPr algn="ctr"/>
              <a:endParaRPr lang="zh-CN" altLang="en-US"/>
            </a:p>
          </p:txBody>
        </p:sp>
        <p:sp>
          <p:nvSpPr>
            <p:cNvPr id="15407" name="Line 1037"/>
            <p:cNvSpPr>
              <a:spLocks noChangeShapeType="1"/>
            </p:cNvSpPr>
            <p:nvPr/>
          </p:nvSpPr>
          <p:spPr bwMode="auto">
            <a:xfrm>
              <a:off x="4459" y="1220"/>
              <a:ext cx="90" cy="91"/>
            </a:xfrm>
            <a:prstGeom prst="line">
              <a:avLst/>
            </a:prstGeom>
            <a:noFill/>
            <a:ln w="38100">
              <a:solidFill>
                <a:schemeClr val="hlink"/>
              </a:solidFill>
              <a:round/>
              <a:tailEnd type="triangle" w="med" len="med"/>
            </a:ln>
          </p:spPr>
          <p:txBody>
            <a:bodyPr/>
            <a:lstStyle/>
            <a:p>
              <a:endParaRPr lang="zh-CN" altLang="en-US"/>
            </a:p>
          </p:txBody>
        </p:sp>
      </p:grpSp>
      <p:sp>
        <p:nvSpPr>
          <p:cNvPr id="15377" name="Line 1038"/>
          <p:cNvSpPr>
            <a:spLocks noChangeShapeType="1"/>
          </p:cNvSpPr>
          <p:nvPr/>
        </p:nvSpPr>
        <p:spPr bwMode="auto">
          <a:xfrm flipH="1">
            <a:off x="6443663" y="1747838"/>
            <a:ext cx="431800" cy="0"/>
          </a:xfrm>
          <a:prstGeom prst="line">
            <a:avLst/>
          </a:prstGeom>
          <a:noFill/>
          <a:ln w="9525">
            <a:solidFill>
              <a:schemeClr val="tx1"/>
            </a:solidFill>
            <a:prstDash val="dash"/>
            <a:round/>
          </a:ln>
        </p:spPr>
        <p:txBody>
          <a:bodyPr/>
          <a:lstStyle/>
          <a:p>
            <a:endParaRPr lang="zh-CN" altLang="en-US"/>
          </a:p>
        </p:txBody>
      </p:sp>
      <p:sp>
        <p:nvSpPr>
          <p:cNvPr id="15378" name="Line 1039"/>
          <p:cNvSpPr>
            <a:spLocks noChangeShapeType="1"/>
          </p:cNvSpPr>
          <p:nvPr/>
        </p:nvSpPr>
        <p:spPr bwMode="auto">
          <a:xfrm>
            <a:off x="6888163" y="1755775"/>
            <a:ext cx="0" cy="99060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15362" name="Object 1024"/>
          <p:cNvGraphicFramePr>
            <a:graphicFrameLocks noChangeAspect="1"/>
          </p:cNvGraphicFramePr>
          <p:nvPr/>
        </p:nvGraphicFramePr>
        <p:xfrm>
          <a:off x="6815138" y="2744788"/>
          <a:ext cx="223837" cy="338137"/>
        </p:xfrm>
        <a:graphic>
          <a:graphicData uri="http://schemas.openxmlformats.org/presentationml/2006/ole">
            <mc:AlternateContent xmlns:mc="http://schemas.openxmlformats.org/markup-compatibility/2006">
              <mc:Choice xmlns:v="urn:schemas-microsoft-com:vml" Requires="v">
                <p:oleObj spid="_x0000_s15361" name="公式" r:id="rId2" imgW="6705600" imgH="10058400" progId="Equation.3">
                  <p:embed/>
                </p:oleObj>
              </mc:Choice>
              <mc:Fallback>
                <p:oleObj name="公式" r:id="rId2" imgW="6705600" imgH="10058400" progId="Equation.3">
                  <p:embed/>
                  <p:pic>
                    <p:nvPicPr>
                      <p:cNvPr id="0" name="Object 1024"/>
                      <p:cNvPicPr>
                        <a:picLocks noChangeAspect="1"/>
                      </p:cNvPicPr>
                      <p:nvPr/>
                    </p:nvPicPr>
                    <p:blipFill>
                      <a:blip r:embed="rId3"/>
                      <a:stretch>
                        <a:fillRect/>
                      </a:stretch>
                    </p:blipFill>
                    <p:spPr>
                      <a:xfrm>
                        <a:off x="6815138" y="2744788"/>
                        <a:ext cx="223837" cy="338137"/>
                      </a:xfrm>
                      <a:prstGeom prst="rect">
                        <a:avLst/>
                      </a:prstGeom>
                      <a:noFill/>
                      <a:ln w="9525">
                        <a:noFill/>
                      </a:ln>
                    </p:spPr>
                  </p:pic>
                </p:oleObj>
              </mc:Fallback>
            </mc:AlternateContent>
          </a:graphicData>
        </a:graphic>
      </p:graphicFrame>
      <p:sp>
        <p:nvSpPr>
          <p:cNvPr id="15379" name="Line 1041"/>
          <p:cNvSpPr>
            <a:spLocks noChangeShapeType="1"/>
          </p:cNvSpPr>
          <p:nvPr/>
        </p:nvSpPr>
        <p:spPr bwMode="auto">
          <a:xfrm>
            <a:off x="8183563" y="1755775"/>
            <a:ext cx="0" cy="99060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pSp>
        <p:nvGrpSpPr>
          <p:cNvPr id="15380" name="Group 1042"/>
          <p:cNvGrpSpPr/>
          <p:nvPr/>
        </p:nvGrpSpPr>
        <p:grpSpPr bwMode="auto">
          <a:xfrm>
            <a:off x="6888163" y="1755775"/>
            <a:ext cx="1295400" cy="0"/>
            <a:chOff x="4320" y="1920"/>
            <a:chExt cx="816" cy="0"/>
          </a:xfrm>
        </p:grpSpPr>
        <p:sp>
          <p:nvSpPr>
            <p:cNvPr id="15404" name="Line 1043"/>
            <p:cNvSpPr>
              <a:spLocks noChangeShapeType="1"/>
            </p:cNvSpPr>
            <p:nvPr/>
          </p:nvSpPr>
          <p:spPr bwMode="auto">
            <a:xfrm>
              <a:off x="4320" y="1920"/>
              <a:ext cx="816" cy="0"/>
            </a:xfrm>
            <a:prstGeom prst="line">
              <a:avLst/>
            </a:prstGeom>
            <a:noFill/>
            <a:ln w="38100" cap="sq">
              <a:solidFill>
                <a:srgbClr val="3333CC"/>
              </a:solidFill>
              <a:miter lim="800000"/>
              <a:headEnd type="none" w="sm" len="sm"/>
            </a:ln>
          </p:spPr>
          <p:txBody>
            <a:bodyPr wrap="none"/>
            <a:lstStyle/>
            <a:p>
              <a:endParaRPr lang="zh-CN" altLang="en-US"/>
            </a:p>
          </p:txBody>
        </p:sp>
        <p:sp>
          <p:nvSpPr>
            <p:cNvPr id="15405" name="Line 1044"/>
            <p:cNvSpPr>
              <a:spLocks noChangeShapeType="1"/>
            </p:cNvSpPr>
            <p:nvPr/>
          </p:nvSpPr>
          <p:spPr bwMode="auto">
            <a:xfrm>
              <a:off x="4560" y="1920"/>
              <a:ext cx="192" cy="0"/>
            </a:xfrm>
            <a:prstGeom prst="line">
              <a:avLst/>
            </a:prstGeom>
            <a:noFill/>
            <a:ln w="38100">
              <a:solidFill>
                <a:srgbClr val="3333CC"/>
              </a:solidFill>
              <a:round/>
              <a:tailEnd type="triangle" w="med" len="med"/>
            </a:ln>
          </p:spPr>
          <p:txBody>
            <a:bodyPr wrap="none"/>
            <a:lstStyle/>
            <a:p>
              <a:endParaRPr lang="zh-CN" altLang="en-US"/>
            </a:p>
          </p:txBody>
        </p:sp>
      </p:grpSp>
      <p:graphicFrame>
        <p:nvGraphicFramePr>
          <p:cNvPr id="15363" name="Object 1025"/>
          <p:cNvGraphicFramePr>
            <a:graphicFrameLocks noChangeAspect="1"/>
          </p:cNvGraphicFramePr>
          <p:nvPr/>
        </p:nvGraphicFramePr>
        <p:xfrm>
          <a:off x="8072438" y="2744788"/>
          <a:ext cx="254000" cy="338137"/>
        </p:xfrm>
        <a:graphic>
          <a:graphicData uri="http://schemas.openxmlformats.org/presentationml/2006/ole">
            <mc:AlternateContent xmlns:mc="http://schemas.openxmlformats.org/markup-compatibility/2006">
              <mc:Choice xmlns:v="urn:schemas-microsoft-com:vml" Requires="v">
                <p:oleObj spid="_x0000_s15363" name="公式" r:id="rId4" imgW="7620000" imgH="10058400" progId="Equation.3">
                  <p:embed/>
                </p:oleObj>
              </mc:Choice>
              <mc:Fallback>
                <p:oleObj name="公式" r:id="rId4" imgW="7620000" imgH="10058400" progId="Equation.3">
                  <p:embed/>
                  <p:pic>
                    <p:nvPicPr>
                      <p:cNvPr id="0" name="Object 1025"/>
                      <p:cNvPicPr>
                        <a:picLocks noChangeAspect="1"/>
                      </p:cNvPicPr>
                      <p:nvPr/>
                    </p:nvPicPr>
                    <p:blipFill>
                      <a:blip r:embed="rId5"/>
                      <a:stretch>
                        <a:fillRect/>
                      </a:stretch>
                    </p:blipFill>
                    <p:spPr>
                      <a:xfrm>
                        <a:off x="8072438" y="2744788"/>
                        <a:ext cx="254000" cy="338137"/>
                      </a:xfrm>
                      <a:prstGeom prst="rect">
                        <a:avLst/>
                      </a:prstGeom>
                      <a:noFill/>
                      <a:ln w="9525">
                        <a:noFill/>
                      </a:ln>
                    </p:spPr>
                  </p:pic>
                </p:oleObj>
              </mc:Fallback>
            </mc:AlternateContent>
          </a:graphicData>
        </a:graphic>
      </p:graphicFrame>
      <p:graphicFrame>
        <p:nvGraphicFramePr>
          <p:cNvPr id="15364" name="Object 1026"/>
          <p:cNvGraphicFramePr>
            <a:graphicFrameLocks noChangeAspect="1"/>
          </p:cNvGraphicFramePr>
          <p:nvPr/>
        </p:nvGraphicFramePr>
        <p:xfrm>
          <a:off x="6535738" y="1319213"/>
          <a:ext cx="266700" cy="419100"/>
        </p:xfrm>
        <a:graphic>
          <a:graphicData uri="http://schemas.openxmlformats.org/presentationml/2006/ole">
            <mc:AlternateContent xmlns:mc="http://schemas.openxmlformats.org/markup-compatibility/2006">
              <mc:Choice xmlns:v="urn:schemas-microsoft-com:vml" Requires="v">
                <p:oleObj spid="_x0000_s15364" name="公式" r:id="rId6" imgW="6400800" imgH="10058400" progId="Equation.3">
                  <p:embed/>
                </p:oleObj>
              </mc:Choice>
              <mc:Fallback>
                <p:oleObj name="公式" r:id="rId6" imgW="6400800" imgH="10058400" progId="Equation.3">
                  <p:embed/>
                  <p:pic>
                    <p:nvPicPr>
                      <p:cNvPr id="0" name="Object 1026"/>
                      <p:cNvPicPr>
                        <a:picLocks noChangeAspect="1"/>
                      </p:cNvPicPr>
                      <p:nvPr/>
                    </p:nvPicPr>
                    <p:blipFill>
                      <a:blip r:embed="rId7"/>
                      <a:stretch>
                        <a:fillRect/>
                      </a:stretch>
                    </p:blipFill>
                    <p:spPr>
                      <a:xfrm>
                        <a:off x="6535738" y="1319213"/>
                        <a:ext cx="266700" cy="419100"/>
                      </a:xfrm>
                      <a:prstGeom prst="rect">
                        <a:avLst/>
                      </a:prstGeom>
                      <a:noFill/>
                      <a:ln w="9525">
                        <a:noFill/>
                      </a:ln>
                    </p:spPr>
                  </p:pic>
                </p:oleObj>
              </mc:Fallback>
            </mc:AlternateContent>
          </a:graphicData>
        </a:graphic>
      </p:graphicFrame>
      <p:sp>
        <p:nvSpPr>
          <p:cNvPr id="15381" name="Text Box 1047"/>
          <p:cNvSpPr txBox="1">
            <a:spLocks noChangeArrowheads="1"/>
          </p:cNvSpPr>
          <p:nvPr/>
        </p:nvSpPr>
        <p:spPr bwMode="auto">
          <a:xfrm>
            <a:off x="6804025" y="1738313"/>
            <a:ext cx="719138" cy="396875"/>
          </a:xfrm>
          <a:prstGeom prst="rect">
            <a:avLst/>
          </a:prstGeom>
          <a:noFill/>
          <a:ln w="12700" cap="sq">
            <a:noFill/>
            <a:miter lim="800000"/>
            <a:headEnd type="none" w="sm" len="sm"/>
            <a:tailEnd type="none" w="sm" len="sm"/>
          </a:ln>
        </p:spPr>
        <p:txBody>
          <a:bodyPr>
            <a:spAutoFit/>
          </a:bodyPr>
          <a:lstStyle/>
          <a:p>
            <a:r>
              <a:rPr kumimoji="1" lang="en-US" altLang="zh-CN" sz="2000" i="1"/>
              <a:t>Ⅰ</a:t>
            </a:r>
            <a:endParaRPr kumimoji="1" lang="en-US" altLang="zh-CN" sz="2000" i="1"/>
          </a:p>
        </p:txBody>
      </p:sp>
      <p:sp>
        <p:nvSpPr>
          <p:cNvPr id="15382" name="Text Box 1048"/>
          <p:cNvSpPr txBox="1">
            <a:spLocks noChangeArrowheads="1"/>
          </p:cNvSpPr>
          <p:nvPr/>
        </p:nvSpPr>
        <p:spPr bwMode="auto">
          <a:xfrm>
            <a:off x="8172450" y="1701800"/>
            <a:ext cx="647700" cy="396875"/>
          </a:xfrm>
          <a:prstGeom prst="rect">
            <a:avLst/>
          </a:prstGeom>
          <a:noFill/>
          <a:ln w="12700" cap="sq">
            <a:noFill/>
            <a:miter lim="800000"/>
            <a:headEnd type="none" w="sm" len="sm"/>
            <a:tailEnd type="none" w="sm" len="sm"/>
          </a:ln>
        </p:spPr>
        <p:txBody>
          <a:bodyPr>
            <a:spAutoFit/>
          </a:bodyPr>
          <a:lstStyle/>
          <a:p>
            <a:r>
              <a:rPr kumimoji="1" lang="en-US" altLang="zh-CN" sz="2000" i="1"/>
              <a:t>Ⅱ</a:t>
            </a:r>
            <a:endParaRPr kumimoji="1" lang="en-US" altLang="zh-CN" sz="2000" i="1"/>
          </a:p>
        </p:txBody>
      </p:sp>
      <p:graphicFrame>
        <p:nvGraphicFramePr>
          <p:cNvPr id="15365" name="Object 1027"/>
          <p:cNvGraphicFramePr>
            <a:graphicFrameLocks noChangeAspect="1"/>
          </p:cNvGraphicFramePr>
          <p:nvPr/>
        </p:nvGraphicFramePr>
        <p:xfrm>
          <a:off x="8089900" y="1654175"/>
          <a:ext cx="193675" cy="192088"/>
        </p:xfrm>
        <a:graphic>
          <a:graphicData uri="http://schemas.openxmlformats.org/presentationml/2006/ole">
            <mc:AlternateContent xmlns:mc="http://schemas.openxmlformats.org/markup-compatibility/2006">
              <mc:Choice xmlns:v="urn:schemas-microsoft-com:vml" Requires="v">
                <p:oleObj spid="_x0000_s15365" name="公式" r:id="rId8" imgW="4572000" imgH="4572000" progId="Equation.3">
                  <p:embed/>
                </p:oleObj>
              </mc:Choice>
              <mc:Fallback>
                <p:oleObj name="公式" r:id="rId8" imgW="4572000" imgH="4572000" progId="Equation.3">
                  <p:embed/>
                  <p:pic>
                    <p:nvPicPr>
                      <p:cNvPr id="0" name="Object 1027"/>
                      <p:cNvPicPr>
                        <a:picLocks noChangeAspect="1"/>
                      </p:cNvPicPr>
                      <p:nvPr/>
                    </p:nvPicPr>
                    <p:blipFill>
                      <a:blip r:embed="rId9"/>
                      <a:stretch>
                        <a:fillRect/>
                      </a:stretch>
                    </p:blipFill>
                    <p:spPr>
                      <a:xfrm>
                        <a:off x="8089900" y="1654175"/>
                        <a:ext cx="193675" cy="192088"/>
                      </a:xfrm>
                      <a:prstGeom prst="rect">
                        <a:avLst/>
                      </a:prstGeom>
                      <a:noFill/>
                      <a:ln w="9525">
                        <a:noFill/>
                      </a:ln>
                    </p:spPr>
                  </p:pic>
                </p:oleObj>
              </mc:Fallback>
            </mc:AlternateContent>
          </a:graphicData>
        </a:graphic>
      </p:graphicFrame>
      <p:sp>
        <p:nvSpPr>
          <p:cNvPr id="15383" name="Text Box 1050"/>
          <p:cNvSpPr txBox="1">
            <a:spLocks noChangeArrowheads="1"/>
          </p:cNvSpPr>
          <p:nvPr/>
        </p:nvSpPr>
        <p:spPr bwMode="auto">
          <a:xfrm>
            <a:off x="5938838" y="1449388"/>
            <a:ext cx="438150" cy="457200"/>
          </a:xfrm>
          <a:prstGeom prst="rect">
            <a:avLst/>
          </a:prstGeom>
          <a:noFill/>
          <a:ln w="9525">
            <a:noFill/>
            <a:miter lim="800000"/>
          </a:ln>
        </p:spPr>
        <p:txBody>
          <a:bodyPr wrap="none">
            <a:spAutoFit/>
          </a:bodyPr>
          <a:lstStyle/>
          <a:p>
            <a:r>
              <a:rPr lang="en-US" altLang="zh-CN" i="1">
                <a:solidFill>
                  <a:srgbClr val="3333CC"/>
                </a:solidFill>
              </a:rPr>
              <a:t>p</a:t>
            </a:r>
            <a:r>
              <a:rPr lang="en-US" altLang="zh-CN" baseline="-25000">
                <a:solidFill>
                  <a:srgbClr val="3333CC"/>
                </a:solidFill>
              </a:rPr>
              <a:t>1</a:t>
            </a:r>
            <a:endParaRPr lang="en-US" altLang="zh-CN">
              <a:solidFill>
                <a:srgbClr val="3333CC"/>
              </a:solidFill>
            </a:endParaRPr>
          </a:p>
        </p:txBody>
      </p:sp>
      <p:grpSp>
        <p:nvGrpSpPr>
          <p:cNvPr id="15384" name="Group 1051"/>
          <p:cNvGrpSpPr>
            <a:grpSpLocks noChangeAspect="1"/>
          </p:cNvGrpSpPr>
          <p:nvPr/>
        </p:nvGrpSpPr>
        <p:grpSpPr bwMode="auto">
          <a:xfrm>
            <a:off x="6054725" y="441325"/>
            <a:ext cx="2909888" cy="2727325"/>
            <a:chOff x="3443" y="2160"/>
            <a:chExt cx="2035" cy="1908"/>
          </a:xfrm>
        </p:grpSpPr>
        <p:sp>
          <p:nvSpPr>
            <p:cNvPr id="15399" name="Line 1052"/>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15400" name="Line 1053"/>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15401" name="Text Box 1054"/>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i="1"/>
                <a:t>O</a:t>
              </a:r>
              <a:endParaRPr lang="en-US" altLang="zh-CN" i="1"/>
            </a:p>
          </p:txBody>
        </p:sp>
        <p:sp>
          <p:nvSpPr>
            <p:cNvPr id="15402" name="Text Box 1055"/>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i="1"/>
                <a:t>V</a:t>
              </a:r>
              <a:endParaRPr lang="en-US" altLang="zh-CN" i="1"/>
            </a:p>
          </p:txBody>
        </p:sp>
        <p:sp>
          <p:nvSpPr>
            <p:cNvPr id="15403" name="Text Box 1056"/>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i="1"/>
                <a:t>p</a:t>
              </a:r>
              <a:endParaRPr lang="en-US" altLang="zh-CN" i="1"/>
            </a:p>
          </p:txBody>
        </p:sp>
      </p:grpSp>
      <p:graphicFrame>
        <p:nvGraphicFramePr>
          <p:cNvPr id="15366" name="Object 1028"/>
          <p:cNvGraphicFramePr>
            <a:graphicFrameLocks noChangeAspect="1"/>
          </p:cNvGraphicFramePr>
          <p:nvPr/>
        </p:nvGraphicFramePr>
        <p:xfrm>
          <a:off x="6800850" y="1654175"/>
          <a:ext cx="193675" cy="192088"/>
        </p:xfrm>
        <a:graphic>
          <a:graphicData uri="http://schemas.openxmlformats.org/presentationml/2006/ole">
            <mc:AlternateContent xmlns:mc="http://schemas.openxmlformats.org/markup-compatibility/2006">
              <mc:Choice xmlns:v="urn:schemas-microsoft-com:vml" Requires="v">
                <p:oleObj spid="_x0000_s15366" name="公式" r:id="rId10" imgW="4572000" imgH="4572000" progId="Equation.3">
                  <p:embed/>
                </p:oleObj>
              </mc:Choice>
              <mc:Fallback>
                <p:oleObj name="公式" r:id="rId10" imgW="4572000" imgH="4572000" progId="Equation.3">
                  <p:embed/>
                  <p:pic>
                    <p:nvPicPr>
                      <p:cNvPr id="0" name="Object 1028"/>
                      <p:cNvPicPr>
                        <a:picLocks noChangeAspect="1"/>
                      </p:cNvPicPr>
                      <p:nvPr/>
                    </p:nvPicPr>
                    <p:blipFill>
                      <a:blip r:embed="rId9"/>
                      <a:stretch>
                        <a:fillRect/>
                      </a:stretch>
                    </p:blipFill>
                    <p:spPr>
                      <a:xfrm>
                        <a:off x="6800850" y="1654175"/>
                        <a:ext cx="193675" cy="192088"/>
                      </a:xfrm>
                      <a:prstGeom prst="rect">
                        <a:avLst/>
                      </a:prstGeom>
                      <a:noFill/>
                      <a:ln w="9525">
                        <a:noFill/>
                      </a:ln>
                    </p:spPr>
                  </p:pic>
                </p:oleObj>
              </mc:Fallback>
            </mc:AlternateContent>
          </a:graphicData>
        </a:graphic>
      </p:graphicFrame>
      <p:graphicFrame>
        <p:nvGraphicFramePr>
          <p:cNvPr id="15367" name="Object 1029"/>
          <p:cNvGraphicFramePr>
            <a:graphicFrameLocks noChangeAspect="1"/>
          </p:cNvGraphicFramePr>
          <p:nvPr/>
        </p:nvGraphicFramePr>
        <p:xfrm>
          <a:off x="6802438" y="730250"/>
          <a:ext cx="193675" cy="192088"/>
        </p:xfrm>
        <a:graphic>
          <a:graphicData uri="http://schemas.openxmlformats.org/presentationml/2006/ole">
            <mc:AlternateContent xmlns:mc="http://schemas.openxmlformats.org/markup-compatibility/2006">
              <mc:Choice xmlns:v="urn:schemas-microsoft-com:vml" Requires="v">
                <p:oleObj spid="_x0000_s15367" name="公式" r:id="rId11" imgW="4572000" imgH="4572000" progId="Equation.3">
                  <p:embed/>
                </p:oleObj>
              </mc:Choice>
              <mc:Fallback>
                <p:oleObj name="公式" r:id="rId11" imgW="4572000" imgH="4572000" progId="Equation.3">
                  <p:embed/>
                  <p:pic>
                    <p:nvPicPr>
                      <p:cNvPr id="0" name="Object 1029"/>
                      <p:cNvPicPr>
                        <a:picLocks noChangeAspect="1"/>
                      </p:cNvPicPr>
                      <p:nvPr/>
                    </p:nvPicPr>
                    <p:blipFill>
                      <a:blip r:embed="rId9"/>
                      <a:stretch>
                        <a:fillRect/>
                      </a:stretch>
                    </p:blipFill>
                    <p:spPr>
                      <a:xfrm>
                        <a:off x="6802438" y="730250"/>
                        <a:ext cx="193675" cy="192088"/>
                      </a:xfrm>
                      <a:prstGeom prst="rect">
                        <a:avLst/>
                      </a:prstGeom>
                      <a:noFill/>
                      <a:ln w="9525">
                        <a:noFill/>
                      </a:ln>
                    </p:spPr>
                  </p:pic>
                </p:oleObj>
              </mc:Fallback>
            </mc:AlternateContent>
          </a:graphicData>
        </a:graphic>
      </p:graphicFrame>
      <p:graphicFrame>
        <p:nvGraphicFramePr>
          <p:cNvPr id="15368" name="Object 1030"/>
          <p:cNvGraphicFramePr>
            <a:graphicFrameLocks noChangeAspect="1"/>
          </p:cNvGraphicFramePr>
          <p:nvPr/>
        </p:nvGraphicFramePr>
        <p:xfrm>
          <a:off x="7505700" y="946150"/>
          <a:ext cx="304800" cy="419100"/>
        </p:xfrm>
        <a:graphic>
          <a:graphicData uri="http://schemas.openxmlformats.org/presentationml/2006/ole">
            <mc:AlternateContent xmlns:mc="http://schemas.openxmlformats.org/markup-compatibility/2006">
              <mc:Choice xmlns:v="urn:schemas-microsoft-com:vml" Requires="v">
                <p:oleObj spid="_x0000_s15368" name="公式" r:id="rId12" imgW="7315200" imgH="10058400" progId="Equation.3">
                  <p:embed/>
                </p:oleObj>
              </mc:Choice>
              <mc:Fallback>
                <p:oleObj name="公式" r:id="rId12" imgW="7315200" imgH="10058400" progId="Equation.3">
                  <p:embed/>
                  <p:pic>
                    <p:nvPicPr>
                      <p:cNvPr id="0" name="Object 1030"/>
                      <p:cNvPicPr>
                        <a:picLocks noChangeAspect="1"/>
                      </p:cNvPicPr>
                      <p:nvPr/>
                    </p:nvPicPr>
                    <p:blipFill>
                      <a:blip r:embed="rId13"/>
                      <a:stretch>
                        <a:fillRect/>
                      </a:stretch>
                    </p:blipFill>
                    <p:spPr>
                      <a:xfrm>
                        <a:off x="7505700" y="946150"/>
                        <a:ext cx="304800" cy="419100"/>
                      </a:xfrm>
                      <a:prstGeom prst="rect">
                        <a:avLst/>
                      </a:prstGeom>
                      <a:noFill/>
                      <a:ln w="9525">
                        <a:noFill/>
                      </a:ln>
                    </p:spPr>
                  </p:pic>
                </p:oleObj>
              </mc:Fallback>
            </mc:AlternateContent>
          </a:graphicData>
        </a:graphic>
      </p:graphicFrame>
      <p:sp>
        <p:nvSpPr>
          <p:cNvPr id="15385" name="Text Box 1060"/>
          <p:cNvSpPr txBox="1">
            <a:spLocks noChangeArrowheads="1"/>
          </p:cNvSpPr>
          <p:nvPr/>
        </p:nvSpPr>
        <p:spPr bwMode="auto">
          <a:xfrm>
            <a:off x="6804025" y="404813"/>
            <a:ext cx="574675" cy="396875"/>
          </a:xfrm>
          <a:prstGeom prst="rect">
            <a:avLst/>
          </a:prstGeom>
          <a:noFill/>
          <a:ln w="12700" cap="sq">
            <a:noFill/>
            <a:miter lim="800000"/>
            <a:headEnd type="none" w="sm" len="sm"/>
            <a:tailEnd type="none" w="sm" len="sm"/>
          </a:ln>
        </p:spPr>
        <p:txBody>
          <a:bodyPr>
            <a:spAutoFit/>
          </a:bodyPr>
          <a:lstStyle/>
          <a:p>
            <a:r>
              <a:rPr kumimoji="1" lang="en-US" altLang="zh-CN" sz="2000" i="1"/>
              <a:t>Ⅰ</a:t>
            </a:r>
            <a:r>
              <a:rPr kumimoji="1" lang="en-US" altLang="zh-CN" sz="2000"/>
              <a:t>’</a:t>
            </a:r>
            <a:endParaRPr kumimoji="1" lang="en-US" altLang="zh-CN" sz="2000"/>
          </a:p>
        </p:txBody>
      </p:sp>
      <p:sp>
        <p:nvSpPr>
          <p:cNvPr id="43045" name="Text Box 1061"/>
          <p:cNvSpPr txBox="1">
            <a:spLocks noChangeArrowheads="1"/>
          </p:cNvSpPr>
          <p:nvPr/>
        </p:nvSpPr>
        <p:spPr bwMode="auto">
          <a:xfrm>
            <a:off x="785813" y="1116013"/>
            <a:ext cx="4167187" cy="457200"/>
          </a:xfrm>
          <a:prstGeom prst="rect">
            <a:avLst/>
          </a:prstGeom>
          <a:noFill/>
          <a:ln w="9525">
            <a:noFill/>
            <a:miter lim="800000"/>
          </a:ln>
        </p:spPr>
        <p:txBody>
          <a:bodyPr wrap="none">
            <a:spAutoFit/>
          </a:bodyPr>
          <a:lstStyle/>
          <a:p>
            <a:r>
              <a:rPr lang="zh-CN" altLang="en-US" b="1"/>
              <a:t>比较方法一和方法二的结果：</a:t>
            </a:r>
            <a:endParaRPr lang="zh-CN" altLang="en-US" b="1"/>
          </a:p>
        </p:txBody>
      </p:sp>
      <p:graphicFrame>
        <p:nvGraphicFramePr>
          <p:cNvPr id="175111" name="Object 1031"/>
          <p:cNvGraphicFramePr>
            <a:graphicFrameLocks noChangeAspect="1"/>
          </p:cNvGraphicFramePr>
          <p:nvPr/>
        </p:nvGraphicFramePr>
        <p:xfrm>
          <a:off x="792163" y="1666875"/>
          <a:ext cx="4143375" cy="884238"/>
        </p:xfrm>
        <a:graphic>
          <a:graphicData uri="http://schemas.openxmlformats.org/presentationml/2006/ole">
            <mc:AlternateContent xmlns:mc="http://schemas.openxmlformats.org/markup-compatibility/2006">
              <mc:Choice xmlns:v="urn:schemas-microsoft-com:vml" Requires="v">
                <p:oleObj spid="_x0000_s15369" name="公式" r:id="rId14" imgW="44196000" imgH="9448800" progId="Equation.3">
                  <p:embed/>
                </p:oleObj>
              </mc:Choice>
              <mc:Fallback>
                <p:oleObj name="公式" r:id="rId14" imgW="44196000" imgH="9448800" progId="Equation.3">
                  <p:embed/>
                  <p:pic>
                    <p:nvPicPr>
                      <p:cNvPr id="0" name="Object 1031"/>
                      <p:cNvPicPr>
                        <a:picLocks noChangeAspect="1"/>
                      </p:cNvPicPr>
                      <p:nvPr/>
                    </p:nvPicPr>
                    <p:blipFill>
                      <a:blip r:embed="rId15"/>
                      <a:stretch>
                        <a:fillRect/>
                      </a:stretch>
                    </p:blipFill>
                    <p:spPr>
                      <a:xfrm>
                        <a:off x="792163" y="1666875"/>
                        <a:ext cx="4143375" cy="884238"/>
                      </a:xfrm>
                      <a:prstGeom prst="rect">
                        <a:avLst/>
                      </a:prstGeom>
                      <a:noFill/>
                      <a:ln w="9525">
                        <a:noFill/>
                      </a:ln>
                    </p:spPr>
                  </p:pic>
                </p:oleObj>
              </mc:Fallback>
            </mc:AlternateContent>
          </a:graphicData>
        </a:graphic>
      </p:graphicFrame>
      <p:graphicFrame>
        <p:nvGraphicFramePr>
          <p:cNvPr id="175112" name="Object 1032"/>
          <p:cNvGraphicFramePr>
            <a:graphicFrameLocks noChangeAspect="1"/>
          </p:cNvGraphicFramePr>
          <p:nvPr/>
        </p:nvGraphicFramePr>
        <p:xfrm>
          <a:off x="900113" y="2781300"/>
          <a:ext cx="3455987" cy="911225"/>
        </p:xfrm>
        <a:graphic>
          <a:graphicData uri="http://schemas.openxmlformats.org/presentationml/2006/ole">
            <mc:AlternateContent xmlns:mc="http://schemas.openxmlformats.org/markup-compatibility/2006">
              <mc:Choice xmlns:v="urn:schemas-microsoft-com:vml" Requires="v">
                <p:oleObj spid="_x0000_s15370" name="公式" r:id="rId16" imgW="35966400" imgH="9448800" progId="Equation.3">
                  <p:embed/>
                </p:oleObj>
              </mc:Choice>
              <mc:Fallback>
                <p:oleObj name="公式" r:id="rId16" imgW="35966400" imgH="9448800" progId="Equation.3">
                  <p:embed/>
                  <p:pic>
                    <p:nvPicPr>
                      <p:cNvPr id="0" name="Object 1032"/>
                      <p:cNvPicPr>
                        <a:picLocks noChangeAspect="1"/>
                      </p:cNvPicPr>
                      <p:nvPr/>
                    </p:nvPicPr>
                    <p:blipFill>
                      <a:blip r:embed="rId17"/>
                      <a:stretch>
                        <a:fillRect/>
                      </a:stretch>
                    </p:blipFill>
                    <p:spPr>
                      <a:xfrm>
                        <a:off x="900113" y="2781300"/>
                        <a:ext cx="3455987" cy="911225"/>
                      </a:xfrm>
                      <a:prstGeom prst="rect">
                        <a:avLst/>
                      </a:prstGeom>
                      <a:noFill/>
                      <a:ln w="9525">
                        <a:noFill/>
                      </a:ln>
                    </p:spPr>
                  </p:pic>
                </p:oleObj>
              </mc:Fallback>
            </mc:AlternateContent>
          </a:graphicData>
        </a:graphic>
      </p:graphicFrame>
      <p:sp>
        <p:nvSpPr>
          <p:cNvPr id="43048" name="AutoShape 1064"/>
          <p:cNvSpPr/>
          <p:nvPr/>
        </p:nvSpPr>
        <p:spPr bwMode="auto">
          <a:xfrm>
            <a:off x="576263" y="2098675"/>
            <a:ext cx="144462" cy="1223963"/>
          </a:xfrm>
          <a:prstGeom prst="leftBrace">
            <a:avLst>
              <a:gd name="adj1" fmla="val 70605"/>
              <a:gd name="adj2" fmla="val 50000"/>
            </a:avLst>
          </a:prstGeom>
          <a:noFill/>
          <a:ln w="9525">
            <a:solidFill>
              <a:srgbClr val="3333CC"/>
            </a:solidFill>
            <a:round/>
          </a:ln>
        </p:spPr>
        <p:txBody>
          <a:bodyPr wrap="none" anchor="ctr"/>
          <a:lstStyle/>
          <a:p>
            <a:pPr algn="ctr"/>
            <a:endParaRPr lang="zh-CN" altLang="en-US"/>
          </a:p>
        </p:txBody>
      </p:sp>
      <p:sp>
        <p:nvSpPr>
          <p:cNvPr id="43049" name="AutoShape 1065"/>
          <p:cNvSpPr>
            <a:spLocks noChangeArrowheads="1"/>
          </p:cNvSpPr>
          <p:nvPr/>
        </p:nvSpPr>
        <p:spPr bwMode="auto">
          <a:xfrm>
            <a:off x="457200" y="4378325"/>
            <a:ext cx="720725" cy="144463"/>
          </a:xfrm>
          <a:prstGeom prst="rightArrow">
            <a:avLst>
              <a:gd name="adj1" fmla="val 50000"/>
              <a:gd name="adj2" fmla="val 124725"/>
            </a:avLst>
          </a:prstGeom>
          <a:solidFill>
            <a:schemeClr val="accent1"/>
          </a:solidFill>
          <a:ln w="9525">
            <a:solidFill>
              <a:schemeClr val="tx1"/>
            </a:solidFill>
            <a:miter lim="800000"/>
          </a:ln>
        </p:spPr>
        <p:txBody>
          <a:bodyPr wrap="none" anchor="ctr"/>
          <a:lstStyle/>
          <a:p>
            <a:pPr algn="ctr"/>
            <a:endParaRPr lang="zh-CN" altLang="en-US"/>
          </a:p>
        </p:txBody>
      </p:sp>
      <p:sp>
        <p:nvSpPr>
          <p:cNvPr id="43050" name="AutoShape 1066"/>
          <p:cNvSpPr>
            <a:spLocks noChangeArrowheads="1"/>
          </p:cNvSpPr>
          <p:nvPr/>
        </p:nvSpPr>
        <p:spPr bwMode="auto">
          <a:xfrm rot="1420913">
            <a:off x="3048000" y="2465388"/>
            <a:ext cx="106363" cy="533400"/>
          </a:xfrm>
          <a:prstGeom prst="upDownArrow">
            <a:avLst>
              <a:gd name="adj1" fmla="val 50000"/>
              <a:gd name="adj2" fmla="val 100298"/>
            </a:avLst>
          </a:prstGeom>
          <a:solidFill>
            <a:schemeClr val="accent1"/>
          </a:solidFill>
          <a:ln w="9525">
            <a:solidFill>
              <a:schemeClr val="tx1"/>
            </a:solidFill>
            <a:miter lim="800000"/>
          </a:ln>
        </p:spPr>
        <p:txBody>
          <a:bodyPr vert="eaVert" wrap="none" anchor="ctr"/>
          <a:lstStyle/>
          <a:p>
            <a:pPr algn="ctr"/>
            <a:endParaRPr lang="zh-CN" altLang="en-US"/>
          </a:p>
        </p:txBody>
      </p:sp>
      <p:sp>
        <p:nvSpPr>
          <p:cNvPr id="43051" name="Line 1067"/>
          <p:cNvSpPr>
            <a:spLocks noChangeShapeType="1"/>
          </p:cNvSpPr>
          <p:nvPr/>
        </p:nvSpPr>
        <p:spPr bwMode="auto">
          <a:xfrm>
            <a:off x="2590800" y="2312988"/>
            <a:ext cx="1079500" cy="0"/>
          </a:xfrm>
          <a:prstGeom prst="line">
            <a:avLst/>
          </a:prstGeom>
          <a:noFill/>
          <a:ln w="25400">
            <a:solidFill>
              <a:srgbClr val="FF0000"/>
            </a:solidFill>
            <a:round/>
          </a:ln>
        </p:spPr>
        <p:txBody>
          <a:bodyPr/>
          <a:lstStyle/>
          <a:p>
            <a:endParaRPr lang="zh-CN" altLang="en-US"/>
          </a:p>
        </p:txBody>
      </p:sp>
      <p:graphicFrame>
        <p:nvGraphicFramePr>
          <p:cNvPr id="175113" name="Object 1033"/>
          <p:cNvGraphicFramePr>
            <a:graphicFrameLocks noChangeAspect="1"/>
          </p:cNvGraphicFramePr>
          <p:nvPr/>
        </p:nvGraphicFramePr>
        <p:xfrm>
          <a:off x="1524000" y="4225925"/>
          <a:ext cx="1871663" cy="574675"/>
        </p:xfrm>
        <a:graphic>
          <a:graphicData uri="http://schemas.openxmlformats.org/presentationml/2006/ole">
            <mc:AlternateContent xmlns:mc="http://schemas.openxmlformats.org/markup-compatibility/2006">
              <mc:Choice xmlns:v="urn:schemas-microsoft-com:vml" Requires="v">
                <p:oleObj spid="_x0000_s15371" name="公式" r:id="rId18" imgW="18897600" imgH="5791200" progId="Equation.3">
                  <p:embed/>
                </p:oleObj>
              </mc:Choice>
              <mc:Fallback>
                <p:oleObj name="公式" r:id="rId18" imgW="18897600" imgH="5791200" progId="Equation.3">
                  <p:embed/>
                  <p:pic>
                    <p:nvPicPr>
                      <p:cNvPr id="0" name="Object 1033"/>
                      <p:cNvPicPr>
                        <a:picLocks noChangeAspect="1"/>
                      </p:cNvPicPr>
                      <p:nvPr/>
                    </p:nvPicPr>
                    <p:blipFill>
                      <a:blip r:embed="rId19"/>
                      <a:stretch>
                        <a:fillRect/>
                      </a:stretch>
                    </p:blipFill>
                    <p:spPr>
                      <a:xfrm>
                        <a:off x="1524000" y="4225925"/>
                        <a:ext cx="1871663" cy="574675"/>
                      </a:xfrm>
                      <a:prstGeom prst="rect">
                        <a:avLst/>
                      </a:prstGeom>
                      <a:noFill/>
                      <a:ln w="9525">
                        <a:noFill/>
                      </a:ln>
                    </p:spPr>
                  </p:pic>
                </p:oleObj>
              </mc:Fallback>
            </mc:AlternateContent>
          </a:graphicData>
        </a:graphic>
      </p:graphicFrame>
      <p:sp>
        <p:nvSpPr>
          <p:cNvPr id="43053" name="Text Box 1069"/>
          <p:cNvSpPr txBox="1">
            <a:spLocks noChangeArrowheads="1"/>
          </p:cNvSpPr>
          <p:nvPr/>
        </p:nvSpPr>
        <p:spPr bwMode="auto">
          <a:xfrm>
            <a:off x="3657600" y="4225925"/>
            <a:ext cx="2271713" cy="457200"/>
          </a:xfrm>
          <a:prstGeom prst="rect">
            <a:avLst/>
          </a:prstGeom>
          <a:noFill/>
          <a:ln w="9525">
            <a:noFill/>
            <a:miter lim="800000"/>
          </a:ln>
        </p:spPr>
        <p:txBody>
          <a:bodyPr wrap="none">
            <a:spAutoFit/>
          </a:bodyPr>
          <a:lstStyle/>
          <a:p>
            <a:r>
              <a:rPr lang="zh-CN" altLang="en-US" b="1"/>
              <a:t>（</a:t>
            </a:r>
            <a:r>
              <a:rPr lang="en-US" altLang="zh-CN" b="1">
                <a:solidFill>
                  <a:srgbClr val="FF0000"/>
                </a:solidFill>
              </a:rPr>
              <a:t>Mayer</a:t>
            </a:r>
            <a:r>
              <a:rPr lang="zh-CN" altLang="en-US" b="1">
                <a:solidFill>
                  <a:srgbClr val="FF0000"/>
                </a:solidFill>
              </a:rPr>
              <a:t>公式</a:t>
            </a:r>
            <a:r>
              <a:rPr lang="zh-CN" altLang="en-US" b="1"/>
              <a:t>）</a:t>
            </a:r>
            <a:endParaRPr lang="zh-CN" altLang="en-US" b="1"/>
          </a:p>
        </p:txBody>
      </p:sp>
      <p:sp>
        <p:nvSpPr>
          <p:cNvPr id="43054" name="AutoShape 1070"/>
          <p:cNvSpPr>
            <a:spLocks noChangeArrowheads="1"/>
          </p:cNvSpPr>
          <p:nvPr/>
        </p:nvSpPr>
        <p:spPr bwMode="auto">
          <a:xfrm>
            <a:off x="304800" y="105092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sp>
        <p:nvSpPr>
          <p:cNvPr id="43057" name="Line 1073"/>
          <p:cNvSpPr>
            <a:spLocks noChangeShapeType="1"/>
          </p:cNvSpPr>
          <p:nvPr/>
        </p:nvSpPr>
        <p:spPr bwMode="auto">
          <a:xfrm>
            <a:off x="2743200" y="3621088"/>
            <a:ext cx="304800" cy="0"/>
          </a:xfrm>
          <a:prstGeom prst="line">
            <a:avLst/>
          </a:prstGeom>
          <a:noFill/>
          <a:ln w="25400">
            <a:solidFill>
              <a:srgbClr val="FF0000"/>
            </a:solidFill>
            <a:round/>
          </a:ln>
        </p:spPr>
        <p:txBody>
          <a:bodyPr/>
          <a:lstStyle/>
          <a:p>
            <a:endParaRPr lang="zh-CN" altLang="en-US"/>
          </a:p>
        </p:txBody>
      </p:sp>
      <p:sp>
        <p:nvSpPr>
          <p:cNvPr id="43058" name="AutoShape 1074"/>
          <p:cNvSpPr>
            <a:spLocks noChangeArrowheads="1"/>
          </p:cNvSpPr>
          <p:nvPr/>
        </p:nvSpPr>
        <p:spPr bwMode="auto">
          <a:xfrm>
            <a:off x="3708400" y="3357563"/>
            <a:ext cx="1871663" cy="914400"/>
          </a:xfrm>
          <a:prstGeom prst="cloudCallout">
            <a:avLst>
              <a:gd name="adj1" fmla="val -80449"/>
              <a:gd name="adj2" fmla="val 39065"/>
            </a:avLst>
          </a:prstGeom>
          <a:solidFill>
            <a:srgbClr val="00FFFF"/>
          </a:solidFill>
          <a:ln w="19050" cap="sq">
            <a:solidFill>
              <a:srgbClr val="969696"/>
            </a:solidFill>
            <a:round/>
          </a:ln>
        </p:spPr>
        <p:txBody>
          <a:bodyPr anchor="ctr"/>
          <a:lstStyle/>
          <a:p>
            <a:pPr algn="ctr"/>
            <a:r>
              <a:rPr kumimoji="1" lang="zh-CN" altLang="en-US" sz="2000" b="1"/>
              <a:t>为什么？</a:t>
            </a:r>
            <a:endParaRPr kumimoji="1" lang="zh-CN" altLang="en-US" sz="2000" b="1"/>
          </a:p>
          <a:p>
            <a:pPr algn="ctr"/>
            <a:r>
              <a:rPr kumimoji="1" lang="en-US" altLang="zh-CN" sz="2000" b="1" i="1"/>
              <a:t>C</a:t>
            </a:r>
            <a:r>
              <a:rPr kumimoji="1" lang="en-US" altLang="zh-CN" sz="2000" b="1" i="1" baseline="-25000"/>
              <a:t>p </a:t>
            </a:r>
            <a:r>
              <a:rPr kumimoji="1" lang="en-US" altLang="zh-CN" sz="2000" b="1"/>
              <a:t>&gt;</a:t>
            </a:r>
            <a:r>
              <a:rPr kumimoji="1" lang="en-US" altLang="zh-CN" sz="2000" b="1" i="1"/>
              <a:t>C</a:t>
            </a:r>
            <a:r>
              <a:rPr kumimoji="1" lang="en-US" altLang="zh-CN" sz="2000" b="1" i="1" baseline="-25000"/>
              <a:t>V</a:t>
            </a:r>
            <a:endParaRPr kumimoji="1" lang="en-US" altLang="zh-CN" sz="2000" b="1" i="1" baseline="-25000"/>
          </a:p>
        </p:txBody>
      </p:sp>
      <p:grpSp>
        <p:nvGrpSpPr>
          <p:cNvPr id="7" name="Group 1080"/>
          <p:cNvGrpSpPr/>
          <p:nvPr/>
        </p:nvGrpSpPr>
        <p:grpSpPr bwMode="auto">
          <a:xfrm>
            <a:off x="611188" y="4868863"/>
            <a:ext cx="5832475" cy="576262"/>
            <a:chOff x="385" y="3067"/>
            <a:chExt cx="3674" cy="363"/>
          </a:xfrm>
        </p:grpSpPr>
        <p:sp>
          <p:nvSpPr>
            <p:cNvPr id="15398" name="Text Box 1075"/>
            <p:cNvSpPr txBox="1">
              <a:spLocks noChangeArrowheads="1"/>
            </p:cNvSpPr>
            <p:nvPr/>
          </p:nvSpPr>
          <p:spPr bwMode="auto">
            <a:xfrm>
              <a:off x="385" y="3067"/>
              <a:ext cx="3674" cy="317"/>
            </a:xfrm>
            <a:prstGeom prst="rect">
              <a:avLst/>
            </a:prstGeom>
            <a:noFill/>
            <a:ln w="9525">
              <a:noFill/>
              <a:miter lim="800000"/>
            </a:ln>
          </p:spPr>
          <p:txBody>
            <a:bodyPr>
              <a:spAutoFit/>
            </a:bodyPr>
            <a:lstStyle/>
            <a:p>
              <a:pPr>
                <a:lnSpc>
                  <a:spcPct val="120000"/>
                </a:lnSpc>
                <a:spcBef>
                  <a:spcPct val="50000"/>
                </a:spcBef>
              </a:pPr>
              <a:r>
                <a:rPr lang="en-US" altLang="zh-CN" b="1">
                  <a:latin typeface="Garamond" panose="02020404030301010803" pitchFamily="18" charset="0"/>
                </a:rPr>
                <a:t>        </a:t>
              </a:r>
              <a:r>
                <a:rPr lang="zh-CN" altLang="en-US" b="1">
                  <a:latin typeface="Garamond" panose="02020404030301010803" pitchFamily="18" charset="0"/>
                </a:rPr>
                <a:t>理想气体的     比      大一个常量</a:t>
              </a:r>
              <a:r>
                <a:rPr lang="en-US" altLang="zh-CN" b="1" i="1">
                  <a:solidFill>
                    <a:srgbClr val="0000FF"/>
                  </a:solidFill>
                  <a:latin typeface="Garamond" panose="02020404030301010803" pitchFamily="18" charset="0"/>
                </a:rPr>
                <a:t>R</a:t>
              </a:r>
              <a:r>
                <a:rPr lang="en-US" altLang="zh-CN" b="1" i="1">
                  <a:latin typeface="Garamond" panose="02020404030301010803" pitchFamily="18" charset="0"/>
                </a:rPr>
                <a:t> </a:t>
              </a:r>
              <a:r>
                <a:rPr lang="zh-CN" altLang="en-US" b="1">
                  <a:latin typeface="Garamond" panose="02020404030301010803" pitchFamily="18" charset="0"/>
                </a:rPr>
                <a:t>。</a:t>
              </a:r>
              <a:endParaRPr lang="zh-CN" altLang="en-US" b="1">
                <a:latin typeface="Garamond" panose="02020404030301010803" pitchFamily="18" charset="0"/>
              </a:endParaRPr>
            </a:p>
          </p:txBody>
        </p:sp>
        <p:graphicFrame>
          <p:nvGraphicFramePr>
            <p:cNvPr id="15372" name="Object 1034"/>
            <p:cNvGraphicFramePr>
              <a:graphicFrameLocks noChangeAspect="1"/>
            </p:cNvGraphicFramePr>
            <p:nvPr/>
          </p:nvGraphicFramePr>
          <p:xfrm>
            <a:off x="1791" y="3113"/>
            <a:ext cx="267" cy="317"/>
          </p:xfrm>
          <a:graphic>
            <a:graphicData uri="http://schemas.openxmlformats.org/presentationml/2006/ole">
              <mc:AlternateContent xmlns:mc="http://schemas.openxmlformats.org/markup-compatibility/2006">
                <mc:Choice xmlns:v="urn:schemas-microsoft-com:vml" Requires="v">
                  <p:oleObj spid="_x0000_s15372" name="公式" r:id="rId20" imgW="4876800" imgH="5791200" progId="Equation.3">
                    <p:embed/>
                  </p:oleObj>
                </mc:Choice>
                <mc:Fallback>
                  <p:oleObj name="公式" r:id="rId20" imgW="4876800" imgH="5791200" progId="Equation.3">
                    <p:embed/>
                    <p:pic>
                      <p:nvPicPr>
                        <p:cNvPr id="0" name="Object 1034"/>
                        <p:cNvPicPr>
                          <a:picLocks noChangeAspect="1"/>
                        </p:cNvPicPr>
                        <p:nvPr/>
                      </p:nvPicPr>
                      <p:blipFill>
                        <a:blip r:embed="rId21"/>
                        <a:stretch>
                          <a:fillRect/>
                        </a:stretch>
                      </p:blipFill>
                      <p:spPr>
                        <a:xfrm>
                          <a:off x="1791" y="3113"/>
                          <a:ext cx="267" cy="317"/>
                        </a:xfrm>
                        <a:prstGeom prst="rect">
                          <a:avLst/>
                        </a:prstGeom>
                        <a:noFill/>
                        <a:ln w="9525">
                          <a:noFill/>
                        </a:ln>
                      </p:spPr>
                    </p:pic>
                  </p:oleObj>
                </mc:Fallback>
              </mc:AlternateContent>
            </a:graphicData>
          </a:graphic>
        </p:graphicFrame>
        <p:graphicFrame>
          <p:nvGraphicFramePr>
            <p:cNvPr id="15373" name="Object 1035"/>
            <p:cNvGraphicFramePr>
              <a:graphicFrameLocks noChangeAspect="1"/>
            </p:cNvGraphicFramePr>
            <p:nvPr/>
          </p:nvGraphicFramePr>
          <p:xfrm>
            <a:off x="2245" y="3113"/>
            <a:ext cx="256" cy="272"/>
          </p:xfrm>
          <a:graphic>
            <a:graphicData uri="http://schemas.openxmlformats.org/presentationml/2006/ole">
              <mc:AlternateContent xmlns:mc="http://schemas.openxmlformats.org/markup-compatibility/2006">
                <mc:Choice xmlns:v="urn:schemas-microsoft-com:vml" Requires="v">
                  <p:oleObj spid="_x0000_s15373" name="公式" r:id="rId22" imgW="5181600" imgH="5486400" progId="Equation.3">
                    <p:embed/>
                  </p:oleObj>
                </mc:Choice>
                <mc:Fallback>
                  <p:oleObj name="公式" r:id="rId22" imgW="5181600" imgH="5486400" progId="Equation.3">
                    <p:embed/>
                    <p:pic>
                      <p:nvPicPr>
                        <p:cNvPr id="0" name="Object 1035"/>
                        <p:cNvPicPr>
                          <a:picLocks noChangeAspect="1"/>
                        </p:cNvPicPr>
                        <p:nvPr/>
                      </p:nvPicPr>
                      <p:blipFill>
                        <a:blip r:embed="rId23"/>
                        <a:stretch>
                          <a:fillRect/>
                        </a:stretch>
                      </p:blipFill>
                      <p:spPr>
                        <a:xfrm>
                          <a:off x="2245" y="3113"/>
                          <a:ext cx="256" cy="272"/>
                        </a:xfrm>
                        <a:prstGeom prst="rect">
                          <a:avLst/>
                        </a:prstGeom>
                        <a:noFill/>
                        <a:ln w="9525">
                          <a:noFill/>
                        </a:ln>
                      </p:spPr>
                    </p:pic>
                  </p:oleObj>
                </mc:Fallback>
              </mc:AlternateContent>
            </a:graphicData>
          </a:graphic>
        </p:graphicFrame>
      </p:grpSp>
      <p:sp>
        <p:nvSpPr>
          <p:cNvPr id="43062" name="Text Box 1078"/>
          <p:cNvSpPr txBox="1">
            <a:spLocks noChangeArrowheads="1"/>
          </p:cNvSpPr>
          <p:nvPr/>
        </p:nvSpPr>
        <p:spPr bwMode="auto">
          <a:xfrm>
            <a:off x="1187450" y="5445125"/>
            <a:ext cx="7705725" cy="968375"/>
          </a:xfrm>
          <a:prstGeom prst="rect">
            <a:avLst/>
          </a:prstGeom>
          <a:noFill/>
          <a:ln w="19050">
            <a:noFill/>
            <a:miter lim="800000"/>
          </a:ln>
        </p:spPr>
        <p:txBody>
          <a:bodyPr>
            <a:spAutoFit/>
          </a:bodyPr>
          <a:lstStyle/>
          <a:p>
            <a:pPr>
              <a:lnSpc>
                <a:spcPct val="120000"/>
              </a:lnSpc>
              <a:spcBef>
                <a:spcPct val="50000"/>
              </a:spcBef>
            </a:pPr>
            <a:r>
              <a:rPr lang="en-US" altLang="zh-CN" b="1">
                <a:solidFill>
                  <a:srgbClr val="0000FF"/>
                </a:solidFill>
              </a:rPr>
              <a:t>1mol</a:t>
            </a:r>
            <a:r>
              <a:rPr lang="en-US" altLang="zh-CN" b="1">
                <a:solidFill>
                  <a:srgbClr val="0000FF"/>
                </a:solidFill>
                <a:latin typeface="宋体" panose="02010600030101010101" pitchFamily="2" charset="-122"/>
              </a:rPr>
              <a:t> </a:t>
            </a:r>
            <a:r>
              <a:rPr lang="zh-CN" altLang="en-US" b="1">
                <a:solidFill>
                  <a:srgbClr val="0000FF"/>
                </a:solidFill>
                <a:latin typeface="宋体" panose="02010600030101010101" pitchFamily="2" charset="-122"/>
              </a:rPr>
              <a:t>理想气体温度升高</a:t>
            </a:r>
            <a:r>
              <a:rPr lang="en-US" altLang="zh-CN" b="1">
                <a:solidFill>
                  <a:srgbClr val="0000FF"/>
                </a:solidFill>
              </a:rPr>
              <a:t>1K</a:t>
            </a:r>
            <a:r>
              <a:rPr lang="zh-CN" altLang="en-US" b="1">
                <a:solidFill>
                  <a:srgbClr val="0000FF"/>
                </a:solidFill>
                <a:latin typeface="宋体" panose="02010600030101010101" pitchFamily="2" charset="-122"/>
              </a:rPr>
              <a:t>时，等压过程要比等体过程多吸收</a:t>
            </a:r>
            <a:r>
              <a:rPr lang="en-US" altLang="zh-CN" b="1">
                <a:solidFill>
                  <a:srgbClr val="0000FF"/>
                </a:solidFill>
              </a:rPr>
              <a:t>8.31J</a:t>
            </a:r>
            <a:r>
              <a:rPr lang="zh-CN" altLang="en-US" b="1">
                <a:solidFill>
                  <a:srgbClr val="0000FF"/>
                </a:solidFill>
                <a:latin typeface="宋体" panose="02010600030101010101" pitchFamily="2" charset="-122"/>
              </a:rPr>
              <a:t>的热量，用于对外作功。</a:t>
            </a:r>
            <a:endParaRPr lang="zh-CN" altLang="en-US" b="1">
              <a:solidFill>
                <a:srgbClr val="0000FF"/>
              </a:solidFill>
              <a:latin typeface="宋体" panose="02010600030101010101" pitchFamily="2" charset="-122"/>
            </a:endParaRPr>
          </a:p>
        </p:txBody>
      </p:sp>
      <p:sp>
        <p:nvSpPr>
          <p:cNvPr id="43063" name="Rectangle 1079"/>
          <p:cNvSpPr>
            <a:spLocks noChangeArrowheads="1"/>
          </p:cNvSpPr>
          <p:nvPr/>
        </p:nvSpPr>
        <p:spPr bwMode="auto">
          <a:xfrm>
            <a:off x="315913" y="5484813"/>
            <a:ext cx="1103312" cy="457200"/>
          </a:xfrm>
          <a:prstGeom prst="rect">
            <a:avLst/>
          </a:prstGeom>
          <a:noFill/>
          <a:ln w="19050">
            <a:noFill/>
            <a:miter lim="800000"/>
          </a:ln>
        </p:spPr>
        <p:txBody>
          <a:bodyPr wrap="none">
            <a:spAutoFit/>
          </a:bodyPr>
          <a:lstStyle/>
          <a:p>
            <a:pPr algn="ctr"/>
            <a:r>
              <a:rPr lang="zh-CN" altLang="en-US" b="1">
                <a:solidFill>
                  <a:srgbClr val="FF0000"/>
                </a:solidFill>
              </a:rPr>
              <a:t>因为：</a:t>
            </a:r>
            <a:endParaRPr lang="zh-CN" altLang="en-US"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43054"/>
                                        </p:tgtEl>
                                        <p:attrNameLst>
                                          <p:attrName>style.visibility</p:attrName>
                                        </p:attrNameLst>
                                      </p:cBhvr>
                                      <p:to>
                                        <p:strVal val="visible"/>
                                      </p:to>
                                    </p:set>
                                    <p:anim calcmode="lin" valueType="num">
                                      <p:cBhvr>
                                        <p:cTn id="7" dur="500" fill="hold"/>
                                        <p:tgtEl>
                                          <p:spTgt spid="43054"/>
                                        </p:tgtEl>
                                        <p:attrNameLst>
                                          <p:attrName>ppt_w</p:attrName>
                                        </p:attrNameLst>
                                      </p:cBhvr>
                                      <p:tavLst>
                                        <p:tav tm="0">
                                          <p:val>
                                            <p:strVal val="4*#ppt_w"/>
                                          </p:val>
                                        </p:tav>
                                        <p:tav tm="100000">
                                          <p:val>
                                            <p:strVal val="#ppt_w"/>
                                          </p:val>
                                        </p:tav>
                                      </p:tavLst>
                                    </p:anim>
                                    <p:anim calcmode="lin" valueType="num">
                                      <p:cBhvr>
                                        <p:cTn id="8" dur="500" fill="hold"/>
                                        <p:tgtEl>
                                          <p:spTgt spid="43054"/>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43045"/>
                                        </p:tgtEl>
                                        <p:attrNameLst>
                                          <p:attrName>style.visibility</p:attrName>
                                        </p:attrNameLst>
                                      </p:cBhvr>
                                      <p:to>
                                        <p:strVal val="visible"/>
                                      </p:to>
                                    </p:set>
                                    <p:animEffect transition="in" filter="wipe(left)">
                                      <p:cBhvr>
                                        <p:cTn id="12" dur="500"/>
                                        <p:tgtEl>
                                          <p:spTgt spid="430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5111"/>
                                        </p:tgtEl>
                                        <p:attrNameLst>
                                          <p:attrName>style.visibility</p:attrName>
                                        </p:attrNameLst>
                                      </p:cBhvr>
                                      <p:to>
                                        <p:strVal val="visible"/>
                                      </p:to>
                                    </p:set>
                                    <p:animEffect transition="in" filter="wipe(left)">
                                      <p:cBhvr>
                                        <p:cTn id="17" dur="500"/>
                                        <p:tgtEl>
                                          <p:spTgt spid="175111"/>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75112"/>
                                        </p:tgtEl>
                                        <p:attrNameLst>
                                          <p:attrName>style.visibility</p:attrName>
                                        </p:attrNameLst>
                                      </p:cBhvr>
                                      <p:to>
                                        <p:strVal val="visible"/>
                                      </p:to>
                                    </p:set>
                                    <p:animEffect transition="in" filter="wipe(left)">
                                      <p:cBhvr>
                                        <p:cTn id="21" dur="500"/>
                                        <p:tgtEl>
                                          <p:spTgt spid="175112"/>
                                        </p:tgtEl>
                                      </p:cBhvr>
                                    </p:animEffect>
                                  </p:childTnLst>
                                </p:cTn>
                              </p:par>
                            </p:childTnLst>
                          </p:cTn>
                        </p:par>
                        <p:par>
                          <p:cTn id="22" fill="hold">
                            <p:stCondLst>
                              <p:cond delay="1000"/>
                            </p:stCondLst>
                            <p:childTnLst>
                              <p:par>
                                <p:cTn id="23" presetID="3" presetClass="entr" presetSubtype="10" fill="hold" grpId="0" nodeType="afterEffect">
                                  <p:stCondLst>
                                    <p:cond delay="0"/>
                                  </p:stCondLst>
                                  <p:childTnLst>
                                    <p:set>
                                      <p:cBhvr>
                                        <p:cTn id="24" dur="1" fill="hold">
                                          <p:stCondLst>
                                            <p:cond delay="0"/>
                                          </p:stCondLst>
                                        </p:cTn>
                                        <p:tgtEl>
                                          <p:spTgt spid="43048"/>
                                        </p:tgtEl>
                                        <p:attrNameLst>
                                          <p:attrName>style.visibility</p:attrName>
                                        </p:attrNameLst>
                                      </p:cBhvr>
                                      <p:to>
                                        <p:strVal val="visible"/>
                                      </p:to>
                                    </p:set>
                                    <p:animEffect transition="in" filter="blinds(horizontal)">
                                      <p:cBhvr>
                                        <p:cTn id="25" dur="500"/>
                                        <p:tgtEl>
                                          <p:spTgt spid="4304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3051"/>
                                        </p:tgtEl>
                                        <p:attrNameLst>
                                          <p:attrName>style.visibility</p:attrName>
                                        </p:attrNameLst>
                                      </p:cBhvr>
                                      <p:to>
                                        <p:strVal val="visible"/>
                                      </p:to>
                                    </p:set>
                                    <p:animEffect transition="in" filter="wipe(left)">
                                      <p:cBhvr>
                                        <p:cTn id="30" dur="500"/>
                                        <p:tgtEl>
                                          <p:spTgt spid="4305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3057"/>
                                        </p:tgtEl>
                                        <p:attrNameLst>
                                          <p:attrName>style.visibility</p:attrName>
                                        </p:attrNameLst>
                                      </p:cBhvr>
                                      <p:to>
                                        <p:strVal val="visible"/>
                                      </p:to>
                                    </p:set>
                                    <p:animEffect transition="in" filter="wipe(left)">
                                      <p:cBhvr>
                                        <p:cTn id="35" dur="500"/>
                                        <p:tgtEl>
                                          <p:spTgt spid="43057"/>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43050"/>
                                        </p:tgtEl>
                                        <p:attrNameLst>
                                          <p:attrName>style.visibility</p:attrName>
                                        </p:attrNameLst>
                                      </p:cBhvr>
                                      <p:to>
                                        <p:strVal val="visible"/>
                                      </p:to>
                                    </p:set>
                                    <p:animEffect transition="in" filter="wipe(up)">
                                      <p:cBhvr>
                                        <p:cTn id="39" dur="500"/>
                                        <p:tgtEl>
                                          <p:spTgt spid="4305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3049"/>
                                        </p:tgtEl>
                                        <p:attrNameLst>
                                          <p:attrName>style.visibility</p:attrName>
                                        </p:attrNameLst>
                                      </p:cBhvr>
                                      <p:to>
                                        <p:strVal val="visible"/>
                                      </p:to>
                                    </p:set>
                                    <p:animEffect transition="in" filter="wipe(left)">
                                      <p:cBhvr>
                                        <p:cTn id="44" dur="500"/>
                                        <p:tgtEl>
                                          <p:spTgt spid="43049"/>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175113"/>
                                        </p:tgtEl>
                                        <p:attrNameLst>
                                          <p:attrName>style.visibility</p:attrName>
                                        </p:attrNameLst>
                                      </p:cBhvr>
                                      <p:to>
                                        <p:strVal val="visible"/>
                                      </p:to>
                                    </p:set>
                                    <p:animEffect transition="in" filter="wipe(left)">
                                      <p:cBhvr>
                                        <p:cTn id="48" dur="500"/>
                                        <p:tgtEl>
                                          <p:spTgt spid="175113"/>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43053"/>
                                        </p:tgtEl>
                                        <p:attrNameLst>
                                          <p:attrName>style.visibility</p:attrName>
                                        </p:attrNameLst>
                                      </p:cBhvr>
                                      <p:to>
                                        <p:strVal val="visible"/>
                                      </p:to>
                                    </p:set>
                                    <p:animEffect transition="in" filter="wipe(left)">
                                      <p:cBhvr>
                                        <p:cTn id="52" dur="500"/>
                                        <p:tgtEl>
                                          <p:spTgt spid="43053"/>
                                        </p:tgtEl>
                                      </p:cBhvr>
                                    </p:animEffect>
                                  </p:childTnLst>
                                </p:cTn>
                              </p:par>
                              <p:par>
                                <p:cTn id="53" presetID="9" presetClass="entr" presetSubtype="0" fill="hold" nodeType="with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dissolve">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3058"/>
                                        </p:tgtEl>
                                        <p:attrNameLst>
                                          <p:attrName>style.visibility</p:attrName>
                                        </p:attrNameLst>
                                      </p:cBhvr>
                                      <p:to>
                                        <p:strVal val="visible"/>
                                      </p:to>
                                    </p:set>
                                    <p:animEffect transition="in" filter="wipe(left)">
                                      <p:cBhvr>
                                        <p:cTn id="60" dur="500"/>
                                        <p:tgtEl>
                                          <p:spTgt spid="4305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wipe(left)">
                                      <p:cBhvr>
                                        <p:cTn id="65" dur="500"/>
                                        <p:tgtEl>
                                          <p:spTgt spid="7"/>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43063"/>
                                        </p:tgtEl>
                                        <p:attrNameLst>
                                          <p:attrName>style.visibility</p:attrName>
                                        </p:attrNameLst>
                                      </p:cBhvr>
                                      <p:to>
                                        <p:strVal val="visible"/>
                                      </p:to>
                                    </p:set>
                                    <p:animEffect transition="in" filter="wipe(left)">
                                      <p:cBhvr>
                                        <p:cTn id="69" dur="500"/>
                                        <p:tgtEl>
                                          <p:spTgt spid="4306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43062"/>
                                        </p:tgtEl>
                                        <p:attrNameLst>
                                          <p:attrName>style.visibility</p:attrName>
                                        </p:attrNameLst>
                                      </p:cBhvr>
                                      <p:to>
                                        <p:strVal val="visible"/>
                                      </p:to>
                                    </p:set>
                                    <p:animEffect transition="in" filter="wipe(left)">
                                      <p:cBhvr>
                                        <p:cTn id="74" dur="500"/>
                                        <p:tgtEl>
                                          <p:spTgt spid="43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45" grpId="0" autoUpdateAnimBg="0"/>
      <p:bldP spid="43048" grpId="0" animBg="1"/>
      <p:bldP spid="43049" grpId="0" animBg="1"/>
      <p:bldP spid="43050" grpId="0" animBg="1"/>
      <p:bldP spid="43051" grpId="0" animBg="1"/>
      <p:bldP spid="43053" grpId="0" autoUpdateAnimBg="0"/>
      <p:bldP spid="43054" grpId="0" animBg="1"/>
      <p:bldP spid="43057" grpId="0" animBg="1"/>
      <p:bldP spid="43058" grpId="0" animBg="1" autoUpdateAnimBg="0"/>
      <p:bldP spid="43062" grpId="0"/>
      <p:bldP spid="4306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4" name="Line 54"/>
          <p:cNvSpPr>
            <a:spLocks noChangeShapeType="1"/>
          </p:cNvSpPr>
          <p:nvPr/>
        </p:nvSpPr>
        <p:spPr bwMode="auto">
          <a:xfrm flipH="1">
            <a:off x="6288088" y="2540000"/>
            <a:ext cx="1727200" cy="0"/>
          </a:xfrm>
          <a:prstGeom prst="line">
            <a:avLst/>
          </a:prstGeom>
          <a:noFill/>
          <a:ln w="9525">
            <a:solidFill>
              <a:schemeClr val="tx1"/>
            </a:solidFill>
            <a:prstDash val="dash"/>
            <a:round/>
          </a:ln>
        </p:spPr>
        <p:txBody>
          <a:bodyPr/>
          <a:lstStyle/>
          <a:p>
            <a:endParaRPr lang="zh-CN" altLang="en-US"/>
          </a:p>
        </p:txBody>
      </p:sp>
      <p:grpSp>
        <p:nvGrpSpPr>
          <p:cNvPr id="2" name="Group 51"/>
          <p:cNvGrpSpPr/>
          <p:nvPr/>
        </p:nvGrpSpPr>
        <p:grpSpPr bwMode="auto">
          <a:xfrm>
            <a:off x="6732588" y="1617663"/>
            <a:ext cx="1295400" cy="936625"/>
            <a:chOff x="4241" y="1019"/>
            <a:chExt cx="816" cy="590"/>
          </a:xfrm>
        </p:grpSpPr>
        <p:sp>
          <p:nvSpPr>
            <p:cNvPr id="16423" name="Freeform 24"/>
            <p:cNvSpPr/>
            <p:nvPr/>
          </p:nvSpPr>
          <p:spPr bwMode="auto">
            <a:xfrm>
              <a:off x="4241" y="1019"/>
              <a:ext cx="816" cy="590"/>
            </a:xfrm>
            <a:custGeom>
              <a:avLst/>
              <a:gdLst>
                <a:gd name="T0" fmla="*/ 0 w 816"/>
                <a:gd name="T1" fmla="*/ 0 h 590"/>
                <a:gd name="T2" fmla="*/ 363 w 816"/>
                <a:gd name="T3" fmla="*/ 408 h 590"/>
                <a:gd name="T4" fmla="*/ 816 w 816"/>
                <a:gd name="T5" fmla="*/ 590 h 590"/>
                <a:gd name="T6" fmla="*/ 0 60000 65536"/>
                <a:gd name="T7" fmla="*/ 0 60000 65536"/>
                <a:gd name="T8" fmla="*/ 0 60000 65536"/>
                <a:gd name="T9" fmla="*/ 0 w 816"/>
                <a:gd name="T10" fmla="*/ 0 h 590"/>
                <a:gd name="T11" fmla="*/ 816 w 816"/>
                <a:gd name="T12" fmla="*/ 590 h 590"/>
              </a:gdLst>
              <a:ahLst/>
              <a:cxnLst>
                <a:cxn ang="T6">
                  <a:pos x="T0" y="T1"/>
                </a:cxn>
                <a:cxn ang="T7">
                  <a:pos x="T2" y="T3"/>
                </a:cxn>
                <a:cxn ang="T8">
                  <a:pos x="T4" y="T5"/>
                </a:cxn>
              </a:cxnLst>
              <a:rect l="T9" t="T10" r="T11" b="T12"/>
              <a:pathLst>
                <a:path w="816" h="590">
                  <a:moveTo>
                    <a:pt x="0" y="0"/>
                  </a:moveTo>
                  <a:cubicBezTo>
                    <a:pt x="113" y="155"/>
                    <a:pt x="227" y="310"/>
                    <a:pt x="363" y="408"/>
                  </a:cubicBezTo>
                  <a:cubicBezTo>
                    <a:pt x="499" y="506"/>
                    <a:pt x="657" y="548"/>
                    <a:pt x="816" y="590"/>
                  </a:cubicBezTo>
                </a:path>
              </a:pathLst>
            </a:custGeom>
            <a:noFill/>
            <a:ln w="38100">
              <a:solidFill>
                <a:srgbClr val="3333CC"/>
              </a:solidFill>
              <a:prstDash val="dash"/>
              <a:round/>
            </a:ln>
          </p:spPr>
          <p:txBody>
            <a:bodyPr/>
            <a:lstStyle/>
            <a:p>
              <a:pPr algn="ctr"/>
              <a:endParaRPr lang="zh-CN" altLang="en-US"/>
            </a:p>
          </p:txBody>
        </p:sp>
        <p:sp>
          <p:nvSpPr>
            <p:cNvPr id="16424" name="Line 25"/>
            <p:cNvSpPr>
              <a:spLocks noChangeShapeType="1"/>
            </p:cNvSpPr>
            <p:nvPr/>
          </p:nvSpPr>
          <p:spPr bwMode="auto">
            <a:xfrm>
              <a:off x="4459" y="1291"/>
              <a:ext cx="90" cy="91"/>
            </a:xfrm>
            <a:prstGeom prst="line">
              <a:avLst/>
            </a:prstGeom>
            <a:noFill/>
            <a:ln w="38100">
              <a:solidFill>
                <a:srgbClr val="3333CC"/>
              </a:solidFill>
              <a:round/>
              <a:tailEnd type="triangle" w="med" len="med"/>
            </a:ln>
          </p:spPr>
          <p:txBody>
            <a:bodyPr/>
            <a:lstStyle/>
            <a:p>
              <a:endParaRPr lang="zh-CN" altLang="en-US"/>
            </a:p>
          </p:txBody>
        </p:sp>
      </p:grpSp>
      <p:grpSp>
        <p:nvGrpSpPr>
          <p:cNvPr id="3" name="Group 50"/>
          <p:cNvGrpSpPr/>
          <p:nvPr/>
        </p:nvGrpSpPr>
        <p:grpSpPr bwMode="auto">
          <a:xfrm>
            <a:off x="6732588" y="1700213"/>
            <a:ext cx="0" cy="1233487"/>
            <a:chOff x="4241" y="1071"/>
            <a:chExt cx="0" cy="777"/>
          </a:xfrm>
        </p:grpSpPr>
        <p:sp>
          <p:nvSpPr>
            <p:cNvPr id="16421" name="Line 26"/>
            <p:cNvSpPr>
              <a:spLocks noChangeShapeType="1"/>
            </p:cNvSpPr>
            <p:nvPr/>
          </p:nvSpPr>
          <p:spPr bwMode="auto">
            <a:xfrm flipV="1">
              <a:off x="4241" y="1517"/>
              <a:ext cx="0" cy="331"/>
            </a:xfrm>
            <a:prstGeom prst="line">
              <a:avLst/>
            </a:prstGeom>
            <a:noFill/>
            <a:ln w="38100">
              <a:solidFill>
                <a:srgbClr val="3333CC"/>
              </a:solidFill>
              <a:prstDash val="dash"/>
              <a:round/>
              <a:tailEnd type="triangle" w="med" len="med"/>
            </a:ln>
          </p:spPr>
          <p:txBody>
            <a:bodyPr/>
            <a:lstStyle/>
            <a:p>
              <a:endParaRPr lang="zh-CN" altLang="en-US"/>
            </a:p>
          </p:txBody>
        </p:sp>
        <p:sp>
          <p:nvSpPr>
            <p:cNvPr id="16422" name="Line 27"/>
            <p:cNvSpPr>
              <a:spLocks noChangeShapeType="1"/>
            </p:cNvSpPr>
            <p:nvPr/>
          </p:nvSpPr>
          <p:spPr bwMode="auto">
            <a:xfrm flipV="1">
              <a:off x="4241" y="1071"/>
              <a:ext cx="0" cy="583"/>
            </a:xfrm>
            <a:prstGeom prst="line">
              <a:avLst/>
            </a:prstGeom>
            <a:noFill/>
            <a:ln w="38100">
              <a:solidFill>
                <a:srgbClr val="3333CC"/>
              </a:solidFill>
              <a:prstDash val="dash"/>
              <a:round/>
            </a:ln>
          </p:spPr>
          <p:txBody>
            <a:bodyPr/>
            <a:lstStyle/>
            <a:p>
              <a:endParaRPr lang="zh-CN" altLang="en-US"/>
            </a:p>
          </p:txBody>
        </p:sp>
      </p:grpSp>
      <p:grpSp>
        <p:nvGrpSpPr>
          <p:cNvPr id="4" name="Group 49"/>
          <p:cNvGrpSpPr/>
          <p:nvPr/>
        </p:nvGrpSpPr>
        <p:grpSpPr bwMode="auto">
          <a:xfrm>
            <a:off x="6732588" y="2522538"/>
            <a:ext cx="1295400" cy="546100"/>
            <a:chOff x="4241" y="1470"/>
            <a:chExt cx="816" cy="344"/>
          </a:xfrm>
        </p:grpSpPr>
        <p:sp>
          <p:nvSpPr>
            <p:cNvPr id="16419" name="Freeform 46"/>
            <p:cNvSpPr/>
            <p:nvPr/>
          </p:nvSpPr>
          <p:spPr bwMode="auto">
            <a:xfrm>
              <a:off x="4241" y="1470"/>
              <a:ext cx="816" cy="344"/>
            </a:xfrm>
            <a:custGeom>
              <a:avLst/>
              <a:gdLst>
                <a:gd name="T0" fmla="*/ 0 w 816"/>
                <a:gd name="T1" fmla="*/ 291 h 344"/>
                <a:gd name="T2" fmla="*/ 358 w 816"/>
                <a:gd name="T3" fmla="*/ 304 h 344"/>
                <a:gd name="T4" fmla="*/ 568 w 816"/>
                <a:gd name="T5" fmla="*/ 48 h 344"/>
                <a:gd name="T6" fmla="*/ 816 w 816"/>
                <a:gd name="T7" fmla="*/ 19 h 344"/>
                <a:gd name="T8" fmla="*/ 0 60000 65536"/>
                <a:gd name="T9" fmla="*/ 0 60000 65536"/>
                <a:gd name="T10" fmla="*/ 0 60000 65536"/>
                <a:gd name="T11" fmla="*/ 0 60000 65536"/>
                <a:gd name="T12" fmla="*/ 0 w 816"/>
                <a:gd name="T13" fmla="*/ 0 h 344"/>
                <a:gd name="T14" fmla="*/ 816 w 816"/>
                <a:gd name="T15" fmla="*/ 344 h 344"/>
              </a:gdLst>
              <a:ahLst/>
              <a:cxnLst>
                <a:cxn ang="T8">
                  <a:pos x="T0" y="T1"/>
                </a:cxn>
                <a:cxn ang="T9">
                  <a:pos x="T2" y="T3"/>
                </a:cxn>
                <a:cxn ang="T10">
                  <a:pos x="T4" y="T5"/>
                </a:cxn>
                <a:cxn ang="T11">
                  <a:pos x="T6" y="T7"/>
                </a:cxn>
              </a:cxnLst>
              <a:rect l="T12" t="T13" r="T14" b="T15"/>
              <a:pathLst>
                <a:path w="816" h="344">
                  <a:moveTo>
                    <a:pt x="0" y="291"/>
                  </a:moveTo>
                  <a:cubicBezTo>
                    <a:pt x="60" y="293"/>
                    <a:pt x="263" y="344"/>
                    <a:pt x="358" y="304"/>
                  </a:cubicBezTo>
                  <a:cubicBezTo>
                    <a:pt x="453" y="264"/>
                    <a:pt x="492" y="96"/>
                    <a:pt x="568" y="48"/>
                  </a:cubicBezTo>
                  <a:cubicBezTo>
                    <a:pt x="644" y="0"/>
                    <a:pt x="764" y="25"/>
                    <a:pt x="816" y="19"/>
                  </a:cubicBezTo>
                </a:path>
              </a:pathLst>
            </a:custGeom>
            <a:noFill/>
            <a:ln w="38100">
              <a:solidFill>
                <a:schemeClr val="accent2"/>
              </a:solidFill>
              <a:round/>
            </a:ln>
          </p:spPr>
          <p:txBody>
            <a:bodyPr/>
            <a:lstStyle/>
            <a:p>
              <a:pPr algn="ctr"/>
              <a:endParaRPr lang="zh-CN" altLang="en-US"/>
            </a:p>
          </p:txBody>
        </p:sp>
        <p:sp>
          <p:nvSpPr>
            <p:cNvPr id="16420" name="Line 47"/>
            <p:cNvSpPr>
              <a:spLocks noChangeShapeType="1"/>
            </p:cNvSpPr>
            <p:nvPr/>
          </p:nvSpPr>
          <p:spPr bwMode="auto">
            <a:xfrm flipV="1">
              <a:off x="4694" y="1525"/>
              <a:ext cx="91" cy="136"/>
            </a:xfrm>
            <a:prstGeom prst="line">
              <a:avLst/>
            </a:prstGeom>
            <a:noFill/>
            <a:ln w="38100">
              <a:solidFill>
                <a:schemeClr val="accent2"/>
              </a:solidFill>
              <a:round/>
              <a:tailEnd type="triangle" w="med" len="med"/>
            </a:ln>
          </p:spPr>
          <p:txBody>
            <a:bodyPr/>
            <a:lstStyle/>
            <a:p>
              <a:endParaRPr lang="zh-CN" altLang="en-US"/>
            </a:p>
          </p:txBody>
        </p:sp>
      </p:grpSp>
      <p:sp>
        <p:nvSpPr>
          <p:cNvPr id="30725" name="Line 5"/>
          <p:cNvSpPr>
            <a:spLocks noChangeShapeType="1"/>
          </p:cNvSpPr>
          <p:nvPr/>
        </p:nvSpPr>
        <p:spPr bwMode="auto">
          <a:xfrm flipH="1">
            <a:off x="6300788" y="2959100"/>
            <a:ext cx="431800" cy="0"/>
          </a:xfrm>
          <a:prstGeom prst="line">
            <a:avLst/>
          </a:prstGeom>
          <a:noFill/>
          <a:ln w="9525">
            <a:solidFill>
              <a:schemeClr val="tx1"/>
            </a:solidFill>
            <a:prstDash val="dash"/>
            <a:round/>
          </a:ln>
        </p:spPr>
        <p:txBody>
          <a:bodyPr/>
          <a:lstStyle/>
          <a:p>
            <a:endParaRPr lang="zh-CN" altLang="en-US"/>
          </a:p>
        </p:txBody>
      </p:sp>
      <p:sp>
        <p:nvSpPr>
          <p:cNvPr id="30726" name="Line 6"/>
          <p:cNvSpPr>
            <a:spLocks noChangeShapeType="1"/>
          </p:cNvSpPr>
          <p:nvPr/>
        </p:nvSpPr>
        <p:spPr bwMode="auto">
          <a:xfrm>
            <a:off x="6745288" y="2924175"/>
            <a:ext cx="0" cy="525463"/>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30727" name="Object 7"/>
          <p:cNvGraphicFramePr>
            <a:graphicFrameLocks noChangeAspect="1"/>
          </p:cNvGraphicFramePr>
          <p:nvPr/>
        </p:nvGraphicFramePr>
        <p:xfrm>
          <a:off x="6672263" y="3448050"/>
          <a:ext cx="223837" cy="338138"/>
        </p:xfrm>
        <a:graphic>
          <a:graphicData uri="http://schemas.openxmlformats.org/presentationml/2006/ole">
            <mc:AlternateContent xmlns:mc="http://schemas.openxmlformats.org/markup-compatibility/2006">
              <mc:Choice xmlns:v="urn:schemas-microsoft-com:vml" Requires="v">
                <p:oleObj spid="_x0000_s16385" name="公式" r:id="rId1" imgW="6705600" imgH="10058400" progId="Equation.3">
                  <p:embed/>
                </p:oleObj>
              </mc:Choice>
              <mc:Fallback>
                <p:oleObj name="公式" r:id="rId1" imgW="6705600" imgH="10058400" progId="Equation.3">
                  <p:embed/>
                  <p:pic>
                    <p:nvPicPr>
                      <p:cNvPr id="0" name="Object 7"/>
                      <p:cNvPicPr>
                        <a:picLocks noChangeAspect="1"/>
                      </p:cNvPicPr>
                      <p:nvPr/>
                    </p:nvPicPr>
                    <p:blipFill>
                      <a:blip r:embed="rId2"/>
                      <a:stretch>
                        <a:fillRect/>
                      </a:stretch>
                    </p:blipFill>
                    <p:spPr>
                      <a:xfrm>
                        <a:off x="6672263" y="3448050"/>
                        <a:ext cx="223837" cy="338138"/>
                      </a:xfrm>
                      <a:prstGeom prst="rect">
                        <a:avLst/>
                      </a:prstGeom>
                      <a:noFill/>
                      <a:ln w="9525">
                        <a:noFill/>
                      </a:ln>
                    </p:spPr>
                  </p:pic>
                </p:oleObj>
              </mc:Fallback>
            </mc:AlternateContent>
          </a:graphicData>
        </a:graphic>
      </p:graphicFrame>
      <p:sp>
        <p:nvSpPr>
          <p:cNvPr id="30728" name="Line 8"/>
          <p:cNvSpPr>
            <a:spLocks noChangeShapeType="1"/>
          </p:cNvSpPr>
          <p:nvPr/>
        </p:nvSpPr>
        <p:spPr bwMode="auto">
          <a:xfrm>
            <a:off x="8040688" y="2565400"/>
            <a:ext cx="0" cy="884238"/>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30732" name="Object 12"/>
          <p:cNvGraphicFramePr>
            <a:graphicFrameLocks noChangeAspect="1"/>
          </p:cNvGraphicFramePr>
          <p:nvPr/>
        </p:nvGraphicFramePr>
        <p:xfrm>
          <a:off x="7929563" y="3448050"/>
          <a:ext cx="254000" cy="338138"/>
        </p:xfrm>
        <a:graphic>
          <a:graphicData uri="http://schemas.openxmlformats.org/presentationml/2006/ole">
            <mc:AlternateContent xmlns:mc="http://schemas.openxmlformats.org/markup-compatibility/2006">
              <mc:Choice xmlns:v="urn:schemas-microsoft-com:vml" Requires="v">
                <p:oleObj spid="_x0000_s16387" name="公式" r:id="rId3" imgW="7620000" imgH="10058400" progId="Equation.3">
                  <p:embed/>
                </p:oleObj>
              </mc:Choice>
              <mc:Fallback>
                <p:oleObj name="公式" r:id="rId3" imgW="7620000" imgH="10058400" progId="Equation.3">
                  <p:embed/>
                  <p:pic>
                    <p:nvPicPr>
                      <p:cNvPr id="0" name="Object 12"/>
                      <p:cNvPicPr>
                        <a:picLocks noChangeAspect="1"/>
                      </p:cNvPicPr>
                      <p:nvPr/>
                    </p:nvPicPr>
                    <p:blipFill>
                      <a:blip r:embed="rId4"/>
                      <a:stretch>
                        <a:fillRect/>
                      </a:stretch>
                    </p:blipFill>
                    <p:spPr>
                      <a:xfrm>
                        <a:off x="7929563" y="3448050"/>
                        <a:ext cx="254000" cy="338138"/>
                      </a:xfrm>
                      <a:prstGeom prst="rect">
                        <a:avLst/>
                      </a:prstGeom>
                      <a:noFill/>
                      <a:ln w="9525">
                        <a:noFill/>
                      </a:ln>
                    </p:spPr>
                  </p:pic>
                </p:oleObj>
              </mc:Fallback>
            </mc:AlternateContent>
          </a:graphicData>
        </a:graphic>
      </p:graphicFrame>
      <p:graphicFrame>
        <p:nvGraphicFramePr>
          <p:cNvPr id="30733" name="Object 13"/>
          <p:cNvGraphicFramePr>
            <a:graphicFrameLocks noChangeAspect="1"/>
          </p:cNvGraphicFramePr>
          <p:nvPr/>
        </p:nvGraphicFramePr>
        <p:xfrm>
          <a:off x="6392863" y="2514600"/>
          <a:ext cx="266700" cy="419100"/>
        </p:xfrm>
        <a:graphic>
          <a:graphicData uri="http://schemas.openxmlformats.org/presentationml/2006/ole">
            <mc:AlternateContent xmlns:mc="http://schemas.openxmlformats.org/markup-compatibility/2006">
              <mc:Choice xmlns:v="urn:schemas-microsoft-com:vml" Requires="v">
                <p:oleObj spid="_x0000_s16388" name="公式" r:id="rId5" imgW="6400800" imgH="10058400" progId="Equation.3">
                  <p:embed/>
                </p:oleObj>
              </mc:Choice>
              <mc:Fallback>
                <p:oleObj name="公式" r:id="rId5" imgW="6400800" imgH="10058400" progId="Equation.3">
                  <p:embed/>
                  <p:pic>
                    <p:nvPicPr>
                      <p:cNvPr id="0" name="Object 13"/>
                      <p:cNvPicPr>
                        <a:picLocks noChangeAspect="1"/>
                      </p:cNvPicPr>
                      <p:nvPr/>
                    </p:nvPicPr>
                    <p:blipFill>
                      <a:blip r:embed="rId6"/>
                      <a:stretch>
                        <a:fillRect/>
                      </a:stretch>
                    </p:blipFill>
                    <p:spPr>
                      <a:xfrm>
                        <a:off x="6392863" y="2514600"/>
                        <a:ext cx="266700" cy="419100"/>
                      </a:xfrm>
                      <a:prstGeom prst="rect">
                        <a:avLst/>
                      </a:prstGeom>
                      <a:noFill/>
                      <a:ln w="9525">
                        <a:noFill/>
                      </a:ln>
                    </p:spPr>
                  </p:pic>
                </p:oleObj>
              </mc:Fallback>
            </mc:AlternateContent>
          </a:graphicData>
        </a:graphic>
      </p:graphicFrame>
      <p:sp>
        <p:nvSpPr>
          <p:cNvPr id="30734" name="Text Box 14"/>
          <p:cNvSpPr txBox="1">
            <a:spLocks noChangeArrowheads="1"/>
          </p:cNvSpPr>
          <p:nvPr/>
        </p:nvSpPr>
        <p:spPr bwMode="auto">
          <a:xfrm>
            <a:off x="6661150" y="2600325"/>
            <a:ext cx="647700" cy="396875"/>
          </a:xfrm>
          <a:prstGeom prst="rect">
            <a:avLst/>
          </a:prstGeom>
          <a:noFill/>
          <a:ln w="12700" cap="sq">
            <a:noFill/>
            <a:miter lim="800000"/>
            <a:headEnd type="none" w="sm" len="sm"/>
            <a:tailEnd type="none" w="sm" len="sm"/>
          </a:ln>
        </p:spPr>
        <p:txBody>
          <a:bodyPr>
            <a:spAutoFit/>
          </a:bodyPr>
          <a:lstStyle/>
          <a:p>
            <a:r>
              <a:rPr kumimoji="1" lang="en-US" altLang="zh-CN" sz="2000" i="1"/>
              <a:t>Ⅰ</a:t>
            </a:r>
            <a:endParaRPr kumimoji="1" lang="en-US" altLang="zh-CN" sz="2000" i="1"/>
          </a:p>
        </p:txBody>
      </p:sp>
      <p:sp>
        <p:nvSpPr>
          <p:cNvPr id="30735" name="Text Box 15"/>
          <p:cNvSpPr txBox="1">
            <a:spLocks noChangeArrowheads="1"/>
          </p:cNvSpPr>
          <p:nvPr/>
        </p:nvSpPr>
        <p:spPr bwMode="auto">
          <a:xfrm>
            <a:off x="8027988" y="2349500"/>
            <a:ext cx="719137" cy="396875"/>
          </a:xfrm>
          <a:prstGeom prst="rect">
            <a:avLst/>
          </a:prstGeom>
          <a:noFill/>
          <a:ln w="12700" cap="sq">
            <a:noFill/>
            <a:miter lim="800000"/>
            <a:headEnd type="none" w="sm" len="sm"/>
            <a:tailEnd type="none" w="sm" len="sm"/>
          </a:ln>
        </p:spPr>
        <p:txBody>
          <a:bodyPr>
            <a:spAutoFit/>
          </a:bodyPr>
          <a:lstStyle/>
          <a:p>
            <a:r>
              <a:rPr kumimoji="1" lang="en-US" altLang="zh-CN" sz="2000" i="1"/>
              <a:t>Ⅱ</a:t>
            </a:r>
            <a:endParaRPr kumimoji="1" lang="en-US" altLang="zh-CN" sz="2000" i="1"/>
          </a:p>
        </p:txBody>
      </p:sp>
      <p:graphicFrame>
        <p:nvGraphicFramePr>
          <p:cNvPr id="30736" name="Object 16"/>
          <p:cNvGraphicFramePr>
            <a:graphicFrameLocks noChangeAspect="1"/>
          </p:cNvGraphicFramePr>
          <p:nvPr/>
        </p:nvGraphicFramePr>
        <p:xfrm>
          <a:off x="7947025" y="2449513"/>
          <a:ext cx="193675" cy="192087"/>
        </p:xfrm>
        <a:graphic>
          <a:graphicData uri="http://schemas.openxmlformats.org/presentationml/2006/ole">
            <mc:AlternateContent xmlns:mc="http://schemas.openxmlformats.org/markup-compatibility/2006">
              <mc:Choice xmlns:v="urn:schemas-microsoft-com:vml" Requires="v">
                <p:oleObj spid="_x0000_s16389" name="公式" r:id="rId7" imgW="4572000" imgH="4572000" progId="Equation.3">
                  <p:embed/>
                </p:oleObj>
              </mc:Choice>
              <mc:Fallback>
                <p:oleObj name="公式" r:id="rId7" imgW="4572000" imgH="4572000" progId="Equation.3">
                  <p:embed/>
                  <p:pic>
                    <p:nvPicPr>
                      <p:cNvPr id="0" name="Object 16"/>
                      <p:cNvPicPr>
                        <a:picLocks noChangeAspect="1"/>
                      </p:cNvPicPr>
                      <p:nvPr/>
                    </p:nvPicPr>
                    <p:blipFill>
                      <a:blip r:embed="rId8"/>
                      <a:stretch>
                        <a:fillRect/>
                      </a:stretch>
                    </p:blipFill>
                    <p:spPr>
                      <a:xfrm>
                        <a:off x="7947025" y="2449513"/>
                        <a:ext cx="193675" cy="192087"/>
                      </a:xfrm>
                      <a:prstGeom prst="rect">
                        <a:avLst/>
                      </a:prstGeom>
                      <a:noFill/>
                      <a:ln w="9525">
                        <a:noFill/>
                      </a:ln>
                    </p:spPr>
                  </p:pic>
                </p:oleObj>
              </mc:Fallback>
            </mc:AlternateContent>
          </a:graphicData>
        </a:graphic>
      </p:graphicFrame>
      <p:sp>
        <p:nvSpPr>
          <p:cNvPr id="30737" name="Text Box 17"/>
          <p:cNvSpPr txBox="1">
            <a:spLocks noChangeArrowheads="1"/>
          </p:cNvSpPr>
          <p:nvPr/>
        </p:nvSpPr>
        <p:spPr bwMode="auto">
          <a:xfrm>
            <a:off x="5724525" y="2684463"/>
            <a:ext cx="576263" cy="457200"/>
          </a:xfrm>
          <a:prstGeom prst="rect">
            <a:avLst/>
          </a:prstGeom>
          <a:noFill/>
          <a:ln w="9525">
            <a:noFill/>
            <a:miter lim="800000"/>
          </a:ln>
        </p:spPr>
        <p:txBody>
          <a:bodyPr>
            <a:spAutoFit/>
          </a:bodyPr>
          <a:lstStyle/>
          <a:p>
            <a:r>
              <a:rPr lang="en-US" altLang="zh-CN" i="1">
                <a:solidFill>
                  <a:srgbClr val="3333CC"/>
                </a:solidFill>
              </a:rPr>
              <a:t>p</a:t>
            </a:r>
            <a:r>
              <a:rPr lang="en-US" altLang="zh-CN" baseline="-25000">
                <a:solidFill>
                  <a:srgbClr val="3333CC"/>
                </a:solidFill>
              </a:rPr>
              <a:t>1</a:t>
            </a:r>
            <a:endParaRPr lang="en-US" altLang="zh-CN">
              <a:solidFill>
                <a:srgbClr val="3333CC"/>
              </a:solidFill>
            </a:endParaRPr>
          </a:p>
        </p:txBody>
      </p:sp>
      <p:grpSp>
        <p:nvGrpSpPr>
          <p:cNvPr id="16406" name="Group 18"/>
          <p:cNvGrpSpPr>
            <a:grpSpLocks noChangeAspect="1"/>
          </p:cNvGrpSpPr>
          <p:nvPr/>
        </p:nvGrpSpPr>
        <p:grpSpPr bwMode="auto">
          <a:xfrm>
            <a:off x="5911850" y="1144588"/>
            <a:ext cx="2909888" cy="2727325"/>
            <a:chOff x="3443" y="2160"/>
            <a:chExt cx="2035" cy="1908"/>
          </a:xfrm>
        </p:grpSpPr>
        <p:sp>
          <p:nvSpPr>
            <p:cNvPr id="16414" name="Line 19"/>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16415" name="Line 20"/>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16416" name="Text Box 21"/>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i="1"/>
                <a:t>O</a:t>
              </a:r>
              <a:endParaRPr lang="en-US" altLang="zh-CN" i="1"/>
            </a:p>
          </p:txBody>
        </p:sp>
        <p:sp>
          <p:nvSpPr>
            <p:cNvPr id="16417" name="Text Box 22"/>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i="1"/>
                <a:t>V</a:t>
              </a:r>
              <a:endParaRPr lang="en-US" altLang="zh-CN" i="1"/>
            </a:p>
          </p:txBody>
        </p:sp>
        <p:sp>
          <p:nvSpPr>
            <p:cNvPr id="16418" name="Text Box 23"/>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i="1"/>
                <a:t>p</a:t>
              </a:r>
              <a:endParaRPr lang="en-US" altLang="zh-CN" i="1"/>
            </a:p>
          </p:txBody>
        </p:sp>
      </p:grpSp>
      <p:graphicFrame>
        <p:nvGraphicFramePr>
          <p:cNvPr id="30748" name="Object 28"/>
          <p:cNvGraphicFramePr>
            <a:graphicFrameLocks noChangeAspect="1"/>
          </p:cNvGraphicFramePr>
          <p:nvPr/>
        </p:nvGraphicFramePr>
        <p:xfrm>
          <a:off x="6657975" y="2849563"/>
          <a:ext cx="193675" cy="192087"/>
        </p:xfrm>
        <a:graphic>
          <a:graphicData uri="http://schemas.openxmlformats.org/presentationml/2006/ole">
            <mc:AlternateContent xmlns:mc="http://schemas.openxmlformats.org/markup-compatibility/2006">
              <mc:Choice xmlns:v="urn:schemas-microsoft-com:vml" Requires="v">
                <p:oleObj spid="_x0000_s16390" name="公式" r:id="rId9" imgW="4572000" imgH="4572000" progId="Equation.3">
                  <p:embed/>
                </p:oleObj>
              </mc:Choice>
              <mc:Fallback>
                <p:oleObj name="公式" r:id="rId9" imgW="4572000" imgH="4572000" progId="Equation.3">
                  <p:embed/>
                  <p:pic>
                    <p:nvPicPr>
                      <p:cNvPr id="0" name="Object 28"/>
                      <p:cNvPicPr>
                        <a:picLocks noChangeAspect="1"/>
                      </p:cNvPicPr>
                      <p:nvPr/>
                    </p:nvPicPr>
                    <p:blipFill>
                      <a:blip r:embed="rId8"/>
                      <a:stretch>
                        <a:fillRect/>
                      </a:stretch>
                    </p:blipFill>
                    <p:spPr>
                      <a:xfrm>
                        <a:off x="6657975" y="2849563"/>
                        <a:ext cx="193675" cy="192087"/>
                      </a:xfrm>
                      <a:prstGeom prst="rect">
                        <a:avLst/>
                      </a:prstGeom>
                      <a:noFill/>
                      <a:ln w="9525">
                        <a:noFill/>
                      </a:ln>
                    </p:spPr>
                  </p:pic>
                </p:oleObj>
              </mc:Fallback>
            </mc:AlternateContent>
          </a:graphicData>
        </a:graphic>
      </p:graphicFrame>
      <p:graphicFrame>
        <p:nvGraphicFramePr>
          <p:cNvPr id="30749" name="Object 29"/>
          <p:cNvGraphicFramePr>
            <a:graphicFrameLocks noChangeAspect="1"/>
          </p:cNvGraphicFramePr>
          <p:nvPr/>
        </p:nvGraphicFramePr>
        <p:xfrm>
          <a:off x="6659563" y="1544638"/>
          <a:ext cx="193675" cy="192087"/>
        </p:xfrm>
        <a:graphic>
          <a:graphicData uri="http://schemas.openxmlformats.org/presentationml/2006/ole">
            <mc:AlternateContent xmlns:mc="http://schemas.openxmlformats.org/markup-compatibility/2006">
              <mc:Choice xmlns:v="urn:schemas-microsoft-com:vml" Requires="v">
                <p:oleObj spid="_x0000_s16391" name="公式" r:id="rId10" imgW="4572000" imgH="4572000" progId="Equation.3">
                  <p:embed/>
                </p:oleObj>
              </mc:Choice>
              <mc:Fallback>
                <p:oleObj name="公式" r:id="rId10" imgW="4572000" imgH="4572000" progId="Equation.3">
                  <p:embed/>
                  <p:pic>
                    <p:nvPicPr>
                      <p:cNvPr id="0" name="Object 29"/>
                      <p:cNvPicPr>
                        <a:picLocks noChangeAspect="1"/>
                      </p:cNvPicPr>
                      <p:nvPr/>
                    </p:nvPicPr>
                    <p:blipFill>
                      <a:blip r:embed="rId8"/>
                      <a:stretch>
                        <a:fillRect/>
                      </a:stretch>
                    </p:blipFill>
                    <p:spPr>
                      <a:xfrm>
                        <a:off x="6659563" y="1544638"/>
                        <a:ext cx="193675" cy="192087"/>
                      </a:xfrm>
                      <a:prstGeom prst="rect">
                        <a:avLst/>
                      </a:prstGeom>
                      <a:noFill/>
                      <a:ln w="9525">
                        <a:noFill/>
                      </a:ln>
                    </p:spPr>
                  </p:pic>
                </p:oleObj>
              </mc:Fallback>
            </mc:AlternateContent>
          </a:graphicData>
        </a:graphic>
      </p:graphicFrame>
      <p:graphicFrame>
        <p:nvGraphicFramePr>
          <p:cNvPr id="30750" name="Object 30"/>
          <p:cNvGraphicFramePr>
            <a:graphicFrameLocks noChangeAspect="1"/>
          </p:cNvGraphicFramePr>
          <p:nvPr/>
        </p:nvGraphicFramePr>
        <p:xfrm>
          <a:off x="7885113" y="2060575"/>
          <a:ext cx="304800" cy="419100"/>
        </p:xfrm>
        <a:graphic>
          <a:graphicData uri="http://schemas.openxmlformats.org/presentationml/2006/ole">
            <mc:AlternateContent xmlns:mc="http://schemas.openxmlformats.org/markup-compatibility/2006">
              <mc:Choice xmlns:v="urn:schemas-microsoft-com:vml" Requires="v">
                <p:oleObj spid="_x0000_s16392" name="Equation" r:id="rId11" imgW="7315200" imgH="10058400" progId="Equation.DSMT4">
                  <p:embed/>
                </p:oleObj>
              </mc:Choice>
              <mc:Fallback>
                <p:oleObj name="Equation" r:id="rId11" imgW="7315200" imgH="10058400" progId="Equation.DSMT4">
                  <p:embed/>
                  <p:pic>
                    <p:nvPicPr>
                      <p:cNvPr id="0" name="Object 30"/>
                      <p:cNvPicPr>
                        <a:picLocks noChangeAspect="1"/>
                      </p:cNvPicPr>
                      <p:nvPr/>
                    </p:nvPicPr>
                    <p:blipFill>
                      <a:blip r:embed="rId12"/>
                      <a:stretch>
                        <a:fillRect/>
                      </a:stretch>
                    </p:blipFill>
                    <p:spPr>
                      <a:xfrm>
                        <a:off x="7885113" y="2060575"/>
                        <a:ext cx="304800" cy="419100"/>
                      </a:xfrm>
                      <a:prstGeom prst="rect">
                        <a:avLst/>
                      </a:prstGeom>
                      <a:noFill/>
                      <a:ln w="9525">
                        <a:noFill/>
                      </a:ln>
                    </p:spPr>
                  </p:pic>
                </p:oleObj>
              </mc:Fallback>
            </mc:AlternateContent>
          </a:graphicData>
        </a:graphic>
      </p:graphicFrame>
      <p:sp>
        <p:nvSpPr>
          <p:cNvPr id="30762" name="Text Box 42"/>
          <p:cNvSpPr txBox="1">
            <a:spLocks noChangeArrowheads="1"/>
          </p:cNvSpPr>
          <p:nvPr/>
        </p:nvSpPr>
        <p:spPr bwMode="auto">
          <a:xfrm>
            <a:off x="719138" y="1247775"/>
            <a:ext cx="4779962" cy="457200"/>
          </a:xfrm>
          <a:prstGeom prst="rect">
            <a:avLst/>
          </a:prstGeom>
          <a:noFill/>
          <a:ln w="9525">
            <a:noFill/>
            <a:miter lim="800000"/>
          </a:ln>
        </p:spPr>
        <p:txBody>
          <a:bodyPr wrap="none">
            <a:spAutoFit/>
          </a:bodyPr>
          <a:lstStyle/>
          <a:p>
            <a:r>
              <a:rPr lang="zh-CN" altLang="en-US" b="1"/>
              <a:t>任意一个热力学过程内能改变量：</a:t>
            </a:r>
            <a:endParaRPr lang="zh-CN" altLang="en-US" b="1"/>
          </a:p>
        </p:txBody>
      </p:sp>
      <p:graphicFrame>
        <p:nvGraphicFramePr>
          <p:cNvPr id="30763" name="Object 43"/>
          <p:cNvGraphicFramePr>
            <a:graphicFrameLocks noChangeAspect="1"/>
          </p:cNvGraphicFramePr>
          <p:nvPr/>
        </p:nvGraphicFramePr>
        <p:xfrm>
          <a:off x="1260475" y="1844675"/>
          <a:ext cx="3311525" cy="873125"/>
        </p:xfrm>
        <a:graphic>
          <a:graphicData uri="http://schemas.openxmlformats.org/presentationml/2006/ole">
            <mc:AlternateContent xmlns:mc="http://schemas.openxmlformats.org/markup-compatibility/2006">
              <mc:Choice xmlns:v="urn:schemas-microsoft-com:vml" Requires="v">
                <p:oleObj spid="_x0000_s16393" name="公式" r:id="rId13" imgW="35966400" imgH="9448800" progId="Equation.3">
                  <p:embed/>
                </p:oleObj>
              </mc:Choice>
              <mc:Fallback>
                <p:oleObj name="公式" r:id="rId13" imgW="35966400" imgH="9448800" progId="Equation.3">
                  <p:embed/>
                  <p:pic>
                    <p:nvPicPr>
                      <p:cNvPr id="0" name="Object 43"/>
                      <p:cNvPicPr>
                        <a:picLocks noChangeAspect="1"/>
                      </p:cNvPicPr>
                      <p:nvPr/>
                    </p:nvPicPr>
                    <p:blipFill>
                      <a:blip r:embed="rId14"/>
                      <a:stretch>
                        <a:fillRect/>
                      </a:stretch>
                    </p:blipFill>
                    <p:spPr>
                      <a:xfrm>
                        <a:off x="1260475" y="1844675"/>
                        <a:ext cx="3311525" cy="873125"/>
                      </a:xfrm>
                      <a:prstGeom prst="rect">
                        <a:avLst/>
                      </a:prstGeom>
                      <a:noFill/>
                      <a:ln w="9525">
                        <a:noFill/>
                      </a:ln>
                    </p:spPr>
                  </p:pic>
                </p:oleObj>
              </mc:Fallback>
            </mc:AlternateContent>
          </a:graphicData>
        </a:graphic>
      </p:graphicFrame>
      <p:sp>
        <p:nvSpPr>
          <p:cNvPr id="30765" name="AutoShape 45"/>
          <p:cNvSpPr>
            <a:spLocks noChangeArrowheads="1"/>
          </p:cNvSpPr>
          <p:nvPr/>
        </p:nvSpPr>
        <p:spPr bwMode="auto">
          <a:xfrm>
            <a:off x="179388" y="1200150"/>
            <a:ext cx="360362"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graphicFrame>
        <p:nvGraphicFramePr>
          <p:cNvPr id="30772" name="Object 52"/>
          <p:cNvGraphicFramePr>
            <a:graphicFrameLocks noChangeAspect="1"/>
          </p:cNvGraphicFramePr>
          <p:nvPr/>
        </p:nvGraphicFramePr>
        <p:xfrm>
          <a:off x="6516688" y="1125538"/>
          <a:ext cx="304800" cy="419100"/>
        </p:xfrm>
        <a:graphic>
          <a:graphicData uri="http://schemas.openxmlformats.org/presentationml/2006/ole">
            <mc:AlternateContent xmlns:mc="http://schemas.openxmlformats.org/markup-compatibility/2006">
              <mc:Choice xmlns:v="urn:schemas-microsoft-com:vml" Requires="v">
                <p:oleObj spid="_x0000_s16394" name="公式" r:id="rId15" imgW="7315200" imgH="10058400" progId="Equation.3">
                  <p:embed/>
                </p:oleObj>
              </mc:Choice>
              <mc:Fallback>
                <p:oleObj name="公式" r:id="rId15" imgW="7315200" imgH="10058400" progId="Equation.3">
                  <p:embed/>
                  <p:pic>
                    <p:nvPicPr>
                      <p:cNvPr id="0" name="Object 52"/>
                      <p:cNvPicPr>
                        <a:picLocks noChangeAspect="1"/>
                      </p:cNvPicPr>
                      <p:nvPr/>
                    </p:nvPicPr>
                    <p:blipFill>
                      <a:blip r:embed="rId12"/>
                      <a:stretch>
                        <a:fillRect/>
                      </a:stretch>
                    </p:blipFill>
                    <p:spPr>
                      <a:xfrm>
                        <a:off x="6516688" y="1125538"/>
                        <a:ext cx="304800" cy="419100"/>
                      </a:xfrm>
                      <a:prstGeom prst="rect">
                        <a:avLst/>
                      </a:prstGeom>
                      <a:noFill/>
                      <a:ln w="9525">
                        <a:noFill/>
                      </a:ln>
                    </p:spPr>
                  </p:pic>
                </p:oleObj>
              </mc:Fallback>
            </mc:AlternateContent>
          </a:graphicData>
        </a:graphic>
      </p:graphicFrame>
      <p:sp>
        <p:nvSpPr>
          <p:cNvPr id="30773" name="Text Box 53"/>
          <p:cNvSpPr txBox="1">
            <a:spLocks noChangeArrowheads="1"/>
          </p:cNvSpPr>
          <p:nvPr/>
        </p:nvSpPr>
        <p:spPr bwMode="auto">
          <a:xfrm>
            <a:off x="5724525" y="2205038"/>
            <a:ext cx="576263" cy="457200"/>
          </a:xfrm>
          <a:prstGeom prst="rect">
            <a:avLst/>
          </a:prstGeom>
          <a:noFill/>
          <a:ln w="9525">
            <a:noFill/>
            <a:miter lim="800000"/>
          </a:ln>
        </p:spPr>
        <p:txBody>
          <a:bodyPr>
            <a:spAutoFit/>
          </a:bodyPr>
          <a:lstStyle/>
          <a:p>
            <a:r>
              <a:rPr lang="en-US" altLang="zh-CN" i="1">
                <a:solidFill>
                  <a:srgbClr val="3333CC"/>
                </a:solidFill>
              </a:rPr>
              <a:t>p</a:t>
            </a:r>
            <a:r>
              <a:rPr lang="en-US" altLang="zh-CN" baseline="-25000">
                <a:solidFill>
                  <a:srgbClr val="3333CC"/>
                </a:solidFill>
              </a:rPr>
              <a:t>2</a:t>
            </a:r>
            <a:endParaRPr lang="en-US" altLang="zh-CN">
              <a:solidFill>
                <a:srgbClr val="3333CC"/>
              </a:solidFill>
            </a:endParaRPr>
          </a:p>
        </p:txBody>
      </p:sp>
      <p:sp>
        <p:nvSpPr>
          <p:cNvPr id="30775" name="AutoShape 55"/>
          <p:cNvSpPr>
            <a:spLocks noChangeArrowheads="1"/>
          </p:cNvSpPr>
          <p:nvPr/>
        </p:nvSpPr>
        <p:spPr bwMode="auto">
          <a:xfrm>
            <a:off x="179388" y="3140075"/>
            <a:ext cx="360362"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sp>
        <p:nvSpPr>
          <p:cNvPr id="30776" name="Text Box 56"/>
          <p:cNvSpPr txBox="1">
            <a:spLocks noChangeArrowheads="1"/>
          </p:cNvSpPr>
          <p:nvPr/>
        </p:nvSpPr>
        <p:spPr bwMode="auto">
          <a:xfrm>
            <a:off x="735013" y="3089275"/>
            <a:ext cx="4916487" cy="1006475"/>
          </a:xfrm>
          <a:prstGeom prst="rect">
            <a:avLst/>
          </a:prstGeom>
          <a:noFill/>
          <a:ln w="9525">
            <a:noFill/>
            <a:miter lim="800000"/>
          </a:ln>
        </p:spPr>
        <p:txBody>
          <a:bodyPr>
            <a:spAutoFit/>
          </a:bodyPr>
          <a:lstStyle/>
          <a:p>
            <a:pPr>
              <a:lnSpc>
                <a:spcPct val="125000"/>
              </a:lnSpc>
            </a:pPr>
            <a:r>
              <a:rPr lang="zh-CN" altLang="en-US" b="1">
                <a:solidFill>
                  <a:srgbClr val="FF0000"/>
                </a:solidFill>
              </a:rPr>
              <a:t>注意</a:t>
            </a:r>
            <a:r>
              <a:rPr lang="zh-CN" altLang="en-US" b="1"/>
              <a:t>： </a:t>
            </a:r>
            <a:r>
              <a:rPr lang="en-US" altLang="zh-CN" b="1" i="1">
                <a:solidFill>
                  <a:srgbClr val="FF0000"/>
                </a:solidFill>
              </a:rPr>
              <a:t>Q</a:t>
            </a:r>
            <a:r>
              <a:rPr lang="en-US" altLang="zh-CN" b="1"/>
              <a:t> </a:t>
            </a:r>
            <a:r>
              <a:rPr lang="zh-CN" altLang="en-US" b="1"/>
              <a:t>、</a:t>
            </a:r>
            <a:r>
              <a:rPr lang="en-US" altLang="zh-CN" b="1" i="1">
                <a:solidFill>
                  <a:srgbClr val="FF0000"/>
                </a:solidFill>
              </a:rPr>
              <a:t>W</a:t>
            </a:r>
            <a:r>
              <a:rPr lang="en-US" altLang="zh-CN" b="1"/>
              <a:t> </a:t>
            </a:r>
            <a:r>
              <a:rPr lang="zh-CN" altLang="en-US" b="1"/>
              <a:t>都是</a:t>
            </a:r>
            <a:r>
              <a:rPr lang="zh-CN" altLang="en-US" b="1">
                <a:solidFill>
                  <a:srgbClr val="FF6600"/>
                </a:solidFill>
              </a:rPr>
              <a:t>过程量</a:t>
            </a:r>
            <a:r>
              <a:rPr lang="zh-CN" altLang="en-US" b="1"/>
              <a:t>，不能用等效法来求解！</a:t>
            </a:r>
            <a:endParaRPr lang="zh-CN" altLang="en-US" b="1"/>
          </a:p>
        </p:txBody>
      </p:sp>
      <p:sp>
        <p:nvSpPr>
          <p:cNvPr id="30777" name="Text Box 57"/>
          <p:cNvSpPr txBox="1">
            <a:spLocks noChangeArrowheads="1"/>
          </p:cNvSpPr>
          <p:nvPr/>
        </p:nvSpPr>
        <p:spPr bwMode="auto">
          <a:xfrm>
            <a:off x="715963" y="4483100"/>
            <a:ext cx="8428037" cy="1017588"/>
          </a:xfrm>
          <a:prstGeom prst="rect">
            <a:avLst/>
          </a:prstGeom>
          <a:noFill/>
          <a:ln w="9525">
            <a:noFill/>
            <a:miter lim="800000"/>
          </a:ln>
        </p:spPr>
        <p:txBody>
          <a:bodyPr>
            <a:spAutoFit/>
          </a:bodyPr>
          <a:lstStyle/>
          <a:p>
            <a:pPr>
              <a:lnSpc>
                <a:spcPct val="135000"/>
              </a:lnSpc>
            </a:pPr>
            <a:r>
              <a:rPr kumimoji="1" lang="zh-CN" altLang="en-US" b="1">
                <a:latin typeface="宋体" panose="02010600030101010101" pitchFamily="2" charset="-122"/>
              </a:rPr>
              <a:t>在等压过程中理想气体</a:t>
            </a:r>
            <a:r>
              <a:rPr kumimoji="1" lang="zh-CN" altLang="en-US" b="1">
                <a:solidFill>
                  <a:srgbClr val="FF6600"/>
                </a:solidFill>
                <a:latin typeface="宋体" panose="02010600030101010101" pitchFamily="2" charset="-122"/>
              </a:rPr>
              <a:t>吸收的热量</a:t>
            </a:r>
            <a:r>
              <a:rPr kumimoji="1" lang="zh-CN" altLang="en-US" b="1">
                <a:latin typeface="宋体" panose="02010600030101010101" pitchFamily="2" charset="-122"/>
              </a:rPr>
              <a:t>，一部分用来</a:t>
            </a:r>
            <a:r>
              <a:rPr kumimoji="1" lang="zh-CN" altLang="en-US" b="1">
                <a:solidFill>
                  <a:srgbClr val="FF6600"/>
                </a:solidFill>
                <a:latin typeface="宋体" panose="02010600030101010101" pitchFamily="2" charset="-122"/>
              </a:rPr>
              <a:t>对外作功</a:t>
            </a:r>
            <a:r>
              <a:rPr kumimoji="1" lang="zh-CN" altLang="en-US" b="1">
                <a:latin typeface="宋体" panose="02010600030101010101" pitchFamily="2" charset="-122"/>
              </a:rPr>
              <a:t>，其余部分则用来</a:t>
            </a:r>
            <a:r>
              <a:rPr kumimoji="1" lang="zh-CN" altLang="en-US" b="1">
                <a:solidFill>
                  <a:srgbClr val="FF6600"/>
                </a:solidFill>
                <a:latin typeface="宋体" panose="02010600030101010101" pitchFamily="2" charset="-122"/>
              </a:rPr>
              <a:t>增加其内能</a:t>
            </a:r>
            <a:r>
              <a:rPr kumimoji="1" lang="zh-CN" altLang="en-US" b="1">
                <a:latin typeface="宋体" panose="02010600030101010101" pitchFamily="2" charset="-122"/>
              </a:rPr>
              <a:t>。 </a:t>
            </a:r>
            <a:endParaRPr kumimoji="1" lang="zh-CN" altLang="en-US" b="1">
              <a:latin typeface="宋体" panose="02010600030101010101" pitchFamily="2" charset="-122"/>
            </a:endParaRPr>
          </a:p>
        </p:txBody>
      </p:sp>
      <p:sp>
        <p:nvSpPr>
          <p:cNvPr id="30778" name="AutoShape 58"/>
          <p:cNvSpPr>
            <a:spLocks noChangeArrowheads="1"/>
          </p:cNvSpPr>
          <p:nvPr/>
        </p:nvSpPr>
        <p:spPr bwMode="auto">
          <a:xfrm>
            <a:off x="228600" y="4516438"/>
            <a:ext cx="360363"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graphicFrame>
        <p:nvGraphicFramePr>
          <p:cNvPr id="5" name="Object 41"/>
          <p:cNvGraphicFramePr>
            <a:graphicFrameLocks noChangeAspect="1"/>
          </p:cNvGraphicFramePr>
          <p:nvPr/>
        </p:nvGraphicFramePr>
        <p:xfrm>
          <a:off x="6786563" y="1357313"/>
          <a:ext cx="342900" cy="371475"/>
        </p:xfrm>
        <a:graphic>
          <a:graphicData uri="http://schemas.openxmlformats.org/presentationml/2006/ole">
            <mc:AlternateContent xmlns:mc="http://schemas.openxmlformats.org/markup-compatibility/2006">
              <mc:Choice xmlns:v="urn:schemas-microsoft-com:vml" Requires="v">
                <p:oleObj spid="_x0000_s16395" name="Equation" r:id="rId16" imgW="3657600" imgH="3962400" progId="Equation.DSMT4">
                  <p:embed/>
                </p:oleObj>
              </mc:Choice>
              <mc:Fallback>
                <p:oleObj name="Equation" r:id="rId16" imgW="3657600" imgH="3962400" progId="Equation.DSMT4">
                  <p:embed/>
                  <p:pic>
                    <p:nvPicPr>
                      <p:cNvPr id="0" name="Object 41"/>
                      <p:cNvPicPr>
                        <a:picLocks noChangeAspect="1"/>
                      </p:cNvPicPr>
                      <p:nvPr/>
                    </p:nvPicPr>
                    <p:blipFill>
                      <a:blip r:embed="rId17"/>
                      <a:stretch>
                        <a:fillRect/>
                      </a:stretch>
                    </p:blipFill>
                    <p:spPr>
                      <a:xfrm>
                        <a:off x="6786563" y="1357313"/>
                        <a:ext cx="342900" cy="37147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30765"/>
                                        </p:tgtEl>
                                        <p:attrNameLst>
                                          <p:attrName>style.visibility</p:attrName>
                                        </p:attrNameLst>
                                      </p:cBhvr>
                                      <p:to>
                                        <p:strVal val="visible"/>
                                      </p:to>
                                    </p:set>
                                    <p:anim calcmode="lin" valueType="num">
                                      <p:cBhvr>
                                        <p:cTn id="7" dur="500" fill="hold"/>
                                        <p:tgtEl>
                                          <p:spTgt spid="30765"/>
                                        </p:tgtEl>
                                        <p:attrNameLst>
                                          <p:attrName>ppt_w</p:attrName>
                                        </p:attrNameLst>
                                      </p:cBhvr>
                                      <p:tavLst>
                                        <p:tav tm="0">
                                          <p:val>
                                            <p:strVal val="4*#ppt_w"/>
                                          </p:val>
                                        </p:tav>
                                        <p:tav tm="100000">
                                          <p:val>
                                            <p:strVal val="#ppt_w"/>
                                          </p:val>
                                        </p:tav>
                                      </p:tavLst>
                                    </p:anim>
                                    <p:anim calcmode="lin" valueType="num">
                                      <p:cBhvr>
                                        <p:cTn id="8" dur="500" fill="hold"/>
                                        <p:tgtEl>
                                          <p:spTgt spid="30765"/>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0762"/>
                                        </p:tgtEl>
                                        <p:attrNameLst>
                                          <p:attrName>style.visibility</p:attrName>
                                        </p:attrNameLst>
                                      </p:cBhvr>
                                      <p:to>
                                        <p:strVal val="visible"/>
                                      </p:to>
                                    </p:set>
                                    <p:animEffect transition="in" filter="wipe(left)">
                                      <p:cBhvr>
                                        <p:cTn id="12" dur="500"/>
                                        <p:tgtEl>
                                          <p:spTgt spid="307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0748"/>
                                        </p:tgtEl>
                                        <p:attrNameLst>
                                          <p:attrName>style.visibility</p:attrName>
                                        </p:attrNameLst>
                                      </p:cBhvr>
                                      <p:to>
                                        <p:strVal val="visible"/>
                                      </p:to>
                                    </p:set>
                                    <p:animEffect transition="in" filter="wipe(up)">
                                      <p:cBhvr>
                                        <p:cTn id="17" dur="500"/>
                                        <p:tgtEl>
                                          <p:spTgt spid="30748"/>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30734"/>
                                        </p:tgtEl>
                                        <p:attrNameLst>
                                          <p:attrName>style.visibility</p:attrName>
                                        </p:attrNameLst>
                                      </p:cBhvr>
                                      <p:to>
                                        <p:strVal val="visible"/>
                                      </p:to>
                                    </p:set>
                                    <p:animEffect transition="in" filter="wipe(up)">
                                      <p:cBhvr>
                                        <p:cTn id="21" dur="500"/>
                                        <p:tgtEl>
                                          <p:spTgt spid="30734"/>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30733"/>
                                        </p:tgtEl>
                                        <p:attrNameLst>
                                          <p:attrName>style.visibility</p:attrName>
                                        </p:attrNameLst>
                                      </p:cBhvr>
                                      <p:to>
                                        <p:strVal val="visible"/>
                                      </p:to>
                                    </p:set>
                                    <p:animEffect transition="in" filter="wipe(up)">
                                      <p:cBhvr>
                                        <p:cTn id="25" dur="500"/>
                                        <p:tgtEl>
                                          <p:spTgt spid="30733"/>
                                        </p:tgtEl>
                                      </p:cBhvr>
                                    </p:animEffect>
                                  </p:childTnLst>
                                </p:cTn>
                              </p:par>
                            </p:childTnLst>
                          </p:cTn>
                        </p:par>
                        <p:par>
                          <p:cTn id="26" fill="hold">
                            <p:stCondLst>
                              <p:cond delay="1500"/>
                            </p:stCondLst>
                            <p:childTnLst>
                              <p:par>
                                <p:cTn id="27" presetID="22" presetClass="entr" presetSubtype="1" fill="hold" grpId="0" nodeType="afterEffect">
                                  <p:stCondLst>
                                    <p:cond delay="0"/>
                                  </p:stCondLst>
                                  <p:childTnLst>
                                    <p:set>
                                      <p:cBhvr>
                                        <p:cTn id="28" dur="1" fill="hold">
                                          <p:stCondLst>
                                            <p:cond delay="0"/>
                                          </p:stCondLst>
                                        </p:cTn>
                                        <p:tgtEl>
                                          <p:spTgt spid="30726"/>
                                        </p:tgtEl>
                                        <p:attrNameLst>
                                          <p:attrName>style.visibility</p:attrName>
                                        </p:attrNameLst>
                                      </p:cBhvr>
                                      <p:to>
                                        <p:strVal val="visible"/>
                                      </p:to>
                                    </p:set>
                                    <p:animEffect transition="in" filter="wipe(up)">
                                      <p:cBhvr>
                                        <p:cTn id="29" dur="500"/>
                                        <p:tgtEl>
                                          <p:spTgt spid="30726"/>
                                        </p:tgtEl>
                                      </p:cBhvr>
                                    </p:animEffect>
                                  </p:childTnLst>
                                </p:cTn>
                              </p:par>
                            </p:childTnLst>
                          </p:cTn>
                        </p:par>
                        <p:par>
                          <p:cTn id="30" fill="hold">
                            <p:stCondLst>
                              <p:cond delay="2000"/>
                            </p:stCondLst>
                            <p:childTnLst>
                              <p:par>
                                <p:cTn id="31" presetID="22" presetClass="entr" presetSubtype="8" fill="hold" nodeType="afterEffect">
                                  <p:stCondLst>
                                    <p:cond delay="0"/>
                                  </p:stCondLst>
                                  <p:childTnLst>
                                    <p:set>
                                      <p:cBhvr>
                                        <p:cTn id="32" dur="1" fill="hold">
                                          <p:stCondLst>
                                            <p:cond delay="0"/>
                                          </p:stCondLst>
                                        </p:cTn>
                                        <p:tgtEl>
                                          <p:spTgt spid="30727"/>
                                        </p:tgtEl>
                                        <p:attrNameLst>
                                          <p:attrName>style.visibility</p:attrName>
                                        </p:attrNameLst>
                                      </p:cBhvr>
                                      <p:to>
                                        <p:strVal val="visible"/>
                                      </p:to>
                                    </p:set>
                                    <p:animEffect transition="in" filter="wipe(left)">
                                      <p:cBhvr>
                                        <p:cTn id="33" dur="500"/>
                                        <p:tgtEl>
                                          <p:spTgt spid="30727"/>
                                        </p:tgtEl>
                                      </p:cBhvr>
                                    </p:animEffect>
                                  </p:childTnLst>
                                </p:cTn>
                              </p:par>
                            </p:childTnLst>
                          </p:cTn>
                        </p:par>
                        <p:par>
                          <p:cTn id="34" fill="hold">
                            <p:stCondLst>
                              <p:cond delay="2500"/>
                            </p:stCondLst>
                            <p:childTnLst>
                              <p:par>
                                <p:cTn id="35" presetID="22" presetClass="entr" presetSubtype="2" fill="hold" grpId="0" nodeType="afterEffect">
                                  <p:stCondLst>
                                    <p:cond delay="0"/>
                                  </p:stCondLst>
                                  <p:childTnLst>
                                    <p:set>
                                      <p:cBhvr>
                                        <p:cTn id="36" dur="1" fill="hold">
                                          <p:stCondLst>
                                            <p:cond delay="0"/>
                                          </p:stCondLst>
                                        </p:cTn>
                                        <p:tgtEl>
                                          <p:spTgt spid="30725"/>
                                        </p:tgtEl>
                                        <p:attrNameLst>
                                          <p:attrName>style.visibility</p:attrName>
                                        </p:attrNameLst>
                                      </p:cBhvr>
                                      <p:to>
                                        <p:strVal val="visible"/>
                                      </p:to>
                                    </p:set>
                                    <p:animEffect transition="in" filter="wipe(right)">
                                      <p:cBhvr>
                                        <p:cTn id="37" dur="500"/>
                                        <p:tgtEl>
                                          <p:spTgt spid="30725"/>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30737"/>
                                        </p:tgtEl>
                                        <p:attrNameLst>
                                          <p:attrName>style.visibility</p:attrName>
                                        </p:attrNameLst>
                                      </p:cBhvr>
                                      <p:to>
                                        <p:strVal val="visible"/>
                                      </p:to>
                                    </p:set>
                                    <p:animEffect transition="in" filter="wipe(left)">
                                      <p:cBhvr>
                                        <p:cTn id="41" dur="500"/>
                                        <p:tgtEl>
                                          <p:spTgt spid="3073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30736"/>
                                        </p:tgtEl>
                                        <p:attrNameLst>
                                          <p:attrName>style.visibility</p:attrName>
                                        </p:attrNameLst>
                                      </p:cBhvr>
                                      <p:to>
                                        <p:strVal val="visible"/>
                                      </p:to>
                                    </p:set>
                                    <p:animEffect transition="in" filter="wipe(up)">
                                      <p:cBhvr>
                                        <p:cTn id="46" dur="500"/>
                                        <p:tgtEl>
                                          <p:spTgt spid="30736"/>
                                        </p:tgtEl>
                                      </p:cBhvr>
                                    </p:animEffect>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30735"/>
                                        </p:tgtEl>
                                        <p:attrNameLst>
                                          <p:attrName>style.visibility</p:attrName>
                                        </p:attrNameLst>
                                      </p:cBhvr>
                                      <p:to>
                                        <p:strVal val="visible"/>
                                      </p:to>
                                    </p:set>
                                    <p:animEffect transition="in" filter="wipe(up)">
                                      <p:cBhvr>
                                        <p:cTn id="50" dur="500"/>
                                        <p:tgtEl>
                                          <p:spTgt spid="30735"/>
                                        </p:tgtEl>
                                      </p:cBhvr>
                                    </p:animEffect>
                                  </p:childTnLst>
                                </p:cTn>
                              </p:par>
                            </p:childTnLst>
                          </p:cTn>
                        </p:par>
                        <p:par>
                          <p:cTn id="51" fill="hold">
                            <p:stCondLst>
                              <p:cond delay="1000"/>
                            </p:stCondLst>
                            <p:childTnLst>
                              <p:par>
                                <p:cTn id="52" presetID="22" presetClass="entr" presetSubtype="1" fill="hold" grpId="0" nodeType="afterEffect">
                                  <p:stCondLst>
                                    <p:cond delay="0"/>
                                  </p:stCondLst>
                                  <p:childTnLst>
                                    <p:set>
                                      <p:cBhvr>
                                        <p:cTn id="53" dur="1" fill="hold">
                                          <p:stCondLst>
                                            <p:cond delay="0"/>
                                          </p:stCondLst>
                                        </p:cTn>
                                        <p:tgtEl>
                                          <p:spTgt spid="30728"/>
                                        </p:tgtEl>
                                        <p:attrNameLst>
                                          <p:attrName>style.visibility</p:attrName>
                                        </p:attrNameLst>
                                      </p:cBhvr>
                                      <p:to>
                                        <p:strVal val="visible"/>
                                      </p:to>
                                    </p:set>
                                    <p:animEffect transition="in" filter="wipe(up)">
                                      <p:cBhvr>
                                        <p:cTn id="54" dur="500"/>
                                        <p:tgtEl>
                                          <p:spTgt spid="30728"/>
                                        </p:tgtEl>
                                      </p:cBhvr>
                                    </p:animEffect>
                                  </p:childTnLst>
                                </p:cTn>
                              </p:par>
                            </p:childTnLst>
                          </p:cTn>
                        </p:par>
                        <p:par>
                          <p:cTn id="55" fill="hold">
                            <p:stCondLst>
                              <p:cond delay="1500"/>
                            </p:stCondLst>
                            <p:childTnLst>
                              <p:par>
                                <p:cTn id="56" presetID="22" presetClass="entr" presetSubtype="8" fill="hold" nodeType="afterEffect">
                                  <p:stCondLst>
                                    <p:cond delay="0"/>
                                  </p:stCondLst>
                                  <p:childTnLst>
                                    <p:set>
                                      <p:cBhvr>
                                        <p:cTn id="57" dur="1" fill="hold">
                                          <p:stCondLst>
                                            <p:cond delay="0"/>
                                          </p:stCondLst>
                                        </p:cTn>
                                        <p:tgtEl>
                                          <p:spTgt spid="30732"/>
                                        </p:tgtEl>
                                        <p:attrNameLst>
                                          <p:attrName>style.visibility</p:attrName>
                                        </p:attrNameLst>
                                      </p:cBhvr>
                                      <p:to>
                                        <p:strVal val="visible"/>
                                      </p:to>
                                    </p:set>
                                    <p:animEffect transition="in" filter="wipe(left)">
                                      <p:cBhvr>
                                        <p:cTn id="58" dur="500"/>
                                        <p:tgtEl>
                                          <p:spTgt spid="30732"/>
                                        </p:tgtEl>
                                      </p:cBhvr>
                                    </p:animEffect>
                                  </p:childTnLst>
                                </p:cTn>
                              </p:par>
                            </p:childTnLst>
                          </p:cTn>
                        </p:par>
                        <p:par>
                          <p:cTn id="59" fill="hold">
                            <p:stCondLst>
                              <p:cond delay="2000"/>
                            </p:stCondLst>
                            <p:childTnLst>
                              <p:par>
                                <p:cTn id="60" presetID="22" presetClass="entr" presetSubtype="1" fill="hold" nodeType="afterEffect">
                                  <p:stCondLst>
                                    <p:cond delay="0"/>
                                  </p:stCondLst>
                                  <p:childTnLst>
                                    <p:set>
                                      <p:cBhvr>
                                        <p:cTn id="61" dur="1" fill="hold">
                                          <p:stCondLst>
                                            <p:cond delay="0"/>
                                          </p:stCondLst>
                                        </p:cTn>
                                        <p:tgtEl>
                                          <p:spTgt spid="30750"/>
                                        </p:tgtEl>
                                        <p:attrNameLst>
                                          <p:attrName>style.visibility</p:attrName>
                                        </p:attrNameLst>
                                      </p:cBhvr>
                                      <p:to>
                                        <p:strVal val="visible"/>
                                      </p:to>
                                    </p:set>
                                    <p:animEffect transition="in" filter="wipe(up)">
                                      <p:cBhvr>
                                        <p:cTn id="62" dur="500"/>
                                        <p:tgtEl>
                                          <p:spTgt spid="30750"/>
                                        </p:tgtEl>
                                      </p:cBhvr>
                                    </p:animEffect>
                                  </p:childTnLst>
                                </p:cTn>
                              </p:par>
                            </p:childTnLst>
                          </p:cTn>
                        </p:par>
                        <p:par>
                          <p:cTn id="63" fill="hold">
                            <p:stCondLst>
                              <p:cond delay="2500"/>
                            </p:stCondLst>
                            <p:childTnLst>
                              <p:par>
                                <p:cTn id="64" presetID="22" presetClass="entr" presetSubtype="2" fill="hold" grpId="0" nodeType="afterEffect">
                                  <p:stCondLst>
                                    <p:cond delay="0"/>
                                  </p:stCondLst>
                                  <p:childTnLst>
                                    <p:set>
                                      <p:cBhvr>
                                        <p:cTn id="65" dur="1" fill="hold">
                                          <p:stCondLst>
                                            <p:cond delay="0"/>
                                          </p:stCondLst>
                                        </p:cTn>
                                        <p:tgtEl>
                                          <p:spTgt spid="30774"/>
                                        </p:tgtEl>
                                        <p:attrNameLst>
                                          <p:attrName>style.visibility</p:attrName>
                                        </p:attrNameLst>
                                      </p:cBhvr>
                                      <p:to>
                                        <p:strVal val="visible"/>
                                      </p:to>
                                    </p:set>
                                    <p:animEffect transition="in" filter="wipe(right)">
                                      <p:cBhvr>
                                        <p:cTn id="66" dur="500"/>
                                        <p:tgtEl>
                                          <p:spTgt spid="30774"/>
                                        </p:tgtEl>
                                      </p:cBhvr>
                                    </p:animEffect>
                                  </p:childTnLst>
                                </p:cTn>
                              </p:par>
                            </p:childTnLst>
                          </p:cTn>
                        </p:par>
                        <p:par>
                          <p:cTn id="67" fill="hold">
                            <p:stCondLst>
                              <p:cond delay="3000"/>
                            </p:stCondLst>
                            <p:childTnLst>
                              <p:par>
                                <p:cTn id="68" presetID="22" presetClass="entr" presetSubtype="8" fill="hold" grpId="0" nodeType="afterEffect">
                                  <p:stCondLst>
                                    <p:cond delay="0"/>
                                  </p:stCondLst>
                                  <p:childTnLst>
                                    <p:set>
                                      <p:cBhvr>
                                        <p:cTn id="69" dur="1" fill="hold">
                                          <p:stCondLst>
                                            <p:cond delay="0"/>
                                          </p:stCondLst>
                                        </p:cTn>
                                        <p:tgtEl>
                                          <p:spTgt spid="30773"/>
                                        </p:tgtEl>
                                        <p:attrNameLst>
                                          <p:attrName>style.visibility</p:attrName>
                                        </p:attrNameLst>
                                      </p:cBhvr>
                                      <p:to>
                                        <p:strVal val="visible"/>
                                      </p:to>
                                    </p:set>
                                    <p:animEffect transition="in" filter="wipe(left)">
                                      <p:cBhvr>
                                        <p:cTn id="70" dur="500"/>
                                        <p:tgtEl>
                                          <p:spTgt spid="3077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wipe(left)">
                                      <p:cBhvr>
                                        <p:cTn id="75" dur="500"/>
                                        <p:tgtEl>
                                          <p:spTgt spid="4"/>
                                        </p:tgtEl>
                                      </p:cBhvr>
                                    </p:animEffect>
                                  </p:childTnLst>
                                </p:cTn>
                              </p:par>
                            </p:childTnLst>
                          </p:cTn>
                        </p:par>
                        <p:par>
                          <p:cTn id="76" fill="hold">
                            <p:stCondLst>
                              <p:cond delay="500"/>
                            </p:stCondLst>
                            <p:childTnLst>
                              <p:par>
                                <p:cTn id="77" presetID="22" presetClass="entr" presetSubtype="1" fill="hold" nodeType="afterEffect">
                                  <p:stCondLst>
                                    <p:cond delay="0"/>
                                  </p:stCondLst>
                                  <p:childTnLst>
                                    <p:set>
                                      <p:cBhvr>
                                        <p:cTn id="78" dur="1" fill="hold">
                                          <p:stCondLst>
                                            <p:cond delay="0"/>
                                          </p:stCondLst>
                                        </p:cTn>
                                        <p:tgtEl>
                                          <p:spTgt spid="30749"/>
                                        </p:tgtEl>
                                        <p:attrNameLst>
                                          <p:attrName>style.visibility</p:attrName>
                                        </p:attrNameLst>
                                      </p:cBhvr>
                                      <p:to>
                                        <p:strVal val="visible"/>
                                      </p:to>
                                    </p:set>
                                    <p:animEffect transition="in" filter="wipe(up)">
                                      <p:cBhvr>
                                        <p:cTn id="79" dur="500"/>
                                        <p:tgtEl>
                                          <p:spTgt spid="30749"/>
                                        </p:tgtEl>
                                      </p:cBhvr>
                                    </p:animEffect>
                                  </p:childTnLst>
                                </p:cTn>
                              </p:par>
                            </p:childTnLst>
                          </p:cTn>
                        </p:par>
                        <p:par>
                          <p:cTn id="80" fill="hold">
                            <p:stCondLst>
                              <p:cond delay="1000"/>
                            </p:stCondLst>
                            <p:childTnLst>
                              <p:par>
                                <p:cTn id="81" presetID="22" presetClass="entr" presetSubtype="1" fill="hold" nodeType="afterEffect">
                                  <p:stCondLst>
                                    <p:cond delay="0"/>
                                  </p:stCondLst>
                                  <p:childTnLst>
                                    <p:set>
                                      <p:cBhvr>
                                        <p:cTn id="82" dur="1" fill="hold">
                                          <p:stCondLst>
                                            <p:cond delay="0"/>
                                          </p:stCondLst>
                                        </p:cTn>
                                        <p:tgtEl>
                                          <p:spTgt spid="30772"/>
                                        </p:tgtEl>
                                        <p:attrNameLst>
                                          <p:attrName>style.visibility</p:attrName>
                                        </p:attrNameLst>
                                      </p:cBhvr>
                                      <p:to>
                                        <p:strVal val="visible"/>
                                      </p:to>
                                    </p:set>
                                    <p:animEffect transition="in" filter="wipe(up)">
                                      <p:cBhvr>
                                        <p:cTn id="83" dur="500"/>
                                        <p:tgtEl>
                                          <p:spTgt spid="3077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wipe(down)">
                                      <p:cBhvr>
                                        <p:cTn id="88" dur="500"/>
                                        <p:tgtEl>
                                          <p:spTgt spid="3"/>
                                        </p:tgtEl>
                                      </p:cBhvr>
                                    </p:animEffect>
                                  </p:childTnLst>
                                </p:cTn>
                              </p:par>
                            </p:childTnLst>
                          </p:cTn>
                        </p:par>
                        <p:par>
                          <p:cTn id="89" fill="hold">
                            <p:stCondLst>
                              <p:cond delay="500"/>
                            </p:stCondLst>
                            <p:childTnLst>
                              <p:par>
                                <p:cTn id="90" presetID="22" presetClass="entr" presetSubtype="1" fill="hold" nodeType="afterEffect">
                                  <p:stCondLst>
                                    <p:cond delay="0"/>
                                  </p:stCondLst>
                                  <p:childTnLst>
                                    <p:set>
                                      <p:cBhvr>
                                        <p:cTn id="91" dur="1" fill="hold">
                                          <p:stCondLst>
                                            <p:cond delay="0"/>
                                          </p:stCondLst>
                                        </p:cTn>
                                        <p:tgtEl>
                                          <p:spTgt spid="5"/>
                                        </p:tgtEl>
                                        <p:attrNameLst>
                                          <p:attrName>style.visibility</p:attrName>
                                        </p:attrNameLst>
                                      </p:cBhvr>
                                      <p:to>
                                        <p:strVal val="visible"/>
                                      </p:to>
                                    </p:set>
                                    <p:animEffect transition="in" filter="wipe(up)">
                                      <p:cBhvr>
                                        <p:cTn id="92" dur="500"/>
                                        <p:tgtEl>
                                          <p:spTgt spid="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
                                        </p:tgtEl>
                                        <p:attrNameLst>
                                          <p:attrName>style.visibility</p:attrName>
                                        </p:attrNameLst>
                                      </p:cBhvr>
                                      <p:to>
                                        <p:strVal val="visible"/>
                                      </p:to>
                                    </p:set>
                                    <p:animEffect transition="in" filter="wipe(left)">
                                      <p:cBhvr>
                                        <p:cTn id="97" dur="500"/>
                                        <p:tgtEl>
                                          <p:spTgt spid="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30763"/>
                                        </p:tgtEl>
                                        <p:attrNameLst>
                                          <p:attrName>style.visibility</p:attrName>
                                        </p:attrNameLst>
                                      </p:cBhvr>
                                      <p:to>
                                        <p:strVal val="visible"/>
                                      </p:to>
                                    </p:set>
                                    <p:animEffect transition="in" filter="wipe(left)">
                                      <p:cBhvr>
                                        <p:cTn id="102" dur="500"/>
                                        <p:tgtEl>
                                          <p:spTgt spid="30763"/>
                                        </p:tgtEl>
                                      </p:cBhvr>
                                    </p:animEffect>
                                  </p:childTnLst>
                                </p:cTn>
                              </p:par>
                            </p:childTnLst>
                          </p:cTn>
                        </p:par>
                      </p:childTnLst>
                    </p:cTn>
                  </p:par>
                  <p:par>
                    <p:cTn id="103" fill="hold">
                      <p:stCondLst>
                        <p:cond delay="indefinite"/>
                      </p:stCondLst>
                      <p:childTnLst>
                        <p:par>
                          <p:cTn id="104" fill="hold">
                            <p:stCondLst>
                              <p:cond delay="0"/>
                            </p:stCondLst>
                            <p:childTnLst>
                              <p:par>
                                <p:cTn id="105" presetID="23" presetClass="entr" presetSubtype="32" fill="hold" grpId="0" nodeType="clickEffect">
                                  <p:stCondLst>
                                    <p:cond delay="0"/>
                                  </p:stCondLst>
                                  <p:childTnLst>
                                    <p:set>
                                      <p:cBhvr>
                                        <p:cTn id="106" dur="1" fill="hold">
                                          <p:stCondLst>
                                            <p:cond delay="0"/>
                                          </p:stCondLst>
                                        </p:cTn>
                                        <p:tgtEl>
                                          <p:spTgt spid="30775"/>
                                        </p:tgtEl>
                                        <p:attrNameLst>
                                          <p:attrName>style.visibility</p:attrName>
                                        </p:attrNameLst>
                                      </p:cBhvr>
                                      <p:to>
                                        <p:strVal val="visible"/>
                                      </p:to>
                                    </p:set>
                                    <p:anim calcmode="lin" valueType="num">
                                      <p:cBhvr>
                                        <p:cTn id="107" dur="500" fill="hold"/>
                                        <p:tgtEl>
                                          <p:spTgt spid="30775"/>
                                        </p:tgtEl>
                                        <p:attrNameLst>
                                          <p:attrName>ppt_w</p:attrName>
                                        </p:attrNameLst>
                                      </p:cBhvr>
                                      <p:tavLst>
                                        <p:tav tm="0">
                                          <p:val>
                                            <p:strVal val="4*#ppt_w"/>
                                          </p:val>
                                        </p:tav>
                                        <p:tav tm="100000">
                                          <p:val>
                                            <p:strVal val="#ppt_w"/>
                                          </p:val>
                                        </p:tav>
                                      </p:tavLst>
                                    </p:anim>
                                    <p:anim calcmode="lin" valueType="num">
                                      <p:cBhvr>
                                        <p:cTn id="108" dur="500" fill="hold"/>
                                        <p:tgtEl>
                                          <p:spTgt spid="30775"/>
                                        </p:tgtEl>
                                        <p:attrNameLst>
                                          <p:attrName>ppt_h</p:attrName>
                                        </p:attrNameLst>
                                      </p:cBhvr>
                                      <p:tavLst>
                                        <p:tav tm="0">
                                          <p:val>
                                            <p:strVal val="4*#ppt_h"/>
                                          </p:val>
                                        </p:tav>
                                        <p:tav tm="100000">
                                          <p:val>
                                            <p:strVal val="#ppt_h"/>
                                          </p:val>
                                        </p:tav>
                                      </p:tavLst>
                                    </p:anim>
                                  </p:childTnLst>
                                </p:cTn>
                              </p:par>
                            </p:childTnLst>
                          </p:cTn>
                        </p:par>
                        <p:par>
                          <p:cTn id="109" fill="hold">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30776"/>
                                        </p:tgtEl>
                                        <p:attrNameLst>
                                          <p:attrName>style.visibility</p:attrName>
                                        </p:attrNameLst>
                                      </p:cBhvr>
                                      <p:to>
                                        <p:strVal val="visible"/>
                                      </p:to>
                                    </p:set>
                                    <p:animEffect transition="in" filter="wipe(left)">
                                      <p:cBhvr>
                                        <p:cTn id="112" dur="500"/>
                                        <p:tgtEl>
                                          <p:spTgt spid="30776"/>
                                        </p:tgtEl>
                                      </p:cBhvr>
                                    </p:animEffect>
                                  </p:childTnLst>
                                </p:cTn>
                              </p:par>
                            </p:childTnLst>
                          </p:cTn>
                        </p:par>
                      </p:childTnLst>
                    </p:cTn>
                  </p:par>
                  <p:par>
                    <p:cTn id="113" fill="hold">
                      <p:stCondLst>
                        <p:cond delay="indefinite"/>
                      </p:stCondLst>
                      <p:childTnLst>
                        <p:par>
                          <p:cTn id="114" fill="hold">
                            <p:stCondLst>
                              <p:cond delay="0"/>
                            </p:stCondLst>
                            <p:childTnLst>
                              <p:par>
                                <p:cTn id="115" presetID="23" presetClass="entr" presetSubtype="32" fill="hold" grpId="0" nodeType="clickEffect">
                                  <p:stCondLst>
                                    <p:cond delay="0"/>
                                  </p:stCondLst>
                                  <p:childTnLst>
                                    <p:set>
                                      <p:cBhvr>
                                        <p:cTn id="116" dur="1" fill="hold">
                                          <p:stCondLst>
                                            <p:cond delay="0"/>
                                          </p:stCondLst>
                                        </p:cTn>
                                        <p:tgtEl>
                                          <p:spTgt spid="30778"/>
                                        </p:tgtEl>
                                        <p:attrNameLst>
                                          <p:attrName>style.visibility</p:attrName>
                                        </p:attrNameLst>
                                      </p:cBhvr>
                                      <p:to>
                                        <p:strVal val="visible"/>
                                      </p:to>
                                    </p:set>
                                    <p:anim calcmode="lin" valueType="num">
                                      <p:cBhvr>
                                        <p:cTn id="117" dur="500" fill="hold"/>
                                        <p:tgtEl>
                                          <p:spTgt spid="30778"/>
                                        </p:tgtEl>
                                        <p:attrNameLst>
                                          <p:attrName>ppt_w</p:attrName>
                                        </p:attrNameLst>
                                      </p:cBhvr>
                                      <p:tavLst>
                                        <p:tav tm="0">
                                          <p:val>
                                            <p:strVal val="4*#ppt_w"/>
                                          </p:val>
                                        </p:tav>
                                        <p:tav tm="100000">
                                          <p:val>
                                            <p:strVal val="#ppt_w"/>
                                          </p:val>
                                        </p:tav>
                                      </p:tavLst>
                                    </p:anim>
                                    <p:anim calcmode="lin" valueType="num">
                                      <p:cBhvr>
                                        <p:cTn id="118" dur="500" fill="hold"/>
                                        <p:tgtEl>
                                          <p:spTgt spid="30778"/>
                                        </p:tgtEl>
                                        <p:attrNameLst>
                                          <p:attrName>ppt_h</p:attrName>
                                        </p:attrNameLst>
                                      </p:cBhvr>
                                      <p:tavLst>
                                        <p:tav tm="0">
                                          <p:val>
                                            <p:strVal val="4*#ppt_h"/>
                                          </p:val>
                                        </p:tav>
                                        <p:tav tm="100000">
                                          <p:val>
                                            <p:strVal val="#ppt_h"/>
                                          </p:val>
                                        </p:tav>
                                      </p:tavLst>
                                    </p:anim>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30777"/>
                                        </p:tgtEl>
                                        <p:attrNameLst>
                                          <p:attrName>style.visibility</p:attrName>
                                        </p:attrNameLst>
                                      </p:cBhvr>
                                      <p:to>
                                        <p:strVal val="visible"/>
                                      </p:to>
                                    </p:set>
                                    <p:animEffect transition="in" filter="wipe(left)">
                                      <p:cBhvr>
                                        <p:cTn id="123" dur="500"/>
                                        <p:tgtEl>
                                          <p:spTgt spid="30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4" grpId="0" animBg="1"/>
      <p:bldP spid="30725" grpId="0" animBg="1"/>
      <p:bldP spid="30726" grpId="0" animBg="1"/>
      <p:bldP spid="30728" grpId="0" animBg="1"/>
      <p:bldP spid="30734" grpId="0" autoUpdateAnimBg="0"/>
      <p:bldP spid="30735" grpId="0" autoUpdateAnimBg="0"/>
      <p:bldP spid="30737" grpId="0" autoUpdateAnimBg="0"/>
      <p:bldP spid="30762" grpId="0" autoUpdateAnimBg="0"/>
      <p:bldP spid="30765" grpId="0" animBg="1"/>
      <p:bldP spid="30773" grpId="0" autoUpdateAnimBg="0"/>
      <p:bldP spid="30775" grpId="0" animBg="1"/>
      <p:bldP spid="30776" grpId="0" autoUpdateAnimBg="0"/>
      <p:bldP spid="30777" grpId="0" autoUpdateAnimBg="0"/>
      <p:bldP spid="3077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26" name="Freeform 82"/>
          <p:cNvSpPr/>
          <p:nvPr/>
        </p:nvSpPr>
        <p:spPr bwMode="auto">
          <a:xfrm>
            <a:off x="6678613" y="3744913"/>
            <a:ext cx="1206500" cy="1512887"/>
          </a:xfrm>
          <a:custGeom>
            <a:avLst/>
            <a:gdLst>
              <a:gd name="T0" fmla="*/ 0 w 772"/>
              <a:gd name="T1" fmla="*/ 0 h 953"/>
              <a:gd name="T2" fmla="*/ 0 w 772"/>
              <a:gd name="T3" fmla="*/ 2147483647 h 953"/>
              <a:gd name="T4" fmla="*/ 2147483647 w 772"/>
              <a:gd name="T5" fmla="*/ 2147483647 h 953"/>
              <a:gd name="T6" fmla="*/ 2147483647 w 772"/>
              <a:gd name="T7" fmla="*/ 2147483647 h 953"/>
              <a:gd name="T8" fmla="*/ 2147483647 w 772"/>
              <a:gd name="T9" fmla="*/ 2147483647 h 953"/>
              <a:gd name="T10" fmla="*/ 2147483647 w 772"/>
              <a:gd name="T11" fmla="*/ 2147483647 h 953"/>
              <a:gd name="T12" fmla="*/ 2147483647 w 772"/>
              <a:gd name="T13" fmla="*/ 2147483647 h 953"/>
              <a:gd name="T14" fmla="*/ 2147483647 w 772"/>
              <a:gd name="T15" fmla="*/ 2147483647 h 953"/>
              <a:gd name="T16" fmla="*/ 0 w 772"/>
              <a:gd name="T17" fmla="*/ 0 h 9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2"/>
              <a:gd name="T28" fmla="*/ 0 h 953"/>
              <a:gd name="T29" fmla="*/ 772 w 772"/>
              <a:gd name="T30" fmla="*/ 953 h 9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2" h="953">
                <a:moveTo>
                  <a:pt x="0" y="0"/>
                </a:moveTo>
                <a:lnTo>
                  <a:pt x="0" y="953"/>
                </a:lnTo>
                <a:lnTo>
                  <a:pt x="772" y="953"/>
                </a:lnTo>
                <a:lnTo>
                  <a:pt x="772" y="590"/>
                </a:lnTo>
                <a:lnTo>
                  <a:pt x="688" y="579"/>
                </a:lnTo>
                <a:cubicBezTo>
                  <a:pt x="637" y="565"/>
                  <a:pt x="546" y="543"/>
                  <a:pt x="463" y="504"/>
                </a:cubicBezTo>
                <a:cubicBezTo>
                  <a:pt x="380" y="465"/>
                  <a:pt x="259" y="406"/>
                  <a:pt x="188" y="346"/>
                </a:cubicBezTo>
                <a:cubicBezTo>
                  <a:pt x="117" y="286"/>
                  <a:pt x="68" y="203"/>
                  <a:pt x="37" y="145"/>
                </a:cubicBezTo>
                <a:lnTo>
                  <a:pt x="0" y="0"/>
                </a:lnTo>
                <a:close/>
              </a:path>
            </a:pathLst>
          </a:custGeom>
          <a:pattFill prst="wdUpDiag">
            <a:fgClr>
              <a:srgbClr val="FF6600"/>
            </a:fgClr>
            <a:bgClr>
              <a:schemeClr val="bg1"/>
            </a:bgClr>
          </a:pattFill>
          <a:ln w="9525">
            <a:noFill/>
            <a:round/>
          </a:ln>
        </p:spPr>
        <p:txBody>
          <a:bodyPr/>
          <a:lstStyle/>
          <a:p>
            <a:pPr algn="ctr"/>
            <a:endParaRPr lang="zh-CN" altLang="en-US"/>
          </a:p>
        </p:txBody>
      </p:sp>
      <p:sp>
        <p:nvSpPr>
          <p:cNvPr id="31748" name="Text Box 4"/>
          <p:cNvSpPr txBox="1">
            <a:spLocks noChangeArrowheads="1"/>
          </p:cNvSpPr>
          <p:nvPr/>
        </p:nvSpPr>
        <p:spPr bwMode="auto">
          <a:xfrm>
            <a:off x="304800" y="762000"/>
            <a:ext cx="2735263" cy="461963"/>
          </a:xfrm>
          <a:prstGeom prst="rect">
            <a:avLst/>
          </a:prstGeom>
          <a:noFill/>
          <a:ln w="9525">
            <a:noFill/>
            <a:miter lim="800000"/>
          </a:ln>
        </p:spPr>
        <p:txBody>
          <a:bodyPr>
            <a:spAutoFit/>
          </a:bodyPr>
          <a:lstStyle/>
          <a:p>
            <a:r>
              <a:rPr lang="en-US" altLang="zh-CN" b="1">
                <a:solidFill>
                  <a:srgbClr val="FF0000"/>
                </a:solidFill>
              </a:rPr>
              <a:t>3</a:t>
            </a:r>
            <a:r>
              <a:rPr lang="zh-CN" altLang="en-US" b="1">
                <a:solidFill>
                  <a:srgbClr val="FF0000"/>
                </a:solidFill>
              </a:rPr>
              <a:t>、等温过程</a:t>
            </a:r>
            <a:endParaRPr lang="zh-CN" altLang="en-US" b="1">
              <a:solidFill>
                <a:srgbClr val="FF0000"/>
              </a:solidFill>
            </a:endParaRPr>
          </a:p>
        </p:txBody>
      </p:sp>
      <p:grpSp>
        <p:nvGrpSpPr>
          <p:cNvPr id="2" name="Group 6"/>
          <p:cNvGrpSpPr/>
          <p:nvPr/>
        </p:nvGrpSpPr>
        <p:grpSpPr bwMode="auto">
          <a:xfrm>
            <a:off x="5076825" y="1182688"/>
            <a:ext cx="533400" cy="1570037"/>
            <a:chOff x="3504" y="2496"/>
            <a:chExt cx="336" cy="989"/>
          </a:xfrm>
        </p:grpSpPr>
        <p:sp>
          <p:nvSpPr>
            <p:cNvPr id="17480" name="Rectangle 7"/>
            <p:cNvSpPr>
              <a:spLocks noChangeArrowheads="1"/>
            </p:cNvSpPr>
            <p:nvPr/>
          </p:nvSpPr>
          <p:spPr bwMode="auto">
            <a:xfrm>
              <a:off x="3504" y="2496"/>
              <a:ext cx="288" cy="960"/>
            </a:xfrm>
            <a:prstGeom prst="rect">
              <a:avLst/>
            </a:prstGeom>
            <a:gradFill rotWithShape="1">
              <a:gsLst>
                <a:gs pos="0">
                  <a:srgbClr val="FF6699"/>
                </a:gs>
                <a:gs pos="100000">
                  <a:srgbClr val="762F47"/>
                </a:gs>
              </a:gsLst>
              <a:path path="shape">
                <a:fillToRect l="50000" t="50000" r="50000" b="50000"/>
              </a:path>
            </a:gradFill>
            <a:ln w="12700" cap="sq">
              <a:noFill/>
              <a:miter lim="800000"/>
              <a:headEnd type="none" w="sm" len="sm"/>
              <a:tailEnd type="none" w="sm" len="sm"/>
            </a:ln>
          </p:spPr>
          <p:txBody>
            <a:bodyPr wrap="none" anchor="ctr"/>
            <a:lstStyle/>
            <a:p>
              <a:pPr algn="ctr"/>
              <a:endParaRPr kumimoji="1" lang="zh-CN" altLang="zh-CN"/>
            </a:p>
          </p:txBody>
        </p:sp>
        <p:sp>
          <p:nvSpPr>
            <p:cNvPr id="17481" name="Text Box 8"/>
            <p:cNvSpPr txBox="1">
              <a:spLocks noChangeArrowheads="1"/>
            </p:cNvSpPr>
            <p:nvPr/>
          </p:nvSpPr>
          <p:spPr bwMode="auto">
            <a:xfrm>
              <a:off x="3504" y="2496"/>
              <a:ext cx="336" cy="989"/>
            </a:xfrm>
            <a:prstGeom prst="rect">
              <a:avLst/>
            </a:prstGeom>
            <a:gradFill rotWithShape="1">
              <a:gsLst>
                <a:gs pos="0">
                  <a:srgbClr val="FF6699"/>
                </a:gs>
                <a:gs pos="100000">
                  <a:srgbClr val="762F47"/>
                </a:gs>
              </a:gsLst>
              <a:path path="shape">
                <a:fillToRect l="50000" t="50000" r="50000" b="50000"/>
              </a:path>
            </a:gradFill>
            <a:ln w="12700" cap="sq">
              <a:noFill/>
              <a:miter lim="800000"/>
              <a:headEnd type="none" w="sm" len="sm"/>
              <a:tailEnd type="none" w="sm" len="sm"/>
            </a:ln>
          </p:spPr>
          <p:txBody>
            <a:bodyPr>
              <a:spAutoFit/>
            </a:bodyPr>
            <a:lstStyle/>
            <a:p>
              <a:r>
                <a:rPr kumimoji="1" lang="zh-CN" altLang="en-US" b="1">
                  <a:solidFill>
                    <a:schemeClr val="bg1"/>
                  </a:solidFill>
                </a:rPr>
                <a:t>恒温热源</a:t>
              </a:r>
              <a:endParaRPr kumimoji="1" lang="zh-CN" altLang="en-US" b="1">
                <a:solidFill>
                  <a:schemeClr val="bg1"/>
                </a:solidFill>
              </a:endParaRPr>
            </a:p>
          </p:txBody>
        </p:sp>
      </p:grpSp>
      <p:grpSp>
        <p:nvGrpSpPr>
          <p:cNvPr id="3" name="Group 9"/>
          <p:cNvGrpSpPr/>
          <p:nvPr/>
        </p:nvGrpSpPr>
        <p:grpSpPr bwMode="auto">
          <a:xfrm>
            <a:off x="5676900" y="1476375"/>
            <a:ext cx="2438400" cy="914400"/>
            <a:chOff x="1872" y="1872"/>
            <a:chExt cx="1536" cy="576"/>
          </a:xfrm>
        </p:grpSpPr>
        <p:sp>
          <p:nvSpPr>
            <p:cNvPr id="17477" name="Line 10"/>
            <p:cNvSpPr>
              <a:spLocks noChangeShapeType="1"/>
            </p:cNvSpPr>
            <p:nvPr/>
          </p:nvSpPr>
          <p:spPr bwMode="auto">
            <a:xfrm>
              <a:off x="1920" y="1872"/>
              <a:ext cx="1488" cy="0"/>
            </a:xfrm>
            <a:prstGeom prst="line">
              <a:avLst/>
            </a:prstGeom>
            <a:noFill/>
            <a:ln w="127000" cap="sq">
              <a:pattFill prst="wdUpDiag">
                <a:fgClr>
                  <a:srgbClr val="00FFFF"/>
                </a:fgClr>
                <a:bgClr>
                  <a:srgbClr val="FF0033"/>
                </a:bgClr>
              </a:pattFill>
              <a:miter lim="800000"/>
              <a:headEnd type="none" w="sm" len="sm"/>
              <a:tailEnd type="none" w="sm" len="sm"/>
            </a:ln>
          </p:spPr>
          <p:txBody>
            <a:bodyPr wrap="none"/>
            <a:lstStyle/>
            <a:p>
              <a:endParaRPr lang="zh-CN" altLang="en-US"/>
            </a:p>
          </p:txBody>
        </p:sp>
        <p:sp>
          <p:nvSpPr>
            <p:cNvPr id="17478" name="Line 11"/>
            <p:cNvSpPr>
              <a:spLocks noChangeShapeType="1"/>
            </p:cNvSpPr>
            <p:nvPr/>
          </p:nvSpPr>
          <p:spPr bwMode="auto">
            <a:xfrm>
              <a:off x="1920" y="2448"/>
              <a:ext cx="1488" cy="0"/>
            </a:xfrm>
            <a:prstGeom prst="line">
              <a:avLst/>
            </a:prstGeom>
            <a:noFill/>
            <a:ln w="127000" cap="sq">
              <a:pattFill prst="wdUpDiag">
                <a:fgClr>
                  <a:srgbClr val="00FFFF"/>
                </a:fgClr>
                <a:bgClr>
                  <a:srgbClr val="FF0033"/>
                </a:bgClr>
              </a:pattFill>
              <a:miter lim="800000"/>
              <a:headEnd type="none" w="sm" len="sm"/>
              <a:tailEnd type="none" w="sm" len="sm"/>
            </a:ln>
          </p:spPr>
          <p:txBody>
            <a:bodyPr wrap="none"/>
            <a:lstStyle/>
            <a:p>
              <a:endParaRPr lang="zh-CN" altLang="en-US"/>
            </a:p>
          </p:txBody>
        </p:sp>
        <p:sp>
          <p:nvSpPr>
            <p:cNvPr id="17479" name="Line 12"/>
            <p:cNvSpPr>
              <a:spLocks noChangeShapeType="1"/>
            </p:cNvSpPr>
            <p:nvPr/>
          </p:nvSpPr>
          <p:spPr bwMode="auto">
            <a:xfrm>
              <a:off x="1872" y="1872"/>
              <a:ext cx="0" cy="576"/>
            </a:xfrm>
            <a:prstGeom prst="line">
              <a:avLst/>
            </a:prstGeom>
            <a:noFill/>
            <a:ln w="127000" cap="sq">
              <a:pattFill prst="wdUpDiag">
                <a:fgClr>
                  <a:srgbClr val="00FFFF"/>
                </a:fgClr>
                <a:bgClr>
                  <a:srgbClr val="FF0033"/>
                </a:bgClr>
              </a:pattFill>
              <a:miter lim="800000"/>
              <a:headEnd type="none" w="sm" len="sm"/>
              <a:tailEnd type="none" w="sm" len="sm"/>
            </a:ln>
          </p:spPr>
          <p:txBody>
            <a:bodyPr wrap="none"/>
            <a:lstStyle/>
            <a:p>
              <a:endParaRPr lang="zh-CN" altLang="en-US"/>
            </a:p>
          </p:txBody>
        </p:sp>
      </p:grpSp>
      <p:grpSp>
        <p:nvGrpSpPr>
          <p:cNvPr id="4" name="Group 13"/>
          <p:cNvGrpSpPr/>
          <p:nvPr/>
        </p:nvGrpSpPr>
        <p:grpSpPr bwMode="auto">
          <a:xfrm>
            <a:off x="7308850" y="1552575"/>
            <a:ext cx="1084263" cy="762000"/>
            <a:chOff x="4604" y="624"/>
            <a:chExt cx="683" cy="480"/>
          </a:xfrm>
        </p:grpSpPr>
        <p:grpSp>
          <p:nvGrpSpPr>
            <p:cNvPr id="17473" name="Group 14"/>
            <p:cNvGrpSpPr/>
            <p:nvPr/>
          </p:nvGrpSpPr>
          <p:grpSpPr bwMode="auto">
            <a:xfrm>
              <a:off x="4632" y="624"/>
              <a:ext cx="655" cy="480"/>
              <a:chOff x="4632" y="624"/>
              <a:chExt cx="655" cy="480"/>
            </a:xfrm>
          </p:grpSpPr>
          <p:sp>
            <p:nvSpPr>
              <p:cNvPr id="17475" name="Rectangle 15"/>
              <p:cNvSpPr>
                <a:spLocks noChangeArrowheads="1"/>
              </p:cNvSpPr>
              <p:nvPr/>
            </p:nvSpPr>
            <p:spPr bwMode="auto">
              <a:xfrm>
                <a:off x="4632" y="624"/>
                <a:ext cx="192" cy="480"/>
              </a:xfrm>
              <a:prstGeom prst="rect">
                <a:avLst/>
              </a:prstGeom>
              <a:gradFill rotWithShape="0">
                <a:gsLst>
                  <a:gs pos="0">
                    <a:srgbClr val="007676"/>
                  </a:gs>
                  <a:gs pos="50000">
                    <a:srgbClr val="00FFFF"/>
                  </a:gs>
                  <a:gs pos="100000">
                    <a:srgbClr val="007676"/>
                  </a:gs>
                </a:gsLst>
                <a:lin ang="5400000" scaled="1"/>
              </a:gradFill>
              <a:ln w="12700" cap="sq">
                <a:noFill/>
                <a:miter lim="800000"/>
                <a:headEnd type="none" w="sm" len="sm"/>
                <a:tailEnd type="none" w="sm" len="sm"/>
              </a:ln>
            </p:spPr>
            <p:txBody>
              <a:bodyPr wrap="none" anchor="ctr"/>
              <a:lstStyle/>
              <a:p>
                <a:pPr algn="ctr"/>
                <a:endParaRPr lang="zh-CN" altLang="en-US"/>
              </a:p>
            </p:txBody>
          </p:sp>
          <p:sp>
            <p:nvSpPr>
              <p:cNvPr id="17476" name="Line 16"/>
              <p:cNvSpPr>
                <a:spLocks noChangeShapeType="1"/>
              </p:cNvSpPr>
              <p:nvPr/>
            </p:nvSpPr>
            <p:spPr bwMode="auto">
              <a:xfrm>
                <a:off x="4855" y="864"/>
                <a:ext cx="432" cy="0"/>
              </a:xfrm>
              <a:prstGeom prst="line">
                <a:avLst/>
              </a:prstGeom>
              <a:noFill/>
              <a:ln w="101600" cap="sq">
                <a:solidFill>
                  <a:srgbClr val="009999"/>
                </a:solidFill>
                <a:miter lim="800000"/>
                <a:headEnd type="none" w="sm" len="sm"/>
                <a:tailEnd type="none" w="sm" len="sm"/>
              </a:ln>
            </p:spPr>
            <p:txBody>
              <a:bodyPr wrap="none"/>
              <a:lstStyle/>
              <a:p>
                <a:endParaRPr lang="zh-CN" altLang="en-US"/>
              </a:p>
            </p:txBody>
          </p:sp>
        </p:grpSp>
        <p:sp>
          <p:nvSpPr>
            <p:cNvPr id="17474" name="Text Box 17"/>
            <p:cNvSpPr txBox="1">
              <a:spLocks noChangeArrowheads="1"/>
            </p:cNvSpPr>
            <p:nvPr/>
          </p:nvSpPr>
          <p:spPr bwMode="auto">
            <a:xfrm>
              <a:off x="4604" y="709"/>
              <a:ext cx="223" cy="288"/>
            </a:xfrm>
            <a:prstGeom prst="rect">
              <a:avLst/>
            </a:prstGeom>
            <a:noFill/>
            <a:ln w="12700" cap="sq">
              <a:noFill/>
              <a:miter lim="800000"/>
              <a:headEnd type="none" w="sm" len="sm"/>
              <a:tailEnd type="none" w="sm" len="sm"/>
            </a:ln>
          </p:spPr>
          <p:txBody>
            <a:bodyPr wrap="none">
              <a:spAutoFit/>
            </a:bodyPr>
            <a:lstStyle/>
            <a:p>
              <a:r>
                <a:rPr kumimoji="1" lang="en-US" altLang="zh-CN"/>
                <a:t>S</a:t>
              </a:r>
              <a:endParaRPr kumimoji="1" lang="en-US" altLang="zh-CN"/>
            </a:p>
          </p:txBody>
        </p:sp>
      </p:grpSp>
      <p:grpSp>
        <p:nvGrpSpPr>
          <p:cNvPr id="6" name="Group 18"/>
          <p:cNvGrpSpPr/>
          <p:nvPr/>
        </p:nvGrpSpPr>
        <p:grpSpPr bwMode="auto">
          <a:xfrm>
            <a:off x="6667500" y="1704975"/>
            <a:ext cx="685800" cy="457200"/>
            <a:chOff x="4200" y="720"/>
            <a:chExt cx="432" cy="288"/>
          </a:xfrm>
        </p:grpSpPr>
        <p:grpSp>
          <p:nvGrpSpPr>
            <p:cNvPr id="17468" name="Group 19"/>
            <p:cNvGrpSpPr/>
            <p:nvPr/>
          </p:nvGrpSpPr>
          <p:grpSpPr bwMode="auto">
            <a:xfrm>
              <a:off x="4536" y="720"/>
              <a:ext cx="96" cy="288"/>
              <a:chOff x="4752" y="1392"/>
              <a:chExt cx="96" cy="288"/>
            </a:xfrm>
          </p:grpSpPr>
          <p:sp>
            <p:nvSpPr>
              <p:cNvPr id="17469" name="Line 20"/>
              <p:cNvSpPr>
                <a:spLocks noChangeShapeType="1"/>
              </p:cNvSpPr>
              <p:nvPr/>
            </p:nvSpPr>
            <p:spPr bwMode="auto">
              <a:xfrm>
                <a:off x="4752" y="1392"/>
                <a:ext cx="96" cy="0"/>
              </a:xfrm>
              <a:prstGeom prst="line">
                <a:avLst/>
              </a:prstGeom>
              <a:noFill/>
              <a:ln w="19050" cap="sq">
                <a:solidFill>
                  <a:schemeClr val="tx1"/>
                </a:solidFill>
                <a:miter lim="800000"/>
                <a:headEnd type="none" w="sm" len="sm"/>
                <a:tailEnd type="triangle" w="sm" len="sm"/>
              </a:ln>
            </p:spPr>
            <p:txBody>
              <a:bodyPr wrap="none"/>
              <a:lstStyle/>
              <a:p>
                <a:endParaRPr lang="zh-CN" altLang="en-US"/>
              </a:p>
            </p:txBody>
          </p:sp>
          <p:sp>
            <p:nvSpPr>
              <p:cNvPr id="17470" name="Line 21"/>
              <p:cNvSpPr>
                <a:spLocks noChangeShapeType="1"/>
              </p:cNvSpPr>
              <p:nvPr/>
            </p:nvSpPr>
            <p:spPr bwMode="auto">
              <a:xfrm>
                <a:off x="4752" y="1488"/>
                <a:ext cx="96" cy="0"/>
              </a:xfrm>
              <a:prstGeom prst="line">
                <a:avLst/>
              </a:prstGeom>
              <a:noFill/>
              <a:ln w="19050" cap="sq">
                <a:solidFill>
                  <a:schemeClr val="tx1"/>
                </a:solidFill>
                <a:miter lim="800000"/>
                <a:headEnd type="none" w="sm" len="sm"/>
                <a:tailEnd type="triangle" w="sm" len="sm"/>
              </a:ln>
            </p:spPr>
            <p:txBody>
              <a:bodyPr wrap="none"/>
              <a:lstStyle/>
              <a:p>
                <a:endParaRPr lang="zh-CN" altLang="en-US"/>
              </a:p>
            </p:txBody>
          </p:sp>
          <p:sp>
            <p:nvSpPr>
              <p:cNvPr id="17471" name="Line 22"/>
              <p:cNvSpPr>
                <a:spLocks noChangeShapeType="1"/>
              </p:cNvSpPr>
              <p:nvPr/>
            </p:nvSpPr>
            <p:spPr bwMode="auto">
              <a:xfrm>
                <a:off x="4752" y="1584"/>
                <a:ext cx="96" cy="0"/>
              </a:xfrm>
              <a:prstGeom prst="line">
                <a:avLst/>
              </a:prstGeom>
              <a:noFill/>
              <a:ln w="19050" cap="sq">
                <a:solidFill>
                  <a:schemeClr val="tx1"/>
                </a:solidFill>
                <a:miter lim="800000"/>
                <a:headEnd type="none" w="sm" len="sm"/>
                <a:tailEnd type="triangle" w="sm" len="sm"/>
              </a:ln>
            </p:spPr>
            <p:txBody>
              <a:bodyPr wrap="none"/>
              <a:lstStyle/>
              <a:p>
                <a:endParaRPr lang="zh-CN" altLang="en-US"/>
              </a:p>
            </p:txBody>
          </p:sp>
          <p:sp>
            <p:nvSpPr>
              <p:cNvPr id="17472" name="Line 23"/>
              <p:cNvSpPr>
                <a:spLocks noChangeShapeType="1"/>
              </p:cNvSpPr>
              <p:nvPr/>
            </p:nvSpPr>
            <p:spPr bwMode="auto">
              <a:xfrm>
                <a:off x="4752" y="1680"/>
                <a:ext cx="96" cy="0"/>
              </a:xfrm>
              <a:prstGeom prst="line">
                <a:avLst/>
              </a:prstGeom>
              <a:noFill/>
              <a:ln w="19050" cap="sq">
                <a:solidFill>
                  <a:schemeClr val="tx1"/>
                </a:solidFill>
                <a:miter lim="800000"/>
                <a:headEnd type="none" w="sm" len="sm"/>
                <a:tailEnd type="triangle" w="sm" len="sm"/>
              </a:ln>
            </p:spPr>
            <p:txBody>
              <a:bodyPr wrap="none"/>
              <a:lstStyle/>
              <a:p>
                <a:endParaRPr lang="zh-CN" altLang="en-US"/>
              </a:p>
            </p:txBody>
          </p:sp>
        </p:grpSp>
        <p:graphicFrame>
          <p:nvGraphicFramePr>
            <p:cNvPr id="17422" name="Object 12"/>
            <p:cNvGraphicFramePr>
              <a:graphicFrameLocks noChangeAspect="1"/>
            </p:cNvGraphicFramePr>
            <p:nvPr/>
          </p:nvGraphicFramePr>
          <p:xfrm>
            <a:off x="4200" y="790"/>
            <a:ext cx="266" cy="153"/>
          </p:xfrm>
          <a:graphic>
            <a:graphicData uri="http://schemas.openxmlformats.org/presentationml/2006/ole">
              <mc:AlternateContent xmlns:mc="http://schemas.openxmlformats.org/markup-compatibility/2006">
                <mc:Choice xmlns:v="urn:schemas-microsoft-com:vml" Requires="v">
                  <p:oleObj spid="_x0000_s17409" name="公式" r:id="rId1" imgW="12801600" imgH="7315200" progId="Equation.3">
                    <p:embed/>
                  </p:oleObj>
                </mc:Choice>
                <mc:Fallback>
                  <p:oleObj name="公式" r:id="rId1" imgW="12801600" imgH="7315200" progId="Equation.3">
                    <p:embed/>
                    <p:pic>
                      <p:nvPicPr>
                        <p:cNvPr id="0" name="Object 12"/>
                        <p:cNvPicPr>
                          <a:picLocks noChangeAspect="1"/>
                        </p:cNvPicPr>
                        <p:nvPr/>
                      </p:nvPicPr>
                      <p:blipFill>
                        <a:blip r:embed="rId2"/>
                        <a:stretch>
                          <a:fillRect/>
                        </a:stretch>
                      </p:blipFill>
                      <p:spPr>
                        <a:xfrm>
                          <a:off x="4200" y="790"/>
                          <a:ext cx="266" cy="153"/>
                        </a:xfrm>
                        <a:prstGeom prst="rect">
                          <a:avLst/>
                        </a:prstGeom>
                        <a:noFill/>
                        <a:ln w="9525">
                          <a:noFill/>
                        </a:ln>
                      </p:spPr>
                    </p:pic>
                  </p:oleObj>
                </mc:Fallback>
              </mc:AlternateContent>
            </a:graphicData>
          </a:graphic>
        </p:graphicFrame>
      </p:grpSp>
      <p:grpSp>
        <p:nvGrpSpPr>
          <p:cNvPr id="8" name="Group 68"/>
          <p:cNvGrpSpPr/>
          <p:nvPr/>
        </p:nvGrpSpPr>
        <p:grpSpPr bwMode="auto">
          <a:xfrm>
            <a:off x="7740650" y="1533525"/>
            <a:ext cx="893763" cy="406400"/>
            <a:chOff x="4876" y="556"/>
            <a:chExt cx="563" cy="256"/>
          </a:xfrm>
        </p:grpSpPr>
        <p:sp>
          <p:nvSpPr>
            <p:cNvPr id="17467" name="Line 26"/>
            <p:cNvSpPr>
              <a:spLocks noChangeShapeType="1"/>
            </p:cNvSpPr>
            <p:nvPr/>
          </p:nvSpPr>
          <p:spPr bwMode="auto">
            <a:xfrm>
              <a:off x="4876" y="812"/>
              <a:ext cx="432" cy="0"/>
            </a:xfrm>
            <a:prstGeom prst="line">
              <a:avLst/>
            </a:prstGeom>
            <a:noFill/>
            <a:ln w="28575" cap="sq">
              <a:solidFill>
                <a:srgbClr val="FFFFFF"/>
              </a:solidFill>
              <a:miter lim="800000"/>
              <a:headEnd type="triangle" w="med" len="med"/>
              <a:tailEnd type="none" w="sm" len="sm"/>
            </a:ln>
          </p:spPr>
          <p:txBody>
            <a:bodyPr wrap="none"/>
            <a:lstStyle/>
            <a:p>
              <a:endParaRPr lang="zh-CN" altLang="en-US"/>
            </a:p>
          </p:txBody>
        </p:sp>
        <p:graphicFrame>
          <p:nvGraphicFramePr>
            <p:cNvPr id="17421" name="Object 11"/>
            <p:cNvGraphicFramePr>
              <a:graphicFrameLocks noChangeAspect="1"/>
            </p:cNvGraphicFramePr>
            <p:nvPr/>
          </p:nvGraphicFramePr>
          <p:xfrm>
            <a:off x="5184" y="556"/>
            <a:ext cx="255" cy="231"/>
          </p:xfrm>
          <a:graphic>
            <a:graphicData uri="http://schemas.openxmlformats.org/presentationml/2006/ole">
              <mc:AlternateContent xmlns:mc="http://schemas.openxmlformats.org/markup-compatibility/2006">
                <mc:Choice xmlns:v="urn:schemas-microsoft-com:vml" Requires="v">
                  <p:oleObj spid="_x0000_s17421" name="公式" r:id="rId3" imgW="12192000" imgH="10972800" progId="Equation.3">
                    <p:embed/>
                  </p:oleObj>
                </mc:Choice>
                <mc:Fallback>
                  <p:oleObj name="公式" r:id="rId3" imgW="12192000" imgH="10972800" progId="Equation.3">
                    <p:embed/>
                    <p:pic>
                      <p:nvPicPr>
                        <p:cNvPr id="0" name="Object 11"/>
                        <p:cNvPicPr>
                          <a:picLocks noChangeAspect="1"/>
                        </p:cNvPicPr>
                        <p:nvPr/>
                      </p:nvPicPr>
                      <p:blipFill>
                        <a:blip r:embed="rId4"/>
                        <a:stretch>
                          <a:fillRect/>
                        </a:stretch>
                      </p:blipFill>
                      <p:spPr>
                        <a:xfrm>
                          <a:off x="5184" y="556"/>
                          <a:ext cx="255" cy="231"/>
                        </a:xfrm>
                        <a:prstGeom prst="rect">
                          <a:avLst/>
                        </a:prstGeom>
                        <a:noFill/>
                        <a:ln w="9525">
                          <a:noFill/>
                        </a:ln>
                      </p:spPr>
                    </p:pic>
                  </p:oleObj>
                </mc:Fallback>
              </mc:AlternateContent>
            </a:graphicData>
          </a:graphic>
        </p:graphicFrame>
      </p:grpSp>
      <p:grpSp>
        <p:nvGrpSpPr>
          <p:cNvPr id="9" name="Group 28"/>
          <p:cNvGrpSpPr/>
          <p:nvPr/>
        </p:nvGrpSpPr>
        <p:grpSpPr bwMode="auto">
          <a:xfrm>
            <a:off x="6515100" y="1552575"/>
            <a:ext cx="838200" cy="1447800"/>
            <a:chOff x="4104" y="488"/>
            <a:chExt cx="528" cy="912"/>
          </a:xfrm>
        </p:grpSpPr>
        <p:sp>
          <p:nvSpPr>
            <p:cNvPr id="17461" name="Line 29"/>
            <p:cNvSpPr>
              <a:spLocks noChangeShapeType="1"/>
            </p:cNvSpPr>
            <p:nvPr/>
          </p:nvSpPr>
          <p:spPr bwMode="auto">
            <a:xfrm>
              <a:off x="4104" y="488"/>
              <a:ext cx="0" cy="528"/>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pSp>
          <p:nvGrpSpPr>
            <p:cNvPr id="17462" name="Group 30"/>
            <p:cNvGrpSpPr/>
            <p:nvPr/>
          </p:nvGrpSpPr>
          <p:grpSpPr bwMode="auto">
            <a:xfrm>
              <a:off x="4104" y="1064"/>
              <a:ext cx="528" cy="336"/>
              <a:chOff x="4104" y="1064"/>
              <a:chExt cx="528" cy="336"/>
            </a:xfrm>
          </p:grpSpPr>
          <p:sp>
            <p:nvSpPr>
              <p:cNvPr id="17463" name="Line 31"/>
              <p:cNvSpPr>
                <a:spLocks noChangeShapeType="1"/>
              </p:cNvSpPr>
              <p:nvPr/>
            </p:nvSpPr>
            <p:spPr bwMode="auto">
              <a:xfrm>
                <a:off x="4104" y="1064"/>
                <a:ext cx="0" cy="336"/>
              </a:xfrm>
              <a:prstGeom prst="line">
                <a:avLst/>
              </a:prstGeom>
              <a:noFill/>
              <a:ln w="12700" cap="sq">
                <a:solidFill>
                  <a:schemeClr val="tx1"/>
                </a:solidFill>
                <a:miter lim="800000"/>
                <a:headEnd type="none" w="sm" len="sm"/>
                <a:tailEnd type="none" w="sm" len="sm"/>
              </a:ln>
            </p:spPr>
            <p:txBody>
              <a:bodyPr wrap="none"/>
              <a:lstStyle/>
              <a:p>
                <a:endParaRPr lang="zh-CN" altLang="en-US"/>
              </a:p>
            </p:txBody>
          </p:sp>
          <p:sp>
            <p:nvSpPr>
              <p:cNvPr id="17464" name="Line 32"/>
              <p:cNvSpPr>
                <a:spLocks noChangeShapeType="1"/>
              </p:cNvSpPr>
              <p:nvPr/>
            </p:nvSpPr>
            <p:spPr bwMode="auto">
              <a:xfrm>
                <a:off x="4632" y="1064"/>
                <a:ext cx="0" cy="336"/>
              </a:xfrm>
              <a:prstGeom prst="line">
                <a:avLst/>
              </a:prstGeom>
              <a:noFill/>
              <a:ln w="12700" cap="sq">
                <a:solidFill>
                  <a:schemeClr val="tx1"/>
                </a:solidFill>
                <a:miter lim="800000"/>
                <a:headEnd type="none" w="sm" len="sm"/>
                <a:tailEnd type="none" w="sm" len="sm"/>
              </a:ln>
            </p:spPr>
            <p:txBody>
              <a:bodyPr wrap="none"/>
              <a:lstStyle/>
              <a:p>
                <a:endParaRPr lang="zh-CN" altLang="en-US"/>
              </a:p>
            </p:txBody>
          </p:sp>
          <p:sp>
            <p:nvSpPr>
              <p:cNvPr id="17465" name="Line 33"/>
              <p:cNvSpPr>
                <a:spLocks noChangeShapeType="1"/>
              </p:cNvSpPr>
              <p:nvPr/>
            </p:nvSpPr>
            <p:spPr bwMode="auto">
              <a:xfrm>
                <a:off x="4104" y="1334"/>
                <a:ext cx="528" cy="0"/>
              </a:xfrm>
              <a:prstGeom prst="line">
                <a:avLst/>
              </a:prstGeom>
              <a:noFill/>
              <a:ln w="12700" cap="sq">
                <a:solidFill>
                  <a:schemeClr val="tx1"/>
                </a:solidFill>
                <a:miter lim="800000"/>
                <a:headEnd type="triangle" w="med" len="med"/>
                <a:tailEnd type="triangle" w="med" len="med"/>
              </a:ln>
            </p:spPr>
            <p:txBody>
              <a:bodyPr wrap="none"/>
              <a:lstStyle/>
              <a:p>
                <a:endParaRPr lang="zh-CN" altLang="en-US"/>
              </a:p>
            </p:txBody>
          </p:sp>
          <p:sp>
            <p:nvSpPr>
              <p:cNvPr id="17466" name="Text Box 34"/>
              <p:cNvSpPr txBox="1">
                <a:spLocks noChangeArrowheads="1"/>
              </p:cNvSpPr>
              <p:nvPr/>
            </p:nvSpPr>
            <p:spPr bwMode="auto">
              <a:xfrm>
                <a:off x="4241" y="1128"/>
                <a:ext cx="298" cy="250"/>
              </a:xfrm>
              <a:prstGeom prst="rect">
                <a:avLst/>
              </a:prstGeom>
              <a:noFill/>
              <a:ln w="9525">
                <a:noFill/>
                <a:miter lim="800000"/>
              </a:ln>
            </p:spPr>
            <p:txBody>
              <a:bodyPr wrap="none">
                <a:spAutoFit/>
              </a:bodyPr>
              <a:lstStyle/>
              <a:p>
                <a:r>
                  <a:rPr lang="en-US" altLang="zh-CN" sz="2000">
                    <a:sym typeface="Symbol" panose="05050102010706020507" pitchFamily="18" charset="2"/>
                  </a:rPr>
                  <a:t> </a:t>
                </a:r>
                <a:r>
                  <a:rPr lang="en-US" altLang="zh-CN" sz="2000" i="1"/>
                  <a:t>l</a:t>
                </a:r>
                <a:endParaRPr lang="en-US" altLang="zh-CN" sz="2000" i="1"/>
              </a:p>
            </p:txBody>
          </p:sp>
        </p:grpSp>
      </p:grpSp>
      <p:sp>
        <p:nvSpPr>
          <p:cNvPr id="31779" name="Line 35"/>
          <p:cNvSpPr>
            <a:spLocks noChangeShapeType="1"/>
          </p:cNvSpPr>
          <p:nvPr/>
        </p:nvSpPr>
        <p:spPr bwMode="auto">
          <a:xfrm>
            <a:off x="6156325" y="4656138"/>
            <a:ext cx="1676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sp>
        <p:nvSpPr>
          <p:cNvPr id="31780" name="Line 36"/>
          <p:cNvSpPr>
            <a:spLocks noChangeShapeType="1"/>
          </p:cNvSpPr>
          <p:nvPr/>
        </p:nvSpPr>
        <p:spPr bwMode="auto">
          <a:xfrm>
            <a:off x="6156325" y="3721100"/>
            <a:ext cx="533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sp>
        <p:nvSpPr>
          <p:cNvPr id="31781" name="Line 37"/>
          <p:cNvSpPr>
            <a:spLocks noChangeShapeType="1"/>
          </p:cNvSpPr>
          <p:nvPr/>
        </p:nvSpPr>
        <p:spPr bwMode="auto">
          <a:xfrm>
            <a:off x="6948488" y="4224338"/>
            <a:ext cx="0" cy="1008062"/>
          </a:xfrm>
          <a:prstGeom prst="line">
            <a:avLst/>
          </a:prstGeom>
          <a:noFill/>
          <a:ln w="107950" cap="sq">
            <a:pattFill prst="wdUpDiag">
              <a:fgClr>
                <a:srgbClr val="FFFFFF"/>
              </a:fgClr>
              <a:bgClr>
                <a:srgbClr val="FF0033"/>
              </a:bgClr>
            </a:pattFill>
            <a:miter lim="800000"/>
            <a:headEnd type="none" w="sm" len="sm"/>
            <a:tailEnd type="none" w="sm" len="sm"/>
          </a:ln>
        </p:spPr>
        <p:txBody>
          <a:bodyPr wrap="none"/>
          <a:lstStyle/>
          <a:p>
            <a:endParaRPr lang="zh-CN" altLang="en-US"/>
          </a:p>
        </p:txBody>
      </p:sp>
      <p:graphicFrame>
        <p:nvGraphicFramePr>
          <p:cNvPr id="176128" name="Object 0"/>
          <p:cNvGraphicFramePr>
            <a:graphicFrameLocks noChangeAspect="1"/>
          </p:cNvGraphicFramePr>
          <p:nvPr/>
        </p:nvGraphicFramePr>
        <p:xfrm>
          <a:off x="5651500" y="3422650"/>
          <a:ext cx="330200" cy="419100"/>
        </p:xfrm>
        <a:graphic>
          <a:graphicData uri="http://schemas.openxmlformats.org/presentationml/2006/ole">
            <mc:AlternateContent xmlns:mc="http://schemas.openxmlformats.org/markup-compatibility/2006">
              <mc:Choice xmlns:v="urn:schemas-microsoft-com:vml" Requires="v">
                <p:oleObj spid="_x0000_s17410" name="公式" r:id="rId5" imgW="7924800" imgH="10058400" progId="Equation.3">
                  <p:embed/>
                </p:oleObj>
              </mc:Choice>
              <mc:Fallback>
                <p:oleObj name="公式" r:id="rId5" imgW="7924800" imgH="10058400" progId="Equation.3">
                  <p:embed/>
                  <p:pic>
                    <p:nvPicPr>
                      <p:cNvPr id="0" name="Object 0"/>
                      <p:cNvPicPr>
                        <a:picLocks noChangeAspect="1"/>
                      </p:cNvPicPr>
                      <p:nvPr/>
                    </p:nvPicPr>
                    <p:blipFill>
                      <a:blip r:embed="rId6"/>
                      <a:stretch>
                        <a:fillRect/>
                      </a:stretch>
                    </p:blipFill>
                    <p:spPr>
                      <a:xfrm>
                        <a:off x="5651500" y="3422650"/>
                        <a:ext cx="330200" cy="419100"/>
                      </a:xfrm>
                      <a:prstGeom prst="rect">
                        <a:avLst/>
                      </a:prstGeom>
                      <a:noFill/>
                      <a:ln w="9525">
                        <a:noFill/>
                      </a:ln>
                    </p:spPr>
                  </p:pic>
                </p:oleObj>
              </mc:Fallback>
            </mc:AlternateContent>
          </a:graphicData>
        </a:graphic>
      </p:graphicFrame>
      <p:graphicFrame>
        <p:nvGraphicFramePr>
          <p:cNvPr id="176129" name="Object 1"/>
          <p:cNvGraphicFramePr>
            <a:graphicFrameLocks noChangeAspect="1"/>
          </p:cNvGraphicFramePr>
          <p:nvPr/>
        </p:nvGraphicFramePr>
        <p:xfrm>
          <a:off x="7164388" y="3500438"/>
          <a:ext cx="374650" cy="442912"/>
        </p:xfrm>
        <a:graphic>
          <a:graphicData uri="http://schemas.openxmlformats.org/presentationml/2006/ole">
            <mc:AlternateContent xmlns:mc="http://schemas.openxmlformats.org/markup-compatibility/2006">
              <mc:Choice xmlns:v="urn:schemas-microsoft-com:vml" Requires="v">
                <p:oleObj spid="_x0000_s17411" name="公式" r:id="rId7" imgW="3352800" imgH="3962400" progId="Equation.3">
                  <p:embed/>
                </p:oleObj>
              </mc:Choice>
              <mc:Fallback>
                <p:oleObj name="公式" r:id="rId7" imgW="3352800" imgH="3962400" progId="Equation.3">
                  <p:embed/>
                  <p:pic>
                    <p:nvPicPr>
                      <p:cNvPr id="0" name="Object 1"/>
                      <p:cNvPicPr>
                        <a:picLocks noChangeAspect="1"/>
                      </p:cNvPicPr>
                      <p:nvPr/>
                    </p:nvPicPr>
                    <p:blipFill>
                      <a:blip r:embed="rId8"/>
                      <a:stretch>
                        <a:fillRect/>
                      </a:stretch>
                    </p:blipFill>
                    <p:spPr>
                      <a:xfrm>
                        <a:off x="7164388" y="3500438"/>
                        <a:ext cx="374650" cy="442912"/>
                      </a:xfrm>
                      <a:prstGeom prst="rect">
                        <a:avLst/>
                      </a:prstGeom>
                      <a:noFill/>
                      <a:ln w="9525">
                        <a:noFill/>
                      </a:ln>
                    </p:spPr>
                  </p:pic>
                </p:oleObj>
              </mc:Fallback>
            </mc:AlternateContent>
          </a:graphicData>
        </a:graphic>
      </p:graphicFrame>
      <p:sp>
        <p:nvSpPr>
          <p:cNvPr id="31784" name="Text Box 40"/>
          <p:cNvSpPr txBox="1">
            <a:spLocks noChangeArrowheads="1"/>
          </p:cNvSpPr>
          <p:nvPr/>
        </p:nvSpPr>
        <p:spPr bwMode="auto">
          <a:xfrm>
            <a:off x="6732588" y="3567113"/>
            <a:ext cx="439737" cy="396875"/>
          </a:xfrm>
          <a:prstGeom prst="rect">
            <a:avLst/>
          </a:prstGeom>
          <a:noFill/>
          <a:ln w="12700" cap="sq">
            <a:noFill/>
            <a:miter lim="800000"/>
            <a:headEnd type="none" w="sm" len="sm"/>
            <a:tailEnd type="none" w="sm" len="sm"/>
          </a:ln>
        </p:spPr>
        <p:txBody>
          <a:bodyPr wrap="none">
            <a:spAutoFit/>
          </a:bodyPr>
          <a:lstStyle/>
          <a:p>
            <a:r>
              <a:rPr kumimoji="1" lang="en-US" altLang="zh-CN" sz="2000" i="1"/>
              <a:t>Ⅰ</a:t>
            </a:r>
            <a:endParaRPr kumimoji="1" lang="en-US" altLang="zh-CN" sz="2000" i="1"/>
          </a:p>
        </p:txBody>
      </p:sp>
      <p:sp>
        <p:nvSpPr>
          <p:cNvPr id="31786" name="Text Box 42"/>
          <p:cNvSpPr txBox="1">
            <a:spLocks noChangeArrowheads="1"/>
          </p:cNvSpPr>
          <p:nvPr/>
        </p:nvSpPr>
        <p:spPr bwMode="auto">
          <a:xfrm>
            <a:off x="7940675" y="4446588"/>
            <a:ext cx="439738" cy="396875"/>
          </a:xfrm>
          <a:prstGeom prst="rect">
            <a:avLst/>
          </a:prstGeom>
          <a:noFill/>
          <a:ln w="12700" cap="sq">
            <a:noFill/>
            <a:miter lim="800000"/>
            <a:headEnd type="none" w="sm" len="sm"/>
            <a:tailEnd type="none" w="sm" len="sm"/>
          </a:ln>
        </p:spPr>
        <p:txBody>
          <a:bodyPr wrap="none">
            <a:spAutoFit/>
          </a:bodyPr>
          <a:lstStyle/>
          <a:p>
            <a:r>
              <a:rPr kumimoji="1" lang="en-US" altLang="zh-CN" sz="2000" i="1"/>
              <a:t>Ⅱ</a:t>
            </a:r>
            <a:endParaRPr kumimoji="1" lang="en-US" altLang="zh-CN" sz="2000" i="1"/>
          </a:p>
        </p:txBody>
      </p:sp>
      <p:graphicFrame>
        <p:nvGraphicFramePr>
          <p:cNvPr id="176130" name="Object 2"/>
          <p:cNvGraphicFramePr>
            <a:graphicFrameLocks noChangeAspect="1"/>
          </p:cNvGraphicFramePr>
          <p:nvPr/>
        </p:nvGraphicFramePr>
        <p:xfrm>
          <a:off x="5651500" y="4368800"/>
          <a:ext cx="368300" cy="419100"/>
        </p:xfrm>
        <a:graphic>
          <a:graphicData uri="http://schemas.openxmlformats.org/presentationml/2006/ole">
            <mc:AlternateContent xmlns:mc="http://schemas.openxmlformats.org/markup-compatibility/2006">
              <mc:Choice xmlns:v="urn:schemas-microsoft-com:vml" Requires="v">
                <p:oleObj spid="_x0000_s17412" name="公式" r:id="rId9" imgW="8839200" imgH="10058400" progId="Equation.3">
                  <p:embed/>
                </p:oleObj>
              </mc:Choice>
              <mc:Fallback>
                <p:oleObj name="公式" r:id="rId9" imgW="8839200" imgH="10058400" progId="Equation.3">
                  <p:embed/>
                  <p:pic>
                    <p:nvPicPr>
                      <p:cNvPr id="0" name="Object 2"/>
                      <p:cNvPicPr>
                        <a:picLocks noChangeAspect="1"/>
                      </p:cNvPicPr>
                      <p:nvPr/>
                    </p:nvPicPr>
                    <p:blipFill>
                      <a:blip r:embed="rId10"/>
                      <a:stretch>
                        <a:fillRect/>
                      </a:stretch>
                    </p:blipFill>
                    <p:spPr>
                      <a:xfrm>
                        <a:off x="5651500" y="4368800"/>
                        <a:ext cx="368300" cy="419100"/>
                      </a:xfrm>
                      <a:prstGeom prst="rect">
                        <a:avLst/>
                      </a:prstGeom>
                      <a:noFill/>
                      <a:ln w="9525">
                        <a:noFill/>
                      </a:ln>
                    </p:spPr>
                  </p:pic>
                </p:oleObj>
              </mc:Fallback>
            </mc:AlternateContent>
          </a:graphicData>
        </a:graphic>
      </p:graphicFrame>
      <p:grpSp>
        <p:nvGrpSpPr>
          <p:cNvPr id="11" name="Group 46"/>
          <p:cNvGrpSpPr/>
          <p:nvPr/>
        </p:nvGrpSpPr>
        <p:grpSpPr bwMode="auto">
          <a:xfrm>
            <a:off x="6516688" y="1543050"/>
            <a:ext cx="1084262" cy="762000"/>
            <a:chOff x="4604" y="624"/>
            <a:chExt cx="683" cy="480"/>
          </a:xfrm>
        </p:grpSpPr>
        <p:grpSp>
          <p:nvGrpSpPr>
            <p:cNvPr id="17457" name="Group 47"/>
            <p:cNvGrpSpPr/>
            <p:nvPr/>
          </p:nvGrpSpPr>
          <p:grpSpPr bwMode="auto">
            <a:xfrm>
              <a:off x="4632" y="624"/>
              <a:ext cx="655" cy="480"/>
              <a:chOff x="4632" y="624"/>
              <a:chExt cx="655" cy="480"/>
            </a:xfrm>
          </p:grpSpPr>
          <p:sp>
            <p:nvSpPr>
              <p:cNvPr id="17459" name="Rectangle 48"/>
              <p:cNvSpPr>
                <a:spLocks noChangeArrowheads="1"/>
              </p:cNvSpPr>
              <p:nvPr/>
            </p:nvSpPr>
            <p:spPr bwMode="auto">
              <a:xfrm>
                <a:off x="4632" y="624"/>
                <a:ext cx="192" cy="480"/>
              </a:xfrm>
              <a:prstGeom prst="rect">
                <a:avLst/>
              </a:prstGeom>
              <a:gradFill rotWithShape="0">
                <a:gsLst>
                  <a:gs pos="0">
                    <a:srgbClr val="007676"/>
                  </a:gs>
                  <a:gs pos="50000">
                    <a:srgbClr val="00FFFF"/>
                  </a:gs>
                  <a:gs pos="100000">
                    <a:srgbClr val="007676"/>
                  </a:gs>
                </a:gsLst>
                <a:lin ang="5400000" scaled="1"/>
              </a:gradFill>
              <a:ln w="12700" cap="sq">
                <a:noFill/>
                <a:miter lim="800000"/>
                <a:headEnd type="none" w="sm" len="sm"/>
                <a:tailEnd type="none" w="sm" len="sm"/>
              </a:ln>
            </p:spPr>
            <p:txBody>
              <a:bodyPr wrap="none" anchor="ctr"/>
              <a:lstStyle/>
              <a:p>
                <a:pPr algn="ctr"/>
                <a:endParaRPr lang="zh-CN" altLang="en-US"/>
              </a:p>
            </p:txBody>
          </p:sp>
          <p:sp>
            <p:nvSpPr>
              <p:cNvPr id="17460" name="Line 49"/>
              <p:cNvSpPr>
                <a:spLocks noChangeShapeType="1"/>
              </p:cNvSpPr>
              <p:nvPr/>
            </p:nvSpPr>
            <p:spPr bwMode="auto">
              <a:xfrm>
                <a:off x="4855" y="864"/>
                <a:ext cx="432" cy="0"/>
              </a:xfrm>
              <a:prstGeom prst="line">
                <a:avLst/>
              </a:prstGeom>
              <a:noFill/>
              <a:ln w="101600" cap="sq">
                <a:solidFill>
                  <a:srgbClr val="009999"/>
                </a:solidFill>
                <a:miter lim="800000"/>
                <a:headEnd type="none" w="sm" len="sm"/>
                <a:tailEnd type="none" w="sm" len="sm"/>
              </a:ln>
            </p:spPr>
            <p:txBody>
              <a:bodyPr wrap="none"/>
              <a:lstStyle/>
              <a:p>
                <a:endParaRPr lang="zh-CN" altLang="en-US"/>
              </a:p>
            </p:txBody>
          </p:sp>
        </p:grpSp>
        <p:sp>
          <p:nvSpPr>
            <p:cNvPr id="17458" name="Text Box 50"/>
            <p:cNvSpPr txBox="1">
              <a:spLocks noChangeArrowheads="1"/>
            </p:cNvSpPr>
            <p:nvPr/>
          </p:nvSpPr>
          <p:spPr bwMode="auto">
            <a:xfrm>
              <a:off x="4604" y="709"/>
              <a:ext cx="223" cy="288"/>
            </a:xfrm>
            <a:prstGeom prst="rect">
              <a:avLst/>
            </a:prstGeom>
            <a:noFill/>
            <a:ln w="12700" cap="sq">
              <a:noFill/>
              <a:miter lim="800000"/>
              <a:headEnd type="none" w="sm" len="sm"/>
              <a:tailEnd type="none" w="sm" len="sm"/>
            </a:ln>
          </p:spPr>
          <p:txBody>
            <a:bodyPr wrap="none">
              <a:spAutoFit/>
            </a:bodyPr>
            <a:lstStyle/>
            <a:p>
              <a:r>
                <a:rPr kumimoji="1" lang="en-US" altLang="zh-CN"/>
                <a:t>S</a:t>
              </a:r>
              <a:endParaRPr kumimoji="1" lang="en-US" altLang="zh-CN"/>
            </a:p>
          </p:txBody>
        </p:sp>
      </p:grpSp>
      <p:sp>
        <p:nvSpPr>
          <p:cNvPr id="31795" name="Line 51"/>
          <p:cNvSpPr>
            <a:spLocks noChangeShapeType="1"/>
          </p:cNvSpPr>
          <p:nvPr/>
        </p:nvSpPr>
        <p:spPr bwMode="auto">
          <a:xfrm>
            <a:off x="7885113" y="4729163"/>
            <a:ext cx="0" cy="503237"/>
          </a:xfrm>
          <a:prstGeom prst="line">
            <a:avLst/>
          </a:prstGeom>
          <a:noFill/>
          <a:ln w="12700">
            <a:solidFill>
              <a:schemeClr val="tx1"/>
            </a:solidFill>
            <a:prstDash val="dash"/>
            <a:round/>
          </a:ln>
        </p:spPr>
        <p:txBody>
          <a:bodyPr/>
          <a:lstStyle/>
          <a:p>
            <a:endParaRPr lang="zh-CN" altLang="en-US"/>
          </a:p>
        </p:txBody>
      </p:sp>
      <p:sp>
        <p:nvSpPr>
          <p:cNvPr id="31796" name="Line 52"/>
          <p:cNvSpPr>
            <a:spLocks noChangeShapeType="1"/>
          </p:cNvSpPr>
          <p:nvPr/>
        </p:nvSpPr>
        <p:spPr bwMode="auto">
          <a:xfrm>
            <a:off x="6681788" y="3767138"/>
            <a:ext cx="0" cy="1511300"/>
          </a:xfrm>
          <a:prstGeom prst="line">
            <a:avLst/>
          </a:prstGeom>
          <a:noFill/>
          <a:ln w="9525">
            <a:solidFill>
              <a:schemeClr val="tx1"/>
            </a:solidFill>
            <a:prstDash val="dash"/>
            <a:round/>
          </a:ln>
        </p:spPr>
        <p:txBody>
          <a:bodyPr/>
          <a:lstStyle/>
          <a:p>
            <a:endParaRPr lang="zh-CN" altLang="en-US"/>
          </a:p>
        </p:txBody>
      </p:sp>
      <p:graphicFrame>
        <p:nvGraphicFramePr>
          <p:cNvPr id="176131" name="Object 3"/>
          <p:cNvGraphicFramePr>
            <a:graphicFrameLocks noChangeAspect="1"/>
          </p:cNvGraphicFramePr>
          <p:nvPr/>
        </p:nvGraphicFramePr>
        <p:xfrm>
          <a:off x="7773988" y="5376863"/>
          <a:ext cx="254000" cy="338137"/>
        </p:xfrm>
        <a:graphic>
          <a:graphicData uri="http://schemas.openxmlformats.org/presentationml/2006/ole">
            <mc:AlternateContent xmlns:mc="http://schemas.openxmlformats.org/markup-compatibility/2006">
              <mc:Choice xmlns:v="urn:schemas-microsoft-com:vml" Requires="v">
                <p:oleObj spid="_x0000_s17413" name="公式" r:id="rId11" imgW="7620000" imgH="10058400" progId="Equation.3">
                  <p:embed/>
                </p:oleObj>
              </mc:Choice>
              <mc:Fallback>
                <p:oleObj name="公式" r:id="rId11" imgW="7620000" imgH="10058400" progId="Equation.3">
                  <p:embed/>
                  <p:pic>
                    <p:nvPicPr>
                      <p:cNvPr id="0" name="Object 3"/>
                      <p:cNvPicPr>
                        <a:picLocks noChangeAspect="1"/>
                      </p:cNvPicPr>
                      <p:nvPr/>
                    </p:nvPicPr>
                    <p:blipFill>
                      <a:blip r:embed="rId12"/>
                      <a:stretch>
                        <a:fillRect/>
                      </a:stretch>
                    </p:blipFill>
                    <p:spPr>
                      <a:xfrm>
                        <a:off x="7773988" y="5376863"/>
                        <a:ext cx="254000" cy="338137"/>
                      </a:xfrm>
                      <a:prstGeom prst="rect">
                        <a:avLst/>
                      </a:prstGeom>
                      <a:noFill/>
                      <a:ln w="9525">
                        <a:noFill/>
                      </a:ln>
                    </p:spPr>
                  </p:pic>
                </p:oleObj>
              </mc:Fallback>
            </mc:AlternateContent>
          </a:graphicData>
        </a:graphic>
      </p:graphicFrame>
      <p:grpSp>
        <p:nvGrpSpPr>
          <p:cNvPr id="13" name="Group 55"/>
          <p:cNvGrpSpPr>
            <a:grpSpLocks noChangeAspect="1"/>
          </p:cNvGrpSpPr>
          <p:nvPr/>
        </p:nvGrpSpPr>
        <p:grpSpPr bwMode="auto">
          <a:xfrm>
            <a:off x="5795963" y="3000375"/>
            <a:ext cx="2909887" cy="2727325"/>
            <a:chOff x="3443" y="2160"/>
            <a:chExt cx="2035" cy="1908"/>
          </a:xfrm>
        </p:grpSpPr>
        <p:sp>
          <p:nvSpPr>
            <p:cNvPr id="17452" name="Line 56"/>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17453" name="Line 57"/>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17454" name="Text Box 58"/>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i="1"/>
                <a:t>O</a:t>
              </a:r>
              <a:endParaRPr lang="en-US" altLang="zh-CN" i="1"/>
            </a:p>
          </p:txBody>
        </p:sp>
        <p:sp>
          <p:nvSpPr>
            <p:cNvPr id="17455" name="Text Box 59"/>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i="1"/>
                <a:t>V</a:t>
              </a:r>
              <a:endParaRPr lang="en-US" altLang="zh-CN" i="1"/>
            </a:p>
          </p:txBody>
        </p:sp>
        <p:sp>
          <p:nvSpPr>
            <p:cNvPr id="17456" name="Text Box 60"/>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i="1"/>
                <a:t>p</a:t>
              </a:r>
              <a:endParaRPr lang="en-US" altLang="zh-CN" i="1"/>
            </a:p>
          </p:txBody>
        </p:sp>
      </p:grpSp>
      <p:sp>
        <p:nvSpPr>
          <p:cNvPr id="31805" name="Oval 61"/>
          <p:cNvSpPr>
            <a:spLocks noChangeArrowheads="1"/>
          </p:cNvSpPr>
          <p:nvPr/>
        </p:nvSpPr>
        <p:spPr bwMode="auto">
          <a:xfrm>
            <a:off x="7313613" y="1427163"/>
            <a:ext cx="76200" cy="76200"/>
          </a:xfrm>
          <a:prstGeom prst="ellipse">
            <a:avLst/>
          </a:prstGeom>
          <a:gradFill rotWithShape="0">
            <a:gsLst>
              <a:gs pos="0">
                <a:srgbClr val="FF9900"/>
              </a:gs>
              <a:gs pos="50000">
                <a:schemeClr val="folHlink"/>
              </a:gs>
              <a:gs pos="100000">
                <a:srgbClr val="FF9900"/>
              </a:gs>
            </a:gsLst>
            <a:lin ang="5400000" scaled="1"/>
          </a:gradFill>
          <a:ln w="76200" cap="sq">
            <a:solidFill>
              <a:srgbClr val="0000FF"/>
            </a:solidFill>
            <a:round/>
          </a:ln>
          <a:effectLst/>
        </p:spPr>
        <p:txBody>
          <a:bodyPr wrap="none" anchor="ctr"/>
          <a:lstStyle/>
          <a:p>
            <a:pPr algn="ctr">
              <a:defRPr/>
            </a:pPr>
            <a:endParaRPr lang="zh-CN" altLang="en-US">
              <a:ea typeface="宋体" panose="02010600030101010101" pitchFamily="2" charset="-122"/>
            </a:endParaRPr>
          </a:p>
        </p:txBody>
      </p:sp>
      <p:sp>
        <p:nvSpPr>
          <p:cNvPr id="31806" name="Oval 62"/>
          <p:cNvSpPr>
            <a:spLocks noChangeArrowheads="1"/>
          </p:cNvSpPr>
          <p:nvPr/>
        </p:nvSpPr>
        <p:spPr bwMode="auto">
          <a:xfrm>
            <a:off x="6475413" y="1430338"/>
            <a:ext cx="68262" cy="68262"/>
          </a:xfrm>
          <a:prstGeom prst="ellipse">
            <a:avLst/>
          </a:prstGeom>
          <a:solidFill>
            <a:srgbClr val="0000FF"/>
          </a:solidFill>
          <a:ln w="76200" cap="sq">
            <a:solidFill>
              <a:srgbClr val="0000FF"/>
            </a:solidFill>
            <a:round/>
          </a:ln>
        </p:spPr>
        <p:txBody>
          <a:bodyPr wrap="none" anchor="ctr"/>
          <a:lstStyle/>
          <a:p>
            <a:pPr algn="ctr"/>
            <a:endParaRPr lang="zh-CN" altLang="en-US"/>
          </a:p>
        </p:txBody>
      </p:sp>
      <p:sp>
        <p:nvSpPr>
          <p:cNvPr id="31807" name="Text Box 63"/>
          <p:cNvSpPr txBox="1">
            <a:spLocks noChangeArrowheads="1"/>
          </p:cNvSpPr>
          <p:nvPr/>
        </p:nvSpPr>
        <p:spPr bwMode="auto">
          <a:xfrm>
            <a:off x="6227763" y="908050"/>
            <a:ext cx="488950" cy="457200"/>
          </a:xfrm>
          <a:prstGeom prst="rect">
            <a:avLst/>
          </a:prstGeom>
          <a:noFill/>
          <a:ln w="76200" cap="sq">
            <a:noFill/>
            <a:miter lim="800000"/>
          </a:ln>
        </p:spPr>
        <p:txBody>
          <a:bodyPr wrap="none">
            <a:spAutoFit/>
          </a:bodyPr>
          <a:lstStyle/>
          <a:p>
            <a:pPr algn="ctr"/>
            <a:r>
              <a:rPr kumimoji="1" lang="en-US" altLang="zh-CN" i="1"/>
              <a:t>V</a:t>
            </a:r>
            <a:r>
              <a:rPr kumimoji="1" lang="en-US" altLang="zh-CN" baseline="-25000"/>
              <a:t>1</a:t>
            </a:r>
            <a:endParaRPr kumimoji="1" lang="en-US" altLang="zh-CN" baseline="-25000"/>
          </a:p>
        </p:txBody>
      </p:sp>
      <p:sp>
        <p:nvSpPr>
          <p:cNvPr id="31808" name="Text Box 64"/>
          <p:cNvSpPr txBox="1">
            <a:spLocks noChangeArrowheads="1"/>
          </p:cNvSpPr>
          <p:nvPr/>
        </p:nvSpPr>
        <p:spPr bwMode="auto">
          <a:xfrm>
            <a:off x="7112000" y="908050"/>
            <a:ext cx="488950" cy="457200"/>
          </a:xfrm>
          <a:prstGeom prst="rect">
            <a:avLst/>
          </a:prstGeom>
          <a:noFill/>
          <a:ln w="76200" cap="sq">
            <a:noFill/>
            <a:miter lim="800000"/>
          </a:ln>
        </p:spPr>
        <p:txBody>
          <a:bodyPr wrap="none">
            <a:spAutoFit/>
          </a:bodyPr>
          <a:lstStyle/>
          <a:p>
            <a:pPr algn="ctr"/>
            <a:r>
              <a:rPr kumimoji="1" lang="en-US" altLang="zh-CN" i="1"/>
              <a:t>V</a:t>
            </a:r>
            <a:r>
              <a:rPr kumimoji="1" lang="en-US" altLang="zh-CN" baseline="-25000"/>
              <a:t>2</a:t>
            </a:r>
            <a:endParaRPr kumimoji="1" lang="en-US" altLang="zh-CN" baseline="-25000"/>
          </a:p>
        </p:txBody>
      </p:sp>
      <p:grpSp>
        <p:nvGrpSpPr>
          <p:cNvPr id="14" name="Group 65"/>
          <p:cNvGrpSpPr/>
          <p:nvPr/>
        </p:nvGrpSpPr>
        <p:grpSpPr bwMode="auto">
          <a:xfrm>
            <a:off x="6691313" y="3486150"/>
            <a:ext cx="1482725" cy="1169988"/>
            <a:chOff x="4215" y="1786"/>
            <a:chExt cx="934" cy="737"/>
          </a:xfrm>
        </p:grpSpPr>
        <p:sp>
          <p:nvSpPr>
            <p:cNvPr id="17450" name="Arc 66"/>
            <p:cNvSpPr>
              <a:spLocks noChangeAspect="1"/>
            </p:cNvSpPr>
            <p:nvPr/>
          </p:nvSpPr>
          <p:spPr bwMode="auto">
            <a:xfrm>
              <a:off x="4215" y="1916"/>
              <a:ext cx="934" cy="607"/>
            </a:xfrm>
            <a:custGeom>
              <a:avLst/>
              <a:gdLst>
                <a:gd name="T0" fmla="*/ 0 w 21575"/>
                <a:gd name="T1" fmla="*/ 0 h 21298"/>
                <a:gd name="T2" fmla="*/ 0 w 21575"/>
                <a:gd name="T3" fmla="*/ 0 h 21298"/>
                <a:gd name="T4" fmla="*/ 0 w 21575"/>
                <a:gd name="T5" fmla="*/ 0 h 21298"/>
                <a:gd name="T6" fmla="*/ 0 60000 65536"/>
                <a:gd name="T7" fmla="*/ 0 60000 65536"/>
                <a:gd name="T8" fmla="*/ 0 60000 65536"/>
                <a:gd name="T9" fmla="*/ 0 w 21575"/>
                <a:gd name="T10" fmla="*/ 0 h 21298"/>
                <a:gd name="T11" fmla="*/ 21575 w 21575"/>
                <a:gd name="T12" fmla="*/ 21298 h 21298"/>
              </a:gdLst>
              <a:ahLst/>
              <a:cxnLst>
                <a:cxn ang="T6">
                  <a:pos x="T0" y="T1"/>
                </a:cxn>
                <a:cxn ang="T7">
                  <a:pos x="T2" y="T3"/>
                </a:cxn>
                <a:cxn ang="T8">
                  <a:pos x="T4" y="T5"/>
                </a:cxn>
              </a:cxnLst>
              <a:rect l="T9" t="T10" r="T11" b="T12"/>
              <a:pathLst>
                <a:path w="21575" h="21298" fill="none" extrusionOk="0">
                  <a:moveTo>
                    <a:pt x="17974" y="21297"/>
                  </a:moveTo>
                  <a:cubicBezTo>
                    <a:pt x="7970" y="19606"/>
                    <a:pt x="492" y="11181"/>
                    <a:pt x="0" y="1047"/>
                  </a:cubicBezTo>
                </a:path>
                <a:path w="21575" h="21298" stroke="0" extrusionOk="0">
                  <a:moveTo>
                    <a:pt x="17974" y="21297"/>
                  </a:moveTo>
                  <a:cubicBezTo>
                    <a:pt x="7970" y="19606"/>
                    <a:pt x="492" y="11181"/>
                    <a:pt x="0" y="1047"/>
                  </a:cubicBezTo>
                  <a:lnTo>
                    <a:pt x="21575" y="0"/>
                  </a:lnTo>
                  <a:close/>
                </a:path>
              </a:pathLst>
            </a:custGeom>
            <a:noFill/>
            <a:ln w="38100">
              <a:solidFill>
                <a:srgbClr val="3333CC"/>
              </a:solidFill>
              <a:round/>
              <a:headEnd type="none" w="sm" len="sm"/>
              <a:tailEnd type="none" w="sm" len="sm"/>
            </a:ln>
          </p:spPr>
          <p:txBody>
            <a:bodyPr wrap="none" anchor="ctr"/>
            <a:lstStyle/>
            <a:p>
              <a:pPr algn="ctr"/>
              <a:endParaRPr lang="zh-CN" altLang="en-US"/>
            </a:p>
          </p:txBody>
        </p:sp>
        <p:sp>
          <p:nvSpPr>
            <p:cNvPr id="17451" name="Arc 67"/>
            <p:cNvSpPr/>
            <p:nvPr/>
          </p:nvSpPr>
          <p:spPr bwMode="auto">
            <a:xfrm>
              <a:off x="4429" y="1786"/>
              <a:ext cx="550" cy="660"/>
            </a:xfrm>
            <a:custGeom>
              <a:avLst/>
              <a:gdLst>
                <a:gd name="T0" fmla="*/ 0 w 14748"/>
                <a:gd name="T1" fmla="*/ 0 h 20110"/>
                <a:gd name="T2" fmla="*/ 0 w 14748"/>
                <a:gd name="T3" fmla="*/ 0 h 20110"/>
                <a:gd name="T4" fmla="*/ 0 w 14748"/>
                <a:gd name="T5" fmla="*/ 0 h 20110"/>
                <a:gd name="T6" fmla="*/ 0 60000 65536"/>
                <a:gd name="T7" fmla="*/ 0 60000 65536"/>
                <a:gd name="T8" fmla="*/ 0 60000 65536"/>
                <a:gd name="T9" fmla="*/ 0 w 14748"/>
                <a:gd name="T10" fmla="*/ 0 h 20110"/>
                <a:gd name="T11" fmla="*/ 14748 w 14748"/>
                <a:gd name="T12" fmla="*/ 20110 h 20110"/>
              </a:gdLst>
              <a:ahLst/>
              <a:cxnLst>
                <a:cxn ang="T6">
                  <a:pos x="T0" y="T1"/>
                </a:cxn>
                <a:cxn ang="T7">
                  <a:pos x="T2" y="T3"/>
                </a:cxn>
                <a:cxn ang="T8">
                  <a:pos x="T4" y="T5"/>
                </a:cxn>
              </a:cxnLst>
              <a:rect l="T9" t="T10" r="T11" b="T12"/>
              <a:pathLst>
                <a:path w="14748" h="20110" fill="none" extrusionOk="0">
                  <a:moveTo>
                    <a:pt x="6864" y="20110"/>
                  </a:moveTo>
                  <a:cubicBezTo>
                    <a:pt x="4323" y="19113"/>
                    <a:pt x="1994" y="17645"/>
                    <a:pt x="-1" y="15781"/>
                  </a:cubicBezTo>
                </a:path>
                <a:path w="14748" h="20110" stroke="0" extrusionOk="0">
                  <a:moveTo>
                    <a:pt x="6864" y="20110"/>
                  </a:moveTo>
                  <a:cubicBezTo>
                    <a:pt x="4323" y="19113"/>
                    <a:pt x="1994" y="17645"/>
                    <a:pt x="-1" y="15781"/>
                  </a:cubicBezTo>
                  <a:lnTo>
                    <a:pt x="14748" y="0"/>
                  </a:lnTo>
                  <a:close/>
                </a:path>
              </a:pathLst>
            </a:custGeom>
            <a:noFill/>
            <a:ln w="38100">
              <a:solidFill>
                <a:srgbClr val="3333CC"/>
              </a:solidFill>
              <a:round/>
              <a:headEnd type="triangle" w="med" len="med"/>
            </a:ln>
          </p:spPr>
          <p:txBody>
            <a:bodyPr wrap="none" anchor="ctr"/>
            <a:lstStyle/>
            <a:p>
              <a:pPr algn="ctr"/>
              <a:endParaRPr lang="zh-CN" altLang="en-US"/>
            </a:p>
          </p:txBody>
        </p:sp>
      </p:grpSp>
      <p:graphicFrame>
        <p:nvGraphicFramePr>
          <p:cNvPr id="176132" name="Object 4"/>
          <p:cNvGraphicFramePr>
            <a:graphicFrameLocks noChangeAspect="1"/>
          </p:cNvGraphicFramePr>
          <p:nvPr/>
        </p:nvGraphicFramePr>
        <p:xfrm>
          <a:off x="7812088" y="4537075"/>
          <a:ext cx="193675" cy="192088"/>
        </p:xfrm>
        <a:graphic>
          <a:graphicData uri="http://schemas.openxmlformats.org/presentationml/2006/ole">
            <mc:AlternateContent xmlns:mc="http://schemas.openxmlformats.org/markup-compatibility/2006">
              <mc:Choice xmlns:v="urn:schemas-microsoft-com:vml" Requires="v">
                <p:oleObj spid="_x0000_s17414" name="公式" r:id="rId13" imgW="4572000" imgH="4572000" progId="Equation.3">
                  <p:embed/>
                </p:oleObj>
              </mc:Choice>
              <mc:Fallback>
                <p:oleObj name="公式" r:id="rId13" imgW="4572000" imgH="4572000" progId="Equation.3">
                  <p:embed/>
                  <p:pic>
                    <p:nvPicPr>
                      <p:cNvPr id="0" name="Object 4"/>
                      <p:cNvPicPr>
                        <a:picLocks noChangeAspect="1"/>
                      </p:cNvPicPr>
                      <p:nvPr/>
                    </p:nvPicPr>
                    <p:blipFill>
                      <a:blip r:embed="rId14"/>
                      <a:stretch>
                        <a:fillRect/>
                      </a:stretch>
                    </p:blipFill>
                    <p:spPr>
                      <a:xfrm>
                        <a:off x="7812088" y="4537075"/>
                        <a:ext cx="193675" cy="192088"/>
                      </a:xfrm>
                      <a:prstGeom prst="rect">
                        <a:avLst/>
                      </a:prstGeom>
                      <a:noFill/>
                      <a:ln w="9525">
                        <a:noFill/>
                      </a:ln>
                    </p:spPr>
                  </p:pic>
                </p:oleObj>
              </mc:Fallback>
            </mc:AlternateContent>
          </a:graphicData>
        </a:graphic>
      </p:graphicFrame>
      <p:graphicFrame>
        <p:nvGraphicFramePr>
          <p:cNvPr id="176133" name="Object 5"/>
          <p:cNvGraphicFramePr>
            <a:graphicFrameLocks noChangeAspect="1"/>
          </p:cNvGraphicFramePr>
          <p:nvPr/>
        </p:nvGraphicFramePr>
        <p:xfrm>
          <a:off x="6610350" y="3648075"/>
          <a:ext cx="193675" cy="192088"/>
        </p:xfrm>
        <a:graphic>
          <a:graphicData uri="http://schemas.openxmlformats.org/presentationml/2006/ole">
            <mc:AlternateContent xmlns:mc="http://schemas.openxmlformats.org/markup-compatibility/2006">
              <mc:Choice xmlns:v="urn:schemas-microsoft-com:vml" Requires="v">
                <p:oleObj spid="_x0000_s17415" name="公式" r:id="rId15" imgW="4572000" imgH="4572000" progId="Equation.3">
                  <p:embed/>
                </p:oleObj>
              </mc:Choice>
              <mc:Fallback>
                <p:oleObj name="公式" r:id="rId15" imgW="4572000" imgH="4572000" progId="Equation.3">
                  <p:embed/>
                  <p:pic>
                    <p:nvPicPr>
                      <p:cNvPr id="0" name="Object 5"/>
                      <p:cNvPicPr>
                        <a:picLocks noChangeAspect="1"/>
                      </p:cNvPicPr>
                      <p:nvPr/>
                    </p:nvPicPr>
                    <p:blipFill>
                      <a:blip r:embed="rId14"/>
                      <a:stretch>
                        <a:fillRect/>
                      </a:stretch>
                    </p:blipFill>
                    <p:spPr>
                      <a:xfrm>
                        <a:off x="6610350" y="3648075"/>
                        <a:ext cx="193675" cy="192088"/>
                      </a:xfrm>
                      <a:prstGeom prst="rect">
                        <a:avLst/>
                      </a:prstGeom>
                      <a:noFill/>
                      <a:ln w="9525">
                        <a:noFill/>
                      </a:ln>
                    </p:spPr>
                  </p:pic>
                </p:oleObj>
              </mc:Fallback>
            </mc:AlternateContent>
          </a:graphicData>
        </a:graphic>
      </p:graphicFrame>
      <p:sp>
        <p:nvSpPr>
          <p:cNvPr id="31814" name="Text Box 70"/>
          <p:cNvSpPr txBox="1">
            <a:spLocks noChangeArrowheads="1"/>
          </p:cNvSpPr>
          <p:nvPr/>
        </p:nvSpPr>
        <p:spPr bwMode="auto">
          <a:xfrm>
            <a:off x="838200" y="1403350"/>
            <a:ext cx="1657350" cy="457200"/>
          </a:xfrm>
          <a:prstGeom prst="rect">
            <a:avLst/>
          </a:prstGeom>
          <a:noFill/>
          <a:ln w="9525">
            <a:noFill/>
            <a:miter lim="800000"/>
          </a:ln>
        </p:spPr>
        <p:txBody>
          <a:bodyPr>
            <a:spAutoFit/>
          </a:bodyPr>
          <a:lstStyle/>
          <a:p>
            <a:r>
              <a:rPr lang="zh-CN" altLang="en-US" b="1">
                <a:solidFill>
                  <a:srgbClr val="FF6600"/>
                </a:solidFill>
              </a:rPr>
              <a:t>功</a:t>
            </a:r>
            <a:endParaRPr lang="zh-CN" altLang="en-US" b="1">
              <a:solidFill>
                <a:srgbClr val="FF6600"/>
              </a:solidFill>
            </a:endParaRPr>
          </a:p>
        </p:txBody>
      </p:sp>
      <p:graphicFrame>
        <p:nvGraphicFramePr>
          <p:cNvPr id="176134" name="Object 6"/>
          <p:cNvGraphicFramePr>
            <a:graphicFrameLocks noChangeAspect="1"/>
          </p:cNvGraphicFramePr>
          <p:nvPr/>
        </p:nvGraphicFramePr>
        <p:xfrm>
          <a:off x="900113" y="1905000"/>
          <a:ext cx="1901825" cy="793750"/>
        </p:xfrm>
        <a:graphic>
          <a:graphicData uri="http://schemas.openxmlformats.org/presentationml/2006/ole">
            <mc:AlternateContent xmlns:mc="http://schemas.openxmlformats.org/markup-compatibility/2006">
              <mc:Choice xmlns:v="urn:schemas-microsoft-com:vml" Requires="v">
                <p:oleObj spid="_x0000_s17416" name="公式" r:id="rId16" imgW="20421600" imgH="8534400" progId="Equation.3">
                  <p:embed/>
                </p:oleObj>
              </mc:Choice>
              <mc:Fallback>
                <p:oleObj name="公式" r:id="rId16" imgW="20421600" imgH="8534400" progId="Equation.3">
                  <p:embed/>
                  <p:pic>
                    <p:nvPicPr>
                      <p:cNvPr id="0" name="Object 6"/>
                      <p:cNvPicPr>
                        <a:picLocks noChangeAspect="1"/>
                      </p:cNvPicPr>
                      <p:nvPr/>
                    </p:nvPicPr>
                    <p:blipFill>
                      <a:blip r:embed="rId17"/>
                      <a:stretch>
                        <a:fillRect/>
                      </a:stretch>
                    </p:blipFill>
                    <p:spPr>
                      <a:xfrm>
                        <a:off x="900113" y="1905000"/>
                        <a:ext cx="1901825" cy="793750"/>
                      </a:xfrm>
                      <a:prstGeom prst="rect">
                        <a:avLst/>
                      </a:prstGeom>
                      <a:noFill/>
                      <a:ln w="9525">
                        <a:noFill/>
                      </a:ln>
                    </p:spPr>
                  </p:pic>
                </p:oleObj>
              </mc:Fallback>
            </mc:AlternateContent>
          </a:graphicData>
        </a:graphic>
      </p:graphicFrame>
      <p:graphicFrame>
        <p:nvGraphicFramePr>
          <p:cNvPr id="176135" name="Object 7"/>
          <p:cNvGraphicFramePr>
            <a:graphicFrameLocks noChangeAspect="1"/>
          </p:cNvGraphicFramePr>
          <p:nvPr/>
        </p:nvGraphicFramePr>
        <p:xfrm>
          <a:off x="990600" y="2643188"/>
          <a:ext cx="4030663" cy="992187"/>
        </p:xfrm>
        <a:graphic>
          <a:graphicData uri="http://schemas.openxmlformats.org/presentationml/2006/ole">
            <mc:AlternateContent xmlns:mc="http://schemas.openxmlformats.org/markup-compatibility/2006">
              <mc:Choice xmlns:v="urn:schemas-microsoft-com:vml" Requires="v">
                <p:oleObj spid="_x0000_s17417" name="公式" r:id="rId18" imgW="43281600" imgH="10668000" progId="Equation.3">
                  <p:embed/>
                </p:oleObj>
              </mc:Choice>
              <mc:Fallback>
                <p:oleObj name="公式" r:id="rId18" imgW="43281600" imgH="10668000" progId="Equation.3">
                  <p:embed/>
                  <p:pic>
                    <p:nvPicPr>
                      <p:cNvPr id="0" name="Object 7"/>
                      <p:cNvPicPr>
                        <a:picLocks noChangeAspect="1"/>
                      </p:cNvPicPr>
                      <p:nvPr/>
                    </p:nvPicPr>
                    <p:blipFill>
                      <a:blip r:embed="rId19"/>
                      <a:stretch>
                        <a:fillRect/>
                      </a:stretch>
                    </p:blipFill>
                    <p:spPr>
                      <a:xfrm>
                        <a:off x="990600" y="2643188"/>
                        <a:ext cx="4030663" cy="992187"/>
                      </a:xfrm>
                      <a:prstGeom prst="rect">
                        <a:avLst/>
                      </a:prstGeom>
                      <a:noFill/>
                      <a:ln w="9525">
                        <a:noFill/>
                      </a:ln>
                    </p:spPr>
                  </p:pic>
                </p:oleObj>
              </mc:Fallback>
            </mc:AlternateContent>
          </a:graphicData>
        </a:graphic>
      </p:graphicFrame>
      <p:graphicFrame>
        <p:nvGraphicFramePr>
          <p:cNvPr id="176136" name="Object 8"/>
          <p:cNvGraphicFramePr>
            <a:graphicFrameLocks noChangeAspect="1"/>
          </p:cNvGraphicFramePr>
          <p:nvPr/>
        </p:nvGraphicFramePr>
        <p:xfrm>
          <a:off x="6588125" y="5375275"/>
          <a:ext cx="223838" cy="338138"/>
        </p:xfrm>
        <a:graphic>
          <a:graphicData uri="http://schemas.openxmlformats.org/presentationml/2006/ole">
            <mc:AlternateContent xmlns:mc="http://schemas.openxmlformats.org/markup-compatibility/2006">
              <mc:Choice xmlns:v="urn:schemas-microsoft-com:vml" Requires="v">
                <p:oleObj spid="_x0000_s17418" name="公式" r:id="rId20" imgW="6705600" imgH="10058400" progId="Equation.3">
                  <p:embed/>
                </p:oleObj>
              </mc:Choice>
              <mc:Fallback>
                <p:oleObj name="公式" r:id="rId20" imgW="6705600" imgH="10058400" progId="Equation.3">
                  <p:embed/>
                  <p:pic>
                    <p:nvPicPr>
                      <p:cNvPr id="0" name="Object 8"/>
                      <p:cNvPicPr>
                        <a:picLocks noChangeAspect="1"/>
                      </p:cNvPicPr>
                      <p:nvPr/>
                    </p:nvPicPr>
                    <p:blipFill>
                      <a:blip r:embed="rId21"/>
                      <a:stretch>
                        <a:fillRect/>
                      </a:stretch>
                    </p:blipFill>
                    <p:spPr>
                      <a:xfrm>
                        <a:off x="6588125" y="5375275"/>
                        <a:ext cx="223838" cy="338138"/>
                      </a:xfrm>
                      <a:prstGeom prst="rect">
                        <a:avLst/>
                      </a:prstGeom>
                      <a:noFill/>
                      <a:ln w="9525">
                        <a:noFill/>
                      </a:ln>
                    </p:spPr>
                  </p:pic>
                </p:oleObj>
              </mc:Fallback>
            </mc:AlternateContent>
          </a:graphicData>
        </a:graphic>
      </p:graphicFrame>
      <p:graphicFrame>
        <p:nvGraphicFramePr>
          <p:cNvPr id="176137" name="Object 9"/>
          <p:cNvGraphicFramePr>
            <a:graphicFrameLocks noChangeAspect="1"/>
          </p:cNvGraphicFramePr>
          <p:nvPr/>
        </p:nvGraphicFramePr>
        <p:xfrm>
          <a:off x="7812088" y="4005263"/>
          <a:ext cx="374650" cy="442912"/>
        </p:xfrm>
        <a:graphic>
          <a:graphicData uri="http://schemas.openxmlformats.org/presentationml/2006/ole">
            <mc:AlternateContent xmlns:mc="http://schemas.openxmlformats.org/markup-compatibility/2006">
              <mc:Choice xmlns:v="urn:schemas-microsoft-com:vml" Requires="v">
                <p:oleObj spid="_x0000_s17419" name="公式" r:id="rId22" imgW="3352800" imgH="3962400" progId="Equation.3">
                  <p:embed/>
                </p:oleObj>
              </mc:Choice>
              <mc:Fallback>
                <p:oleObj name="公式" r:id="rId22" imgW="3352800" imgH="3962400" progId="Equation.3">
                  <p:embed/>
                  <p:pic>
                    <p:nvPicPr>
                      <p:cNvPr id="0" name="Object 9"/>
                      <p:cNvPicPr>
                        <a:picLocks noChangeAspect="1"/>
                      </p:cNvPicPr>
                      <p:nvPr/>
                    </p:nvPicPr>
                    <p:blipFill>
                      <a:blip r:embed="rId8"/>
                      <a:stretch>
                        <a:fillRect/>
                      </a:stretch>
                    </p:blipFill>
                    <p:spPr>
                      <a:xfrm>
                        <a:off x="7812088" y="4005263"/>
                        <a:ext cx="374650" cy="442912"/>
                      </a:xfrm>
                      <a:prstGeom prst="rect">
                        <a:avLst/>
                      </a:prstGeom>
                      <a:noFill/>
                      <a:ln w="9525">
                        <a:noFill/>
                      </a:ln>
                    </p:spPr>
                  </p:pic>
                </p:oleObj>
              </mc:Fallback>
            </mc:AlternateContent>
          </a:graphicData>
        </a:graphic>
      </p:graphicFrame>
      <p:sp>
        <p:nvSpPr>
          <p:cNvPr id="31827" name="Text Box 83"/>
          <p:cNvSpPr txBox="1">
            <a:spLocks noChangeArrowheads="1"/>
          </p:cNvSpPr>
          <p:nvPr/>
        </p:nvSpPr>
        <p:spPr bwMode="auto">
          <a:xfrm>
            <a:off x="925513" y="3952875"/>
            <a:ext cx="2808287" cy="457200"/>
          </a:xfrm>
          <a:prstGeom prst="rect">
            <a:avLst/>
          </a:prstGeom>
          <a:noFill/>
          <a:ln w="9525">
            <a:noFill/>
            <a:miter lim="800000"/>
          </a:ln>
        </p:spPr>
        <p:txBody>
          <a:bodyPr>
            <a:spAutoFit/>
          </a:bodyPr>
          <a:lstStyle/>
          <a:p>
            <a:r>
              <a:rPr lang="zh-CN" altLang="en-US" b="1">
                <a:solidFill>
                  <a:srgbClr val="FF6600"/>
                </a:solidFill>
              </a:rPr>
              <a:t>内能变化量</a:t>
            </a:r>
            <a:endParaRPr lang="zh-CN" altLang="en-US" b="1">
              <a:solidFill>
                <a:srgbClr val="FF6600"/>
              </a:solidFill>
            </a:endParaRPr>
          </a:p>
        </p:txBody>
      </p:sp>
      <p:sp>
        <p:nvSpPr>
          <p:cNvPr id="31828" name="Rectangle 84"/>
          <p:cNvSpPr>
            <a:spLocks noChangeArrowheads="1"/>
          </p:cNvSpPr>
          <p:nvPr/>
        </p:nvSpPr>
        <p:spPr bwMode="auto">
          <a:xfrm>
            <a:off x="1243013" y="4384675"/>
            <a:ext cx="4319587" cy="1006475"/>
          </a:xfrm>
          <a:prstGeom prst="rect">
            <a:avLst/>
          </a:prstGeom>
          <a:noFill/>
          <a:ln w="9525">
            <a:noFill/>
            <a:miter lim="800000"/>
          </a:ln>
        </p:spPr>
        <p:txBody>
          <a:bodyPr>
            <a:spAutoFit/>
          </a:bodyPr>
          <a:lstStyle/>
          <a:p>
            <a:pPr>
              <a:lnSpc>
                <a:spcPct val="125000"/>
              </a:lnSpc>
            </a:pPr>
            <a:r>
              <a:rPr lang="zh-CN" altLang="en-US" b="1"/>
              <a:t>由于内能是温度的单值函数，因此</a:t>
            </a:r>
            <a:r>
              <a:rPr lang="zh-CN" altLang="en-US" b="1">
                <a:solidFill>
                  <a:srgbClr val="FF6600"/>
                </a:solidFill>
              </a:rPr>
              <a:t>等温过程内能不变</a:t>
            </a:r>
            <a:r>
              <a:rPr lang="zh-CN" altLang="en-US" b="1"/>
              <a:t>，</a:t>
            </a:r>
            <a:endParaRPr lang="zh-CN" altLang="en-US" b="1"/>
          </a:p>
        </p:txBody>
      </p:sp>
      <p:graphicFrame>
        <p:nvGraphicFramePr>
          <p:cNvPr id="176138" name="Object 10"/>
          <p:cNvGraphicFramePr>
            <a:graphicFrameLocks noChangeAspect="1"/>
          </p:cNvGraphicFramePr>
          <p:nvPr/>
        </p:nvGraphicFramePr>
        <p:xfrm>
          <a:off x="2590800" y="5562600"/>
          <a:ext cx="1179513" cy="479425"/>
        </p:xfrm>
        <a:graphic>
          <a:graphicData uri="http://schemas.openxmlformats.org/presentationml/2006/ole">
            <mc:AlternateContent xmlns:mc="http://schemas.openxmlformats.org/markup-compatibility/2006">
              <mc:Choice xmlns:v="urn:schemas-microsoft-com:vml" Requires="v">
                <p:oleObj spid="_x0000_s17420" name="公式" r:id="rId23" imgW="12801600" imgH="5181600" progId="Equation.3">
                  <p:embed/>
                </p:oleObj>
              </mc:Choice>
              <mc:Fallback>
                <p:oleObj name="公式" r:id="rId23" imgW="12801600" imgH="5181600" progId="Equation.3">
                  <p:embed/>
                  <p:pic>
                    <p:nvPicPr>
                      <p:cNvPr id="0" name="Object 10"/>
                      <p:cNvPicPr>
                        <a:picLocks noChangeAspect="1"/>
                      </p:cNvPicPr>
                      <p:nvPr/>
                    </p:nvPicPr>
                    <p:blipFill>
                      <a:blip r:embed="rId24"/>
                      <a:stretch>
                        <a:fillRect/>
                      </a:stretch>
                    </p:blipFill>
                    <p:spPr>
                      <a:xfrm>
                        <a:off x="2590800" y="5562600"/>
                        <a:ext cx="1179513" cy="479425"/>
                      </a:xfrm>
                      <a:prstGeom prst="rect">
                        <a:avLst/>
                      </a:prstGeom>
                      <a:noFill/>
                      <a:ln w="9525">
                        <a:noFill/>
                      </a:ln>
                    </p:spPr>
                  </p:pic>
                </p:oleObj>
              </mc:Fallback>
            </mc:AlternateContent>
          </a:graphicData>
        </a:graphic>
      </p:graphicFrame>
      <p:sp>
        <p:nvSpPr>
          <p:cNvPr id="31830" name="Rectangle 86"/>
          <p:cNvSpPr>
            <a:spLocks noChangeArrowheads="1"/>
          </p:cNvSpPr>
          <p:nvPr/>
        </p:nvSpPr>
        <p:spPr bwMode="auto">
          <a:xfrm>
            <a:off x="533400" y="1143000"/>
            <a:ext cx="355600" cy="914400"/>
          </a:xfrm>
          <a:prstGeom prst="rect">
            <a:avLst/>
          </a:prstGeom>
          <a:noFill/>
          <a:ln w="9525">
            <a:noFill/>
            <a:miter lim="800000"/>
          </a:ln>
        </p:spPr>
        <p:txBody>
          <a:bodyPr wrap="none">
            <a:spAutoFit/>
          </a:bodyPr>
          <a:lstStyle/>
          <a:p>
            <a:r>
              <a:rPr kumimoji="1" lang="en-US" altLang="zh-CN" sz="5400">
                <a:solidFill>
                  <a:srgbClr val="0000FF"/>
                </a:solidFill>
                <a:cs typeface="Times New Roman" panose="02020603050405020304" pitchFamily="18" charset="0"/>
              </a:rPr>
              <a:t>·</a:t>
            </a:r>
            <a:endParaRPr kumimoji="1" lang="en-US" altLang="zh-CN" sz="5400">
              <a:solidFill>
                <a:srgbClr val="0000FF"/>
              </a:solidFill>
              <a:cs typeface="Times New Roman" panose="02020603050405020304" pitchFamily="18" charset="0"/>
            </a:endParaRPr>
          </a:p>
        </p:txBody>
      </p:sp>
      <p:sp>
        <p:nvSpPr>
          <p:cNvPr id="31831" name="Rectangle 87"/>
          <p:cNvSpPr>
            <a:spLocks noChangeArrowheads="1"/>
          </p:cNvSpPr>
          <p:nvPr/>
        </p:nvSpPr>
        <p:spPr bwMode="auto">
          <a:xfrm>
            <a:off x="533400" y="3733800"/>
            <a:ext cx="355600" cy="914400"/>
          </a:xfrm>
          <a:prstGeom prst="rect">
            <a:avLst/>
          </a:prstGeom>
          <a:noFill/>
          <a:ln w="9525">
            <a:noFill/>
            <a:miter lim="800000"/>
          </a:ln>
        </p:spPr>
        <p:txBody>
          <a:bodyPr wrap="none">
            <a:spAutoFit/>
          </a:bodyPr>
          <a:lstStyle/>
          <a:p>
            <a:r>
              <a:rPr kumimoji="1" lang="en-US" altLang="zh-CN" sz="5400">
                <a:solidFill>
                  <a:srgbClr val="0000FF"/>
                </a:solidFill>
                <a:cs typeface="Times New Roman" panose="02020603050405020304" pitchFamily="18" charset="0"/>
              </a:rPr>
              <a:t>·</a:t>
            </a:r>
            <a:endParaRPr kumimoji="1" lang="en-US" altLang="zh-CN" sz="5400">
              <a:solidFill>
                <a:srgbClr val="0000FF"/>
              </a:solidFill>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wipe(left)">
                                      <p:cBhvr>
                                        <p:cTn id="7" dur="500"/>
                                        <p:tgtEl>
                                          <p:spTgt spid="317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499"/>
                                          </p:stCondLst>
                                        </p:cTn>
                                        <p:tgtEl>
                                          <p:spTgt spid="3"/>
                                        </p:tgtEl>
                                        <p:attrNameLst>
                                          <p:attrName>style.visibility</p:attrName>
                                        </p:attrNameLst>
                                      </p:cBhvr>
                                      <p:to>
                                        <p:strVal val="visible"/>
                                      </p:to>
                                    </p:se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slide(fromLeft)">
                                      <p:cBhvr>
                                        <p:cTn id="24" dur="500"/>
                                        <p:tgtEl>
                                          <p:spTgt spid="4"/>
                                        </p:tgtEl>
                                      </p:cBhvr>
                                    </p:animEffect>
                                  </p:childTnLst>
                                </p:cTn>
                              </p:par>
                            </p:childTnLst>
                          </p:cTn>
                        </p:par>
                        <p:par>
                          <p:cTn id="25" fill="hold">
                            <p:stCondLst>
                              <p:cond delay="500"/>
                            </p:stCondLst>
                            <p:childTnLst>
                              <p:par>
                                <p:cTn id="26" presetID="22" presetClass="entr" presetSubtype="1"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up)">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1806"/>
                                        </p:tgtEl>
                                        <p:attrNameLst>
                                          <p:attrName>style.visibility</p:attrName>
                                        </p:attrNameLst>
                                      </p:cBhvr>
                                      <p:to>
                                        <p:strVal val="visible"/>
                                      </p:to>
                                    </p:set>
                                    <p:animEffect transition="in" filter="wipe(left)">
                                      <p:cBhvr>
                                        <p:cTn id="38" dur="500"/>
                                        <p:tgtEl>
                                          <p:spTgt spid="31806"/>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31807"/>
                                        </p:tgtEl>
                                        <p:attrNameLst>
                                          <p:attrName>style.visibility</p:attrName>
                                        </p:attrNameLst>
                                      </p:cBhvr>
                                      <p:to>
                                        <p:strVal val="visible"/>
                                      </p:to>
                                    </p:set>
                                    <p:animEffect transition="in" filter="wipe(left)">
                                      <p:cBhvr>
                                        <p:cTn id="42" dur="500"/>
                                        <p:tgtEl>
                                          <p:spTgt spid="31807"/>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31805"/>
                                        </p:tgtEl>
                                        <p:attrNameLst>
                                          <p:attrName>style.visibility</p:attrName>
                                        </p:attrNameLst>
                                      </p:cBhvr>
                                      <p:to>
                                        <p:strVal val="visible"/>
                                      </p:to>
                                    </p:set>
                                    <p:animEffect transition="in" filter="wipe(left)">
                                      <p:cBhvr>
                                        <p:cTn id="46" dur="500"/>
                                        <p:tgtEl>
                                          <p:spTgt spid="31805"/>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31808"/>
                                        </p:tgtEl>
                                        <p:attrNameLst>
                                          <p:attrName>style.visibility</p:attrName>
                                        </p:attrNameLst>
                                      </p:cBhvr>
                                      <p:to>
                                        <p:strVal val="visible"/>
                                      </p:to>
                                    </p:set>
                                    <p:animEffect transition="in" filter="wipe(left)">
                                      <p:cBhvr>
                                        <p:cTn id="50" dur="500"/>
                                        <p:tgtEl>
                                          <p:spTgt spid="3180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right)">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ppt_w</p:attrName>
                                        </p:attrNameLst>
                                      </p:cBhvr>
                                      <p:tavLst>
                                        <p:tav tm="0">
                                          <p:val>
                                            <p:fltVal val="0"/>
                                          </p:val>
                                        </p:tav>
                                        <p:tav tm="100000">
                                          <p:val>
                                            <p:strVal val="#ppt_w"/>
                                          </p:val>
                                        </p:tav>
                                      </p:tavLst>
                                    </p:anim>
                                    <p:anim calcmode="lin" valueType="num">
                                      <p:cBhvr>
                                        <p:cTn id="61"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76133"/>
                                        </p:tgtEl>
                                        <p:attrNameLst>
                                          <p:attrName>style.visibility</p:attrName>
                                        </p:attrNameLst>
                                      </p:cBhvr>
                                      <p:to>
                                        <p:strVal val="visible"/>
                                      </p:to>
                                    </p:set>
                                    <p:animEffect transition="in" filter="wipe(left)">
                                      <p:cBhvr>
                                        <p:cTn id="66" dur="500"/>
                                        <p:tgtEl>
                                          <p:spTgt spid="176133"/>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31784"/>
                                        </p:tgtEl>
                                        <p:attrNameLst>
                                          <p:attrName>style.visibility</p:attrName>
                                        </p:attrNameLst>
                                      </p:cBhvr>
                                      <p:to>
                                        <p:strVal val="visible"/>
                                      </p:to>
                                    </p:set>
                                    <p:animEffect transition="in" filter="wipe(left)">
                                      <p:cBhvr>
                                        <p:cTn id="70" dur="500"/>
                                        <p:tgtEl>
                                          <p:spTgt spid="31784"/>
                                        </p:tgtEl>
                                      </p:cBhvr>
                                    </p:animEffect>
                                  </p:childTnLst>
                                </p:cTn>
                              </p:par>
                            </p:childTnLst>
                          </p:cTn>
                        </p:par>
                        <p:par>
                          <p:cTn id="71" fill="hold">
                            <p:stCondLst>
                              <p:cond delay="1000"/>
                            </p:stCondLst>
                            <p:childTnLst>
                              <p:par>
                                <p:cTn id="72" presetID="22" presetClass="entr" presetSubtype="1" fill="hold" grpId="0" nodeType="afterEffect">
                                  <p:stCondLst>
                                    <p:cond delay="0"/>
                                  </p:stCondLst>
                                  <p:childTnLst>
                                    <p:set>
                                      <p:cBhvr>
                                        <p:cTn id="73" dur="1" fill="hold">
                                          <p:stCondLst>
                                            <p:cond delay="0"/>
                                          </p:stCondLst>
                                        </p:cTn>
                                        <p:tgtEl>
                                          <p:spTgt spid="31796"/>
                                        </p:tgtEl>
                                        <p:attrNameLst>
                                          <p:attrName>style.visibility</p:attrName>
                                        </p:attrNameLst>
                                      </p:cBhvr>
                                      <p:to>
                                        <p:strVal val="visible"/>
                                      </p:to>
                                    </p:set>
                                    <p:animEffect transition="in" filter="wipe(up)">
                                      <p:cBhvr>
                                        <p:cTn id="74" dur="500"/>
                                        <p:tgtEl>
                                          <p:spTgt spid="31796"/>
                                        </p:tgtEl>
                                      </p:cBhvr>
                                    </p:animEffect>
                                  </p:childTnLst>
                                </p:cTn>
                              </p:par>
                            </p:childTnLst>
                          </p:cTn>
                        </p:par>
                        <p:par>
                          <p:cTn id="75" fill="hold">
                            <p:stCondLst>
                              <p:cond delay="1500"/>
                            </p:stCondLst>
                            <p:childTnLst>
                              <p:par>
                                <p:cTn id="76" presetID="22" presetClass="entr" presetSubtype="1" fill="hold" nodeType="afterEffect">
                                  <p:stCondLst>
                                    <p:cond delay="0"/>
                                  </p:stCondLst>
                                  <p:childTnLst>
                                    <p:set>
                                      <p:cBhvr>
                                        <p:cTn id="77" dur="1" fill="hold">
                                          <p:stCondLst>
                                            <p:cond delay="0"/>
                                          </p:stCondLst>
                                        </p:cTn>
                                        <p:tgtEl>
                                          <p:spTgt spid="176136"/>
                                        </p:tgtEl>
                                        <p:attrNameLst>
                                          <p:attrName>style.visibility</p:attrName>
                                        </p:attrNameLst>
                                      </p:cBhvr>
                                      <p:to>
                                        <p:strVal val="visible"/>
                                      </p:to>
                                    </p:set>
                                    <p:animEffect transition="in" filter="wipe(up)">
                                      <p:cBhvr>
                                        <p:cTn id="78" dur="500"/>
                                        <p:tgtEl>
                                          <p:spTgt spid="176136"/>
                                        </p:tgtEl>
                                      </p:cBhvr>
                                    </p:animEffect>
                                  </p:childTnLst>
                                </p:cTn>
                              </p:par>
                            </p:childTnLst>
                          </p:cTn>
                        </p:par>
                        <p:par>
                          <p:cTn id="79" fill="hold">
                            <p:stCondLst>
                              <p:cond delay="2000"/>
                            </p:stCondLst>
                            <p:childTnLst>
                              <p:par>
                                <p:cTn id="80" presetID="22" presetClass="entr" presetSubtype="8" fill="hold" nodeType="afterEffect">
                                  <p:stCondLst>
                                    <p:cond delay="0"/>
                                  </p:stCondLst>
                                  <p:childTnLst>
                                    <p:set>
                                      <p:cBhvr>
                                        <p:cTn id="81" dur="1" fill="hold">
                                          <p:stCondLst>
                                            <p:cond delay="0"/>
                                          </p:stCondLst>
                                        </p:cTn>
                                        <p:tgtEl>
                                          <p:spTgt spid="176129"/>
                                        </p:tgtEl>
                                        <p:attrNameLst>
                                          <p:attrName>style.visibility</p:attrName>
                                        </p:attrNameLst>
                                      </p:cBhvr>
                                      <p:to>
                                        <p:strVal val="visible"/>
                                      </p:to>
                                    </p:set>
                                    <p:animEffect transition="in" filter="wipe(left)">
                                      <p:cBhvr>
                                        <p:cTn id="82" dur="500"/>
                                        <p:tgtEl>
                                          <p:spTgt spid="176129"/>
                                        </p:tgtEl>
                                      </p:cBhvr>
                                    </p:animEffect>
                                  </p:childTnLst>
                                </p:cTn>
                              </p:par>
                            </p:childTnLst>
                          </p:cTn>
                        </p:par>
                        <p:par>
                          <p:cTn id="83" fill="hold">
                            <p:stCondLst>
                              <p:cond delay="2500"/>
                            </p:stCondLst>
                            <p:childTnLst>
                              <p:par>
                                <p:cTn id="84" presetID="22" presetClass="entr" presetSubtype="2" fill="hold" grpId="0" nodeType="afterEffect">
                                  <p:stCondLst>
                                    <p:cond delay="0"/>
                                  </p:stCondLst>
                                  <p:childTnLst>
                                    <p:set>
                                      <p:cBhvr>
                                        <p:cTn id="85" dur="1" fill="hold">
                                          <p:stCondLst>
                                            <p:cond delay="0"/>
                                          </p:stCondLst>
                                        </p:cTn>
                                        <p:tgtEl>
                                          <p:spTgt spid="31780"/>
                                        </p:tgtEl>
                                        <p:attrNameLst>
                                          <p:attrName>style.visibility</p:attrName>
                                        </p:attrNameLst>
                                      </p:cBhvr>
                                      <p:to>
                                        <p:strVal val="visible"/>
                                      </p:to>
                                    </p:set>
                                    <p:animEffect transition="in" filter="wipe(right)">
                                      <p:cBhvr>
                                        <p:cTn id="86" dur="500"/>
                                        <p:tgtEl>
                                          <p:spTgt spid="31780"/>
                                        </p:tgtEl>
                                      </p:cBhvr>
                                    </p:animEffect>
                                  </p:childTnLst>
                                </p:cTn>
                              </p:par>
                            </p:childTnLst>
                          </p:cTn>
                        </p:par>
                        <p:par>
                          <p:cTn id="87" fill="hold">
                            <p:stCondLst>
                              <p:cond delay="3000"/>
                            </p:stCondLst>
                            <p:childTnLst>
                              <p:par>
                                <p:cTn id="88" presetID="22" presetClass="entr" presetSubtype="8" fill="hold" nodeType="afterEffect">
                                  <p:stCondLst>
                                    <p:cond delay="0"/>
                                  </p:stCondLst>
                                  <p:childTnLst>
                                    <p:set>
                                      <p:cBhvr>
                                        <p:cTn id="89" dur="1" fill="hold">
                                          <p:stCondLst>
                                            <p:cond delay="0"/>
                                          </p:stCondLst>
                                        </p:cTn>
                                        <p:tgtEl>
                                          <p:spTgt spid="176128"/>
                                        </p:tgtEl>
                                        <p:attrNameLst>
                                          <p:attrName>style.visibility</p:attrName>
                                        </p:attrNameLst>
                                      </p:cBhvr>
                                      <p:to>
                                        <p:strVal val="visible"/>
                                      </p:to>
                                    </p:set>
                                    <p:animEffect transition="in" filter="wipe(left)">
                                      <p:cBhvr>
                                        <p:cTn id="90" dur="500"/>
                                        <p:tgtEl>
                                          <p:spTgt spid="176128"/>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14"/>
                                        </p:tgtEl>
                                        <p:attrNameLst>
                                          <p:attrName>style.visibility</p:attrName>
                                        </p:attrNameLst>
                                      </p:cBhvr>
                                      <p:to>
                                        <p:strVal val="visible"/>
                                      </p:to>
                                    </p:set>
                                    <p:animEffect transition="in" filter="wipe(left)">
                                      <p:cBhvr>
                                        <p:cTn id="95" dur="500"/>
                                        <p:tgtEl>
                                          <p:spTgt spid="14"/>
                                        </p:tgtEl>
                                      </p:cBhvr>
                                    </p:animEffect>
                                  </p:childTnLst>
                                </p:cTn>
                              </p:par>
                            </p:childTnLst>
                          </p:cTn>
                        </p:par>
                        <p:par>
                          <p:cTn id="96" fill="hold">
                            <p:stCondLst>
                              <p:cond delay="500"/>
                            </p:stCondLst>
                            <p:childTnLst>
                              <p:par>
                                <p:cTn id="97" presetID="22" presetClass="entr" presetSubtype="8" fill="hold" nodeType="afterEffect">
                                  <p:stCondLst>
                                    <p:cond delay="0"/>
                                  </p:stCondLst>
                                  <p:childTnLst>
                                    <p:set>
                                      <p:cBhvr>
                                        <p:cTn id="98" dur="1" fill="hold">
                                          <p:stCondLst>
                                            <p:cond delay="0"/>
                                          </p:stCondLst>
                                        </p:cTn>
                                        <p:tgtEl>
                                          <p:spTgt spid="176132"/>
                                        </p:tgtEl>
                                        <p:attrNameLst>
                                          <p:attrName>style.visibility</p:attrName>
                                        </p:attrNameLst>
                                      </p:cBhvr>
                                      <p:to>
                                        <p:strVal val="visible"/>
                                      </p:to>
                                    </p:set>
                                    <p:animEffect transition="in" filter="wipe(left)">
                                      <p:cBhvr>
                                        <p:cTn id="99" dur="500"/>
                                        <p:tgtEl>
                                          <p:spTgt spid="176132"/>
                                        </p:tgtEl>
                                      </p:cBhvr>
                                    </p:animEffect>
                                  </p:childTnLst>
                                </p:cTn>
                              </p:par>
                            </p:childTnLst>
                          </p:cTn>
                        </p:par>
                        <p:par>
                          <p:cTn id="100" fill="hold">
                            <p:stCondLst>
                              <p:cond delay="1000"/>
                            </p:stCondLst>
                            <p:childTnLst>
                              <p:par>
                                <p:cTn id="101" presetID="22" presetClass="entr" presetSubtype="8" fill="hold" grpId="0" nodeType="afterEffect">
                                  <p:stCondLst>
                                    <p:cond delay="0"/>
                                  </p:stCondLst>
                                  <p:childTnLst>
                                    <p:set>
                                      <p:cBhvr>
                                        <p:cTn id="102" dur="1" fill="hold">
                                          <p:stCondLst>
                                            <p:cond delay="0"/>
                                          </p:stCondLst>
                                        </p:cTn>
                                        <p:tgtEl>
                                          <p:spTgt spid="31786"/>
                                        </p:tgtEl>
                                        <p:attrNameLst>
                                          <p:attrName>style.visibility</p:attrName>
                                        </p:attrNameLst>
                                      </p:cBhvr>
                                      <p:to>
                                        <p:strVal val="visible"/>
                                      </p:to>
                                    </p:set>
                                    <p:animEffect transition="in" filter="wipe(left)">
                                      <p:cBhvr>
                                        <p:cTn id="103" dur="500"/>
                                        <p:tgtEl>
                                          <p:spTgt spid="31786"/>
                                        </p:tgtEl>
                                      </p:cBhvr>
                                    </p:animEffect>
                                  </p:childTnLst>
                                </p:cTn>
                              </p:par>
                            </p:childTnLst>
                          </p:cTn>
                        </p:par>
                        <p:par>
                          <p:cTn id="104" fill="hold">
                            <p:stCondLst>
                              <p:cond delay="1500"/>
                            </p:stCondLst>
                            <p:childTnLst>
                              <p:par>
                                <p:cTn id="105" presetID="22" presetClass="entr" presetSubtype="1" fill="hold" nodeType="afterEffect">
                                  <p:stCondLst>
                                    <p:cond delay="0"/>
                                  </p:stCondLst>
                                  <p:childTnLst>
                                    <p:set>
                                      <p:cBhvr>
                                        <p:cTn id="106" dur="1" fill="hold">
                                          <p:stCondLst>
                                            <p:cond delay="0"/>
                                          </p:stCondLst>
                                        </p:cTn>
                                        <p:tgtEl>
                                          <p:spTgt spid="176131"/>
                                        </p:tgtEl>
                                        <p:attrNameLst>
                                          <p:attrName>style.visibility</p:attrName>
                                        </p:attrNameLst>
                                      </p:cBhvr>
                                      <p:to>
                                        <p:strVal val="visible"/>
                                      </p:to>
                                    </p:set>
                                    <p:animEffect transition="in" filter="wipe(up)">
                                      <p:cBhvr>
                                        <p:cTn id="107" dur="500"/>
                                        <p:tgtEl>
                                          <p:spTgt spid="176131"/>
                                        </p:tgtEl>
                                      </p:cBhvr>
                                    </p:animEffect>
                                  </p:childTnLst>
                                </p:cTn>
                              </p:par>
                            </p:childTnLst>
                          </p:cTn>
                        </p:par>
                        <p:par>
                          <p:cTn id="108" fill="hold">
                            <p:stCondLst>
                              <p:cond delay="2000"/>
                            </p:stCondLst>
                            <p:childTnLst>
                              <p:par>
                                <p:cTn id="109" presetID="22" presetClass="entr" presetSubtype="1" fill="hold" grpId="0" nodeType="afterEffect">
                                  <p:stCondLst>
                                    <p:cond delay="0"/>
                                  </p:stCondLst>
                                  <p:childTnLst>
                                    <p:set>
                                      <p:cBhvr>
                                        <p:cTn id="110" dur="1" fill="hold">
                                          <p:stCondLst>
                                            <p:cond delay="0"/>
                                          </p:stCondLst>
                                        </p:cTn>
                                        <p:tgtEl>
                                          <p:spTgt spid="31795"/>
                                        </p:tgtEl>
                                        <p:attrNameLst>
                                          <p:attrName>style.visibility</p:attrName>
                                        </p:attrNameLst>
                                      </p:cBhvr>
                                      <p:to>
                                        <p:strVal val="visible"/>
                                      </p:to>
                                    </p:set>
                                    <p:animEffect transition="in" filter="wipe(up)">
                                      <p:cBhvr>
                                        <p:cTn id="111" dur="500"/>
                                        <p:tgtEl>
                                          <p:spTgt spid="31795"/>
                                        </p:tgtEl>
                                      </p:cBhvr>
                                    </p:animEffect>
                                  </p:childTnLst>
                                </p:cTn>
                              </p:par>
                            </p:childTnLst>
                          </p:cTn>
                        </p:par>
                        <p:par>
                          <p:cTn id="112" fill="hold">
                            <p:stCondLst>
                              <p:cond delay="2500"/>
                            </p:stCondLst>
                            <p:childTnLst>
                              <p:par>
                                <p:cTn id="113" presetID="22" presetClass="entr" presetSubtype="2" fill="hold" grpId="0" nodeType="afterEffect">
                                  <p:stCondLst>
                                    <p:cond delay="0"/>
                                  </p:stCondLst>
                                  <p:childTnLst>
                                    <p:set>
                                      <p:cBhvr>
                                        <p:cTn id="114" dur="1" fill="hold">
                                          <p:stCondLst>
                                            <p:cond delay="0"/>
                                          </p:stCondLst>
                                        </p:cTn>
                                        <p:tgtEl>
                                          <p:spTgt spid="31779"/>
                                        </p:tgtEl>
                                        <p:attrNameLst>
                                          <p:attrName>style.visibility</p:attrName>
                                        </p:attrNameLst>
                                      </p:cBhvr>
                                      <p:to>
                                        <p:strVal val="visible"/>
                                      </p:to>
                                    </p:set>
                                    <p:animEffect transition="in" filter="wipe(right)">
                                      <p:cBhvr>
                                        <p:cTn id="115" dur="500"/>
                                        <p:tgtEl>
                                          <p:spTgt spid="31779"/>
                                        </p:tgtEl>
                                      </p:cBhvr>
                                    </p:animEffect>
                                  </p:childTnLst>
                                </p:cTn>
                              </p:par>
                            </p:childTnLst>
                          </p:cTn>
                        </p:par>
                        <p:par>
                          <p:cTn id="116" fill="hold">
                            <p:stCondLst>
                              <p:cond delay="3000"/>
                            </p:stCondLst>
                            <p:childTnLst>
                              <p:par>
                                <p:cTn id="117" presetID="22" presetClass="entr" presetSubtype="8" fill="hold" nodeType="afterEffect">
                                  <p:stCondLst>
                                    <p:cond delay="0"/>
                                  </p:stCondLst>
                                  <p:childTnLst>
                                    <p:set>
                                      <p:cBhvr>
                                        <p:cTn id="118" dur="1" fill="hold">
                                          <p:stCondLst>
                                            <p:cond delay="0"/>
                                          </p:stCondLst>
                                        </p:cTn>
                                        <p:tgtEl>
                                          <p:spTgt spid="176130"/>
                                        </p:tgtEl>
                                        <p:attrNameLst>
                                          <p:attrName>style.visibility</p:attrName>
                                        </p:attrNameLst>
                                      </p:cBhvr>
                                      <p:to>
                                        <p:strVal val="visible"/>
                                      </p:to>
                                    </p:set>
                                    <p:animEffect transition="in" filter="wipe(left)">
                                      <p:cBhvr>
                                        <p:cTn id="119" dur="500"/>
                                        <p:tgtEl>
                                          <p:spTgt spid="176130"/>
                                        </p:tgtEl>
                                      </p:cBhvr>
                                    </p:animEffect>
                                  </p:childTnLst>
                                </p:cTn>
                              </p:par>
                            </p:childTnLst>
                          </p:cTn>
                        </p:par>
                        <p:par>
                          <p:cTn id="120" fill="hold">
                            <p:stCondLst>
                              <p:cond delay="3500"/>
                            </p:stCondLst>
                            <p:childTnLst>
                              <p:par>
                                <p:cTn id="121" presetID="22" presetClass="entr" presetSubtype="8" fill="hold" nodeType="afterEffect">
                                  <p:stCondLst>
                                    <p:cond delay="0"/>
                                  </p:stCondLst>
                                  <p:childTnLst>
                                    <p:set>
                                      <p:cBhvr>
                                        <p:cTn id="122" dur="1" fill="hold">
                                          <p:stCondLst>
                                            <p:cond delay="0"/>
                                          </p:stCondLst>
                                        </p:cTn>
                                        <p:tgtEl>
                                          <p:spTgt spid="176137"/>
                                        </p:tgtEl>
                                        <p:attrNameLst>
                                          <p:attrName>style.visibility</p:attrName>
                                        </p:attrNameLst>
                                      </p:cBhvr>
                                      <p:to>
                                        <p:strVal val="visible"/>
                                      </p:to>
                                    </p:set>
                                    <p:animEffect transition="in" filter="wipe(left)">
                                      <p:cBhvr>
                                        <p:cTn id="123" dur="500"/>
                                        <p:tgtEl>
                                          <p:spTgt spid="176137"/>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31830"/>
                                        </p:tgtEl>
                                        <p:attrNameLst>
                                          <p:attrName>style.visibility</p:attrName>
                                        </p:attrNameLst>
                                      </p:cBhvr>
                                      <p:to>
                                        <p:strVal val="visible"/>
                                      </p:to>
                                    </p:set>
                                    <p:animEffect transition="in" filter="wipe(left)">
                                      <p:cBhvr>
                                        <p:cTn id="128" dur="500"/>
                                        <p:tgtEl>
                                          <p:spTgt spid="31830"/>
                                        </p:tgtEl>
                                      </p:cBhvr>
                                    </p:animEffect>
                                  </p:childTnLst>
                                </p:cTn>
                              </p:par>
                            </p:childTnLst>
                          </p:cTn>
                        </p:par>
                        <p:par>
                          <p:cTn id="129" fill="hold">
                            <p:stCondLst>
                              <p:cond delay="500"/>
                            </p:stCondLst>
                            <p:childTnLst>
                              <p:par>
                                <p:cTn id="130" presetID="22" presetClass="entr" presetSubtype="8" fill="hold" grpId="0" nodeType="afterEffect">
                                  <p:stCondLst>
                                    <p:cond delay="0"/>
                                  </p:stCondLst>
                                  <p:childTnLst>
                                    <p:set>
                                      <p:cBhvr>
                                        <p:cTn id="131" dur="1" fill="hold">
                                          <p:stCondLst>
                                            <p:cond delay="0"/>
                                          </p:stCondLst>
                                        </p:cTn>
                                        <p:tgtEl>
                                          <p:spTgt spid="31814"/>
                                        </p:tgtEl>
                                        <p:attrNameLst>
                                          <p:attrName>style.visibility</p:attrName>
                                        </p:attrNameLst>
                                      </p:cBhvr>
                                      <p:to>
                                        <p:strVal val="visible"/>
                                      </p:to>
                                    </p:set>
                                    <p:animEffect transition="in" filter="wipe(left)">
                                      <p:cBhvr>
                                        <p:cTn id="132" dur="500"/>
                                        <p:tgtEl>
                                          <p:spTgt spid="31814"/>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1" fill="hold" grpId="0" nodeType="clickEffect">
                                  <p:stCondLst>
                                    <p:cond delay="0"/>
                                  </p:stCondLst>
                                  <p:childTnLst>
                                    <p:set>
                                      <p:cBhvr>
                                        <p:cTn id="136" dur="1" fill="hold">
                                          <p:stCondLst>
                                            <p:cond delay="0"/>
                                          </p:stCondLst>
                                        </p:cTn>
                                        <p:tgtEl>
                                          <p:spTgt spid="31781"/>
                                        </p:tgtEl>
                                        <p:attrNameLst>
                                          <p:attrName>style.visibility</p:attrName>
                                        </p:attrNameLst>
                                      </p:cBhvr>
                                      <p:to>
                                        <p:strVal val="visible"/>
                                      </p:to>
                                    </p:set>
                                    <p:animEffect transition="in" filter="wipe(up)">
                                      <p:cBhvr>
                                        <p:cTn id="137" dur="500"/>
                                        <p:tgtEl>
                                          <p:spTgt spid="31781"/>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176134"/>
                                        </p:tgtEl>
                                        <p:attrNameLst>
                                          <p:attrName>style.visibility</p:attrName>
                                        </p:attrNameLst>
                                      </p:cBhvr>
                                      <p:to>
                                        <p:strVal val="visible"/>
                                      </p:to>
                                    </p:set>
                                    <p:animEffect transition="in" filter="wipe(left)">
                                      <p:cBhvr>
                                        <p:cTn id="142" dur="500"/>
                                        <p:tgtEl>
                                          <p:spTgt spid="176134"/>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31826"/>
                                        </p:tgtEl>
                                        <p:attrNameLst>
                                          <p:attrName>style.visibility</p:attrName>
                                        </p:attrNameLst>
                                      </p:cBhvr>
                                      <p:to>
                                        <p:strVal val="visible"/>
                                      </p:to>
                                    </p:set>
                                    <p:animEffect transition="in" filter="wipe(left)">
                                      <p:cBhvr>
                                        <p:cTn id="147" dur="500"/>
                                        <p:tgtEl>
                                          <p:spTgt spid="31826"/>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176135"/>
                                        </p:tgtEl>
                                        <p:attrNameLst>
                                          <p:attrName>style.visibility</p:attrName>
                                        </p:attrNameLst>
                                      </p:cBhvr>
                                      <p:to>
                                        <p:strVal val="visible"/>
                                      </p:to>
                                    </p:set>
                                    <p:animEffect transition="in" filter="wipe(left)">
                                      <p:cBhvr>
                                        <p:cTn id="152" dur="500"/>
                                        <p:tgtEl>
                                          <p:spTgt spid="176135"/>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31831"/>
                                        </p:tgtEl>
                                        <p:attrNameLst>
                                          <p:attrName>style.visibility</p:attrName>
                                        </p:attrNameLst>
                                      </p:cBhvr>
                                      <p:to>
                                        <p:strVal val="visible"/>
                                      </p:to>
                                    </p:set>
                                    <p:animEffect transition="in" filter="wipe(left)">
                                      <p:cBhvr>
                                        <p:cTn id="157" dur="500"/>
                                        <p:tgtEl>
                                          <p:spTgt spid="31831"/>
                                        </p:tgtEl>
                                      </p:cBhvr>
                                    </p:animEffect>
                                  </p:childTnLst>
                                </p:cTn>
                              </p:par>
                            </p:childTnLst>
                          </p:cTn>
                        </p:par>
                        <p:par>
                          <p:cTn id="158" fill="hold">
                            <p:stCondLst>
                              <p:cond delay="500"/>
                            </p:stCondLst>
                            <p:childTnLst>
                              <p:par>
                                <p:cTn id="159" presetID="22" presetClass="entr" presetSubtype="8" fill="hold" grpId="0" nodeType="afterEffect">
                                  <p:stCondLst>
                                    <p:cond delay="0"/>
                                  </p:stCondLst>
                                  <p:childTnLst>
                                    <p:set>
                                      <p:cBhvr>
                                        <p:cTn id="160" dur="1" fill="hold">
                                          <p:stCondLst>
                                            <p:cond delay="0"/>
                                          </p:stCondLst>
                                        </p:cTn>
                                        <p:tgtEl>
                                          <p:spTgt spid="31827"/>
                                        </p:tgtEl>
                                        <p:attrNameLst>
                                          <p:attrName>style.visibility</p:attrName>
                                        </p:attrNameLst>
                                      </p:cBhvr>
                                      <p:to>
                                        <p:strVal val="visible"/>
                                      </p:to>
                                    </p:set>
                                    <p:animEffect transition="in" filter="wipe(left)">
                                      <p:cBhvr>
                                        <p:cTn id="161" dur="500"/>
                                        <p:tgtEl>
                                          <p:spTgt spid="31827"/>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8" fill="hold" grpId="0" nodeType="clickEffect">
                                  <p:stCondLst>
                                    <p:cond delay="0"/>
                                  </p:stCondLst>
                                  <p:childTnLst>
                                    <p:set>
                                      <p:cBhvr>
                                        <p:cTn id="165" dur="1" fill="hold">
                                          <p:stCondLst>
                                            <p:cond delay="0"/>
                                          </p:stCondLst>
                                        </p:cTn>
                                        <p:tgtEl>
                                          <p:spTgt spid="31828"/>
                                        </p:tgtEl>
                                        <p:attrNameLst>
                                          <p:attrName>style.visibility</p:attrName>
                                        </p:attrNameLst>
                                      </p:cBhvr>
                                      <p:to>
                                        <p:strVal val="visible"/>
                                      </p:to>
                                    </p:set>
                                    <p:animEffect transition="in" filter="wipe(left)">
                                      <p:cBhvr>
                                        <p:cTn id="166" dur="500"/>
                                        <p:tgtEl>
                                          <p:spTgt spid="31828"/>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nodeType="clickEffect">
                                  <p:stCondLst>
                                    <p:cond delay="0"/>
                                  </p:stCondLst>
                                  <p:childTnLst>
                                    <p:set>
                                      <p:cBhvr>
                                        <p:cTn id="170" dur="1" fill="hold">
                                          <p:stCondLst>
                                            <p:cond delay="0"/>
                                          </p:stCondLst>
                                        </p:cTn>
                                        <p:tgtEl>
                                          <p:spTgt spid="176138"/>
                                        </p:tgtEl>
                                        <p:attrNameLst>
                                          <p:attrName>style.visibility</p:attrName>
                                        </p:attrNameLst>
                                      </p:cBhvr>
                                      <p:to>
                                        <p:strVal val="visible"/>
                                      </p:to>
                                    </p:set>
                                    <p:animEffect transition="in" filter="wipe(left)">
                                      <p:cBhvr>
                                        <p:cTn id="171" dur="500"/>
                                        <p:tgtEl>
                                          <p:spTgt spid="176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26" grpId="0" animBg="1"/>
      <p:bldP spid="31748" grpId="0" autoUpdateAnimBg="0"/>
      <p:bldP spid="31779" grpId="0" animBg="1"/>
      <p:bldP spid="31780" grpId="0" animBg="1"/>
      <p:bldP spid="31781" grpId="0" animBg="1"/>
      <p:bldP spid="31784" grpId="0" autoUpdateAnimBg="0"/>
      <p:bldP spid="31786" grpId="0" autoUpdateAnimBg="0"/>
      <p:bldP spid="31795" grpId="0" animBg="1"/>
      <p:bldP spid="31796" grpId="0" animBg="1"/>
      <p:bldP spid="31805" grpId="0" animBg="1"/>
      <p:bldP spid="31806" grpId="0" animBg="1"/>
      <p:bldP spid="31807" grpId="0" autoUpdateAnimBg="0"/>
      <p:bldP spid="31808" grpId="0" autoUpdateAnimBg="0"/>
      <p:bldP spid="31814" grpId="0" autoUpdateAnimBg="0"/>
      <p:bldP spid="31827" grpId="0" autoUpdateAnimBg="0"/>
      <p:bldP spid="31828" grpId="0" autoUpdateAnimBg="0"/>
      <p:bldP spid="31830" grpId="0" autoUpdateAnimBg="0"/>
      <p:bldP spid="31831"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2" name="Line 28"/>
          <p:cNvSpPr>
            <a:spLocks noChangeShapeType="1"/>
          </p:cNvSpPr>
          <p:nvPr/>
        </p:nvSpPr>
        <p:spPr bwMode="auto">
          <a:xfrm>
            <a:off x="6156325" y="2341563"/>
            <a:ext cx="1676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sp>
        <p:nvSpPr>
          <p:cNvPr id="18443" name="Line 29"/>
          <p:cNvSpPr>
            <a:spLocks noChangeShapeType="1"/>
          </p:cNvSpPr>
          <p:nvPr/>
        </p:nvSpPr>
        <p:spPr bwMode="auto">
          <a:xfrm>
            <a:off x="6156325" y="1406525"/>
            <a:ext cx="533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18434" name="Object 31"/>
          <p:cNvGraphicFramePr>
            <a:graphicFrameLocks noChangeAspect="1"/>
          </p:cNvGraphicFramePr>
          <p:nvPr/>
        </p:nvGraphicFramePr>
        <p:xfrm>
          <a:off x="5651500" y="1108075"/>
          <a:ext cx="330200" cy="419100"/>
        </p:xfrm>
        <a:graphic>
          <a:graphicData uri="http://schemas.openxmlformats.org/presentationml/2006/ole">
            <mc:AlternateContent xmlns:mc="http://schemas.openxmlformats.org/markup-compatibility/2006">
              <mc:Choice xmlns:v="urn:schemas-microsoft-com:vml" Requires="v">
                <p:oleObj spid="_x0000_s18433" name="公式" r:id="rId1" imgW="7924800" imgH="10058400" progId="Equation.3">
                  <p:embed/>
                </p:oleObj>
              </mc:Choice>
              <mc:Fallback>
                <p:oleObj name="公式" r:id="rId1" imgW="7924800" imgH="10058400" progId="Equation.3">
                  <p:embed/>
                  <p:pic>
                    <p:nvPicPr>
                      <p:cNvPr id="0" name="Object 31"/>
                      <p:cNvPicPr>
                        <a:picLocks noChangeAspect="1"/>
                      </p:cNvPicPr>
                      <p:nvPr/>
                    </p:nvPicPr>
                    <p:blipFill>
                      <a:blip r:embed="rId2"/>
                      <a:stretch>
                        <a:fillRect/>
                      </a:stretch>
                    </p:blipFill>
                    <p:spPr>
                      <a:xfrm>
                        <a:off x="5651500" y="1108075"/>
                        <a:ext cx="330200" cy="419100"/>
                      </a:xfrm>
                      <a:prstGeom prst="rect">
                        <a:avLst/>
                      </a:prstGeom>
                      <a:noFill/>
                      <a:ln w="9525">
                        <a:noFill/>
                      </a:ln>
                    </p:spPr>
                  </p:pic>
                </p:oleObj>
              </mc:Fallback>
            </mc:AlternateContent>
          </a:graphicData>
        </a:graphic>
      </p:graphicFrame>
      <p:graphicFrame>
        <p:nvGraphicFramePr>
          <p:cNvPr id="18435" name="Object 32"/>
          <p:cNvGraphicFramePr>
            <a:graphicFrameLocks noChangeAspect="1"/>
          </p:cNvGraphicFramePr>
          <p:nvPr/>
        </p:nvGraphicFramePr>
        <p:xfrm>
          <a:off x="7164388" y="1620838"/>
          <a:ext cx="374650" cy="442912"/>
        </p:xfrm>
        <a:graphic>
          <a:graphicData uri="http://schemas.openxmlformats.org/presentationml/2006/ole">
            <mc:AlternateContent xmlns:mc="http://schemas.openxmlformats.org/markup-compatibility/2006">
              <mc:Choice xmlns:v="urn:schemas-microsoft-com:vml" Requires="v">
                <p:oleObj spid="_x0000_s18435" name="公式" r:id="rId3" imgW="3352800" imgH="3962400" progId="Equation.3">
                  <p:embed/>
                </p:oleObj>
              </mc:Choice>
              <mc:Fallback>
                <p:oleObj name="公式" r:id="rId3" imgW="3352800" imgH="3962400" progId="Equation.3">
                  <p:embed/>
                  <p:pic>
                    <p:nvPicPr>
                      <p:cNvPr id="0" name="Object 32"/>
                      <p:cNvPicPr>
                        <a:picLocks noChangeAspect="1"/>
                      </p:cNvPicPr>
                      <p:nvPr/>
                    </p:nvPicPr>
                    <p:blipFill>
                      <a:blip r:embed="rId4"/>
                      <a:stretch>
                        <a:fillRect/>
                      </a:stretch>
                    </p:blipFill>
                    <p:spPr>
                      <a:xfrm>
                        <a:off x="7164388" y="1620838"/>
                        <a:ext cx="374650" cy="442912"/>
                      </a:xfrm>
                      <a:prstGeom prst="rect">
                        <a:avLst/>
                      </a:prstGeom>
                      <a:noFill/>
                      <a:ln w="9525">
                        <a:noFill/>
                      </a:ln>
                    </p:spPr>
                  </p:pic>
                </p:oleObj>
              </mc:Fallback>
            </mc:AlternateContent>
          </a:graphicData>
        </a:graphic>
      </p:graphicFrame>
      <p:sp>
        <p:nvSpPr>
          <p:cNvPr id="18444" name="Text Box 33"/>
          <p:cNvSpPr txBox="1">
            <a:spLocks noChangeArrowheads="1"/>
          </p:cNvSpPr>
          <p:nvPr/>
        </p:nvSpPr>
        <p:spPr bwMode="auto">
          <a:xfrm>
            <a:off x="6732588" y="1252538"/>
            <a:ext cx="439737" cy="396875"/>
          </a:xfrm>
          <a:prstGeom prst="rect">
            <a:avLst/>
          </a:prstGeom>
          <a:noFill/>
          <a:ln w="12700" cap="sq">
            <a:noFill/>
            <a:miter lim="800000"/>
            <a:headEnd type="none" w="sm" len="sm"/>
            <a:tailEnd type="none" w="sm" len="sm"/>
          </a:ln>
        </p:spPr>
        <p:txBody>
          <a:bodyPr wrap="none">
            <a:spAutoFit/>
          </a:bodyPr>
          <a:lstStyle/>
          <a:p>
            <a:r>
              <a:rPr kumimoji="1" lang="en-US" altLang="zh-CN" sz="2000" i="1"/>
              <a:t>Ⅰ</a:t>
            </a:r>
            <a:endParaRPr kumimoji="1" lang="en-US" altLang="zh-CN" sz="2000" i="1"/>
          </a:p>
        </p:txBody>
      </p:sp>
      <p:sp>
        <p:nvSpPr>
          <p:cNvPr id="18445" name="Text Box 34"/>
          <p:cNvSpPr txBox="1">
            <a:spLocks noChangeArrowheads="1"/>
          </p:cNvSpPr>
          <p:nvPr/>
        </p:nvSpPr>
        <p:spPr bwMode="auto">
          <a:xfrm>
            <a:off x="7940675" y="2132013"/>
            <a:ext cx="439738" cy="396875"/>
          </a:xfrm>
          <a:prstGeom prst="rect">
            <a:avLst/>
          </a:prstGeom>
          <a:noFill/>
          <a:ln w="12700" cap="sq">
            <a:noFill/>
            <a:miter lim="800000"/>
            <a:headEnd type="none" w="sm" len="sm"/>
            <a:tailEnd type="none" w="sm" len="sm"/>
          </a:ln>
        </p:spPr>
        <p:txBody>
          <a:bodyPr wrap="none">
            <a:spAutoFit/>
          </a:bodyPr>
          <a:lstStyle/>
          <a:p>
            <a:r>
              <a:rPr kumimoji="1" lang="en-US" altLang="zh-CN" sz="2000" i="1"/>
              <a:t>Ⅱ</a:t>
            </a:r>
            <a:endParaRPr kumimoji="1" lang="en-US" altLang="zh-CN" sz="2000" i="1"/>
          </a:p>
        </p:txBody>
      </p:sp>
      <p:graphicFrame>
        <p:nvGraphicFramePr>
          <p:cNvPr id="18436" name="Object 35"/>
          <p:cNvGraphicFramePr>
            <a:graphicFrameLocks noChangeAspect="1"/>
          </p:cNvGraphicFramePr>
          <p:nvPr/>
        </p:nvGraphicFramePr>
        <p:xfrm>
          <a:off x="5651500" y="2054225"/>
          <a:ext cx="368300" cy="419100"/>
        </p:xfrm>
        <a:graphic>
          <a:graphicData uri="http://schemas.openxmlformats.org/presentationml/2006/ole">
            <mc:AlternateContent xmlns:mc="http://schemas.openxmlformats.org/markup-compatibility/2006">
              <mc:Choice xmlns:v="urn:schemas-microsoft-com:vml" Requires="v">
                <p:oleObj spid="_x0000_s18436" name="公式" r:id="rId5" imgW="8839200" imgH="10058400" progId="Equation.3">
                  <p:embed/>
                </p:oleObj>
              </mc:Choice>
              <mc:Fallback>
                <p:oleObj name="公式" r:id="rId5" imgW="8839200" imgH="10058400" progId="Equation.3">
                  <p:embed/>
                  <p:pic>
                    <p:nvPicPr>
                      <p:cNvPr id="0" name="Object 35"/>
                      <p:cNvPicPr>
                        <a:picLocks noChangeAspect="1"/>
                      </p:cNvPicPr>
                      <p:nvPr/>
                    </p:nvPicPr>
                    <p:blipFill>
                      <a:blip r:embed="rId6"/>
                      <a:stretch>
                        <a:fillRect/>
                      </a:stretch>
                    </p:blipFill>
                    <p:spPr>
                      <a:xfrm>
                        <a:off x="5651500" y="2054225"/>
                        <a:ext cx="368300" cy="419100"/>
                      </a:xfrm>
                      <a:prstGeom prst="rect">
                        <a:avLst/>
                      </a:prstGeom>
                      <a:noFill/>
                      <a:ln w="9525">
                        <a:noFill/>
                      </a:ln>
                    </p:spPr>
                  </p:pic>
                </p:oleObj>
              </mc:Fallback>
            </mc:AlternateContent>
          </a:graphicData>
        </a:graphic>
      </p:graphicFrame>
      <p:sp>
        <p:nvSpPr>
          <p:cNvPr id="18446" name="Line 36"/>
          <p:cNvSpPr>
            <a:spLocks noChangeShapeType="1"/>
          </p:cNvSpPr>
          <p:nvPr/>
        </p:nvSpPr>
        <p:spPr bwMode="auto">
          <a:xfrm>
            <a:off x="7885113" y="2357438"/>
            <a:ext cx="0" cy="574675"/>
          </a:xfrm>
          <a:prstGeom prst="line">
            <a:avLst/>
          </a:prstGeom>
          <a:noFill/>
          <a:ln w="12700">
            <a:solidFill>
              <a:schemeClr val="tx1"/>
            </a:solidFill>
            <a:prstDash val="dash"/>
            <a:round/>
          </a:ln>
        </p:spPr>
        <p:txBody>
          <a:bodyPr/>
          <a:lstStyle/>
          <a:p>
            <a:endParaRPr lang="zh-CN" altLang="en-US"/>
          </a:p>
        </p:txBody>
      </p:sp>
      <p:sp>
        <p:nvSpPr>
          <p:cNvPr id="18447" name="Line 37"/>
          <p:cNvSpPr>
            <a:spLocks noChangeShapeType="1"/>
          </p:cNvSpPr>
          <p:nvPr/>
        </p:nvSpPr>
        <p:spPr bwMode="auto">
          <a:xfrm>
            <a:off x="6681788" y="1477963"/>
            <a:ext cx="0" cy="1511300"/>
          </a:xfrm>
          <a:prstGeom prst="line">
            <a:avLst/>
          </a:prstGeom>
          <a:noFill/>
          <a:ln w="9525">
            <a:solidFill>
              <a:schemeClr val="tx1"/>
            </a:solidFill>
            <a:prstDash val="dash"/>
            <a:round/>
          </a:ln>
        </p:spPr>
        <p:txBody>
          <a:bodyPr/>
          <a:lstStyle/>
          <a:p>
            <a:endParaRPr lang="zh-CN" altLang="en-US"/>
          </a:p>
        </p:txBody>
      </p:sp>
      <p:graphicFrame>
        <p:nvGraphicFramePr>
          <p:cNvPr id="18437" name="Object 38"/>
          <p:cNvGraphicFramePr>
            <a:graphicFrameLocks noChangeAspect="1"/>
          </p:cNvGraphicFramePr>
          <p:nvPr/>
        </p:nvGraphicFramePr>
        <p:xfrm>
          <a:off x="6516688" y="3062288"/>
          <a:ext cx="223837" cy="338137"/>
        </p:xfrm>
        <a:graphic>
          <a:graphicData uri="http://schemas.openxmlformats.org/presentationml/2006/ole">
            <mc:AlternateContent xmlns:mc="http://schemas.openxmlformats.org/markup-compatibility/2006">
              <mc:Choice xmlns:v="urn:schemas-microsoft-com:vml" Requires="v">
                <p:oleObj spid="_x0000_s18437" name="公式" r:id="rId7" imgW="6705600" imgH="10058400" progId="Equation.3">
                  <p:embed/>
                </p:oleObj>
              </mc:Choice>
              <mc:Fallback>
                <p:oleObj name="公式" r:id="rId7" imgW="6705600" imgH="10058400" progId="Equation.3">
                  <p:embed/>
                  <p:pic>
                    <p:nvPicPr>
                      <p:cNvPr id="0" name="Object 38"/>
                      <p:cNvPicPr>
                        <a:picLocks noChangeAspect="1"/>
                      </p:cNvPicPr>
                      <p:nvPr/>
                    </p:nvPicPr>
                    <p:blipFill>
                      <a:blip r:embed="rId8"/>
                      <a:stretch>
                        <a:fillRect/>
                      </a:stretch>
                    </p:blipFill>
                    <p:spPr>
                      <a:xfrm>
                        <a:off x="6516688" y="3062288"/>
                        <a:ext cx="223837" cy="338137"/>
                      </a:xfrm>
                      <a:prstGeom prst="rect">
                        <a:avLst/>
                      </a:prstGeom>
                      <a:noFill/>
                      <a:ln w="9525">
                        <a:noFill/>
                      </a:ln>
                    </p:spPr>
                  </p:pic>
                </p:oleObj>
              </mc:Fallback>
            </mc:AlternateContent>
          </a:graphicData>
        </a:graphic>
      </p:graphicFrame>
      <p:graphicFrame>
        <p:nvGraphicFramePr>
          <p:cNvPr id="18438" name="Object 39"/>
          <p:cNvGraphicFramePr>
            <a:graphicFrameLocks noChangeAspect="1"/>
          </p:cNvGraphicFramePr>
          <p:nvPr/>
        </p:nvGraphicFramePr>
        <p:xfrm>
          <a:off x="7773988" y="3062288"/>
          <a:ext cx="254000" cy="338137"/>
        </p:xfrm>
        <a:graphic>
          <a:graphicData uri="http://schemas.openxmlformats.org/presentationml/2006/ole">
            <mc:AlternateContent xmlns:mc="http://schemas.openxmlformats.org/markup-compatibility/2006">
              <mc:Choice xmlns:v="urn:schemas-microsoft-com:vml" Requires="v">
                <p:oleObj spid="_x0000_s18438" name="公式" r:id="rId9" imgW="7620000" imgH="10058400" progId="Equation.3">
                  <p:embed/>
                </p:oleObj>
              </mc:Choice>
              <mc:Fallback>
                <p:oleObj name="公式" r:id="rId9" imgW="7620000" imgH="10058400" progId="Equation.3">
                  <p:embed/>
                  <p:pic>
                    <p:nvPicPr>
                      <p:cNvPr id="0" name="Object 39"/>
                      <p:cNvPicPr>
                        <a:picLocks noChangeAspect="1"/>
                      </p:cNvPicPr>
                      <p:nvPr/>
                    </p:nvPicPr>
                    <p:blipFill>
                      <a:blip r:embed="rId10"/>
                      <a:stretch>
                        <a:fillRect/>
                      </a:stretch>
                    </p:blipFill>
                    <p:spPr>
                      <a:xfrm>
                        <a:off x="7773988" y="3062288"/>
                        <a:ext cx="254000" cy="338137"/>
                      </a:xfrm>
                      <a:prstGeom prst="rect">
                        <a:avLst/>
                      </a:prstGeom>
                      <a:noFill/>
                      <a:ln w="9525">
                        <a:noFill/>
                      </a:ln>
                    </p:spPr>
                  </p:pic>
                </p:oleObj>
              </mc:Fallback>
            </mc:AlternateContent>
          </a:graphicData>
        </a:graphic>
      </p:graphicFrame>
      <p:grpSp>
        <p:nvGrpSpPr>
          <p:cNvPr id="18448" name="Group 40"/>
          <p:cNvGrpSpPr>
            <a:grpSpLocks noChangeAspect="1"/>
          </p:cNvGrpSpPr>
          <p:nvPr/>
        </p:nvGrpSpPr>
        <p:grpSpPr bwMode="auto">
          <a:xfrm>
            <a:off x="5795963" y="685800"/>
            <a:ext cx="2909887" cy="2727325"/>
            <a:chOff x="3443" y="2160"/>
            <a:chExt cx="2035" cy="1908"/>
          </a:xfrm>
        </p:grpSpPr>
        <p:sp>
          <p:nvSpPr>
            <p:cNvPr id="18456" name="Line 41"/>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18457" name="Line 42"/>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18458" name="Text Box 43"/>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i="1"/>
                <a:t>O</a:t>
              </a:r>
              <a:endParaRPr lang="en-US" altLang="zh-CN" i="1"/>
            </a:p>
          </p:txBody>
        </p:sp>
        <p:sp>
          <p:nvSpPr>
            <p:cNvPr id="18459" name="Text Box 44"/>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i="1"/>
                <a:t>V</a:t>
              </a:r>
              <a:endParaRPr lang="en-US" altLang="zh-CN" i="1"/>
            </a:p>
          </p:txBody>
        </p:sp>
        <p:sp>
          <p:nvSpPr>
            <p:cNvPr id="18460" name="Text Box 45"/>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i="1"/>
                <a:t>p</a:t>
              </a:r>
              <a:endParaRPr lang="en-US" altLang="zh-CN" i="1"/>
            </a:p>
          </p:txBody>
        </p:sp>
      </p:grpSp>
      <p:grpSp>
        <p:nvGrpSpPr>
          <p:cNvPr id="18449" name="Group 46"/>
          <p:cNvGrpSpPr/>
          <p:nvPr/>
        </p:nvGrpSpPr>
        <p:grpSpPr bwMode="auto">
          <a:xfrm>
            <a:off x="6691313" y="1171575"/>
            <a:ext cx="1482725" cy="1169988"/>
            <a:chOff x="4215" y="1786"/>
            <a:chExt cx="934" cy="737"/>
          </a:xfrm>
        </p:grpSpPr>
        <p:sp>
          <p:nvSpPr>
            <p:cNvPr id="18454" name="Arc 47"/>
            <p:cNvSpPr>
              <a:spLocks noChangeAspect="1"/>
            </p:cNvSpPr>
            <p:nvPr/>
          </p:nvSpPr>
          <p:spPr bwMode="auto">
            <a:xfrm>
              <a:off x="4215" y="1916"/>
              <a:ext cx="934" cy="607"/>
            </a:xfrm>
            <a:custGeom>
              <a:avLst/>
              <a:gdLst>
                <a:gd name="T0" fmla="*/ 0 w 21575"/>
                <a:gd name="T1" fmla="*/ 0 h 21298"/>
                <a:gd name="T2" fmla="*/ 0 w 21575"/>
                <a:gd name="T3" fmla="*/ 0 h 21298"/>
                <a:gd name="T4" fmla="*/ 0 w 21575"/>
                <a:gd name="T5" fmla="*/ 0 h 21298"/>
                <a:gd name="T6" fmla="*/ 0 60000 65536"/>
                <a:gd name="T7" fmla="*/ 0 60000 65536"/>
                <a:gd name="T8" fmla="*/ 0 60000 65536"/>
                <a:gd name="T9" fmla="*/ 0 w 21575"/>
                <a:gd name="T10" fmla="*/ 0 h 21298"/>
                <a:gd name="T11" fmla="*/ 21575 w 21575"/>
                <a:gd name="T12" fmla="*/ 21298 h 21298"/>
              </a:gdLst>
              <a:ahLst/>
              <a:cxnLst>
                <a:cxn ang="T6">
                  <a:pos x="T0" y="T1"/>
                </a:cxn>
                <a:cxn ang="T7">
                  <a:pos x="T2" y="T3"/>
                </a:cxn>
                <a:cxn ang="T8">
                  <a:pos x="T4" y="T5"/>
                </a:cxn>
              </a:cxnLst>
              <a:rect l="T9" t="T10" r="T11" b="T12"/>
              <a:pathLst>
                <a:path w="21575" h="21298" fill="none" extrusionOk="0">
                  <a:moveTo>
                    <a:pt x="17974" y="21297"/>
                  </a:moveTo>
                  <a:cubicBezTo>
                    <a:pt x="7970" y="19606"/>
                    <a:pt x="492" y="11181"/>
                    <a:pt x="0" y="1047"/>
                  </a:cubicBezTo>
                </a:path>
                <a:path w="21575" h="21298" stroke="0" extrusionOk="0">
                  <a:moveTo>
                    <a:pt x="17974" y="21297"/>
                  </a:moveTo>
                  <a:cubicBezTo>
                    <a:pt x="7970" y="19606"/>
                    <a:pt x="492" y="11181"/>
                    <a:pt x="0" y="1047"/>
                  </a:cubicBezTo>
                  <a:lnTo>
                    <a:pt x="21575" y="0"/>
                  </a:lnTo>
                  <a:close/>
                </a:path>
              </a:pathLst>
            </a:custGeom>
            <a:noFill/>
            <a:ln w="38100">
              <a:solidFill>
                <a:srgbClr val="3333CC"/>
              </a:solidFill>
              <a:round/>
              <a:headEnd type="none" w="sm" len="sm"/>
              <a:tailEnd type="none" w="sm" len="sm"/>
            </a:ln>
          </p:spPr>
          <p:txBody>
            <a:bodyPr wrap="none" anchor="ctr"/>
            <a:lstStyle/>
            <a:p>
              <a:pPr algn="ctr"/>
              <a:endParaRPr lang="zh-CN" altLang="en-US"/>
            </a:p>
          </p:txBody>
        </p:sp>
        <p:sp>
          <p:nvSpPr>
            <p:cNvPr id="18455" name="Arc 48"/>
            <p:cNvSpPr/>
            <p:nvPr/>
          </p:nvSpPr>
          <p:spPr bwMode="auto">
            <a:xfrm>
              <a:off x="4429" y="1786"/>
              <a:ext cx="550" cy="660"/>
            </a:xfrm>
            <a:custGeom>
              <a:avLst/>
              <a:gdLst>
                <a:gd name="T0" fmla="*/ 0 w 14748"/>
                <a:gd name="T1" fmla="*/ 0 h 20110"/>
                <a:gd name="T2" fmla="*/ 0 w 14748"/>
                <a:gd name="T3" fmla="*/ 0 h 20110"/>
                <a:gd name="T4" fmla="*/ 0 w 14748"/>
                <a:gd name="T5" fmla="*/ 0 h 20110"/>
                <a:gd name="T6" fmla="*/ 0 60000 65536"/>
                <a:gd name="T7" fmla="*/ 0 60000 65536"/>
                <a:gd name="T8" fmla="*/ 0 60000 65536"/>
                <a:gd name="T9" fmla="*/ 0 w 14748"/>
                <a:gd name="T10" fmla="*/ 0 h 20110"/>
                <a:gd name="T11" fmla="*/ 14748 w 14748"/>
                <a:gd name="T12" fmla="*/ 20110 h 20110"/>
              </a:gdLst>
              <a:ahLst/>
              <a:cxnLst>
                <a:cxn ang="T6">
                  <a:pos x="T0" y="T1"/>
                </a:cxn>
                <a:cxn ang="T7">
                  <a:pos x="T2" y="T3"/>
                </a:cxn>
                <a:cxn ang="T8">
                  <a:pos x="T4" y="T5"/>
                </a:cxn>
              </a:cxnLst>
              <a:rect l="T9" t="T10" r="T11" b="T12"/>
              <a:pathLst>
                <a:path w="14748" h="20110" fill="none" extrusionOk="0">
                  <a:moveTo>
                    <a:pt x="6864" y="20110"/>
                  </a:moveTo>
                  <a:cubicBezTo>
                    <a:pt x="4323" y="19113"/>
                    <a:pt x="1994" y="17645"/>
                    <a:pt x="-1" y="15781"/>
                  </a:cubicBezTo>
                </a:path>
                <a:path w="14748" h="20110" stroke="0" extrusionOk="0">
                  <a:moveTo>
                    <a:pt x="6864" y="20110"/>
                  </a:moveTo>
                  <a:cubicBezTo>
                    <a:pt x="4323" y="19113"/>
                    <a:pt x="1994" y="17645"/>
                    <a:pt x="-1" y="15781"/>
                  </a:cubicBezTo>
                  <a:lnTo>
                    <a:pt x="14748" y="0"/>
                  </a:lnTo>
                  <a:close/>
                </a:path>
              </a:pathLst>
            </a:custGeom>
            <a:noFill/>
            <a:ln w="38100">
              <a:solidFill>
                <a:srgbClr val="3333CC"/>
              </a:solidFill>
              <a:round/>
              <a:headEnd type="triangle" w="med" len="med"/>
            </a:ln>
          </p:spPr>
          <p:txBody>
            <a:bodyPr wrap="none" anchor="ctr"/>
            <a:lstStyle/>
            <a:p>
              <a:pPr algn="ctr"/>
              <a:endParaRPr lang="zh-CN" altLang="en-US"/>
            </a:p>
          </p:txBody>
        </p:sp>
      </p:grpSp>
      <p:graphicFrame>
        <p:nvGraphicFramePr>
          <p:cNvPr id="18439" name="Object 49"/>
          <p:cNvGraphicFramePr>
            <a:graphicFrameLocks noChangeAspect="1"/>
          </p:cNvGraphicFramePr>
          <p:nvPr/>
        </p:nvGraphicFramePr>
        <p:xfrm>
          <a:off x="7812088" y="2222500"/>
          <a:ext cx="193675" cy="192088"/>
        </p:xfrm>
        <a:graphic>
          <a:graphicData uri="http://schemas.openxmlformats.org/presentationml/2006/ole">
            <mc:AlternateContent xmlns:mc="http://schemas.openxmlformats.org/markup-compatibility/2006">
              <mc:Choice xmlns:v="urn:schemas-microsoft-com:vml" Requires="v">
                <p:oleObj spid="_x0000_s18439" name="公式" r:id="rId11" imgW="4572000" imgH="4572000" progId="Equation.3">
                  <p:embed/>
                </p:oleObj>
              </mc:Choice>
              <mc:Fallback>
                <p:oleObj name="公式" r:id="rId11" imgW="4572000" imgH="4572000" progId="Equation.3">
                  <p:embed/>
                  <p:pic>
                    <p:nvPicPr>
                      <p:cNvPr id="0" name="Object 49"/>
                      <p:cNvPicPr>
                        <a:picLocks noChangeAspect="1"/>
                      </p:cNvPicPr>
                      <p:nvPr/>
                    </p:nvPicPr>
                    <p:blipFill>
                      <a:blip r:embed="rId12"/>
                      <a:stretch>
                        <a:fillRect/>
                      </a:stretch>
                    </p:blipFill>
                    <p:spPr>
                      <a:xfrm>
                        <a:off x="7812088" y="2222500"/>
                        <a:ext cx="193675" cy="192088"/>
                      </a:xfrm>
                      <a:prstGeom prst="rect">
                        <a:avLst/>
                      </a:prstGeom>
                      <a:noFill/>
                      <a:ln w="9525">
                        <a:noFill/>
                      </a:ln>
                    </p:spPr>
                  </p:pic>
                </p:oleObj>
              </mc:Fallback>
            </mc:AlternateContent>
          </a:graphicData>
        </a:graphic>
      </p:graphicFrame>
      <p:graphicFrame>
        <p:nvGraphicFramePr>
          <p:cNvPr id="18440" name="Object 50"/>
          <p:cNvGraphicFramePr>
            <a:graphicFrameLocks noChangeAspect="1"/>
          </p:cNvGraphicFramePr>
          <p:nvPr/>
        </p:nvGraphicFramePr>
        <p:xfrm>
          <a:off x="6610350" y="1333500"/>
          <a:ext cx="193675" cy="192088"/>
        </p:xfrm>
        <a:graphic>
          <a:graphicData uri="http://schemas.openxmlformats.org/presentationml/2006/ole">
            <mc:AlternateContent xmlns:mc="http://schemas.openxmlformats.org/markup-compatibility/2006">
              <mc:Choice xmlns:v="urn:schemas-microsoft-com:vml" Requires="v">
                <p:oleObj spid="_x0000_s18440" name="公式" r:id="rId13" imgW="4572000" imgH="4572000" progId="Equation.3">
                  <p:embed/>
                </p:oleObj>
              </mc:Choice>
              <mc:Fallback>
                <p:oleObj name="公式" r:id="rId13" imgW="4572000" imgH="4572000" progId="Equation.3">
                  <p:embed/>
                  <p:pic>
                    <p:nvPicPr>
                      <p:cNvPr id="0" name="Object 50"/>
                      <p:cNvPicPr>
                        <a:picLocks noChangeAspect="1"/>
                      </p:cNvPicPr>
                      <p:nvPr/>
                    </p:nvPicPr>
                    <p:blipFill>
                      <a:blip r:embed="rId12"/>
                      <a:stretch>
                        <a:fillRect/>
                      </a:stretch>
                    </p:blipFill>
                    <p:spPr>
                      <a:xfrm>
                        <a:off x="6610350" y="1333500"/>
                        <a:ext cx="193675" cy="192088"/>
                      </a:xfrm>
                      <a:prstGeom prst="rect">
                        <a:avLst/>
                      </a:prstGeom>
                      <a:noFill/>
                      <a:ln w="9525">
                        <a:noFill/>
                      </a:ln>
                    </p:spPr>
                  </p:pic>
                </p:oleObj>
              </mc:Fallback>
            </mc:AlternateContent>
          </a:graphicData>
        </a:graphic>
      </p:graphicFrame>
      <p:sp>
        <p:nvSpPr>
          <p:cNvPr id="32821" name="Text Box 53"/>
          <p:cNvSpPr txBox="1">
            <a:spLocks noChangeArrowheads="1"/>
          </p:cNvSpPr>
          <p:nvPr/>
        </p:nvSpPr>
        <p:spPr bwMode="auto">
          <a:xfrm>
            <a:off x="914400" y="1076325"/>
            <a:ext cx="2087563" cy="457200"/>
          </a:xfrm>
          <a:prstGeom prst="rect">
            <a:avLst/>
          </a:prstGeom>
          <a:noFill/>
          <a:ln w="9525">
            <a:noFill/>
            <a:miter lim="800000"/>
          </a:ln>
        </p:spPr>
        <p:txBody>
          <a:bodyPr>
            <a:spAutoFit/>
          </a:bodyPr>
          <a:lstStyle/>
          <a:p>
            <a:r>
              <a:rPr lang="zh-CN" altLang="en-US" b="1">
                <a:solidFill>
                  <a:srgbClr val="FF6600"/>
                </a:solidFill>
              </a:rPr>
              <a:t>热量</a:t>
            </a:r>
            <a:endParaRPr lang="zh-CN" altLang="en-US" b="1">
              <a:solidFill>
                <a:srgbClr val="FF6600"/>
              </a:solidFill>
            </a:endParaRPr>
          </a:p>
        </p:txBody>
      </p:sp>
      <p:graphicFrame>
        <p:nvGraphicFramePr>
          <p:cNvPr id="32829" name="Object 61"/>
          <p:cNvGraphicFramePr>
            <a:graphicFrameLocks noChangeAspect="1"/>
          </p:cNvGraphicFramePr>
          <p:nvPr/>
        </p:nvGraphicFramePr>
        <p:xfrm>
          <a:off x="1054100" y="2133600"/>
          <a:ext cx="3751263" cy="885825"/>
        </p:xfrm>
        <a:graphic>
          <a:graphicData uri="http://schemas.openxmlformats.org/presentationml/2006/ole">
            <mc:AlternateContent xmlns:mc="http://schemas.openxmlformats.org/markup-compatibility/2006">
              <mc:Choice xmlns:v="urn:schemas-microsoft-com:vml" Requires="v">
                <p:oleObj spid="_x0000_s18441" name="公式" r:id="rId14" imgW="43891200" imgH="10363200" progId="Equation.3">
                  <p:embed/>
                </p:oleObj>
              </mc:Choice>
              <mc:Fallback>
                <p:oleObj name="公式" r:id="rId14" imgW="43891200" imgH="10363200" progId="Equation.3">
                  <p:embed/>
                  <p:pic>
                    <p:nvPicPr>
                      <p:cNvPr id="0" name="Object 61"/>
                      <p:cNvPicPr>
                        <a:picLocks noChangeAspect="1"/>
                      </p:cNvPicPr>
                      <p:nvPr/>
                    </p:nvPicPr>
                    <p:blipFill>
                      <a:blip r:embed="rId15"/>
                      <a:stretch>
                        <a:fillRect/>
                      </a:stretch>
                    </p:blipFill>
                    <p:spPr>
                      <a:xfrm>
                        <a:off x="1054100" y="2133600"/>
                        <a:ext cx="3751263" cy="885825"/>
                      </a:xfrm>
                      <a:prstGeom prst="rect">
                        <a:avLst/>
                      </a:prstGeom>
                      <a:noFill/>
                      <a:ln w="9525">
                        <a:noFill/>
                      </a:ln>
                    </p:spPr>
                  </p:pic>
                </p:oleObj>
              </mc:Fallback>
            </mc:AlternateContent>
          </a:graphicData>
        </a:graphic>
      </p:graphicFrame>
      <p:sp>
        <p:nvSpPr>
          <p:cNvPr id="32830" name="Rectangle 62"/>
          <p:cNvSpPr>
            <a:spLocks noChangeArrowheads="1"/>
          </p:cNvSpPr>
          <p:nvPr/>
        </p:nvSpPr>
        <p:spPr bwMode="auto">
          <a:xfrm>
            <a:off x="533400" y="838200"/>
            <a:ext cx="355600" cy="914400"/>
          </a:xfrm>
          <a:prstGeom prst="rect">
            <a:avLst/>
          </a:prstGeom>
          <a:noFill/>
          <a:ln w="9525">
            <a:noFill/>
            <a:miter lim="800000"/>
          </a:ln>
        </p:spPr>
        <p:txBody>
          <a:bodyPr wrap="none">
            <a:spAutoFit/>
          </a:bodyPr>
          <a:lstStyle/>
          <a:p>
            <a:r>
              <a:rPr kumimoji="1" lang="en-US" altLang="zh-CN" sz="5400">
                <a:solidFill>
                  <a:srgbClr val="0000FF"/>
                </a:solidFill>
                <a:cs typeface="Times New Roman" panose="02020603050405020304" pitchFamily="18" charset="0"/>
              </a:rPr>
              <a:t>·</a:t>
            </a:r>
            <a:endParaRPr kumimoji="1" lang="en-US" altLang="zh-CN" sz="5400">
              <a:solidFill>
                <a:srgbClr val="0000FF"/>
              </a:solidFill>
              <a:cs typeface="Times New Roman" panose="02020603050405020304" pitchFamily="18" charset="0"/>
            </a:endParaRPr>
          </a:p>
        </p:txBody>
      </p:sp>
      <p:sp>
        <p:nvSpPr>
          <p:cNvPr id="32831" name="Rectangle 63"/>
          <p:cNvSpPr>
            <a:spLocks noChangeArrowheads="1"/>
          </p:cNvSpPr>
          <p:nvPr/>
        </p:nvSpPr>
        <p:spPr bwMode="auto">
          <a:xfrm>
            <a:off x="1066800" y="3962400"/>
            <a:ext cx="7467600" cy="1516063"/>
          </a:xfrm>
          <a:prstGeom prst="rect">
            <a:avLst/>
          </a:prstGeom>
          <a:noFill/>
          <a:ln w="9525">
            <a:noFill/>
            <a:miter lim="800000"/>
          </a:ln>
        </p:spPr>
        <p:txBody>
          <a:bodyPr>
            <a:spAutoFit/>
          </a:bodyPr>
          <a:lstStyle/>
          <a:p>
            <a:pPr>
              <a:lnSpc>
                <a:spcPct val="130000"/>
              </a:lnSpc>
            </a:pPr>
            <a:r>
              <a:rPr kumimoji="1" lang="zh-CN" altLang="en-US" b="1">
                <a:latin typeface="宋体" panose="02010600030101010101" pitchFamily="2" charset="-122"/>
              </a:rPr>
              <a:t>在等温膨胀过程中 ，理想气体吸收的热量全部用来对外作功；在等温压缩中，外界对气体所的功，都转化为气体向外界放出的热量。</a:t>
            </a:r>
            <a:endParaRPr kumimoji="1" lang="zh-CN" altLang="en-US" b="1">
              <a:latin typeface="宋体" panose="02010600030101010101" pitchFamily="2" charset="-122"/>
            </a:endParaRPr>
          </a:p>
        </p:txBody>
      </p:sp>
      <p:sp>
        <p:nvSpPr>
          <p:cNvPr id="32832" name="AutoShape 64"/>
          <p:cNvSpPr>
            <a:spLocks noChangeArrowheads="1"/>
          </p:cNvSpPr>
          <p:nvPr/>
        </p:nvSpPr>
        <p:spPr bwMode="auto">
          <a:xfrm>
            <a:off x="609600" y="4038600"/>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830"/>
                                        </p:tgtEl>
                                        <p:attrNameLst>
                                          <p:attrName>style.visibility</p:attrName>
                                        </p:attrNameLst>
                                      </p:cBhvr>
                                      <p:to>
                                        <p:strVal val="visible"/>
                                      </p:to>
                                    </p:set>
                                    <p:animEffect transition="in" filter="wipe(left)">
                                      <p:cBhvr>
                                        <p:cTn id="7" dur="500"/>
                                        <p:tgtEl>
                                          <p:spTgt spid="3283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2821"/>
                                        </p:tgtEl>
                                        <p:attrNameLst>
                                          <p:attrName>style.visibility</p:attrName>
                                        </p:attrNameLst>
                                      </p:cBhvr>
                                      <p:to>
                                        <p:strVal val="visible"/>
                                      </p:to>
                                    </p:set>
                                    <p:animEffect transition="in" filter="wipe(left)">
                                      <p:cBhvr>
                                        <p:cTn id="11" dur="500"/>
                                        <p:tgtEl>
                                          <p:spTgt spid="328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2829"/>
                                        </p:tgtEl>
                                        <p:attrNameLst>
                                          <p:attrName>style.visibility</p:attrName>
                                        </p:attrNameLst>
                                      </p:cBhvr>
                                      <p:to>
                                        <p:strVal val="visible"/>
                                      </p:to>
                                    </p:set>
                                    <p:animEffect transition="in" filter="wipe(left)">
                                      <p:cBhvr>
                                        <p:cTn id="16" dur="500"/>
                                        <p:tgtEl>
                                          <p:spTgt spid="32829"/>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32832"/>
                                        </p:tgtEl>
                                        <p:attrNameLst>
                                          <p:attrName>style.visibility</p:attrName>
                                        </p:attrNameLst>
                                      </p:cBhvr>
                                      <p:to>
                                        <p:strVal val="visible"/>
                                      </p:to>
                                    </p:set>
                                    <p:anim calcmode="lin" valueType="num">
                                      <p:cBhvr>
                                        <p:cTn id="21" dur="500" fill="hold"/>
                                        <p:tgtEl>
                                          <p:spTgt spid="32832"/>
                                        </p:tgtEl>
                                        <p:attrNameLst>
                                          <p:attrName>ppt_w</p:attrName>
                                        </p:attrNameLst>
                                      </p:cBhvr>
                                      <p:tavLst>
                                        <p:tav tm="0">
                                          <p:val>
                                            <p:strVal val="4*#ppt_w"/>
                                          </p:val>
                                        </p:tav>
                                        <p:tav tm="100000">
                                          <p:val>
                                            <p:strVal val="#ppt_w"/>
                                          </p:val>
                                        </p:tav>
                                      </p:tavLst>
                                    </p:anim>
                                    <p:anim calcmode="lin" valueType="num">
                                      <p:cBhvr>
                                        <p:cTn id="22" dur="500" fill="hold"/>
                                        <p:tgtEl>
                                          <p:spTgt spid="32832"/>
                                        </p:tgtEl>
                                        <p:attrNameLst>
                                          <p:attrName>ppt_h</p:attrName>
                                        </p:attrNameLst>
                                      </p:cBhvr>
                                      <p:tavLst>
                                        <p:tav tm="0">
                                          <p:val>
                                            <p:strVal val="4*#ppt_h"/>
                                          </p:val>
                                        </p:tav>
                                        <p:tav tm="100000">
                                          <p:val>
                                            <p:strVal val="#ppt_h"/>
                                          </p:val>
                                        </p:tav>
                                      </p:tavLst>
                                    </p:anim>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2831"/>
                                        </p:tgtEl>
                                        <p:attrNameLst>
                                          <p:attrName>style.visibility</p:attrName>
                                        </p:attrNameLst>
                                      </p:cBhvr>
                                      <p:to>
                                        <p:strVal val="visible"/>
                                      </p:to>
                                    </p:set>
                                    <p:animEffect transition="in" filter="wipe(left)">
                                      <p:cBhvr>
                                        <p:cTn id="26" dur="500"/>
                                        <p:tgtEl>
                                          <p:spTgt spid="32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21" grpId="0" autoUpdateAnimBg="0"/>
      <p:bldP spid="32830" grpId="0" autoUpdateAnimBg="0"/>
      <p:bldP spid="32831" grpId="0" autoUpdateAnimBg="0"/>
      <p:bldP spid="3283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p:cNvSpPr txBox="1">
            <a:spLocks noChangeArrowheads="1"/>
          </p:cNvSpPr>
          <p:nvPr/>
        </p:nvSpPr>
        <p:spPr bwMode="auto">
          <a:xfrm>
            <a:off x="468313" y="960438"/>
            <a:ext cx="2879725" cy="461962"/>
          </a:xfrm>
          <a:prstGeom prst="rect">
            <a:avLst/>
          </a:prstGeom>
          <a:noFill/>
          <a:ln w="9525">
            <a:noFill/>
            <a:miter lim="800000"/>
          </a:ln>
        </p:spPr>
        <p:txBody>
          <a:bodyPr>
            <a:spAutoFit/>
          </a:bodyPr>
          <a:lstStyle/>
          <a:p>
            <a:r>
              <a:rPr lang="zh-CN" altLang="en-US" b="1">
                <a:solidFill>
                  <a:srgbClr val="FF0000"/>
                </a:solidFill>
                <a:cs typeface="Times New Roman" panose="02020603050405020304" pitchFamily="18" charset="0"/>
              </a:rPr>
              <a:t>４</a:t>
            </a:r>
            <a:r>
              <a:rPr lang="zh-CN" altLang="en-US" b="1">
                <a:solidFill>
                  <a:srgbClr val="FF0000"/>
                </a:solidFill>
              </a:rPr>
              <a:t>、绝热过程</a:t>
            </a:r>
            <a:endParaRPr lang="zh-CN" altLang="en-US" b="1">
              <a:solidFill>
                <a:srgbClr val="FF0000"/>
              </a:solidFill>
            </a:endParaRPr>
          </a:p>
        </p:txBody>
      </p:sp>
      <p:sp>
        <p:nvSpPr>
          <p:cNvPr id="33797" name="Text Box 5"/>
          <p:cNvSpPr txBox="1">
            <a:spLocks noChangeArrowheads="1"/>
          </p:cNvSpPr>
          <p:nvPr/>
        </p:nvSpPr>
        <p:spPr bwMode="auto">
          <a:xfrm>
            <a:off x="755650" y="1628775"/>
            <a:ext cx="6988175" cy="457200"/>
          </a:xfrm>
          <a:prstGeom prst="rect">
            <a:avLst/>
          </a:prstGeom>
          <a:noFill/>
          <a:ln w="9525">
            <a:noFill/>
            <a:miter lim="800000"/>
          </a:ln>
        </p:spPr>
        <p:txBody>
          <a:bodyPr>
            <a:spAutoFit/>
          </a:bodyPr>
          <a:lstStyle/>
          <a:p>
            <a:r>
              <a:rPr kumimoji="1" lang="zh-CN" altLang="en-US" b="1"/>
              <a:t>系统在绝热过程中始终不与外界交换热量。</a:t>
            </a:r>
            <a:endParaRPr kumimoji="1" lang="zh-CN" altLang="en-US" b="1"/>
          </a:p>
        </p:txBody>
      </p:sp>
      <p:sp>
        <p:nvSpPr>
          <p:cNvPr id="33798" name="Text Box 6"/>
          <p:cNvSpPr txBox="1">
            <a:spLocks noChangeArrowheads="1"/>
          </p:cNvSpPr>
          <p:nvPr/>
        </p:nvSpPr>
        <p:spPr bwMode="auto">
          <a:xfrm>
            <a:off x="1258888" y="2324100"/>
            <a:ext cx="5761037" cy="457200"/>
          </a:xfrm>
          <a:prstGeom prst="rect">
            <a:avLst/>
          </a:prstGeom>
          <a:noFill/>
          <a:ln w="9525">
            <a:noFill/>
            <a:miter lim="800000"/>
          </a:ln>
        </p:spPr>
        <p:txBody>
          <a:bodyPr>
            <a:spAutoFit/>
          </a:bodyPr>
          <a:lstStyle/>
          <a:p>
            <a:pPr>
              <a:buClr>
                <a:srgbClr val="3333CC"/>
              </a:buClr>
              <a:buFont typeface="Wingdings" panose="05000000000000000000" pitchFamily="2" charset="2"/>
              <a:buNone/>
            </a:pPr>
            <a:r>
              <a:rPr kumimoji="1" lang="zh-CN" altLang="en-US" b="1"/>
              <a:t>良好绝热材料包围的系统发生的过程；</a:t>
            </a:r>
            <a:endParaRPr kumimoji="1" lang="zh-CN" altLang="en-US" b="1"/>
          </a:p>
        </p:txBody>
      </p:sp>
      <p:sp>
        <p:nvSpPr>
          <p:cNvPr id="33799" name="Text Box 7"/>
          <p:cNvSpPr txBox="1">
            <a:spLocks noChangeArrowheads="1"/>
          </p:cNvSpPr>
          <p:nvPr/>
        </p:nvSpPr>
        <p:spPr bwMode="auto">
          <a:xfrm>
            <a:off x="1255713" y="4051300"/>
            <a:ext cx="7924800" cy="457200"/>
          </a:xfrm>
          <a:prstGeom prst="rect">
            <a:avLst/>
          </a:prstGeom>
          <a:noFill/>
          <a:ln w="9525">
            <a:noFill/>
            <a:miter lim="800000"/>
          </a:ln>
        </p:spPr>
        <p:txBody>
          <a:bodyPr>
            <a:spAutoFit/>
          </a:bodyPr>
          <a:lstStyle/>
          <a:p>
            <a:pPr>
              <a:buClr>
                <a:srgbClr val="3333CC"/>
              </a:buClr>
              <a:buFont typeface="Wingdings" panose="05000000000000000000" pitchFamily="2" charset="2"/>
              <a:buNone/>
            </a:pPr>
            <a:r>
              <a:rPr kumimoji="1" lang="zh-CN" altLang="en-US" b="1"/>
              <a:t>进行得较快，系统来不及和外界交换热量的过程</a:t>
            </a:r>
            <a:endParaRPr kumimoji="1" lang="zh-CN" altLang="en-US" b="1"/>
          </a:p>
        </p:txBody>
      </p:sp>
      <p:sp>
        <p:nvSpPr>
          <p:cNvPr id="33811" name="Text Box 19"/>
          <p:cNvSpPr txBox="1">
            <a:spLocks noChangeArrowheads="1"/>
          </p:cNvSpPr>
          <p:nvPr/>
        </p:nvSpPr>
        <p:spPr bwMode="auto">
          <a:xfrm>
            <a:off x="1258888" y="2854325"/>
            <a:ext cx="6697662" cy="1006475"/>
          </a:xfrm>
          <a:prstGeom prst="rect">
            <a:avLst/>
          </a:prstGeom>
          <a:noFill/>
          <a:ln w="9525">
            <a:noFill/>
            <a:miter lim="800000"/>
          </a:ln>
        </p:spPr>
        <p:txBody>
          <a:bodyPr>
            <a:spAutoFit/>
          </a:bodyPr>
          <a:lstStyle/>
          <a:p>
            <a:pPr>
              <a:lnSpc>
                <a:spcPct val="125000"/>
              </a:lnSpc>
              <a:buClr>
                <a:srgbClr val="3333CC"/>
              </a:buClr>
              <a:buFont typeface="Wingdings" panose="05000000000000000000" pitchFamily="2" charset="2"/>
              <a:buNone/>
            </a:pPr>
            <a:r>
              <a:rPr kumimoji="1" lang="zh-CN" altLang="en-US" b="1"/>
              <a:t>系统进行准静态过程变化过程中环境温度始终与系统保持一致，始终保持热平衡状态；</a:t>
            </a:r>
            <a:endParaRPr kumimoji="1" lang="zh-CN" altLang="en-US" b="1"/>
          </a:p>
        </p:txBody>
      </p:sp>
      <p:sp>
        <p:nvSpPr>
          <p:cNvPr id="33812" name="AutoShape 20"/>
          <p:cNvSpPr>
            <a:spLocks noChangeArrowheads="1"/>
          </p:cNvSpPr>
          <p:nvPr/>
        </p:nvSpPr>
        <p:spPr bwMode="auto">
          <a:xfrm>
            <a:off x="755650" y="227647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b="1"/>
          </a:p>
        </p:txBody>
      </p:sp>
      <p:sp>
        <p:nvSpPr>
          <p:cNvPr id="33813" name="AutoShape 21"/>
          <p:cNvSpPr>
            <a:spLocks noChangeArrowheads="1"/>
          </p:cNvSpPr>
          <p:nvPr/>
        </p:nvSpPr>
        <p:spPr bwMode="auto">
          <a:xfrm>
            <a:off x="755650" y="292417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b="1"/>
          </a:p>
        </p:txBody>
      </p:sp>
      <p:sp>
        <p:nvSpPr>
          <p:cNvPr id="33814" name="AutoShape 22"/>
          <p:cNvSpPr>
            <a:spLocks noChangeArrowheads="1"/>
          </p:cNvSpPr>
          <p:nvPr/>
        </p:nvSpPr>
        <p:spPr bwMode="auto">
          <a:xfrm>
            <a:off x="755650" y="393382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wipe(left)">
                                      <p:cBhvr>
                                        <p:cTn id="7" dur="500"/>
                                        <p:tgtEl>
                                          <p:spTgt spid="337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7"/>
                                        </p:tgtEl>
                                        <p:attrNameLst>
                                          <p:attrName>style.visibility</p:attrName>
                                        </p:attrNameLst>
                                      </p:cBhvr>
                                      <p:to>
                                        <p:strVal val="visible"/>
                                      </p:to>
                                    </p:set>
                                    <p:animEffect transition="in" filter="wipe(left)">
                                      <p:cBhvr>
                                        <p:cTn id="12" dur="500"/>
                                        <p:tgtEl>
                                          <p:spTgt spid="33797"/>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32" fill="hold" grpId="0" nodeType="clickEffect">
                                  <p:stCondLst>
                                    <p:cond delay="0"/>
                                  </p:stCondLst>
                                  <p:childTnLst>
                                    <p:set>
                                      <p:cBhvr>
                                        <p:cTn id="16" dur="1" fill="hold">
                                          <p:stCondLst>
                                            <p:cond delay="0"/>
                                          </p:stCondLst>
                                        </p:cTn>
                                        <p:tgtEl>
                                          <p:spTgt spid="33812"/>
                                        </p:tgtEl>
                                        <p:attrNameLst>
                                          <p:attrName>style.visibility</p:attrName>
                                        </p:attrNameLst>
                                      </p:cBhvr>
                                      <p:to>
                                        <p:strVal val="visible"/>
                                      </p:to>
                                    </p:set>
                                    <p:anim calcmode="lin" valueType="num">
                                      <p:cBhvr>
                                        <p:cTn id="17" dur="500" fill="hold"/>
                                        <p:tgtEl>
                                          <p:spTgt spid="33812"/>
                                        </p:tgtEl>
                                        <p:attrNameLst>
                                          <p:attrName>ppt_w</p:attrName>
                                        </p:attrNameLst>
                                      </p:cBhvr>
                                      <p:tavLst>
                                        <p:tav tm="0">
                                          <p:val>
                                            <p:strVal val="4*#ppt_w"/>
                                          </p:val>
                                        </p:tav>
                                        <p:tav tm="100000">
                                          <p:val>
                                            <p:strVal val="#ppt_w"/>
                                          </p:val>
                                        </p:tav>
                                      </p:tavLst>
                                    </p:anim>
                                    <p:anim calcmode="lin" valueType="num">
                                      <p:cBhvr>
                                        <p:cTn id="18" dur="500" fill="hold"/>
                                        <p:tgtEl>
                                          <p:spTgt spid="33812"/>
                                        </p:tgtEl>
                                        <p:attrNameLst>
                                          <p:attrName>ppt_h</p:attrName>
                                        </p:attrNameLst>
                                      </p:cBhvr>
                                      <p:tavLst>
                                        <p:tav tm="0">
                                          <p:val>
                                            <p:strVal val="4*#ppt_h"/>
                                          </p:val>
                                        </p:tav>
                                        <p:tav tm="100000">
                                          <p:val>
                                            <p:strVal val="#ppt_h"/>
                                          </p:val>
                                        </p:tav>
                                      </p:tavLst>
                                    </p:anim>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33798"/>
                                        </p:tgtEl>
                                        <p:attrNameLst>
                                          <p:attrName>style.visibility</p:attrName>
                                        </p:attrNameLst>
                                      </p:cBhvr>
                                      <p:to>
                                        <p:strVal val="visible"/>
                                      </p:to>
                                    </p:set>
                                    <p:animEffect transition="in" filter="wipe(left)">
                                      <p:cBhvr>
                                        <p:cTn id="22" dur="500"/>
                                        <p:tgtEl>
                                          <p:spTgt spid="33798"/>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32" fill="hold" grpId="0" nodeType="clickEffect">
                                  <p:stCondLst>
                                    <p:cond delay="0"/>
                                  </p:stCondLst>
                                  <p:childTnLst>
                                    <p:set>
                                      <p:cBhvr>
                                        <p:cTn id="26" dur="1" fill="hold">
                                          <p:stCondLst>
                                            <p:cond delay="0"/>
                                          </p:stCondLst>
                                        </p:cTn>
                                        <p:tgtEl>
                                          <p:spTgt spid="33813"/>
                                        </p:tgtEl>
                                        <p:attrNameLst>
                                          <p:attrName>style.visibility</p:attrName>
                                        </p:attrNameLst>
                                      </p:cBhvr>
                                      <p:to>
                                        <p:strVal val="visible"/>
                                      </p:to>
                                    </p:set>
                                    <p:anim calcmode="lin" valueType="num">
                                      <p:cBhvr>
                                        <p:cTn id="27" dur="500" fill="hold"/>
                                        <p:tgtEl>
                                          <p:spTgt spid="33813"/>
                                        </p:tgtEl>
                                        <p:attrNameLst>
                                          <p:attrName>ppt_w</p:attrName>
                                        </p:attrNameLst>
                                      </p:cBhvr>
                                      <p:tavLst>
                                        <p:tav tm="0">
                                          <p:val>
                                            <p:strVal val="4*#ppt_w"/>
                                          </p:val>
                                        </p:tav>
                                        <p:tav tm="100000">
                                          <p:val>
                                            <p:strVal val="#ppt_w"/>
                                          </p:val>
                                        </p:tav>
                                      </p:tavLst>
                                    </p:anim>
                                    <p:anim calcmode="lin" valueType="num">
                                      <p:cBhvr>
                                        <p:cTn id="28" dur="500" fill="hold"/>
                                        <p:tgtEl>
                                          <p:spTgt spid="33813"/>
                                        </p:tgtEl>
                                        <p:attrNameLst>
                                          <p:attrName>ppt_h</p:attrName>
                                        </p:attrNameLst>
                                      </p:cBhvr>
                                      <p:tavLst>
                                        <p:tav tm="0">
                                          <p:val>
                                            <p:strVal val="4*#ppt_h"/>
                                          </p:val>
                                        </p:tav>
                                        <p:tav tm="100000">
                                          <p:val>
                                            <p:strVal val="#ppt_h"/>
                                          </p:val>
                                        </p:tav>
                                      </p:tavLst>
                                    </p:anim>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33811"/>
                                        </p:tgtEl>
                                        <p:attrNameLst>
                                          <p:attrName>style.visibility</p:attrName>
                                        </p:attrNameLst>
                                      </p:cBhvr>
                                      <p:to>
                                        <p:strVal val="visible"/>
                                      </p:to>
                                    </p:set>
                                    <p:animEffect transition="in" filter="wipe(left)">
                                      <p:cBhvr>
                                        <p:cTn id="32" dur="500"/>
                                        <p:tgtEl>
                                          <p:spTgt spid="33811"/>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32" fill="hold" grpId="0" nodeType="clickEffect">
                                  <p:stCondLst>
                                    <p:cond delay="0"/>
                                  </p:stCondLst>
                                  <p:childTnLst>
                                    <p:set>
                                      <p:cBhvr>
                                        <p:cTn id="36" dur="1" fill="hold">
                                          <p:stCondLst>
                                            <p:cond delay="0"/>
                                          </p:stCondLst>
                                        </p:cTn>
                                        <p:tgtEl>
                                          <p:spTgt spid="33814"/>
                                        </p:tgtEl>
                                        <p:attrNameLst>
                                          <p:attrName>style.visibility</p:attrName>
                                        </p:attrNameLst>
                                      </p:cBhvr>
                                      <p:to>
                                        <p:strVal val="visible"/>
                                      </p:to>
                                    </p:set>
                                    <p:anim calcmode="lin" valueType="num">
                                      <p:cBhvr>
                                        <p:cTn id="37" dur="500" fill="hold"/>
                                        <p:tgtEl>
                                          <p:spTgt spid="33814"/>
                                        </p:tgtEl>
                                        <p:attrNameLst>
                                          <p:attrName>ppt_w</p:attrName>
                                        </p:attrNameLst>
                                      </p:cBhvr>
                                      <p:tavLst>
                                        <p:tav tm="0">
                                          <p:val>
                                            <p:strVal val="4*#ppt_w"/>
                                          </p:val>
                                        </p:tav>
                                        <p:tav tm="100000">
                                          <p:val>
                                            <p:strVal val="#ppt_w"/>
                                          </p:val>
                                        </p:tav>
                                      </p:tavLst>
                                    </p:anim>
                                    <p:anim calcmode="lin" valueType="num">
                                      <p:cBhvr>
                                        <p:cTn id="38" dur="500" fill="hold"/>
                                        <p:tgtEl>
                                          <p:spTgt spid="33814"/>
                                        </p:tgtEl>
                                        <p:attrNameLst>
                                          <p:attrName>ppt_h</p:attrName>
                                        </p:attrNameLst>
                                      </p:cBhvr>
                                      <p:tavLst>
                                        <p:tav tm="0">
                                          <p:val>
                                            <p:strVal val="4*#ppt_h"/>
                                          </p:val>
                                        </p:tav>
                                        <p:tav tm="100000">
                                          <p:val>
                                            <p:strVal val="#ppt_h"/>
                                          </p:val>
                                        </p:tav>
                                      </p:tavLst>
                                    </p:anim>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33799"/>
                                        </p:tgtEl>
                                        <p:attrNameLst>
                                          <p:attrName>style.visibility</p:attrName>
                                        </p:attrNameLst>
                                      </p:cBhvr>
                                      <p:to>
                                        <p:strVal val="visible"/>
                                      </p:to>
                                    </p:set>
                                    <p:animEffect transition="in" filter="wipe(left)">
                                      <p:cBhvr>
                                        <p:cTn id="42" dur="500"/>
                                        <p:tgtEl>
                                          <p:spTgt spid="33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P spid="33797" grpId="0" autoUpdateAnimBg="0"/>
      <p:bldP spid="33798" grpId="0"/>
      <p:bldP spid="33799" grpId="0"/>
      <p:bldP spid="33811" grpId="0"/>
      <p:bldP spid="33812" grpId="0" animBg="1"/>
      <p:bldP spid="33813" grpId="0" animBg="1"/>
      <p:bldP spid="3381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Text Box 5"/>
          <p:cNvSpPr txBox="1">
            <a:spLocks noChangeArrowheads="1"/>
          </p:cNvSpPr>
          <p:nvPr/>
        </p:nvSpPr>
        <p:spPr bwMode="auto">
          <a:xfrm>
            <a:off x="900113" y="884238"/>
            <a:ext cx="2016125" cy="457200"/>
          </a:xfrm>
          <a:prstGeom prst="rect">
            <a:avLst/>
          </a:prstGeom>
          <a:noFill/>
          <a:ln w="9525">
            <a:noFill/>
            <a:miter lim="800000"/>
          </a:ln>
        </p:spPr>
        <p:txBody>
          <a:bodyPr>
            <a:spAutoFit/>
          </a:bodyPr>
          <a:lstStyle/>
          <a:p>
            <a:r>
              <a:rPr lang="en-US" altLang="zh-CN" b="1">
                <a:solidFill>
                  <a:srgbClr val="FF6600"/>
                </a:solidFill>
              </a:rPr>
              <a:t>①  </a:t>
            </a:r>
            <a:r>
              <a:rPr lang="zh-CN" altLang="en-US" b="1">
                <a:solidFill>
                  <a:srgbClr val="FF6600"/>
                </a:solidFill>
              </a:rPr>
              <a:t>热量</a:t>
            </a:r>
            <a:endParaRPr lang="zh-CN" altLang="en-US" b="1">
              <a:solidFill>
                <a:srgbClr val="FF6600"/>
              </a:solidFill>
            </a:endParaRPr>
          </a:p>
        </p:txBody>
      </p:sp>
      <p:sp>
        <p:nvSpPr>
          <p:cNvPr id="36882" name="Line 18"/>
          <p:cNvSpPr>
            <a:spLocks noChangeShapeType="1"/>
          </p:cNvSpPr>
          <p:nvPr/>
        </p:nvSpPr>
        <p:spPr bwMode="auto">
          <a:xfrm>
            <a:off x="6156325" y="2924175"/>
            <a:ext cx="1676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sp>
        <p:nvSpPr>
          <p:cNvPr id="36883" name="Line 19"/>
          <p:cNvSpPr>
            <a:spLocks noChangeShapeType="1"/>
          </p:cNvSpPr>
          <p:nvPr/>
        </p:nvSpPr>
        <p:spPr bwMode="auto">
          <a:xfrm>
            <a:off x="6156325" y="1628775"/>
            <a:ext cx="533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177152" name="Object 1024"/>
          <p:cNvGraphicFramePr>
            <a:graphicFrameLocks noChangeAspect="1"/>
          </p:cNvGraphicFramePr>
          <p:nvPr/>
        </p:nvGraphicFramePr>
        <p:xfrm>
          <a:off x="5651500" y="1330325"/>
          <a:ext cx="330200" cy="419100"/>
        </p:xfrm>
        <a:graphic>
          <a:graphicData uri="http://schemas.openxmlformats.org/presentationml/2006/ole">
            <mc:AlternateContent xmlns:mc="http://schemas.openxmlformats.org/markup-compatibility/2006">
              <mc:Choice xmlns:v="urn:schemas-microsoft-com:vml" Requires="v">
                <p:oleObj spid="_x0000_s19457" name="公式" r:id="rId1" imgW="7924800" imgH="10058400" progId="Equation.3">
                  <p:embed/>
                </p:oleObj>
              </mc:Choice>
              <mc:Fallback>
                <p:oleObj name="公式" r:id="rId1" imgW="7924800" imgH="10058400" progId="Equation.3">
                  <p:embed/>
                  <p:pic>
                    <p:nvPicPr>
                      <p:cNvPr id="0" name="Object 1024"/>
                      <p:cNvPicPr>
                        <a:picLocks noChangeAspect="1"/>
                      </p:cNvPicPr>
                      <p:nvPr/>
                    </p:nvPicPr>
                    <p:blipFill>
                      <a:blip r:embed="rId2"/>
                      <a:stretch>
                        <a:fillRect/>
                      </a:stretch>
                    </p:blipFill>
                    <p:spPr>
                      <a:xfrm>
                        <a:off x="5651500" y="1330325"/>
                        <a:ext cx="330200" cy="419100"/>
                      </a:xfrm>
                      <a:prstGeom prst="rect">
                        <a:avLst/>
                      </a:prstGeom>
                      <a:noFill/>
                      <a:ln w="9525">
                        <a:noFill/>
                      </a:ln>
                    </p:spPr>
                  </p:pic>
                </p:oleObj>
              </mc:Fallback>
            </mc:AlternateContent>
          </a:graphicData>
        </a:graphic>
      </p:graphicFrame>
      <p:sp>
        <p:nvSpPr>
          <p:cNvPr id="36887" name="Text Box 23"/>
          <p:cNvSpPr txBox="1">
            <a:spLocks noChangeArrowheads="1"/>
          </p:cNvSpPr>
          <p:nvPr/>
        </p:nvSpPr>
        <p:spPr bwMode="auto">
          <a:xfrm>
            <a:off x="6653213" y="1446213"/>
            <a:ext cx="582612" cy="396875"/>
          </a:xfrm>
          <a:prstGeom prst="rect">
            <a:avLst/>
          </a:prstGeom>
          <a:noFill/>
          <a:ln w="12700" cap="sq">
            <a:noFill/>
            <a:miter lim="800000"/>
            <a:headEnd type="none" w="sm" len="sm"/>
            <a:tailEnd type="none" w="sm" len="sm"/>
          </a:ln>
        </p:spPr>
        <p:txBody>
          <a:bodyPr>
            <a:spAutoFit/>
          </a:bodyPr>
          <a:lstStyle/>
          <a:p>
            <a:r>
              <a:rPr kumimoji="1" lang="en-US" altLang="zh-CN" sz="2000" b="1" i="1"/>
              <a:t>Ⅰ</a:t>
            </a:r>
            <a:endParaRPr kumimoji="1" lang="en-US" altLang="zh-CN" sz="2000" b="1" i="1"/>
          </a:p>
        </p:txBody>
      </p:sp>
      <p:sp>
        <p:nvSpPr>
          <p:cNvPr id="36888" name="Text Box 24"/>
          <p:cNvSpPr txBox="1">
            <a:spLocks noChangeArrowheads="1"/>
          </p:cNvSpPr>
          <p:nvPr/>
        </p:nvSpPr>
        <p:spPr bwMode="auto">
          <a:xfrm>
            <a:off x="7885113" y="2670175"/>
            <a:ext cx="719137" cy="396875"/>
          </a:xfrm>
          <a:prstGeom prst="rect">
            <a:avLst/>
          </a:prstGeom>
          <a:noFill/>
          <a:ln w="12700" cap="sq">
            <a:noFill/>
            <a:miter lim="800000"/>
            <a:headEnd type="none" w="sm" len="sm"/>
            <a:tailEnd type="none" w="sm" len="sm"/>
          </a:ln>
        </p:spPr>
        <p:txBody>
          <a:bodyPr>
            <a:spAutoFit/>
          </a:bodyPr>
          <a:lstStyle/>
          <a:p>
            <a:r>
              <a:rPr kumimoji="1" lang="en-US" altLang="zh-CN" sz="2000" b="1" i="1"/>
              <a:t>Ⅱ</a:t>
            </a:r>
            <a:endParaRPr kumimoji="1" lang="en-US" altLang="zh-CN" sz="2000" b="1" i="1"/>
          </a:p>
        </p:txBody>
      </p:sp>
      <p:graphicFrame>
        <p:nvGraphicFramePr>
          <p:cNvPr id="177153" name="Object 1025"/>
          <p:cNvGraphicFramePr>
            <a:graphicFrameLocks noChangeAspect="1"/>
          </p:cNvGraphicFramePr>
          <p:nvPr/>
        </p:nvGraphicFramePr>
        <p:xfrm>
          <a:off x="5651500" y="2635250"/>
          <a:ext cx="368300" cy="419100"/>
        </p:xfrm>
        <a:graphic>
          <a:graphicData uri="http://schemas.openxmlformats.org/presentationml/2006/ole">
            <mc:AlternateContent xmlns:mc="http://schemas.openxmlformats.org/markup-compatibility/2006">
              <mc:Choice xmlns:v="urn:schemas-microsoft-com:vml" Requires="v">
                <p:oleObj spid="_x0000_s19459" name="公式" r:id="rId3" imgW="8839200" imgH="10058400" progId="Equation.3">
                  <p:embed/>
                </p:oleObj>
              </mc:Choice>
              <mc:Fallback>
                <p:oleObj name="公式" r:id="rId3" imgW="8839200" imgH="10058400" progId="Equation.3">
                  <p:embed/>
                  <p:pic>
                    <p:nvPicPr>
                      <p:cNvPr id="0" name="Object 1025"/>
                      <p:cNvPicPr>
                        <a:picLocks noChangeAspect="1"/>
                      </p:cNvPicPr>
                      <p:nvPr/>
                    </p:nvPicPr>
                    <p:blipFill>
                      <a:blip r:embed="rId4"/>
                      <a:stretch>
                        <a:fillRect/>
                      </a:stretch>
                    </p:blipFill>
                    <p:spPr>
                      <a:xfrm>
                        <a:off x="5651500" y="2635250"/>
                        <a:ext cx="368300" cy="419100"/>
                      </a:xfrm>
                      <a:prstGeom prst="rect">
                        <a:avLst/>
                      </a:prstGeom>
                      <a:noFill/>
                      <a:ln w="9525">
                        <a:noFill/>
                      </a:ln>
                    </p:spPr>
                  </p:pic>
                </p:oleObj>
              </mc:Fallback>
            </mc:AlternateContent>
          </a:graphicData>
        </a:graphic>
      </p:graphicFrame>
      <p:sp>
        <p:nvSpPr>
          <p:cNvPr id="36890" name="Line 26"/>
          <p:cNvSpPr>
            <a:spLocks noChangeShapeType="1"/>
          </p:cNvSpPr>
          <p:nvPr/>
        </p:nvSpPr>
        <p:spPr bwMode="auto">
          <a:xfrm>
            <a:off x="7885113" y="2924175"/>
            <a:ext cx="0" cy="230188"/>
          </a:xfrm>
          <a:prstGeom prst="line">
            <a:avLst/>
          </a:prstGeom>
          <a:noFill/>
          <a:ln w="12700">
            <a:solidFill>
              <a:schemeClr val="tx1"/>
            </a:solidFill>
            <a:prstDash val="dash"/>
            <a:round/>
          </a:ln>
        </p:spPr>
        <p:txBody>
          <a:bodyPr/>
          <a:lstStyle/>
          <a:p>
            <a:endParaRPr lang="zh-CN" altLang="en-US"/>
          </a:p>
        </p:txBody>
      </p:sp>
      <p:sp>
        <p:nvSpPr>
          <p:cNvPr id="36891" name="Line 27"/>
          <p:cNvSpPr>
            <a:spLocks noChangeShapeType="1"/>
          </p:cNvSpPr>
          <p:nvPr/>
        </p:nvSpPr>
        <p:spPr bwMode="auto">
          <a:xfrm>
            <a:off x="6681788" y="1700213"/>
            <a:ext cx="0" cy="1511300"/>
          </a:xfrm>
          <a:prstGeom prst="line">
            <a:avLst/>
          </a:prstGeom>
          <a:noFill/>
          <a:ln w="9525">
            <a:solidFill>
              <a:schemeClr val="tx1"/>
            </a:solidFill>
            <a:prstDash val="dash"/>
            <a:round/>
          </a:ln>
        </p:spPr>
        <p:txBody>
          <a:bodyPr/>
          <a:lstStyle/>
          <a:p>
            <a:endParaRPr lang="zh-CN" altLang="en-US"/>
          </a:p>
        </p:txBody>
      </p:sp>
      <p:graphicFrame>
        <p:nvGraphicFramePr>
          <p:cNvPr id="177154" name="Object 1026"/>
          <p:cNvGraphicFramePr>
            <a:graphicFrameLocks noChangeAspect="1"/>
          </p:cNvGraphicFramePr>
          <p:nvPr/>
        </p:nvGraphicFramePr>
        <p:xfrm>
          <a:off x="6516688" y="3284538"/>
          <a:ext cx="223837" cy="338137"/>
        </p:xfrm>
        <a:graphic>
          <a:graphicData uri="http://schemas.openxmlformats.org/presentationml/2006/ole">
            <mc:AlternateContent xmlns:mc="http://schemas.openxmlformats.org/markup-compatibility/2006">
              <mc:Choice xmlns:v="urn:schemas-microsoft-com:vml" Requires="v">
                <p:oleObj spid="_x0000_s19460" name="公式" r:id="rId5" imgW="6705600" imgH="10058400" progId="Equation.3">
                  <p:embed/>
                </p:oleObj>
              </mc:Choice>
              <mc:Fallback>
                <p:oleObj name="公式" r:id="rId5" imgW="6705600" imgH="10058400" progId="Equation.3">
                  <p:embed/>
                  <p:pic>
                    <p:nvPicPr>
                      <p:cNvPr id="0" name="Object 1026"/>
                      <p:cNvPicPr>
                        <a:picLocks noChangeAspect="1"/>
                      </p:cNvPicPr>
                      <p:nvPr/>
                    </p:nvPicPr>
                    <p:blipFill>
                      <a:blip r:embed="rId6"/>
                      <a:stretch>
                        <a:fillRect/>
                      </a:stretch>
                    </p:blipFill>
                    <p:spPr>
                      <a:xfrm>
                        <a:off x="6516688" y="3284538"/>
                        <a:ext cx="223837" cy="338137"/>
                      </a:xfrm>
                      <a:prstGeom prst="rect">
                        <a:avLst/>
                      </a:prstGeom>
                      <a:noFill/>
                      <a:ln w="9525">
                        <a:noFill/>
                      </a:ln>
                    </p:spPr>
                  </p:pic>
                </p:oleObj>
              </mc:Fallback>
            </mc:AlternateContent>
          </a:graphicData>
        </a:graphic>
      </p:graphicFrame>
      <p:graphicFrame>
        <p:nvGraphicFramePr>
          <p:cNvPr id="177155" name="Object 1027"/>
          <p:cNvGraphicFramePr>
            <a:graphicFrameLocks noChangeAspect="1"/>
          </p:cNvGraphicFramePr>
          <p:nvPr/>
        </p:nvGraphicFramePr>
        <p:xfrm>
          <a:off x="7773988" y="3284538"/>
          <a:ext cx="254000" cy="338137"/>
        </p:xfrm>
        <a:graphic>
          <a:graphicData uri="http://schemas.openxmlformats.org/presentationml/2006/ole">
            <mc:AlternateContent xmlns:mc="http://schemas.openxmlformats.org/markup-compatibility/2006">
              <mc:Choice xmlns:v="urn:schemas-microsoft-com:vml" Requires="v">
                <p:oleObj spid="_x0000_s19461" name="公式" r:id="rId7" imgW="7620000" imgH="10058400" progId="Equation.3">
                  <p:embed/>
                </p:oleObj>
              </mc:Choice>
              <mc:Fallback>
                <p:oleObj name="公式" r:id="rId7" imgW="7620000" imgH="10058400" progId="Equation.3">
                  <p:embed/>
                  <p:pic>
                    <p:nvPicPr>
                      <p:cNvPr id="0" name="Object 1027"/>
                      <p:cNvPicPr>
                        <a:picLocks noChangeAspect="1"/>
                      </p:cNvPicPr>
                      <p:nvPr/>
                    </p:nvPicPr>
                    <p:blipFill>
                      <a:blip r:embed="rId8"/>
                      <a:stretch>
                        <a:fillRect/>
                      </a:stretch>
                    </p:blipFill>
                    <p:spPr>
                      <a:xfrm>
                        <a:off x="7773988" y="3284538"/>
                        <a:ext cx="254000" cy="338137"/>
                      </a:xfrm>
                      <a:prstGeom prst="rect">
                        <a:avLst/>
                      </a:prstGeom>
                      <a:noFill/>
                      <a:ln w="9525">
                        <a:noFill/>
                      </a:ln>
                    </p:spPr>
                  </p:pic>
                </p:oleObj>
              </mc:Fallback>
            </mc:AlternateContent>
          </a:graphicData>
        </a:graphic>
      </p:graphicFrame>
      <p:grpSp>
        <p:nvGrpSpPr>
          <p:cNvPr id="2" name="Group 30"/>
          <p:cNvGrpSpPr>
            <a:grpSpLocks noChangeAspect="1"/>
          </p:cNvGrpSpPr>
          <p:nvPr/>
        </p:nvGrpSpPr>
        <p:grpSpPr bwMode="auto">
          <a:xfrm>
            <a:off x="5795963" y="908050"/>
            <a:ext cx="2909887" cy="2727325"/>
            <a:chOff x="3443" y="2160"/>
            <a:chExt cx="2035" cy="1908"/>
          </a:xfrm>
        </p:grpSpPr>
        <p:sp>
          <p:nvSpPr>
            <p:cNvPr id="19488" name="Line 31"/>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19489" name="Line 32"/>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19490" name="Text Box 33"/>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b="1" i="1"/>
                <a:t>O</a:t>
              </a:r>
              <a:endParaRPr lang="en-US" altLang="zh-CN" b="1" i="1"/>
            </a:p>
          </p:txBody>
        </p:sp>
        <p:sp>
          <p:nvSpPr>
            <p:cNvPr id="19491" name="Text Box 34"/>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b="1" i="1"/>
                <a:t>V</a:t>
              </a:r>
              <a:endParaRPr lang="en-US" altLang="zh-CN" b="1" i="1"/>
            </a:p>
          </p:txBody>
        </p:sp>
        <p:sp>
          <p:nvSpPr>
            <p:cNvPr id="19492" name="Text Box 35"/>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b="1" i="1"/>
                <a:t>p</a:t>
              </a:r>
              <a:endParaRPr lang="en-US" altLang="zh-CN" b="1" i="1"/>
            </a:p>
          </p:txBody>
        </p:sp>
      </p:grpSp>
      <p:graphicFrame>
        <p:nvGraphicFramePr>
          <p:cNvPr id="177156" name="Object 1028"/>
          <p:cNvGraphicFramePr>
            <a:graphicFrameLocks noChangeAspect="1"/>
          </p:cNvGraphicFramePr>
          <p:nvPr/>
        </p:nvGraphicFramePr>
        <p:xfrm>
          <a:off x="7812088" y="2822575"/>
          <a:ext cx="193675" cy="192088"/>
        </p:xfrm>
        <a:graphic>
          <a:graphicData uri="http://schemas.openxmlformats.org/presentationml/2006/ole">
            <mc:AlternateContent xmlns:mc="http://schemas.openxmlformats.org/markup-compatibility/2006">
              <mc:Choice xmlns:v="urn:schemas-microsoft-com:vml" Requires="v">
                <p:oleObj spid="_x0000_s19462" name="公式" r:id="rId9" imgW="4572000" imgH="4572000" progId="Equation.3">
                  <p:embed/>
                </p:oleObj>
              </mc:Choice>
              <mc:Fallback>
                <p:oleObj name="公式" r:id="rId9" imgW="4572000" imgH="4572000" progId="Equation.3">
                  <p:embed/>
                  <p:pic>
                    <p:nvPicPr>
                      <p:cNvPr id="0" name="Object 1028"/>
                      <p:cNvPicPr>
                        <a:picLocks noChangeAspect="1"/>
                      </p:cNvPicPr>
                      <p:nvPr/>
                    </p:nvPicPr>
                    <p:blipFill>
                      <a:blip r:embed="rId10"/>
                      <a:stretch>
                        <a:fillRect/>
                      </a:stretch>
                    </p:blipFill>
                    <p:spPr>
                      <a:xfrm>
                        <a:off x="7812088" y="2822575"/>
                        <a:ext cx="193675" cy="192088"/>
                      </a:xfrm>
                      <a:prstGeom prst="rect">
                        <a:avLst/>
                      </a:prstGeom>
                      <a:noFill/>
                      <a:ln w="9525">
                        <a:noFill/>
                      </a:ln>
                    </p:spPr>
                  </p:pic>
                </p:oleObj>
              </mc:Fallback>
            </mc:AlternateContent>
          </a:graphicData>
        </a:graphic>
      </p:graphicFrame>
      <p:graphicFrame>
        <p:nvGraphicFramePr>
          <p:cNvPr id="177157" name="Object 1029"/>
          <p:cNvGraphicFramePr>
            <a:graphicFrameLocks noChangeAspect="1"/>
          </p:cNvGraphicFramePr>
          <p:nvPr/>
        </p:nvGraphicFramePr>
        <p:xfrm>
          <a:off x="6610350" y="1555750"/>
          <a:ext cx="193675" cy="192088"/>
        </p:xfrm>
        <a:graphic>
          <a:graphicData uri="http://schemas.openxmlformats.org/presentationml/2006/ole">
            <mc:AlternateContent xmlns:mc="http://schemas.openxmlformats.org/markup-compatibility/2006">
              <mc:Choice xmlns:v="urn:schemas-microsoft-com:vml" Requires="v">
                <p:oleObj spid="_x0000_s19463" name="公式" r:id="rId11" imgW="4572000" imgH="4572000" progId="Equation.3">
                  <p:embed/>
                </p:oleObj>
              </mc:Choice>
              <mc:Fallback>
                <p:oleObj name="公式" r:id="rId11" imgW="4572000" imgH="4572000" progId="Equation.3">
                  <p:embed/>
                  <p:pic>
                    <p:nvPicPr>
                      <p:cNvPr id="0" name="Object 1029"/>
                      <p:cNvPicPr>
                        <a:picLocks noChangeAspect="1"/>
                      </p:cNvPicPr>
                      <p:nvPr/>
                    </p:nvPicPr>
                    <p:blipFill>
                      <a:blip r:embed="rId10"/>
                      <a:stretch>
                        <a:fillRect/>
                      </a:stretch>
                    </p:blipFill>
                    <p:spPr>
                      <a:xfrm>
                        <a:off x="6610350" y="1555750"/>
                        <a:ext cx="193675" cy="192088"/>
                      </a:xfrm>
                      <a:prstGeom prst="rect">
                        <a:avLst/>
                      </a:prstGeom>
                      <a:noFill/>
                      <a:ln w="9525">
                        <a:noFill/>
                      </a:ln>
                    </p:spPr>
                  </p:pic>
                </p:oleObj>
              </mc:Fallback>
            </mc:AlternateContent>
          </a:graphicData>
        </a:graphic>
      </p:graphicFrame>
      <p:grpSp>
        <p:nvGrpSpPr>
          <p:cNvPr id="3" name="Group 59"/>
          <p:cNvGrpSpPr/>
          <p:nvPr/>
        </p:nvGrpSpPr>
        <p:grpSpPr bwMode="auto">
          <a:xfrm>
            <a:off x="6719888" y="1671638"/>
            <a:ext cx="1165225" cy="1252537"/>
            <a:chOff x="4233" y="1053"/>
            <a:chExt cx="734" cy="789"/>
          </a:xfrm>
        </p:grpSpPr>
        <p:sp>
          <p:nvSpPr>
            <p:cNvPr id="19486" name="Freeform 41"/>
            <p:cNvSpPr/>
            <p:nvPr/>
          </p:nvSpPr>
          <p:spPr bwMode="auto">
            <a:xfrm>
              <a:off x="4233" y="1053"/>
              <a:ext cx="734" cy="789"/>
            </a:xfrm>
            <a:custGeom>
              <a:avLst/>
              <a:gdLst>
                <a:gd name="T0" fmla="*/ 0 w 734"/>
                <a:gd name="T1" fmla="*/ 0 h 789"/>
                <a:gd name="T2" fmla="*/ 82 w 734"/>
                <a:gd name="T3" fmla="*/ 237 h 789"/>
                <a:gd name="T4" fmla="*/ 183 w 734"/>
                <a:gd name="T5" fmla="*/ 439 h 789"/>
                <a:gd name="T6" fmla="*/ 338 w 734"/>
                <a:gd name="T7" fmla="*/ 621 h 789"/>
                <a:gd name="T8" fmla="*/ 521 w 734"/>
                <a:gd name="T9" fmla="*/ 740 h 789"/>
                <a:gd name="T10" fmla="*/ 734 w 734"/>
                <a:gd name="T11" fmla="*/ 789 h 789"/>
                <a:gd name="T12" fmla="*/ 0 60000 65536"/>
                <a:gd name="T13" fmla="*/ 0 60000 65536"/>
                <a:gd name="T14" fmla="*/ 0 60000 65536"/>
                <a:gd name="T15" fmla="*/ 0 60000 65536"/>
                <a:gd name="T16" fmla="*/ 0 60000 65536"/>
                <a:gd name="T17" fmla="*/ 0 60000 65536"/>
                <a:gd name="T18" fmla="*/ 0 w 734"/>
                <a:gd name="T19" fmla="*/ 0 h 789"/>
                <a:gd name="T20" fmla="*/ 734 w 734"/>
                <a:gd name="T21" fmla="*/ 789 h 789"/>
              </a:gdLst>
              <a:ahLst/>
              <a:cxnLst>
                <a:cxn ang="T12">
                  <a:pos x="T0" y="T1"/>
                </a:cxn>
                <a:cxn ang="T13">
                  <a:pos x="T2" y="T3"/>
                </a:cxn>
                <a:cxn ang="T14">
                  <a:pos x="T4" y="T5"/>
                </a:cxn>
                <a:cxn ang="T15">
                  <a:pos x="T6" y="T7"/>
                </a:cxn>
                <a:cxn ang="T16">
                  <a:pos x="T8" y="T9"/>
                </a:cxn>
                <a:cxn ang="T17">
                  <a:pos x="T10" y="T11"/>
                </a:cxn>
              </a:cxnLst>
              <a:rect l="T18" t="T19" r="T20" b="T21"/>
              <a:pathLst>
                <a:path w="734" h="789">
                  <a:moveTo>
                    <a:pt x="0" y="0"/>
                  </a:moveTo>
                  <a:cubicBezTo>
                    <a:pt x="14" y="39"/>
                    <a:pt x="52" y="164"/>
                    <a:pt x="82" y="237"/>
                  </a:cubicBezTo>
                  <a:cubicBezTo>
                    <a:pt x="112" y="310"/>
                    <a:pt x="140" y="375"/>
                    <a:pt x="183" y="439"/>
                  </a:cubicBezTo>
                  <a:cubicBezTo>
                    <a:pt x="226" y="503"/>
                    <a:pt x="282" y="571"/>
                    <a:pt x="338" y="621"/>
                  </a:cubicBezTo>
                  <a:cubicBezTo>
                    <a:pt x="394" y="671"/>
                    <a:pt x="455" y="712"/>
                    <a:pt x="521" y="740"/>
                  </a:cubicBezTo>
                  <a:cubicBezTo>
                    <a:pt x="587" y="768"/>
                    <a:pt x="690" y="779"/>
                    <a:pt x="734" y="789"/>
                  </a:cubicBezTo>
                </a:path>
              </a:pathLst>
            </a:custGeom>
            <a:noFill/>
            <a:ln w="38100">
              <a:solidFill>
                <a:srgbClr val="3333CC"/>
              </a:solidFill>
              <a:round/>
            </a:ln>
          </p:spPr>
          <p:txBody>
            <a:bodyPr/>
            <a:lstStyle/>
            <a:p>
              <a:pPr algn="ctr"/>
              <a:endParaRPr lang="zh-CN" altLang="en-US" b="1"/>
            </a:p>
          </p:txBody>
        </p:sp>
        <p:sp>
          <p:nvSpPr>
            <p:cNvPr id="19487" name="Line 42"/>
            <p:cNvSpPr>
              <a:spLocks noChangeShapeType="1"/>
            </p:cNvSpPr>
            <p:nvPr/>
          </p:nvSpPr>
          <p:spPr bwMode="auto">
            <a:xfrm>
              <a:off x="4404" y="1470"/>
              <a:ext cx="91" cy="136"/>
            </a:xfrm>
            <a:prstGeom prst="line">
              <a:avLst/>
            </a:prstGeom>
            <a:noFill/>
            <a:ln w="38100">
              <a:solidFill>
                <a:srgbClr val="3333CC"/>
              </a:solidFill>
              <a:round/>
              <a:tailEnd type="triangle" w="med" len="med"/>
            </a:ln>
          </p:spPr>
          <p:txBody>
            <a:bodyPr/>
            <a:lstStyle/>
            <a:p>
              <a:endParaRPr lang="zh-CN" altLang="en-US"/>
            </a:p>
          </p:txBody>
        </p:sp>
      </p:grpSp>
      <p:graphicFrame>
        <p:nvGraphicFramePr>
          <p:cNvPr id="177158" name="Object 1030"/>
          <p:cNvGraphicFramePr>
            <a:graphicFrameLocks noChangeAspect="1"/>
          </p:cNvGraphicFramePr>
          <p:nvPr/>
        </p:nvGraphicFramePr>
        <p:xfrm>
          <a:off x="2268538" y="1317625"/>
          <a:ext cx="838200" cy="447675"/>
        </p:xfrm>
        <a:graphic>
          <a:graphicData uri="http://schemas.openxmlformats.org/presentationml/2006/ole">
            <mc:AlternateContent xmlns:mc="http://schemas.openxmlformats.org/markup-compatibility/2006">
              <mc:Choice xmlns:v="urn:schemas-microsoft-com:vml" Requires="v">
                <p:oleObj spid="_x0000_s19464" name="公式" r:id="rId12" imgW="9144000" imgH="4876800" progId="Equation.3">
                  <p:embed/>
                </p:oleObj>
              </mc:Choice>
              <mc:Fallback>
                <p:oleObj name="公式" r:id="rId12" imgW="9144000" imgH="4876800" progId="Equation.3">
                  <p:embed/>
                  <p:pic>
                    <p:nvPicPr>
                      <p:cNvPr id="0" name="Object 1030"/>
                      <p:cNvPicPr>
                        <a:picLocks noChangeAspect="1"/>
                      </p:cNvPicPr>
                      <p:nvPr/>
                    </p:nvPicPr>
                    <p:blipFill>
                      <a:blip r:embed="rId13"/>
                      <a:stretch>
                        <a:fillRect/>
                      </a:stretch>
                    </p:blipFill>
                    <p:spPr>
                      <a:xfrm>
                        <a:off x="2268538" y="1317625"/>
                        <a:ext cx="838200" cy="447675"/>
                      </a:xfrm>
                      <a:prstGeom prst="rect">
                        <a:avLst/>
                      </a:prstGeom>
                      <a:noFill/>
                      <a:ln w="9525">
                        <a:noFill/>
                      </a:ln>
                    </p:spPr>
                  </p:pic>
                </p:oleObj>
              </mc:Fallback>
            </mc:AlternateContent>
          </a:graphicData>
        </a:graphic>
      </p:graphicFrame>
      <p:sp>
        <p:nvSpPr>
          <p:cNvPr id="36909" name="Text Box 45"/>
          <p:cNvSpPr txBox="1">
            <a:spLocks noChangeArrowheads="1"/>
          </p:cNvSpPr>
          <p:nvPr/>
        </p:nvSpPr>
        <p:spPr bwMode="auto">
          <a:xfrm>
            <a:off x="900113" y="1939925"/>
            <a:ext cx="2808287" cy="457200"/>
          </a:xfrm>
          <a:prstGeom prst="rect">
            <a:avLst/>
          </a:prstGeom>
          <a:noFill/>
          <a:ln w="9525">
            <a:noFill/>
            <a:miter lim="800000"/>
          </a:ln>
        </p:spPr>
        <p:txBody>
          <a:bodyPr>
            <a:spAutoFit/>
          </a:bodyPr>
          <a:lstStyle/>
          <a:p>
            <a:r>
              <a:rPr lang="en-US" altLang="zh-CN" b="1">
                <a:solidFill>
                  <a:srgbClr val="FF6600"/>
                </a:solidFill>
              </a:rPr>
              <a:t>②  </a:t>
            </a:r>
            <a:r>
              <a:rPr lang="zh-CN" altLang="en-US" b="1">
                <a:solidFill>
                  <a:srgbClr val="FF6600"/>
                </a:solidFill>
              </a:rPr>
              <a:t>内能变化量</a:t>
            </a:r>
            <a:endParaRPr lang="zh-CN" altLang="en-US" b="1">
              <a:solidFill>
                <a:srgbClr val="FF6600"/>
              </a:solidFill>
            </a:endParaRPr>
          </a:p>
        </p:txBody>
      </p:sp>
      <p:graphicFrame>
        <p:nvGraphicFramePr>
          <p:cNvPr id="177159" name="Object 1031"/>
          <p:cNvGraphicFramePr>
            <a:graphicFrameLocks noChangeAspect="1"/>
          </p:cNvGraphicFramePr>
          <p:nvPr/>
        </p:nvGraphicFramePr>
        <p:xfrm>
          <a:off x="1619250" y="2397125"/>
          <a:ext cx="3095625" cy="815975"/>
        </p:xfrm>
        <a:graphic>
          <a:graphicData uri="http://schemas.openxmlformats.org/presentationml/2006/ole">
            <mc:AlternateContent xmlns:mc="http://schemas.openxmlformats.org/markup-compatibility/2006">
              <mc:Choice xmlns:v="urn:schemas-microsoft-com:vml" Requires="v">
                <p:oleObj spid="_x0000_s19465" name="公式" r:id="rId14" imgW="35966400" imgH="9448800" progId="Equation.3">
                  <p:embed/>
                </p:oleObj>
              </mc:Choice>
              <mc:Fallback>
                <p:oleObj name="公式" r:id="rId14" imgW="35966400" imgH="9448800" progId="Equation.3">
                  <p:embed/>
                  <p:pic>
                    <p:nvPicPr>
                      <p:cNvPr id="0" name="Object 1031"/>
                      <p:cNvPicPr>
                        <a:picLocks noChangeAspect="1"/>
                      </p:cNvPicPr>
                      <p:nvPr/>
                    </p:nvPicPr>
                    <p:blipFill>
                      <a:blip r:embed="rId15"/>
                      <a:stretch>
                        <a:fillRect/>
                      </a:stretch>
                    </p:blipFill>
                    <p:spPr>
                      <a:xfrm>
                        <a:off x="1619250" y="2397125"/>
                        <a:ext cx="3095625" cy="815975"/>
                      </a:xfrm>
                      <a:prstGeom prst="rect">
                        <a:avLst/>
                      </a:prstGeom>
                      <a:noFill/>
                      <a:ln w="9525">
                        <a:noFill/>
                      </a:ln>
                    </p:spPr>
                  </p:pic>
                </p:oleObj>
              </mc:Fallback>
            </mc:AlternateContent>
          </a:graphicData>
        </a:graphic>
      </p:graphicFrame>
      <p:sp>
        <p:nvSpPr>
          <p:cNvPr id="36911" name="Text Box 47"/>
          <p:cNvSpPr txBox="1">
            <a:spLocks noChangeArrowheads="1"/>
          </p:cNvSpPr>
          <p:nvPr/>
        </p:nvSpPr>
        <p:spPr bwMode="auto">
          <a:xfrm>
            <a:off x="900113" y="3213100"/>
            <a:ext cx="1871662" cy="457200"/>
          </a:xfrm>
          <a:prstGeom prst="rect">
            <a:avLst/>
          </a:prstGeom>
          <a:noFill/>
          <a:ln w="9525">
            <a:noFill/>
            <a:miter lim="800000"/>
          </a:ln>
        </p:spPr>
        <p:txBody>
          <a:bodyPr>
            <a:spAutoFit/>
          </a:bodyPr>
          <a:lstStyle/>
          <a:p>
            <a:r>
              <a:rPr lang="en-US" altLang="zh-CN" b="1">
                <a:solidFill>
                  <a:srgbClr val="FF6600"/>
                </a:solidFill>
              </a:rPr>
              <a:t>③  </a:t>
            </a:r>
            <a:r>
              <a:rPr lang="zh-CN" altLang="en-US" b="1">
                <a:solidFill>
                  <a:srgbClr val="FF6600"/>
                </a:solidFill>
              </a:rPr>
              <a:t>做功</a:t>
            </a:r>
            <a:endParaRPr lang="zh-CN" altLang="en-US" b="1">
              <a:solidFill>
                <a:srgbClr val="FF6600"/>
              </a:solidFill>
            </a:endParaRPr>
          </a:p>
        </p:txBody>
      </p:sp>
      <p:sp>
        <p:nvSpPr>
          <p:cNvPr id="36912" name="Text Box 48"/>
          <p:cNvSpPr txBox="1">
            <a:spLocks noChangeArrowheads="1"/>
          </p:cNvSpPr>
          <p:nvPr/>
        </p:nvSpPr>
        <p:spPr bwMode="auto">
          <a:xfrm>
            <a:off x="396875" y="3789363"/>
            <a:ext cx="1409700" cy="457200"/>
          </a:xfrm>
          <a:prstGeom prst="rect">
            <a:avLst/>
          </a:prstGeom>
          <a:noFill/>
          <a:ln w="9525">
            <a:noFill/>
            <a:miter lim="800000"/>
          </a:ln>
        </p:spPr>
        <p:txBody>
          <a:bodyPr wrap="none">
            <a:spAutoFit/>
          </a:bodyPr>
          <a:lstStyle/>
          <a:p>
            <a:r>
              <a:rPr lang="zh-CN" altLang="en-US" b="1">
                <a:solidFill>
                  <a:srgbClr val="0000FF"/>
                </a:solidFill>
              </a:rPr>
              <a:t>方法一：</a:t>
            </a:r>
            <a:endParaRPr lang="zh-CN" altLang="en-US" b="1">
              <a:solidFill>
                <a:srgbClr val="0000FF"/>
              </a:solidFill>
            </a:endParaRPr>
          </a:p>
        </p:txBody>
      </p:sp>
      <p:sp>
        <p:nvSpPr>
          <p:cNvPr id="36913" name="Text Box 49"/>
          <p:cNvSpPr txBox="1">
            <a:spLocks noChangeArrowheads="1"/>
          </p:cNvSpPr>
          <p:nvPr/>
        </p:nvSpPr>
        <p:spPr bwMode="auto">
          <a:xfrm>
            <a:off x="1763713" y="3789363"/>
            <a:ext cx="4094162" cy="461962"/>
          </a:xfrm>
          <a:prstGeom prst="rect">
            <a:avLst/>
          </a:prstGeom>
          <a:noFill/>
          <a:ln w="9525">
            <a:noFill/>
            <a:miter lim="800000"/>
          </a:ln>
        </p:spPr>
        <p:txBody>
          <a:bodyPr>
            <a:spAutoFit/>
          </a:bodyPr>
          <a:lstStyle/>
          <a:p>
            <a:r>
              <a:rPr lang="zh-CN" altLang="en-US" b="1">
                <a:solidFill>
                  <a:srgbClr val="0000FF"/>
                </a:solidFill>
              </a:rPr>
              <a:t>由热力学第一定律求功</a:t>
            </a:r>
            <a:endParaRPr lang="zh-CN" altLang="en-US" b="1">
              <a:solidFill>
                <a:srgbClr val="0000FF"/>
              </a:solidFill>
            </a:endParaRPr>
          </a:p>
        </p:txBody>
      </p:sp>
      <p:graphicFrame>
        <p:nvGraphicFramePr>
          <p:cNvPr id="177160" name="Object 1032"/>
          <p:cNvGraphicFramePr>
            <a:graphicFrameLocks noChangeAspect="1"/>
          </p:cNvGraphicFramePr>
          <p:nvPr/>
        </p:nvGraphicFramePr>
        <p:xfrm>
          <a:off x="361950" y="4365625"/>
          <a:ext cx="2638425" cy="560388"/>
        </p:xfrm>
        <a:graphic>
          <a:graphicData uri="http://schemas.openxmlformats.org/presentationml/2006/ole">
            <mc:AlternateContent xmlns:mc="http://schemas.openxmlformats.org/markup-compatibility/2006">
              <mc:Choice xmlns:v="urn:schemas-microsoft-com:vml" Requires="v">
                <p:oleObj spid="_x0000_s19466" name="公式" r:id="rId16" imgW="24384000" imgH="5181600" progId="Equation.3">
                  <p:embed/>
                </p:oleObj>
              </mc:Choice>
              <mc:Fallback>
                <p:oleObj name="公式" r:id="rId16" imgW="24384000" imgH="5181600" progId="Equation.3">
                  <p:embed/>
                  <p:pic>
                    <p:nvPicPr>
                      <p:cNvPr id="0" name="Object 1032"/>
                      <p:cNvPicPr>
                        <a:picLocks noChangeAspect="1"/>
                      </p:cNvPicPr>
                      <p:nvPr/>
                    </p:nvPicPr>
                    <p:blipFill>
                      <a:blip r:embed="rId17"/>
                      <a:stretch>
                        <a:fillRect/>
                      </a:stretch>
                    </p:blipFill>
                    <p:spPr>
                      <a:xfrm>
                        <a:off x="361950" y="4365625"/>
                        <a:ext cx="2638425" cy="560388"/>
                      </a:xfrm>
                      <a:prstGeom prst="rect">
                        <a:avLst/>
                      </a:prstGeom>
                      <a:noFill/>
                      <a:ln w="9525">
                        <a:noFill/>
                      </a:ln>
                    </p:spPr>
                  </p:pic>
                </p:oleObj>
              </mc:Fallback>
            </mc:AlternateContent>
          </a:graphicData>
        </a:graphic>
      </p:graphicFrame>
      <p:sp>
        <p:nvSpPr>
          <p:cNvPr id="36915" name="AutoShape 51"/>
          <p:cNvSpPr>
            <a:spLocks noChangeArrowheads="1"/>
          </p:cNvSpPr>
          <p:nvPr/>
        </p:nvSpPr>
        <p:spPr bwMode="auto">
          <a:xfrm>
            <a:off x="3059113" y="4581525"/>
            <a:ext cx="576262" cy="144463"/>
          </a:xfrm>
          <a:prstGeom prst="rightArrow">
            <a:avLst>
              <a:gd name="adj1" fmla="val 50000"/>
              <a:gd name="adj2" fmla="val 99725"/>
            </a:avLst>
          </a:prstGeom>
          <a:solidFill>
            <a:schemeClr val="accent1"/>
          </a:solidFill>
          <a:ln w="9525">
            <a:solidFill>
              <a:schemeClr val="tx1"/>
            </a:solidFill>
            <a:miter lim="800000"/>
          </a:ln>
        </p:spPr>
        <p:txBody>
          <a:bodyPr wrap="none" anchor="ctr"/>
          <a:lstStyle/>
          <a:p>
            <a:pPr algn="ctr"/>
            <a:endParaRPr lang="zh-CN" altLang="en-US" b="1"/>
          </a:p>
        </p:txBody>
      </p:sp>
      <p:graphicFrame>
        <p:nvGraphicFramePr>
          <p:cNvPr id="177161" name="Object 1033"/>
          <p:cNvGraphicFramePr>
            <a:graphicFrameLocks noChangeAspect="1"/>
          </p:cNvGraphicFramePr>
          <p:nvPr/>
        </p:nvGraphicFramePr>
        <p:xfrm>
          <a:off x="3678238" y="4149725"/>
          <a:ext cx="5246687" cy="960438"/>
        </p:xfrm>
        <a:graphic>
          <a:graphicData uri="http://schemas.openxmlformats.org/presentationml/2006/ole">
            <mc:AlternateContent xmlns:mc="http://schemas.openxmlformats.org/markup-compatibility/2006">
              <mc:Choice xmlns:v="urn:schemas-microsoft-com:vml" Requires="v">
                <p:oleObj spid="_x0000_s19467" name="公式" r:id="rId18" imgW="51511200" imgH="9448800" progId="Equation.3">
                  <p:embed/>
                </p:oleObj>
              </mc:Choice>
              <mc:Fallback>
                <p:oleObj name="公式" r:id="rId18" imgW="51511200" imgH="9448800" progId="Equation.3">
                  <p:embed/>
                  <p:pic>
                    <p:nvPicPr>
                      <p:cNvPr id="0" name="Object 1033"/>
                      <p:cNvPicPr>
                        <a:picLocks noChangeAspect="1"/>
                      </p:cNvPicPr>
                      <p:nvPr/>
                    </p:nvPicPr>
                    <p:blipFill>
                      <a:blip r:embed="rId19"/>
                      <a:stretch>
                        <a:fillRect/>
                      </a:stretch>
                    </p:blipFill>
                    <p:spPr>
                      <a:xfrm>
                        <a:off x="3678238" y="4149725"/>
                        <a:ext cx="5246687" cy="960438"/>
                      </a:xfrm>
                      <a:prstGeom prst="rect">
                        <a:avLst/>
                      </a:prstGeom>
                      <a:noFill/>
                      <a:ln w="9525">
                        <a:noFill/>
                      </a:ln>
                    </p:spPr>
                  </p:pic>
                </p:oleObj>
              </mc:Fallback>
            </mc:AlternateContent>
          </a:graphicData>
        </a:graphic>
      </p:graphicFrame>
      <p:graphicFrame>
        <p:nvGraphicFramePr>
          <p:cNvPr id="177162" name="Object 1034"/>
          <p:cNvGraphicFramePr>
            <a:graphicFrameLocks noChangeAspect="1"/>
          </p:cNvGraphicFramePr>
          <p:nvPr/>
        </p:nvGraphicFramePr>
        <p:xfrm>
          <a:off x="1157288" y="5181600"/>
          <a:ext cx="2289175" cy="754063"/>
        </p:xfrm>
        <a:graphic>
          <a:graphicData uri="http://schemas.openxmlformats.org/presentationml/2006/ole">
            <mc:AlternateContent xmlns:mc="http://schemas.openxmlformats.org/markup-compatibility/2006">
              <mc:Choice xmlns:v="urn:schemas-microsoft-com:vml" Requires="v">
                <p:oleObj spid="_x0000_s19468" name="公式" r:id="rId20" imgW="25908000" imgH="8534400" progId="Equation.3">
                  <p:embed/>
                </p:oleObj>
              </mc:Choice>
              <mc:Fallback>
                <p:oleObj name="公式" r:id="rId20" imgW="25908000" imgH="8534400" progId="Equation.3">
                  <p:embed/>
                  <p:pic>
                    <p:nvPicPr>
                      <p:cNvPr id="0" name="Object 1034"/>
                      <p:cNvPicPr>
                        <a:picLocks noChangeAspect="1"/>
                      </p:cNvPicPr>
                      <p:nvPr/>
                    </p:nvPicPr>
                    <p:blipFill>
                      <a:blip r:embed="rId21"/>
                      <a:stretch>
                        <a:fillRect/>
                      </a:stretch>
                    </p:blipFill>
                    <p:spPr>
                      <a:xfrm>
                        <a:off x="1157288" y="5181600"/>
                        <a:ext cx="2289175" cy="754063"/>
                      </a:xfrm>
                      <a:prstGeom prst="rect">
                        <a:avLst/>
                      </a:prstGeom>
                      <a:noFill/>
                      <a:ln w="9525">
                        <a:noFill/>
                      </a:ln>
                    </p:spPr>
                  </p:pic>
                </p:oleObj>
              </mc:Fallback>
            </mc:AlternateContent>
          </a:graphicData>
        </a:graphic>
      </p:graphicFrame>
      <p:sp>
        <p:nvSpPr>
          <p:cNvPr id="36920" name="Text Box 56"/>
          <p:cNvSpPr txBox="1">
            <a:spLocks noChangeArrowheads="1"/>
          </p:cNvSpPr>
          <p:nvPr/>
        </p:nvSpPr>
        <p:spPr bwMode="auto">
          <a:xfrm>
            <a:off x="3783013" y="5308600"/>
            <a:ext cx="3525837" cy="457200"/>
          </a:xfrm>
          <a:prstGeom prst="rect">
            <a:avLst/>
          </a:prstGeom>
          <a:noFill/>
          <a:ln w="9525">
            <a:noFill/>
            <a:miter lim="800000"/>
          </a:ln>
        </p:spPr>
        <p:txBody>
          <a:bodyPr wrap="none">
            <a:spAutoFit/>
          </a:bodyPr>
          <a:lstStyle/>
          <a:p>
            <a:r>
              <a:rPr lang="en-US" altLang="zh-CN" b="1" i="1">
                <a:solidFill>
                  <a:srgbClr val="FF6600"/>
                </a:solidFill>
              </a:rPr>
              <a:t>p</a:t>
            </a:r>
            <a:r>
              <a:rPr lang="en-US" altLang="zh-CN" b="1">
                <a:solidFill>
                  <a:srgbClr val="FF6600"/>
                </a:solidFill>
              </a:rPr>
              <a:t> </a:t>
            </a:r>
            <a:r>
              <a:rPr lang="zh-CN" altLang="en-US" b="1">
                <a:solidFill>
                  <a:srgbClr val="FF6600"/>
                </a:solidFill>
              </a:rPr>
              <a:t>与 </a:t>
            </a:r>
            <a:r>
              <a:rPr lang="en-US" altLang="zh-CN" b="1" i="1">
                <a:solidFill>
                  <a:srgbClr val="FF6600"/>
                </a:solidFill>
              </a:rPr>
              <a:t>V</a:t>
            </a:r>
            <a:r>
              <a:rPr lang="en-US" altLang="zh-CN" b="1">
                <a:solidFill>
                  <a:srgbClr val="FF6600"/>
                </a:solidFill>
              </a:rPr>
              <a:t> </a:t>
            </a:r>
            <a:r>
              <a:rPr lang="zh-CN" altLang="en-US" b="1">
                <a:solidFill>
                  <a:srgbClr val="FF6600"/>
                </a:solidFill>
              </a:rPr>
              <a:t>之间的函数关系？</a:t>
            </a:r>
            <a:endParaRPr lang="zh-CN" altLang="en-US" b="1">
              <a:solidFill>
                <a:srgbClr val="FF6600"/>
              </a:solidFill>
            </a:endParaRPr>
          </a:p>
        </p:txBody>
      </p:sp>
      <p:sp>
        <p:nvSpPr>
          <p:cNvPr id="36921" name="Text Box 57"/>
          <p:cNvSpPr txBox="1">
            <a:spLocks noChangeArrowheads="1"/>
          </p:cNvSpPr>
          <p:nvPr/>
        </p:nvSpPr>
        <p:spPr bwMode="auto">
          <a:xfrm>
            <a:off x="7194550" y="1557338"/>
            <a:ext cx="1409700" cy="457200"/>
          </a:xfrm>
          <a:prstGeom prst="rect">
            <a:avLst/>
          </a:prstGeom>
          <a:noFill/>
          <a:ln w="9525">
            <a:noFill/>
            <a:miter lim="800000"/>
          </a:ln>
        </p:spPr>
        <p:txBody>
          <a:bodyPr wrap="none">
            <a:spAutoFit/>
          </a:bodyPr>
          <a:lstStyle/>
          <a:p>
            <a:r>
              <a:rPr lang="zh-CN" altLang="en-US" b="1">
                <a:solidFill>
                  <a:srgbClr val="3333CC"/>
                </a:solidFill>
              </a:rPr>
              <a:t>绝热过程</a:t>
            </a:r>
            <a:endParaRPr lang="zh-CN" altLang="en-US" b="1">
              <a:solidFill>
                <a:srgbClr val="3333CC"/>
              </a:solidFill>
            </a:endParaRPr>
          </a:p>
        </p:txBody>
      </p:sp>
      <p:sp>
        <p:nvSpPr>
          <p:cNvPr id="36922" name="AutoShape 58"/>
          <p:cNvSpPr>
            <a:spLocks noChangeArrowheads="1"/>
          </p:cNvSpPr>
          <p:nvPr/>
        </p:nvSpPr>
        <p:spPr bwMode="auto">
          <a:xfrm rot="-3465934">
            <a:off x="7130256" y="2216944"/>
            <a:ext cx="504825" cy="71438"/>
          </a:xfrm>
          <a:prstGeom prst="rightArrow">
            <a:avLst>
              <a:gd name="adj1" fmla="val 50000"/>
              <a:gd name="adj2" fmla="val 176665"/>
            </a:avLst>
          </a:prstGeom>
          <a:solidFill>
            <a:schemeClr val="accent1"/>
          </a:solidFill>
          <a:ln w="9525">
            <a:solidFill>
              <a:schemeClr val="tx1"/>
            </a:solidFill>
            <a:miter lim="800000"/>
          </a:ln>
        </p:spPr>
        <p:txBody>
          <a:bodyPr wrap="none" anchor="ctr"/>
          <a:lstStyle/>
          <a:p>
            <a:pPr algn="ct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77157"/>
                                        </p:tgtEl>
                                        <p:attrNameLst>
                                          <p:attrName>style.visibility</p:attrName>
                                        </p:attrNameLst>
                                      </p:cBhvr>
                                      <p:to>
                                        <p:strVal val="visible"/>
                                      </p:to>
                                    </p:set>
                                    <p:animEffect transition="in" filter="wipe(left)">
                                      <p:cBhvr>
                                        <p:cTn id="13" dur="500"/>
                                        <p:tgtEl>
                                          <p:spTgt spid="177157"/>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36887"/>
                                        </p:tgtEl>
                                        <p:attrNameLst>
                                          <p:attrName>style.visibility</p:attrName>
                                        </p:attrNameLst>
                                      </p:cBhvr>
                                      <p:to>
                                        <p:strVal val="visible"/>
                                      </p:to>
                                    </p:set>
                                    <p:animEffect transition="in" filter="wipe(left)">
                                      <p:cBhvr>
                                        <p:cTn id="17" dur="500"/>
                                        <p:tgtEl>
                                          <p:spTgt spid="36887"/>
                                        </p:tgtEl>
                                      </p:cBhvr>
                                    </p:animEffect>
                                  </p:childTnLst>
                                </p:cTn>
                              </p:par>
                            </p:childTnLst>
                          </p:cTn>
                        </p:par>
                        <p:par>
                          <p:cTn id="18" fill="hold">
                            <p:stCondLst>
                              <p:cond delay="1000"/>
                            </p:stCondLst>
                            <p:childTnLst>
                              <p:par>
                                <p:cTn id="19" presetID="22" presetClass="entr" presetSubtype="1" fill="hold" nodeType="afterEffect">
                                  <p:stCondLst>
                                    <p:cond delay="0"/>
                                  </p:stCondLst>
                                  <p:childTnLst>
                                    <p:set>
                                      <p:cBhvr>
                                        <p:cTn id="20" dur="1" fill="hold">
                                          <p:stCondLst>
                                            <p:cond delay="0"/>
                                          </p:stCondLst>
                                        </p:cTn>
                                        <p:tgtEl>
                                          <p:spTgt spid="177154"/>
                                        </p:tgtEl>
                                        <p:attrNameLst>
                                          <p:attrName>style.visibility</p:attrName>
                                        </p:attrNameLst>
                                      </p:cBhvr>
                                      <p:to>
                                        <p:strVal val="visible"/>
                                      </p:to>
                                    </p:set>
                                    <p:animEffect transition="in" filter="wipe(up)">
                                      <p:cBhvr>
                                        <p:cTn id="21" dur="500"/>
                                        <p:tgtEl>
                                          <p:spTgt spid="177154"/>
                                        </p:tgtEl>
                                      </p:cBhvr>
                                    </p:animEffect>
                                  </p:childTnLst>
                                </p:cTn>
                              </p:par>
                            </p:childTnLst>
                          </p:cTn>
                        </p:par>
                        <p:par>
                          <p:cTn id="22" fill="hold">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36891"/>
                                        </p:tgtEl>
                                        <p:attrNameLst>
                                          <p:attrName>style.visibility</p:attrName>
                                        </p:attrNameLst>
                                      </p:cBhvr>
                                      <p:to>
                                        <p:strVal val="visible"/>
                                      </p:to>
                                    </p:set>
                                    <p:animEffect transition="in" filter="wipe(up)">
                                      <p:cBhvr>
                                        <p:cTn id="25" dur="500"/>
                                        <p:tgtEl>
                                          <p:spTgt spid="36891"/>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36883"/>
                                        </p:tgtEl>
                                        <p:attrNameLst>
                                          <p:attrName>style.visibility</p:attrName>
                                        </p:attrNameLst>
                                      </p:cBhvr>
                                      <p:to>
                                        <p:strVal val="visible"/>
                                      </p:to>
                                    </p:set>
                                    <p:animEffect transition="in" filter="wipe(left)">
                                      <p:cBhvr>
                                        <p:cTn id="29" dur="500"/>
                                        <p:tgtEl>
                                          <p:spTgt spid="36883"/>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77152"/>
                                        </p:tgtEl>
                                        <p:attrNameLst>
                                          <p:attrName>style.visibility</p:attrName>
                                        </p:attrNameLst>
                                      </p:cBhvr>
                                      <p:to>
                                        <p:strVal val="visible"/>
                                      </p:to>
                                    </p:set>
                                    <p:animEffect transition="in" filter="wipe(left)">
                                      <p:cBhvr>
                                        <p:cTn id="33" dur="500"/>
                                        <p:tgtEl>
                                          <p:spTgt spid="17715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77156"/>
                                        </p:tgtEl>
                                        <p:attrNameLst>
                                          <p:attrName>style.visibility</p:attrName>
                                        </p:attrNameLst>
                                      </p:cBhvr>
                                      <p:to>
                                        <p:strVal val="visible"/>
                                      </p:to>
                                    </p:set>
                                    <p:animEffect transition="in" filter="wipe(left)">
                                      <p:cBhvr>
                                        <p:cTn id="43" dur="500"/>
                                        <p:tgtEl>
                                          <p:spTgt spid="177156"/>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36888"/>
                                        </p:tgtEl>
                                        <p:attrNameLst>
                                          <p:attrName>style.visibility</p:attrName>
                                        </p:attrNameLst>
                                      </p:cBhvr>
                                      <p:to>
                                        <p:strVal val="visible"/>
                                      </p:to>
                                    </p:set>
                                    <p:animEffect transition="in" filter="wipe(left)">
                                      <p:cBhvr>
                                        <p:cTn id="47" dur="500"/>
                                        <p:tgtEl>
                                          <p:spTgt spid="36888"/>
                                        </p:tgtEl>
                                      </p:cBhvr>
                                    </p:animEffect>
                                  </p:childTnLst>
                                </p:cTn>
                              </p:par>
                            </p:childTnLst>
                          </p:cTn>
                        </p:par>
                        <p:par>
                          <p:cTn id="48" fill="hold">
                            <p:stCondLst>
                              <p:cond delay="1000"/>
                            </p:stCondLst>
                            <p:childTnLst>
                              <p:par>
                                <p:cTn id="49" presetID="22" presetClass="entr" presetSubtype="1" fill="hold" nodeType="afterEffect">
                                  <p:stCondLst>
                                    <p:cond delay="0"/>
                                  </p:stCondLst>
                                  <p:childTnLst>
                                    <p:set>
                                      <p:cBhvr>
                                        <p:cTn id="50" dur="1" fill="hold">
                                          <p:stCondLst>
                                            <p:cond delay="0"/>
                                          </p:stCondLst>
                                        </p:cTn>
                                        <p:tgtEl>
                                          <p:spTgt spid="177155"/>
                                        </p:tgtEl>
                                        <p:attrNameLst>
                                          <p:attrName>style.visibility</p:attrName>
                                        </p:attrNameLst>
                                      </p:cBhvr>
                                      <p:to>
                                        <p:strVal val="visible"/>
                                      </p:to>
                                    </p:set>
                                    <p:animEffect transition="in" filter="wipe(up)">
                                      <p:cBhvr>
                                        <p:cTn id="51" dur="500"/>
                                        <p:tgtEl>
                                          <p:spTgt spid="177155"/>
                                        </p:tgtEl>
                                      </p:cBhvr>
                                    </p:animEffect>
                                  </p:childTnLst>
                                </p:cTn>
                              </p:par>
                            </p:childTnLst>
                          </p:cTn>
                        </p:par>
                        <p:par>
                          <p:cTn id="52" fill="hold">
                            <p:stCondLst>
                              <p:cond delay="1500"/>
                            </p:stCondLst>
                            <p:childTnLst>
                              <p:par>
                                <p:cTn id="53" presetID="22" presetClass="entr" presetSubtype="1" fill="hold" grpId="0" nodeType="afterEffect">
                                  <p:stCondLst>
                                    <p:cond delay="0"/>
                                  </p:stCondLst>
                                  <p:childTnLst>
                                    <p:set>
                                      <p:cBhvr>
                                        <p:cTn id="54" dur="1" fill="hold">
                                          <p:stCondLst>
                                            <p:cond delay="0"/>
                                          </p:stCondLst>
                                        </p:cTn>
                                        <p:tgtEl>
                                          <p:spTgt spid="36890"/>
                                        </p:tgtEl>
                                        <p:attrNameLst>
                                          <p:attrName>style.visibility</p:attrName>
                                        </p:attrNameLst>
                                      </p:cBhvr>
                                      <p:to>
                                        <p:strVal val="visible"/>
                                      </p:to>
                                    </p:set>
                                    <p:animEffect transition="in" filter="wipe(up)">
                                      <p:cBhvr>
                                        <p:cTn id="55" dur="500"/>
                                        <p:tgtEl>
                                          <p:spTgt spid="36890"/>
                                        </p:tgtEl>
                                      </p:cBhvr>
                                    </p:animEffect>
                                  </p:childTnLst>
                                </p:cTn>
                              </p:par>
                            </p:childTnLst>
                          </p:cTn>
                        </p:par>
                        <p:par>
                          <p:cTn id="56" fill="hold">
                            <p:stCondLst>
                              <p:cond delay="2000"/>
                            </p:stCondLst>
                            <p:childTnLst>
                              <p:par>
                                <p:cTn id="57" presetID="22" presetClass="entr" presetSubtype="8" fill="hold" grpId="0" nodeType="afterEffect">
                                  <p:stCondLst>
                                    <p:cond delay="0"/>
                                  </p:stCondLst>
                                  <p:childTnLst>
                                    <p:set>
                                      <p:cBhvr>
                                        <p:cTn id="58" dur="1" fill="hold">
                                          <p:stCondLst>
                                            <p:cond delay="0"/>
                                          </p:stCondLst>
                                        </p:cTn>
                                        <p:tgtEl>
                                          <p:spTgt spid="36882"/>
                                        </p:tgtEl>
                                        <p:attrNameLst>
                                          <p:attrName>style.visibility</p:attrName>
                                        </p:attrNameLst>
                                      </p:cBhvr>
                                      <p:to>
                                        <p:strVal val="visible"/>
                                      </p:to>
                                    </p:set>
                                    <p:animEffect transition="in" filter="wipe(left)">
                                      <p:cBhvr>
                                        <p:cTn id="59" dur="500"/>
                                        <p:tgtEl>
                                          <p:spTgt spid="36882"/>
                                        </p:tgtEl>
                                      </p:cBhvr>
                                    </p:animEffect>
                                  </p:childTnLst>
                                </p:cTn>
                              </p:par>
                            </p:childTnLst>
                          </p:cTn>
                        </p:par>
                        <p:par>
                          <p:cTn id="60" fill="hold">
                            <p:stCondLst>
                              <p:cond delay="2500"/>
                            </p:stCondLst>
                            <p:childTnLst>
                              <p:par>
                                <p:cTn id="61" presetID="22" presetClass="entr" presetSubtype="8" fill="hold" nodeType="afterEffect">
                                  <p:stCondLst>
                                    <p:cond delay="0"/>
                                  </p:stCondLst>
                                  <p:childTnLst>
                                    <p:set>
                                      <p:cBhvr>
                                        <p:cTn id="62" dur="1" fill="hold">
                                          <p:stCondLst>
                                            <p:cond delay="0"/>
                                          </p:stCondLst>
                                        </p:cTn>
                                        <p:tgtEl>
                                          <p:spTgt spid="177153"/>
                                        </p:tgtEl>
                                        <p:attrNameLst>
                                          <p:attrName>style.visibility</p:attrName>
                                        </p:attrNameLst>
                                      </p:cBhvr>
                                      <p:to>
                                        <p:strVal val="visible"/>
                                      </p:to>
                                    </p:set>
                                    <p:animEffect transition="in" filter="wipe(left)">
                                      <p:cBhvr>
                                        <p:cTn id="63" dur="500"/>
                                        <p:tgtEl>
                                          <p:spTgt spid="17715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36922"/>
                                        </p:tgtEl>
                                        <p:attrNameLst>
                                          <p:attrName>style.visibility</p:attrName>
                                        </p:attrNameLst>
                                      </p:cBhvr>
                                      <p:to>
                                        <p:strVal val="visible"/>
                                      </p:to>
                                    </p:set>
                                    <p:animEffect transition="in" filter="wipe(down)">
                                      <p:cBhvr>
                                        <p:cTn id="68" dur="500"/>
                                        <p:tgtEl>
                                          <p:spTgt spid="36922"/>
                                        </p:tgtEl>
                                      </p:cBhvr>
                                    </p:animEffec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36921"/>
                                        </p:tgtEl>
                                        <p:attrNameLst>
                                          <p:attrName>style.visibility</p:attrName>
                                        </p:attrNameLst>
                                      </p:cBhvr>
                                      <p:to>
                                        <p:strVal val="visible"/>
                                      </p:to>
                                    </p:set>
                                    <p:animEffect transition="in" filter="wipe(left)">
                                      <p:cBhvr>
                                        <p:cTn id="72" dur="500"/>
                                        <p:tgtEl>
                                          <p:spTgt spid="3692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6869"/>
                                        </p:tgtEl>
                                        <p:attrNameLst>
                                          <p:attrName>style.visibility</p:attrName>
                                        </p:attrNameLst>
                                      </p:cBhvr>
                                      <p:to>
                                        <p:strVal val="visible"/>
                                      </p:to>
                                    </p:set>
                                    <p:animEffect transition="in" filter="wipe(left)">
                                      <p:cBhvr>
                                        <p:cTn id="77" dur="500"/>
                                        <p:tgtEl>
                                          <p:spTgt spid="3686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77158"/>
                                        </p:tgtEl>
                                        <p:attrNameLst>
                                          <p:attrName>style.visibility</p:attrName>
                                        </p:attrNameLst>
                                      </p:cBhvr>
                                      <p:to>
                                        <p:strVal val="visible"/>
                                      </p:to>
                                    </p:set>
                                    <p:animEffect transition="in" filter="wipe(left)">
                                      <p:cBhvr>
                                        <p:cTn id="82" dur="500"/>
                                        <p:tgtEl>
                                          <p:spTgt spid="17715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6909"/>
                                        </p:tgtEl>
                                        <p:attrNameLst>
                                          <p:attrName>style.visibility</p:attrName>
                                        </p:attrNameLst>
                                      </p:cBhvr>
                                      <p:to>
                                        <p:strVal val="visible"/>
                                      </p:to>
                                    </p:set>
                                    <p:animEffect transition="in" filter="wipe(left)">
                                      <p:cBhvr>
                                        <p:cTn id="87" dur="500"/>
                                        <p:tgtEl>
                                          <p:spTgt spid="3690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77159"/>
                                        </p:tgtEl>
                                        <p:attrNameLst>
                                          <p:attrName>style.visibility</p:attrName>
                                        </p:attrNameLst>
                                      </p:cBhvr>
                                      <p:to>
                                        <p:strVal val="visible"/>
                                      </p:to>
                                    </p:set>
                                    <p:animEffect transition="in" filter="wipe(left)">
                                      <p:cBhvr>
                                        <p:cTn id="92" dur="500"/>
                                        <p:tgtEl>
                                          <p:spTgt spid="177159"/>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6911"/>
                                        </p:tgtEl>
                                        <p:attrNameLst>
                                          <p:attrName>style.visibility</p:attrName>
                                        </p:attrNameLst>
                                      </p:cBhvr>
                                      <p:to>
                                        <p:strVal val="visible"/>
                                      </p:to>
                                    </p:set>
                                    <p:animEffect transition="in" filter="wipe(left)">
                                      <p:cBhvr>
                                        <p:cTn id="97" dur="500"/>
                                        <p:tgtEl>
                                          <p:spTgt spid="3691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6912"/>
                                        </p:tgtEl>
                                        <p:attrNameLst>
                                          <p:attrName>style.visibility</p:attrName>
                                        </p:attrNameLst>
                                      </p:cBhvr>
                                      <p:to>
                                        <p:strVal val="visible"/>
                                      </p:to>
                                    </p:set>
                                    <p:animEffect transition="in" filter="wipe(left)">
                                      <p:cBhvr>
                                        <p:cTn id="102" dur="500"/>
                                        <p:tgtEl>
                                          <p:spTgt spid="3691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6913"/>
                                        </p:tgtEl>
                                        <p:attrNameLst>
                                          <p:attrName>style.visibility</p:attrName>
                                        </p:attrNameLst>
                                      </p:cBhvr>
                                      <p:to>
                                        <p:strVal val="visible"/>
                                      </p:to>
                                    </p:set>
                                    <p:animEffect transition="in" filter="wipe(left)">
                                      <p:cBhvr>
                                        <p:cTn id="107" dur="500"/>
                                        <p:tgtEl>
                                          <p:spTgt spid="36913"/>
                                        </p:tgtEl>
                                      </p:cBhvr>
                                    </p:animEffect>
                                  </p:childTnLst>
                                </p:cTn>
                              </p:par>
                            </p:childTnLst>
                          </p:cTn>
                        </p:par>
                        <p:par>
                          <p:cTn id="108" fill="hold">
                            <p:stCondLst>
                              <p:cond delay="500"/>
                            </p:stCondLst>
                            <p:childTnLst>
                              <p:par>
                                <p:cTn id="109" presetID="22" presetClass="entr" presetSubtype="8" fill="hold" nodeType="afterEffect">
                                  <p:stCondLst>
                                    <p:cond delay="0"/>
                                  </p:stCondLst>
                                  <p:childTnLst>
                                    <p:set>
                                      <p:cBhvr>
                                        <p:cTn id="110" dur="1" fill="hold">
                                          <p:stCondLst>
                                            <p:cond delay="0"/>
                                          </p:stCondLst>
                                        </p:cTn>
                                        <p:tgtEl>
                                          <p:spTgt spid="177160"/>
                                        </p:tgtEl>
                                        <p:attrNameLst>
                                          <p:attrName>style.visibility</p:attrName>
                                        </p:attrNameLst>
                                      </p:cBhvr>
                                      <p:to>
                                        <p:strVal val="visible"/>
                                      </p:to>
                                    </p:set>
                                    <p:animEffect transition="in" filter="wipe(left)">
                                      <p:cBhvr>
                                        <p:cTn id="111" dur="500"/>
                                        <p:tgtEl>
                                          <p:spTgt spid="177160"/>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36915"/>
                                        </p:tgtEl>
                                        <p:attrNameLst>
                                          <p:attrName>style.visibility</p:attrName>
                                        </p:attrNameLst>
                                      </p:cBhvr>
                                      <p:to>
                                        <p:strVal val="visible"/>
                                      </p:to>
                                    </p:set>
                                    <p:animEffect transition="in" filter="wipe(left)">
                                      <p:cBhvr>
                                        <p:cTn id="116" dur="500"/>
                                        <p:tgtEl>
                                          <p:spTgt spid="36915"/>
                                        </p:tgtEl>
                                      </p:cBhvr>
                                    </p:animEffec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177161"/>
                                        </p:tgtEl>
                                        <p:attrNameLst>
                                          <p:attrName>style.visibility</p:attrName>
                                        </p:attrNameLst>
                                      </p:cBhvr>
                                      <p:to>
                                        <p:strVal val="visible"/>
                                      </p:to>
                                    </p:set>
                                    <p:animEffect transition="in" filter="wipe(left)">
                                      <p:cBhvr>
                                        <p:cTn id="120" dur="500"/>
                                        <p:tgtEl>
                                          <p:spTgt spid="177161"/>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177162"/>
                                        </p:tgtEl>
                                        <p:attrNameLst>
                                          <p:attrName>style.visibility</p:attrName>
                                        </p:attrNameLst>
                                      </p:cBhvr>
                                      <p:to>
                                        <p:strVal val="visible"/>
                                      </p:to>
                                    </p:set>
                                    <p:animEffect transition="in" filter="wipe(left)">
                                      <p:cBhvr>
                                        <p:cTn id="125" dur="500"/>
                                        <p:tgtEl>
                                          <p:spTgt spid="177162"/>
                                        </p:tgtEl>
                                      </p:cBhvr>
                                    </p:animEffect>
                                  </p:childTnLst>
                                </p:cTn>
                              </p:par>
                            </p:childTnLst>
                          </p:cTn>
                        </p:par>
                        <p:par>
                          <p:cTn id="126" fill="hold">
                            <p:stCondLst>
                              <p:cond delay="500"/>
                            </p:stCondLst>
                            <p:childTnLst>
                              <p:par>
                                <p:cTn id="127" presetID="22" presetClass="entr" presetSubtype="8" fill="hold" grpId="0" nodeType="afterEffect">
                                  <p:stCondLst>
                                    <p:cond delay="0"/>
                                  </p:stCondLst>
                                  <p:childTnLst>
                                    <p:set>
                                      <p:cBhvr>
                                        <p:cTn id="128" dur="1" fill="hold">
                                          <p:stCondLst>
                                            <p:cond delay="0"/>
                                          </p:stCondLst>
                                        </p:cTn>
                                        <p:tgtEl>
                                          <p:spTgt spid="36920"/>
                                        </p:tgtEl>
                                        <p:attrNameLst>
                                          <p:attrName>style.visibility</p:attrName>
                                        </p:attrNameLst>
                                      </p:cBhvr>
                                      <p:to>
                                        <p:strVal val="visible"/>
                                      </p:to>
                                    </p:set>
                                    <p:animEffect transition="in" filter="wipe(left)">
                                      <p:cBhvr>
                                        <p:cTn id="129" dur="500"/>
                                        <p:tgtEl>
                                          <p:spTgt spid="36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utoUpdateAnimBg="0"/>
      <p:bldP spid="36882" grpId="0" animBg="1"/>
      <p:bldP spid="36883" grpId="0" animBg="1"/>
      <p:bldP spid="36887" grpId="0" autoUpdateAnimBg="0"/>
      <p:bldP spid="36888" grpId="0" autoUpdateAnimBg="0"/>
      <p:bldP spid="36890" grpId="0" animBg="1"/>
      <p:bldP spid="36891" grpId="0" animBg="1"/>
      <p:bldP spid="36909" grpId="0" autoUpdateAnimBg="0"/>
      <p:bldP spid="36911" grpId="0" autoUpdateAnimBg="0"/>
      <p:bldP spid="36912" grpId="0" autoUpdateAnimBg="0"/>
      <p:bldP spid="36913" grpId="0" autoUpdateAnimBg="0"/>
      <p:bldP spid="36915" grpId="0" animBg="1"/>
      <p:bldP spid="36920" grpId="0" autoUpdateAnimBg="0"/>
      <p:bldP spid="36921" grpId="0" autoUpdateAnimBg="0"/>
      <p:bldP spid="369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p:cNvSpPr txBox="1">
            <a:spLocks noChangeArrowheads="1"/>
          </p:cNvSpPr>
          <p:nvPr/>
        </p:nvSpPr>
        <p:spPr bwMode="auto">
          <a:xfrm>
            <a:off x="611188" y="765175"/>
            <a:ext cx="1757362" cy="457200"/>
          </a:xfrm>
          <a:prstGeom prst="rect">
            <a:avLst/>
          </a:prstGeom>
          <a:noFill/>
          <a:ln w="9525">
            <a:noFill/>
            <a:miter lim="800000"/>
          </a:ln>
        </p:spPr>
        <p:txBody>
          <a:bodyPr wrap="none">
            <a:spAutoFit/>
          </a:bodyPr>
          <a:lstStyle/>
          <a:p>
            <a:r>
              <a:rPr kumimoji="1" lang="en-US" altLang="zh-CN" b="1" i="1">
                <a:solidFill>
                  <a:srgbClr val="FF0000"/>
                </a:solidFill>
              </a:rPr>
              <a:t>I</a:t>
            </a:r>
            <a:r>
              <a:rPr kumimoji="1" lang="en-US" altLang="zh-CN" b="1">
                <a:solidFill>
                  <a:srgbClr val="FF0000"/>
                </a:solidFill>
              </a:rPr>
              <a:t>. </a:t>
            </a:r>
            <a:r>
              <a:rPr kumimoji="1" lang="zh-CN" altLang="en-US" b="1">
                <a:solidFill>
                  <a:srgbClr val="FF0000"/>
                </a:solidFill>
              </a:rPr>
              <a:t>绝热方程</a:t>
            </a:r>
            <a:r>
              <a:rPr kumimoji="1" lang="zh-CN" altLang="en-US" b="1"/>
              <a:t> </a:t>
            </a:r>
            <a:endParaRPr kumimoji="1" lang="zh-CN" altLang="en-US" b="1"/>
          </a:p>
        </p:txBody>
      </p:sp>
      <p:sp>
        <p:nvSpPr>
          <p:cNvPr id="34821" name="Text Box 5"/>
          <p:cNvSpPr txBox="1">
            <a:spLocks noChangeArrowheads="1"/>
          </p:cNvSpPr>
          <p:nvPr/>
        </p:nvSpPr>
        <p:spPr bwMode="auto">
          <a:xfrm>
            <a:off x="827088" y="1341438"/>
            <a:ext cx="5256212" cy="457200"/>
          </a:xfrm>
          <a:prstGeom prst="rect">
            <a:avLst/>
          </a:prstGeom>
          <a:noFill/>
          <a:ln w="9525">
            <a:noFill/>
            <a:miter lim="800000"/>
          </a:ln>
        </p:spPr>
        <p:txBody>
          <a:bodyPr>
            <a:spAutoFit/>
          </a:bodyPr>
          <a:lstStyle/>
          <a:p>
            <a:r>
              <a:rPr kumimoji="1" lang="zh-CN" altLang="en-US" b="1"/>
              <a:t>对无限小的准静态绝热过程，有</a:t>
            </a:r>
            <a:endParaRPr kumimoji="1" lang="zh-CN" altLang="en-US" b="1"/>
          </a:p>
        </p:txBody>
      </p:sp>
      <p:graphicFrame>
        <p:nvGraphicFramePr>
          <p:cNvPr id="34822" name="Object 6"/>
          <p:cNvGraphicFramePr>
            <a:graphicFrameLocks noChangeAspect="1"/>
          </p:cNvGraphicFramePr>
          <p:nvPr/>
        </p:nvGraphicFramePr>
        <p:xfrm>
          <a:off x="1763713" y="2049463"/>
          <a:ext cx="1728787" cy="379412"/>
        </p:xfrm>
        <a:graphic>
          <a:graphicData uri="http://schemas.openxmlformats.org/presentationml/2006/ole">
            <mc:AlternateContent xmlns:mc="http://schemas.openxmlformats.org/markup-compatibility/2006">
              <mc:Choice xmlns:v="urn:schemas-microsoft-com:vml" Requires="v">
                <p:oleObj spid="_x0000_s20481" name="公式" r:id="rId1" imgW="19507200" imgH="4267200" progId="Equation.3">
                  <p:embed/>
                </p:oleObj>
              </mc:Choice>
              <mc:Fallback>
                <p:oleObj name="公式" r:id="rId1" imgW="19507200" imgH="4267200" progId="Equation.3">
                  <p:embed/>
                  <p:pic>
                    <p:nvPicPr>
                      <p:cNvPr id="0" name="Object 6"/>
                      <p:cNvPicPr>
                        <a:picLocks noChangeAspect="1"/>
                      </p:cNvPicPr>
                      <p:nvPr/>
                    </p:nvPicPr>
                    <p:blipFill>
                      <a:blip r:embed="rId2"/>
                      <a:stretch>
                        <a:fillRect/>
                      </a:stretch>
                    </p:blipFill>
                    <p:spPr>
                      <a:xfrm>
                        <a:off x="1763713" y="2049463"/>
                        <a:ext cx="1728787" cy="379412"/>
                      </a:xfrm>
                      <a:prstGeom prst="rect">
                        <a:avLst/>
                      </a:prstGeom>
                      <a:noFill/>
                      <a:ln w="9525">
                        <a:noFill/>
                      </a:ln>
                    </p:spPr>
                  </p:pic>
                </p:oleObj>
              </mc:Fallback>
            </mc:AlternateContent>
          </a:graphicData>
        </a:graphic>
      </p:graphicFrame>
      <p:graphicFrame>
        <p:nvGraphicFramePr>
          <p:cNvPr id="34823" name="Object 7"/>
          <p:cNvGraphicFramePr>
            <a:graphicFrameLocks noChangeAspect="1"/>
          </p:cNvGraphicFramePr>
          <p:nvPr/>
        </p:nvGraphicFramePr>
        <p:xfrm>
          <a:off x="4140200" y="1773238"/>
          <a:ext cx="2519363" cy="866775"/>
        </p:xfrm>
        <a:graphic>
          <a:graphicData uri="http://schemas.openxmlformats.org/presentationml/2006/ole">
            <mc:AlternateContent xmlns:mc="http://schemas.openxmlformats.org/markup-compatibility/2006">
              <mc:Choice xmlns:v="urn:schemas-microsoft-com:vml" Requires="v">
                <p:oleObj spid="_x0000_s20483" name="公式" r:id="rId3" imgW="27432000" imgH="9448800" progId="Equation.3">
                  <p:embed/>
                </p:oleObj>
              </mc:Choice>
              <mc:Fallback>
                <p:oleObj name="公式" r:id="rId3" imgW="27432000" imgH="9448800" progId="Equation.3">
                  <p:embed/>
                  <p:pic>
                    <p:nvPicPr>
                      <p:cNvPr id="0" name="Object 7"/>
                      <p:cNvPicPr>
                        <a:picLocks noChangeAspect="1"/>
                      </p:cNvPicPr>
                      <p:nvPr/>
                    </p:nvPicPr>
                    <p:blipFill>
                      <a:blip r:embed="rId4"/>
                      <a:stretch>
                        <a:fillRect/>
                      </a:stretch>
                    </p:blipFill>
                    <p:spPr>
                      <a:xfrm>
                        <a:off x="4140200" y="1773238"/>
                        <a:ext cx="2519363" cy="866775"/>
                      </a:xfrm>
                      <a:prstGeom prst="rect">
                        <a:avLst/>
                      </a:prstGeom>
                      <a:noFill/>
                      <a:ln w="9525">
                        <a:noFill/>
                      </a:ln>
                    </p:spPr>
                  </p:pic>
                </p:oleObj>
              </mc:Fallback>
            </mc:AlternateContent>
          </a:graphicData>
        </a:graphic>
      </p:graphicFrame>
      <p:graphicFrame>
        <p:nvGraphicFramePr>
          <p:cNvPr id="34824" name="Object 8"/>
          <p:cNvGraphicFramePr>
            <a:graphicFrameLocks noChangeAspect="1"/>
          </p:cNvGraphicFramePr>
          <p:nvPr/>
        </p:nvGraphicFramePr>
        <p:xfrm>
          <a:off x="4140200" y="2636838"/>
          <a:ext cx="2973388" cy="862012"/>
        </p:xfrm>
        <a:graphic>
          <a:graphicData uri="http://schemas.openxmlformats.org/presentationml/2006/ole">
            <mc:AlternateContent xmlns:mc="http://schemas.openxmlformats.org/markup-compatibility/2006">
              <mc:Choice xmlns:v="urn:schemas-microsoft-com:vml" Requires="v">
                <p:oleObj spid="_x0000_s20484" name="公式" r:id="rId5" imgW="32004000" imgH="9448800" progId="Equation.3">
                  <p:embed/>
                </p:oleObj>
              </mc:Choice>
              <mc:Fallback>
                <p:oleObj name="公式" r:id="rId5" imgW="32004000" imgH="9448800" progId="Equation.3">
                  <p:embed/>
                  <p:pic>
                    <p:nvPicPr>
                      <p:cNvPr id="0" name="Object 8"/>
                      <p:cNvPicPr>
                        <a:picLocks noChangeAspect="1"/>
                      </p:cNvPicPr>
                      <p:nvPr/>
                    </p:nvPicPr>
                    <p:blipFill>
                      <a:blip r:embed="rId6"/>
                      <a:stretch>
                        <a:fillRect/>
                      </a:stretch>
                    </p:blipFill>
                    <p:spPr>
                      <a:xfrm>
                        <a:off x="4140200" y="2636838"/>
                        <a:ext cx="2973388" cy="862012"/>
                      </a:xfrm>
                      <a:prstGeom prst="rect">
                        <a:avLst/>
                      </a:prstGeom>
                      <a:noFill/>
                      <a:ln w="9525">
                        <a:noFill/>
                      </a:ln>
                    </p:spPr>
                  </p:pic>
                </p:oleObj>
              </mc:Fallback>
            </mc:AlternateContent>
          </a:graphicData>
        </a:graphic>
      </p:graphicFrame>
      <p:graphicFrame>
        <p:nvGraphicFramePr>
          <p:cNvPr id="34825" name="Object 9"/>
          <p:cNvGraphicFramePr>
            <a:graphicFrameLocks noChangeAspect="1"/>
          </p:cNvGraphicFramePr>
          <p:nvPr/>
        </p:nvGraphicFramePr>
        <p:xfrm>
          <a:off x="1763713" y="2638425"/>
          <a:ext cx="1584325" cy="769938"/>
        </p:xfrm>
        <a:graphic>
          <a:graphicData uri="http://schemas.openxmlformats.org/presentationml/2006/ole">
            <mc:AlternateContent xmlns:mc="http://schemas.openxmlformats.org/markup-compatibility/2006">
              <mc:Choice xmlns:v="urn:schemas-microsoft-com:vml" Requires="v">
                <p:oleObj spid="_x0000_s20485" name="公式" r:id="rId7" imgW="19507200" imgH="9448800" progId="Equation.3">
                  <p:embed/>
                </p:oleObj>
              </mc:Choice>
              <mc:Fallback>
                <p:oleObj name="公式" r:id="rId7" imgW="19507200" imgH="9448800" progId="Equation.3">
                  <p:embed/>
                  <p:pic>
                    <p:nvPicPr>
                      <p:cNvPr id="0" name="Object 9"/>
                      <p:cNvPicPr>
                        <a:picLocks noChangeAspect="1"/>
                      </p:cNvPicPr>
                      <p:nvPr/>
                    </p:nvPicPr>
                    <p:blipFill>
                      <a:blip r:embed="rId8"/>
                      <a:stretch>
                        <a:fillRect/>
                      </a:stretch>
                    </p:blipFill>
                    <p:spPr>
                      <a:xfrm>
                        <a:off x="1763713" y="2638425"/>
                        <a:ext cx="1584325" cy="769938"/>
                      </a:xfrm>
                      <a:prstGeom prst="rect">
                        <a:avLst/>
                      </a:prstGeom>
                      <a:noFill/>
                      <a:ln w="9525">
                        <a:noFill/>
                      </a:ln>
                    </p:spPr>
                  </p:pic>
                </p:oleObj>
              </mc:Fallback>
            </mc:AlternateContent>
          </a:graphicData>
        </a:graphic>
      </p:graphicFrame>
      <p:sp>
        <p:nvSpPr>
          <p:cNvPr id="34826" name="Line 10"/>
          <p:cNvSpPr>
            <a:spLocks noChangeShapeType="1"/>
          </p:cNvSpPr>
          <p:nvPr/>
        </p:nvSpPr>
        <p:spPr bwMode="auto">
          <a:xfrm>
            <a:off x="3563938" y="2249488"/>
            <a:ext cx="533400" cy="0"/>
          </a:xfrm>
          <a:prstGeom prst="line">
            <a:avLst/>
          </a:prstGeom>
          <a:noFill/>
          <a:ln w="76200">
            <a:solidFill>
              <a:schemeClr val="hlink"/>
            </a:solidFill>
            <a:round/>
            <a:tailEnd type="triangle" w="med" len="med"/>
          </a:ln>
        </p:spPr>
        <p:txBody>
          <a:bodyPr/>
          <a:lstStyle/>
          <a:p>
            <a:endParaRPr lang="zh-CN" altLang="en-US"/>
          </a:p>
        </p:txBody>
      </p:sp>
      <p:sp>
        <p:nvSpPr>
          <p:cNvPr id="34827" name="Line 11"/>
          <p:cNvSpPr>
            <a:spLocks noChangeShapeType="1"/>
          </p:cNvSpPr>
          <p:nvPr/>
        </p:nvSpPr>
        <p:spPr bwMode="auto">
          <a:xfrm flipH="1">
            <a:off x="3536950" y="3070225"/>
            <a:ext cx="530225" cy="0"/>
          </a:xfrm>
          <a:prstGeom prst="line">
            <a:avLst/>
          </a:prstGeom>
          <a:noFill/>
          <a:ln w="76200">
            <a:solidFill>
              <a:schemeClr val="hlink"/>
            </a:solidFill>
            <a:round/>
            <a:headEnd type="triangle" w="med" len="med"/>
          </a:ln>
        </p:spPr>
        <p:txBody>
          <a:bodyPr/>
          <a:lstStyle/>
          <a:p>
            <a:endParaRPr lang="zh-CN" altLang="en-US"/>
          </a:p>
        </p:txBody>
      </p:sp>
      <p:graphicFrame>
        <p:nvGraphicFramePr>
          <p:cNvPr id="34828" name="Object 12"/>
          <p:cNvGraphicFramePr>
            <a:graphicFrameLocks noChangeAspect="1"/>
          </p:cNvGraphicFramePr>
          <p:nvPr/>
        </p:nvGraphicFramePr>
        <p:xfrm>
          <a:off x="2986088" y="3714750"/>
          <a:ext cx="3783012" cy="434975"/>
        </p:xfrm>
        <a:graphic>
          <a:graphicData uri="http://schemas.openxmlformats.org/presentationml/2006/ole">
            <mc:AlternateContent xmlns:mc="http://schemas.openxmlformats.org/markup-compatibility/2006">
              <mc:Choice xmlns:v="urn:schemas-microsoft-com:vml" Requires="v">
                <p:oleObj spid="_x0000_s20486" name="公式" r:id="rId9" imgW="89916000" imgH="10363200" progId="Equation.3">
                  <p:embed/>
                </p:oleObj>
              </mc:Choice>
              <mc:Fallback>
                <p:oleObj name="公式" r:id="rId9" imgW="89916000" imgH="10363200" progId="Equation.3">
                  <p:embed/>
                  <p:pic>
                    <p:nvPicPr>
                      <p:cNvPr id="0" name="Object 12"/>
                      <p:cNvPicPr>
                        <a:picLocks noChangeAspect="1"/>
                      </p:cNvPicPr>
                      <p:nvPr/>
                    </p:nvPicPr>
                    <p:blipFill>
                      <a:blip r:embed="rId10"/>
                      <a:stretch>
                        <a:fillRect/>
                      </a:stretch>
                    </p:blipFill>
                    <p:spPr>
                      <a:xfrm>
                        <a:off x="2986088" y="3714750"/>
                        <a:ext cx="3783012" cy="434975"/>
                      </a:xfrm>
                      <a:prstGeom prst="rect">
                        <a:avLst/>
                      </a:prstGeom>
                      <a:noFill/>
                      <a:ln w="9525">
                        <a:noFill/>
                      </a:ln>
                    </p:spPr>
                  </p:pic>
                </p:oleObj>
              </mc:Fallback>
            </mc:AlternateContent>
          </a:graphicData>
        </a:graphic>
      </p:graphicFrame>
      <p:sp>
        <p:nvSpPr>
          <p:cNvPr id="34829" name="AutoShape 13"/>
          <p:cNvSpPr/>
          <p:nvPr/>
        </p:nvSpPr>
        <p:spPr bwMode="auto">
          <a:xfrm>
            <a:off x="7119938" y="2105025"/>
            <a:ext cx="331787" cy="955675"/>
          </a:xfrm>
          <a:prstGeom prst="rightBrace">
            <a:avLst>
              <a:gd name="adj1" fmla="val 24003"/>
              <a:gd name="adj2" fmla="val 50000"/>
            </a:avLst>
          </a:prstGeom>
          <a:noFill/>
          <a:ln w="19050">
            <a:solidFill>
              <a:schemeClr val="tx1"/>
            </a:solidFill>
            <a:round/>
          </a:ln>
        </p:spPr>
        <p:txBody>
          <a:bodyPr wrap="none" anchor="ctr"/>
          <a:lstStyle/>
          <a:p>
            <a:pPr algn="ctr"/>
            <a:endParaRPr lang="zh-CN" altLang="en-US" b="1"/>
          </a:p>
        </p:txBody>
      </p:sp>
      <p:sp>
        <p:nvSpPr>
          <p:cNvPr id="34830" name="AutoShape 14"/>
          <p:cNvSpPr>
            <a:spLocks noChangeArrowheads="1"/>
          </p:cNvSpPr>
          <p:nvPr/>
        </p:nvSpPr>
        <p:spPr bwMode="auto">
          <a:xfrm>
            <a:off x="7594600" y="2493963"/>
            <a:ext cx="733425" cy="1360487"/>
          </a:xfrm>
          <a:prstGeom prst="curvedLeftArrow">
            <a:avLst>
              <a:gd name="adj1" fmla="val 22208"/>
              <a:gd name="adj2" fmla="val 59308"/>
              <a:gd name="adj3" fmla="val 33333"/>
            </a:avLst>
          </a:prstGeom>
          <a:solidFill>
            <a:schemeClr val="hlink"/>
          </a:solidFill>
          <a:ln w="9525">
            <a:solidFill>
              <a:schemeClr val="tx1"/>
            </a:solidFill>
            <a:miter lim="800000"/>
          </a:ln>
        </p:spPr>
        <p:txBody>
          <a:bodyPr wrap="none" anchor="ctr"/>
          <a:lstStyle/>
          <a:p>
            <a:pPr algn="ctr"/>
            <a:endParaRPr lang="zh-CN" altLang="en-US" b="1"/>
          </a:p>
        </p:txBody>
      </p:sp>
      <p:graphicFrame>
        <p:nvGraphicFramePr>
          <p:cNvPr id="34831" name="Object 15"/>
          <p:cNvGraphicFramePr>
            <a:graphicFrameLocks noChangeAspect="1"/>
          </p:cNvGraphicFramePr>
          <p:nvPr/>
        </p:nvGraphicFramePr>
        <p:xfrm>
          <a:off x="2555875" y="4256088"/>
          <a:ext cx="1984375" cy="901700"/>
        </p:xfrm>
        <a:graphic>
          <a:graphicData uri="http://schemas.openxmlformats.org/presentationml/2006/ole">
            <mc:AlternateContent xmlns:mc="http://schemas.openxmlformats.org/markup-compatibility/2006">
              <mc:Choice xmlns:v="urn:schemas-microsoft-com:vml" Requires="v">
                <p:oleObj spid="_x0000_s20487" name="公式" r:id="rId11" imgW="47853600" imgH="21640800" progId="Equation.3">
                  <p:embed/>
                </p:oleObj>
              </mc:Choice>
              <mc:Fallback>
                <p:oleObj name="公式" r:id="rId11" imgW="47853600" imgH="21640800" progId="Equation.3">
                  <p:embed/>
                  <p:pic>
                    <p:nvPicPr>
                      <p:cNvPr id="0" name="Object 15"/>
                      <p:cNvPicPr>
                        <a:picLocks noChangeAspect="1"/>
                      </p:cNvPicPr>
                      <p:nvPr/>
                    </p:nvPicPr>
                    <p:blipFill>
                      <a:blip r:embed="rId12"/>
                      <a:stretch>
                        <a:fillRect/>
                      </a:stretch>
                    </p:blipFill>
                    <p:spPr>
                      <a:xfrm>
                        <a:off x="2555875" y="4256088"/>
                        <a:ext cx="1984375" cy="901700"/>
                      </a:xfrm>
                      <a:prstGeom prst="rect">
                        <a:avLst/>
                      </a:prstGeom>
                      <a:noFill/>
                      <a:ln w="9525">
                        <a:noFill/>
                      </a:ln>
                    </p:spPr>
                  </p:pic>
                </p:oleObj>
              </mc:Fallback>
            </mc:AlternateContent>
          </a:graphicData>
        </a:graphic>
      </p:graphicFrame>
      <p:graphicFrame>
        <p:nvGraphicFramePr>
          <p:cNvPr id="34832" name="Object 16"/>
          <p:cNvGraphicFramePr>
            <a:graphicFrameLocks noChangeAspect="1"/>
          </p:cNvGraphicFramePr>
          <p:nvPr/>
        </p:nvGraphicFramePr>
        <p:xfrm>
          <a:off x="5327650" y="4438650"/>
          <a:ext cx="1371600" cy="473075"/>
        </p:xfrm>
        <a:graphic>
          <a:graphicData uri="http://schemas.openxmlformats.org/presentationml/2006/ole">
            <mc:AlternateContent xmlns:mc="http://schemas.openxmlformats.org/markup-compatibility/2006">
              <mc:Choice xmlns:v="urn:schemas-microsoft-com:vml" Requires="v">
                <p:oleObj spid="_x0000_s20488" name="公式" r:id="rId13" imgW="32613600" imgH="11277600" progId="Equation.3">
                  <p:embed/>
                </p:oleObj>
              </mc:Choice>
              <mc:Fallback>
                <p:oleObj name="公式" r:id="rId13" imgW="32613600" imgH="11277600" progId="Equation.3">
                  <p:embed/>
                  <p:pic>
                    <p:nvPicPr>
                      <p:cNvPr id="0" name="Object 16"/>
                      <p:cNvPicPr>
                        <a:picLocks noChangeAspect="1"/>
                      </p:cNvPicPr>
                      <p:nvPr/>
                    </p:nvPicPr>
                    <p:blipFill>
                      <a:blip r:embed="rId14"/>
                      <a:stretch>
                        <a:fillRect/>
                      </a:stretch>
                    </p:blipFill>
                    <p:spPr>
                      <a:xfrm>
                        <a:off x="5327650" y="4438650"/>
                        <a:ext cx="1371600" cy="473075"/>
                      </a:xfrm>
                      <a:prstGeom prst="rect">
                        <a:avLst/>
                      </a:prstGeom>
                      <a:noFill/>
                      <a:ln w="9525" cap="flat" cmpd="sng">
                        <a:solidFill>
                          <a:srgbClr val="000000"/>
                        </a:solidFill>
                        <a:prstDash val="solid"/>
                        <a:miter/>
                        <a:headEnd type="none" w="med" len="med"/>
                        <a:tailEnd type="none" w="med" len="med"/>
                      </a:ln>
                    </p:spPr>
                  </p:pic>
                </p:oleObj>
              </mc:Fallback>
            </mc:AlternateContent>
          </a:graphicData>
        </a:graphic>
      </p:graphicFrame>
      <p:graphicFrame>
        <p:nvGraphicFramePr>
          <p:cNvPr id="34833" name="Object 17"/>
          <p:cNvGraphicFramePr>
            <a:graphicFrameLocks noChangeAspect="1"/>
          </p:cNvGraphicFramePr>
          <p:nvPr/>
        </p:nvGraphicFramePr>
        <p:xfrm>
          <a:off x="2771775" y="5734050"/>
          <a:ext cx="1565275" cy="473075"/>
        </p:xfrm>
        <a:graphic>
          <a:graphicData uri="http://schemas.openxmlformats.org/presentationml/2006/ole">
            <mc:AlternateContent xmlns:mc="http://schemas.openxmlformats.org/markup-compatibility/2006">
              <mc:Choice xmlns:v="urn:schemas-microsoft-com:vml" Requires="v">
                <p:oleObj spid="_x0000_s20489" name="公式" r:id="rId15" imgW="37185600" imgH="11277600" progId="Equation.3">
                  <p:embed/>
                </p:oleObj>
              </mc:Choice>
              <mc:Fallback>
                <p:oleObj name="公式" r:id="rId15" imgW="37185600" imgH="11277600" progId="Equation.3">
                  <p:embed/>
                  <p:pic>
                    <p:nvPicPr>
                      <p:cNvPr id="0" name="Object 17"/>
                      <p:cNvPicPr>
                        <a:picLocks noChangeAspect="1"/>
                      </p:cNvPicPr>
                      <p:nvPr/>
                    </p:nvPicPr>
                    <p:blipFill>
                      <a:blip r:embed="rId16"/>
                      <a:stretch>
                        <a:fillRect/>
                      </a:stretch>
                    </p:blipFill>
                    <p:spPr>
                      <a:xfrm>
                        <a:off x="2771775" y="5734050"/>
                        <a:ext cx="1565275" cy="473075"/>
                      </a:xfrm>
                      <a:prstGeom prst="rect">
                        <a:avLst/>
                      </a:prstGeom>
                      <a:noFill/>
                      <a:ln w="9525" cap="flat" cmpd="sng">
                        <a:solidFill>
                          <a:srgbClr val="000000"/>
                        </a:solidFill>
                        <a:prstDash val="solid"/>
                        <a:miter/>
                        <a:headEnd type="none" w="med" len="med"/>
                        <a:tailEnd type="none" w="med" len="med"/>
                      </a:ln>
                    </p:spPr>
                  </p:pic>
                </p:oleObj>
              </mc:Fallback>
            </mc:AlternateContent>
          </a:graphicData>
        </a:graphic>
      </p:graphicFrame>
      <p:graphicFrame>
        <p:nvGraphicFramePr>
          <p:cNvPr id="34834" name="Object 18"/>
          <p:cNvGraphicFramePr>
            <a:graphicFrameLocks noChangeAspect="1"/>
          </p:cNvGraphicFramePr>
          <p:nvPr/>
        </p:nvGraphicFramePr>
        <p:xfrm>
          <a:off x="5119688" y="5734050"/>
          <a:ext cx="1828800" cy="479425"/>
        </p:xfrm>
        <a:graphic>
          <a:graphicData uri="http://schemas.openxmlformats.org/presentationml/2006/ole">
            <mc:AlternateContent xmlns:mc="http://schemas.openxmlformats.org/markup-compatibility/2006">
              <mc:Choice xmlns:v="urn:schemas-microsoft-com:vml" Requires="v">
                <p:oleObj spid="_x0000_s20490" name="公式" r:id="rId17" imgW="43586400" imgH="11582400" progId="Equation.3">
                  <p:embed/>
                </p:oleObj>
              </mc:Choice>
              <mc:Fallback>
                <p:oleObj name="公式" r:id="rId17" imgW="43586400" imgH="11582400" progId="Equation.3">
                  <p:embed/>
                  <p:pic>
                    <p:nvPicPr>
                      <p:cNvPr id="0" name="Object 18"/>
                      <p:cNvPicPr>
                        <a:picLocks noChangeAspect="1"/>
                      </p:cNvPicPr>
                      <p:nvPr/>
                    </p:nvPicPr>
                    <p:blipFill>
                      <a:blip r:embed="rId18"/>
                      <a:stretch>
                        <a:fillRect/>
                      </a:stretch>
                    </p:blipFill>
                    <p:spPr>
                      <a:xfrm>
                        <a:off x="5119688" y="5734050"/>
                        <a:ext cx="1828800" cy="479425"/>
                      </a:xfrm>
                      <a:prstGeom prst="rect">
                        <a:avLst/>
                      </a:prstGeom>
                      <a:noFill/>
                      <a:ln w="6350" cap="flat" cmpd="sng">
                        <a:solidFill>
                          <a:srgbClr val="000000"/>
                        </a:solidFill>
                        <a:prstDash val="solid"/>
                        <a:miter/>
                        <a:headEnd type="none" w="med" len="med"/>
                        <a:tailEnd type="none" w="med" len="med"/>
                      </a:ln>
                    </p:spPr>
                  </p:pic>
                </p:oleObj>
              </mc:Fallback>
            </mc:AlternateContent>
          </a:graphicData>
        </a:graphic>
      </p:graphicFrame>
      <p:sp>
        <p:nvSpPr>
          <p:cNvPr id="34835" name="Text Box 19"/>
          <p:cNvSpPr txBox="1">
            <a:spLocks noChangeArrowheads="1"/>
          </p:cNvSpPr>
          <p:nvPr/>
        </p:nvSpPr>
        <p:spPr bwMode="auto">
          <a:xfrm>
            <a:off x="827088" y="5133975"/>
            <a:ext cx="4032250" cy="457200"/>
          </a:xfrm>
          <a:prstGeom prst="rect">
            <a:avLst/>
          </a:prstGeom>
          <a:noFill/>
          <a:ln w="9525">
            <a:noFill/>
            <a:miter lim="800000"/>
          </a:ln>
        </p:spPr>
        <p:txBody>
          <a:bodyPr>
            <a:spAutoFit/>
          </a:bodyPr>
          <a:lstStyle/>
          <a:p>
            <a:r>
              <a:rPr lang="zh-CN" altLang="en-US" b="1"/>
              <a:t>利用上式和状态方程可得</a:t>
            </a:r>
            <a:endParaRPr lang="zh-CN" altLang="en-US" b="1"/>
          </a:p>
        </p:txBody>
      </p:sp>
      <p:sp>
        <p:nvSpPr>
          <p:cNvPr id="34836" name="AutoShape 20"/>
          <p:cNvSpPr>
            <a:spLocks noChangeArrowheads="1"/>
          </p:cNvSpPr>
          <p:nvPr/>
        </p:nvSpPr>
        <p:spPr bwMode="auto">
          <a:xfrm>
            <a:off x="1619250" y="4581525"/>
            <a:ext cx="649288" cy="142875"/>
          </a:xfrm>
          <a:prstGeom prst="rightArrow">
            <a:avLst>
              <a:gd name="adj1" fmla="val 50000"/>
              <a:gd name="adj2" fmla="val 113611"/>
            </a:avLst>
          </a:prstGeom>
          <a:solidFill>
            <a:schemeClr val="accent1"/>
          </a:solidFill>
          <a:ln w="9525">
            <a:solidFill>
              <a:schemeClr val="tx1"/>
            </a:solidFill>
            <a:miter lim="800000"/>
          </a:ln>
        </p:spPr>
        <p:txBody>
          <a:bodyPr wrap="none" anchor="ctr"/>
          <a:lstStyle/>
          <a:p>
            <a:pPr algn="ctr"/>
            <a:endParaRPr lang="zh-CN" altLang="en-US" b="1"/>
          </a:p>
        </p:txBody>
      </p:sp>
      <p:sp>
        <p:nvSpPr>
          <p:cNvPr id="34837" name="Text Box 21"/>
          <p:cNvSpPr txBox="1">
            <a:spLocks noChangeArrowheads="1"/>
          </p:cNvSpPr>
          <p:nvPr/>
        </p:nvSpPr>
        <p:spPr bwMode="auto">
          <a:xfrm>
            <a:off x="8382000" y="2667000"/>
            <a:ext cx="609600" cy="830263"/>
          </a:xfrm>
          <a:prstGeom prst="rect">
            <a:avLst/>
          </a:prstGeom>
          <a:noFill/>
          <a:ln w="9525">
            <a:noFill/>
            <a:miter lim="800000"/>
          </a:ln>
        </p:spPr>
        <p:txBody>
          <a:bodyPr>
            <a:spAutoFit/>
          </a:bodyPr>
          <a:lstStyle/>
          <a:p>
            <a:pPr>
              <a:spcBef>
                <a:spcPct val="50000"/>
              </a:spcBef>
            </a:pPr>
            <a:r>
              <a:rPr lang="zh-CN" altLang="en-US" b="1">
                <a:solidFill>
                  <a:srgbClr val="FF6600"/>
                </a:solidFill>
                <a:latin typeface="Arial" panose="020B0604020202020204" pitchFamily="34" charset="0"/>
              </a:rPr>
              <a:t>消</a:t>
            </a:r>
            <a:r>
              <a:rPr lang="en-US" altLang="zh-CN" b="1">
                <a:solidFill>
                  <a:srgbClr val="FF6600"/>
                </a:solidFill>
              </a:rPr>
              <a:t>d</a:t>
            </a:r>
            <a:r>
              <a:rPr lang="en-US" altLang="zh-CN" b="1" i="1">
                <a:solidFill>
                  <a:srgbClr val="FF6600"/>
                </a:solidFill>
              </a:rPr>
              <a:t>T</a:t>
            </a:r>
            <a:endParaRPr lang="en-US" altLang="zh-CN" b="1" i="1">
              <a:solidFill>
                <a:srgbClr val="FF6600"/>
              </a:solidFill>
            </a:endParaRPr>
          </a:p>
        </p:txBody>
      </p:sp>
      <p:sp>
        <p:nvSpPr>
          <p:cNvPr id="34838" name="Text Box 22"/>
          <p:cNvSpPr txBox="1">
            <a:spLocks noChangeArrowheads="1"/>
          </p:cNvSpPr>
          <p:nvPr/>
        </p:nvSpPr>
        <p:spPr bwMode="auto">
          <a:xfrm>
            <a:off x="7386638" y="4419600"/>
            <a:ext cx="554037" cy="1676400"/>
          </a:xfrm>
          <a:prstGeom prst="rect">
            <a:avLst/>
          </a:prstGeom>
          <a:noFill/>
          <a:ln w="9525">
            <a:noFill/>
            <a:miter lim="800000"/>
          </a:ln>
        </p:spPr>
        <p:txBody>
          <a:bodyPr vert="eaVert">
            <a:spAutoFit/>
          </a:bodyPr>
          <a:lstStyle/>
          <a:p>
            <a:pPr>
              <a:spcBef>
                <a:spcPct val="50000"/>
              </a:spcBef>
            </a:pPr>
            <a:r>
              <a:rPr lang="zh-CN" altLang="en-US" b="1">
                <a:solidFill>
                  <a:srgbClr val="FF0000"/>
                </a:solidFill>
                <a:latin typeface="Arial" panose="020B0604020202020204" pitchFamily="34" charset="0"/>
              </a:rPr>
              <a:t>泊 松 方 程</a:t>
            </a:r>
            <a:endParaRPr lang="zh-CN" altLang="en-US" b="1">
              <a:solidFill>
                <a:srgbClr val="FF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wipe(left)">
                                      <p:cBhvr>
                                        <p:cTn id="7" dur="500"/>
                                        <p:tgtEl>
                                          <p:spTgt spid="348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wipe(left)">
                                      <p:cBhvr>
                                        <p:cTn id="12" dur="500"/>
                                        <p:tgtEl>
                                          <p:spTgt spid="348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822"/>
                                        </p:tgtEl>
                                        <p:attrNameLst>
                                          <p:attrName>style.visibility</p:attrName>
                                        </p:attrNameLst>
                                      </p:cBhvr>
                                      <p:to>
                                        <p:strVal val="visible"/>
                                      </p:to>
                                    </p:set>
                                    <p:animEffect transition="in" filter="wipe(left)">
                                      <p:cBhvr>
                                        <p:cTn id="17" dur="500"/>
                                        <p:tgtEl>
                                          <p:spTgt spid="348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26"/>
                                        </p:tgtEl>
                                        <p:attrNameLst>
                                          <p:attrName>style.visibility</p:attrName>
                                        </p:attrNameLst>
                                      </p:cBhvr>
                                      <p:to>
                                        <p:strVal val="visible"/>
                                      </p:to>
                                    </p:set>
                                    <p:animEffect transition="in" filter="wipe(left)">
                                      <p:cBhvr>
                                        <p:cTn id="22" dur="500"/>
                                        <p:tgtEl>
                                          <p:spTgt spid="34826"/>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4823"/>
                                        </p:tgtEl>
                                        <p:attrNameLst>
                                          <p:attrName>style.visibility</p:attrName>
                                        </p:attrNameLst>
                                      </p:cBhvr>
                                      <p:to>
                                        <p:strVal val="visible"/>
                                      </p:to>
                                    </p:set>
                                    <p:animEffect transition="in" filter="wipe(left)">
                                      <p:cBhvr>
                                        <p:cTn id="26" dur="500"/>
                                        <p:tgtEl>
                                          <p:spTgt spid="3482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4825"/>
                                        </p:tgtEl>
                                        <p:attrNameLst>
                                          <p:attrName>style.visibility</p:attrName>
                                        </p:attrNameLst>
                                      </p:cBhvr>
                                      <p:to>
                                        <p:strVal val="visible"/>
                                      </p:to>
                                    </p:set>
                                    <p:animEffect transition="in" filter="wipe(left)">
                                      <p:cBhvr>
                                        <p:cTn id="31" dur="500"/>
                                        <p:tgtEl>
                                          <p:spTgt spid="3482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4827"/>
                                        </p:tgtEl>
                                        <p:attrNameLst>
                                          <p:attrName>style.visibility</p:attrName>
                                        </p:attrNameLst>
                                      </p:cBhvr>
                                      <p:to>
                                        <p:strVal val="visible"/>
                                      </p:to>
                                    </p:set>
                                    <p:animEffect transition="in" filter="wipe(left)">
                                      <p:cBhvr>
                                        <p:cTn id="36" dur="500"/>
                                        <p:tgtEl>
                                          <p:spTgt spid="34827"/>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34824"/>
                                        </p:tgtEl>
                                        <p:attrNameLst>
                                          <p:attrName>style.visibility</p:attrName>
                                        </p:attrNameLst>
                                      </p:cBhvr>
                                      <p:to>
                                        <p:strVal val="visible"/>
                                      </p:to>
                                    </p:set>
                                    <p:animEffect transition="in" filter="wipe(left)">
                                      <p:cBhvr>
                                        <p:cTn id="40" dur="500"/>
                                        <p:tgtEl>
                                          <p:spTgt spid="3482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34829"/>
                                        </p:tgtEl>
                                        <p:attrNameLst>
                                          <p:attrName>style.visibility</p:attrName>
                                        </p:attrNameLst>
                                      </p:cBhvr>
                                      <p:to>
                                        <p:strVal val="visible"/>
                                      </p:to>
                                    </p:set>
                                    <p:animEffect transition="in" filter="wipe(up)">
                                      <p:cBhvr>
                                        <p:cTn id="45" dur="500"/>
                                        <p:tgtEl>
                                          <p:spTgt spid="3482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34830"/>
                                        </p:tgtEl>
                                        <p:attrNameLst>
                                          <p:attrName>style.visibility</p:attrName>
                                        </p:attrNameLst>
                                      </p:cBhvr>
                                      <p:to>
                                        <p:strVal val="visible"/>
                                      </p:to>
                                    </p:set>
                                    <p:animEffect transition="in" filter="wipe(up)">
                                      <p:cBhvr>
                                        <p:cTn id="50" dur="500"/>
                                        <p:tgtEl>
                                          <p:spTgt spid="34830"/>
                                        </p:tgtEl>
                                      </p:cBhvr>
                                    </p:animEffect>
                                  </p:childTnLst>
                                </p:cTn>
                              </p:par>
                            </p:childTnLst>
                          </p:cTn>
                        </p:par>
                        <p:par>
                          <p:cTn id="51" fill="hold">
                            <p:stCondLst>
                              <p:cond delay="500"/>
                            </p:stCondLst>
                            <p:childTnLst>
                              <p:par>
                                <p:cTn id="52" presetID="2" presetClass="entr" presetSubtype="2" fill="hold" grpId="0" nodeType="afterEffect">
                                  <p:stCondLst>
                                    <p:cond delay="0"/>
                                  </p:stCondLst>
                                  <p:childTnLst>
                                    <p:set>
                                      <p:cBhvr>
                                        <p:cTn id="53" dur="1" fill="hold">
                                          <p:stCondLst>
                                            <p:cond delay="0"/>
                                          </p:stCondLst>
                                        </p:cTn>
                                        <p:tgtEl>
                                          <p:spTgt spid="34837"/>
                                        </p:tgtEl>
                                        <p:attrNameLst>
                                          <p:attrName>style.visibility</p:attrName>
                                        </p:attrNameLst>
                                      </p:cBhvr>
                                      <p:to>
                                        <p:strVal val="visible"/>
                                      </p:to>
                                    </p:set>
                                    <p:anim calcmode="lin" valueType="num">
                                      <p:cBhvr additive="base">
                                        <p:cTn id="54" dur="500" fill="hold"/>
                                        <p:tgtEl>
                                          <p:spTgt spid="34837"/>
                                        </p:tgtEl>
                                        <p:attrNameLst>
                                          <p:attrName>ppt_x</p:attrName>
                                        </p:attrNameLst>
                                      </p:cBhvr>
                                      <p:tavLst>
                                        <p:tav tm="0">
                                          <p:val>
                                            <p:strVal val="1+#ppt_w/2"/>
                                          </p:val>
                                        </p:tav>
                                        <p:tav tm="100000">
                                          <p:val>
                                            <p:strVal val="#ppt_x"/>
                                          </p:val>
                                        </p:tav>
                                      </p:tavLst>
                                    </p:anim>
                                    <p:anim calcmode="lin" valueType="num">
                                      <p:cBhvr additive="base">
                                        <p:cTn id="55" dur="500" fill="hold"/>
                                        <p:tgtEl>
                                          <p:spTgt spid="34837"/>
                                        </p:tgtEl>
                                        <p:attrNameLst>
                                          <p:attrName>ppt_y</p:attrName>
                                        </p:attrNameLst>
                                      </p:cBhvr>
                                      <p:tavLst>
                                        <p:tav tm="0">
                                          <p:val>
                                            <p:strVal val="#ppt_y"/>
                                          </p:val>
                                        </p:tav>
                                        <p:tav tm="100000">
                                          <p:val>
                                            <p:strVal val="#ppt_y"/>
                                          </p:val>
                                        </p:tav>
                                      </p:tavLst>
                                    </p:anim>
                                  </p:childTnLst>
                                </p:cTn>
                              </p:par>
                            </p:childTnLst>
                          </p:cTn>
                        </p:par>
                        <p:par>
                          <p:cTn id="56" fill="hold">
                            <p:stCondLst>
                              <p:cond delay="1000"/>
                            </p:stCondLst>
                            <p:childTnLst>
                              <p:par>
                                <p:cTn id="57" presetID="22" presetClass="entr" presetSubtype="8" fill="hold" nodeType="afterEffect">
                                  <p:stCondLst>
                                    <p:cond delay="0"/>
                                  </p:stCondLst>
                                  <p:childTnLst>
                                    <p:set>
                                      <p:cBhvr>
                                        <p:cTn id="58" dur="1" fill="hold">
                                          <p:stCondLst>
                                            <p:cond delay="0"/>
                                          </p:stCondLst>
                                        </p:cTn>
                                        <p:tgtEl>
                                          <p:spTgt spid="34828"/>
                                        </p:tgtEl>
                                        <p:attrNameLst>
                                          <p:attrName>style.visibility</p:attrName>
                                        </p:attrNameLst>
                                      </p:cBhvr>
                                      <p:to>
                                        <p:strVal val="visible"/>
                                      </p:to>
                                    </p:set>
                                    <p:animEffect transition="in" filter="wipe(left)">
                                      <p:cBhvr>
                                        <p:cTn id="59" dur="500"/>
                                        <p:tgtEl>
                                          <p:spTgt spid="3482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4836"/>
                                        </p:tgtEl>
                                        <p:attrNameLst>
                                          <p:attrName>style.visibility</p:attrName>
                                        </p:attrNameLst>
                                      </p:cBhvr>
                                      <p:to>
                                        <p:strVal val="visible"/>
                                      </p:to>
                                    </p:set>
                                    <p:animEffect transition="in" filter="wipe(left)">
                                      <p:cBhvr>
                                        <p:cTn id="64" dur="500"/>
                                        <p:tgtEl>
                                          <p:spTgt spid="34836"/>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4831"/>
                                        </p:tgtEl>
                                        <p:attrNameLst>
                                          <p:attrName>style.visibility</p:attrName>
                                        </p:attrNameLst>
                                      </p:cBhvr>
                                      <p:to>
                                        <p:strVal val="visible"/>
                                      </p:to>
                                    </p:set>
                                    <p:animEffect transition="in" filter="wipe(left)">
                                      <p:cBhvr>
                                        <p:cTn id="68" dur="500"/>
                                        <p:tgtEl>
                                          <p:spTgt spid="3483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34832"/>
                                        </p:tgtEl>
                                        <p:attrNameLst>
                                          <p:attrName>style.visibility</p:attrName>
                                        </p:attrNameLst>
                                      </p:cBhvr>
                                      <p:to>
                                        <p:strVal val="visible"/>
                                      </p:to>
                                    </p:set>
                                    <p:animEffect transition="in" filter="wipe(left)">
                                      <p:cBhvr>
                                        <p:cTn id="73" dur="500"/>
                                        <p:tgtEl>
                                          <p:spTgt spid="3483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34835"/>
                                        </p:tgtEl>
                                        <p:attrNameLst>
                                          <p:attrName>style.visibility</p:attrName>
                                        </p:attrNameLst>
                                      </p:cBhvr>
                                      <p:to>
                                        <p:strVal val="visible"/>
                                      </p:to>
                                    </p:set>
                                    <p:animEffect transition="in" filter="wipe(left)">
                                      <p:cBhvr>
                                        <p:cTn id="78" dur="500"/>
                                        <p:tgtEl>
                                          <p:spTgt spid="3483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34833"/>
                                        </p:tgtEl>
                                        <p:attrNameLst>
                                          <p:attrName>style.visibility</p:attrName>
                                        </p:attrNameLst>
                                      </p:cBhvr>
                                      <p:to>
                                        <p:strVal val="visible"/>
                                      </p:to>
                                    </p:set>
                                    <p:animEffect transition="in" filter="wipe(left)">
                                      <p:cBhvr>
                                        <p:cTn id="83" dur="500"/>
                                        <p:tgtEl>
                                          <p:spTgt spid="3483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34834"/>
                                        </p:tgtEl>
                                        <p:attrNameLst>
                                          <p:attrName>style.visibility</p:attrName>
                                        </p:attrNameLst>
                                      </p:cBhvr>
                                      <p:to>
                                        <p:strVal val="visible"/>
                                      </p:to>
                                    </p:set>
                                    <p:animEffect transition="in" filter="wipe(left)">
                                      <p:cBhvr>
                                        <p:cTn id="88" dur="500"/>
                                        <p:tgtEl>
                                          <p:spTgt spid="34834"/>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2" fill="hold" grpId="0" nodeType="clickEffect">
                                  <p:stCondLst>
                                    <p:cond delay="0"/>
                                  </p:stCondLst>
                                  <p:childTnLst>
                                    <p:set>
                                      <p:cBhvr>
                                        <p:cTn id="92" dur="1" fill="hold">
                                          <p:stCondLst>
                                            <p:cond delay="0"/>
                                          </p:stCondLst>
                                        </p:cTn>
                                        <p:tgtEl>
                                          <p:spTgt spid="34838"/>
                                        </p:tgtEl>
                                        <p:attrNameLst>
                                          <p:attrName>style.visibility</p:attrName>
                                        </p:attrNameLst>
                                      </p:cBhvr>
                                      <p:to>
                                        <p:strVal val="visible"/>
                                      </p:to>
                                    </p:set>
                                    <p:anim calcmode="lin" valueType="num">
                                      <p:cBhvr additive="base">
                                        <p:cTn id="93" dur="500" fill="hold"/>
                                        <p:tgtEl>
                                          <p:spTgt spid="34838"/>
                                        </p:tgtEl>
                                        <p:attrNameLst>
                                          <p:attrName>ppt_x</p:attrName>
                                        </p:attrNameLst>
                                      </p:cBhvr>
                                      <p:tavLst>
                                        <p:tav tm="0">
                                          <p:val>
                                            <p:strVal val="1+#ppt_w/2"/>
                                          </p:val>
                                        </p:tav>
                                        <p:tav tm="100000">
                                          <p:val>
                                            <p:strVal val="#ppt_x"/>
                                          </p:val>
                                        </p:tav>
                                      </p:tavLst>
                                    </p:anim>
                                    <p:anim calcmode="lin" valueType="num">
                                      <p:cBhvr additive="base">
                                        <p:cTn id="94" dur="500" fill="hold"/>
                                        <p:tgtEl>
                                          <p:spTgt spid="348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autoUpdateAnimBg="0"/>
      <p:bldP spid="34821" grpId="0" autoUpdateAnimBg="0"/>
      <p:bldP spid="34826" grpId="0" animBg="1"/>
      <p:bldP spid="34827" grpId="0" animBg="1"/>
      <p:bldP spid="34829" grpId="0" animBg="1"/>
      <p:bldP spid="34830" grpId="0" animBg="1"/>
      <p:bldP spid="34835" grpId="0" autoUpdateAnimBg="0"/>
      <p:bldP spid="34836" grpId="0" animBg="1"/>
      <p:bldP spid="34837" grpId="0" autoUpdateAnimBg="0"/>
      <p:bldP spid="3483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68" name="Freeform 56"/>
          <p:cNvSpPr/>
          <p:nvPr/>
        </p:nvSpPr>
        <p:spPr bwMode="auto">
          <a:xfrm>
            <a:off x="6683375" y="1654175"/>
            <a:ext cx="1201738" cy="1535113"/>
          </a:xfrm>
          <a:custGeom>
            <a:avLst/>
            <a:gdLst>
              <a:gd name="T0" fmla="*/ 0 w 757"/>
              <a:gd name="T1" fmla="*/ 2147483647 h 967"/>
              <a:gd name="T2" fmla="*/ 0 w 757"/>
              <a:gd name="T3" fmla="*/ 0 h 967"/>
              <a:gd name="T4" fmla="*/ 2147483647 w 757"/>
              <a:gd name="T5" fmla="*/ 2147483647 h 967"/>
              <a:gd name="T6" fmla="*/ 2147483647 w 757"/>
              <a:gd name="T7" fmla="*/ 2147483647 h 967"/>
              <a:gd name="T8" fmla="*/ 2147483647 w 757"/>
              <a:gd name="T9" fmla="*/ 2147483647 h 967"/>
              <a:gd name="T10" fmla="*/ 2147483647 w 757"/>
              <a:gd name="T11" fmla="*/ 2147483647 h 967"/>
              <a:gd name="T12" fmla="*/ 2147483647 w 757"/>
              <a:gd name="T13" fmla="*/ 2147483647 h 967"/>
              <a:gd name="T14" fmla="*/ 2147483647 w 757"/>
              <a:gd name="T15" fmla="*/ 2147483647 h 967"/>
              <a:gd name="T16" fmla="*/ 0 w 757"/>
              <a:gd name="T17" fmla="*/ 2147483647 h 9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7"/>
              <a:gd name="T28" fmla="*/ 0 h 967"/>
              <a:gd name="T29" fmla="*/ 757 w 757"/>
              <a:gd name="T30" fmla="*/ 967 h 9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7" h="967">
                <a:moveTo>
                  <a:pt x="0" y="967"/>
                </a:moveTo>
                <a:lnTo>
                  <a:pt x="0" y="0"/>
                </a:lnTo>
                <a:lnTo>
                  <a:pt x="24" y="72"/>
                </a:lnTo>
                <a:cubicBezTo>
                  <a:pt x="55" y="145"/>
                  <a:pt x="124" y="339"/>
                  <a:pt x="187" y="441"/>
                </a:cubicBezTo>
                <a:cubicBezTo>
                  <a:pt x="250" y="543"/>
                  <a:pt x="319" y="627"/>
                  <a:pt x="403" y="686"/>
                </a:cubicBezTo>
                <a:cubicBezTo>
                  <a:pt x="487" y="745"/>
                  <a:pt x="632" y="778"/>
                  <a:pt x="691" y="796"/>
                </a:cubicBezTo>
                <a:lnTo>
                  <a:pt x="757" y="794"/>
                </a:lnTo>
                <a:lnTo>
                  <a:pt x="757" y="965"/>
                </a:lnTo>
                <a:lnTo>
                  <a:pt x="0" y="965"/>
                </a:lnTo>
              </a:path>
            </a:pathLst>
          </a:custGeom>
          <a:pattFill prst="wdUpDiag">
            <a:fgClr>
              <a:srgbClr val="FF6600">
                <a:alpha val="70195"/>
              </a:srgbClr>
            </a:fgClr>
            <a:bgClr>
              <a:schemeClr val="bg1">
                <a:alpha val="70195"/>
              </a:schemeClr>
            </a:bgClr>
          </a:pattFill>
          <a:ln w="9525">
            <a:solidFill>
              <a:schemeClr val="tx1"/>
            </a:solidFill>
            <a:round/>
          </a:ln>
        </p:spPr>
        <p:txBody>
          <a:bodyPr/>
          <a:lstStyle/>
          <a:p>
            <a:pPr algn="ctr"/>
            <a:endParaRPr lang="zh-CN" altLang="en-US" b="1"/>
          </a:p>
        </p:txBody>
      </p:sp>
      <p:grpSp>
        <p:nvGrpSpPr>
          <p:cNvPr id="21519" name="Group 51"/>
          <p:cNvGrpSpPr/>
          <p:nvPr/>
        </p:nvGrpSpPr>
        <p:grpSpPr bwMode="auto">
          <a:xfrm>
            <a:off x="6719888" y="1671638"/>
            <a:ext cx="1165225" cy="1252537"/>
            <a:chOff x="4233" y="1053"/>
            <a:chExt cx="734" cy="789"/>
          </a:xfrm>
        </p:grpSpPr>
        <p:sp>
          <p:nvSpPr>
            <p:cNvPr id="21537" name="Freeform 52"/>
            <p:cNvSpPr/>
            <p:nvPr/>
          </p:nvSpPr>
          <p:spPr bwMode="auto">
            <a:xfrm>
              <a:off x="4233" y="1053"/>
              <a:ext cx="734" cy="789"/>
            </a:xfrm>
            <a:custGeom>
              <a:avLst/>
              <a:gdLst>
                <a:gd name="T0" fmla="*/ 0 w 734"/>
                <a:gd name="T1" fmla="*/ 0 h 789"/>
                <a:gd name="T2" fmla="*/ 82 w 734"/>
                <a:gd name="T3" fmla="*/ 237 h 789"/>
                <a:gd name="T4" fmla="*/ 183 w 734"/>
                <a:gd name="T5" fmla="*/ 439 h 789"/>
                <a:gd name="T6" fmla="*/ 338 w 734"/>
                <a:gd name="T7" fmla="*/ 621 h 789"/>
                <a:gd name="T8" fmla="*/ 521 w 734"/>
                <a:gd name="T9" fmla="*/ 740 h 789"/>
                <a:gd name="T10" fmla="*/ 734 w 734"/>
                <a:gd name="T11" fmla="*/ 789 h 789"/>
                <a:gd name="T12" fmla="*/ 0 60000 65536"/>
                <a:gd name="T13" fmla="*/ 0 60000 65536"/>
                <a:gd name="T14" fmla="*/ 0 60000 65536"/>
                <a:gd name="T15" fmla="*/ 0 60000 65536"/>
                <a:gd name="T16" fmla="*/ 0 60000 65536"/>
                <a:gd name="T17" fmla="*/ 0 60000 65536"/>
                <a:gd name="T18" fmla="*/ 0 w 734"/>
                <a:gd name="T19" fmla="*/ 0 h 789"/>
                <a:gd name="T20" fmla="*/ 734 w 734"/>
                <a:gd name="T21" fmla="*/ 789 h 789"/>
              </a:gdLst>
              <a:ahLst/>
              <a:cxnLst>
                <a:cxn ang="T12">
                  <a:pos x="T0" y="T1"/>
                </a:cxn>
                <a:cxn ang="T13">
                  <a:pos x="T2" y="T3"/>
                </a:cxn>
                <a:cxn ang="T14">
                  <a:pos x="T4" y="T5"/>
                </a:cxn>
                <a:cxn ang="T15">
                  <a:pos x="T6" y="T7"/>
                </a:cxn>
                <a:cxn ang="T16">
                  <a:pos x="T8" y="T9"/>
                </a:cxn>
                <a:cxn ang="T17">
                  <a:pos x="T10" y="T11"/>
                </a:cxn>
              </a:cxnLst>
              <a:rect l="T18" t="T19" r="T20" b="T21"/>
              <a:pathLst>
                <a:path w="734" h="789">
                  <a:moveTo>
                    <a:pt x="0" y="0"/>
                  </a:moveTo>
                  <a:cubicBezTo>
                    <a:pt x="14" y="39"/>
                    <a:pt x="52" y="164"/>
                    <a:pt x="82" y="237"/>
                  </a:cubicBezTo>
                  <a:cubicBezTo>
                    <a:pt x="112" y="310"/>
                    <a:pt x="140" y="375"/>
                    <a:pt x="183" y="439"/>
                  </a:cubicBezTo>
                  <a:cubicBezTo>
                    <a:pt x="226" y="503"/>
                    <a:pt x="282" y="571"/>
                    <a:pt x="338" y="621"/>
                  </a:cubicBezTo>
                  <a:cubicBezTo>
                    <a:pt x="394" y="671"/>
                    <a:pt x="455" y="712"/>
                    <a:pt x="521" y="740"/>
                  </a:cubicBezTo>
                  <a:cubicBezTo>
                    <a:pt x="587" y="768"/>
                    <a:pt x="690" y="779"/>
                    <a:pt x="734" y="789"/>
                  </a:cubicBezTo>
                </a:path>
              </a:pathLst>
            </a:custGeom>
            <a:noFill/>
            <a:ln w="38100">
              <a:solidFill>
                <a:srgbClr val="3333CC"/>
              </a:solidFill>
              <a:round/>
            </a:ln>
          </p:spPr>
          <p:txBody>
            <a:bodyPr/>
            <a:lstStyle/>
            <a:p>
              <a:pPr algn="ctr"/>
              <a:endParaRPr lang="zh-CN" altLang="en-US" b="1"/>
            </a:p>
          </p:txBody>
        </p:sp>
        <p:sp>
          <p:nvSpPr>
            <p:cNvPr id="21538" name="Line 53"/>
            <p:cNvSpPr>
              <a:spLocks noChangeShapeType="1"/>
            </p:cNvSpPr>
            <p:nvPr/>
          </p:nvSpPr>
          <p:spPr bwMode="auto">
            <a:xfrm>
              <a:off x="4404" y="1470"/>
              <a:ext cx="91" cy="136"/>
            </a:xfrm>
            <a:prstGeom prst="line">
              <a:avLst/>
            </a:prstGeom>
            <a:noFill/>
            <a:ln w="38100">
              <a:solidFill>
                <a:srgbClr val="3333CC"/>
              </a:solidFill>
              <a:round/>
              <a:tailEnd type="triangle" w="med" len="med"/>
            </a:ln>
          </p:spPr>
          <p:txBody>
            <a:bodyPr/>
            <a:lstStyle/>
            <a:p>
              <a:endParaRPr lang="zh-CN" altLang="en-US"/>
            </a:p>
          </p:txBody>
        </p:sp>
      </p:grpSp>
      <p:sp>
        <p:nvSpPr>
          <p:cNvPr id="38936" name="Text Box 24"/>
          <p:cNvSpPr txBox="1">
            <a:spLocks noChangeArrowheads="1"/>
          </p:cNvSpPr>
          <p:nvPr/>
        </p:nvSpPr>
        <p:spPr bwMode="auto">
          <a:xfrm>
            <a:off x="900113" y="1052513"/>
            <a:ext cx="1409700" cy="457200"/>
          </a:xfrm>
          <a:prstGeom prst="rect">
            <a:avLst/>
          </a:prstGeom>
          <a:noFill/>
          <a:ln w="9525">
            <a:noFill/>
            <a:miter lim="800000"/>
          </a:ln>
        </p:spPr>
        <p:txBody>
          <a:bodyPr wrap="none">
            <a:spAutoFit/>
          </a:bodyPr>
          <a:lstStyle/>
          <a:p>
            <a:r>
              <a:rPr lang="zh-CN" altLang="en-US" b="1">
                <a:solidFill>
                  <a:srgbClr val="0000FF"/>
                </a:solidFill>
              </a:rPr>
              <a:t>方法二：</a:t>
            </a:r>
            <a:endParaRPr lang="zh-CN" altLang="en-US" b="1">
              <a:solidFill>
                <a:srgbClr val="0000FF"/>
              </a:solidFill>
            </a:endParaRPr>
          </a:p>
        </p:txBody>
      </p:sp>
      <p:graphicFrame>
        <p:nvGraphicFramePr>
          <p:cNvPr id="178176" name="Object 2048"/>
          <p:cNvGraphicFramePr>
            <a:graphicFrameLocks noChangeAspect="1"/>
          </p:cNvGraphicFramePr>
          <p:nvPr/>
        </p:nvGraphicFramePr>
        <p:xfrm>
          <a:off x="1619250" y="1628775"/>
          <a:ext cx="1473200" cy="550863"/>
        </p:xfrm>
        <a:graphic>
          <a:graphicData uri="http://schemas.openxmlformats.org/presentationml/2006/ole">
            <mc:AlternateContent xmlns:mc="http://schemas.openxmlformats.org/markup-compatibility/2006">
              <mc:Choice xmlns:v="urn:schemas-microsoft-com:vml" Requires="v">
                <p:oleObj spid="_x0000_s21505" name="公式" r:id="rId1" imgW="14630400" imgH="5486400" progId="Equation.3">
                  <p:embed/>
                </p:oleObj>
              </mc:Choice>
              <mc:Fallback>
                <p:oleObj name="公式" r:id="rId1" imgW="14630400" imgH="5486400" progId="Equation.3">
                  <p:embed/>
                  <p:pic>
                    <p:nvPicPr>
                      <p:cNvPr id="0" name="Object 2048"/>
                      <p:cNvPicPr>
                        <a:picLocks noChangeAspect="1"/>
                      </p:cNvPicPr>
                      <p:nvPr/>
                    </p:nvPicPr>
                    <p:blipFill>
                      <a:blip r:embed="rId2"/>
                      <a:stretch>
                        <a:fillRect/>
                      </a:stretch>
                    </p:blipFill>
                    <p:spPr>
                      <a:xfrm>
                        <a:off x="1619250" y="1628775"/>
                        <a:ext cx="1473200" cy="550863"/>
                      </a:xfrm>
                      <a:prstGeom prst="rect">
                        <a:avLst/>
                      </a:prstGeom>
                      <a:noFill/>
                      <a:ln w="9525">
                        <a:noFill/>
                      </a:ln>
                    </p:spPr>
                  </p:pic>
                </p:oleObj>
              </mc:Fallback>
            </mc:AlternateContent>
          </a:graphicData>
        </a:graphic>
      </p:graphicFrame>
      <p:sp>
        <p:nvSpPr>
          <p:cNvPr id="38938" name="Text Box 26"/>
          <p:cNvSpPr txBox="1">
            <a:spLocks noChangeArrowheads="1"/>
          </p:cNvSpPr>
          <p:nvPr/>
        </p:nvSpPr>
        <p:spPr bwMode="auto">
          <a:xfrm>
            <a:off x="2247900" y="1052513"/>
            <a:ext cx="2659063" cy="461962"/>
          </a:xfrm>
          <a:prstGeom prst="rect">
            <a:avLst/>
          </a:prstGeom>
          <a:noFill/>
          <a:ln w="9525">
            <a:noFill/>
            <a:miter lim="800000"/>
          </a:ln>
        </p:spPr>
        <p:txBody>
          <a:bodyPr wrap="none">
            <a:spAutoFit/>
          </a:bodyPr>
          <a:lstStyle/>
          <a:p>
            <a:r>
              <a:rPr lang="zh-CN" altLang="en-US" b="1">
                <a:solidFill>
                  <a:srgbClr val="0000FF"/>
                </a:solidFill>
              </a:rPr>
              <a:t>结合绝热方程求功</a:t>
            </a:r>
            <a:endParaRPr lang="zh-CN" altLang="en-US" b="1">
              <a:solidFill>
                <a:srgbClr val="0000FF"/>
              </a:solidFill>
            </a:endParaRPr>
          </a:p>
        </p:txBody>
      </p:sp>
      <p:sp>
        <p:nvSpPr>
          <p:cNvPr id="38939" name="AutoShape 27"/>
          <p:cNvSpPr>
            <a:spLocks noChangeArrowheads="1"/>
          </p:cNvSpPr>
          <p:nvPr/>
        </p:nvSpPr>
        <p:spPr bwMode="auto">
          <a:xfrm>
            <a:off x="1042988" y="2605088"/>
            <a:ext cx="576262" cy="144462"/>
          </a:xfrm>
          <a:prstGeom prst="rightArrow">
            <a:avLst>
              <a:gd name="adj1" fmla="val 50000"/>
              <a:gd name="adj2" fmla="val 99726"/>
            </a:avLst>
          </a:prstGeom>
          <a:solidFill>
            <a:schemeClr val="accent1"/>
          </a:solidFill>
          <a:ln w="9525">
            <a:solidFill>
              <a:schemeClr val="tx1"/>
            </a:solidFill>
            <a:miter lim="800000"/>
          </a:ln>
        </p:spPr>
        <p:txBody>
          <a:bodyPr wrap="none" anchor="ctr"/>
          <a:lstStyle/>
          <a:p>
            <a:pPr algn="ctr"/>
            <a:endParaRPr lang="zh-CN" altLang="en-US" b="1"/>
          </a:p>
        </p:txBody>
      </p:sp>
      <p:graphicFrame>
        <p:nvGraphicFramePr>
          <p:cNvPr id="178177" name="Object 2049"/>
          <p:cNvGraphicFramePr>
            <a:graphicFrameLocks noChangeAspect="1"/>
          </p:cNvGraphicFramePr>
          <p:nvPr/>
        </p:nvGraphicFramePr>
        <p:xfrm>
          <a:off x="1722438" y="2246313"/>
          <a:ext cx="3394075" cy="835025"/>
        </p:xfrm>
        <a:graphic>
          <a:graphicData uri="http://schemas.openxmlformats.org/presentationml/2006/ole">
            <mc:AlternateContent xmlns:mc="http://schemas.openxmlformats.org/markup-compatibility/2006">
              <mc:Choice xmlns:v="urn:schemas-microsoft-com:vml" Requires="v">
                <p:oleObj spid="_x0000_s21507" name="公式" r:id="rId3" imgW="38404800" imgH="9448800" progId="Equation.3">
                  <p:embed/>
                </p:oleObj>
              </mc:Choice>
              <mc:Fallback>
                <p:oleObj name="公式" r:id="rId3" imgW="38404800" imgH="9448800" progId="Equation.3">
                  <p:embed/>
                  <p:pic>
                    <p:nvPicPr>
                      <p:cNvPr id="0" name="Object 2049"/>
                      <p:cNvPicPr>
                        <a:picLocks noChangeAspect="1"/>
                      </p:cNvPicPr>
                      <p:nvPr/>
                    </p:nvPicPr>
                    <p:blipFill>
                      <a:blip r:embed="rId4"/>
                      <a:stretch>
                        <a:fillRect/>
                      </a:stretch>
                    </p:blipFill>
                    <p:spPr>
                      <a:xfrm>
                        <a:off x="1722438" y="2246313"/>
                        <a:ext cx="3394075" cy="835025"/>
                      </a:xfrm>
                      <a:prstGeom prst="rect">
                        <a:avLst/>
                      </a:prstGeom>
                      <a:noFill/>
                      <a:ln w="9525">
                        <a:noFill/>
                      </a:ln>
                    </p:spPr>
                  </p:pic>
                </p:oleObj>
              </mc:Fallback>
            </mc:AlternateContent>
          </a:graphicData>
        </a:graphic>
      </p:graphicFrame>
      <p:graphicFrame>
        <p:nvGraphicFramePr>
          <p:cNvPr id="178178" name="Object 2050"/>
          <p:cNvGraphicFramePr>
            <a:graphicFrameLocks noChangeAspect="1"/>
          </p:cNvGraphicFramePr>
          <p:nvPr/>
        </p:nvGraphicFramePr>
        <p:xfrm>
          <a:off x="2555875" y="3141663"/>
          <a:ext cx="2208213" cy="889000"/>
        </p:xfrm>
        <a:graphic>
          <a:graphicData uri="http://schemas.openxmlformats.org/presentationml/2006/ole">
            <mc:AlternateContent xmlns:mc="http://schemas.openxmlformats.org/markup-compatibility/2006">
              <mc:Choice xmlns:v="urn:schemas-microsoft-com:vml" Requires="v">
                <p:oleObj spid="_x0000_s21508" name="公式" r:id="rId5" imgW="24993600" imgH="10058400" progId="Equation.3">
                  <p:embed/>
                </p:oleObj>
              </mc:Choice>
              <mc:Fallback>
                <p:oleObj name="公式" r:id="rId5" imgW="24993600" imgH="10058400" progId="Equation.3">
                  <p:embed/>
                  <p:pic>
                    <p:nvPicPr>
                      <p:cNvPr id="0" name="Object 2050"/>
                      <p:cNvPicPr>
                        <a:picLocks noChangeAspect="1"/>
                      </p:cNvPicPr>
                      <p:nvPr/>
                    </p:nvPicPr>
                    <p:blipFill>
                      <a:blip r:embed="rId6"/>
                      <a:stretch>
                        <a:fillRect/>
                      </a:stretch>
                    </p:blipFill>
                    <p:spPr>
                      <a:xfrm>
                        <a:off x="2555875" y="3141663"/>
                        <a:ext cx="2208213" cy="889000"/>
                      </a:xfrm>
                      <a:prstGeom prst="rect">
                        <a:avLst/>
                      </a:prstGeom>
                      <a:noFill/>
                      <a:ln w="9525">
                        <a:noFill/>
                      </a:ln>
                    </p:spPr>
                  </p:pic>
                </p:oleObj>
              </mc:Fallback>
            </mc:AlternateContent>
          </a:graphicData>
        </a:graphic>
      </p:graphicFrame>
      <p:graphicFrame>
        <p:nvGraphicFramePr>
          <p:cNvPr id="178179" name="Object 2051"/>
          <p:cNvGraphicFramePr>
            <a:graphicFrameLocks noChangeAspect="1"/>
          </p:cNvGraphicFramePr>
          <p:nvPr/>
        </p:nvGraphicFramePr>
        <p:xfrm>
          <a:off x="3132138" y="1582738"/>
          <a:ext cx="2271712" cy="550862"/>
        </p:xfrm>
        <a:graphic>
          <a:graphicData uri="http://schemas.openxmlformats.org/presentationml/2006/ole">
            <mc:AlternateContent xmlns:mc="http://schemas.openxmlformats.org/markup-compatibility/2006">
              <mc:Choice xmlns:v="urn:schemas-microsoft-com:vml" Requires="v">
                <p:oleObj spid="_x0000_s21509" name="公式" r:id="rId7" imgW="22555200" imgH="5486400" progId="Equation.3">
                  <p:embed/>
                </p:oleObj>
              </mc:Choice>
              <mc:Fallback>
                <p:oleObj name="公式" r:id="rId7" imgW="22555200" imgH="5486400" progId="Equation.3">
                  <p:embed/>
                  <p:pic>
                    <p:nvPicPr>
                      <p:cNvPr id="0" name="Object 2051"/>
                      <p:cNvPicPr>
                        <a:picLocks noChangeAspect="1"/>
                      </p:cNvPicPr>
                      <p:nvPr/>
                    </p:nvPicPr>
                    <p:blipFill>
                      <a:blip r:embed="rId8"/>
                      <a:stretch>
                        <a:fillRect/>
                      </a:stretch>
                    </p:blipFill>
                    <p:spPr>
                      <a:xfrm>
                        <a:off x="3132138" y="1582738"/>
                        <a:ext cx="2271712" cy="550862"/>
                      </a:xfrm>
                      <a:prstGeom prst="rect">
                        <a:avLst/>
                      </a:prstGeom>
                      <a:noFill/>
                      <a:ln w="9525">
                        <a:noFill/>
                      </a:ln>
                    </p:spPr>
                  </p:pic>
                </p:oleObj>
              </mc:Fallback>
            </mc:AlternateContent>
          </a:graphicData>
        </a:graphic>
      </p:graphicFrame>
      <p:graphicFrame>
        <p:nvGraphicFramePr>
          <p:cNvPr id="178180" name="Object 2052"/>
          <p:cNvGraphicFramePr>
            <a:graphicFrameLocks noChangeAspect="1"/>
          </p:cNvGraphicFramePr>
          <p:nvPr/>
        </p:nvGraphicFramePr>
        <p:xfrm>
          <a:off x="2590800" y="4070350"/>
          <a:ext cx="3097213" cy="942975"/>
        </p:xfrm>
        <a:graphic>
          <a:graphicData uri="http://schemas.openxmlformats.org/presentationml/2006/ole">
            <mc:AlternateContent xmlns:mc="http://schemas.openxmlformats.org/markup-compatibility/2006">
              <mc:Choice xmlns:v="urn:schemas-microsoft-com:vml" Requires="v">
                <p:oleObj spid="_x0000_s21510" name="公式" r:id="rId9" imgW="35052000" imgH="10668000" progId="Equation.3">
                  <p:embed/>
                </p:oleObj>
              </mc:Choice>
              <mc:Fallback>
                <p:oleObj name="公式" r:id="rId9" imgW="35052000" imgH="10668000" progId="Equation.3">
                  <p:embed/>
                  <p:pic>
                    <p:nvPicPr>
                      <p:cNvPr id="0" name="Object 2052"/>
                      <p:cNvPicPr>
                        <a:picLocks noChangeAspect="1"/>
                      </p:cNvPicPr>
                      <p:nvPr/>
                    </p:nvPicPr>
                    <p:blipFill>
                      <a:blip r:embed="rId10"/>
                      <a:stretch>
                        <a:fillRect/>
                      </a:stretch>
                    </p:blipFill>
                    <p:spPr>
                      <a:xfrm>
                        <a:off x="2590800" y="4070350"/>
                        <a:ext cx="3097213" cy="942975"/>
                      </a:xfrm>
                      <a:prstGeom prst="rect">
                        <a:avLst/>
                      </a:prstGeom>
                      <a:noFill/>
                      <a:ln w="9525">
                        <a:noFill/>
                      </a:ln>
                    </p:spPr>
                  </p:pic>
                </p:oleObj>
              </mc:Fallback>
            </mc:AlternateContent>
          </a:graphicData>
        </a:graphic>
      </p:graphicFrame>
      <p:graphicFrame>
        <p:nvGraphicFramePr>
          <p:cNvPr id="178181" name="Object 2053"/>
          <p:cNvGraphicFramePr>
            <a:graphicFrameLocks noChangeAspect="1"/>
          </p:cNvGraphicFramePr>
          <p:nvPr/>
        </p:nvGraphicFramePr>
        <p:xfrm>
          <a:off x="2627313" y="5157788"/>
          <a:ext cx="3635375" cy="889000"/>
        </p:xfrm>
        <a:graphic>
          <a:graphicData uri="http://schemas.openxmlformats.org/presentationml/2006/ole">
            <mc:AlternateContent xmlns:mc="http://schemas.openxmlformats.org/markup-compatibility/2006">
              <mc:Choice xmlns:v="urn:schemas-microsoft-com:vml" Requires="v">
                <p:oleObj spid="_x0000_s21511" name="公式" r:id="rId11" imgW="41148000" imgH="10058400" progId="Equation.3">
                  <p:embed/>
                </p:oleObj>
              </mc:Choice>
              <mc:Fallback>
                <p:oleObj name="公式" r:id="rId11" imgW="41148000" imgH="10058400" progId="Equation.3">
                  <p:embed/>
                  <p:pic>
                    <p:nvPicPr>
                      <p:cNvPr id="0" name="Object 2053"/>
                      <p:cNvPicPr>
                        <a:picLocks noChangeAspect="1"/>
                      </p:cNvPicPr>
                      <p:nvPr/>
                    </p:nvPicPr>
                    <p:blipFill>
                      <a:blip r:embed="rId12"/>
                      <a:stretch>
                        <a:fillRect/>
                      </a:stretch>
                    </p:blipFill>
                    <p:spPr>
                      <a:xfrm>
                        <a:off x="2627313" y="5157788"/>
                        <a:ext cx="3635375" cy="889000"/>
                      </a:xfrm>
                      <a:prstGeom prst="rect">
                        <a:avLst/>
                      </a:prstGeom>
                      <a:noFill/>
                      <a:ln w="9525">
                        <a:noFill/>
                      </a:ln>
                    </p:spPr>
                  </p:pic>
                </p:oleObj>
              </mc:Fallback>
            </mc:AlternateContent>
          </a:graphicData>
        </a:graphic>
      </p:graphicFrame>
      <p:sp>
        <p:nvSpPr>
          <p:cNvPr id="21523" name="Line 33"/>
          <p:cNvSpPr>
            <a:spLocks noChangeShapeType="1"/>
          </p:cNvSpPr>
          <p:nvPr/>
        </p:nvSpPr>
        <p:spPr bwMode="auto">
          <a:xfrm>
            <a:off x="6156325" y="2924175"/>
            <a:ext cx="1676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sp>
        <p:nvSpPr>
          <p:cNvPr id="21524" name="Line 34"/>
          <p:cNvSpPr>
            <a:spLocks noChangeShapeType="1"/>
          </p:cNvSpPr>
          <p:nvPr/>
        </p:nvSpPr>
        <p:spPr bwMode="auto">
          <a:xfrm>
            <a:off x="6156325" y="1628775"/>
            <a:ext cx="533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21512" name="Object 2054"/>
          <p:cNvGraphicFramePr>
            <a:graphicFrameLocks noChangeAspect="1"/>
          </p:cNvGraphicFramePr>
          <p:nvPr/>
        </p:nvGraphicFramePr>
        <p:xfrm>
          <a:off x="5651500" y="1330325"/>
          <a:ext cx="330200" cy="419100"/>
        </p:xfrm>
        <a:graphic>
          <a:graphicData uri="http://schemas.openxmlformats.org/presentationml/2006/ole">
            <mc:AlternateContent xmlns:mc="http://schemas.openxmlformats.org/markup-compatibility/2006">
              <mc:Choice xmlns:v="urn:schemas-microsoft-com:vml" Requires="v">
                <p:oleObj spid="_x0000_s21512" name="公式" r:id="rId13" imgW="7924800" imgH="10058400" progId="Equation.3">
                  <p:embed/>
                </p:oleObj>
              </mc:Choice>
              <mc:Fallback>
                <p:oleObj name="公式" r:id="rId13" imgW="7924800" imgH="10058400" progId="Equation.3">
                  <p:embed/>
                  <p:pic>
                    <p:nvPicPr>
                      <p:cNvPr id="0" name="Object 2054"/>
                      <p:cNvPicPr>
                        <a:picLocks noChangeAspect="1"/>
                      </p:cNvPicPr>
                      <p:nvPr/>
                    </p:nvPicPr>
                    <p:blipFill>
                      <a:blip r:embed="rId14"/>
                      <a:stretch>
                        <a:fillRect/>
                      </a:stretch>
                    </p:blipFill>
                    <p:spPr>
                      <a:xfrm>
                        <a:off x="5651500" y="1330325"/>
                        <a:ext cx="330200" cy="419100"/>
                      </a:xfrm>
                      <a:prstGeom prst="rect">
                        <a:avLst/>
                      </a:prstGeom>
                      <a:noFill/>
                      <a:ln w="9525">
                        <a:noFill/>
                      </a:ln>
                    </p:spPr>
                  </p:pic>
                </p:oleObj>
              </mc:Fallback>
            </mc:AlternateContent>
          </a:graphicData>
        </a:graphic>
      </p:graphicFrame>
      <p:sp>
        <p:nvSpPr>
          <p:cNvPr id="21525" name="Text Box 36"/>
          <p:cNvSpPr txBox="1">
            <a:spLocks noChangeArrowheads="1"/>
          </p:cNvSpPr>
          <p:nvPr/>
        </p:nvSpPr>
        <p:spPr bwMode="auto">
          <a:xfrm>
            <a:off x="6653213" y="1446213"/>
            <a:ext cx="582612" cy="396875"/>
          </a:xfrm>
          <a:prstGeom prst="rect">
            <a:avLst/>
          </a:prstGeom>
          <a:noFill/>
          <a:ln w="12700" cap="sq">
            <a:noFill/>
            <a:miter lim="800000"/>
            <a:headEnd type="none" w="sm" len="sm"/>
            <a:tailEnd type="none" w="sm" len="sm"/>
          </a:ln>
        </p:spPr>
        <p:txBody>
          <a:bodyPr>
            <a:spAutoFit/>
          </a:bodyPr>
          <a:lstStyle/>
          <a:p>
            <a:r>
              <a:rPr kumimoji="1" lang="en-US" altLang="zh-CN" sz="2000" b="1" i="1"/>
              <a:t>Ⅰ</a:t>
            </a:r>
            <a:endParaRPr kumimoji="1" lang="en-US" altLang="zh-CN" sz="2000" b="1" i="1"/>
          </a:p>
        </p:txBody>
      </p:sp>
      <p:sp>
        <p:nvSpPr>
          <p:cNvPr id="21526" name="Text Box 37"/>
          <p:cNvSpPr txBox="1">
            <a:spLocks noChangeArrowheads="1"/>
          </p:cNvSpPr>
          <p:nvPr/>
        </p:nvSpPr>
        <p:spPr bwMode="auto">
          <a:xfrm>
            <a:off x="7885113" y="2670175"/>
            <a:ext cx="719137" cy="396875"/>
          </a:xfrm>
          <a:prstGeom prst="rect">
            <a:avLst/>
          </a:prstGeom>
          <a:noFill/>
          <a:ln w="12700" cap="sq">
            <a:noFill/>
            <a:miter lim="800000"/>
            <a:headEnd type="none" w="sm" len="sm"/>
            <a:tailEnd type="none" w="sm" len="sm"/>
          </a:ln>
        </p:spPr>
        <p:txBody>
          <a:bodyPr>
            <a:spAutoFit/>
          </a:bodyPr>
          <a:lstStyle/>
          <a:p>
            <a:r>
              <a:rPr kumimoji="1" lang="en-US" altLang="zh-CN" sz="2000" b="1" i="1"/>
              <a:t>Ⅱ</a:t>
            </a:r>
            <a:endParaRPr kumimoji="1" lang="en-US" altLang="zh-CN" sz="2000" b="1" i="1"/>
          </a:p>
        </p:txBody>
      </p:sp>
      <p:graphicFrame>
        <p:nvGraphicFramePr>
          <p:cNvPr id="21513" name="Object 2055"/>
          <p:cNvGraphicFramePr>
            <a:graphicFrameLocks noChangeAspect="1"/>
          </p:cNvGraphicFramePr>
          <p:nvPr/>
        </p:nvGraphicFramePr>
        <p:xfrm>
          <a:off x="5651500" y="2635250"/>
          <a:ext cx="368300" cy="419100"/>
        </p:xfrm>
        <a:graphic>
          <a:graphicData uri="http://schemas.openxmlformats.org/presentationml/2006/ole">
            <mc:AlternateContent xmlns:mc="http://schemas.openxmlformats.org/markup-compatibility/2006">
              <mc:Choice xmlns:v="urn:schemas-microsoft-com:vml" Requires="v">
                <p:oleObj spid="_x0000_s21513" name="公式" r:id="rId15" imgW="8839200" imgH="10058400" progId="Equation.3">
                  <p:embed/>
                </p:oleObj>
              </mc:Choice>
              <mc:Fallback>
                <p:oleObj name="公式" r:id="rId15" imgW="8839200" imgH="10058400" progId="Equation.3">
                  <p:embed/>
                  <p:pic>
                    <p:nvPicPr>
                      <p:cNvPr id="0" name="Object 2055"/>
                      <p:cNvPicPr>
                        <a:picLocks noChangeAspect="1"/>
                      </p:cNvPicPr>
                      <p:nvPr/>
                    </p:nvPicPr>
                    <p:blipFill>
                      <a:blip r:embed="rId16"/>
                      <a:stretch>
                        <a:fillRect/>
                      </a:stretch>
                    </p:blipFill>
                    <p:spPr>
                      <a:xfrm>
                        <a:off x="5651500" y="2635250"/>
                        <a:ext cx="368300" cy="419100"/>
                      </a:xfrm>
                      <a:prstGeom prst="rect">
                        <a:avLst/>
                      </a:prstGeom>
                      <a:noFill/>
                      <a:ln w="9525">
                        <a:noFill/>
                      </a:ln>
                    </p:spPr>
                  </p:pic>
                </p:oleObj>
              </mc:Fallback>
            </mc:AlternateContent>
          </a:graphicData>
        </a:graphic>
      </p:graphicFrame>
      <p:sp>
        <p:nvSpPr>
          <p:cNvPr id="21527" name="Line 39"/>
          <p:cNvSpPr>
            <a:spLocks noChangeShapeType="1"/>
          </p:cNvSpPr>
          <p:nvPr/>
        </p:nvSpPr>
        <p:spPr bwMode="auto">
          <a:xfrm>
            <a:off x="7885113" y="2924175"/>
            <a:ext cx="0" cy="230188"/>
          </a:xfrm>
          <a:prstGeom prst="line">
            <a:avLst/>
          </a:prstGeom>
          <a:noFill/>
          <a:ln w="12700">
            <a:solidFill>
              <a:schemeClr val="tx1"/>
            </a:solidFill>
            <a:prstDash val="dash"/>
            <a:round/>
          </a:ln>
        </p:spPr>
        <p:txBody>
          <a:bodyPr/>
          <a:lstStyle/>
          <a:p>
            <a:endParaRPr lang="zh-CN" altLang="en-US"/>
          </a:p>
        </p:txBody>
      </p:sp>
      <p:sp>
        <p:nvSpPr>
          <p:cNvPr id="21528" name="Line 40"/>
          <p:cNvSpPr>
            <a:spLocks noChangeShapeType="1"/>
          </p:cNvSpPr>
          <p:nvPr/>
        </p:nvSpPr>
        <p:spPr bwMode="auto">
          <a:xfrm>
            <a:off x="6681788" y="1700213"/>
            <a:ext cx="0" cy="1511300"/>
          </a:xfrm>
          <a:prstGeom prst="line">
            <a:avLst/>
          </a:prstGeom>
          <a:noFill/>
          <a:ln w="9525">
            <a:solidFill>
              <a:schemeClr val="tx1"/>
            </a:solidFill>
            <a:prstDash val="dash"/>
            <a:round/>
          </a:ln>
        </p:spPr>
        <p:txBody>
          <a:bodyPr/>
          <a:lstStyle/>
          <a:p>
            <a:endParaRPr lang="zh-CN" altLang="en-US"/>
          </a:p>
        </p:txBody>
      </p:sp>
      <p:graphicFrame>
        <p:nvGraphicFramePr>
          <p:cNvPr id="21514" name="Object 2056"/>
          <p:cNvGraphicFramePr>
            <a:graphicFrameLocks noChangeAspect="1"/>
          </p:cNvGraphicFramePr>
          <p:nvPr/>
        </p:nvGraphicFramePr>
        <p:xfrm>
          <a:off x="6516688" y="3284538"/>
          <a:ext cx="223837" cy="338137"/>
        </p:xfrm>
        <a:graphic>
          <a:graphicData uri="http://schemas.openxmlformats.org/presentationml/2006/ole">
            <mc:AlternateContent xmlns:mc="http://schemas.openxmlformats.org/markup-compatibility/2006">
              <mc:Choice xmlns:v="urn:schemas-microsoft-com:vml" Requires="v">
                <p:oleObj spid="_x0000_s21514" name="公式" r:id="rId17" imgW="6705600" imgH="10058400" progId="Equation.3">
                  <p:embed/>
                </p:oleObj>
              </mc:Choice>
              <mc:Fallback>
                <p:oleObj name="公式" r:id="rId17" imgW="6705600" imgH="10058400" progId="Equation.3">
                  <p:embed/>
                  <p:pic>
                    <p:nvPicPr>
                      <p:cNvPr id="0" name="Object 2056"/>
                      <p:cNvPicPr>
                        <a:picLocks noChangeAspect="1"/>
                      </p:cNvPicPr>
                      <p:nvPr/>
                    </p:nvPicPr>
                    <p:blipFill>
                      <a:blip r:embed="rId18"/>
                      <a:stretch>
                        <a:fillRect/>
                      </a:stretch>
                    </p:blipFill>
                    <p:spPr>
                      <a:xfrm>
                        <a:off x="6516688" y="3284538"/>
                        <a:ext cx="223837" cy="338137"/>
                      </a:xfrm>
                      <a:prstGeom prst="rect">
                        <a:avLst/>
                      </a:prstGeom>
                      <a:noFill/>
                      <a:ln w="9525">
                        <a:noFill/>
                      </a:ln>
                    </p:spPr>
                  </p:pic>
                </p:oleObj>
              </mc:Fallback>
            </mc:AlternateContent>
          </a:graphicData>
        </a:graphic>
      </p:graphicFrame>
      <p:graphicFrame>
        <p:nvGraphicFramePr>
          <p:cNvPr id="21515" name="Object 2057"/>
          <p:cNvGraphicFramePr>
            <a:graphicFrameLocks noChangeAspect="1"/>
          </p:cNvGraphicFramePr>
          <p:nvPr/>
        </p:nvGraphicFramePr>
        <p:xfrm>
          <a:off x="7773988" y="3284538"/>
          <a:ext cx="254000" cy="338137"/>
        </p:xfrm>
        <a:graphic>
          <a:graphicData uri="http://schemas.openxmlformats.org/presentationml/2006/ole">
            <mc:AlternateContent xmlns:mc="http://schemas.openxmlformats.org/markup-compatibility/2006">
              <mc:Choice xmlns:v="urn:schemas-microsoft-com:vml" Requires="v">
                <p:oleObj spid="_x0000_s21515" name="公式" r:id="rId19" imgW="7620000" imgH="10058400" progId="Equation.3">
                  <p:embed/>
                </p:oleObj>
              </mc:Choice>
              <mc:Fallback>
                <p:oleObj name="公式" r:id="rId19" imgW="7620000" imgH="10058400" progId="Equation.3">
                  <p:embed/>
                  <p:pic>
                    <p:nvPicPr>
                      <p:cNvPr id="0" name="Object 2057"/>
                      <p:cNvPicPr>
                        <a:picLocks noChangeAspect="1"/>
                      </p:cNvPicPr>
                      <p:nvPr/>
                    </p:nvPicPr>
                    <p:blipFill>
                      <a:blip r:embed="rId20"/>
                      <a:stretch>
                        <a:fillRect/>
                      </a:stretch>
                    </p:blipFill>
                    <p:spPr>
                      <a:xfrm>
                        <a:off x="7773988" y="3284538"/>
                        <a:ext cx="254000" cy="338137"/>
                      </a:xfrm>
                      <a:prstGeom prst="rect">
                        <a:avLst/>
                      </a:prstGeom>
                      <a:noFill/>
                      <a:ln w="9525">
                        <a:noFill/>
                      </a:ln>
                    </p:spPr>
                  </p:pic>
                </p:oleObj>
              </mc:Fallback>
            </mc:AlternateContent>
          </a:graphicData>
        </a:graphic>
      </p:graphicFrame>
      <p:grpSp>
        <p:nvGrpSpPr>
          <p:cNvPr id="21529" name="Group 43"/>
          <p:cNvGrpSpPr>
            <a:grpSpLocks noChangeAspect="1"/>
          </p:cNvGrpSpPr>
          <p:nvPr/>
        </p:nvGrpSpPr>
        <p:grpSpPr bwMode="auto">
          <a:xfrm>
            <a:off x="5795963" y="908050"/>
            <a:ext cx="2909887" cy="2727325"/>
            <a:chOff x="3443" y="2160"/>
            <a:chExt cx="2035" cy="1908"/>
          </a:xfrm>
        </p:grpSpPr>
        <p:sp>
          <p:nvSpPr>
            <p:cNvPr id="21532" name="Line 44"/>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21533" name="Line 45"/>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21534" name="Text Box 46"/>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b="1" i="1"/>
                <a:t>O</a:t>
              </a:r>
              <a:endParaRPr lang="en-US" altLang="zh-CN" b="1" i="1"/>
            </a:p>
          </p:txBody>
        </p:sp>
        <p:sp>
          <p:nvSpPr>
            <p:cNvPr id="21535" name="Text Box 47"/>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b="1" i="1"/>
                <a:t>V</a:t>
              </a:r>
              <a:endParaRPr lang="en-US" altLang="zh-CN" b="1" i="1"/>
            </a:p>
          </p:txBody>
        </p:sp>
        <p:sp>
          <p:nvSpPr>
            <p:cNvPr id="21536" name="Text Box 48"/>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b="1" i="1"/>
                <a:t>p</a:t>
              </a:r>
              <a:endParaRPr lang="en-US" altLang="zh-CN" b="1" i="1"/>
            </a:p>
          </p:txBody>
        </p:sp>
      </p:grpSp>
      <p:graphicFrame>
        <p:nvGraphicFramePr>
          <p:cNvPr id="21516" name="Object 2058"/>
          <p:cNvGraphicFramePr>
            <a:graphicFrameLocks noChangeAspect="1"/>
          </p:cNvGraphicFramePr>
          <p:nvPr/>
        </p:nvGraphicFramePr>
        <p:xfrm>
          <a:off x="7812088" y="2822575"/>
          <a:ext cx="193675" cy="192088"/>
        </p:xfrm>
        <a:graphic>
          <a:graphicData uri="http://schemas.openxmlformats.org/presentationml/2006/ole">
            <mc:AlternateContent xmlns:mc="http://schemas.openxmlformats.org/markup-compatibility/2006">
              <mc:Choice xmlns:v="urn:schemas-microsoft-com:vml" Requires="v">
                <p:oleObj spid="_x0000_s21516" name="公式" r:id="rId21" imgW="4572000" imgH="4572000" progId="Equation.3">
                  <p:embed/>
                </p:oleObj>
              </mc:Choice>
              <mc:Fallback>
                <p:oleObj name="公式" r:id="rId21" imgW="4572000" imgH="4572000" progId="Equation.3">
                  <p:embed/>
                  <p:pic>
                    <p:nvPicPr>
                      <p:cNvPr id="0" name="Object 2058"/>
                      <p:cNvPicPr>
                        <a:picLocks noChangeAspect="1"/>
                      </p:cNvPicPr>
                      <p:nvPr/>
                    </p:nvPicPr>
                    <p:blipFill>
                      <a:blip r:embed="rId22"/>
                      <a:stretch>
                        <a:fillRect/>
                      </a:stretch>
                    </p:blipFill>
                    <p:spPr>
                      <a:xfrm>
                        <a:off x="7812088" y="2822575"/>
                        <a:ext cx="193675" cy="192088"/>
                      </a:xfrm>
                      <a:prstGeom prst="rect">
                        <a:avLst/>
                      </a:prstGeom>
                      <a:noFill/>
                      <a:ln w="9525">
                        <a:noFill/>
                      </a:ln>
                    </p:spPr>
                  </p:pic>
                </p:oleObj>
              </mc:Fallback>
            </mc:AlternateContent>
          </a:graphicData>
        </a:graphic>
      </p:graphicFrame>
      <p:graphicFrame>
        <p:nvGraphicFramePr>
          <p:cNvPr id="21517" name="Object 2059"/>
          <p:cNvGraphicFramePr>
            <a:graphicFrameLocks noChangeAspect="1"/>
          </p:cNvGraphicFramePr>
          <p:nvPr/>
        </p:nvGraphicFramePr>
        <p:xfrm>
          <a:off x="6610350" y="1555750"/>
          <a:ext cx="193675" cy="192088"/>
        </p:xfrm>
        <a:graphic>
          <a:graphicData uri="http://schemas.openxmlformats.org/presentationml/2006/ole">
            <mc:AlternateContent xmlns:mc="http://schemas.openxmlformats.org/markup-compatibility/2006">
              <mc:Choice xmlns:v="urn:schemas-microsoft-com:vml" Requires="v">
                <p:oleObj spid="_x0000_s21517" name="公式" r:id="rId23" imgW="4572000" imgH="4572000" progId="Equation.3">
                  <p:embed/>
                </p:oleObj>
              </mc:Choice>
              <mc:Fallback>
                <p:oleObj name="公式" r:id="rId23" imgW="4572000" imgH="4572000" progId="Equation.3">
                  <p:embed/>
                  <p:pic>
                    <p:nvPicPr>
                      <p:cNvPr id="0" name="Object 2059"/>
                      <p:cNvPicPr>
                        <a:picLocks noChangeAspect="1"/>
                      </p:cNvPicPr>
                      <p:nvPr/>
                    </p:nvPicPr>
                    <p:blipFill>
                      <a:blip r:embed="rId22"/>
                      <a:stretch>
                        <a:fillRect/>
                      </a:stretch>
                    </p:blipFill>
                    <p:spPr>
                      <a:xfrm>
                        <a:off x="6610350" y="1555750"/>
                        <a:ext cx="193675" cy="192088"/>
                      </a:xfrm>
                      <a:prstGeom prst="rect">
                        <a:avLst/>
                      </a:prstGeom>
                      <a:noFill/>
                      <a:ln w="9525">
                        <a:noFill/>
                      </a:ln>
                    </p:spPr>
                  </p:pic>
                </p:oleObj>
              </mc:Fallback>
            </mc:AlternateContent>
          </a:graphicData>
        </a:graphic>
      </p:graphicFrame>
      <p:sp>
        <p:nvSpPr>
          <p:cNvPr id="21530" name="Text Box 54"/>
          <p:cNvSpPr txBox="1">
            <a:spLocks noChangeArrowheads="1"/>
          </p:cNvSpPr>
          <p:nvPr/>
        </p:nvSpPr>
        <p:spPr bwMode="auto">
          <a:xfrm>
            <a:off x="7194550" y="1557338"/>
            <a:ext cx="1409700" cy="457200"/>
          </a:xfrm>
          <a:prstGeom prst="rect">
            <a:avLst/>
          </a:prstGeom>
          <a:noFill/>
          <a:ln w="9525">
            <a:noFill/>
            <a:miter lim="800000"/>
          </a:ln>
        </p:spPr>
        <p:txBody>
          <a:bodyPr wrap="none">
            <a:spAutoFit/>
          </a:bodyPr>
          <a:lstStyle/>
          <a:p>
            <a:r>
              <a:rPr lang="zh-CN" altLang="en-US" b="1">
                <a:solidFill>
                  <a:srgbClr val="3333CC"/>
                </a:solidFill>
              </a:rPr>
              <a:t>绝热过程</a:t>
            </a:r>
            <a:endParaRPr lang="zh-CN" altLang="en-US" b="1">
              <a:solidFill>
                <a:srgbClr val="3333CC"/>
              </a:solidFill>
            </a:endParaRPr>
          </a:p>
        </p:txBody>
      </p:sp>
      <p:sp>
        <p:nvSpPr>
          <p:cNvPr id="21531" name="AutoShape 55"/>
          <p:cNvSpPr>
            <a:spLocks noChangeArrowheads="1"/>
          </p:cNvSpPr>
          <p:nvPr/>
        </p:nvSpPr>
        <p:spPr bwMode="auto">
          <a:xfrm rot="-3465934">
            <a:off x="7130256" y="2216944"/>
            <a:ext cx="504825" cy="71438"/>
          </a:xfrm>
          <a:prstGeom prst="rightArrow">
            <a:avLst>
              <a:gd name="adj1" fmla="val 50000"/>
              <a:gd name="adj2" fmla="val 176665"/>
            </a:avLst>
          </a:prstGeom>
          <a:solidFill>
            <a:schemeClr val="accent1"/>
          </a:solidFill>
          <a:ln w="9525">
            <a:solidFill>
              <a:schemeClr val="tx1"/>
            </a:solidFill>
            <a:miter lim="800000"/>
          </a:ln>
        </p:spPr>
        <p:txBody>
          <a:bodyPr wrap="none" anchor="ctr"/>
          <a:lstStyle/>
          <a:p>
            <a:pPr algn="ct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936"/>
                                        </p:tgtEl>
                                        <p:attrNameLst>
                                          <p:attrName>style.visibility</p:attrName>
                                        </p:attrNameLst>
                                      </p:cBhvr>
                                      <p:to>
                                        <p:strVal val="visible"/>
                                      </p:to>
                                    </p:set>
                                    <p:animEffect transition="in" filter="wipe(left)">
                                      <p:cBhvr>
                                        <p:cTn id="7" dur="500"/>
                                        <p:tgtEl>
                                          <p:spTgt spid="389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38"/>
                                        </p:tgtEl>
                                        <p:attrNameLst>
                                          <p:attrName>style.visibility</p:attrName>
                                        </p:attrNameLst>
                                      </p:cBhvr>
                                      <p:to>
                                        <p:strVal val="visible"/>
                                      </p:to>
                                    </p:set>
                                    <p:animEffect transition="in" filter="wipe(left)">
                                      <p:cBhvr>
                                        <p:cTn id="12" dur="500"/>
                                        <p:tgtEl>
                                          <p:spTgt spid="3893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78176"/>
                                        </p:tgtEl>
                                        <p:attrNameLst>
                                          <p:attrName>style.visibility</p:attrName>
                                        </p:attrNameLst>
                                      </p:cBhvr>
                                      <p:to>
                                        <p:strVal val="visible"/>
                                      </p:to>
                                    </p:set>
                                    <p:animEffect transition="in" filter="wipe(left)">
                                      <p:cBhvr>
                                        <p:cTn id="16" dur="500"/>
                                        <p:tgtEl>
                                          <p:spTgt spid="17817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78179"/>
                                        </p:tgtEl>
                                        <p:attrNameLst>
                                          <p:attrName>style.visibility</p:attrName>
                                        </p:attrNameLst>
                                      </p:cBhvr>
                                      <p:to>
                                        <p:strVal val="visible"/>
                                      </p:to>
                                    </p:set>
                                    <p:animEffect transition="in" filter="wipe(left)">
                                      <p:cBhvr>
                                        <p:cTn id="21" dur="500"/>
                                        <p:tgtEl>
                                          <p:spTgt spid="17817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8968"/>
                                        </p:tgtEl>
                                        <p:attrNameLst>
                                          <p:attrName>style.visibility</p:attrName>
                                        </p:attrNameLst>
                                      </p:cBhvr>
                                      <p:to>
                                        <p:strVal val="visible"/>
                                      </p:to>
                                    </p:set>
                                    <p:animEffect transition="in" filter="wipe(left)">
                                      <p:cBhvr>
                                        <p:cTn id="26" dur="500"/>
                                        <p:tgtEl>
                                          <p:spTgt spid="3896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8939"/>
                                        </p:tgtEl>
                                        <p:attrNameLst>
                                          <p:attrName>style.visibility</p:attrName>
                                        </p:attrNameLst>
                                      </p:cBhvr>
                                      <p:to>
                                        <p:strVal val="visible"/>
                                      </p:to>
                                    </p:set>
                                    <p:animEffect transition="in" filter="wipe(left)">
                                      <p:cBhvr>
                                        <p:cTn id="31" dur="500"/>
                                        <p:tgtEl>
                                          <p:spTgt spid="38939"/>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178177"/>
                                        </p:tgtEl>
                                        <p:attrNameLst>
                                          <p:attrName>style.visibility</p:attrName>
                                        </p:attrNameLst>
                                      </p:cBhvr>
                                      <p:to>
                                        <p:strVal val="visible"/>
                                      </p:to>
                                    </p:set>
                                    <p:animEffect transition="in" filter="wipe(left)">
                                      <p:cBhvr>
                                        <p:cTn id="35" dur="500"/>
                                        <p:tgtEl>
                                          <p:spTgt spid="17817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78178"/>
                                        </p:tgtEl>
                                        <p:attrNameLst>
                                          <p:attrName>style.visibility</p:attrName>
                                        </p:attrNameLst>
                                      </p:cBhvr>
                                      <p:to>
                                        <p:strVal val="visible"/>
                                      </p:to>
                                    </p:set>
                                    <p:animEffect transition="in" filter="wipe(left)">
                                      <p:cBhvr>
                                        <p:cTn id="40" dur="500"/>
                                        <p:tgtEl>
                                          <p:spTgt spid="17817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78180"/>
                                        </p:tgtEl>
                                        <p:attrNameLst>
                                          <p:attrName>style.visibility</p:attrName>
                                        </p:attrNameLst>
                                      </p:cBhvr>
                                      <p:to>
                                        <p:strVal val="visible"/>
                                      </p:to>
                                    </p:set>
                                    <p:animEffect transition="in" filter="wipe(left)">
                                      <p:cBhvr>
                                        <p:cTn id="45" dur="500"/>
                                        <p:tgtEl>
                                          <p:spTgt spid="17818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78181"/>
                                        </p:tgtEl>
                                        <p:attrNameLst>
                                          <p:attrName>style.visibility</p:attrName>
                                        </p:attrNameLst>
                                      </p:cBhvr>
                                      <p:to>
                                        <p:strVal val="visible"/>
                                      </p:to>
                                    </p:set>
                                    <p:animEffect transition="in" filter="wipe(left)">
                                      <p:cBhvr>
                                        <p:cTn id="50" dur="500"/>
                                        <p:tgtEl>
                                          <p:spTgt spid="178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68" grpId="0" animBg="1"/>
      <p:bldP spid="38936" grpId="0"/>
      <p:bldP spid="38938" grpId="0"/>
      <p:bldP spid="3893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9" name="Text Box 9"/>
          <p:cNvSpPr txBox="1">
            <a:spLocks noChangeArrowheads="1"/>
          </p:cNvSpPr>
          <p:nvPr/>
        </p:nvSpPr>
        <p:spPr bwMode="auto">
          <a:xfrm>
            <a:off x="381000" y="762000"/>
            <a:ext cx="2736850" cy="457200"/>
          </a:xfrm>
          <a:prstGeom prst="rect">
            <a:avLst/>
          </a:prstGeom>
          <a:noFill/>
          <a:ln w="9525">
            <a:noFill/>
            <a:miter lim="800000"/>
          </a:ln>
        </p:spPr>
        <p:txBody>
          <a:bodyPr>
            <a:spAutoFit/>
          </a:bodyPr>
          <a:lstStyle/>
          <a:p>
            <a:r>
              <a:rPr kumimoji="1" lang="en-US" altLang="zh-CN" b="1" i="1">
                <a:solidFill>
                  <a:srgbClr val="FF0000"/>
                </a:solidFill>
              </a:rPr>
              <a:t>II</a:t>
            </a:r>
            <a:r>
              <a:rPr kumimoji="1" lang="en-US" altLang="zh-CN" b="1">
                <a:solidFill>
                  <a:srgbClr val="FF0000"/>
                </a:solidFill>
              </a:rPr>
              <a:t>. </a:t>
            </a:r>
            <a:r>
              <a:rPr kumimoji="1" lang="zh-CN" altLang="en-US" b="1">
                <a:solidFill>
                  <a:srgbClr val="FF0000"/>
                </a:solidFill>
              </a:rPr>
              <a:t>过程曲线</a:t>
            </a:r>
            <a:endParaRPr kumimoji="1" lang="zh-CN" altLang="en-US" b="1">
              <a:solidFill>
                <a:srgbClr val="FF0000"/>
              </a:solidFill>
            </a:endParaRPr>
          </a:p>
        </p:txBody>
      </p:sp>
      <p:graphicFrame>
        <p:nvGraphicFramePr>
          <p:cNvPr id="179200" name="Object 0"/>
          <p:cNvGraphicFramePr>
            <a:graphicFrameLocks noChangeAspect="1"/>
          </p:cNvGraphicFramePr>
          <p:nvPr/>
        </p:nvGraphicFramePr>
        <p:xfrm>
          <a:off x="3373438" y="1371600"/>
          <a:ext cx="1558925" cy="822325"/>
        </p:xfrm>
        <a:graphic>
          <a:graphicData uri="http://schemas.openxmlformats.org/presentationml/2006/ole">
            <mc:AlternateContent xmlns:mc="http://schemas.openxmlformats.org/markup-compatibility/2006">
              <mc:Choice xmlns:v="urn:schemas-microsoft-com:vml" Requires="v">
                <p:oleObj spid="_x0000_s22529" name="公式" r:id="rId1" imgW="37490400" imgH="19812000" progId="Equation.3">
                  <p:embed/>
                </p:oleObj>
              </mc:Choice>
              <mc:Fallback>
                <p:oleObj name="公式" r:id="rId1" imgW="37490400" imgH="19812000" progId="Equation.3">
                  <p:embed/>
                  <p:pic>
                    <p:nvPicPr>
                      <p:cNvPr id="0" name="Object 0"/>
                      <p:cNvPicPr>
                        <a:picLocks noChangeAspect="1"/>
                      </p:cNvPicPr>
                      <p:nvPr/>
                    </p:nvPicPr>
                    <p:blipFill>
                      <a:blip r:embed="rId2"/>
                      <a:stretch>
                        <a:fillRect/>
                      </a:stretch>
                    </p:blipFill>
                    <p:spPr>
                      <a:xfrm>
                        <a:off x="3373438" y="1371600"/>
                        <a:ext cx="1558925" cy="822325"/>
                      </a:xfrm>
                      <a:prstGeom prst="rect">
                        <a:avLst/>
                      </a:prstGeom>
                      <a:noFill/>
                      <a:ln w="9525">
                        <a:noFill/>
                      </a:ln>
                    </p:spPr>
                  </p:pic>
                </p:oleObj>
              </mc:Fallback>
            </mc:AlternateContent>
          </a:graphicData>
        </a:graphic>
      </p:graphicFrame>
      <p:graphicFrame>
        <p:nvGraphicFramePr>
          <p:cNvPr id="179201" name="Object 1"/>
          <p:cNvGraphicFramePr>
            <a:graphicFrameLocks noChangeAspect="1"/>
          </p:cNvGraphicFramePr>
          <p:nvPr/>
        </p:nvGraphicFramePr>
        <p:xfrm>
          <a:off x="827088" y="2511425"/>
          <a:ext cx="1238250" cy="419100"/>
        </p:xfrm>
        <a:graphic>
          <a:graphicData uri="http://schemas.openxmlformats.org/presentationml/2006/ole">
            <mc:AlternateContent xmlns:mc="http://schemas.openxmlformats.org/markup-compatibility/2006">
              <mc:Choice xmlns:v="urn:schemas-microsoft-com:vml" Requires="v">
                <p:oleObj spid="_x0000_s22531" name="公式" r:id="rId3" imgW="29565600" imgH="10058400" progId="Equation.3">
                  <p:embed/>
                </p:oleObj>
              </mc:Choice>
              <mc:Fallback>
                <p:oleObj name="公式" r:id="rId3" imgW="29565600" imgH="10058400" progId="Equation.3">
                  <p:embed/>
                  <p:pic>
                    <p:nvPicPr>
                      <p:cNvPr id="0" name="Object 1"/>
                      <p:cNvPicPr>
                        <a:picLocks noChangeAspect="1"/>
                      </p:cNvPicPr>
                      <p:nvPr/>
                    </p:nvPicPr>
                    <p:blipFill>
                      <a:blip r:embed="rId4"/>
                      <a:stretch>
                        <a:fillRect/>
                      </a:stretch>
                    </p:blipFill>
                    <p:spPr>
                      <a:xfrm>
                        <a:off x="827088" y="2511425"/>
                        <a:ext cx="1238250" cy="419100"/>
                      </a:xfrm>
                      <a:prstGeom prst="rect">
                        <a:avLst/>
                      </a:prstGeom>
                      <a:noFill/>
                      <a:ln w="9525">
                        <a:noFill/>
                      </a:ln>
                    </p:spPr>
                  </p:pic>
                </p:oleObj>
              </mc:Fallback>
            </mc:AlternateContent>
          </a:graphicData>
        </a:graphic>
      </p:graphicFrame>
      <p:graphicFrame>
        <p:nvGraphicFramePr>
          <p:cNvPr id="179202" name="Object 2"/>
          <p:cNvGraphicFramePr>
            <a:graphicFrameLocks noChangeAspect="1"/>
          </p:cNvGraphicFramePr>
          <p:nvPr/>
        </p:nvGraphicFramePr>
        <p:xfrm>
          <a:off x="827088" y="1549400"/>
          <a:ext cx="1371600" cy="473075"/>
        </p:xfrm>
        <a:graphic>
          <a:graphicData uri="http://schemas.openxmlformats.org/presentationml/2006/ole">
            <mc:AlternateContent xmlns:mc="http://schemas.openxmlformats.org/markup-compatibility/2006">
              <mc:Choice xmlns:v="urn:schemas-microsoft-com:vml" Requires="v">
                <p:oleObj spid="_x0000_s22532" name="公式" r:id="rId5" imgW="32613600" imgH="11277600" progId="Equation.3">
                  <p:embed/>
                </p:oleObj>
              </mc:Choice>
              <mc:Fallback>
                <p:oleObj name="公式" r:id="rId5" imgW="32613600" imgH="11277600" progId="Equation.3">
                  <p:embed/>
                  <p:pic>
                    <p:nvPicPr>
                      <p:cNvPr id="0" name="Object 2"/>
                      <p:cNvPicPr>
                        <a:picLocks noChangeAspect="1"/>
                      </p:cNvPicPr>
                      <p:nvPr/>
                    </p:nvPicPr>
                    <p:blipFill>
                      <a:blip r:embed="rId6"/>
                      <a:stretch>
                        <a:fillRect/>
                      </a:stretch>
                    </p:blipFill>
                    <p:spPr>
                      <a:xfrm>
                        <a:off x="827088" y="1549400"/>
                        <a:ext cx="1371600" cy="473075"/>
                      </a:xfrm>
                      <a:prstGeom prst="rect">
                        <a:avLst/>
                      </a:prstGeom>
                      <a:noFill/>
                      <a:ln w="9525">
                        <a:noFill/>
                      </a:ln>
                    </p:spPr>
                  </p:pic>
                </p:oleObj>
              </mc:Fallback>
            </mc:AlternateContent>
          </a:graphicData>
        </a:graphic>
      </p:graphicFrame>
      <p:graphicFrame>
        <p:nvGraphicFramePr>
          <p:cNvPr id="179203" name="Object 3"/>
          <p:cNvGraphicFramePr>
            <a:graphicFrameLocks noChangeAspect="1"/>
          </p:cNvGraphicFramePr>
          <p:nvPr/>
        </p:nvGraphicFramePr>
        <p:xfrm>
          <a:off x="3417888" y="2281238"/>
          <a:ext cx="1355725" cy="822325"/>
        </p:xfrm>
        <a:graphic>
          <a:graphicData uri="http://schemas.openxmlformats.org/presentationml/2006/ole">
            <mc:AlternateContent xmlns:mc="http://schemas.openxmlformats.org/markup-compatibility/2006">
              <mc:Choice xmlns:v="urn:schemas-microsoft-com:vml" Requires="v">
                <p:oleObj spid="_x0000_s22533" name="公式" r:id="rId7" imgW="32613600" imgH="19812000" progId="Equation.3">
                  <p:embed/>
                </p:oleObj>
              </mc:Choice>
              <mc:Fallback>
                <p:oleObj name="公式" r:id="rId7" imgW="32613600" imgH="19812000" progId="Equation.3">
                  <p:embed/>
                  <p:pic>
                    <p:nvPicPr>
                      <p:cNvPr id="0" name="Object 3"/>
                      <p:cNvPicPr>
                        <a:picLocks noChangeAspect="1"/>
                      </p:cNvPicPr>
                      <p:nvPr/>
                    </p:nvPicPr>
                    <p:blipFill>
                      <a:blip r:embed="rId8"/>
                      <a:stretch>
                        <a:fillRect/>
                      </a:stretch>
                    </p:blipFill>
                    <p:spPr>
                      <a:xfrm>
                        <a:off x="3417888" y="2281238"/>
                        <a:ext cx="1355725" cy="822325"/>
                      </a:xfrm>
                      <a:prstGeom prst="rect">
                        <a:avLst/>
                      </a:prstGeom>
                      <a:noFill/>
                      <a:ln w="9525">
                        <a:noFill/>
                      </a:ln>
                    </p:spPr>
                  </p:pic>
                </p:oleObj>
              </mc:Fallback>
            </mc:AlternateContent>
          </a:graphicData>
        </a:graphic>
      </p:graphicFrame>
      <p:sp>
        <p:nvSpPr>
          <p:cNvPr id="35854" name="Text Box 14"/>
          <p:cNvSpPr txBox="1">
            <a:spLocks noChangeArrowheads="1"/>
          </p:cNvSpPr>
          <p:nvPr/>
        </p:nvSpPr>
        <p:spPr bwMode="auto">
          <a:xfrm>
            <a:off x="2268538" y="2114550"/>
            <a:ext cx="873125" cy="396875"/>
          </a:xfrm>
          <a:prstGeom prst="rect">
            <a:avLst/>
          </a:prstGeom>
          <a:noFill/>
          <a:ln w="9525">
            <a:noFill/>
            <a:miter lim="800000"/>
          </a:ln>
        </p:spPr>
        <p:txBody>
          <a:bodyPr>
            <a:spAutoFit/>
          </a:bodyPr>
          <a:lstStyle/>
          <a:p>
            <a:pPr algn="ctr"/>
            <a:r>
              <a:rPr kumimoji="1" lang="zh-CN" altLang="en-US" sz="2000" b="1"/>
              <a:t>微分</a:t>
            </a:r>
            <a:endParaRPr kumimoji="1" lang="zh-CN" altLang="en-US" sz="2000" b="1"/>
          </a:p>
        </p:txBody>
      </p:sp>
      <p:sp>
        <p:nvSpPr>
          <p:cNvPr id="35855" name="AutoShape 15"/>
          <p:cNvSpPr>
            <a:spLocks noChangeArrowheads="1"/>
          </p:cNvSpPr>
          <p:nvPr/>
        </p:nvSpPr>
        <p:spPr bwMode="auto">
          <a:xfrm>
            <a:off x="2368550" y="2020888"/>
            <a:ext cx="892175" cy="604837"/>
          </a:xfrm>
          <a:prstGeom prst="rightArrow">
            <a:avLst>
              <a:gd name="adj1" fmla="val 55380"/>
              <a:gd name="adj2" fmla="val 45529"/>
            </a:avLst>
          </a:prstGeom>
          <a:solidFill>
            <a:srgbClr val="003366">
              <a:alpha val="14117"/>
            </a:srgbClr>
          </a:solidFill>
          <a:ln w="19050">
            <a:solidFill>
              <a:srgbClr val="FF6600"/>
            </a:solidFill>
            <a:miter lim="800000"/>
          </a:ln>
        </p:spPr>
        <p:txBody>
          <a:bodyPr wrap="none" anchor="ctr"/>
          <a:lstStyle/>
          <a:p>
            <a:pPr algn="ctr"/>
            <a:endParaRPr lang="zh-CN" altLang="zh-CN" b="1"/>
          </a:p>
        </p:txBody>
      </p:sp>
      <p:sp>
        <p:nvSpPr>
          <p:cNvPr id="35856" name="Text Box 16"/>
          <p:cNvSpPr txBox="1">
            <a:spLocks noChangeArrowheads="1"/>
          </p:cNvSpPr>
          <p:nvPr/>
        </p:nvSpPr>
        <p:spPr bwMode="auto">
          <a:xfrm>
            <a:off x="6543675" y="2617788"/>
            <a:ext cx="441325" cy="519112"/>
          </a:xfrm>
          <a:prstGeom prst="rect">
            <a:avLst/>
          </a:prstGeom>
          <a:noFill/>
          <a:ln w="9525">
            <a:noFill/>
            <a:miter lim="800000"/>
          </a:ln>
        </p:spPr>
        <p:txBody>
          <a:bodyPr wrap="none">
            <a:spAutoFit/>
          </a:bodyPr>
          <a:lstStyle/>
          <a:p>
            <a:r>
              <a:rPr kumimoji="1" lang="en-US" altLang="zh-CN" sz="2800" b="1"/>
              <a:t>A</a:t>
            </a:r>
            <a:endParaRPr kumimoji="1" lang="en-US" altLang="zh-CN" sz="2800" b="1"/>
          </a:p>
        </p:txBody>
      </p:sp>
      <p:sp>
        <p:nvSpPr>
          <p:cNvPr id="35857" name="AutoShape 17"/>
          <p:cNvSpPr>
            <a:spLocks noChangeArrowheads="1"/>
          </p:cNvSpPr>
          <p:nvPr/>
        </p:nvSpPr>
        <p:spPr bwMode="auto">
          <a:xfrm>
            <a:off x="6888163" y="1200150"/>
            <a:ext cx="1068387" cy="431800"/>
          </a:xfrm>
          <a:prstGeom prst="wedgeRectCallout">
            <a:avLst>
              <a:gd name="adj1" fmla="val -73921"/>
              <a:gd name="adj2" fmla="val 166176"/>
            </a:avLst>
          </a:prstGeom>
          <a:solidFill>
            <a:srgbClr val="003366">
              <a:alpha val="21960"/>
            </a:srgbClr>
          </a:solidFill>
          <a:ln w="19050">
            <a:solidFill>
              <a:schemeClr val="folHlink"/>
            </a:solidFill>
            <a:miter lim="800000"/>
          </a:ln>
        </p:spPr>
        <p:txBody>
          <a:bodyPr/>
          <a:lstStyle/>
          <a:p>
            <a:pPr algn="ctr"/>
            <a:r>
              <a:rPr kumimoji="1" lang="zh-CN" altLang="en-US" sz="2000" b="1"/>
              <a:t>绝热线</a:t>
            </a:r>
            <a:endParaRPr kumimoji="1" lang="zh-CN" altLang="en-US" sz="2000" b="1"/>
          </a:p>
        </p:txBody>
      </p:sp>
      <p:sp>
        <p:nvSpPr>
          <p:cNvPr id="35858" name="AutoShape 18"/>
          <p:cNvSpPr>
            <a:spLocks noChangeArrowheads="1"/>
          </p:cNvSpPr>
          <p:nvPr/>
        </p:nvSpPr>
        <p:spPr bwMode="auto">
          <a:xfrm>
            <a:off x="7339013" y="2352675"/>
            <a:ext cx="1120775" cy="431800"/>
          </a:xfrm>
          <a:prstGeom prst="wedgeRectCallout">
            <a:avLst>
              <a:gd name="adj1" fmla="val 23231"/>
              <a:gd name="adj2" fmla="val 145222"/>
            </a:avLst>
          </a:prstGeom>
          <a:solidFill>
            <a:srgbClr val="003366">
              <a:alpha val="21960"/>
            </a:srgbClr>
          </a:solidFill>
          <a:ln w="19050">
            <a:solidFill>
              <a:schemeClr val="folHlink"/>
            </a:solidFill>
            <a:miter lim="800000"/>
          </a:ln>
        </p:spPr>
        <p:txBody>
          <a:bodyPr/>
          <a:lstStyle/>
          <a:p>
            <a:pPr algn="ctr"/>
            <a:r>
              <a:rPr kumimoji="1" lang="zh-CN" altLang="en-US" sz="2000" b="1"/>
              <a:t>等温线</a:t>
            </a:r>
            <a:endParaRPr kumimoji="1" lang="zh-CN" altLang="en-US" sz="2000" b="1"/>
          </a:p>
        </p:txBody>
      </p:sp>
      <p:sp>
        <p:nvSpPr>
          <p:cNvPr id="35859" name="Arc 19"/>
          <p:cNvSpPr/>
          <p:nvPr/>
        </p:nvSpPr>
        <p:spPr bwMode="auto">
          <a:xfrm rot="-871638">
            <a:off x="6643688" y="1219200"/>
            <a:ext cx="2119312" cy="2671763"/>
          </a:xfrm>
          <a:custGeom>
            <a:avLst/>
            <a:gdLst>
              <a:gd name="T0" fmla="*/ 2147483647 w 21600"/>
              <a:gd name="T1" fmla="*/ 2147483647 h 20693"/>
              <a:gd name="T2" fmla="*/ 0 w 21600"/>
              <a:gd name="T3" fmla="*/ 0 h 20693"/>
              <a:gd name="T4" fmla="*/ 2147483647 w 21600"/>
              <a:gd name="T5" fmla="*/ 2147483647 h 20693"/>
              <a:gd name="T6" fmla="*/ 0 60000 65536"/>
              <a:gd name="T7" fmla="*/ 0 60000 65536"/>
              <a:gd name="T8" fmla="*/ 0 60000 65536"/>
              <a:gd name="T9" fmla="*/ 0 w 21600"/>
              <a:gd name="T10" fmla="*/ 0 h 20693"/>
              <a:gd name="T11" fmla="*/ 21600 w 21600"/>
              <a:gd name="T12" fmla="*/ 20693 h 20693"/>
            </a:gdLst>
            <a:ahLst/>
            <a:cxnLst>
              <a:cxn ang="T6">
                <a:pos x="T0" y="T1"/>
              </a:cxn>
              <a:cxn ang="T7">
                <a:pos x="T2" y="T3"/>
              </a:cxn>
              <a:cxn ang="T8">
                <a:pos x="T4" y="T5"/>
              </a:cxn>
            </a:cxnLst>
            <a:rect l="T9" t="T10" r="T11" b="T12"/>
            <a:pathLst>
              <a:path w="21600" h="20693" fill="none" extrusionOk="0">
                <a:moveTo>
                  <a:pt x="15368" y="20692"/>
                </a:moveTo>
                <a:cubicBezTo>
                  <a:pt x="6244" y="17943"/>
                  <a:pt x="0" y="9540"/>
                  <a:pt x="0" y="11"/>
                </a:cubicBezTo>
                <a:cubicBezTo>
                  <a:pt x="-1" y="7"/>
                  <a:pt x="0" y="3"/>
                  <a:pt x="0" y="0"/>
                </a:cubicBezTo>
              </a:path>
              <a:path w="21600" h="20693" stroke="0" extrusionOk="0">
                <a:moveTo>
                  <a:pt x="15368" y="20692"/>
                </a:moveTo>
                <a:cubicBezTo>
                  <a:pt x="6244" y="17943"/>
                  <a:pt x="0" y="9540"/>
                  <a:pt x="0" y="11"/>
                </a:cubicBezTo>
                <a:cubicBezTo>
                  <a:pt x="-1" y="7"/>
                  <a:pt x="0" y="3"/>
                  <a:pt x="0" y="0"/>
                </a:cubicBezTo>
                <a:lnTo>
                  <a:pt x="21600" y="11"/>
                </a:lnTo>
                <a:close/>
              </a:path>
            </a:pathLst>
          </a:custGeom>
          <a:noFill/>
          <a:ln w="38100">
            <a:solidFill>
              <a:srgbClr val="3333CC"/>
            </a:solidFill>
            <a:round/>
            <a:headEnd type="none" w="sm" len="sm"/>
            <a:tailEnd type="none" w="sm" len="sm"/>
          </a:ln>
        </p:spPr>
        <p:txBody>
          <a:bodyPr wrap="none" anchor="ctr"/>
          <a:lstStyle/>
          <a:p>
            <a:pPr algn="ctr"/>
            <a:endParaRPr lang="zh-CN" altLang="en-US" b="1"/>
          </a:p>
        </p:txBody>
      </p:sp>
      <p:sp>
        <p:nvSpPr>
          <p:cNvPr id="35860" name="Arc 20"/>
          <p:cNvSpPr/>
          <p:nvPr/>
        </p:nvSpPr>
        <p:spPr bwMode="auto">
          <a:xfrm>
            <a:off x="6037263" y="457200"/>
            <a:ext cx="2236787" cy="2770188"/>
          </a:xfrm>
          <a:custGeom>
            <a:avLst/>
            <a:gdLst>
              <a:gd name="T0" fmla="*/ 2147483647 w 20524"/>
              <a:gd name="T1" fmla="*/ 2147483647 h 21600"/>
              <a:gd name="T2" fmla="*/ 0 w 20524"/>
              <a:gd name="T3" fmla="*/ 2147483647 h 21600"/>
              <a:gd name="T4" fmla="*/ 2147483647 w 20524"/>
              <a:gd name="T5" fmla="*/ 0 h 21600"/>
              <a:gd name="T6" fmla="*/ 0 60000 65536"/>
              <a:gd name="T7" fmla="*/ 0 60000 65536"/>
              <a:gd name="T8" fmla="*/ 0 60000 65536"/>
              <a:gd name="T9" fmla="*/ 0 w 20524"/>
              <a:gd name="T10" fmla="*/ 0 h 21600"/>
              <a:gd name="T11" fmla="*/ 20524 w 20524"/>
              <a:gd name="T12" fmla="*/ 21600 h 21600"/>
            </a:gdLst>
            <a:ahLst/>
            <a:cxnLst>
              <a:cxn ang="T6">
                <a:pos x="T0" y="T1"/>
              </a:cxn>
              <a:cxn ang="T7">
                <a:pos x="T2" y="T3"/>
              </a:cxn>
              <a:cxn ang="T8">
                <a:pos x="T4" y="T5"/>
              </a:cxn>
            </a:cxnLst>
            <a:rect l="T9" t="T10" r="T11" b="T12"/>
            <a:pathLst>
              <a:path w="20524" h="21600" fill="none" extrusionOk="0">
                <a:moveTo>
                  <a:pt x="20523" y="21597"/>
                </a:moveTo>
                <a:cubicBezTo>
                  <a:pt x="20422" y="21599"/>
                  <a:pt x="20320" y="21599"/>
                  <a:pt x="20218" y="21600"/>
                </a:cubicBezTo>
                <a:cubicBezTo>
                  <a:pt x="11221" y="21600"/>
                  <a:pt x="3166" y="16023"/>
                  <a:pt x="0" y="7602"/>
                </a:cubicBezTo>
              </a:path>
              <a:path w="20524" h="21600" stroke="0" extrusionOk="0">
                <a:moveTo>
                  <a:pt x="20523" y="21597"/>
                </a:moveTo>
                <a:cubicBezTo>
                  <a:pt x="20422" y="21599"/>
                  <a:pt x="20320" y="21599"/>
                  <a:pt x="20218" y="21600"/>
                </a:cubicBezTo>
                <a:cubicBezTo>
                  <a:pt x="11221" y="21600"/>
                  <a:pt x="3166" y="16023"/>
                  <a:pt x="0" y="7602"/>
                </a:cubicBezTo>
                <a:lnTo>
                  <a:pt x="20218" y="0"/>
                </a:lnTo>
                <a:close/>
              </a:path>
            </a:pathLst>
          </a:custGeom>
          <a:noFill/>
          <a:ln w="38100">
            <a:solidFill>
              <a:srgbClr val="FC5050"/>
            </a:solidFill>
            <a:round/>
            <a:headEnd type="none" w="sm" len="sm"/>
            <a:tailEnd type="none" w="sm" len="sm"/>
          </a:ln>
        </p:spPr>
        <p:txBody>
          <a:bodyPr wrap="none" anchor="ctr"/>
          <a:lstStyle/>
          <a:p>
            <a:pPr algn="ctr"/>
            <a:endParaRPr lang="zh-CN" altLang="en-US" b="1"/>
          </a:p>
        </p:txBody>
      </p:sp>
      <p:sp>
        <p:nvSpPr>
          <p:cNvPr id="35861" name="Text Box 21"/>
          <p:cNvSpPr txBox="1">
            <a:spLocks noChangeArrowheads="1"/>
          </p:cNvSpPr>
          <p:nvPr/>
        </p:nvSpPr>
        <p:spPr bwMode="auto">
          <a:xfrm>
            <a:off x="684213" y="3128963"/>
            <a:ext cx="4175125" cy="1006475"/>
          </a:xfrm>
          <a:prstGeom prst="rect">
            <a:avLst/>
          </a:prstGeom>
          <a:noFill/>
          <a:ln w="9525">
            <a:noFill/>
            <a:miter lim="800000"/>
          </a:ln>
        </p:spPr>
        <p:txBody>
          <a:bodyPr>
            <a:spAutoFit/>
          </a:bodyPr>
          <a:lstStyle/>
          <a:p>
            <a:pPr>
              <a:lnSpc>
                <a:spcPct val="125000"/>
              </a:lnSpc>
            </a:pPr>
            <a:r>
              <a:rPr lang="zh-CN" altLang="en-US" b="1">
                <a:sym typeface="Symbol" panose="05050102010706020507" pitchFamily="18" charset="2"/>
              </a:rPr>
              <a:t>由于 </a:t>
            </a:r>
            <a:r>
              <a:rPr lang="zh-CN" altLang="en-US" b="1" i="1">
                <a:sym typeface="Symbol" panose="05050102010706020507" pitchFamily="18" charset="2"/>
              </a:rPr>
              <a:t> </a:t>
            </a:r>
            <a:r>
              <a:rPr lang="zh-CN" altLang="en-US" b="1"/>
              <a:t>＞</a:t>
            </a:r>
            <a:r>
              <a:rPr lang="en-US" altLang="zh-CN" b="1"/>
              <a:t>1 </a:t>
            </a:r>
            <a:r>
              <a:rPr lang="zh-CN" altLang="en-US" b="1"/>
              <a:t>，</a:t>
            </a:r>
            <a:r>
              <a:rPr lang="zh-CN" altLang="en-US" b="1">
                <a:cs typeface="Times New Roman" panose="02020603050405020304" pitchFamily="18" charset="0"/>
              </a:rPr>
              <a:t>所以绝热线要比等温线陡一些。</a:t>
            </a:r>
            <a:r>
              <a:rPr lang="zh-CN" altLang="en-US" b="1"/>
              <a:t>               </a:t>
            </a:r>
            <a:endParaRPr lang="zh-CN" altLang="en-US" b="1"/>
          </a:p>
        </p:txBody>
      </p:sp>
      <p:graphicFrame>
        <p:nvGraphicFramePr>
          <p:cNvPr id="179204" name="Object 4"/>
          <p:cNvGraphicFramePr>
            <a:graphicFrameLocks noChangeAspect="1"/>
          </p:cNvGraphicFramePr>
          <p:nvPr/>
        </p:nvGraphicFramePr>
        <p:xfrm>
          <a:off x="6826250" y="2628900"/>
          <a:ext cx="193675" cy="192088"/>
        </p:xfrm>
        <a:graphic>
          <a:graphicData uri="http://schemas.openxmlformats.org/presentationml/2006/ole">
            <mc:AlternateContent xmlns:mc="http://schemas.openxmlformats.org/markup-compatibility/2006">
              <mc:Choice xmlns:v="urn:schemas-microsoft-com:vml" Requires="v">
                <p:oleObj spid="_x0000_s22534" name="公式" r:id="rId9" imgW="4572000" imgH="4572000" progId="Equation.3">
                  <p:embed/>
                </p:oleObj>
              </mc:Choice>
              <mc:Fallback>
                <p:oleObj name="公式" r:id="rId9" imgW="4572000" imgH="4572000" progId="Equation.3">
                  <p:embed/>
                  <p:pic>
                    <p:nvPicPr>
                      <p:cNvPr id="0" name="Object 4"/>
                      <p:cNvPicPr>
                        <a:picLocks noChangeAspect="1"/>
                      </p:cNvPicPr>
                      <p:nvPr/>
                    </p:nvPicPr>
                    <p:blipFill>
                      <a:blip r:embed="rId10"/>
                      <a:stretch>
                        <a:fillRect/>
                      </a:stretch>
                    </p:blipFill>
                    <p:spPr>
                      <a:xfrm>
                        <a:off x="6826250" y="2628900"/>
                        <a:ext cx="193675" cy="192088"/>
                      </a:xfrm>
                      <a:prstGeom prst="rect">
                        <a:avLst/>
                      </a:prstGeom>
                      <a:noFill/>
                      <a:ln w="9525">
                        <a:noFill/>
                      </a:ln>
                    </p:spPr>
                  </p:pic>
                </p:oleObj>
              </mc:Fallback>
            </mc:AlternateContent>
          </a:graphicData>
        </a:graphic>
      </p:graphicFrame>
      <p:grpSp>
        <p:nvGrpSpPr>
          <p:cNvPr id="2" name="Group 23"/>
          <p:cNvGrpSpPr/>
          <p:nvPr/>
        </p:nvGrpSpPr>
        <p:grpSpPr bwMode="auto">
          <a:xfrm>
            <a:off x="5495925" y="998538"/>
            <a:ext cx="3195638" cy="3471862"/>
            <a:chOff x="3334" y="1697"/>
            <a:chExt cx="2013" cy="2187"/>
          </a:xfrm>
        </p:grpSpPr>
        <p:sp>
          <p:nvSpPr>
            <p:cNvPr id="22547" name="Line 24"/>
            <p:cNvSpPr>
              <a:spLocks noChangeShapeType="1"/>
            </p:cNvSpPr>
            <p:nvPr/>
          </p:nvSpPr>
          <p:spPr bwMode="auto">
            <a:xfrm flipV="1">
              <a:off x="3560" y="3596"/>
              <a:ext cx="1757" cy="16"/>
            </a:xfrm>
            <a:prstGeom prst="line">
              <a:avLst/>
            </a:prstGeom>
            <a:noFill/>
            <a:ln w="28575">
              <a:solidFill>
                <a:schemeClr val="tx1"/>
              </a:solidFill>
              <a:round/>
              <a:tailEnd type="triangle" w="med" len="lg"/>
            </a:ln>
          </p:spPr>
          <p:txBody>
            <a:bodyPr wrap="none" anchor="ctr"/>
            <a:lstStyle/>
            <a:p>
              <a:endParaRPr lang="zh-CN" altLang="en-US"/>
            </a:p>
          </p:txBody>
        </p:sp>
        <p:sp>
          <p:nvSpPr>
            <p:cNvPr id="22548" name="Line 25"/>
            <p:cNvSpPr>
              <a:spLocks noChangeShapeType="1"/>
            </p:cNvSpPr>
            <p:nvPr/>
          </p:nvSpPr>
          <p:spPr bwMode="auto">
            <a:xfrm flipH="1" flipV="1">
              <a:off x="3560" y="1828"/>
              <a:ext cx="0" cy="1784"/>
            </a:xfrm>
            <a:prstGeom prst="line">
              <a:avLst/>
            </a:prstGeom>
            <a:noFill/>
            <a:ln w="28575">
              <a:solidFill>
                <a:schemeClr val="tx1"/>
              </a:solidFill>
              <a:round/>
              <a:tailEnd type="triangle" w="med" len="lg"/>
            </a:ln>
          </p:spPr>
          <p:txBody>
            <a:bodyPr wrap="none" anchor="ctr"/>
            <a:lstStyle/>
            <a:p>
              <a:endParaRPr lang="zh-CN" altLang="en-US"/>
            </a:p>
          </p:txBody>
        </p:sp>
        <p:sp>
          <p:nvSpPr>
            <p:cNvPr id="22549" name="Text Box 26"/>
            <p:cNvSpPr txBox="1">
              <a:spLocks noChangeArrowheads="1"/>
            </p:cNvSpPr>
            <p:nvPr/>
          </p:nvSpPr>
          <p:spPr bwMode="auto">
            <a:xfrm>
              <a:off x="5103" y="3596"/>
              <a:ext cx="244" cy="288"/>
            </a:xfrm>
            <a:prstGeom prst="rect">
              <a:avLst/>
            </a:prstGeom>
            <a:noFill/>
            <a:ln w="9525">
              <a:noFill/>
              <a:miter lim="800000"/>
            </a:ln>
          </p:spPr>
          <p:txBody>
            <a:bodyPr wrap="none">
              <a:spAutoFit/>
            </a:bodyPr>
            <a:lstStyle/>
            <a:p>
              <a:r>
                <a:rPr lang="en-US" altLang="zh-CN" b="1" i="1"/>
                <a:t>V</a:t>
              </a:r>
              <a:endParaRPr lang="en-US" altLang="zh-CN" b="1" i="1"/>
            </a:p>
          </p:txBody>
        </p:sp>
        <p:sp>
          <p:nvSpPr>
            <p:cNvPr id="22550" name="Text Box 27"/>
            <p:cNvSpPr txBox="1">
              <a:spLocks noChangeArrowheads="1"/>
            </p:cNvSpPr>
            <p:nvPr/>
          </p:nvSpPr>
          <p:spPr bwMode="auto">
            <a:xfrm>
              <a:off x="3334" y="1697"/>
              <a:ext cx="228" cy="327"/>
            </a:xfrm>
            <a:prstGeom prst="rect">
              <a:avLst/>
            </a:prstGeom>
            <a:noFill/>
            <a:ln w="9525">
              <a:noFill/>
              <a:miter lim="800000"/>
            </a:ln>
          </p:spPr>
          <p:txBody>
            <a:bodyPr wrap="none">
              <a:spAutoFit/>
            </a:bodyPr>
            <a:lstStyle/>
            <a:p>
              <a:r>
                <a:rPr lang="en-US" altLang="zh-CN" sz="2800" b="1" i="1"/>
                <a:t>p</a:t>
              </a:r>
              <a:endParaRPr lang="en-US" altLang="zh-CN" sz="2800" b="1" i="1"/>
            </a:p>
          </p:txBody>
        </p:sp>
        <p:sp>
          <p:nvSpPr>
            <p:cNvPr id="22551" name="Text Box 28"/>
            <p:cNvSpPr txBox="1">
              <a:spLocks noChangeArrowheads="1"/>
            </p:cNvSpPr>
            <p:nvPr/>
          </p:nvSpPr>
          <p:spPr bwMode="auto">
            <a:xfrm>
              <a:off x="3334" y="3551"/>
              <a:ext cx="255" cy="288"/>
            </a:xfrm>
            <a:prstGeom prst="rect">
              <a:avLst/>
            </a:prstGeom>
            <a:noFill/>
            <a:ln w="9525">
              <a:noFill/>
              <a:miter lim="800000"/>
            </a:ln>
          </p:spPr>
          <p:txBody>
            <a:bodyPr wrap="none">
              <a:spAutoFit/>
            </a:bodyPr>
            <a:lstStyle/>
            <a:p>
              <a:r>
                <a:rPr lang="en-US" altLang="zh-CN" b="1" i="1"/>
                <a:t>O</a:t>
              </a:r>
              <a:endParaRPr lang="en-US" altLang="zh-CN" b="1" i="1"/>
            </a:p>
          </p:txBody>
        </p:sp>
      </p:grpSp>
      <p:sp>
        <p:nvSpPr>
          <p:cNvPr id="35869" name="Text Box 29"/>
          <p:cNvSpPr txBox="1">
            <a:spLocks noChangeArrowheads="1"/>
          </p:cNvSpPr>
          <p:nvPr/>
        </p:nvSpPr>
        <p:spPr bwMode="auto">
          <a:xfrm>
            <a:off x="228600" y="4267200"/>
            <a:ext cx="4343400" cy="457200"/>
          </a:xfrm>
          <a:prstGeom prst="rect">
            <a:avLst/>
          </a:prstGeom>
          <a:noFill/>
          <a:ln w="9525">
            <a:noFill/>
            <a:miter lim="800000"/>
          </a:ln>
        </p:spPr>
        <p:txBody>
          <a:bodyPr anchorCtr="1">
            <a:spAutoFit/>
          </a:bodyPr>
          <a:lstStyle/>
          <a:p>
            <a:pPr eaLnBrk="0" hangingPunct="0"/>
            <a:r>
              <a:rPr lang="zh-CN" altLang="en-US" b="1">
                <a:solidFill>
                  <a:srgbClr val="FF0000"/>
                </a:solidFill>
                <a:latin typeface="Garamond" panose="02020404030301010803" pitchFamily="18" charset="0"/>
              </a:rPr>
              <a:t>绝热线更陡峭的微观解释：</a:t>
            </a:r>
            <a:endParaRPr lang="zh-CN" altLang="en-US" b="1">
              <a:solidFill>
                <a:srgbClr val="FF0000"/>
              </a:solidFill>
              <a:latin typeface="Garamond" panose="02020404030301010803" pitchFamily="18" charset="0"/>
            </a:endParaRPr>
          </a:p>
        </p:txBody>
      </p:sp>
      <p:sp>
        <p:nvSpPr>
          <p:cNvPr id="35870" name="Text Box 30"/>
          <p:cNvSpPr txBox="1">
            <a:spLocks noChangeArrowheads="1"/>
          </p:cNvSpPr>
          <p:nvPr/>
        </p:nvSpPr>
        <p:spPr bwMode="auto">
          <a:xfrm>
            <a:off x="381000" y="4800600"/>
            <a:ext cx="8305800" cy="1516063"/>
          </a:xfrm>
          <a:prstGeom prst="rect">
            <a:avLst/>
          </a:prstGeom>
          <a:noFill/>
          <a:ln w="9525">
            <a:noFill/>
            <a:miter lim="800000"/>
          </a:ln>
        </p:spPr>
        <p:txBody>
          <a:bodyPr anchorCtr="1">
            <a:spAutoFit/>
          </a:bodyPr>
          <a:lstStyle/>
          <a:p>
            <a:pPr eaLnBrk="0" hangingPunct="0">
              <a:lnSpc>
                <a:spcPct val="130000"/>
              </a:lnSpc>
            </a:pPr>
            <a:r>
              <a:rPr lang="zh-CN" altLang="en-US" b="1">
                <a:latin typeface="宋体" panose="02010600030101010101" pitchFamily="2" charset="-122"/>
              </a:rPr>
              <a:t>    气体的等温压缩过程中，压强的增大，仅由于</a:t>
            </a:r>
            <a:r>
              <a:rPr lang="zh-CN" altLang="en-US" b="1">
                <a:solidFill>
                  <a:srgbClr val="FF6600"/>
                </a:solidFill>
                <a:latin typeface="宋体" panose="02010600030101010101" pitchFamily="2" charset="-122"/>
              </a:rPr>
              <a:t>气体分子数密度增大</a:t>
            </a:r>
            <a:r>
              <a:rPr lang="zh-CN" altLang="en-US" b="1">
                <a:latin typeface="宋体" panose="02010600030101010101" pitchFamily="2" charset="-122"/>
              </a:rPr>
              <a:t>引起；绝热压缩过程中，压强的增大由两个因素引起</a:t>
            </a:r>
            <a:r>
              <a:rPr lang="en-US" altLang="zh-CN" b="1">
                <a:latin typeface="Arial" panose="020B0604020202020204" pitchFamily="34" charset="0"/>
              </a:rPr>
              <a:t>——</a:t>
            </a:r>
            <a:r>
              <a:rPr lang="zh-CN" altLang="en-US" b="1">
                <a:solidFill>
                  <a:srgbClr val="FF6600"/>
                </a:solidFill>
                <a:latin typeface="宋体" panose="02010600030101010101" pitchFamily="2" charset="-122"/>
              </a:rPr>
              <a:t>分子数密度增大</a:t>
            </a:r>
            <a:r>
              <a:rPr lang="zh-CN" altLang="en-US" b="1">
                <a:latin typeface="宋体" panose="02010600030101010101" pitchFamily="2" charset="-122"/>
              </a:rPr>
              <a:t>和</a:t>
            </a:r>
            <a:r>
              <a:rPr lang="zh-CN" altLang="en-US" b="1">
                <a:solidFill>
                  <a:srgbClr val="FF6600"/>
                </a:solidFill>
                <a:latin typeface="宋体" panose="02010600030101010101" pitchFamily="2" charset="-122"/>
              </a:rPr>
              <a:t>温度升高</a:t>
            </a:r>
            <a:r>
              <a:rPr lang="zh-CN" altLang="en-US" b="1">
                <a:latin typeface="宋体" panose="02010600030101010101" pitchFamily="2" charset="-122"/>
              </a:rPr>
              <a:t>。</a:t>
            </a:r>
            <a:endParaRPr lang="zh-CN" altLang="en-US"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9"/>
                                        </p:tgtEl>
                                        <p:attrNameLst>
                                          <p:attrName>style.visibility</p:attrName>
                                        </p:attrNameLst>
                                      </p:cBhvr>
                                      <p:to>
                                        <p:strVal val="visible"/>
                                      </p:to>
                                    </p:set>
                                    <p:animEffect transition="in" filter="wipe(left)">
                                      <p:cBhvr>
                                        <p:cTn id="7" dur="500"/>
                                        <p:tgtEl>
                                          <p:spTgt spid="358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9202"/>
                                        </p:tgtEl>
                                        <p:attrNameLst>
                                          <p:attrName>style.visibility</p:attrName>
                                        </p:attrNameLst>
                                      </p:cBhvr>
                                      <p:to>
                                        <p:strVal val="visible"/>
                                      </p:to>
                                    </p:set>
                                    <p:animEffect transition="in" filter="wipe(left)">
                                      <p:cBhvr>
                                        <p:cTn id="12" dur="500"/>
                                        <p:tgtEl>
                                          <p:spTgt spid="1792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9201"/>
                                        </p:tgtEl>
                                        <p:attrNameLst>
                                          <p:attrName>style.visibility</p:attrName>
                                        </p:attrNameLst>
                                      </p:cBhvr>
                                      <p:to>
                                        <p:strVal val="visible"/>
                                      </p:to>
                                    </p:set>
                                    <p:animEffect transition="in" filter="wipe(left)">
                                      <p:cBhvr>
                                        <p:cTn id="17" dur="500"/>
                                        <p:tgtEl>
                                          <p:spTgt spid="1792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855"/>
                                        </p:tgtEl>
                                        <p:attrNameLst>
                                          <p:attrName>style.visibility</p:attrName>
                                        </p:attrNameLst>
                                      </p:cBhvr>
                                      <p:to>
                                        <p:strVal val="visible"/>
                                      </p:to>
                                    </p:set>
                                    <p:animEffect transition="in" filter="wipe(left)">
                                      <p:cBhvr>
                                        <p:cTn id="22" dur="500"/>
                                        <p:tgtEl>
                                          <p:spTgt spid="35855"/>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5854"/>
                                        </p:tgtEl>
                                        <p:attrNameLst>
                                          <p:attrName>style.visibility</p:attrName>
                                        </p:attrNameLst>
                                      </p:cBhvr>
                                      <p:to>
                                        <p:strVal val="visible"/>
                                      </p:to>
                                    </p:set>
                                    <p:animEffect transition="in" filter="wipe(left)">
                                      <p:cBhvr>
                                        <p:cTn id="26" dur="500"/>
                                        <p:tgtEl>
                                          <p:spTgt spid="3585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79200"/>
                                        </p:tgtEl>
                                        <p:attrNameLst>
                                          <p:attrName>style.visibility</p:attrName>
                                        </p:attrNameLst>
                                      </p:cBhvr>
                                      <p:to>
                                        <p:strVal val="visible"/>
                                      </p:to>
                                    </p:set>
                                    <p:animEffect transition="in" filter="wipe(left)">
                                      <p:cBhvr>
                                        <p:cTn id="31" dur="500"/>
                                        <p:tgtEl>
                                          <p:spTgt spid="17920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9203"/>
                                        </p:tgtEl>
                                        <p:attrNameLst>
                                          <p:attrName>style.visibility</p:attrName>
                                        </p:attrNameLst>
                                      </p:cBhvr>
                                      <p:to>
                                        <p:strVal val="visible"/>
                                      </p:to>
                                    </p:set>
                                    <p:animEffect transition="in" filter="wipe(left)">
                                      <p:cBhvr>
                                        <p:cTn id="36" dur="500"/>
                                        <p:tgtEl>
                                          <p:spTgt spid="17920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5861"/>
                                        </p:tgtEl>
                                        <p:attrNameLst>
                                          <p:attrName>style.visibility</p:attrName>
                                        </p:attrNameLst>
                                      </p:cBhvr>
                                      <p:to>
                                        <p:strVal val="visible"/>
                                      </p:to>
                                    </p:set>
                                    <p:animEffect transition="in" filter="wipe(left)">
                                      <p:cBhvr>
                                        <p:cTn id="41" dur="500"/>
                                        <p:tgtEl>
                                          <p:spTgt spid="3586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down)">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5860"/>
                                        </p:tgtEl>
                                        <p:attrNameLst>
                                          <p:attrName>style.visibility</p:attrName>
                                        </p:attrNameLst>
                                      </p:cBhvr>
                                      <p:to>
                                        <p:strVal val="visible"/>
                                      </p:to>
                                    </p:set>
                                    <p:animEffect transition="in" filter="wipe(left)">
                                      <p:cBhvr>
                                        <p:cTn id="51" dur="500"/>
                                        <p:tgtEl>
                                          <p:spTgt spid="35860"/>
                                        </p:tgtEl>
                                      </p:cBhvr>
                                    </p:animEffect>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35858"/>
                                        </p:tgtEl>
                                        <p:attrNameLst>
                                          <p:attrName>style.visibility</p:attrName>
                                        </p:attrNameLst>
                                      </p:cBhvr>
                                      <p:to>
                                        <p:strVal val="visible"/>
                                      </p:to>
                                    </p:set>
                                    <p:animEffect transition="in" filter="wipe(down)">
                                      <p:cBhvr>
                                        <p:cTn id="55" dur="500"/>
                                        <p:tgtEl>
                                          <p:spTgt spid="35858"/>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499"/>
                                          </p:stCondLst>
                                        </p:cTn>
                                        <p:tgtEl>
                                          <p:spTgt spid="179204"/>
                                        </p:tgtEl>
                                        <p:attrNameLst>
                                          <p:attrName>style.visibility</p:attrName>
                                        </p:attrNameLst>
                                      </p:cBhvr>
                                      <p:to>
                                        <p:strVal val="visible"/>
                                      </p:to>
                                    </p:se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499"/>
                                          </p:stCondLst>
                                        </p:cTn>
                                        <p:tgtEl>
                                          <p:spTgt spid="3585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35859"/>
                                        </p:tgtEl>
                                        <p:attrNameLst>
                                          <p:attrName>style.visibility</p:attrName>
                                        </p:attrNameLst>
                                      </p:cBhvr>
                                      <p:to>
                                        <p:strVal val="visible"/>
                                      </p:to>
                                    </p:set>
                                    <p:animEffect transition="in" filter="wipe(up)">
                                      <p:cBhvr>
                                        <p:cTn id="67" dur="500"/>
                                        <p:tgtEl>
                                          <p:spTgt spid="35859"/>
                                        </p:tgtEl>
                                      </p:cBhvr>
                                    </p:animEffect>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35857"/>
                                        </p:tgtEl>
                                        <p:attrNameLst>
                                          <p:attrName>style.visibility</p:attrName>
                                        </p:attrNameLst>
                                      </p:cBhvr>
                                      <p:to>
                                        <p:strVal val="visible"/>
                                      </p:to>
                                    </p:set>
                                    <p:animEffect transition="in" filter="wipe(left)">
                                      <p:cBhvr>
                                        <p:cTn id="71" dur="500"/>
                                        <p:tgtEl>
                                          <p:spTgt spid="3585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35869"/>
                                        </p:tgtEl>
                                        <p:attrNameLst>
                                          <p:attrName>style.visibility</p:attrName>
                                        </p:attrNameLst>
                                      </p:cBhvr>
                                      <p:to>
                                        <p:strVal val="visible"/>
                                      </p:to>
                                    </p:set>
                                    <p:animEffect transition="in" filter="wipe(left)">
                                      <p:cBhvr>
                                        <p:cTn id="76" dur="500"/>
                                        <p:tgtEl>
                                          <p:spTgt spid="3586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35870"/>
                                        </p:tgtEl>
                                        <p:attrNameLst>
                                          <p:attrName>style.visibility</p:attrName>
                                        </p:attrNameLst>
                                      </p:cBhvr>
                                      <p:to>
                                        <p:strVal val="visible"/>
                                      </p:to>
                                    </p:set>
                                    <p:animEffect transition="in" filter="wipe(left)">
                                      <p:cBhvr>
                                        <p:cTn id="81" dur="500"/>
                                        <p:tgtEl>
                                          <p:spTgt spid="35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9" grpId="0" autoUpdateAnimBg="0"/>
      <p:bldP spid="35854" grpId="0" autoUpdateAnimBg="0"/>
      <p:bldP spid="35855" grpId="0" animBg="1" autoUpdateAnimBg="0"/>
      <p:bldP spid="35856" grpId="0" autoUpdateAnimBg="0"/>
      <p:bldP spid="35857" grpId="0" animBg="1" autoUpdateAnimBg="0"/>
      <p:bldP spid="35858" grpId="0" animBg="1" autoUpdateAnimBg="0"/>
      <p:bldP spid="35859" grpId="0" animBg="1"/>
      <p:bldP spid="35860" grpId="0" animBg="1"/>
      <p:bldP spid="35861" grpId="0" autoUpdateAnimBg="0"/>
      <p:bldP spid="35869" grpId="0" autoUpdateAnimBg="0"/>
      <p:bldP spid="35870"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p:cNvSpPr txBox="1">
            <a:spLocks noChangeArrowheads="1"/>
          </p:cNvSpPr>
          <p:nvPr/>
        </p:nvSpPr>
        <p:spPr bwMode="auto">
          <a:xfrm>
            <a:off x="649288" y="769938"/>
            <a:ext cx="8086725" cy="4729162"/>
          </a:xfrm>
          <a:prstGeom prst="rect">
            <a:avLst/>
          </a:prstGeom>
          <a:noFill/>
          <a:ln w="9525">
            <a:noFill/>
            <a:miter lim="800000"/>
          </a:ln>
        </p:spPr>
        <p:txBody>
          <a:bodyPr>
            <a:spAutoFit/>
          </a:bodyPr>
          <a:lstStyle/>
          <a:p>
            <a:pPr>
              <a:lnSpc>
                <a:spcPct val="130000"/>
              </a:lnSpc>
              <a:spcBef>
                <a:spcPct val="50000"/>
              </a:spcBef>
            </a:pPr>
            <a:r>
              <a:rPr lang="zh-CN" altLang="en-US" b="1">
                <a:solidFill>
                  <a:srgbClr val="FF6600"/>
                </a:solidFill>
                <a:latin typeface="Garamond" panose="02020404030301010803" pitchFamily="18" charset="0"/>
              </a:rPr>
              <a:t>自然界及日常生活中的绝热过程</a:t>
            </a:r>
            <a:br>
              <a:rPr lang="zh-CN" altLang="en-US" b="1">
                <a:solidFill>
                  <a:schemeClr val="tx2"/>
                </a:solidFill>
                <a:latin typeface="Garamond" panose="02020404030301010803" pitchFamily="18" charset="0"/>
              </a:rPr>
            </a:br>
            <a:endParaRPr lang="zh-CN" altLang="en-US" b="1">
              <a:solidFill>
                <a:schemeClr val="tx2"/>
              </a:solidFill>
              <a:latin typeface="Garamond" panose="02020404030301010803" pitchFamily="18" charset="0"/>
            </a:endParaRPr>
          </a:p>
          <a:p>
            <a:pPr>
              <a:lnSpc>
                <a:spcPct val="130000"/>
              </a:lnSpc>
              <a:spcBef>
                <a:spcPct val="50000"/>
              </a:spcBef>
            </a:pPr>
            <a:r>
              <a:rPr lang="zh-CN" altLang="en-US" b="1">
                <a:solidFill>
                  <a:schemeClr val="tx2"/>
                </a:solidFill>
                <a:latin typeface="Garamond" panose="02020404030301010803" pitchFamily="18" charset="0"/>
              </a:rPr>
              <a:t>         ①</a:t>
            </a:r>
            <a:r>
              <a:rPr lang="zh-CN" altLang="en-US" b="1">
                <a:solidFill>
                  <a:srgbClr val="FF6600"/>
                </a:solidFill>
                <a:latin typeface="Garamond" panose="02020404030301010803" pitchFamily="18" charset="0"/>
              </a:rPr>
              <a:t> 绝热冷却</a:t>
            </a:r>
            <a:r>
              <a:rPr lang="zh-CN" altLang="en-US" b="1">
                <a:latin typeface="Garamond" panose="02020404030301010803" pitchFamily="18" charset="0"/>
              </a:rPr>
              <a:t>。如压缩空气从喷嘴急速喷出时，气体绝热膨胀，使气体变冷，甚至液化。</a:t>
            </a:r>
            <a:endParaRPr lang="zh-CN" altLang="en-US" b="1">
              <a:latin typeface="Garamond" panose="02020404030301010803" pitchFamily="18" charset="0"/>
            </a:endParaRPr>
          </a:p>
          <a:p>
            <a:pPr>
              <a:lnSpc>
                <a:spcPct val="130000"/>
              </a:lnSpc>
              <a:spcBef>
                <a:spcPct val="50000"/>
              </a:spcBef>
            </a:pPr>
            <a:r>
              <a:rPr lang="zh-CN" altLang="en-US" b="1">
                <a:solidFill>
                  <a:schemeClr val="tx2"/>
                </a:solidFill>
                <a:latin typeface="Garamond" panose="02020404030301010803" pitchFamily="18" charset="0"/>
              </a:rPr>
              <a:t>          ②</a:t>
            </a:r>
            <a:r>
              <a:rPr lang="zh-CN" altLang="en-US" b="1">
                <a:solidFill>
                  <a:srgbClr val="FF6600"/>
                </a:solidFill>
                <a:latin typeface="Garamond" panose="02020404030301010803" pitchFamily="18" charset="0"/>
              </a:rPr>
              <a:t> 降雨</a:t>
            </a:r>
            <a:r>
              <a:rPr lang="zh-CN" altLang="en-US" b="1">
                <a:latin typeface="Garamond" panose="02020404030301010803" pitchFamily="18" charset="0"/>
              </a:rPr>
              <a:t>。地面附近的气团受热上升，高空的气团因冷下降，形成垂直气流。在这一过程中因空气传热性能差，可近似认为是绝热过程。上升热气流将因绝热膨胀而降温，从而使饱和蒸汽压减小，达到一定程度时，水蒸气从不饱和到饱和，开始凝结，并形成降雨。</a:t>
            </a:r>
            <a:endParaRPr lang="zh-CN" altLang="en-US" b="1">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2338">
                                            <p:txEl>
                                              <p:pRg st="0" end="0"/>
                                            </p:txEl>
                                          </p:spTgt>
                                        </p:tgtEl>
                                        <p:attrNameLst>
                                          <p:attrName>style.visibility</p:attrName>
                                        </p:attrNameLst>
                                      </p:cBhvr>
                                      <p:to>
                                        <p:strVal val="visible"/>
                                      </p:to>
                                    </p:set>
                                    <p:animEffect transition="in" filter="wipe(left)">
                                      <p:cBhvr>
                                        <p:cTn id="7" dur="1000"/>
                                        <p:tgtEl>
                                          <p:spTgt spid="1423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2338">
                                            <p:txEl>
                                              <p:pRg st="1" end="1"/>
                                            </p:txEl>
                                          </p:spTgt>
                                        </p:tgtEl>
                                        <p:attrNameLst>
                                          <p:attrName>style.visibility</p:attrName>
                                        </p:attrNameLst>
                                      </p:cBhvr>
                                      <p:to>
                                        <p:strVal val="visible"/>
                                      </p:to>
                                    </p:set>
                                    <p:animEffect transition="in" filter="wipe(left)">
                                      <p:cBhvr>
                                        <p:cTn id="12" dur="1000"/>
                                        <p:tgtEl>
                                          <p:spTgt spid="1423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2338">
                                            <p:txEl>
                                              <p:pRg st="2" end="2"/>
                                            </p:txEl>
                                          </p:spTgt>
                                        </p:tgtEl>
                                        <p:attrNameLst>
                                          <p:attrName>style.visibility</p:attrName>
                                        </p:attrNameLst>
                                      </p:cBhvr>
                                      <p:to>
                                        <p:strVal val="visible"/>
                                      </p:to>
                                    </p:set>
                                    <p:animEffect transition="in" filter="wipe(left)">
                                      <p:cBhvr>
                                        <p:cTn id="17" dur="1000"/>
                                        <p:tgtEl>
                                          <p:spTgt spid="1423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323850" y="3727450"/>
            <a:ext cx="8424863" cy="2870200"/>
          </a:xfrm>
          <a:prstGeom prst="rect">
            <a:avLst/>
          </a:prstGeom>
          <a:noFill/>
          <a:ln w="9525">
            <a:noFill/>
            <a:miter lim="800000"/>
          </a:ln>
        </p:spPr>
        <p:txBody>
          <a:bodyPr>
            <a:spAutoFit/>
          </a:bodyPr>
          <a:lstStyle/>
          <a:p>
            <a:pPr>
              <a:lnSpc>
                <a:spcPct val="130000"/>
              </a:lnSpc>
              <a:spcBef>
                <a:spcPct val="50000"/>
              </a:spcBef>
            </a:pPr>
            <a:r>
              <a:rPr lang="en-US" altLang="zh-CN" sz="2000" b="1">
                <a:latin typeface="Garamond" panose="02020404030301010803" pitchFamily="18" charset="0"/>
              </a:rPr>
              <a:t>       </a:t>
            </a:r>
            <a:r>
              <a:rPr lang="zh-CN" altLang="en-US" sz="2000" b="1">
                <a:latin typeface="Garamond" panose="02020404030301010803" pitchFamily="18" charset="0"/>
              </a:rPr>
              <a:t>当空气越过山峰后，就变成了干燥的空气。当这种空气沿背风坡下降时，气流由于被绝热压缩而升温就形成了干热风。在山谷地、山脉北风坡、低洼盆地，干热风较易形成，而在丘陵地带和阳坡地很难形成干热风。特别是，随着海拔高度的升高，干热风将逐渐减弱。</a:t>
            </a:r>
            <a:br>
              <a:rPr lang="zh-CN" altLang="en-US" sz="2000" b="1">
                <a:latin typeface="Garamond" panose="02020404030301010803" pitchFamily="18" charset="0"/>
              </a:rPr>
            </a:br>
            <a:r>
              <a:rPr lang="zh-CN" altLang="en-US" sz="2000" b="1">
                <a:latin typeface="Garamond" panose="02020404030301010803" pitchFamily="18" charset="0"/>
              </a:rPr>
              <a:t>        干热风是中国北方小麦产区的常见自然灾害之一。在现代农业中，选育抗干热风的作物品种，调整作物布局和栽培制度，营造护林带降低风速以及适时灌溉增大湿度都可以有效地减轻干热风带来的危害</a:t>
            </a:r>
            <a:r>
              <a:rPr lang="zh-CN" altLang="en-US" sz="2000" b="1">
                <a:solidFill>
                  <a:schemeClr val="tx2"/>
                </a:solidFill>
                <a:latin typeface="Garamond" panose="02020404030301010803" pitchFamily="18" charset="0"/>
              </a:rPr>
              <a:t>。</a:t>
            </a:r>
            <a:endParaRPr lang="zh-CN" altLang="en-US" sz="2000" b="1">
              <a:solidFill>
                <a:schemeClr val="tx2"/>
              </a:solidFill>
              <a:latin typeface="Garamond" panose="02020404030301010803" pitchFamily="18" charset="0"/>
            </a:endParaRPr>
          </a:p>
        </p:txBody>
      </p:sp>
      <p:pic>
        <p:nvPicPr>
          <p:cNvPr id="161795" name="Picture 3" descr="109"/>
          <p:cNvPicPr>
            <a:picLocks noChangeAspect="1" noChangeArrowheads="1"/>
          </p:cNvPicPr>
          <p:nvPr/>
        </p:nvPicPr>
        <p:blipFill>
          <a:blip r:embed="rId1"/>
          <a:srcRect/>
          <a:stretch>
            <a:fillRect/>
          </a:stretch>
        </p:blipFill>
        <p:spPr bwMode="auto">
          <a:xfrm>
            <a:off x="684213" y="973138"/>
            <a:ext cx="7667625" cy="2743200"/>
          </a:xfrm>
          <a:prstGeom prst="rect">
            <a:avLst/>
          </a:prstGeom>
          <a:noFill/>
          <a:ln w="9525">
            <a:noFill/>
            <a:miter lim="800000"/>
            <a:headEnd/>
            <a:tailEnd/>
          </a:ln>
        </p:spPr>
      </p:pic>
      <p:sp>
        <p:nvSpPr>
          <p:cNvPr id="161796" name="Text Box 4"/>
          <p:cNvSpPr txBox="1">
            <a:spLocks noChangeArrowheads="1"/>
          </p:cNvSpPr>
          <p:nvPr/>
        </p:nvSpPr>
        <p:spPr bwMode="auto">
          <a:xfrm>
            <a:off x="250825" y="404813"/>
            <a:ext cx="2952750" cy="457200"/>
          </a:xfrm>
          <a:prstGeom prst="rect">
            <a:avLst/>
          </a:prstGeom>
          <a:noFill/>
          <a:ln w="19050" algn="ctr">
            <a:noFill/>
            <a:miter lim="800000"/>
          </a:ln>
        </p:spPr>
        <p:txBody>
          <a:bodyPr>
            <a:spAutoFit/>
          </a:bodyPr>
          <a:lstStyle/>
          <a:p>
            <a:pPr>
              <a:spcBef>
                <a:spcPct val="50000"/>
              </a:spcBef>
            </a:pPr>
            <a:r>
              <a:rPr lang="en-US" altLang="zh-CN" b="1">
                <a:latin typeface="宋体" panose="02010600030101010101" pitchFamily="2" charset="-122"/>
              </a:rPr>
              <a:t>③ </a:t>
            </a:r>
            <a:r>
              <a:rPr lang="zh-CN" altLang="en-US" b="1">
                <a:solidFill>
                  <a:srgbClr val="FF6600"/>
                </a:solidFill>
                <a:latin typeface="宋体" panose="02010600030101010101" pitchFamily="2" charset="-122"/>
              </a:rPr>
              <a:t>干热风形成</a:t>
            </a:r>
            <a:endParaRPr lang="zh-CN" altLang="en-US" b="1">
              <a:solidFill>
                <a:schemeClr val="tx2"/>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6"/>
                                        </p:tgtEl>
                                        <p:attrNameLst>
                                          <p:attrName>style.visibility</p:attrName>
                                        </p:attrNameLst>
                                      </p:cBhvr>
                                      <p:to>
                                        <p:strVal val="visible"/>
                                      </p:to>
                                    </p:set>
                                    <p:animEffect transition="in" filter="wipe(left)">
                                      <p:cBhvr>
                                        <p:cTn id="7" dur="500"/>
                                        <p:tgtEl>
                                          <p:spTgt spid="16179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1795"/>
                                        </p:tgtEl>
                                        <p:attrNameLst>
                                          <p:attrName>style.visibility</p:attrName>
                                        </p:attrNameLst>
                                      </p:cBhvr>
                                      <p:to>
                                        <p:strVal val="visible"/>
                                      </p:to>
                                    </p:set>
                                    <p:animEffect transition="in" filter="dissolve">
                                      <p:cBhvr>
                                        <p:cTn id="12" dur="500"/>
                                        <p:tgtEl>
                                          <p:spTgt spid="16179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61794"/>
                                        </p:tgtEl>
                                        <p:attrNameLst>
                                          <p:attrName>style.visibility</p:attrName>
                                        </p:attrNameLst>
                                      </p:cBhvr>
                                      <p:to>
                                        <p:strVal val="visible"/>
                                      </p:to>
                                    </p:set>
                                    <p:animEffect transition="in" filter="blinds(horizontal)">
                                      <p:cBhvr>
                                        <p:cTn id="15" dur="500"/>
                                        <p:tgtEl>
                                          <p:spTgt spid="161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p:bldP spid="16179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ChangeArrowheads="1"/>
          </p:cNvSpPr>
          <p:nvPr/>
        </p:nvSpPr>
        <p:spPr bwMode="auto">
          <a:xfrm>
            <a:off x="685800" y="609600"/>
            <a:ext cx="7772400" cy="609600"/>
          </a:xfrm>
          <a:prstGeom prst="rect">
            <a:avLst/>
          </a:prstGeom>
          <a:noFill/>
          <a:ln w="9525">
            <a:noFill/>
            <a:miter lim="800000"/>
          </a:ln>
        </p:spPr>
        <p:txBody>
          <a:bodyPr/>
          <a:lstStyle/>
          <a:p>
            <a:pPr algn="ctr"/>
            <a:r>
              <a:rPr lang="zh-CN" altLang="en-US" sz="3200" b="1">
                <a:solidFill>
                  <a:srgbClr val="FF6600"/>
                </a:solidFill>
                <a:latin typeface="Arial" panose="020B0604020202020204" pitchFamily="34" charset="0"/>
                <a:ea typeface="黑体" panose="02010609060101010101" pitchFamily="49" charset="-122"/>
              </a:rPr>
              <a:t>重 要 公 式小 结</a:t>
            </a:r>
            <a:endParaRPr lang="zh-CN" altLang="en-US" sz="3200" b="1">
              <a:solidFill>
                <a:srgbClr val="FF6600"/>
              </a:solidFill>
              <a:latin typeface="Arial" panose="020B0604020202020204" pitchFamily="34" charset="0"/>
              <a:ea typeface="黑体" panose="02010609060101010101" pitchFamily="49" charset="-122"/>
            </a:endParaRPr>
          </a:p>
        </p:txBody>
      </p:sp>
      <p:graphicFrame>
        <p:nvGraphicFramePr>
          <p:cNvPr id="102403" name="Object 3"/>
          <p:cNvGraphicFramePr>
            <a:graphicFrameLocks noChangeAspect="1"/>
          </p:cNvGraphicFramePr>
          <p:nvPr/>
        </p:nvGraphicFramePr>
        <p:xfrm>
          <a:off x="1228725" y="1246188"/>
          <a:ext cx="6532563" cy="4975225"/>
        </p:xfrm>
        <a:graphic>
          <a:graphicData uri="http://schemas.openxmlformats.org/presentationml/2006/ole">
            <mc:AlternateContent xmlns:mc="http://schemas.openxmlformats.org/markup-compatibility/2006">
              <mc:Choice xmlns:v="urn:schemas-microsoft-com:vml" Requires="v">
                <p:oleObj spid="_x0000_s23553" name="公式" r:id="rId1" imgW="69494400" imgH="56083200" progId="Equation.3">
                  <p:embed/>
                </p:oleObj>
              </mc:Choice>
              <mc:Fallback>
                <p:oleObj name="公式" r:id="rId1" imgW="69494400" imgH="56083200" progId="Equation.3">
                  <p:embed/>
                  <p:pic>
                    <p:nvPicPr>
                      <p:cNvPr id="0" name="Object 3"/>
                      <p:cNvPicPr>
                        <a:picLocks noChangeAspect="1"/>
                      </p:cNvPicPr>
                      <p:nvPr/>
                    </p:nvPicPr>
                    <p:blipFill>
                      <a:blip r:embed="rId2"/>
                      <a:stretch>
                        <a:fillRect/>
                      </a:stretch>
                    </p:blipFill>
                    <p:spPr>
                      <a:xfrm>
                        <a:off x="1228725" y="1246188"/>
                        <a:ext cx="6532563" cy="497522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2403"/>
                                        </p:tgtEl>
                                        <p:attrNameLst>
                                          <p:attrName>style.visibility</p:attrName>
                                        </p:attrNameLst>
                                      </p:cBhvr>
                                      <p:to>
                                        <p:strVal val="visible"/>
                                      </p:to>
                                    </p:set>
                                    <p:animEffect transition="in" filter="box(in)">
                                      <p:cBhvr>
                                        <p:cTn id="7" dur="1000"/>
                                        <p:tgtEl>
                                          <p:spTgt spid="102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5"/>
          <p:cNvGrpSpPr/>
          <p:nvPr/>
        </p:nvGrpSpPr>
        <p:grpSpPr bwMode="auto">
          <a:xfrm>
            <a:off x="6719888" y="2401888"/>
            <a:ext cx="876300" cy="1171575"/>
            <a:chOff x="4233" y="1513"/>
            <a:chExt cx="552" cy="738"/>
          </a:xfrm>
        </p:grpSpPr>
        <p:sp>
          <p:nvSpPr>
            <p:cNvPr id="24628" name="Freeform 8"/>
            <p:cNvSpPr/>
            <p:nvPr/>
          </p:nvSpPr>
          <p:spPr bwMode="auto">
            <a:xfrm>
              <a:off x="4233" y="1513"/>
              <a:ext cx="552" cy="738"/>
            </a:xfrm>
            <a:custGeom>
              <a:avLst/>
              <a:gdLst>
                <a:gd name="T0" fmla="*/ 0 w 734"/>
                <a:gd name="T1" fmla="*/ 0 h 789"/>
                <a:gd name="T2" fmla="*/ 4 w 734"/>
                <a:gd name="T3" fmla="*/ 114 h 789"/>
                <a:gd name="T4" fmla="*/ 8 w 734"/>
                <a:gd name="T5" fmla="*/ 210 h 789"/>
                <a:gd name="T6" fmla="*/ 15 w 734"/>
                <a:gd name="T7" fmla="*/ 297 h 789"/>
                <a:gd name="T8" fmla="*/ 23 w 734"/>
                <a:gd name="T9" fmla="*/ 355 h 789"/>
                <a:gd name="T10" fmla="*/ 32 w 734"/>
                <a:gd name="T11" fmla="*/ 378 h 789"/>
                <a:gd name="T12" fmla="*/ 0 60000 65536"/>
                <a:gd name="T13" fmla="*/ 0 60000 65536"/>
                <a:gd name="T14" fmla="*/ 0 60000 65536"/>
                <a:gd name="T15" fmla="*/ 0 60000 65536"/>
                <a:gd name="T16" fmla="*/ 0 60000 65536"/>
                <a:gd name="T17" fmla="*/ 0 60000 65536"/>
                <a:gd name="T18" fmla="*/ 0 w 734"/>
                <a:gd name="T19" fmla="*/ 0 h 789"/>
                <a:gd name="T20" fmla="*/ 734 w 734"/>
                <a:gd name="T21" fmla="*/ 789 h 789"/>
              </a:gdLst>
              <a:ahLst/>
              <a:cxnLst>
                <a:cxn ang="T12">
                  <a:pos x="T0" y="T1"/>
                </a:cxn>
                <a:cxn ang="T13">
                  <a:pos x="T2" y="T3"/>
                </a:cxn>
                <a:cxn ang="T14">
                  <a:pos x="T4" y="T5"/>
                </a:cxn>
                <a:cxn ang="T15">
                  <a:pos x="T6" y="T7"/>
                </a:cxn>
                <a:cxn ang="T16">
                  <a:pos x="T8" y="T9"/>
                </a:cxn>
                <a:cxn ang="T17">
                  <a:pos x="T10" y="T11"/>
                </a:cxn>
              </a:cxnLst>
              <a:rect l="T18" t="T19" r="T20" b="T21"/>
              <a:pathLst>
                <a:path w="734" h="789">
                  <a:moveTo>
                    <a:pt x="0" y="0"/>
                  </a:moveTo>
                  <a:cubicBezTo>
                    <a:pt x="14" y="39"/>
                    <a:pt x="52" y="164"/>
                    <a:pt x="82" y="237"/>
                  </a:cubicBezTo>
                  <a:cubicBezTo>
                    <a:pt x="112" y="310"/>
                    <a:pt x="140" y="375"/>
                    <a:pt x="183" y="439"/>
                  </a:cubicBezTo>
                  <a:cubicBezTo>
                    <a:pt x="226" y="503"/>
                    <a:pt x="282" y="571"/>
                    <a:pt x="338" y="621"/>
                  </a:cubicBezTo>
                  <a:cubicBezTo>
                    <a:pt x="394" y="671"/>
                    <a:pt x="455" y="712"/>
                    <a:pt x="521" y="740"/>
                  </a:cubicBezTo>
                  <a:cubicBezTo>
                    <a:pt x="587" y="768"/>
                    <a:pt x="690" y="779"/>
                    <a:pt x="734" y="789"/>
                  </a:cubicBezTo>
                </a:path>
              </a:pathLst>
            </a:custGeom>
            <a:noFill/>
            <a:ln w="38100">
              <a:solidFill>
                <a:schemeClr val="hlink"/>
              </a:solidFill>
              <a:prstDash val="sysDot"/>
              <a:round/>
            </a:ln>
          </p:spPr>
          <p:txBody>
            <a:bodyPr/>
            <a:lstStyle/>
            <a:p>
              <a:pPr algn="ctr"/>
              <a:endParaRPr lang="zh-CN" altLang="en-US" b="1"/>
            </a:p>
          </p:txBody>
        </p:sp>
        <p:sp>
          <p:nvSpPr>
            <p:cNvPr id="24629" name="Line 9"/>
            <p:cNvSpPr>
              <a:spLocks noChangeShapeType="1"/>
            </p:cNvSpPr>
            <p:nvPr/>
          </p:nvSpPr>
          <p:spPr bwMode="auto">
            <a:xfrm>
              <a:off x="4377" y="1930"/>
              <a:ext cx="91" cy="136"/>
            </a:xfrm>
            <a:prstGeom prst="line">
              <a:avLst/>
            </a:prstGeom>
            <a:noFill/>
            <a:ln w="38100">
              <a:solidFill>
                <a:schemeClr val="hlink"/>
              </a:solidFill>
              <a:prstDash val="sysDot"/>
              <a:round/>
              <a:tailEnd type="triangle" w="med" len="med"/>
            </a:ln>
          </p:spPr>
          <p:txBody>
            <a:bodyPr/>
            <a:lstStyle/>
            <a:p>
              <a:endParaRPr lang="zh-CN" altLang="en-US"/>
            </a:p>
          </p:txBody>
        </p:sp>
      </p:grpSp>
      <p:grpSp>
        <p:nvGrpSpPr>
          <p:cNvPr id="3" name="Group 34"/>
          <p:cNvGrpSpPr/>
          <p:nvPr/>
        </p:nvGrpSpPr>
        <p:grpSpPr bwMode="auto">
          <a:xfrm>
            <a:off x="6705600" y="2379663"/>
            <a:ext cx="900113" cy="1204912"/>
            <a:chOff x="4224" y="1499"/>
            <a:chExt cx="567" cy="759"/>
          </a:xfrm>
        </p:grpSpPr>
        <p:sp>
          <p:nvSpPr>
            <p:cNvPr id="24626" name="Freeform 32"/>
            <p:cNvSpPr/>
            <p:nvPr/>
          </p:nvSpPr>
          <p:spPr bwMode="auto">
            <a:xfrm>
              <a:off x="4224" y="1499"/>
              <a:ext cx="567" cy="759"/>
            </a:xfrm>
            <a:custGeom>
              <a:avLst/>
              <a:gdLst>
                <a:gd name="T0" fmla="*/ 0 w 567"/>
                <a:gd name="T1" fmla="*/ 0 h 759"/>
                <a:gd name="T2" fmla="*/ 37 w 567"/>
                <a:gd name="T3" fmla="*/ 348 h 759"/>
                <a:gd name="T4" fmla="*/ 128 w 567"/>
                <a:gd name="T5" fmla="*/ 576 h 759"/>
                <a:gd name="T6" fmla="*/ 329 w 567"/>
                <a:gd name="T7" fmla="*/ 714 h 759"/>
                <a:gd name="T8" fmla="*/ 567 w 567"/>
                <a:gd name="T9" fmla="*/ 759 h 759"/>
                <a:gd name="T10" fmla="*/ 0 60000 65536"/>
                <a:gd name="T11" fmla="*/ 0 60000 65536"/>
                <a:gd name="T12" fmla="*/ 0 60000 65536"/>
                <a:gd name="T13" fmla="*/ 0 60000 65536"/>
                <a:gd name="T14" fmla="*/ 0 60000 65536"/>
                <a:gd name="T15" fmla="*/ 0 w 567"/>
                <a:gd name="T16" fmla="*/ 0 h 759"/>
                <a:gd name="T17" fmla="*/ 567 w 567"/>
                <a:gd name="T18" fmla="*/ 759 h 759"/>
              </a:gdLst>
              <a:ahLst/>
              <a:cxnLst>
                <a:cxn ang="T10">
                  <a:pos x="T0" y="T1"/>
                </a:cxn>
                <a:cxn ang="T11">
                  <a:pos x="T2" y="T3"/>
                </a:cxn>
                <a:cxn ang="T12">
                  <a:pos x="T4" y="T5"/>
                </a:cxn>
                <a:cxn ang="T13">
                  <a:pos x="T6" y="T7"/>
                </a:cxn>
                <a:cxn ang="T14">
                  <a:pos x="T8" y="T9"/>
                </a:cxn>
              </a:cxnLst>
              <a:rect l="T15" t="T16" r="T17" b="T18"/>
              <a:pathLst>
                <a:path w="567" h="759">
                  <a:moveTo>
                    <a:pt x="0" y="0"/>
                  </a:moveTo>
                  <a:cubicBezTo>
                    <a:pt x="6" y="58"/>
                    <a:pt x="16" y="252"/>
                    <a:pt x="37" y="348"/>
                  </a:cubicBezTo>
                  <a:cubicBezTo>
                    <a:pt x="58" y="444"/>
                    <a:pt x="79" y="515"/>
                    <a:pt x="128" y="576"/>
                  </a:cubicBezTo>
                  <a:cubicBezTo>
                    <a:pt x="177" y="637"/>
                    <a:pt x="256" y="684"/>
                    <a:pt x="329" y="714"/>
                  </a:cubicBezTo>
                  <a:cubicBezTo>
                    <a:pt x="402" y="744"/>
                    <a:pt x="518" y="750"/>
                    <a:pt x="567" y="759"/>
                  </a:cubicBezTo>
                </a:path>
              </a:pathLst>
            </a:custGeom>
            <a:noFill/>
            <a:ln w="38100">
              <a:solidFill>
                <a:srgbClr val="0000FF"/>
              </a:solidFill>
              <a:round/>
            </a:ln>
          </p:spPr>
          <p:txBody>
            <a:bodyPr/>
            <a:lstStyle/>
            <a:p>
              <a:pPr algn="ctr"/>
              <a:endParaRPr lang="zh-CN" altLang="en-US" b="1"/>
            </a:p>
          </p:txBody>
        </p:sp>
        <p:sp>
          <p:nvSpPr>
            <p:cNvPr id="24627" name="Line 33"/>
            <p:cNvSpPr>
              <a:spLocks noChangeShapeType="1"/>
            </p:cNvSpPr>
            <p:nvPr/>
          </p:nvSpPr>
          <p:spPr bwMode="auto">
            <a:xfrm>
              <a:off x="4295" y="1979"/>
              <a:ext cx="46" cy="90"/>
            </a:xfrm>
            <a:prstGeom prst="line">
              <a:avLst/>
            </a:prstGeom>
            <a:noFill/>
            <a:ln w="38100">
              <a:solidFill>
                <a:srgbClr val="0000FF"/>
              </a:solidFill>
              <a:round/>
              <a:tailEnd type="triangle" w="med" len="med"/>
            </a:ln>
          </p:spPr>
          <p:txBody>
            <a:bodyPr/>
            <a:lstStyle/>
            <a:p>
              <a:endParaRPr lang="zh-CN" altLang="en-US"/>
            </a:p>
          </p:txBody>
        </p:sp>
      </p:grpSp>
      <p:grpSp>
        <p:nvGrpSpPr>
          <p:cNvPr id="4" name="Group 38"/>
          <p:cNvGrpSpPr/>
          <p:nvPr/>
        </p:nvGrpSpPr>
        <p:grpSpPr bwMode="auto">
          <a:xfrm>
            <a:off x="6691313" y="2395538"/>
            <a:ext cx="962025" cy="1177925"/>
            <a:chOff x="4224" y="1509"/>
            <a:chExt cx="606" cy="742"/>
          </a:xfrm>
        </p:grpSpPr>
        <p:sp>
          <p:nvSpPr>
            <p:cNvPr id="24624" name="Freeform 36"/>
            <p:cNvSpPr/>
            <p:nvPr/>
          </p:nvSpPr>
          <p:spPr bwMode="auto">
            <a:xfrm>
              <a:off x="4224" y="1509"/>
              <a:ext cx="606" cy="742"/>
            </a:xfrm>
            <a:custGeom>
              <a:avLst/>
              <a:gdLst>
                <a:gd name="T0" fmla="*/ 0 w 606"/>
                <a:gd name="T1" fmla="*/ 0 h 742"/>
                <a:gd name="T2" fmla="*/ 210 w 606"/>
                <a:gd name="T3" fmla="*/ 100 h 742"/>
                <a:gd name="T4" fmla="*/ 402 w 606"/>
                <a:gd name="T5" fmla="*/ 274 h 742"/>
                <a:gd name="T6" fmla="*/ 530 w 606"/>
                <a:gd name="T7" fmla="*/ 502 h 742"/>
                <a:gd name="T8" fmla="*/ 606 w 606"/>
                <a:gd name="T9" fmla="*/ 742 h 742"/>
                <a:gd name="T10" fmla="*/ 0 60000 65536"/>
                <a:gd name="T11" fmla="*/ 0 60000 65536"/>
                <a:gd name="T12" fmla="*/ 0 60000 65536"/>
                <a:gd name="T13" fmla="*/ 0 60000 65536"/>
                <a:gd name="T14" fmla="*/ 0 60000 65536"/>
                <a:gd name="T15" fmla="*/ 0 w 606"/>
                <a:gd name="T16" fmla="*/ 0 h 742"/>
                <a:gd name="T17" fmla="*/ 606 w 606"/>
                <a:gd name="T18" fmla="*/ 742 h 742"/>
              </a:gdLst>
              <a:ahLst/>
              <a:cxnLst>
                <a:cxn ang="T10">
                  <a:pos x="T0" y="T1"/>
                </a:cxn>
                <a:cxn ang="T11">
                  <a:pos x="T2" y="T3"/>
                </a:cxn>
                <a:cxn ang="T12">
                  <a:pos x="T4" y="T5"/>
                </a:cxn>
                <a:cxn ang="T13">
                  <a:pos x="T6" y="T7"/>
                </a:cxn>
                <a:cxn ang="T14">
                  <a:pos x="T8" y="T9"/>
                </a:cxn>
              </a:cxnLst>
              <a:rect l="T15" t="T16" r="T17" b="T18"/>
              <a:pathLst>
                <a:path w="606" h="742">
                  <a:moveTo>
                    <a:pt x="0" y="0"/>
                  </a:moveTo>
                  <a:cubicBezTo>
                    <a:pt x="35" y="18"/>
                    <a:pt x="143" y="54"/>
                    <a:pt x="210" y="100"/>
                  </a:cubicBezTo>
                  <a:cubicBezTo>
                    <a:pt x="277" y="146"/>
                    <a:pt x="349" y="207"/>
                    <a:pt x="402" y="274"/>
                  </a:cubicBezTo>
                  <a:cubicBezTo>
                    <a:pt x="455" y="341"/>
                    <a:pt x="496" y="424"/>
                    <a:pt x="530" y="502"/>
                  </a:cubicBezTo>
                  <a:cubicBezTo>
                    <a:pt x="564" y="580"/>
                    <a:pt x="590" y="692"/>
                    <a:pt x="606" y="742"/>
                  </a:cubicBezTo>
                </a:path>
              </a:pathLst>
            </a:custGeom>
            <a:noFill/>
            <a:ln w="38100">
              <a:solidFill>
                <a:srgbClr val="FF00FF"/>
              </a:solidFill>
              <a:round/>
            </a:ln>
          </p:spPr>
          <p:txBody>
            <a:bodyPr/>
            <a:lstStyle/>
            <a:p>
              <a:pPr algn="ctr"/>
              <a:endParaRPr lang="zh-CN" altLang="en-US" b="1"/>
            </a:p>
          </p:txBody>
        </p:sp>
        <p:sp>
          <p:nvSpPr>
            <p:cNvPr id="24625" name="Line 37"/>
            <p:cNvSpPr>
              <a:spLocks noChangeShapeType="1"/>
            </p:cNvSpPr>
            <p:nvPr/>
          </p:nvSpPr>
          <p:spPr bwMode="auto">
            <a:xfrm>
              <a:off x="4649" y="1797"/>
              <a:ext cx="45" cy="91"/>
            </a:xfrm>
            <a:prstGeom prst="line">
              <a:avLst/>
            </a:prstGeom>
            <a:noFill/>
            <a:ln w="38100">
              <a:solidFill>
                <a:srgbClr val="FF00FF"/>
              </a:solidFill>
              <a:round/>
              <a:tailEnd type="triangle" w="med" len="med"/>
            </a:ln>
          </p:spPr>
          <p:txBody>
            <a:bodyPr/>
            <a:lstStyle/>
            <a:p>
              <a:endParaRPr lang="zh-CN" altLang="en-US"/>
            </a:p>
          </p:txBody>
        </p:sp>
      </p:grpSp>
      <p:sp>
        <p:nvSpPr>
          <p:cNvPr id="45060" name="Text Box 4"/>
          <p:cNvSpPr txBox="1">
            <a:spLocks noChangeArrowheads="1"/>
          </p:cNvSpPr>
          <p:nvPr/>
        </p:nvSpPr>
        <p:spPr bwMode="auto">
          <a:xfrm>
            <a:off x="808038" y="981075"/>
            <a:ext cx="1027112" cy="457200"/>
          </a:xfrm>
          <a:prstGeom prst="rect">
            <a:avLst/>
          </a:prstGeom>
          <a:noFill/>
          <a:ln w="9525">
            <a:noFill/>
            <a:miter lim="800000"/>
          </a:ln>
        </p:spPr>
        <p:txBody>
          <a:bodyPr>
            <a:spAutoFit/>
          </a:bodyPr>
          <a:lstStyle/>
          <a:p>
            <a:r>
              <a:rPr lang="zh-CN" altLang="en-US" b="1">
                <a:solidFill>
                  <a:srgbClr val="FF0000"/>
                </a:solidFill>
              </a:rPr>
              <a:t>例</a:t>
            </a:r>
            <a:endParaRPr lang="zh-CN" altLang="en-US" b="1">
              <a:solidFill>
                <a:srgbClr val="FF0000"/>
              </a:solidFill>
            </a:endParaRPr>
          </a:p>
        </p:txBody>
      </p:sp>
      <p:sp>
        <p:nvSpPr>
          <p:cNvPr id="45061" name="Text Box 5"/>
          <p:cNvSpPr txBox="1">
            <a:spLocks noChangeArrowheads="1"/>
          </p:cNvSpPr>
          <p:nvPr/>
        </p:nvSpPr>
        <p:spPr bwMode="auto">
          <a:xfrm>
            <a:off x="1600200" y="981075"/>
            <a:ext cx="5924550" cy="457200"/>
          </a:xfrm>
          <a:prstGeom prst="rect">
            <a:avLst/>
          </a:prstGeom>
          <a:noFill/>
          <a:ln w="9525">
            <a:noFill/>
            <a:miter lim="800000"/>
          </a:ln>
        </p:spPr>
        <p:txBody>
          <a:bodyPr>
            <a:spAutoFit/>
          </a:bodyPr>
          <a:lstStyle/>
          <a:p>
            <a:r>
              <a:rPr lang="zh-CN" altLang="en-US" b="1"/>
              <a:t>分析图示过程中 </a:t>
            </a:r>
            <a:r>
              <a:rPr lang="en-US" altLang="zh-CN" b="1"/>
              <a:t>Δ</a:t>
            </a:r>
            <a:r>
              <a:rPr lang="en-US" altLang="zh-CN" b="1" i="1"/>
              <a:t>E</a:t>
            </a:r>
            <a:r>
              <a:rPr lang="en-US" altLang="zh-CN" b="1"/>
              <a:t> </a:t>
            </a:r>
            <a:r>
              <a:rPr lang="zh-CN" altLang="en-US" b="1"/>
              <a:t>、</a:t>
            </a:r>
            <a:r>
              <a:rPr lang="en-US" altLang="zh-CN" b="1" i="1"/>
              <a:t>W</a:t>
            </a:r>
            <a:r>
              <a:rPr lang="en-US" altLang="zh-CN" b="1"/>
              <a:t> </a:t>
            </a:r>
            <a:r>
              <a:rPr lang="zh-CN" altLang="en-US" b="1"/>
              <a:t>、</a:t>
            </a:r>
            <a:r>
              <a:rPr lang="en-US" altLang="zh-CN" b="1" i="1"/>
              <a:t>Q</a:t>
            </a:r>
            <a:r>
              <a:rPr lang="en-US" altLang="zh-CN" b="1"/>
              <a:t> </a:t>
            </a:r>
            <a:r>
              <a:rPr lang="zh-CN" altLang="en-US" b="1"/>
              <a:t>的正负：</a:t>
            </a:r>
            <a:endParaRPr lang="zh-CN" altLang="en-US" b="1"/>
          </a:p>
        </p:txBody>
      </p:sp>
      <p:sp>
        <p:nvSpPr>
          <p:cNvPr id="45066" name="Line 10"/>
          <p:cNvSpPr>
            <a:spLocks noChangeShapeType="1"/>
          </p:cNvSpPr>
          <p:nvPr/>
        </p:nvSpPr>
        <p:spPr bwMode="auto">
          <a:xfrm>
            <a:off x="6156325" y="3602038"/>
            <a:ext cx="1439863"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sp>
        <p:nvSpPr>
          <p:cNvPr id="45067" name="Line 11"/>
          <p:cNvSpPr>
            <a:spLocks noChangeShapeType="1"/>
          </p:cNvSpPr>
          <p:nvPr/>
        </p:nvSpPr>
        <p:spPr bwMode="auto">
          <a:xfrm>
            <a:off x="6156325" y="2359025"/>
            <a:ext cx="533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180224" name="Object 0"/>
          <p:cNvGraphicFramePr>
            <a:graphicFrameLocks noChangeAspect="1"/>
          </p:cNvGraphicFramePr>
          <p:nvPr/>
        </p:nvGraphicFramePr>
        <p:xfrm>
          <a:off x="5651500" y="2133600"/>
          <a:ext cx="330200" cy="419100"/>
        </p:xfrm>
        <a:graphic>
          <a:graphicData uri="http://schemas.openxmlformats.org/presentationml/2006/ole">
            <mc:AlternateContent xmlns:mc="http://schemas.openxmlformats.org/markup-compatibility/2006">
              <mc:Choice xmlns:v="urn:schemas-microsoft-com:vml" Requires="v">
                <p:oleObj spid="_x0000_s24577" name="公式" r:id="rId1" imgW="7924800" imgH="10058400" progId="Equation.3">
                  <p:embed/>
                </p:oleObj>
              </mc:Choice>
              <mc:Fallback>
                <p:oleObj name="公式" r:id="rId1" imgW="7924800" imgH="10058400" progId="Equation.3">
                  <p:embed/>
                  <p:pic>
                    <p:nvPicPr>
                      <p:cNvPr id="0" name="Object 0"/>
                      <p:cNvPicPr>
                        <a:picLocks noChangeAspect="1"/>
                      </p:cNvPicPr>
                      <p:nvPr/>
                    </p:nvPicPr>
                    <p:blipFill>
                      <a:blip r:embed="rId2"/>
                      <a:stretch>
                        <a:fillRect/>
                      </a:stretch>
                    </p:blipFill>
                    <p:spPr>
                      <a:xfrm>
                        <a:off x="5651500" y="2133600"/>
                        <a:ext cx="330200" cy="419100"/>
                      </a:xfrm>
                      <a:prstGeom prst="rect">
                        <a:avLst/>
                      </a:prstGeom>
                      <a:noFill/>
                      <a:ln w="9525">
                        <a:noFill/>
                      </a:ln>
                    </p:spPr>
                  </p:pic>
                </p:oleObj>
              </mc:Fallback>
            </mc:AlternateContent>
          </a:graphicData>
        </a:graphic>
      </p:graphicFrame>
      <p:sp>
        <p:nvSpPr>
          <p:cNvPr id="45069" name="Text Box 13"/>
          <p:cNvSpPr txBox="1">
            <a:spLocks noChangeArrowheads="1"/>
          </p:cNvSpPr>
          <p:nvPr/>
        </p:nvSpPr>
        <p:spPr bwMode="auto">
          <a:xfrm>
            <a:off x="6732588" y="2133600"/>
            <a:ext cx="582612" cy="396875"/>
          </a:xfrm>
          <a:prstGeom prst="rect">
            <a:avLst/>
          </a:prstGeom>
          <a:noFill/>
          <a:ln w="12700" cap="sq">
            <a:noFill/>
            <a:miter lim="800000"/>
            <a:headEnd type="none" w="sm" len="sm"/>
            <a:tailEnd type="none" w="sm" len="sm"/>
          </a:ln>
        </p:spPr>
        <p:txBody>
          <a:bodyPr>
            <a:spAutoFit/>
          </a:bodyPr>
          <a:lstStyle/>
          <a:p>
            <a:r>
              <a:rPr kumimoji="1" lang="en-US" altLang="zh-CN" sz="2000" b="1" i="1"/>
              <a:t>a</a:t>
            </a:r>
            <a:endParaRPr kumimoji="1" lang="en-US" altLang="zh-CN" sz="2000" b="1" i="1"/>
          </a:p>
        </p:txBody>
      </p:sp>
      <p:sp>
        <p:nvSpPr>
          <p:cNvPr id="45070" name="Text Box 14"/>
          <p:cNvSpPr txBox="1">
            <a:spLocks noChangeArrowheads="1"/>
          </p:cNvSpPr>
          <p:nvPr/>
        </p:nvSpPr>
        <p:spPr bwMode="auto">
          <a:xfrm>
            <a:off x="7667625" y="3400425"/>
            <a:ext cx="719138" cy="396875"/>
          </a:xfrm>
          <a:prstGeom prst="rect">
            <a:avLst/>
          </a:prstGeom>
          <a:noFill/>
          <a:ln w="12700" cap="sq">
            <a:noFill/>
            <a:miter lim="800000"/>
            <a:headEnd type="none" w="sm" len="sm"/>
            <a:tailEnd type="none" w="sm" len="sm"/>
          </a:ln>
        </p:spPr>
        <p:txBody>
          <a:bodyPr>
            <a:spAutoFit/>
          </a:bodyPr>
          <a:lstStyle/>
          <a:p>
            <a:r>
              <a:rPr kumimoji="1" lang="en-US" altLang="zh-CN" sz="2000" b="1" i="1"/>
              <a:t>b</a:t>
            </a:r>
            <a:endParaRPr kumimoji="1" lang="en-US" altLang="zh-CN" sz="2000" b="1" i="1"/>
          </a:p>
        </p:txBody>
      </p:sp>
      <p:graphicFrame>
        <p:nvGraphicFramePr>
          <p:cNvPr id="180225" name="Object 1"/>
          <p:cNvGraphicFramePr>
            <a:graphicFrameLocks noChangeAspect="1"/>
          </p:cNvGraphicFramePr>
          <p:nvPr/>
        </p:nvGraphicFramePr>
        <p:xfrm>
          <a:off x="5651500" y="3365500"/>
          <a:ext cx="368300" cy="419100"/>
        </p:xfrm>
        <a:graphic>
          <a:graphicData uri="http://schemas.openxmlformats.org/presentationml/2006/ole">
            <mc:AlternateContent xmlns:mc="http://schemas.openxmlformats.org/markup-compatibility/2006">
              <mc:Choice xmlns:v="urn:schemas-microsoft-com:vml" Requires="v">
                <p:oleObj spid="_x0000_s24579" name="公式" r:id="rId3" imgW="8839200" imgH="10058400" progId="Equation.3">
                  <p:embed/>
                </p:oleObj>
              </mc:Choice>
              <mc:Fallback>
                <p:oleObj name="公式" r:id="rId3" imgW="8839200" imgH="10058400" progId="Equation.3">
                  <p:embed/>
                  <p:pic>
                    <p:nvPicPr>
                      <p:cNvPr id="0" name="Object 1"/>
                      <p:cNvPicPr>
                        <a:picLocks noChangeAspect="1"/>
                      </p:cNvPicPr>
                      <p:nvPr/>
                    </p:nvPicPr>
                    <p:blipFill>
                      <a:blip r:embed="rId4"/>
                      <a:stretch>
                        <a:fillRect/>
                      </a:stretch>
                    </p:blipFill>
                    <p:spPr>
                      <a:xfrm>
                        <a:off x="5651500" y="3365500"/>
                        <a:ext cx="368300" cy="419100"/>
                      </a:xfrm>
                      <a:prstGeom prst="rect">
                        <a:avLst/>
                      </a:prstGeom>
                      <a:noFill/>
                      <a:ln w="9525">
                        <a:noFill/>
                      </a:ln>
                    </p:spPr>
                  </p:pic>
                </p:oleObj>
              </mc:Fallback>
            </mc:AlternateContent>
          </a:graphicData>
        </a:graphic>
      </p:graphicFrame>
      <p:sp>
        <p:nvSpPr>
          <p:cNvPr id="45072" name="Line 16"/>
          <p:cNvSpPr>
            <a:spLocks noChangeShapeType="1"/>
          </p:cNvSpPr>
          <p:nvPr/>
        </p:nvSpPr>
        <p:spPr bwMode="auto">
          <a:xfrm>
            <a:off x="7624763" y="3573463"/>
            <a:ext cx="0" cy="311150"/>
          </a:xfrm>
          <a:prstGeom prst="line">
            <a:avLst/>
          </a:prstGeom>
          <a:noFill/>
          <a:ln w="12700">
            <a:solidFill>
              <a:schemeClr val="tx1"/>
            </a:solidFill>
            <a:prstDash val="dash"/>
            <a:round/>
          </a:ln>
        </p:spPr>
        <p:txBody>
          <a:bodyPr/>
          <a:lstStyle/>
          <a:p>
            <a:endParaRPr lang="zh-CN" altLang="en-US"/>
          </a:p>
        </p:txBody>
      </p:sp>
      <p:sp>
        <p:nvSpPr>
          <p:cNvPr id="45073" name="Line 17"/>
          <p:cNvSpPr>
            <a:spLocks noChangeShapeType="1"/>
          </p:cNvSpPr>
          <p:nvPr/>
        </p:nvSpPr>
        <p:spPr bwMode="auto">
          <a:xfrm>
            <a:off x="6681788" y="2430463"/>
            <a:ext cx="0" cy="1511300"/>
          </a:xfrm>
          <a:prstGeom prst="line">
            <a:avLst/>
          </a:prstGeom>
          <a:noFill/>
          <a:ln w="9525">
            <a:solidFill>
              <a:schemeClr val="tx1"/>
            </a:solidFill>
            <a:prstDash val="dash"/>
            <a:round/>
          </a:ln>
        </p:spPr>
        <p:txBody>
          <a:bodyPr/>
          <a:lstStyle/>
          <a:p>
            <a:endParaRPr lang="zh-CN" altLang="en-US"/>
          </a:p>
        </p:txBody>
      </p:sp>
      <p:graphicFrame>
        <p:nvGraphicFramePr>
          <p:cNvPr id="180226" name="Object 2"/>
          <p:cNvGraphicFramePr>
            <a:graphicFrameLocks noChangeAspect="1"/>
          </p:cNvGraphicFramePr>
          <p:nvPr/>
        </p:nvGraphicFramePr>
        <p:xfrm>
          <a:off x="6516688" y="4014788"/>
          <a:ext cx="223837" cy="338137"/>
        </p:xfrm>
        <a:graphic>
          <a:graphicData uri="http://schemas.openxmlformats.org/presentationml/2006/ole">
            <mc:AlternateContent xmlns:mc="http://schemas.openxmlformats.org/markup-compatibility/2006">
              <mc:Choice xmlns:v="urn:schemas-microsoft-com:vml" Requires="v">
                <p:oleObj spid="_x0000_s24580" name="公式" r:id="rId5" imgW="6705600" imgH="10058400" progId="Equation.3">
                  <p:embed/>
                </p:oleObj>
              </mc:Choice>
              <mc:Fallback>
                <p:oleObj name="公式" r:id="rId5" imgW="6705600" imgH="10058400" progId="Equation.3">
                  <p:embed/>
                  <p:pic>
                    <p:nvPicPr>
                      <p:cNvPr id="0" name="Object 2"/>
                      <p:cNvPicPr>
                        <a:picLocks noChangeAspect="1"/>
                      </p:cNvPicPr>
                      <p:nvPr/>
                    </p:nvPicPr>
                    <p:blipFill>
                      <a:blip r:embed="rId6"/>
                      <a:stretch>
                        <a:fillRect/>
                      </a:stretch>
                    </p:blipFill>
                    <p:spPr>
                      <a:xfrm>
                        <a:off x="6516688" y="4014788"/>
                        <a:ext cx="223837" cy="338137"/>
                      </a:xfrm>
                      <a:prstGeom prst="rect">
                        <a:avLst/>
                      </a:prstGeom>
                      <a:noFill/>
                      <a:ln w="9525">
                        <a:noFill/>
                      </a:ln>
                    </p:spPr>
                  </p:pic>
                </p:oleObj>
              </mc:Fallback>
            </mc:AlternateContent>
          </a:graphicData>
        </a:graphic>
      </p:graphicFrame>
      <p:graphicFrame>
        <p:nvGraphicFramePr>
          <p:cNvPr id="180227" name="Object 3"/>
          <p:cNvGraphicFramePr>
            <a:graphicFrameLocks noChangeAspect="1"/>
          </p:cNvGraphicFramePr>
          <p:nvPr/>
        </p:nvGraphicFramePr>
        <p:xfrm>
          <a:off x="7596188" y="4014788"/>
          <a:ext cx="254000" cy="338137"/>
        </p:xfrm>
        <a:graphic>
          <a:graphicData uri="http://schemas.openxmlformats.org/presentationml/2006/ole">
            <mc:AlternateContent xmlns:mc="http://schemas.openxmlformats.org/markup-compatibility/2006">
              <mc:Choice xmlns:v="urn:schemas-microsoft-com:vml" Requires="v">
                <p:oleObj spid="_x0000_s24581" name="公式" r:id="rId7" imgW="7620000" imgH="10058400" progId="Equation.3">
                  <p:embed/>
                </p:oleObj>
              </mc:Choice>
              <mc:Fallback>
                <p:oleObj name="公式" r:id="rId7" imgW="7620000" imgH="10058400" progId="Equation.3">
                  <p:embed/>
                  <p:pic>
                    <p:nvPicPr>
                      <p:cNvPr id="0" name="Object 3"/>
                      <p:cNvPicPr>
                        <a:picLocks noChangeAspect="1"/>
                      </p:cNvPicPr>
                      <p:nvPr/>
                    </p:nvPicPr>
                    <p:blipFill>
                      <a:blip r:embed="rId8"/>
                      <a:stretch>
                        <a:fillRect/>
                      </a:stretch>
                    </p:blipFill>
                    <p:spPr>
                      <a:xfrm>
                        <a:off x="7596188" y="4014788"/>
                        <a:ext cx="254000" cy="338137"/>
                      </a:xfrm>
                      <a:prstGeom prst="rect">
                        <a:avLst/>
                      </a:prstGeom>
                      <a:noFill/>
                      <a:ln w="9525">
                        <a:noFill/>
                      </a:ln>
                    </p:spPr>
                  </p:pic>
                </p:oleObj>
              </mc:Fallback>
            </mc:AlternateContent>
          </a:graphicData>
        </a:graphic>
      </p:graphicFrame>
      <p:grpSp>
        <p:nvGrpSpPr>
          <p:cNvPr id="5" name="Group 20"/>
          <p:cNvGrpSpPr>
            <a:grpSpLocks noChangeAspect="1"/>
          </p:cNvGrpSpPr>
          <p:nvPr/>
        </p:nvGrpSpPr>
        <p:grpSpPr bwMode="auto">
          <a:xfrm>
            <a:off x="5795963" y="1638300"/>
            <a:ext cx="2909887" cy="2727325"/>
            <a:chOff x="3443" y="2160"/>
            <a:chExt cx="2035" cy="1908"/>
          </a:xfrm>
        </p:grpSpPr>
        <p:sp>
          <p:nvSpPr>
            <p:cNvPr id="24619" name="Line 21"/>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24620" name="Line 22"/>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24621" name="Text Box 23"/>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b="1" i="1"/>
                <a:t>O</a:t>
              </a:r>
              <a:endParaRPr lang="en-US" altLang="zh-CN" b="1" i="1"/>
            </a:p>
          </p:txBody>
        </p:sp>
        <p:sp>
          <p:nvSpPr>
            <p:cNvPr id="24622" name="Text Box 24"/>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b="1" i="1"/>
                <a:t>V</a:t>
              </a:r>
              <a:endParaRPr lang="en-US" altLang="zh-CN" b="1" i="1"/>
            </a:p>
          </p:txBody>
        </p:sp>
        <p:sp>
          <p:nvSpPr>
            <p:cNvPr id="24623" name="Text Box 25"/>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b="1" i="1"/>
                <a:t>p</a:t>
              </a:r>
              <a:endParaRPr lang="en-US" altLang="zh-CN" b="1" i="1"/>
            </a:p>
          </p:txBody>
        </p:sp>
      </p:grpSp>
      <p:graphicFrame>
        <p:nvGraphicFramePr>
          <p:cNvPr id="180228" name="Object 4"/>
          <p:cNvGraphicFramePr>
            <a:graphicFrameLocks noChangeAspect="1"/>
          </p:cNvGraphicFramePr>
          <p:nvPr/>
        </p:nvGraphicFramePr>
        <p:xfrm>
          <a:off x="7524750" y="3500438"/>
          <a:ext cx="193675" cy="192087"/>
        </p:xfrm>
        <a:graphic>
          <a:graphicData uri="http://schemas.openxmlformats.org/presentationml/2006/ole">
            <mc:AlternateContent xmlns:mc="http://schemas.openxmlformats.org/markup-compatibility/2006">
              <mc:Choice xmlns:v="urn:schemas-microsoft-com:vml" Requires="v">
                <p:oleObj spid="_x0000_s24582" name="公式" r:id="rId9" imgW="4572000" imgH="4572000" progId="Equation.3">
                  <p:embed/>
                </p:oleObj>
              </mc:Choice>
              <mc:Fallback>
                <p:oleObj name="公式" r:id="rId9" imgW="4572000" imgH="4572000" progId="Equation.3">
                  <p:embed/>
                  <p:pic>
                    <p:nvPicPr>
                      <p:cNvPr id="0" name="Object 4"/>
                      <p:cNvPicPr>
                        <a:picLocks noChangeAspect="1"/>
                      </p:cNvPicPr>
                      <p:nvPr/>
                    </p:nvPicPr>
                    <p:blipFill>
                      <a:blip r:embed="rId10"/>
                      <a:stretch>
                        <a:fillRect/>
                      </a:stretch>
                    </p:blipFill>
                    <p:spPr>
                      <a:xfrm>
                        <a:off x="7524750" y="3500438"/>
                        <a:ext cx="193675" cy="192087"/>
                      </a:xfrm>
                      <a:prstGeom prst="rect">
                        <a:avLst/>
                      </a:prstGeom>
                      <a:noFill/>
                      <a:ln w="9525">
                        <a:noFill/>
                      </a:ln>
                    </p:spPr>
                  </p:pic>
                </p:oleObj>
              </mc:Fallback>
            </mc:AlternateContent>
          </a:graphicData>
        </a:graphic>
      </p:graphicFrame>
      <p:graphicFrame>
        <p:nvGraphicFramePr>
          <p:cNvPr id="180229" name="Object 5"/>
          <p:cNvGraphicFramePr>
            <a:graphicFrameLocks noChangeAspect="1"/>
          </p:cNvGraphicFramePr>
          <p:nvPr/>
        </p:nvGraphicFramePr>
        <p:xfrm>
          <a:off x="6610350" y="2286000"/>
          <a:ext cx="193675" cy="192088"/>
        </p:xfrm>
        <a:graphic>
          <a:graphicData uri="http://schemas.openxmlformats.org/presentationml/2006/ole">
            <mc:AlternateContent xmlns:mc="http://schemas.openxmlformats.org/markup-compatibility/2006">
              <mc:Choice xmlns:v="urn:schemas-microsoft-com:vml" Requires="v">
                <p:oleObj spid="_x0000_s24583" name="公式" r:id="rId11" imgW="4572000" imgH="4572000" progId="Equation.3">
                  <p:embed/>
                </p:oleObj>
              </mc:Choice>
              <mc:Fallback>
                <p:oleObj name="公式" r:id="rId11" imgW="4572000" imgH="4572000" progId="Equation.3">
                  <p:embed/>
                  <p:pic>
                    <p:nvPicPr>
                      <p:cNvPr id="0" name="Object 5"/>
                      <p:cNvPicPr>
                        <a:picLocks noChangeAspect="1"/>
                      </p:cNvPicPr>
                      <p:nvPr/>
                    </p:nvPicPr>
                    <p:blipFill>
                      <a:blip r:embed="rId10"/>
                      <a:stretch>
                        <a:fillRect/>
                      </a:stretch>
                    </p:blipFill>
                    <p:spPr>
                      <a:xfrm>
                        <a:off x="6610350" y="2286000"/>
                        <a:ext cx="193675" cy="192088"/>
                      </a:xfrm>
                      <a:prstGeom prst="rect">
                        <a:avLst/>
                      </a:prstGeom>
                      <a:noFill/>
                      <a:ln w="9525">
                        <a:noFill/>
                      </a:ln>
                    </p:spPr>
                  </p:pic>
                </p:oleObj>
              </mc:Fallback>
            </mc:AlternateContent>
          </a:graphicData>
        </a:graphic>
      </p:graphicFrame>
      <p:sp>
        <p:nvSpPr>
          <p:cNvPr id="45084" name="Text Box 28"/>
          <p:cNvSpPr txBox="1">
            <a:spLocks noChangeArrowheads="1"/>
          </p:cNvSpPr>
          <p:nvPr/>
        </p:nvSpPr>
        <p:spPr bwMode="auto">
          <a:xfrm>
            <a:off x="7164388" y="1628775"/>
            <a:ext cx="1698625" cy="457200"/>
          </a:xfrm>
          <a:prstGeom prst="rect">
            <a:avLst/>
          </a:prstGeom>
          <a:noFill/>
          <a:ln w="9525">
            <a:noFill/>
            <a:miter lim="800000"/>
          </a:ln>
        </p:spPr>
        <p:txBody>
          <a:bodyPr>
            <a:spAutoFit/>
          </a:bodyPr>
          <a:lstStyle/>
          <a:p>
            <a:r>
              <a:rPr lang="zh-CN" altLang="en-US" b="1">
                <a:solidFill>
                  <a:srgbClr val="FF0000"/>
                </a:solidFill>
              </a:rPr>
              <a:t>绝热过程</a:t>
            </a:r>
            <a:endParaRPr lang="zh-CN" altLang="en-US" b="1">
              <a:solidFill>
                <a:srgbClr val="FF0000"/>
              </a:solidFill>
            </a:endParaRPr>
          </a:p>
        </p:txBody>
      </p:sp>
      <p:sp>
        <p:nvSpPr>
          <p:cNvPr id="45085" name="AutoShape 29"/>
          <p:cNvSpPr>
            <a:spLocks noChangeArrowheads="1"/>
          </p:cNvSpPr>
          <p:nvPr/>
        </p:nvSpPr>
        <p:spPr bwMode="auto">
          <a:xfrm rot="-3465934">
            <a:off x="6735763" y="2443163"/>
            <a:ext cx="1081087" cy="71437"/>
          </a:xfrm>
          <a:prstGeom prst="rightArrow">
            <a:avLst>
              <a:gd name="adj1" fmla="val 50000"/>
              <a:gd name="adj2" fmla="val 378336"/>
            </a:avLst>
          </a:prstGeom>
          <a:solidFill>
            <a:schemeClr val="accent1"/>
          </a:solidFill>
          <a:ln w="9525">
            <a:solidFill>
              <a:schemeClr val="tx1"/>
            </a:solidFill>
            <a:miter lim="800000"/>
          </a:ln>
        </p:spPr>
        <p:txBody>
          <a:bodyPr wrap="none" anchor="ctr"/>
          <a:lstStyle/>
          <a:p>
            <a:pPr algn="ctr"/>
            <a:endParaRPr lang="zh-CN" altLang="en-US" b="1"/>
          </a:p>
        </p:txBody>
      </p:sp>
      <p:sp>
        <p:nvSpPr>
          <p:cNvPr id="45086" name="Text Box 30"/>
          <p:cNvSpPr txBox="1">
            <a:spLocks noChangeArrowheads="1"/>
          </p:cNvSpPr>
          <p:nvPr/>
        </p:nvSpPr>
        <p:spPr bwMode="auto">
          <a:xfrm>
            <a:off x="1311275" y="1412875"/>
            <a:ext cx="3116263" cy="457200"/>
          </a:xfrm>
          <a:prstGeom prst="rect">
            <a:avLst/>
          </a:prstGeom>
          <a:noFill/>
          <a:ln w="9525">
            <a:noFill/>
            <a:miter lim="800000"/>
          </a:ln>
        </p:spPr>
        <p:txBody>
          <a:bodyPr>
            <a:spAutoFit/>
          </a:bodyPr>
          <a:lstStyle/>
          <a:p>
            <a:r>
              <a:rPr lang="zh-CN" altLang="en-US" b="1"/>
              <a:t>（</a:t>
            </a:r>
            <a:r>
              <a:rPr lang="en-US" altLang="zh-CN" b="1"/>
              <a:t>1</a:t>
            </a:r>
            <a:r>
              <a:rPr lang="zh-CN" altLang="en-US" b="1"/>
              <a:t>）</a:t>
            </a:r>
            <a:r>
              <a:rPr lang="en-US" altLang="zh-CN" b="1" i="1"/>
              <a:t>a</a:t>
            </a:r>
            <a:r>
              <a:rPr lang="en-US" altLang="zh-CN" b="1"/>
              <a:t> → </a:t>
            </a:r>
            <a:r>
              <a:rPr lang="en-US" altLang="zh-CN" b="1" i="1"/>
              <a:t>C</a:t>
            </a:r>
            <a:r>
              <a:rPr lang="en-US" altLang="zh-CN" b="1" baseline="-25000"/>
              <a:t>1</a:t>
            </a:r>
            <a:r>
              <a:rPr lang="en-US" altLang="zh-CN" b="1"/>
              <a:t> →</a:t>
            </a:r>
            <a:r>
              <a:rPr lang="en-US" altLang="zh-CN" b="1" i="1"/>
              <a:t> b</a:t>
            </a:r>
            <a:r>
              <a:rPr lang="en-US" altLang="zh-CN" b="1"/>
              <a:t> </a:t>
            </a:r>
            <a:r>
              <a:rPr lang="zh-CN" altLang="en-US" b="1"/>
              <a:t>；</a:t>
            </a:r>
            <a:endParaRPr lang="zh-CN" altLang="en-US" b="1"/>
          </a:p>
        </p:txBody>
      </p:sp>
      <p:sp>
        <p:nvSpPr>
          <p:cNvPr id="45087" name="Text Box 31"/>
          <p:cNvSpPr txBox="1">
            <a:spLocks noChangeArrowheads="1"/>
          </p:cNvSpPr>
          <p:nvPr/>
        </p:nvSpPr>
        <p:spPr bwMode="auto">
          <a:xfrm>
            <a:off x="1331913" y="1897063"/>
            <a:ext cx="3095625" cy="457200"/>
          </a:xfrm>
          <a:prstGeom prst="rect">
            <a:avLst/>
          </a:prstGeom>
          <a:noFill/>
          <a:ln w="9525">
            <a:noFill/>
            <a:miter lim="800000"/>
          </a:ln>
        </p:spPr>
        <p:txBody>
          <a:bodyPr>
            <a:spAutoFit/>
          </a:bodyPr>
          <a:lstStyle/>
          <a:p>
            <a:r>
              <a:rPr lang="zh-CN" altLang="en-US" b="1"/>
              <a:t>（</a:t>
            </a:r>
            <a:r>
              <a:rPr lang="en-US" altLang="zh-CN" b="1"/>
              <a:t>2</a:t>
            </a:r>
            <a:r>
              <a:rPr lang="zh-CN" altLang="en-US" b="1"/>
              <a:t>）</a:t>
            </a:r>
            <a:r>
              <a:rPr lang="en-US" altLang="zh-CN" b="1" i="1"/>
              <a:t>a</a:t>
            </a:r>
            <a:r>
              <a:rPr lang="en-US" altLang="zh-CN" b="1"/>
              <a:t> → </a:t>
            </a:r>
            <a:r>
              <a:rPr lang="en-US" altLang="zh-CN" b="1" i="1"/>
              <a:t>C</a:t>
            </a:r>
            <a:r>
              <a:rPr lang="en-US" altLang="zh-CN" b="1" baseline="-25000"/>
              <a:t>2</a:t>
            </a:r>
            <a:r>
              <a:rPr lang="en-US" altLang="zh-CN" b="1"/>
              <a:t> →</a:t>
            </a:r>
            <a:r>
              <a:rPr lang="en-US" altLang="zh-CN" b="1" i="1"/>
              <a:t> b</a:t>
            </a:r>
            <a:r>
              <a:rPr lang="en-US" altLang="zh-CN" b="1"/>
              <a:t> </a:t>
            </a:r>
            <a:r>
              <a:rPr lang="zh-CN" altLang="en-US" b="1"/>
              <a:t>；</a:t>
            </a:r>
            <a:endParaRPr lang="zh-CN" altLang="en-US" b="1"/>
          </a:p>
        </p:txBody>
      </p:sp>
      <p:graphicFrame>
        <p:nvGraphicFramePr>
          <p:cNvPr id="180230" name="Object 6"/>
          <p:cNvGraphicFramePr>
            <a:graphicFrameLocks noChangeAspect="1"/>
          </p:cNvGraphicFramePr>
          <p:nvPr/>
        </p:nvGraphicFramePr>
        <p:xfrm>
          <a:off x="6443663" y="3068638"/>
          <a:ext cx="390525" cy="474662"/>
        </p:xfrm>
        <a:graphic>
          <a:graphicData uri="http://schemas.openxmlformats.org/presentationml/2006/ole">
            <mc:AlternateContent xmlns:mc="http://schemas.openxmlformats.org/markup-compatibility/2006">
              <mc:Choice xmlns:v="urn:schemas-microsoft-com:vml" Requires="v">
                <p:oleObj spid="_x0000_s24584" name="公式" r:id="rId12" imgW="4267200" imgH="5181600" progId="Equation.3">
                  <p:embed/>
                </p:oleObj>
              </mc:Choice>
              <mc:Fallback>
                <p:oleObj name="公式" r:id="rId12" imgW="4267200" imgH="5181600" progId="Equation.3">
                  <p:embed/>
                  <p:pic>
                    <p:nvPicPr>
                      <p:cNvPr id="0" name="Object 6"/>
                      <p:cNvPicPr>
                        <a:picLocks noChangeAspect="1"/>
                      </p:cNvPicPr>
                      <p:nvPr/>
                    </p:nvPicPr>
                    <p:blipFill>
                      <a:blip r:embed="rId13"/>
                      <a:stretch>
                        <a:fillRect/>
                      </a:stretch>
                    </p:blipFill>
                    <p:spPr>
                      <a:xfrm>
                        <a:off x="6443663" y="3068638"/>
                        <a:ext cx="390525" cy="474662"/>
                      </a:xfrm>
                      <a:prstGeom prst="rect">
                        <a:avLst/>
                      </a:prstGeom>
                      <a:noFill/>
                      <a:ln w="9525">
                        <a:noFill/>
                      </a:ln>
                    </p:spPr>
                  </p:pic>
                </p:oleObj>
              </mc:Fallback>
            </mc:AlternateContent>
          </a:graphicData>
        </a:graphic>
      </p:graphicFrame>
      <p:graphicFrame>
        <p:nvGraphicFramePr>
          <p:cNvPr id="180231" name="Object 7"/>
          <p:cNvGraphicFramePr>
            <a:graphicFrameLocks noChangeAspect="1"/>
          </p:cNvGraphicFramePr>
          <p:nvPr/>
        </p:nvGraphicFramePr>
        <p:xfrm>
          <a:off x="7512050" y="2565400"/>
          <a:ext cx="417513" cy="474663"/>
        </p:xfrm>
        <a:graphic>
          <a:graphicData uri="http://schemas.openxmlformats.org/presentationml/2006/ole">
            <mc:AlternateContent xmlns:mc="http://schemas.openxmlformats.org/markup-compatibility/2006">
              <mc:Choice xmlns:v="urn:schemas-microsoft-com:vml" Requires="v">
                <p:oleObj spid="_x0000_s24585" name="公式" r:id="rId14" imgW="4572000" imgH="5181600" progId="Equation.3">
                  <p:embed/>
                </p:oleObj>
              </mc:Choice>
              <mc:Fallback>
                <p:oleObj name="公式" r:id="rId14" imgW="4572000" imgH="5181600" progId="Equation.3">
                  <p:embed/>
                  <p:pic>
                    <p:nvPicPr>
                      <p:cNvPr id="0" name="Object 7"/>
                      <p:cNvPicPr>
                        <a:picLocks noChangeAspect="1"/>
                      </p:cNvPicPr>
                      <p:nvPr/>
                    </p:nvPicPr>
                    <p:blipFill>
                      <a:blip r:embed="rId15"/>
                      <a:stretch>
                        <a:fillRect/>
                      </a:stretch>
                    </p:blipFill>
                    <p:spPr>
                      <a:xfrm>
                        <a:off x="7512050" y="2565400"/>
                        <a:ext cx="417513" cy="474663"/>
                      </a:xfrm>
                      <a:prstGeom prst="rect">
                        <a:avLst/>
                      </a:prstGeom>
                      <a:noFill/>
                      <a:ln w="9525">
                        <a:noFill/>
                      </a:ln>
                    </p:spPr>
                  </p:pic>
                </p:oleObj>
              </mc:Fallback>
            </mc:AlternateContent>
          </a:graphicData>
        </a:graphic>
      </p:graphicFrame>
      <p:sp>
        <p:nvSpPr>
          <p:cNvPr id="45097" name="Text Box 41"/>
          <p:cNvSpPr txBox="1">
            <a:spLocks noChangeArrowheads="1"/>
          </p:cNvSpPr>
          <p:nvPr/>
        </p:nvSpPr>
        <p:spPr bwMode="auto">
          <a:xfrm>
            <a:off x="808038" y="2492375"/>
            <a:ext cx="1027112" cy="457200"/>
          </a:xfrm>
          <a:prstGeom prst="rect">
            <a:avLst/>
          </a:prstGeom>
          <a:noFill/>
          <a:ln w="9525">
            <a:noFill/>
            <a:miter lim="800000"/>
          </a:ln>
        </p:spPr>
        <p:txBody>
          <a:bodyPr>
            <a:spAutoFit/>
          </a:bodyPr>
          <a:lstStyle/>
          <a:p>
            <a:r>
              <a:rPr lang="zh-CN" altLang="en-US" b="1">
                <a:solidFill>
                  <a:srgbClr val="FF0000"/>
                </a:solidFill>
              </a:rPr>
              <a:t>解</a:t>
            </a:r>
            <a:r>
              <a:rPr lang="zh-CN" altLang="en-US" b="1"/>
              <a:t>：</a:t>
            </a:r>
            <a:endParaRPr lang="zh-CN" altLang="en-US" b="1"/>
          </a:p>
        </p:txBody>
      </p:sp>
      <p:graphicFrame>
        <p:nvGraphicFramePr>
          <p:cNvPr id="180232" name="Object 8"/>
          <p:cNvGraphicFramePr>
            <a:graphicFrameLocks noChangeAspect="1"/>
          </p:cNvGraphicFramePr>
          <p:nvPr/>
        </p:nvGraphicFramePr>
        <p:xfrm>
          <a:off x="7092950" y="3024188"/>
          <a:ext cx="334963" cy="390525"/>
        </p:xfrm>
        <a:graphic>
          <a:graphicData uri="http://schemas.openxmlformats.org/presentationml/2006/ole">
            <mc:AlternateContent xmlns:mc="http://schemas.openxmlformats.org/markup-compatibility/2006">
              <mc:Choice xmlns:v="urn:schemas-microsoft-com:vml" Requires="v">
                <p:oleObj spid="_x0000_s24586" name="公式" r:id="rId16" imgW="3657600" imgH="4267200" progId="Equation.3">
                  <p:embed/>
                </p:oleObj>
              </mc:Choice>
              <mc:Fallback>
                <p:oleObj name="公式" r:id="rId16" imgW="3657600" imgH="4267200" progId="Equation.3">
                  <p:embed/>
                  <p:pic>
                    <p:nvPicPr>
                      <p:cNvPr id="0" name="Object 8"/>
                      <p:cNvPicPr>
                        <a:picLocks noChangeAspect="1"/>
                      </p:cNvPicPr>
                      <p:nvPr/>
                    </p:nvPicPr>
                    <p:blipFill>
                      <a:blip r:embed="rId17"/>
                      <a:stretch>
                        <a:fillRect/>
                      </a:stretch>
                    </p:blipFill>
                    <p:spPr>
                      <a:xfrm>
                        <a:off x="7092950" y="3024188"/>
                        <a:ext cx="334963" cy="390525"/>
                      </a:xfrm>
                      <a:prstGeom prst="rect">
                        <a:avLst/>
                      </a:prstGeom>
                      <a:noFill/>
                      <a:ln w="9525">
                        <a:noFill/>
                      </a:ln>
                    </p:spPr>
                  </p:pic>
                </p:oleObj>
              </mc:Fallback>
            </mc:AlternateContent>
          </a:graphicData>
        </a:graphic>
      </p:graphicFrame>
      <p:sp>
        <p:nvSpPr>
          <p:cNvPr id="45099" name="Text Box 43"/>
          <p:cNvSpPr txBox="1">
            <a:spLocks noChangeArrowheads="1"/>
          </p:cNvSpPr>
          <p:nvPr/>
        </p:nvSpPr>
        <p:spPr bwMode="auto">
          <a:xfrm>
            <a:off x="1403350" y="2492375"/>
            <a:ext cx="3116263" cy="457200"/>
          </a:xfrm>
          <a:prstGeom prst="rect">
            <a:avLst/>
          </a:prstGeom>
          <a:noFill/>
          <a:ln w="9525">
            <a:noFill/>
            <a:miter lim="800000"/>
          </a:ln>
        </p:spPr>
        <p:txBody>
          <a:bodyPr>
            <a:spAutoFit/>
          </a:bodyPr>
          <a:lstStyle/>
          <a:p>
            <a:r>
              <a:rPr lang="zh-CN" altLang="en-US" b="1">
                <a:solidFill>
                  <a:srgbClr val="FF6600"/>
                </a:solidFill>
              </a:rPr>
              <a:t>（</a:t>
            </a:r>
            <a:r>
              <a:rPr lang="en-US" altLang="zh-CN" b="1">
                <a:solidFill>
                  <a:srgbClr val="FF6600"/>
                </a:solidFill>
              </a:rPr>
              <a:t>1</a:t>
            </a:r>
            <a:r>
              <a:rPr lang="zh-CN" altLang="en-US" b="1">
                <a:solidFill>
                  <a:srgbClr val="FF6600"/>
                </a:solidFill>
              </a:rPr>
              <a:t>）</a:t>
            </a:r>
            <a:r>
              <a:rPr lang="en-US" altLang="zh-CN" b="1" i="1">
                <a:solidFill>
                  <a:srgbClr val="FF6600"/>
                </a:solidFill>
              </a:rPr>
              <a:t>a</a:t>
            </a:r>
            <a:r>
              <a:rPr lang="en-US" altLang="zh-CN" b="1">
                <a:solidFill>
                  <a:srgbClr val="FF6600"/>
                </a:solidFill>
              </a:rPr>
              <a:t> → </a:t>
            </a:r>
            <a:r>
              <a:rPr lang="en-US" altLang="zh-CN" b="1" i="1">
                <a:solidFill>
                  <a:srgbClr val="FF6600"/>
                </a:solidFill>
              </a:rPr>
              <a:t>C</a:t>
            </a:r>
            <a:r>
              <a:rPr lang="en-US" altLang="zh-CN" b="1" baseline="-25000">
                <a:solidFill>
                  <a:srgbClr val="FF6600"/>
                </a:solidFill>
              </a:rPr>
              <a:t>1</a:t>
            </a:r>
            <a:r>
              <a:rPr lang="en-US" altLang="zh-CN" b="1">
                <a:solidFill>
                  <a:srgbClr val="FF6600"/>
                </a:solidFill>
              </a:rPr>
              <a:t> →</a:t>
            </a:r>
            <a:r>
              <a:rPr lang="en-US" altLang="zh-CN" b="1" i="1">
                <a:solidFill>
                  <a:srgbClr val="FF6600"/>
                </a:solidFill>
              </a:rPr>
              <a:t> b</a:t>
            </a:r>
            <a:r>
              <a:rPr lang="en-US" altLang="zh-CN" b="1">
                <a:solidFill>
                  <a:srgbClr val="FF6600"/>
                </a:solidFill>
              </a:rPr>
              <a:t> </a:t>
            </a:r>
            <a:r>
              <a:rPr lang="zh-CN" altLang="en-US" b="1">
                <a:solidFill>
                  <a:srgbClr val="FF6600"/>
                </a:solidFill>
              </a:rPr>
              <a:t>：</a:t>
            </a:r>
            <a:endParaRPr lang="zh-CN" altLang="en-US" b="1">
              <a:solidFill>
                <a:srgbClr val="FF6600"/>
              </a:solidFill>
            </a:endParaRPr>
          </a:p>
        </p:txBody>
      </p:sp>
      <p:graphicFrame>
        <p:nvGraphicFramePr>
          <p:cNvPr id="180233" name="Object 9"/>
          <p:cNvGraphicFramePr>
            <a:graphicFrameLocks noChangeAspect="1"/>
          </p:cNvGraphicFramePr>
          <p:nvPr/>
        </p:nvGraphicFramePr>
        <p:xfrm>
          <a:off x="1331913" y="3128963"/>
          <a:ext cx="1387475" cy="515937"/>
        </p:xfrm>
        <a:graphic>
          <a:graphicData uri="http://schemas.openxmlformats.org/presentationml/2006/ole">
            <mc:AlternateContent xmlns:mc="http://schemas.openxmlformats.org/markup-compatibility/2006">
              <mc:Choice xmlns:v="urn:schemas-microsoft-com:vml" Requires="v">
                <p:oleObj spid="_x0000_s24587" name="公式" r:id="rId18" imgW="15544800" imgH="5791200" progId="Equation.3">
                  <p:embed/>
                </p:oleObj>
              </mc:Choice>
              <mc:Fallback>
                <p:oleObj name="公式" r:id="rId18" imgW="15544800" imgH="5791200" progId="Equation.3">
                  <p:embed/>
                  <p:pic>
                    <p:nvPicPr>
                      <p:cNvPr id="0" name="Object 9"/>
                      <p:cNvPicPr>
                        <a:picLocks noChangeAspect="1"/>
                      </p:cNvPicPr>
                      <p:nvPr/>
                    </p:nvPicPr>
                    <p:blipFill>
                      <a:blip r:embed="rId19"/>
                      <a:stretch>
                        <a:fillRect/>
                      </a:stretch>
                    </p:blipFill>
                    <p:spPr>
                      <a:xfrm>
                        <a:off x="1331913" y="3128963"/>
                        <a:ext cx="1387475" cy="515937"/>
                      </a:xfrm>
                      <a:prstGeom prst="rect">
                        <a:avLst/>
                      </a:prstGeom>
                      <a:noFill/>
                      <a:ln w="9525">
                        <a:noFill/>
                      </a:ln>
                    </p:spPr>
                  </p:pic>
                </p:oleObj>
              </mc:Fallback>
            </mc:AlternateContent>
          </a:graphicData>
        </a:graphic>
      </p:graphicFrame>
      <p:sp>
        <p:nvSpPr>
          <p:cNvPr id="45101" name="AutoShape 45"/>
          <p:cNvSpPr>
            <a:spLocks noChangeArrowheads="1"/>
          </p:cNvSpPr>
          <p:nvPr/>
        </p:nvSpPr>
        <p:spPr bwMode="auto">
          <a:xfrm>
            <a:off x="2843213" y="3284538"/>
            <a:ext cx="576262" cy="144462"/>
          </a:xfrm>
          <a:prstGeom prst="rightArrow">
            <a:avLst>
              <a:gd name="adj1" fmla="val 50000"/>
              <a:gd name="adj2" fmla="val 99726"/>
            </a:avLst>
          </a:prstGeom>
          <a:solidFill>
            <a:schemeClr val="accent1"/>
          </a:solidFill>
          <a:ln w="9525">
            <a:solidFill>
              <a:schemeClr val="tx1"/>
            </a:solidFill>
            <a:miter lim="800000"/>
          </a:ln>
        </p:spPr>
        <p:txBody>
          <a:bodyPr wrap="none" anchor="ctr"/>
          <a:lstStyle/>
          <a:p>
            <a:pPr algn="ctr"/>
            <a:endParaRPr lang="zh-CN" altLang="en-US" b="1"/>
          </a:p>
        </p:txBody>
      </p:sp>
      <p:graphicFrame>
        <p:nvGraphicFramePr>
          <p:cNvPr id="180234" name="Object 10"/>
          <p:cNvGraphicFramePr>
            <a:graphicFrameLocks noChangeAspect="1"/>
          </p:cNvGraphicFramePr>
          <p:nvPr/>
        </p:nvGraphicFramePr>
        <p:xfrm>
          <a:off x="3576638" y="3074988"/>
          <a:ext cx="1225550" cy="515937"/>
        </p:xfrm>
        <a:graphic>
          <a:graphicData uri="http://schemas.openxmlformats.org/presentationml/2006/ole">
            <mc:AlternateContent xmlns:mc="http://schemas.openxmlformats.org/markup-compatibility/2006">
              <mc:Choice xmlns:v="urn:schemas-microsoft-com:vml" Requires="v">
                <p:oleObj spid="_x0000_s24588" name="公式" r:id="rId20" imgW="13716000" imgH="5791200" progId="Equation.3">
                  <p:embed/>
                </p:oleObj>
              </mc:Choice>
              <mc:Fallback>
                <p:oleObj name="公式" r:id="rId20" imgW="13716000" imgH="5791200" progId="Equation.3">
                  <p:embed/>
                  <p:pic>
                    <p:nvPicPr>
                      <p:cNvPr id="0" name="Object 10"/>
                      <p:cNvPicPr>
                        <a:picLocks noChangeAspect="1"/>
                      </p:cNvPicPr>
                      <p:nvPr/>
                    </p:nvPicPr>
                    <p:blipFill>
                      <a:blip r:embed="rId21"/>
                      <a:stretch>
                        <a:fillRect/>
                      </a:stretch>
                    </p:blipFill>
                    <p:spPr>
                      <a:xfrm>
                        <a:off x="3576638" y="3074988"/>
                        <a:ext cx="1225550" cy="515937"/>
                      </a:xfrm>
                      <a:prstGeom prst="rect">
                        <a:avLst/>
                      </a:prstGeom>
                      <a:noFill/>
                      <a:ln w="9525">
                        <a:noFill/>
                      </a:ln>
                    </p:spPr>
                  </p:pic>
                </p:oleObj>
              </mc:Fallback>
            </mc:AlternateContent>
          </a:graphicData>
        </a:graphic>
      </p:graphicFrame>
      <p:graphicFrame>
        <p:nvGraphicFramePr>
          <p:cNvPr id="180235" name="Object 11"/>
          <p:cNvGraphicFramePr>
            <a:graphicFrameLocks noChangeAspect="1"/>
          </p:cNvGraphicFramePr>
          <p:nvPr/>
        </p:nvGraphicFramePr>
        <p:xfrm>
          <a:off x="1200150" y="3776663"/>
          <a:ext cx="3589338" cy="515937"/>
        </p:xfrm>
        <a:graphic>
          <a:graphicData uri="http://schemas.openxmlformats.org/presentationml/2006/ole">
            <mc:AlternateContent xmlns:mc="http://schemas.openxmlformats.org/markup-compatibility/2006">
              <mc:Choice xmlns:v="urn:schemas-microsoft-com:vml" Requires="v">
                <p:oleObj spid="_x0000_s24589" name="公式" r:id="rId22" imgW="40233600" imgH="5791200" progId="Equation.3">
                  <p:embed/>
                </p:oleObj>
              </mc:Choice>
              <mc:Fallback>
                <p:oleObj name="公式" r:id="rId22" imgW="40233600" imgH="5791200" progId="Equation.3">
                  <p:embed/>
                  <p:pic>
                    <p:nvPicPr>
                      <p:cNvPr id="0" name="Object 11"/>
                      <p:cNvPicPr>
                        <a:picLocks noChangeAspect="1"/>
                      </p:cNvPicPr>
                      <p:nvPr/>
                    </p:nvPicPr>
                    <p:blipFill>
                      <a:blip r:embed="rId23"/>
                      <a:stretch>
                        <a:fillRect/>
                      </a:stretch>
                    </p:blipFill>
                    <p:spPr>
                      <a:xfrm>
                        <a:off x="1200150" y="3776663"/>
                        <a:ext cx="3589338" cy="515937"/>
                      </a:xfrm>
                      <a:prstGeom prst="rect">
                        <a:avLst/>
                      </a:prstGeom>
                      <a:noFill/>
                      <a:ln w="9525">
                        <a:noFill/>
                      </a:ln>
                    </p:spPr>
                  </p:pic>
                </p:oleObj>
              </mc:Fallback>
            </mc:AlternateContent>
          </a:graphicData>
        </a:graphic>
      </p:graphicFrame>
      <p:sp>
        <p:nvSpPr>
          <p:cNvPr id="45104" name="Text Box 48"/>
          <p:cNvSpPr txBox="1">
            <a:spLocks noChangeArrowheads="1"/>
          </p:cNvSpPr>
          <p:nvPr/>
        </p:nvSpPr>
        <p:spPr bwMode="auto">
          <a:xfrm>
            <a:off x="1311275" y="4411663"/>
            <a:ext cx="3116263" cy="457200"/>
          </a:xfrm>
          <a:prstGeom prst="rect">
            <a:avLst/>
          </a:prstGeom>
          <a:noFill/>
          <a:ln w="9525">
            <a:noFill/>
            <a:miter lim="800000"/>
          </a:ln>
        </p:spPr>
        <p:txBody>
          <a:bodyPr>
            <a:spAutoFit/>
          </a:bodyPr>
          <a:lstStyle/>
          <a:p>
            <a:r>
              <a:rPr lang="zh-CN" altLang="en-US" b="1">
                <a:solidFill>
                  <a:srgbClr val="FF6600"/>
                </a:solidFill>
              </a:rPr>
              <a:t>由热力学第一定律</a:t>
            </a:r>
            <a:endParaRPr lang="zh-CN" altLang="en-US" b="1">
              <a:solidFill>
                <a:srgbClr val="FF6600"/>
              </a:solidFill>
            </a:endParaRPr>
          </a:p>
        </p:txBody>
      </p:sp>
      <p:graphicFrame>
        <p:nvGraphicFramePr>
          <p:cNvPr id="180236" name="Object 12"/>
          <p:cNvGraphicFramePr>
            <a:graphicFrameLocks noChangeAspect="1"/>
          </p:cNvGraphicFramePr>
          <p:nvPr/>
        </p:nvGraphicFramePr>
        <p:xfrm>
          <a:off x="93663" y="4949825"/>
          <a:ext cx="3046412" cy="566738"/>
        </p:xfrm>
        <a:graphic>
          <a:graphicData uri="http://schemas.openxmlformats.org/presentationml/2006/ole">
            <mc:AlternateContent xmlns:mc="http://schemas.openxmlformats.org/markup-compatibility/2006">
              <mc:Choice xmlns:v="urn:schemas-microsoft-com:vml" Requires="v">
                <p:oleObj spid="_x0000_s24590" name="公式" r:id="rId24" imgW="31089600" imgH="5791200" progId="Equation.3">
                  <p:embed/>
                </p:oleObj>
              </mc:Choice>
              <mc:Fallback>
                <p:oleObj name="公式" r:id="rId24" imgW="31089600" imgH="5791200" progId="Equation.3">
                  <p:embed/>
                  <p:pic>
                    <p:nvPicPr>
                      <p:cNvPr id="0" name="Object 12"/>
                      <p:cNvPicPr>
                        <a:picLocks noChangeAspect="1"/>
                      </p:cNvPicPr>
                      <p:nvPr/>
                    </p:nvPicPr>
                    <p:blipFill>
                      <a:blip r:embed="rId25"/>
                      <a:stretch>
                        <a:fillRect/>
                      </a:stretch>
                    </p:blipFill>
                    <p:spPr>
                      <a:xfrm>
                        <a:off x="93663" y="4949825"/>
                        <a:ext cx="3046412" cy="566738"/>
                      </a:xfrm>
                      <a:prstGeom prst="rect">
                        <a:avLst/>
                      </a:prstGeom>
                      <a:noFill/>
                      <a:ln w="9525">
                        <a:noFill/>
                      </a:ln>
                    </p:spPr>
                  </p:pic>
                </p:oleObj>
              </mc:Fallback>
            </mc:AlternateContent>
          </a:graphicData>
        </a:graphic>
      </p:graphicFrame>
      <p:graphicFrame>
        <p:nvGraphicFramePr>
          <p:cNvPr id="180237" name="Object 13"/>
          <p:cNvGraphicFramePr>
            <a:graphicFrameLocks noChangeAspect="1"/>
          </p:cNvGraphicFramePr>
          <p:nvPr/>
        </p:nvGraphicFramePr>
        <p:xfrm>
          <a:off x="3032125" y="4941888"/>
          <a:ext cx="2341563" cy="600075"/>
        </p:xfrm>
        <a:graphic>
          <a:graphicData uri="http://schemas.openxmlformats.org/presentationml/2006/ole">
            <mc:AlternateContent xmlns:mc="http://schemas.openxmlformats.org/markup-compatibility/2006">
              <mc:Choice xmlns:v="urn:schemas-microsoft-com:vml" Requires="v">
                <p:oleObj spid="_x0000_s24591" name="公式" r:id="rId26" imgW="22555200" imgH="5791200" progId="Equation.3">
                  <p:embed/>
                </p:oleObj>
              </mc:Choice>
              <mc:Fallback>
                <p:oleObj name="公式" r:id="rId26" imgW="22555200" imgH="5791200" progId="Equation.3">
                  <p:embed/>
                  <p:pic>
                    <p:nvPicPr>
                      <p:cNvPr id="0" name="Object 13"/>
                      <p:cNvPicPr>
                        <a:picLocks noChangeAspect="1"/>
                      </p:cNvPicPr>
                      <p:nvPr/>
                    </p:nvPicPr>
                    <p:blipFill>
                      <a:blip r:embed="rId27"/>
                      <a:stretch>
                        <a:fillRect/>
                      </a:stretch>
                    </p:blipFill>
                    <p:spPr>
                      <a:xfrm>
                        <a:off x="3032125" y="4941888"/>
                        <a:ext cx="2341563" cy="600075"/>
                      </a:xfrm>
                      <a:prstGeom prst="rect">
                        <a:avLst/>
                      </a:prstGeom>
                      <a:noFill/>
                      <a:ln w="9525">
                        <a:noFill/>
                      </a:ln>
                    </p:spPr>
                  </p:pic>
                </p:oleObj>
              </mc:Fallback>
            </mc:AlternateContent>
          </a:graphicData>
        </a:graphic>
      </p:graphicFrame>
      <p:graphicFrame>
        <p:nvGraphicFramePr>
          <p:cNvPr id="180238" name="Object 14"/>
          <p:cNvGraphicFramePr>
            <a:graphicFrameLocks noChangeAspect="1"/>
          </p:cNvGraphicFramePr>
          <p:nvPr/>
        </p:nvGraphicFramePr>
        <p:xfrm>
          <a:off x="958850" y="5589588"/>
          <a:ext cx="1955800" cy="488950"/>
        </p:xfrm>
        <a:graphic>
          <a:graphicData uri="http://schemas.openxmlformats.org/presentationml/2006/ole">
            <mc:AlternateContent xmlns:mc="http://schemas.openxmlformats.org/markup-compatibility/2006">
              <mc:Choice xmlns:v="urn:schemas-microsoft-com:vml" Requires="v">
                <p:oleObj spid="_x0000_s24592" name="公式" r:id="rId28" imgW="21945600" imgH="5486400" progId="Equation.3">
                  <p:embed/>
                </p:oleObj>
              </mc:Choice>
              <mc:Fallback>
                <p:oleObj name="公式" r:id="rId28" imgW="21945600" imgH="5486400" progId="Equation.3">
                  <p:embed/>
                  <p:pic>
                    <p:nvPicPr>
                      <p:cNvPr id="0" name="Object 14"/>
                      <p:cNvPicPr>
                        <a:picLocks noChangeAspect="1"/>
                      </p:cNvPicPr>
                      <p:nvPr/>
                    </p:nvPicPr>
                    <p:blipFill>
                      <a:blip r:embed="rId29"/>
                      <a:stretch>
                        <a:fillRect/>
                      </a:stretch>
                    </p:blipFill>
                    <p:spPr>
                      <a:xfrm>
                        <a:off x="958850" y="5589588"/>
                        <a:ext cx="1955800" cy="488950"/>
                      </a:xfrm>
                      <a:prstGeom prst="rect">
                        <a:avLst/>
                      </a:prstGeom>
                      <a:noFill/>
                      <a:ln w="9525">
                        <a:noFill/>
                      </a:ln>
                    </p:spPr>
                  </p:pic>
                </p:oleObj>
              </mc:Fallback>
            </mc:AlternateContent>
          </a:graphicData>
        </a:graphic>
      </p:graphicFrame>
      <p:graphicFrame>
        <p:nvGraphicFramePr>
          <p:cNvPr id="180239" name="Object 15"/>
          <p:cNvGraphicFramePr>
            <a:graphicFrameLocks noChangeAspect="1"/>
          </p:cNvGraphicFramePr>
          <p:nvPr/>
        </p:nvGraphicFramePr>
        <p:xfrm>
          <a:off x="3014663" y="5646738"/>
          <a:ext cx="1412875" cy="488950"/>
        </p:xfrm>
        <a:graphic>
          <a:graphicData uri="http://schemas.openxmlformats.org/presentationml/2006/ole">
            <mc:AlternateContent xmlns:mc="http://schemas.openxmlformats.org/markup-compatibility/2006">
              <mc:Choice xmlns:v="urn:schemas-microsoft-com:vml" Requires="v">
                <p:oleObj spid="_x0000_s24593" name="公式" r:id="rId30" imgW="15849600" imgH="5486400" progId="Equation.3">
                  <p:embed/>
                </p:oleObj>
              </mc:Choice>
              <mc:Fallback>
                <p:oleObj name="公式" r:id="rId30" imgW="15849600" imgH="5486400" progId="Equation.3">
                  <p:embed/>
                  <p:pic>
                    <p:nvPicPr>
                      <p:cNvPr id="0" name="Object 15"/>
                      <p:cNvPicPr>
                        <a:picLocks noChangeAspect="1"/>
                      </p:cNvPicPr>
                      <p:nvPr/>
                    </p:nvPicPr>
                    <p:blipFill>
                      <a:blip r:embed="rId31"/>
                      <a:stretch>
                        <a:fillRect/>
                      </a:stretch>
                    </p:blipFill>
                    <p:spPr>
                      <a:xfrm>
                        <a:off x="3014663" y="5646738"/>
                        <a:ext cx="1412875" cy="488950"/>
                      </a:xfrm>
                      <a:prstGeom prst="rect">
                        <a:avLst/>
                      </a:prstGeom>
                      <a:noFill/>
                      <a:ln w="9525">
                        <a:noFill/>
                      </a:ln>
                    </p:spPr>
                  </p:pic>
                </p:oleObj>
              </mc:Fallback>
            </mc:AlternateContent>
          </a:graphicData>
        </a:graphic>
      </p:graphicFrame>
      <p:sp>
        <p:nvSpPr>
          <p:cNvPr id="45109" name="AutoShape 53"/>
          <p:cNvSpPr>
            <a:spLocks noChangeArrowheads="1"/>
          </p:cNvSpPr>
          <p:nvPr/>
        </p:nvSpPr>
        <p:spPr bwMode="auto">
          <a:xfrm>
            <a:off x="5724525" y="5229225"/>
            <a:ext cx="720725" cy="215900"/>
          </a:xfrm>
          <a:prstGeom prst="rightArrow">
            <a:avLst>
              <a:gd name="adj1" fmla="val 50000"/>
              <a:gd name="adj2" fmla="val 83456"/>
            </a:avLst>
          </a:prstGeom>
          <a:solidFill>
            <a:schemeClr val="accent1"/>
          </a:solidFill>
          <a:ln w="9525">
            <a:solidFill>
              <a:schemeClr val="tx1"/>
            </a:solidFill>
            <a:miter lim="800000"/>
          </a:ln>
        </p:spPr>
        <p:txBody>
          <a:bodyPr wrap="none" anchor="ctr"/>
          <a:lstStyle/>
          <a:p>
            <a:pPr algn="ctr"/>
            <a:endParaRPr lang="zh-CN" altLang="en-US" b="1"/>
          </a:p>
        </p:txBody>
      </p:sp>
      <p:graphicFrame>
        <p:nvGraphicFramePr>
          <p:cNvPr id="180240" name="Object 16"/>
          <p:cNvGraphicFramePr>
            <a:graphicFrameLocks noChangeAspect="1"/>
          </p:cNvGraphicFramePr>
          <p:nvPr/>
        </p:nvGraphicFramePr>
        <p:xfrm>
          <a:off x="7151688" y="4568825"/>
          <a:ext cx="1223962" cy="515938"/>
        </p:xfrm>
        <a:graphic>
          <a:graphicData uri="http://schemas.openxmlformats.org/presentationml/2006/ole">
            <mc:AlternateContent xmlns:mc="http://schemas.openxmlformats.org/markup-compatibility/2006">
              <mc:Choice xmlns:v="urn:schemas-microsoft-com:vml" Requires="v">
                <p:oleObj spid="_x0000_s24594" name="公式" r:id="rId32" imgW="13716000" imgH="5791200" progId="Equation.3">
                  <p:embed/>
                </p:oleObj>
              </mc:Choice>
              <mc:Fallback>
                <p:oleObj name="公式" r:id="rId32" imgW="13716000" imgH="5791200" progId="Equation.3">
                  <p:embed/>
                  <p:pic>
                    <p:nvPicPr>
                      <p:cNvPr id="0" name="Object 16"/>
                      <p:cNvPicPr>
                        <a:picLocks noChangeAspect="1"/>
                      </p:cNvPicPr>
                      <p:nvPr/>
                    </p:nvPicPr>
                    <p:blipFill>
                      <a:blip r:embed="rId33"/>
                      <a:stretch>
                        <a:fillRect/>
                      </a:stretch>
                    </p:blipFill>
                    <p:spPr>
                      <a:xfrm>
                        <a:off x="7151688" y="4568825"/>
                        <a:ext cx="1223962" cy="515938"/>
                      </a:xfrm>
                      <a:prstGeom prst="rect">
                        <a:avLst/>
                      </a:prstGeom>
                      <a:noFill/>
                      <a:ln w="9525">
                        <a:noFill/>
                      </a:ln>
                    </p:spPr>
                  </p:pic>
                </p:oleObj>
              </mc:Fallback>
            </mc:AlternateContent>
          </a:graphicData>
        </a:graphic>
      </p:graphicFrame>
      <p:graphicFrame>
        <p:nvGraphicFramePr>
          <p:cNvPr id="180241" name="Object 17"/>
          <p:cNvGraphicFramePr>
            <a:graphicFrameLocks noChangeAspect="1"/>
          </p:cNvGraphicFramePr>
          <p:nvPr/>
        </p:nvGraphicFramePr>
        <p:xfrm>
          <a:off x="7164388" y="5145088"/>
          <a:ext cx="1387475" cy="515937"/>
        </p:xfrm>
        <a:graphic>
          <a:graphicData uri="http://schemas.openxmlformats.org/presentationml/2006/ole">
            <mc:AlternateContent xmlns:mc="http://schemas.openxmlformats.org/markup-compatibility/2006">
              <mc:Choice xmlns:v="urn:schemas-microsoft-com:vml" Requires="v">
                <p:oleObj spid="_x0000_s24595" name="公式" r:id="rId34" imgW="15544800" imgH="5791200" progId="Equation.3">
                  <p:embed/>
                </p:oleObj>
              </mc:Choice>
              <mc:Fallback>
                <p:oleObj name="公式" r:id="rId34" imgW="15544800" imgH="5791200" progId="Equation.3">
                  <p:embed/>
                  <p:pic>
                    <p:nvPicPr>
                      <p:cNvPr id="0" name="Object 17"/>
                      <p:cNvPicPr>
                        <a:picLocks noChangeAspect="1"/>
                      </p:cNvPicPr>
                      <p:nvPr/>
                    </p:nvPicPr>
                    <p:blipFill>
                      <a:blip r:embed="rId35"/>
                      <a:stretch>
                        <a:fillRect/>
                      </a:stretch>
                    </p:blipFill>
                    <p:spPr>
                      <a:xfrm>
                        <a:off x="7164388" y="5145088"/>
                        <a:ext cx="1387475" cy="515937"/>
                      </a:xfrm>
                      <a:prstGeom prst="rect">
                        <a:avLst/>
                      </a:prstGeom>
                      <a:noFill/>
                      <a:ln w="9525">
                        <a:noFill/>
                      </a:ln>
                    </p:spPr>
                  </p:pic>
                </p:oleObj>
              </mc:Fallback>
            </mc:AlternateContent>
          </a:graphicData>
        </a:graphic>
      </p:graphicFrame>
      <p:graphicFrame>
        <p:nvGraphicFramePr>
          <p:cNvPr id="180242" name="Object 18"/>
          <p:cNvGraphicFramePr>
            <a:graphicFrameLocks noChangeAspect="1"/>
          </p:cNvGraphicFramePr>
          <p:nvPr/>
        </p:nvGraphicFramePr>
        <p:xfrm>
          <a:off x="7164388" y="5661025"/>
          <a:ext cx="1344612" cy="566738"/>
        </p:xfrm>
        <a:graphic>
          <a:graphicData uri="http://schemas.openxmlformats.org/presentationml/2006/ole">
            <mc:AlternateContent xmlns:mc="http://schemas.openxmlformats.org/markup-compatibility/2006">
              <mc:Choice xmlns:v="urn:schemas-microsoft-com:vml" Requires="v">
                <p:oleObj spid="_x0000_s24596" name="公式" r:id="rId36" imgW="13716000" imgH="5791200" progId="Equation.3">
                  <p:embed/>
                </p:oleObj>
              </mc:Choice>
              <mc:Fallback>
                <p:oleObj name="公式" r:id="rId36" imgW="13716000" imgH="5791200" progId="Equation.3">
                  <p:embed/>
                  <p:pic>
                    <p:nvPicPr>
                      <p:cNvPr id="0" name="Object 18"/>
                      <p:cNvPicPr>
                        <a:picLocks noChangeAspect="1"/>
                      </p:cNvPicPr>
                      <p:nvPr/>
                    </p:nvPicPr>
                    <p:blipFill>
                      <a:blip r:embed="rId37"/>
                      <a:stretch>
                        <a:fillRect/>
                      </a:stretch>
                    </p:blipFill>
                    <p:spPr>
                      <a:xfrm>
                        <a:off x="7164388" y="5661025"/>
                        <a:ext cx="1344612" cy="566738"/>
                      </a:xfrm>
                      <a:prstGeom prst="rect">
                        <a:avLst/>
                      </a:prstGeom>
                      <a:noFill/>
                      <a:ln w="9525">
                        <a:noFill/>
                      </a:ln>
                    </p:spPr>
                  </p:pic>
                </p:oleObj>
              </mc:Fallback>
            </mc:AlternateContent>
          </a:graphicData>
        </a:graphic>
      </p:graphicFrame>
      <p:sp>
        <p:nvSpPr>
          <p:cNvPr id="45114" name="AutoShape 58"/>
          <p:cNvSpPr/>
          <p:nvPr/>
        </p:nvSpPr>
        <p:spPr bwMode="auto">
          <a:xfrm>
            <a:off x="6877050" y="4797425"/>
            <a:ext cx="142875" cy="1295400"/>
          </a:xfrm>
          <a:prstGeom prst="leftBrace">
            <a:avLst>
              <a:gd name="adj1" fmla="val 75556"/>
              <a:gd name="adj2" fmla="val 50000"/>
            </a:avLst>
          </a:prstGeom>
          <a:noFill/>
          <a:ln w="9525">
            <a:solidFill>
              <a:schemeClr val="tx1"/>
            </a:solidFill>
            <a:round/>
          </a:ln>
        </p:spPr>
        <p:txBody>
          <a:bodyPr wrap="none" anchor="ctr"/>
          <a:lstStyle/>
          <a:p>
            <a:pPr algn="ct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wipe(left)">
                                      <p:cBhvr>
                                        <p:cTn id="7" dur="500"/>
                                        <p:tgtEl>
                                          <p:spTgt spid="450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61"/>
                                        </p:tgtEl>
                                        <p:attrNameLst>
                                          <p:attrName>style.visibility</p:attrName>
                                        </p:attrNameLst>
                                      </p:cBhvr>
                                      <p:to>
                                        <p:strVal val="visible"/>
                                      </p:to>
                                    </p:set>
                                    <p:animEffect transition="in" filter="wipe(left)">
                                      <p:cBhvr>
                                        <p:cTn id="12" dur="500"/>
                                        <p:tgtEl>
                                          <p:spTgt spid="45061"/>
                                        </p:tgtEl>
                                      </p:cBhvr>
                                    </p:animEffect>
                                  </p:child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ox(ou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80229"/>
                                        </p:tgtEl>
                                        <p:attrNameLst>
                                          <p:attrName>style.visibility</p:attrName>
                                        </p:attrNameLst>
                                      </p:cBhvr>
                                      <p:to>
                                        <p:strVal val="visible"/>
                                      </p:to>
                                    </p:set>
                                    <p:animEffect transition="in" filter="wipe(up)">
                                      <p:cBhvr>
                                        <p:cTn id="21" dur="500"/>
                                        <p:tgtEl>
                                          <p:spTgt spid="180229"/>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45069"/>
                                        </p:tgtEl>
                                        <p:attrNameLst>
                                          <p:attrName>style.visibility</p:attrName>
                                        </p:attrNameLst>
                                      </p:cBhvr>
                                      <p:to>
                                        <p:strVal val="visible"/>
                                      </p:to>
                                    </p:set>
                                    <p:animEffect transition="in" filter="wipe(up)">
                                      <p:cBhvr>
                                        <p:cTn id="24" dur="500"/>
                                        <p:tgtEl>
                                          <p:spTgt spid="45069"/>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45067"/>
                                        </p:tgtEl>
                                        <p:attrNameLst>
                                          <p:attrName>style.visibility</p:attrName>
                                        </p:attrNameLst>
                                      </p:cBhvr>
                                      <p:to>
                                        <p:strVal val="visible"/>
                                      </p:to>
                                    </p:set>
                                    <p:animEffect transition="in" filter="wipe(right)">
                                      <p:cBhvr>
                                        <p:cTn id="27" dur="500"/>
                                        <p:tgtEl>
                                          <p:spTgt spid="45067"/>
                                        </p:tgtEl>
                                      </p:cBhvr>
                                    </p:animEffect>
                                  </p:childTnLst>
                                </p:cTn>
                              </p:par>
                              <p:par>
                                <p:cTn id="28" presetID="22" presetClass="entr" presetSubtype="1" fill="hold" nodeType="withEffect">
                                  <p:stCondLst>
                                    <p:cond delay="0"/>
                                  </p:stCondLst>
                                  <p:childTnLst>
                                    <p:set>
                                      <p:cBhvr>
                                        <p:cTn id="29" dur="1" fill="hold">
                                          <p:stCondLst>
                                            <p:cond delay="0"/>
                                          </p:stCondLst>
                                        </p:cTn>
                                        <p:tgtEl>
                                          <p:spTgt spid="180224"/>
                                        </p:tgtEl>
                                        <p:attrNameLst>
                                          <p:attrName>style.visibility</p:attrName>
                                        </p:attrNameLst>
                                      </p:cBhvr>
                                      <p:to>
                                        <p:strVal val="visible"/>
                                      </p:to>
                                    </p:set>
                                    <p:animEffect transition="in" filter="wipe(up)">
                                      <p:cBhvr>
                                        <p:cTn id="30" dur="500"/>
                                        <p:tgtEl>
                                          <p:spTgt spid="180224"/>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45073"/>
                                        </p:tgtEl>
                                        <p:attrNameLst>
                                          <p:attrName>style.visibility</p:attrName>
                                        </p:attrNameLst>
                                      </p:cBhvr>
                                      <p:to>
                                        <p:strVal val="visible"/>
                                      </p:to>
                                    </p:set>
                                    <p:animEffect transition="in" filter="wipe(up)">
                                      <p:cBhvr>
                                        <p:cTn id="33" dur="500"/>
                                        <p:tgtEl>
                                          <p:spTgt spid="45073"/>
                                        </p:tgtEl>
                                      </p:cBhvr>
                                    </p:animEffect>
                                  </p:childTnLst>
                                </p:cTn>
                              </p:par>
                              <p:par>
                                <p:cTn id="34" presetID="22" presetClass="entr" presetSubtype="1" fill="hold" nodeType="withEffect">
                                  <p:stCondLst>
                                    <p:cond delay="0"/>
                                  </p:stCondLst>
                                  <p:childTnLst>
                                    <p:set>
                                      <p:cBhvr>
                                        <p:cTn id="35" dur="1" fill="hold">
                                          <p:stCondLst>
                                            <p:cond delay="0"/>
                                          </p:stCondLst>
                                        </p:cTn>
                                        <p:tgtEl>
                                          <p:spTgt spid="180226"/>
                                        </p:tgtEl>
                                        <p:attrNameLst>
                                          <p:attrName>style.visibility</p:attrName>
                                        </p:attrNameLst>
                                      </p:cBhvr>
                                      <p:to>
                                        <p:strVal val="visible"/>
                                      </p:to>
                                    </p:set>
                                    <p:animEffect transition="in" filter="wipe(up)">
                                      <p:cBhvr>
                                        <p:cTn id="36" dur="500"/>
                                        <p:tgtEl>
                                          <p:spTgt spid="18022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80228"/>
                                        </p:tgtEl>
                                        <p:attrNameLst>
                                          <p:attrName>style.visibility</p:attrName>
                                        </p:attrNameLst>
                                      </p:cBhvr>
                                      <p:to>
                                        <p:strVal val="visible"/>
                                      </p:to>
                                    </p:set>
                                    <p:animEffect transition="in" filter="wipe(up)">
                                      <p:cBhvr>
                                        <p:cTn id="41" dur="500"/>
                                        <p:tgtEl>
                                          <p:spTgt spid="180228"/>
                                        </p:tgtEl>
                                      </p:cBhvr>
                                    </p:animEffect>
                                  </p:childTnLst>
                                </p:cTn>
                              </p:par>
                              <p:par>
                                <p:cTn id="42" presetID="22" presetClass="entr" presetSubtype="2" fill="hold" grpId="0" nodeType="withEffect">
                                  <p:stCondLst>
                                    <p:cond delay="0"/>
                                  </p:stCondLst>
                                  <p:childTnLst>
                                    <p:set>
                                      <p:cBhvr>
                                        <p:cTn id="43" dur="1" fill="hold">
                                          <p:stCondLst>
                                            <p:cond delay="0"/>
                                          </p:stCondLst>
                                        </p:cTn>
                                        <p:tgtEl>
                                          <p:spTgt spid="45066"/>
                                        </p:tgtEl>
                                        <p:attrNameLst>
                                          <p:attrName>style.visibility</p:attrName>
                                        </p:attrNameLst>
                                      </p:cBhvr>
                                      <p:to>
                                        <p:strVal val="visible"/>
                                      </p:to>
                                    </p:set>
                                    <p:animEffect transition="in" filter="wipe(right)">
                                      <p:cBhvr>
                                        <p:cTn id="44" dur="500"/>
                                        <p:tgtEl>
                                          <p:spTgt spid="45066"/>
                                        </p:tgtEl>
                                      </p:cBhvr>
                                    </p:animEffect>
                                  </p:childTnLst>
                                </p:cTn>
                              </p:par>
                              <p:par>
                                <p:cTn id="45" presetID="22" presetClass="entr" presetSubtype="1" fill="hold" nodeType="withEffect">
                                  <p:stCondLst>
                                    <p:cond delay="0"/>
                                  </p:stCondLst>
                                  <p:childTnLst>
                                    <p:set>
                                      <p:cBhvr>
                                        <p:cTn id="46" dur="1" fill="hold">
                                          <p:stCondLst>
                                            <p:cond delay="0"/>
                                          </p:stCondLst>
                                        </p:cTn>
                                        <p:tgtEl>
                                          <p:spTgt spid="180225"/>
                                        </p:tgtEl>
                                        <p:attrNameLst>
                                          <p:attrName>style.visibility</p:attrName>
                                        </p:attrNameLst>
                                      </p:cBhvr>
                                      <p:to>
                                        <p:strVal val="visible"/>
                                      </p:to>
                                    </p:set>
                                    <p:animEffect transition="in" filter="wipe(up)">
                                      <p:cBhvr>
                                        <p:cTn id="47" dur="500"/>
                                        <p:tgtEl>
                                          <p:spTgt spid="180225"/>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45070"/>
                                        </p:tgtEl>
                                        <p:attrNameLst>
                                          <p:attrName>style.visibility</p:attrName>
                                        </p:attrNameLst>
                                      </p:cBhvr>
                                      <p:to>
                                        <p:strVal val="visible"/>
                                      </p:to>
                                    </p:set>
                                    <p:animEffect transition="in" filter="wipe(up)">
                                      <p:cBhvr>
                                        <p:cTn id="50" dur="500"/>
                                        <p:tgtEl>
                                          <p:spTgt spid="45070"/>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45072"/>
                                        </p:tgtEl>
                                        <p:attrNameLst>
                                          <p:attrName>style.visibility</p:attrName>
                                        </p:attrNameLst>
                                      </p:cBhvr>
                                      <p:to>
                                        <p:strVal val="visible"/>
                                      </p:to>
                                    </p:set>
                                    <p:animEffect transition="in" filter="wipe(up)">
                                      <p:cBhvr>
                                        <p:cTn id="53" dur="500"/>
                                        <p:tgtEl>
                                          <p:spTgt spid="45072"/>
                                        </p:tgtEl>
                                      </p:cBhvr>
                                    </p:animEffect>
                                  </p:childTnLst>
                                </p:cTn>
                              </p:par>
                              <p:par>
                                <p:cTn id="54" presetID="22" presetClass="entr" presetSubtype="1" fill="hold" nodeType="withEffect">
                                  <p:stCondLst>
                                    <p:cond delay="0"/>
                                  </p:stCondLst>
                                  <p:childTnLst>
                                    <p:set>
                                      <p:cBhvr>
                                        <p:cTn id="55" dur="1" fill="hold">
                                          <p:stCondLst>
                                            <p:cond delay="0"/>
                                          </p:stCondLst>
                                        </p:cTn>
                                        <p:tgtEl>
                                          <p:spTgt spid="180227"/>
                                        </p:tgtEl>
                                        <p:attrNameLst>
                                          <p:attrName>style.visibility</p:attrName>
                                        </p:attrNameLst>
                                      </p:cBhvr>
                                      <p:to>
                                        <p:strVal val="visible"/>
                                      </p:to>
                                    </p:set>
                                    <p:animEffect transition="in" filter="wipe(up)">
                                      <p:cBhvr>
                                        <p:cTn id="56" dur="500"/>
                                        <p:tgtEl>
                                          <p:spTgt spid="18022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wipe(left)">
                                      <p:cBhvr>
                                        <p:cTn id="61" dur="500"/>
                                        <p:tgtEl>
                                          <p:spTgt spid="2"/>
                                        </p:tgtEl>
                                      </p:cBhvr>
                                    </p:animEffect>
                                  </p:childTnLst>
                                </p:cTn>
                              </p:par>
                            </p:childTnLst>
                          </p:cTn>
                        </p:par>
                        <p:par>
                          <p:cTn id="62" fill="hold">
                            <p:stCondLst>
                              <p:cond delay="500"/>
                            </p:stCondLst>
                            <p:childTnLst>
                              <p:par>
                                <p:cTn id="63" presetID="22" presetClass="entr" presetSubtype="1" fill="hold" nodeType="afterEffect">
                                  <p:stCondLst>
                                    <p:cond delay="0"/>
                                  </p:stCondLst>
                                  <p:childTnLst>
                                    <p:set>
                                      <p:cBhvr>
                                        <p:cTn id="64" dur="1" fill="hold">
                                          <p:stCondLst>
                                            <p:cond delay="0"/>
                                          </p:stCondLst>
                                        </p:cTn>
                                        <p:tgtEl>
                                          <p:spTgt spid="180232"/>
                                        </p:tgtEl>
                                        <p:attrNameLst>
                                          <p:attrName>style.visibility</p:attrName>
                                        </p:attrNameLst>
                                      </p:cBhvr>
                                      <p:to>
                                        <p:strVal val="visible"/>
                                      </p:to>
                                    </p:set>
                                    <p:animEffect transition="in" filter="wipe(up)">
                                      <p:cBhvr>
                                        <p:cTn id="65" dur="500"/>
                                        <p:tgtEl>
                                          <p:spTgt spid="180232"/>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45085"/>
                                        </p:tgtEl>
                                        <p:attrNameLst>
                                          <p:attrName>style.visibility</p:attrName>
                                        </p:attrNameLst>
                                      </p:cBhvr>
                                      <p:to>
                                        <p:strVal val="visible"/>
                                      </p:to>
                                    </p:set>
                                    <p:animEffect transition="in" filter="wipe(down)">
                                      <p:cBhvr>
                                        <p:cTn id="68" dur="500"/>
                                        <p:tgtEl>
                                          <p:spTgt spid="45085"/>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45084"/>
                                        </p:tgtEl>
                                        <p:attrNameLst>
                                          <p:attrName>style.visibility</p:attrName>
                                        </p:attrNameLst>
                                      </p:cBhvr>
                                      <p:to>
                                        <p:strVal val="visible"/>
                                      </p:to>
                                    </p:set>
                                    <p:animEffect transition="in" filter="wipe(down)">
                                      <p:cBhvr>
                                        <p:cTn id="71" dur="500"/>
                                        <p:tgtEl>
                                          <p:spTgt spid="4508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wipe(left)">
                                      <p:cBhvr>
                                        <p:cTn id="76" dur="500"/>
                                        <p:tgtEl>
                                          <p:spTgt spid="3"/>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180230"/>
                                        </p:tgtEl>
                                        <p:attrNameLst>
                                          <p:attrName>style.visibility</p:attrName>
                                        </p:attrNameLst>
                                      </p:cBhvr>
                                      <p:to>
                                        <p:strVal val="visible"/>
                                      </p:to>
                                    </p:set>
                                    <p:animEffect transition="in" filter="wipe(left)">
                                      <p:cBhvr>
                                        <p:cTn id="80" dur="500"/>
                                        <p:tgtEl>
                                          <p:spTgt spid="180230"/>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80231"/>
                                        </p:tgtEl>
                                        <p:attrNameLst>
                                          <p:attrName>style.visibility</p:attrName>
                                        </p:attrNameLst>
                                      </p:cBhvr>
                                      <p:to>
                                        <p:strVal val="visible"/>
                                      </p:to>
                                    </p:set>
                                    <p:animEffect transition="in" filter="wipe(left)">
                                      <p:cBhvr>
                                        <p:cTn id="84" dur="500"/>
                                        <p:tgtEl>
                                          <p:spTgt spid="180231"/>
                                        </p:tgtEl>
                                      </p:cBhvr>
                                    </p:animEffect>
                                  </p:childTnLst>
                                </p:cTn>
                              </p:par>
                            </p:childTnLst>
                          </p:cTn>
                        </p:par>
                        <p:par>
                          <p:cTn id="85" fill="hold">
                            <p:stCondLst>
                              <p:cond delay="1500"/>
                            </p:stCondLst>
                            <p:childTnLst>
                              <p:par>
                                <p:cTn id="86" presetID="22" presetClass="entr" presetSubtype="8" fill="hold" nodeType="afterEffect">
                                  <p:stCondLst>
                                    <p:cond delay="0"/>
                                  </p:stCondLst>
                                  <p:childTnLst>
                                    <p:set>
                                      <p:cBhvr>
                                        <p:cTn id="87" dur="1" fill="hold">
                                          <p:stCondLst>
                                            <p:cond delay="0"/>
                                          </p:stCondLst>
                                        </p:cTn>
                                        <p:tgtEl>
                                          <p:spTgt spid="4"/>
                                        </p:tgtEl>
                                        <p:attrNameLst>
                                          <p:attrName>style.visibility</p:attrName>
                                        </p:attrNameLst>
                                      </p:cBhvr>
                                      <p:to>
                                        <p:strVal val="visible"/>
                                      </p:to>
                                    </p:set>
                                    <p:animEffect transition="in" filter="wipe(left)">
                                      <p:cBhvr>
                                        <p:cTn id="88" dur="500"/>
                                        <p:tgtEl>
                                          <p:spTgt spid="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45086"/>
                                        </p:tgtEl>
                                        <p:attrNameLst>
                                          <p:attrName>style.visibility</p:attrName>
                                        </p:attrNameLst>
                                      </p:cBhvr>
                                      <p:to>
                                        <p:strVal val="visible"/>
                                      </p:to>
                                    </p:set>
                                    <p:animEffect transition="in" filter="wipe(left)">
                                      <p:cBhvr>
                                        <p:cTn id="93" dur="500"/>
                                        <p:tgtEl>
                                          <p:spTgt spid="45086"/>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45087"/>
                                        </p:tgtEl>
                                        <p:attrNameLst>
                                          <p:attrName>style.visibility</p:attrName>
                                        </p:attrNameLst>
                                      </p:cBhvr>
                                      <p:to>
                                        <p:strVal val="visible"/>
                                      </p:to>
                                    </p:set>
                                    <p:animEffect transition="in" filter="wipe(left)">
                                      <p:cBhvr>
                                        <p:cTn id="98" dur="500"/>
                                        <p:tgtEl>
                                          <p:spTgt spid="45087"/>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45097"/>
                                        </p:tgtEl>
                                        <p:attrNameLst>
                                          <p:attrName>style.visibility</p:attrName>
                                        </p:attrNameLst>
                                      </p:cBhvr>
                                      <p:to>
                                        <p:strVal val="visible"/>
                                      </p:to>
                                    </p:set>
                                    <p:animEffect transition="in" filter="wipe(left)">
                                      <p:cBhvr>
                                        <p:cTn id="103" dur="500"/>
                                        <p:tgtEl>
                                          <p:spTgt spid="45097"/>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45099"/>
                                        </p:tgtEl>
                                        <p:attrNameLst>
                                          <p:attrName>style.visibility</p:attrName>
                                        </p:attrNameLst>
                                      </p:cBhvr>
                                      <p:to>
                                        <p:strVal val="visible"/>
                                      </p:to>
                                    </p:set>
                                    <p:animEffect transition="in" filter="wipe(left)">
                                      <p:cBhvr>
                                        <p:cTn id="108" dur="500"/>
                                        <p:tgtEl>
                                          <p:spTgt spid="45099"/>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180233"/>
                                        </p:tgtEl>
                                        <p:attrNameLst>
                                          <p:attrName>style.visibility</p:attrName>
                                        </p:attrNameLst>
                                      </p:cBhvr>
                                      <p:to>
                                        <p:strVal val="visible"/>
                                      </p:to>
                                    </p:set>
                                    <p:animEffect transition="in" filter="wipe(left)">
                                      <p:cBhvr>
                                        <p:cTn id="113" dur="500"/>
                                        <p:tgtEl>
                                          <p:spTgt spid="180233"/>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45101"/>
                                        </p:tgtEl>
                                        <p:attrNameLst>
                                          <p:attrName>style.visibility</p:attrName>
                                        </p:attrNameLst>
                                      </p:cBhvr>
                                      <p:to>
                                        <p:strVal val="visible"/>
                                      </p:to>
                                    </p:set>
                                    <p:animEffect transition="in" filter="wipe(left)">
                                      <p:cBhvr>
                                        <p:cTn id="118" dur="500"/>
                                        <p:tgtEl>
                                          <p:spTgt spid="45101"/>
                                        </p:tgtEl>
                                      </p:cBhvr>
                                    </p:animEffect>
                                  </p:childTnLst>
                                </p:cTn>
                              </p:par>
                            </p:childTnLst>
                          </p:cTn>
                        </p:par>
                        <p:par>
                          <p:cTn id="119" fill="hold">
                            <p:stCondLst>
                              <p:cond delay="500"/>
                            </p:stCondLst>
                            <p:childTnLst>
                              <p:par>
                                <p:cTn id="120" presetID="22" presetClass="entr" presetSubtype="8" fill="hold" nodeType="afterEffect">
                                  <p:stCondLst>
                                    <p:cond delay="0"/>
                                  </p:stCondLst>
                                  <p:childTnLst>
                                    <p:set>
                                      <p:cBhvr>
                                        <p:cTn id="121" dur="1" fill="hold">
                                          <p:stCondLst>
                                            <p:cond delay="0"/>
                                          </p:stCondLst>
                                        </p:cTn>
                                        <p:tgtEl>
                                          <p:spTgt spid="180234"/>
                                        </p:tgtEl>
                                        <p:attrNameLst>
                                          <p:attrName>style.visibility</p:attrName>
                                        </p:attrNameLst>
                                      </p:cBhvr>
                                      <p:to>
                                        <p:strVal val="visible"/>
                                      </p:to>
                                    </p:set>
                                    <p:animEffect transition="in" filter="wipe(left)">
                                      <p:cBhvr>
                                        <p:cTn id="122" dur="500"/>
                                        <p:tgtEl>
                                          <p:spTgt spid="180234"/>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180235"/>
                                        </p:tgtEl>
                                        <p:attrNameLst>
                                          <p:attrName>style.visibility</p:attrName>
                                        </p:attrNameLst>
                                      </p:cBhvr>
                                      <p:to>
                                        <p:strVal val="visible"/>
                                      </p:to>
                                    </p:set>
                                    <p:animEffect transition="in" filter="wipe(left)">
                                      <p:cBhvr>
                                        <p:cTn id="127" dur="500"/>
                                        <p:tgtEl>
                                          <p:spTgt spid="180235"/>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45104"/>
                                        </p:tgtEl>
                                        <p:attrNameLst>
                                          <p:attrName>style.visibility</p:attrName>
                                        </p:attrNameLst>
                                      </p:cBhvr>
                                      <p:to>
                                        <p:strVal val="visible"/>
                                      </p:to>
                                    </p:set>
                                    <p:animEffect transition="in" filter="wipe(left)">
                                      <p:cBhvr>
                                        <p:cTn id="132" dur="500"/>
                                        <p:tgtEl>
                                          <p:spTgt spid="45104"/>
                                        </p:tgtEl>
                                      </p:cBhvr>
                                    </p:animEffect>
                                  </p:childTnLst>
                                </p:cTn>
                              </p:par>
                            </p:childTnLst>
                          </p:cTn>
                        </p:par>
                        <p:par>
                          <p:cTn id="133" fill="hold">
                            <p:stCondLst>
                              <p:cond delay="500"/>
                            </p:stCondLst>
                            <p:childTnLst>
                              <p:par>
                                <p:cTn id="134" presetID="22" presetClass="entr" presetSubtype="8" fill="hold" nodeType="afterEffect">
                                  <p:stCondLst>
                                    <p:cond delay="0"/>
                                  </p:stCondLst>
                                  <p:childTnLst>
                                    <p:set>
                                      <p:cBhvr>
                                        <p:cTn id="135" dur="1" fill="hold">
                                          <p:stCondLst>
                                            <p:cond delay="0"/>
                                          </p:stCondLst>
                                        </p:cTn>
                                        <p:tgtEl>
                                          <p:spTgt spid="180236"/>
                                        </p:tgtEl>
                                        <p:attrNameLst>
                                          <p:attrName>style.visibility</p:attrName>
                                        </p:attrNameLst>
                                      </p:cBhvr>
                                      <p:to>
                                        <p:strVal val="visible"/>
                                      </p:to>
                                    </p:set>
                                    <p:animEffect transition="in" filter="wipe(left)">
                                      <p:cBhvr>
                                        <p:cTn id="136" dur="500"/>
                                        <p:tgtEl>
                                          <p:spTgt spid="180236"/>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nodeType="clickEffect">
                                  <p:stCondLst>
                                    <p:cond delay="0"/>
                                  </p:stCondLst>
                                  <p:childTnLst>
                                    <p:set>
                                      <p:cBhvr>
                                        <p:cTn id="140" dur="1" fill="hold">
                                          <p:stCondLst>
                                            <p:cond delay="0"/>
                                          </p:stCondLst>
                                        </p:cTn>
                                        <p:tgtEl>
                                          <p:spTgt spid="180237"/>
                                        </p:tgtEl>
                                        <p:attrNameLst>
                                          <p:attrName>style.visibility</p:attrName>
                                        </p:attrNameLst>
                                      </p:cBhvr>
                                      <p:to>
                                        <p:strVal val="visible"/>
                                      </p:to>
                                    </p:set>
                                    <p:animEffect transition="in" filter="wipe(left)">
                                      <p:cBhvr>
                                        <p:cTn id="141" dur="500"/>
                                        <p:tgtEl>
                                          <p:spTgt spid="18023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180238"/>
                                        </p:tgtEl>
                                        <p:attrNameLst>
                                          <p:attrName>style.visibility</p:attrName>
                                        </p:attrNameLst>
                                      </p:cBhvr>
                                      <p:to>
                                        <p:strVal val="visible"/>
                                      </p:to>
                                    </p:set>
                                    <p:animEffect transition="in" filter="wipe(left)">
                                      <p:cBhvr>
                                        <p:cTn id="146" dur="500"/>
                                        <p:tgtEl>
                                          <p:spTgt spid="180238"/>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nodeType="clickEffect">
                                  <p:stCondLst>
                                    <p:cond delay="0"/>
                                  </p:stCondLst>
                                  <p:childTnLst>
                                    <p:set>
                                      <p:cBhvr>
                                        <p:cTn id="150" dur="1" fill="hold">
                                          <p:stCondLst>
                                            <p:cond delay="0"/>
                                          </p:stCondLst>
                                        </p:cTn>
                                        <p:tgtEl>
                                          <p:spTgt spid="180239"/>
                                        </p:tgtEl>
                                        <p:attrNameLst>
                                          <p:attrName>style.visibility</p:attrName>
                                        </p:attrNameLst>
                                      </p:cBhvr>
                                      <p:to>
                                        <p:strVal val="visible"/>
                                      </p:to>
                                    </p:set>
                                    <p:animEffect transition="in" filter="wipe(left)">
                                      <p:cBhvr>
                                        <p:cTn id="151" dur="500"/>
                                        <p:tgtEl>
                                          <p:spTgt spid="180239"/>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45109"/>
                                        </p:tgtEl>
                                        <p:attrNameLst>
                                          <p:attrName>style.visibility</p:attrName>
                                        </p:attrNameLst>
                                      </p:cBhvr>
                                      <p:to>
                                        <p:strVal val="visible"/>
                                      </p:to>
                                    </p:set>
                                    <p:animEffect transition="in" filter="wipe(left)">
                                      <p:cBhvr>
                                        <p:cTn id="156" dur="500"/>
                                        <p:tgtEl>
                                          <p:spTgt spid="45109"/>
                                        </p:tgtEl>
                                      </p:cBhvr>
                                    </p:animEffect>
                                  </p:childTnLst>
                                </p:cTn>
                              </p:par>
                              <p:par>
                                <p:cTn id="157" presetID="22" presetClass="entr" presetSubtype="8" fill="hold" nodeType="withEffect">
                                  <p:stCondLst>
                                    <p:cond delay="0"/>
                                  </p:stCondLst>
                                  <p:childTnLst>
                                    <p:set>
                                      <p:cBhvr>
                                        <p:cTn id="158" dur="1" fill="hold">
                                          <p:stCondLst>
                                            <p:cond delay="0"/>
                                          </p:stCondLst>
                                        </p:cTn>
                                        <p:tgtEl>
                                          <p:spTgt spid="180240"/>
                                        </p:tgtEl>
                                        <p:attrNameLst>
                                          <p:attrName>style.visibility</p:attrName>
                                        </p:attrNameLst>
                                      </p:cBhvr>
                                      <p:to>
                                        <p:strVal val="visible"/>
                                      </p:to>
                                    </p:set>
                                    <p:animEffect transition="in" filter="wipe(left)">
                                      <p:cBhvr>
                                        <p:cTn id="159" dur="500"/>
                                        <p:tgtEl>
                                          <p:spTgt spid="180240"/>
                                        </p:tgtEl>
                                      </p:cBhvr>
                                    </p:animEffect>
                                  </p:childTnLst>
                                </p:cTn>
                              </p:par>
                              <p:par>
                                <p:cTn id="160" presetID="22" presetClass="entr" presetSubtype="8" fill="hold" nodeType="withEffect">
                                  <p:stCondLst>
                                    <p:cond delay="0"/>
                                  </p:stCondLst>
                                  <p:childTnLst>
                                    <p:set>
                                      <p:cBhvr>
                                        <p:cTn id="161" dur="1" fill="hold">
                                          <p:stCondLst>
                                            <p:cond delay="0"/>
                                          </p:stCondLst>
                                        </p:cTn>
                                        <p:tgtEl>
                                          <p:spTgt spid="180241"/>
                                        </p:tgtEl>
                                        <p:attrNameLst>
                                          <p:attrName>style.visibility</p:attrName>
                                        </p:attrNameLst>
                                      </p:cBhvr>
                                      <p:to>
                                        <p:strVal val="visible"/>
                                      </p:to>
                                    </p:set>
                                    <p:animEffect transition="in" filter="wipe(left)">
                                      <p:cBhvr>
                                        <p:cTn id="162" dur="500"/>
                                        <p:tgtEl>
                                          <p:spTgt spid="180241"/>
                                        </p:tgtEl>
                                      </p:cBhvr>
                                    </p:animEffect>
                                  </p:childTnLst>
                                </p:cTn>
                              </p:par>
                              <p:par>
                                <p:cTn id="163" presetID="22" presetClass="entr" presetSubtype="8" fill="hold" nodeType="withEffect">
                                  <p:stCondLst>
                                    <p:cond delay="0"/>
                                  </p:stCondLst>
                                  <p:childTnLst>
                                    <p:set>
                                      <p:cBhvr>
                                        <p:cTn id="164" dur="1" fill="hold">
                                          <p:stCondLst>
                                            <p:cond delay="0"/>
                                          </p:stCondLst>
                                        </p:cTn>
                                        <p:tgtEl>
                                          <p:spTgt spid="180242"/>
                                        </p:tgtEl>
                                        <p:attrNameLst>
                                          <p:attrName>style.visibility</p:attrName>
                                        </p:attrNameLst>
                                      </p:cBhvr>
                                      <p:to>
                                        <p:strVal val="visible"/>
                                      </p:to>
                                    </p:set>
                                    <p:animEffect transition="in" filter="wipe(left)">
                                      <p:cBhvr>
                                        <p:cTn id="165" dur="500"/>
                                        <p:tgtEl>
                                          <p:spTgt spid="180242"/>
                                        </p:tgtEl>
                                      </p:cBhvr>
                                    </p:animEffect>
                                  </p:childTnLst>
                                </p:cTn>
                              </p:par>
                              <p:par>
                                <p:cTn id="166" presetID="3" presetClass="entr" presetSubtype="10" fill="hold" grpId="0" nodeType="withEffect">
                                  <p:stCondLst>
                                    <p:cond delay="0"/>
                                  </p:stCondLst>
                                  <p:childTnLst>
                                    <p:set>
                                      <p:cBhvr>
                                        <p:cTn id="167" dur="1" fill="hold">
                                          <p:stCondLst>
                                            <p:cond delay="0"/>
                                          </p:stCondLst>
                                        </p:cTn>
                                        <p:tgtEl>
                                          <p:spTgt spid="45114"/>
                                        </p:tgtEl>
                                        <p:attrNameLst>
                                          <p:attrName>style.visibility</p:attrName>
                                        </p:attrNameLst>
                                      </p:cBhvr>
                                      <p:to>
                                        <p:strVal val="visible"/>
                                      </p:to>
                                    </p:set>
                                    <p:animEffect transition="in" filter="blinds(horizontal)">
                                      <p:cBhvr>
                                        <p:cTn id="168" dur="500"/>
                                        <p:tgtEl>
                                          <p:spTgt spid="45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P spid="45061" grpId="0"/>
      <p:bldP spid="45066" grpId="0" animBg="1"/>
      <p:bldP spid="45067" grpId="0" animBg="1"/>
      <p:bldP spid="45069" grpId="0"/>
      <p:bldP spid="45070" grpId="0"/>
      <p:bldP spid="45072" grpId="0" animBg="1"/>
      <p:bldP spid="45073" grpId="0" animBg="1"/>
      <p:bldP spid="45084" grpId="0"/>
      <p:bldP spid="45085" grpId="0" animBg="1"/>
      <p:bldP spid="45086" grpId="0"/>
      <p:bldP spid="45087" grpId="0"/>
      <p:bldP spid="45097" grpId="0"/>
      <p:bldP spid="45099" grpId="0"/>
      <p:bldP spid="45101" grpId="0" animBg="1"/>
      <p:bldP spid="45104" grpId="0"/>
      <p:bldP spid="45109" grpId="0" animBg="1"/>
      <p:bldP spid="451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21" name="Group 1028"/>
          <p:cNvGrpSpPr/>
          <p:nvPr/>
        </p:nvGrpSpPr>
        <p:grpSpPr bwMode="auto">
          <a:xfrm>
            <a:off x="6935788" y="2617788"/>
            <a:ext cx="876300" cy="1171575"/>
            <a:chOff x="4233" y="1513"/>
            <a:chExt cx="552" cy="738"/>
          </a:xfrm>
        </p:grpSpPr>
        <p:sp>
          <p:nvSpPr>
            <p:cNvPr id="25647" name="Freeform 1029"/>
            <p:cNvSpPr/>
            <p:nvPr/>
          </p:nvSpPr>
          <p:spPr bwMode="auto">
            <a:xfrm>
              <a:off x="4233" y="1513"/>
              <a:ext cx="552" cy="738"/>
            </a:xfrm>
            <a:custGeom>
              <a:avLst/>
              <a:gdLst>
                <a:gd name="T0" fmla="*/ 0 w 734"/>
                <a:gd name="T1" fmla="*/ 0 h 789"/>
                <a:gd name="T2" fmla="*/ 4 w 734"/>
                <a:gd name="T3" fmla="*/ 114 h 789"/>
                <a:gd name="T4" fmla="*/ 8 w 734"/>
                <a:gd name="T5" fmla="*/ 210 h 789"/>
                <a:gd name="T6" fmla="*/ 15 w 734"/>
                <a:gd name="T7" fmla="*/ 297 h 789"/>
                <a:gd name="T8" fmla="*/ 23 w 734"/>
                <a:gd name="T9" fmla="*/ 355 h 789"/>
                <a:gd name="T10" fmla="*/ 32 w 734"/>
                <a:gd name="T11" fmla="*/ 378 h 789"/>
                <a:gd name="T12" fmla="*/ 0 60000 65536"/>
                <a:gd name="T13" fmla="*/ 0 60000 65536"/>
                <a:gd name="T14" fmla="*/ 0 60000 65536"/>
                <a:gd name="T15" fmla="*/ 0 60000 65536"/>
                <a:gd name="T16" fmla="*/ 0 60000 65536"/>
                <a:gd name="T17" fmla="*/ 0 60000 65536"/>
                <a:gd name="T18" fmla="*/ 0 w 734"/>
                <a:gd name="T19" fmla="*/ 0 h 789"/>
                <a:gd name="T20" fmla="*/ 734 w 734"/>
                <a:gd name="T21" fmla="*/ 789 h 789"/>
              </a:gdLst>
              <a:ahLst/>
              <a:cxnLst>
                <a:cxn ang="T12">
                  <a:pos x="T0" y="T1"/>
                </a:cxn>
                <a:cxn ang="T13">
                  <a:pos x="T2" y="T3"/>
                </a:cxn>
                <a:cxn ang="T14">
                  <a:pos x="T4" y="T5"/>
                </a:cxn>
                <a:cxn ang="T15">
                  <a:pos x="T6" y="T7"/>
                </a:cxn>
                <a:cxn ang="T16">
                  <a:pos x="T8" y="T9"/>
                </a:cxn>
                <a:cxn ang="T17">
                  <a:pos x="T10" y="T11"/>
                </a:cxn>
              </a:cxnLst>
              <a:rect l="T18" t="T19" r="T20" b="T21"/>
              <a:pathLst>
                <a:path w="734" h="789">
                  <a:moveTo>
                    <a:pt x="0" y="0"/>
                  </a:moveTo>
                  <a:cubicBezTo>
                    <a:pt x="14" y="39"/>
                    <a:pt x="52" y="164"/>
                    <a:pt x="82" y="237"/>
                  </a:cubicBezTo>
                  <a:cubicBezTo>
                    <a:pt x="112" y="310"/>
                    <a:pt x="140" y="375"/>
                    <a:pt x="183" y="439"/>
                  </a:cubicBezTo>
                  <a:cubicBezTo>
                    <a:pt x="226" y="503"/>
                    <a:pt x="282" y="571"/>
                    <a:pt x="338" y="621"/>
                  </a:cubicBezTo>
                  <a:cubicBezTo>
                    <a:pt x="394" y="671"/>
                    <a:pt x="455" y="712"/>
                    <a:pt x="521" y="740"/>
                  </a:cubicBezTo>
                  <a:cubicBezTo>
                    <a:pt x="587" y="768"/>
                    <a:pt x="690" y="779"/>
                    <a:pt x="734" y="789"/>
                  </a:cubicBezTo>
                </a:path>
              </a:pathLst>
            </a:custGeom>
            <a:noFill/>
            <a:ln w="38100">
              <a:solidFill>
                <a:schemeClr val="hlink"/>
              </a:solidFill>
              <a:prstDash val="sysDot"/>
              <a:round/>
            </a:ln>
          </p:spPr>
          <p:txBody>
            <a:bodyPr/>
            <a:lstStyle/>
            <a:p>
              <a:pPr algn="ctr"/>
              <a:endParaRPr lang="zh-CN" altLang="en-US"/>
            </a:p>
          </p:txBody>
        </p:sp>
        <p:sp>
          <p:nvSpPr>
            <p:cNvPr id="25648" name="Line 1030"/>
            <p:cNvSpPr>
              <a:spLocks noChangeShapeType="1"/>
            </p:cNvSpPr>
            <p:nvPr/>
          </p:nvSpPr>
          <p:spPr bwMode="auto">
            <a:xfrm>
              <a:off x="4377" y="1930"/>
              <a:ext cx="91" cy="136"/>
            </a:xfrm>
            <a:prstGeom prst="line">
              <a:avLst/>
            </a:prstGeom>
            <a:noFill/>
            <a:ln w="38100">
              <a:solidFill>
                <a:schemeClr val="hlink"/>
              </a:solidFill>
              <a:prstDash val="sysDot"/>
              <a:round/>
              <a:tailEnd type="triangle" w="med" len="med"/>
            </a:ln>
          </p:spPr>
          <p:txBody>
            <a:bodyPr/>
            <a:lstStyle/>
            <a:p>
              <a:endParaRPr lang="zh-CN" altLang="en-US"/>
            </a:p>
          </p:txBody>
        </p:sp>
      </p:grpSp>
      <p:grpSp>
        <p:nvGrpSpPr>
          <p:cNvPr id="25622" name="Group 1031"/>
          <p:cNvGrpSpPr/>
          <p:nvPr/>
        </p:nvGrpSpPr>
        <p:grpSpPr bwMode="auto">
          <a:xfrm>
            <a:off x="6921500" y="2595563"/>
            <a:ext cx="900113" cy="1204912"/>
            <a:chOff x="4224" y="1499"/>
            <a:chExt cx="567" cy="759"/>
          </a:xfrm>
        </p:grpSpPr>
        <p:sp>
          <p:nvSpPr>
            <p:cNvPr id="25645" name="Freeform 1032"/>
            <p:cNvSpPr/>
            <p:nvPr/>
          </p:nvSpPr>
          <p:spPr bwMode="auto">
            <a:xfrm>
              <a:off x="4224" y="1499"/>
              <a:ext cx="567" cy="759"/>
            </a:xfrm>
            <a:custGeom>
              <a:avLst/>
              <a:gdLst>
                <a:gd name="T0" fmla="*/ 0 w 567"/>
                <a:gd name="T1" fmla="*/ 0 h 759"/>
                <a:gd name="T2" fmla="*/ 37 w 567"/>
                <a:gd name="T3" fmla="*/ 348 h 759"/>
                <a:gd name="T4" fmla="*/ 128 w 567"/>
                <a:gd name="T5" fmla="*/ 576 h 759"/>
                <a:gd name="T6" fmla="*/ 329 w 567"/>
                <a:gd name="T7" fmla="*/ 714 h 759"/>
                <a:gd name="T8" fmla="*/ 567 w 567"/>
                <a:gd name="T9" fmla="*/ 759 h 759"/>
                <a:gd name="T10" fmla="*/ 0 60000 65536"/>
                <a:gd name="T11" fmla="*/ 0 60000 65536"/>
                <a:gd name="T12" fmla="*/ 0 60000 65536"/>
                <a:gd name="T13" fmla="*/ 0 60000 65536"/>
                <a:gd name="T14" fmla="*/ 0 60000 65536"/>
                <a:gd name="T15" fmla="*/ 0 w 567"/>
                <a:gd name="T16" fmla="*/ 0 h 759"/>
                <a:gd name="T17" fmla="*/ 567 w 567"/>
                <a:gd name="T18" fmla="*/ 759 h 759"/>
              </a:gdLst>
              <a:ahLst/>
              <a:cxnLst>
                <a:cxn ang="T10">
                  <a:pos x="T0" y="T1"/>
                </a:cxn>
                <a:cxn ang="T11">
                  <a:pos x="T2" y="T3"/>
                </a:cxn>
                <a:cxn ang="T12">
                  <a:pos x="T4" y="T5"/>
                </a:cxn>
                <a:cxn ang="T13">
                  <a:pos x="T6" y="T7"/>
                </a:cxn>
                <a:cxn ang="T14">
                  <a:pos x="T8" y="T9"/>
                </a:cxn>
              </a:cxnLst>
              <a:rect l="T15" t="T16" r="T17" b="T18"/>
              <a:pathLst>
                <a:path w="567" h="759">
                  <a:moveTo>
                    <a:pt x="0" y="0"/>
                  </a:moveTo>
                  <a:cubicBezTo>
                    <a:pt x="6" y="58"/>
                    <a:pt x="16" y="252"/>
                    <a:pt x="37" y="348"/>
                  </a:cubicBezTo>
                  <a:cubicBezTo>
                    <a:pt x="58" y="444"/>
                    <a:pt x="79" y="515"/>
                    <a:pt x="128" y="576"/>
                  </a:cubicBezTo>
                  <a:cubicBezTo>
                    <a:pt x="177" y="637"/>
                    <a:pt x="256" y="684"/>
                    <a:pt x="329" y="714"/>
                  </a:cubicBezTo>
                  <a:cubicBezTo>
                    <a:pt x="402" y="744"/>
                    <a:pt x="518" y="750"/>
                    <a:pt x="567" y="759"/>
                  </a:cubicBezTo>
                </a:path>
              </a:pathLst>
            </a:custGeom>
            <a:noFill/>
            <a:ln w="38100">
              <a:solidFill>
                <a:srgbClr val="0000FF"/>
              </a:solidFill>
              <a:round/>
            </a:ln>
          </p:spPr>
          <p:txBody>
            <a:bodyPr/>
            <a:lstStyle/>
            <a:p>
              <a:pPr algn="ctr"/>
              <a:endParaRPr lang="zh-CN" altLang="en-US"/>
            </a:p>
          </p:txBody>
        </p:sp>
        <p:sp>
          <p:nvSpPr>
            <p:cNvPr id="25646" name="Line 1033"/>
            <p:cNvSpPr>
              <a:spLocks noChangeShapeType="1"/>
            </p:cNvSpPr>
            <p:nvPr/>
          </p:nvSpPr>
          <p:spPr bwMode="auto">
            <a:xfrm>
              <a:off x="4295" y="1979"/>
              <a:ext cx="46" cy="90"/>
            </a:xfrm>
            <a:prstGeom prst="line">
              <a:avLst/>
            </a:prstGeom>
            <a:noFill/>
            <a:ln w="38100">
              <a:solidFill>
                <a:srgbClr val="0000FF"/>
              </a:solidFill>
              <a:round/>
              <a:tailEnd type="triangle" w="med" len="med"/>
            </a:ln>
          </p:spPr>
          <p:txBody>
            <a:bodyPr/>
            <a:lstStyle/>
            <a:p>
              <a:endParaRPr lang="zh-CN" altLang="en-US"/>
            </a:p>
          </p:txBody>
        </p:sp>
      </p:grpSp>
      <p:grpSp>
        <p:nvGrpSpPr>
          <p:cNvPr id="25623" name="Group 1034"/>
          <p:cNvGrpSpPr/>
          <p:nvPr/>
        </p:nvGrpSpPr>
        <p:grpSpPr bwMode="auto">
          <a:xfrm>
            <a:off x="6907213" y="2611438"/>
            <a:ext cx="962025" cy="1177925"/>
            <a:chOff x="4224" y="1509"/>
            <a:chExt cx="606" cy="742"/>
          </a:xfrm>
        </p:grpSpPr>
        <p:sp>
          <p:nvSpPr>
            <p:cNvPr id="25643" name="Freeform 1035"/>
            <p:cNvSpPr/>
            <p:nvPr/>
          </p:nvSpPr>
          <p:spPr bwMode="auto">
            <a:xfrm>
              <a:off x="4224" y="1509"/>
              <a:ext cx="606" cy="742"/>
            </a:xfrm>
            <a:custGeom>
              <a:avLst/>
              <a:gdLst>
                <a:gd name="T0" fmla="*/ 0 w 606"/>
                <a:gd name="T1" fmla="*/ 0 h 742"/>
                <a:gd name="T2" fmla="*/ 210 w 606"/>
                <a:gd name="T3" fmla="*/ 100 h 742"/>
                <a:gd name="T4" fmla="*/ 402 w 606"/>
                <a:gd name="T5" fmla="*/ 274 h 742"/>
                <a:gd name="T6" fmla="*/ 530 w 606"/>
                <a:gd name="T7" fmla="*/ 502 h 742"/>
                <a:gd name="T8" fmla="*/ 606 w 606"/>
                <a:gd name="T9" fmla="*/ 742 h 742"/>
                <a:gd name="T10" fmla="*/ 0 60000 65536"/>
                <a:gd name="T11" fmla="*/ 0 60000 65536"/>
                <a:gd name="T12" fmla="*/ 0 60000 65536"/>
                <a:gd name="T13" fmla="*/ 0 60000 65536"/>
                <a:gd name="T14" fmla="*/ 0 60000 65536"/>
                <a:gd name="T15" fmla="*/ 0 w 606"/>
                <a:gd name="T16" fmla="*/ 0 h 742"/>
                <a:gd name="T17" fmla="*/ 606 w 606"/>
                <a:gd name="T18" fmla="*/ 742 h 742"/>
              </a:gdLst>
              <a:ahLst/>
              <a:cxnLst>
                <a:cxn ang="T10">
                  <a:pos x="T0" y="T1"/>
                </a:cxn>
                <a:cxn ang="T11">
                  <a:pos x="T2" y="T3"/>
                </a:cxn>
                <a:cxn ang="T12">
                  <a:pos x="T4" y="T5"/>
                </a:cxn>
                <a:cxn ang="T13">
                  <a:pos x="T6" y="T7"/>
                </a:cxn>
                <a:cxn ang="T14">
                  <a:pos x="T8" y="T9"/>
                </a:cxn>
              </a:cxnLst>
              <a:rect l="T15" t="T16" r="T17" b="T18"/>
              <a:pathLst>
                <a:path w="606" h="742">
                  <a:moveTo>
                    <a:pt x="0" y="0"/>
                  </a:moveTo>
                  <a:cubicBezTo>
                    <a:pt x="35" y="18"/>
                    <a:pt x="143" y="54"/>
                    <a:pt x="210" y="100"/>
                  </a:cubicBezTo>
                  <a:cubicBezTo>
                    <a:pt x="277" y="146"/>
                    <a:pt x="349" y="207"/>
                    <a:pt x="402" y="274"/>
                  </a:cubicBezTo>
                  <a:cubicBezTo>
                    <a:pt x="455" y="341"/>
                    <a:pt x="496" y="424"/>
                    <a:pt x="530" y="502"/>
                  </a:cubicBezTo>
                  <a:cubicBezTo>
                    <a:pt x="564" y="580"/>
                    <a:pt x="590" y="692"/>
                    <a:pt x="606" y="742"/>
                  </a:cubicBezTo>
                </a:path>
              </a:pathLst>
            </a:custGeom>
            <a:noFill/>
            <a:ln w="38100">
              <a:solidFill>
                <a:srgbClr val="FF00FF"/>
              </a:solidFill>
              <a:round/>
            </a:ln>
          </p:spPr>
          <p:txBody>
            <a:bodyPr/>
            <a:lstStyle/>
            <a:p>
              <a:pPr algn="ctr"/>
              <a:endParaRPr lang="zh-CN" altLang="en-US"/>
            </a:p>
          </p:txBody>
        </p:sp>
        <p:sp>
          <p:nvSpPr>
            <p:cNvPr id="25644" name="Line 1036"/>
            <p:cNvSpPr>
              <a:spLocks noChangeShapeType="1"/>
            </p:cNvSpPr>
            <p:nvPr/>
          </p:nvSpPr>
          <p:spPr bwMode="auto">
            <a:xfrm>
              <a:off x="4649" y="1797"/>
              <a:ext cx="45" cy="91"/>
            </a:xfrm>
            <a:prstGeom prst="line">
              <a:avLst/>
            </a:prstGeom>
            <a:noFill/>
            <a:ln w="38100">
              <a:solidFill>
                <a:srgbClr val="FF00FF"/>
              </a:solidFill>
              <a:round/>
              <a:tailEnd type="triangle" w="med" len="med"/>
            </a:ln>
          </p:spPr>
          <p:txBody>
            <a:bodyPr/>
            <a:lstStyle/>
            <a:p>
              <a:endParaRPr lang="zh-CN" altLang="en-US"/>
            </a:p>
          </p:txBody>
        </p:sp>
      </p:grpSp>
      <p:sp>
        <p:nvSpPr>
          <p:cNvPr id="25624" name="Line 1037"/>
          <p:cNvSpPr>
            <a:spLocks noChangeShapeType="1"/>
          </p:cNvSpPr>
          <p:nvPr/>
        </p:nvSpPr>
        <p:spPr bwMode="auto">
          <a:xfrm>
            <a:off x="6372225" y="3817938"/>
            <a:ext cx="1439863"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sp>
        <p:nvSpPr>
          <p:cNvPr id="25625" name="Line 1038"/>
          <p:cNvSpPr>
            <a:spLocks noChangeShapeType="1"/>
          </p:cNvSpPr>
          <p:nvPr/>
        </p:nvSpPr>
        <p:spPr bwMode="auto">
          <a:xfrm>
            <a:off x="6372225" y="2574925"/>
            <a:ext cx="533400" cy="0"/>
          </a:xfrm>
          <a:prstGeom prst="line">
            <a:avLst/>
          </a:prstGeom>
          <a:noFill/>
          <a:ln w="12700">
            <a:solidFill>
              <a:schemeClr val="tx1"/>
            </a:solidFill>
            <a:prstDash val="dash"/>
            <a:miter lim="800000"/>
            <a:headEnd type="none" w="sm" len="sm"/>
            <a:tailEnd type="none" w="sm" len="sm"/>
          </a:ln>
        </p:spPr>
        <p:txBody>
          <a:bodyPr wrap="none"/>
          <a:lstStyle/>
          <a:p>
            <a:endParaRPr lang="zh-CN" altLang="en-US"/>
          </a:p>
        </p:txBody>
      </p:sp>
      <p:graphicFrame>
        <p:nvGraphicFramePr>
          <p:cNvPr id="25602" name="Object 1039"/>
          <p:cNvGraphicFramePr>
            <a:graphicFrameLocks noChangeAspect="1"/>
          </p:cNvGraphicFramePr>
          <p:nvPr/>
        </p:nvGraphicFramePr>
        <p:xfrm>
          <a:off x="5867400" y="2349500"/>
          <a:ext cx="330200" cy="419100"/>
        </p:xfrm>
        <a:graphic>
          <a:graphicData uri="http://schemas.openxmlformats.org/presentationml/2006/ole">
            <mc:AlternateContent xmlns:mc="http://schemas.openxmlformats.org/markup-compatibility/2006">
              <mc:Choice xmlns:v="urn:schemas-microsoft-com:vml" Requires="v">
                <p:oleObj spid="_x0000_s25601" name="公式" r:id="rId1" imgW="7924800" imgH="10058400" progId="Equation.3">
                  <p:embed/>
                </p:oleObj>
              </mc:Choice>
              <mc:Fallback>
                <p:oleObj name="公式" r:id="rId1" imgW="7924800" imgH="10058400" progId="Equation.3">
                  <p:embed/>
                  <p:pic>
                    <p:nvPicPr>
                      <p:cNvPr id="0" name="Object 1039"/>
                      <p:cNvPicPr>
                        <a:picLocks noChangeAspect="1"/>
                      </p:cNvPicPr>
                      <p:nvPr/>
                    </p:nvPicPr>
                    <p:blipFill>
                      <a:blip r:embed="rId2"/>
                      <a:stretch>
                        <a:fillRect/>
                      </a:stretch>
                    </p:blipFill>
                    <p:spPr>
                      <a:xfrm>
                        <a:off x="5867400" y="2349500"/>
                        <a:ext cx="330200" cy="419100"/>
                      </a:xfrm>
                      <a:prstGeom prst="rect">
                        <a:avLst/>
                      </a:prstGeom>
                      <a:noFill/>
                      <a:ln w="9525">
                        <a:noFill/>
                      </a:ln>
                    </p:spPr>
                  </p:pic>
                </p:oleObj>
              </mc:Fallback>
            </mc:AlternateContent>
          </a:graphicData>
        </a:graphic>
      </p:graphicFrame>
      <p:sp>
        <p:nvSpPr>
          <p:cNvPr id="25626" name="Text Box 1040"/>
          <p:cNvSpPr txBox="1">
            <a:spLocks noChangeArrowheads="1"/>
          </p:cNvSpPr>
          <p:nvPr/>
        </p:nvSpPr>
        <p:spPr bwMode="auto">
          <a:xfrm>
            <a:off x="6948488" y="2276475"/>
            <a:ext cx="582612" cy="396875"/>
          </a:xfrm>
          <a:prstGeom prst="rect">
            <a:avLst/>
          </a:prstGeom>
          <a:noFill/>
          <a:ln w="12700" cap="sq">
            <a:noFill/>
            <a:miter lim="800000"/>
            <a:headEnd type="none" w="sm" len="sm"/>
            <a:tailEnd type="none" w="sm" len="sm"/>
          </a:ln>
        </p:spPr>
        <p:txBody>
          <a:bodyPr>
            <a:spAutoFit/>
          </a:bodyPr>
          <a:lstStyle/>
          <a:p>
            <a:r>
              <a:rPr kumimoji="1" lang="en-US" altLang="zh-CN" sz="2000" i="1"/>
              <a:t>a</a:t>
            </a:r>
            <a:endParaRPr kumimoji="1" lang="en-US" altLang="zh-CN" sz="2000" i="1"/>
          </a:p>
        </p:txBody>
      </p:sp>
      <p:sp>
        <p:nvSpPr>
          <p:cNvPr id="25627" name="Text Box 1041"/>
          <p:cNvSpPr txBox="1">
            <a:spLocks noChangeArrowheads="1"/>
          </p:cNvSpPr>
          <p:nvPr/>
        </p:nvSpPr>
        <p:spPr bwMode="auto">
          <a:xfrm>
            <a:off x="7883525" y="3616325"/>
            <a:ext cx="719138" cy="396875"/>
          </a:xfrm>
          <a:prstGeom prst="rect">
            <a:avLst/>
          </a:prstGeom>
          <a:noFill/>
          <a:ln w="12700" cap="sq">
            <a:noFill/>
            <a:miter lim="800000"/>
            <a:headEnd type="none" w="sm" len="sm"/>
            <a:tailEnd type="none" w="sm" len="sm"/>
          </a:ln>
        </p:spPr>
        <p:txBody>
          <a:bodyPr>
            <a:spAutoFit/>
          </a:bodyPr>
          <a:lstStyle/>
          <a:p>
            <a:r>
              <a:rPr kumimoji="1" lang="en-US" altLang="zh-CN" sz="2000" i="1"/>
              <a:t>b</a:t>
            </a:r>
            <a:endParaRPr kumimoji="1" lang="en-US" altLang="zh-CN" sz="2000" i="1"/>
          </a:p>
        </p:txBody>
      </p:sp>
      <p:graphicFrame>
        <p:nvGraphicFramePr>
          <p:cNvPr id="25603" name="Object 1042"/>
          <p:cNvGraphicFramePr>
            <a:graphicFrameLocks noChangeAspect="1"/>
          </p:cNvGraphicFramePr>
          <p:nvPr/>
        </p:nvGraphicFramePr>
        <p:xfrm>
          <a:off x="5867400" y="3581400"/>
          <a:ext cx="368300" cy="419100"/>
        </p:xfrm>
        <a:graphic>
          <a:graphicData uri="http://schemas.openxmlformats.org/presentationml/2006/ole">
            <mc:AlternateContent xmlns:mc="http://schemas.openxmlformats.org/markup-compatibility/2006">
              <mc:Choice xmlns:v="urn:schemas-microsoft-com:vml" Requires="v">
                <p:oleObj spid="_x0000_s25603" name="公式" r:id="rId3" imgW="8839200" imgH="10058400" progId="Equation.3">
                  <p:embed/>
                </p:oleObj>
              </mc:Choice>
              <mc:Fallback>
                <p:oleObj name="公式" r:id="rId3" imgW="8839200" imgH="10058400" progId="Equation.3">
                  <p:embed/>
                  <p:pic>
                    <p:nvPicPr>
                      <p:cNvPr id="0" name="Object 1042"/>
                      <p:cNvPicPr>
                        <a:picLocks noChangeAspect="1"/>
                      </p:cNvPicPr>
                      <p:nvPr/>
                    </p:nvPicPr>
                    <p:blipFill>
                      <a:blip r:embed="rId4"/>
                      <a:stretch>
                        <a:fillRect/>
                      </a:stretch>
                    </p:blipFill>
                    <p:spPr>
                      <a:xfrm>
                        <a:off x="5867400" y="3581400"/>
                        <a:ext cx="368300" cy="419100"/>
                      </a:xfrm>
                      <a:prstGeom prst="rect">
                        <a:avLst/>
                      </a:prstGeom>
                      <a:noFill/>
                      <a:ln w="9525">
                        <a:noFill/>
                      </a:ln>
                    </p:spPr>
                  </p:pic>
                </p:oleObj>
              </mc:Fallback>
            </mc:AlternateContent>
          </a:graphicData>
        </a:graphic>
      </p:graphicFrame>
      <p:sp>
        <p:nvSpPr>
          <p:cNvPr id="25628" name="Line 1043"/>
          <p:cNvSpPr>
            <a:spLocks noChangeShapeType="1"/>
          </p:cNvSpPr>
          <p:nvPr/>
        </p:nvSpPr>
        <p:spPr bwMode="auto">
          <a:xfrm>
            <a:off x="7840663" y="3789363"/>
            <a:ext cx="0" cy="311150"/>
          </a:xfrm>
          <a:prstGeom prst="line">
            <a:avLst/>
          </a:prstGeom>
          <a:noFill/>
          <a:ln w="12700">
            <a:solidFill>
              <a:schemeClr val="tx1"/>
            </a:solidFill>
            <a:prstDash val="dash"/>
            <a:round/>
          </a:ln>
        </p:spPr>
        <p:txBody>
          <a:bodyPr/>
          <a:lstStyle/>
          <a:p>
            <a:endParaRPr lang="zh-CN" altLang="en-US"/>
          </a:p>
        </p:txBody>
      </p:sp>
      <p:sp>
        <p:nvSpPr>
          <p:cNvPr id="25629" name="Line 1044"/>
          <p:cNvSpPr>
            <a:spLocks noChangeShapeType="1"/>
          </p:cNvSpPr>
          <p:nvPr/>
        </p:nvSpPr>
        <p:spPr bwMode="auto">
          <a:xfrm>
            <a:off x="6897688" y="2646363"/>
            <a:ext cx="0" cy="1511300"/>
          </a:xfrm>
          <a:prstGeom prst="line">
            <a:avLst/>
          </a:prstGeom>
          <a:noFill/>
          <a:ln w="9525">
            <a:solidFill>
              <a:schemeClr val="tx1"/>
            </a:solidFill>
            <a:prstDash val="dash"/>
            <a:round/>
          </a:ln>
        </p:spPr>
        <p:txBody>
          <a:bodyPr/>
          <a:lstStyle/>
          <a:p>
            <a:endParaRPr lang="zh-CN" altLang="en-US"/>
          </a:p>
        </p:txBody>
      </p:sp>
      <p:graphicFrame>
        <p:nvGraphicFramePr>
          <p:cNvPr id="25604" name="Object 1045"/>
          <p:cNvGraphicFramePr>
            <a:graphicFrameLocks noChangeAspect="1"/>
          </p:cNvGraphicFramePr>
          <p:nvPr/>
        </p:nvGraphicFramePr>
        <p:xfrm>
          <a:off x="6732588" y="4230688"/>
          <a:ext cx="223837" cy="338137"/>
        </p:xfrm>
        <a:graphic>
          <a:graphicData uri="http://schemas.openxmlformats.org/presentationml/2006/ole">
            <mc:AlternateContent xmlns:mc="http://schemas.openxmlformats.org/markup-compatibility/2006">
              <mc:Choice xmlns:v="urn:schemas-microsoft-com:vml" Requires="v">
                <p:oleObj spid="_x0000_s25604" name="公式" r:id="rId5" imgW="6705600" imgH="10058400" progId="Equation.3">
                  <p:embed/>
                </p:oleObj>
              </mc:Choice>
              <mc:Fallback>
                <p:oleObj name="公式" r:id="rId5" imgW="6705600" imgH="10058400" progId="Equation.3">
                  <p:embed/>
                  <p:pic>
                    <p:nvPicPr>
                      <p:cNvPr id="0" name="Object 1045"/>
                      <p:cNvPicPr>
                        <a:picLocks noChangeAspect="1"/>
                      </p:cNvPicPr>
                      <p:nvPr/>
                    </p:nvPicPr>
                    <p:blipFill>
                      <a:blip r:embed="rId6"/>
                      <a:stretch>
                        <a:fillRect/>
                      </a:stretch>
                    </p:blipFill>
                    <p:spPr>
                      <a:xfrm>
                        <a:off x="6732588" y="4230688"/>
                        <a:ext cx="223837" cy="338137"/>
                      </a:xfrm>
                      <a:prstGeom prst="rect">
                        <a:avLst/>
                      </a:prstGeom>
                      <a:noFill/>
                      <a:ln w="9525">
                        <a:noFill/>
                      </a:ln>
                    </p:spPr>
                  </p:pic>
                </p:oleObj>
              </mc:Fallback>
            </mc:AlternateContent>
          </a:graphicData>
        </a:graphic>
      </p:graphicFrame>
      <p:graphicFrame>
        <p:nvGraphicFramePr>
          <p:cNvPr id="25605" name="Object 1046"/>
          <p:cNvGraphicFramePr>
            <a:graphicFrameLocks noChangeAspect="1"/>
          </p:cNvGraphicFramePr>
          <p:nvPr/>
        </p:nvGraphicFramePr>
        <p:xfrm>
          <a:off x="7812088" y="4230688"/>
          <a:ext cx="254000" cy="338137"/>
        </p:xfrm>
        <a:graphic>
          <a:graphicData uri="http://schemas.openxmlformats.org/presentationml/2006/ole">
            <mc:AlternateContent xmlns:mc="http://schemas.openxmlformats.org/markup-compatibility/2006">
              <mc:Choice xmlns:v="urn:schemas-microsoft-com:vml" Requires="v">
                <p:oleObj spid="_x0000_s25605" name="公式" r:id="rId7" imgW="7620000" imgH="10058400" progId="Equation.3">
                  <p:embed/>
                </p:oleObj>
              </mc:Choice>
              <mc:Fallback>
                <p:oleObj name="公式" r:id="rId7" imgW="7620000" imgH="10058400" progId="Equation.3">
                  <p:embed/>
                  <p:pic>
                    <p:nvPicPr>
                      <p:cNvPr id="0" name="Object 1046"/>
                      <p:cNvPicPr>
                        <a:picLocks noChangeAspect="1"/>
                      </p:cNvPicPr>
                      <p:nvPr/>
                    </p:nvPicPr>
                    <p:blipFill>
                      <a:blip r:embed="rId8"/>
                      <a:stretch>
                        <a:fillRect/>
                      </a:stretch>
                    </p:blipFill>
                    <p:spPr>
                      <a:xfrm>
                        <a:off x="7812088" y="4230688"/>
                        <a:ext cx="254000" cy="338137"/>
                      </a:xfrm>
                      <a:prstGeom prst="rect">
                        <a:avLst/>
                      </a:prstGeom>
                      <a:noFill/>
                      <a:ln w="9525">
                        <a:noFill/>
                      </a:ln>
                    </p:spPr>
                  </p:pic>
                </p:oleObj>
              </mc:Fallback>
            </mc:AlternateContent>
          </a:graphicData>
        </a:graphic>
      </p:graphicFrame>
      <p:grpSp>
        <p:nvGrpSpPr>
          <p:cNvPr id="25630" name="Group 1047"/>
          <p:cNvGrpSpPr>
            <a:grpSpLocks noChangeAspect="1"/>
          </p:cNvGrpSpPr>
          <p:nvPr/>
        </p:nvGrpSpPr>
        <p:grpSpPr bwMode="auto">
          <a:xfrm>
            <a:off x="6011863" y="1854200"/>
            <a:ext cx="2909887" cy="2727325"/>
            <a:chOff x="3443" y="2160"/>
            <a:chExt cx="2035" cy="1908"/>
          </a:xfrm>
        </p:grpSpPr>
        <p:sp>
          <p:nvSpPr>
            <p:cNvPr id="25638" name="Line 1048"/>
            <p:cNvSpPr>
              <a:spLocks noChangeAspect="1" noChangeShapeType="1"/>
            </p:cNvSpPr>
            <p:nvPr/>
          </p:nvSpPr>
          <p:spPr bwMode="auto">
            <a:xfrm flipV="1">
              <a:off x="3696" y="3748"/>
              <a:ext cx="1746" cy="0"/>
            </a:xfrm>
            <a:prstGeom prst="line">
              <a:avLst/>
            </a:prstGeom>
            <a:noFill/>
            <a:ln w="28575">
              <a:solidFill>
                <a:schemeClr val="tx1"/>
              </a:solidFill>
              <a:round/>
              <a:tailEnd type="triangle" w="med" len="lg"/>
            </a:ln>
          </p:spPr>
          <p:txBody>
            <a:bodyPr wrap="none" anchor="ctr"/>
            <a:lstStyle/>
            <a:p>
              <a:endParaRPr lang="zh-CN" altLang="en-US"/>
            </a:p>
          </p:txBody>
        </p:sp>
        <p:sp>
          <p:nvSpPr>
            <p:cNvPr id="25639" name="Line 1049"/>
            <p:cNvSpPr>
              <a:spLocks noChangeAspect="1" noChangeShapeType="1"/>
            </p:cNvSpPr>
            <p:nvPr/>
          </p:nvSpPr>
          <p:spPr bwMode="auto">
            <a:xfrm flipH="1" flipV="1">
              <a:off x="3696" y="2251"/>
              <a:ext cx="0" cy="1497"/>
            </a:xfrm>
            <a:prstGeom prst="line">
              <a:avLst/>
            </a:prstGeom>
            <a:noFill/>
            <a:ln w="28575">
              <a:solidFill>
                <a:schemeClr val="tx1"/>
              </a:solidFill>
              <a:round/>
              <a:tailEnd type="triangle" w="med" len="lg"/>
            </a:ln>
          </p:spPr>
          <p:txBody>
            <a:bodyPr wrap="none" anchor="ctr"/>
            <a:lstStyle/>
            <a:p>
              <a:endParaRPr lang="zh-CN" altLang="en-US"/>
            </a:p>
          </p:txBody>
        </p:sp>
        <p:sp>
          <p:nvSpPr>
            <p:cNvPr id="25640" name="Text Box 1050"/>
            <p:cNvSpPr txBox="1">
              <a:spLocks noChangeAspect="1" noChangeArrowheads="1"/>
            </p:cNvSpPr>
            <p:nvPr/>
          </p:nvSpPr>
          <p:spPr bwMode="auto">
            <a:xfrm>
              <a:off x="3518" y="3731"/>
              <a:ext cx="284" cy="320"/>
            </a:xfrm>
            <a:prstGeom prst="rect">
              <a:avLst/>
            </a:prstGeom>
            <a:noFill/>
            <a:ln w="9525" algn="ctr">
              <a:noFill/>
              <a:miter lim="800000"/>
            </a:ln>
          </p:spPr>
          <p:txBody>
            <a:bodyPr wrap="none">
              <a:spAutoFit/>
            </a:bodyPr>
            <a:lstStyle/>
            <a:p>
              <a:pPr algn="ctr"/>
              <a:r>
                <a:rPr lang="en-US" altLang="zh-CN" i="1"/>
                <a:t>O</a:t>
              </a:r>
              <a:endParaRPr lang="en-US" altLang="zh-CN" i="1"/>
            </a:p>
          </p:txBody>
        </p:sp>
        <p:sp>
          <p:nvSpPr>
            <p:cNvPr id="25641" name="Text Box 1051"/>
            <p:cNvSpPr txBox="1">
              <a:spLocks noChangeAspect="1" noChangeArrowheads="1"/>
            </p:cNvSpPr>
            <p:nvPr/>
          </p:nvSpPr>
          <p:spPr bwMode="auto">
            <a:xfrm>
              <a:off x="5207" y="3748"/>
              <a:ext cx="271" cy="320"/>
            </a:xfrm>
            <a:prstGeom prst="rect">
              <a:avLst/>
            </a:prstGeom>
            <a:noFill/>
            <a:ln w="9525" algn="ctr">
              <a:noFill/>
              <a:miter lim="800000"/>
            </a:ln>
          </p:spPr>
          <p:txBody>
            <a:bodyPr wrap="none">
              <a:spAutoFit/>
            </a:bodyPr>
            <a:lstStyle/>
            <a:p>
              <a:pPr algn="ctr"/>
              <a:r>
                <a:rPr lang="en-US" altLang="zh-CN" i="1"/>
                <a:t>V</a:t>
              </a:r>
              <a:endParaRPr lang="en-US" altLang="zh-CN" i="1"/>
            </a:p>
          </p:txBody>
        </p:sp>
        <p:sp>
          <p:nvSpPr>
            <p:cNvPr id="25642" name="Text Box 1052"/>
            <p:cNvSpPr txBox="1">
              <a:spLocks noChangeAspect="1" noChangeArrowheads="1"/>
            </p:cNvSpPr>
            <p:nvPr/>
          </p:nvSpPr>
          <p:spPr bwMode="auto">
            <a:xfrm>
              <a:off x="3443" y="2160"/>
              <a:ext cx="236" cy="320"/>
            </a:xfrm>
            <a:prstGeom prst="rect">
              <a:avLst/>
            </a:prstGeom>
            <a:noFill/>
            <a:ln w="9525" algn="ctr">
              <a:noFill/>
              <a:miter lim="800000"/>
            </a:ln>
          </p:spPr>
          <p:txBody>
            <a:bodyPr wrap="none">
              <a:spAutoFit/>
            </a:bodyPr>
            <a:lstStyle/>
            <a:p>
              <a:pPr algn="ctr"/>
              <a:r>
                <a:rPr lang="en-US" altLang="zh-CN" i="1"/>
                <a:t>p</a:t>
              </a:r>
              <a:endParaRPr lang="en-US" altLang="zh-CN" i="1"/>
            </a:p>
          </p:txBody>
        </p:sp>
      </p:grpSp>
      <p:graphicFrame>
        <p:nvGraphicFramePr>
          <p:cNvPr id="25606" name="Object 1053"/>
          <p:cNvGraphicFramePr>
            <a:graphicFrameLocks noChangeAspect="1"/>
          </p:cNvGraphicFramePr>
          <p:nvPr/>
        </p:nvGraphicFramePr>
        <p:xfrm>
          <a:off x="7740650" y="3716338"/>
          <a:ext cx="193675" cy="192087"/>
        </p:xfrm>
        <a:graphic>
          <a:graphicData uri="http://schemas.openxmlformats.org/presentationml/2006/ole">
            <mc:AlternateContent xmlns:mc="http://schemas.openxmlformats.org/markup-compatibility/2006">
              <mc:Choice xmlns:v="urn:schemas-microsoft-com:vml" Requires="v">
                <p:oleObj spid="_x0000_s25606" name="公式" r:id="rId9" imgW="4572000" imgH="4572000" progId="Equation.3">
                  <p:embed/>
                </p:oleObj>
              </mc:Choice>
              <mc:Fallback>
                <p:oleObj name="公式" r:id="rId9" imgW="4572000" imgH="4572000" progId="Equation.3">
                  <p:embed/>
                  <p:pic>
                    <p:nvPicPr>
                      <p:cNvPr id="0" name="Object 1053"/>
                      <p:cNvPicPr>
                        <a:picLocks noChangeAspect="1"/>
                      </p:cNvPicPr>
                      <p:nvPr/>
                    </p:nvPicPr>
                    <p:blipFill>
                      <a:blip r:embed="rId10"/>
                      <a:stretch>
                        <a:fillRect/>
                      </a:stretch>
                    </p:blipFill>
                    <p:spPr>
                      <a:xfrm>
                        <a:off x="7740650" y="3716338"/>
                        <a:ext cx="193675" cy="192087"/>
                      </a:xfrm>
                      <a:prstGeom prst="rect">
                        <a:avLst/>
                      </a:prstGeom>
                      <a:noFill/>
                      <a:ln w="9525">
                        <a:noFill/>
                      </a:ln>
                    </p:spPr>
                  </p:pic>
                </p:oleObj>
              </mc:Fallback>
            </mc:AlternateContent>
          </a:graphicData>
        </a:graphic>
      </p:graphicFrame>
      <p:graphicFrame>
        <p:nvGraphicFramePr>
          <p:cNvPr id="25607" name="Object 1054"/>
          <p:cNvGraphicFramePr>
            <a:graphicFrameLocks noChangeAspect="1"/>
          </p:cNvGraphicFramePr>
          <p:nvPr/>
        </p:nvGraphicFramePr>
        <p:xfrm>
          <a:off x="6826250" y="2501900"/>
          <a:ext cx="193675" cy="192088"/>
        </p:xfrm>
        <a:graphic>
          <a:graphicData uri="http://schemas.openxmlformats.org/presentationml/2006/ole">
            <mc:AlternateContent xmlns:mc="http://schemas.openxmlformats.org/markup-compatibility/2006">
              <mc:Choice xmlns:v="urn:schemas-microsoft-com:vml" Requires="v">
                <p:oleObj spid="_x0000_s25607" name="公式" r:id="rId11" imgW="4572000" imgH="4572000" progId="Equation.3">
                  <p:embed/>
                </p:oleObj>
              </mc:Choice>
              <mc:Fallback>
                <p:oleObj name="公式" r:id="rId11" imgW="4572000" imgH="4572000" progId="Equation.3">
                  <p:embed/>
                  <p:pic>
                    <p:nvPicPr>
                      <p:cNvPr id="0" name="Object 1054"/>
                      <p:cNvPicPr>
                        <a:picLocks noChangeAspect="1"/>
                      </p:cNvPicPr>
                      <p:nvPr/>
                    </p:nvPicPr>
                    <p:blipFill>
                      <a:blip r:embed="rId10"/>
                      <a:stretch>
                        <a:fillRect/>
                      </a:stretch>
                    </p:blipFill>
                    <p:spPr>
                      <a:xfrm>
                        <a:off x="6826250" y="2501900"/>
                        <a:ext cx="193675" cy="192088"/>
                      </a:xfrm>
                      <a:prstGeom prst="rect">
                        <a:avLst/>
                      </a:prstGeom>
                      <a:noFill/>
                      <a:ln w="9525">
                        <a:noFill/>
                      </a:ln>
                    </p:spPr>
                  </p:pic>
                </p:oleObj>
              </mc:Fallback>
            </mc:AlternateContent>
          </a:graphicData>
        </a:graphic>
      </p:graphicFrame>
      <p:sp>
        <p:nvSpPr>
          <p:cNvPr id="25631" name="Text Box 1055"/>
          <p:cNvSpPr txBox="1">
            <a:spLocks noChangeArrowheads="1"/>
          </p:cNvSpPr>
          <p:nvPr/>
        </p:nvSpPr>
        <p:spPr bwMode="auto">
          <a:xfrm>
            <a:off x="7380288" y="1844675"/>
            <a:ext cx="1698625" cy="457200"/>
          </a:xfrm>
          <a:prstGeom prst="rect">
            <a:avLst/>
          </a:prstGeom>
          <a:noFill/>
          <a:ln w="9525">
            <a:noFill/>
            <a:miter lim="800000"/>
          </a:ln>
        </p:spPr>
        <p:txBody>
          <a:bodyPr>
            <a:spAutoFit/>
          </a:bodyPr>
          <a:lstStyle/>
          <a:p>
            <a:r>
              <a:rPr lang="zh-CN" altLang="en-US" b="1">
                <a:solidFill>
                  <a:srgbClr val="FF0000"/>
                </a:solidFill>
              </a:rPr>
              <a:t>绝热过程</a:t>
            </a:r>
            <a:endParaRPr lang="zh-CN" altLang="en-US" b="1">
              <a:solidFill>
                <a:srgbClr val="FF0000"/>
              </a:solidFill>
            </a:endParaRPr>
          </a:p>
        </p:txBody>
      </p:sp>
      <p:sp>
        <p:nvSpPr>
          <p:cNvPr id="25632" name="AutoShape 1056"/>
          <p:cNvSpPr>
            <a:spLocks noChangeArrowheads="1"/>
          </p:cNvSpPr>
          <p:nvPr/>
        </p:nvSpPr>
        <p:spPr bwMode="auto">
          <a:xfrm rot="-3465934">
            <a:off x="6951663" y="2659063"/>
            <a:ext cx="1081087" cy="71437"/>
          </a:xfrm>
          <a:prstGeom prst="rightArrow">
            <a:avLst>
              <a:gd name="adj1" fmla="val 50000"/>
              <a:gd name="adj2" fmla="val 378336"/>
            </a:avLst>
          </a:prstGeom>
          <a:solidFill>
            <a:schemeClr val="accent1"/>
          </a:solidFill>
          <a:ln w="9525">
            <a:solidFill>
              <a:schemeClr val="tx1"/>
            </a:solidFill>
            <a:miter lim="800000"/>
          </a:ln>
        </p:spPr>
        <p:txBody>
          <a:bodyPr wrap="none" anchor="ctr"/>
          <a:lstStyle/>
          <a:p>
            <a:pPr algn="ctr"/>
            <a:endParaRPr lang="zh-CN" altLang="en-US"/>
          </a:p>
        </p:txBody>
      </p:sp>
      <p:graphicFrame>
        <p:nvGraphicFramePr>
          <p:cNvPr id="25608" name="Object 1057"/>
          <p:cNvGraphicFramePr>
            <a:graphicFrameLocks noChangeAspect="1"/>
          </p:cNvGraphicFramePr>
          <p:nvPr/>
        </p:nvGraphicFramePr>
        <p:xfrm>
          <a:off x="6659563" y="3284538"/>
          <a:ext cx="390525" cy="474662"/>
        </p:xfrm>
        <a:graphic>
          <a:graphicData uri="http://schemas.openxmlformats.org/presentationml/2006/ole">
            <mc:AlternateContent xmlns:mc="http://schemas.openxmlformats.org/markup-compatibility/2006">
              <mc:Choice xmlns:v="urn:schemas-microsoft-com:vml" Requires="v">
                <p:oleObj spid="_x0000_s25608" name="公式" r:id="rId12" imgW="4267200" imgH="5181600" progId="Equation.3">
                  <p:embed/>
                </p:oleObj>
              </mc:Choice>
              <mc:Fallback>
                <p:oleObj name="公式" r:id="rId12" imgW="4267200" imgH="5181600" progId="Equation.3">
                  <p:embed/>
                  <p:pic>
                    <p:nvPicPr>
                      <p:cNvPr id="0" name="Object 1057"/>
                      <p:cNvPicPr>
                        <a:picLocks noChangeAspect="1"/>
                      </p:cNvPicPr>
                      <p:nvPr/>
                    </p:nvPicPr>
                    <p:blipFill>
                      <a:blip r:embed="rId13"/>
                      <a:stretch>
                        <a:fillRect/>
                      </a:stretch>
                    </p:blipFill>
                    <p:spPr>
                      <a:xfrm>
                        <a:off x="6659563" y="3284538"/>
                        <a:ext cx="390525" cy="474662"/>
                      </a:xfrm>
                      <a:prstGeom prst="rect">
                        <a:avLst/>
                      </a:prstGeom>
                      <a:noFill/>
                      <a:ln w="9525">
                        <a:noFill/>
                      </a:ln>
                    </p:spPr>
                  </p:pic>
                </p:oleObj>
              </mc:Fallback>
            </mc:AlternateContent>
          </a:graphicData>
        </a:graphic>
      </p:graphicFrame>
      <p:graphicFrame>
        <p:nvGraphicFramePr>
          <p:cNvPr id="25609" name="Object 1058"/>
          <p:cNvGraphicFramePr>
            <a:graphicFrameLocks noChangeAspect="1"/>
          </p:cNvGraphicFramePr>
          <p:nvPr/>
        </p:nvGraphicFramePr>
        <p:xfrm>
          <a:off x="7727950" y="2781300"/>
          <a:ext cx="417513" cy="474663"/>
        </p:xfrm>
        <a:graphic>
          <a:graphicData uri="http://schemas.openxmlformats.org/presentationml/2006/ole">
            <mc:AlternateContent xmlns:mc="http://schemas.openxmlformats.org/markup-compatibility/2006">
              <mc:Choice xmlns:v="urn:schemas-microsoft-com:vml" Requires="v">
                <p:oleObj spid="_x0000_s25609" name="公式" r:id="rId14" imgW="4572000" imgH="5181600" progId="Equation.3">
                  <p:embed/>
                </p:oleObj>
              </mc:Choice>
              <mc:Fallback>
                <p:oleObj name="公式" r:id="rId14" imgW="4572000" imgH="5181600" progId="Equation.3">
                  <p:embed/>
                  <p:pic>
                    <p:nvPicPr>
                      <p:cNvPr id="0" name="Object 1058"/>
                      <p:cNvPicPr>
                        <a:picLocks noChangeAspect="1"/>
                      </p:cNvPicPr>
                      <p:nvPr/>
                    </p:nvPicPr>
                    <p:blipFill>
                      <a:blip r:embed="rId15"/>
                      <a:stretch>
                        <a:fillRect/>
                      </a:stretch>
                    </p:blipFill>
                    <p:spPr>
                      <a:xfrm>
                        <a:off x="7727950" y="2781300"/>
                        <a:ext cx="417513" cy="474663"/>
                      </a:xfrm>
                      <a:prstGeom prst="rect">
                        <a:avLst/>
                      </a:prstGeom>
                      <a:noFill/>
                      <a:ln w="9525">
                        <a:noFill/>
                      </a:ln>
                    </p:spPr>
                  </p:pic>
                </p:oleObj>
              </mc:Fallback>
            </mc:AlternateContent>
          </a:graphicData>
        </a:graphic>
      </p:graphicFrame>
      <p:graphicFrame>
        <p:nvGraphicFramePr>
          <p:cNvPr id="25610" name="Object 1059"/>
          <p:cNvGraphicFramePr>
            <a:graphicFrameLocks noChangeAspect="1"/>
          </p:cNvGraphicFramePr>
          <p:nvPr/>
        </p:nvGraphicFramePr>
        <p:xfrm>
          <a:off x="7308850" y="3240088"/>
          <a:ext cx="334963" cy="390525"/>
        </p:xfrm>
        <a:graphic>
          <a:graphicData uri="http://schemas.openxmlformats.org/presentationml/2006/ole">
            <mc:AlternateContent xmlns:mc="http://schemas.openxmlformats.org/markup-compatibility/2006">
              <mc:Choice xmlns:v="urn:schemas-microsoft-com:vml" Requires="v">
                <p:oleObj spid="_x0000_s25610" name="公式" r:id="rId16" imgW="3657600" imgH="4267200" progId="Equation.3">
                  <p:embed/>
                </p:oleObj>
              </mc:Choice>
              <mc:Fallback>
                <p:oleObj name="公式" r:id="rId16" imgW="3657600" imgH="4267200" progId="Equation.3">
                  <p:embed/>
                  <p:pic>
                    <p:nvPicPr>
                      <p:cNvPr id="0" name="Object 1059"/>
                      <p:cNvPicPr>
                        <a:picLocks noChangeAspect="1"/>
                      </p:cNvPicPr>
                      <p:nvPr/>
                    </p:nvPicPr>
                    <p:blipFill>
                      <a:blip r:embed="rId17"/>
                      <a:stretch>
                        <a:fillRect/>
                      </a:stretch>
                    </p:blipFill>
                    <p:spPr>
                      <a:xfrm>
                        <a:off x="7308850" y="3240088"/>
                        <a:ext cx="334963" cy="390525"/>
                      </a:xfrm>
                      <a:prstGeom prst="rect">
                        <a:avLst/>
                      </a:prstGeom>
                      <a:noFill/>
                      <a:ln w="9525">
                        <a:noFill/>
                      </a:ln>
                    </p:spPr>
                  </p:pic>
                </p:oleObj>
              </mc:Fallback>
            </mc:AlternateContent>
          </a:graphicData>
        </a:graphic>
      </p:graphicFrame>
      <p:sp>
        <p:nvSpPr>
          <p:cNvPr id="46116" name="Text Box 1060"/>
          <p:cNvSpPr txBox="1">
            <a:spLocks noChangeArrowheads="1"/>
          </p:cNvSpPr>
          <p:nvPr/>
        </p:nvSpPr>
        <p:spPr bwMode="auto">
          <a:xfrm>
            <a:off x="1044575" y="836613"/>
            <a:ext cx="3095625" cy="457200"/>
          </a:xfrm>
          <a:prstGeom prst="rect">
            <a:avLst/>
          </a:prstGeom>
          <a:noFill/>
          <a:ln w="9525">
            <a:noFill/>
            <a:miter lim="800000"/>
          </a:ln>
        </p:spPr>
        <p:txBody>
          <a:bodyPr>
            <a:spAutoFit/>
          </a:bodyPr>
          <a:lstStyle/>
          <a:p>
            <a:r>
              <a:rPr lang="zh-CN" altLang="en-US" b="1">
                <a:solidFill>
                  <a:srgbClr val="FF6600"/>
                </a:solidFill>
              </a:rPr>
              <a:t>（</a:t>
            </a:r>
            <a:r>
              <a:rPr lang="en-US" altLang="zh-CN" b="1">
                <a:solidFill>
                  <a:srgbClr val="FF6600"/>
                </a:solidFill>
              </a:rPr>
              <a:t>2</a:t>
            </a:r>
            <a:r>
              <a:rPr lang="zh-CN" altLang="en-US" b="1">
                <a:solidFill>
                  <a:srgbClr val="FF6600"/>
                </a:solidFill>
              </a:rPr>
              <a:t>）</a:t>
            </a:r>
            <a:r>
              <a:rPr lang="en-US" altLang="zh-CN" b="1" i="1">
                <a:solidFill>
                  <a:srgbClr val="FF6600"/>
                </a:solidFill>
              </a:rPr>
              <a:t>a</a:t>
            </a:r>
            <a:r>
              <a:rPr lang="en-US" altLang="zh-CN" b="1">
                <a:solidFill>
                  <a:srgbClr val="FF6600"/>
                </a:solidFill>
              </a:rPr>
              <a:t> → </a:t>
            </a:r>
            <a:r>
              <a:rPr lang="en-US" altLang="zh-CN" b="1" i="1">
                <a:solidFill>
                  <a:srgbClr val="FF6600"/>
                </a:solidFill>
              </a:rPr>
              <a:t>C</a:t>
            </a:r>
            <a:r>
              <a:rPr lang="en-US" altLang="zh-CN" b="1" baseline="-25000">
                <a:solidFill>
                  <a:srgbClr val="FF6600"/>
                </a:solidFill>
              </a:rPr>
              <a:t>2</a:t>
            </a:r>
            <a:r>
              <a:rPr lang="en-US" altLang="zh-CN" b="1">
                <a:solidFill>
                  <a:srgbClr val="FF6600"/>
                </a:solidFill>
              </a:rPr>
              <a:t> →</a:t>
            </a:r>
            <a:r>
              <a:rPr lang="en-US" altLang="zh-CN" b="1" i="1">
                <a:solidFill>
                  <a:srgbClr val="FF6600"/>
                </a:solidFill>
              </a:rPr>
              <a:t> b</a:t>
            </a:r>
            <a:r>
              <a:rPr lang="en-US" altLang="zh-CN" b="1">
                <a:solidFill>
                  <a:srgbClr val="FF6600"/>
                </a:solidFill>
              </a:rPr>
              <a:t> :</a:t>
            </a:r>
            <a:endParaRPr lang="en-US" altLang="zh-CN" b="1">
              <a:solidFill>
                <a:srgbClr val="FF6600"/>
              </a:solidFill>
            </a:endParaRPr>
          </a:p>
        </p:txBody>
      </p:sp>
      <p:graphicFrame>
        <p:nvGraphicFramePr>
          <p:cNvPr id="46117" name="Object 1061"/>
          <p:cNvGraphicFramePr>
            <a:graphicFrameLocks noChangeAspect="1"/>
          </p:cNvGraphicFramePr>
          <p:nvPr/>
        </p:nvGraphicFramePr>
        <p:xfrm>
          <a:off x="1508125" y="1466850"/>
          <a:ext cx="1414463" cy="515938"/>
        </p:xfrm>
        <a:graphic>
          <a:graphicData uri="http://schemas.openxmlformats.org/presentationml/2006/ole">
            <mc:AlternateContent xmlns:mc="http://schemas.openxmlformats.org/markup-compatibility/2006">
              <mc:Choice xmlns:v="urn:schemas-microsoft-com:vml" Requires="v">
                <p:oleObj spid="_x0000_s25611" name="公式" r:id="rId18" imgW="15849600" imgH="5791200" progId="Equation.3">
                  <p:embed/>
                </p:oleObj>
              </mc:Choice>
              <mc:Fallback>
                <p:oleObj name="公式" r:id="rId18" imgW="15849600" imgH="5791200" progId="Equation.3">
                  <p:embed/>
                  <p:pic>
                    <p:nvPicPr>
                      <p:cNvPr id="0" name="Object 1061"/>
                      <p:cNvPicPr>
                        <a:picLocks noChangeAspect="1"/>
                      </p:cNvPicPr>
                      <p:nvPr/>
                    </p:nvPicPr>
                    <p:blipFill>
                      <a:blip r:embed="rId19"/>
                      <a:stretch>
                        <a:fillRect/>
                      </a:stretch>
                    </p:blipFill>
                    <p:spPr>
                      <a:xfrm>
                        <a:off x="1508125" y="1466850"/>
                        <a:ext cx="1414463" cy="515938"/>
                      </a:xfrm>
                      <a:prstGeom prst="rect">
                        <a:avLst/>
                      </a:prstGeom>
                      <a:noFill/>
                      <a:ln w="9525">
                        <a:noFill/>
                      </a:ln>
                    </p:spPr>
                  </p:pic>
                </p:oleObj>
              </mc:Fallback>
            </mc:AlternateContent>
          </a:graphicData>
        </a:graphic>
      </p:graphicFrame>
      <p:sp>
        <p:nvSpPr>
          <p:cNvPr id="46118" name="AutoShape 1062"/>
          <p:cNvSpPr>
            <a:spLocks noChangeArrowheads="1"/>
          </p:cNvSpPr>
          <p:nvPr/>
        </p:nvSpPr>
        <p:spPr bwMode="auto">
          <a:xfrm>
            <a:off x="3032125" y="1622425"/>
            <a:ext cx="576263" cy="144463"/>
          </a:xfrm>
          <a:prstGeom prst="rightArrow">
            <a:avLst>
              <a:gd name="adj1" fmla="val 50000"/>
              <a:gd name="adj2" fmla="val 99725"/>
            </a:avLst>
          </a:prstGeom>
          <a:solidFill>
            <a:schemeClr val="accent1"/>
          </a:solidFill>
          <a:ln w="9525">
            <a:solidFill>
              <a:schemeClr val="tx1"/>
            </a:solidFill>
            <a:miter lim="800000"/>
          </a:ln>
        </p:spPr>
        <p:txBody>
          <a:bodyPr wrap="none" anchor="ctr"/>
          <a:lstStyle/>
          <a:p>
            <a:pPr algn="ctr"/>
            <a:endParaRPr lang="zh-CN" altLang="en-US"/>
          </a:p>
        </p:txBody>
      </p:sp>
      <p:graphicFrame>
        <p:nvGraphicFramePr>
          <p:cNvPr id="46119" name="Object 1063"/>
          <p:cNvGraphicFramePr>
            <a:graphicFrameLocks noChangeAspect="1"/>
          </p:cNvGraphicFramePr>
          <p:nvPr/>
        </p:nvGraphicFramePr>
        <p:xfrm>
          <a:off x="3754438" y="1412875"/>
          <a:ext cx="1250950" cy="515938"/>
        </p:xfrm>
        <a:graphic>
          <a:graphicData uri="http://schemas.openxmlformats.org/presentationml/2006/ole">
            <mc:AlternateContent xmlns:mc="http://schemas.openxmlformats.org/markup-compatibility/2006">
              <mc:Choice xmlns:v="urn:schemas-microsoft-com:vml" Requires="v">
                <p:oleObj spid="_x0000_s25612" name="公式" r:id="rId20" imgW="14020800" imgH="5791200" progId="Equation.3">
                  <p:embed/>
                </p:oleObj>
              </mc:Choice>
              <mc:Fallback>
                <p:oleObj name="公式" r:id="rId20" imgW="14020800" imgH="5791200" progId="Equation.3">
                  <p:embed/>
                  <p:pic>
                    <p:nvPicPr>
                      <p:cNvPr id="0" name="Object 1063"/>
                      <p:cNvPicPr>
                        <a:picLocks noChangeAspect="1"/>
                      </p:cNvPicPr>
                      <p:nvPr/>
                    </p:nvPicPr>
                    <p:blipFill>
                      <a:blip r:embed="rId21"/>
                      <a:stretch>
                        <a:fillRect/>
                      </a:stretch>
                    </p:blipFill>
                    <p:spPr>
                      <a:xfrm>
                        <a:off x="3754438" y="1412875"/>
                        <a:ext cx="1250950" cy="515938"/>
                      </a:xfrm>
                      <a:prstGeom prst="rect">
                        <a:avLst/>
                      </a:prstGeom>
                      <a:noFill/>
                      <a:ln w="9525">
                        <a:noFill/>
                      </a:ln>
                    </p:spPr>
                  </p:pic>
                </p:oleObj>
              </mc:Fallback>
            </mc:AlternateContent>
          </a:graphicData>
        </a:graphic>
      </p:graphicFrame>
      <p:graphicFrame>
        <p:nvGraphicFramePr>
          <p:cNvPr id="46120" name="Object 1064"/>
          <p:cNvGraphicFramePr>
            <a:graphicFrameLocks noChangeAspect="1"/>
          </p:cNvGraphicFramePr>
          <p:nvPr/>
        </p:nvGraphicFramePr>
        <p:xfrm>
          <a:off x="1376363" y="2114550"/>
          <a:ext cx="3616325" cy="515938"/>
        </p:xfrm>
        <a:graphic>
          <a:graphicData uri="http://schemas.openxmlformats.org/presentationml/2006/ole">
            <mc:AlternateContent xmlns:mc="http://schemas.openxmlformats.org/markup-compatibility/2006">
              <mc:Choice xmlns:v="urn:schemas-microsoft-com:vml" Requires="v">
                <p:oleObj spid="_x0000_s25613" name="公式" r:id="rId22" imgW="40538400" imgH="5791200" progId="Equation.3">
                  <p:embed/>
                </p:oleObj>
              </mc:Choice>
              <mc:Fallback>
                <p:oleObj name="公式" r:id="rId22" imgW="40538400" imgH="5791200" progId="Equation.3">
                  <p:embed/>
                  <p:pic>
                    <p:nvPicPr>
                      <p:cNvPr id="0" name="Object 1064"/>
                      <p:cNvPicPr>
                        <a:picLocks noChangeAspect="1"/>
                      </p:cNvPicPr>
                      <p:nvPr/>
                    </p:nvPicPr>
                    <p:blipFill>
                      <a:blip r:embed="rId23"/>
                      <a:stretch>
                        <a:fillRect/>
                      </a:stretch>
                    </p:blipFill>
                    <p:spPr>
                      <a:xfrm>
                        <a:off x="1376363" y="2114550"/>
                        <a:ext cx="3616325" cy="515938"/>
                      </a:xfrm>
                      <a:prstGeom prst="rect">
                        <a:avLst/>
                      </a:prstGeom>
                      <a:noFill/>
                      <a:ln w="9525">
                        <a:noFill/>
                      </a:ln>
                    </p:spPr>
                  </p:pic>
                </p:oleObj>
              </mc:Fallback>
            </mc:AlternateContent>
          </a:graphicData>
        </a:graphic>
      </p:graphicFrame>
      <p:sp>
        <p:nvSpPr>
          <p:cNvPr id="46121" name="Text Box 1065"/>
          <p:cNvSpPr txBox="1">
            <a:spLocks noChangeArrowheads="1"/>
          </p:cNvSpPr>
          <p:nvPr/>
        </p:nvSpPr>
        <p:spPr bwMode="auto">
          <a:xfrm>
            <a:off x="1500188" y="2749550"/>
            <a:ext cx="3116262" cy="457200"/>
          </a:xfrm>
          <a:prstGeom prst="rect">
            <a:avLst/>
          </a:prstGeom>
          <a:noFill/>
          <a:ln w="9525">
            <a:noFill/>
            <a:miter lim="800000"/>
          </a:ln>
        </p:spPr>
        <p:txBody>
          <a:bodyPr>
            <a:spAutoFit/>
          </a:bodyPr>
          <a:lstStyle/>
          <a:p>
            <a:r>
              <a:rPr lang="zh-CN" altLang="en-US" b="1">
                <a:solidFill>
                  <a:srgbClr val="FF6600"/>
                </a:solidFill>
              </a:rPr>
              <a:t>由热力学第一定律</a:t>
            </a:r>
            <a:endParaRPr lang="zh-CN" altLang="en-US" b="1">
              <a:solidFill>
                <a:srgbClr val="FF6600"/>
              </a:solidFill>
            </a:endParaRPr>
          </a:p>
        </p:txBody>
      </p:sp>
      <p:graphicFrame>
        <p:nvGraphicFramePr>
          <p:cNvPr id="46122" name="Object 1066"/>
          <p:cNvGraphicFramePr>
            <a:graphicFrameLocks noChangeAspect="1"/>
          </p:cNvGraphicFramePr>
          <p:nvPr/>
        </p:nvGraphicFramePr>
        <p:xfrm>
          <a:off x="238125" y="3287713"/>
          <a:ext cx="3135313" cy="566737"/>
        </p:xfrm>
        <a:graphic>
          <a:graphicData uri="http://schemas.openxmlformats.org/presentationml/2006/ole">
            <mc:AlternateContent xmlns:mc="http://schemas.openxmlformats.org/markup-compatibility/2006">
              <mc:Choice xmlns:v="urn:schemas-microsoft-com:vml" Requires="v">
                <p:oleObj spid="_x0000_s25614" name="公式" r:id="rId24" imgW="32004000" imgH="5791200" progId="Equation.3">
                  <p:embed/>
                </p:oleObj>
              </mc:Choice>
              <mc:Fallback>
                <p:oleObj name="公式" r:id="rId24" imgW="32004000" imgH="5791200" progId="Equation.3">
                  <p:embed/>
                  <p:pic>
                    <p:nvPicPr>
                      <p:cNvPr id="0" name="Object 1066"/>
                      <p:cNvPicPr>
                        <a:picLocks noChangeAspect="1"/>
                      </p:cNvPicPr>
                      <p:nvPr/>
                    </p:nvPicPr>
                    <p:blipFill>
                      <a:blip r:embed="rId25"/>
                      <a:stretch>
                        <a:fillRect/>
                      </a:stretch>
                    </p:blipFill>
                    <p:spPr>
                      <a:xfrm>
                        <a:off x="238125" y="3287713"/>
                        <a:ext cx="3135313" cy="566737"/>
                      </a:xfrm>
                      <a:prstGeom prst="rect">
                        <a:avLst/>
                      </a:prstGeom>
                      <a:noFill/>
                      <a:ln w="9525">
                        <a:noFill/>
                      </a:ln>
                    </p:spPr>
                  </p:pic>
                </p:oleObj>
              </mc:Fallback>
            </mc:AlternateContent>
          </a:graphicData>
        </a:graphic>
      </p:graphicFrame>
      <p:graphicFrame>
        <p:nvGraphicFramePr>
          <p:cNvPr id="46123" name="Object 1067"/>
          <p:cNvGraphicFramePr>
            <a:graphicFrameLocks noChangeAspect="1"/>
          </p:cNvGraphicFramePr>
          <p:nvPr/>
        </p:nvGraphicFramePr>
        <p:xfrm>
          <a:off x="3205163" y="3279775"/>
          <a:ext cx="2373312" cy="600075"/>
        </p:xfrm>
        <a:graphic>
          <a:graphicData uri="http://schemas.openxmlformats.org/presentationml/2006/ole">
            <mc:AlternateContent xmlns:mc="http://schemas.openxmlformats.org/markup-compatibility/2006">
              <mc:Choice xmlns:v="urn:schemas-microsoft-com:vml" Requires="v">
                <p:oleObj spid="_x0000_s25615" name="公式" r:id="rId26" imgW="22860000" imgH="5791200" progId="Equation.3">
                  <p:embed/>
                </p:oleObj>
              </mc:Choice>
              <mc:Fallback>
                <p:oleObj name="公式" r:id="rId26" imgW="22860000" imgH="5791200" progId="Equation.3">
                  <p:embed/>
                  <p:pic>
                    <p:nvPicPr>
                      <p:cNvPr id="0" name="Object 1067"/>
                      <p:cNvPicPr>
                        <a:picLocks noChangeAspect="1"/>
                      </p:cNvPicPr>
                      <p:nvPr/>
                    </p:nvPicPr>
                    <p:blipFill>
                      <a:blip r:embed="rId27"/>
                      <a:stretch>
                        <a:fillRect/>
                      </a:stretch>
                    </p:blipFill>
                    <p:spPr>
                      <a:xfrm>
                        <a:off x="3205163" y="3279775"/>
                        <a:ext cx="2373312" cy="600075"/>
                      </a:xfrm>
                      <a:prstGeom prst="rect">
                        <a:avLst/>
                      </a:prstGeom>
                      <a:noFill/>
                      <a:ln w="9525">
                        <a:noFill/>
                      </a:ln>
                    </p:spPr>
                  </p:pic>
                </p:oleObj>
              </mc:Fallback>
            </mc:AlternateContent>
          </a:graphicData>
        </a:graphic>
      </p:graphicFrame>
      <p:graphicFrame>
        <p:nvGraphicFramePr>
          <p:cNvPr id="46124" name="Object 1068"/>
          <p:cNvGraphicFramePr>
            <a:graphicFrameLocks noChangeAspect="1"/>
          </p:cNvGraphicFramePr>
          <p:nvPr/>
        </p:nvGraphicFramePr>
        <p:xfrm>
          <a:off x="1147763" y="3933825"/>
          <a:ext cx="1955800" cy="488950"/>
        </p:xfrm>
        <a:graphic>
          <a:graphicData uri="http://schemas.openxmlformats.org/presentationml/2006/ole">
            <mc:AlternateContent xmlns:mc="http://schemas.openxmlformats.org/markup-compatibility/2006">
              <mc:Choice xmlns:v="urn:schemas-microsoft-com:vml" Requires="v">
                <p:oleObj spid="_x0000_s25616" name="公式" r:id="rId28" imgW="21945600" imgH="5486400" progId="Equation.3">
                  <p:embed/>
                </p:oleObj>
              </mc:Choice>
              <mc:Fallback>
                <p:oleObj name="公式" r:id="rId28" imgW="21945600" imgH="5486400" progId="Equation.3">
                  <p:embed/>
                  <p:pic>
                    <p:nvPicPr>
                      <p:cNvPr id="0" name="Object 1068"/>
                      <p:cNvPicPr>
                        <a:picLocks noChangeAspect="1"/>
                      </p:cNvPicPr>
                      <p:nvPr/>
                    </p:nvPicPr>
                    <p:blipFill>
                      <a:blip r:embed="rId29"/>
                      <a:stretch>
                        <a:fillRect/>
                      </a:stretch>
                    </p:blipFill>
                    <p:spPr>
                      <a:xfrm>
                        <a:off x="1147763" y="3933825"/>
                        <a:ext cx="1955800" cy="488950"/>
                      </a:xfrm>
                      <a:prstGeom prst="rect">
                        <a:avLst/>
                      </a:prstGeom>
                      <a:noFill/>
                      <a:ln w="9525">
                        <a:noFill/>
                      </a:ln>
                    </p:spPr>
                  </p:pic>
                </p:oleObj>
              </mc:Fallback>
            </mc:AlternateContent>
          </a:graphicData>
        </a:graphic>
      </p:graphicFrame>
      <p:graphicFrame>
        <p:nvGraphicFramePr>
          <p:cNvPr id="46125" name="Object 1069"/>
          <p:cNvGraphicFramePr>
            <a:graphicFrameLocks noChangeAspect="1"/>
          </p:cNvGraphicFramePr>
          <p:nvPr/>
        </p:nvGraphicFramePr>
        <p:xfrm>
          <a:off x="3203575" y="3933825"/>
          <a:ext cx="1412875" cy="488950"/>
        </p:xfrm>
        <a:graphic>
          <a:graphicData uri="http://schemas.openxmlformats.org/presentationml/2006/ole">
            <mc:AlternateContent xmlns:mc="http://schemas.openxmlformats.org/markup-compatibility/2006">
              <mc:Choice xmlns:v="urn:schemas-microsoft-com:vml" Requires="v">
                <p:oleObj spid="_x0000_s25617" name="公式" r:id="rId30" imgW="15849600" imgH="5486400" progId="Equation.3">
                  <p:embed/>
                </p:oleObj>
              </mc:Choice>
              <mc:Fallback>
                <p:oleObj name="公式" r:id="rId30" imgW="15849600" imgH="5486400" progId="Equation.3">
                  <p:embed/>
                  <p:pic>
                    <p:nvPicPr>
                      <p:cNvPr id="0" name="Object 1069"/>
                      <p:cNvPicPr>
                        <a:picLocks noChangeAspect="1"/>
                      </p:cNvPicPr>
                      <p:nvPr/>
                    </p:nvPicPr>
                    <p:blipFill>
                      <a:blip r:embed="rId31"/>
                      <a:stretch>
                        <a:fillRect/>
                      </a:stretch>
                    </p:blipFill>
                    <p:spPr>
                      <a:xfrm>
                        <a:off x="3203575" y="3933825"/>
                        <a:ext cx="1412875" cy="488950"/>
                      </a:xfrm>
                      <a:prstGeom prst="rect">
                        <a:avLst/>
                      </a:prstGeom>
                      <a:noFill/>
                      <a:ln w="9525">
                        <a:noFill/>
                      </a:ln>
                    </p:spPr>
                  </p:pic>
                </p:oleObj>
              </mc:Fallback>
            </mc:AlternateContent>
          </a:graphicData>
        </a:graphic>
      </p:graphicFrame>
      <p:sp>
        <p:nvSpPr>
          <p:cNvPr id="46126" name="AutoShape 1070"/>
          <p:cNvSpPr>
            <a:spLocks noChangeArrowheads="1"/>
          </p:cNvSpPr>
          <p:nvPr/>
        </p:nvSpPr>
        <p:spPr bwMode="auto">
          <a:xfrm>
            <a:off x="900113" y="5084763"/>
            <a:ext cx="720725" cy="215900"/>
          </a:xfrm>
          <a:prstGeom prst="rightArrow">
            <a:avLst>
              <a:gd name="adj1" fmla="val 50000"/>
              <a:gd name="adj2" fmla="val 83456"/>
            </a:avLst>
          </a:prstGeom>
          <a:solidFill>
            <a:schemeClr val="accent1"/>
          </a:solidFill>
          <a:ln w="9525">
            <a:solidFill>
              <a:schemeClr val="tx1"/>
            </a:solidFill>
            <a:miter lim="800000"/>
          </a:ln>
        </p:spPr>
        <p:txBody>
          <a:bodyPr wrap="none" anchor="ctr"/>
          <a:lstStyle/>
          <a:p>
            <a:pPr algn="ctr"/>
            <a:endParaRPr lang="zh-CN" altLang="en-US"/>
          </a:p>
        </p:txBody>
      </p:sp>
      <p:graphicFrame>
        <p:nvGraphicFramePr>
          <p:cNvPr id="46127" name="Object 1071"/>
          <p:cNvGraphicFramePr>
            <a:graphicFrameLocks noChangeAspect="1"/>
          </p:cNvGraphicFramePr>
          <p:nvPr/>
        </p:nvGraphicFramePr>
        <p:xfrm>
          <a:off x="2097088" y="4506913"/>
          <a:ext cx="1252537" cy="515937"/>
        </p:xfrm>
        <a:graphic>
          <a:graphicData uri="http://schemas.openxmlformats.org/presentationml/2006/ole">
            <mc:AlternateContent xmlns:mc="http://schemas.openxmlformats.org/markup-compatibility/2006">
              <mc:Choice xmlns:v="urn:schemas-microsoft-com:vml" Requires="v">
                <p:oleObj spid="_x0000_s25618" name="公式" r:id="rId32" imgW="14020800" imgH="5791200" progId="Equation.3">
                  <p:embed/>
                </p:oleObj>
              </mc:Choice>
              <mc:Fallback>
                <p:oleObj name="公式" r:id="rId32" imgW="14020800" imgH="5791200" progId="Equation.3">
                  <p:embed/>
                  <p:pic>
                    <p:nvPicPr>
                      <p:cNvPr id="0" name="Object 1071"/>
                      <p:cNvPicPr>
                        <a:picLocks noChangeAspect="1"/>
                      </p:cNvPicPr>
                      <p:nvPr/>
                    </p:nvPicPr>
                    <p:blipFill>
                      <a:blip r:embed="rId33"/>
                      <a:stretch>
                        <a:fillRect/>
                      </a:stretch>
                    </p:blipFill>
                    <p:spPr>
                      <a:xfrm>
                        <a:off x="2097088" y="4506913"/>
                        <a:ext cx="1252537" cy="515937"/>
                      </a:xfrm>
                      <a:prstGeom prst="rect">
                        <a:avLst/>
                      </a:prstGeom>
                      <a:noFill/>
                      <a:ln w="9525">
                        <a:noFill/>
                      </a:ln>
                    </p:spPr>
                  </p:pic>
                </p:oleObj>
              </mc:Fallback>
            </mc:AlternateContent>
          </a:graphicData>
        </a:graphic>
      </p:graphicFrame>
      <p:graphicFrame>
        <p:nvGraphicFramePr>
          <p:cNvPr id="46128" name="Object 1072"/>
          <p:cNvGraphicFramePr>
            <a:graphicFrameLocks noChangeAspect="1"/>
          </p:cNvGraphicFramePr>
          <p:nvPr/>
        </p:nvGraphicFramePr>
        <p:xfrm>
          <a:off x="2078038" y="5022850"/>
          <a:ext cx="1414462" cy="515938"/>
        </p:xfrm>
        <a:graphic>
          <a:graphicData uri="http://schemas.openxmlformats.org/presentationml/2006/ole">
            <mc:AlternateContent xmlns:mc="http://schemas.openxmlformats.org/markup-compatibility/2006">
              <mc:Choice xmlns:v="urn:schemas-microsoft-com:vml" Requires="v">
                <p:oleObj spid="_x0000_s25619" name="公式" r:id="rId34" imgW="15849600" imgH="5791200" progId="Equation.3">
                  <p:embed/>
                </p:oleObj>
              </mc:Choice>
              <mc:Fallback>
                <p:oleObj name="公式" r:id="rId34" imgW="15849600" imgH="5791200" progId="Equation.3">
                  <p:embed/>
                  <p:pic>
                    <p:nvPicPr>
                      <p:cNvPr id="0" name="Object 1072"/>
                      <p:cNvPicPr>
                        <a:picLocks noChangeAspect="1"/>
                      </p:cNvPicPr>
                      <p:nvPr/>
                    </p:nvPicPr>
                    <p:blipFill>
                      <a:blip r:embed="rId35"/>
                      <a:stretch>
                        <a:fillRect/>
                      </a:stretch>
                    </p:blipFill>
                    <p:spPr>
                      <a:xfrm>
                        <a:off x="2078038" y="5022850"/>
                        <a:ext cx="1414462" cy="515938"/>
                      </a:xfrm>
                      <a:prstGeom prst="rect">
                        <a:avLst/>
                      </a:prstGeom>
                      <a:noFill/>
                      <a:ln w="9525">
                        <a:noFill/>
                      </a:ln>
                    </p:spPr>
                  </p:pic>
                </p:oleObj>
              </mc:Fallback>
            </mc:AlternateContent>
          </a:graphicData>
        </a:graphic>
      </p:graphicFrame>
      <p:graphicFrame>
        <p:nvGraphicFramePr>
          <p:cNvPr id="46129" name="Object 1073"/>
          <p:cNvGraphicFramePr>
            <a:graphicFrameLocks noChangeAspect="1"/>
          </p:cNvGraphicFramePr>
          <p:nvPr/>
        </p:nvGraphicFramePr>
        <p:xfrm>
          <a:off x="2109788" y="5599113"/>
          <a:ext cx="1374775" cy="566737"/>
        </p:xfrm>
        <a:graphic>
          <a:graphicData uri="http://schemas.openxmlformats.org/presentationml/2006/ole">
            <mc:AlternateContent xmlns:mc="http://schemas.openxmlformats.org/markup-compatibility/2006">
              <mc:Choice xmlns:v="urn:schemas-microsoft-com:vml" Requires="v">
                <p:oleObj spid="_x0000_s25620" name="公式" r:id="rId36" imgW="14020800" imgH="5791200" progId="Equation.3">
                  <p:embed/>
                </p:oleObj>
              </mc:Choice>
              <mc:Fallback>
                <p:oleObj name="公式" r:id="rId36" imgW="14020800" imgH="5791200" progId="Equation.3">
                  <p:embed/>
                  <p:pic>
                    <p:nvPicPr>
                      <p:cNvPr id="0" name="Object 1073"/>
                      <p:cNvPicPr>
                        <a:picLocks noChangeAspect="1"/>
                      </p:cNvPicPr>
                      <p:nvPr/>
                    </p:nvPicPr>
                    <p:blipFill>
                      <a:blip r:embed="rId37"/>
                      <a:stretch>
                        <a:fillRect/>
                      </a:stretch>
                    </p:blipFill>
                    <p:spPr>
                      <a:xfrm>
                        <a:off x="2109788" y="5599113"/>
                        <a:ext cx="1374775" cy="566737"/>
                      </a:xfrm>
                      <a:prstGeom prst="rect">
                        <a:avLst/>
                      </a:prstGeom>
                      <a:noFill/>
                      <a:ln w="9525">
                        <a:noFill/>
                      </a:ln>
                    </p:spPr>
                  </p:pic>
                </p:oleObj>
              </mc:Fallback>
            </mc:AlternateContent>
          </a:graphicData>
        </a:graphic>
      </p:graphicFrame>
      <p:sp>
        <p:nvSpPr>
          <p:cNvPr id="46130" name="AutoShape 1074"/>
          <p:cNvSpPr/>
          <p:nvPr/>
        </p:nvSpPr>
        <p:spPr bwMode="auto">
          <a:xfrm>
            <a:off x="1836738" y="4735513"/>
            <a:ext cx="142875" cy="1295400"/>
          </a:xfrm>
          <a:prstGeom prst="leftBrace">
            <a:avLst>
              <a:gd name="adj1" fmla="val 75556"/>
              <a:gd name="adj2" fmla="val 50000"/>
            </a:avLst>
          </a:prstGeom>
          <a:noFill/>
          <a:ln w="9525">
            <a:solidFill>
              <a:srgbClr val="0000FF"/>
            </a:solidFill>
            <a:round/>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116"/>
                                        </p:tgtEl>
                                        <p:attrNameLst>
                                          <p:attrName>style.visibility</p:attrName>
                                        </p:attrNameLst>
                                      </p:cBhvr>
                                      <p:to>
                                        <p:strVal val="visible"/>
                                      </p:to>
                                    </p:set>
                                    <p:animEffect transition="in" filter="wipe(left)">
                                      <p:cBhvr>
                                        <p:cTn id="7" dur="500"/>
                                        <p:tgtEl>
                                          <p:spTgt spid="461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6117"/>
                                        </p:tgtEl>
                                        <p:attrNameLst>
                                          <p:attrName>style.visibility</p:attrName>
                                        </p:attrNameLst>
                                      </p:cBhvr>
                                      <p:to>
                                        <p:strVal val="visible"/>
                                      </p:to>
                                    </p:set>
                                    <p:animEffect transition="in" filter="wipe(left)">
                                      <p:cBhvr>
                                        <p:cTn id="12" dur="500"/>
                                        <p:tgtEl>
                                          <p:spTgt spid="461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118"/>
                                        </p:tgtEl>
                                        <p:attrNameLst>
                                          <p:attrName>style.visibility</p:attrName>
                                        </p:attrNameLst>
                                      </p:cBhvr>
                                      <p:to>
                                        <p:strVal val="visible"/>
                                      </p:to>
                                    </p:set>
                                    <p:animEffect transition="in" filter="wipe(left)">
                                      <p:cBhvr>
                                        <p:cTn id="17" dur="500"/>
                                        <p:tgtEl>
                                          <p:spTgt spid="46118"/>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46119"/>
                                        </p:tgtEl>
                                        <p:attrNameLst>
                                          <p:attrName>style.visibility</p:attrName>
                                        </p:attrNameLst>
                                      </p:cBhvr>
                                      <p:to>
                                        <p:strVal val="visible"/>
                                      </p:to>
                                    </p:set>
                                    <p:animEffect transition="in" filter="wipe(left)">
                                      <p:cBhvr>
                                        <p:cTn id="21" dur="500"/>
                                        <p:tgtEl>
                                          <p:spTgt spid="4611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6120"/>
                                        </p:tgtEl>
                                        <p:attrNameLst>
                                          <p:attrName>style.visibility</p:attrName>
                                        </p:attrNameLst>
                                      </p:cBhvr>
                                      <p:to>
                                        <p:strVal val="visible"/>
                                      </p:to>
                                    </p:set>
                                    <p:animEffect transition="in" filter="wipe(left)">
                                      <p:cBhvr>
                                        <p:cTn id="26" dur="500"/>
                                        <p:tgtEl>
                                          <p:spTgt spid="4612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6121"/>
                                        </p:tgtEl>
                                        <p:attrNameLst>
                                          <p:attrName>style.visibility</p:attrName>
                                        </p:attrNameLst>
                                      </p:cBhvr>
                                      <p:to>
                                        <p:strVal val="visible"/>
                                      </p:to>
                                    </p:set>
                                    <p:animEffect transition="in" filter="wipe(left)">
                                      <p:cBhvr>
                                        <p:cTn id="31" dur="500"/>
                                        <p:tgtEl>
                                          <p:spTgt spid="46121"/>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46122"/>
                                        </p:tgtEl>
                                        <p:attrNameLst>
                                          <p:attrName>style.visibility</p:attrName>
                                        </p:attrNameLst>
                                      </p:cBhvr>
                                      <p:to>
                                        <p:strVal val="visible"/>
                                      </p:to>
                                    </p:set>
                                    <p:animEffect transition="in" filter="wipe(left)">
                                      <p:cBhvr>
                                        <p:cTn id="35" dur="500"/>
                                        <p:tgtEl>
                                          <p:spTgt spid="4612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6123"/>
                                        </p:tgtEl>
                                        <p:attrNameLst>
                                          <p:attrName>style.visibility</p:attrName>
                                        </p:attrNameLst>
                                      </p:cBhvr>
                                      <p:to>
                                        <p:strVal val="visible"/>
                                      </p:to>
                                    </p:set>
                                    <p:animEffect transition="in" filter="wipe(left)">
                                      <p:cBhvr>
                                        <p:cTn id="40" dur="500"/>
                                        <p:tgtEl>
                                          <p:spTgt spid="4612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6124"/>
                                        </p:tgtEl>
                                        <p:attrNameLst>
                                          <p:attrName>style.visibility</p:attrName>
                                        </p:attrNameLst>
                                      </p:cBhvr>
                                      <p:to>
                                        <p:strVal val="visible"/>
                                      </p:to>
                                    </p:set>
                                    <p:animEffect transition="in" filter="wipe(left)">
                                      <p:cBhvr>
                                        <p:cTn id="45" dur="500"/>
                                        <p:tgtEl>
                                          <p:spTgt spid="4612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6125"/>
                                        </p:tgtEl>
                                        <p:attrNameLst>
                                          <p:attrName>style.visibility</p:attrName>
                                        </p:attrNameLst>
                                      </p:cBhvr>
                                      <p:to>
                                        <p:strVal val="visible"/>
                                      </p:to>
                                    </p:set>
                                    <p:animEffect transition="in" filter="wipe(left)">
                                      <p:cBhvr>
                                        <p:cTn id="50" dur="500"/>
                                        <p:tgtEl>
                                          <p:spTgt spid="4612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6126"/>
                                        </p:tgtEl>
                                        <p:attrNameLst>
                                          <p:attrName>style.visibility</p:attrName>
                                        </p:attrNameLst>
                                      </p:cBhvr>
                                      <p:to>
                                        <p:strVal val="visible"/>
                                      </p:to>
                                    </p:set>
                                    <p:animEffect transition="in" filter="wipe(left)">
                                      <p:cBhvr>
                                        <p:cTn id="55" dur="500"/>
                                        <p:tgtEl>
                                          <p:spTgt spid="46126"/>
                                        </p:tgtEl>
                                      </p:cBhvr>
                                    </p:animEffect>
                                  </p:childTnLst>
                                </p:cTn>
                              </p:par>
                              <p:par>
                                <p:cTn id="56" presetID="22" presetClass="entr" presetSubtype="8" fill="hold" nodeType="withEffect">
                                  <p:stCondLst>
                                    <p:cond delay="0"/>
                                  </p:stCondLst>
                                  <p:childTnLst>
                                    <p:set>
                                      <p:cBhvr>
                                        <p:cTn id="57" dur="1" fill="hold">
                                          <p:stCondLst>
                                            <p:cond delay="0"/>
                                          </p:stCondLst>
                                        </p:cTn>
                                        <p:tgtEl>
                                          <p:spTgt spid="46127"/>
                                        </p:tgtEl>
                                        <p:attrNameLst>
                                          <p:attrName>style.visibility</p:attrName>
                                        </p:attrNameLst>
                                      </p:cBhvr>
                                      <p:to>
                                        <p:strVal val="visible"/>
                                      </p:to>
                                    </p:set>
                                    <p:animEffect transition="in" filter="wipe(left)">
                                      <p:cBhvr>
                                        <p:cTn id="58" dur="500"/>
                                        <p:tgtEl>
                                          <p:spTgt spid="46127"/>
                                        </p:tgtEl>
                                      </p:cBhvr>
                                    </p:animEffect>
                                  </p:childTnLst>
                                </p:cTn>
                              </p:par>
                              <p:par>
                                <p:cTn id="59" presetID="22" presetClass="entr" presetSubtype="8" fill="hold" nodeType="withEffect">
                                  <p:stCondLst>
                                    <p:cond delay="0"/>
                                  </p:stCondLst>
                                  <p:childTnLst>
                                    <p:set>
                                      <p:cBhvr>
                                        <p:cTn id="60" dur="1" fill="hold">
                                          <p:stCondLst>
                                            <p:cond delay="0"/>
                                          </p:stCondLst>
                                        </p:cTn>
                                        <p:tgtEl>
                                          <p:spTgt spid="46128"/>
                                        </p:tgtEl>
                                        <p:attrNameLst>
                                          <p:attrName>style.visibility</p:attrName>
                                        </p:attrNameLst>
                                      </p:cBhvr>
                                      <p:to>
                                        <p:strVal val="visible"/>
                                      </p:to>
                                    </p:set>
                                    <p:animEffect transition="in" filter="wipe(left)">
                                      <p:cBhvr>
                                        <p:cTn id="61" dur="500"/>
                                        <p:tgtEl>
                                          <p:spTgt spid="46128"/>
                                        </p:tgtEl>
                                      </p:cBhvr>
                                    </p:animEffect>
                                  </p:childTnLst>
                                </p:cTn>
                              </p:par>
                              <p:par>
                                <p:cTn id="62" presetID="22" presetClass="entr" presetSubtype="8" fill="hold" nodeType="withEffect">
                                  <p:stCondLst>
                                    <p:cond delay="0"/>
                                  </p:stCondLst>
                                  <p:childTnLst>
                                    <p:set>
                                      <p:cBhvr>
                                        <p:cTn id="63" dur="1" fill="hold">
                                          <p:stCondLst>
                                            <p:cond delay="0"/>
                                          </p:stCondLst>
                                        </p:cTn>
                                        <p:tgtEl>
                                          <p:spTgt spid="46129"/>
                                        </p:tgtEl>
                                        <p:attrNameLst>
                                          <p:attrName>style.visibility</p:attrName>
                                        </p:attrNameLst>
                                      </p:cBhvr>
                                      <p:to>
                                        <p:strVal val="visible"/>
                                      </p:to>
                                    </p:set>
                                    <p:animEffect transition="in" filter="wipe(left)">
                                      <p:cBhvr>
                                        <p:cTn id="64" dur="500"/>
                                        <p:tgtEl>
                                          <p:spTgt spid="46129"/>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46130"/>
                                        </p:tgtEl>
                                        <p:attrNameLst>
                                          <p:attrName>style.visibility</p:attrName>
                                        </p:attrNameLst>
                                      </p:cBhvr>
                                      <p:to>
                                        <p:strVal val="visible"/>
                                      </p:to>
                                    </p:set>
                                    <p:animEffect transition="in" filter="blinds(horizontal)">
                                      <p:cBhvr>
                                        <p:cTn id="67" dur="500"/>
                                        <p:tgtEl>
                                          <p:spTgt spid="46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6" grpId="0"/>
      <p:bldP spid="46118" grpId="0" animBg="1"/>
      <p:bldP spid="46121" grpId="0"/>
      <p:bldP spid="46126" grpId="0" animBg="1"/>
      <p:bldP spid="4613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8" name="Group 6"/>
          <p:cNvGrpSpPr/>
          <p:nvPr/>
        </p:nvGrpSpPr>
        <p:grpSpPr bwMode="auto">
          <a:xfrm>
            <a:off x="762000" y="1295400"/>
            <a:ext cx="7467600" cy="2478088"/>
            <a:chOff x="480" y="816"/>
            <a:chExt cx="4704" cy="1561"/>
          </a:xfrm>
        </p:grpSpPr>
        <p:sp>
          <p:nvSpPr>
            <p:cNvPr id="50179" name="Text Box 3"/>
            <p:cNvSpPr txBox="1">
              <a:spLocks noChangeArrowheads="1"/>
            </p:cNvSpPr>
            <p:nvPr/>
          </p:nvSpPr>
          <p:spPr bwMode="auto">
            <a:xfrm>
              <a:off x="480" y="816"/>
              <a:ext cx="4704" cy="1561"/>
            </a:xfrm>
            <a:prstGeom prst="rect">
              <a:avLst/>
            </a:prstGeom>
            <a:noFill/>
            <a:ln w="9525">
              <a:noFill/>
              <a:miter lim="800000"/>
            </a:ln>
            <a:effectLst/>
          </p:spPr>
          <p:txBody>
            <a:bodyPr>
              <a:spAutoFit/>
            </a:bodyPr>
            <a:lstStyle/>
            <a:p>
              <a:pPr>
                <a:lnSpc>
                  <a:spcPct val="135000"/>
                </a:lnSpc>
                <a:spcBef>
                  <a:spcPct val="50000"/>
                </a:spcBef>
                <a:defRPr/>
              </a:pPr>
              <a:r>
                <a:rPr lang="en-US" altLang="zh-CN" b="1" dirty="0">
                  <a:solidFill>
                    <a:srgbClr val="FF0000"/>
                  </a:solidFill>
                  <a:effectLst>
                    <a:outerShdw blurRad="38100" dist="38100" dir="2700000" algn="tl">
                      <a:srgbClr val="C0C0C0"/>
                    </a:outerShdw>
                  </a:effectLst>
                  <a:latin typeface="Garamond" panose="02020404030301010803" pitchFamily="18" charset="0"/>
                </a:rPr>
                <a:t>        </a:t>
              </a:r>
              <a:r>
                <a:rPr lang="zh-CN" altLang="en-US" b="1" dirty="0">
                  <a:solidFill>
                    <a:srgbClr val="FF0000"/>
                  </a:solidFill>
                  <a:latin typeface="Garamond" panose="02020404030301010803" pitchFamily="18" charset="0"/>
                </a:rPr>
                <a:t>小结：</a:t>
              </a:r>
              <a:r>
                <a:rPr lang="zh-CN" altLang="en-US" sz="4400" b="1" dirty="0">
                  <a:latin typeface="Garamond" panose="02020404030301010803" pitchFamily="18" charset="0"/>
                </a:rPr>
                <a:t> </a:t>
              </a:r>
              <a:r>
                <a:rPr lang="zh-CN" altLang="en-US" b="1" dirty="0">
                  <a:latin typeface="Garamond" panose="02020404030301010803" pitchFamily="18" charset="0"/>
                </a:rPr>
                <a:t>分析热力学过程中                的正负号时，应能够从           图上搜取有关热力学过程的动力学信息</a:t>
              </a:r>
              <a:r>
                <a:rPr lang="en-US" altLang="zh-CN" b="1" dirty="0">
                  <a:latin typeface="Garamond" panose="02020404030301010803" pitchFamily="18" charset="0"/>
                </a:rPr>
                <a:t>:  </a:t>
              </a:r>
              <a:r>
                <a:rPr lang="zh-CN" altLang="en-US" b="1" dirty="0">
                  <a:latin typeface="Garamond" panose="02020404030301010803" pitchFamily="18" charset="0"/>
                </a:rPr>
                <a:t>图上的一点代表一个平衡态；一条光滑曲线代表一个准静态过程；</a:t>
              </a:r>
              <a:r>
                <a:rPr lang="zh-CN" altLang="en-US" b="1" dirty="0">
                  <a:solidFill>
                    <a:srgbClr val="FF6600"/>
                  </a:solidFill>
                  <a:latin typeface="Garamond" panose="02020404030301010803" pitchFamily="18" charset="0"/>
                </a:rPr>
                <a:t>曲线所包围的面积代表该过程功的大小。</a:t>
              </a:r>
              <a:endParaRPr lang="zh-CN" altLang="en-US" b="1" dirty="0">
                <a:solidFill>
                  <a:srgbClr val="FF6600"/>
                </a:solidFill>
                <a:latin typeface="Garamond" panose="02020404030301010803" pitchFamily="18" charset="0"/>
              </a:endParaRPr>
            </a:p>
          </p:txBody>
        </p:sp>
        <p:graphicFrame>
          <p:nvGraphicFramePr>
            <p:cNvPr id="26626" name="Object 0"/>
            <p:cNvGraphicFramePr>
              <a:graphicFrameLocks noChangeAspect="1"/>
            </p:cNvGraphicFramePr>
            <p:nvPr/>
          </p:nvGraphicFramePr>
          <p:xfrm>
            <a:off x="1344" y="1473"/>
            <a:ext cx="495" cy="243"/>
          </p:xfrm>
          <a:graphic>
            <a:graphicData uri="http://schemas.openxmlformats.org/presentationml/2006/ole">
              <mc:AlternateContent xmlns:mc="http://schemas.openxmlformats.org/markup-compatibility/2006">
                <mc:Choice xmlns:v="urn:schemas-microsoft-com:vml" Requires="v">
                  <p:oleObj spid="_x0000_s26625" name="Equation" r:id="rId1" imgW="9448800" imgH="4876800" progId="Equation.3">
                    <p:embed/>
                  </p:oleObj>
                </mc:Choice>
                <mc:Fallback>
                  <p:oleObj name="Equation" r:id="rId1" imgW="9448800" imgH="4876800" progId="Equation.3">
                    <p:embed/>
                    <p:pic>
                      <p:nvPicPr>
                        <p:cNvPr id="0" name="Object 0"/>
                        <p:cNvPicPr>
                          <a:picLocks noChangeAspect="1"/>
                        </p:cNvPicPr>
                        <p:nvPr/>
                      </p:nvPicPr>
                      <p:blipFill>
                        <a:blip r:embed="rId2"/>
                        <a:stretch>
                          <a:fillRect/>
                        </a:stretch>
                      </p:blipFill>
                      <p:spPr>
                        <a:xfrm>
                          <a:off x="1344" y="1473"/>
                          <a:ext cx="495" cy="243"/>
                        </a:xfrm>
                        <a:prstGeom prst="rect">
                          <a:avLst/>
                        </a:prstGeom>
                        <a:noFill/>
                        <a:ln w="9525">
                          <a:noFill/>
                        </a:ln>
                      </p:spPr>
                    </p:pic>
                  </p:oleObj>
                </mc:Fallback>
              </mc:AlternateContent>
            </a:graphicData>
          </a:graphic>
        </p:graphicFrame>
        <p:graphicFrame>
          <p:nvGraphicFramePr>
            <p:cNvPr id="26627" name="Object 1"/>
            <p:cNvGraphicFramePr>
              <a:graphicFrameLocks noChangeAspect="1"/>
            </p:cNvGraphicFramePr>
            <p:nvPr/>
          </p:nvGraphicFramePr>
          <p:xfrm>
            <a:off x="3144" y="1056"/>
            <a:ext cx="752" cy="256"/>
          </p:xfrm>
          <a:graphic>
            <a:graphicData uri="http://schemas.openxmlformats.org/presentationml/2006/ole">
              <mc:AlternateContent xmlns:mc="http://schemas.openxmlformats.org/markup-compatibility/2006">
                <mc:Choice xmlns:v="urn:schemas-microsoft-com:vml" Requires="v">
                  <p:oleObj spid="_x0000_s26627" name="公式" r:id="rId3" imgW="14325600" imgH="4876800" progId="Equation.3">
                    <p:embed/>
                  </p:oleObj>
                </mc:Choice>
                <mc:Fallback>
                  <p:oleObj name="公式" r:id="rId3" imgW="14325600" imgH="4876800" progId="Equation.3">
                    <p:embed/>
                    <p:pic>
                      <p:nvPicPr>
                        <p:cNvPr id="0" name="Object 1"/>
                        <p:cNvPicPr>
                          <a:picLocks noChangeAspect="1"/>
                        </p:cNvPicPr>
                        <p:nvPr/>
                      </p:nvPicPr>
                      <p:blipFill>
                        <a:blip r:embed="rId4"/>
                        <a:stretch>
                          <a:fillRect/>
                        </a:stretch>
                      </p:blipFill>
                      <p:spPr>
                        <a:xfrm>
                          <a:off x="3144" y="1056"/>
                          <a:ext cx="752" cy="256"/>
                        </a:xfrm>
                        <a:prstGeom prst="rect">
                          <a:avLst/>
                        </a:prstGeom>
                        <a:noFill/>
                        <a:ln w="9525">
                          <a:noFill/>
                        </a:ln>
                      </p:spPr>
                    </p:pic>
                  </p:oleObj>
                </mc:Fallback>
              </mc:AlternateContent>
            </a:graphicData>
          </a:graphic>
        </p:graphicFrame>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250825" y="661988"/>
            <a:ext cx="8893175" cy="2160587"/>
          </a:xfrm>
          <a:prstGeom prst="rect">
            <a:avLst/>
          </a:prstGeom>
          <a:noFill/>
          <a:ln w="9525">
            <a:noFill/>
            <a:miter lim="800000"/>
          </a:ln>
        </p:spPr>
        <p:txBody>
          <a:bodyPr>
            <a:spAutoFit/>
          </a:bodyPr>
          <a:lstStyle/>
          <a:p>
            <a:pPr>
              <a:lnSpc>
                <a:spcPct val="140000"/>
              </a:lnSpc>
              <a:defRPr/>
            </a:pPr>
            <a:r>
              <a:rPr kumimoji="1" lang="zh-CN" altLang="en-US" b="1" dirty="0">
                <a:solidFill>
                  <a:srgbClr val="FF0000"/>
                </a:solidFill>
                <a:latin typeface="+mn-ea"/>
                <a:ea typeface="+mn-ea"/>
              </a:rPr>
              <a:t>例</a:t>
            </a:r>
            <a:r>
              <a:rPr kumimoji="1" lang="zh-CN" altLang="en-US" b="1" dirty="0">
                <a:solidFill>
                  <a:srgbClr val="00FFFF"/>
                </a:solidFill>
                <a:ea typeface="宋体" panose="02010600030101010101" pitchFamily="2" charset="-122"/>
              </a:rPr>
              <a:t> </a:t>
            </a:r>
            <a:r>
              <a:rPr kumimoji="1" lang="zh-CN" altLang="en-US" b="1" dirty="0">
                <a:solidFill>
                  <a:srgbClr val="00FFFF"/>
                </a:solidFill>
                <a:latin typeface="Garamond" panose="02020404030301010803" pitchFamily="18" charset="0"/>
                <a:ea typeface="宋体" panose="02010600030101010101" pitchFamily="2" charset="-122"/>
              </a:rPr>
              <a:t> </a:t>
            </a:r>
            <a:r>
              <a:rPr kumimoji="1" lang="zh-CN" altLang="en-US" b="1" dirty="0">
                <a:latin typeface="Garamond" panose="02020404030301010803" pitchFamily="18" charset="0"/>
                <a:ea typeface="宋体" panose="02010600030101010101" pitchFamily="2" charset="-122"/>
              </a:rPr>
              <a:t>某热力学系统由</a:t>
            </a:r>
            <a:r>
              <a:rPr kumimoji="1" lang="en-US" altLang="zh-CN" b="1" i="1" dirty="0">
                <a:solidFill>
                  <a:srgbClr val="FF6600"/>
                </a:solidFill>
                <a:ea typeface="宋体" panose="02010600030101010101" pitchFamily="2" charset="-122"/>
              </a:rPr>
              <a:t>a</a:t>
            </a:r>
            <a:r>
              <a:rPr kumimoji="1" lang="en-US" altLang="zh-CN" b="1" dirty="0">
                <a:solidFill>
                  <a:srgbClr val="FF6600"/>
                </a:solidFill>
                <a:latin typeface="Garamond" panose="02020404030301010803" pitchFamily="18" charset="0"/>
                <a:ea typeface="宋体" panose="02010600030101010101" pitchFamily="2" charset="-122"/>
              </a:rPr>
              <a:t> </a:t>
            </a:r>
            <a:r>
              <a:rPr kumimoji="1" lang="zh-CN" altLang="en-US" b="1" dirty="0">
                <a:ea typeface="宋体" panose="02010600030101010101" pitchFamily="2" charset="-122"/>
              </a:rPr>
              <a:t>态沿</a:t>
            </a:r>
            <a:r>
              <a:rPr kumimoji="1" lang="en-US" altLang="zh-CN" b="1" i="1" dirty="0" err="1">
                <a:solidFill>
                  <a:srgbClr val="FF6600"/>
                </a:solidFill>
                <a:ea typeface="宋体" panose="02010600030101010101" pitchFamily="2" charset="-122"/>
              </a:rPr>
              <a:t>acb</a:t>
            </a:r>
            <a:r>
              <a:rPr kumimoji="1" lang="en-US" altLang="zh-CN" b="1" i="1" dirty="0">
                <a:solidFill>
                  <a:srgbClr val="FF6600"/>
                </a:solidFill>
                <a:ea typeface="宋体" panose="02010600030101010101" pitchFamily="2" charset="-122"/>
              </a:rPr>
              <a:t> </a:t>
            </a:r>
            <a:r>
              <a:rPr kumimoji="1" lang="zh-CN" altLang="en-US" b="1" dirty="0">
                <a:ea typeface="宋体" panose="02010600030101010101" pitchFamily="2" charset="-122"/>
              </a:rPr>
              <a:t>过程到达</a:t>
            </a:r>
            <a:r>
              <a:rPr kumimoji="1" lang="en-US" altLang="zh-CN" b="1" i="1" dirty="0">
                <a:solidFill>
                  <a:srgbClr val="FF6600"/>
                </a:solidFill>
                <a:ea typeface="宋体" panose="02010600030101010101" pitchFamily="2" charset="-122"/>
              </a:rPr>
              <a:t>b</a:t>
            </a:r>
            <a:r>
              <a:rPr kumimoji="1" lang="en-US" altLang="zh-CN" b="1" i="1" dirty="0">
                <a:solidFill>
                  <a:srgbClr val="FFFF00"/>
                </a:solidFill>
                <a:ea typeface="宋体" panose="02010600030101010101" pitchFamily="2" charset="-122"/>
              </a:rPr>
              <a:t> </a:t>
            </a:r>
            <a:r>
              <a:rPr kumimoji="1" lang="zh-CN" altLang="en-US" b="1" dirty="0">
                <a:latin typeface="Garamond" panose="02020404030301010803" pitchFamily="18" charset="0"/>
                <a:ea typeface="宋体" panose="02010600030101010101" pitchFamily="2" charset="-122"/>
              </a:rPr>
              <a:t>态，吸收热量</a:t>
            </a:r>
            <a:r>
              <a:rPr kumimoji="1" lang="en-US" altLang="zh-CN" b="1" dirty="0">
                <a:solidFill>
                  <a:srgbClr val="FF6600"/>
                </a:solidFill>
                <a:ea typeface="宋体" panose="02010600030101010101" pitchFamily="2" charset="-122"/>
              </a:rPr>
              <a:t>335J</a:t>
            </a:r>
            <a:r>
              <a:rPr kumimoji="1" lang="zh-CN" altLang="en-US" b="1" dirty="0">
                <a:latin typeface="Garamond" panose="02020404030301010803" pitchFamily="18" charset="0"/>
                <a:ea typeface="宋体" panose="02010600030101010101" pitchFamily="2" charset="-122"/>
              </a:rPr>
              <a:t>，</a:t>
            </a:r>
            <a:endParaRPr kumimoji="1" lang="zh-CN" altLang="en-US" b="1" dirty="0">
              <a:latin typeface="Garamond" panose="02020404030301010803" pitchFamily="18" charset="0"/>
              <a:ea typeface="宋体" panose="02010600030101010101" pitchFamily="2" charset="-122"/>
            </a:endParaRPr>
          </a:p>
          <a:p>
            <a:pPr>
              <a:lnSpc>
                <a:spcPct val="140000"/>
              </a:lnSpc>
              <a:defRPr/>
            </a:pPr>
            <a:r>
              <a:rPr kumimoji="1" lang="zh-CN" altLang="en-US" b="1" dirty="0">
                <a:latin typeface="Garamond" panose="02020404030301010803" pitchFamily="18" charset="0"/>
                <a:ea typeface="宋体" panose="02010600030101010101" pitchFamily="2" charset="-122"/>
              </a:rPr>
              <a:t>      而系统作功</a:t>
            </a:r>
            <a:r>
              <a:rPr kumimoji="1" lang="en-US" altLang="zh-CN" b="1" dirty="0">
                <a:solidFill>
                  <a:srgbClr val="FF6600"/>
                </a:solidFill>
                <a:ea typeface="宋体" panose="02010600030101010101" pitchFamily="2" charset="-122"/>
              </a:rPr>
              <a:t>126J</a:t>
            </a:r>
            <a:r>
              <a:rPr kumimoji="1" lang="zh-CN" altLang="en-US" b="1" dirty="0">
                <a:latin typeface="Garamond" panose="02020404030301010803" pitchFamily="18" charset="0"/>
                <a:ea typeface="宋体" panose="02010600030101010101" pitchFamily="2" charset="-122"/>
              </a:rPr>
              <a:t>，如图所示。</a:t>
            </a:r>
            <a:endParaRPr kumimoji="1" lang="zh-CN" altLang="en-US" b="1" dirty="0">
              <a:latin typeface="Garamond" panose="02020404030301010803" pitchFamily="18" charset="0"/>
              <a:ea typeface="宋体" panose="02010600030101010101" pitchFamily="2" charset="-122"/>
            </a:endParaRPr>
          </a:p>
          <a:p>
            <a:pPr>
              <a:lnSpc>
                <a:spcPct val="140000"/>
              </a:lnSpc>
              <a:defRPr/>
            </a:pPr>
            <a:r>
              <a:rPr kumimoji="1" lang="zh-CN" altLang="en-US" b="1" dirty="0">
                <a:solidFill>
                  <a:srgbClr val="FF0000"/>
                </a:solidFill>
                <a:latin typeface="Garamond" panose="02020404030301010803" pitchFamily="18" charset="0"/>
                <a:ea typeface="宋体" panose="02010600030101010101" pitchFamily="2" charset="-122"/>
              </a:rPr>
              <a:t>求</a:t>
            </a:r>
            <a:r>
              <a:rPr kumimoji="1" lang="zh-CN" altLang="en-US" b="1" dirty="0">
                <a:latin typeface="Garamond" panose="02020404030301010803" pitchFamily="18" charset="0"/>
                <a:ea typeface="宋体" panose="02010600030101010101" pitchFamily="2" charset="-122"/>
              </a:rPr>
              <a:t>  </a:t>
            </a:r>
            <a:r>
              <a:rPr kumimoji="1" lang="en-US" altLang="zh-CN" b="1" dirty="0">
                <a:ea typeface="宋体" panose="02010600030101010101" pitchFamily="2" charset="-122"/>
              </a:rPr>
              <a:t>(1) </a:t>
            </a:r>
            <a:r>
              <a:rPr kumimoji="1" lang="zh-CN" altLang="en-US" b="1" dirty="0">
                <a:latin typeface="Garamond" panose="02020404030301010803" pitchFamily="18" charset="0"/>
                <a:ea typeface="宋体" panose="02010600030101010101" pitchFamily="2" charset="-122"/>
              </a:rPr>
              <a:t>若经</a:t>
            </a:r>
            <a:r>
              <a:rPr kumimoji="1" lang="en-US" altLang="zh-CN" b="1" i="1" dirty="0" err="1">
                <a:solidFill>
                  <a:srgbClr val="FF6600"/>
                </a:solidFill>
                <a:ea typeface="宋体" panose="02010600030101010101" pitchFamily="2" charset="-122"/>
              </a:rPr>
              <a:t>adb</a:t>
            </a:r>
            <a:r>
              <a:rPr kumimoji="1" lang="en-US" altLang="zh-CN" b="1" baseline="30000" dirty="0">
                <a:solidFill>
                  <a:srgbClr val="FF6600"/>
                </a:solidFill>
                <a:latin typeface="Garamond" panose="02020404030301010803" pitchFamily="18" charset="0"/>
                <a:ea typeface="宋体" panose="02010600030101010101" pitchFamily="2" charset="-122"/>
              </a:rPr>
              <a:t> </a:t>
            </a:r>
            <a:r>
              <a:rPr kumimoji="1" lang="zh-CN" altLang="en-US" b="1" dirty="0">
                <a:latin typeface="Garamond" panose="02020404030301010803" pitchFamily="18" charset="0"/>
                <a:ea typeface="宋体" panose="02010600030101010101" pitchFamily="2" charset="-122"/>
              </a:rPr>
              <a:t>过程系统对环境做功</a:t>
            </a:r>
            <a:r>
              <a:rPr kumimoji="1" lang="en-US" altLang="zh-CN" b="1" dirty="0">
                <a:solidFill>
                  <a:srgbClr val="FF6600"/>
                </a:solidFill>
                <a:ea typeface="宋体" panose="02010600030101010101" pitchFamily="2" charset="-122"/>
              </a:rPr>
              <a:t>42J</a:t>
            </a:r>
            <a:r>
              <a:rPr kumimoji="1" lang="zh-CN" altLang="en-US" b="1" dirty="0">
                <a:latin typeface="Garamond" panose="02020404030301010803" pitchFamily="18" charset="0"/>
                <a:ea typeface="宋体" panose="02010600030101010101" pitchFamily="2" charset="-122"/>
              </a:rPr>
              <a:t>，系统是吸热还是放热？</a:t>
            </a:r>
            <a:endParaRPr kumimoji="1" lang="zh-CN" altLang="en-US" b="1" dirty="0">
              <a:latin typeface="Garamond" panose="02020404030301010803" pitchFamily="18" charset="0"/>
              <a:ea typeface="宋体" panose="02010600030101010101" pitchFamily="2" charset="-122"/>
            </a:endParaRPr>
          </a:p>
          <a:p>
            <a:pPr>
              <a:lnSpc>
                <a:spcPct val="140000"/>
              </a:lnSpc>
              <a:defRPr/>
            </a:pPr>
            <a:r>
              <a:rPr kumimoji="1" lang="zh-CN" altLang="en-US" b="1" dirty="0">
                <a:latin typeface="Garamond" panose="02020404030301010803" pitchFamily="18" charset="0"/>
                <a:ea typeface="宋体" panose="02010600030101010101" pitchFamily="2" charset="-122"/>
              </a:rPr>
              <a:t>      热量传递的数值为多少？</a:t>
            </a:r>
            <a:endParaRPr kumimoji="1" lang="zh-CN" altLang="en-US" b="1" dirty="0">
              <a:latin typeface="Garamond" panose="02020404030301010803" pitchFamily="18" charset="0"/>
              <a:ea typeface="宋体" panose="02010600030101010101" pitchFamily="2" charset="-122"/>
            </a:endParaRPr>
          </a:p>
        </p:txBody>
      </p:sp>
      <p:grpSp>
        <p:nvGrpSpPr>
          <p:cNvPr id="93187" name="Group 5"/>
          <p:cNvGrpSpPr/>
          <p:nvPr/>
        </p:nvGrpSpPr>
        <p:grpSpPr bwMode="auto">
          <a:xfrm>
            <a:off x="6443663" y="4078288"/>
            <a:ext cx="2506662" cy="2230437"/>
            <a:chOff x="3524" y="2251"/>
            <a:chExt cx="1579" cy="1405"/>
          </a:xfrm>
        </p:grpSpPr>
        <p:sp>
          <p:nvSpPr>
            <p:cNvPr id="93190" name="Text Box 6"/>
            <p:cNvSpPr txBox="1">
              <a:spLocks noChangeAspect="1" noChangeArrowheads="1"/>
            </p:cNvSpPr>
            <p:nvPr/>
          </p:nvSpPr>
          <p:spPr bwMode="auto">
            <a:xfrm>
              <a:off x="3621" y="3275"/>
              <a:ext cx="1482" cy="381"/>
            </a:xfrm>
            <a:prstGeom prst="rect">
              <a:avLst/>
            </a:prstGeom>
            <a:noFill/>
            <a:ln w="9525">
              <a:noFill/>
              <a:miter lim="800000"/>
            </a:ln>
          </p:spPr>
          <p:txBody>
            <a:bodyPr>
              <a:spAutoFit/>
            </a:bodyPr>
            <a:lstStyle/>
            <a:p>
              <a:pPr>
                <a:lnSpc>
                  <a:spcPct val="120000"/>
                </a:lnSpc>
                <a:spcBef>
                  <a:spcPct val="50000"/>
                </a:spcBef>
                <a:buClr>
                  <a:schemeClr val="hlink"/>
                </a:buClr>
              </a:pPr>
              <a:r>
                <a:rPr lang="en-US" altLang="zh-CN" b="1" i="1">
                  <a:solidFill>
                    <a:srgbClr val="000099"/>
                  </a:solidFill>
                </a:rPr>
                <a:t>O </a:t>
              </a:r>
              <a:r>
                <a:rPr lang="en-US" altLang="zh-CN" sz="2800" b="1" i="1">
                  <a:solidFill>
                    <a:srgbClr val="000099"/>
                  </a:solidFill>
                </a:rPr>
                <a:t>                  </a:t>
              </a:r>
              <a:r>
                <a:rPr lang="en-US" altLang="zh-CN" b="1" i="1">
                  <a:solidFill>
                    <a:srgbClr val="000099"/>
                  </a:solidFill>
                </a:rPr>
                <a:t>V</a:t>
              </a:r>
              <a:endParaRPr lang="en-US" altLang="zh-CN" b="1" i="1">
                <a:solidFill>
                  <a:srgbClr val="000099"/>
                </a:solidFill>
              </a:endParaRPr>
            </a:p>
          </p:txBody>
        </p:sp>
        <p:sp>
          <p:nvSpPr>
            <p:cNvPr id="93191" name="Line 7"/>
            <p:cNvSpPr>
              <a:spLocks noChangeAspect="1" noChangeShapeType="1"/>
            </p:cNvSpPr>
            <p:nvPr/>
          </p:nvSpPr>
          <p:spPr bwMode="auto">
            <a:xfrm>
              <a:off x="3756" y="3354"/>
              <a:ext cx="1344" cy="0"/>
            </a:xfrm>
            <a:prstGeom prst="line">
              <a:avLst/>
            </a:prstGeom>
            <a:noFill/>
            <a:ln w="28575">
              <a:solidFill>
                <a:srgbClr val="FFFFFF"/>
              </a:solidFill>
              <a:round/>
              <a:tailEnd type="stealth" w="med" len="lg"/>
            </a:ln>
          </p:spPr>
          <p:txBody>
            <a:bodyPr wrap="none" anchor="ctr"/>
            <a:lstStyle/>
            <a:p>
              <a:endParaRPr lang="zh-CN" altLang="en-US"/>
            </a:p>
          </p:txBody>
        </p:sp>
        <p:sp>
          <p:nvSpPr>
            <p:cNvPr id="93192" name="Line 8"/>
            <p:cNvSpPr>
              <a:spLocks noChangeAspect="1" noChangeShapeType="1"/>
            </p:cNvSpPr>
            <p:nvPr/>
          </p:nvSpPr>
          <p:spPr bwMode="auto">
            <a:xfrm flipV="1">
              <a:off x="3756" y="2320"/>
              <a:ext cx="0" cy="1034"/>
            </a:xfrm>
            <a:prstGeom prst="line">
              <a:avLst/>
            </a:prstGeom>
            <a:noFill/>
            <a:ln w="28575">
              <a:solidFill>
                <a:srgbClr val="000099"/>
              </a:solidFill>
              <a:round/>
              <a:tailEnd type="stealth" w="med" len="lg"/>
            </a:ln>
          </p:spPr>
          <p:txBody>
            <a:bodyPr wrap="none" anchor="ctr"/>
            <a:lstStyle/>
            <a:p>
              <a:endParaRPr lang="zh-CN" altLang="en-US"/>
            </a:p>
          </p:txBody>
        </p:sp>
        <p:sp>
          <p:nvSpPr>
            <p:cNvPr id="93193" name="Rectangle 9"/>
            <p:cNvSpPr>
              <a:spLocks noChangeAspect="1" noChangeArrowheads="1"/>
            </p:cNvSpPr>
            <p:nvPr/>
          </p:nvSpPr>
          <p:spPr bwMode="auto">
            <a:xfrm>
              <a:off x="4031" y="2665"/>
              <a:ext cx="792" cy="413"/>
            </a:xfrm>
            <a:prstGeom prst="rect">
              <a:avLst/>
            </a:prstGeom>
            <a:noFill/>
            <a:ln w="9525">
              <a:solidFill>
                <a:srgbClr val="0000FF"/>
              </a:solidFill>
              <a:miter lim="800000"/>
            </a:ln>
          </p:spPr>
          <p:txBody>
            <a:bodyPr wrap="none" anchor="ctr"/>
            <a:lstStyle/>
            <a:p>
              <a:pPr algn="ctr"/>
              <a:endParaRPr lang="zh-CN" altLang="en-US" b="1"/>
            </a:p>
          </p:txBody>
        </p:sp>
        <p:sp>
          <p:nvSpPr>
            <p:cNvPr id="93194" name="Freeform 10"/>
            <p:cNvSpPr>
              <a:spLocks noChangeAspect="1"/>
            </p:cNvSpPr>
            <p:nvPr/>
          </p:nvSpPr>
          <p:spPr bwMode="auto">
            <a:xfrm>
              <a:off x="4029" y="2663"/>
              <a:ext cx="792" cy="414"/>
            </a:xfrm>
            <a:custGeom>
              <a:avLst/>
              <a:gdLst>
                <a:gd name="T0" fmla="*/ 0 w 1104"/>
                <a:gd name="T1" fmla="*/ 15 h 576"/>
                <a:gd name="T2" fmla="*/ 7 w 1104"/>
                <a:gd name="T3" fmla="*/ 12 h 576"/>
                <a:gd name="T4" fmla="*/ 17 w 1104"/>
                <a:gd name="T5" fmla="*/ 3 h 576"/>
                <a:gd name="T6" fmla="*/ 28 w 1104"/>
                <a:gd name="T7" fmla="*/ 0 h 576"/>
                <a:gd name="T8" fmla="*/ 0 60000 65536"/>
                <a:gd name="T9" fmla="*/ 0 60000 65536"/>
                <a:gd name="T10" fmla="*/ 0 60000 65536"/>
                <a:gd name="T11" fmla="*/ 0 60000 65536"/>
                <a:gd name="T12" fmla="*/ 0 w 1104"/>
                <a:gd name="T13" fmla="*/ 0 h 576"/>
                <a:gd name="T14" fmla="*/ 1104 w 1104"/>
                <a:gd name="T15" fmla="*/ 576 h 576"/>
              </a:gdLst>
              <a:ahLst/>
              <a:cxnLst>
                <a:cxn ang="T8">
                  <a:pos x="T0" y="T1"/>
                </a:cxn>
                <a:cxn ang="T9">
                  <a:pos x="T2" y="T3"/>
                </a:cxn>
                <a:cxn ang="T10">
                  <a:pos x="T4" y="T5"/>
                </a:cxn>
                <a:cxn ang="T11">
                  <a:pos x="T6" y="T7"/>
                </a:cxn>
              </a:cxnLst>
              <a:rect l="T12" t="T13" r="T14" b="T15"/>
              <a:pathLst>
                <a:path w="1104" h="576">
                  <a:moveTo>
                    <a:pt x="0" y="576"/>
                  </a:moveTo>
                  <a:cubicBezTo>
                    <a:pt x="88" y="544"/>
                    <a:pt x="176" y="512"/>
                    <a:pt x="288" y="432"/>
                  </a:cubicBezTo>
                  <a:cubicBezTo>
                    <a:pt x="400" y="352"/>
                    <a:pt x="536" y="168"/>
                    <a:pt x="672" y="96"/>
                  </a:cubicBezTo>
                  <a:cubicBezTo>
                    <a:pt x="808" y="24"/>
                    <a:pt x="1032" y="16"/>
                    <a:pt x="1104" y="0"/>
                  </a:cubicBezTo>
                </a:path>
              </a:pathLst>
            </a:custGeom>
            <a:noFill/>
            <a:ln w="9525">
              <a:solidFill>
                <a:srgbClr val="0000FF"/>
              </a:solidFill>
              <a:round/>
            </a:ln>
          </p:spPr>
          <p:txBody>
            <a:bodyPr wrap="none" anchor="ctr"/>
            <a:lstStyle/>
            <a:p>
              <a:pPr algn="ctr"/>
              <a:endParaRPr lang="zh-CN" altLang="en-US" b="1"/>
            </a:p>
          </p:txBody>
        </p:sp>
        <p:sp>
          <p:nvSpPr>
            <p:cNvPr id="93195" name="Line 11"/>
            <p:cNvSpPr>
              <a:spLocks noChangeAspect="1" noChangeShapeType="1"/>
            </p:cNvSpPr>
            <p:nvPr/>
          </p:nvSpPr>
          <p:spPr bwMode="auto">
            <a:xfrm flipV="1">
              <a:off x="4029" y="2800"/>
              <a:ext cx="0" cy="137"/>
            </a:xfrm>
            <a:prstGeom prst="line">
              <a:avLst/>
            </a:prstGeom>
            <a:noFill/>
            <a:ln w="28575">
              <a:solidFill>
                <a:srgbClr val="0000FF"/>
              </a:solidFill>
              <a:round/>
              <a:tailEnd type="stealth" w="med" len="lg"/>
            </a:ln>
          </p:spPr>
          <p:txBody>
            <a:bodyPr wrap="none" anchor="ctr"/>
            <a:lstStyle/>
            <a:p>
              <a:endParaRPr lang="zh-CN" altLang="en-US"/>
            </a:p>
          </p:txBody>
        </p:sp>
        <p:sp>
          <p:nvSpPr>
            <p:cNvPr id="93196" name="Line 12"/>
            <p:cNvSpPr>
              <a:spLocks noChangeAspect="1" noChangeShapeType="1"/>
            </p:cNvSpPr>
            <p:nvPr/>
          </p:nvSpPr>
          <p:spPr bwMode="auto">
            <a:xfrm rot="5328382" flipV="1">
              <a:off x="4410" y="3010"/>
              <a:ext cx="1" cy="138"/>
            </a:xfrm>
            <a:prstGeom prst="line">
              <a:avLst/>
            </a:prstGeom>
            <a:noFill/>
            <a:ln w="28575">
              <a:solidFill>
                <a:srgbClr val="0000FF"/>
              </a:solidFill>
              <a:round/>
              <a:tailEnd type="stealth" w="med" len="lg"/>
            </a:ln>
          </p:spPr>
          <p:txBody>
            <a:bodyPr wrap="none" anchor="ctr"/>
            <a:lstStyle/>
            <a:p>
              <a:endParaRPr lang="zh-CN" altLang="en-US"/>
            </a:p>
          </p:txBody>
        </p:sp>
        <p:sp>
          <p:nvSpPr>
            <p:cNvPr id="93197" name="Line 13"/>
            <p:cNvSpPr>
              <a:spLocks noChangeAspect="1" noChangeShapeType="1"/>
            </p:cNvSpPr>
            <p:nvPr/>
          </p:nvSpPr>
          <p:spPr bwMode="auto">
            <a:xfrm rot="5256796" flipV="1">
              <a:off x="4376" y="2596"/>
              <a:ext cx="1" cy="138"/>
            </a:xfrm>
            <a:prstGeom prst="line">
              <a:avLst/>
            </a:prstGeom>
            <a:noFill/>
            <a:ln w="28575">
              <a:solidFill>
                <a:srgbClr val="0000FF"/>
              </a:solidFill>
              <a:round/>
              <a:tailEnd type="stealth" w="med" len="lg"/>
            </a:ln>
          </p:spPr>
          <p:txBody>
            <a:bodyPr wrap="none" anchor="ctr"/>
            <a:lstStyle/>
            <a:p>
              <a:endParaRPr lang="zh-CN" altLang="en-US"/>
            </a:p>
          </p:txBody>
        </p:sp>
        <p:sp>
          <p:nvSpPr>
            <p:cNvPr id="93198" name="Line 14"/>
            <p:cNvSpPr>
              <a:spLocks noChangeAspect="1" noChangeShapeType="1"/>
            </p:cNvSpPr>
            <p:nvPr/>
          </p:nvSpPr>
          <p:spPr bwMode="auto">
            <a:xfrm flipV="1">
              <a:off x="4823" y="2768"/>
              <a:ext cx="0" cy="138"/>
            </a:xfrm>
            <a:prstGeom prst="line">
              <a:avLst/>
            </a:prstGeom>
            <a:noFill/>
            <a:ln w="28575">
              <a:solidFill>
                <a:srgbClr val="0000FF"/>
              </a:solidFill>
              <a:round/>
              <a:tailEnd type="stealth" w="med" len="lg"/>
            </a:ln>
          </p:spPr>
          <p:txBody>
            <a:bodyPr wrap="none" anchor="ctr"/>
            <a:lstStyle/>
            <a:p>
              <a:endParaRPr lang="zh-CN" altLang="en-US"/>
            </a:p>
          </p:txBody>
        </p:sp>
        <p:sp>
          <p:nvSpPr>
            <p:cNvPr id="93199" name="Line 15"/>
            <p:cNvSpPr>
              <a:spLocks noChangeAspect="1" noChangeShapeType="1"/>
            </p:cNvSpPr>
            <p:nvPr/>
          </p:nvSpPr>
          <p:spPr bwMode="auto">
            <a:xfrm rot="13680323" flipV="1">
              <a:off x="4375" y="2769"/>
              <a:ext cx="1" cy="138"/>
            </a:xfrm>
            <a:prstGeom prst="line">
              <a:avLst/>
            </a:prstGeom>
            <a:noFill/>
            <a:ln w="28575">
              <a:solidFill>
                <a:srgbClr val="0000FF"/>
              </a:solidFill>
              <a:round/>
              <a:tailEnd type="stealth" w="med" len="lg"/>
            </a:ln>
          </p:spPr>
          <p:txBody>
            <a:bodyPr wrap="none" anchor="ctr"/>
            <a:lstStyle/>
            <a:p>
              <a:endParaRPr lang="zh-CN" altLang="en-US"/>
            </a:p>
          </p:txBody>
        </p:sp>
        <p:sp>
          <p:nvSpPr>
            <p:cNvPr id="93200" name="Text Box 16"/>
            <p:cNvSpPr txBox="1">
              <a:spLocks noChangeAspect="1" noChangeArrowheads="1"/>
            </p:cNvSpPr>
            <p:nvPr/>
          </p:nvSpPr>
          <p:spPr bwMode="auto">
            <a:xfrm>
              <a:off x="3903" y="2980"/>
              <a:ext cx="1069" cy="327"/>
            </a:xfrm>
            <a:prstGeom prst="rect">
              <a:avLst/>
            </a:prstGeom>
            <a:noFill/>
            <a:ln w="9525">
              <a:noFill/>
              <a:miter lim="800000"/>
            </a:ln>
          </p:spPr>
          <p:txBody>
            <a:bodyPr>
              <a:spAutoFit/>
            </a:bodyPr>
            <a:lstStyle/>
            <a:p>
              <a:pPr>
                <a:buClr>
                  <a:schemeClr val="hlink"/>
                </a:buClr>
              </a:pPr>
              <a:r>
                <a:rPr lang="en-US" altLang="zh-CN" b="1" i="1">
                  <a:solidFill>
                    <a:srgbClr val="FF0000"/>
                  </a:solidFill>
                </a:rPr>
                <a:t>a</a:t>
              </a:r>
              <a:r>
                <a:rPr lang="en-US" altLang="zh-CN" sz="2800" b="1" i="1">
                  <a:solidFill>
                    <a:srgbClr val="FF0000"/>
                  </a:solidFill>
                </a:rPr>
                <a:t>             </a:t>
              </a:r>
              <a:r>
                <a:rPr lang="en-US" altLang="zh-CN" b="1" i="1">
                  <a:solidFill>
                    <a:srgbClr val="FF0000"/>
                  </a:solidFill>
                </a:rPr>
                <a:t>d</a:t>
              </a:r>
              <a:endParaRPr lang="en-US" altLang="zh-CN" b="1" i="1">
                <a:solidFill>
                  <a:srgbClr val="FF0000"/>
                </a:solidFill>
              </a:endParaRPr>
            </a:p>
          </p:txBody>
        </p:sp>
        <p:sp>
          <p:nvSpPr>
            <p:cNvPr id="93201" name="Text Box 17"/>
            <p:cNvSpPr txBox="1">
              <a:spLocks noChangeAspect="1" noChangeArrowheads="1"/>
            </p:cNvSpPr>
            <p:nvPr/>
          </p:nvSpPr>
          <p:spPr bwMode="auto">
            <a:xfrm>
              <a:off x="3938" y="2387"/>
              <a:ext cx="1034" cy="327"/>
            </a:xfrm>
            <a:prstGeom prst="rect">
              <a:avLst/>
            </a:prstGeom>
            <a:noFill/>
            <a:ln w="9525">
              <a:noFill/>
              <a:miter lim="800000"/>
            </a:ln>
          </p:spPr>
          <p:txBody>
            <a:bodyPr>
              <a:spAutoFit/>
            </a:bodyPr>
            <a:lstStyle/>
            <a:p>
              <a:pPr>
                <a:buClr>
                  <a:schemeClr val="hlink"/>
                </a:buClr>
              </a:pPr>
              <a:r>
                <a:rPr lang="en-US" altLang="zh-CN" b="1" i="1">
                  <a:solidFill>
                    <a:srgbClr val="FF0000"/>
                  </a:solidFill>
                </a:rPr>
                <a:t>c</a:t>
              </a:r>
              <a:r>
                <a:rPr lang="en-US" altLang="zh-CN" sz="2800" b="1" i="1">
                  <a:solidFill>
                    <a:srgbClr val="FF0000"/>
                  </a:solidFill>
                </a:rPr>
                <a:t>             </a:t>
              </a:r>
              <a:r>
                <a:rPr lang="en-US" altLang="zh-CN" b="1" i="1">
                  <a:solidFill>
                    <a:srgbClr val="FF0000"/>
                  </a:solidFill>
                </a:rPr>
                <a:t>b</a:t>
              </a:r>
              <a:endParaRPr lang="en-US" altLang="zh-CN" b="1" i="1">
                <a:solidFill>
                  <a:srgbClr val="FF0000"/>
                </a:solidFill>
              </a:endParaRPr>
            </a:p>
          </p:txBody>
        </p:sp>
        <p:sp>
          <p:nvSpPr>
            <p:cNvPr id="93202" name="Text Box 18"/>
            <p:cNvSpPr txBox="1">
              <a:spLocks noChangeAspect="1" noChangeArrowheads="1"/>
            </p:cNvSpPr>
            <p:nvPr/>
          </p:nvSpPr>
          <p:spPr bwMode="auto">
            <a:xfrm>
              <a:off x="3524" y="2251"/>
              <a:ext cx="207" cy="337"/>
            </a:xfrm>
            <a:prstGeom prst="rect">
              <a:avLst/>
            </a:prstGeom>
            <a:noFill/>
            <a:ln w="9525">
              <a:noFill/>
              <a:miter lim="800000"/>
            </a:ln>
          </p:spPr>
          <p:txBody>
            <a:bodyPr>
              <a:spAutoFit/>
            </a:bodyPr>
            <a:lstStyle/>
            <a:p>
              <a:pPr>
                <a:lnSpc>
                  <a:spcPct val="120000"/>
                </a:lnSpc>
                <a:spcBef>
                  <a:spcPct val="50000"/>
                </a:spcBef>
                <a:buClr>
                  <a:schemeClr val="hlink"/>
                </a:buClr>
              </a:pPr>
              <a:r>
                <a:rPr lang="en-US" altLang="zh-CN" b="1" i="1">
                  <a:solidFill>
                    <a:srgbClr val="000099"/>
                  </a:solidFill>
                </a:rPr>
                <a:t>P</a:t>
              </a:r>
              <a:endParaRPr lang="en-US" altLang="zh-CN" b="1" i="1">
                <a:solidFill>
                  <a:srgbClr val="000099"/>
                </a:solidFill>
              </a:endParaRPr>
            </a:p>
          </p:txBody>
        </p:sp>
        <p:sp>
          <p:nvSpPr>
            <p:cNvPr id="93203" name="Line 19"/>
            <p:cNvSpPr>
              <a:spLocks noChangeAspect="1" noChangeShapeType="1"/>
            </p:cNvSpPr>
            <p:nvPr/>
          </p:nvSpPr>
          <p:spPr bwMode="auto">
            <a:xfrm>
              <a:off x="3756" y="3351"/>
              <a:ext cx="1262" cy="0"/>
            </a:xfrm>
            <a:prstGeom prst="line">
              <a:avLst/>
            </a:prstGeom>
            <a:noFill/>
            <a:ln w="28575">
              <a:solidFill>
                <a:srgbClr val="000099"/>
              </a:solidFill>
              <a:round/>
              <a:tailEnd type="stealth" w="med" len="lg"/>
            </a:ln>
          </p:spPr>
          <p:txBody>
            <a:bodyPr/>
            <a:lstStyle/>
            <a:p>
              <a:endParaRPr lang="zh-CN" altLang="en-US"/>
            </a:p>
          </p:txBody>
        </p:sp>
      </p:grpSp>
      <p:sp>
        <p:nvSpPr>
          <p:cNvPr id="93188" name="Text Box 26"/>
          <p:cNvSpPr txBox="1">
            <a:spLocks noChangeArrowheads="1"/>
          </p:cNvSpPr>
          <p:nvPr/>
        </p:nvSpPr>
        <p:spPr bwMode="auto">
          <a:xfrm>
            <a:off x="684213" y="2822575"/>
            <a:ext cx="8459787" cy="830263"/>
          </a:xfrm>
          <a:prstGeom prst="rect">
            <a:avLst/>
          </a:prstGeom>
          <a:noFill/>
          <a:ln w="19050">
            <a:noFill/>
            <a:miter lim="800000"/>
          </a:ln>
        </p:spPr>
        <p:txBody>
          <a:bodyPr>
            <a:spAutoFit/>
          </a:bodyPr>
          <a:lstStyle/>
          <a:p>
            <a:r>
              <a:rPr kumimoji="1" lang="en-US" altLang="zh-CN" b="1">
                <a:latin typeface="宋体" panose="02010600030101010101" pitchFamily="2" charset="-122"/>
              </a:rPr>
              <a:t>(2) </a:t>
            </a:r>
            <a:r>
              <a:rPr kumimoji="1" lang="zh-CN" altLang="en-US" b="1">
                <a:latin typeface="宋体" panose="02010600030101010101" pitchFamily="2" charset="-122"/>
              </a:rPr>
              <a:t>当系统由</a:t>
            </a:r>
            <a:r>
              <a:rPr kumimoji="1" lang="en-US" altLang="zh-CN" b="1" i="1">
                <a:solidFill>
                  <a:srgbClr val="FF6600"/>
                </a:solidFill>
              </a:rPr>
              <a:t>b</a:t>
            </a:r>
            <a:r>
              <a:rPr kumimoji="1" lang="en-US" altLang="zh-CN" b="1" i="1">
                <a:solidFill>
                  <a:srgbClr val="FF6600"/>
                </a:solidFill>
                <a:latin typeface="宋体" panose="02010600030101010101" pitchFamily="2" charset="-122"/>
              </a:rPr>
              <a:t> </a:t>
            </a:r>
            <a:r>
              <a:rPr kumimoji="1" lang="zh-CN" altLang="en-US" b="1">
                <a:latin typeface="宋体" panose="02010600030101010101" pitchFamily="2" charset="-122"/>
              </a:rPr>
              <a:t>态沿曲线</a:t>
            </a:r>
            <a:r>
              <a:rPr kumimoji="1" lang="zh-CN" altLang="en-US" b="1" i="1">
                <a:solidFill>
                  <a:srgbClr val="FF6600"/>
                </a:solidFill>
                <a:latin typeface="宋体" panose="02010600030101010101" pitchFamily="2" charset="-122"/>
              </a:rPr>
              <a:t> </a:t>
            </a:r>
            <a:r>
              <a:rPr kumimoji="1" lang="en-US" altLang="zh-CN" b="1" i="1">
                <a:solidFill>
                  <a:srgbClr val="FF6600"/>
                </a:solidFill>
              </a:rPr>
              <a:t>ba</a:t>
            </a:r>
            <a:r>
              <a:rPr kumimoji="1" lang="en-US" altLang="zh-CN" b="1"/>
              <a:t> </a:t>
            </a:r>
            <a:r>
              <a:rPr kumimoji="1" lang="zh-CN" altLang="en-US" b="1">
                <a:latin typeface="宋体" panose="02010600030101010101" pitchFamily="2" charset="-122"/>
              </a:rPr>
              <a:t>返回状态</a:t>
            </a:r>
            <a:r>
              <a:rPr kumimoji="1" lang="zh-CN" altLang="en-US" b="1" i="1">
                <a:solidFill>
                  <a:srgbClr val="FF6600"/>
                </a:solidFill>
                <a:latin typeface="宋体" panose="02010600030101010101" pitchFamily="2" charset="-122"/>
              </a:rPr>
              <a:t>  </a:t>
            </a:r>
            <a:r>
              <a:rPr kumimoji="1" lang="en-US" altLang="zh-CN" b="1" i="1">
                <a:solidFill>
                  <a:srgbClr val="FF6600"/>
                </a:solidFill>
              </a:rPr>
              <a:t>a</a:t>
            </a:r>
            <a:r>
              <a:rPr kumimoji="1" lang="en-US" altLang="zh-CN" b="1" i="1">
                <a:solidFill>
                  <a:srgbClr val="FF6600"/>
                </a:solidFill>
                <a:latin typeface="宋体" panose="02010600030101010101" pitchFamily="2" charset="-122"/>
              </a:rPr>
              <a:t> </a:t>
            </a:r>
            <a:r>
              <a:rPr kumimoji="1" lang="zh-CN" altLang="en-US" b="1">
                <a:latin typeface="宋体" panose="02010600030101010101" pitchFamily="2" charset="-122"/>
              </a:rPr>
              <a:t>时，环境对系统作功为</a:t>
            </a:r>
            <a:r>
              <a:rPr kumimoji="1" lang="en-US" altLang="zh-CN" b="1">
                <a:solidFill>
                  <a:srgbClr val="FF6600"/>
                </a:solidFill>
              </a:rPr>
              <a:t>84J</a:t>
            </a:r>
            <a:r>
              <a:rPr kumimoji="1" lang="zh-CN" altLang="en-US" b="1">
                <a:latin typeface="宋体" panose="02010600030101010101" pitchFamily="2" charset="-122"/>
              </a:rPr>
              <a:t>，系统是吸热还是放热？热量传递的数值为多少？</a:t>
            </a:r>
            <a:endParaRPr lang="zh-CN" altLang="en-US" b="1">
              <a:latin typeface="宋体" panose="02010600030101010101" pitchFamily="2" charset="-122"/>
            </a:endParaRPr>
          </a:p>
        </p:txBody>
      </p:sp>
      <p:sp>
        <p:nvSpPr>
          <p:cNvPr id="92165" name="Text Box 27"/>
          <p:cNvSpPr txBox="1">
            <a:spLocks noChangeArrowheads="1"/>
          </p:cNvSpPr>
          <p:nvPr/>
        </p:nvSpPr>
        <p:spPr bwMode="auto">
          <a:xfrm>
            <a:off x="611188" y="3789363"/>
            <a:ext cx="5832475" cy="830262"/>
          </a:xfrm>
          <a:prstGeom prst="rect">
            <a:avLst/>
          </a:prstGeom>
          <a:noFill/>
          <a:ln w="19050">
            <a:noFill/>
            <a:miter lim="800000"/>
          </a:ln>
        </p:spPr>
        <p:txBody>
          <a:bodyPr>
            <a:spAutoFit/>
          </a:bodyPr>
          <a:lstStyle/>
          <a:p>
            <a:pPr>
              <a:defRPr/>
            </a:pPr>
            <a:r>
              <a:rPr kumimoji="1" lang="en-US" altLang="zh-CN" b="1" dirty="0">
                <a:latin typeface="宋体" panose="02010600030101010101" pitchFamily="2" charset="-122"/>
                <a:ea typeface="宋体" panose="02010600030101010101" pitchFamily="2" charset="-122"/>
              </a:rPr>
              <a:t>(3)  </a:t>
            </a:r>
            <a:r>
              <a:rPr kumimoji="1" lang="zh-CN" altLang="en-US" b="1" dirty="0">
                <a:latin typeface="宋体" panose="02010600030101010101" pitchFamily="2" charset="-122"/>
                <a:ea typeface="宋体" panose="02010600030101010101" pitchFamily="2" charset="-122"/>
              </a:rPr>
              <a:t>若</a:t>
            </a:r>
            <a:r>
              <a:rPr kumimoji="1" lang="zh-CN" altLang="en-US" b="1" dirty="0">
                <a:solidFill>
                  <a:srgbClr val="FF6600"/>
                </a:solidFill>
                <a:ea typeface="宋体" panose="02010600030101010101" pitchFamily="2" charset="-122"/>
              </a:rPr>
              <a:t>△</a:t>
            </a:r>
            <a:r>
              <a:rPr kumimoji="1" lang="en-US" altLang="zh-CN" b="1" i="1" dirty="0" err="1">
                <a:solidFill>
                  <a:srgbClr val="FF6600"/>
                </a:solidFill>
                <a:ea typeface="宋体" panose="02010600030101010101" pitchFamily="2" charset="-122"/>
              </a:rPr>
              <a:t>E</a:t>
            </a:r>
            <a:r>
              <a:rPr kumimoji="1" lang="en-US" altLang="zh-CN" b="1" i="1" baseline="-25000" dirty="0" err="1">
                <a:solidFill>
                  <a:srgbClr val="FF6600"/>
                </a:solidFill>
                <a:ea typeface="宋体" panose="02010600030101010101" pitchFamily="2" charset="-122"/>
              </a:rPr>
              <a:t>ad</a:t>
            </a:r>
            <a:r>
              <a:rPr kumimoji="1" lang="en-US" altLang="zh-CN" b="1" i="1" baseline="-25000" dirty="0">
                <a:solidFill>
                  <a:srgbClr val="FF6600"/>
                </a:solidFill>
                <a:ea typeface="宋体" panose="02010600030101010101" pitchFamily="2" charset="-122"/>
              </a:rPr>
              <a:t> </a:t>
            </a:r>
            <a:r>
              <a:rPr kumimoji="1" lang="en-US" altLang="zh-CN" b="1" dirty="0">
                <a:solidFill>
                  <a:srgbClr val="FF6600"/>
                </a:solidFill>
                <a:ea typeface="宋体" panose="02010600030101010101" pitchFamily="2" charset="-122"/>
              </a:rPr>
              <a:t>=</a:t>
            </a:r>
            <a:r>
              <a:rPr kumimoji="1" lang="en-US" altLang="zh-CN" b="1" i="1" dirty="0">
                <a:solidFill>
                  <a:srgbClr val="FF6600"/>
                </a:solidFill>
                <a:ea typeface="宋体" panose="02010600030101010101" pitchFamily="2" charset="-122"/>
              </a:rPr>
              <a:t>E</a:t>
            </a:r>
            <a:r>
              <a:rPr kumimoji="1" lang="en-US" altLang="zh-CN" b="1" i="1" baseline="-25000" dirty="0">
                <a:solidFill>
                  <a:srgbClr val="FF6600"/>
                </a:solidFill>
                <a:ea typeface="宋体" panose="02010600030101010101" pitchFamily="2" charset="-122"/>
              </a:rPr>
              <a:t>d</a:t>
            </a:r>
            <a:r>
              <a:rPr kumimoji="1" lang="en-US" altLang="zh-CN" b="1" i="1" dirty="0">
                <a:solidFill>
                  <a:srgbClr val="FF6600"/>
                </a:solidFill>
                <a:latin typeface="+mn-ea"/>
                <a:ea typeface="+mn-ea"/>
              </a:rPr>
              <a:t>- </a:t>
            </a:r>
            <a:r>
              <a:rPr kumimoji="1" lang="en-US" altLang="zh-CN" b="1" i="1" dirty="0">
                <a:solidFill>
                  <a:srgbClr val="FF6600"/>
                </a:solidFill>
                <a:ea typeface="宋体" panose="02010600030101010101" pitchFamily="2" charset="-122"/>
              </a:rPr>
              <a:t>E</a:t>
            </a:r>
            <a:r>
              <a:rPr kumimoji="1" lang="en-US" altLang="zh-CN" b="1" i="1" baseline="-25000" dirty="0">
                <a:solidFill>
                  <a:srgbClr val="FF6600"/>
                </a:solidFill>
                <a:ea typeface="宋体" panose="02010600030101010101" pitchFamily="2" charset="-122"/>
              </a:rPr>
              <a:t>a</a:t>
            </a:r>
            <a:r>
              <a:rPr kumimoji="1" lang="en-US" altLang="zh-CN" b="1" i="1" dirty="0">
                <a:solidFill>
                  <a:srgbClr val="FF6600"/>
                </a:solidFill>
                <a:ea typeface="宋体" panose="02010600030101010101" pitchFamily="2" charset="-122"/>
              </a:rPr>
              <a:t>=</a:t>
            </a:r>
            <a:r>
              <a:rPr kumimoji="1" lang="en-US" altLang="zh-CN" b="1" dirty="0">
                <a:solidFill>
                  <a:srgbClr val="FF6600"/>
                </a:solidFill>
                <a:ea typeface="宋体" panose="02010600030101010101" pitchFamily="2" charset="-122"/>
              </a:rPr>
              <a:t>167J</a:t>
            </a:r>
            <a:r>
              <a:rPr kumimoji="1" lang="zh-CN" altLang="en-US" b="1" dirty="0">
                <a:latin typeface="宋体" panose="02010600030101010101" pitchFamily="2" charset="-122"/>
                <a:ea typeface="宋体" panose="02010600030101010101" pitchFamily="2" charset="-122"/>
              </a:rPr>
              <a:t>，</a:t>
            </a:r>
            <a:r>
              <a:rPr kumimoji="1" lang="en-US" altLang="zh-CN" b="1" i="1" dirty="0">
                <a:solidFill>
                  <a:srgbClr val="FF6600"/>
                </a:solidFill>
                <a:ea typeface="宋体" panose="02010600030101010101" pitchFamily="2" charset="-122"/>
              </a:rPr>
              <a:t>ad</a:t>
            </a:r>
            <a:r>
              <a:rPr kumimoji="1" lang="en-US" altLang="zh-CN" b="1" dirty="0">
                <a:solidFill>
                  <a:srgbClr val="FF6600"/>
                </a:solidFill>
                <a:ea typeface="宋体" panose="02010600030101010101" pitchFamily="2" charset="-122"/>
              </a:rPr>
              <a:t> </a:t>
            </a:r>
            <a:r>
              <a:rPr kumimoji="1" lang="zh-CN" altLang="en-US" b="1" dirty="0">
                <a:latin typeface="宋体" panose="02010600030101010101" pitchFamily="2" charset="-122"/>
                <a:ea typeface="宋体" panose="02010600030101010101" pitchFamily="2" charset="-122"/>
              </a:rPr>
              <a:t>及</a:t>
            </a:r>
            <a:r>
              <a:rPr kumimoji="1" lang="en-US" altLang="zh-CN" b="1" i="1" dirty="0">
                <a:solidFill>
                  <a:srgbClr val="FF6600"/>
                </a:solidFill>
                <a:ea typeface="宋体" panose="02010600030101010101" pitchFamily="2" charset="-122"/>
              </a:rPr>
              <a:t>db</a:t>
            </a:r>
            <a:r>
              <a:rPr kumimoji="1" lang="en-US" altLang="zh-CN" b="1" dirty="0">
                <a:solidFill>
                  <a:srgbClr val="FF6600"/>
                </a:solidFill>
                <a:latin typeface="宋体" panose="02010600030101010101" pitchFamily="2" charset="-122"/>
                <a:ea typeface="宋体" panose="02010600030101010101" pitchFamily="2" charset="-122"/>
              </a:rPr>
              <a:t> </a:t>
            </a:r>
            <a:r>
              <a:rPr kumimoji="1" lang="zh-CN" altLang="en-US" b="1" dirty="0">
                <a:latin typeface="宋体" panose="02010600030101010101" pitchFamily="2" charset="-122"/>
                <a:ea typeface="宋体" panose="02010600030101010101" pitchFamily="2" charset="-122"/>
              </a:rPr>
              <a:t>过程是吸热还是放热？各为多少</a:t>
            </a:r>
            <a:r>
              <a:rPr kumimoji="1" lang="en-US" altLang="zh-CN" b="1" dirty="0">
                <a:latin typeface="宋体" panose="02010600030101010101" pitchFamily="2" charset="-122"/>
                <a:ea typeface="宋体" panose="02010600030101010101" pitchFamily="2" charset="-122"/>
              </a:rPr>
              <a:t>?  </a:t>
            </a:r>
            <a:endParaRPr lang="en-US" altLang="zh-CN"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Text Box 4"/>
          <p:cNvSpPr txBox="1">
            <a:spLocks noChangeArrowheads="1"/>
          </p:cNvSpPr>
          <p:nvPr/>
        </p:nvSpPr>
        <p:spPr bwMode="auto">
          <a:xfrm>
            <a:off x="0" y="1114425"/>
            <a:ext cx="611188" cy="457200"/>
          </a:xfrm>
          <a:prstGeom prst="rect">
            <a:avLst/>
          </a:prstGeom>
          <a:noFill/>
          <a:ln w="9525">
            <a:noFill/>
            <a:miter lim="800000"/>
          </a:ln>
        </p:spPr>
        <p:txBody>
          <a:bodyPr>
            <a:spAutoFit/>
          </a:bodyPr>
          <a:lstStyle/>
          <a:p>
            <a:pPr>
              <a:spcBef>
                <a:spcPct val="50000"/>
              </a:spcBef>
            </a:pPr>
            <a:r>
              <a:rPr lang="zh-CN" altLang="en-US" b="1">
                <a:solidFill>
                  <a:srgbClr val="FF0000"/>
                </a:solidFill>
                <a:latin typeface="Arial" panose="020B0604020202020204" pitchFamily="34" charset="0"/>
              </a:rPr>
              <a:t>解</a:t>
            </a:r>
            <a:endParaRPr lang="zh-CN" altLang="en-US" b="1">
              <a:solidFill>
                <a:srgbClr val="FF0000"/>
              </a:solidFill>
              <a:latin typeface="Arial" panose="020B0604020202020204" pitchFamily="34" charset="0"/>
            </a:endParaRPr>
          </a:p>
        </p:txBody>
      </p:sp>
      <p:sp>
        <p:nvSpPr>
          <p:cNvPr id="56325" name="Text Box 5"/>
          <p:cNvSpPr txBox="1">
            <a:spLocks noChangeArrowheads="1"/>
          </p:cNvSpPr>
          <p:nvPr/>
        </p:nvSpPr>
        <p:spPr bwMode="auto">
          <a:xfrm>
            <a:off x="428625" y="1000125"/>
            <a:ext cx="6192838" cy="1130300"/>
          </a:xfrm>
          <a:prstGeom prst="rect">
            <a:avLst/>
          </a:prstGeom>
          <a:noFill/>
          <a:ln w="9525">
            <a:noFill/>
            <a:miter lim="800000"/>
          </a:ln>
        </p:spPr>
        <p:txBody>
          <a:bodyPr>
            <a:spAutoFit/>
          </a:bodyPr>
          <a:lstStyle/>
          <a:p>
            <a:pPr>
              <a:lnSpc>
                <a:spcPct val="150000"/>
              </a:lnSpc>
            </a:pPr>
            <a:r>
              <a:rPr kumimoji="1" lang="en-US" altLang="zh-CN" b="1"/>
              <a:t>(1) </a:t>
            </a:r>
            <a:r>
              <a:rPr kumimoji="1" lang="zh-CN" altLang="en-US" b="1">
                <a:solidFill>
                  <a:srgbClr val="0000FF"/>
                </a:solidFill>
              </a:rPr>
              <a:t>内能是状态量</a:t>
            </a:r>
            <a:r>
              <a:rPr kumimoji="1" lang="zh-CN" altLang="en-US" b="1"/>
              <a:t>，</a:t>
            </a:r>
            <a:r>
              <a:rPr kumimoji="1" lang="zh-CN" altLang="en-US" b="1">
                <a:latin typeface="楷体_GB2312" pitchFamily="49" charset="-122"/>
              </a:rPr>
              <a:t>系统由</a:t>
            </a:r>
            <a:r>
              <a:rPr kumimoji="1" lang="en-US" altLang="zh-CN" b="1" i="1">
                <a:solidFill>
                  <a:srgbClr val="FF6600"/>
                </a:solidFill>
              </a:rPr>
              <a:t>a</a:t>
            </a:r>
            <a:r>
              <a:rPr kumimoji="1" lang="zh-CN" altLang="en-US" b="1">
                <a:latin typeface="楷体_GB2312" pitchFamily="49" charset="-122"/>
              </a:rPr>
              <a:t>态到达</a:t>
            </a:r>
            <a:r>
              <a:rPr kumimoji="1" lang="en-US" altLang="zh-CN" b="1" i="1">
                <a:solidFill>
                  <a:srgbClr val="FF6600"/>
                </a:solidFill>
              </a:rPr>
              <a:t>b</a:t>
            </a:r>
            <a:r>
              <a:rPr kumimoji="1" lang="zh-CN" altLang="en-US" b="1">
                <a:latin typeface="楷体_GB2312" pitchFamily="49" charset="-122"/>
              </a:rPr>
              <a:t>态，不管是沿</a:t>
            </a:r>
            <a:r>
              <a:rPr kumimoji="1" lang="en-US" altLang="zh-CN" b="1" i="1">
                <a:solidFill>
                  <a:srgbClr val="FF6600"/>
                </a:solidFill>
              </a:rPr>
              <a:t>acb</a:t>
            </a:r>
            <a:r>
              <a:rPr kumimoji="1" lang="zh-CN" altLang="en-US" b="1">
                <a:latin typeface="楷体_GB2312" pitchFamily="49" charset="-122"/>
              </a:rPr>
              <a:t>还是沿</a:t>
            </a:r>
            <a:r>
              <a:rPr kumimoji="1" lang="en-US" altLang="zh-CN" b="1" i="1">
                <a:solidFill>
                  <a:srgbClr val="FF6600"/>
                </a:solidFill>
              </a:rPr>
              <a:t>adb</a:t>
            </a:r>
            <a:r>
              <a:rPr kumimoji="1" lang="en-US" altLang="zh-CN" b="1">
                <a:solidFill>
                  <a:srgbClr val="FF6600"/>
                </a:solidFill>
                <a:latin typeface="楷体_GB2312" pitchFamily="49" charset="-122"/>
              </a:rPr>
              <a:t> </a:t>
            </a:r>
            <a:r>
              <a:rPr kumimoji="1" lang="zh-CN" altLang="en-US" b="1">
                <a:latin typeface="楷体_GB2312" pitchFamily="49" charset="-122"/>
              </a:rPr>
              <a:t>，</a:t>
            </a:r>
            <a:r>
              <a:rPr kumimoji="1" lang="zh-CN" altLang="en-US" b="1">
                <a:solidFill>
                  <a:srgbClr val="FF6600"/>
                </a:solidFill>
                <a:latin typeface="楷体_GB2312" pitchFamily="49" charset="-122"/>
              </a:rPr>
              <a:t>其内能的增量都一样</a:t>
            </a:r>
            <a:r>
              <a:rPr kumimoji="1" lang="zh-CN" altLang="en-US" b="1">
                <a:latin typeface="楷体_GB2312" pitchFamily="49" charset="-122"/>
              </a:rPr>
              <a:t>。</a:t>
            </a:r>
            <a:endParaRPr kumimoji="1" lang="zh-CN" altLang="en-US" b="1" i="1">
              <a:latin typeface="楷体_GB2312" pitchFamily="49" charset="-122"/>
            </a:endParaRPr>
          </a:p>
        </p:txBody>
      </p:sp>
      <p:graphicFrame>
        <p:nvGraphicFramePr>
          <p:cNvPr id="56326" name="Object 6"/>
          <p:cNvGraphicFramePr>
            <a:graphicFrameLocks noChangeAspect="1"/>
          </p:cNvGraphicFramePr>
          <p:nvPr/>
        </p:nvGraphicFramePr>
        <p:xfrm>
          <a:off x="3714750" y="3071813"/>
          <a:ext cx="2114550" cy="457200"/>
        </p:xfrm>
        <a:graphic>
          <a:graphicData uri="http://schemas.openxmlformats.org/presentationml/2006/ole">
            <mc:AlternateContent xmlns:mc="http://schemas.openxmlformats.org/markup-compatibility/2006">
              <mc:Choice xmlns:v="urn:schemas-microsoft-com:vml" Requires="v">
                <p:oleObj spid="_x0000_s27649" name="Equation" r:id="rId1" imgW="26517600" imgH="5486400" progId="Equation.DSMT4">
                  <p:embed/>
                </p:oleObj>
              </mc:Choice>
              <mc:Fallback>
                <p:oleObj name="Equation" r:id="rId1" imgW="26517600" imgH="5486400" progId="Equation.DSMT4">
                  <p:embed/>
                  <p:pic>
                    <p:nvPicPr>
                      <p:cNvPr id="0" name="Object 6"/>
                      <p:cNvPicPr>
                        <a:picLocks noChangeAspect="1"/>
                      </p:cNvPicPr>
                      <p:nvPr/>
                    </p:nvPicPr>
                    <p:blipFill>
                      <a:blip r:embed="rId2"/>
                      <a:stretch>
                        <a:fillRect/>
                      </a:stretch>
                    </p:blipFill>
                    <p:spPr>
                      <a:xfrm>
                        <a:off x="3714750" y="3071813"/>
                        <a:ext cx="2114550" cy="457200"/>
                      </a:xfrm>
                      <a:prstGeom prst="rect">
                        <a:avLst/>
                      </a:prstGeom>
                      <a:noFill/>
                      <a:ln w="9525">
                        <a:noFill/>
                      </a:ln>
                    </p:spPr>
                  </p:pic>
                </p:oleObj>
              </mc:Fallback>
            </mc:AlternateContent>
          </a:graphicData>
        </a:graphic>
      </p:graphicFrame>
      <p:sp>
        <p:nvSpPr>
          <p:cNvPr id="56327" name="Text Box 7"/>
          <p:cNvSpPr txBox="1">
            <a:spLocks noChangeArrowheads="1"/>
          </p:cNvSpPr>
          <p:nvPr/>
        </p:nvSpPr>
        <p:spPr bwMode="auto">
          <a:xfrm>
            <a:off x="357188" y="2428875"/>
            <a:ext cx="6264275"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在</a:t>
            </a:r>
            <a:r>
              <a:rPr lang="en-US" altLang="zh-CN" b="1" i="1"/>
              <a:t>a</a:t>
            </a:r>
            <a:r>
              <a:rPr lang="en-US" altLang="zh-CN" b="1"/>
              <a:t>→</a:t>
            </a:r>
            <a:r>
              <a:rPr lang="en-US" altLang="zh-CN" b="1" i="1"/>
              <a:t>c</a:t>
            </a:r>
            <a:r>
              <a:rPr lang="en-US" altLang="zh-CN" b="1"/>
              <a:t>→</a:t>
            </a:r>
            <a:r>
              <a:rPr lang="en-US" altLang="zh-CN" b="1" i="1"/>
              <a:t>b </a:t>
            </a:r>
            <a:r>
              <a:rPr lang="zh-CN" altLang="en-US" b="1"/>
              <a:t>的过程中，由</a:t>
            </a:r>
            <a:r>
              <a:rPr lang="zh-CN" altLang="en-US" b="1">
                <a:solidFill>
                  <a:srgbClr val="FF6600"/>
                </a:solidFill>
              </a:rPr>
              <a:t>热力学第一定律</a:t>
            </a:r>
            <a:r>
              <a:rPr lang="zh-CN" altLang="en-US" b="1"/>
              <a:t>得：</a:t>
            </a:r>
            <a:endParaRPr lang="zh-CN" altLang="en-US" b="1"/>
          </a:p>
        </p:txBody>
      </p:sp>
      <p:graphicFrame>
        <p:nvGraphicFramePr>
          <p:cNvPr id="56328" name="Object 8"/>
          <p:cNvGraphicFramePr>
            <a:graphicFrameLocks noChangeAspect="1"/>
          </p:cNvGraphicFramePr>
          <p:nvPr/>
        </p:nvGraphicFramePr>
        <p:xfrm>
          <a:off x="500063" y="3071813"/>
          <a:ext cx="2235200" cy="457200"/>
        </p:xfrm>
        <a:graphic>
          <a:graphicData uri="http://schemas.openxmlformats.org/presentationml/2006/ole">
            <mc:AlternateContent xmlns:mc="http://schemas.openxmlformats.org/markup-compatibility/2006">
              <mc:Choice xmlns:v="urn:schemas-microsoft-com:vml" Requires="v">
                <p:oleObj spid="_x0000_s27651" name="Equation" r:id="rId3" imgW="26822400" imgH="5486400" progId="Equation.DSMT4">
                  <p:embed/>
                </p:oleObj>
              </mc:Choice>
              <mc:Fallback>
                <p:oleObj name="Equation" r:id="rId3" imgW="26822400" imgH="5486400" progId="Equation.DSMT4">
                  <p:embed/>
                  <p:pic>
                    <p:nvPicPr>
                      <p:cNvPr id="0" name="Object 8"/>
                      <p:cNvPicPr>
                        <a:picLocks noChangeAspect="1"/>
                      </p:cNvPicPr>
                      <p:nvPr/>
                    </p:nvPicPr>
                    <p:blipFill>
                      <a:blip r:embed="rId4"/>
                      <a:stretch>
                        <a:fillRect/>
                      </a:stretch>
                    </p:blipFill>
                    <p:spPr>
                      <a:xfrm>
                        <a:off x="500063" y="3071813"/>
                        <a:ext cx="2235200" cy="457200"/>
                      </a:xfrm>
                      <a:prstGeom prst="rect">
                        <a:avLst/>
                      </a:prstGeom>
                      <a:noFill/>
                      <a:ln w="9525">
                        <a:noFill/>
                      </a:ln>
                    </p:spPr>
                  </p:pic>
                </p:oleObj>
              </mc:Fallback>
            </mc:AlternateContent>
          </a:graphicData>
        </a:graphic>
      </p:graphicFrame>
      <p:sp>
        <p:nvSpPr>
          <p:cNvPr id="56329" name="Text Box 9"/>
          <p:cNvSpPr txBox="1">
            <a:spLocks noChangeArrowheads="1"/>
          </p:cNvSpPr>
          <p:nvPr/>
        </p:nvSpPr>
        <p:spPr bwMode="auto">
          <a:xfrm>
            <a:off x="2886075" y="3071813"/>
            <a:ext cx="917575"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则：</a:t>
            </a:r>
            <a:endParaRPr lang="zh-CN" altLang="en-US" b="1">
              <a:latin typeface="Arial" panose="020B0604020202020204" pitchFamily="34" charset="0"/>
            </a:endParaRPr>
          </a:p>
        </p:txBody>
      </p:sp>
      <p:graphicFrame>
        <p:nvGraphicFramePr>
          <p:cNvPr id="56330" name="Object 10"/>
          <p:cNvGraphicFramePr>
            <a:graphicFrameLocks noChangeAspect="1"/>
          </p:cNvGraphicFramePr>
          <p:nvPr/>
        </p:nvGraphicFramePr>
        <p:xfrm>
          <a:off x="5857875" y="3071813"/>
          <a:ext cx="1525588" cy="355600"/>
        </p:xfrm>
        <a:graphic>
          <a:graphicData uri="http://schemas.openxmlformats.org/presentationml/2006/ole">
            <mc:AlternateContent xmlns:mc="http://schemas.openxmlformats.org/markup-compatibility/2006">
              <mc:Choice xmlns:v="urn:schemas-microsoft-com:vml" Requires="v">
                <p:oleObj spid="_x0000_s27652" name="公式" r:id="rId5" imgW="18288000" imgH="4267200" progId="Equation.3">
                  <p:embed/>
                </p:oleObj>
              </mc:Choice>
              <mc:Fallback>
                <p:oleObj name="公式" r:id="rId5" imgW="18288000" imgH="4267200" progId="Equation.3">
                  <p:embed/>
                  <p:pic>
                    <p:nvPicPr>
                      <p:cNvPr id="0" name="Object 10"/>
                      <p:cNvPicPr>
                        <a:picLocks noChangeAspect="1"/>
                      </p:cNvPicPr>
                      <p:nvPr/>
                    </p:nvPicPr>
                    <p:blipFill>
                      <a:blip r:embed="rId6"/>
                      <a:stretch>
                        <a:fillRect/>
                      </a:stretch>
                    </p:blipFill>
                    <p:spPr>
                      <a:xfrm>
                        <a:off x="5857875" y="3071813"/>
                        <a:ext cx="1525588" cy="355600"/>
                      </a:xfrm>
                      <a:prstGeom prst="rect">
                        <a:avLst/>
                      </a:prstGeom>
                      <a:noFill/>
                      <a:ln w="9525">
                        <a:noFill/>
                      </a:ln>
                    </p:spPr>
                  </p:pic>
                </p:oleObj>
              </mc:Fallback>
            </mc:AlternateContent>
          </a:graphicData>
        </a:graphic>
      </p:graphicFrame>
      <p:graphicFrame>
        <p:nvGraphicFramePr>
          <p:cNvPr id="56331" name="Object 11"/>
          <p:cNvGraphicFramePr>
            <a:graphicFrameLocks noChangeAspect="1"/>
          </p:cNvGraphicFramePr>
          <p:nvPr/>
        </p:nvGraphicFramePr>
        <p:xfrm>
          <a:off x="7500938" y="3071813"/>
          <a:ext cx="1090612" cy="355600"/>
        </p:xfrm>
        <a:graphic>
          <a:graphicData uri="http://schemas.openxmlformats.org/presentationml/2006/ole">
            <mc:AlternateContent xmlns:mc="http://schemas.openxmlformats.org/markup-compatibility/2006">
              <mc:Choice xmlns:v="urn:schemas-microsoft-com:vml" Requires="v">
                <p:oleObj spid="_x0000_s27653" name="公式" r:id="rId7" imgW="13106400" imgH="4267200" progId="Equation.3">
                  <p:embed/>
                </p:oleObj>
              </mc:Choice>
              <mc:Fallback>
                <p:oleObj name="公式" r:id="rId7" imgW="13106400" imgH="4267200" progId="Equation.3">
                  <p:embed/>
                  <p:pic>
                    <p:nvPicPr>
                      <p:cNvPr id="0" name="Object 11"/>
                      <p:cNvPicPr>
                        <a:picLocks noChangeAspect="1"/>
                      </p:cNvPicPr>
                      <p:nvPr/>
                    </p:nvPicPr>
                    <p:blipFill>
                      <a:blip r:embed="rId8"/>
                      <a:stretch>
                        <a:fillRect/>
                      </a:stretch>
                    </p:blipFill>
                    <p:spPr>
                      <a:xfrm>
                        <a:off x="7500938" y="3071813"/>
                        <a:ext cx="1090612" cy="355600"/>
                      </a:xfrm>
                      <a:prstGeom prst="rect">
                        <a:avLst/>
                      </a:prstGeom>
                      <a:noFill/>
                      <a:ln w="9525">
                        <a:noFill/>
                      </a:ln>
                    </p:spPr>
                  </p:pic>
                </p:oleObj>
              </mc:Fallback>
            </mc:AlternateContent>
          </a:graphicData>
        </a:graphic>
      </p:graphicFrame>
      <p:graphicFrame>
        <p:nvGraphicFramePr>
          <p:cNvPr id="56332" name="Object 12"/>
          <p:cNvGraphicFramePr>
            <a:graphicFrameLocks noChangeAspect="1"/>
          </p:cNvGraphicFramePr>
          <p:nvPr/>
        </p:nvGraphicFramePr>
        <p:xfrm>
          <a:off x="735013" y="4484688"/>
          <a:ext cx="1914525" cy="457200"/>
        </p:xfrm>
        <a:graphic>
          <a:graphicData uri="http://schemas.openxmlformats.org/presentationml/2006/ole">
            <mc:AlternateContent xmlns:mc="http://schemas.openxmlformats.org/markup-compatibility/2006">
              <mc:Choice xmlns:v="urn:schemas-microsoft-com:vml" Requires="v">
                <p:oleObj spid="_x0000_s27654" name="Equation" r:id="rId9" imgW="26822400" imgH="5486400" progId="Equation.DSMT4">
                  <p:embed/>
                </p:oleObj>
              </mc:Choice>
              <mc:Fallback>
                <p:oleObj name="Equation" r:id="rId9" imgW="26822400" imgH="5486400" progId="Equation.DSMT4">
                  <p:embed/>
                  <p:pic>
                    <p:nvPicPr>
                      <p:cNvPr id="0" name="Object 12"/>
                      <p:cNvPicPr>
                        <a:picLocks noChangeAspect="1"/>
                      </p:cNvPicPr>
                      <p:nvPr/>
                    </p:nvPicPr>
                    <p:blipFill>
                      <a:blip r:embed="rId10"/>
                      <a:stretch>
                        <a:fillRect/>
                      </a:stretch>
                    </p:blipFill>
                    <p:spPr>
                      <a:xfrm>
                        <a:off x="735013" y="4484688"/>
                        <a:ext cx="1914525" cy="457200"/>
                      </a:xfrm>
                      <a:prstGeom prst="rect">
                        <a:avLst/>
                      </a:prstGeom>
                      <a:noFill/>
                      <a:ln w="9525">
                        <a:noFill/>
                      </a:ln>
                    </p:spPr>
                  </p:pic>
                </p:oleObj>
              </mc:Fallback>
            </mc:AlternateContent>
          </a:graphicData>
        </a:graphic>
      </p:graphicFrame>
      <p:sp>
        <p:nvSpPr>
          <p:cNvPr id="56333" name="Text Box 13"/>
          <p:cNvSpPr txBox="1">
            <a:spLocks noChangeArrowheads="1"/>
          </p:cNvSpPr>
          <p:nvPr/>
        </p:nvSpPr>
        <p:spPr bwMode="auto">
          <a:xfrm>
            <a:off x="285750" y="3857625"/>
            <a:ext cx="6480175"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在</a:t>
            </a:r>
            <a:r>
              <a:rPr lang="en-US" altLang="zh-CN" b="1" i="1"/>
              <a:t>a</a:t>
            </a:r>
            <a:r>
              <a:rPr lang="en-US" altLang="zh-CN" b="1"/>
              <a:t>→</a:t>
            </a:r>
            <a:r>
              <a:rPr lang="en-US" altLang="zh-CN" b="1" i="1"/>
              <a:t>d</a:t>
            </a:r>
            <a:r>
              <a:rPr lang="en-US" altLang="zh-CN" b="1"/>
              <a:t>→</a:t>
            </a:r>
            <a:r>
              <a:rPr lang="en-US" altLang="zh-CN" b="1" i="1"/>
              <a:t>b </a:t>
            </a:r>
            <a:r>
              <a:rPr lang="zh-CN" altLang="en-US" b="1"/>
              <a:t>的过程中，由</a:t>
            </a:r>
            <a:r>
              <a:rPr lang="zh-CN" altLang="en-US" b="1">
                <a:solidFill>
                  <a:srgbClr val="FF6600"/>
                </a:solidFill>
              </a:rPr>
              <a:t>热力学第一定律</a:t>
            </a:r>
            <a:r>
              <a:rPr lang="zh-CN" altLang="en-US" b="1"/>
              <a:t>得：</a:t>
            </a:r>
            <a:endParaRPr lang="zh-CN" altLang="en-US" b="1"/>
          </a:p>
        </p:txBody>
      </p:sp>
      <p:graphicFrame>
        <p:nvGraphicFramePr>
          <p:cNvPr id="56334" name="Object 14"/>
          <p:cNvGraphicFramePr>
            <a:graphicFrameLocks noChangeAspect="1"/>
          </p:cNvGraphicFramePr>
          <p:nvPr/>
        </p:nvGraphicFramePr>
        <p:xfrm>
          <a:off x="2676525" y="4492625"/>
          <a:ext cx="1408113" cy="400050"/>
        </p:xfrm>
        <a:graphic>
          <a:graphicData uri="http://schemas.openxmlformats.org/presentationml/2006/ole">
            <mc:AlternateContent xmlns:mc="http://schemas.openxmlformats.org/markup-compatibility/2006">
              <mc:Choice xmlns:v="urn:schemas-microsoft-com:vml" Requires="v">
                <p:oleObj spid="_x0000_s27655" name="公式" r:id="rId11" imgW="16459200" imgH="4267200" progId="Equation.3">
                  <p:embed/>
                </p:oleObj>
              </mc:Choice>
              <mc:Fallback>
                <p:oleObj name="公式" r:id="rId11" imgW="16459200" imgH="4267200" progId="Equation.3">
                  <p:embed/>
                  <p:pic>
                    <p:nvPicPr>
                      <p:cNvPr id="0" name="Object 14"/>
                      <p:cNvPicPr>
                        <a:picLocks noChangeAspect="1"/>
                      </p:cNvPicPr>
                      <p:nvPr/>
                    </p:nvPicPr>
                    <p:blipFill>
                      <a:blip r:embed="rId12"/>
                      <a:stretch>
                        <a:fillRect/>
                      </a:stretch>
                    </p:blipFill>
                    <p:spPr>
                      <a:xfrm>
                        <a:off x="2676525" y="4492625"/>
                        <a:ext cx="1408113" cy="400050"/>
                      </a:xfrm>
                      <a:prstGeom prst="rect">
                        <a:avLst/>
                      </a:prstGeom>
                      <a:noFill/>
                      <a:ln w="9525">
                        <a:noFill/>
                      </a:ln>
                    </p:spPr>
                  </p:pic>
                </p:oleObj>
              </mc:Fallback>
            </mc:AlternateContent>
          </a:graphicData>
        </a:graphic>
      </p:graphicFrame>
      <p:graphicFrame>
        <p:nvGraphicFramePr>
          <p:cNvPr id="56335" name="Object 15"/>
          <p:cNvGraphicFramePr>
            <a:graphicFrameLocks noChangeAspect="1"/>
          </p:cNvGraphicFramePr>
          <p:nvPr/>
        </p:nvGraphicFramePr>
        <p:xfrm>
          <a:off x="4084638" y="4492625"/>
          <a:ext cx="974725" cy="411163"/>
        </p:xfrm>
        <a:graphic>
          <a:graphicData uri="http://schemas.openxmlformats.org/presentationml/2006/ole">
            <mc:AlternateContent xmlns:mc="http://schemas.openxmlformats.org/markup-compatibility/2006">
              <mc:Choice xmlns:v="urn:schemas-microsoft-com:vml" Requires="v">
                <p:oleObj spid="_x0000_s27656" name="公式" r:id="rId13" imgW="13106400" imgH="4267200" progId="Equation.3">
                  <p:embed/>
                </p:oleObj>
              </mc:Choice>
              <mc:Fallback>
                <p:oleObj name="公式" r:id="rId13" imgW="13106400" imgH="4267200" progId="Equation.3">
                  <p:embed/>
                  <p:pic>
                    <p:nvPicPr>
                      <p:cNvPr id="0" name="Object 15"/>
                      <p:cNvPicPr>
                        <a:picLocks noChangeAspect="1"/>
                      </p:cNvPicPr>
                      <p:nvPr/>
                    </p:nvPicPr>
                    <p:blipFill>
                      <a:blip r:embed="rId14"/>
                      <a:stretch>
                        <a:fillRect/>
                      </a:stretch>
                    </p:blipFill>
                    <p:spPr>
                      <a:xfrm>
                        <a:off x="4084638" y="4492625"/>
                        <a:ext cx="974725" cy="411163"/>
                      </a:xfrm>
                      <a:prstGeom prst="rect">
                        <a:avLst/>
                      </a:prstGeom>
                      <a:noFill/>
                      <a:ln w="9525">
                        <a:noFill/>
                      </a:ln>
                    </p:spPr>
                  </p:pic>
                </p:oleObj>
              </mc:Fallback>
            </mc:AlternateContent>
          </a:graphicData>
        </a:graphic>
      </p:graphicFrame>
      <p:sp>
        <p:nvSpPr>
          <p:cNvPr id="56336" name="Text Box 16"/>
          <p:cNvSpPr txBox="1">
            <a:spLocks noChangeArrowheads="1"/>
          </p:cNvSpPr>
          <p:nvPr/>
        </p:nvSpPr>
        <p:spPr bwMode="auto">
          <a:xfrm>
            <a:off x="5053013" y="4437063"/>
            <a:ext cx="2376487"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该过程系统</a:t>
            </a:r>
            <a:r>
              <a:rPr lang="zh-CN" altLang="en-US" b="1">
                <a:solidFill>
                  <a:srgbClr val="FF6600"/>
                </a:solidFill>
                <a:latin typeface="Arial" panose="020B0604020202020204" pitchFamily="34" charset="0"/>
              </a:rPr>
              <a:t>吸热</a:t>
            </a:r>
            <a:endParaRPr lang="zh-CN" altLang="en-US" b="1">
              <a:solidFill>
                <a:srgbClr val="FF6600"/>
              </a:solidFill>
              <a:latin typeface="Arial" panose="020B0604020202020204" pitchFamily="34" charset="0"/>
            </a:endParaRPr>
          </a:p>
        </p:txBody>
      </p:sp>
      <p:grpSp>
        <p:nvGrpSpPr>
          <p:cNvPr id="27663" name="Group 17"/>
          <p:cNvGrpSpPr/>
          <p:nvPr/>
        </p:nvGrpSpPr>
        <p:grpSpPr bwMode="auto">
          <a:xfrm>
            <a:off x="6429375" y="642938"/>
            <a:ext cx="2506663" cy="2189162"/>
            <a:chOff x="3524" y="2251"/>
            <a:chExt cx="1579" cy="1379"/>
          </a:xfrm>
        </p:grpSpPr>
        <p:sp>
          <p:nvSpPr>
            <p:cNvPr id="27664" name="Text Box 18"/>
            <p:cNvSpPr txBox="1">
              <a:spLocks noChangeAspect="1" noChangeArrowheads="1"/>
            </p:cNvSpPr>
            <p:nvPr/>
          </p:nvSpPr>
          <p:spPr bwMode="auto">
            <a:xfrm>
              <a:off x="3621" y="3275"/>
              <a:ext cx="1482" cy="355"/>
            </a:xfrm>
            <a:prstGeom prst="rect">
              <a:avLst/>
            </a:prstGeom>
            <a:noFill/>
            <a:ln w="9525">
              <a:noFill/>
              <a:miter lim="800000"/>
            </a:ln>
          </p:spPr>
          <p:txBody>
            <a:bodyPr>
              <a:spAutoFit/>
            </a:bodyPr>
            <a:lstStyle/>
            <a:p>
              <a:pPr>
                <a:lnSpc>
                  <a:spcPct val="120000"/>
                </a:lnSpc>
                <a:spcBef>
                  <a:spcPct val="50000"/>
                </a:spcBef>
                <a:buClr>
                  <a:schemeClr val="hlink"/>
                </a:buClr>
              </a:pPr>
              <a:r>
                <a:rPr lang="en-US" altLang="zh-CN" b="1" i="1">
                  <a:solidFill>
                    <a:srgbClr val="000099"/>
                  </a:solidFill>
                </a:rPr>
                <a:t>O </a:t>
              </a:r>
              <a:r>
                <a:rPr lang="en-US" altLang="zh-CN" sz="2800" b="1" i="1">
                  <a:solidFill>
                    <a:srgbClr val="000099"/>
                  </a:solidFill>
                </a:rPr>
                <a:t>                  </a:t>
              </a:r>
              <a:r>
                <a:rPr lang="en-US" altLang="zh-CN" b="1" i="1">
                  <a:solidFill>
                    <a:srgbClr val="000099"/>
                  </a:solidFill>
                </a:rPr>
                <a:t>V</a:t>
              </a:r>
              <a:endParaRPr lang="en-US" altLang="zh-CN" b="1" i="1">
                <a:solidFill>
                  <a:srgbClr val="000099"/>
                </a:solidFill>
              </a:endParaRPr>
            </a:p>
          </p:txBody>
        </p:sp>
        <p:sp>
          <p:nvSpPr>
            <p:cNvPr id="27665" name="Line 19"/>
            <p:cNvSpPr>
              <a:spLocks noChangeAspect="1" noChangeShapeType="1"/>
            </p:cNvSpPr>
            <p:nvPr/>
          </p:nvSpPr>
          <p:spPr bwMode="auto">
            <a:xfrm>
              <a:off x="3756" y="3354"/>
              <a:ext cx="1344" cy="0"/>
            </a:xfrm>
            <a:prstGeom prst="line">
              <a:avLst/>
            </a:prstGeom>
            <a:noFill/>
            <a:ln w="28575">
              <a:solidFill>
                <a:srgbClr val="FFFFFF"/>
              </a:solidFill>
              <a:round/>
              <a:tailEnd type="stealth" w="med" len="lg"/>
            </a:ln>
          </p:spPr>
          <p:txBody>
            <a:bodyPr wrap="none" anchor="ctr"/>
            <a:lstStyle/>
            <a:p>
              <a:endParaRPr lang="zh-CN" altLang="en-US"/>
            </a:p>
          </p:txBody>
        </p:sp>
        <p:sp>
          <p:nvSpPr>
            <p:cNvPr id="27666" name="Line 20"/>
            <p:cNvSpPr>
              <a:spLocks noChangeAspect="1" noChangeShapeType="1"/>
            </p:cNvSpPr>
            <p:nvPr/>
          </p:nvSpPr>
          <p:spPr bwMode="auto">
            <a:xfrm flipV="1">
              <a:off x="3756" y="2320"/>
              <a:ext cx="0" cy="1034"/>
            </a:xfrm>
            <a:prstGeom prst="line">
              <a:avLst/>
            </a:prstGeom>
            <a:noFill/>
            <a:ln w="28575">
              <a:solidFill>
                <a:srgbClr val="000099"/>
              </a:solidFill>
              <a:round/>
              <a:tailEnd type="stealth" w="med" len="lg"/>
            </a:ln>
          </p:spPr>
          <p:txBody>
            <a:bodyPr wrap="none" anchor="ctr"/>
            <a:lstStyle/>
            <a:p>
              <a:endParaRPr lang="zh-CN" altLang="en-US"/>
            </a:p>
          </p:txBody>
        </p:sp>
        <p:sp>
          <p:nvSpPr>
            <p:cNvPr id="27667" name="Rectangle 21"/>
            <p:cNvSpPr>
              <a:spLocks noChangeAspect="1" noChangeArrowheads="1"/>
            </p:cNvSpPr>
            <p:nvPr/>
          </p:nvSpPr>
          <p:spPr bwMode="auto">
            <a:xfrm>
              <a:off x="4031" y="2665"/>
              <a:ext cx="792" cy="413"/>
            </a:xfrm>
            <a:prstGeom prst="rect">
              <a:avLst/>
            </a:prstGeom>
            <a:noFill/>
            <a:ln w="9525">
              <a:solidFill>
                <a:srgbClr val="0000FF"/>
              </a:solidFill>
              <a:miter lim="800000"/>
            </a:ln>
          </p:spPr>
          <p:txBody>
            <a:bodyPr wrap="none" anchor="ctr"/>
            <a:lstStyle/>
            <a:p>
              <a:pPr algn="ctr"/>
              <a:endParaRPr lang="zh-CN" altLang="en-US" b="1"/>
            </a:p>
          </p:txBody>
        </p:sp>
        <p:sp>
          <p:nvSpPr>
            <p:cNvPr id="27668" name="Freeform 22"/>
            <p:cNvSpPr>
              <a:spLocks noChangeAspect="1"/>
            </p:cNvSpPr>
            <p:nvPr/>
          </p:nvSpPr>
          <p:spPr bwMode="auto">
            <a:xfrm>
              <a:off x="4029" y="2663"/>
              <a:ext cx="792" cy="414"/>
            </a:xfrm>
            <a:custGeom>
              <a:avLst/>
              <a:gdLst>
                <a:gd name="T0" fmla="*/ 0 w 1104"/>
                <a:gd name="T1" fmla="*/ 15 h 576"/>
                <a:gd name="T2" fmla="*/ 7 w 1104"/>
                <a:gd name="T3" fmla="*/ 12 h 576"/>
                <a:gd name="T4" fmla="*/ 17 w 1104"/>
                <a:gd name="T5" fmla="*/ 3 h 576"/>
                <a:gd name="T6" fmla="*/ 28 w 1104"/>
                <a:gd name="T7" fmla="*/ 0 h 576"/>
                <a:gd name="T8" fmla="*/ 0 60000 65536"/>
                <a:gd name="T9" fmla="*/ 0 60000 65536"/>
                <a:gd name="T10" fmla="*/ 0 60000 65536"/>
                <a:gd name="T11" fmla="*/ 0 60000 65536"/>
                <a:gd name="T12" fmla="*/ 0 w 1104"/>
                <a:gd name="T13" fmla="*/ 0 h 576"/>
                <a:gd name="T14" fmla="*/ 1104 w 1104"/>
                <a:gd name="T15" fmla="*/ 576 h 576"/>
              </a:gdLst>
              <a:ahLst/>
              <a:cxnLst>
                <a:cxn ang="T8">
                  <a:pos x="T0" y="T1"/>
                </a:cxn>
                <a:cxn ang="T9">
                  <a:pos x="T2" y="T3"/>
                </a:cxn>
                <a:cxn ang="T10">
                  <a:pos x="T4" y="T5"/>
                </a:cxn>
                <a:cxn ang="T11">
                  <a:pos x="T6" y="T7"/>
                </a:cxn>
              </a:cxnLst>
              <a:rect l="T12" t="T13" r="T14" b="T15"/>
              <a:pathLst>
                <a:path w="1104" h="576">
                  <a:moveTo>
                    <a:pt x="0" y="576"/>
                  </a:moveTo>
                  <a:cubicBezTo>
                    <a:pt x="88" y="544"/>
                    <a:pt x="176" y="512"/>
                    <a:pt x="288" y="432"/>
                  </a:cubicBezTo>
                  <a:cubicBezTo>
                    <a:pt x="400" y="352"/>
                    <a:pt x="536" y="168"/>
                    <a:pt x="672" y="96"/>
                  </a:cubicBezTo>
                  <a:cubicBezTo>
                    <a:pt x="808" y="24"/>
                    <a:pt x="1032" y="16"/>
                    <a:pt x="1104" y="0"/>
                  </a:cubicBezTo>
                </a:path>
              </a:pathLst>
            </a:custGeom>
            <a:noFill/>
            <a:ln w="9525">
              <a:solidFill>
                <a:srgbClr val="0000FF"/>
              </a:solidFill>
              <a:round/>
            </a:ln>
          </p:spPr>
          <p:txBody>
            <a:bodyPr wrap="none" anchor="ctr"/>
            <a:lstStyle/>
            <a:p>
              <a:pPr algn="ctr"/>
              <a:endParaRPr lang="zh-CN" altLang="en-US" b="1"/>
            </a:p>
          </p:txBody>
        </p:sp>
        <p:sp>
          <p:nvSpPr>
            <p:cNvPr id="27669" name="Line 23"/>
            <p:cNvSpPr>
              <a:spLocks noChangeAspect="1" noChangeShapeType="1"/>
            </p:cNvSpPr>
            <p:nvPr/>
          </p:nvSpPr>
          <p:spPr bwMode="auto">
            <a:xfrm flipV="1">
              <a:off x="4029" y="2800"/>
              <a:ext cx="0" cy="137"/>
            </a:xfrm>
            <a:prstGeom prst="line">
              <a:avLst/>
            </a:prstGeom>
            <a:noFill/>
            <a:ln w="28575">
              <a:solidFill>
                <a:srgbClr val="0000FF"/>
              </a:solidFill>
              <a:round/>
              <a:tailEnd type="stealth" w="med" len="lg"/>
            </a:ln>
          </p:spPr>
          <p:txBody>
            <a:bodyPr wrap="none" anchor="ctr"/>
            <a:lstStyle/>
            <a:p>
              <a:endParaRPr lang="zh-CN" altLang="en-US"/>
            </a:p>
          </p:txBody>
        </p:sp>
        <p:sp>
          <p:nvSpPr>
            <p:cNvPr id="27670" name="Line 24"/>
            <p:cNvSpPr>
              <a:spLocks noChangeAspect="1" noChangeShapeType="1"/>
            </p:cNvSpPr>
            <p:nvPr/>
          </p:nvSpPr>
          <p:spPr bwMode="auto">
            <a:xfrm rot="5328382" flipV="1">
              <a:off x="4410" y="3010"/>
              <a:ext cx="1" cy="138"/>
            </a:xfrm>
            <a:prstGeom prst="line">
              <a:avLst/>
            </a:prstGeom>
            <a:noFill/>
            <a:ln w="28575">
              <a:solidFill>
                <a:srgbClr val="0000FF"/>
              </a:solidFill>
              <a:round/>
              <a:tailEnd type="stealth" w="med" len="lg"/>
            </a:ln>
          </p:spPr>
          <p:txBody>
            <a:bodyPr wrap="none" anchor="ctr"/>
            <a:lstStyle/>
            <a:p>
              <a:endParaRPr lang="zh-CN" altLang="en-US"/>
            </a:p>
          </p:txBody>
        </p:sp>
        <p:sp>
          <p:nvSpPr>
            <p:cNvPr id="27671" name="Line 25"/>
            <p:cNvSpPr>
              <a:spLocks noChangeAspect="1" noChangeShapeType="1"/>
            </p:cNvSpPr>
            <p:nvPr/>
          </p:nvSpPr>
          <p:spPr bwMode="auto">
            <a:xfrm rot="5256796" flipV="1">
              <a:off x="4376" y="2596"/>
              <a:ext cx="1" cy="138"/>
            </a:xfrm>
            <a:prstGeom prst="line">
              <a:avLst/>
            </a:prstGeom>
            <a:noFill/>
            <a:ln w="28575">
              <a:solidFill>
                <a:srgbClr val="0000FF"/>
              </a:solidFill>
              <a:round/>
              <a:tailEnd type="stealth" w="med" len="lg"/>
            </a:ln>
          </p:spPr>
          <p:txBody>
            <a:bodyPr wrap="none" anchor="ctr"/>
            <a:lstStyle/>
            <a:p>
              <a:endParaRPr lang="zh-CN" altLang="en-US"/>
            </a:p>
          </p:txBody>
        </p:sp>
        <p:sp>
          <p:nvSpPr>
            <p:cNvPr id="27672" name="Line 26"/>
            <p:cNvSpPr>
              <a:spLocks noChangeAspect="1" noChangeShapeType="1"/>
            </p:cNvSpPr>
            <p:nvPr/>
          </p:nvSpPr>
          <p:spPr bwMode="auto">
            <a:xfrm flipV="1">
              <a:off x="4823" y="2768"/>
              <a:ext cx="0" cy="138"/>
            </a:xfrm>
            <a:prstGeom prst="line">
              <a:avLst/>
            </a:prstGeom>
            <a:noFill/>
            <a:ln w="28575">
              <a:solidFill>
                <a:srgbClr val="0000FF"/>
              </a:solidFill>
              <a:round/>
              <a:tailEnd type="stealth" w="med" len="lg"/>
            </a:ln>
          </p:spPr>
          <p:txBody>
            <a:bodyPr wrap="none" anchor="ctr"/>
            <a:lstStyle/>
            <a:p>
              <a:endParaRPr lang="zh-CN" altLang="en-US"/>
            </a:p>
          </p:txBody>
        </p:sp>
        <p:sp>
          <p:nvSpPr>
            <p:cNvPr id="27673" name="Line 27"/>
            <p:cNvSpPr>
              <a:spLocks noChangeAspect="1" noChangeShapeType="1"/>
            </p:cNvSpPr>
            <p:nvPr/>
          </p:nvSpPr>
          <p:spPr bwMode="auto">
            <a:xfrm rot="13680323" flipV="1">
              <a:off x="4375" y="2769"/>
              <a:ext cx="1" cy="138"/>
            </a:xfrm>
            <a:prstGeom prst="line">
              <a:avLst/>
            </a:prstGeom>
            <a:noFill/>
            <a:ln w="28575">
              <a:solidFill>
                <a:srgbClr val="0000FF"/>
              </a:solidFill>
              <a:round/>
              <a:tailEnd type="stealth" w="med" len="lg"/>
            </a:ln>
          </p:spPr>
          <p:txBody>
            <a:bodyPr wrap="none" anchor="ctr"/>
            <a:lstStyle/>
            <a:p>
              <a:endParaRPr lang="zh-CN" altLang="en-US"/>
            </a:p>
          </p:txBody>
        </p:sp>
        <p:sp>
          <p:nvSpPr>
            <p:cNvPr id="27674" name="Text Box 28"/>
            <p:cNvSpPr txBox="1">
              <a:spLocks noChangeAspect="1" noChangeArrowheads="1"/>
            </p:cNvSpPr>
            <p:nvPr/>
          </p:nvSpPr>
          <p:spPr bwMode="auto">
            <a:xfrm>
              <a:off x="3903" y="2980"/>
              <a:ext cx="1069" cy="327"/>
            </a:xfrm>
            <a:prstGeom prst="rect">
              <a:avLst/>
            </a:prstGeom>
            <a:noFill/>
            <a:ln w="9525">
              <a:noFill/>
              <a:miter lim="800000"/>
            </a:ln>
          </p:spPr>
          <p:txBody>
            <a:bodyPr>
              <a:spAutoFit/>
            </a:bodyPr>
            <a:lstStyle/>
            <a:p>
              <a:pPr>
                <a:buClr>
                  <a:schemeClr val="hlink"/>
                </a:buClr>
              </a:pPr>
              <a:r>
                <a:rPr lang="en-US" altLang="zh-CN" b="1" i="1">
                  <a:solidFill>
                    <a:srgbClr val="FF0000"/>
                  </a:solidFill>
                </a:rPr>
                <a:t>a</a:t>
              </a:r>
              <a:r>
                <a:rPr lang="en-US" altLang="zh-CN" sz="2800" b="1" i="1">
                  <a:solidFill>
                    <a:srgbClr val="FF0000"/>
                  </a:solidFill>
                </a:rPr>
                <a:t>             </a:t>
              </a:r>
              <a:r>
                <a:rPr lang="en-US" altLang="zh-CN" b="1" i="1">
                  <a:solidFill>
                    <a:srgbClr val="FF0000"/>
                  </a:solidFill>
                </a:rPr>
                <a:t>d</a:t>
              </a:r>
              <a:endParaRPr lang="en-US" altLang="zh-CN" b="1" i="1">
                <a:solidFill>
                  <a:srgbClr val="FF0000"/>
                </a:solidFill>
              </a:endParaRPr>
            </a:p>
          </p:txBody>
        </p:sp>
        <p:sp>
          <p:nvSpPr>
            <p:cNvPr id="27675" name="Text Box 29"/>
            <p:cNvSpPr txBox="1">
              <a:spLocks noChangeAspect="1" noChangeArrowheads="1"/>
            </p:cNvSpPr>
            <p:nvPr/>
          </p:nvSpPr>
          <p:spPr bwMode="auto">
            <a:xfrm>
              <a:off x="3938" y="2387"/>
              <a:ext cx="1034" cy="327"/>
            </a:xfrm>
            <a:prstGeom prst="rect">
              <a:avLst/>
            </a:prstGeom>
            <a:noFill/>
            <a:ln w="9525">
              <a:noFill/>
              <a:miter lim="800000"/>
            </a:ln>
          </p:spPr>
          <p:txBody>
            <a:bodyPr>
              <a:spAutoFit/>
            </a:bodyPr>
            <a:lstStyle/>
            <a:p>
              <a:pPr>
                <a:buClr>
                  <a:schemeClr val="hlink"/>
                </a:buClr>
              </a:pPr>
              <a:r>
                <a:rPr lang="en-US" altLang="zh-CN" b="1" i="1">
                  <a:solidFill>
                    <a:srgbClr val="FF0000"/>
                  </a:solidFill>
                </a:rPr>
                <a:t>c</a:t>
              </a:r>
              <a:r>
                <a:rPr lang="en-US" altLang="zh-CN" sz="2800" b="1" i="1">
                  <a:solidFill>
                    <a:srgbClr val="FF0000"/>
                  </a:solidFill>
                </a:rPr>
                <a:t>             </a:t>
              </a:r>
              <a:r>
                <a:rPr lang="en-US" altLang="zh-CN" b="1" i="1">
                  <a:solidFill>
                    <a:srgbClr val="FF0000"/>
                  </a:solidFill>
                </a:rPr>
                <a:t>b</a:t>
              </a:r>
              <a:endParaRPr lang="en-US" altLang="zh-CN" b="1" i="1">
                <a:solidFill>
                  <a:srgbClr val="FF0000"/>
                </a:solidFill>
              </a:endParaRPr>
            </a:p>
          </p:txBody>
        </p:sp>
        <p:sp>
          <p:nvSpPr>
            <p:cNvPr id="27676" name="Text Box 30"/>
            <p:cNvSpPr txBox="1">
              <a:spLocks noChangeAspect="1" noChangeArrowheads="1"/>
            </p:cNvSpPr>
            <p:nvPr/>
          </p:nvSpPr>
          <p:spPr bwMode="auto">
            <a:xfrm>
              <a:off x="3524" y="2251"/>
              <a:ext cx="207" cy="313"/>
            </a:xfrm>
            <a:prstGeom prst="rect">
              <a:avLst/>
            </a:prstGeom>
            <a:noFill/>
            <a:ln w="9525">
              <a:noFill/>
              <a:miter lim="800000"/>
            </a:ln>
          </p:spPr>
          <p:txBody>
            <a:bodyPr>
              <a:spAutoFit/>
            </a:bodyPr>
            <a:lstStyle/>
            <a:p>
              <a:pPr>
                <a:lnSpc>
                  <a:spcPct val="120000"/>
                </a:lnSpc>
                <a:spcBef>
                  <a:spcPct val="50000"/>
                </a:spcBef>
                <a:buClr>
                  <a:schemeClr val="hlink"/>
                </a:buClr>
              </a:pPr>
              <a:r>
                <a:rPr lang="en-US" altLang="zh-CN" b="1" i="1">
                  <a:solidFill>
                    <a:srgbClr val="000099"/>
                  </a:solidFill>
                </a:rPr>
                <a:t>P</a:t>
              </a:r>
              <a:endParaRPr lang="en-US" altLang="zh-CN" b="1" i="1">
                <a:solidFill>
                  <a:srgbClr val="000099"/>
                </a:solidFill>
              </a:endParaRPr>
            </a:p>
          </p:txBody>
        </p:sp>
        <p:sp>
          <p:nvSpPr>
            <p:cNvPr id="27677" name="Line 31"/>
            <p:cNvSpPr>
              <a:spLocks noChangeAspect="1" noChangeShapeType="1"/>
            </p:cNvSpPr>
            <p:nvPr/>
          </p:nvSpPr>
          <p:spPr bwMode="auto">
            <a:xfrm>
              <a:off x="3756" y="3351"/>
              <a:ext cx="1262" cy="0"/>
            </a:xfrm>
            <a:prstGeom prst="line">
              <a:avLst/>
            </a:prstGeom>
            <a:noFill/>
            <a:ln w="28575">
              <a:solidFill>
                <a:srgbClr val="000099"/>
              </a:solidFill>
              <a:round/>
              <a:tailEnd type="stealth" w="med" len="lg"/>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4"/>
                                        </p:tgtEl>
                                        <p:attrNameLst>
                                          <p:attrName>style.visibility</p:attrName>
                                        </p:attrNameLst>
                                      </p:cBhvr>
                                      <p:to>
                                        <p:strVal val="visible"/>
                                      </p:to>
                                    </p:set>
                                    <p:animEffect transition="in" filter="wipe(left)">
                                      <p:cBhvr>
                                        <p:cTn id="7" dur="500"/>
                                        <p:tgtEl>
                                          <p:spTgt spid="563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325"/>
                                        </p:tgtEl>
                                        <p:attrNameLst>
                                          <p:attrName>style.visibility</p:attrName>
                                        </p:attrNameLst>
                                      </p:cBhvr>
                                      <p:to>
                                        <p:strVal val="visible"/>
                                      </p:to>
                                    </p:set>
                                    <p:animEffect transition="in" filter="wipe(left)">
                                      <p:cBhvr>
                                        <p:cTn id="12" dur="500"/>
                                        <p:tgtEl>
                                          <p:spTgt spid="563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327"/>
                                        </p:tgtEl>
                                        <p:attrNameLst>
                                          <p:attrName>style.visibility</p:attrName>
                                        </p:attrNameLst>
                                      </p:cBhvr>
                                      <p:to>
                                        <p:strVal val="visible"/>
                                      </p:to>
                                    </p:set>
                                    <p:animEffect transition="in" filter="wipe(left)">
                                      <p:cBhvr>
                                        <p:cTn id="17" dur="500"/>
                                        <p:tgtEl>
                                          <p:spTgt spid="563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6328"/>
                                        </p:tgtEl>
                                        <p:attrNameLst>
                                          <p:attrName>style.visibility</p:attrName>
                                        </p:attrNameLst>
                                      </p:cBhvr>
                                      <p:to>
                                        <p:strVal val="visible"/>
                                      </p:to>
                                    </p:set>
                                    <p:animEffect transition="in" filter="wipe(left)">
                                      <p:cBhvr>
                                        <p:cTn id="22" dur="500"/>
                                        <p:tgtEl>
                                          <p:spTgt spid="563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6329"/>
                                        </p:tgtEl>
                                        <p:attrNameLst>
                                          <p:attrName>style.visibility</p:attrName>
                                        </p:attrNameLst>
                                      </p:cBhvr>
                                      <p:to>
                                        <p:strVal val="visible"/>
                                      </p:to>
                                    </p:set>
                                    <p:animEffect transition="in" filter="wipe(left)">
                                      <p:cBhvr>
                                        <p:cTn id="27" dur="500"/>
                                        <p:tgtEl>
                                          <p:spTgt spid="563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6326"/>
                                        </p:tgtEl>
                                        <p:attrNameLst>
                                          <p:attrName>style.visibility</p:attrName>
                                        </p:attrNameLst>
                                      </p:cBhvr>
                                      <p:to>
                                        <p:strVal val="visible"/>
                                      </p:to>
                                    </p:set>
                                    <p:animEffect transition="in" filter="wipe(left)">
                                      <p:cBhvr>
                                        <p:cTn id="32" dur="500"/>
                                        <p:tgtEl>
                                          <p:spTgt spid="563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6330"/>
                                        </p:tgtEl>
                                        <p:attrNameLst>
                                          <p:attrName>style.visibility</p:attrName>
                                        </p:attrNameLst>
                                      </p:cBhvr>
                                      <p:to>
                                        <p:strVal val="visible"/>
                                      </p:to>
                                    </p:set>
                                    <p:animEffect transition="in" filter="wipe(left)">
                                      <p:cBhvr>
                                        <p:cTn id="37" dur="500"/>
                                        <p:tgtEl>
                                          <p:spTgt spid="56330"/>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56331"/>
                                        </p:tgtEl>
                                        <p:attrNameLst>
                                          <p:attrName>style.visibility</p:attrName>
                                        </p:attrNameLst>
                                      </p:cBhvr>
                                      <p:to>
                                        <p:strVal val="visible"/>
                                      </p:to>
                                    </p:set>
                                    <p:animEffect transition="in" filter="wipe(left)">
                                      <p:cBhvr>
                                        <p:cTn id="41" dur="500"/>
                                        <p:tgtEl>
                                          <p:spTgt spid="5633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6333"/>
                                        </p:tgtEl>
                                        <p:attrNameLst>
                                          <p:attrName>style.visibility</p:attrName>
                                        </p:attrNameLst>
                                      </p:cBhvr>
                                      <p:to>
                                        <p:strVal val="visible"/>
                                      </p:to>
                                    </p:set>
                                    <p:animEffect transition="in" filter="wipe(left)">
                                      <p:cBhvr>
                                        <p:cTn id="46" dur="500"/>
                                        <p:tgtEl>
                                          <p:spTgt spid="5633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56332"/>
                                        </p:tgtEl>
                                        <p:attrNameLst>
                                          <p:attrName>style.visibility</p:attrName>
                                        </p:attrNameLst>
                                      </p:cBhvr>
                                      <p:to>
                                        <p:strVal val="visible"/>
                                      </p:to>
                                    </p:set>
                                    <p:animEffect transition="in" filter="wipe(left)">
                                      <p:cBhvr>
                                        <p:cTn id="51" dur="500"/>
                                        <p:tgtEl>
                                          <p:spTgt spid="5633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6334"/>
                                        </p:tgtEl>
                                        <p:attrNameLst>
                                          <p:attrName>style.visibility</p:attrName>
                                        </p:attrNameLst>
                                      </p:cBhvr>
                                      <p:to>
                                        <p:strVal val="visible"/>
                                      </p:to>
                                    </p:set>
                                    <p:animEffect transition="in" filter="wipe(left)">
                                      <p:cBhvr>
                                        <p:cTn id="56" dur="500"/>
                                        <p:tgtEl>
                                          <p:spTgt spid="56334"/>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56335"/>
                                        </p:tgtEl>
                                        <p:attrNameLst>
                                          <p:attrName>style.visibility</p:attrName>
                                        </p:attrNameLst>
                                      </p:cBhvr>
                                      <p:to>
                                        <p:strVal val="visible"/>
                                      </p:to>
                                    </p:set>
                                    <p:animEffect transition="in" filter="wipe(left)">
                                      <p:cBhvr>
                                        <p:cTn id="60" dur="500"/>
                                        <p:tgtEl>
                                          <p:spTgt spid="5633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56336"/>
                                        </p:tgtEl>
                                        <p:attrNameLst>
                                          <p:attrName>style.visibility</p:attrName>
                                        </p:attrNameLst>
                                      </p:cBhvr>
                                      <p:to>
                                        <p:strVal val="visible"/>
                                      </p:to>
                                    </p:set>
                                    <p:animEffect transition="in" filter="wipe(left)">
                                      <p:cBhvr>
                                        <p:cTn id="65" dur="500"/>
                                        <p:tgtEl>
                                          <p:spTgt spid="56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p:bldP spid="56325" grpId="0"/>
      <p:bldP spid="56327" grpId="0"/>
      <p:bldP spid="56329" grpId="0"/>
      <p:bldP spid="56333" grpId="0"/>
      <p:bldP spid="5633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89" name="Group 7"/>
          <p:cNvGrpSpPr/>
          <p:nvPr/>
        </p:nvGrpSpPr>
        <p:grpSpPr bwMode="auto">
          <a:xfrm>
            <a:off x="6529388" y="476250"/>
            <a:ext cx="2506662" cy="2189163"/>
            <a:chOff x="3524" y="2251"/>
            <a:chExt cx="1579" cy="1379"/>
          </a:xfrm>
        </p:grpSpPr>
        <p:sp>
          <p:nvSpPr>
            <p:cNvPr id="28698" name="Text Box 8"/>
            <p:cNvSpPr txBox="1">
              <a:spLocks noChangeAspect="1" noChangeArrowheads="1"/>
            </p:cNvSpPr>
            <p:nvPr/>
          </p:nvSpPr>
          <p:spPr bwMode="auto">
            <a:xfrm>
              <a:off x="3621" y="3275"/>
              <a:ext cx="1482" cy="355"/>
            </a:xfrm>
            <a:prstGeom prst="rect">
              <a:avLst/>
            </a:prstGeom>
            <a:noFill/>
            <a:ln w="9525">
              <a:noFill/>
              <a:miter lim="800000"/>
            </a:ln>
          </p:spPr>
          <p:txBody>
            <a:bodyPr>
              <a:spAutoFit/>
            </a:bodyPr>
            <a:lstStyle/>
            <a:p>
              <a:pPr>
                <a:lnSpc>
                  <a:spcPct val="120000"/>
                </a:lnSpc>
                <a:spcBef>
                  <a:spcPct val="50000"/>
                </a:spcBef>
                <a:buClr>
                  <a:schemeClr val="hlink"/>
                </a:buClr>
              </a:pPr>
              <a:r>
                <a:rPr lang="en-US" altLang="zh-CN" b="1" i="1">
                  <a:solidFill>
                    <a:srgbClr val="000099"/>
                  </a:solidFill>
                </a:rPr>
                <a:t>O </a:t>
              </a:r>
              <a:r>
                <a:rPr lang="en-US" altLang="zh-CN" sz="2800" b="1" i="1">
                  <a:solidFill>
                    <a:srgbClr val="000099"/>
                  </a:solidFill>
                </a:rPr>
                <a:t>                  </a:t>
              </a:r>
              <a:r>
                <a:rPr lang="en-US" altLang="zh-CN" b="1" i="1">
                  <a:solidFill>
                    <a:srgbClr val="000099"/>
                  </a:solidFill>
                </a:rPr>
                <a:t>V</a:t>
              </a:r>
              <a:endParaRPr lang="en-US" altLang="zh-CN" b="1" i="1">
                <a:solidFill>
                  <a:srgbClr val="000099"/>
                </a:solidFill>
              </a:endParaRPr>
            </a:p>
          </p:txBody>
        </p:sp>
        <p:sp>
          <p:nvSpPr>
            <p:cNvPr id="28699" name="Line 9"/>
            <p:cNvSpPr>
              <a:spLocks noChangeAspect="1" noChangeShapeType="1"/>
            </p:cNvSpPr>
            <p:nvPr/>
          </p:nvSpPr>
          <p:spPr bwMode="auto">
            <a:xfrm>
              <a:off x="3756" y="3354"/>
              <a:ext cx="1344" cy="0"/>
            </a:xfrm>
            <a:prstGeom prst="line">
              <a:avLst/>
            </a:prstGeom>
            <a:noFill/>
            <a:ln w="28575">
              <a:solidFill>
                <a:srgbClr val="FFFFFF"/>
              </a:solidFill>
              <a:round/>
              <a:tailEnd type="stealth" w="med" len="lg"/>
            </a:ln>
          </p:spPr>
          <p:txBody>
            <a:bodyPr wrap="none" anchor="ctr"/>
            <a:lstStyle/>
            <a:p>
              <a:endParaRPr lang="zh-CN" altLang="en-US"/>
            </a:p>
          </p:txBody>
        </p:sp>
        <p:sp>
          <p:nvSpPr>
            <p:cNvPr id="28700" name="Line 10"/>
            <p:cNvSpPr>
              <a:spLocks noChangeAspect="1" noChangeShapeType="1"/>
            </p:cNvSpPr>
            <p:nvPr/>
          </p:nvSpPr>
          <p:spPr bwMode="auto">
            <a:xfrm flipV="1">
              <a:off x="3756" y="2320"/>
              <a:ext cx="0" cy="1034"/>
            </a:xfrm>
            <a:prstGeom prst="line">
              <a:avLst/>
            </a:prstGeom>
            <a:noFill/>
            <a:ln w="28575">
              <a:solidFill>
                <a:srgbClr val="000099"/>
              </a:solidFill>
              <a:round/>
              <a:tailEnd type="stealth" w="med" len="lg"/>
            </a:ln>
          </p:spPr>
          <p:txBody>
            <a:bodyPr wrap="none" anchor="ctr"/>
            <a:lstStyle/>
            <a:p>
              <a:endParaRPr lang="zh-CN" altLang="en-US"/>
            </a:p>
          </p:txBody>
        </p:sp>
        <p:sp>
          <p:nvSpPr>
            <p:cNvPr id="28701" name="Rectangle 11"/>
            <p:cNvSpPr>
              <a:spLocks noChangeAspect="1" noChangeArrowheads="1"/>
            </p:cNvSpPr>
            <p:nvPr/>
          </p:nvSpPr>
          <p:spPr bwMode="auto">
            <a:xfrm>
              <a:off x="4031" y="2665"/>
              <a:ext cx="792" cy="413"/>
            </a:xfrm>
            <a:prstGeom prst="rect">
              <a:avLst/>
            </a:prstGeom>
            <a:noFill/>
            <a:ln w="9525">
              <a:solidFill>
                <a:srgbClr val="0000FF"/>
              </a:solidFill>
              <a:miter lim="800000"/>
            </a:ln>
          </p:spPr>
          <p:txBody>
            <a:bodyPr wrap="none" anchor="ctr"/>
            <a:lstStyle/>
            <a:p>
              <a:pPr algn="ctr"/>
              <a:endParaRPr lang="zh-CN" altLang="en-US" b="1"/>
            </a:p>
          </p:txBody>
        </p:sp>
        <p:sp>
          <p:nvSpPr>
            <p:cNvPr id="28702" name="Freeform 12"/>
            <p:cNvSpPr>
              <a:spLocks noChangeAspect="1"/>
            </p:cNvSpPr>
            <p:nvPr/>
          </p:nvSpPr>
          <p:spPr bwMode="auto">
            <a:xfrm>
              <a:off x="4029" y="2663"/>
              <a:ext cx="792" cy="414"/>
            </a:xfrm>
            <a:custGeom>
              <a:avLst/>
              <a:gdLst>
                <a:gd name="T0" fmla="*/ 0 w 1104"/>
                <a:gd name="T1" fmla="*/ 15 h 576"/>
                <a:gd name="T2" fmla="*/ 7 w 1104"/>
                <a:gd name="T3" fmla="*/ 12 h 576"/>
                <a:gd name="T4" fmla="*/ 17 w 1104"/>
                <a:gd name="T5" fmla="*/ 3 h 576"/>
                <a:gd name="T6" fmla="*/ 28 w 1104"/>
                <a:gd name="T7" fmla="*/ 0 h 576"/>
                <a:gd name="T8" fmla="*/ 0 60000 65536"/>
                <a:gd name="T9" fmla="*/ 0 60000 65536"/>
                <a:gd name="T10" fmla="*/ 0 60000 65536"/>
                <a:gd name="T11" fmla="*/ 0 60000 65536"/>
                <a:gd name="T12" fmla="*/ 0 w 1104"/>
                <a:gd name="T13" fmla="*/ 0 h 576"/>
                <a:gd name="T14" fmla="*/ 1104 w 1104"/>
                <a:gd name="T15" fmla="*/ 576 h 576"/>
              </a:gdLst>
              <a:ahLst/>
              <a:cxnLst>
                <a:cxn ang="T8">
                  <a:pos x="T0" y="T1"/>
                </a:cxn>
                <a:cxn ang="T9">
                  <a:pos x="T2" y="T3"/>
                </a:cxn>
                <a:cxn ang="T10">
                  <a:pos x="T4" y="T5"/>
                </a:cxn>
                <a:cxn ang="T11">
                  <a:pos x="T6" y="T7"/>
                </a:cxn>
              </a:cxnLst>
              <a:rect l="T12" t="T13" r="T14" b="T15"/>
              <a:pathLst>
                <a:path w="1104" h="576">
                  <a:moveTo>
                    <a:pt x="0" y="576"/>
                  </a:moveTo>
                  <a:cubicBezTo>
                    <a:pt x="88" y="544"/>
                    <a:pt x="176" y="512"/>
                    <a:pt x="288" y="432"/>
                  </a:cubicBezTo>
                  <a:cubicBezTo>
                    <a:pt x="400" y="352"/>
                    <a:pt x="536" y="168"/>
                    <a:pt x="672" y="96"/>
                  </a:cubicBezTo>
                  <a:cubicBezTo>
                    <a:pt x="808" y="24"/>
                    <a:pt x="1032" y="16"/>
                    <a:pt x="1104" y="0"/>
                  </a:cubicBezTo>
                </a:path>
              </a:pathLst>
            </a:custGeom>
            <a:noFill/>
            <a:ln w="9525">
              <a:solidFill>
                <a:srgbClr val="0000FF"/>
              </a:solidFill>
              <a:round/>
            </a:ln>
          </p:spPr>
          <p:txBody>
            <a:bodyPr wrap="none" anchor="ctr"/>
            <a:lstStyle/>
            <a:p>
              <a:pPr algn="ctr"/>
              <a:endParaRPr lang="zh-CN" altLang="en-US" b="1"/>
            </a:p>
          </p:txBody>
        </p:sp>
        <p:sp>
          <p:nvSpPr>
            <p:cNvPr id="28703" name="Line 13"/>
            <p:cNvSpPr>
              <a:spLocks noChangeAspect="1" noChangeShapeType="1"/>
            </p:cNvSpPr>
            <p:nvPr/>
          </p:nvSpPr>
          <p:spPr bwMode="auto">
            <a:xfrm flipV="1">
              <a:off x="4029" y="2800"/>
              <a:ext cx="0" cy="137"/>
            </a:xfrm>
            <a:prstGeom prst="line">
              <a:avLst/>
            </a:prstGeom>
            <a:noFill/>
            <a:ln w="28575">
              <a:solidFill>
                <a:srgbClr val="0000FF"/>
              </a:solidFill>
              <a:round/>
              <a:tailEnd type="stealth" w="med" len="lg"/>
            </a:ln>
          </p:spPr>
          <p:txBody>
            <a:bodyPr wrap="none" anchor="ctr"/>
            <a:lstStyle/>
            <a:p>
              <a:endParaRPr lang="zh-CN" altLang="en-US"/>
            </a:p>
          </p:txBody>
        </p:sp>
        <p:sp>
          <p:nvSpPr>
            <p:cNvPr id="28704" name="Line 14"/>
            <p:cNvSpPr>
              <a:spLocks noChangeAspect="1" noChangeShapeType="1"/>
            </p:cNvSpPr>
            <p:nvPr/>
          </p:nvSpPr>
          <p:spPr bwMode="auto">
            <a:xfrm rot="5328382" flipV="1">
              <a:off x="4410" y="3010"/>
              <a:ext cx="1" cy="138"/>
            </a:xfrm>
            <a:prstGeom prst="line">
              <a:avLst/>
            </a:prstGeom>
            <a:noFill/>
            <a:ln w="28575">
              <a:solidFill>
                <a:srgbClr val="0000FF"/>
              </a:solidFill>
              <a:round/>
              <a:tailEnd type="stealth" w="med" len="lg"/>
            </a:ln>
          </p:spPr>
          <p:txBody>
            <a:bodyPr wrap="none" anchor="ctr"/>
            <a:lstStyle/>
            <a:p>
              <a:endParaRPr lang="zh-CN" altLang="en-US"/>
            </a:p>
          </p:txBody>
        </p:sp>
        <p:sp>
          <p:nvSpPr>
            <p:cNvPr id="28705" name="Line 15"/>
            <p:cNvSpPr>
              <a:spLocks noChangeAspect="1" noChangeShapeType="1"/>
            </p:cNvSpPr>
            <p:nvPr/>
          </p:nvSpPr>
          <p:spPr bwMode="auto">
            <a:xfrm rot="5256796" flipV="1">
              <a:off x="4376" y="2596"/>
              <a:ext cx="1" cy="138"/>
            </a:xfrm>
            <a:prstGeom prst="line">
              <a:avLst/>
            </a:prstGeom>
            <a:noFill/>
            <a:ln w="28575">
              <a:solidFill>
                <a:srgbClr val="0000FF"/>
              </a:solidFill>
              <a:round/>
              <a:tailEnd type="stealth" w="med" len="lg"/>
            </a:ln>
          </p:spPr>
          <p:txBody>
            <a:bodyPr wrap="none" anchor="ctr"/>
            <a:lstStyle/>
            <a:p>
              <a:endParaRPr lang="zh-CN" altLang="en-US"/>
            </a:p>
          </p:txBody>
        </p:sp>
        <p:sp>
          <p:nvSpPr>
            <p:cNvPr id="28706" name="Line 16"/>
            <p:cNvSpPr>
              <a:spLocks noChangeAspect="1" noChangeShapeType="1"/>
            </p:cNvSpPr>
            <p:nvPr/>
          </p:nvSpPr>
          <p:spPr bwMode="auto">
            <a:xfrm flipV="1">
              <a:off x="4823" y="2768"/>
              <a:ext cx="0" cy="138"/>
            </a:xfrm>
            <a:prstGeom prst="line">
              <a:avLst/>
            </a:prstGeom>
            <a:noFill/>
            <a:ln w="28575">
              <a:solidFill>
                <a:srgbClr val="0000FF"/>
              </a:solidFill>
              <a:round/>
              <a:tailEnd type="stealth" w="med" len="lg"/>
            </a:ln>
          </p:spPr>
          <p:txBody>
            <a:bodyPr wrap="none" anchor="ctr"/>
            <a:lstStyle/>
            <a:p>
              <a:endParaRPr lang="zh-CN" altLang="en-US"/>
            </a:p>
          </p:txBody>
        </p:sp>
        <p:sp>
          <p:nvSpPr>
            <p:cNvPr id="28707" name="Line 17"/>
            <p:cNvSpPr>
              <a:spLocks noChangeAspect="1" noChangeShapeType="1"/>
            </p:cNvSpPr>
            <p:nvPr/>
          </p:nvSpPr>
          <p:spPr bwMode="auto">
            <a:xfrm rot="13680323" flipV="1">
              <a:off x="4375" y="2769"/>
              <a:ext cx="1" cy="138"/>
            </a:xfrm>
            <a:prstGeom prst="line">
              <a:avLst/>
            </a:prstGeom>
            <a:noFill/>
            <a:ln w="28575">
              <a:solidFill>
                <a:srgbClr val="0000FF"/>
              </a:solidFill>
              <a:round/>
              <a:tailEnd type="stealth" w="med" len="lg"/>
            </a:ln>
          </p:spPr>
          <p:txBody>
            <a:bodyPr wrap="none" anchor="ctr"/>
            <a:lstStyle/>
            <a:p>
              <a:endParaRPr lang="zh-CN" altLang="en-US"/>
            </a:p>
          </p:txBody>
        </p:sp>
        <p:sp>
          <p:nvSpPr>
            <p:cNvPr id="28708" name="Text Box 18"/>
            <p:cNvSpPr txBox="1">
              <a:spLocks noChangeAspect="1" noChangeArrowheads="1"/>
            </p:cNvSpPr>
            <p:nvPr/>
          </p:nvSpPr>
          <p:spPr bwMode="auto">
            <a:xfrm>
              <a:off x="3903" y="2980"/>
              <a:ext cx="1069" cy="327"/>
            </a:xfrm>
            <a:prstGeom prst="rect">
              <a:avLst/>
            </a:prstGeom>
            <a:noFill/>
            <a:ln w="9525">
              <a:noFill/>
              <a:miter lim="800000"/>
            </a:ln>
          </p:spPr>
          <p:txBody>
            <a:bodyPr>
              <a:spAutoFit/>
            </a:bodyPr>
            <a:lstStyle/>
            <a:p>
              <a:pPr>
                <a:buClr>
                  <a:schemeClr val="hlink"/>
                </a:buClr>
              </a:pPr>
              <a:r>
                <a:rPr lang="en-US" altLang="zh-CN" b="1" i="1">
                  <a:solidFill>
                    <a:srgbClr val="FF0000"/>
                  </a:solidFill>
                </a:rPr>
                <a:t>a</a:t>
              </a:r>
              <a:r>
                <a:rPr lang="en-US" altLang="zh-CN" sz="2800" b="1" i="1">
                  <a:solidFill>
                    <a:srgbClr val="FF0000"/>
                  </a:solidFill>
                </a:rPr>
                <a:t>             </a:t>
              </a:r>
              <a:r>
                <a:rPr lang="en-US" altLang="zh-CN" b="1" i="1">
                  <a:solidFill>
                    <a:srgbClr val="FF0000"/>
                  </a:solidFill>
                </a:rPr>
                <a:t>d</a:t>
              </a:r>
              <a:endParaRPr lang="en-US" altLang="zh-CN" b="1" i="1">
                <a:solidFill>
                  <a:srgbClr val="FF0000"/>
                </a:solidFill>
              </a:endParaRPr>
            </a:p>
          </p:txBody>
        </p:sp>
        <p:sp>
          <p:nvSpPr>
            <p:cNvPr id="28709" name="Text Box 19"/>
            <p:cNvSpPr txBox="1">
              <a:spLocks noChangeAspect="1" noChangeArrowheads="1"/>
            </p:cNvSpPr>
            <p:nvPr/>
          </p:nvSpPr>
          <p:spPr bwMode="auto">
            <a:xfrm>
              <a:off x="3938" y="2387"/>
              <a:ext cx="1034" cy="327"/>
            </a:xfrm>
            <a:prstGeom prst="rect">
              <a:avLst/>
            </a:prstGeom>
            <a:noFill/>
            <a:ln w="9525">
              <a:noFill/>
              <a:miter lim="800000"/>
            </a:ln>
          </p:spPr>
          <p:txBody>
            <a:bodyPr>
              <a:spAutoFit/>
            </a:bodyPr>
            <a:lstStyle/>
            <a:p>
              <a:pPr>
                <a:buClr>
                  <a:schemeClr val="hlink"/>
                </a:buClr>
              </a:pPr>
              <a:r>
                <a:rPr lang="en-US" altLang="zh-CN" b="1" i="1">
                  <a:solidFill>
                    <a:srgbClr val="FF0000"/>
                  </a:solidFill>
                </a:rPr>
                <a:t>c</a:t>
              </a:r>
              <a:r>
                <a:rPr lang="en-US" altLang="zh-CN" sz="2800" b="1" i="1">
                  <a:solidFill>
                    <a:srgbClr val="FF0000"/>
                  </a:solidFill>
                </a:rPr>
                <a:t>             </a:t>
              </a:r>
              <a:r>
                <a:rPr lang="en-US" altLang="zh-CN" b="1" i="1">
                  <a:solidFill>
                    <a:srgbClr val="FF0000"/>
                  </a:solidFill>
                </a:rPr>
                <a:t>b</a:t>
              </a:r>
              <a:endParaRPr lang="en-US" altLang="zh-CN" b="1" i="1">
                <a:solidFill>
                  <a:srgbClr val="FF0000"/>
                </a:solidFill>
              </a:endParaRPr>
            </a:p>
          </p:txBody>
        </p:sp>
        <p:sp>
          <p:nvSpPr>
            <p:cNvPr id="28710" name="Text Box 20"/>
            <p:cNvSpPr txBox="1">
              <a:spLocks noChangeAspect="1" noChangeArrowheads="1"/>
            </p:cNvSpPr>
            <p:nvPr/>
          </p:nvSpPr>
          <p:spPr bwMode="auto">
            <a:xfrm>
              <a:off x="3524" y="2251"/>
              <a:ext cx="207" cy="313"/>
            </a:xfrm>
            <a:prstGeom prst="rect">
              <a:avLst/>
            </a:prstGeom>
            <a:noFill/>
            <a:ln w="9525">
              <a:noFill/>
              <a:miter lim="800000"/>
            </a:ln>
          </p:spPr>
          <p:txBody>
            <a:bodyPr>
              <a:spAutoFit/>
            </a:bodyPr>
            <a:lstStyle/>
            <a:p>
              <a:pPr>
                <a:lnSpc>
                  <a:spcPct val="120000"/>
                </a:lnSpc>
                <a:spcBef>
                  <a:spcPct val="50000"/>
                </a:spcBef>
                <a:buClr>
                  <a:schemeClr val="hlink"/>
                </a:buClr>
              </a:pPr>
              <a:r>
                <a:rPr lang="en-US" altLang="zh-CN" b="1" i="1">
                  <a:solidFill>
                    <a:srgbClr val="000099"/>
                  </a:solidFill>
                </a:rPr>
                <a:t>P</a:t>
              </a:r>
              <a:endParaRPr lang="en-US" altLang="zh-CN" b="1" i="1">
                <a:solidFill>
                  <a:srgbClr val="000099"/>
                </a:solidFill>
              </a:endParaRPr>
            </a:p>
          </p:txBody>
        </p:sp>
        <p:sp>
          <p:nvSpPr>
            <p:cNvPr id="28711" name="Line 21"/>
            <p:cNvSpPr>
              <a:spLocks noChangeAspect="1" noChangeShapeType="1"/>
            </p:cNvSpPr>
            <p:nvPr/>
          </p:nvSpPr>
          <p:spPr bwMode="auto">
            <a:xfrm>
              <a:off x="3756" y="3351"/>
              <a:ext cx="1262" cy="0"/>
            </a:xfrm>
            <a:prstGeom prst="line">
              <a:avLst/>
            </a:prstGeom>
            <a:noFill/>
            <a:ln w="28575">
              <a:solidFill>
                <a:srgbClr val="000099"/>
              </a:solidFill>
              <a:round/>
              <a:tailEnd type="stealth" w="med" len="lg"/>
            </a:ln>
          </p:spPr>
          <p:txBody>
            <a:bodyPr/>
            <a:lstStyle/>
            <a:p>
              <a:endParaRPr lang="zh-CN" altLang="en-US"/>
            </a:p>
          </p:txBody>
        </p:sp>
      </p:grpSp>
      <p:sp>
        <p:nvSpPr>
          <p:cNvPr id="55318" name="Text Box 22"/>
          <p:cNvSpPr txBox="1">
            <a:spLocks noChangeArrowheads="1"/>
          </p:cNvSpPr>
          <p:nvPr/>
        </p:nvSpPr>
        <p:spPr bwMode="auto">
          <a:xfrm>
            <a:off x="179388" y="981075"/>
            <a:ext cx="6443662" cy="830263"/>
          </a:xfrm>
          <a:prstGeom prst="rect">
            <a:avLst/>
          </a:prstGeom>
          <a:noFill/>
          <a:ln w="9525">
            <a:noFill/>
            <a:miter lim="800000"/>
          </a:ln>
        </p:spPr>
        <p:txBody>
          <a:bodyPr>
            <a:spAutoFit/>
          </a:bodyPr>
          <a:lstStyle/>
          <a:p>
            <a:pPr>
              <a:spcBef>
                <a:spcPct val="50000"/>
              </a:spcBef>
            </a:pPr>
            <a:r>
              <a:rPr kumimoji="1" lang="en-US" altLang="zh-CN" b="1"/>
              <a:t>(2)</a:t>
            </a:r>
            <a:r>
              <a:rPr kumimoji="1" lang="en-US" altLang="zh-CN" b="1">
                <a:latin typeface="Garamond" panose="02020404030301010803" pitchFamily="18" charset="0"/>
              </a:rPr>
              <a:t> </a:t>
            </a:r>
            <a:r>
              <a:rPr kumimoji="1" lang="zh-CN" altLang="en-US" b="1">
                <a:latin typeface="楷体_GB2312" pitchFamily="49" charset="-122"/>
              </a:rPr>
              <a:t>在系统由状态</a:t>
            </a:r>
            <a:r>
              <a:rPr kumimoji="1" lang="en-US" altLang="zh-CN" b="1" i="1"/>
              <a:t>b</a:t>
            </a:r>
            <a:r>
              <a:rPr kumimoji="1" lang="zh-CN" altLang="en-US" b="1"/>
              <a:t>沿曲线</a:t>
            </a:r>
            <a:r>
              <a:rPr kumimoji="1" lang="en-US" altLang="zh-CN" b="1" i="1"/>
              <a:t>ba</a:t>
            </a:r>
            <a:r>
              <a:rPr kumimoji="1" lang="zh-CN" altLang="en-US" b="1"/>
              <a:t>返回到状态</a:t>
            </a:r>
            <a:r>
              <a:rPr kumimoji="1" lang="en-US" altLang="zh-CN" b="1" i="1"/>
              <a:t>a</a:t>
            </a:r>
            <a:r>
              <a:rPr kumimoji="1" lang="zh-CN" altLang="en-US" b="1"/>
              <a:t>这个过程中，</a:t>
            </a:r>
            <a:r>
              <a:rPr kumimoji="1" lang="zh-CN" altLang="en-US" b="1">
                <a:solidFill>
                  <a:srgbClr val="FF6600"/>
                </a:solidFill>
              </a:rPr>
              <a:t>由热力学第一定律</a:t>
            </a:r>
            <a:r>
              <a:rPr kumimoji="1" lang="zh-CN" altLang="en-US" b="1"/>
              <a:t>得：</a:t>
            </a:r>
            <a:endParaRPr kumimoji="1" lang="zh-CN" altLang="en-US" b="1" i="1">
              <a:solidFill>
                <a:srgbClr val="FFFF00"/>
              </a:solidFill>
            </a:endParaRPr>
          </a:p>
        </p:txBody>
      </p:sp>
      <p:graphicFrame>
        <p:nvGraphicFramePr>
          <p:cNvPr id="55319" name="Object 23"/>
          <p:cNvGraphicFramePr>
            <a:graphicFrameLocks noChangeAspect="1"/>
          </p:cNvGraphicFramePr>
          <p:nvPr/>
        </p:nvGraphicFramePr>
        <p:xfrm>
          <a:off x="465138" y="1897063"/>
          <a:ext cx="1873250" cy="457200"/>
        </p:xfrm>
        <a:graphic>
          <a:graphicData uri="http://schemas.openxmlformats.org/presentationml/2006/ole">
            <mc:AlternateContent xmlns:mc="http://schemas.openxmlformats.org/markup-compatibility/2006">
              <mc:Choice xmlns:v="urn:schemas-microsoft-com:vml" Requires="v">
                <p:oleObj spid="_x0000_s28673" name="Equation" r:id="rId1" imgW="24688800" imgH="5486400" progId="Equation.DSMT4">
                  <p:embed/>
                </p:oleObj>
              </mc:Choice>
              <mc:Fallback>
                <p:oleObj name="Equation" r:id="rId1" imgW="24688800" imgH="5486400" progId="Equation.DSMT4">
                  <p:embed/>
                  <p:pic>
                    <p:nvPicPr>
                      <p:cNvPr id="0" name="Object 23"/>
                      <p:cNvPicPr>
                        <a:picLocks noChangeAspect="1"/>
                      </p:cNvPicPr>
                      <p:nvPr/>
                    </p:nvPicPr>
                    <p:blipFill>
                      <a:blip r:embed="rId2"/>
                      <a:stretch>
                        <a:fillRect/>
                      </a:stretch>
                    </p:blipFill>
                    <p:spPr>
                      <a:xfrm>
                        <a:off x="465138" y="1897063"/>
                        <a:ext cx="1873250" cy="457200"/>
                      </a:xfrm>
                      <a:prstGeom prst="rect">
                        <a:avLst/>
                      </a:prstGeom>
                      <a:noFill/>
                      <a:ln w="9525">
                        <a:noFill/>
                      </a:ln>
                    </p:spPr>
                  </p:pic>
                </p:oleObj>
              </mc:Fallback>
            </mc:AlternateContent>
          </a:graphicData>
        </a:graphic>
      </p:graphicFrame>
      <p:graphicFrame>
        <p:nvGraphicFramePr>
          <p:cNvPr id="55320" name="Object 24"/>
          <p:cNvGraphicFramePr>
            <a:graphicFrameLocks noChangeAspect="1"/>
          </p:cNvGraphicFramePr>
          <p:nvPr/>
        </p:nvGraphicFramePr>
        <p:xfrm>
          <a:off x="2405063" y="1897063"/>
          <a:ext cx="1449387" cy="457200"/>
        </p:xfrm>
        <a:graphic>
          <a:graphicData uri="http://schemas.openxmlformats.org/presentationml/2006/ole">
            <mc:AlternateContent xmlns:mc="http://schemas.openxmlformats.org/markup-compatibility/2006">
              <mc:Choice xmlns:v="urn:schemas-microsoft-com:vml" Requires="v">
                <p:oleObj spid="_x0000_s28675" name="Equation" r:id="rId3" imgW="21031200" imgH="5486400" progId="Equation.DSMT4">
                  <p:embed/>
                </p:oleObj>
              </mc:Choice>
              <mc:Fallback>
                <p:oleObj name="Equation" r:id="rId3" imgW="21031200" imgH="5486400" progId="Equation.DSMT4">
                  <p:embed/>
                  <p:pic>
                    <p:nvPicPr>
                      <p:cNvPr id="0" name="Object 24"/>
                      <p:cNvPicPr>
                        <a:picLocks noChangeAspect="1"/>
                      </p:cNvPicPr>
                      <p:nvPr/>
                    </p:nvPicPr>
                    <p:blipFill>
                      <a:blip r:embed="rId4"/>
                      <a:stretch>
                        <a:fillRect/>
                      </a:stretch>
                    </p:blipFill>
                    <p:spPr>
                      <a:xfrm>
                        <a:off x="2405063" y="1897063"/>
                        <a:ext cx="1449387" cy="457200"/>
                      </a:xfrm>
                      <a:prstGeom prst="rect">
                        <a:avLst/>
                      </a:prstGeom>
                      <a:noFill/>
                      <a:ln w="9525">
                        <a:noFill/>
                      </a:ln>
                    </p:spPr>
                  </p:pic>
                </p:oleObj>
              </mc:Fallback>
            </mc:AlternateContent>
          </a:graphicData>
        </a:graphic>
      </p:graphicFrame>
      <p:graphicFrame>
        <p:nvGraphicFramePr>
          <p:cNvPr id="55321" name="Object 25"/>
          <p:cNvGraphicFramePr>
            <a:graphicFrameLocks noChangeAspect="1"/>
          </p:cNvGraphicFramePr>
          <p:nvPr/>
        </p:nvGraphicFramePr>
        <p:xfrm>
          <a:off x="3814763" y="1897063"/>
          <a:ext cx="1512887" cy="346075"/>
        </p:xfrm>
        <a:graphic>
          <a:graphicData uri="http://schemas.openxmlformats.org/presentationml/2006/ole">
            <mc:AlternateContent xmlns:mc="http://schemas.openxmlformats.org/markup-compatibility/2006">
              <mc:Choice xmlns:v="urn:schemas-microsoft-com:vml" Requires="v">
                <p:oleObj spid="_x0000_s28676" name="公式" r:id="rId5" imgW="18592800" imgH="4267200" progId="Equation.3">
                  <p:embed/>
                </p:oleObj>
              </mc:Choice>
              <mc:Fallback>
                <p:oleObj name="公式" r:id="rId5" imgW="18592800" imgH="4267200" progId="Equation.3">
                  <p:embed/>
                  <p:pic>
                    <p:nvPicPr>
                      <p:cNvPr id="0" name="Object 25"/>
                      <p:cNvPicPr>
                        <a:picLocks noChangeAspect="1"/>
                      </p:cNvPicPr>
                      <p:nvPr/>
                    </p:nvPicPr>
                    <p:blipFill>
                      <a:blip r:embed="rId6"/>
                      <a:stretch>
                        <a:fillRect/>
                      </a:stretch>
                    </p:blipFill>
                    <p:spPr>
                      <a:xfrm>
                        <a:off x="3814763" y="1897063"/>
                        <a:ext cx="1512887" cy="346075"/>
                      </a:xfrm>
                      <a:prstGeom prst="rect">
                        <a:avLst/>
                      </a:prstGeom>
                      <a:noFill/>
                      <a:ln w="9525">
                        <a:noFill/>
                      </a:ln>
                    </p:spPr>
                  </p:pic>
                </p:oleObj>
              </mc:Fallback>
            </mc:AlternateContent>
          </a:graphicData>
        </a:graphic>
      </p:graphicFrame>
      <p:graphicFrame>
        <p:nvGraphicFramePr>
          <p:cNvPr id="55322" name="Object 26"/>
          <p:cNvGraphicFramePr>
            <a:graphicFrameLocks noChangeAspect="1"/>
          </p:cNvGraphicFramePr>
          <p:nvPr/>
        </p:nvGraphicFramePr>
        <p:xfrm>
          <a:off x="5327650" y="1897063"/>
          <a:ext cx="1223963" cy="342900"/>
        </p:xfrm>
        <a:graphic>
          <a:graphicData uri="http://schemas.openxmlformats.org/presentationml/2006/ole">
            <mc:AlternateContent xmlns:mc="http://schemas.openxmlformats.org/markup-compatibility/2006">
              <mc:Choice xmlns:v="urn:schemas-microsoft-com:vml" Requires="v">
                <p:oleObj spid="_x0000_s28677" name="公式" r:id="rId7" imgW="15240000" imgH="4267200" progId="Equation.3">
                  <p:embed/>
                </p:oleObj>
              </mc:Choice>
              <mc:Fallback>
                <p:oleObj name="公式" r:id="rId7" imgW="15240000" imgH="4267200" progId="Equation.3">
                  <p:embed/>
                  <p:pic>
                    <p:nvPicPr>
                      <p:cNvPr id="0" name="Object 26"/>
                      <p:cNvPicPr>
                        <a:picLocks noChangeAspect="1"/>
                      </p:cNvPicPr>
                      <p:nvPr/>
                    </p:nvPicPr>
                    <p:blipFill>
                      <a:blip r:embed="rId8"/>
                      <a:stretch>
                        <a:fillRect/>
                      </a:stretch>
                    </p:blipFill>
                    <p:spPr>
                      <a:xfrm>
                        <a:off x="5327650" y="1897063"/>
                        <a:ext cx="1223963" cy="342900"/>
                      </a:xfrm>
                      <a:prstGeom prst="rect">
                        <a:avLst/>
                      </a:prstGeom>
                      <a:noFill/>
                      <a:ln w="9525">
                        <a:noFill/>
                      </a:ln>
                    </p:spPr>
                  </p:pic>
                </p:oleObj>
              </mc:Fallback>
            </mc:AlternateContent>
          </a:graphicData>
        </a:graphic>
      </p:graphicFrame>
      <p:sp>
        <p:nvSpPr>
          <p:cNvPr id="55323" name="Text Box 27"/>
          <p:cNvSpPr txBox="1">
            <a:spLocks noChangeArrowheads="1"/>
          </p:cNvSpPr>
          <p:nvPr/>
        </p:nvSpPr>
        <p:spPr bwMode="auto">
          <a:xfrm>
            <a:off x="1150938" y="2471738"/>
            <a:ext cx="4679950"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负号表示该过程，系统是</a:t>
            </a:r>
            <a:r>
              <a:rPr lang="zh-CN" altLang="en-US" b="1">
                <a:solidFill>
                  <a:srgbClr val="FF6600"/>
                </a:solidFill>
                <a:latin typeface="Arial" panose="020B0604020202020204" pitchFamily="34" charset="0"/>
              </a:rPr>
              <a:t>放热</a:t>
            </a:r>
            <a:endParaRPr lang="zh-CN" altLang="en-US" b="1">
              <a:solidFill>
                <a:srgbClr val="FF6600"/>
              </a:solidFill>
              <a:latin typeface="Arial" panose="020B0604020202020204" pitchFamily="34" charset="0"/>
            </a:endParaRPr>
          </a:p>
        </p:txBody>
      </p:sp>
      <p:sp>
        <p:nvSpPr>
          <p:cNvPr id="55324" name="Text Box 28"/>
          <p:cNvSpPr txBox="1">
            <a:spLocks noChangeArrowheads="1"/>
          </p:cNvSpPr>
          <p:nvPr/>
        </p:nvSpPr>
        <p:spPr bwMode="auto">
          <a:xfrm>
            <a:off x="250825" y="3068638"/>
            <a:ext cx="4791075" cy="457200"/>
          </a:xfrm>
          <a:prstGeom prst="rect">
            <a:avLst/>
          </a:prstGeom>
          <a:noFill/>
          <a:ln w="9525">
            <a:noFill/>
            <a:miter lim="800000"/>
          </a:ln>
        </p:spPr>
        <p:txBody>
          <a:bodyPr>
            <a:spAutoFit/>
          </a:bodyPr>
          <a:lstStyle/>
          <a:p>
            <a:pPr>
              <a:spcBef>
                <a:spcPct val="50000"/>
              </a:spcBef>
            </a:pPr>
            <a:r>
              <a:rPr kumimoji="1" lang="en-US" altLang="zh-CN" b="1"/>
              <a:t>(3) </a:t>
            </a:r>
            <a:r>
              <a:rPr kumimoji="1" lang="zh-CN" altLang="en-US" b="1">
                <a:latin typeface="楷体_GB2312" pitchFamily="49" charset="-122"/>
              </a:rPr>
              <a:t>系统经</a:t>
            </a:r>
            <a:r>
              <a:rPr kumimoji="1" lang="en-US" altLang="zh-CN" b="1" i="1"/>
              <a:t>db</a:t>
            </a:r>
            <a:r>
              <a:rPr kumimoji="1" lang="en-US" altLang="zh-CN" b="1" i="1">
                <a:latin typeface="Garamond" panose="02020404030301010803" pitchFamily="18" charset="0"/>
              </a:rPr>
              <a:t> </a:t>
            </a:r>
            <a:r>
              <a:rPr kumimoji="1" lang="zh-CN" altLang="en-US" b="1">
                <a:latin typeface="楷体_GB2312" pitchFamily="49" charset="-122"/>
              </a:rPr>
              <a:t>过程体积不变</a:t>
            </a:r>
            <a:r>
              <a:rPr kumimoji="1" lang="zh-CN" altLang="en-US" b="1">
                <a:latin typeface="宋体" panose="02010600030101010101" pitchFamily="2" charset="-122"/>
              </a:rPr>
              <a:t>，</a:t>
            </a:r>
            <a:r>
              <a:rPr kumimoji="1" lang="zh-CN" altLang="en-US" b="1">
                <a:latin typeface="楷体_GB2312" pitchFamily="49" charset="-122"/>
              </a:rPr>
              <a:t>故：</a:t>
            </a:r>
            <a:r>
              <a:rPr kumimoji="1" lang="zh-CN" altLang="en-US" b="1">
                <a:latin typeface="Garamond" panose="02020404030301010803" pitchFamily="18" charset="0"/>
              </a:rPr>
              <a:t> </a:t>
            </a:r>
            <a:endParaRPr kumimoji="1" lang="zh-CN" altLang="en-US" b="1">
              <a:latin typeface="Garamond" panose="02020404030301010803" pitchFamily="18" charset="0"/>
            </a:endParaRPr>
          </a:p>
        </p:txBody>
      </p:sp>
      <p:graphicFrame>
        <p:nvGraphicFramePr>
          <p:cNvPr id="55325" name="Object 29"/>
          <p:cNvGraphicFramePr>
            <a:graphicFrameLocks noChangeAspect="1"/>
          </p:cNvGraphicFramePr>
          <p:nvPr/>
        </p:nvGraphicFramePr>
        <p:xfrm>
          <a:off x="4716463" y="3068638"/>
          <a:ext cx="971550" cy="457200"/>
        </p:xfrm>
        <a:graphic>
          <a:graphicData uri="http://schemas.openxmlformats.org/presentationml/2006/ole">
            <mc:AlternateContent xmlns:mc="http://schemas.openxmlformats.org/markup-compatibility/2006">
              <mc:Choice xmlns:v="urn:schemas-microsoft-com:vml" Requires="v">
                <p:oleObj spid="_x0000_s28678" name="公式" r:id="rId9" imgW="11887200" imgH="5486400" progId="Equation.3">
                  <p:embed/>
                </p:oleObj>
              </mc:Choice>
              <mc:Fallback>
                <p:oleObj name="公式" r:id="rId9" imgW="11887200" imgH="5486400" progId="Equation.3">
                  <p:embed/>
                  <p:pic>
                    <p:nvPicPr>
                      <p:cNvPr id="0" name="Object 29"/>
                      <p:cNvPicPr>
                        <a:picLocks noChangeAspect="1"/>
                      </p:cNvPicPr>
                      <p:nvPr/>
                    </p:nvPicPr>
                    <p:blipFill>
                      <a:blip r:embed="rId10"/>
                      <a:stretch>
                        <a:fillRect/>
                      </a:stretch>
                    </p:blipFill>
                    <p:spPr>
                      <a:xfrm>
                        <a:off x="4716463" y="3068638"/>
                        <a:ext cx="971550" cy="457200"/>
                      </a:xfrm>
                      <a:prstGeom prst="rect">
                        <a:avLst/>
                      </a:prstGeom>
                      <a:noFill/>
                      <a:ln w="9525">
                        <a:noFill/>
                      </a:ln>
                    </p:spPr>
                  </p:pic>
                </p:oleObj>
              </mc:Fallback>
            </mc:AlternateContent>
          </a:graphicData>
        </a:graphic>
      </p:graphicFrame>
      <p:sp>
        <p:nvSpPr>
          <p:cNvPr id="55326" name="Text Box 30"/>
          <p:cNvSpPr txBox="1">
            <a:spLocks noChangeArrowheads="1"/>
          </p:cNvSpPr>
          <p:nvPr/>
        </p:nvSpPr>
        <p:spPr bwMode="auto">
          <a:xfrm>
            <a:off x="5878513" y="2995613"/>
            <a:ext cx="971550"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则：</a:t>
            </a:r>
            <a:endParaRPr lang="zh-CN" altLang="en-US" b="1">
              <a:latin typeface="Arial" panose="020B0604020202020204" pitchFamily="34" charset="0"/>
            </a:endParaRPr>
          </a:p>
        </p:txBody>
      </p:sp>
      <p:graphicFrame>
        <p:nvGraphicFramePr>
          <p:cNvPr id="55327" name="Object 31"/>
          <p:cNvGraphicFramePr>
            <a:graphicFrameLocks noChangeAspect="1"/>
          </p:cNvGraphicFramePr>
          <p:nvPr/>
        </p:nvGraphicFramePr>
        <p:xfrm>
          <a:off x="6681788" y="2995613"/>
          <a:ext cx="2247900" cy="504825"/>
        </p:xfrm>
        <a:graphic>
          <a:graphicData uri="http://schemas.openxmlformats.org/presentationml/2006/ole">
            <mc:AlternateContent xmlns:mc="http://schemas.openxmlformats.org/markup-compatibility/2006">
              <mc:Choice xmlns:v="urn:schemas-microsoft-com:vml" Requires="v">
                <p:oleObj spid="_x0000_s28679" name="公式" r:id="rId11" imgW="26822400" imgH="5486400" progId="Equation.3">
                  <p:embed/>
                </p:oleObj>
              </mc:Choice>
              <mc:Fallback>
                <p:oleObj name="公式" r:id="rId11" imgW="26822400" imgH="5486400" progId="Equation.3">
                  <p:embed/>
                  <p:pic>
                    <p:nvPicPr>
                      <p:cNvPr id="0" name="Object 31"/>
                      <p:cNvPicPr>
                        <a:picLocks noChangeAspect="1"/>
                      </p:cNvPicPr>
                      <p:nvPr/>
                    </p:nvPicPr>
                    <p:blipFill>
                      <a:blip r:embed="rId12"/>
                      <a:stretch>
                        <a:fillRect/>
                      </a:stretch>
                    </p:blipFill>
                    <p:spPr>
                      <a:xfrm>
                        <a:off x="6681788" y="2995613"/>
                        <a:ext cx="2247900" cy="504825"/>
                      </a:xfrm>
                      <a:prstGeom prst="rect">
                        <a:avLst/>
                      </a:prstGeom>
                      <a:noFill/>
                      <a:ln w="9525">
                        <a:noFill/>
                      </a:ln>
                    </p:spPr>
                  </p:pic>
                </p:oleObj>
              </mc:Fallback>
            </mc:AlternateContent>
          </a:graphicData>
        </a:graphic>
      </p:graphicFrame>
      <p:sp>
        <p:nvSpPr>
          <p:cNvPr id="55328" name="Text Box 32"/>
          <p:cNvSpPr txBox="1">
            <a:spLocks noChangeArrowheads="1"/>
          </p:cNvSpPr>
          <p:nvPr/>
        </p:nvSpPr>
        <p:spPr bwMode="auto">
          <a:xfrm>
            <a:off x="395288" y="3644900"/>
            <a:ext cx="5435600"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对</a:t>
            </a:r>
            <a:r>
              <a:rPr lang="en-US" altLang="zh-CN" b="1" i="1"/>
              <a:t>a</a:t>
            </a:r>
            <a:r>
              <a:rPr lang="en-US" altLang="zh-CN" b="1"/>
              <a:t>→</a:t>
            </a:r>
            <a:r>
              <a:rPr lang="en-US" altLang="zh-CN" b="1" i="1"/>
              <a:t>d </a:t>
            </a:r>
            <a:r>
              <a:rPr lang="zh-CN" altLang="en-US" b="1"/>
              <a:t>过程，由</a:t>
            </a:r>
            <a:r>
              <a:rPr lang="zh-CN" altLang="en-US" b="1">
                <a:solidFill>
                  <a:srgbClr val="FF6600"/>
                </a:solidFill>
              </a:rPr>
              <a:t>热力学第一定律</a:t>
            </a:r>
            <a:r>
              <a:rPr lang="zh-CN" altLang="en-US" b="1"/>
              <a:t>得：</a:t>
            </a:r>
            <a:endParaRPr lang="zh-CN" altLang="en-US" b="1"/>
          </a:p>
        </p:txBody>
      </p:sp>
      <p:graphicFrame>
        <p:nvGraphicFramePr>
          <p:cNvPr id="55329" name="Object 33"/>
          <p:cNvGraphicFramePr>
            <a:graphicFrameLocks noChangeAspect="1"/>
          </p:cNvGraphicFramePr>
          <p:nvPr/>
        </p:nvGraphicFramePr>
        <p:xfrm>
          <a:off x="649288" y="4121150"/>
          <a:ext cx="1766887" cy="457200"/>
        </p:xfrm>
        <a:graphic>
          <a:graphicData uri="http://schemas.openxmlformats.org/presentationml/2006/ole">
            <mc:AlternateContent xmlns:mc="http://schemas.openxmlformats.org/markup-compatibility/2006">
              <mc:Choice xmlns:v="urn:schemas-microsoft-com:vml" Requires="v">
                <p:oleObj spid="_x0000_s28680" name="Equation" r:id="rId13" imgW="25298400" imgH="5486400" progId="Equation.DSMT4">
                  <p:embed/>
                </p:oleObj>
              </mc:Choice>
              <mc:Fallback>
                <p:oleObj name="Equation" r:id="rId13" imgW="25298400" imgH="5486400" progId="Equation.DSMT4">
                  <p:embed/>
                  <p:pic>
                    <p:nvPicPr>
                      <p:cNvPr id="0" name="Object 33"/>
                      <p:cNvPicPr>
                        <a:picLocks noChangeAspect="1"/>
                      </p:cNvPicPr>
                      <p:nvPr/>
                    </p:nvPicPr>
                    <p:blipFill>
                      <a:blip r:embed="rId14"/>
                      <a:stretch>
                        <a:fillRect/>
                      </a:stretch>
                    </p:blipFill>
                    <p:spPr>
                      <a:xfrm>
                        <a:off x="649288" y="4121150"/>
                        <a:ext cx="1766887" cy="457200"/>
                      </a:xfrm>
                      <a:prstGeom prst="rect">
                        <a:avLst/>
                      </a:prstGeom>
                      <a:noFill/>
                      <a:ln w="9525">
                        <a:noFill/>
                      </a:ln>
                    </p:spPr>
                  </p:pic>
                </p:oleObj>
              </mc:Fallback>
            </mc:AlternateContent>
          </a:graphicData>
        </a:graphic>
      </p:graphicFrame>
      <p:graphicFrame>
        <p:nvGraphicFramePr>
          <p:cNvPr id="55330" name="Object 34"/>
          <p:cNvGraphicFramePr>
            <a:graphicFrameLocks noChangeAspect="1"/>
          </p:cNvGraphicFramePr>
          <p:nvPr/>
        </p:nvGraphicFramePr>
        <p:xfrm>
          <a:off x="2581275" y="4156075"/>
          <a:ext cx="1371600" cy="357188"/>
        </p:xfrm>
        <a:graphic>
          <a:graphicData uri="http://schemas.openxmlformats.org/presentationml/2006/ole">
            <mc:AlternateContent xmlns:mc="http://schemas.openxmlformats.org/markup-compatibility/2006">
              <mc:Choice xmlns:v="urn:schemas-microsoft-com:vml" Requires="v">
                <p:oleObj spid="_x0000_s28681" name="公式" r:id="rId15" imgW="16459200" imgH="4267200" progId="Equation.3">
                  <p:embed/>
                </p:oleObj>
              </mc:Choice>
              <mc:Fallback>
                <p:oleObj name="公式" r:id="rId15" imgW="16459200" imgH="4267200" progId="Equation.3">
                  <p:embed/>
                  <p:pic>
                    <p:nvPicPr>
                      <p:cNvPr id="0" name="Object 34"/>
                      <p:cNvPicPr>
                        <a:picLocks noChangeAspect="1"/>
                      </p:cNvPicPr>
                      <p:nvPr/>
                    </p:nvPicPr>
                    <p:blipFill>
                      <a:blip r:embed="rId16"/>
                      <a:stretch>
                        <a:fillRect/>
                      </a:stretch>
                    </p:blipFill>
                    <p:spPr>
                      <a:xfrm>
                        <a:off x="2581275" y="4156075"/>
                        <a:ext cx="1371600" cy="357188"/>
                      </a:xfrm>
                      <a:prstGeom prst="rect">
                        <a:avLst/>
                      </a:prstGeom>
                      <a:noFill/>
                      <a:ln w="9525">
                        <a:noFill/>
                      </a:ln>
                    </p:spPr>
                  </p:pic>
                </p:oleObj>
              </mc:Fallback>
            </mc:AlternateContent>
          </a:graphicData>
        </a:graphic>
      </p:graphicFrame>
      <p:graphicFrame>
        <p:nvGraphicFramePr>
          <p:cNvPr id="55331" name="Object 35"/>
          <p:cNvGraphicFramePr>
            <a:graphicFrameLocks noChangeAspect="1"/>
          </p:cNvGraphicFramePr>
          <p:nvPr/>
        </p:nvGraphicFramePr>
        <p:xfrm>
          <a:off x="4078288" y="4154488"/>
          <a:ext cx="1090612" cy="355600"/>
        </p:xfrm>
        <a:graphic>
          <a:graphicData uri="http://schemas.openxmlformats.org/presentationml/2006/ole">
            <mc:AlternateContent xmlns:mc="http://schemas.openxmlformats.org/markup-compatibility/2006">
              <mc:Choice xmlns:v="urn:schemas-microsoft-com:vml" Requires="v">
                <p:oleObj spid="_x0000_s28682" name="公式" r:id="rId17" imgW="13106400" imgH="4267200" progId="Equation.3">
                  <p:embed/>
                </p:oleObj>
              </mc:Choice>
              <mc:Fallback>
                <p:oleObj name="公式" r:id="rId17" imgW="13106400" imgH="4267200" progId="Equation.3">
                  <p:embed/>
                  <p:pic>
                    <p:nvPicPr>
                      <p:cNvPr id="0" name="Object 35"/>
                      <p:cNvPicPr>
                        <a:picLocks noChangeAspect="1"/>
                      </p:cNvPicPr>
                      <p:nvPr/>
                    </p:nvPicPr>
                    <p:blipFill>
                      <a:blip r:embed="rId18"/>
                      <a:stretch>
                        <a:fillRect/>
                      </a:stretch>
                    </p:blipFill>
                    <p:spPr>
                      <a:xfrm>
                        <a:off x="4078288" y="4154488"/>
                        <a:ext cx="1090612" cy="355600"/>
                      </a:xfrm>
                      <a:prstGeom prst="rect">
                        <a:avLst/>
                      </a:prstGeom>
                      <a:noFill/>
                      <a:ln w="9525">
                        <a:noFill/>
                      </a:ln>
                    </p:spPr>
                  </p:pic>
                </p:oleObj>
              </mc:Fallback>
            </mc:AlternateContent>
          </a:graphicData>
        </a:graphic>
      </p:graphicFrame>
      <p:sp>
        <p:nvSpPr>
          <p:cNvPr id="55332" name="Text Box 36"/>
          <p:cNvSpPr txBox="1">
            <a:spLocks noChangeArrowheads="1"/>
          </p:cNvSpPr>
          <p:nvPr/>
        </p:nvSpPr>
        <p:spPr bwMode="auto">
          <a:xfrm>
            <a:off x="5435600" y="4076700"/>
            <a:ext cx="3060700"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该过程系统是</a:t>
            </a:r>
            <a:r>
              <a:rPr lang="zh-CN" altLang="en-US" b="1">
                <a:solidFill>
                  <a:srgbClr val="FF6600"/>
                </a:solidFill>
                <a:latin typeface="Arial" panose="020B0604020202020204" pitchFamily="34" charset="0"/>
              </a:rPr>
              <a:t>吸热的</a:t>
            </a:r>
            <a:endParaRPr lang="zh-CN" altLang="en-US" b="1">
              <a:solidFill>
                <a:srgbClr val="FF6600"/>
              </a:solidFill>
              <a:latin typeface="Arial" panose="020B0604020202020204" pitchFamily="34" charset="0"/>
            </a:endParaRPr>
          </a:p>
        </p:txBody>
      </p:sp>
      <p:graphicFrame>
        <p:nvGraphicFramePr>
          <p:cNvPr id="55333" name="Object 37"/>
          <p:cNvGraphicFramePr>
            <a:graphicFrameLocks noChangeAspect="1"/>
          </p:cNvGraphicFramePr>
          <p:nvPr/>
        </p:nvGraphicFramePr>
        <p:xfrm>
          <a:off x="496888" y="5156200"/>
          <a:ext cx="1636712" cy="457200"/>
        </p:xfrm>
        <a:graphic>
          <a:graphicData uri="http://schemas.openxmlformats.org/presentationml/2006/ole">
            <mc:AlternateContent xmlns:mc="http://schemas.openxmlformats.org/markup-compatibility/2006">
              <mc:Choice xmlns:v="urn:schemas-microsoft-com:vml" Requires="v">
                <p:oleObj spid="_x0000_s28683" name="Equation" r:id="rId19" imgW="24688800" imgH="5486400" progId="Equation.DSMT4">
                  <p:embed/>
                </p:oleObj>
              </mc:Choice>
              <mc:Fallback>
                <p:oleObj name="Equation" r:id="rId19" imgW="24688800" imgH="5486400" progId="Equation.DSMT4">
                  <p:embed/>
                  <p:pic>
                    <p:nvPicPr>
                      <p:cNvPr id="0" name="Object 37"/>
                      <p:cNvPicPr>
                        <a:picLocks noChangeAspect="1"/>
                      </p:cNvPicPr>
                      <p:nvPr/>
                    </p:nvPicPr>
                    <p:blipFill>
                      <a:blip r:embed="rId20"/>
                      <a:stretch>
                        <a:fillRect/>
                      </a:stretch>
                    </p:blipFill>
                    <p:spPr>
                      <a:xfrm>
                        <a:off x="496888" y="5156200"/>
                        <a:ext cx="1636712" cy="457200"/>
                      </a:xfrm>
                      <a:prstGeom prst="rect">
                        <a:avLst/>
                      </a:prstGeom>
                      <a:noFill/>
                      <a:ln w="9525">
                        <a:noFill/>
                      </a:ln>
                    </p:spPr>
                  </p:pic>
                </p:oleObj>
              </mc:Fallback>
            </mc:AlternateContent>
          </a:graphicData>
        </a:graphic>
      </p:graphicFrame>
      <p:sp>
        <p:nvSpPr>
          <p:cNvPr id="55334" name="Text Box 38"/>
          <p:cNvSpPr txBox="1">
            <a:spLocks noChangeArrowheads="1"/>
          </p:cNvSpPr>
          <p:nvPr/>
        </p:nvSpPr>
        <p:spPr bwMode="auto">
          <a:xfrm>
            <a:off x="323850" y="4652963"/>
            <a:ext cx="5229225"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对</a:t>
            </a:r>
            <a:r>
              <a:rPr lang="en-US" altLang="zh-CN" b="1" i="1"/>
              <a:t>d</a:t>
            </a:r>
            <a:r>
              <a:rPr lang="en-US" altLang="zh-CN" b="1"/>
              <a:t>→</a:t>
            </a:r>
            <a:r>
              <a:rPr lang="en-US" altLang="zh-CN" b="1" i="1"/>
              <a:t>b </a:t>
            </a:r>
            <a:r>
              <a:rPr lang="zh-CN" altLang="en-US" b="1"/>
              <a:t>过程，由</a:t>
            </a:r>
            <a:r>
              <a:rPr lang="zh-CN" altLang="en-US" b="1">
                <a:solidFill>
                  <a:srgbClr val="FF6600"/>
                </a:solidFill>
              </a:rPr>
              <a:t>热力学第一定律</a:t>
            </a:r>
            <a:r>
              <a:rPr lang="zh-CN" altLang="en-US" b="1"/>
              <a:t>得：</a:t>
            </a:r>
            <a:endParaRPr lang="zh-CN" altLang="en-US" b="1"/>
          </a:p>
        </p:txBody>
      </p:sp>
      <p:graphicFrame>
        <p:nvGraphicFramePr>
          <p:cNvPr id="55335" name="Object 39"/>
          <p:cNvGraphicFramePr>
            <a:graphicFrameLocks noChangeAspect="1"/>
          </p:cNvGraphicFramePr>
          <p:nvPr/>
        </p:nvGraphicFramePr>
        <p:xfrm>
          <a:off x="2249488" y="5173663"/>
          <a:ext cx="1984375" cy="457200"/>
        </p:xfrm>
        <a:graphic>
          <a:graphicData uri="http://schemas.openxmlformats.org/presentationml/2006/ole">
            <mc:AlternateContent xmlns:mc="http://schemas.openxmlformats.org/markup-compatibility/2006">
              <mc:Choice xmlns:v="urn:schemas-microsoft-com:vml" Requires="v">
                <p:oleObj spid="_x0000_s28684" name="公式" r:id="rId21" imgW="23774400" imgH="5486400" progId="Equation.3">
                  <p:embed/>
                </p:oleObj>
              </mc:Choice>
              <mc:Fallback>
                <p:oleObj name="公式" r:id="rId21" imgW="23774400" imgH="5486400" progId="Equation.3">
                  <p:embed/>
                  <p:pic>
                    <p:nvPicPr>
                      <p:cNvPr id="0" name="Object 39"/>
                      <p:cNvPicPr>
                        <a:picLocks noChangeAspect="1"/>
                      </p:cNvPicPr>
                      <p:nvPr/>
                    </p:nvPicPr>
                    <p:blipFill>
                      <a:blip r:embed="rId22"/>
                      <a:stretch>
                        <a:fillRect/>
                      </a:stretch>
                    </p:blipFill>
                    <p:spPr>
                      <a:xfrm>
                        <a:off x="2249488" y="5173663"/>
                        <a:ext cx="1984375" cy="457200"/>
                      </a:xfrm>
                      <a:prstGeom prst="rect">
                        <a:avLst/>
                      </a:prstGeom>
                      <a:noFill/>
                      <a:ln w="9525">
                        <a:noFill/>
                      </a:ln>
                    </p:spPr>
                  </p:pic>
                </p:oleObj>
              </mc:Fallback>
            </mc:AlternateContent>
          </a:graphicData>
        </a:graphic>
      </p:graphicFrame>
      <p:graphicFrame>
        <p:nvGraphicFramePr>
          <p:cNvPr id="55336" name="Object 40"/>
          <p:cNvGraphicFramePr>
            <a:graphicFrameLocks noChangeAspect="1"/>
          </p:cNvGraphicFramePr>
          <p:nvPr/>
        </p:nvGraphicFramePr>
        <p:xfrm>
          <a:off x="4211638" y="5156200"/>
          <a:ext cx="3021012" cy="457200"/>
        </p:xfrm>
        <a:graphic>
          <a:graphicData uri="http://schemas.openxmlformats.org/presentationml/2006/ole">
            <mc:AlternateContent xmlns:mc="http://schemas.openxmlformats.org/markup-compatibility/2006">
              <mc:Choice xmlns:v="urn:schemas-microsoft-com:vml" Requires="v">
                <p:oleObj spid="_x0000_s28685" name="公式" r:id="rId23" imgW="36271200" imgH="5486400" progId="Equation.3">
                  <p:embed/>
                </p:oleObj>
              </mc:Choice>
              <mc:Fallback>
                <p:oleObj name="公式" r:id="rId23" imgW="36271200" imgH="5486400" progId="Equation.3">
                  <p:embed/>
                  <p:pic>
                    <p:nvPicPr>
                      <p:cNvPr id="0" name="Object 40"/>
                      <p:cNvPicPr>
                        <a:picLocks noChangeAspect="1"/>
                      </p:cNvPicPr>
                      <p:nvPr/>
                    </p:nvPicPr>
                    <p:blipFill>
                      <a:blip r:embed="rId24"/>
                      <a:stretch>
                        <a:fillRect/>
                      </a:stretch>
                    </p:blipFill>
                    <p:spPr>
                      <a:xfrm>
                        <a:off x="4211638" y="5156200"/>
                        <a:ext cx="3021012" cy="457200"/>
                      </a:xfrm>
                      <a:prstGeom prst="rect">
                        <a:avLst/>
                      </a:prstGeom>
                      <a:noFill/>
                      <a:ln w="9525">
                        <a:noFill/>
                      </a:ln>
                    </p:spPr>
                  </p:pic>
                </p:oleObj>
              </mc:Fallback>
            </mc:AlternateContent>
          </a:graphicData>
        </a:graphic>
      </p:graphicFrame>
      <p:graphicFrame>
        <p:nvGraphicFramePr>
          <p:cNvPr id="55337" name="Object 41"/>
          <p:cNvGraphicFramePr>
            <a:graphicFrameLocks noChangeAspect="1"/>
          </p:cNvGraphicFramePr>
          <p:nvPr/>
        </p:nvGraphicFramePr>
        <p:xfrm>
          <a:off x="2663825" y="5732463"/>
          <a:ext cx="1527175" cy="355600"/>
        </p:xfrm>
        <a:graphic>
          <a:graphicData uri="http://schemas.openxmlformats.org/presentationml/2006/ole">
            <mc:AlternateContent xmlns:mc="http://schemas.openxmlformats.org/markup-compatibility/2006">
              <mc:Choice xmlns:v="urn:schemas-microsoft-com:vml" Requires="v">
                <p:oleObj spid="_x0000_s28686" name="公式" r:id="rId25" imgW="18288000" imgH="4267200" progId="Equation.3">
                  <p:embed/>
                </p:oleObj>
              </mc:Choice>
              <mc:Fallback>
                <p:oleObj name="公式" r:id="rId25" imgW="18288000" imgH="4267200" progId="Equation.3">
                  <p:embed/>
                  <p:pic>
                    <p:nvPicPr>
                      <p:cNvPr id="0" name="Object 41"/>
                      <p:cNvPicPr>
                        <a:picLocks noChangeAspect="1"/>
                      </p:cNvPicPr>
                      <p:nvPr/>
                    </p:nvPicPr>
                    <p:blipFill>
                      <a:blip r:embed="rId26"/>
                      <a:stretch>
                        <a:fillRect/>
                      </a:stretch>
                    </p:blipFill>
                    <p:spPr>
                      <a:xfrm>
                        <a:off x="2663825" y="5732463"/>
                        <a:ext cx="1527175" cy="355600"/>
                      </a:xfrm>
                      <a:prstGeom prst="rect">
                        <a:avLst/>
                      </a:prstGeom>
                      <a:noFill/>
                      <a:ln w="9525">
                        <a:noFill/>
                      </a:ln>
                    </p:spPr>
                  </p:pic>
                </p:oleObj>
              </mc:Fallback>
            </mc:AlternateContent>
          </a:graphicData>
        </a:graphic>
      </p:graphicFrame>
      <p:graphicFrame>
        <p:nvGraphicFramePr>
          <p:cNvPr id="55338" name="Object 42"/>
          <p:cNvGraphicFramePr>
            <a:graphicFrameLocks noChangeAspect="1"/>
          </p:cNvGraphicFramePr>
          <p:nvPr/>
        </p:nvGraphicFramePr>
        <p:xfrm>
          <a:off x="900113" y="5732463"/>
          <a:ext cx="1854200" cy="457200"/>
        </p:xfrm>
        <a:graphic>
          <a:graphicData uri="http://schemas.openxmlformats.org/presentationml/2006/ole">
            <mc:AlternateContent xmlns:mc="http://schemas.openxmlformats.org/markup-compatibility/2006">
              <mc:Choice xmlns:v="urn:schemas-microsoft-com:vml" Requires="v">
                <p:oleObj spid="_x0000_s28687" name="公式" r:id="rId27" imgW="22250400" imgH="5486400" progId="Equation.3">
                  <p:embed/>
                </p:oleObj>
              </mc:Choice>
              <mc:Fallback>
                <p:oleObj name="公式" r:id="rId27" imgW="22250400" imgH="5486400" progId="Equation.3">
                  <p:embed/>
                  <p:pic>
                    <p:nvPicPr>
                      <p:cNvPr id="0" name="Object 42"/>
                      <p:cNvPicPr>
                        <a:picLocks noChangeAspect="1"/>
                      </p:cNvPicPr>
                      <p:nvPr/>
                    </p:nvPicPr>
                    <p:blipFill>
                      <a:blip r:embed="rId28"/>
                      <a:stretch>
                        <a:fillRect/>
                      </a:stretch>
                    </p:blipFill>
                    <p:spPr>
                      <a:xfrm>
                        <a:off x="900113" y="5732463"/>
                        <a:ext cx="1854200" cy="457200"/>
                      </a:xfrm>
                      <a:prstGeom prst="rect">
                        <a:avLst/>
                      </a:prstGeom>
                      <a:noFill/>
                      <a:ln w="9525">
                        <a:noFill/>
                      </a:ln>
                    </p:spPr>
                  </p:pic>
                </p:oleObj>
              </mc:Fallback>
            </mc:AlternateContent>
          </a:graphicData>
        </a:graphic>
      </p:graphicFrame>
      <p:graphicFrame>
        <p:nvGraphicFramePr>
          <p:cNvPr id="55339" name="Object 43"/>
          <p:cNvGraphicFramePr>
            <a:graphicFrameLocks noChangeAspect="1"/>
          </p:cNvGraphicFramePr>
          <p:nvPr/>
        </p:nvGraphicFramePr>
        <p:xfrm>
          <a:off x="4211638" y="5737225"/>
          <a:ext cx="942975" cy="355600"/>
        </p:xfrm>
        <a:graphic>
          <a:graphicData uri="http://schemas.openxmlformats.org/presentationml/2006/ole">
            <mc:AlternateContent xmlns:mc="http://schemas.openxmlformats.org/markup-compatibility/2006">
              <mc:Choice xmlns:v="urn:schemas-microsoft-com:vml" Requires="v">
                <p:oleObj spid="_x0000_s28688" name="公式" r:id="rId29" imgW="11277600" imgH="4267200" progId="Equation.3">
                  <p:embed/>
                </p:oleObj>
              </mc:Choice>
              <mc:Fallback>
                <p:oleObj name="公式" r:id="rId29" imgW="11277600" imgH="4267200" progId="Equation.3">
                  <p:embed/>
                  <p:pic>
                    <p:nvPicPr>
                      <p:cNvPr id="0" name="Object 43"/>
                      <p:cNvPicPr>
                        <a:picLocks noChangeAspect="1"/>
                      </p:cNvPicPr>
                      <p:nvPr/>
                    </p:nvPicPr>
                    <p:blipFill>
                      <a:blip r:embed="rId30"/>
                      <a:stretch>
                        <a:fillRect/>
                      </a:stretch>
                    </p:blipFill>
                    <p:spPr>
                      <a:xfrm>
                        <a:off x="4211638" y="5737225"/>
                        <a:ext cx="942975" cy="355600"/>
                      </a:xfrm>
                      <a:prstGeom prst="rect">
                        <a:avLst/>
                      </a:prstGeom>
                      <a:noFill/>
                      <a:ln w="9525">
                        <a:noFill/>
                      </a:ln>
                    </p:spPr>
                  </p:pic>
                </p:oleObj>
              </mc:Fallback>
            </mc:AlternateContent>
          </a:graphicData>
        </a:graphic>
      </p:graphicFrame>
      <p:sp>
        <p:nvSpPr>
          <p:cNvPr id="55340" name="Text Box 44"/>
          <p:cNvSpPr txBox="1">
            <a:spLocks noChangeArrowheads="1"/>
          </p:cNvSpPr>
          <p:nvPr/>
        </p:nvSpPr>
        <p:spPr bwMode="auto">
          <a:xfrm>
            <a:off x="5435600" y="5732463"/>
            <a:ext cx="3384550" cy="457200"/>
          </a:xfrm>
          <a:prstGeom prst="rect">
            <a:avLst/>
          </a:prstGeom>
          <a:noFill/>
          <a:ln w="9525">
            <a:noFill/>
            <a:miter lim="800000"/>
          </a:ln>
        </p:spPr>
        <p:txBody>
          <a:bodyPr>
            <a:spAutoFit/>
          </a:bodyPr>
          <a:lstStyle/>
          <a:p>
            <a:pPr>
              <a:spcBef>
                <a:spcPct val="50000"/>
              </a:spcBef>
            </a:pPr>
            <a:r>
              <a:rPr lang="zh-CN" altLang="en-US" b="1">
                <a:latin typeface="Arial" panose="020B0604020202020204" pitchFamily="34" charset="0"/>
              </a:rPr>
              <a:t>该过程，系统是</a:t>
            </a:r>
            <a:r>
              <a:rPr lang="zh-CN" altLang="en-US" b="1">
                <a:solidFill>
                  <a:srgbClr val="FF6600"/>
                </a:solidFill>
                <a:latin typeface="Arial" panose="020B0604020202020204" pitchFamily="34" charset="0"/>
              </a:rPr>
              <a:t>吸热的</a:t>
            </a:r>
            <a:endParaRPr lang="zh-CN" altLang="en-US" b="1">
              <a:solidFill>
                <a:srgbClr val="FF66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318"/>
                                        </p:tgtEl>
                                        <p:attrNameLst>
                                          <p:attrName>style.visibility</p:attrName>
                                        </p:attrNameLst>
                                      </p:cBhvr>
                                      <p:to>
                                        <p:strVal val="visible"/>
                                      </p:to>
                                    </p:set>
                                    <p:animEffect transition="in" filter="wipe(left)">
                                      <p:cBhvr>
                                        <p:cTn id="7" dur="500"/>
                                        <p:tgtEl>
                                          <p:spTgt spid="553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5319"/>
                                        </p:tgtEl>
                                        <p:attrNameLst>
                                          <p:attrName>style.visibility</p:attrName>
                                        </p:attrNameLst>
                                      </p:cBhvr>
                                      <p:to>
                                        <p:strVal val="visible"/>
                                      </p:to>
                                    </p:set>
                                    <p:animEffect transition="in" filter="wipe(left)">
                                      <p:cBhvr>
                                        <p:cTn id="12" dur="500"/>
                                        <p:tgtEl>
                                          <p:spTgt spid="553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5320"/>
                                        </p:tgtEl>
                                        <p:attrNameLst>
                                          <p:attrName>style.visibility</p:attrName>
                                        </p:attrNameLst>
                                      </p:cBhvr>
                                      <p:to>
                                        <p:strVal val="visible"/>
                                      </p:to>
                                    </p:set>
                                    <p:animEffect transition="in" filter="wipe(left)">
                                      <p:cBhvr>
                                        <p:cTn id="17" dur="500"/>
                                        <p:tgtEl>
                                          <p:spTgt spid="553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5321"/>
                                        </p:tgtEl>
                                        <p:attrNameLst>
                                          <p:attrName>style.visibility</p:attrName>
                                        </p:attrNameLst>
                                      </p:cBhvr>
                                      <p:to>
                                        <p:strVal val="visible"/>
                                      </p:to>
                                    </p:set>
                                    <p:animEffect transition="in" filter="wipe(down)">
                                      <p:cBhvr>
                                        <p:cTn id="22" dur="500"/>
                                        <p:tgtEl>
                                          <p:spTgt spid="553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5322"/>
                                        </p:tgtEl>
                                        <p:attrNameLst>
                                          <p:attrName>style.visibility</p:attrName>
                                        </p:attrNameLst>
                                      </p:cBhvr>
                                      <p:to>
                                        <p:strVal val="visible"/>
                                      </p:to>
                                    </p:set>
                                    <p:animEffect transition="in" filter="wipe(left)">
                                      <p:cBhvr>
                                        <p:cTn id="27" dur="500"/>
                                        <p:tgtEl>
                                          <p:spTgt spid="553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5323"/>
                                        </p:tgtEl>
                                        <p:attrNameLst>
                                          <p:attrName>style.visibility</p:attrName>
                                        </p:attrNameLst>
                                      </p:cBhvr>
                                      <p:to>
                                        <p:strVal val="visible"/>
                                      </p:to>
                                    </p:set>
                                    <p:animEffect transition="in" filter="wipe(left)">
                                      <p:cBhvr>
                                        <p:cTn id="32" dur="500"/>
                                        <p:tgtEl>
                                          <p:spTgt spid="553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5324"/>
                                        </p:tgtEl>
                                        <p:attrNameLst>
                                          <p:attrName>style.visibility</p:attrName>
                                        </p:attrNameLst>
                                      </p:cBhvr>
                                      <p:to>
                                        <p:strVal val="visible"/>
                                      </p:to>
                                    </p:set>
                                    <p:animEffect transition="in" filter="wipe(left)">
                                      <p:cBhvr>
                                        <p:cTn id="37" dur="500"/>
                                        <p:tgtEl>
                                          <p:spTgt spid="553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5325"/>
                                        </p:tgtEl>
                                        <p:attrNameLst>
                                          <p:attrName>style.visibility</p:attrName>
                                        </p:attrNameLst>
                                      </p:cBhvr>
                                      <p:to>
                                        <p:strVal val="visible"/>
                                      </p:to>
                                    </p:set>
                                    <p:animEffect transition="in" filter="wipe(left)">
                                      <p:cBhvr>
                                        <p:cTn id="42" dur="500"/>
                                        <p:tgtEl>
                                          <p:spTgt spid="553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5326"/>
                                        </p:tgtEl>
                                        <p:attrNameLst>
                                          <p:attrName>style.visibility</p:attrName>
                                        </p:attrNameLst>
                                      </p:cBhvr>
                                      <p:to>
                                        <p:strVal val="visible"/>
                                      </p:to>
                                    </p:set>
                                    <p:animEffect transition="in" filter="wipe(left)">
                                      <p:cBhvr>
                                        <p:cTn id="47" dur="500"/>
                                        <p:tgtEl>
                                          <p:spTgt spid="55326"/>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55327"/>
                                        </p:tgtEl>
                                        <p:attrNameLst>
                                          <p:attrName>style.visibility</p:attrName>
                                        </p:attrNameLst>
                                      </p:cBhvr>
                                      <p:to>
                                        <p:strVal val="visible"/>
                                      </p:to>
                                    </p:set>
                                    <p:animEffect transition="in" filter="wipe(left)">
                                      <p:cBhvr>
                                        <p:cTn id="51" dur="500"/>
                                        <p:tgtEl>
                                          <p:spTgt spid="5532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55328"/>
                                        </p:tgtEl>
                                        <p:attrNameLst>
                                          <p:attrName>style.visibility</p:attrName>
                                        </p:attrNameLst>
                                      </p:cBhvr>
                                      <p:to>
                                        <p:strVal val="visible"/>
                                      </p:to>
                                    </p:set>
                                    <p:animEffect transition="in" filter="wipe(left)">
                                      <p:cBhvr>
                                        <p:cTn id="56" dur="500"/>
                                        <p:tgtEl>
                                          <p:spTgt spid="5532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55329"/>
                                        </p:tgtEl>
                                        <p:attrNameLst>
                                          <p:attrName>style.visibility</p:attrName>
                                        </p:attrNameLst>
                                      </p:cBhvr>
                                      <p:to>
                                        <p:strVal val="visible"/>
                                      </p:to>
                                    </p:set>
                                    <p:animEffect transition="in" filter="wipe(down)">
                                      <p:cBhvr>
                                        <p:cTn id="61" dur="500"/>
                                        <p:tgtEl>
                                          <p:spTgt spid="5532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55330"/>
                                        </p:tgtEl>
                                        <p:attrNameLst>
                                          <p:attrName>style.visibility</p:attrName>
                                        </p:attrNameLst>
                                      </p:cBhvr>
                                      <p:to>
                                        <p:strVal val="visible"/>
                                      </p:to>
                                    </p:set>
                                    <p:animEffect transition="in" filter="wipe(left)">
                                      <p:cBhvr>
                                        <p:cTn id="66" dur="500"/>
                                        <p:tgtEl>
                                          <p:spTgt spid="55330"/>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55331"/>
                                        </p:tgtEl>
                                        <p:attrNameLst>
                                          <p:attrName>style.visibility</p:attrName>
                                        </p:attrNameLst>
                                      </p:cBhvr>
                                      <p:to>
                                        <p:strVal val="visible"/>
                                      </p:to>
                                    </p:set>
                                    <p:animEffect transition="in" filter="blinds(horizontal)">
                                      <p:cBhvr>
                                        <p:cTn id="71" dur="500"/>
                                        <p:tgtEl>
                                          <p:spTgt spid="5533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55332"/>
                                        </p:tgtEl>
                                        <p:attrNameLst>
                                          <p:attrName>style.visibility</p:attrName>
                                        </p:attrNameLst>
                                      </p:cBhvr>
                                      <p:to>
                                        <p:strVal val="visible"/>
                                      </p:to>
                                    </p:set>
                                    <p:animEffect transition="in" filter="wipe(left)">
                                      <p:cBhvr>
                                        <p:cTn id="76" dur="500"/>
                                        <p:tgtEl>
                                          <p:spTgt spid="5533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55334"/>
                                        </p:tgtEl>
                                        <p:attrNameLst>
                                          <p:attrName>style.visibility</p:attrName>
                                        </p:attrNameLst>
                                      </p:cBhvr>
                                      <p:to>
                                        <p:strVal val="visible"/>
                                      </p:to>
                                    </p:set>
                                    <p:animEffect transition="in" filter="wipe(left)">
                                      <p:cBhvr>
                                        <p:cTn id="81" dur="500"/>
                                        <p:tgtEl>
                                          <p:spTgt spid="5533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55333"/>
                                        </p:tgtEl>
                                        <p:attrNameLst>
                                          <p:attrName>style.visibility</p:attrName>
                                        </p:attrNameLst>
                                      </p:cBhvr>
                                      <p:to>
                                        <p:strVal val="visible"/>
                                      </p:to>
                                    </p:set>
                                    <p:animEffect transition="in" filter="wipe(left)">
                                      <p:cBhvr>
                                        <p:cTn id="86" dur="500"/>
                                        <p:tgtEl>
                                          <p:spTgt spid="55333"/>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55335"/>
                                        </p:tgtEl>
                                        <p:attrNameLst>
                                          <p:attrName>style.visibility</p:attrName>
                                        </p:attrNameLst>
                                      </p:cBhvr>
                                      <p:to>
                                        <p:strVal val="visible"/>
                                      </p:to>
                                    </p:set>
                                    <p:animEffect transition="in" filter="wipe(left)">
                                      <p:cBhvr>
                                        <p:cTn id="91" dur="500"/>
                                        <p:tgtEl>
                                          <p:spTgt spid="5533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55336"/>
                                        </p:tgtEl>
                                        <p:attrNameLst>
                                          <p:attrName>style.visibility</p:attrName>
                                        </p:attrNameLst>
                                      </p:cBhvr>
                                      <p:to>
                                        <p:strVal val="visible"/>
                                      </p:to>
                                    </p:set>
                                    <p:animEffect transition="in" filter="wipe(left)">
                                      <p:cBhvr>
                                        <p:cTn id="96" dur="500"/>
                                        <p:tgtEl>
                                          <p:spTgt spid="55336"/>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55338"/>
                                        </p:tgtEl>
                                        <p:attrNameLst>
                                          <p:attrName>style.visibility</p:attrName>
                                        </p:attrNameLst>
                                      </p:cBhvr>
                                      <p:to>
                                        <p:strVal val="visible"/>
                                      </p:to>
                                    </p:set>
                                    <p:animEffect transition="in" filter="wipe(left)">
                                      <p:cBhvr>
                                        <p:cTn id="101" dur="500"/>
                                        <p:tgtEl>
                                          <p:spTgt spid="55338"/>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55337"/>
                                        </p:tgtEl>
                                        <p:attrNameLst>
                                          <p:attrName>style.visibility</p:attrName>
                                        </p:attrNameLst>
                                      </p:cBhvr>
                                      <p:to>
                                        <p:strVal val="visible"/>
                                      </p:to>
                                    </p:set>
                                    <p:animEffect transition="in" filter="wipe(left)">
                                      <p:cBhvr>
                                        <p:cTn id="106" dur="500"/>
                                        <p:tgtEl>
                                          <p:spTgt spid="55337"/>
                                        </p:tgtEl>
                                      </p:cBhvr>
                                    </p:animEffect>
                                  </p:childTnLst>
                                </p:cTn>
                              </p:par>
                            </p:childTnLst>
                          </p:cTn>
                        </p:par>
                        <p:par>
                          <p:cTn id="107" fill="hold">
                            <p:stCondLst>
                              <p:cond delay="500"/>
                            </p:stCondLst>
                            <p:childTnLst>
                              <p:par>
                                <p:cTn id="108" presetID="22" presetClass="entr" presetSubtype="4" fill="hold" nodeType="afterEffect">
                                  <p:stCondLst>
                                    <p:cond delay="0"/>
                                  </p:stCondLst>
                                  <p:childTnLst>
                                    <p:set>
                                      <p:cBhvr>
                                        <p:cTn id="109" dur="1" fill="hold">
                                          <p:stCondLst>
                                            <p:cond delay="0"/>
                                          </p:stCondLst>
                                        </p:cTn>
                                        <p:tgtEl>
                                          <p:spTgt spid="55339"/>
                                        </p:tgtEl>
                                        <p:attrNameLst>
                                          <p:attrName>style.visibility</p:attrName>
                                        </p:attrNameLst>
                                      </p:cBhvr>
                                      <p:to>
                                        <p:strVal val="visible"/>
                                      </p:to>
                                    </p:set>
                                    <p:animEffect transition="in" filter="wipe(down)">
                                      <p:cBhvr>
                                        <p:cTn id="110" dur="500"/>
                                        <p:tgtEl>
                                          <p:spTgt spid="55339"/>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55340"/>
                                        </p:tgtEl>
                                        <p:attrNameLst>
                                          <p:attrName>style.visibility</p:attrName>
                                        </p:attrNameLst>
                                      </p:cBhvr>
                                      <p:to>
                                        <p:strVal val="visible"/>
                                      </p:to>
                                    </p:set>
                                    <p:animEffect transition="in" filter="wipe(left)">
                                      <p:cBhvr>
                                        <p:cTn id="115" dur="500"/>
                                        <p:tgtEl>
                                          <p:spTgt spid="55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18" grpId="0"/>
      <p:bldP spid="55323" grpId="0"/>
      <p:bldP spid="55324" grpId="0"/>
      <p:bldP spid="55326" grpId="0"/>
      <p:bldP spid="55328" grpId="0"/>
      <p:bldP spid="55332" grpId="0"/>
      <p:bldP spid="55334" grpId="0"/>
      <p:bldP spid="5534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2"/>
          <p:cNvSpPr txBox="1">
            <a:spLocks noChangeArrowheads="1"/>
          </p:cNvSpPr>
          <p:nvPr/>
        </p:nvSpPr>
        <p:spPr bwMode="auto">
          <a:xfrm>
            <a:off x="701675" y="503238"/>
            <a:ext cx="7799388" cy="933450"/>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solidFill>
                  <a:schemeClr val="tx2"/>
                </a:solidFill>
                <a:latin typeface="宋体" panose="02010600030101010101" pitchFamily="2" charset="-122"/>
              </a:rPr>
              <a:t>质量为 </a:t>
            </a:r>
            <a:r>
              <a:rPr kumimoji="1" lang="en-US" altLang="zh-CN" b="1">
                <a:solidFill>
                  <a:srgbClr val="FF6600"/>
                </a:solidFill>
              </a:rPr>
              <a:t>2.8 g </a:t>
            </a:r>
            <a:r>
              <a:rPr kumimoji="1" lang="zh-CN" altLang="en-US" b="1">
                <a:solidFill>
                  <a:schemeClr val="tx2"/>
                </a:solidFill>
                <a:latin typeface="宋体" panose="02010600030101010101" pitchFamily="2" charset="-122"/>
              </a:rPr>
              <a:t>，温度为 </a:t>
            </a:r>
            <a:r>
              <a:rPr kumimoji="1" lang="en-US" altLang="zh-CN" b="1">
                <a:solidFill>
                  <a:srgbClr val="FF6600"/>
                </a:solidFill>
              </a:rPr>
              <a:t>300 K </a:t>
            </a:r>
            <a:r>
              <a:rPr kumimoji="1" lang="zh-CN" altLang="en-US" b="1">
                <a:solidFill>
                  <a:schemeClr val="tx2"/>
                </a:solidFill>
                <a:latin typeface="宋体" panose="02010600030101010101" pitchFamily="2" charset="-122"/>
              </a:rPr>
              <a:t>，压强为 </a:t>
            </a:r>
            <a:r>
              <a:rPr kumimoji="1" lang="en-US" altLang="zh-CN" b="1">
                <a:solidFill>
                  <a:srgbClr val="FF6600"/>
                </a:solidFill>
              </a:rPr>
              <a:t>1 atm </a:t>
            </a:r>
            <a:r>
              <a:rPr kumimoji="1" lang="zh-CN" altLang="en-US" b="1">
                <a:solidFill>
                  <a:schemeClr val="tx2"/>
                </a:solidFill>
                <a:latin typeface="宋体" panose="02010600030101010101" pitchFamily="2" charset="-122"/>
              </a:rPr>
              <a:t>的氮气， </a:t>
            </a:r>
            <a:r>
              <a:rPr kumimoji="1" lang="zh-CN" altLang="en-US" b="1">
                <a:solidFill>
                  <a:srgbClr val="FF6600"/>
                </a:solidFill>
                <a:latin typeface="宋体" panose="02010600030101010101" pitchFamily="2" charset="-122"/>
              </a:rPr>
              <a:t>等压</a:t>
            </a:r>
            <a:r>
              <a:rPr kumimoji="1" lang="zh-CN" altLang="en-US" b="1">
                <a:solidFill>
                  <a:schemeClr val="tx2"/>
                </a:solidFill>
                <a:latin typeface="宋体" panose="02010600030101010101" pitchFamily="2" charset="-122"/>
              </a:rPr>
              <a:t>膨胀到原来的 </a:t>
            </a:r>
            <a:r>
              <a:rPr kumimoji="1" lang="en-US" altLang="zh-CN" b="1">
                <a:solidFill>
                  <a:srgbClr val="FF6600"/>
                </a:solidFill>
              </a:rPr>
              <a:t>2</a:t>
            </a:r>
            <a:r>
              <a:rPr kumimoji="1" lang="en-US" altLang="zh-CN" b="1">
                <a:solidFill>
                  <a:srgbClr val="FF6600"/>
                </a:solidFill>
                <a:latin typeface="宋体" panose="02010600030101010101" pitchFamily="2" charset="-122"/>
              </a:rPr>
              <a:t> </a:t>
            </a:r>
            <a:r>
              <a:rPr kumimoji="1" lang="zh-CN" altLang="en-US" b="1">
                <a:solidFill>
                  <a:schemeClr val="tx2"/>
                </a:solidFill>
                <a:latin typeface="宋体" panose="02010600030101010101" pitchFamily="2" charset="-122"/>
              </a:rPr>
              <a:t>倍。</a:t>
            </a:r>
            <a:endParaRPr kumimoji="1" lang="zh-CN" altLang="en-US" b="1">
              <a:solidFill>
                <a:schemeClr val="tx2"/>
              </a:solidFill>
              <a:latin typeface="宋体" panose="02010600030101010101" pitchFamily="2" charset="-122"/>
            </a:endParaRPr>
          </a:p>
        </p:txBody>
      </p:sp>
      <p:sp>
        <p:nvSpPr>
          <p:cNvPr id="183299" name="Rectangle 3"/>
          <p:cNvSpPr>
            <a:spLocks noChangeArrowheads="1"/>
          </p:cNvSpPr>
          <p:nvPr/>
        </p:nvSpPr>
        <p:spPr bwMode="auto">
          <a:xfrm>
            <a:off x="774700" y="1412875"/>
            <a:ext cx="7712075" cy="512763"/>
          </a:xfrm>
          <a:prstGeom prst="rect">
            <a:avLst/>
          </a:prstGeom>
          <a:noFill/>
          <a:ln w="9525">
            <a:noFill/>
            <a:miter lim="800000"/>
          </a:ln>
        </p:spPr>
        <p:txBody>
          <a:bodyPr>
            <a:spAutoFit/>
          </a:bodyPr>
          <a:lstStyle/>
          <a:p>
            <a:pPr>
              <a:lnSpc>
                <a:spcPct val="115000"/>
              </a:lnSpc>
            </a:pPr>
            <a:r>
              <a:rPr kumimoji="1" lang="zh-CN" altLang="en-US" b="1">
                <a:solidFill>
                  <a:schemeClr val="tx2"/>
                </a:solidFill>
                <a:latin typeface="宋体" panose="02010600030101010101" pitchFamily="2" charset="-122"/>
              </a:rPr>
              <a:t>氮气对外所作的功，内能的增量以及吸收的热量。     </a:t>
            </a:r>
            <a:endParaRPr kumimoji="1" lang="zh-CN" altLang="en-US" b="1">
              <a:solidFill>
                <a:schemeClr val="tx2"/>
              </a:solidFill>
              <a:latin typeface="宋体" panose="02010600030101010101" pitchFamily="2" charset="-122"/>
            </a:endParaRPr>
          </a:p>
        </p:txBody>
      </p:sp>
      <p:sp>
        <p:nvSpPr>
          <p:cNvPr id="183300" name="Text Box 4"/>
          <p:cNvSpPr txBox="1">
            <a:spLocks noChangeArrowheads="1"/>
          </p:cNvSpPr>
          <p:nvPr/>
        </p:nvSpPr>
        <p:spPr bwMode="auto">
          <a:xfrm>
            <a:off x="161925" y="2016125"/>
            <a:ext cx="630238" cy="512763"/>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solidFill>
                  <a:srgbClr val="FF0000"/>
                </a:solidFill>
              </a:rPr>
              <a:t>解</a:t>
            </a:r>
            <a:endParaRPr kumimoji="1" lang="zh-CN" altLang="en-US" b="1" i="1">
              <a:solidFill>
                <a:srgbClr val="FF0000"/>
              </a:solidFill>
            </a:endParaRPr>
          </a:p>
        </p:txBody>
      </p:sp>
      <p:sp>
        <p:nvSpPr>
          <p:cNvPr id="183301" name="Text Box 5"/>
          <p:cNvSpPr txBox="1">
            <a:spLocks noChangeArrowheads="1"/>
          </p:cNvSpPr>
          <p:nvPr/>
        </p:nvSpPr>
        <p:spPr bwMode="auto">
          <a:xfrm>
            <a:off x="206375" y="485775"/>
            <a:ext cx="490538" cy="512763"/>
          </a:xfrm>
          <a:prstGeom prst="rect">
            <a:avLst/>
          </a:prstGeom>
          <a:noFill/>
          <a:ln w="9525">
            <a:noFill/>
            <a:miter lim="800000"/>
          </a:ln>
        </p:spPr>
        <p:txBody>
          <a:bodyPr wrap="none">
            <a:spAutoFit/>
          </a:bodyPr>
          <a:lstStyle/>
          <a:p>
            <a:pPr>
              <a:lnSpc>
                <a:spcPct val="115000"/>
              </a:lnSpc>
            </a:pPr>
            <a:r>
              <a:rPr kumimoji="1" lang="zh-CN" altLang="en-US" b="1">
                <a:solidFill>
                  <a:srgbClr val="FF0000"/>
                </a:solidFill>
              </a:rPr>
              <a:t>例</a:t>
            </a:r>
            <a:endParaRPr kumimoji="1" lang="zh-CN" altLang="en-US" b="1">
              <a:solidFill>
                <a:srgbClr val="FF0000"/>
              </a:solidFill>
            </a:endParaRPr>
          </a:p>
        </p:txBody>
      </p:sp>
      <p:sp>
        <p:nvSpPr>
          <p:cNvPr id="183302" name="Rectangle 6"/>
          <p:cNvSpPr>
            <a:spLocks noChangeArrowheads="1"/>
          </p:cNvSpPr>
          <p:nvPr/>
        </p:nvSpPr>
        <p:spPr bwMode="auto">
          <a:xfrm>
            <a:off x="166688" y="1430338"/>
            <a:ext cx="490537" cy="512762"/>
          </a:xfrm>
          <a:prstGeom prst="rect">
            <a:avLst/>
          </a:prstGeom>
          <a:noFill/>
          <a:ln w="9525">
            <a:noFill/>
            <a:miter lim="800000"/>
          </a:ln>
        </p:spPr>
        <p:txBody>
          <a:bodyPr wrap="none">
            <a:spAutoFit/>
          </a:bodyPr>
          <a:lstStyle/>
          <a:p>
            <a:pPr>
              <a:lnSpc>
                <a:spcPct val="115000"/>
              </a:lnSpc>
            </a:pPr>
            <a:r>
              <a:rPr kumimoji="1" lang="zh-CN" altLang="en-US" b="1">
                <a:solidFill>
                  <a:srgbClr val="FF0000"/>
                </a:solidFill>
              </a:rPr>
              <a:t>求</a:t>
            </a:r>
            <a:endParaRPr kumimoji="1" lang="zh-CN" altLang="en-US" b="1">
              <a:solidFill>
                <a:srgbClr val="FF0000"/>
              </a:solidFill>
            </a:endParaRPr>
          </a:p>
        </p:txBody>
      </p:sp>
      <p:graphicFrame>
        <p:nvGraphicFramePr>
          <p:cNvPr id="183303" name="Object 7"/>
          <p:cNvGraphicFramePr>
            <a:graphicFrameLocks noChangeAspect="1"/>
          </p:cNvGraphicFramePr>
          <p:nvPr/>
        </p:nvGraphicFramePr>
        <p:xfrm>
          <a:off x="2124075" y="4614863"/>
          <a:ext cx="3386138" cy="388937"/>
        </p:xfrm>
        <a:graphic>
          <a:graphicData uri="http://schemas.openxmlformats.org/presentationml/2006/ole">
            <mc:AlternateContent xmlns:mc="http://schemas.openxmlformats.org/markup-compatibility/2006">
              <mc:Choice xmlns:v="urn:schemas-microsoft-com:vml" Requires="v">
                <p:oleObj spid="_x0000_s29697" name="公式" r:id="rId1" imgW="45110400" imgH="5181600" progId="Equation.3">
                  <p:embed/>
                </p:oleObj>
              </mc:Choice>
              <mc:Fallback>
                <p:oleObj name="公式" r:id="rId1" imgW="45110400" imgH="5181600" progId="Equation.3">
                  <p:embed/>
                  <p:pic>
                    <p:nvPicPr>
                      <p:cNvPr id="0" name="Object 7"/>
                      <p:cNvPicPr>
                        <a:picLocks noChangeAspect="1"/>
                      </p:cNvPicPr>
                      <p:nvPr/>
                    </p:nvPicPr>
                    <p:blipFill>
                      <a:blip r:embed="rId2"/>
                      <a:stretch>
                        <a:fillRect/>
                      </a:stretch>
                    </p:blipFill>
                    <p:spPr>
                      <a:xfrm>
                        <a:off x="2124075" y="4614863"/>
                        <a:ext cx="3386138" cy="388937"/>
                      </a:xfrm>
                      <a:prstGeom prst="rect">
                        <a:avLst/>
                      </a:prstGeom>
                      <a:noFill/>
                      <a:ln w="9525">
                        <a:noFill/>
                      </a:ln>
                    </p:spPr>
                  </p:pic>
                </p:oleObj>
              </mc:Fallback>
            </mc:AlternateContent>
          </a:graphicData>
        </a:graphic>
      </p:graphicFrame>
      <p:graphicFrame>
        <p:nvGraphicFramePr>
          <p:cNvPr id="183304" name="Object 8"/>
          <p:cNvGraphicFramePr>
            <a:graphicFrameLocks noChangeAspect="1"/>
          </p:cNvGraphicFramePr>
          <p:nvPr/>
        </p:nvGraphicFramePr>
        <p:xfrm>
          <a:off x="2501900" y="2798763"/>
          <a:ext cx="960438" cy="800100"/>
        </p:xfrm>
        <a:graphic>
          <a:graphicData uri="http://schemas.openxmlformats.org/presentationml/2006/ole">
            <mc:AlternateContent xmlns:mc="http://schemas.openxmlformats.org/markup-compatibility/2006">
              <mc:Choice xmlns:v="urn:schemas-microsoft-com:vml" Requires="v">
                <p:oleObj spid="_x0000_s29699" name="公式" r:id="rId3" imgW="12801600" imgH="10668000" progId="Equation.3">
                  <p:embed/>
                </p:oleObj>
              </mc:Choice>
              <mc:Fallback>
                <p:oleObj name="公式" r:id="rId3" imgW="12801600" imgH="10668000" progId="Equation.3">
                  <p:embed/>
                  <p:pic>
                    <p:nvPicPr>
                      <p:cNvPr id="0" name="Object 8"/>
                      <p:cNvPicPr>
                        <a:picLocks noChangeAspect="1"/>
                      </p:cNvPicPr>
                      <p:nvPr/>
                    </p:nvPicPr>
                    <p:blipFill>
                      <a:blip r:embed="rId4"/>
                      <a:stretch>
                        <a:fillRect/>
                      </a:stretch>
                    </p:blipFill>
                    <p:spPr>
                      <a:xfrm>
                        <a:off x="2501900" y="2798763"/>
                        <a:ext cx="960438" cy="800100"/>
                      </a:xfrm>
                      <a:prstGeom prst="rect">
                        <a:avLst/>
                      </a:prstGeom>
                      <a:noFill/>
                      <a:ln w="9525">
                        <a:noFill/>
                      </a:ln>
                    </p:spPr>
                  </p:pic>
                </p:oleObj>
              </mc:Fallback>
            </mc:AlternateContent>
          </a:graphicData>
        </a:graphic>
      </p:graphicFrame>
      <p:graphicFrame>
        <p:nvGraphicFramePr>
          <p:cNvPr id="183305" name="Object 9"/>
          <p:cNvGraphicFramePr>
            <a:graphicFrameLocks noChangeAspect="1"/>
          </p:cNvGraphicFramePr>
          <p:nvPr/>
        </p:nvGraphicFramePr>
        <p:xfrm>
          <a:off x="2084388" y="5273675"/>
          <a:ext cx="2127250" cy="434975"/>
        </p:xfrm>
        <a:graphic>
          <a:graphicData uri="http://schemas.openxmlformats.org/presentationml/2006/ole">
            <mc:AlternateContent xmlns:mc="http://schemas.openxmlformats.org/markup-compatibility/2006">
              <mc:Choice xmlns:v="urn:schemas-microsoft-com:vml" Requires="v">
                <p:oleObj spid="_x0000_s29700" name="公式" r:id="rId5" imgW="28346400" imgH="5791200" progId="Equation.3">
                  <p:embed/>
                </p:oleObj>
              </mc:Choice>
              <mc:Fallback>
                <p:oleObj name="公式" r:id="rId5" imgW="28346400" imgH="5791200" progId="Equation.3">
                  <p:embed/>
                  <p:pic>
                    <p:nvPicPr>
                      <p:cNvPr id="0" name="Object 9"/>
                      <p:cNvPicPr>
                        <a:picLocks noChangeAspect="1"/>
                      </p:cNvPicPr>
                      <p:nvPr/>
                    </p:nvPicPr>
                    <p:blipFill>
                      <a:blip r:embed="rId6"/>
                      <a:stretch>
                        <a:fillRect/>
                      </a:stretch>
                    </p:blipFill>
                    <p:spPr>
                      <a:xfrm>
                        <a:off x="2084388" y="5273675"/>
                        <a:ext cx="2127250" cy="434975"/>
                      </a:xfrm>
                      <a:prstGeom prst="rect">
                        <a:avLst/>
                      </a:prstGeom>
                      <a:noFill/>
                      <a:ln w="9525">
                        <a:noFill/>
                      </a:ln>
                    </p:spPr>
                  </p:pic>
                </p:oleObj>
              </mc:Fallback>
            </mc:AlternateContent>
          </a:graphicData>
        </a:graphic>
      </p:graphicFrame>
      <p:graphicFrame>
        <p:nvGraphicFramePr>
          <p:cNvPr id="183306" name="Object 10"/>
          <p:cNvGraphicFramePr>
            <a:graphicFrameLocks noChangeAspect="1"/>
          </p:cNvGraphicFramePr>
          <p:nvPr/>
        </p:nvGraphicFramePr>
        <p:xfrm>
          <a:off x="2006600" y="5994400"/>
          <a:ext cx="2230438" cy="414338"/>
        </p:xfrm>
        <a:graphic>
          <a:graphicData uri="http://schemas.openxmlformats.org/presentationml/2006/ole">
            <mc:AlternateContent xmlns:mc="http://schemas.openxmlformats.org/markup-compatibility/2006">
              <mc:Choice xmlns:v="urn:schemas-microsoft-com:vml" Requires="v">
                <p:oleObj spid="_x0000_s29701" name="公式" r:id="rId7" imgW="29565600" imgH="5486400" progId="Equation.3">
                  <p:embed/>
                </p:oleObj>
              </mc:Choice>
              <mc:Fallback>
                <p:oleObj name="公式" r:id="rId7" imgW="29565600" imgH="5486400" progId="Equation.3">
                  <p:embed/>
                  <p:pic>
                    <p:nvPicPr>
                      <p:cNvPr id="0" name="Object 10"/>
                      <p:cNvPicPr>
                        <a:picLocks noChangeAspect="1"/>
                      </p:cNvPicPr>
                      <p:nvPr/>
                    </p:nvPicPr>
                    <p:blipFill>
                      <a:blip r:embed="rId8"/>
                      <a:stretch>
                        <a:fillRect/>
                      </a:stretch>
                    </p:blipFill>
                    <p:spPr>
                      <a:xfrm>
                        <a:off x="2006600" y="5994400"/>
                        <a:ext cx="2230438" cy="414338"/>
                      </a:xfrm>
                      <a:prstGeom prst="rect">
                        <a:avLst/>
                      </a:prstGeom>
                      <a:noFill/>
                      <a:ln w="9525">
                        <a:noFill/>
                      </a:ln>
                    </p:spPr>
                  </p:pic>
                </p:oleObj>
              </mc:Fallback>
            </mc:AlternateContent>
          </a:graphicData>
        </a:graphic>
      </p:graphicFrame>
      <p:graphicFrame>
        <p:nvGraphicFramePr>
          <p:cNvPr id="183307" name="Object 11"/>
          <p:cNvGraphicFramePr>
            <a:graphicFrameLocks noChangeAspect="1"/>
          </p:cNvGraphicFramePr>
          <p:nvPr/>
        </p:nvGraphicFramePr>
        <p:xfrm>
          <a:off x="4886325" y="2995613"/>
          <a:ext cx="1328738" cy="388937"/>
        </p:xfrm>
        <a:graphic>
          <a:graphicData uri="http://schemas.openxmlformats.org/presentationml/2006/ole">
            <mc:AlternateContent xmlns:mc="http://schemas.openxmlformats.org/markup-compatibility/2006">
              <mc:Choice xmlns:v="urn:schemas-microsoft-com:vml" Requires="v">
                <p:oleObj spid="_x0000_s29702" name="公式" r:id="rId9" imgW="17678400" imgH="5181600" progId="Equation.3">
                  <p:embed/>
                </p:oleObj>
              </mc:Choice>
              <mc:Fallback>
                <p:oleObj name="公式" r:id="rId9" imgW="17678400" imgH="5181600" progId="Equation.3">
                  <p:embed/>
                  <p:pic>
                    <p:nvPicPr>
                      <p:cNvPr id="0" name="Object 11"/>
                      <p:cNvPicPr>
                        <a:picLocks noChangeAspect="1"/>
                      </p:cNvPicPr>
                      <p:nvPr/>
                    </p:nvPicPr>
                    <p:blipFill>
                      <a:blip r:embed="rId10"/>
                      <a:stretch>
                        <a:fillRect/>
                      </a:stretch>
                    </p:blipFill>
                    <p:spPr>
                      <a:xfrm>
                        <a:off x="4886325" y="2995613"/>
                        <a:ext cx="1328738" cy="388937"/>
                      </a:xfrm>
                      <a:prstGeom prst="rect">
                        <a:avLst/>
                      </a:prstGeom>
                      <a:noFill/>
                      <a:ln w="9525">
                        <a:noFill/>
                      </a:ln>
                    </p:spPr>
                  </p:pic>
                </p:oleObj>
              </mc:Fallback>
            </mc:AlternateContent>
          </a:graphicData>
        </a:graphic>
      </p:graphicFrame>
      <p:sp>
        <p:nvSpPr>
          <p:cNvPr id="183308" name="Text Box 12"/>
          <p:cNvSpPr txBox="1">
            <a:spLocks noChangeArrowheads="1"/>
          </p:cNvSpPr>
          <p:nvPr/>
        </p:nvSpPr>
        <p:spPr bwMode="auto">
          <a:xfrm>
            <a:off x="755650" y="2060575"/>
            <a:ext cx="4537075" cy="463550"/>
          </a:xfrm>
          <a:prstGeom prst="rect">
            <a:avLst/>
          </a:prstGeom>
          <a:noFill/>
          <a:ln w="9525">
            <a:noFill/>
            <a:miter lim="800000"/>
          </a:ln>
        </p:spPr>
        <p:txBody>
          <a:bodyPr>
            <a:spAutoFit/>
          </a:bodyPr>
          <a:lstStyle/>
          <a:p>
            <a:pPr>
              <a:lnSpc>
                <a:spcPct val="115000"/>
              </a:lnSpc>
              <a:defRPr/>
            </a:pPr>
            <a:r>
              <a:rPr lang="zh-CN" altLang="en-US" b="1" dirty="0">
                <a:solidFill>
                  <a:schemeClr val="tx2"/>
                </a:solidFill>
                <a:latin typeface="+mn-ea"/>
                <a:ea typeface="+mn-ea"/>
              </a:rPr>
              <a:t>根据</a:t>
            </a:r>
            <a:r>
              <a:rPr kumimoji="1" lang="zh-CN" altLang="en-US" b="1" dirty="0">
                <a:solidFill>
                  <a:srgbClr val="FF6600"/>
                </a:solidFill>
                <a:latin typeface="+mn-ea"/>
                <a:ea typeface="+mn-ea"/>
              </a:rPr>
              <a:t>等压过程</a:t>
            </a:r>
            <a:r>
              <a:rPr kumimoji="1" lang="zh-CN" altLang="en-US" b="1" dirty="0">
                <a:solidFill>
                  <a:schemeClr val="tx2"/>
                </a:solidFill>
                <a:latin typeface="+mn-ea"/>
                <a:ea typeface="+mn-ea"/>
              </a:rPr>
              <a:t>方程，有</a:t>
            </a:r>
            <a:endParaRPr kumimoji="1" lang="zh-CN" altLang="en-US" b="1" dirty="0">
              <a:solidFill>
                <a:schemeClr val="tx2"/>
              </a:solidFill>
              <a:latin typeface="+mn-ea"/>
              <a:ea typeface="+mn-ea"/>
            </a:endParaRPr>
          </a:p>
        </p:txBody>
      </p:sp>
      <p:sp>
        <p:nvSpPr>
          <p:cNvPr id="183309" name="AutoShape 13"/>
          <p:cNvSpPr>
            <a:spLocks noChangeArrowheads="1"/>
          </p:cNvSpPr>
          <p:nvPr/>
        </p:nvSpPr>
        <p:spPr bwMode="auto">
          <a:xfrm>
            <a:off x="3851275" y="3081338"/>
            <a:ext cx="701675" cy="168275"/>
          </a:xfrm>
          <a:prstGeom prst="rightArrow">
            <a:avLst>
              <a:gd name="adj1" fmla="val 50000"/>
              <a:gd name="adj2" fmla="val 104245"/>
            </a:avLst>
          </a:prstGeom>
          <a:solidFill>
            <a:srgbClr val="0000FF"/>
          </a:solidFill>
          <a:ln w="9525">
            <a:solidFill>
              <a:schemeClr val="tx1"/>
            </a:solidFill>
            <a:miter lim="800000"/>
          </a:ln>
        </p:spPr>
        <p:txBody>
          <a:bodyPr wrap="none" anchor="ctr"/>
          <a:lstStyle/>
          <a:p>
            <a:pPr algn="ctr"/>
            <a:endParaRPr lang="zh-CN" altLang="en-US"/>
          </a:p>
        </p:txBody>
      </p:sp>
      <p:sp>
        <p:nvSpPr>
          <p:cNvPr id="183310" name="Text Box 14"/>
          <p:cNvSpPr txBox="1">
            <a:spLocks noChangeArrowheads="1"/>
          </p:cNvSpPr>
          <p:nvPr/>
        </p:nvSpPr>
        <p:spPr bwMode="auto">
          <a:xfrm>
            <a:off x="731838" y="3771900"/>
            <a:ext cx="3390900" cy="512763"/>
          </a:xfrm>
          <a:prstGeom prst="rect">
            <a:avLst/>
          </a:prstGeom>
          <a:noFill/>
          <a:ln w="9525">
            <a:noFill/>
            <a:miter lim="800000"/>
          </a:ln>
        </p:spPr>
        <p:txBody>
          <a:bodyPr>
            <a:spAutoFit/>
          </a:bodyPr>
          <a:lstStyle/>
          <a:p>
            <a:pPr>
              <a:lnSpc>
                <a:spcPct val="115000"/>
              </a:lnSpc>
              <a:defRPr/>
            </a:pPr>
            <a:r>
              <a:rPr lang="zh-CN" altLang="en-US" b="1">
                <a:solidFill>
                  <a:schemeClr val="tx2"/>
                </a:solidFill>
                <a:latin typeface="+mn-ea"/>
                <a:ea typeface="+mn-ea"/>
              </a:rPr>
              <a:t>因为是</a:t>
            </a:r>
            <a:r>
              <a:rPr lang="zh-CN" altLang="en-US" b="1">
                <a:solidFill>
                  <a:srgbClr val="FF6600"/>
                </a:solidFill>
                <a:latin typeface="+mn-ea"/>
                <a:ea typeface="+mn-ea"/>
              </a:rPr>
              <a:t>双原子气体</a:t>
            </a:r>
            <a:endParaRPr kumimoji="1" lang="zh-CN" altLang="en-US" b="1">
              <a:solidFill>
                <a:srgbClr val="FF6600"/>
              </a:solidFill>
              <a:latin typeface="+mn-ea"/>
              <a:ea typeface="+mn-ea"/>
            </a:endParaRPr>
          </a:p>
        </p:txBody>
      </p:sp>
      <p:graphicFrame>
        <p:nvGraphicFramePr>
          <p:cNvPr id="183311" name="Object 15"/>
          <p:cNvGraphicFramePr>
            <a:graphicFrameLocks noChangeAspect="1"/>
          </p:cNvGraphicFramePr>
          <p:nvPr/>
        </p:nvGraphicFramePr>
        <p:xfrm>
          <a:off x="3536950" y="3698875"/>
          <a:ext cx="1127125" cy="735013"/>
        </p:xfrm>
        <a:graphic>
          <a:graphicData uri="http://schemas.openxmlformats.org/presentationml/2006/ole">
            <mc:AlternateContent xmlns:mc="http://schemas.openxmlformats.org/markup-compatibility/2006">
              <mc:Choice xmlns:v="urn:schemas-microsoft-com:vml" Requires="v">
                <p:oleObj spid="_x0000_s29703" name="公式" r:id="rId11" imgW="14935200" imgH="9753600" progId="Equation.3">
                  <p:embed/>
                </p:oleObj>
              </mc:Choice>
              <mc:Fallback>
                <p:oleObj name="公式" r:id="rId11" imgW="14935200" imgH="9753600" progId="Equation.3">
                  <p:embed/>
                  <p:pic>
                    <p:nvPicPr>
                      <p:cNvPr id="0" name="Object 15"/>
                      <p:cNvPicPr>
                        <a:picLocks noChangeAspect="1"/>
                      </p:cNvPicPr>
                      <p:nvPr/>
                    </p:nvPicPr>
                    <p:blipFill>
                      <a:blip r:embed="rId12"/>
                      <a:stretch>
                        <a:fillRect/>
                      </a:stretch>
                    </p:blipFill>
                    <p:spPr>
                      <a:xfrm>
                        <a:off x="3536950" y="3698875"/>
                        <a:ext cx="1127125" cy="735013"/>
                      </a:xfrm>
                      <a:prstGeom prst="rect">
                        <a:avLst/>
                      </a:prstGeom>
                      <a:noFill/>
                      <a:ln w="9525">
                        <a:noFill/>
                      </a:ln>
                    </p:spPr>
                  </p:pic>
                </p:oleObj>
              </mc:Fallback>
            </mc:AlternateContent>
          </a:graphicData>
        </a:graphic>
      </p:graphicFrame>
      <p:graphicFrame>
        <p:nvGraphicFramePr>
          <p:cNvPr id="183313" name="Object 17"/>
          <p:cNvGraphicFramePr>
            <a:graphicFrameLocks noChangeAspect="1"/>
          </p:cNvGraphicFramePr>
          <p:nvPr/>
        </p:nvGraphicFramePr>
        <p:xfrm>
          <a:off x="5565775" y="4643438"/>
          <a:ext cx="982663" cy="366712"/>
        </p:xfrm>
        <a:graphic>
          <a:graphicData uri="http://schemas.openxmlformats.org/presentationml/2006/ole">
            <mc:AlternateContent xmlns:mc="http://schemas.openxmlformats.org/markup-compatibility/2006">
              <mc:Choice xmlns:v="urn:schemas-microsoft-com:vml" Requires="v">
                <p:oleObj spid="_x0000_s29704" name="公式" r:id="rId13" imgW="13106400" imgH="4876800" progId="Equation.3">
                  <p:embed/>
                </p:oleObj>
              </mc:Choice>
              <mc:Fallback>
                <p:oleObj name="公式" r:id="rId13" imgW="13106400" imgH="4876800" progId="Equation.3">
                  <p:embed/>
                  <p:pic>
                    <p:nvPicPr>
                      <p:cNvPr id="0" name="Object 17"/>
                      <p:cNvPicPr>
                        <a:picLocks noChangeAspect="1"/>
                      </p:cNvPicPr>
                      <p:nvPr/>
                    </p:nvPicPr>
                    <p:blipFill>
                      <a:blip r:embed="rId14"/>
                      <a:stretch>
                        <a:fillRect/>
                      </a:stretch>
                    </p:blipFill>
                    <p:spPr>
                      <a:xfrm>
                        <a:off x="5565775" y="4643438"/>
                        <a:ext cx="982663" cy="366712"/>
                      </a:xfrm>
                      <a:prstGeom prst="rect">
                        <a:avLst/>
                      </a:prstGeom>
                      <a:noFill/>
                      <a:ln w="9525">
                        <a:noFill/>
                      </a:ln>
                    </p:spPr>
                  </p:pic>
                </p:oleObj>
              </mc:Fallback>
            </mc:AlternateContent>
          </a:graphicData>
        </a:graphic>
      </p:graphicFrame>
      <p:graphicFrame>
        <p:nvGraphicFramePr>
          <p:cNvPr id="183314" name="Object 18"/>
          <p:cNvGraphicFramePr>
            <a:graphicFrameLocks noChangeAspect="1"/>
          </p:cNvGraphicFramePr>
          <p:nvPr/>
        </p:nvGraphicFramePr>
        <p:xfrm>
          <a:off x="4287838" y="5273675"/>
          <a:ext cx="1004887" cy="366713"/>
        </p:xfrm>
        <a:graphic>
          <a:graphicData uri="http://schemas.openxmlformats.org/presentationml/2006/ole">
            <mc:AlternateContent xmlns:mc="http://schemas.openxmlformats.org/markup-compatibility/2006">
              <mc:Choice xmlns:v="urn:schemas-microsoft-com:vml" Requires="v">
                <p:oleObj spid="_x0000_s29705" name="公式" r:id="rId15" imgW="13411200" imgH="4876800" progId="Equation.3">
                  <p:embed/>
                </p:oleObj>
              </mc:Choice>
              <mc:Fallback>
                <p:oleObj name="公式" r:id="rId15" imgW="13411200" imgH="4876800" progId="Equation.3">
                  <p:embed/>
                  <p:pic>
                    <p:nvPicPr>
                      <p:cNvPr id="0" name="Object 18"/>
                      <p:cNvPicPr>
                        <a:picLocks noChangeAspect="1"/>
                      </p:cNvPicPr>
                      <p:nvPr/>
                    </p:nvPicPr>
                    <p:blipFill>
                      <a:blip r:embed="rId16"/>
                      <a:stretch>
                        <a:fillRect/>
                      </a:stretch>
                    </p:blipFill>
                    <p:spPr>
                      <a:xfrm>
                        <a:off x="4287838" y="5273675"/>
                        <a:ext cx="1004887" cy="366713"/>
                      </a:xfrm>
                      <a:prstGeom prst="rect">
                        <a:avLst/>
                      </a:prstGeom>
                      <a:noFill/>
                      <a:ln w="9525">
                        <a:noFill/>
                      </a:ln>
                    </p:spPr>
                  </p:pic>
                </p:oleObj>
              </mc:Fallback>
            </mc:AlternateContent>
          </a:graphicData>
        </a:graphic>
      </p:graphicFrame>
      <p:graphicFrame>
        <p:nvGraphicFramePr>
          <p:cNvPr id="183315" name="Object 19"/>
          <p:cNvGraphicFramePr>
            <a:graphicFrameLocks noChangeAspect="1"/>
          </p:cNvGraphicFramePr>
          <p:nvPr/>
        </p:nvGraphicFramePr>
        <p:xfrm>
          <a:off x="4327525" y="6038850"/>
          <a:ext cx="965200" cy="368300"/>
        </p:xfrm>
        <a:graphic>
          <a:graphicData uri="http://schemas.openxmlformats.org/presentationml/2006/ole">
            <mc:AlternateContent xmlns:mc="http://schemas.openxmlformats.org/markup-compatibility/2006">
              <mc:Choice xmlns:v="urn:schemas-microsoft-com:vml" Requires="v">
                <p:oleObj spid="_x0000_s29706" name="公式" r:id="rId17" imgW="12801600" imgH="4876800" progId="Equation.3">
                  <p:embed/>
                </p:oleObj>
              </mc:Choice>
              <mc:Fallback>
                <p:oleObj name="公式" r:id="rId17" imgW="12801600" imgH="4876800" progId="Equation.3">
                  <p:embed/>
                  <p:pic>
                    <p:nvPicPr>
                      <p:cNvPr id="0" name="Object 19"/>
                      <p:cNvPicPr>
                        <a:picLocks noChangeAspect="1"/>
                      </p:cNvPicPr>
                      <p:nvPr/>
                    </p:nvPicPr>
                    <p:blipFill>
                      <a:blip r:embed="rId18"/>
                      <a:stretch>
                        <a:fillRect/>
                      </a:stretch>
                    </p:blipFill>
                    <p:spPr>
                      <a:xfrm>
                        <a:off x="4327525" y="6038850"/>
                        <a:ext cx="965200" cy="36830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301"/>
                                        </p:tgtEl>
                                        <p:attrNameLst>
                                          <p:attrName>style.visibility</p:attrName>
                                        </p:attrNameLst>
                                      </p:cBhvr>
                                      <p:to>
                                        <p:strVal val="visible"/>
                                      </p:to>
                                    </p:set>
                                    <p:animEffect transition="in" filter="wipe(left)">
                                      <p:cBhvr>
                                        <p:cTn id="7" dur="500"/>
                                        <p:tgtEl>
                                          <p:spTgt spid="1833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3298"/>
                                        </p:tgtEl>
                                        <p:attrNameLst>
                                          <p:attrName>style.visibility</p:attrName>
                                        </p:attrNameLst>
                                      </p:cBhvr>
                                      <p:to>
                                        <p:strVal val="visible"/>
                                      </p:to>
                                    </p:set>
                                    <p:animEffect transition="in" filter="wipe(left)">
                                      <p:cBhvr>
                                        <p:cTn id="12" dur="500"/>
                                        <p:tgtEl>
                                          <p:spTgt spid="1832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3302"/>
                                        </p:tgtEl>
                                        <p:attrNameLst>
                                          <p:attrName>style.visibility</p:attrName>
                                        </p:attrNameLst>
                                      </p:cBhvr>
                                      <p:to>
                                        <p:strVal val="visible"/>
                                      </p:to>
                                    </p:set>
                                    <p:animEffect transition="in" filter="wipe(left)">
                                      <p:cBhvr>
                                        <p:cTn id="17" dur="500"/>
                                        <p:tgtEl>
                                          <p:spTgt spid="1833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3299"/>
                                        </p:tgtEl>
                                        <p:attrNameLst>
                                          <p:attrName>style.visibility</p:attrName>
                                        </p:attrNameLst>
                                      </p:cBhvr>
                                      <p:to>
                                        <p:strVal val="visible"/>
                                      </p:to>
                                    </p:set>
                                    <p:animEffect transition="in" filter="wipe(left)">
                                      <p:cBhvr>
                                        <p:cTn id="22" dur="500"/>
                                        <p:tgtEl>
                                          <p:spTgt spid="1832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3300"/>
                                        </p:tgtEl>
                                        <p:attrNameLst>
                                          <p:attrName>style.visibility</p:attrName>
                                        </p:attrNameLst>
                                      </p:cBhvr>
                                      <p:to>
                                        <p:strVal val="visible"/>
                                      </p:to>
                                    </p:set>
                                    <p:animEffect transition="in" filter="wipe(left)">
                                      <p:cBhvr>
                                        <p:cTn id="27" dur="500"/>
                                        <p:tgtEl>
                                          <p:spTgt spid="18330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3308"/>
                                        </p:tgtEl>
                                        <p:attrNameLst>
                                          <p:attrName>style.visibility</p:attrName>
                                        </p:attrNameLst>
                                      </p:cBhvr>
                                      <p:to>
                                        <p:strVal val="visible"/>
                                      </p:to>
                                    </p:set>
                                    <p:animEffect transition="in" filter="wipe(left)">
                                      <p:cBhvr>
                                        <p:cTn id="32" dur="500"/>
                                        <p:tgtEl>
                                          <p:spTgt spid="1833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3304"/>
                                        </p:tgtEl>
                                        <p:attrNameLst>
                                          <p:attrName>style.visibility</p:attrName>
                                        </p:attrNameLst>
                                      </p:cBhvr>
                                      <p:to>
                                        <p:strVal val="visible"/>
                                      </p:to>
                                    </p:set>
                                    <p:animEffect transition="in" filter="wipe(left)">
                                      <p:cBhvr>
                                        <p:cTn id="37" dur="500"/>
                                        <p:tgtEl>
                                          <p:spTgt spid="18330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3309"/>
                                        </p:tgtEl>
                                        <p:attrNameLst>
                                          <p:attrName>style.visibility</p:attrName>
                                        </p:attrNameLst>
                                      </p:cBhvr>
                                      <p:to>
                                        <p:strVal val="visible"/>
                                      </p:to>
                                    </p:set>
                                    <p:animEffect transition="in" filter="wipe(left)">
                                      <p:cBhvr>
                                        <p:cTn id="42" dur="500"/>
                                        <p:tgtEl>
                                          <p:spTgt spid="18330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3307"/>
                                        </p:tgtEl>
                                        <p:attrNameLst>
                                          <p:attrName>style.visibility</p:attrName>
                                        </p:attrNameLst>
                                      </p:cBhvr>
                                      <p:to>
                                        <p:strVal val="visible"/>
                                      </p:to>
                                    </p:set>
                                    <p:animEffect transition="in" filter="wipe(left)">
                                      <p:cBhvr>
                                        <p:cTn id="47" dur="500"/>
                                        <p:tgtEl>
                                          <p:spTgt spid="18330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3310"/>
                                        </p:tgtEl>
                                        <p:attrNameLst>
                                          <p:attrName>style.visibility</p:attrName>
                                        </p:attrNameLst>
                                      </p:cBhvr>
                                      <p:to>
                                        <p:strVal val="visible"/>
                                      </p:to>
                                    </p:set>
                                    <p:animEffect transition="in" filter="wipe(left)">
                                      <p:cBhvr>
                                        <p:cTn id="52" dur="500"/>
                                        <p:tgtEl>
                                          <p:spTgt spid="1833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83311"/>
                                        </p:tgtEl>
                                        <p:attrNameLst>
                                          <p:attrName>style.visibility</p:attrName>
                                        </p:attrNameLst>
                                      </p:cBhvr>
                                      <p:to>
                                        <p:strVal val="visible"/>
                                      </p:to>
                                    </p:set>
                                    <p:animEffect transition="in" filter="wipe(left)">
                                      <p:cBhvr>
                                        <p:cTn id="57" dur="500"/>
                                        <p:tgtEl>
                                          <p:spTgt spid="18331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83303"/>
                                        </p:tgtEl>
                                        <p:attrNameLst>
                                          <p:attrName>style.visibility</p:attrName>
                                        </p:attrNameLst>
                                      </p:cBhvr>
                                      <p:to>
                                        <p:strVal val="visible"/>
                                      </p:to>
                                    </p:set>
                                    <p:animEffect transition="in" filter="wipe(left)">
                                      <p:cBhvr>
                                        <p:cTn id="62" dur="500"/>
                                        <p:tgtEl>
                                          <p:spTgt spid="18330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83313"/>
                                        </p:tgtEl>
                                        <p:attrNameLst>
                                          <p:attrName>style.visibility</p:attrName>
                                        </p:attrNameLst>
                                      </p:cBhvr>
                                      <p:to>
                                        <p:strVal val="visible"/>
                                      </p:to>
                                    </p:set>
                                    <p:animEffect transition="in" filter="wipe(left)">
                                      <p:cBhvr>
                                        <p:cTn id="67" dur="500"/>
                                        <p:tgtEl>
                                          <p:spTgt spid="18331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83305"/>
                                        </p:tgtEl>
                                        <p:attrNameLst>
                                          <p:attrName>style.visibility</p:attrName>
                                        </p:attrNameLst>
                                      </p:cBhvr>
                                      <p:to>
                                        <p:strVal val="visible"/>
                                      </p:to>
                                    </p:set>
                                    <p:animEffect transition="in" filter="wipe(left)">
                                      <p:cBhvr>
                                        <p:cTn id="72" dur="500"/>
                                        <p:tgtEl>
                                          <p:spTgt spid="18330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83314"/>
                                        </p:tgtEl>
                                        <p:attrNameLst>
                                          <p:attrName>style.visibility</p:attrName>
                                        </p:attrNameLst>
                                      </p:cBhvr>
                                      <p:to>
                                        <p:strVal val="visible"/>
                                      </p:to>
                                    </p:set>
                                    <p:animEffect transition="in" filter="wipe(left)">
                                      <p:cBhvr>
                                        <p:cTn id="77" dur="500"/>
                                        <p:tgtEl>
                                          <p:spTgt spid="18331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83306"/>
                                        </p:tgtEl>
                                        <p:attrNameLst>
                                          <p:attrName>style.visibility</p:attrName>
                                        </p:attrNameLst>
                                      </p:cBhvr>
                                      <p:to>
                                        <p:strVal val="visible"/>
                                      </p:to>
                                    </p:set>
                                    <p:animEffect transition="in" filter="wipe(left)">
                                      <p:cBhvr>
                                        <p:cTn id="82" dur="500"/>
                                        <p:tgtEl>
                                          <p:spTgt spid="18330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83315"/>
                                        </p:tgtEl>
                                        <p:attrNameLst>
                                          <p:attrName>style.visibility</p:attrName>
                                        </p:attrNameLst>
                                      </p:cBhvr>
                                      <p:to>
                                        <p:strVal val="visible"/>
                                      </p:to>
                                    </p:set>
                                    <p:animEffect transition="in" filter="wipe(left)">
                                      <p:cBhvr>
                                        <p:cTn id="87" dur="500"/>
                                        <p:tgtEl>
                                          <p:spTgt spid="18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p:bldP spid="183299" grpId="0"/>
      <p:bldP spid="183300" grpId="0" autoUpdateAnimBg="0"/>
      <p:bldP spid="183301" grpId="0"/>
      <p:bldP spid="183302" grpId="0"/>
      <p:bldP spid="183308" grpId="0"/>
      <p:bldP spid="183309" grpId="0" animBg="1"/>
      <p:bldP spid="1833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2"/>
          <p:cNvSpPr txBox="1">
            <a:spLocks noChangeArrowheads="1"/>
          </p:cNvSpPr>
          <p:nvPr/>
        </p:nvSpPr>
        <p:spPr bwMode="auto">
          <a:xfrm>
            <a:off x="107950" y="468313"/>
            <a:ext cx="490538" cy="512762"/>
          </a:xfrm>
          <a:prstGeom prst="rect">
            <a:avLst/>
          </a:prstGeom>
          <a:noFill/>
          <a:ln w="9525">
            <a:noFill/>
            <a:miter lim="800000"/>
          </a:ln>
        </p:spPr>
        <p:txBody>
          <a:bodyPr wrap="none">
            <a:spAutoFit/>
          </a:bodyPr>
          <a:lstStyle/>
          <a:p>
            <a:pPr>
              <a:lnSpc>
                <a:spcPct val="115000"/>
              </a:lnSpc>
            </a:pPr>
            <a:r>
              <a:rPr kumimoji="1" lang="zh-CN" altLang="en-US" b="1">
                <a:solidFill>
                  <a:srgbClr val="FF0000"/>
                </a:solidFill>
              </a:rPr>
              <a:t>例</a:t>
            </a:r>
            <a:endParaRPr kumimoji="1" lang="zh-CN" altLang="en-US" b="1">
              <a:solidFill>
                <a:srgbClr val="FF0000"/>
              </a:solidFill>
            </a:endParaRPr>
          </a:p>
        </p:txBody>
      </p:sp>
      <p:sp>
        <p:nvSpPr>
          <p:cNvPr id="200707" name="Text Box 3"/>
          <p:cNvSpPr txBox="1">
            <a:spLocks noChangeArrowheads="1"/>
          </p:cNvSpPr>
          <p:nvPr/>
        </p:nvSpPr>
        <p:spPr bwMode="auto">
          <a:xfrm>
            <a:off x="539750" y="501650"/>
            <a:ext cx="8389938" cy="1354138"/>
          </a:xfrm>
          <a:prstGeom prst="rect">
            <a:avLst/>
          </a:prstGeom>
          <a:noFill/>
          <a:ln w="9525">
            <a:noFill/>
            <a:miter lim="800000"/>
          </a:ln>
        </p:spPr>
        <p:txBody>
          <a:bodyPr>
            <a:spAutoFit/>
          </a:bodyPr>
          <a:lstStyle/>
          <a:p>
            <a:pPr>
              <a:lnSpc>
                <a:spcPct val="115000"/>
              </a:lnSpc>
            </a:pPr>
            <a:r>
              <a:rPr lang="zh-CN" altLang="en-US" b="1">
                <a:latin typeface="Garamond" panose="02020404030301010803" pitchFamily="18" charset="0"/>
              </a:rPr>
              <a:t>质量为 </a:t>
            </a:r>
            <a:r>
              <a:rPr lang="en-US" altLang="zh-CN" b="1">
                <a:solidFill>
                  <a:srgbClr val="FF6600"/>
                </a:solidFill>
                <a:latin typeface="Garamond" panose="02020404030301010803" pitchFamily="18" charset="0"/>
              </a:rPr>
              <a:t>0.02 Kg</a:t>
            </a:r>
            <a:r>
              <a:rPr lang="en-US" altLang="zh-CN" b="1">
                <a:latin typeface="Garamond" panose="02020404030301010803" pitchFamily="18" charset="0"/>
              </a:rPr>
              <a:t> </a:t>
            </a:r>
            <a:r>
              <a:rPr lang="zh-CN" altLang="en-US" b="1">
                <a:latin typeface="Garamond" panose="02020404030301010803" pitchFamily="18" charset="0"/>
              </a:rPr>
              <a:t>的氦气 </a:t>
            </a:r>
            <a:r>
              <a:rPr lang="en-US" altLang="zh-CN" b="1"/>
              <a:t>( </a:t>
            </a:r>
            <a:r>
              <a:rPr lang="en-US" altLang="zh-CN" b="1" i="1">
                <a:solidFill>
                  <a:srgbClr val="FF6600"/>
                </a:solidFill>
              </a:rPr>
              <a:t>C</a:t>
            </a:r>
            <a:r>
              <a:rPr lang="en-US" altLang="zh-CN" b="1" i="1" baseline="-25000">
                <a:solidFill>
                  <a:srgbClr val="FF6600"/>
                </a:solidFill>
              </a:rPr>
              <a:t>V</a:t>
            </a:r>
            <a:r>
              <a:rPr lang="en-US" altLang="zh-CN" b="1" baseline="-25000">
                <a:solidFill>
                  <a:srgbClr val="FF6600"/>
                </a:solidFill>
              </a:rPr>
              <a:t> </a:t>
            </a:r>
            <a:r>
              <a:rPr lang="en-US" altLang="zh-CN" b="1">
                <a:solidFill>
                  <a:srgbClr val="FF6600"/>
                </a:solidFill>
              </a:rPr>
              <a:t>= 3</a:t>
            </a:r>
            <a:r>
              <a:rPr lang="en-US" altLang="zh-CN" b="1" i="1">
                <a:solidFill>
                  <a:srgbClr val="FF6600"/>
                </a:solidFill>
              </a:rPr>
              <a:t>R</a:t>
            </a:r>
            <a:r>
              <a:rPr lang="en-US" altLang="zh-CN" b="1">
                <a:solidFill>
                  <a:srgbClr val="FF6600"/>
                </a:solidFill>
              </a:rPr>
              <a:t>/2 </a:t>
            </a:r>
            <a:r>
              <a:rPr lang="en-US" altLang="zh-CN" b="1"/>
              <a:t>)</a:t>
            </a:r>
            <a:r>
              <a:rPr lang="zh-CN" altLang="en-US" b="1">
                <a:latin typeface="Garamond" panose="02020404030301010803" pitchFamily="18" charset="0"/>
              </a:rPr>
              <a:t>，温度由 </a:t>
            </a:r>
            <a:r>
              <a:rPr lang="en-US" altLang="zh-CN" b="1">
                <a:solidFill>
                  <a:srgbClr val="FF6600"/>
                </a:solidFill>
              </a:rPr>
              <a:t>17 </a:t>
            </a:r>
            <a:r>
              <a:rPr lang="en-US" altLang="zh-CN" b="1" baseline="30000">
                <a:solidFill>
                  <a:srgbClr val="FF6600"/>
                </a:solidFill>
              </a:rPr>
              <a:t>0</a:t>
            </a:r>
            <a:r>
              <a:rPr lang="en-US" altLang="zh-CN" b="1">
                <a:solidFill>
                  <a:srgbClr val="FF6600"/>
                </a:solidFill>
              </a:rPr>
              <a:t>C</a:t>
            </a:r>
            <a:r>
              <a:rPr lang="en-US" altLang="zh-CN" b="1">
                <a:latin typeface="Garamond" panose="02020404030301010803" pitchFamily="18" charset="0"/>
              </a:rPr>
              <a:t> </a:t>
            </a:r>
            <a:r>
              <a:rPr lang="zh-CN" altLang="en-US" b="1">
                <a:latin typeface="Garamond" panose="02020404030301010803" pitchFamily="18" charset="0"/>
              </a:rPr>
              <a:t>升为 </a:t>
            </a:r>
            <a:r>
              <a:rPr lang="en-US" altLang="zh-CN" b="1">
                <a:solidFill>
                  <a:srgbClr val="FF6600"/>
                </a:solidFill>
              </a:rPr>
              <a:t>27 </a:t>
            </a:r>
            <a:r>
              <a:rPr lang="en-US" altLang="zh-CN" b="1" baseline="30000">
                <a:solidFill>
                  <a:srgbClr val="FF6600"/>
                </a:solidFill>
              </a:rPr>
              <a:t>0</a:t>
            </a:r>
            <a:r>
              <a:rPr lang="en-US" altLang="zh-CN" b="1">
                <a:solidFill>
                  <a:srgbClr val="FF6600"/>
                </a:solidFill>
              </a:rPr>
              <a:t>C</a:t>
            </a:r>
            <a:r>
              <a:rPr lang="en-US" altLang="zh-CN" b="1"/>
              <a:t> </a:t>
            </a:r>
            <a:r>
              <a:rPr lang="zh-CN" altLang="en-US" b="1">
                <a:latin typeface="Garamond" panose="02020404030301010803" pitchFamily="18" charset="0"/>
              </a:rPr>
              <a:t>，若在升温过程中： </a:t>
            </a:r>
            <a:r>
              <a:rPr lang="en-US" altLang="zh-CN" b="1"/>
              <a:t>(1)</a:t>
            </a:r>
            <a:r>
              <a:rPr lang="zh-CN" altLang="en-US" b="1">
                <a:latin typeface="Garamond" panose="02020404030301010803" pitchFamily="18" charset="0"/>
              </a:rPr>
              <a:t>体积保持不变； </a:t>
            </a:r>
            <a:r>
              <a:rPr lang="en-US" altLang="zh-CN" b="1"/>
              <a:t>(2)</a:t>
            </a:r>
            <a:r>
              <a:rPr lang="en-US" altLang="zh-CN" b="1">
                <a:latin typeface="Garamond" panose="02020404030301010803" pitchFamily="18" charset="0"/>
              </a:rPr>
              <a:t>  </a:t>
            </a:r>
            <a:r>
              <a:rPr lang="zh-CN" altLang="en-US" b="1">
                <a:latin typeface="Garamond" panose="02020404030301010803" pitchFamily="18" charset="0"/>
              </a:rPr>
              <a:t>压强保持不变；</a:t>
            </a:r>
            <a:r>
              <a:rPr lang="en-US" altLang="zh-CN" b="1"/>
              <a:t>(3)</a:t>
            </a:r>
            <a:r>
              <a:rPr lang="en-US" altLang="zh-CN" b="1">
                <a:latin typeface="Garamond" panose="02020404030301010803" pitchFamily="18" charset="0"/>
              </a:rPr>
              <a:t>  </a:t>
            </a:r>
            <a:r>
              <a:rPr lang="zh-CN" altLang="en-US" b="1">
                <a:latin typeface="Garamond" panose="02020404030301010803" pitchFamily="18" charset="0"/>
              </a:rPr>
              <a:t>与外界不交换热量。</a:t>
            </a:r>
            <a:endParaRPr lang="zh-CN" altLang="en-US" b="1">
              <a:latin typeface="Garamond" panose="02020404030301010803" pitchFamily="18" charset="0"/>
            </a:endParaRPr>
          </a:p>
        </p:txBody>
      </p:sp>
      <p:sp>
        <p:nvSpPr>
          <p:cNvPr id="200708" name="Rectangle 4"/>
          <p:cNvSpPr>
            <a:spLocks noChangeArrowheads="1"/>
          </p:cNvSpPr>
          <p:nvPr/>
        </p:nvSpPr>
        <p:spPr bwMode="auto">
          <a:xfrm>
            <a:off x="138113" y="1822450"/>
            <a:ext cx="490537" cy="512763"/>
          </a:xfrm>
          <a:prstGeom prst="rect">
            <a:avLst/>
          </a:prstGeom>
          <a:noFill/>
          <a:ln w="9525">
            <a:noFill/>
            <a:miter lim="800000"/>
          </a:ln>
        </p:spPr>
        <p:txBody>
          <a:bodyPr wrap="none">
            <a:spAutoFit/>
          </a:bodyPr>
          <a:lstStyle/>
          <a:p>
            <a:pPr>
              <a:lnSpc>
                <a:spcPct val="115000"/>
              </a:lnSpc>
            </a:pPr>
            <a:r>
              <a:rPr kumimoji="1" lang="zh-CN" altLang="en-US" b="1">
                <a:solidFill>
                  <a:srgbClr val="FF0000"/>
                </a:solidFill>
              </a:rPr>
              <a:t>求</a:t>
            </a:r>
            <a:endParaRPr kumimoji="1" lang="zh-CN" altLang="en-US" b="1">
              <a:solidFill>
                <a:srgbClr val="FF0000"/>
              </a:solidFill>
            </a:endParaRPr>
          </a:p>
        </p:txBody>
      </p:sp>
      <p:sp>
        <p:nvSpPr>
          <p:cNvPr id="200709" name="Text Box 5"/>
          <p:cNvSpPr txBox="1">
            <a:spLocks noChangeArrowheads="1"/>
          </p:cNvSpPr>
          <p:nvPr/>
        </p:nvSpPr>
        <p:spPr bwMode="auto">
          <a:xfrm>
            <a:off x="539750" y="1836738"/>
            <a:ext cx="8326438" cy="512762"/>
          </a:xfrm>
          <a:prstGeom prst="rect">
            <a:avLst/>
          </a:prstGeom>
          <a:noFill/>
          <a:ln w="9525">
            <a:noFill/>
            <a:miter lim="800000"/>
          </a:ln>
        </p:spPr>
        <p:txBody>
          <a:bodyPr>
            <a:spAutoFit/>
          </a:bodyPr>
          <a:lstStyle/>
          <a:p>
            <a:pPr>
              <a:lnSpc>
                <a:spcPct val="115000"/>
              </a:lnSpc>
            </a:pPr>
            <a:r>
              <a:rPr lang="zh-CN" altLang="en-US" b="1">
                <a:latin typeface="Garamond" panose="02020404030301010803" pitchFamily="18" charset="0"/>
              </a:rPr>
              <a:t>各过程中气体吸收的热量、内能的改变量和对外所作的功。</a:t>
            </a:r>
            <a:endParaRPr lang="zh-CN" altLang="en-US" b="1">
              <a:latin typeface="Garamond" panose="02020404030301010803" pitchFamily="18" charset="0"/>
            </a:endParaRPr>
          </a:p>
        </p:txBody>
      </p:sp>
      <p:sp>
        <p:nvSpPr>
          <p:cNvPr id="200710" name="Text Box 6"/>
          <p:cNvSpPr txBox="1">
            <a:spLocks noChangeArrowheads="1"/>
          </p:cNvSpPr>
          <p:nvPr/>
        </p:nvSpPr>
        <p:spPr bwMode="auto">
          <a:xfrm>
            <a:off x="166688" y="2438400"/>
            <a:ext cx="949325" cy="512763"/>
          </a:xfrm>
          <a:prstGeom prst="rect">
            <a:avLst/>
          </a:prstGeom>
          <a:noFill/>
          <a:ln w="9525">
            <a:noFill/>
            <a:miter lim="800000"/>
          </a:ln>
        </p:spPr>
        <p:txBody>
          <a:bodyPr>
            <a:spAutoFit/>
          </a:bodyPr>
          <a:lstStyle/>
          <a:p>
            <a:pPr>
              <a:lnSpc>
                <a:spcPct val="115000"/>
              </a:lnSpc>
            </a:pPr>
            <a:r>
              <a:rPr lang="zh-CN" altLang="en-US" b="1">
                <a:solidFill>
                  <a:srgbClr val="FF0000"/>
                </a:solidFill>
                <a:latin typeface="Garamond" panose="02020404030301010803" pitchFamily="18" charset="0"/>
              </a:rPr>
              <a:t>解</a:t>
            </a:r>
            <a:endParaRPr lang="zh-CN" altLang="en-US" b="1">
              <a:latin typeface="Garamond" panose="02020404030301010803" pitchFamily="18" charset="0"/>
            </a:endParaRPr>
          </a:p>
        </p:txBody>
      </p:sp>
      <p:graphicFrame>
        <p:nvGraphicFramePr>
          <p:cNvPr id="200711" name="Object 7"/>
          <p:cNvGraphicFramePr>
            <a:graphicFrameLocks noChangeAspect="1"/>
          </p:cNvGraphicFramePr>
          <p:nvPr/>
        </p:nvGraphicFramePr>
        <p:xfrm>
          <a:off x="1331913" y="5135563"/>
          <a:ext cx="938212" cy="366712"/>
        </p:xfrm>
        <a:graphic>
          <a:graphicData uri="http://schemas.openxmlformats.org/presentationml/2006/ole">
            <mc:AlternateContent xmlns:mc="http://schemas.openxmlformats.org/markup-compatibility/2006">
              <mc:Choice xmlns:v="urn:schemas-microsoft-com:vml" Requires="v">
                <p:oleObj spid="_x0000_s30721" name="公式" r:id="rId1" imgW="12496800" imgH="4876800" progId="Equation.3">
                  <p:embed/>
                </p:oleObj>
              </mc:Choice>
              <mc:Fallback>
                <p:oleObj name="公式" r:id="rId1" imgW="12496800" imgH="4876800" progId="Equation.3">
                  <p:embed/>
                  <p:pic>
                    <p:nvPicPr>
                      <p:cNvPr id="0" name="Object 7"/>
                      <p:cNvPicPr>
                        <a:picLocks noChangeAspect="1"/>
                      </p:cNvPicPr>
                      <p:nvPr/>
                    </p:nvPicPr>
                    <p:blipFill>
                      <a:blip r:embed="rId2"/>
                      <a:stretch>
                        <a:fillRect/>
                      </a:stretch>
                    </p:blipFill>
                    <p:spPr>
                      <a:xfrm>
                        <a:off x="1331913" y="5135563"/>
                        <a:ext cx="938212" cy="366712"/>
                      </a:xfrm>
                      <a:prstGeom prst="rect">
                        <a:avLst/>
                      </a:prstGeom>
                      <a:noFill/>
                      <a:ln w="9525">
                        <a:noFill/>
                      </a:ln>
                    </p:spPr>
                  </p:pic>
                </p:oleObj>
              </mc:Fallback>
            </mc:AlternateContent>
          </a:graphicData>
        </a:graphic>
      </p:graphicFrame>
      <p:sp>
        <p:nvSpPr>
          <p:cNvPr id="200712" name="Text Box 8"/>
          <p:cNvSpPr txBox="1">
            <a:spLocks noChangeArrowheads="1"/>
          </p:cNvSpPr>
          <p:nvPr/>
        </p:nvSpPr>
        <p:spPr bwMode="auto">
          <a:xfrm>
            <a:off x="701675" y="2466975"/>
            <a:ext cx="2209800" cy="463550"/>
          </a:xfrm>
          <a:prstGeom prst="rect">
            <a:avLst/>
          </a:prstGeom>
          <a:noFill/>
          <a:ln w="9525">
            <a:noFill/>
            <a:miter lim="800000"/>
          </a:ln>
        </p:spPr>
        <p:txBody>
          <a:bodyPr>
            <a:spAutoFit/>
          </a:bodyPr>
          <a:lstStyle/>
          <a:p>
            <a:pPr>
              <a:lnSpc>
                <a:spcPct val="115000"/>
              </a:lnSpc>
              <a:defRPr/>
            </a:pPr>
            <a:r>
              <a:rPr lang="zh-CN" altLang="en-US" b="1" dirty="0">
                <a:latin typeface="+mn-ea"/>
                <a:ea typeface="+mn-ea"/>
              </a:rPr>
              <a:t>由题已知得，</a:t>
            </a:r>
            <a:endParaRPr lang="zh-CN" altLang="en-US" b="1" dirty="0">
              <a:latin typeface="+mn-ea"/>
              <a:ea typeface="+mn-ea"/>
            </a:endParaRPr>
          </a:p>
        </p:txBody>
      </p:sp>
      <p:graphicFrame>
        <p:nvGraphicFramePr>
          <p:cNvPr id="200713" name="Object 9"/>
          <p:cNvGraphicFramePr>
            <a:graphicFrameLocks noChangeAspect="1"/>
          </p:cNvGraphicFramePr>
          <p:nvPr/>
        </p:nvGraphicFramePr>
        <p:xfrm>
          <a:off x="3429000" y="2409825"/>
          <a:ext cx="2447925" cy="728663"/>
        </p:xfrm>
        <a:graphic>
          <a:graphicData uri="http://schemas.openxmlformats.org/presentationml/2006/ole">
            <mc:AlternateContent xmlns:mc="http://schemas.openxmlformats.org/markup-compatibility/2006">
              <mc:Choice xmlns:v="urn:schemas-microsoft-com:vml" Requires="v">
                <p:oleObj spid="_x0000_s30723" name="公式" r:id="rId3" imgW="32613600" imgH="9753600" progId="Equation.3">
                  <p:embed/>
                </p:oleObj>
              </mc:Choice>
              <mc:Fallback>
                <p:oleObj name="公式" r:id="rId3" imgW="32613600" imgH="9753600" progId="Equation.3">
                  <p:embed/>
                  <p:pic>
                    <p:nvPicPr>
                      <p:cNvPr id="0" name="Object 9"/>
                      <p:cNvPicPr>
                        <a:picLocks noChangeAspect="1"/>
                      </p:cNvPicPr>
                      <p:nvPr/>
                    </p:nvPicPr>
                    <p:blipFill>
                      <a:blip r:embed="rId4"/>
                      <a:stretch>
                        <a:fillRect/>
                      </a:stretch>
                    </p:blipFill>
                    <p:spPr>
                      <a:xfrm>
                        <a:off x="3429000" y="2409825"/>
                        <a:ext cx="2447925" cy="728663"/>
                      </a:xfrm>
                      <a:prstGeom prst="rect">
                        <a:avLst/>
                      </a:prstGeom>
                      <a:noFill/>
                      <a:ln w="9525">
                        <a:noFill/>
                      </a:ln>
                    </p:spPr>
                  </p:pic>
                </p:oleObj>
              </mc:Fallback>
            </mc:AlternateContent>
          </a:graphicData>
        </a:graphic>
      </p:graphicFrame>
      <p:sp>
        <p:nvSpPr>
          <p:cNvPr id="200714" name="Text Box 10"/>
          <p:cNvSpPr txBox="1">
            <a:spLocks noChangeArrowheads="1"/>
          </p:cNvSpPr>
          <p:nvPr/>
        </p:nvSpPr>
        <p:spPr bwMode="auto">
          <a:xfrm>
            <a:off x="701675" y="4356100"/>
            <a:ext cx="4184650" cy="517525"/>
          </a:xfrm>
          <a:prstGeom prst="rect">
            <a:avLst/>
          </a:prstGeom>
          <a:noFill/>
          <a:ln w="9525">
            <a:noFill/>
            <a:miter lim="800000"/>
          </a:ln>
        </p:spPr>
        <p:txBody>
          <a:bodyPr>
            <a:spAutoFit/>
          </a:bodyPr>
          <a:lstStyle/>
          <a:p>
            <a:pPr>
              <a:lnSpc>
                <a:spcPct val="115000"/>
              </a:lnSpc>
              <a:defRPr/>
            </a:pPr>
            <a:r>
              <a:rPr lang="en-US" altLang="zh-CN" b="1" dirty="0">
                <a:ea typeface="+mn-ea"/>
                <a:cs typeface="Times New Roman" panose="02020603050405020304" pitchFamily="18" charset="0"/>
              </a:rPr>
              <a:t>(1)  </a:t>
            </a:r>
            <a:r>
              <a:rPr lang="zh-CN" altLang="en-US" b="1" dirty="0">
                <a:latin typeface="+mn-ea"/>
                <a:ea typeface="+mn-ea"/>
              </a:rPr>
              <a:t>当</a:t>
            </a:r>
            <a:r>
              <a:rPr lang="zh-CN" altLang="en-US" b="1" dirty="0">
                <a:solidFill>
                  <a:srgbClr val="FF6600"/>
                </a:solidFill>
                <a:latin typeface="+mn-ea"/>
                <a:ea typeface="+mn-ea"/>
              </a:rPr>
              <a:t>体积保持不变</a:t>
            </a:r>
            <a:r>
              <a:rPr lang="zh-CN" altLang="en-US" b="1" dirty="0">
                <a:latin typeface="+mn-ea"/>
                <a:ea typeface="+mn-ea"/>
              </a:rPr>
              <a:t>时</a:t>
            </a:r>
            <a:r>
              <a:rPr lang="en-US" altLang="zh-CN" b="1" dirty="0">
                <a:latin typeface="+mn-ea"/>
                <a:ea typeface="+mn-ea"/>
              </a:rPr>
              <a:t>:</a:t>
            </a:r>
            <a:endParaRPr lang="zh-CN" altLang="en-US" b="1" dirty="0">
              <a:latin typeface="+mn-ea"/>
              <a:ea typeface="+mn-ea"/>
            </a:endParaRPr>
          </a:p>
        </p:txBody>
      </p:sp>
      <p:graphicFrame>
        <p:nvGraphicFramePr>
          <p:cNvPr id="200715" name="Object 11"/>
          <p:cNvGraphicFramePr>
            <a:graphicFrameLocks noChangeAspect="1"/>
          </p:cNvGraphicFramePr>
          <p:nvPr/>
        </p:nvGraphicFramePr>
        <p:xfrm>
          <a:off x="2468563" y="5108575"/>
          <a:ext cx="1662112" cy="409575"/>
        </p:xfrm>
        <a:graphic>
          <a:graphicData uri="http://schemas.openxmlformats.org/presentationml/2006/ole">
            <mc:AlternateContent xmlns:mc="http://schemas.openxmlformats.org/markup-compatibility/2006">
              <mc:Choice xmlns:v="urn:schemas-microsoft-com:vml" Requires="v">
                <p:oleObj spid="_x0000_s30724" name="公式" r:id="rId5" imgW="22250400" imgH="5486400" progId="Equation.3">
                  <p:embed/>
                </p:oleObj>
              </mc:Choice>
              <mc:Fallback>
                <p:oleObj name="公式" r:id="rId5" imgW="22250400" imgH="5486400" progId="Equation.3">
                  <p:embed/>
                  <p:pic>
                    <p:nvPicPr>
                      <p:cNvPr id="0" name="Object 11"/>
                      <p:cNvPicPr>
                        <a:picLocks noChangeAspect="1"/>
                      </p:cNvPicPr>
                      <p:nvPr/>
                    </p:nvPicPr>
                    <p:blipFill>
                      <a:blip r:embed="rId6"/>
                      <a:stretch>
                        <a:fillRect/>
                      </a:stretch>
                    </p:blipFill>
                    <p:spPr>
                      <a:xfrm>
                        <a:off x="2468563" y="5108575"/>
                        <a:ext cx="1662112" cy="409575"/>
                      </a:xfrm>
                      <a:prstGeom prst="rect">
                        <a:avLst/>
                      </a:prstGeom>
                      <a:noFill/>
                      <a:ln w="9525">
                        <a:noFill/>
                      </a:ln>
                    </p:spPr>
                  </p:pic>
                </p:oleObj>
              </mc:Fallback>
            </mc:AlternateContent>
          </a:graphicData>
        </a:graphic>
      </p:graphicFrame>
      <p:graphicFrame>
        <p:nvGraphicFramePr>
          <p:cNvPr id="200716" name="Object 12"/>
          <p:cNvGraphicFramePr>
            <a:graphicFrameLocks noChangeAspect="1"/>
          </p:cNvGraphicFramePr>
          <p:nvPr/>
        </p:nvGraphicFramePr>
        <p:xfrm>
          <a:off x="4268788" y="4929188"/>
          <a:ext cx="2330450" cy="730250"/>
        </p:xfrm>
        <a:graphic>
          <a:graphicData uri="http://schemas.openxmlformats.org/presentationml/2006/ole">
            <mc:AlternateContent xmlns:mc="http://schemas.openxmlformats.org/markup-compatibility/2006">
              <mc:Choice xmlns:v="urn:schemas-microsoft-com:vml" Requires="v">
                <p:oleObj spid="_x0000_s30725" name="公式" r:id="rId7" imgW="31089600" imgH="9753600" progId="Equation.3">
                  <p:embed/>
                </p:oleObj>
              </mc:Choice>
              <mc:Fallback>
                <p:oleObj name="公式" r:id="rId7" imgW="31089600" imgH="9753600" progId="Equation.3">
                  <p:embed/>
                  <p:pic>
                    <p:nvPicPr>
                      <p:cNvPr id="0" name="Object 12"/>
                      <p:cNvPicPr>
                        <a:picLocks noChangeAspect="1"/>
                      </p:cNvPicPr>
                      <p:nvPr/>
                    </p:nvPicPr>
                    <p:blipFill>
                      <a:blip r:embed="rId8"/>
                      <a:stretch>
                        <a:fillRect/>
                      </a:stretch>
                    </p:blipFill>
                    <p:spPr>
                      <a:xfrm>
                        <a:off x="4268788" y="4929188"/>
                        <a:ext cx="2330450" cy="730250"/>
                      </a:xfrm>
                      <a:prstGeom prst="rect">
                        <a:avLst/>
                      </a:prstGeom>
                      <a:noFill/>
                      <a:ln w="9525">
                        <a:noFill/>
                      </a:ln>
                    </p:spPr>
                  </p:pic>
                </p:oleObj>
              </mc:Fallback>
            </mc:AlternateContent>
          </a:graphicData>
        </a:graphic>
      </p:graphicFrame>
      <p:graphicFrame>
        <p:nvGraphicFramePr>
          <p:cNvPr id="200717" name="Object 13"/>
          <p:cNvGraphicFramePr>
            <a:graphicFrameLocks noChangeAspect="1"/>
          </p:cNvGraphicFramePr>
          <p:nvPr/>
        </p:nvGraphicFramePr>
        <p:xfrm>
          <a:off x="6743700" y="5164138"/>
          <a:ext cx="1328738" cy="320675"/>
        </p:xfrm>
        <a:graphic>
          <a:graphicData uri="http://schemas.openxmlformats.org/presentationml/2006/ole">
            <mc:AlternateContent xmlns:mc="http://schemas.openxmlformats.org/markup-compatibility/2006">
              <mc:Choice xmlns:v="urn:schemas-microsoft-com:vml" Requires="v">
                <p:oleObj spid="_x0000_s30726" name="公式" r:id="rId9" imgW="17678400" imgH="4267200" progId="Equation.3">
                  <p:embed/>
                </p:oleObj>
              </mc:Choice>
              <mc:Fallback>
                <p:oleObj name="公式" r:id="rId9" imgW="17678400" imgH="4267200" progId="Equation.3">
                  <p:embed/>
                  <p:pic>
                    <p:nvPicPr>
                      <p:cNvPr id="0" name="Object 13"/>
                      <p:cNvPicPr>
                        <a:picLocks noChangeAspect="1"/>
                      </p:cNvPicPr>
                      <p:nvPr/>
                    </p:nvPicPr>
                    <p:blipFill>
                      <a:blip r:embed="rId10"/>
                      <a:stretch>
                        <a:fillRect/>
                      </a:stretch>
                    </p:blipFill>
                    <p:spPr>
                      <a:xfrm>
                        <a:off x="6743700" y="5164138"/>
                        <a:ext cx="1328738" cy="320675"/>
                      </a:xfrm>
                      <a:prstGeom prst="rect">
                        <a:avLst/>
                      </a:prstGeom>
                      <a:noFill/>
                      <a:ln w="9525">
                        <a:noFill/>
                      </a:ln>
                    </p:spPr>
                  </p:pic>
                </p:oleObj>
              </mc:Fallback>
            </mc:AlternateContent>
          </a:graphicData>
        </a:graphic>
      </p:graphicFrame>
      <p:graphicFrame>
        <p:nvGraphicFramePr>
          <p:cNvPr id="200719" name="Object 15"/>
          <p:cNvGraphicFramePr>
            <a:graphicFrameLocks noChangeAspect="1"/>
          </p:cNvGraphicFramePr>
          <p:nvPr/>
        </p:nvGraphicFramePr>
        <p:xfrm>
          <a:off x="1106488" y="3330575"/>
          <a:ext cx="1120775" cy="728663"/>
        </p:xfrm>
        <a:graphic>
          <a:graphicData uri="http://schemas.openxmlformats.org/presentationml/2006/ole">
            <mc:AlternateContent xmlns:mc="http://schemas.openxmlformats.org/markup-compatibility/2006">
              <mc:Choice xmlns:v="urn:schemas-microsoft-com:vml" Requires="v">
                <p:oleObj spid="_x0000_s30727" name="公式" r:id="rId11" imgW="14935200" imgH="9753600" progId="Equation.3">
                  <p:embed/>
                </p:oleObj>
              </mc:Choice>
              <mc:Fallback>
                <p:oleObj name="公式" r:id="rId11" imgW="14935200" imgH="9753600" progId="Equation.3">
                  <p:embed/>
                  <p:pic>
                    <p:nvPicPr>
                      <p:cNvPr id="0" name="Object 15"/>
                      <p:cNvPicPr>
                        <a:picLocks noChangeAspect="1"/>
                      </p:cNvPicPr>
                      <p:nvPr/>
                    </p:nvPicPr>
                    <p:blipFill>
                      <a:blip r:embed="rId12"/>
                      <a:stretch>
                        <a:fillRect/>
                      </a:stretch>
                    </p:blipFill>
                    <p:spPr>
                      <a:xfrm>
                        <a:off x="1106488" y="3330575"/>
                        <a:ext cx="1120775" cy="728663"/>
                      </a:xfrm>
                      <a:prstGeom prst="rect">
                        <a:avLst/>
                      </a:prstGeom>
                      <a:noFill/>
                      <a:ln w="9525">
                        <a:noFill/>
                      </a:ln>
                    </p:spPr>
                  </p:pic>
                </p:oleObj>
              </mc:Fallback>
            </mc:AlternateContent>
          </a:graphicData>
        </a:graphic>
      </p:graphicFrame>
      <p:graphicFrame>
        <p:nvGraphicFramePr>
          <p:cNvPr id="200720" name="Object 16"/>
          <p:cNvGraphicFramePr>
            <a:graphicFrameLocks noChangeAspect="1"/>
          </p:cNvGraphicFramePr>
          <p:nvPr/>
        </p:nvGraphicFramePr>
        <p:xfrm>
          <a:off x="2681288" y="3321050"/>
          <a:ext cx="1120775" cy="728663"/>
        </p:xfrm>
        <a:graphic>
          <a:graphicData uri="http://schemas.openxmlformats.org/presentationml/2006/ole">
            <mc:AlternateContent xmlns:mc="http://schemas.openxmlformats.org/markup-compatibility/2006">
              <mc:Choice xmlns:v="urn:schemas-microsoft-com:vml" Requires="v">
                <p:oleObj spid="_x0000_s30728" name="公式" r:id="rId13" imgW="14935200" imgH="9753600" progId="Equation.3">
                  <p:embed/>
                </p:oleObj>
              </mc:Choice>
              <mc:Fallback>
                <p:oleObj name="公式" r:id="rId13" imgW="14935200" imgH="9753600" progId="Equation.3">
                  <p:embed/>
                  <p:pic>
                    <p:nvPicPr>
                      <p:cNvPr id="0" name="Object 16"/>
                      <p:cNvPicPr>
                        <a:picLocks noChangeAspect="1"/>
                      </p:cNvPicPr>
                      <p:nvPr/>
                    </p:nvPicPr>
                    <p:blipFill>
                      <a:blip r:embed="rId14"/>
                      <a:stretch>
                        <a:fillRect/>
                      </a:stretch>
                    </p:blipFill>
                    <p:spPr>
                      <a:xfrm>
                        <a:off x="2681288" y="3321050"/>
                        <a:ext cx="1120775" cy="728663"/>
                      </a:xfrm>
                      <a:prstGeom prst="rect">
                        <a:avLst/>
                      </a:prstGeom>
                      <a:noFill/>
                      <a:ln w="9525">
                        <a:noFill/>
                      </a:ln>
                    </p:spPr>
                  </p:pic>
                </p:oleObj>
              </mc:Fallback>
            </mc:AlternateContent>
          </a:graphicData>
        </a:graphic>
      </p:graphicFrame>
      <p:graphicFrame>
        <p:nvGraphicFramePr>
          <p:cNvPr id="200721" name="Object 17"/>
          <p:cNvGraphicFramePr>
            <a:graphicFrameLocks noChangeAspect="1"/>
          </p:cNvGraphicFramePr>
          <p:nvPr/>
        </p:nvGraphicFramePr>
        <p:xfrm>
          <a:off x="4391025" y="4446588"/>
          <a:ext cx="777875" cy="320675"/>
        </p:xfrm>
        <a:graphic>
          <a:graphicData uri="http://schemas.openxmlformats.org/presentationml/2006/ole">
            <mc:AlternateContent xmlns:mc="http://schemas.openxmlformats.org/markup-compatibility/2006">
              <mc:Choice xmlns:v="urn:schemas-microsoft-com:vml" Requires="v">
                <p:oleObj spid="_x0000_s30729" name="公式" r:id="rId15" imgW="10363200" imgH="4267200" progId="Equation.3">
                  <p:embed/>
                </p:oleObj>
              </mc:Choice>
              <mc:Fallback>
                <p:oleObj name="公式" r:id="rId15" imgW="10363200" imgH="4267200" progId="Equation.3">
                  <p:embed/>
                  <p:pic>
                    <p:nvPicPr>
                      <p:cNvPr id="0" name="Object 17"/>
                      <p:cNvPicPr>
                        <a:picLocks noChangeAspect="1"/>
                      </p:cNvPicPr>
                      <p:nvPr/>
                    </p:nvPicPr>
                    <p:blipFill>
                      <a:blip r:embed="rId16"/>
                      <a:stretch>
                        <a:fillRect/>
                      </a:stretch>
                    </p:blipFill>
                    <p:spPr>
                      <a:xfrm>
                        <a:off x="4391025" y="4446588"/>
                        <a:ext cx="777875" cy="320675"/>
                      </a:xfrm>
                      <a:prstGeom prst="rect">
                        <a:avLst/>
                      </a:prstGeom>
                      <a:noFill/>
                      <a:ln w="9525">
                        <a:noFill/>
                      </a:ln>
                    </p:spPr>
                  </p:pic>
                </p:oleObj>
              </mc:Fallback>
            </mc:AlternateContent>
          </a:graphicData>
        </a:graphic>
      </p:graphicFrame>
      <p:graphicFrame>
        <p:nvGraphicFramePr>
          <p:cNvPr id="200722" name="Object 18"/>
          <p:cNvGraphicFramePr>
            <a:graphicFrameLocks noChangeAspect="1"/>
          </p:cNvGraphicFramePr>
          <p:nvPr/>
        </p:nvGraphicFramePr>
        <p:xfrm>
          <a:off x="4265613" y="3527425"/>
          <a:ext cx="1373187" cy="387350"/>
        </p:xfrm>
        <a:graphic>
          <a:graphicData uri="http://schemas.openxmlformats.org/presentationml/2006/ole">
            <mc:AlternateContent xmlns:mc="http://schemas.openxmlformats.org/markup-compatibility/2006">
              <mc:Choice xmlns:v="urn:schemas-microsoft-com:vml" Requires="v">
                <p:oleObj spid="_x0000_s30730" name="公式" r:id="rId17" imgW="18288000" imgH="5181600" progId="Equation.3">
                  <p:embed/>
                </p:oleObj>
              </mc:Choice>
              <mc:Fallback>
                <p:oleObj name="公式" r:id="rId17" imgW="18288000" imgH="5181600" progId="Equation.3">
                  <p:embed/>
                  <p:pic>
                    <p:nvPicPr>
                      <p:cNvPr id="0" name="Object 18"/>
                      <p:cNvPicPr>
                        <a:picLocks noChangeAspect="1"/>
                      </p:cNvPicPr>
                      <p:nvPr/>
                    </p:nvPicPr>
                    <p:blipFill>
                      <a:blip r:embed="rId18"/>
                      <a:stretch>
                        <a:fillRect/>
                      </a:stretch>
                    </p:blipFill>
                    <p:spPr>
                      <a:xfrm>
                        <a:off x="4265613" y="3527425"/>
                        <a:ext cx="1373187" cy="387350"/>
                      </a:xfrm>
                      <a:prstGeom prst="rect">
                        <a:avLst/>
                      </a:prstGeom>
                      <a:noFill/>
                      <a:ln w="9525">
                        <a:noFill/>
                      </a:ln>
                    </p:spPr>
                  </p:pic>
                </p:oleObj>
              </mc:Fallback>
            </mc:AlternateContent>
          </a:graphicData>
        </a:graphic>
      </p:graphicFrame>
      <p:graphicFrame>
        <p:nvGraphicFramePr>
          <p:cNvPr id="200723" name="Object 19"/>
          <p:cNvGraphicFramePr>
            <a:graphicFrameLocks noChangeAspect="1"/>
          </p:cNvGraphicFramePr>
          <p:nvPr/>
        </p:nvGraphicFramePr>
        <p:xfrm>
          <a:off x="6057900" y="3509963"/>
          <a:ext cx="1371600" cy="387350"/>
        </p:xfrm>
        <a:graphic>
          <a:graphicData uri="http://schemas.openxmlformats.org/presentationml/2006/ole">
            <mc:AlternateContent xmlns:mc="http://schemas.openxmlformats.org/markup-compatibility/2006">
              <mc:Choice xmlns:v="urn:schemas-microsoft-com:vml" Requires="v">
                <p:oleObj spid="_x0000_s30731" name="公式" r:id="rId19" imgW="18288000" imgH="5181600" progId="Equation.3">
                  <p:embed/>
                </p:oleObj>
              </mc:Choice>
              <mc:Fallback>
                <p:oleObj name="公式" r:id="rId19" imgW="18288000" imgH="5181600" progId="Equation.3">
                  <p:embed/>
                  <p:pic>
                    <p:nvPicPr>
                      <p:cNvPr id="0" name="Object 19"/>
                      <p:cNvPicPr>
                        <a:picLocks noChangeAspect="1"/>
                      </p:cNvPicPr>
                      <p:nvPr/>
                    </p:nvPicPr>
                    <p:blipFill>
                      <a:blip r:embed="rId20"/>
                      <a:stretch>
                        <a:fillRect/>
                      </a:stretch>
                    </p:blipFill>
                    <p:spPr>
                      <a:xfrm>
                        <a:off x="6057900" y="3509963"/>
                        <a:ext cx="1371600" cy="3873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0706"/>
                                        </p:tgtEl>
                                        <p:attrNameLst>
                                          <p:attrName>style.visibility</p:attrName>
                                        </p:attrNameLst>
                                      </p:cBhvr>
                                      <p:to>
                                        <p:strVal val="visible"/>
                                      </p:to>
                                    </p:set>
                                    <p:animEffect transition="in" filter="wipe(left)">
                                      <p:cBhvr>
                                        <p:cTn id="7" dur="500"/>
                                        <p:tgtEl>
                                          <p:spTgt spid="2007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0707"/>
                                        </p:tgtEl>
                                        <p:attrNameLst>
                                          <p:attrName>style.visibility</p:attrName>
                                        </p:attrNameLst>
                                      </p:cBhvr>
                                      <p:to>
                                        <p:strVal val="visible"/>
                                      </p:to>
                                    </p:set>
                                    <p:animEffect transition="in" filter="wipe(left)">
                                      <p:cBhvr>
                                        <p:cTn id="12" dur="1000"/>
                                        <p:tgtEl>
                                          <p:spTgt spid="200707"/>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00708"/>
                                        </p:tgtEl>
                                        <p:attrNameLst>
                                          <p:attrName>style.visibility</p:attrName>
                                        </p:attrNameLst>
                                      </p:cBhvr>
                                      <p:to>
                                        <p:strVal val="visible"/>
                                      </p:to>
                                    </p:set>
                                    <p:animEffect transition="in" filter="wipe(left)">
                                      <p:cBhvr>
                                        <p:cTn id="16" dur="500"/>
                                        <p:tgtEl>
                                          <p:spTgt spid="20070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0709"/>
                                        </p:tgtEl>
                                        <p:attrNameLst>
                                          <p:attrName>style.visibility</p:attrName>
                                        </p:attrNameLst>
                                      </p:cBhvr>
                                      <p:to>
                                        <p:strVal val="visible"/>
                                      </p:to>
                                    </p:set>
                                    <p:animEffect transition="in" filter="wipe(left)">
                                      <p:cBhvr>
                                        <p:cTn id="21" dur="1000"/>
                                        <p:tgtEl>
                                          <p:spTgt spid="20070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0710"/>
                                        </p:tgtEl>
                                        <p:attrNameLst>
                                          <p:attrName>style.visibility</p:attrName>
                                        </p:attrNameLst>
                                      </p:cBhvr>
                                      <p:to>
                                        <p:strVal val="visible"/>
                                      </p:to>
                                    </p:set>
                                    <p:animEffect transition="in" filter="wipe(left)">
                                      <p:cBhvr>
                                        <p:cTn id="26" dur="1000"/>
                                        <p:tgtEl>
                                          <p:spTgt spid="2007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0712"/>
                                        </p:tgtEl>
                                        <p:attrNameLst>
                                          <p:attrName>style.visibility</p:attrName>
                                        </p:attrNameLst>
                                      </p:cBhvr>
                                      <p:to>
                                        <p:strVal val="visible"/>
                                      </p:to>
                                    </p:set>
                                    <p:animEffect transition="in" filter="wipe(left)">
                                      <p:cBhvr>
                                        <p:cTn id="31" dur="1000"/>
                                        <p:tgtEl>
                                          <p:spTgt spid="2007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00713"/>
                                        </p:tgtEl>
                                        <p:attrNameLst>
                                          <p:attrName>style.visibility</p:attrName>
                                        </p:attrNameLst>
                                      </p:cBhvr>
                                      <p:to>
                                        <p:strVal val="visible"/>
                                      </p:to>
                                    </p:set>
                                    <p:animEffect transition="in" filter="wipe(left)">
                                      <p:cBhvr>
                                        <p:cTn id="36" dur="1000"/>
                                        <p:tgtEl>
                                          <p:spTgt spid="2007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00719"/>
                                        </p:tgtEl>
                                        <p:attrNameLst>
                                          <p:attrName>style.visibility</p:attrName>
                                        </p:attrNameLst>
                                      </p:cBhvr>
                                      <p:to>
                                        <p:strVal val="visible"/>
                                      </p:to>
                                    </p:set>
                                    <p:animEffect transition="in" filter="wipe(left)">
                                      <p:cBhvr>
                                        <p:cTn id="41" dur="1000"/>
                                        <p:tgtEl>
                                          <p:spTgt spid="20071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00720"/>
                                        </p:tgtEl>
                                        <p:attrNameLst>
                                          <p:attrName>style.visibility</p:attrName>
                                        </p:attrNameLst>
                                      </p:cBhvr>
                                      <p:to>
                                        <p:strVal val="visible"/>
                                      </p:to>
                                    </p:set>
                                    <p:animEffect transition="in" filter="wipe(left)">
                                      <p:cBhvr>
                                        <p:cTn id="46" dur="1000"/>
                                        <p:tgtEl>
                                          <p:spTgt spid="20072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00722"/>
                                        </p:tgtEl>
                                        <p:attrNameLst>
                                          <p:attrName>style.visibility</p:attrName>
                                        </p:attrNameLst>
                                      </p:cBhvr>
                                      <p:to>
                                        <p:strVal val="visible"/>
                                      </p:to>
                                    </p:set>
                                    <p:animEffect transition="in" filter="wipe(left)">
                                      <p:cBhvr>
                                        <p:cTn id="51" dur="1000"/>
                                        <p:tgtEl>
                                          <p:spTgt spid="20072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00723"/>
                                        </p:tgtEl>
                                        <p:attrNameLst>
                                          <p:attrName>style.visibility</p:attrName>
                                        </p:attrNameLst>
                                      </p:cBhvr>
                                      <p:to>
                                        <p:strVal val="visible"/>
                                      </p:to>
                                    </p:set>
                                    <p:animEffect transition="in" filter="wipe(left)">
                                      <p:cBhvr>
                                        <p:cTn id="56" dur="1000"/>
                                        <p:tgtEl>
                                          <p:spTgt spid="20072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00714"/>
                                        </p:tgtEl>
                                        <p:attrNameLst>
                                          <p:attrName>style.visibility</p:attrName>
                                        </p:attrNameLst>
                                      </p:cBhvr>
                                      <p:to>
                                        <p:strVal val="visible"/>
                                      </p:to>
                                    </p:set>
                                    <p:animEffect transition="in" filter="wipe(left)">
                                      <p:cBhvr>
                                        <p:cTn id="61" dur="1000"/>
                                        <p:tgtEl>
                                          <p:spTgt spid="2007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00721"/>
                                        </p:tgtEl>
                                        <p:attrNameLst>
                                          <p:attrName>style.visibility</p:attrName>
                                        </p:attrNameLst>
                                      </p:cBhvr>
                                      <p:to>
                                        <p:strVal val="visible"/>
                                      </p:to>
                                    </p:set>
                                    <p:animEffect transition="in" filter="wipe(left)">
                                      <p:cBhvr>
                                        <p:cTn id="66" dur="1000"/>
                                        <p:tgtEl>
                                          <p:spTgt spid="20072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00711"/>
                                        </p:tgtEl>
                                        <p:attrNameLst>
                                          <p:attrName>style.visibility</p:attrName>
                                        </p:attrNameLst>
                                      </p:cBhvr>
                                      <p:to>
                                        <p:strVal val="visible"/>
                                      </p:to>
                                    </p:set>
                                    <p:animEffect transition="in" filter="wipe(left)">
                                      <p:cBhvr>
                                        <p:cTn id="71" dur="1000"/>
                                        <p:tgtEl>
                                          <p:spTgt spid="20071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00715"/>
                                        </p:tgtEl>
                                        <p:attrNameLst>
                                          <p:attrName>style.visibility</p:attrName>
                                        </p:attrNameLst>
                                      </p:cBhvr>
                                      <p:to>
                                        <p:strVal val="visible"/>
                                      </p:to>
                                    </p:set>
                                    <p:animEffect transition="in" filter="wipe(left)">
                                      <p:cBhvr>
                                        <p:cTn id="76" dur="1000"/>
                                        <p:tgtEl>
                                          <p:spTgt spid="20071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00716"/>
                                        </p:tgtEl>
                                        <p:attrNameLst>
                                          <p:attrName>style.visibility</p:attrName>
                                        </p:attrNameLst>
                                      </p:cBhvr>
                                      <p:to>
                                        <p:strVal val="visible"/>
                                      </p:to>
                                    </p:set>
                                    <p:animEffect transition="in" filter="wipe(left)">
                                      <p:cBhvr>
                                        <p:cTn id="81" dur="1000"/>
                                        <p:tgtEl>
                                          <p:spTgt spid="200716"/>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00717"/>
                                        </p:tgtEl>
                                        <p:attrNameLst>
                                          <p:attrName>style.visibility</p:attrName>
                                        </p:attrNameLst>
                                      </p:cBhvr>
                                      <p:to>
                                        <p:strVal val="visible"/>
                                      </p:to>
                                    </p:set>
                                    <p:animEffect transition="in" filter="wipe(left)">
                                      <p:cBhvr>
                                        <p:cTn id="86" dur="1000"/>
                                        <p:tgtEl>
                                          <p:spTgt spid="200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6" grpId="0"/>
      <p:bldP spid="200707" grpId="0"/>
      <p:bldP spid="200708" grpId="0"/>
      <p:bldP spid="200709" grpId="0"/>
      <p:bldP spid="200710" grpId="0"/>
      <p:bldP spid="200712" grpId="0"/>
      <p:bldP spid="20071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2"/>
          <p:cNvSpPr txBox="1">
            <a:spLocks noChangeArrowheads="1"/>
          </p:cNvSpPr>
          <p:nvPr/>
        </p:nvSpPr>
        <p:spPr bwMode="auto">
          <a:xfrm>
            <a:off x="250825" y="593725"/>
            <a:ext cx="4591050" cy="517525"/>
          </a:xfrm>
          <a:prstGeom prst="rect">
            <a:avLst/>
          </a:prstGeom>
          <a:noFill/>
          <a:ln w="9525">
            <a:noFill/>
            <a:miter lim="800000"/>
          </a:ln>
        </p:spPr>
        <p:txBody>
          <a:bodyPr>
            <a:spAutoFit/>
          </a:bodyPr>
          <a:lstStyle/>
          <a:p>
            <a:pPr>
              <a:lnSpc>
                <a:spcPct val="115000"/>
              </a:lnSpc>
              <a:defRPr/>
            </a:pPr>
            <a:r>
              <a:rPr lang="en-US" altLang="zh-CN" b="1" dirty="0">
                <a:ea typeface="+mn-ea"/>
                <a:cs typeface="Times New Roman" panose="02020603050405020304" pitchFamily="18" charset="0"/>
              </a:rPr>
              <a:t>(2)  </a:t>
            </a:r>
            <a:r>
              <a:rPr lang="zh-CN" altLang="en-US" b="1" dirty="0">
                <a:latin typeface="+mn-ea"/>
                <a:ea typeface="+mn-ea"/>
              </a:rPr>
              <a:t>当</a:t>
            </a:r>
            <a:r>
              <a:rPr lang="zh-CN" altLang="en-US" b="1" dirty="0">
                <a:solidFill>
                  <a:srgbClr val="FF6600"/>
                </a:solidFill>
                <a:latin typeface="+mn-ea"/>
                <a:ea typeface="+mn-ea"/>
              </a:rPr>
              <a:t>压强保持不变</a:t>
            </a:r>
            <a:r>
              <a:rPr lang="zh-CN" altLang="en-US" b="1" dirty="0">
                <a:latin typeface="+mn-ea"/>
                <a:ea typeface="+mn-ea"/>
              </a:rPr>
              <a:t>时，</a:t>
            </a:r>
            <a:endParaRPr lang="zh-CN" altLang="en-US" b="1" dirty="0">
              <a:latin typeface="+mn-ea"/>
              <a:ea typeface="+mn-ea"/>
            </a:endParaRPr>
          </a:p>
        </p:txBody>
      </p:sp>
      <p:graphicFrame>
        <p:nvGraphicFramePr>
          <p:cNvPr id="201731" name="Object 3"/>
          <p:cNvGraphicFramePr>
            <a:graphicFrameLocks noChangeAspect="1"/>
          </p:cNvGraphicFramePr>
          <p:nvPr/>
        </p:nvGraphicFramePr>
        <p:xfrm>
          <a:off x="849313" y="1268413"/>
          <a:ext cx="1911350" cy="431800"/>
        </p:xfrm>
        <a:graphic>
          <a:graphicData uri="http://schemas.openxmlformats.org/presentationml/2006/ole">
            <mc:AlternateContent xmlns:mc="http://schemas.openxmlformats.org/markup-compatibility/2006">
              <mc:Choice xmlns:v="urn:schemas-microsoft-com:vml" Requires="v">
                <p:oleObj spid="_x0000_s31745" name="公式" r:id="rId1" imgW="25603200" imgH="5791200" progId="Equation.3">
                  <p:embed/>
                </p:oleObj>
              </mc:Choice>
              <mc:Fallback>
                <p:oleObj name="公式" r:id="rId1" imgW="25603200" imgH="5791200" progId="Equation.3">
                  <p:embed/>
                  <p:pic>
                    <p:nvPicPr>
                      <p:cNvPr id="0" name="Object 3"/>
                      <p:cNvPicPr>
                        <a:picLocks noChangeAspect="1"/>
                      </p:cNvPicPr>
                      <p:nvPr/>
                    </p:nvPicPr>
                    <p:blipFill>
                      <a:blip r:embed="rId2"/>
                      <a:stretch>
                        <a:fillRect/>
                      </a:stretch>
                    </p:blipFill>
                    <p:spPr>
                      <a:xfrm>
                        <a:off x="849313" y="1268413"/>
                        <a:ext cx="1911350" cy="431800"/>
                      </a:xfrm>
                      <a:prstGeom prst="rect">
                        <a:avLst/>
                      </a:prstGeom>
                      <a:noFill/>
                      <a:ln w="9525">
                        <a:noFill/>
                      </a:ln>
                    </p:spPr>
                  </p:pic>
                </p:oleObj>
              </mc:Fallback>
            </mc:AlternateContent>
          </a:graphicData>
        </a:graphic>
      </p:graphicFrame>
      <p:graphicFrame>
        <p:nvGraphicFramePr>
          <p:cNvPr id="201732" name="Object 4"/>
          <p:cNvGraphicFramePr>
            <a:graphicFrameLocks noChangeAspect="1"/>
          </p:cNvGraphicFramePr>
          <p:nvPr/>
        </p:nvGraphicFramePr>
        <p:xfrm>
          <a:off x="2906713" y="1133475"/>
          <a:ext cx="2330450" cy="730250"/>
        </p:xfrm>
        <a:graphic>
          <a:graphicData uri="http://schemas.openxmlformats.org/presentationml/2006/ole">
            <mc:AlternateContent xmlns:mc="http://schemas.openxmlformats.org/markup-compatibility/2006">
              <mc:Choice xmlns:v="urn:schemas-microsoft-com:vml" Requires="v">
                <p:oleObj spid="_x0000_s31747" name="公式" r:id="rId3" imgW="31089600" imgH="9753600" progId="Equation.3">
                  <p:embed/>
                </p:oleObj>
              </mc:Choice>
              <mc:Fallback>
                <p:oleObj name="公式" r:id="rId3" imgW="31089600" imgH="9753600" progId="Equation.3">
                  <p:embed/>
                  <p:pic>
                    <p:nvPicPr>
                      <p:cNvPr id="0" name="Object 4"/>
                      <p:cNvPicPr>
                        <a:picLocks noChangeAspect="1"/>
                      </p:cNvPicPr>
                      <p:nvPr/>
                    </p:nvPicPr>
                    <p:blipFill>
                      <a:blip r:embed="rId4"/>
                      <a:stretch>
                        <a:fillRect/>
                      </a:stretch>
                    </p:blipFill>
                    <p:spPr>
                      <a:xfrm>
                        <a:off x="2906713" y="1133475"/>
                        <a:ext cx="2330450" cy="730250"/>
                      </a:xfrm>
                      <a:prstGeom prst="rect">
                        <a:avLst/>
                      </a:prstGeom>
                      <a:noFill/>
                      <a:ln w="9525">
                        <a:noFill/>
                      </a:ln>
                    </p:spPr>
                  </p:pic>
                </p:oleObj>
              </mc:Fallback>
            </mc:AlternateContent>
          </a:graphicData>
        </a:graphic>
      </p:graphicFrame>
      <p:graphicFrame>
        <p:nvGraphicFramePr>
          <p:cNvPr id="201733" name="Object 5"/>
          <p:cNvGraphicFramePr>
            <a:graphicFrameLocks noChangeAspect="1"/>
          </p:cNvGraphicFramePr>
          <p:nvPr/>
        </p:nvGraphicFramePr>
        <p:xfrm>
          <a:off x="5313363" y="1358900"/>
          <a:ext cx="1465262" cy="320675"/>
        </p:xfrm>
        <a:graphic>
          <a:graphicData uri="http://schemas.openxmlformats.org/presentationml/2006/ole">
            <mc:AlternateContent xmlns:mc="http://schemas.openxmlformats.org/markup-compatibility/2006">
              <mc:Choice xmlns:v="urn:schemas-microsoft-com:vml" Requires="v">
                <p:oleObj spid="_x0000_s31748" name="公式" r:id="rId5" imgW="19507200" imgH="4267200" progId="Equation.3">
                  <p:embed/>
                </p:oleObj>
              </mc:Choice>
              <mc:Fallback>
                <p:oleObj name="公式" r:id="rId5" imgW="19507200" imgH="4267200" progId="Equation.3">
                  <p:embed/>
                  <p:pic>
                    <p:nvPicPr>
                      <p:cNvPr id="0" name="Object 5"/>
                      <p:cNvPicPr>
                        <a:picLocks noChangeAspect="1"/>
                      </p:cNvPicPr>
                      <p:nvPr/>
                    </p:nvPicPr>
                    <p:blipFill>
                      <a:blip r:embed="rId6"/>
                      <a:stretch>
                        <a:fillRect/>
                      </a:stretch>
                    </p:blipFill>
                    <p:spPr>
                      <a:xfrm>
                        <a:off x="5313363" y="1358900"/>
                        <a:ext cx="1465262" cy="320675"/>
                      </a:xfrm>
                      <a:prstGeom prst="rect">
                        <a:avLst/>
                      </a:prstGeom>
                      <a:noFill/>
                      <a:ln w="9525">
                        <a:noFill/>
                      </a:ln>
                    </p:spPr>
                  </p:pic>
                </p:oleObj>
              </mc:Fallback>
            </mc:AlternateContent>
          </a:graphicData>
        </a:graphic>
      </p:graphicFrame>
      <p:graphicFrame>
        <p:nvGraphicFramePr>
          <p:cNvPr id="201734" name="Object 6"/>
          <p:cNvGraphicFramePr>
            <a:graphicFrameLocks noChangeAspect="1"/>
          </p:cNvGraphicFramePr>
          <p:nvPr/>
        </p:nvGraphicFramePr>
        <p:xfrm>
          <a:off x="701675" y="1943100"/>
          <a:ext cx="2093913" cy="407988"/>
        </p:xfrm>
        <a:graphic>
          <a:graphicData uri="http://schemas.openxmlformats.org/presentationml/2006/ole">
            <mc:AlternateContent xmlns:mc="http://schemas.openxmlformats.org/markup-compatibility/2006">
              <mc:Choice xmlns:v="urn:schemas-microsoft-com:vml" Requires="v">
                <p:oleObj spid="_x0000_s31749" name="公式" r:id="rId7" imgW="28041600" imgH="5486400" progId="Equation.3">
                  <p:embed/>
                </p:oleObj>
              </mc:Choice>
              <mc:Fallback>
                <p:oleObj name="公式" r:id="rId7" imgW="28041600" imgH="5486400" progId="Equation.3">
                  <p:embed/>
                  <p:pic>
                    <p:nvPicPr>
                      <p:cNvPr id="0" name="Object 6"/>
                      <p:cNvPicPr>
                        <a:picLocks noChangeAspect="1"/>
                      </p:cNvPicPr>
                      <p:nvPr/>
                    </p:nvPicPr>
                    <p:blipFill>
                      <a:blip r:embed="rId8"/>
                      <a:stretch>
                        <a:fillRect/>
                      </a:stretch>
                    </p:blipFill>
                    <p:spPr>
                      <a:xfrm>
                        <a:off x="701675" y="1943100"/>
                        <a:ext cx="2093913" cy="407988"/>
                      </a:xfrm>
                      <a:prstGeom prst="rect">
                        <a:avLst/>
                      </a:prstGeom>
                      <a:noFill/>
                      <a:ln w="9525">
                        <a:noFill/>
                      </a:ln>
                    </p:spPr>
                  </p:pic>
                </p:oleObj>
              </mc:Fallback>
            </mc:AlternateContent>
          </a:graphicData>
        </a:graphic>
      </p:graphicFrame>
      <p:graphicFrame>
        <p:nvGraphicFramePr>
          <p:cNvPr id="201735" name="Object 7"/>
          <p:cNvGraphicFramePr>
            <a:graphicFrameLocks noChangeAspect="1"/>
          </p:cNvGraphicFramePr>
          <p:nvPr/>
        </p:nvGraphicFramePr>
        <p:xfrm>
          <a:off x="2951163" y="1982788"/>
          <a:ext cx="1328737" cy="320675"/>
        </p:xfrm>
        <a:graphic>
          <a:graphicData uri="http://schemas.openxmlformats.org/presentationml/2006/ole">
            <mc:AlternateContent xmlns:mc="http://schemas.openxmlformats.org/markup-compatibility/2006">
              <mc:Choice xmlns:v="urn:schemas-microsoft-com:vml" Requires="v">
                <p:oleObj spid="_x0000_s31750" name="公式" r:id="rId9" imgW="17678400" imgH="4267200" progId="Equation.3">
                  <p:embed/>
                </p:oleObj>
              </mc:Choice>
              <mc:Fallback>
                <p:oleObj name="公式" r:id="rId9" imgW="17678400" imgH="4267200" progId="Equation.3">
                  <p:embed/>
                  <p:pic>
                    <p:nvPicPr>
                      <p:cNvPr id="0" name="Object 7"/>
                      <p:cNvPicPr>
                        <a:picLocks noChangeAspect="1"/>
                      </p:cNvPicPr>
                      <p:nvPr/>
                    </p:nvPicPr>
                    <p:blipFill>
                      <a:blip r:embed="rId10"/>
                      <a:stretch>
                        <a:fillRect/>
                      </a:stretch>
                    </p:blipFill>
                    <p:spPr>
                      <a:xfrm>
                        <a:off x="2951163" y="1982788"/>
                        <a:ext cx="1328737" cy="320675"/>
                      </a:xfrm>
                      <a:prstGeom prst="rect">
                        <a:avLst/>
                      </a:prstGeom>
                      <a:noFill/>
                      <a:ln w="9525">
                        <a:noFill/>
                      </a:ln>
                    </p:spPr>
                  </p:pic>
                </p:oleObj>
              </mc:Fallback>
            </mc:AlternateContent>
          </a:graphicData>
        </a:graphic>
      </p:graphicFrame>
      <p:graphicFrame>
        <p:nvGraphicFramePr>
          <p:cNvPr id="201736" name="Object 8"/>
          <p:cNvGraphicFramePr/>
          <p:nvPr/>
        </p:nvGraphicFramePr>
        <p:xfrm>
          <a:off x="1357313" y="2500313"/>
          <a:ext cx="1500187" cy="357187"/>
        </p:xfrm>
        <a:graphic>
          <a:graphicData uri="http://schemas.openxmlformats.org/presentationml/2006/ole">
            <mc:AlternateContent xmlns:mc="http://schemas.openxmlformats.org/markup-compatibility/2006">
              <mc:Choice xmlns:v="urn:schemas-microsoft-com:vml" Requires="v">
                <p:oleObj spid="_x0000_s31751" name="Equation" r:id="rId11" imgW="18592800" imgH="4876800" progId="Equation.DSMT4">
                  <p:embed/>
                </p:oleObj>
              </mc:Choice>
              <mc:Fallback>
                <p:oleObj name="Equation" r:id="rId11" imgW="18592800" imgH="4876800" progId="Equation.DSMT4">
                  <p:embed/>
                  <p:pic>
                    <p:nvPicPr>
                      <p:cNvPr id="0" name="Object 8"/>
                      <p:cNvPicPr/>
                      <p:nvPr/>
                    </p:nvPicPr>
                    <p:blipFill>
                      <a:blip r:embed="rId12"/>
                      <a:stretch>
                        <a:fillRect/>
                      </a:stretch>
                    </p:blipFill>
                    <p:spPr>
                      <a:xfrm>
                        <a:off x="1357313" y="2500313"/>
                        <a:ext cx="1500187" cy="357187"/>
                      </a:xfrm>
                      <a:prstGeom prst="rect">
                        <a:avLst/>
                      </a:prstGeom>
                      <a:noFill/>
                      <a:ln w="9525">
                        <a:noFill/>
                      </a:ln>
                    </p:spPr>
                  </p:pic>
                </p:oleObj>
              </mc:Fallback>
            </mc:AlternateContent>
          </a:graphicData>
        </a:graphic>
      </p:graphicFrame>
      <p:graphicFrame>
        <p:nvGraphicFramePr>
          <p:cNvPr id="201738" name="Object 10"/>
          <p:cNvGraphicFramePr>
            <a:graphicFrameLocks noChangeAspect="1"/>
          </p:cNvGraphicFramePr>
          <p:nvPr/>
        </p:nvGraphicFramePr>
        <p:xfrm>
          <a:off x="2928938" y="2500313"/>
          <a:ext cx="1190625" cy="320675"/>
        </p:xfrm>
        <a:graphic>
          <a:graphicData uri="http://schemas.openxmlformats.org/presentationml/2006/ole">
            <mc:AlternateContent xmlns:mc="http://schemas.openxmlformats.org/markup-compatibility/2006">
              <mc:Choice xmlns:v="urn:schemas-microsoft-com:vml" Requires="v">
                <p:oleObj spid="_x0000_s31752" name="公式" r:id="rId13" imgW="15849600" imgH="4267200" progId="Equation.3">
                  <p:embed/>
                </p:oleObj>
              </mc:Choice>
              <mc:Fallback>
                <p:oleObj name="公式" r:id="rId13" imgW="15849600" imgH="4267200" progId="Equation.3">
                  <p:embed/>
                  <p:pic>
                    <p:nvPicPr>
                      <p:cNvPr id="0" name="Object 10"/>
                      <p:cNvPicPr>
                        <a:picLocks noChangeAspect="1"/>
                      </p:cNvPicPr>
                      <p:nvPr/>
                    </p:nvPicPr>
                    <p:blipFill>
                      <a:blip r:embed="rId14"/>
                      <a:stretch>
                        <a:fillRect/>
                      </a:stretch>
                    </p:blipFill>
                    <p:spPr>
                      <a:xfrm>
                        <a:off x="2928938" y="2500313"/>
                        <a:ext cx="1190625" cy="320675"/>
                      </a:xfrm>
                      <a:prstGeom prst="rect">
                        <a:avLst/>
                      </a:prstGeom>
                      <a:noFill/>
                      <a:ln w="9525">
                        <a:noFill/>
                      </a:ln>
                    </p:spPr>
                  </p:pic>
                </p:oleObj>
              </mc:Fallback>
            </mc:AlternateContent>
          </a:graphicData>
        </a:graphic>
      </p:graphicFrame>
      <p:sp>
        <p:nvSpPr>
          <p:cNvPr id="201739" name="Text Box 11"/>
          <p:cNvSpPr txBox="1">
            <a:spLocks noChangeArrowheads="1"/>
          </p:cNvSpPr>
          <p:nvPr/>
        </p:nvSpPr>
        <p:spPr bwMode="auto">
          <a:xfrm>
            <a:off x="295275" y="3276600"/>
            <a:ext cx="6572250" cy="479425"/>
          </a:xfrm>
          <a:prstGeom prst="rect">
            <a:avLst/>
          </a:prstGeom>
          <a:noFill/>
          <a:ln w="9525">
            <a:noFill/>
            <a:miter lim="800000"/>
          </a:ln>
        </p:spPr>
        <p:txBody>
          <a:bodyPr>
            <a:spAutoFit/>
          </a:bodyPr>
          <a:lstStyle/>
          <a:p>
            <a:pPr>
              <a:lnSpc>
                <a:spcPct val="115000"/>
              </a:lnSpc>
              <a:defRPr/>
            </a:pPr>
            <a:r>
              <a:rPr lang="en-US" altLang="zh-CN" b="1" dirty="0">
                <a:ea typeface="+mn-ea"/>
                <a:cs typeface="Times New Roman" panose="02020603050405020304" pitchFamily="18" charset="0"/>
              </a:rPr>
              <a:t>(3)  </a:t>
            </a:r>
            <a:r>
              <a:rPr lang="zh-CN" altLang="en-US" b="1" dirty="0">
                <a:latin typeface="+mn-ea"/>
                <a:ea typeface="+mn-ea"/>
              </a:rPr>
              <a:t>当系统与外界不交换热量</a:t>
            </a:r>
            <a:r>
              <a:rPr lang="en-US" altLang="zh-CN" b="1" dirty="0">
                <a:latin typeface="+mn-ea"/>
                <a:ea typeface="+mn-ea"/>
              </a:rPr>
              <a:t>,</a:t>
            </a:r>
            <a:r>
              <a:rPr lang="zh-CN" altLang="en-US" b="1" dirty="0">
                <a:latin typeface="+mn-ea"/>
                <a:ea typeface="+mn-ea"/>
              </a:rPr>
              <a:t>即为</a:t>
            </a:r>
            <a:r>
              <a:rPr lang="zh-CN" altLang="en-US" b="1" dirty="0">
                <a:solidFill>
                  <a:srgbClr val="FF6600"/>
                </a:solidFill>
                <a:latin typeface="+mn-ea"/>
                <a:ea typeface="+mn-ea"/>
              </a:rPr>
              <a:t>绝热过程</a:t>
            </a:r>
            <a:endParaRPr lang="zh-CN" altLang="en-US" b="1" dirty="0">
              <a:solidFill>
                <a:srgbClr val="FF6600"/>
              </a:solidFill>
              <a:latin typeface="+mn-ea"/>
              <a:ea typeface="+mn-ea"/>
            </a:endParaRPr>
          </a:p>
        </p:txBody>
      </p:sp>
      <p:graphicFrame>
        <p:nvGraphicFramePr>
          <p:cNvPr id="201740" name="Object 12"/>
          <p:cNvGraphicFramePr>
            <a:graphicFrameLocks noChangeAspect="1"/>
          </p:cNvGraphicFramePr>
          <p:nvPr/>
        </p:nvGraphicFramePr>
        <p:xfrm>
          <a:off x="2143125" y="4071938"/>
          <a:ext cx="704850" cy="363537"/>
        </p:xfrm>
        <a:graphic>
          <a:graphicData uri="http://schemas.openxmlformats.org/presentationml/2006/ole">
            <mc:AlternateContent xmlns:mc="http://schemas.openxmlformats.org/markup-compatibility/2006">
              <mc:Choice xmlns:v="urn:schemas-microsoft-com:vml" Requires="v">
                <p:oleObj spid="_x0000_s31753" name="公式" r:id="rId15" imgW="9448800" imgH="4876800" progId="Equation.3">
                  <p:embed/>
                </p:oleObj>
              </mc:Choice>
              <mc:Fallback>
                <p:oleObj name="公式" r:id="rId15" imgW="9448800" imgH="4876800" progId="Equation.3">
                  <p:embed/>
                  <p:pic>
                    <p:nvPicPr>
                      <p:cNvPr id="0" name="Object 12"/>
                      <p:cNvPicPr>
                        <a:picLocks noChangeAspect="1"/>
                      </p:cNvPicPr>
                      <p:nvPr/>
                    </p:nvPicPr>
                    <p:blipFill>
                      <a:blip r:embed="rId16"/>
                      <a:stretch>
                        <a:fillRect/>
                      </a:stretch>
                    </p:blipFill>
                    <p:spPr>
                      <a:xfrm>
                        <a:off x="2143125" y="4071938"/>
                        <a:ext cx="704850" cy="363537"/>
                      </a:xfrm>
                      <a:prstGeom prst="rect">
                        <a:avLst/>
                      </a:prstGeom>
                      <a:noFill/>
                      <a:ln w="9525">
                        <a:noFill/>
                      </a:ln>
                    </p:spPr>
                  </p:pic>
                </p:oleObj>
              </mc:Fallback>
            </mc:AlternateContent>
          </a:graphicData>
        </a:graphic>
      </p:graphicFrame>
      <p:graphicFrame>
        <p:nvGraphicFramePr>
          <p:cNvPr id="201741" name="Object 13"/>
          <p:cNvGraphicFramePr>
            <a:graphicFrameLocks noChangeAspect="1"/>
          </p:cNvGraphicFramePr>
          <p:nvPr/>
        </p:nvGraphicFramePr>
        <p:xfrm>
          <a:off x="3643313" y="4000500"/>
          <a:ext cx="2093912" cy="407988"/>
        </p:xfrm>
        <a:graphic>
          <a:graphicData uri="http://schemas.openxmlformats.org/presentationml/2006/ole">
            <mc:AlternateContent xmlns:mc="http://schemas.openxmlformats.org/markup-compatibility/2006">
              <mc:Choice xmlns:v="urn:schemas-microsoft-com:vml" Requires="v">
                <p:oleObj spid="_x0000_s31754" name="公式" r:id="rId17" imgW="28041600" imgH="5486400" progId="Equation.3">
                  <p:embed/>
                </p:oleObj>
              </mc:Choice>
              <mc:Fallback>
                <p:oleObj name="公式" r:id="rId17" imgW="28041600" imgH="5486400" progId="Equation.3">
                  <p:embed/>
                  <p:pic>
                    <p:nvPicPr>
                      <p:cNvPr id="0" name="Object 13"/>
                      <p:cNvPicPr>
                        <a:picLocks noChangeAspect="1"/>
                      </p:cNvPicPr>
                      <p:nvPr/>
                    </p:nvPicPr>
                    <p:blipFill>
                      <a:blip r:embed="rId8"/>
                      <a:stretch>
                        <a:fillRect/>
                      </a:stretch>
                    </p:blipFill>
                    <p:spPr>
                      <a:xfrm>
                        <a:off x="3643313" y="4000500"/>
                        <a:ext cx="2093912" cy="407988"/>
                      </a:xfrm>
                      <a:prstGeom prst="rect">
                        <a:avLst/>
                      </a:prstGeom>
                      <a:noFill/>
                      <a:ln w="9525">
                        <a:noFill/>
                      </a:ln>
                    </p:spPr>
                  </p:pic>
                </p:oleObj>
              </mc:Fallback>
            </mc:AlternateContent>
          </a:graphicData>
        </a:graphic>
      </p:graphicFrame>
      <p:graphicFrame>
        <p:nvGraphicFramePr>
          <p:cNvPr id="201742" name="Object 14"/>
          <p:cNvGraphicFramePr>
            <a:graphicFrameLocks noChangeAspect="1"/>
          </p:cNvGraphicFramePr>
          <p:nvPr/>
        </p:nvGraphicFramePr>
        <p:xfrm>
          <a:off x="5892800" y="4040188"/>
          <a:ext cx="1328738" cy="320675"/>
        </p:xfrm>
        <a:graphic>
          <a:graphicData uri="http://schemas.openxmlformats.org/presentationml/2006/ole">
            <mc:AlternateContent xmlns:mc="http://schemas.openxmlformats.org/markup-compatibility/2006">
              <mc:Choice xmlns:v="urn:schemas-microsoft-com:vml" Requires="v">
                <p:oleObj spid="_x0000_s31755" name="公式" r:id="rId18" imgW="17678400" imgH="4267200" progId="Equation.3">
                  <p:embed/>
                </p:oleObj>
              </mc:Choice>
              <mc:Fallback>
                <p:oleObj name="公式" r:id="rId18" imgW="17678400" imgH="4267200" progId="Equation.3">
                  <p:embed/>
                  <p:pic>
                    <p:nvPicPr>
                      <p:cNvPr id="0" name="Object 14"/>
                      <p:cNvPicPr>
                        <a:picLocks noChangeAspect="1"/>
                      </p:cNvPicPr>
                      <p:nvPr/>
                    </p:nvPicPr>
                    <p:blipFill>
                      <a:blip r:embed="rId10"/>
                      <a:stretch>
                        <a:fillRect/>
                      </a:stretch>
                    </p:blipFill>
                    <p:spPr>
                      <a:xfrm>
                        <a:off x="5892800" y="4040188"/>
                        <a:ext cx="1328738" cy="320675"/>
                      </a:xfrm>
                      <a:prstGeom prst="rect">
                        <a:avLst/>
                      </a:prstGeom>
                      <a:noFill/>
                      <a:ln w="9525">
                        <a:noFill/>
                      </a:ln>
                    </p:spPr>
                  </p:pic>
                </p:oleObj>
              </mc:Fallback>
            </mc:AlternateContent>
          </a:graphicData>
        </a:graphic>
      </p:graphicFrame>
      <p:sp>
        <p:nvSpPr>
          <p:cNvPr id="201743" name="Text Box 15"/>
          <p:cNvSpPr txBox="1">
            <a:spLocks noChangeArrowheads="1"/>
          </p:cNvSpPr>
          <p:nvPr/>
        </p:nvSpPr>
        <p:spPr bwMode="auto">
          <a:xfrm>
            <a:off x="1357313" y="4643438"/>
            <a:ext cx="3375025" cy="463550"/>
          </a:xfrm>
          <a:prstGeom prst="rect">
            <a:avLst/>
          </a:prstGeom>
          <a:noFill/>
          <a:ln w="9525">
            <a:noFill/>
            <a:miter lim="800000"/>
          </a:ln>
        </p:spPr>
        <p:txBody>
          <a:bodyPr>
            <a:spAutoFit/>
          </a:bodyPr>
          <a:lstStyle/>
          <a:p>
            <a:pPr>
              <a:lnSpc>
                <a:spcPct val="115000"/>
              </a:lnSpc>
              <a:defRPr/>
            </a:pPr>
            <a:r>
              <a:rPr lang="zh-CN" altLang="en-US" b="1" dirty="0">
                <a:latin typeface="+mn-ea"/>
                <a:ea typeface="+mn-ea"/>
              </a:rPr>
              <a:t>由</a:t>
            </a:r>
            <a:r>
              <a:rPr lang="zh-CN" altLang="en-US" b="1" dirty="0">
                <a:solidFill>
                  <a:srgbClr val="FF6600"/>
                </a:solidFill>
                <a:latin typeface="+mn-ea"/>
                <a:ea typeface="+mn-ea"/>
              </a:rPr>
              <a:t>热力学第一定律</a:t>
            </a:r>
            <a:r>
              <a:rPr lang="zh-CN" altLang="en-US" b="1" dirty="0">
                <a:latin typeface="+mn-ea"/>
                <a:ea typeface="+mn-ea"/>
              </a:rPr>
              <a:t>得：</a:t>
            </a:r>
            <a:endParaRPr lang="zh-CN" altLang="en-US" b="1" dirty="0">
              <a:latin typeface="+mn-ea"/>
              <a:ea typeface="+mn-ea"/>
            </a:endParaRPr>
          </a:p>
        </p:txBody>
      </p:sp>
      <p:graphicFrame>
        <p:nvGraphicFramePr>
          <p:cNvPr id="201744" name="Object 16"/>
          <p:cNvGraphicFramePr>
            <a:graphicFrameLocks noChangeAspect="1"/>
          </p:cNvGraphicFramePr>
          <p:nvPr/>
        </p:nvGraphicFramePr>
        <p:xfrm>
          <a:off x="2143125" y="5357813"/>
          <a:ext cx="2857500" cy="357187"/>
        </p:xfrm>
        <a:graphic>
          <a:graphicData uri="http://schemas.openxmlformats.org/presentationml/2006/ole">
            <mc:AlternateContent xmlns:mc="http://schemas.openxmlformats.org/markup-compatibility/2006">
              <mc:Choice xmlns:v="urn:schemas-microsoft-com:vml" Requires="v">
                <p:oleObj spid="_x0000_s31756" name="Equation" r:id="rId19" imgW="34137600" imgH="4267200" progId="Equation.DSMT4">
                  <p:embed/>
                </p:oleObj>
              </mc:Choice>
              <mc:Fallback>
                <p:oleObj name="Equation" r:id="rId19" imgW="34137600" imgH="4267200" progId="Equation.DSMT4">
                  <p:embed/>
                  <p:pic>
                    <p:nvPicPr>
                      <p:cNvPr id="0" name="Object 16"/>
                      <p:cNvPicPr>
                        <a:picLocks noChangeAspect="1"/>
                      </p:cNvPicPr>
                      <p:nvPr/>
                    </p:nvPicPr>
                    <p:blipFill>
                      <a:blip r:embed="rId20"/>
                      <a:stretch>
                        <a:fillRect/>
                      </a:stretch>
                    </p:blipFill>
                    <p:spPr>
                      <a:xfrm>
                        <a:off x="2143125" y="5357813"/>
                        <a:ext cx="2857500" cy="357187"/>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wipe(left)">
                                      <p:cBhvr>
                                        <p:cTn id="7" dur="1000"/>
                                        <p:tgtEl>
                                          <p:spTgt spid="2017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1731"/>
                                        </p:tgtEl>
                                        <p:attrNameLst>
                                          <p:attrName>style.visibility</p:attrName>
                                        </p:attrNameLst>
                                      </p:cBhvr>
                                      <p:to>
                                        <p:strVal val="visible"/>
                                      </p:to>
                                    </p:set>
                                    <p:animEffect transition="in" filter="wipe(left)">
                                      <p:cBhvr>
                                        <p:cTn id="12" dur="1000"/>
                                        <p:tgtEl>
                                          <p:spTgt spid="2017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1732"/>
                                        </p:tgtEl>
                                        <p:attrNameLst>
                                          <p:attrName>style.visibility</p:attrName>
                                        </p:attrNameLst>
                                      </p:cBhvr>
                                      <p:to>
                                        <p:strVal val="visible"/>
                                      </p:to>
                                    </p:set>
                                    <p:animEffect transition="in" filter="wipe(left)">
                                      <p:cBhvr>
                                        <p:cTn id="17" dur="1000"/>
                                        <p:tgtEl>
                                          <p:spTgt spid="2017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1733"/>
                                        </p:tgtEl>
                                        <p:attrNameLst>
                                          <p:attrName>style.visibility</p:attrName>
                                        </p:attrNameLst>
                                      </p:cBhvr>
                                      <p:to>
                                        <p:strVal val="visible"/>
                                      </p:to>
                                    </p:set>
                                    <p:animEffect transition="in" filter="wipe(left)">
                                      <p:cBhvr>
                                        <p:cTn id="22" dur="1000"/>
                                        <p:tgtEl>
                                          <p:spTgt spid="2017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1734"/>
                                        </p:tgtEl>
                                        <p:attrNameLst>
                                          <p:attrName>style.visibility</p:attrName>
                                        </p:attrNameLst>
                                      </p:cBhvr>
                                      <p:to>
                                        <p:strVal val="visible"/>
                                      </p:to>
                                    </p:set>
                                    <p:animEffect transition="in" filter="wipe(left)">
                                      <p:cBhvr>
                                        <p:cTn id="27" dur="1000"/>
                                        <p:tgtEl>
                                          <p:spTgt spid="2017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1735"/>
                                        </p:tgtEl>
                                        <p:attrNameLst>
                                          <p:attrName>style.visibility</p:attrName>
                                        </p:attrNameLst>
                                      </p:cBhvr>
                                      <p:to>
                                        <p:strVal val="visible"/>
                                      </p:to>
                                    </p:set>
                                    <p:animEffect transition="in" filter="wipe(left)">
                                      <p:cBhvr>
                                        <p:cTn id="32" dur="1000"/>
                                        <p:tgtEl>
                                          <p:spTgt spid="2017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1736"/>
                                        </p:tgtEl>
                                        <p:attrNameLst>
                                          <p:attrName>style.visibility</p:attrName>
                                        </p:attrNameLst>
                                      </p:cBhvr>
                                      <p:to>
                                        <p:strVal val="visible"/>
                                      </p:to>
                                    </p:set>
                                    <p:animEffect transition="in" filter="wipe(left)">
                                      <p:cBhvr>
                                        <p:cTn id="37" dur="1000"/>
                                        <p:tgtEl>
                                          <p:spTgt spid="20173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1738"/>
                                        </p:tgtEl>
                                        <p:attrNameLst>
                                          <p:attrName>style.visibility</p:attrName>
                                        </p:attrNameLst>
                                      </p:cBhvr>
                                      <p:to>
                                        <p:strVal val="visible"/>
                                      </p:to>
                                    </p:set>
                                    <p:animEffect transition="in" filter="wipe(left)">
                                      <p:cBhvr>
                                        <p:cTn id="42" dur="1000"/>
                                        <p:tgtEl>
                                          <p:spTgt spid="20173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1739"/>
                                        </p:tgtEl>
                                        <p:attrNameLst>
                                          <p:attrName>style.visibility</p:attrName>
                                        </p:attrNameLst>
                                      </p:cBhvr>
                                      <p:to>
                                        <p:strVal val="visible"/>
                                      </p:to>
                                    </p:set>
                                    <p:animEffect transition="in" filter="wipe(left)">
                                      <p:cBhvr>
                                        <p:cTn id="47" dur="1000"/>
                                        <p:tgtEl>
                                          <p:spTgt spid="20173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1740"/>
                                        </p:tgtEl>
                                        <p:attrNameLst>
                                          <p:attrName>style.visibility</p:attrName>
                                        </p:attrNameLst>
                                      </p:cBhvr>
                                      <p:to>
                                        <p:strVal val="visible"/>
                                      </p:to>
                                    </p:set>
                                    <p:animEffect transition="in" filter="wipe(left)">
                                      <p:cBhvr>
                                        <p:cTn id="52" dur="1000"/>
                                        <p:tgtEl>
                                          <p:spTgt spid="20174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1741"/>
                                        </p:tgtEl>
                                        <p:attrNameLst>
                                          <p:attrName>style.visibility</p:attrName>
                                        </p:attrNameLst>
                                      </p:cBhvr>
                                      <p:to>
                                        <p:strVal val="visible"/>
                                      </p:to>
                                    </p:set>
                                    <p:animEffect transition="in" filter="wipe(left)">
                                      <p:cBhvr>
                                        <p:cTn id="57" dur="1000"/>
                                        <p:tgtEl>
                                          <p:spTgt spid="20174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01742"/>
                                        </p:tgtEl>
                                        <p:attrNameLst>
                                          <p:attrName>style.visibility</p:attrName>
                                        </p:attrNameLst>
                                      </p:cBhvr>
                                      <p:to>
                                        <p:strVal val="visible"/>
                                      </p:to>
                                    </p:set>
                                    <p:animEffect transition="in" filter="wipe(left)">
                                      <p:cBhvr>
                                        <p:cTn id="62" dur="1000"/>
                                        <p:tgtEl>
                                          <p:spTgt spid="20174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01743"/>
                                        </p:tgtEl>
                                        <p:attrNameLst>
                                          <p:attrName>style.visibility</p:attrName>
                                        </p:attrNameLst>
                                      </p:cBhvr>
                                      <p:to>
                                        <p:strVal val="visible"/>
                                      </p:to>
                                    </p:set>
                                    <p:animEffect transition="in" filter="wipe(left)">
                                      <p:cBhvr>
                                        <p:cTn id="67" dur="1000"/>
                                        <p:tgtEl>
                                          <p:spTgt spid="20174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01744"/>
                                        </p:tgtEl>
                                        <p:attrNameLst>
                                          <p:attrName>style.visibility</p:attrName>
                                        </p:attrNameLst>
                                      </p:cBhvr>
                                      <p:to>
                                        <p:strVal val="visible"/>
                                      </p:to>
                                    </p:set>
                                    <p:animEffect transition="in" filter="wipe(left)">
                                      <p:cBhvr>
                                        <p:cTn id="72" dur="1000"/>
                                        <p:tgtEl>
                                          <p:spTgt spid="201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p:bldP spid="201739" grpId="0"/>
      <p:bldP spid="20174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39" name="Text Box 35"/>
          <p:cNvSpPr txBox="1">
            <a:spLocks noChangeArrowheads="1"/>
          </p:cNvSpPr>
          <p:nvPr/>
        </p:nvSpPr>
        <p:spPr bwMode="auto">
          <a:xfrm>
            <a:off x="609600" y="430213"/>
            <a:ext cx="8534400" cy="1006475"/>
          </a:xfrm>
          <a:prstGeom prst="rect">
            <a:avLst/>
          </a:prstGeom>
          <a:noFill/>
          <a:ln w="12700" cap="sq">
            <a:noFill/>
            <a:miter lim="800000"/>
            <a:headEnd type="none" w="sm" len="sm"/>
            <a:tailEnd type="none" w="sm" len="sm"/>
          </a:ln>
        </p:spPr>
        <p:txBody>
          <a:bodyPr>
            <a:spAutoFit/>
          </a:bodyPr>
          <a:lstStyle/>
          <a:p>
            <a:pPr>
              <a:lnSpc>
                <a:spcPct val="125000"/>
              </a:lnSpc>
            </a:pPr>
            <a:r>
              <a:rPr kumimoji="1" lang="zh-CN" altLang="en-US" b="1"/>
              <a:t>一定量</a:t>
            </a:r>
            <a:r>
              <a:rPr kumimoji="1" lang="zh-CN" altLang="en-US" b="1">
                <a:solidFill>
                  <a:srgbClr val="FF6600"/>
                </a:solidFill>
              </a:rPr>
              <a:t>氮气</a:t>
            </a:r>
            <a:r>
              <a:rPr kumimoji="1" lang="zh-CN" altLang="en-US" b="1"/>
              <a:t>，其初始温度为 </a:t>
            </a:r>
            <a:r>
              <a:rPr kumimoji="1" lang="en-US" altLang="zh-CN" b="1">
                <a:solidFill>
                  <a:srgbClr val="FF6600"/>
                </a:solidFill>
              </a:rPr>
              <a:t>300</a:t>
            </a:r>
            <a:r>
              <a:rPr kumimoji="1" lang="en-US" altLang="zh-CN" sz="1000" b="1">
                <a:solidFill>
                  <a:srgbClr val="FF6600"/>
                </a:solidFill>
              </a:rPr>
              <a:t> </a:t>
            </a:r>
            <a:r>
              <a:rPr kumimoji="1" lang="en-US" altLang="zh-CN" b="1">
                <a:solidFill>
                  <a:srgbClr val="FF6600"/>
                </a:solidFill>
              </a:rPr>
              <a:t>K</a:t>
            </a:r>
            <a:r>
              <a:rPr kumimoji="1" lang="zh-CN" altLang="en-US" b="1"/>
              <a:t>，压强为</a:t>
            </a:r>
            <a:r>
              <a:rPr kumimoji="1" lang="en-US" altLang="zh-CN" b="1">
                <a:solidFill>
                  <a:srgbClr val="FF6600"/>
                </a:solidFill>
              </a:rPr>
              <a:t>1atm</a:t>
            </a:r>
            <a:r>
              <a:rPr kumimoji="1" lang="zh-CN" altLang="en-US" b="1"/>
              <a:t>。将其绝热</a:t>
            </a:r>
            <a:endParaRPr kumimoji="1" lang="zh-CN" altLang="en-US" b="1"/>
          </a:p>
          <a:p>
            <a:pPr>
              <a:lnSpc>
                <a:spcPct val="125000"/>
              </a:lnSpc>
            </a:pPr>
            <a:r>
              <a:rPr kumimoji="1" lang="zh-CN" altLang="en-US" b="1"/>
              <a:t>压缩，使其体积变为初始体积的</a:t>
            </a:r>
            <a:r>
              <a:rPr kumimoji="1" lang="en-US" altLang="zh-CN" b="1">
                <a:solidFill>
                  <a:srgbClr val="FF6600"/>
                </a:solidFill>
              </a:rPr>
              <a:t>1/5</a:t>
            </a:r>
            <a:r>
              <a:rPr kumimoji="1" lang="zh-CN" altLang="en-US" b="1"/>
              <a:t>。</a:t>
            </a:r>
            <a:endParaRPr kumimoji="1" lang="zh-CN" altLang="en-US" b="1"/>
          </a:p>
        </p:txBody>
      </p:sp>
      <p:sp>
        <p:nvSpPr>
          <p:cNvPr id="47140" name="Text Box 36"/>
          <p:cNvSpPr txBox="1">
            <a:spLocks noChangeArrowheads="1"/>
          </p:cNvSpPr>
          <p:nvPr/>
        </p:nvSpPr>
        <p:spPr bwMode="auto">
          <a:xfrm>
            <a:off x="131763" y="1989138"/>
            <a:ext cx="1104900" cy="457200"/>
          </a:xfrm>
          <a:prstGeom prst="rect">
            <a:avLst/>
          </a:prstGeom>
          <a:noFill/>
          <a:ln w="12700" cap="sq">
            <a:noFill/>
            <a:miter lim="800000"/>
            <a:headEnd type="none" w="sm" len="sm"/>
            <a:tailEnd type="none" w="sm" len="sm"/>
          </a:ln>
        </p:spPr>
        <p:txBody>
          <a:bodyPr>
            <a:spAutoFit/>
          </a:bodyPr>
          <a:lstStyle/>
          <a:p>
            <a:r>
              <a:rPr kumimoji="1" lang="zh-CN" altLang="en-US" b="1">
                <a:solidFill>
                  <a:srgbClr val="FF0000"/>
                </a:solidFill>
              </a:rPr>
              <a:t>解</a:t>
            </a:r>
            <a:endParaRPr kumimoji="1" lang="zh-CN" altLang="en-US" sz="2800" b="1" i="1">
              <a:solidFill>
                <a:srgbClr val="FF0000"/>
              </a:solidFill>
            </a:endParaRPr>
          </a:p>
        </p:txBody>
      </p:sp>
      <p:sp>
        <p:nvSpPr>
          <p:cNvPr id="47141" name="Text Box 37"/>
          <p:cNvSpPr txBox="1">
            <a:spLocks noChangeArrowheads="1"/>
          </p:cNvSpPr>
          <p:nvPr/>
        </p:nvSpPr>
        <p:spPr bwMode="auto">
          <a:xfrm>
            <a:off x="131763" y="523875"/>
            <a:ext cx="493712" cy="461963"/>
          </a:xfrm>
          <a:prstGeom prst="rect">
            <a:avLst/>
          </a:prstGeom>
          <a:noFill/>
          <a:ln w="9525">
            <a:noFill/>
            <a:miter lim="800000"/>
          </a:ln>
        </p:spPr>
        <p:txBody>
          <a:bodyPr wrap="none">
            <a:spAutoFit/>
          </a:bodyPr>
          <a:lstStyle/>
          <a:p>
            <a:r>
              <a:rPr kumimoji="1" lang="zh-CN" altLang="en-US" b="1">
                <a:solidFill>
                  <a:srgbClr val="FF0000"/>
                </a:solidFill>
                <a:latin typeface="Arial" panose="020B0604020202020204" pitchFamily="34" charset="0"/>
              </a:rPr>
              <a:t>例</a:t>
            </a:r>
            <a:endParaRPr kumimoji="1" lang="zh-CN" altLang="en-US" b="1">
              <a:solidFill>
                <a:srgbClr val="FF0000"/>
              </a:solidFill>
              <a:latin typeface="Arial" panose="020B0604020202020204" pitchFamily="34" charset="0"/>
            </a:endParaRPr>
          </a:p>
        </p:txBody>
      </p:sp>
      <p:sp>
        <p:nvSpPr>
          <p:cNvPr id="47142" name="Rectangle 38"/>
          <p:cNvSpPr>
            <a:spLocks noChangeArrowheads="1"/>
          </p:cNvSpPr>
          <p:nvPr/>
        </p:nvSpPr>
        <p:spPr bwMode="auto">
          <a:xfrm>
            <a:off x="131763" y="1484313"/>
            <a:ext cx="493712" cy="461962"/>
          </a:xfrm>
          <a:prstGeom prst="rect">
            <a:avLst/>
          </a:prstGeom>
          <a:noFill/>
          <a:ln w="9525">
            <a:noFill/>
            <a:miter lim="800000"/>
          </a:ln>
        </p:spPr>
        <p:txBody>
          <a:bodyPr wrap="none">
            <a:spAutoFit/>
          </a:bodyPr>
          <a:lstStyle/>
          <a:p>
            <a:r>
              <a:rPr kumimoji="1" lang="zh-CN" altLang="en-US" b="1">
                <a:solidFill>
                  <a:srgbClr val="FF0000"/>
                </a:solidFill>
                <a:latin typeface="Arial" panose="020B0604020202020204" pitchFamily="34" charset="0"/>
              </a:rPr>
              <a:t>求</a:t>
            </a:r>
            <a:endParaRPr kumimoji="1" lang="zh-CN" altLang="en-US" b="1">
              <a:solidFill>
                <a:srgbClr val="FF0000"/>
              </a:solidFill>
              <a:latin typeface="Arial" panose="020B0604020202020204" pitchFamily="34" charset="0"/>
            </a:endParaRPr>
          </a:p>
        </p:txBody>
      </p:sp>
      <p:sp>
        <p:nvSpPr>
          <p:cNvPr id="47143" name="Rectangle 39"/>
          <p:cNvSpPr>
            <a:spLocks noChangeArrowheads="1"/>
          </p:cNvSpPr>
          <p:nvPr/>
        </p:nvSpPr>
        <p:spPr bwMode="auto">
          <a:xfrm>
            <a:off x="587375" y="1484313"/>
            <a:ext cx="4572000" cy="457200"/>
          </a:xfrm>
          <a:prstGeom prst="rect">
            <a:avLst/>
          </a:prstGeom>
          <a:noFill/>
          <a:ln w="9525">
            <a:noFill/>
            <a:miter lim="800000"/>
          </a:ln>
        </p:spPr>
        <p:txBody>
          <a:bodyPr>
            <a:spAutoFit/>
          </a:bodyPr>
          <a:lstStyle/>
          <a:p>
            <a:r>
              <a:rPr kumimoji="1" lang="zh-CN" altLang="en-US" b="1"/>
              <a:t>压缩后的压强和温度</a:t>
            </a:r>
            <a:endParaRPr kumimoji="1" lang="zh-CN" altLang="en-US" b="1"/>
          </a:p>
        </p:txBody>
      </p:sp>
      <p:graphicFrame>
        <p:nvGraphicFramePr>
          <p:cNvPr id="47144" name="Object 40"/>
          <p:cNvGraphicFramePr>
            <a:graphicFrameLocks noChangeAspect="1"/>
          </p:cNvGraphicFramePr>
          <p:nvPr/>
        </p:nvGraphicFramePr>
        <p:xfrm>
          <a:off x="3357563" y="4214813"/>
          <a:ext cx="4033837" cy="642937"/>
        </p:xfrm>
        <a:graphic>
          <a:graphicData uri="http://schemas.openxmlformats.org/presentationml/2006/ole">
            <mc:AlternateContent xmlns:mc="http://schemas.openxmlformats.org/markup-compatibility/2006">
              <mc:Choice xmlns:v="urn:schemas-microsoft-com:vml" Requires="v">
                <p:oleObj spid="_x0000_s32769" name="Equation" r:id="rId1" imgW="52120800" imgH="8229600" progId="Equation.DSMT4">
                  <p:embed/>
                </p:oleObj>
              </mc:Choice>
              <mc:Fallback>
                <p:oleObj name="Equation" r:id="rId1" imgW="52120800" imgH="8229600" progId="Equation.DSMT4">
                  <p:embed/>
                  <p:pic>
                    <p:nvPicPr>
                      <p:cNvPr id="0" name="Object 40"/>
                      <p:cNvPicPr>
                        <a:picLocks noChangeAspect="1"/>
                      </p:cNvPicPr>
                      <p:nvPr/>
                    </p:nvPicPr>
                    <p:blipFill>
                      <a:blip r:embed="rId2"/>
                      <a:stretch>
                        <a:fillRect/>
                      </a:stretch>
                    </p:blipFill>
                    <p:spPr>
                      <a:xfrm>
                        <a:off x="3357563" y="4214813"/>
                        <a:ext cx="4033837" cy="642937"/>
                      </a:xfrm>
                      <a:prstGeom prst="rect">
                        <a:avLst/>
                      </a:prstGeom>
                      <a:noFill/>
                      <a:ln w="9525">
                        <a:noFill/>
                      </a:ln>
                    </p:spPr>
                  </p:pic>
                </p:oleObj>
              </mc:Fallback>
            </mc:AlternateContent>
          </a:graphicData>
        </a:graphic>
      </p:graphicFrame>
      <p:graphicFrame>
        <p:nvGraphicFramePr>
          <p:cNvPr id="47145" name="Object 41"/>
          <p:cNvGraphicFramePr>
            <a:graphicFrameLocks noChangeAspect="1"/>
          </p:cNvGraphicFramePr>
          <p:nvPr/>
        </p:nvGraphicFramePr>
        <p:xfrm>
          <a:off x="2214563" y="5500688"/>
          <a:ext cx="4357687" cy="666750"/>
        </p:xfrm>
        <a:graphic>
          <a:graphicData uri="http://schemas.openxmlformats.org/presentationml/2006/ole">
            <mc:AlternateContent xmlns:mc="http://schemas.openxmlformats.org/markup-compatibility/2006">
              <mc:Choice xmlns:v="urn:schemas-microsoft-com:vml" Requires="v">
                <p:oleObj spid="_x0000_s32771" name="Equation" r:id="rId3" imgW="54559200" imgH="8229600" progId="Equation.DSMT4">
                  <p:embed/>
                </p:oleObj>
              </mc:Choice>
              <mc:Fallback>
                <p:oleObj name="Equation" r:id="rId3" imgW="54559200" imgH="8229600" progId="Equation.DSMT4">
                  <p:embed/>
                  <p:pic>
                    <p:nvPicPr>
                      <p:cNvPr id="0" name="Object 41"/>
                      <p:cNvPicPr>
                        <a:picLocks noChangeAspect="1"/>
                      </p:cNvPicPr>
                      <p:nvPr/>
                    </p:nvPicPr>
                    <p:blipFill>
                      <a:blip r:embed="rId4"/>
                      <a:stretch>
                        <a:fillRect/>
                      </a:stretch>
                    </p:blipFill>
                    <p:spPr>
                      <a:xfrm>
                        <a:off x="2214563" y="5500688"/>
                        <a:ext cx="4357687" cy="666750"/>
                      </a:xfrm>
                      <a:prstGeom prst="rect">
                        <a:avLst/>
                      </a:prstGeom>
                      <a:noFill/>
                      <a:ln w="9525">
                        <a:noFill/>
                      </a:ln>
                    </p:spPr>
                  </p:pic>
                </p:oleObj>
              </mc:Fallback>
            </mc:AlternateContent>
          </a:graphicData>
        </a:graphic>
      </p:graphicFrame>
      <p:graphicFrame>
        <p:nvGraphicFramePr>
          <p:cNvPr id="47146" name="Object 42"/>
          <p:cNvGraphicFramePr>
            <a:graphicFrameLocks noChangeAspect="1"/>
          </p:cNvGraphicFramePr>
          <p:nvPr/>
        </p:nvGraphicFramePr>
        <p:xfrm>
          <a:off x="3284538" y="2438400"/>
          <a:ext cx="2530475" cy="950913"/>
        </p:xfrm>
        <a:graphic>
          <a:graphicData uri="http://schemas.openxmlformats.org/presentationml/2006/ole">
            <mc:AlternateContent xmlns:mc="http://schemas.openxmlformats.org/markup-compatibility/2006">
              <mc:Choice xmlns:v="urn:schemas-microsoft-com:vml" Requires="v">
                <p:oleObj spid="_x0000_s32772" name="Equation" r:id="rId5" imgW="29565600" imgH="10972800" progId="Equation.DSMT4">
                  <p:embed/>
                </p:oleObj>
              </mc:Choice>
              <mc:Fallback>
                <p:oleObj name="Equation" r:id="rId5" imgW="29565600" imgH="10972800" progId="Equation.DSMT4">
                  <p:embed/>
                  <p:pic>
                    <p:nvPicPr>
                      <p:cNvPr id="0" name="Object 42"/>
                      <p:cNvPicPr>
                        <a:picLocks noChangeAspect="1"/>
                      </p:cNvPicPr>
                      <p:nvPr/>
                    </p:nvPicPr>
                    <p:blipFill>
                      <a:blip r:embed="rId6"/>
                      <a:stretch>
                        <a:fillRect/>
                      </a:stretch>
                    </p:blipFill>
                    <p:spPr>
                      <a:xfrm>
                        <a:off x="3284538" y="2438400"/>
                        <a:ext cx="2530475" cy="950913"/>
                      </a:xfrm>
                      <a:prstGeom prst="rect">
                        <a:avLst/>
                      </a:prstGeom>
                      <a:noFill/>
                      <a:ln w="9525">
                        <a:noFill/>
                      </a:ln>
                    </p:spPr>
                  </p:pic>
                </p:oleObj>
              </mc:Fallback>
            </mc:AlternateContent>
          </a:graphicData>
        </a:graphic>
      </p:graphicFrame>
      <p:sp>
        <p:nvSpPr>
          <p:cNvPr id="47147" name="Rectangle 43"/>
          <p:cNvSpPr>
            <a:spLocks noChangeArrowheads="1"/>
          </p:cNvSpPr>
          <p:nvPr/>
        </p:nvSpPr>
        <p:spPr bwMode="auto">
          <a:xfrm>
            <a:off x="609600" y="3581400"/>
            <a:ext cx="6265863" cy="457200"/>
          </a:xfrm>
          <a:prstGeom prst="rect">
            <a:avLst/>
          </a:prstGeom>
          <a:noFill/>
          <a:ln w="9525">
            <a:noFill/>
            <a:miter lim="800000"/>
          </a:ln>
        </p:spPr>
        <p:txBody>
          <a:bodyPr>
            <a:spAutoFit/>
          </a:bodyPr>
          <a:lstStyle/>
          <a:p>
            <a:r>
              <a:rPr kumimoji="1" lang="zh-CN" altLang="en-US" b="1"/>
              <a:t>根据绝热过程方程的</a:t>
            </a:r>
            <a:r>
              <a:rPr kumimoji="1" lang="en-US" altLang="zh-CN" b="1" i="1">
                <a:solidFill>
                  <a:srgbClr val="FF6600"/>
                </a:solidFill>
              </a:rPr>
              <a:t>p</a:t>
            </a:r>
            <a:r>
              <a:rPr kumimoji="1" lang="en-US" altLang="zh-CN" b="1">
                <a:solidFill>
                  <a:srgbClr val="FF6600"/>
                </a:solidFill>
                <a:latin typeface="宋体" panose="02010600030101010101" pitchFamily="2" charset="-122"/>
              </a:rPr>
              <a:t>﹑</a:t>
            </a:r>
            <a:r>
              <a:rPr kumimoji="1" lang="en-US" altLang="zh-CN" b="1" i="1">
                <a:solidFill>
                  <a:srgbClr val="FF6600"/>
                </a:solidFill>
              </a:rPr>
              <a:t>V</a:t>
            </a:r>
            <a:r>
              <a:rPr kumimoji="1" lang="en-US" altLang="zh-CN" b="1" i="1"/>
              <a:t> </a:t>
            </a:r>
            <a:r>
              <a:rPr kumimoji="1" lang="zh-CN" altLang="en-US" b="1"/>
              <a:t>关系，有</a:t>
            </a:r>
            <a:endParaRPr kumimoji="1" lang="zh-CN" altLang="en-US" b="1"/>
          </a:p>
        </p:txBody>
      </p:sp>
      <p:sp>
        <p:nvSpPr>
          <p:cNvPr id="47148" name="Text Box 44"/>
          <p:cNvSpPr txBox="1">
            <a:spLocks noChangeArrowheads="1"/>
          </p:cNvSpPr>
          <p:nvPr/>
        </p:nvSpPr>
        <p:spPr bwMode="auto">
          <a:xfrm>
            <a:off x="638175" y="5029200"/>
            <a:ext cx="5924550" cy="457200"/>
          </a:xfrm>
          <a:prstGeom prst="rect">
            <a:avLst/>
          </a:prstGeom>
          <a:noFill/>
          <a:ln w="9525">
            <a:noFill/>
            <a:miter lim="800000"/>
          </a:ln>
        </p:spPr>
        <p:txBody>
          <a:bodyPr>
            <a:spAutoFit/>
          </a:bodyPr>
          <a:lstStyle/>
          <a:p>
            <a:r>
              <a:rPr kumimoji="1" lang="zh-CN" altLang="en-US" b="1"/>
              <a:t>根据绝热过程方程的</a:t>
            </a:r>
            <a:r>
              <a:rPr kumimoji="1" lang="en-US" altLang="zh-CN" b="1" i="1">
                <a:solidFill>
                  <a:srgbClr val="FF6600"/>
                </a:solidFill>
              </a:rPr>
              <a:t>T</a:t>
            </a:r>
            <a:r>
              <a:rPr kumimoji="1" lang="en-US" altLang="zh-CN" b="1">
                <a:solidFill>
                  <a:srgbClr val="FF6600"/>
                </a:solidFill>
                <a:latin typeface="宋体" panose="02010600030101010101" pitchFamily="2" charset="-122"/>
              </a:rPr>
              <a:t>﹑</a:t>
            </a:r>
            <a:r>
              <a:rPr kumimoji="1" lang="en-US" altLang="zh-CN" b="1" i="1">
                <a:solidFill>
                  <a:srgbClr val="FF6600"/>
                </a:solidFill>
              </a:rPr>
              <a:t>V</a:t>
            </a:r>
            <a:r>
              <a:rPr kumimoji="1" lang="en-US" altLang="zh-CN" b="1" i="1"/>
              <a:t> </a:t>
            </a:r>
            <a:r>
              <a:rPr kumimoji="1" lang="zh-CN" altLang="en-US" b="1"/>
              <a:t>关系，有</a:t>
            </a:r>
            <a:endParaRPr lang="zh-CN" altLang="en-US" sz="1800" b="1">
              <a:latin typeface="Arial" panose="020B0604020202020204" pitchFamily="34" charset="0"/>
            </a:endParaRPr>
          </a:p>
        </p:txBody>
      </p:sp>
      <p:sp>
        <p:nvSpPr>
          <p:cNvPr id="47149" name="Text Box 45"/>
          <p:cNvSpPr txBox="1">
            <a:spLocks noChangeArrowheads="1"/>
          </p:cNvSpPr>
          <p:nvPr/>
        </p:nvSpPr>
        <p:spPr bwMode="auto">
          <a:xfrm>
            <a:off x="619125" y="1989138"/>
            <a:ext cx="3546475" cy="457200"/>
          </a:xfrm>
          <a:prstGeom prst="rect">
            <a:avLst/>
          </a:prstGeom>
          <a:noFill/>
          <a:ln w="9525">
            <a:noFill/>
            <a:miter lim="800000"/>
          </a:ln>
        </p:spPr>
        <p:txBody>
          <a:bodyPr>
            <a:spAutoFit/>
          </a:bodyPr>
          <a:lstStyle/>
          <a:p>
            <a:r>
              <a:rPr lang="zh-CN" altLang="en-US" b="1"/>
              <a:t>氮气是</a:t>
            </a:r>
            <a:r>
              <a:rPr lang="zh-CN" altLang="en-US" b="1">
                <a:solidFill>
                  <a:srgbClr val="FF6600"/>
                </a:solidFill>
              </a:rPr>
              <a:t>双原子分子</a:t>
            </a:r>
            <a:endParaRPr lang="zh-CN" altLang="en-US" b="1">
              <a:solidFill>
                <a:srgbClr val="FF6600"/>
              </a:solidFill>
            </a:endParaRPr>
          </a:p>
        </p:txBody>
      </p:sp>
      <p:graphicFrame>
        <p:nvGraphicFramePr>
          <p:cNvPr id="47150" name="Object 46"/>
          <p:cNvGraphicFramePr>
            <a:graphicFrameLocks noChangeAspect="1"/>
          </p:cNvGraphicFramePr>
          <p:nvPr/>
        </p:nvGraphicFramePr>
        <p:xfrm>
          <a:off x="1089025" y="4330700"/>
          <a:ext cx="2078038" cy="525463"/>
        </p:xfrm>
        <a:graphic>
          <a:graphicData uri="http://schemas.openxmlformats.org/presentationml/2006/ole">
            <mc:AlternateContent xmlns:mc="http://schemas.openxmlformats.org/markup-compatibility/2006">
              <mc:Choice xmlns:v="urn:schemas-microsoft-com:vml" Requires="v">
                <p:oleObj spid="_x0000_s32773" name="Equation" r:id="rId7" imgW="24079200" imgH="5791200" progId="Equation.DSMT4">
                  <p:embed/>
                </p:oleObj>
              </mc:Choice>
              <mc:Fallback>
                <p:oleObj name="Equation" r:id="rId7" imgW="24079200" imgH="5791200" progId="Equation.DSMT4">
                  <p:embed/>
                  <p:pic>
                    <p:nvPicPr>
                      <p:cNvPr id="0" name="Object 46"/>
                      <p:cNvPicPr>
                        <a:picLocks noChangeAspect="1"/>
                      </p:cNvPicPr>
                      <p:nvPr/>
                    </p:nvPicPr>
                    <p:blipFill>
                      <a:blip r:embed="rId8"/>
                      <a:stretch>
                        <a:fillRect/>
                      </a:stretch>
                    </p:blipFill>
                    <p:spPr>
                      <a:xfrm>
                        <a:off x="1089025" y="4330700"/>
                        <a:ext cx="2078038" cy="525463"/>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41"/>
                                        </p:tgtEl>
                                        <p:attrNameLst>
                                          <p:attrName>style.visibility</p:attrName>
                                        </p:attrNameLst>
                                      </p:cBhvr>
                                      <p:to>
                                        <p:strVal val="visible"/>
                                      </p:to>
                                    </p:set>
                                    <p:animEffect transition="in" filter="wipe(left)">
                                      <p:cBhvr>
                                        <p:cTn id="7" dur="500"/>
                                        <p:tgtEl>
                                          <p:spTgt spid="4714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139"/>
                                        </p:tgtEl>
                                        <p:attrNameLst>
                                          <p:attrName>style.visibility</p:attrName>
                                        </p:attrNameLst>
                                      </p:cBhvr>
                                      <p:to>
                                        <p:strVal val="visible"/>
                                      </p:to>
                                    </p:set>
                                    <p:animEffect transition="in" filter="wipe(left)">
                                      <p:cBhvr>
                                        <p:cTn id="11" dur="500"/>
                                        <p:tgtEl>
                                          <p:spTgt spid="4713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7142"/>
                                        </p:tgtEl>
                                        <p:attrNameLst>
                                          <p:attrName>style.visibility</p:attrName>
                                        </p:attrNameLst>
                                      </p:cBhvr>
                                      <p:to>
                                        <p:strVal val="visible"/>
                                      </p:to>
                                    </p:set>
                                    <p:animEffect transition="in" filter="wipe(left)">
                                      <p:cBhvr>
                                        <p:cTn id="16" dur="500"/>
                                        <p:tgtEl>
                                          <p:spTgt spid="4714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7143"/>
                                        </p:tgtEl>
                                        <p:attrNameLst>
                                          <p:attrName>style.visibility</p:attrName>
                                        </p:attrNameLst>
                                      </p:cBhvr>
                                      <p:to>
                                        <p:strVal val="visible"/>
                                      </p:to>
                                    </p:set>
                                    <p:animEffect transition="in" filter="wipe(left)">
                                      <p:cBhvr>
                                        <p:cTn id="20" dur="500"/>
                                        <p:tgtEl>
                                          <p:spTgt spid="4714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7140"/>
                                        </p:tgtEl>
                                        <p:attrNameLst>
                                          <p:attrName>style.visibility</p:attrName>
                                        </p:attrNameLst>
                                      </p:cBhvr>
                                      <p:to>
                                        <p:strVal val="visible"/>
                                      </p:to>
                                    </p:set>
                                    <p:animEffect transition="in" filter="wipe(left)">
                                      <p:cBhvr>
                                        <p:cTn id="25" dur="500"/>
                                        <p:tgtEl>
                                          <p:spTgt spid="4714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7149"/>
                                        </p:tgtEl>
                                        <p:attrNameLst>
                                          <p:attrName>style.visibility</p:attrName>
                                        </p:attrNameLst>
                                      </p:cBhvr>
                                      <p:to>
                                        <p:strVal val="visible"/>
                                      </p:to>
                                    </p:set>
                                    <p:animEffect transition="in" filter="wipe(left)">
                                      <p:cBhvr>
                                        <p:cTn id="30" dur="500"/>
                                        <p:tgtEl>
                                          <p:spTgt spid="4714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7146"/>
                                        </p:tgtEl>
                                        <p:attrNameLst>
                                          <p:attrName>style.visibility</p:attrName>
                                        </p:attrNameLst>
                                      </p:cBhvr>
                                      <p:to>
                                        <p:strVal val="visible"/>
                                      </p:to>
                                    </p:set>
                                    <p:animEffect transition="in" filter="wipe(left)">
                                      <p:cBhvr>
                                        <p:cTn id="35" dur="500"/>
                                        <p:tgtEl>
                                          <p:spTgt spid="4714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7147"/>
                                        </p:tgtEl>
                                        <p:attrNameLst>
                                          <p:attrName>style.visibility</p:attrName>
                                        </p:attrNameLst>
                                      </p:cBhvr>
                                      <p:to>
                                        <p:strVal val="visible"/>
                                      </p:to>
                                    </p:set>
                                    <p:animEffect transition="in" filter="wipe(left)">
                                      <p:cBhvr>
                                        <p:cTn id="40" dur="500"/>
                                        <p:tgtEl>
                                          <p:spTgt spid="4714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7150"/>
                                        </p:tgtEl>
                                        <p:attrNameLst>
                                          <p:attrName>style.visibility</p:attrName>
                                        </p:attrNameLst>
                                      </p:cBhvr>
                                      <p:to>
                                        <p:strVal val="visible"/>
                                      </p:to>
                                    </p:set>
                                    <p:animEffect transition="in" filter="wipe(left)">
                                      <p:cBhvr>
                                        <p:cTn id="45" dur="500"/>
                                        <p:tgtEl>
                                          <p:spTgt spid="4715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7144"/>
                                        </p:tgtEl>
                                        <p:attrNameLst>
                                          <p:attrName>style.visibility</p:attrName>
                                        </p:attrNameLst>
                                      </p:cBhvr>
                                      <p:to>
                                        <p:strVal val="visible"/>
                                      </p:to>
                                    </p:set>
                                    <p:animEffect transition="in" filter="wipe(left)">
                                      <p:cBhvr>
                                        <p:cTn id="50" dur="500"/>
                                        <p:tgtEl>
                                          <p:spTgt spid="4714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7148"/>
                                        </p:tgtEl>
                                        <p:attrNameLst>
                                          <p:attrName>style.visibility</p:attrName>
                                        </p:attrNameLst>
                                      </p:cBhvr>
                                      <p:to>
                                        <p:strVal val="visible"/>
                                      </p:to>
                                    </p:set>
                                    <p:animEffect transition="in" filter="wipe(left)">
                                      <p:cBhvr>
                                        <p:cTn id="55" dur="500"/>
                                        <p:tgtEl>
                                          <p:spTgt spid="4714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47145"/>
                                        </p:tgtEl>
                                        <p:attrNameLst>
                                          <p:attrName>style.visibility</p:attrName>
                                        </p:attrNameLst>
                                      </p:cBhvr>
                                      <p:to>
                                        <p:strVal val="visible"/>
                                      </p:to>
                                    </p:set>
                                    <p:animEffect transition="in" filter="wipe(left)">
                                      <p:cBhvr>
                                        <p:cTn id="60" dur="500"/>
                                        <p:tgtEl>
                                          <p:spTgt spid="47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39" grpId="0" autoUpdateAnimBg="0"/>
      <p:bldP spid="47140" grpId="0" autoUpdateAnimBg="0"/>
      <p:bldP spid="47141" grpId="0" autoUpdateAnimBg="0"/>
      <p:bldP spid="47142" grpId="0" autoUpdateAnimBg="0"/>
      <p:bldP spid="47143" grpId="0" autoUpdateAnimBg="0"/>
      <p:bldP spid="47147" grpId="0" autoUpdateAnimBg="0"/>
      <p:bldP spid="47148" grpId="0" autoUpdateAnimBg="0"/>
      <p:bldP spid="47149"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5" name="Text Box 65"/>
          <p:cNvSpPr txBox="1">
            <a:spLocks noChangeArrowheads="1"/>
          </p:cNvSpPr>
          <p:nvPr/>
        </p:nvSpPr>
        <p:spPr bwMode="auto">
          <a:xfrm>
            <a:off x="750888" y="333375"/>
            <a:ext cx="8926512" cy="1006475"/>
          </a:xfrm>
          <a:prstGeom prst="rect">
            <a:avLst/>
          </a:prstGeom>
          <a:noFill/>
          <a:ln w="9525">
            <a:noFill/>
            <a:miter lim="800000"/>
          </a:ln>
        </p:spPr>
        <p:txBody>
          <a:bodyPr>
            <a:spAutoFit/>
          </a:bodyPr>
          <a:lstStyle/>
          <a:p>
            <a:pPr>
              <a:lnSpc>
                <a:spcPct val="125000"/>
              </a:lnSpc>
            </a:pPr>
            <a:r>
              <a:rPr kumimoji="1" lang="zh-CN" altLang="en-US" b="1"/>
              <a:t>温度为</a:t>
            </a:r>
            <a:r>
              <a:rPr kumimoji="1" lang="en-US" altLang="zh-CN" b="1">
                <a:solidFill>
                  <a:srgbClr val="FF6600"/>
                </a:solidFill>
              </a:rPr>
              <a:t>25</a:t>
            </a:r>
            <a:r>
              <a:rPr kumimoji="1" lang="en-US" altLang="zh-CN" b="1">
                <a:solidFill>
                  <a:srgbClr val="FF6600"/>
                </a:solidFill>
                <a:cs typeface="Times New Roman" panose="02020603050405020304" pitchFamily="18" charset="0"/>
              </a:rPr>
              <a:t>℃</a:t>
            </a:r>
            <a:r>
              <a:rPr kumimoji="1" lang="zh-CN" altLang="en-US" b="1"/>
              <a:t>，压强为</a:t>
            </a:r>
            <a:r>
              <a:rPr kumimoji="1" lang="en-US" altLang="zh-CN" b="1">
                <a:solidFill>
                  <a:srgbClr val="FF6600"/>
                </a:solidFill>
              </a:rPr>
              <a:t>1atm</a:t>
            </a:r>
            <a:r>
              <a:rPr kumimoji="1" lang="en-US" altLang="zh-CN" b="1"/>
              <a:t> </a:t>
            </a:r>
            <a:r>
              <a:rPr kumimoji="1" lang="zh-CN" altLang="en-US" b="1"/>
              <a:t>的</a:t>
            </a:r>
            <a:r>
              <a:rPr kumimoji="1" lang="en-US" altLang="zh-CN" b="1">
                <a:solidFill>
                  <a:srgbClr val="FF6600"/>
                </a:solidFill>
              </a:rPr>
              <a:t>1mol</a:t>
            </a:r>
            <a:r>
              <a:rPr kumimoji="1" lang="en-US" altLang="zh-CN" b="1"/>
              <a:t> </a:t>
            </a:r>
            <a:r>
              <a:rPr kumimoji="1" lang="zh-CN" altLang="en-US" b="1"/>
              <a:t>刚性</a:t>
            </a:r>
            <a:r>
              <a:rPr kumimoji="1" lang="zh-CN" altLang="en-US" b="1">
                <a:solidFill>
                  <a:srgbClr val="FF6600"/>
                </a:solidFill>
              </a:rPr>
              <a:t>双</a:t>
            </a:r>
            <a:r>
              <a:rPr kumimoji="1" lang="zh-CN" altLang="en-US" b="1"/>
              <a:t>原子分子理想气</a:t>
            </a:r>
            <a:endParaRPr kumimoji="1" lang="zh-CN" altLang="en-US" b="1"/>
          </a:p>
          <a:p>
            <a:pPr>
              <a:lnSpc>
                <a:spcPct val="125000"/>
              </a:lnSpc>
            </a:pPr>
            <a:r>
              <a:rPr kumimoji="1" lang="zh-CN" altLang="en-US" b="1"/>
              <a:t>体经等温过程体积膨胀至原来的</a:t>
            </a:r>
            <a:r>
              <a:rPr kumimoji="1" lang="en-US" altLang="zh-CN" b="1">
                <a:solidFill>
                  <a:srgbClr val="FF6600"/>
                </a:solidFill>
              </a:rPr>
              <a:t>3</a:t>
            </a:r>
            <a:r>
              <a:rPr kumimoji="1" lang="zh-CN" altLang="en-US" b="1">
                <a:solidFill>
                  <a:srgbClr val="FF6600"/>
                </a:solidFill>
              </a:rPr>
              <a:t>倍</a:t>
            </a:r>
            <a:r>
              <a:rPr kumimoji="1" lang="zh-CN" altLang="en-US" b="1"/>
              <a:t>。         </a:t>
            </a:r>
            <a:endParaRPr kumimoji="1" lang="zh-CN" altLang="en-US" b="1"/>
          </a:p>
        </p:txBody>
      </p:sp>
      <p:sp>
        <p:nvSpPr>
          <p:cNvPr id="41026" name="Rectangle 66"/>
          <p:cNvSpPr>
            <a:spLocks noChangeArrowheads="1"/>
          </p:cNvSpPr>
          <p:nvPr/>
        </p:nvSpPr>
        <p:spPr bwMode="auto">
          <a:xfrm>
            <a:off x="725488" y="1274763"/>
            <a:ext cx="7899400" cy="1463675"/>
          </a:xfrm>
          <a:prstGeom prst="rect">
            <a:avLst/>
          </a:prstGeom>
          <a:noFill/>
          <a:ln w="9525">
            <a:noFill/>
            <a:miter lim="800000"/>
          </a:ln>
        </p:spPr>
        <p:txBody>
          <a:bodyPr>
            <a:spAutoFit/>
          </a:bodyPr>
          <a:lstStyle/>
          <a:p>
            <a:pPr>
              <a:lnSpc>
                <a:spcPct val="125000"/>
              </a:lnSpc>
            </a:pPr>
            <a:r>
              <a:rPr kumimoji="1" lang="en-US" altLang="zh-CN" b="1">
                <a:solidFill>
                  <a:srgbClr val="FF6600"/>
                </a:solidFill>
              </a:rPr>
              <a:t>(1)</a:t>
            </a:r>
            <a:r>
              <a:rPr kumimoji="1" lang="en-US" altLang="zh-CN" b="1"/>
              <a:t> </a:t>
            </a:r>
            <a:r>
              <a:rPr kumimoji="1" lang="zh-CN" altLang="en-US" b="1"/>
              <a:t>该过程中气体对外所作的功；</a:t>
            </a:r>
            <a:endParaRPr kumimoji="1" lang="zh-CN" altLang="en-US" b="1"/>
          </a:p>
          <a:p>
            <a:pPr>
              <a:lnSpc>
                <a:spcPct val="125000"/>
              </a:lnSpc>
            </a:pPr>
            <a:r>
              <a:rPr kumimoji="1" lang="en-US" altLang="zh-CN" b="1">
                <a:solidFill>
                  <a:srgbClr val="FF6600"/>
                </a:solidFill>
              </a:rPr>
              <a:t>(2)</a:t>
            </a:r>
            <a:r>
              <a:rPr kumimoji="1" lang="en-US" altLang="zh-CN" b="1"/>
              <a:t> </a:t>
            </a:r>
            <a:r>
              <a:rPr kumimoji="1" lang="zh-CN" altLang="en-US" b="1"/>
              <a:t>若气体经绝热过程体积膨胀至原来的</a:t>
            </a:r>
            <a:r>
              <a:rPr kumimoji="1" lang="en-US" altLang="zh-CN" b="1">
                <a:solidFill>
                  <a:srgbClr val="FF6600"/>
                </a:solidFill>
              </a:rPr>
              <a:t>3 </a:t>
            </a:r>
            <a:r>
              <a:rPr kumimoji="1" lang="zh-CN" altLang="en-US" b="1">
                <a:solidFill>
                  <a:srgbClr val="FF6600"/>
                </a:solidFill>
              </a:rPr>
              <a:t>倍</a:t>
            </a:r>
            <a:r>
              <a:rPr kumimoji="1" lang="zh-CN" altLang="en-US" b="1"/>
              <a:t>，气体对外所</a:t>
            </a:r>
            <a:endParaRPr kumimoji="1" lang="zh-CN" altLang="en-US" b="1"/>
          </a:p>
          <a:p>
            <a:pPr>
              <a:lnSpc>
                <a:spcPct val="125000"/>
              </a:lnSpc>
            </a:pPr>
            <a:r>
              <a:rPr kumimoji="1" lang="zh-CN" altLang="en-US" b="1"/>
              <a:t>      作的功。</a:t>
            </a:r>
            <a:endParaRPr kumimoji="1" lang="zh-CN" altLang="en-US" b="1"/>
          </a:p>
        </p:txBody>
      </p:sp>
      <p:sp>
        <p:nvSpPr>
          <p:cNvPr id="41027" name="Text Box 67"/>
          <p:cNvSpPr txBox="1">
            <a:spLocks noChangeArrowheads="1"/>
          </p:cNvSpPr>
          <p:nvPr/>
        </p:nvSpPr>
        <p:spPr bwMode="auto">
          <a:xfrm>
            <a:off x="265113" y="2833688"/>
            <a:ext cx="493712" cy="461962"/>
          </a:xfrm>
          <a:prstGeom prst="rect">
            <a:avLst/>
          </a:prstGeom>
          <a:noFill/>
          <a:ln w="9525">
            <a:noFill/>
            <a:miter lim="800000"/>
          </a:ln>
        </p:spPr>
        <p:txBody>
          <a:bodyPr wrap="none">
            <a:spAutoFit/>
          </a:bodyPr>
          <a:lstStyle/>
          <a:p>
            <a:r>
              <a:rPr lang="zh-CN" altLang="en-US" b="1">
                <a:solidFill>
                  <a:srgbClr val="FF0000"/>
                </a:solidFill>
              </a:rPr>
              <a:t>解</a:t>
            </a:r>
            <a:endParaRPr lang="zh-CN" altLang="en-US" b="1">
              <a:solidFill>
                <a:srgbClr val="FF0000"/>
              </a:solidFill>
            </a:endParaRPr>
          </a:p>
        </p:txBody>
      </p:sp>
      <p:sp>
        <p:nvSpPr>
          <p:cNvPr id="41028" name="Text Box 68"/>
          <p:cNvSpPr txBox="1">
            <a:spLocks noChangeArrowheads="1"/>
          </p:cNvSpPr>
          <p:nvPr/>
        </p:nvSpPr>
        <p:spPr bwMode="auto">
          <a:xfrm>
            <a:off x="265113" y="404813"/>
            <a:ext cx="492125" cy="457200"/>
          </a:xfrm>
          <a:prstGeom prst="rect">
            <a:avLst/>
          </a:prstGeom>
          <a:noFill/>
          <a:ln w="9525">
            <a:noFill/>
            <a:miter lim="800000"/>
          </a:ln>
        </p:spPr>
        <p:txBody>
          <a:bodyPr wrap="none">
            <a:spAutoFit/>
          </a:bodyPr>
          <a:lstStyle/>
          <a:p>
            <a:r>
              <a:rPr lang="zh-CN" altLang="en-US" b="1">
                <a:solidFill>
                  <a:srgbClr val="FF0000"/>
                </a:solidFill>
              </a:rPr>
              <a:t>例</a:t>
            </a:r>
            <a:endParaRPr lang="zh-CN" altLang="en-US" b="1">
              <a:solidFill>
                <a:srgbClr val="FF0000"/>
              </a:solidFill>
            </a:endParaRPr>
          </a:p>
        </p:txBody>
      </p:sp>
      <p:sp>
        <p:nvSpPr>
          <p:cNvPr id="41029" name="Text Box 69"/>
          <p:cNvSpPr txBox="1">
            <a:spLocks noChangeArrowheads="1"/>
          </p:cNvSpPr>
          <p:nvPr/>
        </p:nvSpPr>
        <p:spPr bwMode="auto">
          <a:xfrm>
            <a:off x="265113" y="1370013"/>
            <a:ext cx="493712" cy="461962"/>
          </a:xfrm>
          <a:prstGeom prst="rect">
            <a:avLst/>
          </a:prstGeom>
          <a:noFill/>
          <a:ln w="9525">
            <a:noFill/>
            <a:miter lim="800000"/>
          </a:ln>
        </p:spPr>
        <p:txBody>
          <a:bodyPr wrap="none">
            <a:spAutoFit/>
          </a:bodyPr>
          <a:lstStyle/>
          <a:p>
            <a:r>
              <a:rPr lang="zh-CN" altLang="en-US" b="1">
                <a:solidFill>
                  <a:srgbClr val="FF0000"/>
                </a:solidFill>
              </a:rPr>
              <a:t>求</a:t>
            </a:r>
            <a:endParaRPr lang="zh-CN" altLang="en-US" b="1">
              <a:solidFill>
                <a:srgbClr val="FF0000"/>
              </a:solidFill>
            </a:endParaRPr>
          </a:p>
        </p:txBody>
      </p:sp>
      <p:sp>
        <p:nvSpPr>
          <p:cNvPr id="41030" name="Arc 70"/>
          <p:cNvSpPr>
            <a:spLocks noChangeAspect="1"/>
          </p:cNvSpPr>
          <p:nvPr/>
        </p:nvSpPr>
        <p:spPr bwMode="auto">
          <a:xfrm rot="-871638">
            <a:off x="6713538" y="3359150"/>
            <a:ext cx="1400175" cy="1795463"/>
          </a:xfrm>
          <a:custGeom>
            <a:avLst/>
            <a:gdLst>
              <a:gd name="T0" fmla="*/ 2147483647 w 21600"/>
              <a:gd name="T1" fmla="*/ 2147483647 h 21058"/>
              <a:gd name="T2" fmla="*/ 0 w 21600"/>
              <a:gd name="T3" fmla="*/ 0 h 21058"/>
              <a:gd name="T4" fmla="*/ 2147483647 w 21600"/>
              <a:gd name="T5" fmla="*/ 2147483647 h 21058"/>
              <a:gd name="T6" fmla="*/ 0 60000 65536"/>
              <a:gd name="T7" fmla="*/ 0 60000 65536"/>
              <a:gd name="T8" fmla="*/ 0 60000 65536"/>
              <a:gd name="T9" fmla="*/ 0 w 21600"/>
              <a:gd name="T10" fmla="*/ 0 h 21058"/>
              <a:gd name="T11" fmla="*/ 21600 w 21600"/>
              <a:gd name="T12" fmla="*/ 21058 h 21058"/>
            </a:gdLst>
            <a:ahLst/>
            <a:cxnLst>
              <a:cxn ang="T6">
                <a:pos x="T0" y="T1"/>
              </a:cxn>
              <a:cxn ang="T7">
                <a:pos x="T2" y="T3"/>
              </a:cxn>
              <a:cxn ang="T8">
                <a:pos x="T4" y="T5"/>
              </a:cxn>
            </a:cxnLst>
            <a:rect l="T9" t="T10" r="T11" b="T12"/>
            <a:pathLst>
              <a:path w="21600" h="21058" fill="none" extrusionOk="0">
                <a:moveTo>
                  <a:pt x="16744" y="21058"/>
                </a:moveTo>
                <a:cubicBezTo>
                  <a:pt x="6943" y="18797"/>
                  <a:pt x="0" y="10069"/>
                  <a:pt x="0" y="11"/>
                </a:cubicBezTo>
                <a:cubicBezTo>
                  <a:pt x="-1" y="7"/>
                  <a:pt x="0" y="3"/>
                  <a:pt x="0" y="0"/>
                </a:cubicBezTo>
              </a:path>
              <a:path w="21600" h="21058" stroke="0" extrusionOk="0">
                <a:moveTo>
                  <a:pt x="16744" y="21058"/>
                </a:moveTo>
                <a:cubicBezTo>
                  <a:pt x="6943" y="18797"/>
                  <a:pt x="0" y="10069"/>
                  <a:pt x="0" y="11"/>
                </a:cubicBezTo>
                <a:cubicBezTo>
                  <a:pt x="-1" y="7"/>
                  <a:pt x="0" y="3"/>
                  <a:pt x="0" y="0"/>
                </a:cubicBezTo>
                <a:lnTo>
                  <a:pt x="21600" y="11"/>
                </a:lnTo>
                <a:close/>
              </a:path>
            </a:pathLst>
          </a:custGeom>
          <a:noFill/>
          <a:ln w="38100">
            <a:solidFill>
              <a:srgbClr val="0000FF"/>
            </a:solidFill>
            <a:round/>
            <a:headEnd type="none" w="sm" len="sm"/>
            <a:tailEnd type="none" w="sm" len="sm"/>
          </a:ln>
        </p:spPr>
        <p:txBody>
          <a:bodyPr wrap="none" anchor="ctr"/>
          <a:lstStyle/>
          <a:p>
            <a:pPr algn="ctr"/>
            <a:endParaRPr lang="zh-CN" altLang="en-US" b="1"/>
          </a:p>
        </p:txBody>
      </p:sp>
      <p:grpSp>
        <p:nvGrpSpPr>
          <p:cNvPr id="2" name="Group 86"/>
          <p:cNvGrpSpPr/>
          <p:nvPr/>
        </p:nvGrpSpPr>
        <p:grpSpPr bwMode="auto">
          <a:xfrm>
            <a:off x="5448300" y="2994025"/>
            <a:ext cx="3314700" cy="2952750"/>
            <a:chOff x="3432" y="1886"/>
            <a:chExt cx="2088" cy="1860"/>
          </a:xfrm>
        </p:grpSpPr>
        <p:sp>
          <p:nvSpPr>
            <p:cNvPr id="33812" name="Line 73"/>
            <p:cNvSpPr>
              <a:spLocks noChangeShapeType="1"/>
            </p:cNvSpPr>
            <p:nvPr/>
          </p:nvSpPr>
          <p:spPr bwMode="auto">
            <a:xfrm flipV="1">
              <a:off x="3660" y="3458"/>
              <a:ext cx="1791" cy="11"/>
            </a:xfrm>
            <a:prstGeom prst="line">
              <a:avLst/>
            </a:prstGeom>
            <a:noFill/>
            <a:ln w="28575">
              <a:solidFill>
                <a:schemeClr val="tx2"/>
              </a:solidFill>
              <a:round/>
              <a:tailEnd type="triangle" w="med" len="lg"/>
            </a:ln>
          </p:spPr>
          <p:txBody>
            <a:bodyPr wrap="none" anchor="ctr"/>
            <a:lstStyle/>
            <a:p>
              <a:endParaRPr lang="zh-CN" altLang="en-US"/>
            </a:p>
          </p:txBody>
        </p:sp>
        <p:sp>
          <p:nvSpPr>
            <p:cNvPr id="33813" name="Line 74"/>
            <p:cNvSpPr>
              <a:spLocks noChangeShapeType="1"/>
            </p:cNvSpPr>
            <p:nvPr/>
          </p:nvSpPr>
          <p:spPr bwMode="auto">
            <a:xfrm flipH="1" flipV="1">
              <a:off x="3660" y="2022"/>
              <a:ext cx="11" cy="1458"/>
            </a:xfrm>
            <a:prstGeom prst="line">
              <a:avLst/>
            </a:prstGeom>
            <a:noFill/>
            <a:ln w="28575">
              <a:solidFill>
                <a:schemeClr val="tx2"/>
              </a:solidFill>
              <a:round/>
              <a:tailEnd type="triangle" w="med" len="lg"/>
            </a:ln>
          </p:spPr>
          <p:txBody>
            <a:bodyPr wrap="none" anchor="ctr"/>
            <a:lstStyle/>
            <a:p>
              <a:endParaRPr lang="zh-CN" altLang="en-US"/>
            </a:p>
          </p:txBody>
        </p:sp>
        <p:sp>
          <p:nvSpPr>
            <p:cNvPr id="33814" name="Text Box 75"/>
            <p:cNvSpPr txBox="1">
              <a:spLocks noChangeArrowheads="1"/>
            </p:cNvSpPr>
            <p:nvPr/>
          </p:nvSpPr>
          <p:spPr bwMode="auto">
            <a:xfrm>
              <a:off x="5276" y="3458"/>
              <a:ext cx="244" cy="288"/>
            </a:xfrm>
            <a:prstGeom prst="rect">
              <a:avLst/>
            </a:prstGeom>
            <a:noFill/>
            <a:ln w="9525">
              <a:noFill/>
              <a:miter lim="800000"/>
            </a:ln>
          </p:spPr>
          <p:txBody>
            <a:bodyPr wrap="none">
              <a:spAutoFit/>
            </a:bodyPr>
            <a:lstStyle/>
            <a:p>
              <a:r>
                <a:rPr lang="en-US" altLang="zh-CN" b="1" i="1"/>
                <a:t>V</a:t>
              </a:r>
              <a:endParaRPr lang="en-US" altLang="zh-CN" b="1" i="1"/>
            </a:p>
          </p:txBody>
        </p:sp>
        <p:sp>
          <p:nvSpPr>
            <p:cNvPr id="33815" name="Text Box 76"/>
            <p:cNvSpPr txBox="1">
              <a:spLocks noChangeArrowheads="1"/>
            </p:cNvSpPr>
            <p:nvPr/>
          </p:nvSpPr>
          <p:spPr bwMode="auto">
            <a:xfrm>
              <a:off x="3432" y="1886"/>
              <a:ext cx="228" cy="327"/>
            </a:xfrm>
            <a:prstGeom prst="rect">
              <a:avLst/>
            </a:prstGeom>
            <a:noFill/>
            <a:ln w="9525">
              <a:noFill/>
              <a:miter lim="800000"/>
            </a:ln>
          </p:spPr>
          <p:txBody>
            <a:bodyPr wrap="none">
              <a:spAutoFit/>
            </a:bodyPr>
            <a:lstStyle/>
            <a:p>
              <a:r>
                <a:rPr lang="en-US" altLang="zh-CN" sz="2800" b="1" i="1"/>
                <a:t>p</a:t>
              </a:r>
              <a:endParaRPr lang="en-US" altLang="zh-CN" sz="2800" b="1" i="1"/>
            </a:p>
          </p:txBody>
        </p:sp>
        <p:sp>
          <p:nvSpPr>
            <p:cNvPr id="33816" name="Text Box 77"/>
            <p:cNvSpPr txBox="1">
              <a:spLocks noChangeArrowheads="1"/>
            </p:cNvSpPr>
            <p:nvPr/>
          </p:nvSpPr>
          <p:spPr bwMode="auto">
            <a:xfrm>
              <a:off x="3434" y="3413"/>
              <a:ext cx="255" cy="288"/>
            </a:xfrm>
            <a:prstGeom prst="rect">
              <a:avLst/>
            </a:prstGeom>
            <a:noFill/>
            <a:ln w="9525">
              <a:noFill/>
              <a:miter lim="800000"/>
            </a:ln>
          </p:spPr>
          <p:txBody>
            <a:bodyPr wrap="none">
              <a:spAutoFit/>
            </a:bodyPr>
            <a:lstStyle/>
            <a:p>
              <a:r>
                <a:rPr lang="en-US" altLang="zh-CN" b="1" i="1"/>
                <a:t>O</a:t>
              </a:r>
              <a:endParaRPr lang="en-US" altLang="zh-CN" b="1" i="1"/>
            </a:p>
          </p:txBody>
        </p:sp>
      </p:grpSp>
      <p:grpSp>
        <p:nvGrpSpPr>
          <p:cNvPr id="3" name="Group 87"/>
          <p:cNvGrpSpPr/>
          <p:nvPr/>
        </p:nvGrpSpPr>
        <p:grpSpPr bwMode="auto">
          <a:xfrm>
            <a:off x="6386513" y="2924175"/>
            <a:ext cx="1816100" cy="3041650"/>
            <a:chOff x="4023" y="1842"/>
            <a:chExt cx="1144" cy="1916"/>
          </a:xfrm>
        </p:grpSpPr>
        <p:sp>
          <p:nvSpPr>
            <p:cNvPr id="33809" name="Line 64"/>
            <p:cNvSpPr>
              <a:spLocks noChangeShapeType="1"/>
            </p:cNvSpPr>
            <p:nvPr/>
          </p:nvSpPr>
          <p:spPr bwMode="auto">
            <a:xfrm>
              <a:off x="4105" y="2249"/>
              <a:ext cx="0" cy="1225"/>
            </a:xfrm>
            <a:prstGeom prst="line">
              <a:avLst/>
            </a:prstGeom>
            <a:noFill/>
            <a:ln w="12700">
              <a:solidFill>
                <a:schemeClr val="tx2"/>
              </a:solidFill>
              <a:prstDash val="dash"/>
              <a:round/>
            </a:ln>
          </p:spPr>
          <p:txBody>
            <a:bodyPr/>
            <a:lstStyle/>
            <a:p>
              <a:endParaRPr lang="zh-CN" altLang="en-US"/>
            </a:p>
          </p:txBody>
        </p:sp>
        <p:sp>
          <p:nvSpPr>
            <p:cNvPr id="33810" name="Arc 71"/>
            <p:cNvSpPr>
              <a:spLocks noChangeAspect="1"/>
            </p:cNvSpPr>
            <p:nvPr/>
          </p:nvSpPr>
          <p:spPr bwMode="auto">
            <a:xfrm>
              <a:off x="4104" y="1842"/>
              <a:ext cx="943" cy="1153"/>
            </a:xfrm>
            <a:custGeom>
              <a:avLst/>
              <a:gdLst>
                <a:gd name="T0" fmla="*/ 0 w 20789"/>
                <a:gd name="T1" fmla="*/ 0 h 21600"/>
                <a:gd name="T2" fmla="*/ 0 w 20789"/>
                <a:gd name="T3" fmla="*/ 0 h 21600"/>
                <a:gd name="T4" fmla="*/ 0 w 20789"/>
                <a:gd name="T5" fmla="*/ 0 h 21600"/>
                <a:gd name="T6" fmla="*/ 0 60000 65536"/>
                <a:gd name="T7" fmla="*/ 0 60000 65536"/>
                <a:gd name="T8" fmla="*/ 0 60000 65536"/>
                <a:gd name="T9" fmla="*/ 0 w 20789"/>
                <a:gd name="T10" fmla="*/ 0 h 21600"/>
                <a:gd name="T11" fmla="*/ 20789 w 20789"/>
                <a:gd name="T12" fmla="*/ 21600 h 21600"/>
              </a:gdLst>
              <a:ahLst/>
              <a:cxnLst>
                <a:cxn ang="T6">
                  <a:pos x="T0" y="T1"/>
                </a:cxn>
                <a:cxn ang="T7">
                  <a:pos x="T2" y="T3"/>
                </a:cxn>
                <a:cxn ang="T8">
                  <a:pos x="T4" y="T5"/>
                </a:cxn>
              </a:cxnLst>
              <a:rect l="T9" t="T10" r="T11" b="T12"/>
              <a:pathLst>
                <a:path w="20789" h="21600" fill="none" extrusionOk="0">
                  <a:moveTo>
                    <a:pt x="20789" y="21592"/>
                  </a:moveTo>
                  <a:cubicBezTo>
                    <a:pt x="20598" y="21597"/>
                    <a:pt x="20408" y="21599"/>
                    <a:pt x="20218" y="21600"/>
                  </a:cubicBezTo>
                  <a:cubicBezTo>
                    <a:pt x="11221" y="21600"/>
                    <a:pt x="3166" y="16023"/>
                    <a:pt x="0" y="7602"/>
                  </a:cubicBezTo>
                </a:path>
                <a:path w="20789" h="21600" stroke="0" extrusionOk="0">
                  <a:moveTo>
                    <a:pt x="20789" y="21592"/>
                  </a:moveTo>
                  <a:cubicBezTo>
                    <a:pt x="20598" y="21597"/>
                    <a:pt x="20408" y="21599"/>
                    <a:pt x="20218" y="21600"/>
                  </a:cubicBezTo>
                  <a:cubicBezTo>
                    <a:pt x="11221" y="21600"/>
                    <a:pt x="3166" y="16023"/>
                    <a:pt x="0" y="7602"/>
                  </a:cubicBezTo>
                  <a:lnTo>
                    <a:pt x="20218" y="0"/>
                  </a:lnTo>
                  <a:close/>
                </a:path>
              </a:pathLst>
            </a:custGeom>
            <a:noFill/>
            <a:ln w="38100">
              <a:solidFill>
                <a:srgbClr val="FC5050"/>
              </a:solidFill>
              <a:round/>
              <a:headEnd type="none" w="sm" len="sm"/>
              <a:tailEnd type="none" w="sm" len="sm"/>
            </a:ln>
          </p:spPr>
          <p:txBody>
            <a:bodyPr wrap="none" anchor="ctr"/>
            <a:lstStyle/>
            <a:p>
              <a:pPr algn="ctr"/>
              <a:endParaRPr lang="zh-CN" altLang="en-US" b="1"/>
            </a:p>
          </p:txBody>
        </p:sp>
        <p:graphicFrame>
          <p:nvGraphicFramePr>
            <p:cNvPr id="33797" name="Object 3"/>
            <p:cNvGraphicFramePr>
              <a:graphicFrameLocks noChangeAspect="1"/>
            </p:cNvGraphicFramePr>
            <p:nvPr/>
          </p:nvGraphicFramePr>
          <p:xfrm>
            <a:off x="4023" y="3506"/>
            <a:ext cx="154" cy="239"/>
          </p:xfrm>
          <a:graphic>
            <a:graphicData uri="http://schemas.openxmlformats.org/presentationml/2006/ole">
              <mc:AlternateContent xmlns:mc="http://schemas.openxmlformats.org/markup-compatibility/2006">
                <mc:Choice xmlns:v="urn:schemas-microsoft-com:vml" Requires="v">
                  <p:oleObj spid="_x0000_s33793" name="公式" r:id="rId1" imgW="7315200" imgH="11277600" progId="Equation.3">
                    <p:embed/>
                  </p:oleObj>
                </mc:Choice>
                <mc:Fallback>
                  <p:oleObj name="公式" r:id="rId1" imgW="7315200" imgH="11277600" progId="Equation.3">
                    <p:embed/>
                    <p:pic>
                      <p:nvPicPr>
                        <p:cNvPr id="0" name="Object 3"/>
                        <p:cNvPicPr>
                          <a:picLocks noChangeAspect="1"/>
                        </p:cNvPicPr>
                        <p:nvPr/>
                      </p:nvPicPr>
                      <p:blipFill>
                        <a:blip r:embed="rId2"/>
                        <a:stretch>
                          <a:fillRect/>
                        </a:stretch>
                      </p:blipFill>
                      <p:spPr>
                        <a:xfrm>
                          <a:off x="4023" y="3506"/>
                          <a:ext cx="154" cy="239"/>
                        </a:xfrm>
                        <a:prstGeom prst="rect">
                          <a:avLst/>
                        </a:prstGeom>
                        <a:noFill/>
                        <a:ln w="9525">
                          <a:noFill/>
                        </a:ln>
                      </p:spPr>
                    </p:pic>
                  </p:oleObj>
                </mc:Fallback>
              </mc:AlternateContent>
            </a:graphicData>
          </a:graphic>
        </p:graphicFrame>
        <p:graphicFrame>
          <p:nvGraphicFramePr>
            <p:cNvPr id="33798" name="Object 4"/>
            <p:cNvGraphicFramePr>
              <a:graphicFrameLocks noChangeAspect="1"/>
            </p:cNvGraphicFramePr>
            <p:nvPr/>
          </p:nvGraphicFramePr>
          <p:xfrm>
            <a:off x="4930" y="3519"/>
            <a:ext cx="237" cy="239"/>
          </p:xfrm>
          <a:graphic>
            <a:graphicData uri="http://schemas.openxmlformats.org/presentationml/2006/ole">
              <mc:AlternateContent xmlns:mc="http://schemas.openxmlformats.org/markup-compatibility/2006">
                <mc:Choice xmlns:v="urn:schemas-microsoft-com:vml" Requires="v">
                  <p:oleObj spid="_x0000_s33798" name="公式" r:id="rId3" imgW="11277600" imgH="11277600" progId="Equation.3">
                    <p:embed/>
                  </p:oleObj>
                </mc:Choice>
                <mc:Fallback>
                  <p:oleObj name="公式" r:id="rId3" imgW="11277600" imgH="11277600" progId="Equation.3">
                    <p:embed/>
                    <p:pic>
                      <p:nvPicPr>
                        <p:cNvPr id="0" name="Object 4"/>
                        <p:cNvPicPr>
                          <a:picLocks noChangeAspect="1"/>
                        </p:cNvPicPr>
                        <p:nvPr/>
                      </p:nvPicPr>
                      <p:blipFill>
                        <a:blip r:embed="rId4"/>
                        <a:stretch>
                          <a:fillRect/>
                        </a:stretch>
                      </p:blipFill>
                      <p:spPr>
                        <a:xfrm>
                          <a:off x="4930" y="3519"/>
                          <a:ext cx="237" cy="239"/>
                        </a:xfrm>
                        <a:prstGeom prst="rect">
                          <a:avLst/>
                        </a:prstGeom>
                        <a:noFill/>
                        <a:ln w="9525">
                          <a:noFill/>
                        </a:ln>
                      </p:spPr>
                    </p:pic>
                  </p:oleObj>
                </mc:Fallback>
              </mc:AlternateContent>
            </a:graphicData>
          </a:graphic>
        </p:graphicFrame>
        <p:sp>
          <p:nvSpPr>
            <p:cNvPr id="33811" name="Line 80"/>
            <p:cNvSpPr>
              <a:spLocks noChangeShapeType="1"/>
            </p:cNvSpPr>
            <p:nvPr/>
          </p:nvSpPr>
          <p:spPr bwMode="auto">
            <a:xfrm>
              <a:off x="5053" y="2997"/>
              <a:ext cx="0" cy="474"/>
            </a:xfrm>
            <a:prstGeom prst="line">
              <a:avLst/>
            </a:prstGeom>
            <a:noFill/>
            <a:ln w="12700">
              <a:solidFill>
                <a:schemeClr val="tx2"/>
              </a:solidFill>
              <a:prstDash val="dash"/>
              <a:round/>
            </a:ln>
          </p:spPr>
          <p:txBody>
            <a:bodyPr/>
            <a:lstStyle/>
            <a:p>
              <a:endParaRPr lang="zh-CN" altLang="en-US"/>
            </a:p>
          </p:txBody>
        </p:sp>
      </p:grpSp>
      <p:graphicFrame>
        <p:nvGraphicFramePr>
          <p:cNvPr id="182272" name="Object 0"/>
          <p:cNvGraphicFramePr>
            <a:graphicFrameLocks noChangeAspect="1"/>
          </p:cNvGraphicFramePr>
          <p:nvPr/>
        </p:nvGraphicFramePr>
        <p:xfrm>
          <a:off x="965200" y="3517900"/>
          <a:ext cx="1985963" cy="914400"/>
        </p:xfrm>
        <a:graphic>
          <a:graphicData uri="http://schemas.openxmlformats.org/presentationml/2006/ole">
            <mc:AlternateContent xmlns:mc="http://schemas.openxmlformats.org/markup-compatibility/2006">
              <mc:Choice xmlns:v="urn:schemas-microsoft-com:vml" Requires="v">
                <p:oleObj spid="_x0000_s33794" name="Equation" r:id="rId5" imgW="22555200" imgH="10363200" progId="Equation.DSMT4">
                  <p:embed/>
                </p:oleObj>
              </mc:Choice>
              <mc:Fallback>
                <p:oleObj name="Equation" r:id="rId5" imgW="22555200" imgH="10363200" progId="Equation.DSMT4">
                  <p:embed/>
                  <p:pic>
                    <p:nvPicPr>
                      <p:cNvPr id="0" name="Object 0"/>
                      <p:cNvPicPr>
                        <a:picLocks noChangeAspect="1"/>
                      </p:cNvPicPr>
                      <p:nvPr/>
                    </p:nvPicPr>
                    <p:blipFill>
                      <a:blip r:embed="rId6"/>
                      <a:stretch>
                        <a:fillRect/>
                      </a:stretch>
                    </p:blipFill>
                    <p:spPr>
                      <a:xfrm>
                        <a:off x="965200" y="3517900"/>
                        <a:ext cx="1985963" cy="914400"/>
                      </a:xfrm>
                      <a:prstGeom prst="rect">
                        <a:avLst/>
                      </a:prstGeom>
                      <a:noFill/>
                      <a:ln w="9525">
                        <a:noFill/>
                      </a:ln>
                    </p:spPr>
                  </p:pic>
                </p:oleObj>
              </mc:Fallback>
            </mc:AlternateContent>
          </a:graphicData>
        </a:graphic>
      </p:graphicFrame>
      <p:sp>
        <p:nvSpPr>
          <p:cNvPr id="41042" name="Rectangle 82"/>
          <p:cNvSpPr>
            <a:spLocks noChangeArrowheads="1"/>
          </p:cNvSpPr>
          <p:nvPr/>
        </p:nvSpPr>
        <p:spPr bwMode="auto">
          <a:xfrm>
            <a:off x="728663" y="2838450"/>
            <a:ext cx="3425825" cy="457200"/>
          </a:xfrm>
          <a:prstGeom prst="rect">
            <a:avLst/>
          </a:prstGeom>
          <a:noFill/>
          <a:ln w="9525">
            <a:noFill/>
            <a:miter lim="800000"/>
          </a:ln>
        </p:spPr>
        <p:txBody>
          <a:bodyPr>
            <a:spAutoFit/>
          </a:bodyPr>
          <a:lstStyle/>
          <a:p>
            <a:r>
              <a:rPr kumimoji="1" lang="en-US" altLang="zh-CN" b="1">
                <a:solidFill>
                  <a:srgbClr val="FF6600"/>
                </a:solidFill>
              </a:rPr>
              <a:t>(1)</a:t>
            </a:r>
            <a:r>
              <a:rPr kumimoji="1" lang="en-US" altLang="zh-CN" b="1"/>
              <a:t> </a:t>
            </a:r>
            <a:r>
              <a:rPr kumimoji="1" lang="zh-CN" altLang="en-US" b="1"/>
              <a:t>由</a:t>
            </a:r>
            <a:r>
              <a:rPr kumimoji="1" lang="zh-CN" altLang="en-US" b="1">
                <a:solidFill>
                  <a:srgbClr val="FF6600"/>
                </a:solidFill>
              </a:rPr>
              <a:t>等温过程</a:t>
            </a:r>
            <a:r>
              <a:rPr kumimoji="1" lang="zh-CN" altLang="en-US" b="1"/>
              <a:t>可得</a:t>
            </a:r>
            <a:endParaRPr kumimoji="1" lang="zh-CN" altLang="en-US" b="1"/>
          </a:p>
        </p:txBody>
      </p:sp>
      <p:graphicFrame>
        <p:nvGraphicFramePr>
          <p:cNvPr id="182273" name="Object 1"/>
          <p:cNvGraphicFramePr>
            <a:graphicFrameLocks noChangeAspect="1"/>
          </p:cNvGraphicFramePr>
          <p:nvPr/>
        </p:nvGraphicFramePr>
        <p:xfrm>
          <a:off x="2973388" y="3683000"/>
          <a:ext cx="1955800" cy="531813"/>
        </p:xfrm>
        <a:graphic>
          <a:graphicData uri="http://schemas.openxmlformats.org/presentationml/2006/ole">
            <mc:AlternateContent xmlns:mc="http://schemas.openxmlformats.org/markup-compatibility/2006">
              <mc:Choice xmlns:v="urn:schemas-microsoft-com:vml" Requires="v">
                <p:oleObj spid="_x0000_s33795" name="Equation" r:id="rId7" imgW="20116800" imgH="5486400" progId="Equation.DSMT4">
                  <p:embed/>
                </p:oleObj>
              </mc:Choice>
              <mc:Fallback>
                <p:oleObj name="Equation" r:id="rId7" imgW="20116800" imgH="5486400" progId="Equation.DSMT4">
                  <p:embed/>
                  <p:pic>
                    <p:nvPicPr>
                      <p:cNvPr id="0" name="Object 1"/>
                      <p:cNvPicPr>
                        <a:picLocks noChangeAspect="1"/>
                      </p:cNvPicPr>
                      <p:nvPr/>
                    </p:nvPicPr>
                    <p:blipFill>
                      <a:blip r:embed="rId8"/>
                      <a:stretch>
                        <a:fillRect/>
                      </a:stretch>
                    </p:blipFill>
                    <p:spPr>
                      <a:xfrm>
                        <a:off x="2973388" y="3683000"/>
                        <a:ext cx="1955800" cy="531813"/>
                      </a:xfrm>
                      <a:prstGeom prst="rect">
                        <a:avLst/>
                      </a:prstGeom>
                      <a:noFill/>
                      <a:ln w="9525">
                        <a:noFill/>
                      </a:ln>
                    </p:spPr>
                  </p:pic>
                </p:oleObj>
              </mc:Fallback>
            </mc:AlternateContent>
          </a:graphicData>
        </a:graphic>
      </p:graphicFrame>
      <p:sp>
        <p:nvSpPr>
          <p:cNvPr id="41044" name="Text Box 84"/>
          <p:cNvSpPr txBox="1">
            <a:spLocks noChangeArrowheads="1"/>
          </p:cNvSpPr>
          <p:nvPr/>
        </p:nvSpPr>
        <p:spPr bwMode="auto">
          <a:xfrm>
            <a:off x="700088" y="4572000"/>
            <a:ext cx="4918075" cy="457200"/>
          </a:xfrm>
          <a:prstGeom prst="rect">
            <a:avLst/>
          </a:prstGeom>
          <a:noFill/>
          <a:ln w="9525">
            <a:noFill/>
            <a:miter lim="800000"/>
          </a:ln>
        </p:spPr>
        <p:txBody>
          <a:bodyPr>
            <a:spAutoFit/>
          </a:bodyPr>
          <a:lstStyle/>
          <a:p>
            <a:r>
              <a:rPr kumimoji="1" lang="en-US" altLang="zh-CN" b="1">
                <a:solidFill>
                  <a:srgbClr val="FF6600"/>
                </a:solidFill>
              </a:rPr>
              <a:t>(2)</a:t>
            </a:r>
            <a:r>
              <a:rPr kumimoji="1" lang="en-US" altLang="zh-CN" b="1"/>
              <a:t> </a:t>
            </a:r>
            <a:r>
              <a:rPr kumimoji="1" lang="zh-CN" altLang="en-US" b="1"/>
              <a:t>根据绝热过程方程，有</a:t>
            </a:r>
            <a:endParaRPr kumimoji="1" lang="zh-CN" altLang="en-US" b="1"/>
          </a:p>
        </p:txBody>
      </p:sp>
      <p:graphicFrame>
        <p:nvGraphicFramePr>
          <p:cNvPr id="182274" name="Object 2"/>
          <p:cNvGraphicFramePr>
            <a:graphicFrameLocks noChangeAspect="1"/>
          </p:cNvGraphicFramePr>
          <p:nvPr/>
        </p:nvGraphicFramePr>
        <p:xfrm>
          <a:off x="1214438" y="5164138"/>
          <a:ext cx="3071812" cy="479425"/>
        </p:xfrm>
        <a:graphic>
          <a:graphicData uri="http://schemas.openxmlformats.org/presentationml/2006/ole">
            <mc:AlternateContent xmlns:mc="http://schemas.openxmlformats.org/markup-compatibility/2006">
              <mc:Choice xmlns:v="urn:schemas-microsoft-com:vml" Requires="v">
                <p:oleObj spid="_x0000_s33796" name="Equation" r:id="rId9" imgW="37490400" imgH="5791200" progId="Equation.DSMT4">
                  <p:embed/>
                </p:oleObj>
              </mc:Choice>
              <mc:Fallback>
                <p:oleObj name="Equation" r:id="rId9" imgW="37490400" imgH="5791200" progId="Equation.DSMT4">
                  <p:embed/>
                  <p:pic>
                    <p:nvPicPr>
                      <p:cNvPr id="0" name="Object 2"/>
                      <p:cNvPicPr>
                        <a:picLocks noChangeAspect="1"/>
                      </p:cNvPicPr>
                      <p:nvPr/>
                    </p:nvPicPr>
                    <p:blipFill>
                      <a:blip r:embed="rId10"/>
                      <a:stretch>
                        <a:fillRect/>
                      </a:stretch>
                    </p:blipFill>
                    <p:spPr>
                      <a:xfrm>
                        <a:off x="1214438" y="5164138"/>
                        <a:ext cx="3071812" cy="47942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028"/>
                                        </p:tgtEl>
                                        <p:attrNameLst>
                                          <p:attrName>style.visibility</p:attrName>
                                        </p:attrNameLst>
                                      </p:cBhvr>
                                      <p:to>
                                        <p:strVal val="visible"/>
                                      </p:to>
                                    </p:set>
                                    <p:animEffect transition="in" filter="wipe(left)">
                                      <p:cBhvr>
                                        <p:cTn id="7" dur="500"/>
                                        <p:tgtEl>
                                          <p:spTgt spid="410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1025"/>
                                        </p:tgtEl>
                                        <p:attrNameLst>
                                          <p:attrName>style.visibility</p:attrName>
                                        </p:attrNameLst>
                                      </p:cBhvr>
                                      <p:to>
                                        <p:strVal val="visible"/>
                                      </p:to>
                                    </p:set>
                                    <p:animEffect transition="in" filter="wipe(left)">
                                      <p:cBhvr>
                                        <p:cTn id="11" dur="500"/>
                                        <p:tgtEl>
                                          <p:spTgt spid="410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1029"/>
                                        </p:tgtEl>
                                        <p:attrNameLst>
                                          <p:attrName>style.visibility</p:attrName>
                                        </p:attrNameLst>
                                      </p:cBhvr>
                                      <p:to>
                                        <p:strVal val="visible"/>
                                      </p:to>
                                    </p:set>
                                    <p:animEffect transition="in" filter="wipe(left)">
                                      <p:cBhvr>
                                        <p:cTn id="16" dur="500"/>
                                        <p:tgtEl>
                                          <p:spTgt spid="4102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1026"/>
                                        </p:tgtEl>
                                        <p:attrNameLst>
                                          <p:attrName>style.visibility</p:attrName>
                                        </p:attrNameLst>
                                      </p:cBhvr>
                                      <p:to>
                                        <p:strVal val="visible"/>
                                      </p:to>
                                    </p:set>
                                    <p:animEffect transition="in" filter="wipe(left)">
                                      <p:cBhvr>
                                        <p:cTn id="20" dur="500"/>
                                        <p:tgtEl>
                                          <p:spTgt spid="4102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41030"/>
                                        </p:tgtEl>
                                        <p:attrNameLst>
                                          <p:attrName>style.visibility</p:attrName>
                                        </p:attrNameLst>
                                      </p:cBhvr>
                                      <p:to>
                                        <p:strVal val="visible"/>
                                      </p:to>
                                    </p:set>
                                    <p:animEffect transition="in" filter="wipe(up)">
                                      <p:cBhvr>
                                        <p:cTn id="35" dur="500"/>
                                        <p:tgtEl>
                                          <p:spTgt spid="4103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1027"/>
                                        </p:tgtEl>
                                        <p:attrNameLst>
                                          <p:attrName>style.visibility</p:attrName>
                                        </p:attrNameLst>
                                      </p:cBhvr>
                                      <p:to>
                                        <p:strVal val="visible"/>
                                      </p:to>
                                    </p:set>
                                    <p:animEffect transition="in" filter="wipe(left)">
                                      <p:cBhvr>
                                        <p:cTn id="40" dur="500"/>
                                        <p:tgtEl>
                                          <p:spTgt spid="4102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1042"/>
                                        </p:tgtEl>
                                        <p:attrNameLst>
                                          <p:attrName>style.visibility</p:attrName>
                                        </p:attrNameLst>
                                      </p:cBhvr>
                                      <p:to>
                                        <p:strVal val="visible"/>
                                      </p:to>
                                    </p:set>
                                    <p:animEffect transition="in" filter="wipe(left)">
                                      <p:cBhvr>
                                        <p:cTn id="45" dur="500"/>
                                        <p:tgtEl>
                                          <p:spTgt spid="4104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82272"/>
                                        </p:tgtEl>
                                        <p:attrNameLst>
                                          <p:attrName>style.visibility</p:attrName>
                                        </p:attrNameLst>
                                      </p:cBhvr>
                                      <p:to>
                                        <p:strVal val="visible"/>
                                      </p:to>
                                    </p:set>
                                    <p:animEffect transition="in" filter="wipe(left)">
                                      <p:cBhvr>
                                        <p:cTn id="50" dur="500"/>
                                        <p:tgtEl>
                                          <p:spTgt spid="18227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82273"/>
                                        </p:tgtEl>
                                        <p:attrNameLst>
                                          <p:attrName>style.visibility</p:attrName>
                                        </p:attrNameLst>
                                      </p:cBhvr>
                                      <p:to>
                                        <p:strVal val="visible"/>
                                      </p:to>
                                    </p:set>
                                    <p:animEffect transition="in" filter="wipe(left)">
                                      <p:cBhvr>
                                        <p:cTn id="55" dur="500"/>
                                        <p:tgtEl>
                                          <p:spTgt spid="18227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1044"/>
                                        </p:tgtEl>
                                        <p:attrNameLst>
                                          <p:attrName>style.visibility</p:attrName>
                                        </p:attrNameLst>
                                      </p:cBhvr>
                                      <p:to>
                                        <p:strVal val="visible"/>
                                      </p:to>
                                    </p:set>
                                    <p:animEffect transition="in" filter="wipe(left)">
                                      <p:cBhvr>
                                        <p:cTn id="60" dur="500"/>
                                        <p:tgtEl>
                                          <p:spTgt spid="4104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82274"/>
                                        </p:tgtEl>
                                        <p:attrNameLst>
                                          <p:attrName>style.visibility</p:attrName>
                                        </p:attrNameLst>
                                      </p:cBhvr>
                                      <p:to>
                                        <p:strVal val="visible"/>
                                      </p:to>
                                    </p:set>
                                    <p:animEffect transition="in" filter="wipe(left)">
                                      <p:cBhvr>
                                        <p:cTn id="65" dur="500"/>
                                        <p:tgtEl>
                                          <p:spTgt spid="18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5" grpId="0" autoUpdateAnimBg="0"/>
      <p:bldP spid="41026" grpId="0" autoUpdateAnimBg="0"/>
      <p:bldP spid="41027" grpId="0" autoUpdateAnimBg="0"/>
      <p:bldP spid="41028" grpId="0" autoUpdateAnimBg="0"/>
      <p:bldP spid="41029" grpId="0" autoUpdateAnimBg="0"/>
      <p:bldP spid="41030" grpId="0" animBg="1"/>
      <p:bldP spid="41042" grpId="0" autoUpdateAnimBg="0"/>
      <p:bldP spid="41044"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0946" name="Object 2"/>
          <p:cNvGraphicFramePr>
            <a:graphicFrameLocks noChangeAspect="1"/>
          </p:cNvGraphicFramePr>
          <p:nvPr/>
        </p:nvGraphicFramePr>
        <p:xfrm>
          <a:off x="1643063" y="1785938"/>
          <a:ext cx="3275012" cy="500062"/>
        </p:xfrm>
        <a:graphic>
          <a:graphicData uri="http://schemas.openxmlformats.org/presentationml/2006/ole">
            <mc:AlternateContent xmlns:mc="http://schemas.openxmlformats.org/markup-compatibility/2006">
              <mc:Choice xmlns:v="urn:schemas-microsoft-com:vml" Requires="v">
                <p:oleObj spid="_x0000_s34817" name="Equation" r:id="rId1" imgW="35966400" imgH="5486400" progId="Equation.DSMT4">
                  <p:embed/>
                </p:oleObj>
              </mc:Choice>
              <mc:Fallback>
                <p:oleObj name="Equation" r:id="rId1" imgW="35966400" imgH="5486400" progId="Equation.DSMT4">
                  <p:embed/>
                  <p:pic>
                    <p:nvPicPr>
                      <p:cNvPr id="0" name="Object 2"/>
                      <p:cNvPicPr>
                        <a:picLocks noChangeAspect="1"/>
                      </p:cNvPicPr>
                      <p:nvPr/>
                    </p:nvPicPr>
                    <p:blipFill>
                      <a:blip r:embed="rId2"/>
                      <a:stretch>
                        <a:fillRect/>
                      </a:stretch>
                    </p:blipFill>
                    <p:spPr>
                      <a:xfrm>
                        <a:off x="1643063" y="1785938"/>
                        <a:ext cx="3275012" cy="500062"/>
                      </a:xfrm>
                      <a:prstGeom prst="rect">
                        <a:avLst/>
                      </a:prstGeom>
                      <a:noFill/>
                      <a:ln w="9525">
                        <a:noFill/>
                      </a:ln>
                    </p:spPr>
                  </p:pic>
                </p:oleObj>
              </mc:Fallback>
            </mc:AlternateContent>
          </a:graphicData>
        </a:graphic>
      </p:graphicFrame>
      <p:graphicFrame>
        <p:nvGraphicFramePr>
          <p:cNvPr id="210947" name="Object 3"/>
          <p:cNvGraphicFramePr>
            <a:graphicFrameLocks noChangeAspect="1"/>
          </p:cNvGraphicFramePr>
          <p:nvPr/>
        </p:nvGraphicFramePr>
        <p:xfrm>
          <a:off x="5000625" y="1825625"/>
          <a:ext cx="1571625" cy="396875"/>
        </p:xfrm>
        <a:graphic>
          <a:graphicData uri="http://schemas.openxmlformats.org/presentationml/2006/ole">
            <mc:AlternateContent xmlns:mc="http://schemas.openxmlformats.org/markup-compatibility/2006">
              <mc:Choice xmlns:v="urn:schemas-microsoft-com:vml" Requires="v">
                <p:oleObj spid="_x0000_s34819" name="Equation" r:id="rId3" imgW="19507200" imgH="4876800" progId="Equation.DSMT4">
                  <p:embed/>
                </p:oleObj>
              </mc:Choice>
              <mc:Fallback>
                <p:oleObj name="Equation" r:id="rId3" imgW="19507200" imgH="4876800" progId="Equation.DSMT4">
                  <p:embed/>
                  <p:pic>
                    <p:nvPicPr>
                      <p:cNvPr id="0" name="Object 3"/>
                      <p:cNvPicPr>
                        <a:picLocks noChangeAspect="1"/>
                      </p:cNvPicPr>
                      <p:nvPr/>
                    </p:nvPicPr>
                    <p:blipFill>
                      <a:blip r:embed="rId4"/>
                      <a:stretch>
                        <a:fillRect/>
                      </a:stretch>
                    </p:blipFill>
                    <p:spPr>
                      <a:xfrm>
                        <a:off x="5000625" y="1825625"/>
                        <a:ext cx="1571625" cy="396875"/>
                      </a:xfrm>
                      <a:prstGeom prst="rect">
                        <a:avLst/>
                      </a:prstGeom>
                      <a:noFill/>
                      <a:ln w="9525">
                        <a:noFill/>
                      </a:ln>
                    </p:spPr>
                  </p:pic>
                </p:oleObj>
              </mc:Fallback>
            </mc:AlternateContent>
          </a:graphicData>
        </a:graphic>
      </p:graphicFrame>
      <p:sp>
        <p:nvSpPr>
          <p:cNvPr id="210949" name="Text Box 5"/>
          <p:cNvSpPr txBox="1">
            <a:spLocks noChangeArrowheads="1"/>
          </p:cNvSpPr>
          <p:nvPr/>
        </p:nvSpPr>
        <p:spPr bwMode="auto">
          <a:xfrm>
            <a:off x="755650" y="1027113"/>
            <a:ext cx="5903913" cy="457200"/>
          </a:xfrm>
          <a:prstGeom prst="rect">
            <a:avLst/>
          </a:prstGeom>
          <a:noFill/>
          <a:ln w="9525">
            <a:noFill/>
            <a:miter lim="800000"/>
          </a:ln>
        </p:spPr>
        <p:txBody>
          <a:bodyPr>
            <a:spAutoFit/>
          </a:bodyPr>
          <a:lstStyle/>
          <a:p>
            <a:pPr>
              <a:defRPr/>
            </a:pPr>
            <a:r>
              <a:rPr kumimoji="1" lang="zh-CN" altLang="en-US" b="1">
                <a:latin typeface="+mn-ea"/>
                <a:ea typeface="+mn-ea"/>
              </a:rPr>
              <a:t>将</a:t>
            </a:r>
            <a:r>
              <a:rPr kumimoji="1" lang="zh-CN" altLang="en-US" b="1">
                <a:solidFill>
                  <a:srgbClr val="FF6600"/>
                </a:solidFill>
                <a:latin typeface="+mn-ea"/>
                <a:ea typeface="+mn-ea"/>
              </a:rPr>
              <a:t>热力学第一定律</a:t>
            </a:r>
            <a:r>
              <a:rPr kumimoji="1" lang="zh-CN" altLang="en-US" b="1">
                <a:latin typeface="+mn-ea"/>
                <a:ea typeface="+mn-ea"/>
              </a:rPr>
              <a:t>应用于</a:t>
            </a:r>
            <a:r>
              <a:rPr kumimoji="1" lang="zh-CN" altLang="en-US" b="1">
                <a:solidFill>
                  <a:srgbClr val="FF6600"/>
                </a:solidFill>
                <a:latin typeface="+mn-ea"/>
                <a:ea typeface="+mn-ea"/>
              </a:rPr>
              <a:t>绝热过程</a:t>
            </a:r>
            <a:r>
              <a:rPr kumimoji="1" lang="zh-CN" altLang="en-US" b="1">
                <a:latin typeface="+mn-ea"/>
                <a:ea typeface="+mn-ea"/>
              </a:rPr>
              <a:t>，有</a:t>
            </a:r>
            <a:endParaRPr kumimoji="1" lang="zh-CN" altLang="en-US" b="1">
              <a:latin typeface="+mn-ea"/>
              <a:ea typeface="+mn-ea"/>
            </a:endParaRPr>
          </a:p>
        </p:txBody>
      </p:sp>
      <p:sp>
        <p:nvSpPr>
          <p:cNvPr id="210951" name="Text Box 7"/>
          <p:cNvSpPr txBox="1">
            <a:spLocks noChangeArrowheads="1"/>
          </p:cNvSpPr>
          <p:nvPr/>
        </p:nvSpPr>
        <p:spPr bwMode="auto">
          <a:xfrm>
            <a:off x="250825" y="450850"/>
            <a:ext cx="2089150" cy="457200"/>
          </a:xfrm>
          <a:prstGeom prst="rect">
            <a:avLst/>
          </a:prstGeom>
          <a:noFill/>
          <a:ln w="9525">
            <a:noFill/>
            <a:miter lim="800000"/>
          </a:ln>
        </p:spPr>
        <p:txBody>
          <a:bodyPr>
            <a:spAutoFit/>
          </a:bodyPr>
          <a:lstStyle/>
          <a:p>
            <a:pPr>
              <a:defRPr/>
            </a:pPr>
            <a:r>
              <a:rPr kumimoji="1" lang="zh-CN" altLang="en-US" b="1" dirty="0">
                <a:solidFill>
                  <a:srgbClr val="0000FF"/>
                </a:solidFill>
                <a:latin typeface="+mn-ea"/>
                <a:ea typeface="+mn-ea"/>
              </a:rPr>
              <a:t>方法一：</a:t>
            </a:r>
            <a:endParaRPr kumimoji="1" lang="zh-CN" altLang="en-US" b="1" dirty="0">
              <a:solidFill>
                <a:srgbClr val="0000FF"/>
              </a:solidFill>
              <a:latin typeface="+mn-ea"/>
              <a:ea typeface="+mn-ea"/>
            </a:endParaRPr>
          </a:p>
        </p:txBody>
      </p:sp>
      <p:sp>
        <p:nvSpPr>
          <p:cNvPr id="210952" name="Text Box 8"/>
          <p:cNvSpPr txBox="1">
            <a:spLocks noChangeArrowheads="1"/>
          </p:cNvSpPr>
          <p:nvPr/>
        </p:nvSpPr>
        <p:spPr bwMode="auto">
          <a:xfrm>
            <a:off x="214313" y="2428875"/>
            <a:ext cx="2089150" cy="457200"/>
          </a:xfrm>
          <a:prstGeom prst="rect">
            <a:avLst/>
          </a:prstGeom>
          <a:noFill/>
          <a:ln w="9525">
            <a:noFill/>
            <a:miter lim="800000"/>
          </a:ln>
        </p:spPr>
        <p:txBody>
          <a:bodyPr>
            <a:spAutoFit/>
          </a:bodyPr>
          <a:lstStyle/>
          <a:p>
            <a:pPr>
              <a:defRPr/>
            </a:pPr>
            <a:r>
              <a:rPr kumimoji="1" lang="zh-CN" altLang="en-US" b="1" dirty="0">
                <a:solidFill>
                  <a:srgbClr val="0000FF"/>
                </a:solidFill>
                <a:latin typeface="+mn-ea"/>
                <a:ea typeface="+mn-ea"/>
              </a:rPr>
              <a:t>方法二：</a:t>
            </a:r>
            <a:endParaRPr kumimoji="1" lang="zh-CN" altLang="en-US" b="1" dirty="0">
              <a:solidFill>
                <a:srgbClr val="0000FF"/>
              </a:solidFill>
              <a:latin typeface="+mn-ea"/>
              <a:ea typeface="+mn-ea"/>
            </a:endParaRPr>
          </a:p>
        </p:txBody>
      </p:sp>
      <p:graphicFrame>
        <p:nvGraphicFramePr>
          <p:cNvPr id="210953" name="Object 9"/>
          <p:cNvGraphicFramePr>
            <a:graphicFrameLocks noChangeAspect="1"/>
          </p:cNvGraphicFramePr>
          <p:nvPr/>
        </p:nvGraphicFramePr>
        <p:xfrm>
          <a:off x="1317625" y="3644900"/>
          <a:ext cx="1489075" cy="641350"/>
        </p:xfrm>
        <a:graphic>
          <a:graphicData uri="http://schemas.openxmlformats.org/presentationml/2006/ole">
            <mc:AlternateContent xmlns:mc="http://schemas.openxmlformats.org/markup-compatibility/2006">
              <mc:Choice xmlns:v="urn:schemas-microsoft-com:vml" Requires="v">
                <p:oleObj spid="_x0000_s34820" name="公式" r:id="rId5" imgW="19812000" imgH="8534400" progId="Equation.3">
                  <p:embed/>
                </p:oleObj>
              </mc:Choice>
              <mc:Fallback>
                <p:oleObj name="公式" r:id="rId5" imgW="19812000" imgH="8534400" progId="Equation.3">
                  <p:embed/>
                  <p:pic>
                    <p:nvPicPr>
                      <p:cNvPr id="0" name="Object 9"/>
                      <p:cNvPicPr>
                        <a:picLocks noChangeAspect="1"/>
                      </p:cNvPicPr>
                      <p:nvPr/>
                    </p:nvPicPr>
                    <p:blipFill>
                      <a:blip r:embed="rId6"/>
                      <a:stretch>
                        <a:fillRect/>
                      </a:stretch>
                    </p:blipFill>
                    <p:spPr>
                      <a:xfrm>
                        <a:off x="1317625" y="3644900"/>
                        <a:ext cx="1489075" cy="641350"/>
                      </a:xfrm>
                      <a:prstGeom prst="rect">
                        <a:avLst/>
                      </a:prstGeom>
                      <a:noFill/>
                      <a:ln w="9525">
                        <a:noFill/>
                      </a:ln>
                    </p:spPr>
                  </p:pic>
                </p:oleObj>
              </mc:Fallback>
            </mc:AlternateContent>
          </a:graphicData>
        </a:graphic>
      </p:graphicFrame>
      <p:sp>
        <p:nvSpPr>
          <p:cNvPr id="210954" name="Text Box 10"/>
          <p:cNvSpPr txBox="1">
            <a:spLocks noChangeArrowheads="1"/>
          </p:cNvSpPr>
          <p:nvPr/>
        </p:nvSpPr>
        <p:spPr bwMode="auto">
          <a:xfrm>
            <a:off x="714375" y="2928938"/>
            <a:ext cx="7704138" cy="457200"/>
          </a:xfrm>
          <a:prstGeom prst="rect">
            <a:avLst/>
          </a:prstGeom>
          <a:noFill/>
          <a:ln w="9525">
            <a:noFill/>
            <a:miter lim="800000"/>
          </a:ln>
        </p:spPr>
        <p:txBody>
          <a:bodyPr>
            <a:spAutoFit/>
          </a:bodyPr>
          <a:lstStyle/>
          <a:p>
            <a:pPr>
              <a:defRPr/>
            </a:pPr>
            <a:r>
              <a:rPr kumimoji="1" lang="zh-CN" altLang="en-US" b="1" dirty="0">
                <a:latin typeface="+mn-ea"/>
                <a:ea typeface="+mn-ea"/>
              </a:rPr>
              <a:t>由</a:t>
            </a:r>
            <a:r>
              <a:rPr kumimoji="1" lang="zh-CN" altLang="en-US" b="1" dirty="0">
                <a:solidFill>
                  <a:srgbClr val="FF6600"/>
                </a:solidFill>
                <a:latin typeface="+mn-ea"/>
                <a:ea typeface="+mn-ea"/>
              </a:rPr>
              <a:t>功的定义式</a:t>
            </a:r>
            <a:r>
              <a:rPr kumimoji="1" lang="zh-CN" altLang="en-US" b="1" dirty="0">
                <a:latin typeface="+mn-ea"/>
                <a:ea typeface="+mn-ea"/>
              </a:rPr>
              <a:t>和</a:t>
            </a:r>
            <a:r>
              <a:rPr kumimoji="1" lang="zh-CN" altLang="en-US" b="1" dirty="0">
                <a:solidFill>
                  <a:srgbClr val="FF6600"/>
                </a:solidFill>
                <a:latin typeface="+mn-ea"/>
                <a:ea typeface="+mn-ea"/>
              </a:rPr>
              <a:t>绝热过程压强和体积关系</a:t>
            </a:r>
            <a:r>
              <a:rPr kumimoji="1" lang="zh-CN" altLang="en-US" b="1" dirty="0">
                <a:latin typeface="+mn-ea"/>
                <a:ea typeface="+mn-ea"/>
              </a:rPr>
              <a:t>的方程，得</a:t>
            </a:r>
            <a:endParaRPr kumimoji="1" lang="zh-CN" altLang="en-US" b="1" dirty="0">
              <a:latin typeface="+mn-ea"/>
              <a:ea typeface="+mn-ea"/>
            </a:endParaRPr>
          </a:p>
        </p:txBody>
      </p:sp>
      <p:graphicFrame>
        <p:nvGraphicFramePr>
          <p:cNvPr id="210955" name="Object 11"/>
          <p:cNvGraphicFramePr>
            <a:graphicFrameLocks noChangeAspect="1"/>
          </p:cNvGraphicFramePr>
          <p:nvPr/>
        </p:nvGraphicFramePr>
        <p:xfrm>
          <a:off x="2916238" y="3608388"/>
          <a:ext cx="1644650" cy="730250"/>
        </p:xfrm>
        <a:graphic>
          <a:graphicData uri="http://schemas.openxmlformats.org/presentationml/2006/ole">
            <mc:AlternateContent xmlns:mc="http://schemas.openxmlformats.org/markup-compatibility/2006">
              <mc:Choice xmlns:v="urn:schemas-microsoft-com:vml" Requires="v">
                <p:oleObj spid="_x0000_s34821" name="公式" r:id="rId7" imgW="21945600" imgH="9753600" progId="Equation.3">
                  <p:embed/>
                </p:oleObj>
              </mc:Choice>
              <mc:Fallback>
                <p:oleObj name="公式" r:id="rId7" imgW="21945600" imgH="9753600" progId="Equation.3">
                  <p:embed/>
                  <p:pic>
                    <p:nvPicPr>
                      <p:cNvPr id="0" name="Object 11"/>
                      <p:cNvPicPr>
                        <a:picLocks noChangeAspect="1"/>
                      </p:cNvPicPr>
                      <p:nvPr/>
                    </p:nvPicPr>
                    <p:blipFill>
                      <a:blip r:embed="rId8"/>
                      <a:stretch>
                        <a:fillRect/>
                      </a:stretch>
                    </p:blipFill>
                    <p:spPr>
                      <a:xfrm>
                        <a:off x="2916238" y="3608388"/>
                        <a:ext cx="1644650" cy="730250"/>
                      </a:xfrm>
                      <a:prstGeom prst="rect">
                        <a:avLst/>
                      </a:prstGeom>
                      <a:noFill/>
                      <a:ln w="9525">
                        <a:noFill/>
                      </a:ln>
                    </p:spPr>
                  </p:pic>
                </p:oleObj>
              </mc:Fallback>
            </mc:AlternateContent>
          </a:graphicData>
        </a:graphic>
      </p:graphicFrame>
      <p:graphicFrame>
        <p:nvGraphicFramePr>
          <p:cNvPr id="210956" name="Object 12"/>
          <p:cNvGraphicFramePr>
            <a:graphicFrameLocks noChangeAspect="1"/>
          </p:cNvGraphicFramePr>
          <p:nvPr/>
        </p:nvGraphicFramePr>
        <p:xfrm>
          <a:off x="4540250" y="3571875"/>
          <a:ext cx="2584450" cy="777875"/>
        </p:xfrm>
        <a:graphic>
          <a:graphicData uri="http://schemas.openxmlformats.org/presentationml/2006/ole">
            <mc:AlternateContent xmlns:mc="http://schemas.openxmlformats.org/markup-compatibility/2006">
              <mc:Choice xmlns:v="urn:schemas-microsoft-com:vml" Requires="v">
                <p:oleObj spid="_x0000_s34822" name="公式" r:id="rId9" imgW="34442400" imgH="10363200" progId="Equation.3">
                  <p:embed/>
                </p:oleObj>
              </mc:Choice>
              <mc:Fallback>
                <p:oleObj name="公式" r:id="rId9" imgW="34442400" imgH="10363200" progId="Equation.3">
                  <p:embed/>
                  <p:pic>
                    <p:nvPicPr>
                      <p:cNvPr id="0" name="Object 12"/>
                      <p:cNvPicPr>
                        <a:picLocks noChangeAspect="1"/>
                      </p:cNvPicPr>
                      <p:nvPr/>
                    </p:nvPicPr>
                    <p:blipFill>
                      <a:blip r:embed="rId10"/>
                      <a:stretch>
                        <a:fillRect/>
                      </a:stretch>
                    </p:blipFill>
                    <p:spPr>
                      <a:xfrm>
                        <a:off x="4540250" y="3571875"/>
                        <a:ext cx="2584450" cy="777875"/>
                      </a:xfrm>
                      <a:prstGeom prst="rect">
                        <a:avLst/>
                      </a:prstGeom>
                      <a:noFill/>
                      <a:ln w="9525">
                        <a:noFill/>
                      </a:ln>
                    </p:spPr>
                  </p:pic>
                </p:oleObj>
              </mc:Fallback>
            </mc:AlternateContent>
          </a:graphicData>
        </a:graphic>
      </p:graphicFrame>
      <p:graphicFrame>
        <p:nvGraphicFramePr>
          <p:cNvPr id="210957" name="Object 13"/>
          <p:cNvGraphicFramePr>
            <a:graphicFrameLocks noChangeAspect="1"/>
          </p:cNvGraphicFramePr>
          <p:nvPr/>
        </p:nvGraphicFramePr>
        <p:xfrm>
          <a:off x="1643063" y="4508500"/>
          <a:ext cx="2039937" cy="777875"/>
        </p:xfrm>
        <a:graphic>
          <a:graphicData uri="http://schemas.openxmlformats.org/presentationml/2006/ole">
            <mc:AlternateContent xmlns:mc="http://schemas.openxmlformats.org/markup-compatibility/2006">
              <mc:Choice xmlns:v="urn:schemas-microsoft-com:vml" Requires="v">
                <p:oleObj spid="_x0000_s34823" name="公式" r:id="rId11" imgW="27127200" imgH="10363200" progId="Equation.3">
                  <p:embed/>
                </p:oleObj>
              </mc:Choice>
              <mc:Fallback>
                <p:oleObj name="公式" r:id="rId11" imgW="27127200" imgH="10363200" progId="Equation.3">
                  <p:embed/>
                  <p:pic>
                    <p:nvPicPr>
                      <p:cNvPr id="0" name="Object 13"/>
                      <p:cNvPicPr>
                        <a:picLocks noChangeAspect="1"/>
                      </p:cNvPicPr>
                      <p:nvPr/>
                    </p:nvPicPr>
                    <p:blipFill>
                      <a:blip r:embed="rId12"/>
                      <a:stretch>
                        <a:fillRect/>
                      </a:stretch>
                    </p:blipFill>
                    <p:spPr>
                      <a:xfrm>
                        <a:off x="1643063" y="4508500"/>
                        <a:ext cx="2039937" cy="777875"/>
                      </a:xfrm>
                      <a:prstGeom prst="rect">
                        <a:avLst/>
                      </a:prstGeom>
                      <a:noFill/>
                      <a:ln w="9525">
                        <a:noFill/>
                      </a:ln>
                    </p:spPr>
                  </p:pic>
                </p:oleObj>
              </mc:Fallback>
            </mc:AlternateContent>
          </a:graphicData>
        </a:graphic>
      </p:graphicFrame>
      <p:graphicFrame>
        <p:nvGraphicFramePr>
          <p:cNvPr id="210958" name="Object 14"/>
          <p:cNvGraphicFramePr>
            <a:graphicFrameLocks noChangeAspect="1"/>
          </p:cNvGraphicFramePr>
          <p:nvPr/>
        </p:nvGraphicFramePr>
        <p:xfrm>
          <a:off x="3786188" y="4651375"/>
          <a:ext cx="1571625" cy="450850"/>
        </p:xfrm>
        <a:graphic>
          <a:graphicData uri="http://schemas.openxmlformats.org/presentationml/2006/ole">
            <mc:AlternateContent xmlns:mc="http://schemas.openxmlformats.org/markup-compatibility/2006">
              <mc:Choice xmlns:v="urn:schemas-microsoft-com:vml" Requires="v">
                <p:oleObj spid="_x0000_s34824" name="Equation" r:id="rId13" imgW="19202400" imgH="5486400" progId="Equation.DSMT4">
                  <p:embed/>
                </p:oleObj>
              </mc:Choice>
              <mc:Fallback>
                <p:oleObj name="Equation" r:id="rId13" imgW="19202400" imgH="5486400" progId="Equation.DSMT4">
                  <p:embed/>
                  <p:pic>
                    <p:nvPicPr>
                      <p:cNvPr id="0" name="Object 14"/>
                      <p:cNvPicPr>
                        <a:picLocks noChangeAspect="1"/>
                      </p:cNvPicPr>
                      <p:nvPr/>
                    </p:nvPicPr>
                    <p:blipFill>
                      <a:blip r:embed="rId14"/>
                      <a:stretch>
                        <a:fillRect/>
                      </a:stretch>
                    </p:blipFill>
                    <p:spPr>
                      <a:xfrm>
                        <a:off x="3786188" y="4651375"/>
                        <a:ext cx="1571625" cy="45085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0951"/>
                                        </p:tgtEl>
                                        <p:attrNameLst>
                                          <p:attrName>style.visibility</p:attrName>
                                        </p:attrNameLst>
                                      </p:cBhvr>
                                      <p:to>
                                        <p:strVal val="visible"/>
                                      </p:to>
                                    </p:set>
                                    <p:animEffect transition="in" filter="wipe(left)">
                                      <p:cBhvr>
                                        <p:cTn id="7" dur="500"/>
                                        <p:tgtEl>
                                          <p:spTgt spid="2109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0949"/>
                                        </p:tgtEl>
                                        <p:attrNameLst>
                                          <p:attrName>style.visibility</p:attrName>
                                        </p:attrNameLst>
                                      </p:cBhvr>
                                      <p:to>
                                        <p:strVal val="visible"/>
                                      </p:to>
                                    </p:set>
                                    <p:animEffect transition="in" filter="wipe(left)">
                                      <p:cBhvr>
                                        <p:cTn id="12" dur="500"/>
                                        <p:tgtEl>
                                          <p:spTgt spid="2109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0946"/>
                                        </p:tgtEl>
                                        <p:attrNameLst>
                                          <p:attrName>style.visibility</p:attrName>
                                        </p:attrNameLst>
                                      </p:cBhvr>
                                      <p:to>
                                        <p:strVal val="visible"/>
                                      </p:to>
                                    </p:set>
                                    <p:animEffect transition="in" filter="wipe(left)">
                                      <p:cBhvr>
                                        <p:cTn id="17" dur="500"/>
                                        <p:tgtEl>
                                          <p:spTgt spid="2109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0947"/>
                                        </p:tgtEl>
                                        <p:attrNameLst>
                                          <p:attrName>style.visibility</p:attrName>
                                        </p:attrNameLst>
                                      </p:cBhvr>
                                      <p:to>
                                        <p:strVal val="visible"/>
                                      </p:to>
                                    </p:set>
                                    <p:animEffect transition="in" filter="wipe(left)">
                                      <p:cBhvr>
                                        <p:cTn id="22" dur="500"/>
                                        <p:tgtEl>
                                          <p:spTgt spid="21094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0952"/>
                                        </p:tgtEl>
                                        <p:attrNameLst>
                                          <p:attrName>style.visibility</p:attrName>
                                        </p:attrNameLst>
                                      </p:cBhvr>
                                      <p:to>
                                        <p:strVal val="visible"/>
                                      </p:to>
                                    </p:set>
                                    <p:animEffect transition="in" filter="wipe(left)">
                                      <p:cBhvr>
                                        <p:cTn id="27" dur="500"/>
                                        <p:tgtEl>
                                          <p:spTgt spid="21095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0954"/>
                                        </p:tgtEl>
                                        <p:attrNameLst>
                                          <p:attrName>style.visibility</p:attrName>
                                        </p:attrNameLst>
                                      </p:cBhvr>
                                      <p:to>
                                        <p:strVal val="visible"/>
                                      </p:to>
                                    </p:set>
                                    <p:animEffect transition="in" filter="wipe(left)">
                                      <p:cBhvr>
                                        <p:cTn id="32" dur="500"/>
                                        <p:tgtEl>
                                          <p:spTgt spid="21095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0953"/>
                                        </p:tgtEl>
                                        <p:attrNameLst>
                                          <p:attrName>style.visibility</p:attrName>
                                        </p:attrNameLst>
                                      </p:cBhvr>
                                      <p:to>
                                        <p:strVal val="visible"/>
                                      </p:to>
                                    </p:set>
                                    <p:animEffect transition="in" filter="wipe(left)">
                                      <p:cBhvr>
                                        <p:cTn id="37" dur="500"/>
                                        <p:tgtEl>
                                          <p:spTgt spid="21095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0955"/>
                                        </p:tgtEl>
                                        <p:attrNameLst>
                                          <p:attrName>style.visibility</p:attrName>
                                        </p:attrNameLst>
                                      </p:cBhvr>
                                      <p:to>
                                        <p:strVal val="visible"/>
                                      </p:to>
                                    </p:set>
                                    <p:animEffect transition="in" filter="wipe(left)">
                                      <p:cBhvr>
                                        <p:cTn id="42" dur="500"/>
                                        <p:tgtEl>
                                          <p:spTgt spid="21095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0956"/>
                                        </p:tgtEl>
                                        <p:attrNameLst>
                                          <p:attrName>style.visibility</p:attrName>
                                        </p:attrNameLst>
                                      </p:cBhvr>
                                      <p:to>
                                        <p:strVal val="visible"/>
                                      </p:to>
                                    </p:set>
                                    <p:animEffect transition="in" filter="wipe(left)">
                                      <p:cBhvr>
                                        <p:cTn id="47" dur="500"/>
                                        <p:tgtEl>
                                          <p:spTgt spid="21095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10957"/>
                                        </p:tgtEl>
                                        <p:attrNameLst>
                                          <p:attrName>style.visibility</p:attrName>
                                        </p:attrNameLst>
                                      </p:cBhvr>
                                      <p:to>
                                        <p:strVal val="visible"/>
                                      </p:to>
                                    </p:set>
                                    <p:animEffect transition="in" filter="wipe(left)">
                                      <p:cBhvr>
                                        <p:cTn id="52" dur="500"/>
                                        <p:tgtEl>
                                          <p:spTgt spid="21095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0958"/>
                                        </p:tgtEl>
                                        <p:attrNameLst>
                                          <p:attrName>style.visibility</p:attrName>
                                        </p:attrNameLst>
                                      </p:cBhvr>
                                      <p:to>
                                        <p:strVal val="visible"/>
                                      </p:to>
                                    </p:set>
                                    <p:animEffect transition="in" filter="wipe(left)">
                                      <p:cBhvr>
                                        <p:cTn id="57" dur="500"/>
                                        <p:tgtEl>
                                          <p:spTgt spid="210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9" grpId="0"/>
      <p:bldP spid="210951" grpId="0"/>
      <p:bldP spid="210952" grpId="0"/>
      <p:bldP spid="21095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638175" y="458788"/>
            <a:ext cx="8208963" cy="479425"/>
          </a:xfrm>
          <a:prstGeom prst="rect">
            <a:avLst/>
          </a:prstGeom>
          <a:noFill/>
          <a:ln w="9525">
            <a:noFill/>
            <a:miter lim="800000"/>
          </a:ln>
        </p:spPr>
        <p:txBody>
          <a:bodyPr>
            <a:spAutoFit/>
          </a:bodyPr>
          <a:lstStyle/>
          <a:p>
            <a:pPr>
              <a:lnSpc>
                <a:spcPct val="115000"/>
              </a:lnSpc>
            </a:pPr>
            <a:r>
              <a:rPr kumimoji="1" lang="en-US" altLang="zh-CN" b="1" i="1"/>
              <a:t>  </a:t>
            </a:r>
            <a:r>
              <a:rPr kumimoji="1" lang="en-US" altLang="zh-CN" i="1">
                <a:solidFill>
                  <a:srgbClr val="FF6600"/>
                </a:solidFill>
              </a:rPr>
              <a:t>v</a:t>
            </a:r>
            <a:r>
              <a:rPr kumimoji="1" lang="en-US" altLang="zh-CN" i="1"/>
              <a:t> </a:t>
            </a:r>
            <a:r>
              <a:rPr kumimoji="1" lang="zh-CN" altLang="en-US" b="1"/>
              <a:t>摩尔的</a:t>
            </a:r>
            <a:r>
              <a:rPr kumimoji="1" lang="zh-CN" altLang="en-US" b="1">
                <a:solidFill>
                  <a:srgbClr val="FF0000"/>
                </a:solidFill>
              </a:rPr>
              <a:t>单原子分子</a:t>
            </a:r>
            <a:r>
              <a:rPr kumimoji="1" lang="zh-CN" altLang="en-US" b="1"/>
              <a:t>理想气体，经历如图的热力学过程</a:t>
            </a:r>
            <a:r>
              <a:rPr kumimoji="1" lang="en-US" altLang="zh-CN" b="1"/>
              <a:t>, </a:t>
            </a:r>
            <a:endParaRPr kumimoji="1" lang="en-US" altLang="zh-CN" b="1"/>
          </a:p>
        </p:txBody>
      </p:sp>
      <p:sp>
        <p:nvSpPr>
          <p:cNvPr id="214019" name="Text Box 3"/>
          <p:cNvSpPr txBox="1">
            <a:spLocks noChangeArrowheads="1"/>
          </p:cNvSpPr>
          <p:nvPr/>
        </p:nvSpPr>
        <p:spPr bwMode="auto">
          <a:xfrm>
            <a:off x="166688" y="458788"/>
            <a:ext cx="490537" cy="512762"/>
          </a:xfrm>
          <a:prstGeom prst="rect">
            <a:avLst/>
          </a:prstGeom>
          <a:noFill/>
          <a:ln w="9525">
            <a:noFill/>
            <a:miter lim="800000"/>
          </a:ln>
        </p:spPr>
        <p:txBody>
          <a:bodyPr wrap="none">
            <a:spAutoFit/>
          </a:bodyPr>
          <a:lstStyle/>
          <a:p>
            <a:pPr>
              <a:lnSpc>
                <a:spcPct val="115000"/>
              </a:lnSpc>
            </a:pPr>
            <a:r>
              <a:rPr kumimoji="1" lang="zh-CN" altLang="en-US" b="1">
                <a:solidFill>
                  <a:srgbClr val="FF0000"/>
                </a:solidFill>
                <a:latin typeface="Arial" panose="020B0604020202020204" pitchFamily="34" charset="0"/>
              </a:rPr>
              <a:t>例</a:t>
            </a:r>
            <a:endParaRPr kumimoji="1" lang="zh-CN" altLang="en-US" b="1">
              <a:solidFill>
                <a:srgbClr val="FF0000"/>
              </a:solidFill>
              <a:latin typeface="Arial" panose="020B0604020202020204" pitchFamily="34" charset="0"/>
            </a:endParaRPr>
          </a:p>
        </p:txBody>
      </p:sp>
      <p:grpSp>
        <p:nvGrpSpPr>
          <p:cNvPr id="2" name="Group 4"/>
          <p:cNvGrpSpPr>
            <a:grpSpLocks noChangeAspect="1"/>
          </p:cNvGrpSpPr>
          <p:nvPr/>
        </p:nvGrpSpPr>
        <p:grpSpPr bwMode="auto">
          <a:xfrm>
            <a:off x="6118225" y="1125538"/>
            <a:ext cx="2549525" cy="2798762"/>
            <a:chOff x="3498" y="1211"/>
            <a:chExt cx="1785" cy="1960"/>
          </a:xfrm>
        </p:grpSpPr>
        <p:sp>
          <p:nvSpPr>
            <p:cNvPr id="35872" name="Line 5"/>
            <p:cNvSpPr>
              <a:spLocks noChangeAspect="1" noChangeShapeType="1"/>
            </p:cNvSpPr>
            <p:nvPr/>
          </p:nvSpPr>
          <p:spPr bwMode="auto">
            <a:xfrm flipV="1">
              <a:off x="3724" y="2750"/>
              <a:ext cx="1515" cy="19"/>
            </a:xfrm>
            <a:prstGeom prst="line">
              <a:avLst/>
            </a:prstGeom>
            <a:noFill/>
            <a:ln w="28575">
              <a:solidFill>
                <a:srgbClr val="000099"/>
              </a:solidFill>
              <a:round/>
              <a:tailEnd type="triangle" w="med" len="lg"/>
            </a:ln>
          </p:spPr>
          <p:txBody>
            <a:bodyPr wrap="none" anchor="ctr"/>
            <a:lstStyle/>
            <a:p>
              <a:endParaRPr lang="zh-CN" altLang="en-US"/>
            </a:p>
          </p:txBody>
        </p:sp>
        <p:sp>
          <p:nvSpPr>
            <p:cNvPr id="35873" name="Line 6"/>
            <p:cNvSpPr>
              <a:spLocks noChangeAspect="1" noChangeShapeType="1"/>
            </p:cNvSpPr>
            <p:nvPr/>
          </p:nvSpPr>
          <p:spPr bwMode="auto">
            <a:xfrm flipV="1">
              <a:off x="3724" y="1353"/>
              <a:ext cx="1" cy="1416"/>
            </a:xfrm>
            <a:prstGeom prst="line">
              <a:avLst/>
            </a:prstGeom>
            <a:noFill/>
            <a:ln w="28575">
              <a:solidFill>
                <a:srgbClr val="000099"/>
              </a:solidFill>
              <a:round/>
              <a:tailEnd type="triangle" w="med" len="lg"/>
            </a:ln>
          </p:spPr>
          <p:txBody>
            <a:bodyPr wrap="none" anchor="ctr"/>
            <a:lstStyle/>
            <a:p>
              <a:endParaRPr lang="zh-CN" altLang="en-US"/>
            </a:p>
          </p:txBody>
        </p:sp>
        <p:sp>
          <p:nvSpPr>
            <p:cNvPr id="35874" name="Text Box 7"/>
            <p:cNvSpPr txBox="1">
              <a:spLocks noChangeAspect="1" noChangeArrowheads="1"/>
            </p:cNvSpPr>
            <p:nvPr/>
          </p:nvSpPr>
          <p:spPr bwMode="auto">
            <a:xfrm>
              <a:off x="5012" y="2812"/>
              <a:ext cx="271" cy="359"/>
            </a:xfrm>
            <a:prstGeom prst="rect">
              <a:avLst/>
            </a:prstGeom>
            <a:noFill/>
            <a:ln w="9525">
              <a:noFill/>
              <a:miter lim="800000"/>
            </a:ln>
          </p:spPr>
          <p:txBody>
            <a:bodyPr wrap="none">
              <a:spAutoFit/>
            </a:bodyPr>
            <a:lstStyle/>
            <a:p>
              <a:pPr>
                <a:lnSpc>
                  <a:spcPct val="115000"/>
                </a:lnSpc>
              </a:pPr>
              <a:r>
                <a:rPr lang="en-US" altLang="zh-CN" b="1" i="1">
                  <a:solidFill>
                    <a:srgbClr val="000099"/>
                  </a:solidFill>
                </a:rPr>
                <a:t>V</a:t>
              </a:r>
              <a:endParaRPr lang="en-US" altLang="zh-CN" b="1" i="1">
                <a:solidFill>
                  <a:srgbClr val="000099"/>
                </a:solidFill>
              </a:endParaRPr>
            </a:p>
          </p:txBody>
        </p:sp>
        <p:sp>
          <p:nvSpPr>
            <p:cNvPr id="35875" name="Text Box 8"/>
            <p:cNvSpPr txBox="1">
              <a:spLocks noChangeAspect="1" noChangeArrowheads="1"/>
            </p:cNvSpPr>
            <p:nvPr/>
          </p:nvSpPr>
          <p:spPr bwMode="auto">
            <a:xfrm>
              <a:off x="3498" y="1211"/>
              <a:ext cx="236" cy="359"/>
            </a:xfrm>
            <a:prstGeom prst="rect">
              <a:avLst/>
            </a:prstGeom>
            <a:noFill/>
            <a:ln w="9525">
              <a:noFill/>
              <a:miter lim="800000"/>
            </a:ln>
          </p:spPr>
          <p:txBody>
            <a:bodyPr wrap="none">
              <a:spAutoFit/>
            </a:bodyPr>
            <a:lstStyle/>
            <a:p>
              <a:pPr>
                <a:lnSpc>
                  <a:spcPct val="115000"/>
                </a:lnSpc>
              </a:pPr>
              <a:r>
                <a:rPr lang="en-US" altLang="zh-CN" b="1" i="1">
                  <a:solidFill>
                    <a:srgbClr val="000099"/>
                  </a:solidFill>
                </a:rPr>
                <a:t>p</a:t>
              </a:r>
              <a:endParaRPr lang="en-US" altLang="zh-CN" b="1" i="1">
                <a:solidFill>
                  <a:srgbClr val="000099"/>
                </a:solidFill>
              </a:endParaRPr>
            </a:p>
          </p:txBody>
        </p:sp>
        <p:sp>
          <p:nvSpPr>
            <p:cNvPr id="35876" name="Text Box 9"/>
            <p:cNvSpPr txBox="1">
              <a:spLocks noChangeAspect="1" noChangeArrowheads="1"/>
            </p:cNvSpPr>
            <p:nvPr/>
          </p:nvSpPr>
          <p:spPr bwMode="auto">
            <a:xfrm>
              <a:off x="3498" y="2680"/>
              <a:ext cx="283" cy="359"/>
            </a:xfrm>
            <a:prstGeom prst="rect">
              <a:avLst/>
            </a:prstGeom>
            <a:noFill/>
            <a:ln w="9525">
              <a:noFill/>
              <a:miter lim="800000"/>
            </a:ln>
          </p:spPr>
          <p:txBody>
            <a:bodyPr wrap="none">
              <a:spAutoFit/>
            </a:bodyPr>
            <a:lstStyle/>
            <a:p>
              <a:pPr>
                <a:lnSpc>
                  <a:spcPct val="115000"/>
                </a:lnSpc>
              </a:pPr>
              <a:r>
                <a:rPr lang="en-US" altLang="zh-CN" b="1" i="1">
                  <a:solidFill>
                    <a:srgbClr val="000099"/>
                  </a:solidFill>
                </a:rPr>
                <a:t>O</a:t>
              </a:r>
              <a:endParaRPr lang="en-US" altLang="zh-CN" b="1" i="1">
                <a:solidFill>
                  <a:srgbClr val="000099"/>
                </a:solidFill>
              </a:endParaRPr>
            </a:p>
          </p:txBody>
        </p:sp>
      </p:grpSp>
      <p:sp>
        <p:nvSpPr>
          <p:cNvPr id="214026" name="Line 10"/>
          <p:cNvSpPr>
            <a:spLocks noChangeShapeType="1"/>
          </p:cNvSpPr>
          <p:nvPr/>
        </p:nvSpPr>
        <p:spPr bwMode="auto">
          <a:xfrm>
            <a:off x="7292975" y="2078038"/>
            <a:ext cx="914400" cy="914400"/>
          </a:xfrm>
          <a:prstGeom prst="line">
            <a:avLst/>
          </a:prstGeom>
          <a:noFill/>
          <a:ln w="57150">
            <a:solidFill>
              <a:srgbClr val="FF0000"/>
            </a:solidFill>
            <a:round/>
          </a:ln>
        </p:spPr>
        <p:txBody>
          <a:bodyPr/>
          <a:lstStyle/>
          <a:p>
            <a:endParaRPr lang="zh-CN" altLang="en-US"/>
          </a:p>
        </p:txBody>
      </p:sp>
      <p:sp>
        <p:nvSpPr>
          <p:cNvPr id="214027" name="Line 11"/>
          <p:cNvSpPr>
            <a:spLocks noChangeShapeType="1"/>
          </p:cNvSpPr>
          <p:nvPr/>
        </p:nvSpPr>
        <p:spPr bwMode="auto">
          <a:xfrm flipH="1">
            <a:off x="8234363" y="2992438"/>
            <a:ext cx="1587" cy="314325"/>
          </a:xfrm>
          <a:prstGeom prst="line">
            <a:avLst/>
          </a:prstGeom>
          <a:noFill/>
          <a:ln w="19050">
            <a:solidFill>
              <a:srgbClr val="000099"/>
            </a:solidFill>
            <a:prstDash val="dash"/>
            <a:round/>
          </a:ln>
        </p:spPr>
        <p:txBody>
          <a:bodyPr/>
          <a:lstStyle/>
          <a:p>
            <a:endParaRPr lang="zh-CN" altLang="en-US"/>
          </a:p>
        </p:txBody>
      </p:sp>
      <p:sp>
        <p:nvSpPr>
          <p:cNvPr id="214028" name="Line 12"/>
          <p:cNvSpPr>
            <a:spLocks noChangeShapeType="1"/>
          </p:cNvSpPr>
          <p:nvPr/>
        </p:nvSpPr>
        <p:spPr bwMode="auto">
          <a:xfrm>
            <a:off x="6530975" y="2078038"/>
            <a:ext cx="762000" cy="0"/>
          </a:xfrm>
          <a:prstGeom prst="line">
            <a:avLst/>
          </a:prstGeom>
          <a:noFill/>
          <a:ln w="19050">
            <a:solidFill>
              <a:srgbClr val="000099"/>
            </a:solidFill>
            <a:prstDash val="dash"/>
            <a:round/>
          </a:ln>
        </p:spPr>
        <p:txBody>
          <a:bodyPr/>
          <a:lstStyle/>
          <a:p>
            <a:endParaRPr lang="zh-CN" altLang="en-US"/>
          </a:p>
        </p:txBody>
      </p:sp>
      <p:sp>
        <p:nvSpPr>
          <p:cNvPr id="214029" name="Line 13"/>
          <p:cNvSpPr>
            <a:spLocks noChangeShapeType="1"/>
          </p:cNvSpPr>
          <p:nvPr/>
        </p:nvSpPr>
        <p:spPr bwMode="auto">
          <a:xfrm>
            <a:off x="7702550" y="2487613"/>
            <a:ext cx="304800" cy="304800"/>
          </a:xfrm>
          <a:prstGeom prst="line">
            <a:avLst/>
          </a:prstGeom>
          <a:noFill/>
          <a:ln w="57150">
            <a:solidFill>
              <a:srgbClr val="008000"/>
            </a:solidFill>
            <a:round/>
            <a:tailEnd type="triangle" w="med" len="med"/>
          </a:ln>
        </p:spPr>
        <p:txBody>
          <a:bodyPr/>
          <a:lstStyle/>
          <a:p>
            <a:endParaRPr lang="zh-CN" altLang="en-US"/>
          </a:p>
        </p:txBody>
      </p:sp>
      <p:sp>
        <p:nvSpPr>
          <p:cNvPr id="214030" name="Line 14"/>
          <p:cNvSpPr>
            <a:spLocks noChangeShapeType="1"/>
          </p:cNvSpPr>
          <p:nvPr/>
        </p:nvSpPr>
        <p:spPr bwMode="auto">
          <a:xfrm>
            <a:off x="6530975" y="2992438"/>
            <a:ext cx="1676400" cy="0"/>
          </a:xfrm>
          <a:prstGeom prst="line">
            <a:avLst/>
          </a:prstGeom>
          <a:noFill/>
          <a:ln w="19050">
            <a:solidFill>
              <a:srgbClr val="000099"/>
            </a:solidFill>
            <a:prstDash val="dash"/>
            <a:round/>
          </a:ln>
        </p:spPr>
        <p:txBody>
          <a:bodyPr/>
          <a:lstStyle/>
          <a:p>
            <a:endParaRPr lang="zh-CN" altLang="en-US"/>
          </a:p>
        </p:txBody>
      </p:sp>
      <p:sp>
        <p:nvSpPr>
          <p:cNvPr id="214031" name="Line 15"/>
          <p:cNvSpPr>
            <a:spLocks noChangeShapeType="1"/>
          </p:cNvSpPr>
          <p:nvPr/>
        </p:nvSpPr>
        <p:spPr bwMode="auto">
          <a:xfrm flipH="1">
            <a:off x="7288213" y="2078038"/>
            <a:ext cx="4762" cy="1228725"/>
          </a:xfrm>
          <a:prstGeom prst="line">
            <a:avLst/>
          </a:prstGeom>
          <a:noFill/>
          <a:ln w="19050">
            <a:solidFill>
              <a:srgbClr val="000099"/>
            </a:solidFill>
            <a:prstDash val="dash"/>
            <a:round/>
          </a:ln>
        </p:spPr>
        <p:txBody>
          <a:bodyPr/>
          <a:lstStyle/>
          <a:p>
            <a:endParaRPr lang="zh-CN" altLang="en-US"/>
          </a:p>
        </p:txBody>
      </p:sp>
      <p:sp>
        <p:nvSpPr>
          <p:cNvPr id="214032" name="Rectangle 16"/>
          <p:cNvSpPr>
            <a:spLocks noChangeArrowheads="1"/>
          </p:cNvSpPr>
          <p:nvPr/>
        </p:nvSpPr>
        <p:spPr bwMode="auto">
          <a:xfrm>
            <a:off x="8066088" y="2619375"/>
            <a:ext cx="285750" cy="652463"/>
          </a:xfrm>
          <a:prstGeom prst="rect">
            <a:avLst/>
          </a:prstGeom>
          <a:noFill/>
          <a:ln w="9525">
            <a:noFill/>
            <a:miter lim="800000"/>
          </a:ln>
        </p:spPr>
        <p:txBody>
          <a:bodyPr wrap="none">
            <a:spAutoFit/>
          </a:bodyPr>
          <a:lstStyle/>
          <a:p>
            <a:pPr>
              <a:lnSpc>
                <a:spcPct val="115000"/>
              </a:lnSpc>
            </a:pPr>
            <a:r>
              <a:rPr kumimoji="1" lang="en-US" altLang="zh-CN" sz="3200" b="1">
                <a:solidFill>
                  <a:srgbClr val="CC0000"/>
                </a:solidFill>
                <a:cs typeface="Times New Roman" panose="02020603050405020304" pitchFamily="18" charset="0"/>
              </a:rPr>
              <a:t>·</a:t>
            </a:r>
            <a:endParaRPr kumimoji="1" lang="en-US" altLang="zh-CN" sz="3200" b="1">
              <a:solidFill>
                <a:srgbClr val="CC0000"/>
              </a:solidFill>
              <a:cs typeface="Times New Roman" panose="02020603050405020304" pitchFamily="18" charset="0"/>
            </a:endParaRPr>
          </a:p>
        </p:txBody>
      </p:sp>
      <p:sp>
        <p:nvSpPr>
          <p:cNvPr id="214033" name="Rectangle 17"/>
          <p:cNvSpPr>
            <a:spLocks noChangeArrowheads="1"/>
          </p:cNvSpPr>
          <p:nvPr/>
        </p:nvSpPr>
        <p:spPr bwMode="auto">
          <a:xfrm>
            <a:off x="7178675" y="1741488"/>
            <a:ext cx="285750" cy="652462"/>
          </a:xfrm>
          <a:prstGeom prst="rect">
            <a:avLst/>
          </a:prstGeom>
          <a:noFill/>
          <a:ln w="9525">
            <a:noFill/>
            <a:miter lim="800000"/>
          </a:ln>
        </p:spPr>
        <p:txBody>
          <a:bodyPr wrap="none">
            <a:spAutoFit/>
          </a:bodyPr>
          <a:lstStyle/>
          <a:p>
            <a:pPr>
              <a:lnSpc>
                <a:spcPct val="115000"/>
              </a:lnSpc>
            </a:pPr>
            <a:r>
              <a:rPr kumimoji="1" lang="en-US" altLang="zh-CN" sz="3200" b="1">
                <a:solidFill>
                  <a:srgbClr val="CC0000"/>
                </a:solidFill>
                <a:cs typeface="Times New Roman" panose="02020603050405020304" pitchFamily="18" charset="0"/>
              </a:rPr>
              <a:t>·</a:t>
            </a:r>
            <a:endParaRPr kumimoji="1" lang="en-US" altLang="zh-CN" sz="3200" b="1">
              <a:solidFill>
                <a:srgbClr val="CC0000"/>
              </a:solidFill>
              <a:cs typeface="Times New Roman" panose="02020603050405020304" pitchFamily="18" charset="0"/>
            </a:endParaRPr>
          </a:p>
        </p:txBody>
      </p:sp>
      <p:sp>
        <p:nvSpPr>
          <p:cNvPr id="214034" name="Text Box 18"/>
          <p:cNvSpPr txBox="1">
            <a:spLocks noChangeArrowheads="1"/>
          </p:cNvSpPr>
          <p:nvPr/>
        </p:nvSpPr>
        <p:spPr bwMode="auto">
          <a:xfrm>
            <a:off x="7077075" y="3262313"/>
            <a:ext cx="436563" cy="442912"/>
          </a:xfrm>
          <a:prstGeom prst="rect">
            <a:avLst/>
          </a:prstGeom>
          <a:noFill/>
          <a:ln w="9525">
            <a:noFill/>
            <a:miter lim="800000"/>
          </a:ln>
        </p:spPr>
        <p:txBody>
          <a:bodyPr wrap="none">
            <a:spAutoFit/>
          </a:bodyPr>
          <a:lstStyle/>
          <a:p>
            <a:pPr>
              <a:lnSpc>
                <a:spcPct val="115000"/>
              </a:lnSpc>
            </a:pPr>
            <a:r>
              <a:rPr lang="en-US" altLang="zh-CN" sz="2000" b="1" i="1">
                <a:solidFill>
                  <a:srgbClr val="000099"/>
                </a:solidFill>
              </a:rPr>
              <a:t>V</a:t>
            </a:r>
            <a:r>
              <a:rPr lang="en-US" altLang="zh-CN" sz="2000" b="1" baseline="-25000">
                <a:solidFill>
                  <a:srgbClr val="000099"/>
                </a:solidFill>
              </a:rPr>
              <a:t>0</a:t>
            </a:r>
            <a:endParaRPr lang="en-US" altLang="zh-CN" sz="2000" b="1">
              <a:solidFill>
                <a:srgbClr val="000099"/>
              </a:solidFill>
            </a:endParaRPr>
          </a:p>
        </p:txBody>
      </p:sp>
      <p:sp>
        <p:nvSpPr>
          <p:cNvPr id="214035" name="Text Box 19"/>
          <p:cNvSpPr txBox="1">
            <a:spLocks noChangeArrowheads="1"/>
          </p:cNvSpPr>
          <p:nvPr/>
        </p:nvSpPr>
        <p:spPr bwMode="auto">
          <a:xfrm>
            <a:off x="7850188" y="3306763"/>
            <a:ext cx="563562" cy="442912"/>
          </a:xfrm>
          <a:prstGeom prst="rect">
            <a:avLst/>
          </a:prstGeom>
          <a:noFill/>
          <a:ln w="9525">
            <a:noFill/>
            <a:miter lim="800000"/>
          </a:ln>
        </p:spPr>
        <p:txBody>
          <a:bodyPr wrap="none">
            <a:spAutoFit/>
          </a:bodyPr>
          <a:lstStyle/>
          <a:p>
            <a:pPr>
              <a:lnSpc>
                <a:spcPct val="115000"/>
              </a:lnSpc>
            </a:pPr>
            <a:r>
              <a:rPr lang="en-US" altLang="zh-CN" sz="2000" b="1">
                <a:solidFill>
                  <a:srgbClr val="000099"/>
                </a:solidFill>
              </a:rPr>
              <a:t>2</a:t>
            </a:r>
            <a:r>
              <a:rPr lang="en-US" altLang="zh-CN" sz="2000" b="1" i="1">
                <a:solidFill>
                  <a:srgbClr val="000099"/>
                </a:solidFill>
              </a:rPr>
              <a:t>V</a:t>
            </a:r>
            <a:r>
              <a:rPr lang="en-US" altLang="zh-CN" sz="2000" b="1" baseline="-25000">
                <a:solidFill>
                  <a:srgbClr val="000099"/>
                </a:solidFill>
              </a:rPr>
              <a:t>0</a:t>
            </a:r>
            <a:endParaRPr lang="en-US" altLang="zh-CN" sz="2000" b="1" baseline="-25000">
              <a:solidFill>
                <a:srgbClr val="000099"/>
              </a:solidFill>
            </a:endParaRPr>
          </a:p>
        </p:txBody>
      </p:sp>
      <p:sp>
        <p:nvSpPr>
          <p:cNvPr id="214036" name="Text Box 20"/>
          <p:cNvSpPr txBox="1">
            <a:spLocks noChangeArrowheads="1"/>
          </p:cNvSpPr>
          <p:nvPr/>
        </p:nvSpPr>
        <p:spPr bwMode="auto">
          <a:xfrm>
            <a:off x="5967413" y="2676525"/>
            <a:ext cx="419100" cy="477838"/>
          </a:xfrm>
          <a:prstGeom prst="rect">
            <a:avLst/>
          </a:prstGeom>
          <a:noFill/>
          <a:ln w="9525">
            <a:noFill/>
            <a:miter lim="800000"/>
          </a:ln>
        </p:spPr>
        <p:txBody>
          <a:bodyPr wrap="none">
            <a:spAutoFit/>
          </a:bodyPr>
          <a:lstStyle/>
          <a:p>
            <a:pPr>
              <a:lnSpc>
                <a:spcPct val="115000"/>
              </a:lnSpc>
            </a:pPr>
            <a:r>
              <a:rPr lang="en-US" altLang="zh-CN" sz="2200" b="1" i="1">
                <a:solidFill>
                  <a:srgbClr val="000099"/>
                </a:solidFill>
              </a:rPr>
              <a:t>p</a:t>
            </a:r>
            <a:r>
              <a:rPr lang="en-US" altLang="zh-CN" sz="2200" b="1" baseline="-25000">
                <a:solidFill>
                  <a:srgbClr val="000099"/>
                </a:solidFill>
              </a:rPr>
              <a:t>0</a:t>
            </a:r>
            <a:endParaRPr lang="en-US" altLang="zh-CN" sz="2200" b="1" baseline="-25000">
              <a:solidFill>
                <a:srgbClr val="000099"/>
              </a:solidFill>
            </a:endParaRPr>
          </a:p>
        </p:txBody>
      </p:sp>
      <p:sp>
        <p:nvSpPr>
          <p:cNvPr id="214037" name="Text Box 21"/>
          <p:cNvSpPr txBox="1">
            <a:spLocks noChangeArrowheads="1"/>
          </p:cNvSpPr>
          <p:nvPr/>
        </p:nvSpPr>
        <p:spPr bwMode="auto">
          <a:xfrm>
            <a:off x="5888038" y="1758950"/>
            <a:ext cx="635000" cy="477838"/>
          </a:xfrm>
          <a:prstGeom prst="rect">
            <a:avLst/>
          </a:prstGeom>
          <a:noFill/>
          <a:ln w="9525">
            <a:noFill/>
            <a:miter lim="800000"/>
          </a:ln>
        </p:spPr>
        <p:txBody>
          <a:bodyPr>
            <a:spAutoFit/>
          </a:bodyPr>
          <a:lstStyle/>
          <a:p>
            <a:pPr>
              <a:lnSpc>
                <a:spcPct val="115000"/>
              </a:lnSpc>
            </a:pPr>
            <a:r>
              <a:rPr lang="en-US" altLang="zh-CN" sz="2200" b="1">
                <a:solidFill>
                  <a:srgbClr val="000099"/>
                </a:solidFill>
              </a:rPr>
              <a:t>2</a:t>
            </a:r>
            <a:r>
              <a:rPr lang="en-US" altLang="zh-CN" sz="2200" b="1" i="1">
                <a:solidFill>
                  <a:srgbClr val="000099"/>
                </a:solidFill>
              </a:rPr>
              <a:t>p</a:t>
            </a:r>
            <a:r>
              <a:rPr lang="en-US" altLang="zh-CN" sz="2200" b="1" baseline="-25000">
                <a:solidFill>
                  <a:srgbClr val="000099"/>
                </a:solidFill>
              </a:rPr>
              <a:t>0</a:t>
            </a:r>
            <a:endParaRPr lang="en-US" altLang="zh-CN" sz="2200" b="1">
              <a:solidFill>
                <a:srgbClr val="000099"/>
              </a:solidFill>
            </a:endParaRPr>
          </a:p>
        </p:txBody>
      </p:sp>
      <p:sp>
        <p:nvSpPr>
          <p:cNvPr id="214038" name="Rectangle 22"/>
          <p:cNvSpPr>
            <a:spLocks noChangeArrowheads="1"/>
          </p:cNvSpPr>
          <p:nvPr/>
        </p:nvSpPr>
        <p:spPr bwMode="auto">
          <a:xfrm>
            <a:off x="781050" y="908050"/>
            <a:ext cx="5635625" cy="512763"/>
          </a:xfrm>
          <a:prstGeom prst="rect">
            <a:avLst/>
          </a:prstGeom>
          <a:noFill/>
          <a:ln w="9525">
            <a:noFill/>
            <a:miter lim="800000"/>
          </a:ln>
        </p:spPr>
        <p:txBody>
          <a:bodyPr>
            <a:spAutoFit/>
          </a:bodyPr>
          <a:lstStyle/>
          <a:p>
            <a:pPr>
              <a:lnSpc>
                <a:spcPct val="115000"/>
              </a:lnSpc>
            </a:pPr>
            <a:r>
              <a:rPr kumimoji="1" lang="zh-CN" altLang="en-US" b="1"/>
              <a:t>在该过程中，放热和吸热的区域。</a:t>
            </a:r>
            <a:endParaRPr kumimoji="1" lang="zh-CN" altLang="en-US" b="1"/>
          </a:p>
        </p:txBody>
      </p:sp>
      <p:sp>
        <p:nvSpPr>
          <p:cNvPr id="214039" name="Text Box 23"/>
          <p:cNvSpPr txBox="1">
            <a:spLocks noChangeArrowheads="1"/>
          </p:cNvSpPr>
          <p:nvPr/>
        </p:nvSpPr>
        <p:spPr bwMode="auto">
          <a:xfrm>
            <a:off x="161925" y="1449388"/>
            <a:ext cx="1104900" cy="512762"/>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solidFill>
                  <a:srgbClr val="FF0000"/>
                </a:solidFill>
              </a:rPr>
              <a:t>解</a:t>
            </a:r>
            <a:endParaRPr kumimoji="1" lang="zh-CN" altLang="en-US" b="1" i="1">
              <a:solidFill>
                <a:srgbClr val="FF0000"/>
              </a:solidFill>
            </a:endParaRPr>
          </a:p>
        </p:txBody>
      </p:sp>
      <p:sp>
        <p:nvSpPr>
          <p:cNvPr id="214040" name="Rectangle 24"/>
          <p:cNvSpPr>
            <a:spLocks noChangeArrowheads="1"/>
          </p:cNvSpPr>
          <p:nvPr/>
        </p:nvSpPr>
        <p:spPr bwMode="auto">
          <a:xfrm>
            <a:off x="161925" y="933450"/>
            <a:ext cx="490538" cy="512763"/>
          </a:xfrm>
          <a:prstGeom prst="rect">
            <a:avLst/>
          </a:prstGeom>
          <a:noFill/>
          <a:ln w="9525">
            <a:noFill/>
            <a:miter lim="800000"/>
          </a:ln>
        </p:spPr>
        <p:txBody>
          <a:bodyPr wrap="none">
            <a:spAutoFit/>
          </a:bodyPr>
          <a:lstStyle/>
          <a:p>
            <a:pPr>
              <a:lnSpc>
                <a:spcPct val="115000"/>
              </a:lnSpc>
            </a:pPr>
            <a:r>
              <a:rPr kumimoji="1" lang="zh-CN" altLang="en-US" b="1">
                <a:solidFill>
                  <a:srgbClr val="FF0000"/>
                </a:solidFill>
                <a:latin typeface="Arial" panose="020B0604020202020204" pitchFamily="34" charset="0"/>
              </a:rPr>
              <a:t>求</a:t>
            </a:r>
            <a:endParaRPr kumimoji="1" lang="zh-CN" altLang="en-US" b="1">
              <a:solidFill>
                <a:srgbClr val="FF0000"/>
              </a:solidFill>
              <a:latin typeface="Arial" panose="020B0604020202020204" pitchFamily="34" charset="0"/>
            </a:endParaRPr>
          </a:p>
        </p:txBody>
      </p:sp>
      <p:sp>
        <p:nvSpPr>
          <p:cNvPr id="214041" name="Text Box 25"/>
          <p:cNvSpPr txBox="1">
            <a:spLocks noChangeArrowheads="1"/>
          </p:cNvSpPr>
          <p:nvPr/>
        </p:nvSpPr>
        <p:spPr bwMode="auto">
          <a:xfrm>
            <a:off x="746125" y="1493838"/>
            <a:ext cx="4941888" cy="512762"/>
          </a:xfrm>
          <a:prstGeom prst="rect">
            <a:avLst/>
          </a:prstGeom>
          <a:noFill/>
          <a:ln w="9525">
            <a:noFill/>
            <a:miter lim="800000"/>
          </a:ln>
        </p:spPr>
        <p:txBody>
          <a:bodyPr>
            <a:spAutoFit/>
          </a:bodyPr>
          <a:lstStyle/>
          <a:p>
            <a:pPr>
              <a:lnSpc>
                <a:spcPct val="115000"/>
              </a:lnSpc>
              <a:defRPr/>
            </a:pPr>
            <a:r>
              <a:rPr lang="zh-CN" altLang="en-US" b="1" dirty="0">
                <a:ea typeface="+mn-ea"/>
                <a:cs typeface="Times New Roman" panose="02020603050405020304" pitchFamily="18" charset="0"/>
              </a:rPr>
              <a:t>从图中可以求得</a:t>
            </a:r>
            <a:r>
              <a:rPr lang="zh-CN" altLang="en-US" b="1" dirty="0">
                <a:solidFill>
                  <a:srgbClr val="FF0000"/>
                </a:solidFill>
                <a:ea typeface="+mn-ea"/>
                <a:cs typeface="Times New Roman" panose="02020603050405020304" pitchFamily="18" charset="0"/>
              </a:rPr>
              <a:t>过程线的方程</a:t>
            </a:r>
            <a:r>
              <a:rPr lang="zh-CN" altLang="en-US" b="1" dirty="0">
                <a:ea typeface="+mn-ea"/>
                <a:cs typeface="Times New Roman" panose="02020603050405020304" pitchFamily="18" charset="0"/>
              </a:rPr>
              <a:t>为</a:t>
            </a:r>
            <a:endParaRPr lang="zh-CN" altLang="en-US" b="1" dirty="0">
              <a:ea typeface="+mn-ea"/>
              <a:cs typeface="Times New Roman" panose="02020603050405020304" pitchFamily="18" charset="0"/>
            </a:endParaRPr>
          </a:p>
        </p:txBody>
      </p:sp>
      <p:graphicFrame>
        <p:nvGraphicFramePr>
          <p:cNvPr id="214042" name="Object 26"/>
          <p:cNvGraphicFramePr>
            <a:graphicFrameLocks noChangeAspect="1"/>
          </p:cNvGraphicFramePr>
          <p:nvPr/>
        </p:nvGraphicFramePr>
        <p:xfrm>
          <a:off x="3536950" y="2259013"/>
          <a:ext cx="1971675" cy="798512"/>
        </p:xfrm>
        <a:graphic>
          <a:graphicData uri="http://schemas.openxmlformats.org/presentationml/2006/ole">
            <mc:AlternateContent xmlns:mc="http://schemas.openxmlformats.org/markup-compatibility/2006">
              <mc:Choice xmlns:v="urn:schemas-microsoft-com:vml" Requires="v">
                <p:oleObj spid="_x0000_s35841" name="公式" r:id="rId1" imgW="26212800" imgH="10668000" progId="Equation.3">
                  <p:embed/>
                </p:oleObj>
              </mc:Choice>
              <mc:Fallback>
                <p:oleObj name="公式" r:id="rId1" imgW="26212800" imgH="10668000" progId="Equation.3">
                  <p:embed/>
                  <p:pic>
                    <p:nvPicPr>
                      <p:cNvPr id="0" name="Object 26"/>
                      <p:cNvPicPr>
                        <a:picLocks noChangeAspect="1"/>
                      </p:cNvPicPr>
                      <p:nvPr/>
                    </p:nvPicPr>
                    <p:blipFill>
                      <a:blip r:embed="rId2"/>
                      <a:stretch>
                        <a:fillRect/>
                      </a:stretch>
                    </p:blipFill>
                    <p:spPr>
                      <a:xfrm>
                        <a:off x="3536950" y="2259013"/>
                        <a:ext cx="1971675" cy="798512"/>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sp>
        <p:nvSpPr>
          <p:cNvPr id="214043" name="Text Box 27"/>
          <p:cNvSpPr txBox="1">
            <a:spLocks noChangeArrowheads="1"/>
          </p:cNvSpPr>
          <p:nvPr/>
        </p:nvSpPr>
        <p:spPr bwMode="auto">
          <a:xfrm>
            <a:off x="468313" y="3141663"/>
            <a:ext cx="5256212" cy="933450"/>
          </a:xfrm>
          <a:prstGeom prst="rect">
            <a:avLst/>
          </a:prstGeom>
          <a:noFill/>
          <a:ln w="9525">
            <a:noFill/>
            <a:miter lim="800000"/>
          </a:ln>
        </p:spPr>
        <p:txBody>
          <a:bodyPr>
            <a:spAutoFit/>
          </a:bodyPr>
          <a:lstStyle/>
          <a:p>
            <a:pPr>
              <a:lnSpc>
                <a:spcPct val="115000"/>
              </a:lnSpc>
              <a:defRPr/>
            </a:pPr>
            <a:r>
              <a:rPr lang="zh-CN" altLang="en-US" b="1">
                <a:ea typeface="+mn-ea"/>
                <a:cs typeface="Times New Roman" panose="02020603050405020304" pitchFamily="18" charset="0"/>
              </a:rPr>
              <a:t>将理想气体的状态方程代入上式并消去</a:t>
            </a:r>
            <a:r>
              <a:rPr lang="zh-CN" altLang="en-US" b="1">
                <a:solidFill>
                  <a:srgbClr val="FF6600"/>
                </a:solidFill>
                <a:ea typeface="+mn-ea"/>
                <a:cs typeface="Times New Roman" panose="02020603050405020304" pitchFamily="18" charset="0"/>
              </a:rPr>
              <a:t> </a:t>
            </a:r>
            <a:r>
              <a:rPr lang="en-US" altLang="zh-CN" b="1" i="1">
                <a:solidFill>
                  <a:srgbClr val="FF6600"/>
                </a:solidFill>
                <a:ea typeface="+mn-ea"/>
                <a:cs typeface="Times New Roman" panose="02020603050405020304" pitchFamily="18" charset="0"/>
              </a:rPr>
              <a:t>p </a:t>
            </a:r>
            <a:r>
              <a:rPr lang="zh-CN" altLang="en-US" b="1">
                <a:ea typeface="+mn-ea"/>
                <a:cs typeface="Times New Roman" panose="02020603050405020304" pitchFamily="18" charset="0"/>
              </a:rPr>
              <a:t>，有</a:t>
            </a:r>
            <a:endParaRPr lang="zh-CN" altLang="en-US" b="1">
              <a:ea typeface="+mn-ea"/>
              <a:cs typeface="Times New Roman" panose="02020603050405020304" pitchFamily="18" charset="0"/>
            </a:endParaRPr>
          </a:p>
        </p:txBody>
      </p:sp>
      <p:graphicFrame>
        <p:nvGraphicFramePr>
          <p:cNvPr id="214044" name="Object 28"/>
          <p:cNvGraphicFramePr>
            <a:graphicFrameLocks noChangeAspect="1"/>
          </p:cNvGraphicFramePr>
          <p:nvPr/>
        </p:nvGraphicFramePr>
        <p:xfrm>
          <a:off x="1835150" y="3968750"/>
          <a:ext cx="3141663" cy="869950"/>
        </p:xfrm>
        <a:graphic>
          <a:graphicData uri="http://schemas.openxmlformats.org/presentationml/2006/ole">
            <mc:AlternateContent xmlns:mc="http://schemas.openxmlformats.org/markup-compatibility/2006">
              <mc:Choice xmlns:v="urn:schemas-microsoft-com:vml" Requires="v">
                <p:oleObj spid="_x0000_s35843" name="公式" r:id="rId3" imgW="41452800" imgH="11582400" progId="Equation.3">
                  <p:embed/>
                </p:oleObj>
              </mc:Choice>
              <mc:Fallback>
                <p:oleObj name="公式" r:id="rId3" imgW="41452800" imgH="11582400" progId="Equation.3">
                  <p:embed/>
                  <p:pic>
                    <p:nvPicPr>
                      <p:cNvPr id="0" name="Object 28"/>
                      <p:cNvPicPr>
                        <a:picLocks noChangeAspect="1"/>
                      </p:cNvPicPr>
                      <p:nvPr/>
                    </p:nvPicPr>
                    <p:blipFill>
                      <a:blip r:embed="rId4"/>
                      <a:stretch>
                        <a:fillRect/>
                      </a:stretch>
                    </p:blipFill>
                    <p:spPr>
                      <a:xfrm>
                        <a:off x="1835150" y="3968750"/>
                        <a:ext cx="3141663" cy="869950"/>
                      </a:xfrm>
                      <a:prstGeom prst="rect">
                        <a:avLst/>
                      </a:prstGeom>
                      <a:noFill/>
                      <a:ln w="9525">
                        <a:noFill/>
                      </a:ln>
                    </p:spPr>
                  </p:pic>
                </p:oleObj>
              </mc:Fallback>
            </mc:AlternateContent>
          </a:graphicData>
        </a:graphic>
      </p:graphicFrame>
      <p:sp>
        <p:nvSpPr>
          <p:cNvPr id="35867" name="Text Box 29"/>
          <p:cNvSpPr txBox="1">
            <a:spLocks noChangeArrowheads="1"/>
          </p:cNvSpPr>
          <p:nvPr/>
        </p:nvSpPr>
        <p:spPr bwMode="auto">
          <a:xfrm>
            <a:off x="3255963" y="6045200"/>
            <a:ext cx="184150" cy="512763"/>
          </a:xfrm>
          <a:prstGeom prst="rect">
            <a:avLst/>
          </a:prstGeom>
          <a:noFill/>
          <a:ln w="9525">
            <a:noFill/>
            <a:miter lim="800000"/>
          </a:ln>
        </p:spPr>
        <p:txBody>
          <a:bodyPr wrap="none">
            <a:spAutoFit/>
          </a:bodyPr>
          <a:lstStyle/>
          <a:p>
            <a:pPr>
              <a:lnSpc>
                <a:spcPct val="115000"/>
              </a:lnSpc>
            </a:pPr>
            <a:endParaRPr lang="zh-CN" altLang="zh-CN" b="1"/>
          </a:p>
        </p:txBody>
      </p:sp>
      <p:sp>
        <p:nvSpPr>
          <p:cNvPr id="214046" name="Text Box 30"/>
          <p:cNvSpPr txBox="1">
            <a:spLocks noChangeArrowheads="1"/>
          </p:cNvSpPr>
          <p:nvPr/>
        </p:nvSpPr>
        <p:spPr bwMode="auto">
          <a:xfrm>
            <a:off x="431800" y="4868863"/>
            <a:ext cx="6202363" cy="512762"/>
          </a:xfrm>
          <a:prstGeom prst="rect">
            <a:avLst/>
          </a:prstGeom>
          <a:noFill/>
          <a:ln w="9525">
            <a:noFill/>
            <a:miter lim="800000"/>
          </a:ln>
        </p:spPr>
        <p:txBody>
          <a:bodyPr>
            <a:spAutoFit/>
          </a:bodyPr>
          <a:lstStyle/>
          <a:p>
            <a:pPr>
              <a:lnSpc>
                <a:spcPct val="115000"/>
              </a:lnSpc>
              <a:defRPr/>
            </a:pPr>
            <a:r>
              <a:rPr lang="zh-CN" altLang="en-US" b="1">
                <a:ea typeface="+mn-ea"/>
                <a:cs typeface="Times New Roman" panose="02020603050405020304" pitchFamily="18" charset="0"/>
              </a:rPr>
              <a:t>对该过程中的任一无限小的过程，有</a:t>
            </a:r>
            <a:endParaRPr lang="zh-CN" altLang="en-US" b="1">
              <a:ea typeface="+mn-ea"/>
              <a:cs typeface="Times New Roman" panose="02020603050405020304" pitchFamily="18" charset="0"/>
            </a:endParaRPr>
          </a:p>
        </p:txBody>
      </p:sp>
      <p:graphicFrame>
        <p:nvGraphicFramePr>
          <p:cNvPr id="214047" name="Object 31"/>
          <p:cNvGraphicFramePr>
            <a:graphicFrameLocks noChangeAspect="1"/>
          </p:cNvGraphicFramePr>
          <p:nvPr/>
        </p:nvGraphicFramePr>
        <p:xfrm>
          <a:off x="1557338" y="5543550"/>
          <a:ext cx="3098800" cy="871538"/>
        </p:xfrm>
        <a:graphic>
          <a:graphicData uri="http://schemas.openxmlformats.org/presentationml/2006/ole">
            <mc:AlternateContent xmlns:mc="http://schemas.openxmlformats.org/markup-compatibility/2006">
              <mc:Choice xmlns:v="urn:schemas-microsoft-com:vml" Requires="v">
                <p:oleObj spid="_x0000_s35844" name="公式" r:id="rId5" imgW="40843200" imgH="11582400" progId="Equation.3">
                  <p:embed/>
                </p:oleObj>
              </mc:Choice>
              <mc:Fallback>
                <p:oleObj name="公式" r:id="rId5" imgW="40843200" imgH="11582400" progId="Equation.3">
                  <p:embed/>
                  <p:pic>
                    <p:nvPicPr>
                      <p:cNvPr id="0" name="Object 31"/>
                      <p:cNvPicPr>
                        <a:picLocks noChangeAspect="1"/>
                      </p:cNvPicPr>
                      <p:nvPr/>
                    </p:nvPicPr>
                    <p:blipFill>
                      <a:blip r:embed="rId6"/>
                      <a:stretch>
                        <a:fillRect/>
                      </a:stretch>
                    </p:blipFill>
                    <p:spPr>
                      <a:xfrm>
                        <a:off x="1557338" y="5543550"/>
                        <a:ext cx="3098800" cy="871538"/>
                      </a:xfrm>
                      <a:prstGeom prst="rect">
                        <a:avLst/>
                      </a:prstGeom>
                      <a:noFill/>
                      <a:ln w="9525">
                        <a:noFill/>
                      </a:ln>
                    </p:spPr>
                  </p:pic>
                </p:oleObj>
              </mc:Fallback>
            </mc:AlternateContent>
          </a:graphicData>
        </a:graphic>
      </p:graphicFrame>
      <p:graphicFrame>
        <p:nvGraphicFramePr>
          <p:cNvPr id="214048" name="Object 32"/>
          <p:cNvGraphicFramePr>
            <a:graphicFrameLocks noChangeAspect="1"/>
          </p:cNvGraphicFramePr>
          <p:nvPr/>
        </p:nvGraphicFramePr>
        <p:xfrm>
          <a:off x="660400" y="2274888"/>
          <a:ext cx="2155825" cy="755650"/>
        </p:xfrm>
        <a:graphic>
          <a:graphicData uri="http://schemas.openxmlformats.org/presentationml/2006/ole">
            <mc:AlternateContent xmlns:mc="http://schemas.openxmlformats.org/markup-compatibility/2006">
              <mc:Choice xmlns:v="urn:schemas-microsoft-com:vml" Requires="v">
                <p:oleObj spid="_x0000_s35845" name="公式" r:id="rId7" imgW="30480000" imgH="10668000" progId="Equation.3">
                  <p:embed/>
                </p:oleObj>
              </mc:Choice>
              <mc:Fallback>
                <p:oleObj name="公式" r:id="rId7" imgW="30480000" imgH="10668000" progId="Equation.3">
                  <p:embed/>
                  <p:pic>
                    <p:nvPicPr>
                      <p:cNvPr id="0" name="Object 32"/>
                      <p:cNvPicPr>
                        <a:picLocks noChangeAspect="1"/>
                      </p:cNvPicPr>
                      <p:nvPr/>
                    </p:nvPicPr>
                    <p:blipFill>
                      <a:blip r:embed="rId8"/>
                      <a:stretch>
                        <a:fillRect/>
                      </a:stretch>
                    </p:blipFill>
                    <p:spPr>
                      <a:xfrm>
                        <a:off x="660400" y="2274888"/>
                        <a:ext cx="2155825" cy="755650"/>
                      </a:xfrm>
                      <a:prstGeom prst="rect">
                        <a:avLst/>
                      </a:prstGeom>
                      <a:noFill/>
                      <a:ln w="9525">
                        <a:noFill/>
                      </a:ln>
                    </p:spPr>
                  </p:pic>
                </p:oleObj>
              </mc:Fallback>
            </mc:AlternateContent>
          </a:graphicData>
        </a:graphic>
      </p:graphicFrame>
      <p:sp>
        <p:nvSpPr>
          <p:cNvPr id="214049" name="Oval 33"/>
          <p:cNvSpPr>
            <a:spLocks noChangeArrowheads="1"/>
          </p:cNvSpPr>
          <p:nvPr/>
        </p:nvSpPr>
        <p:spPr bwMode="auto">
          <a:xfrm>
            <a:off x="7991475" y="2774950"/>
            <a:ext cx="144463" cy="144463"/>
          </a:xfrm>
          <a:prstGeom prst="ellipse">
            <a:avLst/>
          </a:prstGeom>
          <a:solidFill>
            <a:srgbClr val="333300"/>
          </a:solidFill>
          <a:ln w="9525">
            <a:solidFill>
              <a:srgbClr val="FF0000"/>
            </a:solidFill>
            <a:round/>
          </a:ln>
        </p:spPr>
        <p:txBody>
          <a:bodyPr wrap="none" anchor="ctr"/>
          <a:lstStyle/>
          <a:p>
            <a:pPr algn="ctr"/>
            <a:endParaRPr lang="zh-CN" altLang="en-US"/>
          </a:p>
        </p:txBody>
      </p:sp>
      <p:sp>
        <p:nvSpPr>
          <p:cNvPr id="214050" name="AutoShape 34"/>
          <p:cNvSpPr>
            <a:spLocks noChangeArrowheads="1"/>
          </p:cNvSpPr>
          <p:nvPr/>
        </p:nvSpPr>
        <p:spPr bwMode="auto">
          <a:xfrm>
            <a:off x="2951163" y="2573338"/>
            <a:ext cx="495300" cy="134937"/>
          </a:xfrm>
          <a:prstGeom prst="rightArrow">
            <a:avLst>
              <a:gd name="adj1" fmla="val 50000"/>
              <a:gd name="adj2" fmla="val 91765"/>
            </a:avLst>
          </a:prstGeom>
          <a:solidFill>
            <a:srgbClr val="0000FF"/>
          </a:solidFill>
          <a:ln w="9525">
            <a:solidFill>
              <a:schemeClr val="tx1"/>
            </a:solidFill>
            <a:miter lim="800000"/>
          </a:ln>
        </p:spPr>
        <p:txBody>
          <a:bodyPr wrap="none" anchor="ctr"/>
          <a:lstStyle/>
          <a:p>
            <a:pPr algn="ctr"/>
            <a:endParaRPr lang="zh-CN" altLang="en-US"/>
          </a:p>
        </p:txBody>
      </p:sp>
      <p:sp>
        <p:nvSpPr>
          <p:cNvPr id="214051" name="Text Box 35"/>
          <p:cNvSpPr txBox="1">
            <a:spLocks noChangeArrowheads="1"/>
          </p:cNvSpPr>
          <p:nvPr/>
        </p:nvSpPr>
        <p:spPr bwMode="auto">
          <a:xfrm>
            <a:off x="5202238" y="5661025"/>
            <a:ext cx="2835275" cy="512763"/>
          </a:xfrm>
          <a:prstGeom prst="rect">
            <a:avLst/>
          </a:prstGeom>
          <a:noFill/>
          <a:ln w="9525">
            <a:noFill/>
            <a:miter lim="800000"/>
          </a:ln>
        </p:spPr>
        <p:txBody>
          <a:bodyPr>
            <a:spAutoFit/>
          </a:bodyPr>
          <a:lstStyle/>
          <a:p>
            <a:pPr>
              <a:lnSpc>
                <a:spcPct val="115000"/>
              </a:lnSpc>
              <a:defRPr/>
            </a:pPr>
            <a:r>
              <a:rPr lang="zh-CN" altLang="en-US" b="1" dirty="0">
                <a:latin typeface="+mn-ea"/>
                <a:ea typeface="+mn-ea"/>
              </a:rPr>
              <a:t>对于单原子分子</a:t>
            </a:r>
            <a:endParaRPr lang="zh-CN" altLang="en-US" b="1" dirty="0">
              <a:latin typeface="+mn-ea"/>
              <a:ea typeface="+mn-ea"/>
            </a:endParaRPr>
          </a:p>
        </p:txBody>
      </p:sp>
      <p:graphicFrame>
        <p:nvGraphicFramePr>
          <p:cNvPr id="214052" name="Object 36"/>
          <p:cNvGraphicFramePr/>
          <p:nvPr/>
        </p:nvGraphicFramePr>
        <p:xfrm>
          <a:off x="7586663" y="5618163"/>
          <a:ext cx="1057275" cy="690562"/>
        </p:xfrm>
        <a:graphic>
          <a:graphicData uri="http://schemas.openxmlformats.org/presentationml/2006/ole">
            <mc:AlternateContent xmlns:mc="http://schemas.openxmlformats.org/markup-compatibility/2006">
              <mc:Choice xmlns:v="urn:schemas-microsoft-com:vml" Requires="v">
                <p:oleObj spid="_x0000_s35846" name="公式" r:id="rId9" imgW="14935200" imgH="9753600" progId="Equation.3">
                  <p:embed/>
                </p:oleObj>
              </mc:Choice>
              <mc:Fallback>
                <p:oleObj name="公式" r:id="rId9" imgW="14935200" imgH="9753600" progId="Equation.3">
                  <p:embed/>
                  <p:pic>
                    <p:nvPicPr>
                      <p:cNvPr id="0" name="Object 36"/>
                      <p:cNvPicPr/>
                      <p:nvPr/>
                    </p:nvPicPr>
                    <p:blipFill>
                      <a:blip r:embed="rId10"/>
                      <a:stretch>
                        <a:fillRect/>
                      </a:stretch>
                    </p:blipFill>
                    <p:spPr>
                      <a:xfrm>
                        <a:off x="7586663" y="5618163"/>
                        <a:ext cx="1057275" cy="690562"/>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4019"/>
                                        </p:tgtEl>
                                        <p:attrNameLst>
                                          <p:attrName>style.visibility</p:attrName>
                                        </p:attrNameLst>
                                      </p:cBhvr>
                                      <p:to>
                                        <p:strVal val="visible"/>
                                      </p:to>
                                    </p:set>
                                    <p:animEffect transition="in" filter="wipe(left)">
                                      <p:cBhvr>
                                        <p:cTn id="7" dur="500"/>
                                        <p:tgtEl>
                                          <p:spTgt spid="21401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4018"/>
                                        </p:tgtEl>
                                        <p:attrNameLst>
                                          <p:attrName>style.visibility</p:attrName>
                                        </p:attrNameLst>
                                      </p:cBhvr>
                                      <p:to>
                                        <p:strVal val="visible"/>
                                      </p:to>
                                    </p:set>
                                    <p:animEffect transition="in" filter="wipe(left)">
                                      <p:cBhvr>
                                        <p:cTn id="11" dur="500"/>
                                        <p:tgtEl>
                                          <p:spTgt spid="21401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14033"/>
                                        </p:tgtEl>
                                        <p:attrNameLst>
                                          <p:attrName>style.visibility</p:attrName>
                                        </p:attrNameLst>
                                      </p:cBhvr>
                                      <p:to>
                                        <p:strVal val="visible"/>
                                      </p:to>
                                    </p:set>
                                    <p:animEffect transition="in" filter="wipe(left)">
                                      <p:cBhvr>
                                        <p:cTn id="21" dur="500"/>
                                        <p:tgtEl>
                                          <p:spTgt spid="214033"/>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214028"/>
                                        </p:tgtEl>
                                        <p:attrNameLst>
                                          <p:attrName>style.visibility</p:attrName>
                                        </p:attrNameLst>
                                      </p:cBhvr>
                                      <p:to>
                                        <p:strVal val="visible"/>
                                      </p:to>
                                    </p:set>
                                    <p:animEffect transition="in" filter="wipe(right)">
                                      <p:cBhvr>
                                        <p:cTn id="24" dur="500"/>
                                        <p:tgtEl>
                                          <p:spTgt spid="21402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14037"/>
                                        </p:tgtEl>
                                        <p:attrNameLst>
                                          <p:attrName>style.visibility</p:attrName>
                                        </p:attrNameLst>
                                      </p:cBhvr>
                                      <p:to>
                                        <p:strVal val="visible"/>
                                      </p:to>
                                    </p:set>
                                    <p:animEffect transition="in" filter="wipe(down)">
                                      <p:cBhvr>
                                        <p:cTn id="27" dur="500"/>
                                        <p:tgtEl>
                                          <p:spTgt spid="214037"/>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214031"/>
                                        </p:tgtEl>
                                        <p:attrNameLst>
                                          <p:attrName>style.visibility</p:attrName>
                                        </p:attrNameLst>
                                      </p:cBhvr>
                                      <p:to>
                                        <p:strVal val="visible"/>
                                      </p:to>
                                    </p:set>
                                    <p:animEffect transition="in" filter="wipe(up)">
                                      <p:cBhvr>
                                        <p:cTn id="30" dur="500"/>
                                        <p:tgtEl>
                                          <p:spTgt spid="214031"/>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14034"/>
                                        </p:tgtEl>
                                        <p:attrNameLst>
                                          <p:attrName>style.visibility</p:attrName>
                                        </p:attrNameLst>
                                      </p:cBhvr>
                                      <p:to>
                                        <p:strVal val="visible"/>
                                      </p:to>
                                    </p:set>
                                    <p:animEffect transition="in" filter="wipe(down)">
                                      <p:cBhvr>
                                        <p:cTn id="33" dur="500"/>
                                        <p:tgtEl>
                                          <p:spTgt spid="21403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214026"/>
                                        </p:tgtEl>
                                        <p:attrNameLst>
                                          <p:attrName>style.visibility</p:attrName>
                                        </p:attrNameLst>
                                      </p:cBhvr>
                                      <p:to>
                                        <p:strVal val="visible"/>
                                      </p:to>
                                    </p:set>
                                    <p:animEffect transition="in" filter="wipe(left)">
                                      <p:cBhvr>
                                        <p:cTn id="36" dur="500"/>
                                        <p:tgtEl>
                                          <p:spTgt spid="214026"/>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214029"/>
                                        </p:tgtEl>
                                        <p:attrNameLst>
                                          <p:attrName>style.visibility</p:attrName>
                                        </p:attrNameLst>
                                      </p:cBhvr>
                                      <p:to>
                                        <p:strVal val="visible"/>
                                      </p:to>
                                    </p:set>
                                    <p:animEffect transition="in" filter="wipe(left)">
                                      <p:cBhvr>
                                        <p:cTn id="39" dur="500"/>
                                        <p:tgtEl>
                                          <p:spTgt spid="214029"/>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14032"/>
                                        </p:tgtEl>
                                        <p:attrNameLst>
                                          <p:attrName>style.visibility</p:attrName>
                                        </p:attrNameLst>
                                      </p:cBhvr>
                                      <p:to>
                                        <p:strVal val="visible"/>
                                      </p:to>
                                    </p:set>
                                    <p:animEffect transition="in" filter="wipe(left)">
                                      <p:cBhvr>
                                        <p:cTn id="42" dur="500"/>
                                        <p:tgtEl>
                                          <p:spTgt spid="214032"/>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214030"/>
                                        </p:tgtEl>
                                        <p:attrNameLst>
                                          <p:attrName>style.visibility</p:attrName>
                                        </p:attrNameLst>
                                      </p:cBhvr>
                                      <p:to>
                                        <p:strVal val="visible"/>
                                      </p:to>
                                    </p:set>
                                    <p:animEffect transition="in" filter="wipe(right)">
                                      <p:cBhvr>
                                        <p:cTn id="45" dur="500"/>
                                        <p:tgtEl>
                                          <p:spTgt spid="214030"/>
                                        </p:tgtEl>
                                      </p:cBhvr>
                                    </p:animEffect>
                                  </p:childTnLst>
                                </p:cTn>
                              </p:par>
                              <p:par>
                                <p:cTn id="46" presetID="22" presetClass="entr" presetSubtype="2" fill="hold" grpId="0" nodeType="withEffect">
                                  <p:stCondLst>
                                    <p:cond delay="0"/>
                                  </p:stCondLst>
                                  <p:childTnLst>
                                    <p:set>
                                      <p:cBhvr>
                                        <p:cTn id="47" dur="1" fill="hold">
                                          <p:stCondLst>
                                            <p:cond delay="0"/>
                                          </p:stCondLst>
                                        </p:cTn>
                                        <p:tgtEl>
                                          <p:spTgt spid="214036"/>
                                        </p:tgtEl>
                                        <p:attrNameLst>
                                          <p:attrName>style.visibility</p:attrName>
                                        </p:attrNameLst>
                                      </p:cBhvr>
                                      <p:to>
                                        <p:strVal val="visible"/>
                                      </p:to>
                                    </p:set>
                                    <p:animEffect transition="in" filter="wipe(right)">
                                      <p:cBhvr>
                                        <p:cTn id="48" dur="500"/>
                                        <p:tgtEl>
                                          <p:spTgt spid="214036"/>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214027"/>
                                        </p:tgtEl>
                                        <p:attrNameLst>
                                          <p:attrName>style.visibility</p:attrName>
                                        </p:attrNameLst>
                                      </p:cBhvr>
                                      <p:to>
                                        <p:strVal val="visible"/>
                                      </p:to>
                                    </p:set>
                                    <p:animEffect transition="in" filter="wipe(up)">
                                      <p:cBhvr>
                                        <p:cTn id="51" dur="500"/>
                                        <p:tgtEl>
                                          <p:spTgt spid="214027"/>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214035"/>
                                        </p:tgtEl>
                                        <p:attrNameLst>
                                          <p:attrName>style.visibility</p:attrName>
                                        </p:attrNameLst>
                                      </p:cBhvr>
                                      <p:to>
                                        <p:strVal val="visible"/>
                                      </p:to>
                                    </p:set>
                                    <p:animEffect transition="in" filter="wipe(up)">
                                      <p:cBhvr>
                                        <p:cTn id="54" dur="500"/>
                                        <p:tgtEl>
                                          <p:spTgt spid="21403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14040"/>
                                        </p:tgtEl>
                                        <p:attrNameLst>
                                          <p:attrName>style.visibility</p:attrName>
                                        </p:attrNameLst>
                                      </p:cBhvr>
                                      <p:to>
                                        <p:strVal val="visible"/>
                                      </p:to>
                                    </p:set>
                                    <p:animEffect transition="in" filter="wipe(left)">
                                      <p:cBhvr>
                                        <p:cTn id="59" dur="500"/>
                                        <p:tgtEl>
                                          <p:spTgt spid="214040"/>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214038"/>
                                        </p:tgtEl>
                                        <p:attrNameLst>
                                          <p:attrName>style.visibility</p:attrName>
                                        </p:attrNameLst>
                                      </p:cBhvr>
                                      <p:to>
                                        <p:strVal val="visible"/>
                                      </p:to>
                                    </p:set>
                                    <p:animEffect transition="in" filter="wipe(left)">
                                      <p:cBhvr>
                                        <p:cTn id="63" dur="500"/>
                                        <p:tgtEl>
                                          <p:spTgt spid="21403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14039"/>
                                        </p:tgtEl>
                                        <p:attrNameLst>
                                          <p:attrName>style.visibility</p:attrName>
                                        </p:attrNameLst>
                                      </p:cBhvr>
                                      <p:to>
                                        <p:strVal val="visible"/>
                                      </p:to>
                                    </p:set>
                                    <p:animEffect transition="in" filter="wipe(left)">
                                      <p:cBhvr>
                                        <p:cTn id="68" dur="500"/>
                                        <p:tgtEl>
                                          <p:spTgt spid="21403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14041"/>
                                        </p:tgtEl>
                                        <p:attrNameLst>
                                          <p:attrName>style.visibility</p:attrName>
                                        </p:attrNameLst>
                                      </p:cBhvr>
                                      <p:to>
                                        <p:strVal val="visible"/>
                                      </p:to>
                                    </p:set>
                                    <p:animEffect transition="in" filter="wipe(left)">
                                      <p:cBhvr>
                                        <p:cTn id="73" dur="500"/>
                                        <p:tgtEl>
                                          <p:spTgt spid="214041"/>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14049"/>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214048"/>
                                        </p:tgtEl>
                                        <p:attrNameLst>
                                          <p:attrName>style.visibility</p:attrName>
                                        </p:attrNameLst>
                                      </p:cBhvr>
                                      <p:to>
                                        <p:strVal val="visible"/>
                                      </p:to>
                                    </p:set>
                                    <p:animEffect transition="in" filter="dissolve">
                                      <p:cBhvr>
                                        <p:cTn id="82" dur="500"/>
                                        <p:tgtEl>
                                          <p:spTgt spid="21404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14050"/>
                                        </p:tgtEl>
                                        <p:attrNameLst>
                                          <p:attrName>style.visibility</p:attrName>
                                        </p:attrNameLst>
                                      </p:cBhvr>
                                      <p:to>
                                        <p:strVal val="visible"/>
                                      </p:to>
                                    </p:set>
                                    <p:animEffect transition="in" filter="wipe(left)">
                                      <p:cBhvr>
                                        <p:cTn id="87" dur="500"/>
                                        <p:tgtEl>
                                          <p:spTgt spid="21405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14042"/>
                                        </p:tgtEl>
                                        <p:attrNameLst>
                                          <p:attrName>style.visibility</p:attrName>
                                        </p:attrNameLst>
                                      </p:cBhvr>
                                      <p:to>
                                        <p:strVal val="visible"/>
                                      </p:to>
                                    </p:set>
                                    <p:animEffect transition="in" filter="wipe(left)">
                                      <p:cBhvr>
                                        <p:cTn id="92" dur="500"/>
                                        <p:tgtEl>
                                          <p:spTgt spid="21404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14043"/>
                                        </p:tgtEl>
                                        <p:attrNameLst>
                                          <p:attrName>style.visibility</p:attrName>
                                        </p:attrNameLst>
                                      </p:cBhvr>
                                      <p:to>
                                        <p:strVal val="visible"/>
                                      </p:to>
                                    </p:set>
                                    <p:animEffect transition="in" filter="wipe(left)">
                                      <p:cBhvr>
                                        <p:cTn id="97" dur="500"/>
                                        <p:tgtEl>
                                          <p:spTgt spid="21404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14044"/>
                                        </p:tgtEl>
                                        <p:attrNameLst>
                                          <p:attrName>style.visibility</p:attrName>
                                        </p:attrNameLst>
                                      </p:cBhvr>
                                      <p:to>
                                        <p:strVal val="visible"/>
                                      </p:to>
                                    </p:set>
                                    <p:animEffect transition="in" filter="wipe(left)">
                                      <p:cBhvr>
                                        <p:cTn id="102" dur="500"/>
                                        <p:tgtEl>
                                          <p:spTgt spid="21404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14046"/>
                                        </p:tgtEl>
                                        <p:attrNameLst>
                                          <p:attrName>style.visibility</p:attrName>
                                        </p:attrNameLst>
                                      </p:cBhvr>
                                      <p:to>
                                        <p:strVal val="visible"/>
                                      </p:to>
                                    </p:set>
                                    <p:animEffect transition="in" filter="wipe(left)">
                                      <p:cBhvr>
                                        <p:cTn id="107" dur="500"/>
                                        <p:tgtEl>
                                          <p:spTgt spid="214046"/>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14047"/>
                                        </p:tgtEl>
                                        <p:attrNameLst>
                                          <p:attrName>style.visibility</p:attrName>
                                        </p:attrNameLst>
                                      </p:cBhvr>
                                      <p:to>
                                        <p:strVal val="visible"/>
                                      </p:to>
                                    </p:set>
                                    <p:animEffect transition="in" filter="wipe(left)">
                                      <p:cBhvr>
                                        <p:cTn id="112" dur="500"/>
                                        <p:tgtEl>
                                          <p:spTgt spid="21404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14051"/>
                                        </p:tgtEl>
                                        <p:attrNameLst>
                                          <p:attrName>style.visibility</p:attrName>
                                        </p:attrNameLst>
                                      </p:cBhvr>
                                      <p:to>
                                        <p:strVal val="visible"/>
                                      </p:to>
                                    </p:set>
                                    <p:animEffect transition="in" filter="wipe(left)">
                                      <p:cBhvr>
                                        <p:cTn id="117" dur="500"/>
                                        <p:tgtEl>
                                          <p:spTgt spid="214051"/>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214052"/>
                                        </p:tgtEl>
                                        <p:attrNameLst>
                                          <p:attrName>style.visibility</p:attrName>
                                        </p:attrNameLst>
                                      </p:cBhvr>
                                      <p:to>
                                        <p:strVal val="visible"/>
                                      </p:to>
                                    </p:set>
                                    <p:animEffect transition="in" filter="wipe(left)">
                                      <p:cBhvr>
                                        <p:cTn id="122" dur="500"/>
                                        <p:tgtEl>
                                          <p:spTgt spid="214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autoUpdateAnimBg="0"/>
      <p:bldP spid="214019" grpId="0"/>
      <p:bldP spid="214026" grpId="0" animBg="1"/>
      <p:bldP spid="214027" grpId="0" animBg="1"/>
      <p:bldP spid="214028" grpId="0" animBg="1"/>
      <p:bldP spid="214029" grpId="0" animBg="1"/>
      <p:bldP spid="214030" grpId="0" animBg="1"/>
      <p:bldP spid="214031" grpId="0" animBg="1"/>
      <p:bldP spid="214032" grpId="0"/>
      <p:bldP spid="214033" grpId="0"/>
      <p:bldP spid="214034" grpId="0"/>
      <p:bldP spid="214035" grpId="0"/>
      <p:bldP spid="214036" grpId="0"/>
      <p:bldP spid="214037" grpId="0"/>
      <p:bldP spid="214038" grpId="0"/>
      <p:bldP spid="214039" grpId="0" autoUpdateAnimBg="0"/>
      <p:bldP spid="214040" grpId="0"/>
      <p:bldP spid="214041" grpId="0"/>
      <p:bldP spid="214043" grpId="0"/>
      <p:bldP spid="214046" grpId="0"/>
      <p:bldP spid="214049" grpId="0" animBg="1"/>
      <p:bldP spid="214050" grpId="0" animBg="1"/>
      <p:bldP spid="21405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2"/>
          <p:cNvSpPr txBox="1">
            <a:spLocks noChangeArrowheads="1"/>
          </p:cNvSpPr>
          <p:nvPr/>
        </p:nvSpPr>
        <p:spPr bwMode="auto">
          <a:xfrm>
            <a:off x="250825" y="501650"/>
            <a:ext cx="3617913" cy="512763"/>
          </a:xfrm>
          <a:prstGeom prst="rect">
            <a:avLst/>
          </a:prstGeom>
          <a:noFill/>
          <a:ln w="9525">
            <a:noFill/>
            <a:miter lim="800000"/>
          </a:ln>
        </p:spPr>
        <p:txBody>
          <a:bodyPr>
            <a:spAutoFit/>
          </a:bodyPr>
          <a:lstStyle/>
          <a:p>
            <a:pPr>
              <a:lnSpc>
                <a:spcPct val="115000"/>
              </a:lnSpc>
              <a:defRPr/>
            </a:pPr>
            <a:r>
              <a:rPr lang="zh-CN" altLang="en-US" b="1" dirty="0">
                <a:latin typeface="+mn-ea"/>
                <a:ea typeface="+mn-ea"/>
              </a:rPr>
              <a:t>由热力学第一定律，有</a:t>
            </a:r>
            <a:endParaRPr lang="zh-CN" altLang="en-US" b="1" dirty="0">
              <a:latin typeface="+mn-ea"/>
              <a:ea typeface="+mn-ea"/>
            </a:endParaRPr>
          </a:p>
        </p:txBody>
      </p:sp>
      <p:graphicFrame>
        <p:nvGraphicFramePr>
          <p:cNvPr id="215043" name="Object 3"/>
          <p:cNvGraphicFramePr>
            <a:graphicFrameLocks noChangeAspect="1"/>
          </p:cNvGraphicFramePr>
          <p:nvPr/>
        </p:nvGraphicFramePr>
        <p:xfrm>
          <a:off x="1196975" y="1163638"/>
          <a:ext cx="2252663" cy="411162"/>
        </p:xfrm>
        <a:graphic>
          <a:graphicData uri="http://schemas.openxmlformats.org/presentationml/2006/ole">
            <mc:AlternateContent xmlns:mc="http://schemas.openxmlformats.org/markup-compatibility/2006">
              <mc:Choice xmlns:v="urn:schemas-microsoft-com:vml" Requires="v">
                <p:oleObj spid="_x0000_s36865" name="公式" r:id="rId1" imgW="30784800" imgH="5486400" progId="Equation.3">
                  <p:embed/>
                </p:oleObj>
              </mc:Choice>
              <mc:Fallback>
                <p:oleObj name="公式" r:id="rId1" imgW="30784800" imgH="5486400" progId="Equation.3">
                  <p:embed/>
                  <p:pic>
                    <p:nvPicPr>
                      <p:cNvPr id="0" name="Object 3"/>
                      <p:cNvPicPr>
                        <a:picLocks noChangeAspect="1"/>
                      </p:cNvPicPr>
                      <p:nvPr/>
                    </p:nvPicPr>
                    <p:blipFill>
                      <a:blip r:embed="rId2"/>
                      <a:stretch>
                        <a:fillRect/>
                      </a:stretch>
                    </p:blipFill>
                    <p:spPr>
                      <a:xfrm>
                        <a:off x="1196975" y="1163638"/>
                        <a:ext cx="2252663" cy="411162"/>
                      </a:xfrm>
                      <a:prstGeom prst="rect">
                        <a:avLst/>
                      </a:prstGeom>
                      <a:noFill/>
                      <a:ln w="9525">
                        <a:noFill/>
                      </a:ln>
                    </p:spPr>
                  </p:pic>
                </p:oleObj>
              </mc:Fallback>
            </mc:AlternateContent>
          </a:graphicData>
        </a:graphic>
      </p:graphicFrame>
      <p:graphicFrame>
        <p:nvGraphicFramePr>
          <p:cNvPr id="215044" name="Object 4"/>
          <p:cNvGraphicFramePr/>
          <p:nvPr/>
        </p:nvGraphicFramePr>
        <p:xfrm>
          <a:off x="1630363" y="1730375"/>
          <a:ext cx="2627312" cy="798513"/>
        </p:xfrm>
        <a:graphic>
          <a:graphicData uri="http://schemas.openxmlformats.org/presentationml/2006/ole">
            <mc:AlternateContent xmlns:mc="http://schemas.openxmlformats.org/markup-compatibility/2006">
              <mc:Choice xmlns:v="urn:schemas-microsoft-com:vml" Requires="v">
                <p:oleObj spid="_x0000_s36867" name="公式" r:id="rId3" imgW="35052000" imgH="10668000" progId="Equation.3">
                  <p:embed/>
                </p:oleObj>
              </mc:Choice>
              <mc:Fallback>
                <p:oleObj name="公式" r:id="rId3" imgW="35052000" imgH="10668000" progId="Equation.3">
                  <p:embed/>
                  <p:pic>
                    <p:nvPicPr>
                      <p:cNvPr id="0" name="Object 4"/>
                      <p:cNvPicPr/>
                      <p:nvPr/>
                    </p:nvPicPr>
                    <p:blipFill>
                      <a:blip r:embed="rId4"/>
                      <a:stretch>
                        <a:fillRect/>
                      </a:stretch>
                    </p:blipFill>
                    <p:spPr>
                      <a:xfrm>
                        <a:off x="1630363" y="1730375"/>
                        <a:ext cx="2627312" cy="798513"/>
                      </a:xfrm>
                      <a:prstGeom prst="rect">
                        <a:avLst/>
                      </a:prstGeom>
                      <a:noFill/>
                      <a:ln w="9525">
                        <a:noFill/>
                      </a:ln>
                    </p:spPr>
                  </p:pic>
                </p:oleObj>
              </mc:Fallback>
            </mc:AlternateContent>
          </a:graphicData>
        </a:graphic>
      </p:graphicFrame>
      <p:sp>
        <p:nvSpPr>
          <p:cNvPr id="215045" name="Text Box 5"/>
          <p:cNvSpPr txBox="1">
            <a:spLocks noChangeArrowheads="1"/>
          </p:cNvSpPr>
          <p:nvPr/>
        </p:nvSpPr>
        <p:spPr bwMode="auto">
          <a:xfrm>
            <a:off x="355600" y="2781300"/>
            <a:ext cx="5476875" cy="512763"/>
          </a:xfrm>
          <a:prstGeom prst="rect">
            <a:avLst/>
          </a:prstGeom>
          <a:noFill/>
          <a:ln w="9525">
            <a:noFill/>
            <a:miter lim="800000"/>
          </a:ln>
        </p:spPr>
        <p:txBody>
          <a:bodyPr>
            <a:spAutoFit/>
          </a:bodyPr>
          <a:lstStyle/>
          <a:p>
            <a:pPr>
              <a:lnSpc>
                <a:spcPct val="115000"/>
              </a:lnSpc>
              <a:defRPr/>
            </a:pPr>
            <a:r>
              <a:rPr lang="zh-CN" altLang="en-US" b="1">
                <a:latin typeface="+mn-ea"/>
                <a:ea typeface="+mn-ea"/>
              </a:rPr>
              <a:t>由上式可知 ，</a:t>
            </a:r>
            <a:r>
              <a:rPr kumimoji="1" lang="zh-CN" altLang="en-US" b="1">
                <a:latin typeface="+mn-ea"/>
                <a:ea typeface="+mn-ea"/>
              </a:rPr>
              <a:t>吸热和放热的区域为</a:t>
            </a:r>
            <a:endParaRPr kumimoji="1" lang="zh-CN" altLang="en-US" b="1">
              <a:latin typeface="+mn-ea"/>
              <a:ea typeface="+mn-ea"/>
            </a:endParaRPr>
          </a:p>
        </p:txBody>
      </p:sp>
      <p:graphicFrame>
        <p:nvGraphicFramePr>
          <p:cNvPr id="215046" name="Object 6"/>
          <p:cNvGraphicFramePr>
            <a:graphicFrameLocks noChangeAspect="1"/>
          </p:cNvGraphicFramePr>
          <p:nvPr/>
        </p:nvGraphicFramePr>
        <p:xfrm>
          <a:off x="971550" y="3503613"/>
          <a:ext cx="1633538" cy="730250"/>
        </p:xfrm>
        <a:graphic>
          <a:graphicData uri="http://schemas.openxmlformats.org/presentationml/2006/ole">
            <mc:AlternateContent xmlns:mc="http://schemas.openxmlformats.org/markup-compatibility/2006">
              <mc:Choice xmlns:v="urn:schemas-microsoft-com:vml" Requires="v">
                <p:oleObj spid="_x0000_s36868" name="公式" r:id="rId5" imgW="22250400" imgH="9753600" progId="Equation.3">
                  <p:embed/>
                </p:oleObj>
              </mc:Choice>
              <mc:Fallback>
                <p:oleObj name="公式" r:id="rId5" imgW="22250400" imgH="9753600" progId="Equation.3">
                  <p:embed/>
                  <p:pic>
                    <p:nvPicPr>
                      <p:cNvPr id="0" name="Object 6"/>
                      <p:cNvPicPr>
                        <a:picLocks noChangeAspect="1"/>
                      </p:cNvPicPr>
                      <p:nvPr/>
                    </p:nvPicPr>
                    <p:blipFill>
                      <a:blip r:embed="rId6"/>
                      <a:stretch>
                        <a:fillRect/>
                      </a:stretch>
                    </p:blipFill>
                    <p:spPr>
                      <a:xfrm>
                        <a:off x="971550" y="3503613"/>
                        <a:ext cx="1633538" cy="730250"/>
                      </a:xfrm>
                      <a:prstGeom prst="rect">
                        <a:avLst/>
                      </a:prstGeom>
                      <a:noFill/>
                      <a:ln w="9525">
                        <a:noFill/>
                      </a:ln>
                    </p:spPr>
                  </p:pic>
                </p:oleObj>
              </mc:Fallback>
            </mc:AlternateContent>
          </a:graphicData>
        </a:graphic>
      </p:graphicFrame>
      <p:graphicFrame>
        <p:nvGraphicFramePr>
          <p:cNvPr id="215047" name="Object 7"/>
          <p:cNvGraphicFramePr/>
          <p:nvPr/>
        </p:nvGraphicFramePr>
        <p:xfrm>
          <a:off x="1131888" y="4268788"/>
          <a:ext cx="1144587" cy="730250"/>
        </p:xfrm>
        <a:graphic>
          <a:graphicData uri="http://schemas.openxmlformats.org/presentationml/2006/ole">
            <mc:AlternateContent xmlns:mc="http://schemas.openxmlformats.org/markup-compatibility/2006">
              <mc:Choice xmlns:v="urn:schemas-microsoft-com:vml" Requires="v">
                <p:oleObj spid="_x0000_s36869" name="公式" r:id="rId7" imgW="15240000" imgH="9753600" progId="Equation.3">
                  <p:embed/>
                </p:oleObj>
              </mc:Choice>
              <mc:Fallback>
                <p:oleObj name="公式" r:id="rId7" imgW="15240000" imgH="9753600" progId="Equation.3">
                  <p:embed/>
                  <p:pic>
                    <p:nvPicPr>
                      <p:cNvPr id="0" name="Object 7"/>
                      <p:cNvPicPr/>
                      <p:nvPr/>
                    </p:nvPicPr>
                    <p:blipFill>
                      <a:blip r:embed="rId8"/>
                      <a:stretch>
                        <a:fillRect/>
                      </a:stretch>
                    </p:blipFill>
                    <p:spPr>
                      <a:xfrm>
                        <a:off x="1131888" y="4268788"/>
                        <a:ext cx="1144587" cy="730250"/>
                      </a:xfrm>
                      <a:prstGeom prst="rect">
                        <a:avLst/>
                      </a:prstGeom>
                      <a:noFill/>
                      <a:ln w="9525">
                        <a:noFill/>
                      </a:ln>
                    </p:spPr>
                  </p:pic>
                </p:oleObj>
              </mc:Fallback>
            </mc:AlternateContent>
          </a:graphicData>
        </a:graphic>
      </p:graphicFrame>
      <p:graphicFrame>
        <p:nvGraphicFramePr>
          <p:cNvPr id="215048" name="Object 8"/>
          <p:cNvGraphicFramePr/>
          <p:nvPr/>
        </p:nvGraphicFramePr>
        <p:xfrm>
          <a:off x="927100" y="5078413"/>
          <a:ext cx="1854200" cy="727075"/>
        </p:xfrm>
        <a:graphic>
          <a:graphicData uri="http://schemas.openxmlformats.org/presentationml/2006/ole">
            <mc:AlternateContent xmlns:mc="http://schemas.openxmlformats.org/markup-compatibility/2006">
              <mc:Choice xmlns:v="urn:schemas-microsoft-com:vml" Requires="v">
                <p:oleObj spid="_x0000_s36870" name="公式" r:id="rId9" imgW="24688800" imgH="9753600" progId="Equation.3">
                  <p:embed/>
                </p:oleObj>
              </mc:Choice>
              <mc:Fallback>
                <p:oleObj name="公式" r:id="rId9" imgW="24688800" imgH="9753600" progId="Equation.3">
                  <p:embed/>
                  <p:pic>
                    <p:nvPicPr>
                      <p:cNvPr id="0" name="Object 8"/>
                      <p:cNvPicPr/>
                      <p:nvPr/>
                    </p:nvPicPr>
                    <p:blipFill>
                      <a:blip r:embed="rId10"/>
                      <a:stretch>
                        <a:fillRect/>
                      </a:stretch>
                    </p:blipFill>
                    <p:spPr>
                      <a:xfrm>
                        <a:off x="927100" y="5078413"/>
                        <a:ext cx="1854200" cy="727075"/>
                      </a:xfrm>
                      <a:prstGeom prst="rect">
                        <a:avLst/>
                      </a:prstGeom>
                      <a:noFill/>
                      <a:ln w="9525">
                        <a:noFill/>
                      </a:ln>
                    </p:spPr>
                  </p:pic>
                </p:oleObj>
              </mc:Fallback>
            </mc:AlternateContent>
          </a:graphicData>
        </a:graphic>
      </p:graphicFrame>
      <p:sp>
        <p:nvSpPr>
          <p:cNvPr id="215049" name="AutoShape 9"/>
          <p:cNvSpPr/>
          <p:nvPr/>
        </p:nvSpPr>
        <p:spPr bwMode="auto">
          <a:xfrm>
            <a:off x="476250" y="3903663"/>
            <a:ext cx="315913" cy="1625600"/>
          </a:xfrm>
          <a:prstGeom prst="leftBrace">
            <a:avLst>
              <a:gd name="adj1" fmla="val 42881"/>
              <a:gd name="adj2" fmla="val 50000"/>
            </a:avLst>
          </a:prstGeom>
          <a:noFill/>
          <a:ln w="28575">
            <a:solidFill>
              <a:schemeClr val="tx1"/>
            </a:solidFill>
            <a:round/>
          </a:ln>
        </p:spPr>
        <p:txBody>
          <a:bodyPr wrap="none" anchor="ctr"/>
          <a:lstStyle/>
          <a:p>
            <a:pPr algn="ctr"/>
            <a:endParaRPr lang="zh-CN" altLang="en-US"/>
          </a:p>
        </p:txBody>
      </p:sp>
      <p:graphicFrame>
        <p:nvGraphicFramePr>
          <p:cNvPr id="215050" name="Object 10"/>
          <p:cNvGraphicFramePr/>
          <p:nvPr/>
        </p:nvGraphicFramePr>
        <p:xfrm>
          <a:off x="3311525" y="3683000"/>
          <a:ext cx="849313" cy="363538"/>
        </p:xfrm>
        <a:graphic>
          <a:graphicData uri="http://schemas.openxmlformats.org/presentationml/2006/ole">
            <mc:AlternateContent xmlns:mc="http://schemas.openxmlformats.org/markup-compatibility/2006">
              <mc:Choice xmlns:v="urn:schemas-microsoft-com:vml" Requires="v">
                <p:oleObj spid="_x0000_s36871" name="公式" r:id="rId11" imgW="11277600" imgH="4876800" progId="Equation.3">
                  <p:embed/>
                </p:oleObj>
              </mc:Choice>
              <mc:Fallback>
                <p:oleObj name="公式" r:id="rId11" imgW="11277600" imgH="4876800" progId="Equation.3">
                  <p:embed/>
                  <p:pic>
                    <p:nvPicPr>
                      <p:cNvPr id="0" name="Object 10"/>
                      <p:cNvPicPr/>
                      <p:nvPr/>
                    </p:nvPicPr>
                    <p:blipFill>
                      <a:blip r:embed="rId12"/>
                      <a:stretch>
                        <a:fillRect/>
                      </a:stretch>
                    </p:blipFill>
                    <p:spPr>
                      <a:xfrm>
                        <a:off x="3311525" y="3683000"/>
                        <a:ext cx="849313" cy="363538"/>
                      </a:xfrm>
                      <a:prstGeom prst="rect">
                        <a:avLst/>
                      </a:prstGeom>
                      <a:noFill/>
                      <a:ln w="9525">
                        <a:noFill/>
                      </a:ln>
                    </p:spPr>
                  </p:pic>
                </p:oleObj>
              </mc:Fallback>
            </mc:AlternateContent>
          </a:graphicData>
        </a:graphic>
      </p:graphicFrame>
      <p:graphicFrame>
        <p:nvGraphicFramePr>
          <p:cNvPr id="215051" name="Object 11"/>
          <p:cNvGraphicFramePr/>
          <p:nvPr/>
        </p:nvGraphicFramePr>
        <p:xfrm>
          <a:off x="3325813" y="5303838"/>
          <a:ext cx="841375" cy="363537"/>
        </p:xfrm>
        <a:graphic>
          <a:graphicData uri="http://schemas.openxmlformats.org/presentationml/2006/ole">
            <mc:AlternateContent xmlns:mc="http://schemas.openxmlformats.org/markup-compatibility/2006">
              <mc:Choice xmlns:v="urn:schemas-microsoft-com:vml" Requires="v">
                <p:oleObj spid="_x0000_s36872" name="公式" r:id="rId13" imgW="11277600" imgH="4876800" progId="Equation.3">
                  <p:embed/>
                </p:oleObj>
              </mc:Choice>
              <mc:Fallback>
                <p:oleObj name="公式" r:id="rId13" imgW="11277600" imgH="4876800" progId="Equation.3">
                  <p:embed/>
                  <p:pic>
                    <p:nvPicPr>
                      <p:cNvPr id="0" name="Object 11"/>
                      <p:cNvPicPr/>
                      <p:nvPr/>
                    </p:nvPicPr>
                    <p:blipFill>
                      <a:blip r:embed="rId14"/>
                      <a:stretch>
                        <a:fillRect/>
                      </a:stretch>
                    </p:blipFill>
                    <p:spPr>
                      <a:xfrm>
                        <a:off x="3325813" y="5303838"/>
                        <a:ext cx="841375" cy="363537"/>
                      </a:xfrm>
                      <a:prstGeom prst="rect">
                        <a:avLst/>
                      </a:prstGeom>
                      <a:noFill/>
                      <a:ln w="9525">
                        <a:noFill/>
                      </a:ln>
                    </p:spPr>
                  </p:pic>
                </p:oleObj>
              </mc:Fallback>
            </mc:AlternateContent>
          </a:graphicData>
        </a:graphic>
      </p:graphicFrame>
      <p:graphicFrame>
        <p:nvGraphicFramePr>
          <p:cNvPr id="215052" name="Object 12"/>
          <p:cNvGraphicFramePr/>
          <p:nvPr/>
        </p:nvGraphicFramePr>
        <p:xfrm>
          <a:off x="3317875" y="4445000"/>
          <a:ext cx="849313" cy="363538"/>
        </p:xfrm>
        <a:graphic>
          <a:graphicData uri="http://schemas.openxmlformats.org/presentationml/2006/ole">
            <mc:AlternateContent xmlns:mc="http://schemas.openxmlformats.org/markup-compatibility/2006">
              <mc:Choice xmlns:v="urn:schemas-microsoft-com:vml" Requires="v">
                <p:oleObj spid="_x0000_s36873" name="公式" r:id="rId15" imgW="11277600" imgH="4876800" progId="Equation.3">
                  <p:embed/>
                </p:oleObj>
              </mc:Choice>
              <mc:Fallback>
                <p:oleObj name="公式" r:id="rId15" imgW="11277600" imgH="4876800" progId="Equation.3">
                  <p:embed/>
                  <p:pic>
                    <p:nvPicPr>
                      <p:cNvPr id="0" name="Object 12"/>
                      <p:cNvPicPr/>
                      <p:nvPr/>
                    </p:nvPicPr>
                    <p:blipFill>
                      <a:blip r:embed="rId16"/>
                      <a:stretch>
                        <a:fillRect/>
                      </a:stretch>
                    </p:blipFill>
                    <p:spPr>
                      <a:xfrm>
                        <a:off x="3317875" y="4445000"/>
                        <a:ext cx="849313" cy="363538"/>
                      </a:xfrm>
                      <a:prstGeom prst="rect">
                        <a:avLst/>
                      </a:prstGeom>
                      <a:noFill/>
                      <a:ln w="9525">
                        <a:noFill/>
                      </a:ln>
                    </p:spPr>
                  </p:pic>
                </p:oleObj>
              </mc:Fallback>
            </mc:AlternateContent>
          </a:graphicData>
        </a:graphic>
      </p:graphicFrame>
      <p:sp>
        <p:nvSpPr>
          <p:cNvPr id="215053" name="Rectangle 13"/>
          <p:cNvSpPr>
            <a:spLocks noChangeArrowheads="1"/>
          </p:cNvSpPr>
          <p:nvPr/>
        </p:nvSpPr>
        <p:spPr bwMode="auto">
          <a:xfrm>
            <a:off x="4527550" y="3548063"/>
            <a:ext cx="1412875" cy="512762"/>
          </a:xfrm>
          <a:prstGeom prst="rect">
            <a:avLst/>
          </a:prstGeom>
          <a:noFill/>
          <a:ln w="9525">
            <a:noFill/>
            <a:miter lim="800000"/>
          </a:ln>
        </p:spPr>
        <p:txBody>
          <a:bodyPr>
            <a:spAutoFit/>
          </a:bodyPr>
          <a:lstStyle/>
          <a:p>
            <a:pPr>
              <a:lnSpc>
                <a:spcPct val="115000"/>
              </a:lnSpc>
              <a:defRPr/>
            </a:pPr>
            <a:r>
              <a:rPr kumimoji="1" lang="zh-CN" altLang="en-US" b="1" dirty="0">
                <a:solidFill>
                  <a:srgbClr val="FF6600"/>
                </a:solidFill>
                <a:latin typeface="+mn-ea"/>
                <a:ea typeface="+mn-ea"/>
              </a:rPr>
              <a:t>吸热</a:t>
            </a:r>
            <a:endParaRPr kumimoji="1" lang="zh-CN" altLang="en-US" b="1" dirty="0">
              <a:solidFill>
                <a:srgbClr val="FF6600"/>
              </a:solidFill>
              <a:latin typeface="+mn-ea"/>
              <a:ea typeface="+mn-ea"/>
            </a:endParaRPr>
          </a:p>
        </p:txBody>
      </p:sp>
      <p:sp>
        <p:nvSpPr>
          <p:cNvPr id="215054" name="Rectangle 14"/>
          <p:cNvSpPr>
            <a:spLocks noChangeArrowheads="1"/>
          </p:cNvSpPr>
          <p:nvPr/>
        </p:nvSpPr>
        <p:spPr bwMode="auto">
          <a:xfrm>
            <a:off x="4616450" y="5168900"/>
            <a:ext cx="1395413" cy="463550"/>
          </a:xfrm>
          <a:prstGeom prst="rect">
            <a:avLst/>
          </a:prstGeom>
          <a:noFill/>
          <a:ln w="9525">
            <a:noFill/>
            <a:miter lim="800000"/>
          </a:ln>
        </p:spPr>
        <p:txBody>
          <a:bodyPr>
            <a:spAutoFit/>
          </a:bodyPr>
          <a:lstStyle/>
          <a:p>
            <a:pPr>
              <a:lnSpc>
                <a:spcPct val="115000"/>
              </a:lnSpc>
              <a:defRPr/>
            </a:pPr>
            <a:r>
              <a:rPr kumimoji="1" lang="zh-CN" altLang="en-US" b="1" dirty="0">
                <a:solidFill>
                  <a:srgbClr val="FF6600"/>
                </a:solidFill>
                <a:latin typeface="+mn-ea"/>
                <a:ea typeface="+mn-ea"/>
              </a:rPr>
              <a:t>放热</a:t>
            </a:r>
            <a:endParaRPr kumimoji="1" lang="zh-CN" altLang="en-US" b="1" dirty="0">
              <a:solidFill>
                <a:srgbClr val="FF6600"/>
              </a:solidFill>
              <a:latin typeface="+mn-ea"/>
              <a:ea typeface="+mn-ea"/>
            </a:endParaRPr>
          </a:p>
        </p:txBody>
      </p:sp>
      <p:grpSp>
        <p:nvGrpSpPr>
          <p:cNvPr id="36881" name="Group 15"/>
          <p:cNvGrpSpPr/>
          <p:nvPr/>
        </p:nvGrpSpPr>
        <p:grpSpPr bwMode="auto">
          <a:xfrm>
            <a:off x="5741988" y="1493838"/>
            <a:ext cx="3105150" cy="1125537"/>
            <a:chOff x="3532" y="884"/>
            <a:chExt cx="1956" cy="709"/>
          </a:xfrm>
        </p:grpSpPr>
        <p:sp>
          <p:nvSpPr>
            <p:cNvPr id="36905" name="Oval 16"/>
            <p:cNvSpPr>
              <a:spLocks noChangeArrowheads="1"/>
            </p:cNvSpPr>
            <p:nvPr/>
          </p:nvSpPr>
          <p:spPr bwMode="auto">
            <a:xfrm>
              <a:off x="3532" y="884"/>
              <a:ext cx="1956" cy="709"/>
            </a:xfrm>
            <a:prstGeom prst="ellipse">
              <a:avLst/>
            </a:prstGeom>
            <a:solidFill>
              <a:srgbClr val="CCFFCC"/>
            </a:solidFill>
            <a:ln w="9525">
              <a:solidFill>
                <a:srgbClr val="00FF00"/>
              </a:solidFill>
              <a:round/>
            </a:ln>
          </p:spPr>
          <p:txBody>
            <a:bodyPr wrap="none" anchor="ctr"/>
            <a:lstStyle/>
            <a:p>
              <a:pPr algn="ctr"/>
              <a:endParaRPr lang="zh-CN" altLang="en-US"/>
            </a:p>
          </p:txBody>
        </p:sp>
        <p:graphicFrame>
          <p:nvGraphicFramePr>
            <p:cNvPr id="36875" name="Object 17"/>
            <p:cNvGraphicFramePr>
              <a:graphicFrameLocks noChangeAspect="1"/>
            </p:cNvGraphicFramePr>
            <p:nvPr/>
          </p:nvGraphicFramePr>
          <p:xfrm>
            <a:off x="3589" y="969"/>
            <a:ext cx="1845" cy="519"/>
          </p:xfrm>
          <a:graphic>
            <a:graphicData uri="http://schemas.openxmlformats.org/presentationml/2006/ole">
              <mc:AlternateContent xmlns:mc="http://schemas.openxmlformats.org/markup-compatibility/2006">
                <mc:Choice xmlns:v="urn:schemas-microsoft-com:vml" Requires="v">
                  <p:oleObj spid="_x0000_s36875" name="公式" r:id="rId17" imgW="40843200" imgH="11582400" progId="Equation.3">
                    <p:embed/>
                  </p:oleObj>
                </mc:Choice>
                <mc:Fallback>
                  <p:oleObj name="公式" r:id="rId17" imgW="40843200" imgH="11582400" progId="Equation.3">
                    <p:embed/>
                    <p:pic>
                      <p:nvPicPr>
                        <p:cNvPr id="0" name="Object 17"/>
                        <p:cNvPicPr>
                          <a:picLocks noChangeAspect="1"/>
                        </p:cNvPicPr>
                        <p:nvPr/>
                      </p:nvPicPr>
                      <p:blipFill>
                        <a:blip r:embed="rId18"/>
                        <a:stretch>
                          <a:fillRect/>
                        </a:stretch>
                      </p:blipFill>
                      <p:spPr>
                        <a:xfrm>
                          <a:off x="3589" y="969"/>
                          <a:ext cx="1845" cy="519"/>
                        </a:xfrm>
                        <a:prstGeom prst="rect">
                          <a:avLst/>
                        </a:prstGeom>
                        <a:noFill/>
                        <a:ln w="9525">
                          <a:noFill/>
                        </a:ln>
                      </p:spPr>
                    </p:pic>
                  </p:oleObj>
                </mc:Fallback>
              </mc:AlternateContent>
            </a:graphicData>
          </a:graphic>
        </p:graphicFrame>
      </p:grpSp>
      <p:grpSp>
        <p:nvGrpSpPr>
          <p:cNvPr id="36882" name="Group 18"/>
          <p:cNvGrpSpPr/>
          <p:nvPr/>
        </p:nvGrpSpPr>
        <p:grpSpPr bwMode="auto">
          <a:xfrm>
            <a:off x="6057900" y="504825"/>
            <a:ext cx="2341563" cy="809625"/>
            <a:chOff x="3730" y="261"/>
            <a:chExt cx="1475" cy="510"/>
          </a:xfrm>
        </p:grpSpPr>
        <p:sp>
          <p:nvSpPr>
            <p:cNvPr id="36904" name="Oval 19"/>
            <p:cNvSpPr>
              <a:spLocks noChangeArrowheads="1"/>
            </p:cNvSpPr>
            <p:nvPr/>
          </p:nvSpPr>
          <p:spPr bwMode="auto">
            <a:xfrm>
              <a:off x="3730" y="261"/>
              <a:ext cx="1475" cy="510"/>
            </a:xfrm>
            <a:prstGeom prst="ellipse">
              <a:avLst/>
            </a:prstGeom>
            <a:solidFill>
              <a:srgbClr val="CCFFCC"/>
            </a:solidFill>
            <a:ln w="9525">
              <a:solidFill>
                <a:srgbClr val="00FF00"/>
              </a:solidFill>
              <a:round/>
            </a:ln>
          </p:spPr>
          <p:txBody>
            <a:bodyPr wrap="none" anchor="ctr"/>
            <a:lstStyle/>
            <a:p>
              <a:pPr algn="ctr"/>
              <a:endParaRPr lang="zh-CN" altLang="en-US"/>
            </a:p>
          </p:txBody>
        </p:sp>
        <p:graphicFrame>
          <p:nvGraphicFramePr>
            <p:cNvPr id="36874" name="Object 20"/>
            <p:cNvGraphicFramePr>
              <a:graphicFrameLocks noChangeAspect="1"/>
            </p:cNvGraphicFramePr>
            <p:nvPr/>
          </p:nvGraphicFramePr>
          <p:xfrm>
            <a:off x="3872" y="261"/>
            <a:ext cx="1186" cy="478"/>
          </p:xfrm>
          <a:graphic>
            <a:graphicData uri="http://schemas.openxmlformats.org/presentationml/2006/ole">
              <mc:AlternateContent xmlns:mc="http://schemas.openxmlformats.org/markup-compatibility/2006">
                <mc:Choice xmlns:v="urn:schemas-microsoft-com:vml" Requires="v">
                  <p:oleObj spid="_x0000_s36874" name="公式" r:id="rId19" imgW="26212800" imgH="10668000" progId="Equation.3">
                    <p:embed/>
                  </p:oleObj>
                </mc:Choice>
                <mc:Fallback>
                  <p:oleObj name="公式" r:id="rId19" imgW="26212800" imgH="10668000" progId="Equation.3">
                    <p:embed/>
                    <p:pic>
                      <p:nvPicPr>
                        <p:cNvPr id="0" name="Object 20"/>
                        <p:cNvPicPr>
                          <a:picLocks noChangeAspect="1"/>
                        </p:cNvPicPr>
                        <p:nvPr/>
                      </p:nvPicPr>
                      <p:blipFill>
                        <a:blip r:embed="rId20"/>
                        <a:stretch>
                          <a:fillRect/>
                        </a:stretch>
                      </p:blipFill>
                      <p:spPr>
                        <a:xfrm>
                          <a:off x="3872" y="261"/>
                          <a:ext cx="1186" cy="478"/>
                        </a:xfrm>
                        <a:prstGeom prst="rect">
                          <a:avLst/>
                        </a:prstGeom>
                        <a:noFill/>
                        <a:ln w="9525">
                          <a:noFill/>
                        </a:ln>
                      </p:spPr>
                    </p:pic>
                  </p:oleObj>
                </mc:Fallback>
              </mc:AlternateContent>
            </a:graphicData>
          </a:graphic>
        </p:graphicFrame>
      </p:grpSp>
      <p:grpSp>
        <p:nvGrpSpPr>
          <p:cNvPr id="36883" name="Group 23"/>
          <p:cNvGrpSpPr/>
          <p:nvPr/>
        </p:nvGrpSpPr>
        <p:grpSpPr bwMode="auto">
          <a:xfrm>
            <a:off x="6057900" y="2970213"/>
            <a:ext cx="2779713" cy="2798762"/>
            <a:chOff x="3822" y="822"/>
            <a:chExt cx="1751" cy="1763"/>
          </a:xfrm>
        </p:grpSpPr>
        <p:grpSp>
          <p:nvGrpSpPr>
            <p:cNvPr id="36885" name="Group 24"/>
            <p:cNvGrpSpPr>
              <a:grpSpLocks noChangeAspect="1"/>
            </p:cNvGrpSpPr>
            <p:nvPr/>
          </p:nvGrpSpPr>
          <p:grpSpPr bwMode="auto">
            <a:xfrm>
              <a:off x="3967" y="822"/>
              <a:ext cx="1606" cy="1763"/>
              <a:chOff x="3498" y="1211"/>
              <a:chExt cx="1785" cy="1960"/>
            </a:xfrm>
          </p:grpSpPr>
          <p:sp>
            <p:nvSpPr>
              <p:cNvPr id="36899" name="Line 25"/>
              <p:cNvSpPr>
                <a:spLocks noChangeAspect="1" noChangeShapeType="1"/>
              </p:cNvSpPr>
              <p:nvPr/>
            </p:nvSpPr>
            <p:spPr bwMode="auto">
              <a:xfrm flipV="1">
                <a:off x="3724" y="2750"/>
                <a:ext cx="1515" cy="19"/>
              </a:xfrm>
              <a:prstGeom prst="line">
                <a:avLst/>
              </a:prstGeom>
              <a:noFill/>
              <a:ln w="28575">
                <a:solidFill>
                  <a:srgbClr val="000099"/>
                </a:solidFill>
                <a:round/>
                <a:tailEnd type="triangle" w="med" len="lg"/>
              </a:ln>
            </p:spPr>
            <p:txBody>
              <a:bodyPr wrap="none" anchor="ctr"/>
              <a:lstStyle/>
              <a:p>
                <a:endParaRPr lang="zh-CN" altLang="en-US"/>
              </a:p>
            </p:txBody>
          </p:sp>
          <p:sp>
            <p:nvSpPr>
              <p:cNvPr id="36900" name="Line 26"/>
              <p:cNvSpPr>
                <a:spLocks noChangeAspect="1" noChangeShapeType="1"/>
              </p:cNvSpPr>
              <p:nvPr/>
            </p:nvSpPr>
            <p:spPr bwMode="auto">
              <a:xfrm flipV="1">
                <a:off x="3724" y="1353"/>
                <a:ext cx="1" cy="1416"/>
              </a:xfrm>
              <a:prstGeom prst="line">
                <a:avLst/>
              </a:prstGeom>
              <a:noFill/>
              <a:ln w="28575">
                <a:solidFill>
                  <a:srgbClr val="000099"/>
                </a:solidFill>
                <a:round/>
                <a:tailEnd type="triangle" w="med" len="lg"/>
              </a:ln>
            </p:spPr>
            <p:txBody>
              <a:bodyPr wrap="none" anchor="ctr"/>
              <a:lstStyle/>
              <a:p>
                <a:endParaRPr lang="zh-CN" altLang="en-US"/>
              </a:p>
            </p:txBody>
          </p:sp>
          <p:sp>
            <p:nvSpPr>
              <p:cNvPr id="36901" name="Text Box 27"/>
              <p:cNvSpPr txBox="1">
                <a:spLocks noChangeAspect="1" noChangeArrowheads="1"/>
              </p:cNvSpPr>
              <p:nvPr/>
            </p:nvSpPr>
            <p:spPr bwMode="auto">
              <a:xfrm>
                <a:off x="5012" y="2812"/>
                <a:ext cx="271" cy="359"/>
              </a:xfrm>
              <a:prstGeom prst="rect">
                <a:avLst/>
              </a:prstGeom>
              <a:noFill/>
              <a:ln w="9525">
                <a:noFill/>
                <a:miter lim="800000"/>
              </a:ln>
            </p:spPr>
            <p:txBody>
              <a:bodyPr wrap="none">
                <a:spAutoFit/>
              </a:bodyPr>
              <a:lstStyle/>
              <a:p>
                <a:pPr>
                  <a:lnSpc>
                    <a:spcPct val="115000"/>
                  </a:lnSpc>
                </a:pPr>
                <a:r>
                  <a:rPr lang="en-US" altLang="zh-CN" b="1" i="1">
                    <a:solidFill>
                      <a:srgbClr val="000099"/>
                    </a:solidFill>
                  </a:rPr>
                  <a:t>V</a:t>
                </a:r>
                <a:endParaRPr lang="en-US" altLang="zh-CN" b="1" i="1">
                  <a:solidFill>
                    <a:srgbClr val="000099"/>
                  </a:solidFill>
                </a:endParaRPr>
              </a:p>
            </p:txBody>
          </p:sp>
          <p:sp>
            <p:nvSpPr>
              <p:cNvPr id="36902" name="Text Box 28"/>
              <p:cNvSpPr txBox="1">
                <a:spLocks noChangeAspect="1" noChangeArrowheads="1"/>
              </p:cNvSpPr>
              <p:nvPr/>
            </p:nvSpPr>
            <p:spPr bwMode="auto">
              <a:xfrm>
                <a:off x="3498" y="1211"/>
                <a:ext cx="236" cy="359"/>
              </a:xfrm>
              <a:prstGeom prst="rect">
                <a:avLst/>
              </a:prstGeom>
              <a:noFill/>
              <a:ln w="9525">
                <a:noFill/>
                <a:miter lim="800000"/>
              </a:ln>
            </p:spPr>
            <p:txBody>
              <a:bodyPr wrap="none">
                <a:spAutoFit/>
              </a:bodyPr>
              <a:lstStyle/>
              <a:p>
                <a:pPr>
                  <a:lnSpc>
                    <a:spcPct val="115000"/>
                  </a:lnSpc>
                </a:pPr>
                <a:r>
                  <a:rPr lang="en-US" altLang="zh-CN" b="1" i="1">
                    <a:solidFill>
                      <a:srgbClr val="000099"/>
                    </a:solidFill>
                  </a:rPr>
                  <a:t>p</a:t>
                </a:r>
                <a:endParaRPr lang="en-US" altLang="zh-CN" b="1" i="1">
                  <a:solidFill>
                    <a:srgbClr val="000099"/>
                  </a:solidFill>
                </a:endParaRPr>
              </a:p>
            </p:txBody>
          </p:sp>
          <p:sp>
            <p:nvSpPr>
              <p:cNvPr id="36903" name="Text Box 29"/>
              <p:cNvSpPr txBox="1">
                <a:spLocks noChangeAspect="1" noChangeArrowheads="1"/>
              </p:cNvSpPr>
              <p:nvPr/>
            </p:nvSpPr>
            <p:spPr bwMode="auto">
              <a:xfrm>
                <a:off x="3498" y="2680"/>
                <a:ext cx="283" cy="359"/>
              </a:xfrm>
              <a:prstGeom prst="rect">
                <a:avLst/>
              </a:prstGeom>
              <a:noFill/>
              <a:ln w="9525">
                <a:noFill/>
                <a:miter lim="800000"/>
              </a:ln>
            </p:spPr>
            <p:txBody>
              <a:bodyPr wrap="none">
                <a:spAutoFit/>
              </a:bodyPr>
              <a:lstStyle/>
              <a:p>
                <a:pPr>
                  <a:lnSpc>
                    <a:spcPct val="115000"/>
                  </a:lnSpc>
                </a:pPr>
                <a:r>
                  <a:rPr lang="en-US" altLang="zh-CN" b="1" i="1">
                    <a:solidFill>
                      <a:srgbClr val="000099"/>
                    </a:solidFill>
                  </a:rPr>
                  <a:t>O</a:t>
                </a:r>
                <a:endParaRPr lang="en-US" altLang="zh-CN" b="1" i="1">
                  <a:solidFill>
                    <a:srgbClr val="000099"/>
                  </a:solidFill>
                </a:endParaRPr>
              </a:p>
            </p:txBody>
          </p:sp>
        </p:grpSp>
        <p:sp>
          <p:nvSpPr>
            <p:cNvPr id="36886" name="Line 30"/>
            <p:cNvSpPr>
              <a:spLocks noChangeShapeType="1"/>
            </p:cNvSpPr>
            <p:nvPr/>
          </p:nvSpPr>
          <p:spPr bwMode="auto">
            <a:xfrm>
              <a:off x="4707" y="1422"/>
              <a:ext cx="576" cy="576"/>
            </a:xfrm>
            <a:prstGeom prst="line">
              <a:avLst/>
            </a:prstGeom>
            <a:noFill/>
            <a:ln w="57150">
              <a:solidFill>
                <a:srgbClr val="FF0000"/>
              </a:solidFill>
              <a:round/>
            </a:ln>
          </p:spPr>
          <p:txBody>
            <a:bodyPr/>
            <a:lstStyle/>
            <a:p>
              <a:endParaRPr lang="zh-CN" altLang="en-US"/>
            </a:p>
          </p:txBody>
        </p:sp>
        <p:sp>
          <p:nvSpPr>
            <p:cNvPr id="36887" name="Line 31"/>
            <p:cNvSpPr>
              <a:spLocks noChangeShapeType="1"/>
            </p:cNvSpPr>
            <p:nvPr/>
          </p:nvSpPr>
          <p:spPr bwMode="auto">
            <a:xfrm flipH="1">
              <a:off x="5300" y="1998"/>
              <a:ext cx="1" cy="198"/>
            </a:xfrm>
            <a:prstGeom prst="line">
              <a:avLst/>
            </a:prstGeom>
            <a:noFill/>
            <a:ln w="19050">
              <a:solidFill>
                <a:srgbClr val="000099"/>
              </a:solidFill>
              <a:prstDash val="dash"/>
              <a:round/>
            </a:ln>
          </p:spPr>
          <p:txBody>
            <a:bodyPr/>
            <a:lstStyle/>
            <a:p>
              <a:endParaRPr lang="zh-CN" altLang="en-US"/>
            </a:p>
          </p:txBody>
        </p:sp>
        <p:sp>
          <p:nvSpPr>
            <p:cNvPr id="36888" name="Line 32"/>
            <p:cNvSpPr>
              <a:spLocks noChangeShapeType="1"/>
            </p:cNvSpPr>
            <p:nvPr/>
          </p:nvSpPr>
          <p:spPr bwMode="auto">
            <a:xfrm>
              <a:off x="4227" y="1422"/>
              <a:ext cx="480" cy="0"/>
            </a:xfrm>
            <a:prstGeom prst="line">
              <a:avLst/>
            </a:prstGeom>
            <a:noFill/>
            <a:ln w="19050">
              <a:solidFill>
                <a:srgbClr val="000099"/>
              </a:solidFill>
              <a:prstDash val="dash"/>
              <a:round/>
            </a:ln>
          </p:spPr>
          <p:txBody>
            <a:bodyPr/>
            <a:lstStyle/>
            <a:p>
              <a:endParaRPr lang="zh-CN" altLang="en-US"/>
            </a:p>
          </p:txBody>
        </p:sp>
        <p:sp>
          <p:nvSpPr>
            <p:cNvPr id="36889" name="Line 33"/>
            <p:cNvSpPr>
              <a:spLocks noChangeShapeType="1"/>
            </p:cNvSpPr>
            <p:nvPr/>
          </p:nvSpPr>
          <p:spPr bwMode="auto">
            <a:xfrm>
              <a:off x="4965" y="1680"/>
              <a:ext cx="192" cy="192"/>
            </a:xfrm>
            <a:prstGeom prst="line">
              <a:avLst/>
            </a:prstGeom>
            <a:noFill/>
            <a:ln w="57150">
              <a:solidFill>
                <a:srgbClr val="008000"/>
              </a:solidFill>
              <a:round/>
              <a:tailEnd type="triangle" w="med" len="med"/>
            </a:ln>
          </p:spPr>
          <p:txBody>
            <a:bodyPr/>
            <a:lstStyle/>
            <a:p>
              <a:endParaRPr lang="zh-CN" altLang="en-US"/>
            </a:p>
          </p:txBody>
        </p:sp>
        <p:sp>
          <p:nvSpPr>
            <p:cNvPr id="36890" name="Line 34"/>
            <p:cNvSpPr>
              <a:spLocks noChangeShapeType="1"/>
            </p:cNvSpPr>
            <p:nvPr/>
          </p:nvSpPr>
          <p:spPr bwMode="auto">
            <a:xfrm>
              <a:off x="4227" y="1998"/>
              <a:ext cx="1056" cy="0"/>
            </a:xfrm>
            <a:prstGeom prst="line">
              <a:avLst/>
            </a:prstGeom>
            <a:noFill/>
            <a:ln w="19050">
              <a:solidFill>
                <a:srgbClr val="000099"/>
              </a:solidFill>
              <a:prstDash val="dash"/>
              <a:round/>
            </a:ln>
          </p:spPr>
          <p:txBody>
            <a:bodyPr/>
            <a:lstStyle/>
            <a:p>
              <a:endParaRPr lang="zh-CN" altLang="en-US"/>
            </a:p>
          </p:txBody>
        </p:sp>
        <p:sp>
          <p:nvSpPr>
            <p:cNvPr id="36891" name="Line 35"/>
            <p:cNvSpPr>
              <a:spLocks noChangeShapeType="1"/>
            </p:cNvSpPr>
            <p:nvPr/>
          </p:nvSpPr>
          <p:spPr bwMode="auto">
            <a:xfrm flipH="1">
              <a:off x="4704" y="1422"/>
              <a:ext cx="3" cy="774"/>
            </a:xfrm>
            <a:prstGeom prst="line">
              <a:avLst/>
            </a:prstGeom>
            <a:noFill/>
            <a:ln w="19050">
              <a:solidFill>
                <a:srgbClr val="000099"/>
              </a:solidFill>
              <a:prstDash val="dash"/>
              <a:round/>
            </a:ln>
          </p:spPr>
          <p:txBody>
            <a:bodyPr/>
            <a:lstStyle/>
            <a:p>
              <a:endParaRPr lang="zh-CN" altLang="en-US"/>
            </a:p>
          </p:txBody>
        </p:sp>
        <p:sp>
          <p:nvSpPr>
            <p:cNvPr id="36892" name="Rectangle 36"/>
            <p:cNvSpPr>
              <a:spLocks noChangeArrowheads="1"/>
            </p:cNvSpPr>
            <p:nvPr/>
          </p:nvSpPr>
          <p:spPr bwMode="auto">
            <a:xfrm>
              <a:off x="5194" y="1763"/>
              <a:ext cx="180" cy="411"/>
            </a:xfrm>
            <a:prstGeom prst="rect">
              <a:avLst/>
            </a:prstGeom>
            <a:noFill/>
            <a:ln w="9525">
              <a:noFill/>
              <a:miter lim="800000"/>
            </a:ln>
          </p:spPr>
          <p:txBody>
            <a:bodyPr wrap="none">
              <a:spAutoFit/>
            </a:bodyPr>
            <a:lstStyle/>
            <a:p>
              <a:pPr>
                <a:lnSpc>
                  <a:spcPct val="115000"/>
                </a:lnSpc>
              </a:pPr>
              <a:r>
                <a:rPr kumimoji="1" lang="en-US" altLang="zh-CN" sz="3200" b="1">
                  <a:solidFill>
                    <a:srgbClr val="CC0000"/>
                  </a:solidFill>
                  <a:cs typeface="Times New Roman" panose="02020603050405020304" pitchFamily="18" charset="0"/>
                </a:rPr>
                <a:t>·</a:t>
              </a:r>
              <a:endParaRPr kumimoji="1" lang="en-US" altLang="zh-CN" sz="3200" b="1">
                <a:solidFill>
                  <a:srgbClr val="CC0000"/>
                </a:solidFill>
                <a:cs typeface="Times New Roman" panose="02020603050405020304" pitchFamily="18" charset="0"/>
              </a:endParaRPr>
            </a:p>
          </p:txBody>
        </p:sp>
        <p:sp>
          <p:nvSpPr>
            <p:cNvPr id="36893" name="Rectangle 37"/>
            <p:cNvSpPr>
              <a:spLocks noChangeArrowheads="1"/>
            </p:cNvSpPr>
            <p:nvPr/>
          </p:nvSpPr>
          <p:spPr bwMode="auto">
            <a:xfrm>
              <a:off x="4635" y="1210"/>
              <a:ext cx="180" cy="411"/>
            </a:xfrm>
            <a:prstGeom prst="rect">
              <a:avLst/>
            </a:prstGeom>
            <a:noFill/>
            <a:ln w="9525">
              <a:noFill/>
              <a:miter lim="800000"/>
            </a:ln>
          </p:spPr>
          <p:txBody>
            <a:bodyPr wrap="none">
              <a:spAutoFit/>
            </a:bodyPr>
            <a:lstStyle/>
            <a:p>
              <a:pPr>
                <a:lnSpc>
                  <a:spcPct val="115000"/>
                </a:lnSpc>
              </a:pPr>
              <a:r>
                <a:rPr kumimoji="1" lang="en-US" altLang="zh-CN" sz="3200" b="1">
                  <a:solidFill>
                    <a:srgbClr val="CC0000"/>
                  </a:solidFill>
                  <a:cs typeface="Times New Roman" panose="02020603050405020304" pitchFamily="18" charset="0"/>
                </a:rPr>
                <a:t>·</a:t>
              </a:r>
              <a:endParaRPr kumimoji="1" lang="en-US" altLang="zh-CN" sz="3200" b="1">
                <a:solidFill>
                  <a:srgbClr val="CC0000"/>
                </a:solidFill>
                <a:cs typeface="Times New Roman" panose="02020603050405020304" pitchFamily="18" charset="0"/>
              </a:endParaRPr>
            </a:p>
          </p:txBody>
        </p:sp>
        <p:sp>
          <p:nvSpPr>
            <p:cNvPr id="36894" name="Text Box 38"/>
            <p:cNvSpPr txBox="1">
              <a:spLocks noChangeArrowheads="1"/>
            </p:cNvSpPr>
            <p:nvPr/>
          </p:nvSpPr>
          <p:spPr bwMode="auto">
            <a:xfrm>
              <a:off x="4571" y="2168"/>
              <a:ext cx="275" cy="279"/>
            </a:xfrm>
            <a:prstGeom prst="rect">
              <a:avLst/>
            </a:prstGeom>
            <a:noFill/>
            <a:ln w="9525">
              <a:noFill/>
              <a:miter lim="800000"/>
            </a:ln>
          </p:spPr>
          <p:txBody>
            <a:bodyPr wrap="none">
              <a:spAutoFit/>
            </a:bodyPr>
            <a:lstStyle/>
            <a:p>
              <a:pPr>
                <a:lnSpc>
                  <a:spcPct val="115000"/>
                </a:lnSpc>
              </a:pPr>
              <a:r>
                <a:rPr lang="en-US" altLang="zh-CN" sz="2000" b="1" i="1">
                  <a:solidFill>
                    <a:srgbClr val="000099"/>
                  </a:solidFill>
                </a:rPr>
                <a:t>V</a:t>
              </a:r>
              <a:r>
                <a:rPr lang="en-US" altLang="zh-CN" sz="2000" b="1" baseline="-25000">
                  <a:solidFill>
                    <a:srgbClr val="000099"/>
                  </a:solidFill>
                </a:rPr>
                <a:t>0</a:t>
              </a:r>
              <a:endParaRPr lang="en-US" altLang="zh-CN" sz="2000" b="1">
                <a:solidFill>
                  <a:srgbClr val="000099"/>
                </a:solidFill>
              </a:endParaRPr>
            </a:p>
          </p:txBody>
        </p:sp>
        <p:sp>
          <p:nvSpPr>
            <p:cNvPr id="36895" name="Text Box 39"/>
            <p:cNvSpPr txBox="1">
              <a:spLocks noChangeArrowheads="1"/>
            </p:cNvSpPr>
            <p:nvPr/>
          </p:nvSpPr>
          <p:spPr bwMode="auto">
            <a:xfrm>
              <a:off x="5058" y="2196"/>
              <a:ext cx="355" cy="279"/>
            </a:xfrm>
            <a:prstGeom prst="rect">
              <a:avLst/>
            </a:prstGeom>
            <a:noFill/>
            <a:ln w="9525">
              <a:noFill/>
              <a:miter lim="800000"/>
            </a:ln>
          </p:spPr>
          <p:txBody>
            <a:bodyPr wrap="none">
              <a:spAutoFit/>
            </a:bodyPr>
            <a:lstStyle/>
            <a:p>
              <a:pPr>
                <a:lnSpc>
                  <a:spcPct val="115000"/>
                </a:lnSpc>
              </a:pPr>
              <a:r>
                <a:rPr lang="en-US" altLang="zh-CN" sz="2000" b="1">
                  <a:solidFill>
                    <a:srgbClr val="000099"/>
                  </a:solidFill>
                </a:rPr>
                <a:t>2</a:t>
              </a:r>
              <a:r>
                <a:rPr lang="en-US" altLang="zh-CN" sz="2000" b="1" i="1">
                  <a:solidFill>
                    <a:srgbClr val="000099"/>
                  </a:solidFill>
                </a:rPr>
                <a:t>V</a:t>
              </a:r>
              <a:r>
                <a:rPr lang="en-US" altLang="zh-CN" sz="2000" b="1" baseline="-25000">
                  <a:solidFill>
                    <a:srgbClr val="000099"/>
                  </a:solidFill>
                </a:rPr>
                <a:t>0</a:t>
              </a:r>
              <a:endParaRPr lang="en-US" altLang="zh-CN" sz="2000" b="1" baseline="-25000">
                <a:solidFill>
                  <a:srgbClr val="000099"/>
                </a:solidFill>
              </a:endParaRPr>
            </a:p>
          </p:txBody>
        </p:sp>
        <p:sp>
          <p:nvSpPr>
            <p:cNvPr id="36896" name="Text Box 40"/>
            <p:cNvSpPr txBox="1">
              <a:spLocks noChangeArrowheads="1"/>
            </p:cNvSpPr>
            <p:nvPr/>
          </p:nvSpPr>
          <p:spPr bwMode="auto">
            <a:xfrm>
              <a:off x="3872" y="1799"/>
              <a:ext cx="264" cy="301"/>
            </a:xfrm>
            <a:prstGeom prst="rect">
              <a:avLst/>
            </a:prstGeom>
            <a:noFill/>
            <a:ln w="9525">
              <a:noFill/>
              <a:miter lim="800000"/>
            </a:ln>
          </p:spPr>
          <p:txBody>
            <a:bodyPr wrap="none">
              <a:spAutoFit/>
            </a:bodyPr>
            <a:lstStyle/>
            <a:p>
              <a:pPr>
                <a:lnSpc>
                  <a:spcPct val="115000"/>
                </a:lnSpc>
              </a:pPr>
              <a:r>
                <a:rPr lang="en-US" altLang="zh-CN" sz="2200" b="1" i="1">
                  <a:solidFill>
                    <a:srgbClr val="000099"/>
                  </a:solidFill>
                </a:rPr>
                <a:t>p</a:t>
              </a:r>
              <a:r>
                <a:rPr lang="en-US" altLang="zh-CN" sz="2200" b="1" baseline="-25000">
                  <a:solidFill>
                    <a:srgbClr val="000099"/>
                  </a:solidFill>
                </a:rPr>
                <a:t>0</a:t>
              </a:r>
              <a:endParaRPr lang="en-US" altLang="zh-CN" sz="2200" b="1" baseline="-25000">
                <a:solidFill>
                  <a:srgbClr val="000099"/>
                </a:solidFill>
              </a:endParaRPr>
            </a:p>
          </p:txBody>
        </p:sp>
        <p:sp>
          <p:nvSpPr>
            <p:cNvPr id="36897" name="Text Box 41"/>
            <p:cNvSpPr txBox="1">
              <a:spLocks noChangeArrowheads="1"/>
            </p:cNvSpPr>
            <p:nvPr/>
          </p:nvSpPr>
          <p:spPr bwMode="auto">
            <a:xfrm>
              <a:off x="3822" y="1221"/>
              <a:ext cx="400" cy="301"/>
            </a:xfrm>
            <a:prstGeom prst="rect">
              <a:avLst/>
            </a:prstGeom>
            <a:noFill/>
            <a:ln w="9525">
              <a:noFill/>
              <a:miter lim="800000"/>
            </a:ln>
          </p:spPr>
          <p:txBody>
            <a:bodyPr>
              <a:spAutoFit/>
            </a:bodyPr>
            <a:lstStyle/>
            <a:p>
              <a:pPr>
                <a:lnSpc>
                  <a:spcPct val="115000"/>
                </a:lnSpc>
              </a:pPr>
              <a:r>
                <a:rPr lang="en-US" altLang="zh-CN" sz="2200" b="1">
                  <a:solidFill>
                    <a:srgbClr val="000099"/>
                  </a:solidFill>
                </a:rPr>
                <a:t>2</a:t>
              </a:r>
              <a:r>
                <a:rPr lang="en-US" altLang="zh-CN" sz="2200" b="1" i="1">
                  <a:solidFill>
                    <a:srgbClr val="000099"/>
                  </a:solidFill>
                </a:rPr>
                <a:t>p</a:t>
              </a:r>
              <a:r>
                <a:rPr lang="en-US" altLang="zh-CN" sz="2200" b="1" baseline="-25000">
                  <a:solidFill>
                    <a:srgbClr val="000099"/>
                  </a:solidFill>
                </a:rPr>
                <a:t>0</a:t>
              </a:r>
              <a:endParaRPr lang="en-US" altLang="zh-CN" sz="2200" b="1">
                <a:solidFill>
                  <a:srgbClr val="000099"/>
                </a:solidFill>
              </a:endParaRPr>
            </a:p>
          </p:txBody>
        </p:sp>
        <p:sp>
          <p:nvSpPr>
            <p:cNvPr id="36898" name="Oval 42"/>
            <p:cNvSpPr>
              <a:spLocks noChangeArrowheads="1"/>
            </p:cNvSpPr>
            <p:nvPr/>
          </p:nvSpPr>
          <p:spPr bwMode="auto">
            <a:xfrm>
              <a:off x="5147" y="1861"/>
              <a:ext cx="91" cy="91"/>
            </a:xfrm>
            <a:prstGeom prst="ellipse">
              <a:avLst/>
            </a:prstGeom>
            <a:solidFill>
              <a:srgbClr val="333300"/>
            </a:solidFill>
            <a:ln w="9525">
              <a:solidFill>
                <a:srgbClr val="FF0000"/>
              </a:solidFill>
              <a:round/>
            </a:ln>
          </p:spPr>
          <p:txBody>
            <a:bodyPr wrap="none" anchor="ctr"/>
            <a:lstStyle/>
            <a:p>
              <a:pPr algn="ctr"/>
              <a:endParaRPr lang="zh-CN" altLang="en-US"/>
            </a:p>
          </p:txBody>
        </p:sp>
      </p:grpSp>
      <p:sp>
        <p:nvSpPr>
          <p:cNvPr id="215085" name="AutoShape 45">
            <a:hlinkClick r:id="rId21" action="ppaction://hlinksldjump" highlightClick="1"/>
          </p:cNvPr>
          <p:cNvSpPr>
            <a:spLocks noChangeArrowheads="1"/>
          </p:cNvSpPr>
          <p:nvPr/>
        </p:nvSpPr>
        <p:spPr bwMode="auto">
          <a:xfrm>
            <a:off x="8577263" y="6173788"/>
            <a:ext cx="287337" cy="287337"/>
          </a:xfrm>
          <a:prstGeom prst="actionButtonBeginning">
            <a:avLst/>
          </a:prstGeom>
          <a:solidFill>
            <a:srgbClr val="99CCFF"/>
          </a:solidFill>
          <a:ln w="9525">
            <a:noFill/>
            <a:miter lim="800000"/>
          </a:ln>
        </p:spPr>
        <p:txBody>
          <a:bodyPr wrap="none"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42"/>
                                        </p:tgtEl>
                                        <p:attrNameLst>
                                          <p:attrName>style.visibility</p:attrName>
                                        </p:attrNameLst>
                                      </p:cBhvr>
                                      <p:to>
                                        <p:strVal val="visible"/>
                                      </p:to>
                                    </p:set>
                                    <p:animEffect transition="in" filter="wipe(left)">
                                      <p:cBhvr>
                                        <p:cTn id="7" dur="500"/>
                                        <p:tgtEl>
                                          <p:spTgt spid="2150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5043"/>
                                        </p:tgtEl>
                                        <p:attrNameLst>
                                          <p:attrName>style.visibility</p:attrName>
                                        </p:attrNameLst>
                                      </p:cBhvr>
                                      <p:to>
                                        <p:strVal val="visible"/>
                                      </p:to>
                                    </p:set>
                                    <p:animEffect transition="in" filter="wipe(left)">
                                      <p:cBhvr>
                                        <p:cTn id="12" dur="500"/>
                                        <p:tgtEl>
                                          <p:spTgt spid="2150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5044"/>
                                        </p:tgtEl>
                                        <p:attrNameLst>
                                          <p:attrName>style.visibility</p:attrName>
                                        </p:attrNameLst>
                                      </p:cBhvr>
                                      <p:to>
                                        <p:strVal val="visible"/>
                                      </p:to>
                                    </p:set>
                                    <p:animEffect transition="in" filter="wipe(left)">
                                      <p:cBhvr>
                                        <p:cTn id="17" dur="500"/>
                                        <p:tgtEl>
                                          <p:spTgt spid="2150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045"/>
                                        </p:tgtEl>
                                        <p:attrNameLst>
                                          <p:attrName>style.visibility</p:attrName>
                                        </p:attrNameLst>
                                      </p:cBhvr>
                                      <p:to>
                                        <p:strVal val="visible"/>
                                      </p:to>
                                    </p:set>
                                    <p:animEffect transition="in" filter="wipe(left)">
                                      <p:cBhvr>
                                        <p:cTn id="22" dur="500"/>
                                        <p:tgtEl>
                                          <p:spTgt spid="21504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15049"/>
                                        </p:tgtEl>
                                        <p:attrNameLst>
                                          <p:attrName>style.visibility</p:attrName>
                                        </p:attrNameLst>
                                      </p:cBhvr>
                                      <p:to>
                                        <p:strVal val="visible"/>
                                      </p:to>
                                    </p:set>
                                    <p:animEffect transition="in" filter="dissolve">
                                      <p:cBhvr>
                                        <p:cTn id="27" dur="500"/>
                                        <p:tgtEl>
                                          <p:spTgt spid="2150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5047"/>
                                        </p:tgtEl>
                                        <p:attrNameLst>
                                          <p:attrName>style.visibility</p:attrName>
                                        </p:attrNameLst>
                                      </p:cBhvr>
                                      <p:to>
                                        <p:strVal val="visible"/>
                                      </p:to>
                                    </p:set>
                                    <p:animEffect transition="in" filter="wipe(left)">
                                      <p:cBhvr>
                                        <p:cTn id="32" dur="500"/>
                                        <p:tgtEl>
                                          <p:spTgt spid="21504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5052"/>
                                        </p:tgtEl>
                                        <p:attrNameLst>
                                          <p:attrName>style.visibility</p:attrName>
                                        </p:attrNameLst>
                                      </p:cBhvr>
                                      <p:to>
                                        <p:strVal val="visible"/>
                                      </p:to>
                                    </p:set>
                                    <p:animEffect transition="in" filter="wipe(left)">
                                      <p:cBhvr>
                                        <p:cTn id="37" dur="500"/>
                                        <p:tgtEl>
                                          <p:spTgt spid="2150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5046"/>
                                        </p:tgtEl>
                                        <p:attrNameLst>
                                          <p:attrName>style.visibility</p:attrName>
                                        </p:attrNameLst>
                                      </p:cBhvr>
                                      <p:to>
                                        <p:strVal val="visible"/>
                                      </p:to>
                                    </p:set>
                                    <p:animEffect transition="in" filter="wipe(left)">
                                      <p:cBhvr>
                                        <p:cTn id="42" dur="500"/>
                                        <p:tgtEl>
                                          <p:spTgt spid="21504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5050"/>
                                        </p:tgtEl>
                                        <p:attrNameLst>
                                          <p:attrName>style.visibility</p:attrName>
                                        </p:attrNameLst>
                                      </p:cBhvr>
                                      <p:to>
                                        <p:strVal val="visible"/>
                                      </p:to>
                                    </p:set>
                                    <p:animEffect transition="in" filter="wipe(left)">
                                      <p:cBhvr>
                                        <p:cTn id="47" dur="500"/>
                                        <p:tgtEl>
                                          <p:spTgt spid="2150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5053"/>
                                        </p:tgtEl>
                                        <p:attrNameLst>
                                          <p:attrName>style.visibility</p:attrName>
                                        </p:attrNameLst>
                                      </p:cBhvr>
                                      <p:to>
                                        <p:strVal val="visible"/>
                                      </p:to>
                                    </p:set>
                                    <p:animEffect transition="in" filter="wipe(left)">
                                      <p:cBhvr>
                                        <p:cTn id="52" dur="500"/>
                                        <p:tgtEl>
                                          <p:spTgt spid="21505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5048"/>
                                        </p:tgtEl>
                                        <p:attrNameLst>
                                          <p:attrName>style.visibility</p:attrName>
                                        </p:attrNameLst>
                                      </p:cBhvr>
                                      <p:to>
                                        <p:strVal val="visible"/>
                                      </p:to>
                                    </p:set>
                                    <p:animEffect transition="in" filter="wipe(left)">
                                      <p:cBhvr>
                                        <p:cTn id="57" dur="500"/>
                                        <p:tgtEl>
                                          <p:spTgt spid="21504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15051"/>
                                        </p:tgtEl>
                                        <p:attrNameLst>
                                          <p:attrName>style.visibility</p:attrName>
                                        </p:attrNameLst>
                                      </p:cBhvr>
                                      <p:to>
                                        <p:strVal val="visible"/>
                                      </p:to>
                                    </p:set>
                                    <p:animEffect transition="in" filter="wipe(left)">
                                      <p:cBhvr>
                                        <p:cTn id="62" dur="500"/>
                                        <p:tgtEl>
                                          <p:spTgt spid="21505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5054"/>
                                        </p:tgtEl>
                                        <p:attrNameLst>
                                          <p:attrName>style.visibility</p:attrName>
                                        </p:attrNameLst>
                                      </p:cBhvr>
                                      <p:to>
                                        <p:strVal val="visible"/>
                                      </p:to>
                                    </p:set>
                                    <p:animEffect transition="in" filter="wipe(left)">
                                      <p:cBhvr>
                                        <p:cTn id="67" dur="500"/>
                                        <p:tgtEl>
                                          <p:spTgt spid="21505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215085"/>
                                        </p:tgtEl>
                                        <p:attrNameLst>
                                          <p:attrName>style.visibility</p:attrName>
                                        </p:attrNameLst>
                                      </p:cBhvr>
                                      <p:to>
                                        <p:strVal val="visible"/>
                                      </p:to>
                                    </p:set>
                                    <p:animEffect transition="in" filter="wipe(down)">
                                      <p:cBhvr>
                                        <p:cTn id="72" dur="500"/>
                                        <p:tgtEl>
                                          <p:spTgt spid="215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p:bldP spid="215045" grpId="0"/>
      <p:bldP spid="215049" grpId="0" animBg="1"/>
      <p:bldP spid="215053" grpId="0"/>
      <p:bldP spid="215054" grpId="0"/>
      <p:bldP spid="21508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idx="4294967295"/>
          </p:nvPr>
        </p:nvSpPr>
        <p:spPr>
          <a:xfrm>
            <a:off x="0" y="152400"/>
            <a:ext cx="8229600" cy="1143000"/>
          </a:xfrm>
        </p:spPr>
        <p:txBody>
          <a:bodyPr/>
          <a:lstStyle/>
          <a:p>
            <a:pPr eaLnBrk="1" hangingPunct="1"/>
            <a:r>
              <a:rPr kumimoji="1" lang="en-US" altLang="zh-CN" sz="2800" b="1" smtClean="0">
                <a:solidFill>
                  <a:schemeClr val="accent2"/>
                </a:solidFill>
                <a:latin typeface="黑体" panose="02010609060101010101" pitchFamily="49" charset="-122"/>
                <a:ea typeface="黑体" panose="02010609060101010101" pitchFamily="49" charset="-122"/>
              </a:rPr>
              <a:t>§</a:t>
            </a:r>
            <a:r>
              <a:rPr kumimoji="1" lang="en-US" altLang="zh-CN" sz="2800" b="1" smtClean="0">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7.4 </a:t>
            </a:r>
            <a:r>
              <a:rPr kumimoji="1" lang="en-US" altLang="zh-CN" sz="2800" b="1" smtClean="0">
                <a:solidFill>
                  <a:schemeClr val="accent2"/>
                </a:solidFill>
                <a:latin typeface="黑体" panose="02010609060101010101" pitchFamily="49" charset="-122"/>
                <a:ea typeface="黑体" panose="02010609060101010101" pitchFamily="49" charset="-122"/>
              </a:rPr>
              <a:t> </a:t>
            </a:r>
            <a:r>
              <a:rPr kumimoji="1" lang="zh-CN" altLang="en-US" sz="2800" b="1" smtClean="0">
                <a:solidFill>
                  <a:schemeClr val="accent2"/>
                </a:solidFill>
                <a:latin typeface="黑体" panose="02010609060101010101" pitchFamily="49" charset="-122"/>
                <a:ea typeface="黑体" panose="02010609060101010101" pitchFamily="49" charset="-122"/>
              </a:rPr>
              <a:t>循环过程与卡诺循环</a:t>
            </a:r>
            <a:endParaRPr kumimoji="1" lang="zh-CN" altLang="en-US" sz="2800" b="1" smtClean="0">
              <a:solidFill>
                <a:schemeClr val="accent2"/>
              </a:solidFill>
              <a:latin typeface="黑体" panose="02010609060101010101" pitchFamily="49" charset="-122"/>
              <a:ea typeface="黑体" panose="02010609060101010101" pitchFamily="49" charset="-122"/>
            </a:endParaRPr>
          </a:p>
        </p:txBody>
      </p:sp>
      <p:sp>
        <p:nvSpPr>
          <p:cNvPr id="77827" name="Text Box 3"/>
          <p:cNvSpPr txBox="1">
            <a:spLocks noChangeArrowheads="1"/>
          </p:cNvSpPr>
          <p:nvPr/>
        </p:nvSpPr>
        <p:spPr bwMode="auto">
          <a:xfrm>
            <a:off x="250825" y="1196975"/>
            <a:ext cx="3035300" cy="461963"/>
          </a:xfrm>
          <a:prstGeom prst="rect">
            <a:avLst/>
          </a:prstGeom>
          <a:noFill/>
          <a:ln w="12700" cap="sq">
            <a:noFill/>
            <a:miter lim="800000"/>
            <a:headEnd type="none" w="sm" len="sm"/>
            <a:tailEnd type="none" w="sm" len="sm"/>
          </a:ln>
        </p:spPr>
        <p:txBody>
          <a:bodyPr>
            <a:spAutoFit/>
          </a:bodyPr>
          <a:lstStyle/>
          <a:p>
            <a:r>
              <a:rPr kumimoji="1" lang="en-US" altLang="zh-CN" b="1">
                <a:solidFill>
                  <a:srgbClr val="0000FF"/>
                </a:solidFill>
                <a:cs typeface="Times New Roman" panose="02020603050405020304" pitchFamily="18" charset="0"/>
              </a:rPr>
              <a:t>7.4.1 </a:t>
            </a:r>
            <a:r>
              <a:rPr kumimoji="1" lang="en-US" altLang="zh-CN" b="1">
                <a:solidFill>
                  <a:srgbClr val="0000FF"/>
                </a:solidFill>
                <a:latin typeface="宋体" panose="02010600030101010101" pitchFamily="2" charset="-122"/>
              </a:rPr>
              <a:t> </a:t>
            </a:r>
            <a:r>
              <a:rPr kumimoji="1" lang="zh-CN" altLang="en-US" b="1">
                <a:solidFill>
                  <a:srgbClr val="0000FF"/>
                </a:solidFill>
                <a:latin typeface="宋体" panose="02010600030101010101" pitchFamily="2" charset="-122"/>
              </a:rPr>
              <a:t>循环过程</a:t>
            </a:r>
            <a:endParaRPr kumimoji="1" lang="zh-CN" altLang="en-US" b="1">
              <a:solidFill>
                <a:srgbClr val="0000FF"/>
              </a:solidFill>
              <a:latin typeface="宋体" panose="02010600030101010101" pitchFamily="2" charset="-122"/>
            </a:endParaRPr>
          </a:p>
        </p:txBody>
      </p:sp>
      <p:sp>
        <p:nvSpPr>
          <p:cNvPr id="77828" name="Text Box 4"/>
          <p:cNvSpPr txBox="1">
            <a:spLocks noChangeArrowheads="1"/>
          </p:cNvSpPr>
          <p:nvPr/>
        </p:nvSpPr>
        <p:spPr bwMode="auto">
          <a:xfrm>
            <a:off x="879475" y="1774825"/>
            <a:ext cx="1963738" cy="457200"/>
          </a:xfrm>
          <a:prstGeom prst="rect">
            <a:avLst/>
          </a:prstGeom>
          <a:noFill/>
          <a:ln w="9525">
            <a:noFill/>
            <a:miter lim="800000"/>
          </a:ln>
        </p:spPr>
        <p:txBody>
          <a:bodyPr>
            <a:spAutoFit/>
          </a:bodyPr>
          <a:lstStyle/>
          <a:p>
            <a:r>
              <a:rPr lang="zh-CN" altLang="en-US" b="1">
                <a:solidFill>
                  <a:srgbClr val="FF0000"/>
                </a:solidFill>
              </a:rPr>
              <a:t>循环过程：</a:t>
            </a:r>
            <a:endParaRPr lang="zh-CN" altLang="en-US" b="1">
              <a:solidFill>
                <a:srgbClr val="FF0000"/>
              </a:solidFill>
            </a:endParaRPr>
          </a:p>
        </p:txBody>
      </p:sp>
      <p:sp>
        <p:nvSpPr>
          <p:cNvPr id="77829" name="Text Box 5"/>
          <p:cNvSpPr txBox="1">
            <a:spLocks noChangeArrowheads="1"/>
          </p:cNvSpPr>
          <p:nvPr/>
        </p:nvSpPr>
        <p:spPr bwMode="auto">
          <a:xfrm>
            <a:off x="2535238" y="1676400"/>
            <a:ext cx="6213475" cy="1006475"/>
          </a:xfrm>
          <a:prstGeom prst="rect">
            <a:avLst/>
          </a:prstGeom>
          <a:noFill/>
          <a:ln w="9525">
            <a:noFill/>
            <a:miter lim="800000"/>
          </a:ln>
        </p:spPr>
        <p:txBody>
          <a:bodyPr>
            <a:spAutoFit/>
          </a:bodyPr>
          <a:lstStyle/>
          <a:p>
            <a:pPr>
              <a:lnSpc>
                <a:spcPct val="125000"/>
              </a:lnSpc>
            </a:pPr>
            <a:r>
              <a:rPr lang="zh-CN" altLang="en-US" b="1"/>
              <a:t>物质系统的状态经历一系列变化后，又回到原来状态。</a:t>
            </a:r>
            <a:endParaRPr lang="zh-CN" altLang="en-US" b="1"/>
          </a:p>
        </p:txBody>
      </p:sp>
      <p:grpSp>
        <p:nvGrpSpPr>
          <p:cNvPr id="2" name="Group 6"/>
          <p:cNvGrpSpPr/>
          <p:nvPr/>
        </p:nvGrpSpPr>
        <p:grpSpPr bwMode="auto">
          <a:xfrm>
            <a:off x="971550" y="2463800"/>
            <a:ext cx="2887663" cy="2038350"/>
            <a:chOff x="612" y="1858"/>
            <a:chExt cx="1819" cy="1284"/>
          </a:xfrm>
        </p:grpSpPr>
        <p:sp>
          <p:nvSpPr>
            <p:cNvPr id="37933" name="Line 7"/>
            <p:cNvSpPr>
              <a:spLocks noChangeShapeType="1"/>
            </p:cNvSpPr>
            <p:nvPr/>
          </p:nvSpPr>
          <p:spPr bwMode="auto">
            <a:xfrm flipV="1">
              <a:off x="884" y="1982"/>
              <a:ext cx="0" cy="1041"/>
            </a:xfrm>
            <a:prstGeom prst="line">
              <a:avLst/>
            </a:prstGeom>
            <a:noFill/>
            <a:ln w="28575">
              <a:solidFill>
                <a:schemeClr val="tx1"/>
              </a:solidFill>
              <a:round/>
              <a:tailEnd type="triangle" w="med" len="med"/>
            </a:ln>
          </p:spPr>
          <p:txBody>
            <a:bodyPr/>
            <a:lstStyle/>
            <a:p>
              <a:endParaRPr lang="zh-CN" altLang="en-US"/>
            </a:p>
          </p:txBody>
        </p:sp>
        <p:sp>
          <p:nvSpPr>
            <p:cNvPr id="37934" name="Line 8"/>
            <p:cNvSpPr>
              <a:spLocks noChangeShapeType="1"/>
            </p:cNvSpPr>
            <p:nvPr/>
          </p:nvSpPr>
          <p:spPr bwMode="auto">
            <a:xfrm>
              <a:off x="874" y="3022"/>
              <a:ext cx="1316" cy="0"/>
            </a:xfrm>
            <a:prstGeom prst="line">
              <a:avLst/>
            </a:prstGeom>
            <a:noFill/>
            <a:ln w="28575">
              <a:solidFill>
                <a:schemeClr val="tx1"/>
              </a:solidFill>
              <a:round/>
              <a:tailEnd type="triangle" w="med" len="med"/>
            </a:ln>
          </p:spPr>
          <p:txBody>
            <a:bodyPr/>
            <a:lstStyle/>
            <a:p>
              <a:endParaRPr lang="zh-CN" altLang="en-US"/>
            </a:p>
          </p:txBody>
        </p:sp>
        <p:sp>
          <p:nvSpPr>
            <p:cNvPr id="37935" name="Text Box 9"/>
            <p:cNvSpPr txBox="1">
              <a:spLocks noChangeArrowheads="1"/>
            </p:cNvSpPr>
            <p:nvPr/>
          </p:nvSpPr>
          <p:spPr bwMode="auto">
            <a:xfrm>
              <a:off x="657" y="1858"/>
              <a:ext cx="212" cy="288"/>
            </a:xfrm>
            <a:prstGeom prst="rect">
              <a:avLst/>
            </a:prstGeom>
            <a:noFill/>
            <a:ln w="9525">
              <a:noFill/>
              <a:miter lim="800000"/>
            </a:ln>
          </p:spPr>
          <p:txBody>
            <a:bodyPr wrap="none">
              <a:spAutoFit/>
            </a:bodyPr>
            <a:lstStyle/>
            <a:p>
              <a:r>
                <a:rPr lang="en-US" altLang="zh-CN" b="1" i="1"/>
                <a:t>p</a:t>
              </a:r>
              <a:endParaRPr lang="en-US" altLang="zh-CN" b="1" i="1"/>
            </a:p>
          </p:txBody>
        </p:sp>
        <p:sp>
          <p:nvSpPr>
            <p:cNvPr id="37936" name="Text Box 10"/>
            <p:cNvSpPr txBox="1">
              <a:spLocks noChangeArrowheads="1"/>
            </p:cNvSpPr>
            <p:nvPr/>
          </p:nvSpPr>
          <p:spPr bwMode="auto">
            <a:xfrm>
              <a:off x="2187" y="2854"/>
              <a:ext cx="244" cy="288"/>
            </a:xfrm>
            <a:prstGeom prst="rect">
              <a:avLst/>
            </a:prstGeom>
            <a:noFill/>
            <a:ln w="9525">
              <a:noFill/>
              <a:miter lim="800000"/>
            </a:ln>
          </p:spPr>
          <p:txBody>
            <a:bodyPr wrap="none">
              <a:spAutoFit/>
            </a:bodyPr>
            <a:lstStyle/>
            <a:p>
              <a:r>
                <a:rPr lang="en-US" altLang="zh-CN" b="1" i="1"/>
                <a:t>V</a:t>
              </a:r>
              <a:endParaRPr lang="en-US" altLang="zh-CN" b="1" i="1"/>
            </a:p>
          </p:txBody>
        </p:sp>
        <p:sp>
          <p:nvSpPr>
            <p:cNvPr id="37937" name="Text Box 11"/>
            <p:cNvSpPr txBox="1">
              <a:spLocks noChangeArrowheads="1"/>
            </p:cNvSpPr>
            <p:nvPr/>
          </p:nvSpPr>
          <p:spPr bwMode="auto">
            <a:xfrm>
              <a:off x="612" y="2841"/>
              <a:ext cx="255" cy="288"/>
            </a:xfrm>
            <a:prstGeom prst="rect">
              <a:avLst/>
            </a:prstGeom>
            <a:noFill/>
            <a:ln w="9525">
              <a:noFill/>
              <a:miter lim="800000"/>
            </a:ln>
          </p:spPr>
          <p:txBody>
            <a:bodyPr wrap="none">
              <a:spAutoFit/>
            </a:bodyPr>
            <a:lstStyle/>
            <a:p>
              <a:r>
                <a:rPr lang="en-US" altLang="zh-CN" b="1" i="1"/>
                <a:t>O</a:t>
              </a:r>
              <a:endParaRPr lang="en-US" altLang="zh-CN" b="1" i="1"/>
            </a:p>
          </p:txBody>
        </p:sp>
      </p:grpSp>
      <p:grpSp>
        <p:nvGrpSpPr>
          <p:cNvPr id="3" name="Group 12"/>
          <p:cNvGrpSpPr/>
          <p:nvPr/>
        </p:nvGrpSpPr>
        <p:grpSpPr bwMode="auto">
          <a:xfrm>
            <a:off x="1908175" y="3044825"/>
            <a:ext cx="1150938" cy="839788"/>
            <a:chOff x="1202" y="2224"/>
            <a:chExt cx="725" cy="529"/>
          </a:xfrm>
        </p:grpSpPr>
        <p:sp>
          <p:nvSpPr>
            <p:cNvPr id="37931" name="Freeform 13"/>
            <p:cNvSpPr/>
            <p:nvPr/>
          </p:nvSpPr>
          <p:spPr bwMode="auto">
            <a:xfrm>
              <a:off x="1202" y="2224"/>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ln>
          </p:spPr>
          <p:txBody>
            <a:bodyPr/>
            <a:lstStyle/>
            <a:p>
              <a:pPr algn="ctr"/>
              <a:endParaRPr lang="zh-CN" altLang="en-US" b="1"/>
            </a:p>
          </p:txBody>
        </p:sp>
        <p:sp>
          <p:nvSpPr>
            <p:cNvPr id="37932" name="Line 14"/>
            <p:cNvSpPr>
              <a:spLocks noChangeShapeType="1"/>
            </p:cNvSpPr>
            <p:nvPr/>
          </p:nvSpPr>
          <p:spPr bwMode="auto">
            <a:xfrm>
              <a:off x="1746" y="2345"/>
              <a:ext cx="45" cy="45"/>
            </a:xfrm>
            <a:prstGeom prst="line">
              <a:avLst/>
            </a:prstGeom>
            <a:noFill/>
            <a:ln w="38100">
              <a:solidFill>
                <a:srgbClr val="3333CC"/>
              </a:solidFill>
              <a:round/>
              <a:tailEnd type="triangle" w="med" len="med"/>
            </a:ln>
          </p:spPr>
          <p:txBody>
            <a:bodyPr/>
            <a:lstStyle/>
            <a:p>
              <a:endParaRPr lang="zh-CN" altLang="en-US"/>
            </a:p>
          </p:txBody>
        </p:sp>
      </p:grpSp>
      <p:grpSp>
        <p:nvGrpSpPr>
          <p:cNvPr id="4" name="Group 15"/>
          <p:cNvGrpSpPr/>
          <p:nvPr/>
        </p:nvGrpSpPr>
        <p:grpSpPr bwMode="auto">
          <a:xfrm>
            <a:off x="1908175" y="3092450"/>
            <a:ext cx="1147763" cy="838200"/>
            <a:chOff x="1202" y="2254"/>
            <a:chExt cx="723" cy="528"/>
          </a:xfrm>
        </p:grpSpPr>
        <p:sp>
          <p:nvSpPr>
            <p:cNvPr id="37929" name="Freeform 16"/>
            <p:cNvSpPr/>
            <p:nvPr/>
          </p:nvSpPr>
          <p:spPr bwMode="auto">
            <a:xfrm>
              <a:off x="1202" y="2254"/>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3333CC"/>
              </a:solidFill>
              <a:round/>
            </a:ln>
          </p:spPr>
          <p:txBody>
            <a:bodyPr/>
            <a:lstStyle/>
            <a:p>
              <a:pPr algn="ctr"/>
              <a:endParaRPr lang="zh-CN" altLang="en-US" b="1"/>
            </a:p>
          </p:txBody>
        </p:sp>
        <p:sp>
          <p:nvSpPr>
            <p:cNvPr id="37930" name="Line 17"/>
            <p:cNvSpPr>
              <a:spLocks noChangeShapeType="1"/>
            </p:cNvSpPr>
            <p:nvPr/>
          </p:nvSpPr>
          <p:spPr bwMode="auto">
            <a:xfrm flipH="1" flipV="1">
              <a:off x="1383" y="2571"/>
              <a:ext cx="45" cy="45"/>
            </a:xfrm>
            <a:prstGeom prst="line">
              <a:avLst/>
            </a:prstGeom>
            <a:noFill/>
            <a:ln w="38100">
              <a:solidFill>
                <a:srgbClr val="3333CC"/>
              </a:solidFill>
              <a:round/>
              <a:tailEnd type="triangle" w="med" len="med"/>
            </a:ln>
          </p:spPr>
          <p:txBody>
            <a:bodyPr/>
            <a:lstStyle/>
            <a:p>
              <a:endParaRPr lang="zh-CN" altLang="en-US"/>
            </a:p>
          </p:txBody>
        </p:sp>
      </p:grpSp>
      <p:sp>
        <p:nvSpPr>
          <p:cNvPr id="77842" name="Oval 18"/>
          <p:cNvSpPr>
            <a:spLocks noChangeArrowheads="1"/>
          </p:cNvSpPr>
          <p:nvPr/>
        </p:nvSpPr>
        <p:spPr bwMode="auto">
          <a:xfrm>
            <a:off x="1874838" y="3059113"/>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77843" name="Oval 19"/>
          <p:cNvSpPr>
            <a:spLocks noChangeArrowheads="1"/>
          </p:cNvSpPr>
          <p:nvPr/>
        </p:nvSpPr>
        <p:spPr bwMode="auto">
          <a:xfrm>
            <a:off x="3019425" y="3883025"/>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77844" name="Text Box 20"/>
          <p:cNvSpPr txBox="1">
            <a:spLocks noChangeArrowheads="1"/>
          </p:cNvSpPr>
          <p:nvPr/>
        </p:nvSpPr>
        <p:spPr bwMode="auto">
          <a:xfrm>
            <a:off x="1743075" y="2608263"/>
            <a:ext cx="381000" cy="457200"/>
          </a:xfrm>
          <a:prstGeom prst="rect">
            <a:avLst/>
          </a:prstGeom>
          <a:noFill/>
          <a:ln w="9525">
            <a:noFill/>
            <a:miter lim="800000"/>
          </a:ln>
        </p:spPr>
        <p:txBody>
          <a:bodyPr>
            <a:spAutoFit/>
          </a:bodyPr>
          <a:lstStyle/>
          <a:p>
            <a:r>
              <a:rPr lang="en-US" altLang="zh-CN" b="1" i="1"/>
              <a:t>I</a:t>
            </a:r>
            <a:endParaRPr lang="en-US" altLang="zh-CN" b="1" i="1"/>
          </a:p>
        </p:txBody>
      </p:sp>
      <p:sp>
        <p:nvSpPr>
          <p:cNvPr id="77845" name="Text Box 21"/>
          <p:cNvSpPr txBox="1">
            <a:spLocks noChangeArrowheads="1"/>
          </p:cNvSpPr>
          <p:nvPr/>
        </p:nvSpPr>
        <p:spPr bwMode="auto">
          <a:xfrm>
            <a:off x="3059113" y="3668713"/>
            <a:ext cx="649287" cy="457200"/>
          </a:xfrm>
          <a:prstGeom prst="rect">
            <a:avLst/>
          </a:prstGeom>
          <a:noFill/>
          <a:ln w="9525">
            <a:noFill/>
            <a:miter lim="800000"/>
          </a:ln>
        </p:spPr>
        <p:txBody>
          <a:bodyPr>
            <a:spAutoFit/>
          </a:bodyPr>
          <a:lstStyle/>
          <a:p>
            <a:r>
              <a:rPr lang="en-US" altLang="zh-CN" b="1" i="1"/>
              <a:t>II</a:t>
            </a:r>
            <a:endParaRPr lang="en-US" altLang="zh-CN" b="1" i="1"/>
          </a:p>
        </p:txBody>
      </p:sp>
      <p:sp>
        <p:nvSpPr>
          <p:cNvPr id="77846" name="Text Box 22"/>
          <p:cNvSpPr txBox="1">
            <a:spLocks noChangeArrowheads="1"/>
          </p:cNvSpPr>
          <p:nvPr/>
        </p:nvSpPr>
        <p:spPr bwMode="auto">
          <a:xfrm>
            <a:off x="2700338" y="2732088"/>
            <a:ext cx="336550" cy="457200"/>
          </a:xfrm>
          <a:prstGeom prst="rect">
            <a:avLst/>
          </a:prstGeom>
          <a:noFill/>
          <a:ln w="9525">
            <a:noFill/>
            <a:miter lim="800000"/>
          </a:ln>
        </p:spPr>
        <p:txBody>
          <a:bodyPr wrap="none">
            <a:spAutoFit/>
          </a:bodyPr>
          <a:lstStyle/>
          <a:p>
            <a:r>
              <a:rPr lang="en-US" altLang="zh-CN" b="1" i="1"/>
              <a:t>a</a:t>
            </a:r>
            <a:endParaRPr lang="en-US" altLang="zh-CN" b="1" i="1"/>
          </a:p>
        </p:txBody>
      </p:sp>
      <p:sp>
        <p:nvSpPr>
          <p:cNvPr id="77847" name="Text Box 23"/>
          <p:cNvSpPr txBox="1">
            <a:spLocks noChangeArrowheads="1"/>
          </p:cNvSpPr>
          <p:nvPr/>
        </p:nvSpPr>
        <p:spPr bwMode="auto">
          <a:xfrm>
            <a:off x="2051050" y="3668713"/>
            <a:ext cx="336550" cy="457200"/>
          </a:xfrm>
          <a:prstGeom prst="rect">
            <a:avLst/>
          </a:prstGeom>
          <a:noFill/>
          <a:ln w="9525">
            <a:noFill/>
            <a:miter lim="800000"/>
          </a:ln>
        </p:spPr>
        <p:txBody>
          <a:bodyPr wrap="none">
            <a:spAutoFit/>
          </a:bodyPr>
          <a:lstStyle/>
          <a:p>
            <a:r>
              <a:rPr lang="en-US" altLang="zh-CN" b="1" i="1"/>
              <a:t>b</a:t>
            </a:r>
            <a:endParaRPr lang="en-US" altLang="zh-CN" b="1" i="1"/>
          </a:p>
        </p:txBody>
      </p:sp>
      <p:grpSp>
        <p:nvGrpSpPr>
          <p:cNvPr id="5" name="Group 24"/>
          <p:cNvGrpSpPr/>
          <p:nvPr/>
        </p:nvGrpSpPr>
        <p:grpSpPr bwMode="auto">
          <a:xfrm>
            <a:off x="4643438" y="2438400"/>
            <a:ext cx="2887662" cy="2063750"/>
            <a:chOff x="2925" y="1842"/>
            <a:chExt cx="1819" cy="1300"/>
          </a:xfrm>
        </p:grpSpPr>
        <p:sp>
          <p:nvSpPr>
            <p:cNvPr id="37924" name="Line 25"/>
            <p:cNvSpPr>
              <a:spLocks noChangeShapeType="1"/>
            </p:cNvSpPr>
            <p:nvPr/>
          </p:nvSpPr>
          <p:spPr bwMode="auto">
            <a:xfrm flipV="1">
              <a:off x="3197" y="1966"/>
              <a:ext cx="0" cy="1057"/>
            </a:xfrm>
            <a:prstGeom prst="line">
              <a:avLst/>
            </a:prstGeom>
            <a:noFill/>
            <a:ln w="28575">
              <a:solidFill>
                <a:schemeClr val="tx1"/>
              </a:solidFill>
              <a:round/>
              <a:tailEnd type="triangle" w="med" len="med"/>
            </a:ln>
          </p:spPr>
          <p:txBody>
            <a:bodyPr/>
            <a:lstStyle/>
            <a:p>
              <a:endParaRPr lang="zh-CN" altLang="en-US"/>
            </a:p>
          </p:txBody>
        </p:sp>
        <p:sp>
          <p:nvSpPr>
            <p:cNvPr id="37925" name="Line 26"/>
            <p:cNvSpPr>
              <a:spLocks noChangeShapeType="1"/>
            </p:cNvSpPr>
            <p:nvPr/>
          </p:nvSpPr>
          <p:spPr bwMode="auto">
            <a:xfrm>
              <a:off x="3187" y="3022"/>
              <a:ext cx="1316" cy="0"/>
            </a:xfrm>
            <a:prstGeom prst="line">
              <a:avLst/>
            </a:prstGeom>
            <a:noFill/>
            <a:ln w="28575">
              <a:solidFill>
                <a:schemeClr val="tx1"/>
              </a:solidFill>
              <a:round/>
              <a:tailEnd type="triangle" w="med" len="med"/>
            </a:ln>
          </p:spPr>
          <p:txBody>
            <a:bodyPr/>
            <a:lstStyle/>
            <a:p>
              <a:endParaRPr lang="zh-CN" altLang="en-US"/>
            </a:p>
          </p:txBody>
        </p:sp>
        <p:sp>
          <p:nvSpPr>
            <p:cNvPr id="37926" name="Text Box 27"/>
            <p:cNvSpPr txBox="1">
              <a:spLocks noChangeArrowheads="1"/>
            </p:cNvSpPr>
            <p:nvPr/>
          </p:nvSpPr>
          <p:spPr bwMode="auto">
            <a:xfrm>
              <a:off x="2970" y="1842"/>
              <a:ext cx="212" cy="288"/>
            </a:xfrm>
            <a:prstGeom prst="rect">
              <a:avLst/>
            </a:prstGeom>
            <a:noFill/>
            <a:ln w="9525">
              <a:noFill/>
              <a:miter lim="800000"/>
            </a:ln>
          </p:spPr>
          <p:txBody>
            <a:bodyPr wrap="none">
              <a:spAutoFit/>
            </a:bodyPr>
            <a:lstStyle/>
            <a:p>
              <a:r>
                <a:rPr lang="en-US" altLang="zh-CN" b="1" i="1"/>
                <a:t>p</a:t>
              </a:r>
              <a:endParaRPr lang="en-US" altLang="zh-CN" b="1" i="1"/>
            </a:p>
          </p:txBody>
        </p:sp>
        <p:sp>
          <p:nvSpPr>
            <p:cNvPr id="37927" name="Text Box 28"/>
            <p:cNvSpPr txBox="1">
              <a:spLocks noChangeArrowheads="1"/>
            </p:cNvSpPr>
            <p:nvPr/>
          </p:nvSpPr>
          <p:spPr bwMode="auto">
            <a:xfrm>
              <a:off x="4500" y="2854"/>
              <a:ext cx="244" cy="288"/>
            </a:xfrm>
            <a:prstGeom prst="rect">
              <a:avLst/>
            </a:prstGeom>
            <a:noFill/>
            <a:ln w="9525">
              <a:noFill/>
              <a:miter lim="800000"/>
            </a:ln>
          </p:spPr>
          <p:txBody>
            <a:bodyPr wrap="none">
              <a:spAutoFit/>
            </a:bodyPr>
            <a:lstStyle/>
            <a:p>
              <a:r>
                <a:rPr lang="en-US" altLang="zh-CN" b="1" i="1"/>
                <a:t>V</a:t>
              </a:r>
              <a:endParaRPr lang="en-US" altLang="zh-CN" b="1" i="1"/>
            </a:p>
          </p:txBody>
        </p:sp>
        <p:sp>
          <p:nvSpPr>
            <p:cNvPr id="37928" name="Text Box 29"/>
            <p:cNvSpPr txBox="1">
              <a:spLocks noChangeArrowheads="1"/>
            </p:cNvSpPr>
            <p:nvPr/>
          </p:nvSpPr>
          <p:spPr bwMode="auto">
            <a:xfrm>
              <a:off x="2925" y="2841"/>
              <a:ext cx="255" cy="288"/>
            </a:xfrm>
            <a:prstGeom prst="rect">
              <a:avLst/>
            </a:prstGeom>
            <a:noFill/>
            <a:ln w="9525">
              <a:noFill/>
              <a:miter lim="800000"/>
            </a:ln>
          </p:spPr>
          <p:txBody>
            <a:bodyPr wrap="none">
              <a:spAutoFit/>
            </a:bodyPr>
            <a:lstStyle/>
            <a:p>
              <a:r>
                <a:rPr lang="en-US" altLang="zh-CN" b="1" i="1"/>
                <a:t>O</a:t>
              </a:r>
              <a:endParaRPr lang="en-US" altLang="zh-CN" b="1" i="1"/>
            </a:p>
          </p:txBody>
        </p:sp>
      </p:grpSp>
      <p:grpSp>
        <p:nvGrpSpPr>
          <p:cNvPr id="6" name="Group 30"/>
          <p:cNvGrpSpPr/>
          <p:nvPr/>
        </p:nvGrpSpPr>
        <p:grpSpPr bwMode="auto">
          <a:xfrm>
            <a:off x="5580063" y="3019425"/>
            <a:ext cx="1150937" cy="839788"/>
            <a:chOff x="3515" y="2208"/>
            <a:chExt cx="725" cy="529"/>
          </a:xfrm>
        </p:grpSpPr>
        <p:sp>
          <p:nvSpPr>
            <p:cNvPr id="37922" name="Freeform 31"/>
            <p:cNvSpPr/>
            <p:nvPr/>
          </p:nvSpPr>
          <p:spPr bwMode="auto">
            <a:xfrm>
              <a:off x="3515" y="2208"/>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ln>
          </p:spPr>
          <p:txBody>
            <a:bodyPr/>
            <a:lstStyle/>
            <a:p>
              <a:pPr algn="ctr"/>
              <a:endParaRPr lang="zh-CN" altLang="en-US" b="1"/>
            </a:p>
          </p:txBody>
        </p:sp>
        <p:sp>
          <p:nvSpPr>
            <p:cNvPr id="37923" name="Line 32"/>
            <p:cNvSpPr>
              <a:spLocks noChangeShapeType="1"/>
            </p:cNvSpPr>
            <p:nvPr/>
          </p:nvSpPr>
          <p:spPr bwMode="auto">
            <a:xfrm rot="10800000">
              <a:off x="4059" y="2329"/>
              <a:ext cx="45" cy="45"/>
            </a:xfrm>
            <a:prstGeom prst="line">
              <a:avLst/>
            </a:prstGeom>
            <a:noFill/>
            <a:ln w="38100">
              <a:solidFill>
                <a:srgbClr val="3333CC"/>
              </a:solidFill>
              <a:round/>
              <a:tailEnd type="triangle" w="med" len="med"/>
            </a:ln>
          </p:spPr>
          <p:txBody>
            <a:bodyPr/>
            <a:lstStyle/>
            <a:p>
              <a:endParaRPr lang="zh-CN" altLang="en-US"/>
            </a:p>
          </p:txBody>
        </p:sp>
      </p:grpSp>
      <p:grpSp>
        <p:nvGrpSpPr>
          <p:cNvPr id="7" name="Group 33"/>
          <p:cNvGrpSpPr/>
          <p:nvPr/>
        </p:nvGrpSpPr>
        <p:grpSpPr bwMode="auto">
          <a:xfrm>
            <a:off x="5580063" y="3067050"/>
            <a:ext cx="1147762" cy="838200"/>
            <a:chOff x="3515" y="2238"/>
            <a:chExt cx="723" cy="528"/>
          </a:xfrm>
        </p:grpSpPr>
        <p:sp>
          <p:nvSpPr>
            <p:cNvPr id="37920" name="Freeform 34"/>
            <p:cNvSpPr/>
            <p:nvPr/>
          </p:nvSpPr>
          <p:spPr bwMode="auto">
            <a:xfrm>
              <a:off x="3515" y="2238"/>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3333CC"/>
              </a:solidFill>
              <a:round/>
            </a:ln>
          </p:spPr>
          <p:txBody>
            <a:bodyPr/>
            <a:lstStyle/>
            <a:p>
              <a:pPr algn="ctr"/>
              <a:endParaRPr lang="zh-CN" altLang="en-US" b="1"/>
            </a:p>
          </p:txBody>
        </p:sp>
        <p:sp>
          <p:nvSpPr>
            <p:cNvPr id="37921" name="Line 35"/>
            <p:cNvSpPr>
              <a:spLocks noChangeShapeType="1"/>
            </p:cNvSpPr>
            <p:nvPr/>
          </p:nvSpPr>
          <p:spPr bwMode="auto">
            <a:xfrm rot="10800000" flipH="1" flipV="1">
              <a:off x="3696" y="2555"/>
              <a:ext cx="45" cy="45"/>
            </a:xfrm>
            <a:prstGeom prst="line">
              <a:avLst/>
            </a:prstGeom>
            <a:noFill/>
            <a:ln w="38100">
              <a:solidFill>
                <a:srgbClr val="3333CC"/>
              </a:solidFill>
              <a:round/>
              <a:tailEnd type="triangle" w="med" len="med"/>
            </a:ln>
          </p:spPr>
          <p:txBody>
            <a:bodyPr/>
            <a:lstStyle/>
            <a:p>
              <a:endParaRPr lang="zh-CN" altLang="en-US"/>
            </a:p>
          </p:txBody>
        </p:sp>
      </p:grpSp>
      <p:sp>
        <p:nvSpPr>
          <p:cNvPr id="77860" name="Oval 36"/>
          <p:cNvSpPr>
            <a:spLocks noChangeArrowheads="1"/>
          </p:cNvSpPr>
          <p:nvPr/>
        </p:nvSpPr>
        <p:spPr bwMode="auto">
          <a:xfrm>
            <a:off x="5546725" y="3033713"/>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77861" name="Oval 37"/>
          <p:cNvSpPr>
            <a:spLocks noChangeArrowheads="1"/>
          </p:cNvSpPr>
          <p:nvPr/>
        </p:nvSpPr>
        <p:spPr bwMode="auto">
          <a:xfrm>
            <a:off x="6691313" y="3857625"/>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77862" name="Text Box 38"/>
          <p:cNvSpPr txBox="1">
            <a:spLocks noChangeArrowheads="1"/>
          </p:cNvSpPr>
          <p:nvPr/>
        </p:nvSpPr>
        <p:spPr bwMode="auto">
          <a:xfrm>
            <a:off x="5414963" y="2582863"/>
            <a:ext cx="525462" cy="457200"/>
          </a:xfrm>
          <a:prstGeom prst="rect">
            <a:avLst/>
          </a:prstGeom>
          <a:noFill/>
          <a:ln w="9525">
            <a:noFill/>
            <a:miter lim="800000"/>
          </a:ln>
        </p:spPr>
        <p:txBody>
          <a:bodyPr>
            <a:spAutoFit/>
          </a:bodyPr>
          <a:lstStyle/>
          <a:p>
            <a:r>
              <a:rPr lang="en-US" altLang="zh-CN" b="1" i="1"/>
              <a:t>I</a:t>
            </a:r>
            <a:endParaRPr lang="en-US" altLang="zh-CN" b="1" i="1"/>
          </a:p>
        </p:txBody>
      </p:sp>
      <p:sp>
        <p:nvSpPr>
          <p:cNvPr id="77863" name="Text Box 39"/>
          <p:cNvSpPr txBox="1">
            <a:spLocks noChangeArrowheads="1"/>
          </p:cNvSpPr>
          <p:nvPr/>
        </p:nvSpPr>
        <p:spPr bwMode="auto">
          <a:xfrm>
            <a:off x="6875463" y="3643313"/>
            <a:ext cx="422275" cy="457200"/>
          </a:xfrm>
          <a:prstGeom prst="rect">
            <a:avLst/>
          </a:prstGeom>
          <a:noFill/>
          <a:ln w="9525">
            <a:noFill/>
            <a:miter lim="800000"/>
          </a:ln>
        </p:spPr>
        <p:txBody>
          <a:bodyPr wrap="none">
            <a:spAutoFit/>
          </a:bodyPr>
          <a:lstStyle/>
          <a:p>
            <a:r>
              <a:rPr lang="en-US" altLang="zh-CN" b="1" i="1"/>
              <a:t>II</a:t>
            </a:r>
            <a:endParaRPr lang="en-US" altLang="zh-CN" b="1" i="1"/>
          </a:p>
        </p:txBody>
      </p:sp>
      <p:sp>
        <p:nvSpPr>
          <p:cNvPr id="77864" name="Text Box 40"/>
          <p:cNvSpPr txBox="1">
            <a:spLocks noChangeArrowheads="1"/>
          </p:cNvSpPr>
          <p:nvPr/>
        </p:nvSpPr>
        <p:spPr bwMode="auto">
          <a:xfrm>
            <a:off x="6372225" y="2706688"/>
            <a:ext cx="647700" cy="457200"/>
          </a:xfrm>
          <a:prstGeom prst="rect">
            <a:avLst/>
          </a:prstGeom>
          <a:noFill/>
          <a:ln w="9525">
            <a:noFill/>
            <a:miter lim="800000"/>
          </a:ln>
        </p:spPr>
        <p:txBody>
          <a:bodyPr>
            <a:spAutoFit/>
          </a:bodyPr>
          <a:lstStyle/>
          <a:p>
            <a:r>
              <a:rPr lang="en-US" altLang="zh-CN" b="1" i="1"/>
              <a:t>a</a:t>
            </a:r>
            <a:endParaRPr lang="en-US" altLang="zh-CN" b="1" i="1"/>
          </a:p>
        </p:txBody>
      </p:sp>
      <p:sp>
        <p:nvSpPr>
          <p:cNvPr id="77865" name="Text Box 41"/>
          <p:cNvSpPr txBox="1">
            <a:spLocks noChangeArrowheads="1"/>
          </p:cNvSpPr>
          <p:nvPr/>
        </p:nvSpPr>
        <p:spPr bwMode="auto">
          <a:xfrm>
            <a:off x="5722938" y="3643313"/>
            <a:ext cx="504825" cy="457200"/>
          </a:xfrm>
          <a:prstGeom prst="rect">
            <a:avLst/>
          </a:prstGeom>
          <a:noFill/>
          <a:ln w="9525">
            <a:noFill/>
            <a:miter lim="800000"/>
          </a:ln>
        </p:spPr>
        <p:txBody>
          <a:bodyPr>
            <a:spAutoFit/>
          </a:bodyPr>
          <a:lstStyle/>
          <a:p>
            <a:r>
              <a:rPr lang="en-US" altLang="zh-CN" b="1" i="1"/>
              <a:t>b</a:t>
            </a:r>
            <a:endParaRPr lang="en-US" altLang="zh-CN" b="1" i="1"/>
          </a:p>
        </p:txBody>
      </p:sp>
      <p:sp>
        <p:nvSpPr>
          <p:cNvPr id="77866" name="Text Box 42"/>
          <p:cNvSpPr txBox="1">
            <a:spLocks noChangeArrowheads="1"/>
          </p:cNvSpPr>
          <p:nvPr/>
        </p:nvSpPr>
        <p:spPr bwMode="auto">
          <a:xfrm>
            <a:off x="1812925" y="4359275"/>
            <a:ext cx="1319213" cy="457200"/>
          </a:xfrm>
          <a:prstGeom prst="rect">
            <a:avLst/>
          </a:prstGeom>
          <a:noFill/>
          <a:ln w="9525">
            <a:noFill/>
            <a:miter lim="800000"/>
          </a:ln>
        </p:spPr>
        <p:txBody>
          <a:bodyPr>
            <a:spAutoFit/>
          </a:bodyPr>
          <a:lstStyle/>
          <a:p>
            <a:r>
              <a:rPr lang="zh-CN" altLang="en-US" b="1"/>
              <a:t>正循环</a:t>
            </a:r>
            <a:endParaRPr lang="zh-CN" altLang="en-US" b="1"/>
          </a:p>
        </p:txBody>
      </p:sp>
      <p:sp>
        <p:nvSpPr>
          <p:cNvPr id="77867" name="Text Box 43"/>
          <p:cNvSpPr txBox="1">
            <a:spLocks noChangeArrowheads="1"/>
          </p:cNvSpPr>
          <p:nvPr/>
        </p:nvSpPr>
        <p:spPr bwMode="auto">
          <a:xfrm>
            <a:off x="5580063" y="4359275"/>
            <a:ext cx="1368425" cy="457200"/>
          </a:xfrm>
          <a:prstGeom prst="rect">
            <a:avLst/>
          </a:prstGeom>
          <a:noFill/>
          <a:ln w="9525">
            <a:noFill/>
            <a:miter lim="800000"/>
          </a:ln>
        </p:spPr>
        <p:txBody>
          <a:bodyPr>
            <a:spAutoFit/>
          </a:bodyPr>
          <a:lstStyle/>
          <a:p>
            <a:r>
              <a:rPr lang="zh-CN" altLang="en-US" b="1"/>
              <a:t>逆循环</a:t>
            </a:r>
            <a:endParaRPr lang="zh-CN" altLang="en-US" b="1"/>
          </a:p>
        </p:txBody>
      </p:sp>
      <p:sp>
        <p:nvSpPr>
          <p:cNvPr id="77868" name="AutoShape 44"/>
          <p:cNvSpPr>
            <a:spLocks noChangeArrowheads="1"/>
          </p:cNvSpPr>
          <p:nvPr/>
        </p:nvSpPr>
        <p:spPr bwMode="auto">
          <a:xfrm>
            <a:off x="539750" y="4800600"/>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b="1"/>
          </a:p>
        </p:txBody>
      </p:sp>
      <p:sp>
        <p:nvSpPr>
          <p:cNvPr id="77869" name="Text Box 45"/>
          <p:cNvSpPr txBox="1">
            <a:spLocks noChangeArrowheads="1"/>
          </p:cNvSpPr>
          <p:nvPr/>
        </p:nvSpPr>
        <p:spPr bwMode="auto">
          <a:xfrm>
            <a:off x="1095375" y="4872038"/>
            <a:ext cx="6140450" cy="457200"/>
          </a:xfrm>
          <a:prstGeom prst="rect">
            <a:avLst/>
          </a:prstGeom>
          <a:noFill/>
          <a:ln w="9525">
            <a:noFill/>
            <a:miter lim="800000"/>
          </a:ln>
        </p:spPr>
        <p:txBody>
          <a:bodyPr>
            <a:spAutoFit/>
          </a:bodyPr>
          <a:lstStyle/>
          <a:p>
            <a:r>
              <a:rPr lang="zh-CN" altLang="en-US" b="1"/>
              <a:t>经历一个循环后工作物质回到原来状态，</a:t>
            </a:r>
            <a:endParaRPr lang="zh-CN" altLang="en-US" b="1"/>
          </a:p>
        </p:txBody>
      </p:sp>
      <p:graphicFrame>
        <p:nvGraphicFramePr>
          <p:cNvPr id="77870" name="Object 46"/>
          <p:cNvGraphicFramePr>
            <a:graphicFrameLocks noChangeAspect="1"/>
          </p:cNvGraphicFramePr>
          <p:nvPr/>
        </p:nvGraphicFramePr>
        <p:xfrm>
          <a:off x="6784975" y="4872038"/>
          <a:ext cx="1027113" cy="388937"/>
        </p:xfrm>
        <a:graphic>
          <a:graphicData uri="http://schemas.openxmlformats.org/presentationml/2006/ole">
            <mc:AlternateContent xmlns:mc="http://schemas.openxmlformats.org/markup-compatibility/2006">
              <mc:Choice xmlns:v="urn:schemas-microsoft-com:vml" Requires="v">
                <p:oleObj spid="_x0000_s37889" name="公式" r:id="rId1" imgW="11277600" imgH="4267200" progId="Equation.3">
                  <p:embed/>
                </p:oleObj>
              </mc:Choice>
              <mc:Fallback>
                <p:oleObj name="公式" r:id="rId1" imgW="11277600" imgH="4267200" progId="Equation.3">
                  <p:embed/>
                  <p:pic>
                    <p:nvPicPr>
                      <p:cNvPr id="0" name="Object 46"/>
                      <p:cNvPicPr>
                        <a:picLocks noChangeAspect="1"/>
                      </p:cNvPicPr>
                      <p:nvPr/>
                    </p:nvPicPr>
                    <p:blipFill>
                      <a:blip r:embed="rId2"/>
                      <a:stretch>
                        <a:fillRect/>
                      </a:stretch>
                    </p:blipFill>
                    <p:spPr>
                      <a:xfrm>
                        <a:off x="6784975" y="4872038"/>
                        <a:ext cx="1027113" cy="388937"/>
                      </a:xfrm>
                      <a:prstGeom prst="rect">
                        <a:avLst/>
                      </a:prstGeom>
                      <a:noFill/>
                      <a:ln w="9525">
                        <a:noFill/>
                      </a:ln>
                    </p:spPr>
                  </p:pic>
                </p:oleObj>
              </mc:Fallback>
            </mc:AlternateContent>
          </a:graphicData>
        </a:graphic>
      </p:graphicFrame>
      <p:sp>
        <p:nvSpPr>
          <p:cNvPr id="77871" name="Text Box 47"/>
          <p:cNvSpPr txBox="1">
            <a:spLocks noChangeArrowheads="1"/>
          </p:cNvSpPr>
          <p:nvPr/>
        </p:nvSpPr>
        <p:spPr bwMode="auto">
          <a:xfrm>
            <a:off x="1095375" y="5448300"/>
            <a:ext cx="3260725" cy="457200"/>
          </a:xfrm>
          <a:prstGeom prst="rect">
            <a:avLst/>
          </a:prstGeom>
          <a:noFill/>
          <a:ln w="9525">
            <a:noFill/>
            <a:miter lim="800000"/>
          </a:ln>
        </p:spPr>
        <p:txBody>
          <a:bodyPr>
            <a:spAutoFit/>
          </a:bodyPr>
          <a:lstStyle/>
          <a:p>
            <a:r>
              <a:rPr lang="zh-CN" altLang="en-US" b="1"/>
              <a:t>由热力学第一定律：</a:t>
            </a:r>
            <a:endParaRPr lang="zh-CN" altLang="en-US" b="1"/>
          </a:p>
        </p:txBody>
      </p:sp>
      <p:graphicFrame>
        <p:nvGraphicFramePr>
          <p:cNvPr id="77872" name="Object 48"/>
          <p:cNvGraphicFramePr>
            <a:graphicFrameLocks noChangeAspect="1"/>
          </p:cNvGraphicFramePr>
          <p:nvPr/>
        </p:nvGraphicFramePr>
        <p:xfrm>
          <a:off x="3916363" y="5395913"/>
          <a:ext cx="1089025" cy="498475"/>
        </p:xfrm>
        <a:graphic>
          <a:graphicData uri="http://schemas.openxmlformats.org/presentationml/2006/ole">
            <mc:AlternateContent xmlns:mc="http://schemas.openxmlformats.org/markup-compatibility/2006">
              <mc:Choice xmlns:v="urn:schemas-microsoft-com:vml" Requires="v">
                <p:oleObj spid="_x0000_s37891" name="公式" r:id="rId3" imgW="10668000" imgH="4876800" progId="Equation.3">
                  <p:embed/>
                </p:oleObj>
              </mc:Choice>
              <mc:Fallback>
                <p:oleObj name="公式" r:id="rId3" imgW="10668000" imgH="4876800" progId="Equation.3">
                  <p:embed/>
                  <p:pic>
                    <p:nvPicPr>
                      <p:cNvPr id="0" name="Object 48"/>
                      <p:cNvPicPr>
                        <a:picLocks noChangeAspect="1"/>
                      </p:cNvPicPr>
                      <p:nvPr/>
                    </p:nvPicPr>
                    <p:blipFill>
                      <a:blip r:embed="rId4"/>
                      <a:stretch>
                        <a:fillRect/>
                      </a:stretch>
                    </p:blipFill>
                    <p:spPr>
                      <a:xfrm>
                        <a:off x="3916363" y="5395913"/>
                        <a:ext cx="1089025" cy="498475"/>
                      </a:xfrm>
                      <a:prstGeom prst="rect">
                        <a:avLst/>
                      </a:prstGeom>
                      <a:noFill/>
                      <a:ln w="9525">
                        <a:noFill/>
                      </a:ln>
                    </p:spPr>
                  </p:pic>
                </p:oleObj>
              </mc:Fallback>
            </mc:AlternateContent>
          </a:graphicData>
        </a:graphic>
      </p:graphicFrame>
      <p:graphicFrame>
        <p:nvGraphicFramePr>
          <p:cNvPr id="77873" name="Object 49"/>
          <p:cNvGraphicFramePr>
            <a:graphicFrameLocks noChangeAspect="1"/>
          </p:cNvGraphicFramePr>
          <p:nvPr/>
        </p:nvGraphicFramePr>
        <p:xfrm>
          <a:off x="5008563" y="5410200"/>
          <a:ext cx="3667125" cy="407988"/>
        </p:xfrm>
        <a:graphic>
          <a:graphicData uri="http://schemas.openxmlformats.org/presentationml/2006/ole">
            <mc:AlternateContent xmlns:mc="http://schemas.openxmlformats.org/markup-compatibility/2006">
              <mc:Choice xmlns:v="urn:schemas-microsoft-com:vml" Requires="v">
                <p:oleObj spid="_x0000_s37892" name="Equation" r:id="rId5" imgW="70408800" imgH="8229600" progId="Equation.3">
                  <p:embed/>
                </p:oleObj>
              </mc:Choice>
              <mc:Fallback>
                <p:oleObj name="Equation" r:id="rId5" imgW="70408800" imgH="8229600" progId="Equation.3">
                  <p:embed/>
                  <p:pic>
                    <p:nvPicPr>
                      <p:cNvPr id="0" name="Object 49"/>
                      <p:cNvPicPr>
                        <a:picLocks noChangeAspect="1"/>
                      </p:cNvPicPr>
                      <p:nvPr/>
                    </p:nvPicPr>
                    <p:blipFill>
                      <a:blip r:embed="rId6"/>
                      <a:stretch>
                        <a:fillRect/>
                      </a:stretch>
                    </p:blipFill>
                    <p:spPr>
                      <a:xfrm>
                        <a:off x="5008563" y="5410200"/>
                        <a:ext cx="3667125" cy="40798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827"/>
                                        </p:tgtEl>
                                        <p:attrNameLst>
                                          <p:attrName>style.visibility</p:attrName>
                                        </p:attrNameLst>
                                      </p:cBhvr>
                                      <p:to>
                                        <p:strVal val="visible"/>
                                      </p:to>
                                    </p:set>
                                    <p:animEffect transition="in" filter="wipe(left)">
                                      <p:cBhvr>
                                        <p:cTn id="7" dur="500"/>
                                        <p:tgtEl>
                                          <p:spTgt spid="778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28"/>
                                        </p:tgtEl>
                                        <p:attrNameLst>
                                          <p:attrName>style.visibility</p:attrName>
                                        </p:attrNameLst>
                                      </p:cBhvr>
                                      <p:to>
                                        <p:strVal val="visible"/>
                                      </p:to>
                                    </p:set>
                                    <p:animEffect transition="in" filter="wipe(left)">
                                      <p:cBhvr>
                                        <p:cTn id="12" dur="500"/>
                                        <p:tgtEl>
                                          <p:spTgt spid="778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829"/>
                                        </p:tgtEl>
                                        <p:attrNameLst>
                                          <p:attrName>style.visibility</p:attrName>
                                        </p:attrNameLst>
                                      </p:cBhvr>
                                      <p:to>
                                        <p:strVal val="visible"/>
                                      </p:to>
                                    </p:set>
                                    <p:animEffect transition="in" filter="wipe(left)">
                                      <p:cBhvr>
                                        <p:cTn id="17" dur="500"/>
                                        <p:tgtEl>
                                          <p:spTgt spid="7782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7842"/>
                                        </p:tgtEl>
                                        <p:attrNameLst>
                                          <p:attrName>style.visibility</p:attrName>
                                        </p:attrNameLst>
                                      </p:cBhvr>
                                      <p:to>
                                        <p:strVal val="visible"/>
                                      </p:to>
                                    </p:set>
                                    <p:animEffect transition="in" filter="wipe(up)">
                                      <p:cBhvr>
                                        <p:cTn id="27" dur="500"/>
                                        <p:tgtEl>
                                          <p:spTgt spid="77842"/>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77844"/>
                                        </p:tgtEl>
                                        <p:attrNameLst>
                                          <p:attrName>style.visibility</p:attrName>
                                        </p:attrNameLst>
                                      </p:cBhvr>
                                      <p:to>
                                        <p:strVal val="visible"/>
                                      </p:to>
                                    </p:set>
                                    <p:animEffect transition="in" filter="wipe(up)">
                                      <p:cBhvr>
                                        <p:cTn id="31" dur="500"/>
                                        <p:tgtEl>
                                          <p:spTgt spid="7784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77846"/>
                                        </p:tgtEl>
                                        <p:attrNameLst>
                                          <p:attrName>style.visibility</p:attrName>
                                        </p:attrNameLst>
                                      </p:cBhvr>
                                      <p:to>
                                        <p:strVal val="visible"/>
                                      </p:to>
                                    </p:set>
                                    <p:animEffect transition="in" filter="wipe(up)">
                                      <p:cBhvr>
                                        <p:cTn id="40" dur="500"/>
                                        <p:tgtEl>
                                          <p:spTgt spid="77846"/>
                                        </p:tgtEl>
                                      </p:cBhvr>
                                    </p:animEffect>
                                  </p:childTnLst>
                                </p:cTn>
                              </p:par>
                            </p:childTnLst>
                          </p:cTn>
                        </p:par>
                        <p:par>
                          <p:cTn id="41" fill="hold">
                            <p:stCondLst>
                              <p:cond delay="1000"/>
                            </p:stCondLst>
                            <p:childTnLst>
                              <p:par>
                                <p:cTn id="42" presetID="22" presetClass="entr" presetSubtype="1" fill="hold" grpId="0" nodeType="afterEffect">
                                  <p:stCondLst>
                                    <p:cond delay="0"/>
                                  </p:stCondLst>
                                  <p:childTnLst>
                                    <p:set>
                                      <p:cBhvr>
                                        <p:cTn id="43" dur="1" fill="hold">
                                          <p:stCondLst>
                                            <p:cond delay="0"/>
                                          </p:stCondLst>
                                        </p:cTn>
                                        <p:tgtEl>
                                          <p:spTgt spid="77845"/>
                                        </p:tgtEl>
                                        <p:attrNameLst>
                                          <p:attrName>style.visibility</p:attrName>
                                        </p:attrNameLst>
                                      </p:cBhvr>
                                      <p:to>
                                        <p:strVal val="visible"/>
                                      </p:to>
                                    </p:set>
                                    <p:animEffect transition="in" filter="wipe(up)">
                                      <p:cBhvr>
                                        <p:cTn id="44" dur="500"/>
                                        <p:tgtEl>
                                          <p:spTgt spid="77845"/>
                                        </p:tgtEl>
                                      </p:cBhvr>
                                    </p:animEffect>
                                  </p:childTnLst>
                                </p:cTn>
                              </p:par>
                            </p:childTnLst>
                          </p:cTn>
                        </p:par>
                        <p:par>
                          <p:cTn id="45" fill="hold">
                            <p:stCondLst>
                              <p:cond delay="1500"/>
                            </p:stCondLst>
                            <p:childTnLst>
                              <p:par>
                                <p:cTn id="46" presetID="22" presetClass="entr" presetSubtype="1" fill="hold" grpId="0" nodeType="afterEffect">
                                  <p:stCondLst>
                                    <p:cond delay="0"/>
                                  </p:stCondLst>
                                  <p:childTnLst>
                                    <p:set>
                                      <p:cBhvr>
                                        <p:cTn id="47" dur="1" fill="hold">
                                          <p:stCondLst>
                                            <p:cond delay="0"/>
                                          </p:stCondLst>
                                        </p:cTn>
                                        <p:tgtEl>
                                          <p:spTgt spid="77843"/>
                                        </p:tgtEl>
                                        <p:attrNameLst>
                                          <p:attrName>style.visibility</p:attrName>
                                        </p:attrNameLst>
                                      </p:cBhvr>
                                      <p:to>
                                        <p:strVal val="visible"/>
                                      </p:to>
                                    </p:set>
                                    <p:animEffect transition="in" filter="wipe(up)">
                                      <p:cBhvr>
                                        <p:cTn id="48" dur="500"/>
                                        <p:tgtEl>
                                          <p:spTgt spid="7784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wipe(down)">
                                      <p:cBhvr>
                                        <p:cTn id="53" dur="500"/>
                                        <p:tgtEl>
                                          <p:spTgt spid="4"/>
                                        </p:tgtEl>
                                      </p:cBhvr>
                                    </p:animEffec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77847"/>
                                        </p:tgtEl>
                                        <p:attrNameLst>
                                          <p:attrName>style.visibility</p:attrName>
                                        </p:attrNameLst>
                                      </p:cBhvr>
                                      <p:to>
                                        <p:strVal val="visible"/>
                                      </p:to>
                                    </p:set>
                                    <p:animEffect transition="in" filter="wipe(up)">
                                      <p:cBhvr>
                                        <p:cTn id="57" dur="500"/>
                                        <p:tgtEl>
                                          <p:spTgt spid="7784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7866"/>
                                        </p:tgtEl>
                                        <p:attrNameLst>
                                          <p:attrName>style.visibility</p:attrName>
                                        </p:attrNameLst>
                                      </p:cBhvr>
                                      <p:to>
                                        <p:strVal val="visible"/>
                                      </p:to>
                                    </p:set>
                                    <p:animEffect transition="in" filter="wipe(left)">
                                      <p:cBhvr>
                                        <p:cTn id="62" dur="500"/>
                                        <p:tgtEl>
                                          <p:spTgt spid="77866"/>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box(out)">
                                      <p:cBhvr>
                                        <p:cTn id="67" dur="500"/>
                                        <p:tgtEl>
                                          <p:spTgt spid="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77860"/>
                                        </p:tgtEl>
                                        <p:attrNameLst>
                                          <p:attrName>style.visibility</p:attrName>
                                        </p:attrNameLst>
                                      </p:cBhvr>
                                      <p:to>
                                        <p:strVal val="visible"/>
                                      </p:to>
                                    </p:set>
                                    <p:animEffect transition="in" filter="wipe(up)">
                                      <p:cBhvr>
                                        <p:cTn id="72" dur="500"/>
                                        <p:tgtEl>
                                          <p:spTgt spid="77860"/>
                                        </p:tgtEl>
                                      </p:cBhvr>
                                    </p:animEffect>
                                  </p:childTnLst>
                                </p:cTn>
                              </p:par>
                            </p:childTnLst>
                          </p:cTn>
                        </p:par>
                        <p:par>
                          <p:cTn id="73" fill="hold">
                            <p:stCondLst>
                              <p:cond delay="500"/>
                            </p:stCondLst>
                            <p:childTnLst>
                              <p:par>
                                <p:cTn id="74" presetID="22" presetClass="entr" presetSubtype="1" fill="hold" grpId="0" nodeType="afterEffect">
                                  <p:stCondLst>
                                    <p:cond delay="0"/>
                                  </p:stCondLst>
                                  <p:childTnLst>
                                    <p:set>
                                      <p:cBhvr>
                                        <p:cTn id="75" dur="1" fill="hold">
                                          <p:stCondLst>
                                            <p:cond delay="0"/>
                                          </p:stCondLst>
                                        </p:cTn>
                                        <p:tgtEl>
                                          <p:spTgt spid="77862"/>
                                        </p:tgtEl>
                                        <p:attrNameLst>
                                          <p:attrName>style.visibility</p:attrName>
                                        </p:attrNameLst>
                                      </p:cBhvr>
                                      <p:to>
                                        <p:strVal val="visible"/>
                                      </p:to>
                                    </p:set>
                                    <p:animEffect transition="in" filter="wipe(up)">
                                      <p:cBhvr>
                                        <p:cTn id="76" dur="500"/>
                                        <p:tgtEl>
                                          <p:spTgt spid="7786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7"/>
                                        </p:tgtEl>
                                        <p:attrNameLst>
                                          <p:attrName>style.visibility</p:attrName>
                                        </p:attrNameLst>
                                      </p:cBhvr>
                                      <p:to>
                                        <p:strVal val="visible"/>
                                      </p:to>
                                    </p:set>
                                    <p:animEffect transition="in" filter="wipe(up)">
                                      <p:cBhvr>
                                        <p:cTn id="81" dur="500"/>
                                        <p:tgtEl>
                                          <p:spTgt spid="7"/>
                                        </p:tgtEl>
                                      </p:cBhvr>
                                    </p:animEffect>
                                  </p:childTnLst>
                                </p:cTn>
                              </p:par>
                            </p:childTnLst>
                          </p:cTn>
                        </p:par>
                        <p:par>
                          <p:cTn id="82" fill="hold">
                            <p:stCondLst>
                              <p:cond delay="500"/>
                            </p:stCondLst>
                            <p:childTnLst>
                              <p:par>
                                <p:cTn id="83" presetID="22" presetClass="entr" presetSubtype="1" fill="hold" grpId="0" nodeType="afterEffect">
                                  <p:stCondLst>
                                    <p:cond delay="0"/>
                                  </p:stCondLst>
                                  <p:childTnLst>
                                    <p:set>
                                      <p:cBhvr>
                                        <p:cTn id="84" dur="1" fill="hold">
                                          <p:stCondLst>
                                            <p:cond delay="0"/>
                                          </p:stCondLst>
                                        </p:cTn>
                                        <p:tgtEl>
                                          <p:spTgt spid="77865"/>
                                        </p:tgtEl>
                                        <p:attrNameLst>
                                          <p:attrName>style.visibility</p:attrName>
                                        </p:attrNameLst>
                                      </p:cBhvr>
                                      <p:to>
                                        <p:strVal val="visible"/>
                                      </p:to>
                                    </p:set>
                                    <p:animEffect transition="in" filter="wipe(up)">
                                      <p:cBhvr>
                                        <p:cTn id="85" dur="500"/>
                                        <p:tgtEl>
                                          <p:spTgt spid="77865"/>
                                        </p:tgtEl>
                                      </p:cBhvr>
                                    </p:animEffect>
                                  </p:childTnLst>
                                </p:cTn>
                              </p:par>
                            </p:childTnLst>
                          </p:cTn>
                        </p:par>
                        <p:par>
                          <p:cTn id="86" fill="hold">
                            <p:stCondLst>
                              <p:cond delay="1000"/>
                            </p:stCondLst>
                            <p:childTnLst>
                              <p:par>
                                <p:cTn id="87" presetID="22" presetClass="entr" presetSubtype="1" fill="hold" grpId="0" nodeType="afterEffect">
                                  <p:stCondLst>
                                    <p:cond delay="0"/>
                                  </p:stCondLst>
                                  <p:childTnLst>
                                    <p:set>
                                      <p:cBhvr>
                                        <p:cTn id="88" dur="1" fill="hold">
                                          <p:stCondLst>
                                            <p:cond delay="0"/>
                                          </p:stCondLst>
                                        </p:cTn>
                                        <p:tgtEl>
                                          <p:spTgt spid="77861"/>
                                        </p:tgtEl>
                                        <p:attrNameLst>
                                          <p:attrName>style.visibility</p:attrName>
                                        </p:attrNameLst>
                                      </p:cBhvr>
                                      <p:to>
                                        <p:strVal val="visible"/>
                                      </p:to>
                                    </p:set>
                                    <p:animEffect transition="in" filter="wipe(up)">
                                      <p:cBhvr>
                                        <p:cTn id="89" dur="500"/>
                                        <p:tgtEl>
                                          <p:spTgt spid="77861"/>
                                        </p:tgtEl>
                                      </p:cBhvr>
                                    </p:animEffect>
                                  </p:childTnLst>
                                </p:cTn>
                              </p:par>
                            </p:childTnLst>
                          </p:cTn>
                        </p:par>
                        <p:par>
                          <p:cTn id="90" fill="hold">
                            <p:stCondLst>
                              <p:cond delay="1500"/>
                            </p:stCondLst>
                            <p:childTnLst>
                              <p:par>
                                <p:cTn id="91" presetID="22" presetClass="entr" presetSubtype="1" fill="hold" grpId="0" nodeType="afterEffect">
                                  <p:stCondLst>
                                    <p:cond delay="0"/>
                                  </p:stCondLst>
                                  <p:childTnLst>
                                    <p:set>
                                      <p:cBhvr>
                                        <p:cTn id="92" dur="1" fill="hold">
                                          <p:stCondLst>
                                            <p:cond delay="0"/>
                                          </p:stCondLst>
                                        </p:cTn>
                                        <p:tgtEl>
                                          <p:spTgt spid="77863"/>
                                        </p:tgtEl>
                                        <p:attrNameLst>
                                          <p:attrName>style.visibility</p:attrName>
                                        </p:attrNameLst>
                                      </p:cBhvr>
                                      <p:to>
                                        <p:strVal val="visible"/>
                                      </p:to>
                                    </p:set>
                                    <p:animEffect transition="in" filter="wipe(up)">
                                      <p:cBhvr>
                                        <p:cTn id="93" dur="500"/>
                                        <p:tgtEl>
                                          <p:spTgt spid="7786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grpId="0" nodeType="clickEffect">
                                  <p:stCondLst>
                                    <p:cond delay="0"/>
                                  </p:stCondLst>
                                  <p:childTnLst>
                                    <p:set>
                                      <p:cBhvr>
                                        <p:cTn id="97" dur="1" fill="hold">
                                          <p:stCondLst>
                                            <p:cond delay="0"/>
                                          </p:stCondLst>
                                        </p:cTn>
                                        <p:tgtEl>
                                          <p:spTgt spid="77864"/>
                                        </p:tgtEl>
                                        <p:attrNameLst>
                                          <p:attrName>style.visibility</p:attrName>
                                        </p:attrNameLst>
                                      </p:cBhvr>
                                      <p:to>
                                        <p:strVal val="visible"/>
                                      </p:to>
                                    </p:set>
                                    <p:animEffect transition="in" filter="wipe(up)">
                                      <p:cBhvr>
                                        <p:cTn id="98" dur="500"/>
                                        <p:tgtEl>
                                          <p:spTgt spid="77864"/>
                                        </p:tgtEl>
                                      </p:cBhvr>
                                    </p:animEffect>
                                  </p:childTnLst>
                                </p:cTn>
                              </p:par>
                            </p:childTnLst>
                          </p:cTn>
                        </p:par>
                        <p:par>
                          <p:cTn id="99" fill="hold">
                            <p:stCondLst>
                              <p:cond delay="500"/>
                            </p:stCondLst>
                            <p:childTnLst>
                              <p:par>
                                <p:cTn id="100" presetID="22" presetClass="entr" presetSubtype="4" fill="hold" nodeType="afterEffect">
                                  <p:stCondLst>
                                    <p:cond delay="0"/>
                                  </p:stCondLst>
                                  <p:childTnLst>
                                    <p:set>
                                      <p:cBhvr>
                                        <p:cTn id="101" dur="1" fill="hold">
                                          <p:stCondLst>
                                            <p:cond delay="0"/>
                                          </p:stCondLst>
                                        </p:cTn>
                                        <p:tgtEl>
                                          <p:spTgt spid="6"/>
                                        </p:tgtEl>
                                        <p:attrNameLst>
                                          <p:attrName>style.visibility</p:attrName>
                                        </p:attrNameLst>
                                      </p:cBhvr>
                                      <p:to>
                                        <p:strVal val="visible"/>
                                      </p:to>
                                    </p:set>
                                    <p:animEffect transition="in" filter="wipe(down)">
                                      <p:cBhvr>
                                        <p:cTn id="102" dur="500"/>
                                        <p:tgtEl>
                                          <p:spTgt spid="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77867"/>
                                        </p:tgtEl>
                                        <p:attrNameLst>
                                          <p:attrName>style.visibility</p:attrName>
                                        </p:attrNameLst>
                                      </p:cBhvr>
                                      <p:to>
                                        <p:strVal val="visible"/>
                                      </p:to>
                                    </p:set>
                                    <p:animEffect transition="in" filter="wipe(left)">
                                      <p:cBhvr>
                                        <p:cTn id="107" dur="500"/>
                                        <p:tgtEl>
                                          <p:spTgt spid="77867"/>
                                        </p:tgtEl>
                                      </p:cBhvr>
                                    </p:animEffect>
                                  </p:childTnLst>
                                </p:cTn>
                              </p:par>
                            </p:childTnLst>
                          </p:cTn>
                        </p:par>
                      </p:childTnLst>
                    </p:cTn>
                  </p:par>
                  <p:par>
                    <p:cTn id="108" fill="hold">
                      <p:stCondLst>
                        <p:cond delay="indefinite"/>
                      </p:stCondLst>
                      <p:childTnLst>
                        <p:par>
                          <p:cTn id="109" fill="hold">
                            <p:stCondLst>
                              <p:cond delay="0"/>
                            </p:stCondLst>
                            <p:childTnLst>
                              <p:par>
                                <p:cTn id="110" presetID="23" presetClass="entr" presetSubtype="32" fill="hold" grpId="0" nodeType="clickEffect">
                                  <p:stCondLst>
                                    <p:cond delay="0"/>
                                  </p:stCondLst>
                                  <p:childTnLst>
                                    <p:set>
                                      <p:cBhvr>
                                        <p:cTn id="111" dur="1" fill="hold">
                                          <p:stCondLst>
                                            <p:cond delay="0"/>
                                          </p:stCondLst>
                                        </p:cTn>
                                        <p:tgtEl>
                                          <p:spTgt spid="77868"/>
                                        </p:tgtEl>
                                        <p:attrNameLst>
                                          <p:attrName>style.visibility</p:attrName>
                                        </p:attrNameLst>
                                      </p:cBhvr>
                                      <p:to>
                                        <p:strVal val="visible"/>
                                      </p:to>
                                    </p:set>
                                    <p:anim calcmode="lin" valueType="num">
                                      <p:cBhvr>
                                        <p:cTn id="112" dur="500" fill="hold"/>
                                        <p:tgtEl>
                                          <p:spTgt spid="77868"/>
                                        </p:tgtEl>
                                        <p:attrNameLst>
                                          <p:attrName>ppt_w</p:attrName>
                                        </p:attrNameLst>
                                      </p:cBhvr>
                                      <p:tavLst>
                                        <p:tav tm="0">
                                          <p:val>
                                            <p:strVal val="4*#ppt_w"/>
                                          </p:val>
                                        </p:tav>
                                        <p:tav tm="100000">
                                          <p:val>
                                            <p:strVal val="#ppt_w"/>
                                          </p:val>
                                        </p:tav>
                                      </p:tavLst>
                                    </p:anim>
                                    <p:anim calcmode="lin" valueType="num">
                                      <p:cBhvr>
                                        <p:cTn id="113" dur="500" fill="hold"/>
                                        <p:tgtEl>
                                          <p:spTgt spid="77868"/>
                                        </p:tgtEl>
                                        <p:attrNameLst>
                                          <p:attrName>ppt_h</p:attrName>
                                        </p:attrNameLst>
                                      </p:cBhvr>
                                      <p:tavLst>
                                        <p:tav tm="0">
                                          <p:val>
                                            <p:strVal val="4*#ppt_h"/>
                                          </p:val>
                                        </p:tav>
                                        <p:tav tm="100000">
                                          <p:val>
                                            <p:strVal val="#ppt_h"/>
                                          </p:val>
                                        </p:tav>
                                      </p:tavLst>
                                    </p:anim>
                                  </p:childTnLst>
                                </p:cTn>
                              </p:par>
                            </p:childTnLst>
                          </p:cTn>
                        </p:par>
                        <p:par>
                          <p:cTn id="114" fill="hold">
                            <p:stCondLst>
                              <p:cond delay="500"/>
                            </p:stCondLst>
                            <p:childTnLst>
                              <p:par>
                                <p:cTn id="115" presetID="22" presetClass="entr" presetSubtype="8" fill="hold" grpId="0" nodeType="afterEffect">
                                  <p:stCondLst>
                                    <p:cond delay="0"/>
                                  </p:stCondLst>
                                  <p:childTnLst>
                                    <p:set>
                                      <p:cBhvr>
                                        <p:cTn id="116" dur="1" fill="hold">
                                          <p:stCondLst>
                                            <p:cond delay="0"/>
                                          </p:stCondLst>
                                        </p:cTn>
                                        <p:tgtEl>
                                          <p:spTgt spid="77869"/>
                                        </p:tgtEl>
                                        <p:attrNameLst>
                                          <p:attrName>style.visibility</p:attrName>
                                        </p:attrNameLst>
                                      </p:cBhvr>
                                      <p:to>
                                        <p:strVal val="visible"/>
                                      </p:to>
                                    </p:set>
                                    <p:animEffect transition="in" filter="wipe(left)">
                                      <p:cBhvr>
                                        <p:cTn id="117" dur="500"/>
                                        <p:tgtEl>
                                          <p:spTgt spid="77869"/>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77870"/>
                                        </p:tgtEl>
                                        <p:attrNameLst>
                                          <p:attrName>style.visibility</p:attrName>
                                        </p:attrNameLst>
                                      </p:cBhvr>
                                      <p:to>
                                        <p:strVal val="visible"/>
                                      </p:to>
                                    </p:set>
                                    <p:animEffect transition="in" filter="wipe(left)">
                                      <p:cBhvr>
                                        <p:cTn id="122" dur="500"/>
                                        <p:tgtEl>
                                          <p:spTgt spid="77870"/>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77871"/>
                                        </p:tgtEl>
                                        <p:attrNameLst>
                                          <p:attrName>style.visibility</p:attrName>
                                        </p:attrNameLst>
                                      </p:cBhvr>
                                      <p:to>
                                        <p:strVal val="visible"/>
                                      </p:to>
                                    </p:set>
                                    <p:animEffect transition="in" filter="wipe(left)">
                                      <p:cBhvr>
                                        <p:cTn id="127" dur="500"/>
                                        <p:tgtEl>
                                          <p:spTgt spid="7787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77872"/>
                                        </p:tgtEl>
                                        <p:attrNameLst>
                                          <p:attrName>style.visibility</p:attrName>
                                        </p:attrNameLst>
                                      </p:cBhvr>
                                      <p:to>
                                        <p:strVal val="visible"/>
                                      </p:to>
                                    </p:set>
                                    <p:animEffect transition="in" filter="wipe(left)">
                                      <p:cBhvr>
                                        <p:cTn id="132" dur="500"/>
                                        <p:tgtEl>
                                          <p:spTgt spid="77872"/>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77873"/>
                                        </p:tgtEl>
                                        <p:attrNameLst>
                                          <p:attrName>style.visibility</p:attrName>
                                        </p:attrNameLst>
                                      </p:cBhvr>
                                      <p:to>
                                        <p:strVal val="visible"/>
                                      </p:to>
                                    </p:set>
                                    <p:animEffect transition="in" filter="wipe(left)">
                                      <p:cBhvr>
                                        <p:cTn id="137" dur="500"/>
                                        <p:tgtEl>
                                          <p:spTgt spid="77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autoUpdateAnimBg="0"/>
      <p:bldP spid="77828" grpId="0" autoUpdateAnimBg="0"/>
      <p:bldP spid="77829" grpId="0" autoUpdateAnimBg="0"/>
      <p:bldP spid="77842" grpId="0" animBg="1"/>
      <p:bldP spid="77843" grpId="0" animBg="1"/>
      <p:bldP spid="77844" grpId="0" autoUpdateAnimBg="0"/>
      <p:bldP spid="77845" grpId="0" autoUpdateAnimBg="0"/>
      <p:bldP spid="77846" grpId="0" autoUpdateAnimBg="0"/>
      <p:bldP spid="77847" grpId="0" autoUpdateAnimBg="0"/>
      <p:bldP spid="77860" grpId="0" animBg="1"/>
      <p:bldP spid="77861" grpId="0" animBg="1"/>
      <p:bldP spid="77862" grpId="0" autoUpdateAnimBg="0"/>
      <p:bldP spid="77863" grpId="0" autoUpdateAnimBg="0"/>
      <p:bldP spid="77864" grpId="0" autoUpdateAnimBg="0"/>
      <p:bldP spid="77865" grpId="0" autoUpdateAnimBg="0"/>
      <p:bldP spid="77866" grpId="0" autoUpdateAnimBg="0"/>
      <p:bldP spid="77867" grpId="0" autoUpdateAnimBg="0"/>
      <p:bldP spid="77868" grpId="0" animBg="1"/>
      <p:bldP spid="77869" grpId="0" autoUpdateAnimBg="0"/>
      <p:bldP spid="77871"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reeform 2"/>
          <p:cNvSpPr/>
          <p:nvPr/>
        </p:nvSpPr>
        <p:spPr bwMode="auto">
          <a:xfrm>
            <a:off x="6515100" y="2100263"/>
            <a:ext cx="1149350" cy="1517650"/>
          </a:xfrm>
          <a:custGeom>
            <a:avLst/>
            <a:gdLst>
              <a:gd name="T0" fmla="*/ 2147483647 w 724"/>
              <a:gd name="T1" fmla="*/ 2147483647 h 956"/>
              <a:gd name="T2" fmla="*/ 2147483647 w 724"/>
              <a:gd name="T3" fmla="*/ 0 h 956"/>
              <a:gd name="T4" fmla="*/ 2147483647 w 724"/>
              <a:gd name="T5" fmla="*/ 2147483647 h 956"/>
              <a:gd name="T6" fmla="*/ 2147483647 w 724"/>
              <a:gd name="T7" fmla="*/ 2147483647 h 956"/>
              <a:gd name="T8" fmla="*/ 2147483647 w 724"/>
              <a:gd name="T9" fmla="*/ 2147483647 h 956"/>
              <a:gd name="T10" fmla="*/ 2147483647 w 724"/>
              <a:gd name="T11" fmla="*/ 2147483647 h 956"/>
              <a:gd name="T12" fmla="*/ 2147483647 w 724"/>
              <a:gd name="T13" fmla="*/ 2147483647 h 956"/>
              <a:gd name="T14" fmla="*/ 2147483647 w 724"/>
              <a:gd name="T15" fmla="*/ 2147483647 h 956"/>
              <a:gd name="T16" fmla="*/ 2147483647 w 724"/>
              <a:gd name="T17" fmla="*/ 2147483647 h 956"/>
              <a:gd name="T18" fmla="*/ 2147483647 w 724"/>
              <a:gd name="T19" fmla="*/ 2147483647 h 956"/>
              <a:gd name="T20" fmla="*/ 2147483647 w 724"/>
              <a:gd name="T21" fmla="*/ 2147483647 h 956"/>
              <a:gd name="T22" fmla="*/ 2147483647 w 724"/>
              <a:gd name="T23" fmla="*/ 2147483647 h 956"/>
              <a:gd name="T24" fmla="*/ 2147483647 w 724"/>
              <a:gd name="T25" fmla="*/ 2147483647 h 956"/>
              <a:gd name="T26" fmla="*/ 0 w 724"/>
              <a:gd name="T27" fmla="*/ 2147483647 h 956"/>
              <a:gd name="T28" fmla="*/ 2147483647 w 724"/>
              <a:gd name="T29" fmla="*/ 2147483647 h 9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4"/>
              <a:gd name="T46" fmla="*/ 0 h 956"/>
              <a:gd name="T47" fmla="*/ 724 w 724"/>
              <a:gd name="T48" fmla="*/ 956 h 9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4" h="956">
                <a:moveTo>
                  <a:pt x="1" y="16"/>
                </a:moveTo>
                <a:lnTo>
                  <a:pt x="224" y="0"/>
                </a:lnTo>
                <a:lnTo>
                  <a:pt x="336" y="8"/>
                </a:lnTo>
                <a:lnTo>
                  <a:pt x="424" y="40"/>
                </a:lnTo>
                <a:lnTo>
                  <a:pt x="468" y="64"/>
                </a:lnTo>
                <a:lnTo>
                  <a:pt x="520" y="100"/>
                </a:lnTo>
                <a:lnTo>
                  <a:pt x="590" y="152"/>
                </a:lnTo>
                <a:lnTo>
                  <a:pt x="648" y="232"/>
                </a:lnTo>
                <a:lnTo>
                  <a:pt x="664" y="280"/>
                </a:lnTo>
                <a:lnTo>
                  <a:pt x="681" y="333"/>
                </a:lnTo>
                <a:lnTo>
                  <a:pt x="700" y="420"/>
                </a:lnTo>
                <a:lnTo>
                  <a:pt x="724" y="536"/>
                </a:lnTo>
                <a:lnTo>
                  <a:pt x="724" y="956"/>
                </a:lnTo>
                <a:lnTo>
                  <a:pt x="0" y="956"/>
                </a:lnTo>
                <a:lnTo>
                  <a:pt x="1" y="16"/>
                </a:lnTo>
                <a:close/>
              </a:path>
            </a:pathLst>
          </a:custGeom>
          <a:pattFill prst="wdUpDiag">
            <a:fgClr>
              <a:srgbClr val="3333CC"/>
            </a:fgClr>
            <a:bgClr>
              <a:schemeClr val="bg1"/>
            </a:bgClr>
          </a:pattFill>
          <a:ln w="9525">
            <a:noFill/>
            <a:round/>
          </a:ln>
        </p:spPr>
        <p:txBody>
          <a:bodyPr/>
          <a:lstStyle/>
          <a:p>
            <a:pPr algn="ctr"/>
            <a:endParaRPr lang="zh-CN" altLang="en-US" b="1"/>
          </a:p>
        </p:txBody>
      </p:sp>
      <p:sp>
        <p:nvSpPr>
          <p:cNvPr id="78851" name="Freeform 3"/>
          <p:cNvSpPr/>
          <p:nvPr/>
        </p:nvSpPr>
        <p:spPr bwMode="auto">
          <a:xfrm>
            <a:off x="6515100" y="2138363"/>
            <a:ext cx="1152525" cy="1466850"/>
          </a:xfrm>
          <a:custGeom>
            <a:avLst/>
            <a:gdLst>
              <a:gd name="T0" fmla="*/ 0 w 726"/>
              <a:gd name="T1" fmla="*/ 0 h 924"/>
              <a:gd name="T2" fmla="*/ 2147483647 w 726"/>
              <a:gd name="T3" fmla="*/ 2147483647 h 924"/>
              <a:gd name="T4" fmla="*/ 2147483647 w 726"/>
              <a:gd name="T5" fmla="*/ 2147483647 h 924"/>
              <a:gd name="T6" fmla="*/ 2147483647 w 726"/>
              <a:gd name="T7" fmla="*/ 2147483647 h 924"/>
              <a:gd name="T8" fmla="*/ 2147483647 w 726"/>
              <a:gd name="T9" fmla="*/ 2147483647 h 924"/>
              <a:gd name="T10" fmla="*/ 2147483647 w 726"/>
              <a:gd name="T11" fmla="*/ 2147483647 h 924"/>
              <a:gd name="T12" fmla="*/ 2147483647 w 726"/>
              <a:gd name="T13" fmla="*/ 2147483647 h 924"/>
              <a:gd name="T14" fmla="*/ 2147483647 w 726"/>
              <a:gd name="T15" fmla="*/ 2147483647 h 924"/>
              <a:gd name="T16" fmla="*/ 2147483647 w 726"/>
              <a:gd name="T17" fmla="*/ 2147483647 h 924"/>
              <a:gd name="T18" fmla="*/ 2147483647 w 726"/>
              <a:gd name="T19" fmla="*/ 2147483647 h 924"/>
              <a:gd name="T20" fmla="*/ 0 w 726"/>
              <a:gd name="T21" fmla="*/ 0 h 9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6"/>
              <a:gd name="T34" fmla="*/ 0 h 924"/>
              <a:gd name="T35" fmla="*/ 726 w 726"/>
              <a:gd name="T36" fmla="*/ 924 h 9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6" h="924">
                <a:moveTo>
                  <a:pt x="0" y="0"/>
                </a:moveTo>
                <a:lnTo>
                  <a:pt x="72" y="184"/>
                </a:lnTo>
                <a:lnTo>
                  <a:pt x="148" y="300"/>
                </a:lnTo>
                <a:lnTo>
                  <a:pt x="276" y="384"/>
                </a:lnTo>
                <a:lnTo>
                  <a:pt x="424" y="448"/>
                </a:lnTo>
                <a:lnTo>
                  <a:pt x="528" y="480"/>
                </a:lnTo>
                <a:lnTo>
                  <a:pt x="632" y="504"/>
                </a:lnTo>
                <a:lnTo>
                  <a:pt x="724" y="524"/>
                </a:lnTo>
                <a:lnTo>
                  <a:pt x="726" y="924"/>
                </a:lnTo>
                <a:lnTo>
                  <a:pt x="2" y="924"/>
                </a:lnTo>
                <a:lnTo>
                  <a:pt x="0" y="0"/>
                </a:lnTo>
                <a:close/>
              </a:path>
            </a:pathLst>
          </a:custGeom>
          <a:pattFill prst="wdUpDiag">
            <a:fgClr>
              <a:srgbClr val="FF6600">
                <a:alpha val="39999"/>
              </a:srgbClr>
            </a:fgClr>
            <a:bgClr>
              <a:schemeClr val="bg1">
                <a:alpha val="39999"/>
              </a:schemeClr>
            </a:bgClr>
          </a:pattFill>
          <a:ln w="9525">
            <a:noFill/>
            <a:round/>
          </a:ln>
        </p:spPr>
        <p:txBody>
          <a:bodyPr/>
          <a:lstStyle/>
          <a:p>
            <a:pPr algn="ctr"/>
            <a:endParaRPr lang="zh-CN" altLang="en-US" b="1"/>
          </a:p>
        </p:txBody>
      </p:sp>
      <p:sp>
        <p:nvSpPr>
          <p:cNvPr id="78852" name="Line 4"/>
          <p:cNvSpPr>
            <a:spLocks noChangeShapeType="1"/>
          </p:cNvSpPr>
          <p:nvPr/>
        </p:nvSpPr>
        <p:spPr bwMode="auto">
          <a:xfrm>
            <a:off x="7667625" y="2938463"/>
            <a:ext cx="0" cy="685800"/>
          </a:xfrm>
          <a:prstGeom prst="line">
            <a:avLst/>
          </a:prstGeom>
          <a:noFill/>
          <a:ln w="9525">
            <a:solidFill>
              <a:schemeClr val="tx1"/>
            </a:solidFill>
            <a:prstDash val="lgDash"/>
            <a:round/>
          </a:ln>
        </p:spPr>
        <p:txBody>
          <a:bodyPr/>
          <a:lstStyle/>
          <a:p>
            <a:endParaRPr lang="zh-CN" altLang="en-US"/>
          </a:p>
        </p:txBody>
      </p:sp>
      <p:sp>
        <p:nvSpPr>
          <p:cNvPr id="78853" name="Line 5"/>
          <p:cNvSpPr>
            <a:spLocks noChangeShapeType="1"/>
          </p:cNvSpPr>
          <p:nvPr/>
        </p:nvSpPr>
        <p:spPr bwMode="auto">
          <a:xfrm>
            <a:off x="6516688" y="2112963"/>
            <a:ext cx="0" cy="1511300"/>
          </a:xfrm>
          <a:prstGeom prst="line">
            <a:avLst/>
          </a:prstGeom>
          <a:noFill/>
          <a:ln w="9525">
            <a:solidFill>
              <a:schemeClr val="tx1"/>
            </a:solidFill>
            <a:prstDash val="lgDash"/>
            <a:round/>
          </a:ln>
        </p:spPr>
        <p:txBody>
          <a:bodyPr/>
          <a:lstStyle/>
          <a:p>
            <a:endParaRPr lang="zh-CN" altLang="en-US"/>
          </a:p>
        </p:txBody>
      </p:sp>
      <p:grpSp>
        <p:nvGrpSpPr>
          <p:cNvPr id="2" name="Group 6"/>
          <p:cNvGrpSpPr/>
          <p:nvPr/>
        </p:nvGrpSpPr>
        <p:grpSpPr bwMode="auto">
          <a:xfrm>
            <a:off x="5580063" y="1341438"/>
            <a:ext cx="3240087" cy="2473325"/>
            <a:chOff x="3515" y="845"/>
            <a:chExt cx="2041" cy="1558"/>
          </a:xfrm>
        </p:grpSpPr>
        <p:sp>
          <p:nvSpPr>
            <p:cNvPr id="38946" name="Line 7"/>
            <p:cNvSpPr>
              <a:spLocks noChangeShapeType="1"/>
            </p:cNvSpPr>
            <p:nvPr/>
          </p:nvSpPr>
          <p:spPr bwMode="auto">
            <a:xfrm flipV="1">
              <a:off x="3787" y="1059"/>
              <a:ext cx="0" cy="1224"/>
            </a:xfrm>
            <a:prstGeom prst="line">
              <a:avLst/>
            </a:prstGeom>
            <a:noFill/>
            <a:ln w="28575">
              <a:solidFill>
                <a:schemeClr val="tx1"/>
              </a:solidFill>
              <a:round/>
              <a:tailEnd type="triangle" w="med" len="med"/>
            </a:ln>
          </p:spPr>
          <p:txBody>
            <a:bodyPr/>
            <a:lstStyle/>
            <a:p>
              <a:endParaRPr lang="zh-CN" altLang="en-US"/>
            </a:p>
          </p:txBody>
        </p:sp>
        <p:sp>
          <p:nvSpPr>
            <p:cNvPr id="38947" name="Line 8"/>
            <p:cNvSpPr>
              <a:spLocks noChangeShapeType="1"/>
            </p:cNvSpPr>
            <p:nvPr/>
          </p:nvSpPr>
          <p:spPr bwMode="auto">
            <a:xfrm>
              <a:off x="3777" y="2283"/>
              <a:ext cx="1316" cy="0"/>
            </a:xfrm>
            <a:prstGeom prst="line">
              <a:avLst/>
            </a:prstGeom>
            <a:noFill/>
            <a:ln w="28575">
              <a:solidFill>
                <a:schemeClr val="tx1"/>
              </a:solidFill>
              <a:round/>
              <a:tailEnd type="triangle" w="med" len="med"/>
            </a:ln>
          </p:spPr>
          <p:txBody>
            <a:bodyPr/>
            <a:lstStyle/>
            <a:p>
              <a:endParaRPr lang="zh-CN" altLang="en-US"/>
            </a:p>
          </p:txBody>
        </p:sp>
        <p:sp>
          <p:nvSpPr>
            <p:cNvPr id="38948" name="Text Box 9"/>
            <p:cNvSpPr txBox="1">
              <a:spLocks noChangeArrowheads="1"/>
            </p:cNvSpPr>
            <p:nvPr/>
          </p:nvSpPr>
          <p:spPr bwMode="auto">
            <a:xfrm>
              <a:off x="3560" y="845"/>
              <a:ext cx="409" cy="288"/>
            </a:xfrm>
            <a:prstGeom prst="rect">
              <a:avLst/>
            </a:prstGeom>
            <a:noFill/>
            <a:ln w="9525">
              <a:noFill/>
              <a:miter lim="800000"/>
            </a:ln>
          </p:spPr>
          <p:txBody>
            <a:bodyPr>
              <a:spAutoFit/>
            </a:bodyPr>
            <a:lstStyle/>
            <a:p>
              <a:r>
                <a:rPr lang="en-US" altLang="zh-CN" b="1" i="1"/>
                <a:t>p</a:t>
              </a:r>
              <a:endParaRPr lang="en-US" altLang="zh-CN" b="1" i="1"/>
            </a:p>
          </p:txBody>
        </p:sp>
        <p:sp>
          <p:nvSpPr>
            <p:cNvPr id="38949" name="Text Box 10"/>
            <p:cNvSpPr txBox="1">
              <a:spLocks noChangeArrowheads="1"/>
            </p:cNvSpPr>
            <p:nvPr/>
          </p:nvSpPr>
          <p:spPr bwMode="auto">
            <a:xfrm>
              <a:off x="5090" y="2115"/>
              <a:ext cx="466" cy="288"/>
            </a:xfrm>
            <a:prstGeom prst="rect">
              <a:avLst/>
            </a:prstGeom>
            <a:noFill/>
            <a:ln w="9525">
              <a:noFill/>
              <a:miter lim="800000"/>
            </a:ln>
          </p:spPr>
          <p:txBody>
            <a:bodyPr>
              <a:spAutoFit/>
            </a:bodyPr>
            <a:lstStyle/>
            <a:p>
              <a:r>
                <a:rPr lang="en-US" altLang="zh-CN" b="1" i="1"/>
                <a:t>V</a:t>
              </a:r>
              <a:endParaRPr lang="en-US" altLang="zh-CN" b="1" i="1"/>
            </a:p>
          </p:txBody>
        </p:sp>
        <p:sp>
          <p:nvSpPr>
            <p:cNvPr id="38950" name="Text Box 11"/>
            <p:cNvSpPr txBox="1">
              <a:spLocks noChangeArrowheads="1"/>
            </p:cNvSpPr>
            <p:nvPr/>
          </p:nvSpPr>
          <p:spPr bwMode="auto">
            <a:xfrm>
              <a:off x="3515" y="2102"/>
              <a:ext cx="408" cy="288"/>
            </a:xfrm>
            <a:prstGeom prst="rect">
              <a:avLst/>
            </a:prstGeom>
            <a:noFill/>
            <a:ln w="9525">
              <a:noFill/>
              <a:miter lim="800000"/>
            </a:ln>
          </p:spPr>
          <p:txBody>
            <a:bodyPr>
              <a:spAutoFit/>
            </a:bodyPr>
            <a:lstStyle/>
            <a:p>
              <a:r>
                <a:rPr lang="en-US" altLang="zh-CN" b="1" i="1"/>
                <a:t>O</a:t>
              </a:r>
              <a:endParaRPr lang="en-US" altLang="zh-CN" b="1" i="1"/>
            </a:p>
          </p:txBody>
        </p:sp>
      </p:grpSp>
      <p:grpSp>
        <p:nvGrpSpPr>
          <p:cNvPr id="3" name="Group 12"/>
          <p:cNvGrpSpPr/>
          <p:nvPr/>
        </p:nvGrpSpPr>
        <p:grpSpPr bwMode="auto">
          <a:xfrm>
            <a:off x="6516688" y="2065338"/>
            <a:ext cx="1150937" cy="839787"/>
            <a:chOff x="4105" y="1301"/>
            <a:chExt cx="725" cy="529"/>
          </a:xfrm>
        </p:grpSpPr>
        <p:sp>
          <p:nvSpPr>
            <p:cNvPr id="38944" name="Freeform 13"/>
            <p:cNvSpPr/>
            <p:nvPr/>
          </p:nvSpPr>
          <p:spPr bwMode="auto">
            <a:xfrm>
              <a:off x="4105" y="1301"/>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ln>
          </p:spPr>
          <p:txBody>
            <a:bodyPr/>
            <a:lstStyle/>
            <a:p>
              <a:pPr algn="ctr"/>
              <a:endParaRPr lang="zh-CN" altLang="en-US" b="1"/>
            </a:p>
          </p:txBody>
        </p:sp>
        <p:sp>
          <p:nvSpPr>
            <p:cNvPr id="38945" name="Line 14"/>
            <p:cNvSpPr>
              <a:spLocks noChangeShapeType="1"/>
            </p:cNvSpPr>
            <p:nvPr/>
          </p:nvSpPr>
          <p:spPr bwMode="auto">
            <a:xfrm>
              <a:off x="4649" y="1422"/>
              <a:ext cx="45" cy="45"/>
            </a:xfrm>
            <a:prstGeom prst="line">
              <a:avLst/>
            </a:prstGeom>
            <a:noFill/>
            <a:ln w="38100">
              <a:solidFill>
                <a:srgbClr val="3333CC"/>
              </a:solidFill>
              <a:round/>
              <a:tailEnd type="triangle" w="med" len="med"/>
            </a:ln>
          </p:spPr>
          <p:txBody>
            <a:bodyPr/>
            <a:lstStyle/>
            <a:p>
              <a:endParaRPr lang="zh-CN" altLang="en-US"/>
            </a:p>
          </p:txBody>
        </p:sp>
      </p:grpSp>
      <p:sp>
        <p:nvSpPr>
          <p:cNvPr id="78863" name="Text Box 15"/>
          <p:cNvSpPr txBox="1">
            <a:spLocks noChangeArrowheads="1"/>
          </p:cNvSpPr>
          <p:nvPr/>
        </p:nvSpPr>
        <p:spPr bwMode="auto">
          <a:xfrm>
            <a:off x="6351588" y="1628775"/>
            <a:ext cx="525462" cy="457200"/>
          </a:xfrm>
          <a:prstGeom prst="rect">
            <a:avLst/>
          </a:prstGeom>
          <a:noFill/>
          <a:ln w="9525">
            <a:noFill/>
            <a:miter lim="800000"/>
          </a:ln>
        </p:spPr>
        <p:txBody>
          <a:bodyPr>
            <a:spAutoFit/>
          </a:bodyPr>
          <a:lstStyle/>
          <a:p>
            <a:r>
              <a:rPr lang="en-US" altLang="zh-CN" b="1" i="1"/>
              <a:t>I</a:t>
            </a:r>
            <a:endParaRPr lang="en-US" altLang="zh-CN" b="1" i="1"/>
          </a:p>
        </p:txBody>
      </p:sp>
      <p:sp>
        <p:nvSpPr>
          <p:cNvPr id="78864" name="Text Box 16"/>
          <p:cNvSpPr txBox="1">
            <a:spLocks noChangeArrowheads="1"/>
          </p:cNvSpPr>
          <p:nvPr/>
        </p:nvSpPr>
        <p:spPr bwMode="auto">
          <a:xfrm>
            <a:off x="7669213" y="2689225"/>
            <a:ext cx="647700" cy="457200"/>
          </a:xfrm>
          <a:prstGeom prst="rect">
            <a:avLst/>
          </a:prstGeom>
          <a:noFill/>
          <a:ln w="9525">
            <a:noFill/>
            <a:miter lim="800000"/>
          </a:ln>
        </p:spPr>
        <p:txBody>
          <a:bodyPr>
            <a:spAutoFit/>
          </a:bodyPr>
          <a:lstStyle/>
          <a:p>
            <a:r>
              <a:rPr lang="en-US" altLang="zh-CN" b="1" i="1"/>
              <a:t>II</a:t>
            </a:r>
            <a:endParaRPr lang="en-US" altLang="zh-CN" b="1" i="1"/>
          </a:p>
        </p:txBody>
      </p:sp>
      <p:sp>
        <p:nvSpPr>
          <p:cNvPr id="78865" name="Text Box 17"/>
          <p:cNvSpPr txBox="1">
            <a:spLocks noChangeArrowheads="1"/>
          </p:cNvSpPr>
          <p:nvPr/>
        </p:nvSpPr>
        <p:spPr bwMode="auto">
          <a:xfrm>
            <a:off x="7308850" y="1752600"/>
            <a:ext cx="576263" cy="457200"/>
          </a:xfrm>
          <a:prstGeom prst="rect">
            <a:avLst/>
          </a:prstGeom>
          <a:noFill/>
          <a:ln w="9525">
            <a:noFill/>
            <a:miter lim="800000"/>
          </a:ln>
        </p:spPr>
        <p:txBody>
          <a:bodyPr>
            <a:spAutoFit/>
          </a:bodyPr>
          <a:lstStyle/>
          <a:p>
            <a:r>
              <a:rPr lang="en-US" altLang="zh-CN" b="1" i="1"/>
              <a:t>a</a:t>
            </a:r>
            <a:endParaRPr lang="en-US" altLang="zh-CN" b="1" i="1"/>
          </a:p>
        </p:txBody>
      </p:sp>
      <p:sp>
        <p:nvSpPr>
          <p:cNvPr id="78866" name="Text Box 18"/>
          <p:cNvSpPr txBox="1">
            <a:spLocks noChangeArrowheads="1"/>
          </p:cNvSpPr>
          <p:nvPr/>
        </p:nvSpPr>
        <p:spPr bwMode="auto">
          <a:xfrm>
            <a:off x="755650" y="981075"/>
            <a:ext cx="1655763" cy="457200"/>
          </a:xfrm>
          <a:prstGeom prst="rect">
            <a:avLst/>
          </a:prstGeom>
          <a:noFill/>
          <a:ln w="9525">
            <a:noFill/>
            <a:miter lim="800000"/>
          </a:ln>
        </p:spPr>
        <p:txBody>
          <a:bodyPr>
            <a:spAutoFit/>
          </a:bodyPr>
          <a:lstStyle/>
          <a:p>
            <a:r>
              <a:rPr lang="zh-CN" altLang="en-US" b="1">
                <a:solidFill>
                  <a:srgbClr val="0000FF"/>
                </a:solidFill>
              </a:rPr>
              <a:t>正循环</a:t>
            </a:r>
            <a:endParaRPr lang="zh-CN" altLang="en-US" b="1">
              <a:solidFill>
                <a:srgbClr val="0000FF"/>
              </a:solidFill>
            </a:endParaRPr>
          </a:p>
        </p:txBody>
      </p:sp>
      <p:sp>
        <p:nvSpPr>
          <p:cNvPr id="78867" name="Text Box 19"/>
          <p:cNvSpPr txBox="1">
            <a:spLocks noChangeArrowheads="1"/>
          </p:cNvSpPr>
          <p:nvPr/>
        </p:nvSpPr>
        <p:spPr bwMode="auto">
          <a:xfrm>
            <a:off x="1023938" y="1531938"/>
            <a:ext cx="2755900" cy="457200"/>
          </a:xfrm>
          <a:prstGeom prst="rect">
            <a:avLst/>
          </a:prstGeom>
          <a:noFill/>
          <a:ln w="9525">
            <a:noFill/>
            <a:miter lim="800000"/>
          </a:ln>
        </p:spPr>
        <p:txBody>
          <a:bodyPr>
            <a:spAutoFit/>
          </a:bodyPr>
          <a:lstStyle/>
          <a:p>
            <a:r>
              <a:rPr lang="en-US" altLang="zh-CN" b="1" i="1"/>
              <a:t>I</a:t>
            </a:r>
            <a:r>
              <a:rPr lang="en-US" altLang="zh-CN" b="1"/>
              <a:t> → </a:t>
            </a:r>
            <a:r>
              <a:rPr lang="en-US" altLang="zh-CN" b="1" i="1"/>
              <a:t>a</a:t>
            </a:r>
            <a:r>
              <a:rPr lang="en-US" altLang="zh-CN" b="1"/>
              <a:t> → </a:t>
            </a:r>
            <a:r>
              <a:rPr lang="en-US" altLang="zh-CN" b="1" i="1"/>
              <a:t>II</a:t>
            </a:r>
            <a:r>
              <a:rPr lang="en-US" altLang="zh-CN" b="1"/>
              <a:t> </a:t>
            </a:r>
            <a:r>
              <a:rPr lang="zh-CN" altLang="en-US" b="1"/>
              <a:t>过程：</a:t>
            </a:r>
            <a:endParaRPr lang="zh-CN" altLang="en-US" b="1"/>
          </a:p>
        </p:txBody>
      </p:sp>
      <p:sp>
        <p:nvSpPr>
          <p:cNvPr id="78868" name="Text Box 20"/>
          <p:cNvSpPr txBox="1">
            <a:spLocks noChangeArrowheads="1"/>
          </p:cNvSpPr>
          <p:nvPr/>
        </p:nvSpPr>
        <p:spPr bwMode="auto">
          <a:xfrm>
            <a:off x="6353175" y="3581400"/>
            <a:ext cx="319088" cy="457200"/>
          </a:xfrm>
          <a:prstGeom prst="rect">
            <a:avLst/>
          </a:prstGeom>
          <a:noFill/>
          <a:ln w="9525">
            <a:noFill/>
            <a:miter lim="800000"/>
          </a:ln>
        </p:spPr>
        <p:txBody>
          <a:bodyPr wrap="none">
            <a:spAutoFit/>
          </a:bodyPr>
          <a:lstStyle/>
          <a:p>
            <a:r>
              <a:rPr lang="en-US" altLang="zh-CN" b="1" i="1">
                <a:solidFill>
                  <a:srgbClr val="3333CC"/>
                </a:solidFill>
              </a:rPr>
              <a:t>c</a:t>
            </a:r>
            <a:endParaRPr lang="en-US" altLang="zh-CN" b="1">
              <a:solidFill>
                <a:srgbClr val="3333CC"/>
              </a:solidFill>
            </a:endParaRPr>
          </a:p>
        </p:txBody>
      </p:sp>
      <p:sp>
        <p:nvSpPr>
          <p:cNvPr id="78869" name="Text Box 21"/>
          <p:cNvSpPr txBox="1">
            <a:spLocks noChangeArrowheads="1"/>
          </p:cNvSpPr>
          <p:nvPr/>
        </p:nvSpPr>
        <p:spPr bwMode="auto">
          <a:xfrm>
            <a:off x="7500938" y="3581400"/>
            <a:ext cx="336550" cy="457200"/>
          </a:xfrm>
          <a:prstGeom prst="rect">
            <a:avLst/>
          </a:prstGeom>
          <a:noFill/>
          <a:ln w="9525">
            <a:noFill/>
            <a:miter lim="800000"/>
          </a:ln>
        </p:spPr>
        <p:txBody>
          <a:bodyPr wrap="none">
            <a:spAutoFit/>
          </a:bodyPr>
          <a:lstStyle/>
          <a:p>
            <a:r>
              <a:rPr lang="en-US" altLang="zh-CN" b="1" i="1">
                <a:solidFill>
                  <a:srgbClr val="3333CC"/>
                </a:solidFill>
              </a:rPr>
              <a:t>d</a:t>
            </a:r>
            <a:endParaRPr lang="en-US" altLang="zh-CN" b="1">
              <a:solidFill>
                <a:srgbClr val="3333CC"/>
              </a:solidFill>
            </a:endParaRPr>
          </a:p>
        </p:txBody>
      </p:sp>
      <p:graphicFrame>
        <p:nvGraphicFramePr>
          <p:cNvPr id="78870" name="Object 22"/>
          <p:cNvGraphicFramePr>
            <a:graphicFrameLocks noChangeAspect="1"/>
          </p:cNvGraphicFramePr>
          <p:nvPr/>
        </p:nvGraphicFramePr>
        <p:xfrm>
          <a:off x="2033588" y="1989138"/>
          <a:ext cx="1909762" cy="660400"/>
        </p:xfrm>
        <a:graphic>
          <a:graphicData uri="http://schemas.openxmlformats.org/presentationml/2006/ole">
            <mc:AlternateContent xmlns:mc="http://schemas.openxmlformats.org/markup-compatibility/2006">
              <mc:Choice xmlns:v="urn:schemas-microsoft-com:vml" Requires="v">
                <p:oleObj spid="_x0000_s38913" name="公式" r:id="rId1" imgW="15849600" imgH="5486400" progId="Equation.3">
                  <p:embed/>
                </p:oleObj>
              </mc:Choice>
              <mc:Fallback>
                <p:oleObj name="公式" r:id="rId1" imgW="15849600" imgH="5486400" progId="Equation.3">
                  <p:embed/>
                  <p:pic>
                    <p:nvPicPr>
                      <p:cNvPr id="0" name="Object 22"/>
                      <p:cNvPicPr>
                        <a:picLocks noChangeAspect="1"/>
                      </p:cNvPicPr>
                      <p:nvPr/>
                    </p:nvPicPr>
                    <p:blipFill>
                      <a:blip r:embed="rId2"/>
                      <a:stretch>
                        <a:fillRect/>
                      </a:stretch>
                    </p:blipFill>
                    <p:spPr>
                      <a:xfrm>
                        <a:off x="2033588" y="1989138"/>
                        <a:ext cx="1909762" cy="660400"/>
                      </a:xfrm>
                      <a:prstGeom prst="rect">
                        <a:avLst/>
                      </a:prstGeom>
                      <a:noFill/>
                      <a:ln w="9525">
                        <a:noFill/>
                      </a:ln>
                    </p:spPr>
                  </p:pic>
                </p:oleObj>
              </mc:Fallback>
            </mc:AlternateContent>
          </a:graphicData>
        </a:graphic>
      </p:graphicFrame>
      <p:sp>
        <p:nvSpPr>
          <p:cNvPr id="78871" name="Text Box 23"/>
          <p:cNvSpPr txBox="1">
            <a:spLocks noChangeArrowheads="1"/>
          </p:cNvSpPr>
          <p:nvPr/>
        </p:nvSpPr>
        <p:spPr bwMode="auto">
          <a:xfrm>
            <a:off x="1028700" y="2636838"/>
            <a:ext cx="2606675" cy="457200"/>
          </a:xfrm>
          <a:prstGeom prst="rect">
            <a:avLst/>
          </a:prstGeom>
          <a:noFill/>
          <a:ln w="9525">
            <a:noFill/>
            <a:miter lim="800000"/>
          </a:ln>
        </p:spPr>
        <p:txBody>
          <a:bodyPr wrap="none">
            <a:spAutoFit/>
          </a:bodyPr>
          <a:lstStyle/>
          <a:p>
            <a:r>
              <a:rPr lang="en-US" altLang="zh-CN" b="1" i="1"/>
              <a:t>II</a:t>
            </a:r>
            <a:r>
              <a:rPr lang="en-US" altLang="zh-CN" b="1"/>
              <a:t> → </a:t>
            </a:r>
            <a:r>
              <a:rPr lang="en-US" altLang="zh-CN" b="1" i="1"/>
              <a:t>b</a:t>
            </a:r>
            <a:r>
              <a:rPr lang="en-US" altLang="zh-CN" b="1"/>
              <a:t> → </a:t>
            </a:r>
            <a:r>
              <a:rPr lang="en-US" altLang="zh-CN" b="1" i="1"/>
              <a:t>I</a:t>
            </a:r>
            <a:r>
              <a:rPr lang="en-US" altLang="zh-CN" b="1"/>
              <a:t> </a:t>
            </a:r>
            <a:r>
              <a:rPr lang="zh-CN" altLang="en-US" b="1"/>
              <a:t>过程：</a:t>
            </a:r>
            <a:endParaRPr lang="zh-CN" altLang="en-US" b="1"/>
          </a:p>
        </p:txBody>
      </p:sp>
      <p:graphicFrame>
        <p:nvGraphicFramePr>
          <p:cNvPr id="78872" name="Object 24"/>
          <p:cNvGraphicFramePr>
            <a:graphicFrameLocks noChangeAspect="1"/>
          </p:cNvGraphicFramePr>
          <p:nvPr/>
        </p:nvGraphicFramePr>
        <p:xfrm>
          <a:off x="1887538" y="2997200"/>
          <a:ext cx="2203450" cy="660400"/>
        </p:xfrm>
        <a:graphic>
          <a:graphicData uri="http://schemas.openxmlformats.org/presentationml/2006/ole">
            <mc:AlternateContent xmlns:mc="http://schemas.openxmlformats.org/markup-compatibility/2006">
              <mc:Choice xmlns:v="urn:schemas-microsoft-com:vml" Requires="v">
                <p:oleObj spid="_x0000_s38915" name="公式" r:id="rId3" imgW="18288000" imgH="5486400" progId="Equation.3">
                  <p:embed/>
                </p:oleObj>
              </mc:Choice>
              <mc:Fallback>
                <p:oleObj name="公式" r:id="rId3" imgW="18288000" imgH="5486400" progId="Equation.3">
                  <p:embed/>
                  <p:pic>
                    <p:nvPicPr>
                      <p:cNvPr id="0" name="Object 24"/>
                      <p:cNvPicPr>
                        <a:picLocks noChangeAspect="1"/>
                      </p:cNvPicPr>
                      <p:nvPr/>
                    </p:nvPicPr>
                    <p:blipFill>
                      <a:blip r:embed="rId4"/>
                      <a:stretch>
                        <a:fillRect/>
                      </a:stretch>
                    </p:blipFill>
                    <p:spPr>
                      <a:xfrm>
                        <a:off x="1887538" y="2997200"/>
                        <a:ext cx="2203450" cy="660400"/>
                      </a:xfrm>
                      <a:prstGeom prst="rect">
                        <a:avLst/>
                      </a:prstGeom>
                      <a:noFill/>
                      <a:ln w="9525">
                        <a:noFill/>
                      </a:ln>
                    </p:spPr>
                  </p:pic>
                </p:oleObj>
              </mc:Fallback>
            </mc:AlternateContent>
          </a:graphicData>
        </a:graphic>
      </p:graphicFrame>
      <p:sp>
        <p:nvSpPr>
          <p:cNvPr id="78873" name="Text Box 25"/>
          <p:cNvSpPr txBox="1">
            <a:spLocks noChangeArrowheads="1"/>
          </p:cNvSpPr>
          <p:nvPr/>
        </p:nvSpPr>
        <p:spPr bwMode="auto">
          <a:xfrm>
            <a:off x="838200" y="3960813"/>
            <a:ext cx="3554413" cy="457200"/>
          </a:xfrm>
          <a:prstGeom prst="rect">
            <a:avLst/>
          </a:prstGeom>
          <a:noFill/>
          <a:ln w="9525">
            <a:noFill/>
            <a:miter lim="800000"/>
          </a:ln>
        </p:spPr>
        <p:txBody>
          <a:bodyPr wrap="none">
            <a:spAutoFit/>
          </a:bodyPr>
          <a:lstStyle/>
          <a:p>
            <a:r>
              <a:rPr lang="zh-CN" altLang="en-US" b="1"/>
              <a:t>经历一个循环所做净功：</a:t>
            </a:r>
            <a:endParaRPr lang="zh-CN" altLang="en-US" b="1"/>
          </a:p>
        </p:txBody>
      </p:sp>
      <p:graphicFrame>
        <p:nvGraphicFramePr>
          <p:cNvPr id="78874" name="Object 26"/>
          <p:cNvGraphicFramePr>
            <a:graphicFrameLocks noChangeAspect="1"/>
          </p:cNvGraphicFramePr>
          <p:nvPr/>
        </p:nvGraphicFramePr>
        <p:xfrm>
          <a:off x="808038" y="4465638"/>
          <a:ext cx="7015162" cy="660400"/>
        </p:xfrm>
        <a:graphic>
          <a:graphicData uri="http://schemas.openxmlformats.org/presentationml/2006/ole">
            <mc:AlternateContent xmlns:mc="http://schemas.openxmlformats.org/markup-compatibility/2006">
              <mc:Choice xmlns:v="urn:schemas-microsoft-com:vml" Requires="v">
                <p:oleObj spid="_x0000_s38916" name="公式" r:id="rId5" imgW="58216800" imgH="5486400" progId="Equation.3">
                  <p:embed/>
                </p:oleObj>
              </mc:Choice>
              <mc:Fallback>
                <p:oleObj name="公式" r:id="rId5" imgW="58216800" imgH="5486400" progId="Equation.3">
                  <p:embed/>
                  <p:pic>
                    <p:nvPicPr>
                      <p:cNvPr id="0" name="Object 26"/>
                      <p:cNvPicPr>
                        <a:picLocks noChangeAspect="1"/>
                      </p:cNvPicPr>
                      <p:nvPr/>
                    </p:nvPicPr>
                    <p:blipFill>
                      <a:blip r:embed="rId6"/>
                      <a:stretch>
                        <a:fillRect/>
                      </a:stretch>
                    </p:blipFill>
                    <p:spPr>
                      <a:xfrm>
                        <a:off x="808038" y="4465638"/>
                        <a:ext cx="7015162" cy="660400"/>
                      </a:xfrm>
                      <a:prstGeom prst="rect">
                        <a:avLst/>
                      </a:prstGeom>
                      <a:noFill/>
                      <a:ln w="9525">
                        <a:noFill/>
                      </a:ln>
                    </p:spPr>
                  </p:pic>
                </p:oleObj>
              </mc:Fallback>
            </mc:AlternateContent>
          </a:graphicData>
        </a:graphic>
      </p:graphicFrame>
      <p:sp>
        <p:nvSpPr>
          <p:cNvPr id="78875" name="Text Box 27"/>
          <p:cNvSpPr txBox="1">
            <a:spLocks noChangeArrowheads="1"/>
          </p:cNvSpPr>
          <p:nvPr/>
        </p:nvSpPr>
        <p:spPr bwMode="auto">
          <a:xfrm>
            <a:off x="755650" y="5257800"/>
            <a:ext cx="2328863" cy="457200"/>
          </a:xfrm>
          <a:prstGeom prst="rect">
            <a:avLst/>
          </a:prstGeom>
          <a:noFill/>
          <a:ln w="9525">
            <a:noFill/>
            <a:miter lim="800000"/>
          </a:ln>
        </p:spPr>
        <p:txBody>
          <a:bodyPr wrap="none">
            <a:spAutoFit/>
          </a:bodyPr>
          <a:lstStyle/>
          <a:p>
            <a:r>
              <a:rPr lang="zh-CN" altLang="en-US" b="1"/>
              <a:t>从高温热源吸热</a:t>
            </a:r>
            <a:endParaRPr lang="zh-CN" altLang="en-US" b="1"/>
          </a:p>
        </p:txBody>
      </p:sp>
      <p:sp>
        <p:nvSpPr>
          <p:cNvPr id="78876" name="AutoShape 28"/>
          <p:cNvSpPr>
            <a:spLocks noChangeArrowheads="1"/>
          </p:cNvSpPr>
          <p:nvPr/>
        </p:nvSpPr>
        <p:spPr bwMode="auto">
          <a:xfrm>
            <a:off x="3059113" y="5434013"/>
            <a:ext cx="936625" cy="144462"/>
          </a:xfrm>
          <a:prstGeom prst="rightArrow">
            <a:avLst>
              <a:gd name="adj1" fmla="val 50000"/>
              <a:gd name="adj2" fmla="val 162088"/>
            </a:avLst>
          </a:prstGeom>
          <a:solidFill>
            <a:schemeClr val="accent1"/>
          </a:solidFill>
          <a:ln w="9525">
            <a:solidFill>
              <a:schemeClr val="tx1"/>
            </a:solidFill>
            <a:miter lim="800000"/>
          </a:ln>
        </p:spPr>
        <p:txBody>
          <a:bodyPr wrap="none" anchor="ctr"/>
          <a:lstStyle/>
          <a:p>
            <a:pPr algn="ctr"/>
            <a:endParaRPr lang="zh-CN" altLang="en-US" b="1"/>
          </a:p>
        </p:txBody>
      </p:sp>
      <p:sp>
        <p:nvSpPr>
          <p:cNvPr id="78877" name="Text Box 29"/>
          <p:cNvSpPr txBox="1">
            <a:spLocks noChangeArrowheads="1"/>
          </p:cNvSpPr>
          <p:nvPr/>
        </p:nvSpPr>
        <p:spPr bwMode="auto">
          <a:xfrm>
            <a:off x="4067175" y="5257800"/>
            <a:ext cx="4779963" cy="457200"/>
          </a:xfrm>
          <a:prstGeom prst="rect">
            <a:avLst/>
          </a:prstGeom>
          <a:noFill/>
          <a:ln w="9525">
            <a:noFill/>
            <a:miter lim="800000"/>
          </a:ln>
        </p:spPr>
        <p:txBody>
          <a:bodyPr wrap="none">
            <a:spAutoFit/>
          </a:bodyPr>
          <a:lstStyle/>
          <a:p>
            <a:r>
              <a:rPr lang="zh-CN" altLang="en-US" b="1"/>
              <a:t>对外做功（同时向低温热源放热）</a:t>
            </a:r>
            <a:endParaRPr lang="zh-CN" altLang="en-US" b="1"/>
          </a:p>
        </p:txBody>
      </p:sp>
      <p:sp>
        <p:nvSpPr>
          <p:cNvPr id="78878" name="AutoShape 30"/>
          <p:cNvSpPr>
            <a:spLocks noChangeArrowheads="1"/>
          </p:cNvSpPr>
          <p:nvPr/>
        </p:nvSpPr>
        <p:spPr bwMode="auto">
          <a:xfrm>
            <a:off x="2051050" y="1141413"/>
            <a:ext cx="720725" cy="144462"/>
          </a:xfrm>
          <a:prstGeom prst="leftRightArrow">
            <a:avLst>
              <a:gd name="adj1" fmla="val 50000"/>
              <a:gd name="adj2" fmla="val 99781"/>
            </a:avLst>
          </a:prstGeom>
          <a:solidFill>
            <a:schemeClr val="accent1"/>
          </a:solidFill>
          <a:ln w="9525">
            <a:solidFill>
              <a:schemeClr val="tx1"/>
            </a:solidFill>
            <a:miter lim="800000"/>
          </a:ln>
        </p:spPr>
        <p:txBody>
          <a:bodyPr wrap="none" anchor="ctr"/>
          <a:lstStyle/>
          <a:p>
            <a:pPr algn="ctr"/>
            <a:endParaRPr lang="zh-CN" altLang="en-US" b="1"/>
          </a:p>
        </p:txBody>
      </p:sp>
      <p:sp>
        <p:nvSpPr>
          <p:cNvPr id="78879" name="Text Box 31"/>
          <p:cNvSpPr txBox="1">
            <a:spLocks noChangeArrowheads="1"/>
          </p:cNvSpPr>
          <p:nvPr/>
        </p:nvSpPr>
        <p:spPr bwMode="auto">
          <a:xfrm>
            <a:off x="2916238" y="981075"/>
            <a:ext cx="1871662" cy="457200"/>
          </a:xfrm>
          <a:prstGeom prst="rect">
            <a:avLst/>
          </a:prstGeom>
          <a:noFill/>
          <a:ln w="9525">
            <a:noFill/>
            <a:miter lim="800000"/>
          </a:ln>
        </p:spPr>
        <p:txBody>
          <a:bodyPr>
            <a:spAutoFit/>
          </a:bodyPr>
          <a:lstStyle/>
          <a:p>
            <a:r>
              <a:rPr lang="zh-CN" altLang="en-US" b="1">
                <a:solidFill>
                  <a:srgbClr val="0000FF"/>
                </a:solidFill>
              </a:rPr>
              <a:t>热机循环</a:t>
            </a:r>
            <a:endParaRPr lang="zh-CN" altLang="en-US" b="1">
              <a:solidFill>
                <a:srgbClr val="0000FF"/>
              </a:solidFill>
            </a:endParaRPr>
          </a:p>
        </p:txBody>
      </p:sp>
      <p:sp>
        <p:nvSpPr>
          <p:cNvPr id="78880" name="Freeform 32"/>
          <p:cNvSpPr/>
          <p:nvPr/>
        </p:nvSpPr>
        <p:spPr bwMode="auto">
          <a:xfrm>
            <a:off x="6516688" y="2141538"/>
            <a:ext cx="1152525" cy="1466850"/>
          </a:xfrm>
          <a:custGeom>
            <a:avLst/>
            <a:gdLst>
              <a:gd name="T0" fmla="*/ 0 w 726"/>
              <a:gd name="T1" fmla="*/ 0 h 924"/>
              <a:gd name="T2" fmla="*/ 2147483647 w 726"/>
              <a:gd name="T3" fmla="*/ 2147483647 h 924"/>
              <a:gd name="T4" fmla="*/ 2147483647 w 726"/>
              <a:gd name="T5" fmla="*/ 2147483647 h 924"/>
              <a:gd name="T6" fmla="*/ 2147483647 w 726"/>
              <a:gd name="T7" fmla="*/ 2147483647 h 924"/>
              <a:gd name="T8" fmla="*/ 2147483647 w 726"/>
              <a:gd name="T9" fmla="*/ 2147483647 h 924"/>
              <a:gd name="T10" fmla="*/ 2147483647 w 726"/>
              <a:gd name="T11" fmla="*/ 2147483647 h 924"/>
              <a:gd name="T12" fmla="*/ 2147483647 w 726"/>
              <a:gd name="T13" fmla="*/ 2147483647 h 924"/>
              <a:gd name="T14" fmla="*/ 2147483647 w 726"/>
              <a:gd name="T15" fmla="*/ 2147483647 h 924"/>
              <a:gd name="T16" fmla="*/ 2147483647 w 726"/>
              <a:gd name="T17" fmla="*/ 2147483647 h 924"/>
              <a:gd name="T18" fmla="*/ 2147483647 w 726"/>
              <a:gd name="T19" fmla="*/ 2147483647 h 924"/>
              <a:gd name="T20" fmla="*/ 0 w 726"/>
              <a:gd name="T21" fmla="*/ 0 h 9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6"/>
              <a:gd name="T34" fmla="*/ 0 h 924"/>
              <a:gd name="T35" fmla="*/ 726 w 726"/>
              <a:gd name="T36" fmla="*/ 924 h 9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6" h="924">
                <a:moveTo>
                  <a:pt x="0" y="0"/>
                </a:moveTo>
                <a:lnTo>
                  <a:pt x="72" y="184"/>
                </a:lnTo>
                <a:lnTo>
                  <a:pt x="148" y="300"/>
                </a:lnTo>
                <a:lnTo>
                  <a:pt x="276" y="384"/>
                </a:lnTo>
                <a:lnTo>
                  <a:pt x="424" y="448"/>
                </a:lnTo>
                <a:lnTo>
                  <a:pt x="528" y="480"/>
                </a:lnTo>
                <a:lnTo>
                  <a:pt x="632" y="504"/>
                </a:lnTo>
                <a:lnTo>
                  <a:pt x="724" y="524"/>
                </a:lnTo>
                <a:lnTo>
                  <a:pt x="726" y="924"/>
                </a:lnTo>
                <a:lnTo>
                  <a:pt x="2" y="924"/>
                </a:lnTo>
                <a:lnTo>
                  <a:pt x="0" y="0"/>
                </a:lnTo>
                <a:close/>
              </a:path>
            </a:pathLst>
          </a:custGeom>
          <a:solidFill>
            <a:schemeClr val="bg1"/>
          </a:solidFill>
          <a:ln w="9525">
            <a:noFill/>
            <a:round/>
          </a:ln>
        </p:spPr>
        <p:txBody>
          <a:bodyPr/>
          <a:lstStyle/>
          <a:p>
            <a:pPr algn="ctr"/>
            <a:endParaRPr lang="zh-CN" altLang="en-US" b="1"/>
          </a:p>
        </p:txBody>
      </p:sp>
      <p:grpSp>
        <p:nvGrpSpPr>
          <p:cNvPr id="4" name="Group 33"/>
          <p:cNvGrpSpPr/>
          <p:nvPr/>
        </p:nvGrpSpPr>
        <p:grpSpPr bwMode="auto">
          <a:xfrm>
            <a:off x="6516688" y="2112963"/>
            <a:ext cx="1147762" cy="838200"/>
            <a:chOff x="4105" y="1331"/>
            <a:chExt cx="723" cy="528"/>
          </a:xfrm>
        </p:grpSpPr>
        <p:sp>
          <p:nvSpPr>
            <p:cNvPr id="38942" name="Freeform 34"/>
            <p:cNvSpPr/>
            <p:nvPr/>
          </p:nvSpPr>
          <p:spPr bwMode="auto">
            <a:xfrm>
              <a:off x="4105" y="1331"/>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3333CC"/>
              </a:solidFill>
              <a:round/>
            </a:ln>
          </p:spPr>
          <p:txBody>
            <a:bodyPr/>
            <a:lstStyle/>
            <a:p>
              <a:pPr algn="ctr"/>
              <a:endParaRPr lang="zh-CN" altLang="en-US" b="1"/>
            </a:p>
          </p:txBody>
        </p:sp>
        <p:sp>
          <p:nvSpPr>
            <p:cNvPr id="38943" name="Line 35"/>
            <p:cNvSpPr>
              <a:spLocks noChangeShapeType="1"/>
            </p:cNvSpPr>
            <p:nvPr/>
          </p:nvSpPr>
          <p:spPr bwMode="auto">
            <a:xfrm flipH="1" flipV="1">
              <a:off x="4286" y="1648"/>
              <a:ext cx="45" cy="45"/>
            </a:xfrm>
            <a:prstGeom prst="line">
              <a:avLst/>
            </a:prstGeom>
            <a:noFill/>
            <a:ln w="38100">
              <a:solidFill>
                <a:srgbClr val="3333CC"/>
              </a:solidFill>
              <a:round/>
              <a:tailEnd type="triangle" w="med" len="med"/>
            </a:ln>
          </p:spPr>
          <p:txBody>
            <a:bodyPr/>
            <a:lstStyle/>
            <a:p>
              <a:endParaRPr lang="zh-CN" altLang="en-US"/>
            </a:p>
          </p:txBody>
        </p:sp>
      </p:grpSp>
      <p:sp>
        <p:nvSpPr>
          <p:cNvPr id="78884" name="Text Box 36"/>
          <p:cNvSpPr txBox="1">
            <a:spLocks noChangeArrowheads="1"/>
          </p:cNvSpPr>
          <p:nvPr/>
        </p:nvSpPr>
        <p:spPr bwMode="auto">
          <a:xfrm>
            <a:off x="6659563" y="2689225"/>
            <a:ext cx="576262" cy="457200"/>
          </a:xfrm>
          <a:prstGeom prst="rect">
            <a:avLst/>
          </a:prstGeom>
          <a:noFill/>
          <a:ln w="9525">
            <a:noFill/>
            <a:miter lim="800000"/>
          </a:ln>
        </p:spPr>
        <p:txBody>
          <a:bodyPr>
            <a:spAutoFit/>
          </a:bodyPr>
          <a:lstStyle/>
          <a:p>
            <a:r>
              <a:rPr lang="en-US" altLang="zh-CN" b="1" i="1"/>
              <a:t>b</a:t>
            </a:r>
            <a:endParaRPr lang="en-US" altLang="zh-CN" b="1" i="1"/>
          </a:p>
        </p:txBody>
      </p:sp>
      <p:sp>
        <p:nvSpPr>
          <p:cNvPr id="78885" name="Oval 37"/>
          <p:cNvSpPr>
            <a:spLocks noChangeArrowheads="1"/>
          </p:cNvSpPr>
          <p:nvPr/>
        </p:nvSpPr>
        <p:spPr bwMode="auto">
          <a:xfrm>
            <a:off x="6483350" y="2079625"/>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78886" name="Oval 38"/>
          <p:cNvSpPr>
            <a:spLocks noChangeArrowheads="1"/>
          </p:cNvSpPr>
          <p:nvPr/>
        </p:nvSpPr>
        <p:spPr bwMode="auto">
          <a:xfrm>
            <a:off x="7620000" y="2903538"/>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866"/>
                                        </p:tgtEl>
                                        <p:attrNameLst>
                                          <p:attrName>style.visibility</p:attrName>
                                        </p:attrNameLst>
                                      </p:cBhvr>
                                      <p:to>
                                        <p:strVal val="visible"/>
                                      </p:to>
                                    </p:set>
                                    <p:animEffect transition="in" filter="wipe(left)">
                                      <p:cBhvr>
                                        <p:cTn id="7" dur="500"/>
                                        <p:tgtEl>
                                          <p:spTgt spid="78866"/>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78878"/>
                                        </p:tgtEl>
                                        <p:attrNameLst>
                                          <p:attrName>style.visibility</p:attrName>
                                        </p:attrNameLst>
                                      </p:cBhvr>
                                      <p:to>
                                        <p:strVal val="visible"/>
                                      </p:to>
                                    </p:set>
                                    <p:anim calcmode="lin" valueType="num">
                                      <p:cBhvr>
                                        <p:cTn id="12" dur="500" fill="hold"/>
                                        <p:tgtEl>
                                          <p:spTgt spid="78878"/>
                                        </p:tgtEl>
                                        <p:attrNameLst>
                                          <p:attrName>ppt_w</p:attrName>
                                        </p:attrNameLst>
                                      </p:cBhvr>
                                      <p:tavLst>
                                        <p:tav tm="0">
                                          <p:val>
                                            <p:fltVal val="0"/>
                                          </p:val>
                                        </p:tav>
                                        <p:tav tm="100000">
                                          <p:val>
                                            <p:strVal val="#ppt_w"/>
                                          </p:val>
                                        </p:tav>
                                      </p:tavLst>
                                    </p:anim>
                                    <p:anim calcmode="lin" valueType="num">
                                      <p:cBhvr>
                                        <p:cTn id="13" dur="500" fill="hold"/>
                                        <p:tgtEl>
                                          <p:spTgt spid="78878"/>
                                        </p:tgtEl>
                                        <p:attrNameLst>
                                          <p:attrName>ppt_h</p:attrName>
                                        </p:attrNameLst>
                                      </p:cBhvr>
                                      <p:tavLst>
                                        <p:tav tm="0">
                                          <p:val>
                                            <p:strVal val="#ppt_h"/>
                                          </p:val>
                                        </p:tav>
                                        <p:tav tm="100000">
                                          <p:val>
                                            <p:strVal val="#ppt_h"/>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78879"/>
                                        </p:tgtEl>
                                        <p:attrNameLst>
                                          <p:attrName>style.visibility</p:attrName>
                                        </p:attrNameLst>
                                      </p:cBhvr>
                                      <p:to>
                                        <p:strVal val="visible"/>
                                      </p:to>
                                    </p:set>
                                    <p:animEffect transition="in" filter="wipe(left)">
                                      <p:cBhvr>
                                        <p:cTn id="17" dur="500"/>
                                        <p:tgtEl>
                                          <p:spTgt spid="7887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8885"/>
                                        </p:tgtEl>
                                        <p:attrNameLst>
                                          <p:attrName>style.visibility</p:attrName>
                                        </p:attrNameLst>
                                      </p:cBhvr>
                                      <p:to>
                                        <p:strVal val="visible"/>
                                      </p:to>
                                    </p:set>
                                    <p:animEffect transition="in" filter="wipe(up)">
                                      <p:cBhvr>
                                        <p:cTn id="27" dur="500"/>
                                        <p:tgtEl>
                                          <p:spTgt spid="7888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78863"/>
                                        </p:tgtEl>
                                        <p:attrNameLst>
                                          <p:attrName>style.visibility</p:attrName>
                                        </p:attrNameLst>
                                      </p:cBhvr>
                                      <p:to>
                                        <p:strVal val="visible"/>
                                      </p:to>
                                    </p:set>
                                    <p:animEffect transition="in" filter="wipe(up)">
                                      <p:cBhvr>
                                        <p:cTn id="30" dur="500"/>
                                        <p:tgtEl>
                                          <p:spTgt spid="78863"/>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78865"/>
                                        </p:tgtEl>
                                        <p:attrNameLst>
                                          <p:attrName>style.visibility</p:attrName>
                                        </p:attrNameLst>
                                      </p:cBhvr>
                                      <p:to>
                                        <p:strVal val="visible"/>
                                      </p:to>
                                    </p:set>
                                    <p:animEffect transition="in" filter="wipe(down)">
                                      <p:cBhvr>
                                        <p:cTn id="37" dur="500"/>
                                        <p:tgtEl>
                                          <p:spTgt spid="78865"/>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78886"/>
                                        </p:tgtEl>
                                        <p:attrNameLst>
                                          <p:attrName>style.visibility</p:attrName>
                                        </p:attrNameLst>
                                      </p:cBhvr>
                                      <p:to>
                                        <p:strVal val="visible"/>
                                      </p:to>
                                    </p:set>
                                    <p:animEffect transition="in" filter="wipe(up)">
                                      <p:cBhvr>
                                        <p:cTn id="41" dur="500"/>
                                        <p:tgtEl>
                                          <p:spTgt spid="78886"/>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78864"/>
                                        </p:tgtEl>
                                        <p:attrNameLst>
                                          <p:attrName>style.visibility</p:attrName>
                                        </p:attrNameLst>
                                      </p:cBhvr>
                                      <p:to>
                                        <p:strVal val="visible"/>
                                      </p:to>
                                    </p:set>
                                    <p:animEffect transition="in" filter="wipe(up)">
                                      <p:cBhvr>
                                        <p:cTn id="44" dur="500"/>
                                        <p:tgtEl>
                                          <p:spTgt spid="78864"/>
                                        </p:tgtEl>
                                      </p:cBhvr>
                                    </p:animEffect>
                                  </p:childTnLst>
                                </p:cTn>
                              </p:par>
                            </p:childTnLst>
                          </p:cTn>
                        </p:par>
                        <p:par>
                          <p:cTn id="45" fill="hold">
                            <p:stCondLst>
                              <p:cond delay="1500"/>
                            </p:stCondLst>
                            <p:childTnLst>
                              <p:par>
                                <p:cTn id="46" presetID="22" presetClass="entr" presetSubtype="4" fill="hold" nodeType="after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down)">
                                      <p:cBhvr>
                                        <p:cTn id="48" dur="500"/>
                                        <p:tgtEl>
                                          <p:spTgt spid="4"/>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78884"/>
                                        </p:tgtEl>
                                        <p:attrNameLst>
                                          <p:attrName>style.visibility</p:attrName>
                                        </p:attrNameLst>
                                      </p:cBhvr>
                                      <p:to>
                                        <p:strVal val="visible"/>
                                      </p:to>
                                    </p:set>
                                    <p:animEffect transition="in" filter="wipe(up)">
                                      <p:cBhvr>
                                        <p:cTn id="51" dur="500"/>
                                        <p:tgtEl>
                                          <p:spTgt spid="7888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8867"/>
                                        </p:tgtEl>
                                        <p:attrNameLst>
                                          <p:attrName>style.visibility</p:attrName>
                                        </p:attrNameLst>
                                      </p:cBhvr>
                                      <p:to>
                                        <p:strVal val="visible"/>
                                      </p:to>
                                    </p:set>
                                    <p:animEffect transition="in" filter="wipe(left)">
                                      <p:cBhvr>
                                        <p:cTn id="56" dur="500"/>
                                        <p:tgtEl>
                                          <p:spTgt spid="7886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78853"/>
                                        </p:tgtEl>
                                        <p:attrNameLst>
                                          <p:attrName>style.visibility</p:attrName>
                                        </p:attrNameLst>
                                      </p:cBhvr>
                                      <p:to>
                                        <p:strVal val="visible"/>
                                      </p:to>
                                    </p:set>
                                    <p:animEffect transition="in" filter="wipe(up)">
                                      <p:cBhvr>
                                        <p:cTn id="61" dur="500"/>
                                        <p:tgtEl>
                                          <p:spTgt spid="78853"/>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78852"/>
                                        </p:tgtEl>
                                        <p:attrNameLst>
                                          <p:attrName>style.visibility</p:attrName>
                                        </p:attrNameLst>
                                      </p:cBhvr>
                                      <p:to>
                                        <p:strVal val="visible"/>
                                      </p:to>
                                    </p:set>
                                    <p:animEffect transition="in" filter="wipe(up)">
                                      <p:cBhvr>
                                        <p:cTn id="64" dur="500"/>
                                        <p:tgtEl>
                                          <p:spTgt spid="78852"/>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78868"/>
                                        </p:tgtEl>
                                        <p:attrNameLst>
                                          <p:attrName>style.visibility</p:attrName>
                                        </p:attrNameLst>
                                      </p:cBhvr>
                                      <p:to>
                                        <p:strVal val="visible"/>
                                      </p:to>
                                    </p:set>
                                    <p:animEffect transition="in" filter="wipe(up)">
                                      <p:cBhvr>
                                        <p:cTn id="67" dur="500"/>
                                        <p:tgtEl>
                                          <p:spTgt spid="78868"/>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78869"/>
                                        </p:tgtEl>
                                        <p:attrNameLst>
                                          <p:attrName>style.visibility</p:attrName>
                                        </p:attrNameLst>
                                      </p:cBhvr>
                                      <p:to>
                                        <p:strVal val="visible"/>
                                      </p:to>
                                    </p:set>
                                    <p:animEffect transition="in" filter="wipe(up)">
                                      <p:cBhvr>
                                        <p:cTn id="70" dur="500"/>
                                        <p:tgtEl>
                                          <p:spTgt spid="7886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78850"/>
                                        </p:tgtEl>
                                        <p:attrNameLst>
                                          <p:attrName>style.visibility</p:attrName>
                                        </p:attrNameLst>
                                      </p:cBhvr>
                                      <p:to>
                                        <p:strVal val="visible"/>
                                      </p:to>
                                    </p:set>
                                    <p:animEffect transition="in" filter="wipe(left)">
                                      <p:cBhvr>
                                        <p:cTn id="75" dur="500"/>
                                        <p:tgtEl>
                                          <p:spTgt spid="7885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78870"/>
                                        </p:tgtEl>
                                        <p:attrNameLst>
                                          <p:attrName>style.visibility</p:attrName>
                                        </p:attrNameLst>
                                      </p:cBhvr>
                                      <p:to>
                                        <p:strVal val="visible"/>
                                      </p:to>
                                    </p:set>
                                    <p:animEffect transition="in" filter="wipe(left)">
                                      <p:cBhvr>
                                        <p:cTn id="80" dur="500"/>
                                        <p:tgtEl>
                                          <p:spTgt spid="7887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78871"/>
                                        </p:tgtEl>
                                        <p:attrNameLst>
                                          <p:attrName>style.visibility</p:attrName>
                                        </p:attrNameLst>
                                      </p:cBhvr>
                                      <p:to>
                                        <p:strVal val="visible"/>
                                      </p:to>
                                    </p:set>
                                    <p:animEffect transition="in" filter="wipe(left)">
                                      <p:cBhvr>
                                        <p:cTn id="85" dur="500"/>
                                        <p:tgtEl>
                                          <p:spTgt spid="78871"/>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2" fill="hold" grpId="0" nodeType="clickEffect">
                                  <p:stCondLst>
                                    <p:cond delay="0"/>
                                  </p:stCondLst>
                                  <p:childTnLst>
                                    <p:set>
                                      <p:cBhvr>
                                        <p:cTn id="89" dur="1" fill="hold">
                                          <p:stCondLst>
                                            <p:cond delay="0"/>
                                          </p:stCondLst>
                                        </p:cTn>
                                        <p:tgtEl>
                                          <p:spTgt spid="78851"/>
                                        </p:tgtEl>
                                        <p:attrNameLst>
                                          <p:attrName>style.visibility</p:attrName>
                                        </p:attrNameLst>
                                      </p:cBhvr>
                                      <p:to>
                                        <p:strVal val="visible"/>
                                      </p:to>
                                    </p:set>
                                    <p:animEffect transition="in" filter="wipe(right)">
                                      <p:cBhvr>
                                        <p:cTn id="90" dur="500"/>
                                        <p:tgtEl>
                                          <p:spTgt spid="78851"/>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78872"/>
                                        </p:tgtEl>
                                        <p:attrNameLst>
                                          <p:attrName>style.visibility</p:attrName>
                                        </p:attrNameLst>
                                      </p:cBhvr>
                                      <p:to>
                                        <p:strVal val="visible"/>
                                      </p:to>
                                    </p:set>
                                    <p:animEffect transition="in" filter="wipe(left)">
                                      <p:cBhvr>
                                        <p:cTn id="95" dur="500"/>
                                        <p:tgtEl>
                                          <p:spTgt spid="78872"/>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78873"/>
                                        </p:tgtEl>
                                        <p:attrNameLst>
                                          <p:attrName>style.visibility</p:attrName>
                                        </p:attrNameLst>
                                      </p:cBhvr>
                                      <p:to>
                                        <p:strVal val="visible"/>
                                      </p:to>
                                    </p:set>
                                    <p:animEffect transition="in" filter="wipe(left)">
                                      <p:cBhvr>
                                        <p:cTn id="100" dur="500"/>
                                        <p:tgtEl>
                                          <p:spTgt spid="78873"/>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8880"/>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78874"/>
                                        </p:tgtEl>
                                        <p:attrNameLst>
                                          <p:attrName>style.visibility</p:attrName>
                                        </p:attrNameLst>
                                      </p:cBhvr>
                                      <p:to>
                                        <p:strVal val="visible"/>
                                      </p:to>
                                    </p:set>
                                    <p:animEffect transition="in" filter="wipe(left)">
                                      <p:cBhvr>
                                        <p:cTn id="109" dur="500"/>
                                        <p:tgtEl>
                                          <p:spTgt spid="78874"/>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78875"/>
                                        </p:tgtEl>
                                        <p:attrNameLst>
                                          <p:attrName>style.visibility</p:attrName>
                                        </p:attrNameLst>
                                      </p:cBhvr>
                                      <p:to>
                                        <p:strVal val="visible"/>
                                      </p:to>
                                    </p:set>
                                    <p:animEffect transition="in" filter="wipe(left)">
                                      <p:cBhvr>
                                        <p:cTn id="114" dur="500"/>
                                        <p:tgtEl>
                                          <p:spTgt spid="78875"/>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78876"/>
                                        </p:tgtEl>
                                        <p:attrNameLst>
                                          <p:attrName>style.visibility</p:attrName>
                                        </p:attrNameLst>
                                      </p:cBhvr>
                                      <p:to>
                                        <p:strVal val="visible"/>
                                      </p:to>
                                    </p:set>
                                    <p:animEffect transition="in" filter="wipe(left)">
                                      <p:cBhvr>
                                        <p:cTn id="119" dur="500"/>
                                        <p:tgtEl>
                                          <p:spTgt spid="78876"/>
                                        </p:tgtEl>
                                      </p:cBhvr>
                                    </p:animEffect>
                                  </p:childTnLst>
                                </p:cTn>
                              </p:par>
                            </p:childTnLst>
                          </p:cTn>
                        </p:par>
                        <p:par>
                          <p:cTn id="120" fill="hold">
                            <p:stCondLst>
                              <p:cond delay="500"/>
                            </p:stCondLst>
                            <p:childTnLst>
                              <p:par>
                                <p:cTn id="121" presetID="22" presetClass="entr" presetSubtype="8" fill="hold" grpId="0" nodeType="afterEffect">
                                  <p:stCondLst>
                                    <p:cond delay="0"/>
                                  </p:stCondLst>
                                  <p:childTnLst>
                                    <p:set>
                                      <p:cBhvr>
                                        <p:cTn id="122" dur="1" fill="hold">
                                          <p:stCondLst>
                                            <p:cond delay="0"/>
                                          </p:stCondLst>
                                        </p:cTn>
                                        <p:tgtEl>
                                          <p:spTgt spid="78877"/>
                                        </p:tgtEl>
                                        <p:attrNameLst>
                                          <p:attrName>style.visibility</p:attrName>
                                        </p:attrNameLst>
                                      </p:cBhvr>
                                      <p:to>
                                        <p:strVal val="visible"/>
                                      </p:to>
                                    </p:set>
                                    <p:animEffect transition="in" filter="wipe(left)">
                                      <p:cBhvr>
                                        <p:cTn id="123" dur="500"/>
                                        <p:tgtEl>
                                          <p:spTgt spid="78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nimBg="1"/>
      <p:bldP spid="78851" grpId="0" animBg="1"/>
      <p:bldP spid="78852" grpId="0" animBg="1"/>
      <p:bldP spid="78853" grpId="0" animBg="1"/>
      <p:bldP spid="78863" grpId="0"/>
      <p:bldP spid="78864" grpId="0"/>
      <p:bldP spid="78865" grpId="0"/>
      <p:bldP spid="78866" grpId="0"/>
      <p:bldP spid="78867" grpId="0"/>
      <p:bldP spid="78868" grpId="0"/>
      <p:bldP spid="78869" grpId="0"/>
      <p:bldP spid="78871" grpId="0"/>
      <p:bldP spid="78873" grpId="0"/>
      <p:bldP spid="78875" grpId="0"/>
      <p:bldP spid="78876" grpId="0" animBg="1"/>
      <p:bldP spid="78877" grpId="0"/>
      <p:bldP spid="78878" grpId="0" animBg="1"/>
      <p:bldP spid="78879" grpId="0"/>
      <p:bldP spid="78880" grpId="0" animBg="1"/>
      <p:bldP spid="78884" grpId="0"/>
      <p:bldP spid="78885" grpId="0" animBg="1"/>
      <p:bldP spid="7888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396875" y="1316038"/>
            <a:ext cx="1316038" cy="457200"/>
          </a:xfrm>
          <a:prstGeom prst="rect">
            <a:avLst/>
          </a:prstGeom>
          <a:noFill/>
          <a:ln w="9525">
            <a:noFill/>
            <a:miter lim="800000"/>
          </a:ln>
        </p:spPr>
        <p:txBody>
          <a:bodyPr>
            <a:spAutoFit/>
          </a:bodyPr>
          <a:lstStyle/>
          <a:p>
            <a:r>
              <a:rPr lang="zh-CN" altLang="en-US" b="1">
                <a:solidFill>
                  <a:srgbClr val="FF0000"/>
                </a:solidFill>
              </a:rPr>
              <a:t>热机：</a:t>
            </a:r>
            <a:endParaRPr lang="zh-CN" altLang="en-US" b="1">
              <a:solidFill>
                <a:srgbClr val="FF0000"/>
              </a:solidFill>
            </a:endParaRPr>
          </a:p>
        </p:txBody>
      </p:sp>
      <p:sp>
        <p:nvSpPr>
          <p:cNvPr id="79875" name="Text Box 3"/>
          <p:cNvSpPr txBox="1">
            <a:spLocks noChangeArrowheads="1"/>
          </p:cNvSpPr>
          <p:nvPr/>
        </p:nvSpPr>
        <p:spPr bwMode="auto">
          <a:xfrm>
            <a:off x="827088" y="1989138"/>
            <a:ext cx="4681537" cy="1006475"/>
          </a:xfrm>
          <a:prstGeom prst="rect">
            <a:avLst/>
          </a:prstGeom>
          <a:noFill/>
          <a:ln w="9525">
            <a:noFill/>
            <a:miter lim="800000"/>
          </a:ln>
        </p:spPr>
        <p:txBody>
          <a:bodyPr>
            <a:spAutoFit/>
          </a:bodyPr>
          <a:lstStyle/>
          <a:p>
            <a:pPr>
              <a:lnSpc>
                <a:spcPct val="125000"/>
              </a:lnSpc>
            </a:pPr>
            <a:r>
              <a:rPr lang="zh-CN" altLang="en-US" b="1"/>
              <a:t>通过某种工作物质不断地把吸收的热量转变为机械功的装置。</a:t>
            </a:r>
            <a:endParaRPr lang="zh-CN" altLang="en-US" b="1"/>
          </a:p>
        </p:txBody>
      </p:sp>
      <p:sp>
        <p:nvSpPr>
          <p:cNvPr id="79876" name="AutoShape 4"/>
          <p:cNvSpPr>
            <a:spLocks noChangeArrowheads="1"/>
          </p:cNvSpPr>
          <p:nvPr/>
        </p:nvSpPr>
        <p:spPr bwMode="auto">
          <a:xfrm>
            <a:off x="468313" y="3717925"/>
            <a:ext cx="792162" cy="71438"/>
          </a:xfrm>
          <a:prstGeom prst="rightArrow">
            <a:avLst>
              <a:gd name="adj1" fmla="val 50000"/>
              <a:gd name="adj2" fmla="val 277220"/>
            </a:avLst>
          </a:prstGeom>
          <a:solidFill>
            <a:schemeClr val="accent1"/>
          </a:solidFill>
          <a:ln w="9525">
            <a:solidFill>
              <a:schemeClr val="tx1"/>
            </a:solidFill>
            <a:miter lim="800000"/>
          </a:ln>
        </p:spPr>
        <p:txBody>
          <a:bodyPr wrap="none" anchor="ctr"/>
          <a:lstStyle/>
          <a:p>
            <a:pPr algn="ctr"/>
            <a:endParaRPr lang="zh-CN" altLang="en-US" b="1"/>
          </a:p>
        </p:txBody>
      </p:sp>
      <p:sp>
        <p:nvSpPr>
          <p:cNvPr id="79877" name="Text Box 5"/>
          <p:cNvSpPr txBox="1">
            <a:spLocks noChangeArrowheads="1"/>
          </p:cNvSpPr>
          <p:nvPr/>
        </p:nvSpPr>
        <p:spPr bwMode="auto">
          <a:xfrm>
            <a:off x="1384300" y="3500438"/>
            <a:ext cx="3860800" cy="457200"/>
          </a:xfrm>
          <a:prstGeom prst="rect">
            <a:avLst/>
          </a:prstGeom>
          <a:noFill/>
          <a:ln w="9525">
            <a:noFill/>
            <a:miter lim="800000"/>
          </a:ln>
        </p:spPr>
        <p:txBody>
          <a:bodyPr wrap="none">
            <a:spAutoFit/>
          </a:bodyPr>
          <a:lstStyle/>
          <a:p>
            <a:r>
              <a:rPr lang="zh-CN" altLang="en-US" b="1">
                <a:solidFill>
                  <a:srgbClr val="FF6600"/>
                </a:solidFill>
              </a:rPr>
              <a:t>蒸气机</a:t>
            </a:r>
            <a:r>
              <a:rPr lang="zh-CN" altLang="en-US" b="1"/>
              <a:t>、</a:t>
            </a:r>
            <a:r>
              <a:rPr lang="zh-CN" altLang="en-US" b="1">
                <a:solidFill>
                  <a:srgbClr val="FF6600"/>
                </a:solidFill>
              </a:rPr>
              <a:t>内燃机</a:t>
            </a:r>
            <a:r>
              <a:rPr lang="zh-CN" altLang="en-US" b="1"/>
              <a:t>、</a:t>
            </a:r>
            <a:r>
              <a:rPr lang="zh-CN" altLang="en-US" b="1">
                <a:solidFill>
                  <a:srgbClr val="FF6600"/>
                </a:solidFill>
              </a:rPr>
              <a:t>汽油机</a:t>
            </a:r>
            <a:r>
              <a:rPr lang="zh-CN" altLang="en-US" b="1"/>
              <a:t>等</a:t>
            </a:r>
            <a:endParaRPr lang="zh-CN" altLang="en-US" b="1"/>
          </a:p>
        </p:txBody>
      </p:sp>
      <p:sp>
        <p:nvSpPr>
          <p:cNvPr id="39947" name="Rectangle 6"/>
          <p:cNvSpPr>
            <a:spLocks noChangeArrowheads="1"/>
          </p:cNvSpPr>
          <p:nvPr/>
        </p:nvSpPr>
        <p:spPr bwMode="auto">
          <a:xfrm>
            <a:off x="4932363" y="1844675"/>
            <a:ext cx="4356100" cy="3240088"/>
          </a:xfrm>
          <a:prstGeom prst="rect">
            <a:avLst/>
          </a:prstGeom>
          <a:noFill/>
          <a:ln w="9525">
            <a:noFill/>
            <a:miter lim="800000"/>
          </a:ln>
        </p:spPr>
        <p:txBody>
          <a:bodyPr wrap="none" anchor="ctr"/>
          <a:lstStyle/>
          <a:p>
            <a:pPr algn="ctr"/>
            <a:endParaRPr lang="zh-CN" altLang="en-US" b="1"/>
          </a:p>
        </p:txBody>
      </p:sp>
      <p:sp>
        <p:nvSpPr>
          <p:cNvPr id="79879" name="Text Box 7"/>
          <p:cNvSpPr txBox="1">
            <a:spLocks noChangeArrowheads="1"/>
          </p:cNvSpPr>
          <p:nvPr/>
        </p:nvSpPr>
        <p:spPr bwMode="auto">
          <a:xfrm>
            <a:off x="6156325" y="4797425"/>
            <a:ext cx="2339975" cy="457200"/>
          </a:xfrm>
          <a:prstGeom prst="rect">
            <a:avLst/>
          </a:prstGeom>
          <a:noFill/>
          <a:ln w="9525">
            <a:noFill/>
            <a:miter lim="800000"/>
          </a:ln>
        </p:spPr>
        <p:txBody>
          <a:bodyPr>
            <a:spAutoFit/>
          </a:bodyPr>
          <a:lstStyle/>
          <a:p>
            <a:r>
              <a:rPr kumimoji="1" lang="zh-CN" altLang="en-US" b="1"/>
              <a:t>热机的能流图</a:t>
            </a:r>
            <a:endParaRPr kumimoji="1" lang="zh-CN" altLang="en-US" b="1"/>
          </a:p>
        </p:txBody>
      </p:sp>
      <p:grpSp>
        <p:nvGrpSpPr>
          <p:cNvPr id="2" name="Group 8"/>
          <p:cNvGrpSpPr/>
          <p:nvPr/>
        </p:nvGrpSpPr>
        <p:grpSpPr bwMode="auto">
          <a:xfrm>
            <a:off x="6853238" y="2794000"/>
            <a:ext cx="846137" cy="1295400"/>
            <a:chOff x="1487" y="2931"/>
            <a:chExt cx="533" cy="816"/>
          </a:xfrm>
        </p:grpSpPr>
        <p:sp>
          <p:nvSpPr>
            <p:cNvPr id="39971" name="Rectangle 9"/>
            <p:cNvSpPr>
              <a:spLocks noChangeArrowheads="1"/>
            </p:cNvSpPr>
            <p:nvPr/>
          </p:nvSpPr>
          <p:spPr bwMode="auto">
            <a:xfrm>
              <a:off x="1487" y="2931"/>
              <a:ext cx="288" cy="816"/>
            </a:xfrm>
            <a:prstGeom prst="rect">
              <a:avLst/>
            </a:prstGeom>
            <a:solidFill>
              <a:srgbClr val="FFCC00"/>
            </a:solidFill>
            <a:ln w="9525">
              <a:noFill/>
              <a:miter lim="800000"/>
            </a:ln>
          </p:spPr>
          <p:txBody>
            <a:bodyPr wrap="none" anchor="ctr"/>
            <a:lstStyle/>
            <a:p>
              <a:pPr algn="ctr"/>
              <a:endParaRPr lang="zh-CN" altLang="en-US" b="1"/>
            </a:p>
          </p:txBody>
        </p:sp>
        <p:sp>
          <p:nvSpPr>
            <p:cNvPr id="39972" name="Line 10"/>
            <p:cNvSpPr>
              <a:spLocks noChangeShapeType="1"/>
            </p:cNvSpPr>
            <p:nvPr/>
          </p:nvSpPr>
          <p:spPr bwMode="auto">
            <a:xfrm>
              <a:off x="1631" y="3475"/>
              <a:ext cx="0" cy="215"/>
            </a:xfrm>
            <a:prstGeom prst="line">
              <a:avLst/>
            </a:prstGeom>
            <a:noFill/>
            <a:ln w="38100">
              <a:solidFill>
                <a:schemeClr val="tx1"/>
              </a:solidFill>
              <a:round/>
              <a:tailEnd type="triangle" w="med" len="med"/>
            </a:ln>
          </p:spPr>
          <p:txBody>
            <a:bodyPr/>
            <a:lstStyle/>
            <a:p>
              <a:endParaRPr lang="zh-CN" altLang="en-US"/>
            </a:p>
          </p:txBody>
        </p:sp>
        <p:graphicFrame>
          <p:nvGraphicFramePr>
            <p:cNvPr id="39942" name="Object 11"/>
            <p:cNvGraphicFramePr>
              <a:graphicFrameLocks noChangeAspect="1"/>
            </p:cNvGraphicFramePr>
            <p:nvPr/>
          </p:nvGraphicFramePr>
          <p:xfrm>
            <a:off x="1780" y="3448"/>
            <a:ext cx="240" cy="264"/>
          </p:xfrm>
          <a:graphic>
            <a:graphicData uri="http://schemas.openxmlformats.org/presentationml/2006/ole">
              <mc:AlternateContent xmlns:mc="http://schemas.openxmlformats.org/markup-compatibility/2006">
                <mc:Choice xmlns:v="urn:schemas-microsoft-com:vml" Requires="v">
                  <p:oleObj spid="_x0000_s39937" name="公式" r:id="rId1" imgW="9144000" imgH="10058400" progId="Equation.3">
                    <p:embed/>
                  </p:oleObj>
                </mc:Choice>
                <mc:Fallback>
                  <p:oleObj name="公式" r:id="rId1" imgW="9144000" imgH="10058400" progId="Equation.3">
                    <p:embed/>
                    <p:pic>
                      <p:nvPicPr>
                        <p:cNvPr id="0" name="Object 11"/>
                        <p:cNvPicPr>
                          <a:picLocks noChangeAspect="1"/>
                        </p:cNvPicPr>
                        <p:nvPr/>
                      </p:nvPicPr>
                      <p:blipFill>
                        <a:blip r:embed="rId2"/>
                        <a:stretch>
                          <a:fillRect/>
                        </a:stretch>
                      </p:blipFill>
                      <p:spPr>
                        <a:xfrm>
                          <a:off x="1780" y="3448"/>
                          <a:ext cx="240" cy="264"/>
                        </a:xfrm>
                        <a:prstGeom prst="rect">
                          <a:avLst/>
                        </a:prstGeom>
                        <a:noFill/>
                        <a:ln w="9525">
                          <a:noFill/>
                        </a:ln>
                      </p:spPr>
                    </p:pic>
                  </p:oleObj>
                </mc:Fallback>
              </mc:AlternateContent>
            </a:graphicData>
          </a:graphic>
        </p:graphicFrame>
      </p:grpSp>
      <p:grpSp>
        <p:nvGrpSpPr>
          <p:cNvPr id="3" name="Group 12"/>
          <p:cNvGrpSpPr/>
          <p:nvPr/>
        </p:nvGrpSpPr>
        <p:grpSpPr bwMode="auto">
          <a:xfrm>
            <a:off x="6548438" y="2471738"/>
            <a:ext cx="1905000" cy="1143000"/>
            <a:chOff x="1295" y="2728"/>
            <a:chExt cx="1200" cy="720"/>
          </a:xfrm>
        </p:grpSpPr>
        <p:grpSp>
          <p:nvGrpSpPr>
            <p:cNvPr id="39964" name="Group 13"/>
            <p:cNvGrpSpPr/>
            <p:nvPr/>
          </p:nvGrpSpPr>
          <p:grpSpPr bwMode="auto">
            <a:xfrm>
              <a:off x="1775" y="2728"/>
              <a:ext cx="720" cy="672"/>
              <a:chOff x="1775" y="1685"/>
              <a:chExt cx="720" cy="672"/>
            </a:xfrm>
          </p:grpSpPr>
          <p:sp>
            <p:nvSpPr>
              <p:cNvPr id="39966" name="Oval 14"/>
              <p:cNvSpPr>
                <a:spLocks noChangeArrowheads="1"/>
              </p:cNvSpPr>
              <p:nvPr/>
            </p:nvSpPr>
            <p:spPr bwMode="auto">
              <a:xfrm>
                <a:off x="1919" y="1781"/>
                <a:ext cx="336" cy="240"/>
              </a:xfrm>
              <a:prstGeom prst="ellipse">
                <a:avLst/>
              </a:prstGeom>
              <a:noFill/>
              <a:ln w="28575">
                <a:solidFill>
                  <a:srgbClr val="FFCC00"/>
                </a:solidFill>
                <a:prstDash val="sysDot"/>
                <a:round/>
              </a:ln>
            </p:spPr>
            <p:txBody>
              <a:bodyPr wrap="none" anchor="ctr"/>
              <a:lstStyle/>
              <a:p>
                <a:pPr algn="ctr"/>
                <a:endParaRPr lang="zh-CN" altLang="en-US" b="1"/>
              </a:p>
            </p:txBody>
          </p:sp>
          <p:grpSp>
            <p:nvGrpSpPr>
              <p:cNvPr id="39967" name="Group 15"/>
              <p:cNvGrpSpPr/>
              <p:nvPr/>
            </p:nvGrpSpPr>
            <p:grpSpPr bwMode="auto">
              <a:xfrm>
                <a:off x="1775" y="1685"/>
                <a:ext cx="720" cy="672"/>
                <a:chOff x="2603" y="1494"/>
                <a:chExt cx="720" cy="672"/>
              </a:xfrm>
            </p:grpSpPr>
            <p:sp>
              <p:nvSpPr>
                <p:cNvPr id="39968" name="Oval 16"/>
                <p:cNvSpPr>
                  <a:spLocks noChangeArrowheads="1"/>
                </p:cNvSpPr>
                <p:nvPr/>
              </p:nvSpPr>
              <p:spPr bwMode="auto">
                <a:xfrm rot="561456">
                  <a:off x="2603" y="1590"/>
                  <a:ext cx="528" cy="384"/>
                </a:xfrm>
                <a:prstGeom prst="ellipse">
                  <a:avLst/>
                </a:prstGeom>
                <a:noFill/>
                <a:ln w="28575">
                  <a:solidFill>
                    <a:srgbClr val="FFCC00"/>
                  </a:solidFill>
                  <a:prstDash val="sysDot"/>
                  <a:round/>
                </a:ln>
              </p:spPr>
              <p:txBody>
                <a:bodyPr wrap="none" anchor="ctr"/>
                <a:lstStyle/>
                <a:p>
                  <a:pPr algn="ctr"/>
                  <a:endParaRPr lang="zh-CN" altLang="en-US" b="1"/>
                </a:p>
              </p:txBody>
            </p:sp>
            <p:sp>
              <p:nvSpPr>
                <p:cNvPr id="39969" name="Rectangle 17"/>
                <p:cNvSpPr>
                  <a:spLocks noChangeArrowheads="1"/>
                </p:cNvSpPr>
                <p:nvPr/>
              </p:nvSpPr>
              <p:spPr bwMode="auto">
                <a:xfrm>
                  <a:off x="2747" y="1494"/>
                  <a:ext cx="576" cy="240"/>
                </a:xfrm>
                <a:prstGeom prst="rect">
                  <a:avLst/>
                </a:prstGeom>
                <a:solidFill>
                  <a:srgbClr val="FFFFFF"/>
                </a:solidFill>
                <a:ln w="9525">
                  <a:noFill/>
                  <a:miter lim="800000"/>
                </a:ln>
              </p:spPr>
              <p:txBody>
                <a:bodyPr wrap="none" anchor="ctr"/>
                <a:lstStyle/>
                <a:p>
                  <a:pPr algn="ctr"/>
                  <a:endParaRPr lang="zh-CN" altLang="en-US" b="1"/>
                </a:p>
              </p:txBody>
            </p:sp>
            <p:sp>
              <p:nvSpPr>
                <p:cNvPr id="39970" name="Rectangle 18"/>
                <p:cNvSpPr>
                  <a:spLocks noChangeArrowheads="1"/>
                </p:cNvSpPr>
                <p:nvPr/>
              </p:nvSpPr>
              <p:spPr bwMode="auto">
                <a:xfrm>
                  <a:off x="2939" y="1734"/>
                  <a:ext cx="240" cy="432"/>
                </a:xfrm>
                <a:prstGeom prst="rect">
                  <a:avLst/>
                </a:prstGeom>
                <a:solidFill>
                  <a:srgbClr val="FFFFFF"/>
                </a:solidFill>
                <a:ln w="9525">
                  <a:noFill/>
                  <a:miter lim="800000"/>
                </a:ln>
              </p:spPr>
              <p:txBody>
                <a:bodyPr wrap="none" anchor="ctr"/>
                <a:lstStyle/>
                <a:p>
                  <a:pPr algn="ctr"/>
                  <a:endParaRPr lang="zh-CN" altLang="en-US" b="1"/>
                </a:p>
              </p:txBody>
            </p:sp>
          </p:grpSp>
        </p:grpSp>
        <p:sp>
          <p:nvSpPr>
            <p:cNvPr id="39965" name="AutoShape 19"/>
            <p:cNvSpPr>
              <a:spLocks noChangeArrowheads="1"/>
            </p:cNvSpPr>
            <p:nvPr/>
          </p:nvSpPr>
          <p:spPr bwMode="auto">
            <a:xfrm>
              <a:off x="1295" y="2968"/>
              <a:ext cx="816" cy="480"/>
            </a:xfrm>
            <a:prstGeom prst="roundRect">
              <a:avLst>
                <a:gd name="adj" fmla="val 16667"/>
              </a:avLst>
            </a:prstGeom>
            <a:noFill/>
            <a:ln w="28575">
              <a:solidFill>
                <a:srgbClr val="0000FF"/>
              </a:solidFill>
              <a:prstDash val="dash"/>
              <a:round/>
            </a:ln>
          </p:spPr>
          <p:txBody>
            <a:bodyPr wrap="none" anchor="ctr"/>
            <a:lstStyle/>
            <a:p>
              <a:pPr algn="ctr"/>
              <a:endParaRPr lang="zh-CN" altLang="en-US" b="1"/>
            </a:p>
          </p:txBody>
        </p:sp>
      </p:grpSp>
      <p:grpSp>
        <p:nvGrpSpPr>
          <p:cNvPr id="6" name="Group 20"/>
          <p:cNvGrpSpPr/>
          <p:nvPr/>
        </p:nvGrpSpPr>
        <p:grpSpPr bwMode="auto">
          <a:xfrm>
            <a:off x="6853238" y="2443163"/>
            <a:ext cx="685800" cy="422275"/>
            <a:chOff x="1487" y="2710"/>
            <a:chExt cx="432" cy="266"/>
          </a:xfrm>
        </p:grpSpPr>
        <p:grpSp>
          <p:nvGrpSpPr>
            <p:cNvPr id="39961" name="Group 21"/>
            <p:cNvGrpSpPr/>
            <p:nvPr/>
          </p:nvGrpSpPr>
          <p:grpSpPr bwMode="auto">
            <a:xfrm>
              <a:off x="1487" y="2713"/>
              <a:ext cx="432" cy="263"/>
              <a:chOff x="1487" y="2713"/>
              <a:chExt cx="432" cy="263"/>
            </a:xfrm>
          </p:grpSpPr>
          <p:sp>
            <p:nvSpPr>
              <p:cNvPr id="39962" name="Rectangle 22"/>
              <p:cNvSpPr>
                <a:spLocks noChangeArrowheads="1"/>
              </p:cNvSpPr>
              <p:nvPr/>
            </p:nvSpPr>
            <p:spPr bwMode="auto">
              <a:xfrm>
                <a:off x="1487" y="2713"/>
                <a:ext cx="432" cy="245"/>
              </a:xfrm>
              <a:prstGeom prst="rect">
                <a:avLst/>
              </a:prstGeom>
              <a:solidFill>
                <a:srgbClr val="FFCC00"/>
              </a:solidFill>
              <a:ln w="9525">
                <a:noFill/>
                <a:miter lim="800000"/>
              </a:ln>
            </p:spPr>
            <p:txBody>
              <a:bodyPr wrap="none" anchor="ctr"/>
              <a:lstStyle/>
              <a:p>
                <a:pPr algn="ctr"/>
                <a:endParaRPr lang="zh-CN" altLang="en-US" b="1"/>
              </a:p>
            </p:txBody>
          </p:sp>
          <p:sp>
            <p:nvSpPr>
              <p:cNvPr id="39963" name="Line 23"/>
              <p:cNvSpPr>
                <a:spLocks noChangeShapeType="1"/>
              </p:cNvSpPr>
              <p:nvPr/>
            </p:nvSpPr>
            <p:spPr bwMode="auto">
              <a:xfrm>
                <a:off x="1583" y="2784"/>
                <a:ext cx="0" cy="192"/>
              </a:xfrm>
              <a:prstGeom prst="line">
                <a:avLst/>
              </a:prstGeom>
              <a:noFill/>
              <a:ln w="38100">
                <a:solidFill>
                  <a:schemeClr val="tx1"/>
                </a:solidFill>
                <a:round/>
                <a:tailEnd type="triangle" w="med" len="med"/>
              </a:ln>
            </p:spPr>
            <p:txBody>
              <a:bodyPr/>
              <a:lstStyle/>
              <a:p>
                <a:endParaRPr lang="zh-CN" altLang="en-US"/>
              </a:p>
            </p:txBody>
          </p:sp>
        </p:grpSp>
        <p:graphicFrame>
          <p:nvGraphicFramePr>
            <p:cNvPr id="39941" name="Object 24"/>
            <p:cNvGraphicFramePr>
              <a:graphicFrameLocks noChangeAspect="1"/>
            </p:cNvGraphicFramePr>
            <p:nvPr/>
          </p:nvGraphicFramePr>
          <p:xfrm>
            <a:off x="1654" y="2710"/>
            <a:ext cx="217" cy="266"/>
          </p:xfrm>
          <a:graphic>
            <a:graphicData uri="http://schemas.openxmlformats.org/presentationml/2006/ole">
              <mc:AlternateContent xmlns:mc="http://schemas.openxmlformats.org/markup-compatibility/2006">
                <mc:Choice xmlns:v="urn:schemas-microsoft-com:vml" Requires="v">
                  <p:oleObj spid="_x0000_s39941" name="公式" r:id="rId3" imgW="8229600" imgH="10058400" progId="Equation.3">
                    <p:embed/>
                  </p:oleObj>
                </mc:Choice>
                <mc:Fallback>
                  <p:oleObj name="公式" r:id="rId3" imgW="8229600" imgH="10058400" progId="Equation.3">
                    <p:embed/>
                    <p:pic>
                      <p:nvPicPr>
                        <p:cNvPr id="0" name="Object 24"/>
                        <p:cNvPicPr>
                          <a:picLocks noChangeAspect="1"/>
                        </p:cNvPicPr>
                        <p:nvPr/>
                      </p:nvPicPr>
                      <p:blipFill>
                        <a:blip r:embed="rId4"/>
                        <a:stretch>
                          <a:fillRect/>
                        </a:stretch>
                      </p:blipFill>
                      <p:spPr>
                        <a:xfrm>
                          <a:off x="1654" y="2710"/>
                          <a:ext cx="217" cy="266"/>
                        </a:xfrm>
                        <a:prstGeom prst="rect">
                          <a:avLst/>
                        </a:prstGeom>
                        <a:noFill/>
                        <a:ln w="9525">
                          <a:noFill/>
                        </a:ln>
                      </p:spPr>
                    </p:pic>
                  </p:oleObj>
                </mc:Fallback>
              </mc:AlternateContent>
            </a:graphicData>
          </a:graphic>
        </p:graphicFrame>
      </p:grpSp>
      <p:grpSp>
        <p:nvGrpSpPr>
          <p:cNvPr id="8" name="Group 25"/>
          <p:cNvGrpSpPr/>
          <p:nvPr/>
        </p:nvGrpSpPr>
        <p:grpSpPr bwMode="auto">
          <a:xfrm>
            <a:off x="5938838" y="2016125"/>
            <a:ext cx="2514600" cy="517525"/>
            <a:chOff x="911" y="2614"/>
            <a:chExt cx="1584" cy="326"/>
          </a:xfrm>
        </p:grpSpPr>
        <p:sp>
          <p:nvSpPr>
            <p:cNvPr id="39959" name="Rectangle 26"/>
            <p:cNvSpPr>
              <a:spLocks noChangeArrowheads="1"/>
            </p:cNvSpPr>
            <p:nvPr/>
          </p:nvSpPr>
          <p:spPr bwMode="auto">
            <a:xfrm>
              <a:off x="911" y="2678"/>
              <a:ext cx="1584" cy="245"/>
            </a:xfrm>
            <a:prstGeom prst="rect">
              <a:avLst/>
            </a:prstGeom>
            <a:gradFill rotWithShape="1">
              <a:gsLst>
                <a:gs pos="0">
                  <a:srgbClr val="762F47"/>
                </a:gs>
                <a:gs pos="50000">
                  <a:srgbClr val="FF6699"/>
                </a:gs>
                <a:gs pos="100000">
                  <a:srgbClr val="762F47"/>
                </a:gs>
              </a:gsLst>
              <a:lin ang="5400000" scaled="1"/>
            </a:gradFill>
            <a:ln w="9525">
              <a:noFill/>
              <a:miter lim="800000"/>
            </a:ln>
          </p:spPr>
          <p:txBody>
            <a:bodyPr wrap="none" anchor="ctr"/>
            <a:lstStyle/>
            <a:p>
              <a:pPr algn="ctr"/>
              <a:endParaRPr lang="zh-CN" altLang="en-US" b="1"/>
            </a:p>
          </p:txBody>
        </p:sp>
        <p:graphicFrame>
          <p:nvGraphicFramePr>
            <p:cNvPr id="39940" name="Object 27"/>
            <p:cNvGraphicFramePr>
              <a:graphicFrameLocks noChangeAspect="1"/>
            </p:cNvGraphicFramePr>
            <p:nvPr/>
          </p:nvGraphicFramePr>
          <p:xfrm>
            <a:off x="1967" y="2614"/>
            <a:ext cx="249" cy="326"/>
          </p:xfrm>
          <a:graphic>
            <a:graphicData uri="http://schemas.openxmlformats.org/presentationml/2006/ole">
              <mc:AlternateContent xmlns:mc="http://schemas.openxmlformats.org/markup-compatibility/2006">
                <mc:Choice xmlns:v="urn:schemas-microsoft-com:vml" Requires="v">
                  <p:oleObj spid="_x0000_s39940" name="Equation" r:id="rId5" imgW="3962400" imgH="5181600" progId="Equation.3">
                    <p:embed/>
                  </p:oleObj>
                </mc:Choice>
                <mc:Fallback>
                  <p:oleObj name="Equation" r:id="rId5" imgW="3962400" imgH="5181600" progId="Equation.3">
                    <p:embed/>
                    <p:pic>
                      <p:nvPicPr>
                        <p:cNvPr id="0" name="Object 27"/>
                        <p:cNvPicPr>
                          <a:picLocks noChangeAspect="1"/>
                        </p:cNvPicPr>
                        <p:nvPr/>
                      </p:nvPicPr>
                      <p:blipFill>
                        <a:blip r:embed="rId6"/>
                        <a:stretch>
                          <a:fillRect/>
                        </a:stretch>
                      </p:blipFill>
                      <p:spPr>
                        <a:xfrm>
                          <a:off x="1967" y="2614"/>
                          <a:ext cx="249" cy="326"/>
                        </a:xfrm>
                        <a:prstGeom prst="rect">
                          <a:avLst/>
                        </a:prstGeom>
                        <a:noFill/>
                        <a:ln w="9525">
                          <a:noFill/>
                        </a:ln>
                      </p:spPr>
                    </p:pic>
                  </p:oleObj>
                </mc:Fallback>
              </mc:AlternateContent>
            </a:graphicData>
          </a:graphic>
        </p:graphicFrame>
        <p:sp>
          <p:nvSpPr>
            <p:cNvPr id="39960" name="Text Box 28"/>
            <p:cNvSpPr txBox="1">
              <a:spLocks noChangeArrowheads="1"/>
            </p:cNvSpPr>
            <p:nvPr/>
          </p:nvSpPr>
          <p:spPr bwMode="auto">
            <a:xfrm>
              <a:off x="1103" y="2614"/>
              <a:ext cx="888" cy="288"/>
            </a:xfrm>
            <a:prstGeom prst="rect">
              <a:avLst/>
            </a:prstGeom>
            <a:noFill/>
            <a:ln w="9525">
              <a:noFill/>
              <a:miter lim="800000"/>
            </a:ln>
          </p:spPr>
          <p:txBody>
            <a:bodyPr wrap="none">
              <a:spAutoFit/>
            </a:bodyPr>
            <a:lstStyle/>
            <a:p>
              <a:r>
                <a:rPr kumimoji="1" lang="zh-CN" altLang="en-US" b="1"/>
                <a:t>高温热源</a:t>
              </a:r>
              <a:endParaRPr kumimoji="1" lang="zh-CN" altLang="en-US" b="1"/>
            </a:p>
          </p:txBody>
        </p:sp>
      </p:grpSp>
      <p:grpSp>
        <p:nvGrpSpPr>
          <p:cNvPr id="9" name="Group 29"/>
          <p:cNvGrpSpPr/>
          <p:nvPr/>
        </p:nvGrpSpPr>
        <p:grpSpPr bwMode="auto">
          <a:xfrm>
            <a:off x="5938838" y="3946525"/>
            <a:ext cx="2514600" cy="517525"/>
            <a:chOff x="911" y="3830"/>
            <a:chExt cx="1584" cy="326"/>
          </a:xfrm>
        </p:grpSpPr>
        <p:sp>
          <p:nvSpPr>
            <p:cNvPr id="39957" name="Rectangle 30"/>
            <p:cNvSpPr>
              <a:spLocks noChangeArrowheads="1"/>
            </p:cNvSpPr>
            <p:nvPr/>
          </p:nvSpPr>
          <p:spPr bwMode="auto">
            <a:xfrm>
              <a:off x="911" y="3884"/>
              <a:ext cx="1584" cy="236"/>
            </a:xfrm>
            <a:prstGeom prst="rect">
              <a:avLst/>
            </a:prstGeom>
            <a:gradFill rotWithShape="1">
              <a:gsLst>
                <a:gs pos="0">
                  <a:srgbClr val="521B00"/>
                </a:gs>
                <a:gs pos="50000">
                  <a:srgbClr val="993300"/>
                </a:gs>
                <a:gs pos="100000">
                  <a:srgbClr val="521B00"/>
                </a:gs>
              </a:gsLst>
              <a:lin ang="5400000" scaled="1"/>
            </a:gradFill>
            <a:ln w="9525">
              <a:noFill/>
              <a:miter lim="800000"/>
            </a:ln>
          </p:spPr>
          <p:txBody>
            <a:bodyPr wrap="none" anchor="ctr"/>
            <a:lstStyle/>
            <a:p>
              <a:pPr algn="ctr"/>
              <a:endParaRPr lang="zh-CN" altLang="en-US" b="1"/>
            </a:p>
          </p:txBody>
        </p:sp>
        <p:graphicFrame>
          <p:nvGraphicFramePr>
            <p:cNvPr id="39939" name="Object 31"/>
            <p:cNvGraphicFramePr>
              <a:graphicFrameLocks noChangeAspect="1"/>
            </p:cNvGraphicFramePr>
            <p:nvPr/>
          </p:nvGraphicFramePr>
          <p:xfrm>
            <a:off x="2015" y="3830"/>
            <a:ext cx="268" cy="326"/>
          </p:xfrm>
          <a:graphic>
            <a:graphicData uri="http://schemas.openxmlformats.org/presentationml/2006/ole">
              <mc:AlternateContent xmlns:mc="http://schemas.openxmlformats.org/markup-compatibility/2006">
                <mc:Choice xmlns:v="urn:schemas-microsoft-com:vml" Requires="v">
                  <p:oleObj spid="_x0000_s39939" name="Equation" r:id="rId7" imgW="4267200" imgH="5181600" progId="Equation.3">
                    <p:embed/>
                  </p:oleObj>
                </mc:Choice>
                <mc:Fallback>
                  <p:oleObj name="Equation" r:id="rId7" imgW="4267200" imgH="5181600" progId="Equation.3">
                    <p:embed/>
                    <p:pic>
                      <p:nvPicPr>
                        <p:cNvPr id="0" name="Object 31"/>
                        <p:cNvPicPr>
                          <a:picLocks noChangeAspect="1"/>
                        </p:cNvPicPr>
                        <p:nvPr/>
                      </p:nvPicPr>
                      <p:blipFill>
                        <a:blip r:embed="rId8"/>
                        <a:stretch>
                          <a:fillRect/>
                        </a:stretch>
                      </p:blipFill>
                      <p:spPr>
                        <a:xfrm>
                          <a:off x="2015" y="3830"/>
                          <a:ext cx="268" cy="326"/>
                        </a:xfrm>
                        <a:prstGeom prst="rect">
                          <a:avLst/>
                        </a:prstGeom>
                        <a:noFill/>
                        <a:ln w="9525">
                          <a:noFill/>
                        </a:ln>
                      </p:spPr>
                    </p:pic>
                  </p:oleObj>
                </mc:Fallback>
              </mc:AlternateContent>
            </a:graphicData>
          </a:graphic>
        </p:graphicFrame>
        <p:sp>
          <p:nvSpPr>
            <p:cNvPr id="39958" name="Text Box 32"/>
            <p:cNvSpPr txBox="1">
              <a:spLocks noChangeArrowheads="1"/>
            </p:cNvSpPr>
            <p:nvPr/>
          </p:nvSpPr>
          <p:spPr bwMode="auto">
            <a:xfrm>
              <a:off x="1151" y="3830"/>
              <a:ext cx="888" cy="288"/>
            </a:xfrm>
            <a:prstGeom prst="rect">
              <a:avLst/>
            </a:prstGeom>
            <a:noFill/>
            <a:ln w="9525">
              <a:noFill/>
              <a:miter lim="800000"/>
            </a:ln>
          </p:spPr>
          <p:txBody>
            <a:bodyPr wrap="none">
              <a:spAutoFit/>
            </a:bodyPr>
            <a:lstStyle/>
            <a:p>
              <a:r>
                <a:rPr kumimoji="1" lang="zh-CN" altLang="en-US" b="1"/>
                <a:t>低温热源</a:t>
              </a:r>
              <a:endParaRPr kumimoji="1" lang="zh-CN" altLang="en-US" b="1"/>
            </a:p>
          </p:txBody>
        </p:sp>
      </p:grpSp>
      <p:grpSp>
        <p:nvGrpSpPr>
          <p:cNvPr id="10" name="Group 33"/>
          <p:cNvGrpSpPr/>
          <p:nvPr/>
        </p:nvGrpSpPr>
        <p:grpSpPr bwMode="auto">
          <a:xfrm>
            <a:off x="7821613" y="2936875"/>
            <a:ext cx="936625" cy="307975"/>
            <a:chOff x="2925" y="1787"/>
            <a:chExt cx="590" cy="194"/>
          </a:xfrm>
        </p:grpSpPr>
        <p:sp>
          <p:nvSpPr>
            <p:cNvPr id="39955" name="Rectangle 34"/>
            <p:cNvSpPr>
              <a:spLocks noChangeArrowheads="1"/>
            </p:cNvSpPr>
            <p:nvPr/>
          </p:nvSpPr>
          <p:spPr bwMode="auto">
            <a:xfrm>
              <a:off x="2939" y="1813"/>
              <a:ext cx="576" cy="168"/>
            </a:xfrm>
            <a:prstGeom prst="rect">
              <a:avLst/>
            </a:prstGeom>
            <a:solidFill>
              <a:srgbClr val="FFCC00"/>
            </a:solidFill>
            <a:ln w="9525">
              <a:solidFill>
                <a:srgbClr val="FFCC00"/>
              </a:solidFill>
              <a:miter lim="800000"/>
            </a:ln>
          </p:spPr>
          <p:txBody>
            <a:bodyPr wrap="none" anchor="ctr"/>
            <a:lstStyle/>
            <a:p>
              <a:pPr algn="ctr"/>
              <a:endParaRPr lang="zh-CN" altLang="en-US" b="1"/>
            </a:p>
          </p:txBody>
        </p:sp>
        <p:sp>
          <p:nvSpPr>
            <p:cNvPr id="39956" name="Line 35"/>
            <p:cNvSpPr>
              <a:spLocks noChangeShapeType="1"/>
            </p:cNvSpPr>
            <p:nvPr/>
          </p:nvSpPr>
          <p:spPr bwMode="auto">
            <a:xfrm>
              <a:off x="2925" y="1900"/>
              <a:ext cx="240" cy="0"/>
            </a:xfrm>
            <a:prstGeom prst="line">
              <a:avLst/>
            </a:prstGeom>
            <a:noFill/>
            <a:ln w="38100">
              <a:solidFill>
                <a:schemeClr val="tx1"/>
              </a:solidFill>
              <a:round/>
              <a:tailEnd type="triangle" w="med" len="med"/>
            </a:ln>
          </p:spPr>
          <p:txBody>
            <a:bodyPr/>
            <a:lstStyle/>
            <a:p>
              <a:endParaRPr lang="zh-CN" altLang="en-US"/>
            </a:p>
          </p:txBody>
        </p:sp>
        <p:graphicFrame>
          <p:nvGraphicFramePr>
            <p:cNvPr id="39938" name="Object 36"/>
            <p:cNvGraphicFramePr>
              <a:graphicFrameLocks noChangeAspect="1"/>
            </p:cNvGraphicFramePr>
            <p:nvPr/>
          </p:nvGraphicFramePr>
          <p:xfrm>
            <a:off x="3198" y="1787"/>
            <a:ext cx="176" cy="192"/>
          </p:xfrm>
          <a:graphic>
            <a:graphicData uri="http://schemas.openxmlformats.org/presentationml/2006/ole">
              <mc:AlternateContent xmlns:mc="http://schemas.openxmlformats.org/markup-compatibility/2006">
                <mc:Choice xmlns:v="urn:schemas-microsoft-com:vml" Requires="v">
                  <p:oleObj spid="_x0000_s39938" name="公式" r:id="rId9" imgW="6705600" imgH="7315200" progId="Equation.3">
                    <p:embed/>
                  </p:oleObj>
                </mc:Choice>
                <mc:Fallback>
                  <p:oleObj name="公式" r:id="rId9" imgW="6705600" imgH="7315200" progId="Equation.3">
                    <p:embed/>
                    <p:pic>
                      <p:nvPicPr>
                        <p:cNvPr id="0" name="Object 36"/>
                        <p:cNvPicPr>
                          <a:picLocks noChangeAspect="1"/>
                        </p:cNvPicPr>
                        <p:nvPr/>
                      </p:nvPicPr>
                      <p:blipFill>
                        <a:blip r:embed="rId10"/>
                        <a:stretch>
                          <a:fillRect/>
                        </a:stretch>
                      </p:blipFill>
                      <p:spPr>
                        <a:xfrm>
                          <a:off x="3198" y="1787"/>
                          <a:ext cx="176" cy="192"/>
                        </a:xfrm>
                        <a:prstGeom prst="rect">
                          <a:avLst/>
                        </a:prstGeom>
                        <a:noFill/>
                        <a:ln w="9525">
                          <a:noFill/>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wipe(left)">
                                      <p:cBhvr>
                                        <p:cTn id="7" dur="500"/>
                                        <p:tgtEl>
                                          <p:spTgt spid="798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875"/>
                                        </p:tgtEl>
                                        <p:attrNameLst>
                                          <p:attrName>style.visibility</p:attrName>
                                        </p:attrNameLst>
                                      </p:cBhvr>
                                      <p:to>
                                        <p:strVal val="visible"/>
                                      </p:to>
                                    </p:set>
                                    <p:animEffect transition="in" filter="wipe(left)">
                                      <p:cBhvr>
                                        <p:cTn id="12" dur="500"/>
                                        <p:tgtEl>
                                          <p:spTgt spid="798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876"/>
                                        </p:tgtEl>
                                        <p:attrNameLst>
                                          <p:attrName>style.visibility</p:attrName>
                                        </p:attrNameLst>
                                      </p:cBhvr>
                                      <p:to>
                                        <p:strVal val="visible"/>
                                      </p:to>
                                    </p:set>
                                    <p:animEffect transition="in" filter="wipe(left)">
                                      <p:cBhvr>
                                        <p:cTn id="17" dur="500"/>
                                        <p:tgtEl>
                                          <p:spTgt spid="79876"/>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79877"/>
                                        </p:tgtEl>
                                        <p:attrNameLst>
                                          <p:attrName>style.visibility</p:attrName>
                                        </p:attrNameLst>
                                      </p:cBhvr>
                                      <p:to>
                                        <p:strVal val="visible"/>
                                      </p:to>
                                    </p:set>
                                    <p:animEffect transition="in" filter="wipe(left)">
                                      <p:cBhvr>
                                        <p:cTn id="21" dur="500"/>
                                        <p:tgtEl>
                                          <p:spTgt spid="7987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79879"/>
                                        </p:tgtEl>
                                        <p:attrNameLst>
                                          <p:attrName>style.visibility</p:attrName>
                                        </p:attrNameLst>
                                      </p:cBhvr>
                                      <p:to>
                                        <p:strVal val="visible"/>
                                      </p:to>
                                    </p:set>
                                    <p:animEffect transition="in" filter="wipe(up)">
                                      <p:cBhvr>
                                        <p:cTn id="26" dur="500"/>
                                        <p:tgtEl>
                                          <p:spTgt spid="79879"/>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childTnLst>
                                </p:cTn>
                              </p:par>
                              <p:par>
                                <p:cTn id="33" presetID="23" presetClass="entr" presetSubtype="16"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up)">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50" presetClass="entr" presetSubtype="0" decel="10000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 calcmode="lin" valueType="num">
                                      <p:cBhvr>
                                        <p:cTn id="46" dur="1000" fill="hold"/>
                                        <p:tgtEl>
                                          <p:spTgt spid="3"/>
                                        </p:tgtEl>
                                        <p:attrNameLst>
                                          <p:attrName>ppt_w</p:attrName>
                                        </p:attrNameLst>
                                      </p:cBhvr>
                                      <p:tavLst>
                                        <p:tav tm="0">
                                          <p:val>
                                            <p:strVal val="#ppt_w+.3"/>
                                          </p:val>
                                        </p:tav>
                                        <p:tav tm="100000">
                                          <p:val>
                                            <p:strVal val="#ppt_w"/>
                                          </p:val>
                                        </p:tav>
                                      </p:tavLst>
                                    </p:anim>
                                    <p:anim calcmode="lin" valueType="num">
                                      <p:cBhvr>
                                        <p:cTn id="47" dur="1000" fill="hold"/>
                                        <p:tgtEl>
                                          <p:spTgt spid="3"/>
                                        </p:tgtEl>
                                        <p:attrNameLst>
                                          <p:attrName>ppt_h</p:attrName>
                                        </p:attrNameLst>
                                      </p:cBhvr>
                                      <p:tavLst>
                                        <p:tav tm="0">
                                          <p:val>
                                            <p:strVal val="#ppt_h"/>
                                          </p:val>
                                        </p:tav>
                                        <p:tav tm="100000">
                                          <p:val>
                                            <p:strVal val="#ppt_h"/>
                                          </p:val>
                                        </p:tav>
                                      </p:tavLst>
                                    </p:anim>
                                    <p:animEffect transition="in" filter="fade">
                                      <p:cBhvr>
                                        <p:cTn id="48" dur="10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wipe(up)">
                                      <p:cBhvr>
                                        <p:cTn id="53" dur="500"/>
                                        <p:tgtEl>
                                          <p:spTgt spid="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P spid="79875" grpId="0"/>
      <p:bldP spid="79876" grpId="0" animBg="1"/>
      <p:bldP spid="79877" grpId="0"/>
      <p:bldP spid="7987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descr="BCdb_at"/>
          <p:cNvPicPr>
            <a:picLocks noChangeAspect="1" noChangeArrowheads="1" noCrop="1"/>
          </p:cNvPicPr>
          <p:nvPr/>
        </p:nvPicPr>
        <p:blipFill>
          <a:blip r:embed="rId1"/>
          <a:srcRect/>
          <a:stretch>
            <a:fillRect/>
          </a:stretch>
        </p:blipFill>
        <p:spPr bwMode="auto">
          <a:xfrm>
            <a:off x="755650" y="1125538"/>
            <a:ext cx="3384550" cy="2255837"/>
          </a:xfrm>
          <a:prstGeom prst="rect">
            <a:avLst/>
          </a:prstGeom>
          <a:noFill/>
          <a:ln w="9525">
            <a:noFill/>
            <a:miter lim="800000"/>
            <a:headEnd/>
            <a:tailEnd/>
          </a:ln>
        </p:spPr>
      </p:pic>
      <p:pic>
        <p:nvPicPr>
          <p:cNvPr id="80899" name="Picture 3" descr="bcdc_dsr"/>
          <p:cNvPicPr>
            <a:picLocks noChangeAspect="1" noChangeArrowheads="1" noCrop="1"/>
          </p:cNvPicPr>
          <p:nvPr/>
        </p:nvPicPr>
        <p:blipFill>
          <a:blip r:embed="rId2"/>
          <a:srcRect/>
          <a:stretch>
            <a:fillRect/>
          </a:stretch>
        </p:blipFill>
        <p:spPr bwMode="auto">
          <a:xfrm>
            <a:off x="4500563" y="1125538"/>
            <a:ext cx="3311525" cy="2208212"/>
          </a:xfrm>
          <a:prstGeom prst="rect">
            <a:avLst/>
          </a:prstGeom>
          <a:noFill/>
          <a:ln w="9525">
            <a:noFill/>
            <a:miter lim="800000"/>
            <a:headEnd/>
            <a:tailEnd/>
          </a:ln>
        </p:spPr>
      </p:pic>
      <p:sp>
        <p:nvSpPr>
          <p:cNvPr id="80900" name="Text Box 4"/>
          <p:cNvSpPr txBox="1">
            <a:spLocks noChangeArrowheads="1"/>
          </p:cNvSpPr>
          <p:nvPr/>
        </p:nvSpPr>
        <p:spPr bwMode="auto">
          <a:xfrm>
            <a:off x="1763713" y="3429000"/>
            <a:ext cx="1655762" cy="457200"/>
          </a:xfrm>
          <a:prstGeom prst="rect">
            <a:avLst/>
          </a:prstGeom>
          <a:noFill/>
          <a:ln w="9525">
            <a:noFill/>
            <a:miter lim="800000"/>
          </a:ln>
        </p:spPr>
        <p:txBody>
          <a:bodyPr>
            <a:spAutoFit/>
          </a:bodyPr>
          <a:lstStyle/>
          <a:p>
            <a:r>
              <a:rPr lang="zh-CN" altLang="en-US" b="1">
                <a:solidFill>
                  <a:srgbClr val="0000FF"/>
                </a:solidFill>
              </a:rPr>
              <a:t>汽油机</a:t>
            </a:r>
            <a:endParaRPr lang="zh-CN" altLang="en-US" b="1">
              <a:solidFill>
                <a:srgbClr val="0000FF"/>
              </a:solidFill>
            </a:endParaRPr>
          </a:p>
        </p:txBody>
      </p:sp>
      <p:sp>
        <p:nvSpPr>
          <p:cNvPr id="80901" name="Text Box 5"/>
          <p:cNvSpPr txBox="1">
            <a:spLocks noChangeArrowheads="1"/>
          </p:cNvSpPr>
          <p:nvPr/>
        </p:nvSpPr>
        <p:spPr bwMode="auto">
          <a:xfrm>
            <a:off x="900113" y="3933825"/>
            <a:ext cx="2447925" cy="457200"/>
          </a:xfrm>
          <a:prstGeom prst="rect">
            <a:avLst/>
          </a:prstGeom>
          <a:noFill/>
          <a:ln w="9525">
            <a:noFill/>
            <a:miter lim="800000"/>
          </a:ln>
        </p:spPr>
        <p:txBody>
          <a:bodyPr>
            <a:spAutoFit/>
          </a:bodyPr>
          <a:lstStyle/>
          <a:p>
            <a:r>
              <a:rPr lang="en-US" altLang="zh-CN" b="1"/>
              <a:t>A→B</a:t>
            </a:r>
            <a:r>
              <a:rPr lang="zh-CN" altLang="en-US" b="1"/>
              <a:t>：吸气</a:t>
            </a:r>
            <a:endParaRPr lang="zh-CN" altLang="en-US" b="1"/>
          </a:p>
        </p:txBody>
      </p:sp>
      <p:sp>
        <p:nvSpPr>
          <p:cNvPr id="80902" name="Text Box 6"/>
          <p:cNvSpPr txBox="1">
            <a:spLocks noChangeArrowheads="1"/>
          </p:cNvSpPr>
          <p:nvPr/>
        </p:nvSpPr>
        <p:spPr bwMode="auto">
          <a:xfrm>
            <a:off x="900113" y="4365625"/>
            <a:ext cx="2951162" cy="457200"/>
          </a:xfrm>
          <a:prstGeom prst="rect">
            <a:avLst/>
          </a:prstGeom>
          <a:noFill/>
          <a:ln w="9525">
            <a:noFill/>
            <a:miter lim="800000"/>
          </a:ln>
        </p:spPr>
        <p:txBody>
          <a:bodyPr>
            <a:spAutoFit/>
          </a:bodyPr>
          <a:lstStyle/>
          <a:p>
            <a:r>
              <a:rPr lang="en-US" altLang="zh-CN" b="1"/>
              <a:t>B→C</a:t>
            </a:r>
            <a:r>
              <a:rPr lang="zh-CN" altLang="en-US" b="1"/>
              <a:t>：绝热压缩</a:t>
            </a:r>
            <a:endParaRPr lang="zh-CN" altLang="en-US" b="1"/>
          </a:p>
        </p:txBody>
      </p:sp>
      <p:sp>
        <p:nvSpPr>
          <p:cNvPr id="80903" name="Text Box 7"/>
          <p:cNvSpPr txBox="1">
            <a:spLocks noChangeArrowheads="1"/>
          </p:cNvSpPr>
          <p:nvPr/>
        </p:nvSpPr>
        <p:spPr bwMode="auto">
          <a:xfrm>
            <a:off x="884238" y="4797425"/>
            <a:ext cx="3255962" cy="457200"/>
          </a:xfrm>
          <a:prstGeom prst="rect">
            <a:avLst/>
          </a:prstGeom>
          <a:noFill/>
          <a:ln w="9525">
            <a:noFill/>
            <a:miter lim="800000"/>
          </a:ln>
        </p:spPr>
        <p:txBody>
          <a:bodyPr>
            <a:spAutoFit/>
          </a:bodyPr>
          <a:lstStyle/>
          <a:p>
            <a:r>
              <a:rPr lang="en-US" altLang="zh-CN" b="1"/>
              <a:t>C→D</a:t>
            </a:r>
            <a:r>
              <a:rPr lang="zh-CN" altLang="en-US" b="1"/>
              <a:t>：点火燃烧</a:t>
            </a:r>
            <a:endParaRPr lang="zh-CN" altLang="en-US" b="1"/>
          </a:p>
        </p:txBody>
      </p:sp>
      <p:sp>
        <p:nvSpPr>
          <p:cNvPr id="80904" name="Text Box 8"/>
          <p:cNvSpPr txBox="1">
            <a:spLocks noChangeArrowheads="1"/>
          </p:cNvSpPr>
          <p:nvPr/>
        </p:nvSpPr>
        <p:spPr bwMode="auto">
          <a:xfrm>
            <a:off x="900113" y="5229225"/>
            <a:ext cx="3240087" cy="457200"/>
          </a:xfrm>
          <a:prstGeom prst="rect">
            <a:avLst/>
          </a:prstGeom>
          <a:noFill/>
          <a:ln w="9525">
            <a:noFill/>
            <a:miter lim="800000"/>
          </a:ln>
        </p:spPr>
        <p:txBody>
          <a:bodyPr>
            <a:spAutoFit/>
          </a:bodyPr>
          <a:lstStyle/>
          <a:p>
            <a:r>
              <a:rPr lang="en-US" altLang="zh-CN" b="1"/>
              <a:t>D→E</a:t>
            </a:r>
            <a:r>
              <a:rPr lang="zh-CN" altLang="en-US" b="1"/>
              <a:t>：绝热膨胀</a:t>
            </a:r>
            <a:endParaRPr lang="zh-CN" altLang="en-US" b="1"/>
          </a:p>
        </p:txBody>
      </p:sp>
      <p:sp>
        <p:nvSpPr>
          <p:cNvPr id="80905" name="Text Box 9"/>
          <p:cNvSpPr txBox="1">
            <a:spLocks noChangeArrowheads="1"/>
          </p:cNvSpPr>
          <p:nvPr/>
        </p:nvSpPr>
        <p:spPr bwMode="auto">
          <a:xfrm>
            <a:off x="900113" y="5661025"/>
            <a:ext cx="3240087" cy="457200"/>
          </a:xfrm>
          <a:prstGeom prst="rect">
            <a:avLst/>
          </a:prstGeom>
          <a:noFill/>
          <a:ln w="9525">
            <a:noFill/>
            <a:miter lim="800000"/>
          </a:ln>
        </p:spPr>
        <p:txBody>
          <a:bodyPr>
            <a:spAutoFit/>
          </a:bodyPr>
          <a:lstStyle/>
          <a:p>
            <a:r>
              <a:rPr lang="en-US" altLang="zh-CN" b="1"/>
              <a:t>E→B→A</a:t>
            </a:r>
            <a:r>
              <a:rPr lang="zh-CN" altLang="en-US" b="1"/>
              <a:t>：排气</a:t>
            </a:r>
            <a:endParaRPr lang="zh-CN" altLang="en-US" b="1"/>
          </a:p>
        </p:txBody>
      </p:sp>
      <p:sp>
        <p:nvSpPr>
          <p:cNvPr id="80906" name="Text Box 10"/>
          <p:cNvSpPr txBox="1">
            <a:spLocks noChangeArrowheads="1"/>
          </p:cNvSpPr>
          <p:nvPr/>
        </p:nvSpPr>
        <p:spPr bwMode="auto">
          <a:xfrm>
            <a:off x="5724525" y="3403600"/>
            <a:ext cx="1655763" cy="457200"/>
          </a:xfrm>
          <a:prstGeom prst="rect">
            <a:avLst/>
          </a:prstGeom>
          <a:noFill/>
          <a:ln w="9525">
            <a:noFill/>
            <a:miter lim="800000"/>
          </a:ln>
        </p:spPr>
        <p:txBody>
          <a:bodyPr>
            <a:spAutoFit/>
          </a:bodyPr>
          <a:lstStyle/>
          <a:p>
            <a:r>
              <a:rPr lang="zh-CN" altLang="en-US" b="1">
                <a:solidFill>
                  <a:srgbClr val="0000FF"/>
                </a:solidFill>
              </a:rPr>
              <a:t>柴油机</a:t>
            </a:r>
            <a:endParaRPr lang="zh-CN" altLang="en-US" b="1">
              <a:solidFill>
                <a:srgbClr val="0000FF"/>
              </a:solidFill>
            </a:endParaRPr>
          </a:p>
        </p:txBody>
      </p:sp>
      <p:sp>
        <p:nvSpPr>
          <p:cNvPr id="80907" name="Text Box 11"/>
          <p:cNvSpPr txBox="1">
            <a:spLocks noChangeArrowheads="1"/>
          </p:cNvSpPr>
          <p:nvPr/>
        </p:nvSpPr>
        <p:spPr bwMode="auto">
          <a:xfrm>
            <a:off x="5148263" y="3933825"/>
            <a:ext cx="1833562" cy="457200"/>
          </a:xfrm>
          <a:prstGeom prst="rect">
            <a:avLst/>
          </a:prstGeom>
          <a:noFill/>
          <a:ln w="9525">
            <a:noFill/>
            <a:miter lim="800000"/>
          </a:ln>
        </p:spPr>
        <p:txBody>
          <a:bodyPr wrap="none">
            <a:spAutoFit/>
          </a:bodyPr>
          <a:lstStyle/>
          <a:p>
            <a:r>
              <a:rPr lang="en-US" altLang="zh-CN" b="1"/>
              <a:t>A→B</a:t>
            </a:r>
            <a:r>
              <a:rPr lang="zh-CN" altLang="en-US" b="1"/>
              <a:t>：吸气</a:t>
            </a:r>
            <a:endParaRPr lang="zh-CN" altLang="en-US" b="1"/>
          </a:p>
        </p:txBody>
      </p:sp>
      <p:sp>
        <p:nvSpPr>
          <p:cNvPr id="80908" name="Text Box 12"/>
          <p:cNvSpPr txBox="1">
            <a:spLocks noChangeArrowheads="1"/>
          </p:cNvSpPr>
          <p:nvPr/>
        </p:nvSpPr>
        <p:spPr bwMode="auto">
          <a:xfrm>
            <a:off x="5148263" y="4365625"/>
            <a:ext cx="2446337" cy="457200"/>
          </a:xfrm>
          <a:prstGeom prst="rect">
            <a:avLst/>
          </a:prstGeom>
          <a:noFill/>
          <a:ln w="9525">
            <a:noFill/>
            <a:miter lim="800000"/>
          </a:ln>
        </p:spPr>
        <p:txBody>
          <a:bodyPr wrap="none">
            <a:spAutoFit/>
          </a:bodyPr>
          <a:lstStyle/>
          <a:p>
            <a:r>
              <a:rPr lang="en-US" altLang="zh-CN" b="1"/>
              <a:t>B→C</a:t>
            </a:r>
            <a:r>
              <a:rPr lang="zh-CN" altLang="en-US" b="1"/>
              <a:t>：绝热压缩</a:t>
            </a:r>
            <a:endParaRPr lang="zh-CN" altLang="en-US" b="1"/>
          </a:p>
        </p:txBody>
      </p:sp>
      <p:sp>
        <p:nvSpPr>
          <p:cNvPr id="80909" name="Text Box 13"/>
          <p:cNvSpPr txBox="1">
            <a:spLocks noChangeArrowheads="1"/>
          </p:cNvSpPr>
          <p:nvPr/>
        </p:nvSpPr>
        <p:spPr bwMode="auto">
          <a:xfrm>
            <a:off x="5132388" y="4797425"/>
            <a:ext cx="2463800" cy="457200"/>
          </a:xfrm>
          <a:prstGeom prst="rect">
            <a:avLst/>
          </a:prstGeom>
          <a:noFill/>
          <a:ln w="9525">
            <a:noFill/>
            <a:miter lim="800000"/>
          </a:ln>
        </p:spPr>
        <p:txBody>
          <a:bodyPr wrap="none">
            <a:spAutoFit/>
          </a:bodyPr>
          <a:lstStyle/>
          <a:p>
            <a:r>
              <a:rPr lang="en-US" altLang="zh-CN" b="1"/>
              <a:t>C→D</a:t>
            </a:r>
            <a:r>
              <a:rPr lang="zh-CN" altLang="en-US" b="1"/>
              <a:t>：点火燃烧</a:t>
            </a:r>
            <a:endParaRPr lang="zh-CN" altLang="en-US" b="1"/>
          </a:p>
        </p:txBody>
      </p:sp>
      <p:sp>
        <p:nvSpPr>
          <p:cNvPr id="80910" name="Text Box 14"/>
          <p:cNvSpPr txBox="1">
            <a:spLocks noChangeArrowheads="1"/>
          </p:cNvSpPr>
          <p:nvPr/>
        </p:nvSpPr>
        <p:spPr bwMode="auto">
          <a:xfrm>
            <a:off x="5148263" y="5229225"/>
            <a:ext cx="2446337" cy="457200"/>
          </a:xfrm>
          <a:prstGeom prst="rect">
            <a:avLst/>
          </a:prstGeom>
          <a:noFill/>
          <a:ln w="9525">
            <a:noFill/>
            <a:miter lim="800000"/>
          </a:ln>
        </p:spPr>
        <p:txBody>
          <a:bodyPr wrap="none">
            <a:spAutoFit/>
          </a:bodyPr>
          <a:lstStyle/>
          <a:p>
            <a:r>
              <a:rPr lang="en-US" altLang="zh-CN" b="1"/>
              <a:t>D→E</a:t>
            </a:r>
            <a:r>
              <a:rPr lang="zh-CN" altLang="en-US" b="1"/>
              <a:t>：绝热膨胀</a:t>
            </a:r>
            <a:endParaRPr lang="zh-CN" altLang="en-US" b="1"/>
          </a:p>
        </p:txBody>
      </p:sp>
      <p:sp>
        <p:nvSpPr>
          <p:cNvPr id="80911" name="Text Box 15"/>
          <p:cNvSpPr txBox="1">
            <a:spLocks noChangeArrowheads="1"/>
          </p:cNvSpPr>
          <p:nvPr/>
        </p:nvSpPr>
        <p:spPr bwMode="auto">
          <a:xfrm>
            <a:off x="5148263" y="5661025"/>
            <a:ext cx="2343150" cy="457200"/>
          </a:xfrm>
          <a:prstGeom prst="rect">
            <a:avLst/>
          </a:prstGeom>
          <a:noFill/>
          <a:ln w="9525">
            <a:noFill/>
            <a:miter lim="800000"/>
          </a:ln>
        </p:spPr>
        <p:txBody>
          <a:bodyPr wrap="none">
            <a:spAutoFit/>
          </a:bodyPr>
          <a:lstStyle/>
          <a:p>
            <a:r>
              <a:rPr lang="en-US" altLang="zh-CN" b="1"/>
              <a:t>E→B→A</a:t>
            </a:r>
            <a:r>
              <a:rPr lang="zh-CN" altLang="en-US" b="1"/>
              <a:t>：排气</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box(out)">
                                      <p:cBhvr>
                                        <p:cTn id="7" dur="500"/>
                                        <p:tgtEl>
                                          <p:spTgt spid="8089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0900"/>
                                        </p:tgtEl>
                                        <p:attrNameLst>
                                          <p:attrName>style.visibility</p:attrName>
                                        </p:attrNameLst>
                                      </p:cBhvr>
                                      <p:to>
                                        <p:strVal val="visible"/>
                                      </p:to>
                                    </p:set>
                                    <p:animEffect transition="in" filter="wipe(left)">
                                      <p:cBhvr>
                                        <p:cTn id="11" dur="500"/>
                                        <p:tgtEl>
                                          <p:spTgt spid="8090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0901"/>
                                        </p:tgtEl>
                                        <p:attrNameLst>
                                          <p:attrName>style.visibility</p:attrName>
                                        </p:attrNameLst>
                                      </p:cBhvr>
                                      <p:to>
                                        <p:strVal val="visible"/>
                                      </p:to>
                                    </p:set>
                                    <p:animEffect transition="in" filter="wipe(left)">
                                      <p:cBhvr>
                                        <p:cTn id="16" dur="500"/>
                                        <p:tgtEl>
                                          <p:spTgt spid="8090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0902"/>
                                        </p:tgtEl>
                                        <p:attrNameLst>
                                          <p:attrName>style.visibility</p:attrName>
                                        </p:attrNameLst>
                                      </p:cBhvr>
                                      <p:to>
                                        <p:strVal val="visible"/>
                                      </p:to>
                                    </p:set>
                                    <p:animEffect transition="in" filter="wipe(left)">
                                      <p:cBhvr>
                                        <p:cTn id="21" dur="500"/>
                                        <p:tgtEl>
                                          <p:spTgt spid="8090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0903"/>
                                        </p:tgtEl>
                                        <p:attrNameLst>
                                          <p:attrName>style.visibility</p:attrName>
                                        </p:attrNameLst>
                                      </p:cBhvr>
                                      <p:to>
                                        <p:strVal val="visible"/>
                                      </p:to>
                                    </p:set>
                                    <p:animEffect transition="in" filter="wipe(left)">
                                      <p:cBhvr>
                                        <p:cTn id="26" dur="500"/>
                                        <p:tgtEl>
                                          <p:spTgt spid="8090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0904"/>
                                        </p:tgtEl>
                                        <p:attrNameLst>
                                          <p:attrName>style.visibility</p:attrName>
                                        </p:attrNameLst>
                                      </p:cBhvr>
                                      <p:to>
                                        <p:strVal val="visible"/>
                                      </p:to>
                                    </p:set>
                                    <p:animEffect transition="in" filter="wipe(left)">
                                      <p:cBhvr>
                                        <p:cTn id="31" dur="500"/>
                                        <p:tgtEl>
                                          <p:spTgt spid="8090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80905"/>
                                        </p:tgtEl>
                                        <p:attrNameLst>
                                          <p:attrName>style.visibility</p:attrName>
                                        </p:attrNameLst>
                                      </p:cBhvr>
                                      <p:to>
                                        <p:strVal val="visible"/>
                                      </p:to>
                                    </p:set>
                                    <p:animEffect transition="in" filter="wipe(left)">
                                      <p:cBhvr>
                                        <p:cTn id="36" dur="500"/>
                                        <p:tgtEl>
                                          <p:spTgt spid="80905"/>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80899"/>
                                        </p:tgtEl>
                                        <p:attrNameLst>
                                          <p:attrName>style.visibility</p:attrName>
                                        </p:attrNameLst>
                                      </p:cBhvr>
                                      <p:to>
                                        <p:strVal val="visible"/>
                                      </p:to>
                                    </p:set>
                                    <p:animEffect transition="in" filter="box(out)">
                                      <p:cBhvr>
                                        <p:cTn id="41" dur="500"/>
                                        <p:tgtEl>
                                          <p:spTgt spid="80899"/>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80906"/>
                                        </p:tgtEl>
                                        <p:attrNameLst>
                                          <p:attrName>style.visibility</p:attrName>
                                        </p:attrNameLst>
                                      </p:cBhvr>
                                      <p:to>
                                        <p:strVal val="visible"/>
                                      </p:to>
                                    </p:set>
                                    <p:animEffect transition="in" filter="wipe(left)">
                                      <p:cBhvr>
                                        <p:cTn id="45" dur="500"/>
                                        <p:tgtEl>
                                          <p:spTgt spid="8090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0907"/>
                                        </p:tgtEl>
                                        <p:attrNameLst>
                                          <p:attrName>style.visibility</p:attrName>
                                        </p:attrNameLst>
                                      </p:cBhvr>
                                      <p:to>
                                        <p:strVal val="visible"/>
                                      </p:to>
                                    </p:set>
                                    <p:animEffect transition="in" filter="wipe(left)">
                                      <p:cBhvr>
                                        <p:cTn id="50" dur="500"/>
                                        <p:tgtEl>
                                          <p:spTgt spid="8090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0908"/>
                                        </p:tgtEl>
                                        <p:attrNameLst>
                                          <p:attrName>style.visibility</p:attrName>
                                        </p:attrNameLst>
                                      </p:cBhvr>
                                      <p:to>
                                        <p:strVal val="visible"/>
                                      </p:to>
                                    </p:set>
                                    <p:animEffect transition="in" filter="wipe(left)">
                                      <p:cBhvr>
                                        <p:cTn id="55" dur="500"/>
                                        <p:tgtEl>
                                          <p:spTgt spid="8090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80909"/>
                                        </p:tgtEl>
                                        <p:attrNameLst>
                                          <p:attrName>style.visibility</p:attrName>
                                        </p:attrNameLst>
                                      </p:cBhvr>
                                      <p:to>
                                        <p:strVal val="visible"/>
                                      </p:to>
                                    </p:set>
                                    <p:animEffect transition="in" filter="wipe(left)">
                                      <p:cBhvr>
                                        <p:cTn id="60" dur="500"/>
                                        <p:tgtEl>
                                          <p:spTgt spid="8090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80910"/>
                                        </p:tgtEl>
                                        <p:attrNameLst>
                                          <p:attrName>style.visibility</p:attrName>
                                        </p:attrNameLst>
                                      </p:cBhvr>
                                      <p:to>
                                        <p:strVal val="visible"/>
                                      </p:to>
                                    </p:set>
                                    <p:animEffect transition="in" filter="wipe(left)">
                                      <p:cBhvr>
                                        <p:cTn id="65" dur="500"/>
                                        <p:tgtEl>
                                          <p:spTgt spid="8091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80911"/>
                                        </p:tgtEl>
                                        <p:attrNameLst>
                                          <p:attrName>style.visibility</p:attrName>
                                        </p:attrNameLst>
                                      </p:cBhvr>
                                      <p:to>
                                        <p:strVal val="visible"/>
                                      </p:to>
                                    </p:set>
                                    <p:animEffect transition="in" filter="wipe(left)">
                                      <p:cBhvr>
                                        <p:cTn id="70" dur="500"/>
                                        <p:tgtEl>
                                          <p:spTgt spid="80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p:bldP spid="80901" grpId="0"/>
      <p:bldP spid="80902" grpId="0"/>
      <p:bldP spid="80903" grpId="0"/>
      <p:bldP spid="80904" grpId="0"/>
      <p:bldP spid="80905" grpId="0"/>
      <p:bldP spid="80906" grpId="0"/>
      <p:bldP spid="80907" grpId="0"/>
      <p:bldP spid="80908" grpId="0"/>
      <p:bldP spid="80909" grpId="0"/>
      <p:bldP spid="80910" grpId="0"/>
      <p:bldP spid="8091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reeform 2"/>
          <p:cNvSpPr/>
          <p:nvPr/>
        </p:nvSpPr>
        <p:spPr bwMode="auto">
          <a:xfrm>
            <a:off x="6515100" y="1993900"/>
            <a:ext cx="1152525" cy="1466850"/>
          </a:xfrm>
          <a:custGeom>
            <a:avLst/>
            <a:gdLst>
              <a:gd name="T0" fmla="*/ 0 w 726"/>
              <a:gd name="T1" fmla="*/ 0 h 924"/>
              <a:gd name="T2" fmla="*/ 2147483647 w 726"/>
              <a:gd name="T3" fmla="*/ 2147483647 h 924"/>
              <a:gd name="T4" fmla="*/ 2147483647 w 726"/>
              <a:gd name="T5" fmla="*/ 2147483647 h 924"/>
              <a:gd name="T6" fmla="*/ 2147483647 w 726"/>
              <a:gd name="T7" fmla="*/ 2147483647 h 924"/>
              <a:gd name="T8" fmla="*/ 2147483647 w 726"/>
              <a:gd name="T9" fmla="*/ 2147483647 h 924"/>
              <a:gd name="T10" fmla="*/ 2147483647 w 726"/>
              <a:gd name="T11" fmla="*/ 2147483647 h 924"/>
              <a:gd name="T12" fmla="*/ 2147483647 w 726"/>
              <a:gd name="T13" fmla="*/ 2147483647 h 924"/>
              <a:gd name="T14" fmla="*/ 2147483647 w 726"/>
              <a:gd name="T15" fmla="*/ 2147483647 h 924"/>
              <a:gd name="T16" fmla="*/ 2147483647 w 726"/>
              <a:gd name="T17" fmla="*/ 2147483647 h 924"/>
              <a:gd name="T18" fmla="*/ 2147483647 w 726"/>
              <a:gd name="T19" fmla="*/ 2147483647 h 924"/>
              <a:gd name="T20" fmla="*/ 0 w 726"/>
              <a:gd name="T21" fmla="*/ 0 h 9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6"/>
              <a:gd name="T34" fmla="*/ 0 h 924"/>
              <a:gd name="T35" fmla="*/ 726 w 726"/>
              <a:gd name="T36" fmla="*/ 924 h 9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6" h="924">
                <a:moveTo>
                  <a:pt x="0" y="0"/>
                </a:moveTo>
                <a:lnTo>
                  <a:pt x="72" y="184"/>
                </a:lnTo>
                <a:lnTo>
                  <a:pt x="148" y="300"/>
                </a:lnTo>
                <a:lnTo>
                  <a:pt x="276" y="384"/>
                </a:lnTo>
                <a:lnTo>
                  <a:pt x="424" y="448"/>
                </a:lnTo>
                <a:lnTo>
                  <a:pt x="528" y="480"/>
                </a:lnTo>
                <a:lnTo>
                  <a:pt x="632" y="504"/>
                </a:lnTo>
                <a:lnTo>
                  <a:pt x="724" y="524"/>
                </a:lnTo>
                <a:lnTo>
                  <a:pt x="726" y="924"/>
                </a:lnTo>
                <a:lnTo>
                  <a:pt x="2" y="924"/>
                </a:lnTo>
                <a:lnTo>
                  <a:pt x="0" y="0"/>
                </a:lnTo>
                <a:close/>
              </a:path>
            </a:pathLst>
          </a:custGeom>
          <a:pattFill prst="wdUpDiag">
            <a:fgClr>
              <a:srgbClr val="3333CC"/>
            </a:fgClr>
            <a:bgClr>
              <a:schemeClr val="bg1"/>
            </a:bgClr>
          </a:pattFill>
          <a:ln w="9525">
            <a:noFill/>
            <a:round/>
          </a:ln>
        </p:spPr>
        <p:txBody>
          <a:bodyPr/>
          <a:lstStyle/>
          <a:p>
            <a:pPr algn="ctr"/>
            <a:endParaRPr lang="zh-CN" altLang="en-US" b="1"/>
          </a:p>
        </p:txBody>
      </p:sp>
      <p:sp>
        <p:nvSpPr>
          <p:cNvPr id="81923" name="Freeform 3"/>
          <p:cNvSpPr/>
          <p:nvPr/>
        </p:nvSpPr>
        <p:spPr bwMode="auto">
          <a:xfrm>
            <a:off x="6516688" y="1954213"/>
            <a:ext cx="1149350" cy="1517650"/>
          </a:xfrm>
          <a:custGeom>
            <a:avLst/>
            <a:gdLst>
              <a:gd name="T0" fmla="*/ 2147483647 w 724"/>
              <a:gd name="T1" fmla="*/ 2147483647 h 956"/>
              <a:gd name="T2" fmla="*/ 2147483647 w 724"/>
              <a:gd name="T3" fmla="*/ 0 h 956"/>
              <a:gd name="T4" fmla="*/ 2147483647 w 724"/>
              <a:gd name="T5" fmla="*/ 2147483647 h 956"/>
              <a:gd name="T6" fmla="*/ 2147483647 w 724"/>
              <a:gd name="T7" fmla="*/ 2147483647 h 956"/>
              <a:gd name="T8" fmla="*/ 2147483647 w 724"/>
              <a:gd name="T9" fmla="*/ 2147483647 h 956"/>
              <a:gd name="T10" fmla="*/ 2147483647 w 724"/>
              <a:gd name="T11" fmla="*/ 2147483647 h 956"/>
              <a:gd name="T12" fmla="*/ 2147483647 w 724"/>
              <a:gd name="T13" fmla="*/ 2147483647 h 956"/>
              <a:gd name="T14" fmla="*/ 2147483647 w 724"/>
              <a:gd name="T15" fmla="*/ 2147483647 h 956"/>
              <a:gd name="T16" fmla="*/ 2147483647 w 724"/>
              <a:gd name="T17" fmla="*/ 2147483647 h 956"/>
              <a:gd name="T18" fmla="*/ 2147483647 w 724"/>
              <a:gd name="T19" fmla="*/ 2147483647 h 956"/>
              <a:gd name="T20" fmla="*/ 2147483647 w 724"/>
              <a:gd name="T21" fmla="*/ 2147483647 h 956"/>
              <a:gd name="T22" fmla="*/ 2147483647 w 724"/>
              <a:gd name="T23" fmla="*/ 2147483647 h 956"/>
              <a:gd name="T24" fmla="*/ 2147483647 w 724"/>
              <a:gd name="T25" fmla="*/ 2147483647 h 956"/>
              <a:gd name="T26" fmla="*/ 0 w 724"/>
              <a:gd name="T27" fmla="*/ 2147483647 h 956"/>
              <a:gd name="T28" fmla="*/ 2147483647 w 724"/>
              <a:gd name="T29" fmla="*/ 2147483647 h 9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4"/>
              <a:gd name="T46" fmla="*/ 0 h 956"/>
              <a:gd name="T47" fmla="*/ 724 w 724"/>
              <a:gd name="T48" fmla="*/ 956 h 9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4" h="956">
                <a:moveTo>
                  <a:pt x="1" y="16"/>
                </a:moveTo>
                <a:lnTo>
                  <a:pt x="224" y="0"/>
                </a:lnTo>
                <a:lnTo>
                  <a:pt x="336" y="8"/>
                </a:lnTo>
                <a:lnTo>
                  <a:pt x="424" y="40"/>
                </a:lnTo>
                <a:lnTo>
                  <a:pt x="468" y="64"/>
                </a:lnTo>
                <a:lnTo>
                  <a:pt x="520" y="100"/>
                </a:lnTo>
                <a:lnTo>
                  <a:pt x="590" y="152"/>
                </a:lnTo>
                <a:lnTo>
                  <a:pt x="648" y="232"/>
                </a:lnTo>
                <a:lnTo>
                  <a:pt x="664" y="280"/>
                </a:lnTo>
                <a:lnTo>
                  <a:pt x="681" y="333"/>
                </a:lnTo>
                <a:lnTo>
                  <a:pt x="700" y="420"/>
                </a:lnTo>
                <a:lnTo>
                  <a:pt x="724" y="536"/>
                </a:lnTo>
                <a:lnTo>
                  <a:pt x="724" y="956"/>
                </a:lnTo>
                <a:lnTo>
                  <a:pt x="0" y="956"/>
                </a:lnTo>
                <a:lnTo>
                  <a:pt x="1" y="16"/>
                </a:lnTo>
                <a:close/>
              </a:path>
            </a:pathLst>
          </a:custGeom>
          <a:pattFill prst="wdUpDiag">
            <a:fgClr>
              <a:srgbClr val="FF6600">
                <a:alpha val="50195"/>
              </a:srgbClr>
            </a:fgClr>
            <a:bgClr>
              <a:schemeClr val="bg1">
                <a:alpha val="50195"/>
              </a:schemeClr>
            </a:bgClr>
          </a:pattFill>
          <a:ln w="9525">
            <a:noFill/>
            <a:round/>
          </a:ln>
        </p:spPr>
        <p:txBody>
          <a:bodyPr/>
          <a:lstStyle/>
          <a:p>
            <a:pPr algn="ctr"/>
            <a:endParaRPr lang="zh-CN" altLang="en-US" b="1"/>
          </a:p>
        </p:txBody>
      </p:sp>
      <p:sp>
        <p:nvSpPr>
          <p:cNvPr id="81924" name="Line 4"/>
          <p:cNvSpPr>
            <a:spLocks noChangeShapeType="1"/>
          </p:cNvSpPr>
          <p:nvPr/>
        </p:nvSpPr>
        <p:spPr bwMode="auto">
          <a:xfrm>
            <a:off x="7667625" y="2794000"/>
            <a:ext cx="0" cy="685800"/>
          </a:xfrm>
          <a:prstGeom prst="line">
            <a:avLst/>
          </a:prstGeom>
          <a:noFill/>
          <a:ln w="9525">
            <a:solidFill>
              <a:schemeClr val="tx1"/>
            </a:solidFill>
            <a:prstDash val="lgDash"/>
            <a:round/>
          </a:ln>
        </p:spPr>
        <p:txBody>
          <a:bodyPr/>
          <a:lstStyle/>
          <a:p>
            <a:endParaRPr lang="zh-CN" altLang="en-US"/>
          </a:p>
        </p:txBody>
      </p:sp>
      <p:sp>
        <p:nvSpPr>
          <p:cNvPr id="81925" name="Line 5"/>
          <p:cNvSpPr>
            <a:spLocks noChangeShapeType="1"/>
          </p:cNvSpPr>
          <p:nvPr/>
        </p:nvSpPr>
        <p:spPr bwMode="auto">
          <a:xfrm>
            <a:off x="6516688" y="1968500"/>
            <a:ext cx="0" cy="1511300"/>
          </a:xfrm>
          <a:prstGeom prst="line">
            <a:avLst/>
          </a:prstGeom>
          <a:noFill/>
          <a:ln w="9525">
            <a:solidFill>
              <a:schemeClr val="tx1"/>
            </a:solidFill>
            <a:prstDash val="lgDash"/>
            <a:round/>
          </a:ln>
        </p:spPr>
        <p:txBody>
          <a:bodyPr/>
          <a:lstStyle/>
          <a:p>
            <a:endParaRPr lang="zh-CN" altLang="en-US"/>
          </a:p>
        </p:txBody>
      </p:sp>
      <p:grpSp>
        <p:nvGrpSpPr>
          <p:cNvPr id="2" name="Group 6"/>
          <p:cNvGrpSpPr/>
          <p:nvPr/>
        </p:nvGrpSpPr>
        <p:grpSpPr bwMode="auto">
          <a:xfrm>
            <a:off x="5580063" y="1196975"/>
            <a:ext cx="3095625" cy="2473325"/>
            <a:chOff x="3515" y="754"/>
            <a:chExt cx="1950" cy="1558"/>
          </a:xfrm>
        </p:grpSpPr>
        <p:sp>
          <p:nvSpPr>
            <p:cNvPr id="40995" name="Line 7"/>
            <p:cNvSpPr>
              <a:spLocks noChangeShapeType="1"/>
            </p:cNvSpPr>
            <p:nvPr/>
          </p:nvSpPr>
          <p:spPr bwMode="auto">
            <a:xfrm flipV="1">
              <a:off x="3787" y="968"/>
              <a:ext cx="0" cy="1224"/>
            </a:xfrm>
            <a:prstGeom prst="line">
              <a:avLst/>
            </a:prstGeom>
            <a:noFill/>
            <a:ln w="28575">
              <a:solidFill>
                <a:schemeClr val="tx1"/>
              </a:solidFill>
              <a:round/>
              <a:tailEnd type="triangle" w="med" len="med"/>
            </a:ln>
          </p:spPr>
          <p:txBody>
            <a:bodyPr/>
            <a:lstStyle/>
            <a:p>
              <a:endParaRPr lang="zh-CN" altLang="en-US"/>
            </a:p>
          </p:txBody>
        </p:sp>
        <p:sp>
          <p:nvSpPr>
            <p:cNvPr id="40996" name="Line 8"/>
            <p:cNvSpPr>
              <a:spLocks noChangeShapeType="1"/>
            </p:cNvSpPr>
            <p:nvPr/>
          </p:nvSpPr>
          <p:spPr bwMode="auto">
            <a:xfrm>
              <a:off x="3777" y="2192"/>
              <a:ext cx="1316" cy="0"/>
            </a:xfrm>
            <a:prstGeom prst="line">
              <a:avLst/>
            </a:prstGeom>
            <a:noFill/>
            <a:ln w="28575">
              <a:solidFill>
                <a:schemeClr val="tx1"/>
              </a:solidFill>
              <a:round/>
              <a:tailEnd type="triangle" w="med" len="med"/>
            </a:ln>
          </p:spPr>
          <p:txBody>
            <a:bodyPr/>
            <a:lstStyle/>
            <a:p>
              <a:endParaRPr lang="zh-CN" altLang="en-US"/>
            </a:p>
          </p:txBody>
        </p:sp>
        <p:sp>
          <p:nvSpPr>
            <p:cNvPr id="40997" name="Text Box 9"/>
            <p:cNvSpPr txBox="1">
              <a:spLocks noChangeArrowheads="1"/>
            </p:cNvSpPr>
            <p:nvPr/>
          </p:nvSpPr>
          <p:spPr bwMode="auto">
            <a:xfrm>
              <a:off x="3560" y="754"/>
              <a:ext cx="363" cy="288"/>
            </a:xfrm>
            <a:prstGeom prst="rect">
              <a:avLst/>
            </a:prstGeom>
            <a:noFill/>
            <a:ln w="9525">
              <a:noFill/>
              <a:miter lim="800000"/>
            </a:ln>
          </p:spPr>
          <p:txBody>
            <a:bodyPr>
              <a:spAutoFit/>
            </a:bodyPr>
            <a:lstStyle/>
            <a:p>
              <a:r>
                <a:rPr lang="en-US" altLang="zh-CN" b="1" i="1"/>
                <a:t>p</a:t>
              </a:r>
              <a:endParaRPr lang="en-US" altLang="zh-CN" b="1" i="1"/>
            </a:p>
          </p:txBody>
        </p:sp>
        <p:sp>
          <p:nvSpPr>
            <p:cNvPr id="40998" name="Text Box 10"/>
            <p:cNvSpPr txBox="1">
              <a:spLocks noChangeArrowheads="1"/>
            </p:cNvSpPr>
            <p:nvPr/>
          </p:nvSpPr>
          <p:spPr bwMode="auto">
            <a:xfrm>
              <a:off x="5090" y="2024"/>
              <a:ext cx="375" cy="288"/>
            </a:xfrm>
            <a:prstGeom prst="rect">
              <a:avLst/>
            </a:prstGeom>
            <a:noFill/>
            <a:ln w="9525">
              <a:noFill/>
              <a:miter lim="800000"/>
            </a:ln>
          </p:spPr>
          <p:txBody>
            <a:bodyPr>
              <a:spAutoFit/>
            </a:bodyPr>
            <a:lstStyle/>
            <a:p>
              <a:r>
                <a:rPr lang="en-US" altLang="zh-CN" b="1" i="1"/>
                <a:t>V</a:t>
              </a:r>
              <a:endParaRPr lang="en-US" altLang="zh-CN" b="1" i="1"/>
            </a:p>
          </p:txBody>
        </p:sp>
        <p:sp>
          <p:nvSpPr>
            <p:cNvPr id="40999" name="Text Box 11"/>
            <p:cNvSpPr txBox="1">
              <a:spLocks noChangeArrowheads="1"/>
            </p:cNvSpPr>
            <p:nvPr/>
          </p:nvSpPr>
          <p:spPr bwMode="auto">
            <a:xfrm>
              <a:off x="3515" y="2011"/>
              <a:ext cx="408" cy="288"/>
            </a:xfrm>
            <a:prstGeom prst="rect">
              <a:avLst/>
            </a:prstGeom>
            <a:noFill/>
            <a:ln w="9525">
              <a:noFill/>
              <a:miter lim="800000"/>
            </a:ln>
          </p:spPr>
          <p:txBody>
            <a:bodyPr>
              <a:spAutoFit/>
            </a:bodyPr>
            <a:lstStyle/>
            <a:p>
              <a:r>
                <a:rPr lang="en-US" altLang="zh-CN" b="1" i="1"/>
                <a:t>O</a:t>
              </a:r>
              <a:endParaRPr lang="en-US" altLang="zh-CN" b="1" i="1"/>
            </a:p>
          </p:txBody>
        </p:sp>
      </p:grpSp>
      <p:grpSp>
        <p:nvGrpSpPr>
          <p:cNvPr id="3" name="Group 12"/>
          <p:cNvGrpSpPr/>
          <p:nvPr/>
        </p:nvGrpSpPr>
        <p:grpSpPr bwMode="auto">
          <a:xfrm>
            <a:off x="6516688" y="1920875"/>
            <a:ext cx="1150937" cy="839788"/>
            <a:chOff x="4105" y="1210"/>
            <a:chExt cx="725" cy="529"/>
          </a:xfrm>
        </p:grpSpPr>
        <p:sp>
          <p:nvSpPr>
            <p:cNvPr id="40993" name="Freeform 13"/>
            <p:cNvSpPr/>
            <p:nvPr/>
          </p:nvSpPr>
          <p:spPr bwMode="auto">
            <a:xfrm>
              <a:off x="4105" y="1210"/>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ln>
          </p:spPr>
          <p:txBody>
            <a:bodyPr/>
            <a:lstStyle/>
            <a:p>
              <a:pPr algn="ctr"/>
              <a:endParaRPr lang="zh-CN" altLang="en-US" b="1"/>
            </a:p>
          </p:txBody>
        </p:sp>
        <p:sp>
          <p:nvSpPr>
            <p:cNvPr id="40994" name="Line 14"/>
            <p:cNvSpPr>
              <a:spLocks noChangeShapeType="1"/>
            </p:cNvSpPr>
            <p:nvPr/>
          </p:nvSpPr>
          <p:spPr bwMode="auto">
            <a:xfrm rot="10800000">
              <a:off x="4649" y="1331"/>
              <a:ext cx="45" cy="45"/>
            </a:xfrm>
            <a:prstGeom prst="line">
              <a:avLst/>
            </a:prstGeom>
            <a:noFill/>
            <a:ln w="38100">
              <a:solidFill>
                <a:srgbClr val="3333CC"/>
              </a:solidFill>
              <a:round/>
              <a:tailEnd type="triangle" w="med" len="med"/>
            </a:ln>
          </p:spPr>
          <p:txBody>
            <a:bodyPr/>
            <a:lstStyle/>
            <a:p>
              <a:endParaRPr lang="zh-CN" altLang="en-US"/>
            </a:p>
          </p:txBody>
        </p:sp>
      </p:grpSp>
      <p:sp>
        <p:nvSpPr>
          <p:cNvPr id="81935" name="Text Box 15"/>
          <p:cNvSpPr txBox="1">
            <a:spLocks noChangeArrowheads="1"/>
          </p:cNvSpPr>
          <p:nvPr/>
        </p:nvSpPr>
        <p:spPr bwMode="auto">
          <a:xfrm>
            <a:off x="6351588" y="1484313"/>
            <a:ext cx="596900" cy="457200"/>
          </a:xfrm>
          <a:prstGeom prst="rect">
            <a:avLst/>
          </a:prstGeom>
          <a:noFill/>
          <a:ln w="9525">
            <a:noFill/>
            <a:miter lim="800000"/>
          </a:ln>
        </p:spPr>
        <p:txBody>
          <a:bodyPr>
            <a:spAutoFit/>
          </a:bodyPr>
          <a:lstStyle/>
          <a:p>
            <a:r>
              <a:rPr lang="en-US" altLang="zh-CN" b="1" i="1"/>
              <a:t>I</a:t>
            </a:r>
            <a:endParaRPr lang="en-US" altLang="zh-CN" b="1" i="1"/>
          </a:p>
        </p:txBody>
      </p:sp>
      <p:sp>
        <p:nvSpPr>
          <p:cNvPr id="81936" name="Text Box 16"/>
          <p:cNvSpPr txBox="1">
            <a:spLocks noChangeArrowheads="1"/>
          </p:cNvSpPr>
          <p:nvPr/>
        </p:nvSpPr>
        <p:spPr bwMode="auto">
          <a:xfrm>
            <a:off x="7812088" y="2544763"/>
            <a:ext cx="576262" cy="457200"/>
          </a:xfrm>
          <a:prstGeom prst="rect">
            <a:avLst/>
          </a:prstGeom>
          <a:noFill/>
          <a:ln w="9525">
            <a:noFill/>
            <a:miter lim="800000"/>
          </a:ln>
        </p:spPr>
        <p:txBody>
          <a:bodyPr>
            <a:spAutoFit/>
          </a:bodyPr>
          <a:lstStyle/>
          <a:p>
            <a:r>
              <a:rPr lang="en-US" altLang="zh-CN" b="1" i="1"/>
              <a:t>II</a:t>
            </a:r>
            <a:endParaRPr lang="en-US" altLang="zh-CN" b="1" i="1"/>
          </a:p>
        </p:txBody>
      </p:sp>
      <p:sp>
        <p:nvSpPr>
          <p:cNvPr id="81937" name="Text Box 17"/>
          <p:cNvSpPr txBox="1">
            <a:spLocks noChangeArrowheads="1"/>
          </p:cNvSpPr>
          <p:nvPr/>
        </p:nvSpPr>
        <p:spPr bwMode="auto">
          <a:xfrm>
            <a:off x="7308850" y="1608138"/>
            <a:ext cx="647700" cy="457200"/>
          </a:xfrm>
          <a:prstGeom prst="rect">
            <a:avLst/>
          </a:prstGeom>
          <a:noFill/>
          <a:ln w="9525">
            <a:noFill/>
            <a:miter lim="800000"/>
          </a:ln>
        </p:spPr>
        <p:txBody>
          <a:bodyPr>
            <a:spAutoFit/>
          </a:bodyPr>
          <a:lstStyle/>
          <a:p>
            <a:r>
              <a:rPr lang="en-US" altLang="zh-CN" b="1" i="1"/>
              <a:t>a</a:t>
            </a:r>
            <a:endParaRPr lang="en-US" altLang="zh-CN" b="1" i="1"/>
          </a:p>
        </p:txBody>
      </p:sp>
      <p:sp>
        <p:nvSpPr>
          <p:cNvPr id="81938" name="Text Box 18"/>
          <p:cNvSpPr txBox="1">
            <a:spLocks noChangeArrowheads="1"/>
          </p:cNvSpPr>
          <p:nvPr/>
        </p:nvSpPr>
        <p:spPr bwMode="auto">
          <a:xfrm>
            <a:off x="6353175" y="3436938"/>
            <a:ext cx="319088" cy="457200"/>
          </a:xfrm>
          <a:prstGeom prst="rect">
            <a:avLst/>
          </a:prstGeom>
          <a:noFill/>
          <a:ln w="9525">
            <a:noFill/>
            <a:miter lim="800000"/>
          </a:ln>
        </p:spPr>
        <p:txBody>
          <a:bodyPr wrap="none">
            <a:spAutoFit/>
          </a:bodyPr>
          <a:lstStyle/>
          <a:p>
            <a:r>
              <a:rPr lang="en-US" altLang="zh-CN" b="1" i="1">
                <a:solidFill>
                  <a:srgbClr val="3333CC"/>
                </a:solidFill>
              </a:rPr>
              <a:t>c</a:t>
            </a:r>
            <a:endParaRPr lang="en-US" altLang="zh-CN" b="1">
              <a:solidFill>
                <a:srgbClr val="3333CC"/>
              </a:solidFill>
            </a:endParaRPr>
          </a:p>
        </p:txBody>
      </p:sp>
      <p:sp>
        <p:nvSpPr>
          <p:cNvPr id="81939" name="Text Box 19"/>
          <p:cNvSpPr txBox="1">
            <a:spLocks noChangeArrowheads="1"/>
          </p:cNvSpPr>
          <p:nvPr/>
        </p:nvSpPr>
        <p:spPr bwMode="auto">
          <a:xfrm>
            <a:off x="7500938" y="3436938"/>
            <a:ext cx="336550" cy="457200"/>
          </a:xfrm>
          <a:prstGeom prst="rect">
            <a:avLst/>
          </a:prstGeom>
          <a:noFill/>
          <a:ln w="9525">
            <a:noFill/>
            <a:miter lim="800000"/>
          </a:ln>
        </p:spPr>
        <p:txBody>
          <a:bodyPr wrap="none">
            <a:spAutoFit/>
          </a:bodyPr>
          <a:lstStyle/>
          <a:p>
            <a:r>
              <a:rPr lang="en-US" altLang="zh-CN" b="1" i="1">
                <a:solidFill>
                  <a:srgbClr val="3333CC"/>
                </a:solidFill>
              </a:rPr>
              <a:t>d</a:t>
            </a:r>
            <a:endParaRPr lang="en-US" altLang="zh-CN" b="1">
              <a:solidFill>
                <a:srgbClr val="3333CC"/>
              </a:solidFill>
            </a:endParaRPr>
          </a:p>
        </p:txBody>
      </p:sp>
      <p:sp>
        <p:nvSpPr>
          <p:cNvPr id="81940" name="Text Box 20"/>
          <p:cNvSpPr txBox="1">
            <a:spLocks noChangeArrowheads="1"/>
          </p:cNvSpPr>
          <p:nvPr/>
        </p:nvSpPr>
        <p:spPr bwMode="auto">
          <a:xfrm>
            <a:off x="755650" y="836613"/>
            <a:ext cx="1512888" cy="457200"/>
          </a:xfrm>
          <a:prstGeom prst="rect">
            <a:avLst/>
          </a:prstGeom>
          <a:noFill/>
          <a:ln w="9525">
            <a:noFill/>
            <a:miter lim="800000"/>
          </a:ln>
        </p:spPr>
        <p:txBody>
          <a:bodyPr>
            <a:spAutoFit/>
          </a:bodyPr>
          <a:lstStyle/>
          <a:p>
            <a:r>
              <a:rPr lang="zh-CN" altLang="en-US" b="1">
                <a:solidFill>
                  <a:srgbClr val="0000FF"/>
                </a:solidFill>
              </a:rPr>
              <a:t>逆循环</a:t>
            </a:r>
            <a:endParaRPr lang="zh-CN" altLang="en-US" b="1">
              <a:solidFill>
                <a:srgbClr val="0000FF"/>
              </a:solidFill>
            </a:endParaRPr>
          </a:p>
        </p:txBody>
      </p:sp>
      <p:sp>
        <p:nvSpPr>
          <p:cNvPr id="81941" name="Text Box 21"/>
          <p:cNvSpPr txBox="1">
            <a:spLocks noChangeArrowheads="1"/>
          </p:cNvSpPr>
          <p:nvPr/>
        </p:nvSpPr>
        <p:spPr bwMode="auto">
          <a:xfrm>
            <a:off x="1023938" y="1387475"/>
            <a:ext cx="2627312" cy="461963"/>
          </a:xfrm>
          <a:prstGeom prst="rect">
            <a:avLst/>
          </a:prstGeom>
          <a:noFill/>
          <a:ln w="9525">
            <a:noFill/>
            <a:miter lim="800000"/>
          </a:ln>
        </p:spPr>
        <p:txBody>
          <a:bodyPr wrap="none">
            <a:spAutoFit/>
          </a:bodyPr>
          <a:lstStyle/>
          <a:p>
            <a:r>
              <a:rPr lang="en-US" altLang="zh-CN" b="1" i="1"/>
              <a:t>I</a:t>
            </a:r>
            <a:r>
              <a:rPr lang="en-US" altLang="zh-CN" b="1"/>
              <a:t> → </a:t>
            </a:r>
            <a:r>
              <a:rPr lang="en-US" altLang="zh-CN" b="1" i="1"/>
              <a:t>b</a:t>
            </a:r>
            <a:r>
              <a:rPr lang="en-US" altLang="zh-CN" b="1"/>
              <a:t> → </a:t>
            </a:r>
            <a:r>
              <a:rPr lang="en-US" altLang="zh-CN" b="1" i="1"/>
              <a:t>II</a:t>
            </a:r>
            <a:r>
              <a:rPr lang="en-US" altLang="zh-CN" b="1"/>
              <a:t> </a:t>
            </a:r>
            <a:r>
              <a:rPr lang="zh-CN" altLang="en-US" b="1"/>
              <a:t>过程，</a:t>
            </a:r>
            <a:endParaRPr lang="zh-CN" altLang="en-US" b="1"/>
          </a:p>
        </p:txBody>
      </p:sp>
      <p:graphicFrame>
        <p:nvGraphicFramePr>
          <p:cNvPr id="81942" name="Object 22"/>
          <p:cNvGraphicFramePr>
            <a:graphicFrameLocks noChangeAspect="1"/>
          </p:cNvGraphicFramePr>
          <p:nvPr/>
        </p:nvGraphicFramePr>
        <p:xfrm>
          <a:off x="2033588" y="1844675"/>
          <a:ext cx="1909762" cy="660400"/>
        </p:xfrm>
        <a:graphic>
          <a:graphicData uri="http://schemas.openxmlformats.org/presentationml/2006/ole">
            <mc:AlternateContent xmlns:mc="http://schemas.openxmlformats.org/markup-compatibility/2006">
              <mc:Choice xmlns:v="urn:schemas-microsoft-com:vml" Requires="v">
                <p:oleObj spid="_x0000_s40961" name="公式" r:id="rId1" imgW="15849600" imgH="5486400" progId="Equation.3">
                  <p:embed/>
                </p:oleObj>
              </mc:Choice>
              <mc:Fallback>
                <p:oleObj name="公式" r:id="rId1" imgW="15849600" imgH="5486400" progId="Equation.3">
                  <p:embed/>
                  <p:pic>
                    <p:nvPicPr>
                      <p:cNvPr id="0" name="Object 22"/>
                      <p:cNvPicPr>
                        <a:picLocks noChangeAspect="1"/>
                      </p:cNvPicPr>
                      <p:nvPr/>
                    </p:nvPicPr>
                    <p:blipFill>
                      <a:blip r:embed="rId2"/>
                      <a:stretch>
                        <a:fillRect/>
                      </a:stretch>
                    </p:blipFill>
                    <p:spPr>
                      <a:xfrm>
                        <a:off x="2033588" y="1844675"/>
                        <a:ext cx="1909762" cy="660400"/>
                      </a:xfrm>
                      <a:prstGeom prst="rect">
                        <a:avLst/>
                      </a:prstGeom>
                      <a:noFill/>
                      <a:ln w="9525">
                        <a:noFill/>
                      </a:ln>
                    </p:spPr>
                  </p:pic>
                </p:oleObj>
              </mc:Fallback>
            </mc:AlternateContent>
          </a:graphicData>
        </a:graphic>
      </p:graphicFrame>
      <p:sp>
        <p:nvSpPr>
          <p:cNvPr id="81943" name="Text Box 23"/>
          <p:cNvSpPr txBox="1">
            <a:spLocks noChangeArrowheads="1"/>
          </p:cNvSpPr>
          <p:nvPr/>
        </p:nvSpPr>
        <p:spPr bwMode="auto">
          <a:xfrm>
            <a:off x="1028700" y="2492375"/>
            <a:ext cx="2627313" cy="461963"/>
          </a:xfrm>
          <a:prstGeom prst="rect">
            <a:avLst/>
          </a:prstGeom>
          <a:noFill/>
          <a:ln w="9525">
            <a:noFill/>
            <a:miter lim="800000"/>
          </a:ln>
        </p:spPr>
        <p:txBody>
          <a:bodyPr wrap="none">
            <a:spAutoFit/>
          </a:bodyPr>
          <a:lstStyle/>
          <a:p>
            <a:r>
              <a:rPr lang="en-US" altLang="zh-CN" b="1" i="1"/>
              <a:t>II</a:t>
            </a:r>
            <a:r>
              <a:rPr lang="en-US" altLang="zh-CN" b="1"/>
              <a:t> → </a:t>
            </a:r>
            <a:r>
              <a:rPr lang="en-US" altLang="zh-CN" b="1" i="1"/>
              <a:t>a</a:t>
            </a:r>
            <a:r>
              <a:rPr lang="en-US" altLang="zh-CN" b="1"/>
              <a:t> → </a:t>
            </a:r>
            <a:r>
              <a:rPr lang="en-US" altLang="zh-CN" b="1" i="1"/>
              <a:t>I</a:t>
            </a:r>
            <a:r>
              <a:rPr lang="en-US" altLang="zh-CN" b="1"/>
              <a:t> </a:t>
            </a:r>
            <a:r>
              <a:rPr lang="zh-CN" altLang="en-US" b="1"/>
              <a:t>过程，</a:t>
            </a:r>
            <a:endParaRPr lang="zh-CN" altLang="en-US" b="1"/>
          </a:p>
        </p:txBody>
      </p:sp>
      <p:graphicFrame>
        <p:nvGraphicFramePr>
          <p:cNvPr id="81944" name="Object 24"/>
          <p:cNvGraphicFramePr>
            <a:graphicFrameLocks noChangeAspect="1"/>
          </p:cNvGraphicFramePr>
          <p:nvPr/>
        </p:nvGraphicFramePr>
        <p:xfrm>
          <a:off x="1887538" y="2852738"/>
          <a:ext cx="2203450" cy="660400"/>
        </p:xfrm>
        <a:graphic>
          <a:graphicData uri="http://schemas.openxmlformats.org/presentationml/2006/ole">
            <mc:AlternateContent xmlns:mc="http://schemas.openxmlformats.org/markup-compatibility/2006">
              <mc:Choice xmlns:v="urn:schemas-microsoft-com:vml" Requires="v">
                <p:oleObj spid="_x0000_s40963" name="公式" r:id="rId3" imgW="18288000" imgH="5486400" progId="Equation.3">
                  <p:embed/>
                </p:oleObj>
              </mc:Choice>
              <mc:Fallback>
                <p:oleObj name="公式" r:id="rId3" imgW="18288000" imgH="5486400" progId="Equation.3">
                  <p:embed/>
                  <p:pic>
                    <p:nvPicPr>
                      <p:cNvPr id="0" name="Object 24"/>
                      <p:cNvPicPr>
                        <a:picLocks noChangeAspect="1"/>
                      </p:cNvPicPr>
                      <p:nvPr/>
                    </p:nvPicPr>
                    <p:blipFill>
                      <a:blip r:embed="rId4"/>
                      <a:stretch>
                        <a:fillRect/>
                      </a:stretch>
                    </p:blipFill>
                    <p:spPr>
                      <a:xfrm>
                        <a:off x="1887538" y="2852738"/>
                        <a:ext cx="2203450" cy="660400"/>
                      </a:xfrm>
                      <a:prstGeom prst="rect">
                        <a:avLst/>
                      </a:prstGeom>
                      <a:noFill/>
                      <a:ln w="9525">
                        <a:noFill/>
                      </a:ln>
                    </p:spPr>
                  </p:pic>
                </p:oleObj>
              </mc:Fallback>
            </mc:AlternateContent>
          </a:graphicData>
        </a:graphic>
      </p:graphicFrame>
      <p:sp>
        <p:nvSpPr>
          <p:cNvPr id="81945" name="Text Box 25"/>
          <p:cNvSpPr txBox="1">
            <a:spLocks noChangeArrowheads="1"/>
          </p:cNvSpPr>
          <p:nvPr/>
        </p:nvSpPr>
        <p:spPr bwMode="auto">
          <a:xfrm>
            <a:off x="1023938" y="3500438"/>
            <a:ext cx="3554412" cy="457200"/>
          </a:xfrm>
          <a:prstGeom prst="rect">
            <a:avLst/>
          </a:prstGeom>
          <a:noFill/>
          <a:ln w="9525">
            <a:noFill/>
            <a:miter lim="800000"/>
          </a:ln>
        </p:spPr>
        <p:txBody>
          <a:bodyPr wrap="none">
            <a:spAutoFit/>
          </a:bodyPr>
          <a:lstStyle/>
          <a:p>
            <a:r>
              <a:rPr lang="zh-CN" altLang="en-US" b="1"/>
              <a:t>经历一个循环所做净功：</a:t>
            </a:r>
            <a:endParaRPr lang="zh-CN" altLang="en-US" b="1"/>
          </a:p>
        </p:txBody>
      </p:sp>
      <p:graphicFrame>
        <p:nvGraphicFramePr>
          <p:cNvPr id="81946" name="Object 26"/>
          <p:cNvGraphicFramePr>
            <a:graphicFrameLocks noChangeAspect="1"/>
          </p:cNvGraphicFramePr>
          <p:nvPr/>
        </p:nvGraphicFramePr>
        <p:xfrm>
          <a:off x="681038" y="4005263"/>
          <a:ext cx="7270750" cy="660400"/>
        </p:xfrm>
        <a:graphic>
          <a:graphicData uri="http://schemas.openxmlformats.org/presentationml/2006/ole">
            <mc:AlternateContent xmlns:mc="http://schemas.openxmlformats.org/markup-compatibility/2006">
              <mc:Choice xmlns:v="urn:schemas-microsoft-com:vml" Requires="v">
                <p:oleObj spid="_x0000_s40964" name="公式" r:id="rId5" imgW="60350400" imgH="5486400" progId="Equation.3">
                  <p:embed/>
                </p:oleObj>
              </mc:Choice>
              <mc:Fallback>
                <p:oleObj name="公式" r:id="rId5" imgW="60350400" imgH="5486400" progId="Equation.3">
                  <p:embed/>
                  <p:pic>
                    <p:nvPicPr>
                      <p:cNvPr id="0" name="Object 26"/>
                      <p:cNvPicPr>
                        <a:picLocks noChangeAspect="1"/>
                      </p:cNvPicPr>
                      <p:nvPr/>
                    </p:nvPicPr>
                    <p:blipFill>
                      <a:blip r:embed="rId6"/>
                      <a:stretch>
                        <a:fillRect/>
                      </a:stretch>
                    </p:blipFill>
                    <p:spPr>
                      <a:xfrm>
                        <a:off x="681038" y="4005263"/>
                        <a:ext cx="7270750" cy="660400"/>
                      </a:xfrm>
                      <a:prstGeom prst="rect">
                        <a:avLst/>
                      </a:prstGeom>
                      <a:noFill/>
                      <a:ln w="9525">
                        <a:noFill/>
                      </a:ln>
                    </p:spPr>
                  </p:pic>
                </p:oleObj>
              </mc:Fallback>
            </mc:AlternateContent>
          </a:graphicData>
        </a:graphic>
      </p:graphicFrame>
      <p:sp>
        <p:nvSpPr>
          <p:cNvPr id="81947" name="Text Box 27"/>
          <p:cNvSpPr txBox="1">
            <a:spLocks noChangeArrowheads="1"/>
          </p:cNvSpPr>
          <p:nvPr/>
        </p:nvSpPr>
        <p:spPr bwMode="auto">
          <a:xfrm>
            <a:off x="1306513" y="4797425"/>
            <a:ext cx="2328862" cy="457200"/>
          </a:xfrm>
          <a:prstGeom prst="rect">
            <a:avLst/>
          </a:prstGeom>
          <a:noFill/>
          <a:ln w="9525">
            <a:noFill/>
            <a:miter lim="800000"/>
          </a:ln>
        </p:spPr>
        <p:txBody>
          <a:bodyPr wrap="none">
            <a:spAutoFit/>
          </a:bodyPr>
          <a:lstStyle/>
          <a:p>
            <a:r>
              <a:rPr lang="zh-CN" altLang="en-US" b="1"/>
              <a:t>从低温热源吸热</a:t>
            </a:r>
            <a:endParaRPr lang="zh-CN" altLang="en-US" b="1"/>
          </a:p>
        </p:txBody>
      </p:sp>
      <p:sp>
        <p:nvSpPr>
          <p:cNvPr id="81948" name="AutoShape 28"/>
          <p:cNvSpPr>
            <a:spLocks noChangeArrowheads="1"/>
          </p:cNvSpPr>
          <p:nvPr/>
        </p:nvSpPr>
        <p:spPr bwMode="auto">
          <a:xfrm>
            <a:off x="3635375" y="5013325"/>
            <a:ext cx="1655763" cy="144463"/>
          </a:xfrm>
          <a:prstGeom prst="rightArrow">
            <a:avLst>
              <a:gd name="adj1" fmla="val 50000"/>
              <a:gd name="adj2" fmla="val 286538"/>
            </a:avLst>
          </a:prstGeom>
          <a:solidFill>
            <a:schemeClr val="accent1"/>
          </a:solidFill>
          <a:ln w="9525">
            <a:solidFill>
              <a:schemeClr val="tx1"/>
            </a:solidFill>
            <a:miter lim="800000"/>
          </a:ln>
        </p:spPr>
        <p:txBody>
          <a:bodyPr wrap="none" anchor="ctr"/>
          <a:lstStyle/>
          <a:p>
            <a:pPr algn="ctr"/>
            <a:endParaRPr lang="zh-CN" altLang="en-US" b="1"/>
          </a:p>
        </p:txBody>
      </p:sp>
      <p:sp>
        <p:nvSpPr>
          <p:cNvPr id="81949" name="Text Box 29"/>
          <p:cNvSpPr txBox="1">
            <a:spLocks noChangeArrowheads="1"/>
          </p:cNvSpPr>
          <p:nvPr/>
        </p:nvSpPr>
        <p:spPr bwMode="auto">
          <a:xfrm>
            <a:off x="3851275" y="4579938"/>
            <a:ext cx="796925" cy="457200"/>
          </a:xfrm>
          <a:prstGeom prst="rect">
            <a:avLst/>
          </a:prstGeom>
          <a:noFill/>
          <a:ln w="9525">
            <a:noFill/>
            <a:miter lim="800000"/>
          </a:ln>
        </p:spPr>
        <p:txBody>
          <a:bodyPr wrap="none">
            <a:spAutoFit/>
          </a:bodyPr>
          <a:lstStyle/>
          <a:p>
            <a:r>
              <a:rPr lang="zh-CN" altLang="en-US" b="1"/>
              <a:t>做功</a:t>
            </a:r>
            <a:endParaRPr lang="zh-CN" altLang="en-US" b="1"/>
          </a:p>
        </p:txBody>
      </p:sp>
      <p:sp>
        <p:nvSpPr>
          <p:cNvPr id="81950" name="AutoShape 30"/>
          <p:cNvSpPr>
            <a:spLocks noChangeArrowheads="1"/>
          </p:cNvSpPr>
          <p:nvPr/>
        </p:nvSpPr>
        <p:spPr bwMode="auto">
          <a:xfrm>
            <a:off x="2051050" y="996950"/>
            <a:ext cx="720725" cy="144463"/>
          </a:xfrm>
          <a:prstGeom prst="leftRightArrow">
            <a:avLst>
              <a:gd name="adj1" fmla="val 50000"/>
              <a:gd name="adj2" fmla="val 99780"/>
            </a:avLst>
          </a:prstGeom>
          <a:solidFill>
            <a:schemeClr val="accent1"/>
          </a:solidFill>
          <a:ln w="9525">
            <a:solidFill>
              <a:schemeClr val="tx1"/>
            </a:solidFill>
            <a:miter lim="800000"/>
          </a:ln>
        </p:spPr>
        <p:txBody>
          <a:bodyPr wrap="none" anchor="ctr"/>
          <a:lstStyle/>
          <a:p>
            <a:pPr algn="ctr"/>
            <a:endParaRPr lang="zh-CN" altLang="en-US" b="1"/>
          </a:p>
        </p:txBody>
      </p:sp>
      <p:sp>
        <p:nvSpPr>
          <p:cNvPr id="81951" name="Text Box 31"/>
          <p:cNvSpPr txBox="1">
            <a:spLocks noChangeArrowheads="1"/>
          </p:cNvSpPr>
          <p:nvPr/>
        </p:nvSpPr>
        <p:spPr bwMode="auto">
          <a:xfrm>
            <a:off x="2916238" y="836613"/>
            <a:ext cx="2016125" cy="457200"/>
          </a:xfrm>
          <a:prstGeom prst="rect">
            <a:avLst/>
          </a:prstGeom>
          <a:noFill/>
          <a:ln w="9525">
            <a:noFill/>
            <a:miter lim="800000"/>
          </a:ln>
        </p:spPr>
        <p:txBody>
          <a:bodyPr>
            <a:spAutoFit/>
          </a:bodyPr>
          <a:lstStyle/>
          <a:p>
            <a:r>
              <a:rPr lang="zh-CN" altLang="en-US" b="1">
                <a:solidFill>
                  <a:srgbClr val="0000FF"/>
                </a:solidFill>
              </a:rPr>
              <a:t>制冷循环</a:t>
            </a:r>
            <a:endParaRPr lang="zh-CN" altLang="en-US" b="1">
              <a:solidFill>
                <a:srgbClr val="0000FF"/>
              </a:solidFill>
            </a:endParaRPr>
          </a:p>
        </p:txBody>
      </p:sp>
      <p:sp>
        <p:nvSpPr>
          <p:cNvPr id="81952" name="Text Box 32"/>
          <p:cNvSpPr txBox="1">
            <a:spLocks noChangeArrowheads="1"/>
          </p:cNvSpPr>
          <p:nvPr/>
        </p:nvSpPr>
        <p:spPr bwMode="auto">
          <a:xfrm>
            <a:off x="5364163" y="4797425"/>
            <a:ext cx="2328862" cy="457200"/>
          </a:xfrm>
          <a:prstGeom prst="rect">
            <a:avLst/>
          </a:prstGeom>
          <a:noFill/>
          <a:ln w="9525">
            <a:noFill/>
            <a:miter lim="800000"/>
          </a:ln>
        </p:spPr>
        <p:txBody>
          <a:bodyPr wrap="none">
            <a:spAutoFit/>
          </a:bodyPr>
          <a:lstStyle/>
          <a:p>
            <a:r>
              <a:rPr lang="zh-CN" altLang="en-US" b="1"/>
              <a:t>向高温热源放热</a:t>
            </a:r>
            <a:endParaRPr lang="zh-CN" altLang="en-US" b="1"/>
          </a:p>
        </p:txBody>
      </p:sp>
      <p:sp>
        <p:nvSpPr>
          <p:cNvPr id="81953" name="Freeform 33"/>
          <p:cNvSpPr/>
          <p:nvPr/>
        </p:nvSpPr>
        <p:spPr bwMode="auto">
          <a:xfrm>
            <a:off x="6516688" y="2003425"/>
            <a:ext cx="1152525" cy="1466850"/>
          </a:xfrm>
          <a:custGeom>
            <a:avLst/>
            <a:gdLst>
              <a:gd name="T0" fmla="*/ 0 w 726"/>
              <a:gd name="T1" fmla="*/ 0 h 924"/>
              <a:gd name="T2" fmla="*/ 2147483647 w 726"/>
              <a:gd name="T3" fmla="*/ 2147483647 h 924"/>
              <a:gd name="T4" fmla="*/ 2147483647 w 726"/>
              <a:gd name="T5" fmla="*/ 2147483647 h 924"/>
              <a:gd name="T6" fmla="*/ 2147483647 w 726"/>
              <a:gd name="T7" fmla="*/ 2147483647 h 924"/>
              <a:gd name="T8" fmla="*/ 2147483647 w 726"/>
              <a:gd name="T9" fmla="*/ 2147483647 h 924"/>
              <a:gd name="T10" fmla="*/ 2147483647 w 726"/>
              <a:gd name="T11" fmla="*/ 2147483647 h 924"/>
              <a:gd name="T12" fmla="*/ 2147483647 w 726"/>
              <a:gd name="T13" fmla="*/ 2147483647 h 924"/>
              <a:gd name="T14" fmla="*/ 2147483647 w 726"/>
              <a:gd name="T15" fmla="*/ 2147483647 h 924"/>
              <a:gd name="T16" fmla="*/ 2147483647 w 726"/>
              <a:gd name="T17" fmla="*/ 2147483647 h 924"/>
              <a:gd name="T18" fmla="*/ 2147483647 w 726"/>
              <a:gd name="T19" fmla="*/ 2147483647 h 924"/>
              <a:gd name="T20" fmla="*/ 0 w 726"/>
              <a:gd name="T21" fmla="*/ 0 h 9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6"/>
              <a:gd name="T34" fmla="*/ 0 h 924"/>
              <a:gd name="T35" fmla="*/ 726 w 726"/>
              <a:gd name="T36" fmla="*/ 924 h 9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6" h="924">
                <a:moveTo>
                  <a:pt x="0" y="0"/>
                </a:moveTo>
                <a:lnTo>
                  <a:pt x="72" y="184"/>
                </a:lnTo>
                <a:lnTo>
                  <a:pt x="148" y="300"/>
                </a:lnTo>
                <a:lnTo>
                  <a:pt x="276" y="384"/>
                </a:lnTo>
                <a:lnTo>
                  <a:pt x="424" y="448"/>
                </a:lnTo>
                <a:lnTo>
                  <a:pt x="528" y="480"/>
                </a:lnTo>
                <a:lnTo>
                  <a:pt x="632" y="504"/>
                </a:lnTo>
                <a:lnTo>
                  <a:pt x="724" y="524"/>
                </a:lnTo>
                <a:lnTo>
                  <a:pt x="726" y="924"/>
                </a:lnTo>
                <a:lnTo>
                  <a:pt x="2" y="924"/>
                </a:lnTo>
                <a:lnTo>
                  <a:pt x="0" y="0"/>
                </a:lnTo>
                <a:close/>
              </a:path>
            </a:pathLst>
          </a:custGeom>
          <a:solidFill>
            <a:schemeClr val="bg1"/>
          </a:solidFill>
          <a:ln w="9525">
            <a:noFill/>
            <a:round/>
          </a:ln>
        </p:spPr>
        <p:txBody>
          <a:bodyPr/>
          <a:lstStyle/>
          <a:p>
            <a:pPr algn="ctr"/>
            <a:endParaRPr lang="zh-CN" altLang="en-US" b="1"/>
          </a:p>
        </p:txBody>
      </p:sp>
      <p:grpSp>
        <p:nvGrpSpPr>
          <p:cNvPr id="4" name="Group 34"/>
          <p:cNvGrpSpPr/>
          <p:nvPr/>
        </p:nvGrpSpPr>
        <p:grpSpPr bwMode="auto">
          <a:xfrm>
            <a:off x="6516688" y="1968500"/>
            <a:ext cx="1147762" cy="838200"/>
            <a:chOff x="4105" y="1240"/>
            <a:chExt cx="723" cy="528"/>
          </a:xfrm>
        </p:grpSpPr>
        <p:sp>
          <p:nvSpPr>
            <p:cNvPr id="40991" name="Freeform 35"/>
            <p:cNvSpPr/>
            <p:nvPr/>
          </p:nvSpPr>
          <p:spPr bwMode="auto">
            <a:xfrm>
              <a:off x="4105" y="1240"/>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3333CC"/>
              </a:solidFill>
              <a:round/>
            </a:ln>
          </p:spPr>
          <p:txBody>
            <a:bodyPr/>
            <a:lstStyle/>
            <a:p>
              <a:pPr algn="ctr"/>
              <a:endParaRPr lang="zh-CN" altLang="en-US" b="1"/>
            </a:p>
          </p:txBody>
        </p:sp>
        <p:sp>
          <p:nvSpPr>
            <p:cNvPr id="40992" name="Line 36"/>
            <p:cNvSpPr>
              <a:spLocks noChangeShapeType="1"/>
            </p:cNvSpPr>
            <p:nvPr/>
          </p:nvSpPr>
          <p:spPr bwMode="auto">
            <a:xfrm rot="10800000" flipH="1" flipV="1">
              <a:off x="4286" y="1557"/>
              <a:ext cx="45" cy="45"/>
            </a:xfrm>
            <a:prstGeom prst="line">
              <a:avLst/>
            </a:prstGeom>
            <a:noFill/>
            <a:ln w="38100">
              <a:solidFill>
                <a:srgbClr val="3333CC"/>
              </a:solidFill>
              <a:round/>
              <a:tailEnd type="triangle" w="med" len="med"/>
            </a:ln>
          </p:spPr>
          <p:txBody>
            <a:bodyPr/>
            <a:lstStyle/>
            <a:p>
              <a:endParaRPr lang="zh-CN" altLang="en-US"/>
            </a:p>
          </p:txBody>
        </p:sp>
      </p:grpSp>
      <p:sp>
        <p:nvSpPr>
          <p:cNvPr id="81957" name="Oval 37"/>
          <p:cNvSpPr>
            <a:spLocks noChangeArrowheads="1"/>
          </p:cNvSpPr>
          <p:nvPr/>
        </p:nvSpPr>
        <p:spPr bwMode="auto">
          <a:xfrm>
            <a:off x="6483350" y="1935163"/>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81958" name="Oval 38"/>
          <p:cNvSpPr>
            <a:spLocks noChangeArrowheads="1"/>
          </p:cNvSpPr>
          <p:nvPr/>
        </p:nvSpPr>
        <p:spPr bwMode="auto">
          <a:xfrm>
            <a:off x="7627938" y="2759075"/>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81959" name="Text Box 39"/>
          <p:cNvSpPr txBox="1">
            <a:spLocks noChangeArrowheads="1"/>
          </p:cNvSpPr>
          <p:nvPr/>
        </p:nvSpPr>
        <p:spPr bwMode="auto">
          <a:xfrm>
            <a:off x="6659563" y="2544763"/>
            <a:ext cx="649287" cy="457200"/>
          </a:xfrm>
          <a:prstGeom prst="rect">
            <a:avLst/>
          </a:prstGeom>
          <a:noFill/>
          <a:ln w="9525">
            <a:noFill/>
            <a:miter lim="800000"/>
          </a:ln>
        </p:spPr>
        <p:txBody>
          <a:bodyPr>
            <a:spAutoFit/>
          </a:bodyPr>
          <a:lstStyle/>
          <a:p>
            <a:r>
              <a:rPr lang="en-US" altLang="zh-CN" b="1" i="1"/>
              <a:t>b</a:t>
            </a:r>
            <a:endParaRPr lang="en-US" altLang="zh-CN" b="1"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1940"/>
                                        </p:tgtEl>
                                        <p:attrNameLst>
                                          <p:attrName>style.visibility</p:attrName>
                                        </p:attrNameLst>
                                      </p:cBhvr>
                                      <p:to>
                                        <p:strVal val="visible"/>
                                      </p:to>
                                    </p:set>
                                    <p:animEffect transition="in" filter="wipe(left)">
                                      <p:cBhvr>
                                        <p:cTn id="7" dur="500"/>
                                        <p:tgtEl>
                                          <p:spTgt spid="8194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81950"/>
                                        </p:tgtEl>
                                        <p:attrNameLst>
                                          <p:attrName>style.visibility</p:attrName>
                                        </p:attrNameLst>
                                      </p:cBhvr>
                                      <p:to>
                                        <p:strVal val="visible"/>
                                      </p:to>
                                    </p:set>
                                    <p:anim calcmode="lin" valueType="num">
                                      <p:cBhvr>
                                        <p:cTn id="12" dur="500" fill="hold"/>
                                        <p:tgtEl>
                                          <p:spTgt spid="81950"/>
                                        </p:tgtEl>
                                        <p:attrNameLst>
                                          <p:attrName>ppt_w</p:attrName>
                                        </p:attrNameLst>
                                      </p:cBhvr>
                                      <p:tavLst>
                                        <p:tav tm="0">
                                          <p:val>
                                            <p:fltVal val="0"/>
                                          </p:val>
                                        </p:tav>
                                        <p:tav tm="100000">
                                          <p:val>
                                            <p:strVal val="#ppt_w"/>
                                          </p:val>
                                        </p:tav>
                                      </p:tavLst>
                                    </p:anim>
                                    <p:anim calcmode="lin" valueType="num">
                                      <p:cBhvr>
                                        <p:cTn id="13" dur="500" fill="hold"/>
                                        <p:tgtEl>
                                          <p:spTgt spid="81950"/>
                                        </p:tgtEl>
                                        <p:attrNameLst>
                                          <p:attrName>ppt_h</p:attrName>
                                        </p:attrNameLst>
                                      </p:cBhvr>
                                      <p:tavLst>
                                        <p:tav tm="0">
                                          <p:val>
                                            <p:strVal val="#ppt_h"/>
                                          </p:val>
                                        </p:tav>
                                        <p:tav tm="100000">
                                          <p:val>
                                            <p:strVal val="#ppt_h"/>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81951"/>
                                        </p:tgtEl>
                                        <p:attrNameLst>
                                          <p:attrName>style.visibility</p:attrName>
                                        </p:attrNameLst>
                                      </p:cBhvr>
                                      <p:to>
                                        <p:strVal val="visible"/>
                                      </p:to>
                                    </p:set>
                                    <p:animEffect transition="in" filter="wipe(left)">
                                      <p:cBhvr>
                                        <p:cTn id="17" dur="500"/>
                                        <p:tgtEl>
                                          <p:spTgt spid="8195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1957"/>
                                        </p:tgtEl>
                                        <p:attrNameLst>
                                          <p:attrName>style.visibility</p:attrName>
                                        </p:attrNameLst>
                                      </p:cBhvr>
                                      <p:to>
                                        <p:strVal val="visible"/>
                                      </p:to>
                                    </p:set>
                                    <p:animEffect transition="in" filter="wipe(up)">
                                      <p:cBhvr>
                                        <p:cTn id="27" dur="500"/>
                                        <p:tgtEl>
                                          <p:spTgt spid="81957"/>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81935"/>
                                        </p:tgtEl>
                                        <p:attrNameLst>
                                          <p:attrName>style.visibility</p:attrName>
                                        </p:attrNameLst>
                                      </p:cBhvr>
                                      <p:to>
                                        <p:strVal val="visible"/>
                                      </p:to>
                                    </p:set>
                                    <p:animEffect transition="in" filter="wipe(up)">
                                      <p:cBhvr>
                                        <p:cTn id="30" dur="500"/>
                                        <p:tgtEl>
                                          <p:spTgt spid="81935"/>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81959"/>
                                        </p:tgtEl>
                                        <p:attrNameLst>
                                          <p:attrName>style.visibility</p:attrName>
                                        </p:attrNameLst>
                                      </p:cBhvr>
                                      <p:to>
                                        <p:strVal val="visible"/>
                                      </p:to>
                                    </p:set>
                                    <p:animEffect transition="in" filter="wipe(up)">
                                      <p:cBhvr>
                                        <p:cTn id="37" dur="500"/>
                                        <p:tgtEl>
                                          <p:spTgt spid="81959"/>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81958"/>
                                        </p:tgtEl>
                                        <p:attrNameLst>
                                          <p:attrName>style.visibility</p:attrName>
                                        </p:attrNameLst>
                                      </p:cBhvr>
                                      <p:to>
                                        <p:strVal val="visible"/>
                                      </p:to>
                                    </p:set>
                                    <p:animEffect transition="in" filter="wipe(up)">
                                      <p:cBhvr>
                                        <p:cTn id="41" dur="500"/>
                                        <p:tgtEl>
                                          <p:spTgt spid="81958"/>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81936"/>
                                        </p:tgtEl>
                                        <p:attrNameLst>
                                          <p:attrName>style.visibility</p:attrName>
                                        </p:attrNameLst>
                                      </p:cBhvr>
                                      <p:to>
                                        <p:strVal val="visible"/>
                                      </p:to>
                                    </p:set>
                                    <p:animEffect transition="in" filter="wipe(up)">
                                      <p:cBhvr>
                                        <p:cTn id="44" dur="500"/>
                                        <p:tgtEl>
                                          <p:spTgt spid="81936"/>
                                        </p:tgtEl>
                                      </p:cBhvr>
                                    </p:animEffect>
                                  </p:childTnLst>
                                </p:cTn>
                              </p:par>
                              <p:par>
                                <p:cTn id="45" presetID="22" presetClass="entr" presetSubtype="4" fill="hold" nodeType="with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down)">
                                      <p:cBhvr>
                                        <p:cTn id="47" dur="500"/>
                                        <p:tgtEl>
                                          <p:spTgt spid="3"/>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81937"/>
                                        </p:tgtEl>
                                        <p:attrNameLst>
                                          <p:attrName>style.visibility</p:attrName>
                                        </p:attrNameLst>
                                      </p:cBhvr>
                                      <p:to>
                                        <p:strVal val="visible"/>
                                      </p:to>
                                    </p:set>
                                    <p:animEffect transition="in" filter="wipe(down)">
                                      <p:cBhvr>
                                        <p:cTn id="50" dur="500"/>
                                        <p:tgtEl>
                                          <p:spTgt spid="8193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1941"/>
                                        </p:tgtEl>
                                        <p:attrNameLst>
                                          <p:attrName>style.visibility</p:attrName>
                                        </p:attrNameLst>
                                      </p:cBhvr>
                                      <p:to>
                                        <p:strVal val="visible"/>
                                      </p:to>
                                    </p:set>
                                    <p:animEffect transition="in" filter="wipe(left)">
                                      <p:cBhvr>
                                        <p:cTn id="55" dur="500"/>
                                        <p:tgtEl>
                                          <p:spTgt spid="8194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81925"/>
                                        </p:tgtEl>
                                        <p:attrNameLst>
                                          <p:attrName>style.visibility</p:attrName>
                                        </p:attrNameLst>
                                      </p:cBhvr>
                                      <p:to>
                                        <p:strVal val="visible"/>
                                      </p:to>
                                    </p:set>
                                    <p:animEffect transition="in" filter="wipe(up)">
                                      <p:cBhvr>
                                        <p:cTn id="60" dur="500"/>
                                        <p:tgtEl>
                                          <p:spTgt spid="81925"/>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81924"/>
                                        </p:tgtEl>
                                        <p:attrNameLst>
                                          <p:attrName>style.visibility</p:attrName>
                                        </p:attrNameLst>
                                      </p:cBhvr>
                                      <p:to>
                                        <p:strVal val="visible"/>
                                      </p:to>
                                    </p:set>
                                    <p:animEffect transition="in" filter="wipe(up)">
                                      <p:cBhvr>
                                        <p:cTn id="63" dur="500"/>
                                        <p:tgtEl>
                                          <p:spTgt spid="81924"/>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81938"/>
                                        </p:tgtEl>
                                        <p:attrNameLst>
                                          <p:attrName>style.visibility</p:attrName>
                                        </p:attrNameLst>
                                      </p:cBhvr>
                                      <p:to>
                                        <p:strVal val="visible"/>
                                      </p:to>
                                    </p:set>
                                    <p:animEffect transition="in" filter="wipe(up)">
                                      <p:cBhvr>
                                        <p:cTn id="66" dur="500"/>
                                        <p:tgtEl>
                                          <p:spTgt spid="81938"/>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81939"/>
                                        </p:tgtEl>
                                        <p:attrNameLst>
                                          <p:attrName>style.visibility</p:attrName>
                                        </p:attrNameLst>
                                      </p:cBhvr>
                                      <p:to>
                                        <p:strVal val="visible"/>
                                      </p:to>
                                    </p:set>
                                    <p:animEffect transition="in" filter="wipe(up)">
                                      <p:cBhvr>
                                        <p:cTn id="69" dur="500"/>
                                        <p:tgtEl>
                                          <p:spTgt spid="81939"/>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81922"/>
                                        </p:tgtEl>
                                        <p:attrNameLst>
                                          <p:attrName>style.visibility</p:attrName>
                                        </p:attrNameLst>
                                      </p:cBhvr>
                                      <p:to>
                                        <p:strVal val="visible"/>
                                      </p:to>
                                    </p:set>
                                    <p:animEffect transition="in" filter="wipe(left)">
                                      <p:cBhvr>
                                        <p:cTn id="73" dur="500"/>
                                        <p:tgtEl>
                                          <p:spTgt spid="8192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81942"/>
                                        </p:tgtEl>
                                        <p:attrNameLst>
                                          <p:attrName>style.visibility</p:attrName>
                                        </p:attrNameLst>
                                      </p:cBhvr>
                                      <p:to>
                                        <p:strVal val="visible"/>
                                      </p:to>
                                    </p:set>
                                    <p:animEffect transition="in" filter="wipe(left)">
                                      <p:cBhvr>
                                        <p:cTn id="78" dur="500"/>
                                        <p:tgtEl>
                                          <p:spTgt spid="8194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81943"/>
                                        </p:tgtEl>
                                        <p:attrNameLst>
                                          <p:attrName>style.visibility</p:attrName>
                                        </p:attrNameLst>
                                      </p:cBhvr>
                                      <p:to>
                                        <p:strVal val="visible"/>
                                      </p:to>
                                    </p:set>
                                    <p:animEffect transition="in" filter="wipe(left)">
                                      <p:cBhvr>
                                        <p:cTn id="83" dur="500"/>
                                        <p:tgtEl>
                                          <p:spTgt spid="8194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2" fill="hold" grpId="0" nodeType="clickEffect">
                                  <p:stCondLst>
                                    <p:cond delay="0"/>
                                  </p:stCondLst>
                                  <p:childTnLst>
                                    <p:set>
                                      <p:cBhvr>
                                        <p:cTn id="87" dur="1" fill="hold">
                                          <p:stCondLst>
                                            <p:cond delay="0"/>
                                          </p:stCondLst>
                                        </p:cTn>
                                        <p:tgtEl>
                                          <p:spTgt spid="81923"/>
                                        </p:tgtEl>
                                        <p:attrNameLst>
                                          <p:attrName>style.visibility</p:attrName>
                                        </p:attrNameLst>
                                      </p:cBhvr>
                                      <p:to>
                                        <p:strVal val="visible"/>
                                      </p:to>
                                    </p:set>
                                    <p:animEffect transition="in" filter="wipe(right)">
                                      <p:cBhvr>
                                        <p:cTn id="88" dur="500"/>
                                        <p:tgtEl>
                                          <p:spTgt spid="8192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81944"/>
                                        </p:tgtEl>
                                        <p:attrNameLst>
                                          <p:attrName>style.visibility</p:attrName>
                                        </p:attrNameLst>
                                      </p:cBhvr>
                                      <p:to>
                                        <p:strVal val="visible"/>
                                      </p:to>
                                    </p:set>
                                    <p:animEffect transition="in" filter="wipe(left)">
                                      <p:cBhvr>
                                        <p:cTn id="93" dur="500"/>
                                        <p:tgtEl>
                                          <p:spTgt spid="81944"/>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81945"/>
                                        </p:tgtEl>
                                        <p:attrNameLst>
                                          <p:attrName>style.visibility</p:attrName>
                                        </p:attrNameLst>
                                      </p:cBhvr>
                                      <p:to>
                                        <p:strVal val="visible"/>
                                      </p:to>
                                    </p:set>
                                    <p:animEffect transition="in" filter="wipe(left)">
                                      <p:cBhvr>
                                        <p:cTn id="98" dur="500"/>
                                        <p:tgtEl>
                                          <p:spTgt spid="81945"/>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8195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81946"/>
                                        </p:tgtEl>
                                        <p:attrNameLst>
                                          <p:attrName>style.visibility</p:attrName>
                                        </p:attrNameLst>
                                      </p:cBhvr>
                                      <p:to>
                                        <p:strVal val="visible"/>
                                      </p:to>
                                    </p:set>
                                    <p:animEffect transition="in" filter="wipe(left)">
                                      <p:cBhvr>
                                        <p:cTn id="107" dur="500"/>
                                        <p:tgtEl>
                                          <p:spTgt spid="81946"/>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81947"/>
                                        </p:tgtEl>
                                        <p:attrNameLst>
                                          <p:attrName>style.visibility</p:attrName>
                                        </p:attrNameLst>
                                      </p:cBhvr>
                                      <p:to>
                                        <p:strVal val="visible"/>
                                      </p:to>
                                    </p:set>
                                    <p:animEffect transition="in" filter="wipe(left)">
                                      <p:cBhvr>
                                        <p:cTn id="112" dur="500"/>
                                        <p:tgtEl>
                                          <p:spTgt spid="8194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81949"/>
                                        </p:tgtEl>
                                        <p:attrNameLst>
                                          <p:attrName>style.visibility</p:attrName>
                                        </p:attrNameLst>
                                      </p:cBhvr>
                                      <p:to>
                                        <p:strVal val="visible"/>
                                      </p:to>
                                    </p:set>
                                    <p:animEffect transition="in" filter="wipe(left)">
                                      <p:cBhvr>
                                        <p:cTn id="117" dur="500"/>
                                        <p:tgtEl>
                                          <p:spTgt spid="81949"/>
                                        </p:tgtEl>
                                      </p:cBhvr>
                                    </p:animEffect>
                                  </p:childTnLst>
                                </p:cTn>
                              </p:par>
                            </p:childTnLst>
                          </p:cTn>
                        </p:par>
                        <p:par>
                          <p:cTn id="118" fill="hold">
                            <p:stCondLst>
                              <p:cond delay="500"/>
                            </p:stCondLst>
                            <p:childTnLst>
                              <p:par>
                                <p:cTn id="119" presetID="22" presetClass="entr" presetSubtype="8" fill="hold" grpId="0" nodeType="afterEffect">
                                  <p:stCondLst>
                                    <p:cond delay="0"/>
                                  </p:stCondLst>
                                  <p:childTnLst>
                                    <p:set>
                                      <p:cBhvr>
                                        <p:cTn id="120" dur="1" fill="hold">
                                          <p:stCondLst>
                                            <p:cond delay="0"/>
                                          </p:stCondLst>
                                        </p:cTn>
                                        <p:tgtEl>
                                          <p:spTgt spid="81948"/>
                                        </p:tgtEl>
                                        <p:attrNameLst>
                                          <p:attrName>style.visibility</p:attrName>
                                        </p:attrNameLst>
                                      </p:cBhvr>
                                      <p:to>
                                        <p:strVal val="visible"/>
                                      </p:to>
                                    </p:set>
                                    <p:animEffect transition="in" filter="wipe(left)">
                                      <p:cBhvr>
                                        <p:cTn id="121" dur="500"/>
                                        <p:tgtEl>
                                          <p:spTgt spid="81948"/>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81952"/>
                                        </p:tgtEl>
                                        <p:attrNameLst>
                                          <p:attrName>style.visibility</p:attrName>
                                        </p:attrNameLst>
                                      </p:cBhvr>
                                      <p:to>
                                        <p:strVal val="visible"/>
                                      </p:to>
                                    </p:set>
                                    <p:animEffect transition="in" filter="wipe(left)">
                                      <p:cBhvr>
                                        <p:cTn id="126" dur="500"/>
                                        <p:tgtEl>
                                          <p:spTgt spid="81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nimBg="1"/>
      <p:bldP spid="81923" grpId="0" animBg="1"/>
      <p:bldP spid="81924" grpId="0" animBg="1"/>
      <p:bldP spid="81925" grpId="0" animBg="1"/>
      <p:bldP spid="81935" grpId="0"/>
      <p:bldP spid="81936" grpId="0"/>
      <p:bldP spid="81937" grpId="0"/>
      <p:bldP spid="81938" grpId="0"/>
      <p:bldP spid="81939" grpId="0"/>
      <p:bldP spid="81940" grpId="0"/>
      <p:bldP spid="81941" grpId="0"/>
      <p:bldP spid="81943" grpId="0"/>
      <p:bldP spid="81945" grpId="0"/>
      <p:bldP spid="81947" grpId="0"/>
      <p:bldP spid="81948" grpId="0" animBg="1"/>
      <p:bldP spid="81949" grpId="0"/>
      <p:bldP spid="81950" grpId="0" animBg="1"/>
      <p:bldP spid="81951" grpId="0"/>
      <p:bldP spid="81952" grpId="0"/>
      <p:bldP spid="81953" grpId="0" animBg="1"/>
      <p:bldP spid="81957" grpId="0" animBg="1"/>
      <p:bldP spid="81958" grpId="0" animBg="1"/>
      <p:bldP spid="8195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755650" y="1196975"/>
            <a:ext cx="1800225" cy="457200"/>
          </a:xfrm>
          <a:prstGeom prst="rect">
            <a:avLst/>
          </a:prstGeom>
          <a:noFill/>
          <a:ln w="9525">
            <a:noFill/>
            <a:miter lim="800000"/>
          </a:ln>
        </p:spPr>
        <p:txBody>
          <a:bodyPr>
            <a:spAutoFit/>
          </a:bodyPr>
          <a:lstStyle/>
          <a:p>
            <a:r>
              <a:rPr lang="zh-CN" altLang="en-US" b="1">
                <a:solidFill>
                  <a:srgbClr val="FF0000"/>
                </a:solidFill>
              </a:rPr>
              <a:t>制冷机：</a:t>
            </a:r>
            <a:endParaRPr lang="zh-CN" altLang="en-US" b="1">
              <a:solidFill>
                <a:srgbClr val="FF0000"/>
              </a:solidFill>
            </a:endParaRPr>
          </a:p>
        </p:txBody>
      </p:sp>
      <p:sp>
        <p:nvSpPr>
          <p:cNvPr id="82947" name="Text Box 3"/>
          <p:cNvSpPr txBox="1">
            <a:spLocks noChangeArrowheads="1"/>
          </p:cNvSpPr>
          <p:nvPr/>
        </p:nvSpPr>
        <p:spPr bwMode="auto">
          <a:xfrm>
            <a:off x="827088" y="1905000"/>
            <a:ext cx="4968875" cy="1463675"/>
          </a:xfrm>
          <a:prstGeom prst="rect">
            <a:avLst/>
          </a:prstGeom>
          <a:noFill/>
          <a:ln w="9525">
            <a:noFill/>
            <a:miter lim="800000"/>
          </a:ln>
        </p:spPr>
        <p:txBody>
          <a:bodyPr>
            <a:spAutoFit/>
          </a:bodyPr>
          <a:lstStyle/>
          <a:p>
            <a:pPr>
              <a:lnSpc>
                <a:spcPct val="125000"/>
              </a:lnSpc>
            </a:pPr>
            <a:r>
              <a:rPr lang="zh-CN" altLang="en-US" b="1"/>
              <a:t>通过对某种工作物质做功，使之不断从低温热源吸热，并向高温热源放出热量的装置。</a:t>
            </a:r>
            <a:endParaRPr lang="zh-CN" altLang="en-US" b="1"/>
          </a:p>
        </p:txBody>
      </p:sp>
      <p:sp>
        <p:nvSpPr>
          <p:cNvPr id="82948" name="AutoShape 4"/>
          <p:cNvSpPr>
            <a:spLocks noChangeArrowheads="1"/>
          </p:cNvSpPr>
          <p:nvPr/>
        </p:nvSpPr>
        <p:spPr bwMode="auto">
          <a:xfrm>
            <a:off x="971550" y="3860800"/>
            <a:ext cx="792163" cy="71438"/>
          </a:xfrm>
          <a:prstGeom prst="rightArrow">
            <a:avLst>
              <a:gd name="adj1" fmla="val 50000"/>
              <a:gd name="adj2" fmla="val 277220"/>
            </a:avLst>
          </a:prstGeom>
          <a:solidFill>
            <a:schemeClr val="accent1"/>
          </a:solidFill>
          <a:ln w="9525">
            <a:solidFill>
              <a:schemeClr val="tx1"/>
            </a:solidFill>
            <a:miter lim="800000"/>
          </a:ln>
        </p:spPr>
        <p:txBody>
          <a:bodyPr wrap="none" anchor="ctr"/>
          <a:lstStyle/>
          <a:p>
            <a:pPr algn="ctr"/>
            <a:endParaRPr lang="zh-CN" altLang="en-US" b="1"/>
          </a:p>
        </p:txBody>
      </p:sp>
      <p:sp>
        <p:nvSpPr>
          <p:cNvPr id="82949" name="Text Box 5"/>
          <p:cNvSpPr txBox="1">
            <a:spLocks noChangeArrowheads="1"/>
          </p:cNvSpPr>
          <p:nvPr/>
        </p:nvSpPr>
        <p:spPr bwMode="auto">
          <a:xfrm>
            <a:off x="1908175" y="3690938"/>
            <a:ext cx="1103313" cy="457200"/>
          </a:xfrm>
          <a:prstGeom prst="rect">
            <a:avLst/>
          </a:prstGeom>
          <a:noFill/>
          <a:ln w="9525">
            <a:noFill/>
            <a:miter lim="800000"/>
          </a:ln>
        </p:spPr>
        <p:txBody>
          <a:bodyPr wrap="none">
            <a:spAutoFit/>
          </a:bodyPr>
          <a:lstStyle/>
          <a:p>
            <a:r>
              <a:rPr lang="zh-CN" altLang="en-US" b="1">
                <a:solidFill>
                  <a:srgbClr val="FF6600"/>
                </a:solidFill>
              </a:rPr>
              <a:t>电冰箱</a:t>
            </a:r>
            <a:endParaRPr lang="zh-CN" altLang="en-US" b="1"/>
          </a:p>
        </p:txBody>
      </p:sp>
      <p:sp>
        <p:nvSpPr>
          <p:cNvPr id="82950" name="Text Box 6"/>
          <p:cNvSpPr txBox="1">
            <a:spLocks noChangeArrowheads="1"/>
          </p:cNvSpPr>
          <p:nvPr/>
        </p:nvSpPr>
        <p:spPr bwMode="auto">
          <a:xfrm>
            <a:off x="5867400" y="4292600"/>
            <a:ext cx="2952750" cy="457200"/>
          </a:xfrm>
          <a:prstGeom prst="rect">
            <a:avLst/>
          </a:prstGeom>
          <a:noFill/>
          <a:ln w="9525">
            <a:noFill/>
            <a:miter lim="800000"/>
          </a:ln>
        </p:spPr>
        <p:txBody>
          <a:bodyPr>
            <a:spAutoFit/>
          </a:bodyPr>
          <a:lstStyle/>
          <a:p>
            <a:r>
              <a:rPr kumimoji="1" lang="zh-CN" altLang="en-US" b="1"/>
              <a:t>致冷机的能流图</a:t>
            </a:r>
            <a:endParaRPr kumimoji="1" lang="zh-CN" altLang="en-US" b="1"/>
          </a:p>
        </p:txBody>
      </p:sp>
      <p:grpSp>
        <p:nvGrpSpPr>
          <p:cNvPr id="2" name="Group 7"/>
          <p:cNvGrpSpPr/>
          <p:nvPr/>
        </p:nvGrpSpPr>
        <p:grpSpPr bwMode="auto">
          <a:xfrm>
            <a:off x="6892925" y="2119313"/>
            <a:ext cx="827088" cy="1295400"/>
            <a:chOff x="4264" y="3098"/>
            <a:chExt cx="521" cy="816"/>
          </a:xfrm>
        </p:grpSpPr>
        <p:sp>
          <p:nvSpPr>
            <p:cNvPr id="42020" name="Rectangle 8"/>
            <p:cNvSpPr>
              <a:spLocks noChangeArrowheads="1"/>
            </p:cNvSpPr>
            <p:nvPr/>
          </p:nvSpPr>
          <p:spPr bwMode="auto">
            <a:xfrm>
              <a:off x="4264" y="3098"/>
              <a:ext cx="288" cy="816"/>
            </a:xfrm>
            <a:prstGeom prst="rect">
              <a:avLst/>
            </a:prstGeom>
            <a:solidFill>
              <a:srgbClr val="FFCC00"/>
            </a:solidFill>
            <a:ln w="9525">
              <a:noFill/>
              <a:miter lim="800000"/>
            </a:ln>
          </p:spPr>
          <p:txBody>
            <a:bodyPr wrap="none" anchor="ctr"/>
            <a:lstStyle/>
            <a:p>
              <a:pPr algn="ctr"/>
              <a:endParaRPr lang="zh-CN" altLang="en-US" b="1"/>
            </a:p>
          </p:txBody>
        </p:sp>
        <p:grpSp>
          <p:nvGrpSpPr>
            <p:cNvPr id="42021" name="Group 9"/>
            <p:cNvGrpSpPr/>
            <p:nvPr/>
          </p:nvGrpSpPr>
          <p:grpSpPr bwMode="auto">
            <a:xfrm>
              <a:off x="4408" y="3597"/>
              <a:ext cx="377" cy="266"/>
              <a:chOff x="4408" y="3498"/>
              <a:chExt cx="377" cy="266"/>
            </a:xfrm>
          </p:grpSpPr>
          <p:sp>
            <p:nvSpPr>
              <p:cNvPr id="42022" name="Line 10"/>
              <p:cNvSpPr>
                <a:spLocks noChangeShapeType="1"/>
              </p:cNvSpPr>
              <p:nvPr/>
            </p:nvSpPr>
            <p:spPr bwMode="auto">
              <a:xfrm>
                <a:off x="4408" y="3546"/>
                <a:ext cx="0" cy="192"/>
              </a:xfrm>
              <a:prstGeom prst="line">
                <a:avLst/>
              </a:prstGeom>
              <a:noFill/>
              <a:ln w="38100">
                <a:solidFill>
                  <a:schemeClr val="tx1"/>
                </a:solidFill>
                <a:round/>
                <a:headEnd type="triangle" w="med" len="med"/>
              </a:ln>
            </p:spPr>
            <p:txBody>
              <a:bodyPr/>
              <a:lstStyle/>
              <a:p>
                <a:endParaRPr lang="zh-CN" altLang="en-US"/>
              </a:p>
            </p:txBody>
          </p:sp>
          <p:graphicFrame>
            <p:nvGraphicFramePr>
              <p:cNvPr id="41990" name="Object 11"/>
              <p:cNvGraphicFramePr>
                <a:graphicFrameLocks noChangeAspect="1"/>
              </p:cNvGraphicFramePr>
              <p:nvPr/>
            </p:nvGraphicFramePr>
            <p:xfrm>
              <a:off x="4543" y="3498"/>
              <a:ext cx="242" cy="266"/>
            </p:xfrm>
            <a:graphic>
              <a:graphicData uri="http://schemas.openxmlformats.org/presentationml/2006/ole">
                <mc:AlternateContent xmlns:mc="http://schemas.openxmlformats.org/markup-compatibility/2006">
                  <mc:Choice xmlns:v="urn:schemas-microsoft-com:vml" Requires="v">
                    <p:oleObj spid="_x0000_s41985" name="公式" r:id="rId1" imgW="9144000" imgH="10058400" progId="Equation.3">
                      <p:embed/>
                    </p:oleObj>
                  </mc:Choice>
                  <mc:Fallback>
                    <p:oleObj name="公式" r:id="rId1" imgW="9144000" imgH="10058400" progId="Equation.3">
                      <p:embed/>
                      <p:pic>
                        <p:nvPicPr>
                          <p:cNvPr id="0" name="Object 11"/>
                          <p:cNvPicPr>
                            <a:picLocks noChangeAspect="1"/>
                          </p:cNvPicPr>
                          <p:nvPr/>
                        </p:nvPicPr>
                        <p:blipFill>
                          <a:blip r:embed="rId2"/>
                          <a:stretch>
                            <a:fillRect/>
                          </a:stretch>
                        </p:blipFill>
                        <p:spPr>
                          <a:xfrm>
                            <a:off x="4543" y="3498"/>
                            <a:ext cx="242" cy="266"/>
                          </a:xfrm>
                          <a:prstGeom prst="rect">
                            <a:avLst/>
                          </a:prstGeom>
                          <a:noFill/>
                          <a:ln w="9525">
                            <a:noFill/>
                          </a:ln>
                        </p:spPr>
                      </p:pic>
                    </p:oleObj>
                  </mc:Fallback>
                </mc:AlternateContent>
              </a:graphicData>
            </a:graphic>
          </p:graphicFrame>
        </p:grpSp>
      </p:grpSp>
      <p:grpSp>
        <p:nvGrpSpPr>
          <p:cNvPr id="4" name="Group 12"/>
          <p:cNvGrpSpPr/>
          <p:nvPr/>
        </p:nvGrpSpPr>
        <p:grpSpPr bwMode="auto">
          <a:xfrm>
            <a:off x="5853113" y="3330575"/>
            <a:ext cx="2514600" cy="539750"/>
            <a:chOff x="3609" y="3861"/>
            <a:chExt cx="1584" cy="340"/>
          </a:xfrm>
        </p:grpSpPr>
        <p:sp>
          <p:nvSpPr>
            <p:cNvPr id="42018" name="Rectangle 13"/>
            <p:cNvSpPr>
              <a:spLocks noChangeArrowheads="1"/>
            </p:cNvSpPr>
            <p:nvPr/>
          </p:nvSpPr>
          <p:spPr bwMode="auto">
            <a:xfrm>
              <a:off x="3609" y="3875"/>
              <a:ext cx="1584" cy="274"/>
            </a:xfrm>
            <a:prstGeom prst="rect">
              <a:avLst/>
            </a:prstGeom>
            <a:gradFill rotWithShape="1">
              <a:gsLst>
                <a:gs pos="0">
                  <a:srgbClr val="471800"/>
                </a:gs>
                <a:gs pos="50000">
                  <a:srgbClr val="993300"/>
                </a:gs>
                <a:gs pos="100000">
                  <a:srgbClr val="471800"/>
                </a:gs>
              </a:gsLst>
              <a:lin ang="5400000" scaled="1"/>
            </a:gradFill>
            <a:ln w="9525">
              <a:noFill/>
              <a:miter lim="800000"/>
            </a:ln>
          </p:spPr>
          <p:txBody>
            <a:bodyPr wrap="none" anchor="ctr"/>
            <a:lstStyle/>
            <a:p>
              <a:pPr algn="ctr"/>
              <a:endParaRPr lang="zh-CN" altLang="en-US" b="1"/>
            </a:p>
          </p:txBody>
        </p:sp>
        <p:graphicFrame>
          <p:nvGraphicFramePr>
            <p:cNvPr id="41989" name="Object 14"/>
            <p:cNvGraphicFramePr>
              <a:graphicFrameLocks noChangeAspect="1"/>
            </p:cNvGraphicFramePr>
            <p:nvPr/>
          </p:nvGraphicFramePr>
          <p:xfrm>
            <a:off x="4713" y="3875"/>
            <a:ext cx="268" cy="326"/>
          </p:xfrm>
          <a:graphic>
            <a:graphicData uri="http://schemas.openxmlformats.org/presentationml/2006/ole">
              <mc:AlternateContent xmlns:mc="http://schemas.openxmlformats.org/markup-compatibility/2006">
                <mc:Choice xmlns:v="urn:schemas-microsoft-com:vml" Requires="v">
                  <p:oleObj spid="_x0000_s41989" name="Equation" r:id="rId3" imgW="4267200" imgH="5181600" progId="Equation.3">
                    <p:embed/>
                  </p:oleObj>
                </mc:Choice>
                <mc:Fallback>
                  <p:oleObj name="Equation" r:id="rId3" imgW="4267200" imgH="5181600" progId="Equation.3">
                    <p:embed/>
                    <p:pic>
                      <p:nvPicPr>
                        <p:cNvPr id="0" name="Object 14"/>
                        <p:cNvPicPr>
                          <a:picLocks noChangeAspect="1"/>
                        </p:cNvPicPr>
                        <p:nvPr/>
                      </p:nvPicPr>
                      <p:blipFill>
                        <a:blip r:embed="rId4"/>
                        <a:stretch>
                          <a:fillRect/>
                        </a:stretch>
                      </p:blipFill>
                      <p:spPr>
                        <a:xfrm>
                          <a:off x="4713" y="3875"/>
                          <a:ext cx="268" cy="326"/>
                        </a:xfrm>
                        <a:prstGeom prst="rect">
                          <a:avLst/>
                        </a:prstGeom>
                        <a:noFill/>
                        <a:ln w="9525">
                          <a:noFill/>
                        </a:ln>
                      </p:spPr>
                    </p:pic>
                  </p:oleObj>
                </mc:Fallback>
              </mc:AlternateContent>
            </a:graphicData>
          </a:graphic>
        </p:graphicFrame>
        <p:sp>
          <p:nvSpPr>
            <p:cNvPr id="42019" name="Text Box 15"/>
            <p:cNvSpPr txBox="1">
              <a:spLocks noChangeArrowheads="1"/>
            </p:cNvSpPr>
            <p:nvPr/>
          </p:nvSpPr>
          <p:spPr bwMode="auto">
            <a:xfrm>
              <a:off x="3849" y="3861"/>
              <a:ext cx="888" cy="288"/>
            </a:xfrm>
            <a:prstGeom prst="rect">
              <a:avLst/>
            </a:prstGeom>
            <a:noFill/>
            <a:ln w="9525">
              <a:noFill/>
              <a:miter lim="800000"/>
            </a:ln>
          </p:spPr>
          <p:txBody>
            <a:bodyPr wrap="none">
              <a:spAutoFit/>
            </a:bodyPr>
            <a:lstStyle/>
            <a:p>
              <a:r>
                <a:rPr kumimoji="1" lang="zh-CN" altLang="en-US" b="1"/>
                <a:t>低温热源</a:t>
              </a:r>
              <a:endParaRPr kumimoji="1" lang="zh-CN" altLang="en-US" b="1"/>
            </a:p>
          </p:txBody>
        </p:sp>
      </p:grpSp>
      <p:grpSp>
        <p:nvGrpSpPr>
          <p:cNvPr id="5" name="Group 16"/>
          <p:cNvGrpSpPr/>
          <p:nvPr/>
        </p:nvGrpSpPr>
        <p:grpSpPr bwMode="auto">
          <a:xfrm>
            <a:off x="6567488" y="1422400"/>
            <a:ext cx="1901825" cy="1458913"/>
            <a:chOff x="4059" y="2659"/>
            <a:chExt cx="1198" cy="919"/>
          </a:xfrm>
        </p:grpSpPr>
        <p:grpSp>
          <p:nvGrpSpPr>
            <p:cNvPr id="42009" name="Group 17"/>
            <p:cNvGrpSpPr/>
            <p:nvPr/>
          </p:nvGrpSpPr>
          <p:grpSpPr bwMode="auto">
            <a:xfrm>
              <a:off x="4059" y="2849"/>
              <a:ext cx="1198" cy="729"/>
              <a:chOff x="4072" y="2849"/>
              <a:chExt cx="1198" cy="729"/>
            </a:xfrm>
          </p:grpSpPr>
          <p:grpSp>
            <p:nvGrpSpPr>
              <p:cNvPr id="42011" name="Group 18"/>
              <p:cNvGrpSpPr/>
              <p:nvPr/>
            </p:nvGrpSpPr>
            <p:grpSpPr bwMode="auto">
              <a:xfrm>
                <a:off x="4552" y="2849"/>
                <a:ext cx="718" cy="681"/>
                <a:chOff x="4552" y="1678"/>
                <a:chExt cx="718" cy="681"/>
              </a:xfrm>
            </p:grpSpPr>
            <p:sp>
              <p:nvSpPr>
                <p:cNvPr id="42013" name="Oval 19"/>
                <p:cNvSpPr>
                  <a:spLocks noChangeArrowheads="1"/>
                </p:cNvSpPr>
                <p:nvPr/>
              </p:nvSpPr>
              <p:spPr bwMode="auto">
                <a:xfrm>
                  <a:off x="4696" y="1783"/>
                  <a:ext cx="336" cy="240"/>
                </a:xfrm>
                <a:prstGeom prst="ellipse">
                  <a:avLst/>
                </a:prstGeom>
                <a:noFill/>
                <a:ln w="28575">
                  <a:solidFill>
                    <a:srgbClr val="FFCC00"/>
                  </a:solidFill>
                  <a:prstDash val="sysDot"/>
                  <a:round/>
                </a:ln>
              </p:spPr>
              <p:txBody>
                <a:bodyPr wrap="none" anchor="ctr"/>
                <a:lstStyle/>
                <a:p>
                  <a:pPr algn="ctr"/>
                  <a:endParaRPr lang="zh-CN" altLang="en-US" b="1"/>
                </a:p>
              </p:txBody>
            </p:sp>
            <p:grpSp>
              <p:nvGrpSpPr>
                <p:cNvPr id="42014" name="Group 20"/>
                <p:cNvGrpSpPr/>
                <p:nvPr/>
              </p:nvGrpSpPr>
              <p:grpSpPr bwMode="auto">
                <a:xfrm>
                  <a:off x="4552" y="1678"/>
                  <a:ext cx="718" cy="681"/>
                  <a:chOff x="4552" y="799"/>
                  <a:chExt cx="718" cy="681"/>
                </a:xfrm>
              </p:grpSpPr>
              <p:sp>
                <p:nvSpPr>
                  <p:cNvPr id="42015" name="Oval 21"/>
                  <p:cNvSpPr>
                    <a:spLocks noChangeArrowheads="1"/>
                  </p:cNvSpPr>
                  <p:nvPr/>
                </p:nvSpPr>
                <p:spPr bwMode="auto">
                  <a:xfrm rot="561456">
                    <a:off x="4552" y="904"/>
                    <a:ext cx="528" cy="384"/>
                  </a:xfrm>
                  <a:prstGeom prst="ellipse">
                    <a:avLst/>
                  </a:prstGeom>
                  <a:noFill/>
                  <a:ln w="28575">
                    <a:solidFill>
                      <a:srgbClr val="FFCC00"/>
                    </a:solidFill>
                    <a:prstDash val="sysDot"/>
                    <a:round/>
                  </a:ln>
                </p:spPr>
                <p:txBody>
                  <a:bodyPr wrap="none" anchor="ctr"/>
                  <a:lstStyle/>
                  <a:p>
                    <a:pPr algn="ctr"/>
                    <a:endParaRPr lang="zh-CN" altLang="en-US" b="1"/>
                  </a:p>
                </p:txBody>
              </p:sp>
              <p:sp>
                <p:nvSpPr>
                  <p:cNvPr id="42016" name="Rectangle 22"/>
                  <p:cNvSpPr>
                    <a:spLocks noChangeArrowheads="1"/>
                  </p:cNvSpPr>
                  <p:nvPr/>
                </p:nvSpPr>
                <p:spPr bwMode="auto">
                  <a:xfrm>
                    <a:off x="4694" y="799"/>
                    <a:ext cx="576" cy="240"/>
                  </a:xfrm>
                  <a:prstGeom prst="rect">
                    <a:avLst/>
                  </a:prstGeom>
                  <a:solidFill>
                    <a:srgbClr val="FFFFFF"/>
                  </a:solidFill>
                  <a:ln w="9525">
                    <a:noFill/>
                    <a:miter lim="800000"/>
                  </a:ln>
                </p:spPr>
                <p:txBody>
                  <a:bodyPr wrap="none" anchor="ctr"/>
                  <a:lstStyle/>
                  <a:p>
                    <a:pPr algn="ctr"/>
                    <a:endParaRPr lang="zh-CN" altLang="en-US" b="1"/>
                  </a:p>
                </p:txBody>
              </p:sp>
              <p:sp>
                <p:nvSpPr>
                  <p:cNvPr id="42017" name="Rectangle 23"/>
                  <p:cNvSpPr>
                    <a:spLocks noChangeArrowheads="1"/>
                  </p:cNvSpPr>
                  <p:nvPr/>
                </p:nvSpPr>
                <p:spPr bwMode="auto">
                  <a:xfrm>
                    <a:off x="4888" y="1048"/>
                    <a:ext cx="240" cy="432"/>
                  </a:xfrm>
                  <a:prstGeom prst="rect">
                    <a:avLst/>
                  </a:prstGeom>
                  <a:solidFill>
                    <a:srgbClr val="FFFFFF"/>
                  </a:solidFill>
                  <a:ln w="9525">
                    <a:noFill/>
                    <a:miter lim="800000"/>
                  </a:ln>
                </p:spPr>
                <p:txBody>
                  <a:bodyPr wrap="none" anchor="ctr"/>
                  <a:lstStyle/>
                  <a:p>
                    <a:pPr algn="ctr"/>
                    <a:endParaRPr lang="zh-CN" altLang="en-US" b="1"/>
                  </a:p>
                </p:txBody>
              </p:sp>
            </p:grpSp>
          </p:grpSp>
          <p:sp>
            <p:nvSpPr>
              <p:cNvPr id="42012" name="AutoShape 24"/>
              <p:cNvSpPr>
                <a:spLocks noChangeArrowheads="1"/>
              </p:cNvSpPr>
              <p:nvPr/>
            </p:nvSpPr>
            <p:spPr bwMode="auto">
              <a:xfrm>
                <a:off x="4072" y="3098"/>
                <a:ext cx="816" cy="480"/>
              </a:xfrm>
              <a:prstGeom prst="roundRect">
                <a:avLst>
                  <a:gd name="adj" fmla="val 16667"/>
                </a:avLst>
              </a:prstGeom>
              <a:noFill/>
              <a:ln w="28575">
                <a:solidFill>
                  <a:srgbClr val="0000FF"/>
                </a:solidFill>
                <a:prstDash val="dash"/>
                <a:round/>
              </a:ln>
            </p:spPr>
            <p:txBody>
              <a:bodyPr wrap="none" anchor="ctr"/>
              <a:lstStyle/>
              <a:p>
                <a:pPr algn="ctr"/>
                <a:endParaRPr lang="zh-CN" altLang="en-US" b="1"/>
              </a:p>
            </p:txBody>
          </p:sp>
        </p:grpSp>
        <p:sp>
          <p:nvSpPr>
            <p:cNvPr id="42010" name="Rectangle 25"/>
            <p:cNvSpPr>
              <a:spLocks noChangeArrowheads="1"/>
            </p:cNvSpPr>
            <p:nvPr/>
          </p:nvSpPr>
          <p:spPr bwMode="auto">
            <a:xfrm>
              <a:off x="4377" y="2659"/>
              <a:ext cx="590" cy="408"/>
            </a:xfrm>
            <a:prstGeom prst="rect">
              <a:avLst/>
            </a:prstGeom>
            <a:solidFill>
              <a:srgbClr val="FFFFFF"/>
            </a:solidFill>
            <a:ln w="9525">
              <a:noFill/>
              <a:miter lim="800000"/>
            </a:ln>
          </p:spPr>
          <p:txBody>
            <a:bodyPr wrap="none" anchor="ctr"/>
            <a:lstStyle/>
            <a:p>
              <a:pPr algn="ctr"/>
              <a:endParaRPr lang="zh-CN" altLang="en-US" b="1"/>
            </a:p>
          </p:txBody>
        </p:sp>
      </p:grpSp>
      <p:grpSp>
        <p:nvGrpSpPr>
          <p:cNvPr id="9" name="Group 26"/>
          <p:cNvGrpSpPr/>
          <p:nvPr/>
        </p:nvGrpSpPr>
        <p:grpSpPr bwMode="auto">
          <a:xfrm>
            <a:off x="7864475" y="2233613"/>
            <a:ext cx="933450" cy="293687"/>
            <a:chOff x="4876" y="3168"/>
            <a:chExt cx="588" cy="185"/>
          </a:xfrm>
        </p:grpSpPr>
        <p:sp>
          <p:nvSpPr>
            <p:cNvPr id="42007" name="Rectangle 27"/>
            <p:cNvSpPr>
              <a:spLocks noChangeArrowheads="1"/>
            </p:cNvSpPr>
            <p:nvPr/>
          </p:nvSpPr>
          <p:spPr bwMode="auto">
            <a:xfrm>
              <a:off x="4888" y="3183"/>
              <a:ext cx="576" cy="168"/>
            </a:xfrm>
            <a:prstGeom prst="rect">
              <a:avLst/>
            </a:prstGeom>
            <a:solidFill>
              <a:srgbClr val="FFCC00"/>
            </a:solidFill>
            <a:ln w="9525">
              <a:solidFill>
                <a:srgbClr val="FFCC00"/>
              </a:solidFill>
              <a:miter lim="800000"/>
            </a:ln>
          </p:spPr>
          <p:txBody>
            <a:bodyPr wrap="none" anchor="ctr"/>
            <a:lstStyle/>
            <a:p>
              <a:pPr algn="ctr"/>
              <a:endParaRPr lang="zh-CN" altLang="en-US" b="1"/>
            </a:p>
          </p:txBody>
        </p:sp>
        <p:sp>
          <p:nvSpPr>
            <p:cNvPr id="42008" name="Line 28"/>
            <p:cNvSpPr>
              <a:spLocks noChangeShapeType="1"/>
            </p:cNvSpPr>
            <p:nvPr/>
          </p:nvSpPr>
          <p:spPr bwMode="auto">
            <a:xfrm>
              <a:off x="4876" y="3264"/>
              <a:ext cx="240" cy="0"/>
            </a:xfrm>
            <a:prstGeom prst="line">
              <a:avLst/>
            </a:prstGeom>
            <a:noFill/>
            <a:ln w="38100">
              <a:solidFill>
                <a:schemeClr val="tx1"/>
              </a:solidFill>
              <a:round/>
              <a:headEnd type="triangle" w="med" len="med"/>
            </a:ln>
          </p:spPr>
          <p:txBody>
            <a:bodyPr/>
            <a:lstStyle/>
            <a:p>
              <a:endParaRPr lang="zh-CN" altLang="en-US"/>
            </a:p>
          </p:txBody>
        </p:sp>
        <p:graphicFrame>
          <p:nvGraphicFramePr>
            <p:cNvPr id="41988" name="Object 29"/>
            <p:cNvGraphicFramePr>
              <a:graphicFrameLocks noChangeAspect="1"/>
            </p:cNvGraphicFramePr>
            <p:nvPr/>
          </p:nvGraphicFramePr>
          <p:xfrm>
            <a:off x="5185" y="3168"/>
            <a:ext cx="185" cy="185"/>
          </p:xfrm>
          <a:graphic>
            <a:graphicData uri="http://schemas.openxmlformats.org/presentationml/2006/ole">
              <mc:AlternateContent xmlns:mc="http://schemas.openxmlformats.org/markup-compatibility/2006">
                <mc:Choice xmlns:v="urn:schemas-microsoft-com:vml" Requires="v">
                  <p:oleObj spid="_x0000_s41988" name="Equation" r:id="rId5" imgW="4267200" imgH="4267200" progId="Equation.DSMT4">
                    <p:embed/>
                  </p:oleObj>
                </mc:Choice>
                <mc:Fallback>
                  <p:oleObj name="Equation" r:id="rId5" imgW="4267200" imgH="4267200" progId="Equation.DSMT4">
                    <p:embed/>
                    <p:pic>
                      <p:nvPicPr>
                        <p:cNvPr id="0" name="Object 29"/>
                        <p:cNvPicPr>
                          <a:picLocks noChangeAspect="1"/>
                        </p:cNvPicPr>
                        <p:nvPr/>
                      </p:nvPicPr>
                      <p:blipFill>
                        <a:blip r:embed="rId6"/>
                        <a:stretch>
                          <a:fillRect/>
                        </a:stretch>
                      </p:blipFill>
                      <p:spPr>
                        <a:xfrm>
                          <a:off x="5185" y="3168"/>
                          <a:ext cx="185" cy="185"/>
                        </a:xfrm>
                        <a:prstGeom prst="rect">
                          <a:avLst/>
                        </a:prstGeom>
                        <a:noFill/>
                        <a:ln w="9525">
                          <a:noFill/>
                        </a:ln>
                      </p:spPr>
                    </p:pic>
                  </p:oleObj>
                </mc:Fallback>
              </mc:AlternateContent>
            </a:graphicData>
          </a:graphic>
        </p:graphicFrame>
      </p:grpSp>
      <p:grpSp>
        <p:nvGrpSpPr>
          <p:cNvPr id="10" name="Group 30"/>
          <p:cNvGrpSpPr/>
          <p:nvPr/>
        </p:nvGrpSpPr>
        <p:grpSpPr bwMode="auto">
          <a:xfrm>
            <a:off x="6889750" y="1609725"/>
            <a:ext cx="685800" cy="533400"/>
            <a:chOff x="4262" y="2768"/>
            <a:chExt cx="432" cy="336"/>
          </a:xfrm>
        </p:grpSpPr>
        <p:sp>
          <p:nvSpPr>
            <p:cNvPr id="42004" name="Rectangle 31"/>
            <p:cNvSpPr>
              <a:spLocks noChangeArrowheads="1"/>
            </p:cNvSpPr>
            <p:nvPr/>
          </p:nvSpPr>
          <p:spPr bwMode="auto">
            <a:xfrm>
              <a:off x="4262" y="2768"/>
              <a:ext cx="432" cy="336"/>
            </a:xfrm>
            <a:prstGeom prst="rect">
              <a:avLst/>
            </a:prstGeom>
            <a:solidFill>
              <a:srgbClr val="FFCC00"/>
            </a:solidFill>
            <a:ln w="9525">
              <a:noFill/>
              <a:miter lim="800000"/>
            </a:ln>
          </p:spPr>
          <p:txBody>
            <a:bodyPr wrap="none" anchor="ctr"/>
            <a:lstStyle/>
            <a:p>
              <a:pPr algn="ctr"/>
              <a:endParaRPr lang="zh-CN" altLang="en-US" b="1"/>
            </a:p>
          </p:txBody>
        </p:sp>
        <p:grpSp>
          <p:nvGrpSpPr>
            <p:cNvPr id="42005" name="Group 32"/>
            <p:cNvGrpSpPr/>
            <p:nvPr/>
          </p:nvGrpSpPr>
          <p:grpSpPr bwMode="auto">
            <a:xfrm>
              <a:off x="4358" y="2833"/>
              <a:ext cx="289" cy="266"/>
              <a:chOff x="4358" y="2643"/>
              <a:chExt cx="289" cy="266"/>
            </a:xfrm>
          </p:grpSpPr>
          <p:sp>
            <p:nvSpPr>
              <p:cNvPr id="42006" name="Line 33"/>
              <p:cNvSpPr>
                <a:spLocks noChangeShapeType="1"/>
              </p:cNvSpPr>
              <p:nvPr/>
            </p:nvSpPr>
            <p:spPr bwMode="auto">
              <a:xfrm>
                <a:off x="4358" y="2688"/>
                <a:ext cx="0" cy="192"/>
              </a:xfrm>
              <a:prstGeom prst="line">
                <a:avLst/>
              </a:prstGeom>
              <a:noFill/>
              <a:ln w="38100">
                <a:solidFill>
                  <a:schemeClr val="tx1"/>
                </a:solidFill>
                <a:round/>
                <a:headEnd type="triangle" w="med" len="med"/>
              </a:ln>
            </p:spPr>
            <p:txBody>
              <a:bodyPr/>
              <a:lstStyle/>
              <a:p>
                <a:endParaRPr lang="zh-CN" altLang="en-US"/>
              </a:p>
            </p:txBody>
          </p:sp>
          <p:graphicFrame>
            <p:nvGraphicFramePr>
              <p:cNvPr id="41987" name="Object 34"/>
              <p:cNvGraphicFramePr>
                <a:graphicFrameLocks noChangeAspect="1"/>
              </p:cNvGraphicFramePr>
              <p:nvPr/>
            </p:nvGraphicFramePr>
            <p:xfrm>
              <a:off x="4430" y="2643"/>
              <a:ext cx="217" cy="266"/>
            </p:xfrm>
            <a:graphic>
              <a:graphicData uri="http://schemas.openxmlformats.org/presentationml/2006/ole">
                <mc:AlternateContent xmlns:mc="http://schemas.openxmlformats.org/markup-compatibility/2006">
                  <mc:Choice xmlns:v="urn:schemas-microsoft-com:vml" Requires="v">
                    <p:oleObj spid="_x0000_s41987" name="公式" r:id="rId7" imgW="8229600" imgH="10058400" progId="Equation.3">
                      <p:embed/>
                    </p:oleObj>
                  </mc:Choice>
                  <mc:Fallback>
                    <p:oleObj name="公式" r:id="rId7" imgW="8229600" imgH="10058400" progId="Equation.3">
                      <p:embed/>
                      <p:pic>
                        <p:nvPicPr>
                          <p:cNvPr id="0" name="Object 34"/>
                          <p:cNvPicPr>
                            <a:picLocks noChangeAspect="1"/>
                          </p:cNvPicPr>
                          <p:nvPr/>
                        </p:nvPicPr>
                        <p:blipFill>
                          <a:blip r:embed="rId8"/>
                          <a:stretch>
                            <a:fillRect/>
                          </a:stretch>
                        </p:blipFill>
                        <p:spPr>
                          <a:xfrm>
                            <a:off x="4430" y="2643"/>
                            <a:ext cx="217" cy="266"/>
                          </a:xfrm>
                          <a:prstGeom prst="rect">
                            <a:avLst/>
                          </a:prstGeom>
                          <a:noFill/>
                          <a:ln w="9525">
                            <a:noFill/>
                          </a:ln>
                        </p:spPr>
                      </p:pic>
                    </p:oleObj>
                  </mc:Fallback>
                </mc:AlternateContent>
              </a:graphicData>
            </a:graphic>
          </p:graphicFrame>
        </p:grpSp>
      </p:grpSp>
      <p:grpSp>
        <p:nvGrpSpPr>
          <p:cNvPr id="12" name="Group 35"/>
          <p:cNvGrpSpPr/>
          <p:nvPr/>
        </p:nvGrpSpPr>
        <p:grpSpPr bwMode="auto">
          <a:xfrm>
            <a:off x="5853113" y="1279525"/>
            <a:ext cx="2514600" cy="517525"/>
            <a:chOff x="3609" y="2569"/>
            <a:chExt cx="1584" cy="326"/>
          </a:xfrm>
        </p:grpSpPr>
        <p:sp>
          <p:nvSpPr>
            <p:cNvPr id="42002" name="Rectangle 36"/>
            <p:cNvSpPr>
              <a:spLocks noChangeArrowheads="1"/>
            </p:cNvSpPr>
            <p:nvPr/>
          </p:nvSpPr>
          <p:spPr bwMode="auto">
            <a:xfrm>
              <a:off x="3609" y="2623"/>
              <a:ext cx="1584" cy="252"/>
            </a:xfrm>
            <a:prstGeom prst="rect">
              <a:avLst/>
            </a:prstGeom>
            <a:gradFill rotWithShape="1">
              <a:gsLst>
                <a:gs pos="0">
                  <a:srgbClr val="761847"/>
                </a:gs>
                <a:gs pos="50000">
                  <a:srgbClr val="FF3399"/>
                </a:gs>
                <a:gs pos="100000">
                  <a:srgbClr val="761847"/>
                </a:gs>
              </a:gsLst>
              <a:lin ang="5400000" scaled="1"/>
            </a:gradFill>
            <a:ln w="9525">
              <a:noFill/>
              <a:miter lim="800000"/>
            </a:ln>
          </p:spPr>
          <p:txBody>
            <a:bodyPr wrap="none" anchor="ctr"/>
            <a:lstStyle/>
            <a:p>
              <a:pPr algn="ctr"/>
              <a:endParaRPr lang="zh-CN" altLang="en-US" b="1"/>
            </a:p>
          </p:txBody>
        </p:sp>
        <p:graphicFrame>
          <p:nvGraphicFramePr>
            <p:cNvPr id="41986" name="Object 37"/>
            <p:cNvGraphicFramePr>
              <a:graphicFrameLocks noChangeAspect="1"/>
            </p:cNvGraphicFramePr>
            <p:nvPr/>
          </p:nvGraphicFramePr>
          <p:xfrm>
            <a:off x="4665" y="2569"/>
            <a:ext cx="249" cy="326"/>
          </p:xfrm>
          <a:graphic>
            <a:graphicData uri="http://schemas.openxmlformats.org/presentationml/2006/ole">
              <mc:AlternateContent xmlns:mc="http://schemas.openxmlformats.org/markup-compatibility/2006">
                <mc:Choice xmlns:v="urn:schemas-microsoft-com:vml" Requires="v">
                  <p:oleObj spid="_x0000_s41986" name="Equation" r:id="rId9" imgW="3962400" imgH="5181600" progId="Equation.3">
                    <p:embed/>
                  </p:oleObj>
                </mc:Choice>
                <mc:Fallback>
                  <p:oleObj name="Equation" r:id="rId9" imgW="3962400" imgH="5181600" progId="Equation.3">
                    <p:embed/>
                    <p:pic>
                      <p:nvPicPr>
                        <p:cNvPr id="0" name="Object 37"/>
                        <p:cNvPicPr>
                          <a:picLocks noChangeAspect="1"/>
                        </p:cNvPicPr>
                        <p:nvPr/>
                      </p:nvPicPr>
                      <p:blipFill>
                        <a:blip r:embed="rId10"/>
                        <a:stretch>
                          <a:fillRect/>
                        </a:stretch>
                      </p:blipFill>
                      <p:spPr>
                        <a:xfrm>
                          <a:off x="4665" y="2569"/>
                          <a:ext cx="249" cy="326"/>
                        </a:xfrm>
                        <a:prstGeom prst="rect">
                          <a:avLst/>
                        </a:prstGeom>
                        <a:noFill/>
                        <a:ln w="9525">
                          <a:noFill/>
                        </a:ln>
                      </p:spPr>
                    </p:pic>
                  </p:oleObj>
                </mc:Fallback>
              </mc:AlternateContent>
            </a:graphicData>
          </a:graphic>
        </p:graphicFrame>
        <p:sp>
          <p:nvSpPr>
            <p:cNvPr id="42003" name="Text Box 38"/>
            <p:cNvSpPr txBox="1">
              <a:spLocks noChangeArrowheads="1"/>
            </p:cNvSpPr>
            <p:nvPr/>
          </p:nvSpPr>
          <p:spPr bwMode="auto">
            <a:xfrm>
              <a:off x="3801" y="2569"/>
              <a:ext cx="888" cy="288"/>
            </a:xfrm>
            <a:prstGeom prst="rect">
              <a:avLst/>
            </a:prstGeom>
            <a:noFill/>
            <a:ln w="9525">
              <a:noFill/>
              <a:miter lim="800000"/>
            </a:ln>
          </p:spPr>
          <p:txBody>
            <a:bodyPr wrap="none">
              <a:spAutoFit/>
            </a:bodyPr>
            <a:lstStyle/>
            <a:p>
              <a:r>
                <a:rPr kumimoji="1" lang="zh-CN" altLang="en-US" b="1"/>
                <a:t>高温热源</a:t>
              </a:r>
              <a:endParaRPr kumimoji="1" lang="zh-CN" altLang="en-US"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wipe(left)">
                                      <p:cBhvr>
                                        <p:cTn id="7" dur="500"/>
                                        <p:tgtEl>
                                          <p:spTgt spid="829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947"/>
                                        </p:tgtEl>
                                        <p:attrNameLst>
                                          <p:attrName>style.visibility</p:attrName>
                                        </p:attrNameLst>
                                      </p:cBhvr>
                                      <p:to>
                                        <p:strVal val="visible"/>
                                      </p:to>
                                    </p:set>
                                    <p:animEffect transition="in" filter="wipe(left)">
                                      <p:cBhvr>
                                        <p:cTn id="12" dur="500"/>
                                        <p:tgtEl>
                                          <p:spTgt spid="829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2948"/>
                                        </p:tgtEl>
                                        <p:attrNameLst>
                                          <p:attrName>style.visibility</p:attrName>
                                        </p:attrNameLst>
                                      </p:cBhvr>
                                      <p:to>
                                        <p:strVal val="visible"/>
                                      </p:to>
                                    </p:set>
                                    <p:animEffect transition="in" filter="wipe(left)">
                                      <p:cBhvr>
                                        <p:cTn id="17" dur="500"/>
                                        <p:tgtEl>
                                          <p:spTgt spid="82948"/>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82949"/>
                                        </p:tgtEl>
                                        <p:attrNameLst>
                                          <p:attrName>style.visibility</p:attrName>
                                        </p:attrNameLst>
                                      </p:cBhvr>
                                      <p:to>
                                        <p:strVal val="visible"/>
                                      </p:to>
                                    </p:set>
                                    <p:animEffect transition="in" filter="wipe(left)">
                                      <p:cBhvr>
                                        <p:cTn id="21" dur="500"/>
                                        <p:tgtEl>
                                          <p:spTgt spid="8294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82950"/>
                                        </p:tgtEl>
                                        <p:attrNameLst>
                                          <p:attrName>style.visibility</p:attrName>
                                        </p:attrNameLst>
                                      </p:cBhvr>
                                      <p:to>
                                        <p:strVal val="visible"/>
                                      </p:to>
                                    </p:set>
                                    <p:animEffect transition="in" filter="wipe(up)">
                                      <p:cBhvr>
                                        <p:cTn id="26" dur="500"/>
                                        <p:tgtEl>
                                          <p:spTgt spid="8295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down)">
                                      <p:cBhvr>
                                        <p:cTn id="31" dur="500"/>
                                        <p:tgtEl>
                                          <p:spTgt spid="12"/>
                                        </p:tgtEl>
                                      </p:cBhvr>
                                    </p:animEffect>
                                  </p:childTnLst>
                                </p:cTn>
                              </p:par>
                              <p:par>
                                <p:cTn id="32" presetID="22" presetClass="entr" presetSubtype="4"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down)">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right)">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50" presetClass="entr" presetSubtype="0" decel="100000"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p:cTn id="44" dur="1000" fill="hold"/>
                                        <p:tgtEl>
                                          <p:spTgt spid="5"/>
                                        </p:tgtEl>
                                        <p:attrNameLst>
                                          <p:attrName>ppt_w</p:attrName>
                                        </p:attrNameLst>
                                      </p:cBhvr>
                                      <p:tavLst>
                                        <p:tav tm="0">
                                          <p:val>
                                            <p:strVal val="#ppt_w+.3"/>
                                          </p:val>
                                        </p:tav>
                                        <p:tav tm="100000">
                                          <p:val>
                                            <p:strVal val="#ppt_w"/>
                                          </p:val>
                                        </p:tav>
                                      </p:tavLst>
                                    </p:anim>
                                    <p:anim calcmode="lin" valueType="num">
                                      <p:cBhvr>
                                        <p:cTn id="45" dur="1000" fill="hold"/>
                                        <p:tgtEl>
                                          <p:spTgt spid="5"/>
                                        </p:tgtEl>
                                        <p:attrNameLst>
                                          <p:attrName>ppt_h</p:attrName>
                                        </p:attrNameLst>
                                      </p:cBhvr>
                                      <p:tavLst>
                                        <p:tav tm="0">
                                          <p:val>
                                            <p:strVal val="#ppt_h"/>
                                          </p:val>
                                        </p:tav>
                                        <p:tav tm="100000">
                                          <p:val>
                                            <p:strVal val="#ppt_h"/>
                                          </p:val>
                                        </p:tav>
                                      </p:tavLst>
                                    </p:anim>
                                    <p:animEffect transition="in" filter="fade">
                                      <p:cBhvr>
                                        <p:cTn id="46" dur="10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down)">
                                      <p:cBhvr>
                                        <p:cTn id="51" dur="500"/>
                                        <p:tgtEl>
                                          <p:spTgt spid="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down)">
                                      <p:cBhvr>
                                        <p:cTn id="5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P spid="82947" grpId="0"/>
      <p:bldP spid="82948" grpId="0" animBg="1"/>
      <p:bldP spid="82949" grpId="0"/>
      <p:bldP spid="8295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descr="cartoon"/>
          <p:cNvPicPr>
            <a:picLocks noChangeAspect="1" noChangeArrowheads="1"/>
          </p:cNvPicPr>
          <p:nvPr/>
        </p:nvPicPr>
        <p:blipFill>
          <a:blip r:embed="rId1"/>
          <a:srcRect/>
          <a:stretch>
            <a:fillRect/>
          </a:stretch>
        </p:blipFill>
        <p:spPr bwMode="auto">
          <a:xfrm>
            <a:off x="4572000" y="1460500"/>
            <a:ext cx="3810000" cy="2857500"/>
          </a:xfrm>
          <a:prstGeom prst="rect">
            <a:avLst/>
          </a:prstGeom>
          <a:noFill/>
          <a:ln w="9525">
            <a:noFill/>
            <a:miter lim="800000"/>
            <a:headEnd/>
            <a:tailEnd/>
          </a:ln>
        </p:spPr>
      </p:pic>
      <p:sp>
        <p:nvSpPr>
          <p:cNvPr id="83971" name="Text Box 3"/>
          <p:cNvSpPr txBox="1">
            <a:spLocks noChangeArrowheads="1"/>
          </p:cNvSpPr>
          <p:nvPr/>
        </p:nvSpPr>
        <p:spPr bwMode="auto">
          <a:xfrm>
            <a:off x="5748338" y="4411663"/>
            <a:ext cx="1103312" cy="457200"/>
          </a:xfrm>
          <a:prstGeom prst="rect">
            <a:avLst/>
          </a:prstGeom>
          <a:noFill/>
          <a:ln w="9525">
            <a:noFill/>
            <a:miter lim="800000"/>
          </a:ln>
        </p:spPr>
        <p:txBody>
          <a:bodyPr wrap="none">
            <a:spAutoFit/>
          </a:bodyPr>
          <a:lstStyle/>
          <a:p>
            <a:r>
              <a:rPr lang="zh-CN" altLang="en-US" b="1">
                <a:solidFill>
                  <a:srgbClr val="0000FF"/>
                </a:solidFill>
              </a:rPr>
              <a:t>电冰箱</a:t>
            </a:r>
            <a:endParaRPr lang="zh-CN" altLang="en-US" b="1">
              <a:solidFill>
                <a:srgbClr val="0000FF"/>
              </a:solidFill>
            </a:endParaRPr>
          </a:p>
        </p:txBody>
      </p:sp>
      <p:sp>
        <p:nvSpPr>
          <p:cNvPr id="83972" name="Text Box 4"/>
          <p:cNvSpPr txBox="1">
            <a:spLocks noChangeArrowheads="1"/>
          </p:cNvSpPr>
          <p:nvPr/>
        </p:nvSpPr>
        <p:spPr bwMode="auto">
          <a:xfrm>
            <a:off x="468313" y="1736725"/>
            <a:ext cx="3451225" cy="457200"/>
          </a:xfrm>
          <a:prstGeom prst="rect">
            <a:avLst/>
          </a:prstGeom>
          <a:noFill/>
          <a:ln w="9525">
            <a:noFill/>
            <a:miter lim="800000"/>
          </a:ln>
        </p:spPr>
        <p:txBody>
          <a:bodyPr wrap="none">
            <a:spAutoFit/>
          </a:bodyPr>
          <a:lstStyle/>
          <a:p>
            <a:r>
              <a:rPr lang="en-US" altLang="zh-CN" b="1"/>
              <a:t>B</a:t>
            </a:r>
            <a:r>
              <a:rPr lang="zh-CN" altLang="en-US" b="1"/>
              <a:t>（冷藏室）：等温膨胀</a:t>
            </a:r>
            <a:endParaRPr lang="zh-CN" altLang="en-US" b="1"/>
          </a:p>
        </p:txBody>
      </p:sp>
      <p:sp>
        <p:nvSpPr>
          <p:cNvPr id="83973" name="Text Box 5"/>
          <p:cNvSpPr txBox="1">
            <a:spLocks noChangeArrowheads="1"/>
          </p:cNvSpPr>
          <p:nvPr/>
        </p:nvSpPr>
        <p:spPr bwMode="auto">
          <a:xfrm>
            <a:off x="468313" y="2384425"/>
            <a:ext cx="3468687" cy="457200"/>
          </a:xfrm>
          <a:prstGeom prst="rect">
            <a:avLst/>
          </a:prstGeom>
          <a:noFill/>
          <a:ln w="9525">
            <a:noFill/>
            <a:miter lim="800000"/>
          </a:ln>
        </p:spPr>
        <p:txBody>
          <a:bodyPr wrap="none">
            <a:spAutoFit/>
          </a:bodyPr>
          <a:lstStyle/>
          <a:p>
            <a:r>
              <a:rPr lang="en-US" altLang="zh-CN" b="1"/>
              <a:t>C</a:t>
            </a:r>
            <a:r>
              <a:rPr lang="zh-CN" altLang="en-US" b="1"/>
              <a:t>（节流阀）：绝热膨胀</a:t>
            </a:r>
            <a:endParaRPr lang="zh-CN" altLang="en-US" b="1"/>
          </a:p>
        </p:txBody>
      </p:sp>
      <p:sp>
        <p:nvSpPr>
          <p:cNvPr id="83974" name="Text Box 6"/>
          <p:cNvSpPr txBox="1">
            <a:spLocks noChangeArrowheads="1"/>
          </p:cNvSpPr>
          <p:nvPr/>
        </p:nvSpPr>
        <p:spPr bwMode="auto">
          <a:xfrm>
            <a:off x="468313" y="2936875"/>
            <a:ext cx="3468687" cy="457200"/>
          </a:xfrm>
          <a:prstGeom prst="rect">
            <a:avLst/>
          </a:prstGeom>
          <a:noFill/>
          <a:ln w="9525">
            <a:noFill/>
            <a:miter lim="800000"/>
          </a:ln>
        </p:spPr>
        <p:txBody>
          <a:bodyPr wrap="none">
            <a:spAutoFit/>
          </a:bodyPr>
          <a:lstStyle/>
          <a:p>
            <a:r>
              <a:rPr lang="en-US" altLang="zh-CN" b="1"/>
              <a:t>D</a:t>
            </a:r>
            <a:r>
              <a:rPr lang="zh-CN" altLang="en-US" b="1"/>
              <a:t>（散热器）：等温压缩</a:t>
            </a:r>
            <a:endParaRPr lang="zh-CN" altLang="en-US" b="1"/>
          </a:p>
        </p:txBody>
      </p:sp>
      <p:sp>
        <p:nvSpPr>
          <p:cNvPr id="83975" name="Text Box 7"/>
          <p:cNvSpPr txBox="1">
            <a:spLocks noChangeArrowheads="1"/>
          </p:cNvSpPr>
          <p:nvPr/>
        </p:nvSpPr>
        <p:spPr bwMode="auto">
          <a:xfrm>
            <a:off x="468313" y="3536950"/>
            <a:ext cx="3451225" cy="457200"/>
          </a:xfrm>
          <a:prstGeom prst="rect">
            <a:avLst/>
          </a:prstGeom>
          <a:noFill/>
          <a:ln w="9525">
            <a:noFill/>
            <a:miter lim="800000"/>
          </a:ln>
        </p:spPr>
        <p:txBody>
          <a:bodyPr wrap="none">
            <a:spAutoFit/>
          </a:bodyPr>
          <a:lstStyle/>
          <a:p>
            <a:r>
              <a:rPr lang="en-US" altLang="zh-CN" b="1"/>
              <a:t>E</a:t>
            </a:r>
            <a:r>
              <a:rPr lang="zh-CN" altLang="en-US" b="1"/>
              <a:t>（压缩机）：绝热压缩</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box(out)">
                                      <p:cBhvr>
                                        <p:cTn id="7" dur="500"/>
                                        <p:tgtEl>
                                          <p:spTgt spid="8397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3971"/>
                                        </p:tgtEl>
                                        <p:attrNameLst>
                                          <p:attrName>style.visibility</p:attrName>
                                        </p:attrNameLst>
                                      </p:cBhvr>
                                      <p:to>
                                        <p:strVal val="visible"/>
                                      </p:to>
                                    </p:set>
                                    <p:animEffect transition="in" filter="wipe(left)">
                                      <p:cBhvr>
                                        <p:cTn id="11" dur="500"/>
                                        <p:tgtEl>
                                          <p:spTgt spid="8397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3972"/>
                                        </p:tgtEl>
                                        <p:attrNameLst>
                                          <p:attrName>style.visibility</p:attrName>
                                        </p:attrNameLst>
                                      </p:cBhvr>
                                      <p:to>
                                        <p:strVal val="visible"/>
                                      </p:to>
                                    </p:set>
                                    <p:animEffect transition="in" filter="wipe(left)">
                                      <p:cBhvr>
                                        <p:cTn id="16" dur="500"/>
                                        <p:tgtEl>
                                          <p:spTgt spid="8397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3973"/>
                                        </p:tgtEl>
                                        <p:attrNameLst>
                                          <p:attrName>style.visibility</p:attrName>
                                        </p:attrNameLst>
                                      </p:cBhvr>
                                      <p:to>
                                        <p:strVal val="visible"/>
                                      </p:to>
                                    </p:set>
                                    <p:animEffect transition="in" filter="wipe(left)">
                                      <p:cBhvr>
                                        <p:cTn id="21" dur="500"/>
                                        <p:tgtEl>
                                          <p:spTgt spid="8397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3974"/>
                                        </p:tgtEl>
                                        <p:attrNameLst>
                                          <p:attrName>style.visibility</p:attrName>
                                        </p:attrNameLst>
                                      </p:cBhvr>
                                      <p:to>
                                        <p:strVal val="visible"/>
                                      </p:to>
                                    </p:set>
                                    <p:animEffect transition="in" filter="wipe(left)">
                                      <p:cBhvr>
                                        <p:cTn id="26" dur="500"/>
                                        <p:tgtEl>
                                          <p:spTgt spid="8397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3975"/>
                                        </p:tgtEl>
                                        <p:attrNameLst>
                                          <p:attrName>style.visibility</p:attrName>
                                        </p:attrNameLst>
                                      </p:cBhvr>
                                      <p:to>
                                        <p:strVal val="visible"/>
                                      </p:to>
                                    </p:set>
                                    <p:animEffect transition="in" filter="wipe(left)">
                                      <p:cBhvr>
                                        <p:cTn id="31" dur="500"/>
                                        <p:tgtEl>
                                          <p:spTgt spid="83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p:bldP spid="83972" grpId="0"/>
      <p:bldP spid="83973" grpId="0"/>
      <p:bldP spid="83974" grpId="0"/>
      <p:bldP spid="8397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reeform 2"/>
          <p:cNvSpPr/>
          <p:nvPr/>
        </p:nvSpPr>
        <p:spPr bwMode="auto">
          <a:xfrm>
            <a:off x="6948488" y="2751138"/>
            <a:ext cx="1144587" cy="860425"/>
          </a:xfrm>
          <a:custGeom>
            <a:avLst/>
            <a:gdLst>
              <a:gd name="T0" fmla="*/ 0 w 721"/>
              <a:gd name="T1" fmla="*/ 2147483647 h 542"/>
              <a:gd name="T2" fmla="*/ 2147483647 w 721"/>
              <a:gd name="T3" fmla="*/ 2147483647 h 542"/>
              <a:gd name="T4" fmla="*/ 2147483647 w 721"/>
              <a:gd name="T5" fmla="*/ 2147483647 h 542"/>
              <a:gd name="T6" fmla="*/ 2147483647 w 721"/>
              <a:gd name="T7" fmla="*/ 2147483647 h 542"/>
              <a:gd name="T8" fmla="*/ 2147483647 w 721"/>
              <a:gd name="T9" fmla="*/ 2147483647 h 542"/>
              <a:gd name="T10" fmla="*/ 2147483647 w 721"/>
              <a:gd name="T11" fmla="*/ 2147483647 h 542"/>
              <a:gd name="T12" fmla="*/ 2147483647 w 721"/>
              <a:gd name="T13" fmla="*/ 2147483647 h 542"/>
              <a:gd name="T14" fmla="*/ 2147483647 w 721"/>
              <a:gd name="T15" fmla="*/ 2147483647 h 542"/>
              <a:gd name="T16" fmla="*/ 0 w 721"/>
              <a:gd name="T17" fmla="*/ 2147483647 h 5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1"/>
              <a:gd name="T28" fmla="*/ 0 h 542"/>
              <a:gd name="T29" fmla="*/ 721 w 721"/>
              <a:gd name="T30" fmla="*/ 542 h 5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1" h="542">
                <a:moveTo>
                  <a:pt x="0" y="19"/>
                </a:moveTo>
                <a:lnTo>
                  <a:pt x="58" y="9"/>
                </a:lnTo>
                <a:cubicBezTo>
                  <a:pt x="96" y="7"/>
                  <a:pt x="165" y="0"/>
                  <a:pt x="231" y="9"/>
                </a:cubicBezTo>
                <a:cubicBezTo>
                  <a:pt x="297" y="18"/>
                  <a:pt x="383" y="26"/>
                  <a:pt x="453" y="64"/>
                </a:cubicBezTo>
                <a:cubicBezTo>
                  <a:pt x="523" y="102"/>
                  <a:pt x="605" y="168"/>
                  <a:pt x="649" y="240"/>
                </a:cubicBezTo>
                <a:cubicBezTo>
                  <a:pt x="693" y="312"/>
                  <a:pt x="704" y="444"/>
                  <a:pt x="716" y="494"/>
                </a:cubicBezTo>
                <a:lnTo>
                  <a:pt x="721" y="542"/>
                </a:lnTo>
                <a:cubicBezTo>
                  <a:pt x="640" y="523"/>
                  <a:pt x="347" y="469"/>
                  <a:pt x="227" y="382"/>
                </a:cubicBezTo>
                <a:cubicBezTo>
                  <a:pt x="107" y="295"/>
                  <a:pt x="47" y="95"/>
                  <a:pt x="0" y="19"/>
                </a:cubicBezTo>
                <a:close/>
              </a:path>
            </a:pathLst>
          </a:custGeom>
          <a:pattFill prst="wdUpDiag">
            <a:fgClr>
              <a:srgbClr val="0000FF"/>
            </a:fgClr>
            <a:bgClr>
              <a:schemeClr val="bg1"/>
            </a:bgClr>
          </a:pattFill>
          <a:ln w="9525">
            <a:noFill/>
            <a:round/>
          </a:ln>
        </p:spPr>
        <p:txBody>
          <a:bodyPr/>
          <a:lstStyle/>
          <a:p>
            <a:pPr algn="ctr"/>
            <a:endParaRPr lang="zh-CN" altLang="en-US" b="1"/>
          </a:p>
        </p:txBody>
      </p:sp>
      <p:sp>
        <p:nvSpPr>
          <p:cNvPr id="84995" name="Text Box 3"/>
          <p:cNvSpPr txBox="1">
            <a:spLocks noChangeArrowheads="1"/>
          </p:cNvSpPr>
          <p:nvPr/>
        </p:nvSpPr>
        <p:spPr bwMode="auto">
          <a:xfrm>
            <a:off x="250825" y="908050"/>
            <a:ext cx="6121400" cy="461963"/>
          </a:xfrm>
          <a:prstGeom prst="rect">
            <a:avLst/>
          </a:prstGeom>
          <a:noFill/>
          <a:ln w="12700" cap="sq">
            <a:noFill/>
            <a:miter lim="800000"/>
            <a:headEnd type="none" w="sm" len="sm"/>
            <a:tailEnd type="none" w="sm" len="sm"/>
          </a:ln>
        </p:spPr>
        <p:txBody>
          <a:bodyPr>
            <a:spAutoFit/>
          </a:bodyPr>
          <a:lstStyle/>
          <a:p>
            <a:r>
              <a:rPr kumimoji="1" lang="zh-CN" altLang="en-US" b="1">
                <a:solidFill>
                  <a:srgbClr val="0000FF"/>
                </a:solidFill>
                <a:latin typeface="宋体" panose="02010600030101010101" pitchFamily="2" charset="-122"/>
              </a:rPr>
              <a:t>循环效率</a:t>
            </a:r>
            <a:endParaRPr kumimoji="1" lang="zh-CN" altLang="en-US" b="1">
              <a:solidFill>
                <a:srgbClr val="0000FF"/>
              </a:solidFill>
              <a:latin typeface="宋体" panose="02010600030101010101" pitchFamily="2" charset="-122"/>
            </a:endParaRPr>
          </a:p>
        </p:txBody>
      </p:sp>
      <p:grpSp>
        <p:nvGrpSpPr>
          <p:cNvPr id="2" name="Group 4"/>
          <p:cNvGrpSpPr/>
          <p:nvPr/>
        </p:nvGrpSpPr>
        <p:grpSpPr bwMode="auto">
          <a:xfrm>
            <a:off x="6011863" y="2155825"/>
            <a:ext cx="3024187" cy="2038350"/>
            <a:chOff x="3787" y="1358"/>
            <a:chExt cx="1905" cy="1284"/>
          </a:xfrm>
        </p:grpSpPr>
        <p:sp>
          <p:nvSpPr>
            <p:cNvPr id="43039" name="Line 5"/>
            <p:cNvSpPr>
              <a:spLocks noChangeShapeType="1"/>
            </p:cNvSpPr>
            <p:nvPr/>
          </p:nvSpPr>
          <p:spPr bwMode="auto">
            <a:xfrm flipV="1">
              <a:off x="4059" y="1482"/>
              <a:ext cx="0" cy="1041"/>
            </a:xfrm>
            <a:prstGeom prst="line">
              <a:avLst/>
            </a:prstGeom>
            <a:noFill/>
            <a:ln w="28575">
              <a:solidFill>
                <a:schemeClr val="tx1"/>
              </a:solidFill>
              <a:round/>
              <a:tailEnd type="triangle" w="med" len="med"/>
            </a:ln>
          </p:spPr>
          <p:txBody>
            <a:bodyPr/>
            <a:lstStyle/>
            <a:p>
              <a:endParaRPr lang="zh-CN" altLang="en-US"/>
            </a:p>
          </p:txBody>
        </p:sp>
        <p:sp>
          <p:nvSpPr>
            <p:cNvPr id="43040" name="Line 6"/>
            <p:cNvSpPr>
              <a:spLocks noChangeShapeType="1"/>
            </p:cNvSpPr>
            <p:nvPr/>
          </p:nvSpPr>
          <p:spPr bwMode="auto">
            <a:xfrm>
              <a:off x="4049" y="2522"/>
              <a:ext cx="1316" cy="0"/>
            </a:xfrm>
            <a:prstGeom prst="line">
              <a:avLst/>
            </a:prstGeom>
            <a:noFill/>
            <a:ln w="28575">
              <a:solidFill>
                <a:schemeClr val="tx1"/>
              </a:solidFill>
              <a:round/>
              <a:tailEnd type="triangle" w="med" len="med"/>
            </a:ln>
          </p:spPr>
          <p:txBody>
            <a:bodyPr/>
            <a:lstStyle/>
            <a:p>
              <a:endParaRPr lang="zh-CN" altLang="en-US"/>
            </a:p>
          </p:txBody>
        </p:sp>
        <p:sp>
          <p:nvSpPr>
            <p:cNvPr id="43041" name="Text Box 7"/>
            <p:cNvSpPr txBox="1">
              <a:spLocks noChangeArrowheads="1"/>
            </p:cNvSpPr>
            <p:nvPr/>
          </p:nvSpPr>
          <p:spPr bwMode="auto">
            <a:xfrm>
              <a:off x="3832" y="1358"/>
              <a:ext cx="318" cy="288"/>
            </a:xfrm>
            <a:prstGeom prst="rect">
              <a:avLst/>
            </a:prstGeom>
            <a:noFill/>
            <a:ln w="9525">
              <a:noFill/>
              <a:miter lim="800000"/>
            </a:ln>
          </p:spPr>
          <p:txBody>
            <a:bodyPr>
              <a:spAutoFit/>
            </a:bodyPr>
            <a:lstStyle/>
            <a:p>
              <a:r>
                <a:rPr lang="en-US" altLang="zh-CN" b="1" i="1"/>
                <a:t>p</a:t>
              </a:r>
              <a:endParaRPr lang="en-US" altLang="zh-CN" b="1" i="1"/>
            </a:p>
          </p:txBody>
        </p:sp>
        <p:sp>
          <p:nvSpPr>
            <p:cNvPr id="43042" name="Text Box 8"/>
            <p:cNvSpPr txBox="1">
              <a:spLocks noChangeArrowheads="1"/>
            </p:cNvSpPr>
            <p:nvPr/>
          </p:nvSpPr>
          <p:spPr bwMode="auto">
            <a:xfrm>
              <a:off x="5362" y="2354"/>
              <a:ext cx="330" cy="288"/>
            </a:xfrm>
            <a:prstGeom prst="rect">
              <a:avLst/>
            </a:prstGeom>
            <a:noFill/>
            <a:ln w="9525">
              <a:noFill/>
              <a:miter lim="800000"/>
            </a:ln>
          </p:spPr>
          <p:txBody>
            <a:bodyPr>
              <a:spAutoFit/>
            </a:bodyPr>
            <a:lstStyle/>
            <a:p>
              <a:r>
                <a:rPr lang="en-US" altLang="zh-CN" b="1" i="1"/>
                <a:t>V</a:t>
              </a:r>
              <a:endParaRPr lang="en-US" altLang="zh-CN" b="1" i="1"/>
            </a:p>
          </p:txBody>
        </p:sp>
        <p:sp>
          <p:nvSpPr>
            <p:cNvPr id="43043" name="Text Box 9"/>
            <p:cNvSpPr txBox="1">
              <a:spLocks noChangeArrowheads="1"/>
            </p:cNvSpPr>
            <p:nvPr/>
          </p:nvSpPr>
          <p:spPr bwMode="auto">
            <a:xfrm>
              <a:off x="3787" y="2341"/>
              <a:ext cx="408" cy="288"/>
            </a:xfrm>
            <a:prstGeom prst="rect">
              <a:avLst/>
            </a:prstGeom>
            <a:noFill/>
            <a:ln w="9525">
              <a:noFill/>
              <a:miter lim="800000"/>
            </a:ln>
          </p:spPr>
          <p:txBody>
            <a:bodyPr>
              <a:spAutoFit/>
            </a:bodyPr>
            <a:lstStyle/>
            <a:p>
              <a:r>
                <a:rPr lang="en-US" altLang="zh-CN" b="1" i="1"/>
                <a:t>O</a:t>
              </a:r>
              <a:endParaRPr lang="en-US" altLang="zh-CN" b="1" i="1"/>
            </a:p>
          </p:txBody>
        </p:sp>
      </p:grpSp>
      <p:grpSp>
        <p:nvGrpSpPr>
          <p:cNvPr id="3" name="Group 10"/>
          <p:cNvGrpSpPr/>
          <p:nvPr/>
        </p:nvGrpSpPr>
        <p:grpSpPr bwMode="auto">
          <a:xfrm>
            <a:off x="6948488" y="2736850"/>
            <a:ext cx="1150937" cy="839788"/>
            <a:chOff x="4377" y="1724"/>
            <a:chExt cx="725" cy="529"/>
          </a:xfrm>
        </p:grpSpPr>
        <p:sp>
          <p:nvSpPr>
            <p:cNvPr id="43037" name="Freeform 11"/>
            <p:cNvSpPr/>
            <p:nvPr/>
          </p:nvSpPr>
          <p:spPr bwMode="auto">
            <a:xfrm>
              <a:off x="4377" y="1724"/>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ln>
          </p:spPr>
          <p:txBody>
            <a:bodyPr/>
            <a:lstStyle/>
            <a:p>
              <a:pPr algn="ctr"/>
              <a:endParaRPr lang="zh-CN" altLang="en-US" b="1"/>
            </a:p>
          </p:txBody>
        </p:sp>
        <p:sp>
          <p:nvSpPr>
            <p:cNvPr id="43038" name="Line 12"/>
            <p:cNvSpPr>
              <a:spLocks noChangeShapeType="1"/>
            </p:cNvSpPr>
            <p:nvPr/>
          </p:nvSpPr>
          <p:spPr bwMode="auto">
            <a:xfrm>
              <a:off x="4921" y="1845"/>
              <a:ext cx="45" cy="45"/>
            </a:xfrm>
            <a:prstGeom prst="line">
              <a:avLst/>
            </a:prstGeom>
            <a:noFill/>
            <a:ln w="38100">
              <a:solidFill>
                <a:srgbClr val="3333CC"/>
              </a:solidFill>
              <a:round/>
              <a:tailEnd type="triangle" w="med" len="med"/>
            </a:ln>
          </p:spPr>
          <p:txBody>
            <a:bodyPr/>
            <a:lstStyle/>
            <a:p>
              <a:endParaRPr lang="zh-CN" altLang="en-US"/>
            </a:p>
          </p:txBody>
        </p:sp>
      </p:grpSp>
      <p:grpSp>
        <p:nvGrpSpPr>
          <p:cNvPr id="4" name="Group 13"/>
          <p:cNvGrpSpPr/>
          <p:nvPr/>
        </p:nvGrpSpPr>
        <p:grpSpPr bwMode="auto">
          <a:xfrm>
            <a:off x="6948488" y="2784475"/>
            <a:ext cx="1147762" cy="838200"/>
            <a:chOff x="4377" y="1754"/>
            <a:chExt cx="723" cy="528"/>
          </a:xfrm>
        </p:grpSpPr>
        <p:sp>
          <p:nvSpPr>
            <p:cNvPr id="43035" name="Freeform 14"/>
            <p:cNvSpPr/>
            <p:nvPr/>
          </p:nvSpPr>
          <p:spPr bwMode="auto">
            <a:xfrm>
              <a:off x="4377" y="1754"/>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3333CC"/>
              </a:solidFill>
              <a:round/>
            </a:ln>
          </p:spPr>
          <p:txBody>
            <a:bodyPr/>
            <a:lstStyle/>
            <a:p>
              <a:pPr algn="ctr"/>
              <a:endParaRPr lang="zh-CN" altLang="en-US" b="1"/>
            </a:p>
          </p:txBody>
        </p:sp>
        <p:sp>
          <p:nvSpPr>
            <p:cNvPr id="43036" name="Line 15"/>
            <p:cNvSpPr>
              <a:spLocks noChangeShapeType="1"/>
            </p:cNvSpPr>
            <p:nvPr/>
          </p:nvSpPr>
          <p:spPr bwMode="auto">
            <a:xfrm flipH="1" flipV="1">
              <a:off x="4558" y="2071"/>
              <a:ext cx="45" cy="45"/>
            </a:xfrm>
            <a:prstGeom prst="line">
              <a:avLst/>
            </a:prstGeom>
            <a:noFill/>
            <a:ln w="38100">
              <a:solidFill>
                <a:srgbClr val="3333CC"/>
              </a:solidFill>
              <a:round/>
              <a:tailEnd type="triangle" w="med" len="med"/>
            </a:ln>
          </p:spPr>
          <p:txBody>
            <a:bodyPr/>
            <a:lstStyle/>
            <a:p>
              <a:endParaRPr lang="zh-CN" altLang="en-US"/>
            </a:p>
          </p:txBody>
        </p:sp>
      </p:grpSp>
      <p:sp>
        <p:nvSpPr>
          <p:cNvPr id="85008" name="Oval 16"/>
          <p:cNvSpPr>
            <a:spLocks noChangeArrowheads="1"/>
          </p:cNvSpPr>
          <p:nvPr/>
        </p:nvSpPr>
        <p:spPr bwMode="auto">
          <a:xfrm>
            <a:off x="6915150" y="2751138"/>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85009" name="Oval 17"/>
          <p:cNvSpPr>
            <a:spLocks noChangeArrowheads="1"/>
          </p:cNvSpPr>
          <p:nvPr/>
        </p:nvSpPr>
        <p:spPr bwMode="auto">
          <a:xfrm>
            <a:off x="8059738" y="3575050"/>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85010" name="Text Box 18"/>
          <p:cNvSpPr txBox="1">
            <a:spLocks noChangeArrowheads="1"/>
          </p:cNvSpPr>
          <p:nvPr/>
        </p:nvSpPr>
        <p:spPr bwMode="auto">
          <a:xfrm>
            <a:off x="6783388" y="2300288"/>
            <a:ext cx="452437" cy="457200"/>
          </a:xfrm>
          <a:prstGeom prst="rect">
            <a:avLst/>
          </a:prstGeom>
          <a:noFill/>
          <a:ln w="9525">
            <a:noFill/>
            <a:miter lim="800000"/>
          </a:ln>
        </p:spPr>
        <p:txBody>
          <a:bodyPr>
            <a:spAutoFit/>
          </a:bodyPr>
          <a:lstStyle/>
          <a:p>
            <a:r>
              <a:rPr lang="en-US" altLang="zh-CN" b="1" i="1"/>
              <a:t>I</a:t>
            </a:r>
            <a:endParaRPr lang="en-US" altLang="zh-CN" b="1" i="1"/>
          </a:p>
        </p:txBody>
      </p:sp>
      <p:sp>
        <p:nvSpPr>
          <p:cNvPr id="85011" name="Text Box 19"/>
          <p:cNvSpPr txBox="1">
            <a:spLocks noChangeArrowheads="1"/>
          </p:cNvSpPr>
          <p:nvPr/>
        </p:nvSpPr>
        <p:spPr bwMode="auto">
          <a:xfrm>
            <a:off x="8243888" y="3360738"/>
            <a:ext cx="649287" cy="457200"/>
          </a:xfrm>
          <a:prstGeom prst="rect">
            <a:avLst/>
          </a:prstGeom>
          <a:noFill/>
          <a:ln w="9525">
            <a:noFill/>
            <a:miter lim="800000"/>
          </a:ln>
        </p:spPr>
        <p:txBody>
          <a:bodyPr>
            <a:spAutoFit/>
          </a:bodyPr>
          <a:lstStyle/>
          <a:p>
            <a:r>
              <a:rPr lang="en-US" altLang="zh-CN" b="1" i="1"/>
              <a:t>II</a:t>
            </a:r>
            <a:endParaRPr lang="en-US" altLang="zh-CN" b="1" i="1"/>
          </a:p>
        </p:txBody>
      </p:sp>
      <p:sp>
        <p:nvSpPr>
          <p:cNvPr id="85012" name="Text Box 20"/>
          <p:cNvSpPr txBox="1">
            <a:spLocks noChangeArrowheads="1"/>
          </p:cNvSpPr>
          <p:nvPr/>
        </p:nvSpPr>
        <p:spPr bwMode="auto">
          <a:xfrm>
            <a:off x="7740650" y="2424113"/>
            <a:ext cx="336550" cy="457200"/>
          </a:xfrm>
          <a:prstGeom prst="rect">
            <a:avLst/>
          </a:prstGeom>
          <a:noFill/>
          <a:ln w="9525">
            <a:noFill/>
            <a:miter lim="800000"/>
          </a:ln>
        </p:spPr>
        <p:txBody>
          <a:bodyPr wrap="none">
            <a:spAutoFit/>
          </a:bodyPr>
          <a:lstStyle/>
          <a:p>
            <a:r>
              <a:rPr lang="en-US" altLang="zh-CN" b="1" i="1"/>
              <a:t>a</a:t>
            </a:r>
            <a:endParaRPr lang="en-US" altLang="zh-CN" b="1" i="1"/>
          </a:p>
        </p:txBody>
      </p:sp>
      <p:sp>
        <p:nvSpPr>
          <p:cNvPr id="85013" name="Text Box 21"/>
          <p:cNvSpPr txBox="1">
            <a:spLocks noChangeArrowheads="1"/>
          </p:cNvSpPr>
          <p:nvPr/>
        </p:nvSpPr>
        <p:spPr bwMode="auto">
          <a:xfrm>
            <a:off x="7091363" y="3360738"/>
            <a:ext cx="336550" cy="457200"/>
          </a:xfrm>
          <a:prstGeom prst="rect">
            <a:avLst/>
          </a:prstGeom>
          <a:noFill/>
          <a:ln w="9525">
            <a:noFill/>
            <a:miter lim="800000"/>
          </a:ln>
        </p:spPr>
        <p:txBody>
          <a:bodyPr wrap="none">
            <a:spAutoFit/>
          </a:bodyPr>
          <a:lstStyle/>
          <a:p>
            <a:r>
              <a:rPr lang="en-US" altLang="zh-CN" b="1" i="1"/>
              <a:t>b</a:t>
            </a:r>
            <a:endParaRPr lang="en-US" altLang="zh-CN" b="1" i="1"/>
          </a:p>
        </p:txBody>
      </p:sp>
      <p:sp>
        <p:nvSpPr>
          <p:cNvPr id="85014" name="Text Box 22"/>
          <p:cNvSpPr txBox="1">
            <a:spLocks noChangeArrowheads="1"/>
          </p:cNvSpPr>
          <p:nvPr/>
        </p:nvSpPr>
        <p:spPr bwMode="auto">
          <a:xfrm>
            <a:off x="6853238" y="4051300"/>
            <a:ext cx="1319212" cy="457200"/>
          </a:xfrm>
          <a:prstGeom prst="rect">
            <a:avLst/>
          </a:prstGeom>
          <a:noFill/>
          <a:ln w="9525">
            <a:noFill/>
            <a:miter lim="800000"/>
          </a:ln>
        </p:spPr>
        <p:txBody>
          <a:bodyPr>
            <a:spAutoFit/>
          </a:bodyPr>
          <a:lstStyle/>
          <a:p>
            <a:r>
              <a:rPr lang="zh-CN" altLang="en-US" b="1"/>
              <a:t>正循环</a:t>
            </a:r>
            <a:endParaRPr lang="zh-CN" altLang="en-US" b="1"/>
          </a:p>
        </p:txBody>
      </p:sp>
      <p:sp>
        <p:nvSpPr>
          <p:cNvPr id="85015" name="Text Box 23"/>
          <p:cNvSpPr txBox="1">
            <a:spLocks noChangeArrowheads="1"/>
          </p:cNvSpPr>
          <p:nvPr/>
        </p:nvSpPr>
        <p:spPr bwMode="auto">
          <a:xfrm>
            <a:off x="611188" y="1700213"/>
            <a:ext cx="1081087" cy="457200"/>
          </a:xfrm>
          <a:prstGeom prst="rect">
            <a:avLst/>
          </a:prstGeom>
          <a:noFill/>
          <a:ln w="9525">
            <a:noFill/>
            <a:miter lim="800000"/>
          </a:ln>
        </p:spPr>
        <p:txBody>
          <a:bodyPr>
            <a:spAutoFit/>
          </a:bodyPr>
          <a:lstStyle/>
          <a:p>
            <a:r>
              <a:rPr lang="zh-CN" altLang="en-US" b="1"/>
              <a:t>热机</a:t>
            </a:r>
            <a:endParaRPr lang="zh-CN" altLang="en-US" b="1"/>
          </a:p>
        </p:txBody>
      </p:sp>
      <p:sp>
        <p:nvSpPr>
          <p:cNvPr id="85016" name="AutoShape 24"/>
          <p:cNvSpPr>
            <a:spLocks noChangeArrowheads="1"/>
          </p:cNvSpPr>
          <p:nvPr/>
        </p:nvSpPr>
        <p:spPr bwMode="auto">
          <a:xfrm>
            <a:off x="1403350" y="1916113"/>
            <a:ext cx="649288" cy="144462"/>
          </a:xfrm>
          <a:prstGeom prst="rightArrow">
            <a:avLst>
              <a:gd name="adj1" fmla="val 50000"/>
              <a:gd name="adj2" fmla="val 112363"/>
            </a:avLst>
          </a:prstGeom>
          <a:solidFill>
            <a:schemeClr val="accent1"/>
          </a:solidFill>
          <a:ln w="9525">
            <a:solidFill>
              <a:schemeClr val="tx1"/>
            </a:solidFill>
            <a:miter lim="800000"/>
          </a:ln>
        </p:spPr>
        <p:txBody>
          <a:bodyPr wrap="none" anchor="ctr"/>
          <a:lstStyle/>
          <a:p>
            <a:pPr algn="ctr"/>
            <a:endParaRPr lang="zh-CN" altLang="en-US" b="1"/>
          </a:p>
        </p:txBody>
      </p:sp>
      <p:sp>
        <p:nvSpPr>
          <p:cNvPr id="85017" name="Text Box 25"/>
          <p:cNvSpPr txBox="1">
            <a:spLocks noChangeArrowheads="1"/>
          </p:cNvSpPr>
          <p:nvPr/>
        </p:nvSpPr>
        <p:spPr bwMode="auto">
          <a:xfrm>
            <a:off x="2124075" y="1700213"/>
            <a:ext cx="4608513" cy="457200"/>
          </a:xfrm>
          <a:prstGeom prst="rect">
            <a:avLst/>
          </a:prstGeom>
          <a:noFill/>
          <a:ln w="9525">
            <a:noFill/>
            <a:miter lim="800000"/>
          </a:ln>
        </p:spPr>
        <p:txBody>
          <a:bodyPr>
            <a:spAutoFit/>
          </a:bodyPr>
          <a:lstStyle/>
          <a:p>
            <a:r>
              <a:rPr lang="zh-CN" altLang="en-US" b="1"/>
              <a:t>将热量尽可能多地转化为功</a:t>
            </a:r>
            <a:endParaRPr lang="zh-CN" altLang="en-US" b="1"/>
          </a:p>
        </p:txBody>
      </p:sp>
      <p:sp>
        <p:nvSpPr>
          <p:cNvPr id="85018" name="Text Box 26"/>
          <p:cNvSpPr txBox="1">
            <a:spLocks noChangeArrowheads="1"/>
          </p:cNvSpPr>
          <p:nvPr/>
        </p:nvSpPr>
        <p:spPr bwMode="auto">
          <a:xfrm>
            <a:off x="323850" y="5335588"/>
            <a:ext cx="3671888" cy="457200"/>
          </a:xfrm>
          <a:prstGeom prst="rect">
            <a:avLst/>
          </a:prstGeom>
          <a:noFill/>
          <a:ln w="9525">
            <a:noFill/>
            <a:miter lim="800000"/>
          </a:ln>
        </p:spPr>
        <p:txBody>
          <a:bodyPr>
            <a:spAutoFit/>
          </a:bodyPr>
          <a:lstStyle/>
          <a:p>
            <a:r>
              <a:rPr lang="zh-CN" altLang="en-US" b="1">
                <a:solidFill>
                  <a:srgbClr val="FF0000"/>
                </a:solidFill>
              </a:rPr>
              <a:t>热机效率（循环效率）：</a:t>
            </a:r>
            <a:endParaRPr lang="zh-CN" altLang="en-US" b="1">
              <a:solidFill>
                <a:srgbClr val="FF0000"/>
              </a:solidFill>
            </a:endParaRPr>
          </a:p>
        </p:txBody>
      </p:sp>
      <p:graphicFrame>
        <p:nvGraphicFramePr>
          <p:cNvPr id="85019" name="Object 27"/>
          <p:cNvGraphicFramePr>
            <a:graphicFrameLocks noChangeAspect="1"/>
          </p:cNvGraphicFramePr>
          <p:nvPr/>
        </p:nvGraphicFramePr>
        <p:xfrm>
          <a:off x="3851275" y="5157788"/>
          <a:ext cx="1008063" cy="952500"/>
        </p:xfrm>
        <a:graphic>
          <a:graphicData uri="http://schemas.openxmlformats.org/presentationml/2006/ole">
            <mc:AlternateContent xmlns:mc="http://schemas.openxmlformats.org/markup-compatibility/2006">
              <mc:Choice xmlns:v="urn:schemas-microsoft-com:vml" Requires="v">
                <p:oleObj spid="_x0000_s43009" name="公式" r:id="rId1" imgW="10972800" imgH="10363200" progId="Equation.3">
                  <p:embed/>
                </p:oleObj>
              </mc:Choice>
              <mc:Fallback>
                <p:oleObj name="公式" r:id="rId1" imgW="10972800" imgH="10363200" progId="Equation.3">
                  <p:embed/>
                  <p:pic>
                    <p:nvPicPr>
                      <p:cNvPr id="0" name="Object 27"/>
                      <p:cNvPicPr>
                        <a:picLocks noChangeAspect="1"/>
                      </p:cNvPicPr>
                      <p:nvPr/>
                    </p:nvPicPr>
                    <p:blipFill>
                      <a:blip r:embed="rId2"/>
                      <a:stretch>
                        <a:fillRect/>
                      </a:stretch>
                    </p:blipFill>
                    <p:spPr>
                      <a:xfrm>
                        <a:off x="3851275" y="5157788"/>
                        <a:ext cx="1008063" cy="952500"/>
                      </a:xfrm>
                      <a:prstGeom prst="rect">
                        <a:avLst/>
                      </a:prstGeom>
                      <a:noFill/>
                      <a:ln w="9525">
                        <a:noFill/>
                      </a:ln>
                    </p:spPr>
                  </p:pic>
                </p:oleObj>
              </mc:Fallback>
            </mc:AlternateContent>
          </a:graphicData>
        </a:graphic>
      </p:graphicFrame>
      <p:graphicFrame>
        <p:nvGraphicFramePr>
          <p:cNvPr id="85020" name="Object 28"/>
          <p:cNvGraphicFramePr>
            <a:graphicFrameLocks noChangeAspect="1"/>
          </p:cNvGraphicFramePr>
          <p:nvPr/>
        </p:nvGraphicFramePr>
        <p:xfrm>
          <a:off x="4932363" y="5229225"/>
          <a:ext cx="2398712" cy="896938"/>
        </p:xfrm>
        <a:graphic>
          <a:graphicData uri="http://schemas.openxmlformats.org/presentationml/2006/ole">
            <mc:AlternateContent xmlns:mc="http://schemas.openxmlformats.org/markup-compatibility/2006">
              <mc:Choice xmlns:v="urn:schemas-microsoft-com:vml" Requires="v">
                <p:oleObj spid="_x0000_s43011" name="公式" r:id="rId3" imgW="27736800" imgH="10363200" progId="Equation.3">
                  <p:embed/>
                </p:oleObj>
              </mc:Choice>
              <mc:Fallback>
                <p:oleObj name="公式" r:id="rId3" imgW="27736800" imgH="10363200" progId="Equation.3">
                  <p:embed/>
                  <p:pic>
                    <p:nvPicPr>
                      <p:cNvPr id="0" name="Object 28"/>
                      <p:cNvPicPr>
                        <a:picLocks noChangeAspect="1"/>
                      </p:cNvPicPr>
                      <p:nvPr/>
                    </p:nvPicPr>
                    <p:blipFill>
                      <a:blip r:embed="rId4"/>
                      <a:stretch>
                        <a:fillRect/>
                      </a:stretch>
                    </p:blipFill>
                    <p:spPr>
                      <a:xfrm>
                        <a:off x="4932363" y="5229225"/>
                        <a:ext cx="2398712" cy="896938"/>
                      </a:xfrm>
                      <a:prstGeom prst="rect">
                        <a:avLst/>
                      </a:prstGeom>
                      <a:noFill/>
                      <a:ln w="9525">
                        <a:noFill/>
                      </a:ln>
                    </p:spPr>
                  </p:pic>
                </p:oleObj>
              </mc:Fallback>
            </mc:AlternateContent>
          </a:graphicData>
        </a:graphic>
      </p:graphicFrame>
      <p:sp>
        <p:nvSpPr>
          <p:cNvPr id="85021" name="Text Box 29"/>
          <p:cNvSpPr txBox="1">
            <a:spLocks noChangeArrowheads="1"/>
          </p:cNvSpPr>
          <p:nvPr/>
        </p:nvSpPr>
        <p:spPr bwMode="auto">
          <a:xfrm>
            <a:off x="611188" y="2232025"/>
            <a:ext cx="5832475" cy="549275"/>
          </a:xfrm>
          <a:prstGeom prst="rect">
            <a:avLst/>
          </a:prstGeom>
          <a:noFill/>
          <a:ln w="9525">
            <a:noFill/>
            <a:miter lim="800000"/>
          </a:ln>
        </p:spPr>
        <p:txBody>
          <a:bodyPr>
            <a:spAutoFit/>
          </a:bodyPr>
          <a:lstStyle/>
          <a:p>
            <a:pPr>
              <a:lnSpc>
                <a:spcPct val="125000"/>
              </a:lnSpc>
            </a:pPr>
            <a:r>
              <a:rPr lang="zh-CN" altLang="en-US" b="1"/>
              <a:t>工作物质经历一个热机循环：</a:t>
            </a:r>
            <a:endParaRPr lang="zh-CN" altLang="en-US" b="1"/>
          </a:p>
        </p:txBody>
      </p:sp>
      <p:sp>
        <p:nvSpPr>
          <p:cNvPr id="85022" name="Text Box 30"/>
          <p:cNvSpPr txBox="1">
            <a:spLocks noChangeArrowheads="1"/>
          </p:cNvSpPr>
          <p:nvPr/>
        </p:nvSpPr>
        <p:spPr bwMode="auto">
          <a:xfrm>
            <a:off x="684213" y="4508500"/>
            <a:ext cx="3167062" cy="457200"/>
          </a:xfrm>
          <a:prstGeom prst="rect">
            <a:avLst/>
          </a:prstGeom>
          <a:noFill/>
          <a:ln w="9525">
            <a:noFill/>
            <a:miter lim="800000"/>
          </a:ln>
        </p:spPr>
        <p:txBody>
          <a:bodyPr>
            <a:spAutoFit/>
          </a:bodyPr>
          <a:lstStyle/>
          <a:p>
            <a:r>
              <a:rPr lang="zh-CN" altLang="en-US" b="1"/>
              <a:t>由热力学第一定律：</a:t>
            </a:r>
            <a:endParaRPr lang="zh-CN" altLang="en-US" b="1"/>
          </a:p>
        </p:txBody>
      </p:sp>
      <p:graphicFrame>
        <p:nvGraphicFramePr>
          <p:cNvPr id="85023" name="Object 31"/>
          <p:cNvGraphicFramePr>
            <a:graphicFrameLocks noChangeAspect="1"/>
          </p:cNvGraphicFramePr>
          <p:nvPr/>
        </p:nvGraphicFramePr>
        <p:xfrm>
          <a:off x="3771900" y="4508500"/>
          <a:ext cx="1712913" cy="477838"/>
        </p:xfrm>
        <a:graphic>
          <a:graphicData uri="http://schemas.openxmlformats.org/presentationml/2006/ole">
            <mc:AlternateContent xmlns:mc="http://schemas.openxmlformats.org/markup-compatibility/2006">
              <mc:Choice xmlns:v="urn:schemas-microsoft-com:vml" Requires="v">
                <p:oleObj spid="_x0000_s43012" name="公式" r:id="rId5" imgW="18592800" imgH="5181600" progId="Equation.3">
                  <p:embed/>
                </p:oleObj>
              </mc:Choice>
              <mc:Fallback>
                <p:oleObj name="公式" r:id="rId5" imgW="18592800" imgH="5181600" progId="Equation.3">
                  <p:embed/>
                  <p:pic>
                    <p:nvPicPr>
                      <p:cNvPr id="0" name="Object 31"/>
                      <p:cNvPicPr>
                        <a:picLocks noChangeAspect="1"/>
                      </p:cNvPicPr>
                      <p:nvPr/>
                    </p:nvPicPr>
                    <p:blipFill>
                      <a:blip r:embed="rId6"/>
                      <a:stretch>
                        <a:fillRect/>
                      </a:stretch>
                    </p:blipFill>
                    <p:spPr>
                      <a:xfrm>
                        <a:off x="3771900" y="4508500"/>
                        <a:ext cx="1712913" cy="477838"/>
                      </a:xfrm>
                      <a:prstGeom prst="rect">
                        <a:avLst/>
                      </a:prstGeom>
                      <a:noFill/>
                      <a:ln w="9525">
                        <a:noFill/>
                      </a:ln>
                    </p:spPr>
                  </p:pic>
                </p:oleObj>
              </mc:Fallback>
            </mc:AlternateContent>
          </a:graphicData>
        </a:graphic>
      </p:graphicFrame>
      <p:graphicFrame>
        <p:nvGraphicFramePr>
          <p:cNvPr id="85024" name="Object 32"/>
          <p:cNvGraphicFramePr>
            <a:graphicFrameLocks noChangeAspect="1"/>
          </p:cNvGraphicFramePr>
          <p:nvPr/>
        </p:nvGraphicFramePr>
        <p:xfrm>
          <a:off x="7700963" y="5373688"/>
          <a:ext cx="950912" cy="449262"/>
        </p:xfrm>
        <a:graphic>
          <a:graphicData uri="http://schemas.openxmlformats.org/presentationml/2006/ole">
            <mc:AlternateContent xmlns:mc="http://schemas.openxmlformats.org/markup-compatibility/2006">
              <mc:Choice xmlns:v="urn:schemas-microsoft-com:vml" Requires="v">
                <p:oleObj spid="_x0000_s43013" name="公式" r:id="rId7" imgW="10363200" imgH="4876800" progId="Equation.3">
                  <p:embed/>
                </p:oleObj>
              </mc:Choice>
              <mc:Fallback>
                <p:oleObj name="公式" r:id="rId7" imgW="10363200" imgH="4876800" progId="Equation.3">
                  <p:embed/>
                  <p:pic>
                    <p:nvPicPr>
                      <p:cNvPr id="0" name="Object 32"/>
                      <p:cNvPicPr>
                        <a:picLocks noChangeAspect="1"/>
                      </p:cNvPicPr>
                      <p:nvPr/>
                    </p:nvPicPr>
                    <p:blipFill>
                      <a:blip r:embed="rId8"/>
                      <a:stretch>
                        <a:fillRect/>
                      </a:stretch>
                    </p:blipFill>
                    <p:spPr>
                      <a:xfrm>
                        <a:off x="7700963" y="5373688"/>
                        <a:ext cx="950912" cy="449262"/>
                      </a:xfrm>
                      <a:prstGeom prst="rect">
                        <a:avLst/>
                      </a:prstGeom>
                      <a:noFill/>
                      <a:ln w="9525">
                        <a:noFill/>
                      </a:ln>
                    </p:spPr>
                  </p:pic>
                </p:oleObj>
              </mc:Fallback>
            </mc:AlternateContent>
          </a:graphicData>
        </a:graphic>
      </p:graphicFrame>
      <p:sp>
        <p:nvSpPr>
          <p:cNvPr id="85025" name="Text Box 33"/>
          <p:cNvSpPr txBox="1">
            <a:spLocks noChangeArrowheads="1"/>
          </p:cNvSpPr>
          <p:nvPr/>
        </p:nvSpPr>
        <p:spPr bwMode="auto">
          <a:xfrm>
            <a:off x="755650" y="2811463"/>
            <a:ext cx="3763963" cy="457200"/>
          </a:xfrm>
          <a:prstGeom prst="rect">
            <a:avLst/>
          </a:prstGeom>
          <a:noFill/>
          <a:ln w="9525">
            <a:noFill/>
            <a:miter lim="800000"/>
          </a:ln>
        </p:spPr>
        <p:txBody>
          <a:bodyPr>
            <a:spAutoFit/>
          </a:bodyPr>
          <a:lstStyle/>
          <a:p>
            <a:r>
              <a:rPr lang="en-US" altLang="zh-CN" b="1" i="1">
                <a:solidFill>
                  <a:srgbClr val="FF0000"/>
                </a:solidFill>
              </a:rPr>
              <a:t>W</a:t>
            </a:r>
            <a:r>
              <a:rPr lang="en-US" altLang="zh-CN" b="1" i="1"/>
              <a:t> </a:t>
            </a:r>
            <a:r>
              <a:rPr lang="en-US" altLang="zh-CN" b="1"/>
              <a:t>→</a:t>
            </a:r>
            <a:r>
              <a:rPr lang="zh-CN" altLang="en-US" b="1"/>
              <a:t>对外所做净功；</a:t>
            </a:r>
            <a:endParaRPr lang="zh-CN" altLang="en-US" b="1"/>
          </a:p>
        </p:txBody>
      </p:sp>
      <p:sp>
        <p:nvSpPr>
          <p:cNvPr id="85026" name="Text Box 34"/>
          <p:cNvSpPr txBox="1">
            <a:spLocks noChangeArrowheads="1"/>
          </p:cNvSpPr>
          <p:nvPr/>
        </p:nvSpPr>
        <p:spPr bwMode="auto">
          <a:xfrm>
            <a:off x="712788" y="3290888"/>
            <a:ext cx="4772025" cy="457200"/>
          </a:xfrm>
          <a:prstGeom prst="rect">
            <a:avLst/>
          </a:prstGeom>
          <a:noFill/>
          <a:ln w="9525">
            <a:noFill/>
            <a:miter lim="800000"/>
          </a:ln>
        </p:spPr>
        <p:txBody>
          <a:bodyPr>
            <a:spAutoFit/>
          </a:bodyPr>
          <a:lstStyle/>
          <a:p>
            <a:r>
              <a:rPr lang="en-US" altLang="zh-CN" b="1" i="1">
                <a:solidFill>
                  <a:srgbClr val="FF0000"/>
                </a:solidFill>
              </a:rPr>
              <a:t>Q</a:t>
            </a:r>
            <a:r>
              <a:rPr lang="en-US" altLang="zh-CN" b="1" baseline="-25000">
                <a:solidFill>
                  <a:srgbClr val="FF0000"/>
                </a:solidFill>
              </a:rPr>
              <a:t>1</a:t>
            </a:r>
            <a:r>
              <a:rPr lang="en-US" altLang="zh-CN" b="1"/>
              <a:t> →</a:t>
            </a:r>
            <a:r>
              <a:rPr lang="zh-CN" altLang="en-US" b="1"/>
              <a:t>从高温热源吸收的热量；</a:t>
            </a:r>
            <a:endParaRPr lang="zh-CN" altLang="en-US" b="1"/>
          </a:p>
        </p:txBody>
      </p:sp>
      <p:sp>
        <p:nvSpPr>
          <p:cNvPr id="85027" name="Text Box 35"/>
          <p:cNvSpPr txBox="1">
            <a:spLocks noChangeArrowheads="1"/>
          </p:cNvSpPr>
          <p:nvPr/>
        </p:nvSpPr>
        <p:spPr bwMode="auto">
          <a:xfrm>
            <a:off x="712788" y="3835400"/>
            <a:ext cx="4752975" cy="457200"/>
          </a:xfrm>
          <a:prstGeom prst="rect">
            <a:avLst/>
          </a:prstGeom>
          <a:noFill/>
          <a:ln w="9525">
            <a:noFill/>
            <a:miter lim="800000"/>
          </a:ln>
        </p:spPr>
        <p:txBody>
          <a:bodyPr>
            <a:spAutoFit/>
          </a:bodyPr>
          <a:lstStyle/>
          <a:p>
            <a:r>
              <a:rPr lang="en-US" altLang="zh-CN" b="1" i="1">
                <a:solidFill>
                  <a:srgbClr val="FF0000"/>
                </a:solidFill>
              </a:rPr>
              <a:t>Q</a:t>
            </a:r>
            <a:r>
              <a:rPr lang="en-US" altLang="zh-CN" b="1" baseline="-25000">
                <a:solidFill>
                  <a:srgbClr val="FF0000"/>
                </a:solidFill>
              </a:rPr>
              <a:t>2</a:t>
            </a:r>
            <a:r>
              <a:rPr lang="en-US" altLang="zh-CN" b="1"/>
              <a:t> →</a:t>
            </a:r>
            <a:r>
              <a:rPr lang="zh-CN" altLang="en-US" b="1"/>
              <a:t>向低温热源放出的热量；</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995"/>
                                        </p:tgtEl>
                                        <p:attrNameLst>
                                          <p:attrName>style.visibility</p:attrName>
                                        </p:attrNameLst>
                                      </p:cBhvr>
                                      <p:to>
                                        <p:strVal val="visible"/>
                                      </p:to>
                                    </p:set>
                                    <p:animEffect transition="in" filter="wipe(left)">
                                      <p:cBhvr>
                                        <p:cTn id="7" dur="500"/>
                                        <p:tgtEl>
                                          <p:spTgt spid="849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015"/>
                                        </p:tgtEl>
                                        <p:attrNameLst>
                                          <p:attrName>style.visibility</p:attrName>
                                        </p:attrNameLst>
                                      </p:cBhvr>
                                      <p:to>
                                        <p:strVal val="visible"/>
                                      </p:to>
                                    </p:set>
                                    <p:animEffect transition="in" filter="wipe(left)">
                                      <p:cBhvr>
                                        <p:cTn id="12" dur="500"/>
                                        <p:tgtEl>
                                          <p:spTgt spid="850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5016"/>
                                        </p:tgtEl>
                                        <p:attrNameLst>
                                          <p:attrName>style.visibility</p:attrName>
                                        </p:attrNameLst>
                                      </p:cBhvr>
                                      <p:to>
                                        <p:strVal val="visible"/>
                                      </p:to>
                                    </p:set>
                                    <p:animEffect transition="in" filter="wipe(left)">
                                      <p:cBhvr>
                                        <p:cTn id="17" dur="500"/>
                                        <p:tgtEl>
                                          <p:spTgt spid="85016"/>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85017"/>
                                        </p:tgtEl>
                                        <p:attrNameLst>
                                          <p:attrName>style.visibility</p:attrName>
                                        </p:attrNameLst>
                                      </p:cBhvr>
                                      <p:to>
                                        <p:strVal val="visible"/>
                                      </p:to>
                                    </p:set>
                                    <p:animEffect transition="in" filter="wipe(left)">
                                      <p:cBhvr>
                                        <p:cTn id="21" dur="500"/>
                                        <p:tgtEl>
                                          <p:spTgt spid="85017"/>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ox(ou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85010"/>
                                        </p:tgtEl>
                                        <p:attrNameLst>
                                          <p:attrName>style.visibility</p:attrName>
                                        </p:attrNameLst>
                                      </p:cBhvr>
                                      <p:to>
                                        <p:strVal val="visible"/>
                                      </p:to>
                                    </p:set>
                                    <p:animEffect transition="in" filter="wipe(up)">
                                      <p:cBhvr>
                                        <p:cTn id="31" dur="500"/>
                                        <p:tgtEl>
                                          <p:spTgt spid="85010"/>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85008"/>
                                        </p:tgtEl>
                                        <p:attrNameLst>
                                          <p:attrName>style.visibility</p:attrName>
                                        </p:attrNameLst>
                                      </p:cBhvr>
                                      <p:to>
                                        <p:strVal val="visible"/>
                                      </p:to>
                                    </p:set>
                                    <p:animEffect transition="in" filter="wipe(up)">
                                      <p:cBhvr>
                                        <p:cTn id="34" dur="500"/>
                                        <p:tgtEl>
                                          <p:spTgt spid="85008"/>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85012"/>
                                        </p:tgtEl>
                                        <p:attrNameLst>
                                          <p:attrName>style.visibility</p:attrName>
                                        </p:attrNameLst>
                                      </p:cBhvr>
                                      <p:to>
                                        <p:strVal val="visible"/>
                                      </p:to>
                                    </p:set>
                                    <p:animEffect transition="in" filter="wipe(up)">
                                      <p:cBhvr>
                                        <p:cTn id="41" dur="500"/>
                                        <p:tgtEl>
                                          <p:spTgt spid="85012"/>
                                        </p:tgtEl>
                                      </p:cBhvr>
                                    </p:animEffect>
                                  </p:childTnLst>
                                </p:cTn>
                              </p:par>
                            </p:childTnLst>
                          </p:cTn>
                        </p:par>
                        <p:par>
                          <p:cTn id="42" fill="hold">
                            <p:stCondLst>
                              <p:cond delay="1000"/>
                            </p:stCondLst>
                            <p:childTnLst>
                              <p:par>
                                <p:cTn id="43" presetID="22" presetClass="entr" presetSubtype="1" fill="hold" grpId="0" nodeType="afterEffect">
                                  <p:stCondLst>
                                    <p:cond delay="0"/>
                                  </p:stCondLst>
                                  <p:childTnLst>
                                    <p:set>
                                      <p:cBhvr>
                                        <p:cTn id="44" dur="1" fill="hold">
                                          <p:stCondLst>
                                            <p:cond delay="0"/>
                                          </p:stCondLst>
                                        </p:cTn>
                                        <p:tgtEl>
                                          <p:spTgt spid="85011"/>
                                        </p:tgtEl>
                                        <p:attrNameLst>
                                          <p:attrName>style.visibility</p:attrName>
                                        </p:attrNameLst>
                                      </p:cBhvr>
                                      <p:to>
                                        <p:strVal val="visible"/>
                                      </p:to>
                                    </p:set>
                                    <p:animEffect transition="in" filter="wipe(up)">
                                      <p:cBhvr>
                                        <p:cTn id="45" dur="500"/>
                                        <p:tgtEl>
                                          <p:spTgt spid="85011"/>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85009"/>
                                        </p:tgtEl>
                                        <p:attrNameLst>
                                          <p:attrName>style.visibility</p:attrName>
                                        </p:attrNameLst>
                                      </p:cBhvr>
                                      <p:to>
                                        <p:strVal val="visible"/>
                                      </p:to>
                                    </p:set>
                                    <p:animEffect transition="in" filter="wipe(up)">
                                      <p:cBhvr>
                                        <p:cTn id="48" dur="500"/>
                                        <p:tgtEl>
                                          <p:spTgt spid="85009"/>
                                        </p:tgtEl>
                                      </p:cBhvr>
                                    </p:animEffect>
                                  </p:childTnLst>
                                </p:cTn>
                              </p:par>
                            </p:childTnLst>
                          </p:cTn>
                        </p:par>
                        <p:par>
                          <p:cTn id="49" fill="hold">
                            <p:stCondLst>
                              <p:cond delay="1500"/>
                            </p:stCondLst>
                            <p:childTnLst>
                              <p:par>
                                <p:cTn id="50" presetID="22" presetClass="entr" presetSubtype="2" fill="hold" nodeType="after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right)">
                                      <p:cBhvr>
                                        <p:cTn id="52" dur="500"/>
                                        <p:tgtEl>
                                          <p:spTgt spid="4"/>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85013"/>
                                        </p:tgtEl>
                                        <p:attrNameLst>
                                          <p:attrName>style.visibility</p:attrName>
                                        </p:attrNameLst>
                                      </p:cBhvr>
                                      <p:to>
                                        <p:strVal val="visible"/>
                                      </p:to>
                                    </p:set>
                                    <p:animEffect transition="in" filter="wipe(up)">
                                      <p:cBhvr>
                                        <p:cTn id="55" dur="500"/>
                                        <p:tgtEl>
                                          <p:spTgt spid="85013"/>
                                        </p:tgtEl>
                                      </p:cBhvr>
                                    </p:animEffect>
                                  </p:childTnLst>
                                </p:cTn>
                              </p:par>
                            </p:childTnLst>
                          </p:cTn>
                        </p:par>
                        <p:par>
                          <p:cTn id="56" fill="hold">
                            <p:stCondLst>
                              <p:cond delay="2000"/>
                            </p:stCondLst>
                            <p:childTnLst>
                              <p:par>
                                <p:cTn id="57" presetID="22" presetClass="entr" presetSubtype="8" fill="hold" grpId="0" nodeType="afterEffect">
                                  <p:stCondLst>
                                    <p:cond delay="0"/>
                                  </p:stCondLst>
                                  <p:childTnLst>
                                    <p:set>
                                      <p:cBhvr>
                                        <p:cTn id="58" dur="1" fill="hold">
                                          <p:stCondLst>
                                            <p:cond delay="0"/>
                                          </p:stCondLst>
                                        </p:cTn>
                                        <p:tgtEl>
                                          <p:spTgt spid="85014"/>
                                        </p:tgtEl>
                                        <p:attrNameLst>
                                          <p:attrName>style.visibility</p:attrName>
                                        </p:attrNameLst>
                                      </p:cBhvr>
                                      <p:to>
                                        <p:strVal val="visible"/>
                                      </p:to>
                                    </p:set>
                                    <p:animEffect transition="in" filter="wipe(left)">
                                      <p:cBhvr>
                                        <p:cTn id="59" dur="500"/>
                                        <p:tgtEl>
                                          <p:spTgt spid="8501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85021"/>
                                        </p:tgtEl>
                                        <p:attrNameLst>
                                          <p:attrName>style.visibility</p:attrName>
                                        </p:attrNameLst>
                                      </p:cBhvr>
                                      <p:to>
                                        <p:strVal val="visible"/>
                                      </p:to>
                                    </p:set>
                                    <p:animEffect transition="in" filter="wipe(left)">
                                      <p:cBhvr>
                                        <p:cTn id="64" dur="500"/>
                                        <p:tgtEl>
                                          <p:spTgt spid="8502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85025"/>
                                        </p:tgtEl>
                                        <p:attrNameLst>
                                          <p:attrName>style.visibility</p:attrName>
                                        </p:attrNameLst>
                                      </p:cBhvr>
                                      <p:to>
                                        <p:strVal val="visible"/>
                                      </p:to>
                                    </p:set>
                                    <p:animEffect transition="in" filter="wipe(left)">
                                      <p:cBhvr>
                                        <p:cTn id="69" dur="500"/>
                                        <p:tgtEl>
                                          <p:spTgt spid="8502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84994"/>
                                        </p:tgtEl>
                                        <p:attrNameLst>
                                          <p:attrName>style.visibility</p:attrName>
                                        </p:attrNameLst>
                                      </p:cBhvr>
                                      <p:to>
                                        <p:strVal val="visible"/>
                                      </p:to>
                                    </p:set>
                                    <p:animEffect transition="in" filter="wipe(left)">
                                      <p:cBhvr>
                                        <p:cTn id="74" dur="500"/>
                                        <p:tgtEl>
                                          <p:spTgt spid="8499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85026"/>
                                        </p:tgtEl>
                                        <p:attrNameLst>
                                          <p:attrName>style.visibility</p:attrName>
                                        </p:attrNameLst>
                                      </p:cBhvr>
                                      <p:to>
                                        <p:strVal val="visible"/>
                                      </p:to>
                                    </p:set>
                                    <p:animEffect transition="in" filter="wipe(left)">
                                      <p:cBhvr>
                                        <p:cTn id="79" dur="500"/>
                                        <p:tgtEl>
                                          <p:spTgt spid="8502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85027"/>
                                        </p:tgtEl>
                                        <p:attrNameLst>
                                          <p:attrName>style.visibility</p:attrName>
                                        </p:attrNameLst>
                                      </p:cBhvr>
                                      <p:to>
                                        <p:strVal val="visible"/>
                                      </p:to>
                                    </p:set>
                                    <p:animEffect transition="in" filter="wipe(left)">
                                      <p:cBhvr>
                                        <p:cTn id="84" dur="500"/>
                                        <p:tgtEl>
                                          <p:spTgt spid="8502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85022"/>
                                        </p:tgtEl>
                                        <p:attrNameLst>
                                          <p:attrName>style.visibility</p:attrName>
                                        </p:attrNameLst>
                                      </p:cBhvr>
                                      <p:to>
                                        <p:strVal val="visible"/>
                                      </p:to>
                                    </p:set>
                                    <p:animEffect transition="in" filter="wipe(left)">
                                      <p:cBhvr>
                                        <p:cTn id="89" dur="500"/>
                                        <p:tgtEl>
                                          <p:spTgt spid="85022"/>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85023"/>
                                        </p:tgtEl>
                                        <p:attrNameLst>
                                          <p:attrName>style.visibility</p:attrName>
                                        </p:attrNameLst>
                                      </p:cBhvr>
                                      <p:to>
                                        <p:strVal val="visible"/>
                                      </p:to>
                                    </p:set>
                                    <p:animEffect transition="in" filter="wipe(left)">
                                      <p:cBhvr>
                                        <p:cTn id="94" dur="500"/>
                                        <p:tgtEl>
                                          <p:spTgt spid="8502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85018"/>
                                        </p:tgtEl>
                                        <p:attrNameLst>
                                          <p:attrName>style.visibility</p:attrName>
                                        </p:attrNameLst>
                                      </p:cBhvr>
                                      <p:to>
                                        <p:strVal val="visible"/>
                                      </p:to>
                                    </p:set>
                                    <p:animEffect transition="in" filter="wipe(left)">
                                      <p:cBhvr>
                                        <p:cTn id="99" dur="500"/>
                                        <p:tgtEl>
                                          <p:spTgt spid="8501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85019"/>
                                        </p:tgtEl>
                                        <p:attrNameLst>
                                          <p:attrName>style.visibility</p:attrName>
                                        </p:attrNameLst>
                                      </p:cBhvr>
                                      <p:to>
                                        <p:strVal val="visible"/>
                                      </p:to>
                                    </p:set>
                                    <p:animEffect transition="in" filter="wipe(left)">
                                      <p:cBhvr>
                                        <p:cTn id="104" dur="500"/>
                                        <p:tgtEl>
                                          <p:spTgt spid="85019"/>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85020"/>
                                        </p:tgtEl>
                                        <p:attrNameLst>
                                          <p:attrName>style.visibility</p:attrName>
                                        </p:attrNameLst>
                                      </p:cBhvr>
                                      <p:to>
                                        <p:strVal val="visible"/>
                                      </p:to>
                                    </p:set>
                                    <p:animEffect transition="in" filter="wipe(left)">
                                      <p:cBhvr>
                                        <p:cTn id="109" dur="500"/>
                                        <p:tgtEl>
                                          <p:spTgt spid="85020"/>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85024"/>
                                        </p:tgtEl>
                                        <p:attrNameLst>
                                          <p:attrName>style.visibility</p:attrName>
                                        </p:attrNameLst>
                                      </p:cBhvr>
                                      <p:to>
                                        <p:strVal val="visible"/>
                                      </p:to>
                                    </p:set>
                                    <p:animEffect transition="in" filter="wipe(left)">
                                      <p:cBhvr>
                                        <p:cTn id="114" dur="500"/>
                                        <p:tgtEl>
                                          <p:spTgt spid="85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animBg="1"/>
      <p:bldP spid="84995" grpId="0"/>
      <p:bldP spid="85008" grpId="0" animBg="1"/>
      <p:bldP spid="85009" grpId="0" animBg="1"/>
      <p:bldP spid="85010" grpId="0"/>
      <p:bldP spid="85011" grpId="0"/>
      <p:bldP spid="85012" grpId="0"/>
      <p:bldP spid="85013" grpId="0"/>
      <p:bldP spid="85014" grpId="0"/>
      <p:bldP spid="85015" grpId="0"/>
      <p:bldP spid="85016" grpId="0" animBg="1"/>
      <p:bldP spid="85017" grpId="0"/>
      <p:bldP spid="85018" grpId="0"/>
      <p:bldP spid="85021" grpId="0"/>
      <p:bldP spid="85022" grpId="0"/>
      <p:bldP spid="85025" grpId="0"/>
      <p:bldP spid="85026" grpId="0"/>
      <p:bldP spid="8502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6897688" y="4184650"/>
            <a:ext cx="1562100" cy="457200"/>
          </a:xfrm>
          <a:prstGeom prst="rect">
            <a:avLst/>
          </a:prstGeom>
          <a:noFill/>
          <a:ln w="9525">
            <a:noFill/>
            <a:miter lim="800000"/>
          </a:ln>
        </p:spPr>
        <p:txBody>
          <a:bodyPr>
            <a:spAutoFit/>
          </a:bodyPr>
          <a:lstStyle/>
          <a:p>
            <a:r>
              <a:rPr lang="zh-CN" altLang="en-US" b="1"/>
              <a:t>逆循环</a:t>
            </a:r>
            <a:endParaRPr lang="zh-CN" altLang="en-US" b="1"/>
          </a:p>
        </p:txBody>
      </p:sp>
      <p:sp>
        <p:nvSpPr>
          <p:cNvPr id="86019" name="Text Box 3"/>
          <p:cNvSpPr txBox="1">
            <a:spLocks noChangeArrowheads="1"/>
          </p:cNvSpPr>
          <p:nvPr/>
        </p:nvSpPr>
        <p:spPr bwMode="auto">
          <a:xfrm>
            <a:off x="663575" y="1174750"/>
            <a:ext cx="1103313" cy="457200"/>
          </a:xfrm>
          <a:prstGeom prst="rect">
            <a:avLst/>
          </a:prstGeom>
          <a:noFill/>
          <a:ln w="9525">
            <a:noFill/>
            <a:miter lim="800000"/>
          </a:ln>
        </p:spPr>
        <p:txBody>
          <a:bodyPr wrap="none">
            <a:spAutoFit/>
          </a:bodyPr>
          <a:lstStyle/>
          <a:p>
            <a:r>
              <a:rPr lang="zh-CN" altLang="en-US" b="1"/>
              <a:t>制冷机</a:t>
            </a:r>
            <a:endParaRPr lang="zh-CN" altLang="en-US" b="1"/>
          </a:p>
        </p:txBody>
      </p:sp>
      <p:sp>
        <p:nvSpPr>
          <p:cNvPr id="86020" name="AutoShape 4"/>
          <p:cNvSpPr>
            <a:spLocks noChangeArrowheads="1"/>
          </p:cNvSpPr>
          <p:nvPr/>
        </p:nvSpPr>
        <p:spPr bwMode="auto">
          <a:xfrm>
            <a:off x="1835150" y="1390650"/>
            <a:ext cx="649288" cy="144463"/>
          </a:xfrm>
          <a:prstGeom prst="rightArrow">
            <a:avLst>
              <a:gd name="adj1" fmla="val 50000"/>
              <a:gd name="adj2" fmla="val 112362"/>
            </a:avLst>
          </a:prstGeom>
          <a:solidFill>
            <a:schemeClr val="accent1"/>
          </a:solidFill>
          <a:ln w="9525">
            <a:solidFill>
              <a:schemeClr val="tx1"/>
            </a:solidFill>
            <a:miter lim="800000"/>
          </a:ln>
        </p:spPr>
        <p:txBody>
          <a:bodyPr wrap="none" anchor="ctr"/>
          <a:lstStyle/>
          <a:p>
            <a:pPr algn="ctr"/>
            <a:endParaRPr lang="zh-CN" altLang="en-US" b="1"/>
          </a:p>
        </p:txBody>
      </p:sp>
      <p:sp>
        <p:nvSpPr>
          <p:cNvPr id="86021" name="Text Box 5"/>
          <p:cNvSpPr txBox="1">
            <a:spLocks noChangeArrowheads="1"/>
          </p:cNvSpPr>
          <p:nvPr/>
        </p:nvSpPr>
        <p:spPr bwMode="auto">
          <a:xfrm>
            <a:off x="2555875" y="1127125"/>
            <a:ext cx="5976938" cy="1006475"/>
          </a:xfrm>
          <a:prstGeom prst="rect">
            <a:avLst/>
          </a:prstGeom>
          <a:noFill/>
          <a:ln w="9525">
            <a:noFill/>
            <a:miter lim="800000"/>
          </a:ln>
        </p:spPr>
        <p:txBody>
          <a:bodyPr>
            <a:spAutoFit/>
          </a:bodyPr>
          <a:lstStyle/>
          <a:p>
            <a:pPr>
              <a:lnSpc>
                <a:spcPct val="125000"/>
              </a:lnSpc>
            </a:pPr>
            <a:r>
              <a:rPr lang="zh-CN" altLang="en-US" b="1"/>
              <a:t>尽量少地对系统做功（同时系统尽量多地从低温热源吸热）</a:t>
            </a:r>
            <a:endParaRPr lang="zh-CN" altLang="en-US" b="1"/>
          </a:p>
        </p:txBody>
      </p:sp>
      <p:sp>
        <p:nvSpPr>
          <p:cNvPr id="86022" name="Text Box 6"/>
          <p:cNvSpPr txBox="1">
            <a:spLocks noChangeArrowheads="1"/>
          </p:cNvSpPr>
          <p:nvPr/>
        </p:nvSpPr>
        <p:spPr bwMode="auto">
          <a:xfrm>
            <a:off x="611188" y="2276475"/>
            <a:ext cx="5832475" cy="506413"/>
          </a:xfrm>
          <a:prstGeom prst="rect">
            <a:avLst/>
          </a:prstGeom>
          <a:noFill/>
          <a:ln w="9525">
            <a:noFill/>
            <a:miter lim="800000"/>
          </a:ln>
        </p:spPr>
        <p:txBody>
          <a:bodyPr>
            <a:spAutoFit/>
          </a:bodyPr>
          <a:lstStyle/>
          <a:p>
            <a:pPr>
              <a:lnSpc>
                <a:spcPct val="125000"/>
              </a:lnSpc>
            </a:pPr>
            <a:r>
              <a:rPr lang="zh-CN" altLang="en-US" b="1"/>
              <a:t>工作物质经历一个制冷循环：</a:t>
            </a:r>
            <a:endParaRPr lang="zh-CN" altLang="en-US" b="1"/>
          </a:p>
        </p:txBody>
      </p:sp>
      <p:sp>
        <p:nvSpPr>
          <p:cNvPr id="86023" name="Text Box 7"/>
          <p:cNvSpPr txBox="1">
            <a:spLocks noChangeArrowheads="1"/>
          </p:cNvSpPr>
          <p:nvPr/>
        </p:nvSpPr>
        <p:spPr bwMode="auto">
          <a:xfrm>
            <a:off x="684213" y="4437063"/>
            <a:ext cx="2941637" cy="457200"/>
          </a:xfrm>
          <a:prstGeom prst="rect">
            <a:avLst/>
          </a:prstGeom>
          <a:noFill/>
          <a:ln w="9525">
            <a:noFill/>
            <a:miter lim="800000"/>
          </a:ln>
        </p:spPr>
        <p:txBody>
          <a:bodyPr wrap="none">
            <a:spAutoFit/>
          </a:bodyPr>
          <a:lstStyle/>
          <a:p>
            <a:r>
              <a:rPr lang="zh-CN" altLang="en-US" b="1"/>
              <a:t>由热力学第一定律：</a:t>
            </a:r>
            <a:endParaRPr lang="zh-CN" altLang="en-US" b="1"/>
          </a:p>
        </p:txBody>
      </p:sp>
      <p:graphicFrame>
        <p:nvGraphicFramePr>
          <p:cNvPr id="86024" name="Object 8"/>
          <p:cNvGraphicFramePr>
            <a:graphicFrameLocks noChangeAspect="1"/>
          </p:cNvGraphicFramePr>
          <p:nvPr/>
        </p:nvGraphicFramePr>
        <p:xfrm>
          <a:off x="3771900" y="4437063"/>
          <a:ext cx="1712913" cy="477837"/>
        </p:xfrm>
        <a:graphic>
          <a:graphicData uri="http://schemas.openxmlformats.org/presentationml/2006/ole">
            <mc:AlternateContent xmlns:mc="http://schemas.openxmlformats.org/markup-compatibility/2006">
              <mc:Choice xmlns:v="urn:schemas-microsoft-com:vml" Requires="v">
                <p:oleObj spid="_x0000_s44033" name="公式" r:id="rId1" imgW="18592800" imgH="5181600" progId="Equation.3">
                  <p:embed/>
                </p:oleObj>
              </mc:Choice>
              <mc:Fallback>
                <p:oleObj name="公式" r:id="rId1" imgW="18592800" imgH="5181600" progId="Equation.3">
                  <p:embed/>
                  <p:pic>
                    <p:nvPicPr>
                      <p:cNvPr id="0" name="Object 8"/>
                      <p:cNvPicPr>
                        <a:picLocks noChangeAspect="1"/>
                      </p:cNvPicPr>
                      <p:nvPr/>
                    </p:nvPicPr>
                    <p:blipFill>
                      <a:blip r:embed="rId2"/>
                      <a:stretch>
                        <a:fillRect/>
                      </a:stretch>
                    </p:blipFill>
                    <p:spPr>
                      <a:xfrm>
                        <a:off x="3771900" y="4437063"/>
                        <a:ext cx="1712913" cy="477837"/>
                      </a:xfrm>
                      <a:prstGeom prst="rect">
                        <a:avLst/>
                      </a:prstGeom>
                      <a:noFill/>
                      <a:ln w="9525">
                        <a:noFill/>
                      </a:ln>
                    </p:spPr>
                  </p:pic>
                </p:oleObj>
              </mc:Fallback>
            </mc:AlternateContent>
          </a:graphicData>
        </a:graphic>
      </p:graphicFrame>
      <p:sp>
        <p:nvSpPr>
          <p:cNvPr id="86025" name="Text Box 9"/>
          <p:cNvSpPr txBox="1">
            <a:spLocks noChangeArrowheads="1"/>
          </p:cNvSpPr>
          <p:nvPr/>
        </p:nvSpPr>
        <p:spPr bwMode="auto">
          <a:xfrm>
            <a:off x="971550" y="5300663"/>
            <a:ext cx="1716088" cy="457200"/>
          </a:xfrm>
          <a:prstGeom prst="rect">
            <a:avLst/>
          </a:prstGeom>
          <a:noFill/>
          <a:ln w="9525">
            <a:noFill/>
            <a:miter lim="800000"/>
          </a:ln>
        </p:spPr>
        <p:txBody>
          <a:bodyPr wrap="none">
            <a:spAutoFit/>
          </a:bodyPr>
          <a:lstStyle/>
          <a:p>
            <a:r>
              <a:rPr lang="zh-CN" altLang="en-US" b="1">
                <a:solidFill>
                  <a:srgbClr val="FF0000"/>
                </a:solidFill>
              </a:rPr>
              <a:t>制冷系数：</a:t>
            </a:r>
            <a:endParaRPr lang="zh-CN" altLang="en-US" b="1">
              <a:solidFill>
                <a:srgbClr val="FF0000"/>
              </a:solidFill>
            </a:endParaRPr>
          </a:p>
        </p:txBody>
      </p:sp>
      <p:graphicFrame>
        <p:nvGraphicFramePr>
          <p:cNvPr id="86026" name="Object 10"/>
          <p:cNvGraphicFramePr>
            <a:graphicFrameLocks noChangeAspect="1"/>
          </p:cNvGraphicFramePr>
          <p:nvPr/>
        </p:nvGraphicFramePr>
        <p:xfrm>
          <a:off x="2627313" y="5084763"/>
          <a:ext cx="2520950" cy="974725"/>
        </p:xfrm>
        <a:graphic>
          <a:graphicData uri="http://schemas.openxmlformats.org/presentationml/2006/ole">
            <mc:AlternateContent xmlns:mc="http://schemas.openxmlformats.org/markup-compatibility/2006">
              <mc:Choice xmlns:v="urn:schemas-microsoft-com:vml" Requires="v">
                <p:oleObj spid="_x0000_s44035" name="公式" r:id="rId3" imgW="26822400" imgH="10363200" progId="Equation.3">
                  <p:embed/>
                </p:oleObj>
              </mc:Choice>
              <mc:Fallback>
                <p:oleObj name="公式" r:id="rId3" imgW="26822400" imgH="10363200" progId="Equation.3">
                  <p:embed/>
                  <p:pic>
                    <p:nvPicPr>
                      <p:cNvPr id="0" name="Object 10"/>
                      <p:cNvPicPr>
                        <a:picLocks noChangeAspect="1"/>
                      </p:cNvPicPr>
                      <p:nvPr/>
                    </p:nvPicPr>
                    <p:blipFill>
                      <a:blip r:embed="rId4"/>
                      <a:stretch>
                        <a:fillRect/>
                      </a:stretch>
                    </p:blipFill>
                    <p:spPr>
                      <a:xfrm>
                        <a:off x="2627313" y="5084763"/>
                        <a:ext cx="2520950" cy="974725"/>
                      </a:xfrm>
                      <a:prstGeom prst="rect">
                        <a:avLst/>
                      </a:prstGeom>
                      <a:noFill/>
                      <a:ln w="9525">
                        <a:noFill/>
                      </a:ln>
                    </p:spPr>
                  </p:pic>
                </p:oleObj>
              </mc:Fallback>
            </mc:AlternateContent>
          </a:graphicData>
        </a:graphic>
      </p:graphicFrame>
      <p:sp>
        <p:nvSpPr>
          <p:cNvPr id="86027" name="Freeform 11" descr="宽上对角线"/>
          <p:cNvSpPr/>
          <p:nvPr/>
        </p:nvSpPr>
        <p:spPr bwMode="auto">
          <a:xfrm>
            <a:off x="6877050" y="2852738"/>
            <a:ext cx="1144588" cy="860425"/>
          </a:xfrm>
          <a:custGeom>
            <a:avLst/>
            <a:gdLst>
              <a:gd name="T0" fmla="*/ 0 w 721"/>
              <a:gd name="T1" fmla="*/ 2147483647 h 542"/>
              <a:gd name="T2" fmla="*/ 2147483647 w 721"/>
              <a:gd name="T3" fmla="*/ 2147483647 h 542"/>
              <a:gd name="T4" fmla="*/ 2147483647 w 721"/>
              <a:gd name="T5" fmla="*/ 2147483647 h 542"/>
              <a:gd name="T6" fmla="*/ 2147483647 w 721"/>
              <a:gd name="T7" fmla="*/ 2147483647 h 542"/>
              <a:gd name="T8" fmla="*/ 2147483647 w 721"/>
              <a:gd name="T9" fmla="*/ 2147483647 h 542"/>
              <a:gd name="T10" fmla="*/ 2147483647 w 721"/>
              <a:gd name="T11" fmla="*/ 2147483647 h 542"/>
              <a:gd name="T12" fmla="*/ 2147483647 w 721"/>
              <a:gd name="T13" fmla="*/ 2147483647 h 542"/>
              <a:gd name="T14" fmla="*/ 2147483647 w 721"/>
              <a:gd name="T15" fmla="*/ 2147483647 h 542"/>
              <a:gd name="T16" fmla="*/ 0 w 721"/>
              <a:gd name="T17" fmla="*/ 2147483647 h 5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1"/>
              <a:gd name="T28" fmla="*/ 0 h 542"/>
              <a:gd name="T29" fmla="*/ 721 w 721"/>
              <a:gd name="T30" fmla="*/ 542 h 5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1" h="542">
                <a:moveTo>
                  <a:pt x="0" y="19"/>
                </a:moveTo>
                <a:lnTo>
                  <a:pt x="58" y="9"/>
                </a:lnTo>
                <a:cubicBezTo>
                  <a:pt x="96" y="7"/>
                  <a:pt x="165" y="0"/>
                  <a:pt x="231" y="9"/>
                </a:cubicBezTo>
                <a:cubicBezTo>
                  <a:pt x="297" y="18"/>
                  <a:pt x="383" y="26"/>
                  <a:pt x="453" y="64"/>
                </a:cubicBezTo>
                <a:cubicBezTo>
                  <a:pt x="523" y="102"/>
                  <a:pt x="605" y="168"/>
                  <a:pt x="649" y="240"/>
                </a:cubicBezTo>
                <a:cubicBezTo>
                  <a:pt x="693" y="312"/>
                  <a:pt x="704" y="444"/>
                  <a:pt x="716" y="494"/>
                </a:cubicBezTo>
                <a:lnTo>
                  <a:pt x="721" y="542"/>
                </a:lnTo>
                <a:cubicBezTo>
                  <a:pt x="640" y="523"/>
                  <a:pt x="347" y="469"/>
                  <a:pt x="227" y="382"/>
                </a:cubicBezTo>
                <a:cubicBezTo>
                  <a:pt x="107" y="295"/>
                  <a:pt x="47" y="95"/>
                  <a:pt x="0" y="19"/>
                </a:cubicBezTo>
                <a:close/>
              </a:path>
            </a:pathLst>
          </a:custGeom>
          <a:pattFill prst="wdUpDiag">
            <a:fgClr>
              <a:srgbClr val="FF6600"/>
            </a:fgClr>
            <a:bgClr>
              <a:srgbClr val="FFFFFF"/>
            </a:bgClr>
          </a:pattFill>
          <a:ln w="9525">
            <a:noFill/>
            <a:round/>
          </a:ln>
        </p:spPr>
        <p:txBody>
          <a:bodyPr/>
          <a:lstStyle/>
          <a:p>
            <a:pPr algn="ctr"/>
            <a:endParaRPr lang="zh-CN" altLang="en-US" b="1"/>
          </a:p>
        </p:txBody>
      </p:sp>
      <p:grpSp>
        <p:nvGrpSpPr>
          <p:cNvPr id="2" name="Group 12"/>
          <p:cNvGrpSpPr/>
          <p:nvPr/>
        </p:nvGrpSpPr>
        <p:grpSpPr bwMode="auto">
          <a:xfrm>
            <a:off x="5961063" y="2205038"/>
            <a:ext cx="3148012" cy="2122487"/>
            <a:chOff x="3755" y="1389"/>
            <a:chExt cx="1983" cy="1337"/>
          </a:xfrm>
        </p:grpSpPr>
        <p:sp>
          <p:nvSpPr>
            <p:cNvPr id="44061" name="Line 13"/>
            <p:cNvSpPr>
              <a:spLocks noChangeShapeType="1"/>
            </p:cNvSpPr>
            <p:nvPr/>
          </p:nvSpPr>
          <p:spPr bwMode="auto">
            <a:xfrm flipV="1">
              <a:off x="4027" y="1550"/>
              <a:ext cx="0" cy="1057"/>
            </a:xfrm>
            <a:prstGeom prst="line">
              <a:avLst/>
            </a:prstGeom>
            <a:noFill/>
            <a:ln w="28575">
              <a:solidFill>
                <a:schemeClr val="tx1"/>
              </a:solidFill>
              <a:round/>
              <a:tailEnd type="triangle" w="med" len="med"/>
            </a:ln>
          </p:spPr>
          <p:txBody>
            <a:bodyPr/>
            <a:lstStyle/>
            <a:p>
              <a:endParaRPr lang="zh-CN" altLang="en-US"/>
            </a:p>
          </p:txBody>
        </p:sp>
        <p:sp>
          <p:nvSpPr>
            <p:cNvPr id="44062" name="Line 14"/>
            <p:cNvSpPr>
              <a:spLocks noChangeShapeType="1"/>
            </p:cNvSpPr>
            <p:nvPr/>
          </p:nvSpPr>
          <p:spPr bwMode="auto">
            <a:xfrm>
              <a:off x="4017" y="2606"/>
              <a:ext cx="1316" cy="0"/>
            </a:xfrm>
            <a:prstGeom prst="line">
              <a:avLst/>
            </a:prstGeom>
            <a:noFill/>
            <a:ln w="28575">
              <a:solidFill>
                <a:schemeClr val="tx1"/>
              </a:solidFill>
              <a:round/>
              <a:tailEnd type="triangle" w="med" len="med"/>
            </a:ln>
          </p:spPr>
          <p:txBody>
            <a:bodyPr/>
            <a:lstStyle/>
            <a:p>
              <a:endParaRPr lang="zh-CN" altLang="en-US"/>
            </a:p>
          </p:txBody>
        </p:sp>
        <p:sp>
          <p:nvSpPr>
            <p:cNvPr id="44063" name="Text Box 15"/>
            <p:cNvSpPr txBox="1">
              <a:spLocks noChangeArrowheads="1"/>
            </p:cNvSpPr>
            <p:nvPr/>
          </p:nvSpPr>
          <p:spPr bwMode="auto">
            <a:xfrm>
              <a:off x="5330" y="2438"/>
              <a:ext cx="408" cy="288"/>
            </a:xfrm>
            <a:prstGeom prst="rect">
              <a:avLst/>
            </a:prstGeom>
            <a:noFill/>
            <a:ln w="9525">
              <a:noFill/>
              <a:miter lim="800000"/>
            </a:ln>
          </p:spPr>
          <p:txBody>
            <a:bodyPr>
              <a:spAutoFit/>
            </a:bodyPr>
            <a:lstStyle/>
            <a:p>
              <a:r>
                <a:rPr lang="en-US" altLang="zh-CN" b="1" i="1"/>
                <a:t>V</a:t>
              </a:r>
              <a:endParaRPr lang="en-US" altLang="zh-CN" b="1" i="1"/>
            </a:p>
          </p:txBody>
        </p:sp>
        <p:sp>
          <p:nvSpPr>
            <p:cNvPr id="44064" name="Text Box 16"/>
            <p:cNvSpPr txBox="1">
              <a:spLocks noChangeArrowheads="1"/>
            </p:cNvSpPr>
            <p:nvPr/>
          </p:nvSpPr>
          <p:spPr bwMode="auto">
            <a:xfrm>
              <a:off x="3755" y="2425"/>
              <a:ext cx="255" cy="288"/>
            </a:xfrm>
            <a:prstGeom prst="rect">
              <a:avLst/>
            </a:prstGeom>
            <a:noFill/>
            <a:ln w="9525">
              <a:noFill/>
              <a:miter lim="800000"/>
            </a:ln>
          </p:spPr>
          <p:txBody>
            <a:bodyPr wrap="none">
              <a:spAutoFit/>
            </a:bodyPr>
            <a:lstStyle/>
            <a:p>
              <a:r>
                <a:rPr lang="en-US" altLang="zh-CN" b="1" i="1"/>
                <a:t>O</a:t>
              </a:r>
              <a:endParaRPr lang="en-US" altLang="zh-CN" b="1" i="1"/>
            </a:p>
          </p:txBody>
        </p:sp>
        <p:sp>
          <p:nvSpPr>
            <p:cNvPr id="44065" name="Text Box 17"/>
            <p:cNvSpPr txBox="1">
              <a:spLocks noChangeArrowheads="1"/>
            </p:cNvSpPr>
            <p:nvPr/>
          </p:nvSpPr>
          <p:spPr bwMode="auto">
            <a:xfrm>
              <a:off x="3787" y="1389"/>
              <a:ext cx="408" cy="288"/>
            </a:xfrm>
            <a:prstGeom prst="rect">
              <a:avLst/>
            </a:prstGeom>
            <a:noFill/>
            <a:ln w="9525">
              <a:noFill/>
              <a:miter lim="800000"/>
            </a:ln>
          </p:spPr>
          <p:txBody>
            <a:bodyPr>
              <a:spAutoFit/>
            </a:bodyPr>
            <a:lstStyle/>
            <a:p>
              <a:r>
                <a:rPr lang="en-US" altLang="zh-CN" b="1" i="1"/>
                <a:t>p</a:t>
              </a:r>
              <a:endParaRPr lang="en-US" altLang="zh-CN" b="1" i="1"/>
            </a:p>
          </p:txBody>
        </p:sp>
      </p:grpSp>
      <p:grpSp>
        <p:nvGrpSpPr>
          <p:cNvPr id="3" name="Group 18"/>
          <p:cNvGrpSpPr/>
          <p:nvPr/>
        </p:nvGrpSpPr>
        <p:grpSpPr bwMode="auto">
          <a:xfrm>
            <a:off x="6897688" y="2844800"/>
            <a:ext cx="1150937" cy="839788"/>
            <a:chOff x="4345" y="1792"/>
            <a:chExt cx="725" cy="529"/>
          </a:xfrm>
        </p:grpSpPr>
        <p:sp>
          <p:nvSpPr>
            <p:cNvPr id="44059" name="Freeform 19"/>
            <p:cNvSpPr/>
            <p:nvPr/>
          </p:nvSpPr>
          <p:spPr bwMode="auto">
            <a:xfrm>
              <a:off x="4345" y="1792"/>
              <a:ext cx="725" cy="529"/>
            </a:xfrm>
            <a:custGeom>
              <a:avLst/>
              <a:gdLst>
                <a:gd name="T0" fmla="*/ 0 w 725"/>
                <a:gd name="T1" fmla="*/ 30 h 529"/>
                <a:gd name="T2" fmla="*/ 363 w 725"/>
                <a:gd name="T3" fmla="*/ 30 h 529"/>
                <a:gd name="T4" fmla="*/ 635 w 725"/>
                <a:gd name="T5" fmla="*/ 211 h 529"/>
                <a:gd name="T6" fmla="*/ 725 w 725"/>
                <a:gd name="T7" fmla="*/ 529 h 529"/>
                <a:gd name="T8" fmla="*/ 0 60000 65536"/>
                <a:gd name="T9" fmla="*/ 0 60000 65536"/>
                <a:gd name="T10" fmla="*/ 0 60000 65536"/>
                <a:gd name="T11" fmla="*/ 0 60000 65536"/>
                <a:gd name="T12" fmla="*/ 0 w 725"/>
                <a:gd name="T13" fmla="*/ 0 h 529"/>
                <a:gd name="T14" fmla="*/ 725 w 725"/>
                <a:gd name="T15" fmla="*/ 529 h 529"/>
              </a:gdLst>
              <a:ahLst/>
              <a:cxnLst>
                <a:cxn ang="T8">
                  <a:pos x="T0" y="T1"/>
                </a:cxn>
                <a:cxn ang="T9">
                  <a:pos x="T2" y="T3"/>
                </a:cxn>
                <a:cxn ang="T10">
                  <a:pos x="T4" y="T5"/>
                </a:cxn>
                <a:cxn ang="T11">
                  <a:pos x="T6" y="T7"/>
                </a:cxn>
              </a:cxnLst>
              <a:rect l="T12" t="T13" r="T14" b="T15"/>
              <a:pathLst>
                <a:path w="725" h="529">
                  <a:moveTo>
                    <a:pt x="0" y="30"/>
                  </a:moveTo>
                  <a:cubicBezTo>
                    <a:pt x="128" y="15"/>
                    <a:pt x="257" y="0"/>
                    <a:pt x="363" y="30"/>
                  </a:cubicBezTo>
                  <a:cubicBezTo>
                    <a:pt x="469" y="60"/>
                    <a:pt x="575" y="128"/>
                    <a:pt x="635" y="211"/>
                  </a:cubicBezTo>
                  <a:cubicBezTo>
                    <a:pt x="695" y="294"/>
                    <a:pt x="710" y="411"/>
                    <a:pt x="725" y="529"/>
                  </a:cubicBezTo>
                </a:path>
              </a:pathLst>
            </a:custGeom>
            <a:noFill/>
            <a:ln w="38100">
              <a:solidFill>
                <a:srgbClr val="3333CC"/>
              </a:solidFill>
              <a:round/>
            </a:ln>
          </p:spPr>
          <p:txBody>
            <a:bodyPr/>
            <a:lstStyle/>
            <a:p>
              <a:pPr algn="ctr"/>
              <a:endParaRPr lang="zh-CN" altLang="en-US" b="1"/>
            </a:p>
          </p:txBody>
        </p:sp>
        <p:sp>
          <p:nvSpPr>
            <p:cNvPr id="44060" name="Line 20"/>
            <p:cNvSpPr>
              <a:spLocks noChangeShapeType="1"/>
            </p:cNvSpPr>
            <p:nvPr/>
          </p:nvSpPr>
          <p:spPr bwMode="auto">
            <a:xfrm rot="10800000">
              <a:off x="4889" y="1913"/>
              <a:ext cx="45" cy="45"/>
            </a:xfrm>
            <a:prstGeom prst="line">
              <a:avLst/>
            </a:prstGeom>
            <a:noFill/>
            <a:ln w="38100">
              <a:solidFill>
                <a:srgbClr val="3333CC"/>
              </a:solidFill>
              <a:round/>
              <a:tailEnd type="triangle" w="med" len="med"/>
            </a:ln>
          </p:spPr>
          <p:txBody>
            <a:bodyPr/>
            <a:lstStyle/>
            <a:p>
              <a:endParaRPr lang="zh-CN" altLang="en-US"/>
            </a:p>
          </p:txBody>
        </p:sp>
      </p:grpSp>
      <p:grpSp>
        <p:nvGrpSpPr>
          <p:cNvPr id="4" name="Group 21"/>
          <p:cNvGrpSpPr/>
          <p:nvPr/>
        </p:nvGrpSpPr>
        <p:grpSpPr bwMode="auto">
          <a:xfrm>
            <a:off x="6897688" y="2892425"/>
            <a:ext cx="1147762" cy="838200"/>
            <a:chOff x="4345" y="1822"/>
            <a:chExt cx="723" cy="528"/>
          </a:xfrm>
        </p:grpSpPr>
        <p:sp>
          <p:nvSpPr>
            <p:cNvPr id="44057" name="Freeform 22"/>
            <p:cNvSpPr/>
            <p:nvPr/>
          </p:nvSpPr>
          <p:spPr bwMode="auto">
            <a:xfrm>
              <a:off x="4345" y="1822"/>
              <a:ext cx="723" cy="528"/>
            </a:xfrm>
            <a:custGeom>
              <a:avLst/>
              <a:gdLst>
                <a:gd name="T0" fmla="*/ 723 w 723"/>
                <a:gd name="T1" fmla="*/ 528 h 528"/>
                <a:gd name="T2" fmla="*/ 227 w 723"/>
                <a:gd name="T3" fmla="*/ 363 h 528"/>
                <a:gd name="T4" fmla="*/ 0 w 723"/>
                <a:gd name="T5" fmla="*/ 0 h 528"/>
                <a:gd name="T6" fmla="*/ 0 60000 65536"/>
                <a:gd name="T7" fmla="*/ 0 60000 65536"/>
                <a:gd name="T8" fmla="*/ 0 60000 65536"/>
                <a:gd name="T9" fmla="*/ 0 w 723"/>
                <a:gd name="T10" fmla="*/ 0 h 528"/>
                <a:gd name="T11" fmla="*/ 723 w 723"/>
                <a:gd name="T12" fmla="*/ 528 h 528"/>
              </a:gdLst>
              <a:ahLst/>
              <a:cxnLst>
                <a:cxn ang="T6">
                  <a:pos x="T0" y="T1"/>
                </a:cxn>
                <a:cxn ang="T7">
                  <a:pos x="T2" y="T3"/>
                </a:cxn>
                <a:cxn ang="T8">
                  <a:pos x="T4" y="T5"/>
                </a:cxn>
              </a:cxnLst>
              <a:rect l="T9" t="T10" r="T11" b="T12"/>
              <a:pathLst>
                <a:path w="723" h="528">
                  <a:moveTo>
                    <a:pt x="723" y="528"/>
                  </a:moveTo>
                  <a:cubicBezTo>
                    <a:pt x="640" y="501"/>
                    <a:pt x="347" y="451"/>
                    <a:pt x="227" y="363"/>
                  </a:cubicBezTo>
                  <a:cubicBezTo>
                    <a:pt x="107" y="275"/>
                    <a:pt x="53" y="136"/>
                    <a:pt x="0" y="0"/>
                  </a:cubicBezTo>
                </a:path>
              </a:pathLst>
            </a:custGeom>
            <a:noFill/>
            <a:ln w="38100">
              <a:solidFill>
                <a:srgbClr val="3333CC"/>
              </a:solidFill>
              <a:round/>
            </a:ln>
          </p:spPr>
          <p:txBody>
            <a:bodyPr/>
            <a:lstStyle/>
            <a:p>
              <a:pPr algn="ctr"/>
              <a:endParaRPr lang="zh-CN" altLang="en-US" b="1"/>
            </a:p>
          </p:txBody>
        </p:sp>
        <p:sp>
          <p:nvSpPr>
            <p:cNvPr id="44058" name="Line 23"/>
            <p:cNvSpPr>
              <a:spLocks noChangeShapeType="1"/>
            </p:cNvSpPr>
            <p:nvPr/>
          </p:nvSpPr>
          <p:spPr bwMode="auto">
            <a:xfrm rot="10800000" flipH="1" flipV="1">
              <a:off x="4526" y="2139"/>
              <a:ext cx="45" cy="45"/>
            </a:xfrm>
            <a:prstGeom prst="line">
              <a:avLst/>
            </a:prstGeom>
            <a:noFill/>
            <a:ln w="38100">
              <a:solidFill>
                <a:srgbClr val="3333CC"/>
              </a:solidFill>
              <a:round/>
              <a:tailEnd type="triangle" w="med" len="med"/>
            </a:ln>
          </p:spPr>
          <p:txBody>
            <a:bodyPr/>
            <a:lstStyle/>
            <a:p>
              <a:endParaRPr lang="zh-CN" altLang="en-US"/>
            </a:p>
          </p:txBody>
        </p:sp>
      </p:grpSp>
      <p:sp>
        <p:nvSpPr>
          <p:cNvPr id="86040" name="Oval 24"/>
          <p:cNvSpPr>
            <a:spLocks noChangeArrowheads="1"/>
          </p:cNvSpPr>
          <p:nvPr/>
        </p:nvSpPr>
        <p:spPr bwMode="auto">
          <a:xfrm>
            <a:off x="6864350" y="2859088"/>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86041" name="Oval 25"/>
          <p:cNvSpPr>
            <a:spLocks noChangeArrowheads="1"/>
          </p:cNvSpPr>
          <p:nvPr/>
        </p:nvSpPr>
        <p:spPr bwMode="auto">
          <a:xfrm>
            <a:off x="8008938" y="3683000"/>
            <a:ext cx="73025" cy="73025"/>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86042" name="Text Box 26"/>
          <p:cNvSpPr txBox="1">
            <a:spLocks noChangeArrowheads="1"/>
          </p:cNvSpPr>
          <p:nvPr/>
        </p:nvSpPr>
        <p:spPr bwMode="auto">
          <a:xfrm>
            <a:off x="6732588" y="2408238"/>
            <a:ext cx="576262" cy="457200"/>
          </a:xfrm>
          <a:prstGeom prst="rect">
            <a:avLst/>
          </a:prstGeom>
          <a:noFill/>
          <a:ln w="9525">
            <a:noFill/>
            <a:miter lim="800000"/>
          </a:ln>
        </p:spPr>
        <p:txBody>
          <a:bodyPr>
            <a:spAutoFit/>
          </a:bodyPr>
          <a:lstStyle/>
          <a:p>
            <a:r>
              <a:rPr lang="en-US" altLang="zh-CN" b="1" i="1"/>
              <a:t>I</a:t>
            </a:r>
            <a:endParaRPr lang="en-US" altLang="zh-CN" b="1" i="1"/>
          </a:p>
        </p:txBody>
      </p:sp>
      <p:sp>
        <p:nvSpPr>
          <p:cNvPr id="86043" name="Text Box 27"/>
          <p:cNvSpPr txBox="1">
            <a:spLocks noChangeArrowheads="1"/>
          </p:cNvSpPr>
          <p:nvPr/>
        </p:nvSpPr>
        <p:spPr bwMode="auto">
          <a:xfrm>
            <a:off x="8193088" y="3468688"/>
            <a:ext cx="627062" cy="457200"/>
          </a:xfrm>
          <a:prstGeom prst="rect">
            <a:avLst/>
          </a:prstGeom>
          <a:noFill/>
          <a:ln w="9525">
            <a:noFill/>
            <a:miter lim="800000"/>
          </a:ln>
        </p:spPr>
        <p:txBody>
          <a:bodyPr>
            <a:spAutoFit/>
          </a:bodyPr>
          <a:lstStyle/>
          <a:p>
            <a:r>
              <a:rPr lang="en-US" altLang="zh-CN" b="1" i="1"/>
              <a:t>II</a:t>
            </a:r>
            <a:endParaRPr lang="en-US" altLang="zh-CN" b="1" i="1"/>
          </a:p>
        </p:txBody>
      </p:sp>
      <p:sp>
        <p:nvSpPr>
          <p:cNvPr id="86044" name="Text Box 28"/>
          <p:cNvSpPr txBox="1">
            <a:spLocks noChangeArrowheads="1"/>
          </p:cNvSpPr>
          <p:nvPr/>
        </p:nvSpPr>
        <p:spPr bwMode="auto">
          <a:xfrm>
            <a:off x="7689850" y="2532063"/>
            <a:ext cx="554038" cy="457200"/>
          </a:xfrm>
          <a:prstGeom prst="rect">
            <a:avLst/>
          </a:prstGeom>
          <a:noFill/>
          <a:ln w="9525">
            <a:noFill/>
            <a:miter lim="800000"/>
          </a:ln>
        </p:spPr>
        <p:txBody>
          <a:bodyPr>
            <a:spAutoFit/>
          </a:bodyPr>
          <a:lstStyle/>
          <a:p>
            <a:r>
              <a:rPr lang="en-US" altLang="zh-CN" b="1" i="1"/>
              <a:t>a</a:t>
            </a:r>
            <a:endParaRPr lang="en-US" altLang="zh-CN" b="1" i="1"/>
          </a:p>
        </p:txBody>
      </p:sp>
      <p:sp>
        <p:nvSpPr>
          <p:cNvPr id="86045" name="Text Box 29"/>
          <p:cNvSpPr txBox="1">
            <a:spLocks noChangeArrowheads="1"/>
          </p:cNvSpPr>
          <p:nvPr/>
        </p:nvSpPr>
        <p:spPr bwMode="auto">
          <a:xfrm>
            <a:off x="7040563" y="3468688"/>
            <a:ext cx="555625" cy="457200"/>
          </a:xfrm>
          <a:prstGeom prst="rect">
            <a:avLst/>
          </a:prstGeom>
          <a:noFill/>
          <a:ln w="9525">
            <a:noFill/>
            <a:miter lim="800000"/>
          </a:ln>
        </p:spPr>
        <p:txBody>
          <a:bodyPr>
            <a:spAutoFit/>
          </a:bodyPr>
          <a:lstStyle/>
          <a:p>
            <a:r>
              <a:rPr lang="en-US" altLang="zh-CN" b="1" i="1"/>
              <a:t>b</a:t>
            </a:r>
            <a:endParaRPr lang="en-US" altLang="zh-CN" b="1" i="1"/>
          </a:p>
        </p:txBody>
      </p:sp>
      <p:sp>
        <p:nvSpPr>
          <p:cNvPr id="86046" name="Text Box 30"/>
          <p:cNvSpPr txBox="1">
            <a:spLocks noChangeArrowheads="1"/>
          </p:cNvSpPr>
          <p:nvPr/>
        </p:nvSpPr>
        <p:spPr bwMode="auto">
          <a:xfrm>
            <a:off x="806450" y="2924175"/>
            <a:ext cx="4629150" cy="457200"/>
          </a:xfrm>
          <a:prstGeom prst="rect">
            <a:avLst/>
          </a:prstGeom>
          <a:noFill/>
          <a:ln w="9525">
            <a:noFill/>
            <a:miter lim="800000"/>
          </a:ln>
        </p:spPr>
        <p:txBody>
          <a:bodyPr>
            <a:spAutoFit/>
          </a:bodyPr>
          <a:lstStyle/>
          <a:p>
            <a:r>
              <a:rPr lang="en-US" altLang="zh-CN" b="1" i="1">
                <a:solidFill>
                  <a:srgbClr val="FF0000"/>
                </a:solidFill>
              </a:rPr>
              <a:t>W</a:t>
            </a:r>
            <a:r>
              <a:rPr lang="en-US" altLang="zh-CN" b="1"/>
              <a:t>→</a:t>
            </a:r>
            <a:r>
              <a:rPr lang="zh-CN" altLang="en-US" b="1"/>
              <a:t>环境对系统所做净功；</a:t>
            </a:r>
            <a:endParaRPr lang="zh-CN" altLang="en-US" b="1"/>
          </a:p>
        </p:txBody>
      </p:sp>
      <p:sp>
        <p:nvSpPr>
          <p:cNvPr id="86047" name="Text Box 31"/>
          <p:cNvSpPr txBox="1">
            <a:spLocks noChangeArrowheads="1"/>
          </p:cNvSpPr>
          <p:nvPr/>
        </p:nvSpPr>
        <p:spPr bwMode="auto">
          <a:xfrm>
            <a:off x="755650" y="3357563"/>
            <a:ext cx="4772025" cy="457200"/>
          </a:xfrm>
          <a:prstGeom prst="rect">
            <a:avLst/>
          </a:prstGeom>
          <a:noFill/>
          <a:ln w="9525">
            <a:noFill/>
            <a:miter lim="800000"/>
          </a:ln>
        </p:spPr>
        <p:txBody>
          <a:bodyPr>
            <a:spAutoFit/>
          </a:bodyPr>
          <a:lstStyle/>
          <a:p>
            <a:r>
              <a:rPr lang="en-US" altLang="zh-CN" b="1" i="1">
                <a:solidFill>
                  <a:srgbClr val="FF0000"/>
                </a:solidFill>
              </a:rPr>
              <a:t>Q</a:t>
            </a:r>
            <a:r>
              <a:rPr lang="en-US" altLang="zh-CN" b="1" baseline="-25000">
                <a:solidFill>
                  <a:srgbClr val="FF0000"/>
                </a:solidFill>
              </a:rPr>
              <a:t>1</a:t>
            </a:r>
            <a:r>
              <a:rPr lang="en-US" altLang="zh-CN" b="1"/>
              <a:t> →</a:t>
            </a:r>
            <a:r>
              <a:rPr lang="zh-CN" altLang="en-US" b="1"/>
              <a:t>向高温热源放出的热量；</a:t>
            </a:r>
            <a:endParaRPr lang="zh-CN" altLang="en-US" b="1"/>
          </a:p>
        </p:txBody>
      </p:sp>
      <p:sp>
        <p:nvSpPr>
          <p:cNvPr id="86048" name="Text Box 32"/>
          <p:cNvSpPr txBox="1">
            <a:spLocks noChangeArrowheads="1"/>
          </p:cNvSpPr>
          <p:nvPr/>
        </p:nvSpPr>
        <p:spPr bwMode="auto">
          <a:xfrm>
            <a:off x="755650" y="3860800"/>
            <a:ext cx="4629150" cy="457200"/>
          </a:xfrm>
          <a:prstGeom prst="rect">
            <a:avLst/>
          </a:prstGeom>
          <a:noFill/>
          <a:ln w="9525">
            <a:noFill/>
            <a:miter lim="800000"/>
          </a:ln>
        </p:spPr>
        <p:txBody>
          <a:bodyPr>
            <a:spAutoFit/>
          </a:bodyPr>
          <a:lstStyle/>
          <a:p>
            <a:r>
              <a:rPr lang="en-US" altLang="zh-CN" b="1" i="1">
                <a:solidFill>
                  <a:srgbClr val="FF0000"/>
                </a:solidFill>
              </a:rPr>
              <a:t>Q</a:t>
            </a:r>
            <a:r>
              <a:rPr lang="en-US" altLang="zh-CN" b="1" baseline="-25000">
                <a:solidFill>
                  <a:srgbClr val="FF0000"/>
                </a:solidFill>
              </a:rPr>
              <a:t>2</a:t>
            </a:r>
            <a:r>
              <a:rPr lang="en-US" altLang="zh-CN" b="1"/>
              <a:t> →</a:t>
            </a:r>
            <a:r>
              <a:rPr lang="zh-CN" altLang="en-US" b="1"/>
              <a:t>从低温热源吸收的热量；</a:t>
            </a:r>
            <a:endParaRPr lang="zh-CN" altLang="en-US" b="1"/>
          </a:p>
        </p:txBody>
      </p:sp>
      <p:sp>
        <p:nvSpPr>
          <p:cNvPr id="86049" name="Text Box 33"/>
          <p:cNvSpPr txBox="1">
            <a:spLocks noChangeArrowheads="1"/>
          </p:cNvSpPr>
          <p:nvPr/>
        </p:nvSpPr>
        <p:spPr bwMode="auto">
          <a:xfrm>
            <a:off x="4500563" y="2900363"/>
            <a:ext cx="1512887" cy="457200"/>
          </a:xfrm>
          <a:prstGeom prst="rect">
            <a:avLst/>
          </a:prstGeom>
          <a:noFill/>
          <a:ln w="9525">
            <a:noFill/>
            <a:miter lim="800000"/>
          </a:ln>
        </p:spPr>
        <p:txBody>
          <a:bodyPr>
            <a:spAutoFit/>
          </a:bodyPr>
          <a:lstStyle/>
          <a:p>
            <a:r>
              <a:rPr lang="en-US" altLang="zh-CN" b="1">
                <a:solidFill>
                  <a:srgbClr val="0000FF"/>
                </a:solidFill>
              </a:rPr>
              <a:t>(</a:t>
            </a:r>
            <a:r>
              <a:rPr lang="en-US" altLang="zh-CN" b="1" i="1">
                <a:solidFill>
                  <a:srgbClr val="0000FF"/>
                </a:solidFill>
              </a:rPr>
              <a:t> W</a:t>
            </a:r>
            <a:r>
              <a:rPr lang="en-US" altLang="zh-CN" b="1">
                <a:solidFill>
                  <a:srgbClr val="0000FF"/>
                </a:solidFill>
              </a:rPr>
              <a:t> &gt; 0 )</a:t>
            </a:r>
            <a:endParaRPr lang="en-US" altLang="zh-CN" b="1">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6019"/>
                                        </p:tgtEl>
                                        <p:attrNameLst>
                                          <p:attrName>style.visibility</p:attrName>
                                        </p:attrNameLst>
                                      </p:cBhvr>
                                      <p:to>
                                        <p:strVal val="visible"/>
                                      </p:to>
                                    </p:set>
                                    <p:animEffect transition="in" filter="wipe(left)">
                                      <p:cBhvr>
                                        <p:cTn id="7" dur="500"/>
                                        <p:tgtEl>
                                          <p:spTgt spid="860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020"/>
                                        </p:tgtEl>
                                        <p:attrNameLst>
                                          <p:attrName>style.visibility</p:attrName>
                                        </p:attrNameLst>
                                      </p:cBhvr>
                                      <p:to>
                                        <p:strVal val="visible"/>
                                      </p:to>
                                    </p:set>
                                    <p:animEffect transition="in" filter="wipe(left)">
                                      <p:cBhvr>
                                        <p:cTn id="12" dur="500"/>
                                        <p:tgtEl>
                                          <p:spTgt spid="8602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6021"/>
                                        </p:tgtEl>
                                        <p:attrNameLst>
                                          <p:attrName>style.visibility</p:attrName>
                                        </p:attrNameLst>
                                      </p:cBhvr>
                                      <p:to>
                                        <p:strVal val="visible"/>
                                      </p:to>
                                    </p:set>
                                    <p:animEffect transition="in" filter="wipe(left)">
                                      <p:cBhvr>
                                        <p:cTn id="16" dur="500"/>
                                        <p:tgtEl>
                                          <p:spTgt spid="8602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86042"/>
                                        </p:tgtEl>
                                        <p:attrNameLst>
                                          <p:attrName>style.visibility</p:attrName>
                                        </p:attrNameLst>
                                      </p:cBhvr>
                                      <p:to>
                                        <p:strVal val="visible"/>
                                      </p:to>
                                    </p:set>
                                    <p:animEffect transition="in" filter="wipe(up)">
                                      <p:cBhvr>
                                        <p:cTn id="26" dur="500"/>
                                        <p:tgtEl>
                                          <p:spTgt spid="86042"/>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86040"/>
                                        </p:tgtEl>
                                        <p:attrNameLst>
                                          <p:attrName>style.visibility</p:attrName>
                                        </p:attrNameLst>
                                      </p:cBhvr>
                                      <p:to>
                                        <p:strVal val="visible"/>
                                      </p:to>
                                    </p:set>
                                    <p:animEffect transition="in" filter="wipe(up)">
                                      <p:cBhvr>
                                        <p:cTn id="29" dur="500"/>
                                        <p:tgtEl>
                                          <p:spTgt spid="86040"/>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86045"/>
                                        </p:tgtEl>
                                        <p:attrNameLst>
                                          <p:attrName>style.visibility</p:attrName>
                                        </p:attrNameLst>
                                      </p:cBhvr>
                                      <p:to>
                                        <p:strVal val="visible"/>
                                      </p:to>
                                    </p:set>
                                    <p:animEffect transition="in" filter="wipe(up)">
                                      <p:cBhvr>
                                        <p:cTn id="36" dur="500"/>
                                        <p:tgtEl>
                                          <p:spTgt spid="86045"/>
                                        </p:tgtEl>
                                      </p:cBhvr>
                                    </p:animEffect>
                                  </p:childTnLst>
                                </p:cTn>
                              </p:par>
                            </p:childTnLst>
                          </p:cTn>
                        </p:par>
                        <p:par>
                          <p:cTn id="37" fill="hold">
                            <p:stCondLst>
                              <p:cond delay="1000"/>
                            </p:stCondLst>
                            <p:childTnLst>
                              <p:par>
                                <p:cTn id="38" presetID="22" presetClass="entr" presetSubtype="1" fill="hold" grpId="0" nodeType="afterEffect">
                                  <p:stCondLst>
                                    <p:cond delay="0"/>
                                  </p:stCondLst>
                                  <p:childTnLst>
                                    <p:set>
                                      <p:cBhvr>
                                        <p:cTn id="39" dur="1" fill="hold">
                                          <p:stCondLst>
                                            <p:cond delay="0"/>
                                          </p:stCondLst>
                                        </p:cTn>
                                        <p:tgtEl>
                                          <p:spTgt spid="86041"/>
                                        </p:tgtEl>
                                        <p:attrNameLst>
                                          <p:attrName>style.visibility</p:attrName>
                                        </p:attrNameLst>
                                      </p:cBhvr>
                                      <p:to>
                                        <p:strVal val="visible"/>
                                      </p:to>
                                    </p:set>
                                    <p:animEffect transition="in" filter="wipe(up)">
                                      <p:cBhvr>
                                        <p:cTn id="40" dur="500"/>
                                        <p:tgtEl>
                                          <p:spTgt spid="86041"/>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86043"/>
                                        </p:tgtEl>
                                        <p:attrNameLst>
                                          <p:attrName>style.visibility</p:attrName>
                                        </p:attrNameLst>
                                      </p:cBhvr>
                                      <p:to>
                                        <p:strVal val="visible"/>
                                      </p:to>
                                    </p:set>
                                    <p:animEffect transition="in" filter="wipe(up)">
                                      <p:cBhvr>
                                        <p:cTn id="43" dur="500"/>
                                        <p:tgtEl>
                                          <p:spTgt spid="86043"/>
                                        </p:tgtEl>
                                      </p:cBhvr>
                                    </p:animEffect>
                                  </p:childTnLst>
                                </p:cTn>
                              </p:par>
                            </p:childTnLst>
                          </p:cTn>
                        </p:par>
                        <p:par>
                          <p:cTn id="44" fill="hold">
                            <p:stCondLst>
                              <p:cond delay="1500"/>
                            </p:stCondLst>
                            <p:childTnLst>
                              <p:par>
                                <p:cTn id="45" presetID="22" presetClass="entr" presetSubtype="2" fill="hold" nodeType="after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right)">
                                      <p:cBhvr>
                                        <p:cTn id="47" dur="500"/>
                                        <p:tgtEl>
                                          <p:spTgt spid="3"/>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86044"/>
                                        </p:tgtEl>
                                        <p:attrNameLst>
                                          <p:attrName>style.visibility</p:attrName>
                                        </p:attrNameLst>
                                      </p:cBhvr>
                                      <p:to>
                                        <p:strVal val="visible"/>
                                      </p:to>
                                    </p:set>
                                    <p:animEffect transition="in" filter="wipe(up)">
                                      <p:cBhvr>
                                        <p:cTn id="50" dur="500"/>
                                        <p:tgtEl>
                                          <p:spTgt spid="86044"/>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86018"/>
                                        </p:tgtEl>
                                        <p:attrNameLst>
                                          <p:attrName>style.visibility</p:attrName>
                                        </p:attrNameLst>
                                      </p:cBhvr>
                                      <p:to>
                                        <p:strVal val="visible"/>
                                      </p:to>
                                    </p:set>
                                    <p:animEffect transition="in" filter="wipe(left)">
                                      <p:cBhvr>
                                        <p:cTn id="54" dur="500"/>
                                        <p:tgtEl>
                                          <p:spTgt spid="8601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86022"/>
                                        </p:tgtEl>
                                        <p:attrNameLst>
                                          <p:attrName>style.visibility</p:attrName>
                                        </p:attrNameLst>
                                      </p:cBhvr>
                                      <p:to>
                                        <p:strVal val="visible"/>
                                      </p:to>
                                    </p:set>
                                    <p:animEffect transition="in" filter="wipe(left)">
                                      <p:cBhvr>
                                        <p:cTn id="59" dur="500"/>
                                        <p:tgtEl>
                                          <p:spTgt spid="8602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86046"/>
                                        </p:tgtEl>
                                        <p:attrNameLst>
                                          <p:attrName>style.visibility</p:attrName>
                                        </p:attrNameLst>
                                      </p:cBhvr>
                                      <p:to>
                                        <p:strVal val="visible"/>
                                      </p:to>
                                    </p:set>
                                    <p:animEffect transition="in" filter="wipe(left)">
                                      <p:cBhvr>
                                        <p:cTn id="64" dur="500"/>
                                        <p:tgtEl>
                                          <p:spTgt spid="8604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grpId="0" nodeType="clickEffect">
                                  <p:stCondLst>
                                    <p:cond delay="0"/>
                                  </p:stCondLst>
                                  <p:childTnLst>
                                    <p:set>
                                      <p:cBhvr>
                                        <p:cTn id="68" dur="1" fill="hold">
                                          <p:stCondLst>
                                            <p:cond delay="0"/>
                                          </p:stCondLst>
                                        </p:cTn>
                                        <p:tgtEl>
                                          <p:spTgt spid="86027"/>
                                        </p:tgtEl>
                                        <p:attrNameLst>
                                          <p:attrName>style.visibility</p:attrName>
                                        </p:attrNameLst>
                                      </p:cBhvr>
                                      <p:to>
                                        <p:strVal val="visible"/>
                                      </p:to>
                                    </p:set>
                                    <p:animEffect transition="in" filter="wipe(right)">
                                      <p:cBhvr>
                                        <p:cTn id="69" dur="500"/>
                                        <p:tgtEl>
                                          <p:spTgt spid="8602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86049"/>
                                        </p:tgtEl>
                                        <p:attrNameLst>
                                          <p:attrName>style.visibility</p:attrName>
                                        </p:attrNameLst>
                                      </p:cBhvr>
                                      <p:to>
                                        <p:strVal val="visible"/>
                                      </p:to>
                                    </p:set>
                                    <p:animEffect transition="in" filter="wipe(left)">
                                      <p:cBhvr>
                                        <p:cTn id="74" dur="500"/>
                                        <p:tgtEl>
                                          <p:spTgt spid="8604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86047"/>
                                        </p:tgtEl>
                                        <p:attrNameLst>
                                          <p:attrName>style.visibility</p:attrName>
                                        </p:attrNameLst>
                                      </p:cBhvr>
                                      <p:to>
                                        <p:strVal val="visible"/>
                                      </p:to>
                                    </p:set>
                                    <p:animEffect transition="in" filter="wipe(left)">
                                      <p:cBhvr>
                                        <p:cTn id="79" dur="500"/>
                                        <p:tgtEl>
                                          <p:spTgt spid="8604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86048"/>
                                        </p:tgtEl>
                                        <p:attrNameLst>
                                          <p:attrName>style.visibility</p:attrName>
                                        </p:attrNameLst>
                                      </p:cBhvr>
                                      <p:to>
                                        <p:strVal val="visible"/>
                                      </p:to>
                                    </p:set>
                                    <p:animEffect transition="in" filter="wipe(left)">
                                      <p:cBhvr>
                                        <p:cTn id="84" dur="500"/>
                                        <p:tgtEl>
                                          <p:spTgt spid="86048"/>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86023"/>
                                        </p:tgtEl>
                                        <p:attrNameLst>
                                          <p:attrName>style.visibility</p:attrName>
                                        </p:attrNameLst>
                                      </p:cBhvr>
                                      <p:to>
                                        <p:strVal val="visible"/>
                                      </p:to>
                                    </p:set>
                                    <p:animEffect transition="in" filter="wipe(left)">
                                      <p:cBhvr>
                                        <p:cTn id="89" dur="500"/>
                                        <p:tgtEl>
                                          <p:spTgt spid="86023"/>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86024"/>
                                        </p:tgtEl>
                                        <p:attrNameLst>
                                          <p:attrName>style.visibility</p:attrName>
                                        </p:attrNameLst>
                                      </p:cBhvr>
                                      <p:to>
                                        <p:strVal val="visible"/>
                                      </p:to>
                                    </p:set>
                                    <p:animEffect transition="in" filter="wipe(left)">
                                      <p:cBhvr>
                                        <p:cTn id="94" dur="500"/>
                                        <p:tgtEl>
                                          <p:spTgt spid="86024"/>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86025"/>
                                        </p:tgtEl>
                                        <p:attrNameLst>
                                          <p:attrName>style.visibility</p:attrName>
                                        </p:attrNameLst>
                                      </p:cBhvr>
                                      <p:to>
                                        <p:strVal val="visible"/>
                                      </p:to>
                                    </p:set>
                                    <p:animEffect transition="in" filter="wipe(left)">
                                      <p:cBhvr>
                                        <p:cTn id="99" dur="500"/>
                                        <p:tgtEl>
                                          <p:spTgt spid="8602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86026"/>
                                        </p:tgtEl>
                                        <p:attrNameLst>
                                          <p:attrName>style.visibility</p:attrName>
                                        </p:attrNameLst>
                                      </p:cBhvr>
                                      <p:to>
                                        <p:strVal val="visible"/>
                                      </p:to>
                                    </p:set>
                                    <p:animEffect transition="in" filter="wipe(left)">
                                      <p:cBhvr>
                                        <p:cTn id="104" dur="500"/>
                                        <p:tgtEl>
                                          <p:spTgt spid="86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p:bldP spid="86019" grpId="0"/>
      <p:bldP spid="86020" grpId="0" animBg="1"/>
      <p:bldP spid="86021" grpId="0"/>
      <p:bldP spid="86022" grpId="0"/>
      <p:bldP spid="86023" grpId="0"/>
      <p:bldP spid="86025" grpId="0"/>
      <p:bldP spid="86027" grpId="0" animBg="1"/>
      <p:bldP spid="86040" grpId="0" animBg="1"/>
      <p:bldP spid="86041" grpId="0" animBg="1"/>
      <p:bldP spid="86042" grpId="0"/>
      <p:bldP spid="86043" grpId="0"/>
      <p:bldP spid="86044" grpId="0"/>
      <p:bldP spid="86045" grpId="0"/>
      <p:bldP spid="86046" grpId="0"/>
      <p:bldP spid="86047" grpId="0"/>
      <p:bldP spid="86048" grpId="0"/>
      <p:bldP spid="8604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0"/>
          <p:cNvGrpSpPr/>
          <p:nvPr/>
        </p:nvGrpSpPr>
        <p:grpSpPr bwMode="auto">
          <a:xfrm>
            <a:off x="195263" y="781050"/>
            <a:ext cx="2376487" cy="576263"/>
            <a:chOff x="195263" y="781050"/>
            <a:chExt cx="2376487" cy="576263"/>
          </a:xfrm>
        </p:grpSpPr>
        <p:sp>
          <p:nvSpPr>
            <p:cNvPr id="45065" name="Rectangle 3"/>
            <p:cNvSpPr>
              <a:spLocks noChangeArrowheads="1"/>
            </p:cNvSpPr>
            <p:nvPr/>
          </p:nvSpPr>
          <p:spPr bwMode="auto">
            <a:xfrm>
              <a:off x="546100" y="820738"/>
              <a:ext cx="2025650" cy="457200"/>
            </a:xfrm>
            <a:prstGeom prst="rect">
              <a:avLst/>
            </a:prstGeom>
            <a:noFill/>
            <a:ln w="9525" algn="ctr">
              <a:noFill/>
              <a:miter lim="800000"/>
            </a:ln>
          </p:spPr>
          <p:txBody>
            <a:bodyPr>
              <a:spAutoFit/>
            </a:bodyPr>
            <a:lstStyle/>
            <a:p>
              <a:r>
                <a:rPr lang="zh-CN" altLang="en-US" b="1">
                  <a:solidFill>
                    <a:srgbClr val="0000FF"/>
                  </a:solidFill>
                  <a:latin typeface="Symbol" panose="05050102010706020507" pitchFamily="18" charset="2"/>
                </a:rPr>
                <a:t>注意</a:t>
              </a:r>
              <a:endParaRPr lang="zh-CN" altLang="en-US" b="1">
                <a:solidFill>
                  <a:srgbClr val="FF0000"/>
                </a:solidFill>
                <a:latin typeface="Symbol" panose="05050102010706020507" pitchFamily="18" charset="2"/>
              </a:endParaRPr>
            </a:p>
          </p:txBody>
        </p:sp>
        <p:sp>
          <p:nvSpPr>
            <p:cNvPr id="45066" name="AutoShape 4"/>
            <p:cNvSpPr>
              <a:spLocks noChangeArrowheads="1"/>
            </p:cNvSpPr>
            <p:nvPr/>
          </p:nvSpPr>
          <p:spPr bwMode="auto">
            <a:xfrm>
              <a:off x="195263" y="781050"/>
              <a:ext cx="360362"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grpSp>
      <p:grpSp>
        <p:nvGrpSpPr>
          <p:cNvPr id="3" name="组合 8"/>
          <p:cNvGrpSpPr/>
          <p:nvPr/>
        </p:nvGrpSpPr>
        <p:grpSpPr bwMode="auto">
          <a:xfrm>
            <a:off x="179388" y="3429000"/>
            <a:ext cx="8640762" cy="1406525"/>
            <a:chOff x="179388" y="3429000"/>
            <a:chExt cx="8640762" cy="1406525"/>
          </a:xfrm>
        </p:grpSpPr>
        <p:sp>
          <p:nvSpPr>
            <p:cNvPr id="45064" name="Text Box 5"/>
            <p:cNvSpPr txBox="1">
              <a:spLocks noChangeArrowheads="1"/>
            </p:cNvSpPr>
            <p:nvPr/>
          </p:nvSpPr>
          <p:spPr bwMode="auto">
            <a:xfrm>
              <a:off x="179388" y="3429000"/>
              <a:ext cx="8640762" cy="1406525"/>
            </a:xfrm>
            <a:prstGeom prst="rect">
              <a:avLst/>
            </a:prstGeom>
            <a:noFill/>
            <a:ln w="9525">
              <a:noFill/>
              <a:miter lim="800000"/>
            </a:ln>
          </p:spPr>
          <p:txBody>
            <a:bodyPr>
              <a:spAutoFit/>
            </a:bodyPr>
            <a:lstStyle/>
            <a:p>
              <a:pPr>
                <a:lnSpc>
                  <a:spcPct val="120000"/>
                </a:lnSpc>
              </a:pPr>
              <a:r>
                <a:rPr lang="en-US" altLang="zh-CN" b="1">
                  <a:ea typeface="楷体_GB2312" pitchFamily="49" charset="-122"/>
                </a:rPr>
                <a:t>(2)</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循环效率 </a:t>
              </a:r>
              <a:r>
                <a:rPr lang="en-US" altLang="zh-CN" b="1" i="1">
                  <a:solidFill>
                    <a:srgbClr val="FF6600"/>
                  </a:solidFill>
                  <a:latin typeface="Symbol" panose="05050102010706020507" pitchFamily="18" charset="2"/>
                  <a:ea typeface="楷体_GB2312" pitchFamily="49" charset="-122"/>
                </a:rPr>
                <a:t>h </a:t>
              </a:r>
              <a:r>
                <a:rPr lang="en-US" altLang="zh-CN" b="1">
                  <a:latin typeface="Symbol" panose="05050102010706020507" pitchFamily="18" charset="2"/>
                  <a:ea typeface="楷体_GB2312" pitchFamily="49" charset="-122"/>
                </a:rPr>
                <a:t> </a:t>
              </a:r>
              <a:r>
                <a:rPr lang="zh-CN" altLang="en-US" b="1">
                  <a:latin typeface="楷体_GB2312" pitchFamily="49" charset="-122"/>
                  <a:ea typeface="楷体_GB2312" pitchFamily="49" charset="-122"/>
                </a:rPr>
                <a:t>和制冷系数 </a:t>
              </a:r>
              <a:r>
                <a:rPr lang="en-US" altLang="zh-CN" b="1" i="1">
                  <a:solidFill>
                    <a:srgbClr val="FF6600"/>
                  </a:solidFill>
                  <a:ea typeface="楷体_GB2312" pitchFamily="49" charset="-122"/>
                </a:rPr>
                <a:t>   </a:t>
              </a:r>
              <a:r>
                <a:rPr lang="en-US" altLang="zh-CN" b="1" i="1">
                  <a:solidFill>
                    <a:srgbClr val="FF6600"/>
                  </a:solidFill>
                  <a:latin typeface="Symbol" panose="05050102010706020507" pitchFamily="18" charset="2"/>
                  <a:ea typeface="楷体_GB2312" pitchFamily="49" charset="-122"/>
                </a:rPr>
                <a:t> </a:t>
              </a:r>
              <a:r>
                <a:rPr lang="zh-CN" altLang="en-US" b="1">
                  <a:latin typeface="楷体_GB2312" pitchFamily="49" charset="-122"/>
                  <a:ea typeface="楷体_GB2312" pitchFamily="49" charset="-122"/>
                </a:rPr>
                <a:t>中出现的各量</a:t>
              </a:r>
              <a:r>
                <a:rPr lang="en-US" altLang="zh-CN" b="1" i="1">
                  <a:solidFill>
                    <a:srgbClr val="FF6600"/>
                  </a:solidFill>
                  <a:ea typeface="楷体_GB2312" pitchFamily="49" charset="-122"/>
                </a:rPr>
                <a:t>Q</a:t>
              </a:r>
              <a:r>
                <a:rPr lang="en-US" altLang="zh-CN" b="1" baseline="-25000">
                  <a:solidFill>
                    <a:srgbClr val="FF6600"/>
                  </a:solidFill>
                  <a:ea typeface="楷体_GB2312" pitchFamily="49" charset="-122"/>
                </a:rPr>
                <a:t>1</a:t>
              </a:r>
              <a:r>
                <a:rPr lang="zh-CN" altLang="en-US" b="1">
                  <a:latin typeface="楷体_GB2312" pitchFamily="49" charset="-122"/>
                  <a:ea typeface="楷体_GB2312" pitchFamily="49" charset="-122"/>
                </a:rPr>
                <a:t>、 </a:t>
              </a:r>
              <a:r>
                <a:rPr lang="en-US" altLang="zh-CN" b="1" i="1">
                  <a:solidFill>
                    <a:srgbClr val="FF6600"/>
                  </a:solidFill>
                  <a:ea typeface="楷体_GB2312" pitchFamily="49" charset="-122"/>
                </a:rPr>
                <a:t>Q</a:t>
              </a:r>
              <a:r>
                <a:rPr lang="en-US" altLang="zh-CN" b="1" baseline="-25000">
                  <a:solidFill>
                    <a:srgbClr val="FF6600"/>
                  </a:solidFill>
                  <a:ea typeface="楷体_GB2312" pitchFamily="49" charset="-122"/>
                </a:rPr>
                <a:t>2</a:t>
              </a:r>
              <a:r>
                <a:rPr lang="zh-CN" altLang="en-US" b="1">
                  <a:latin typeface="楷体_GB2312" pitchFamily="49" charset="-122"/>
                  <a:ea typeface="楷体_GB2312" pitchFamily="49" charset="-122"/>
                </a:rPr>
                <a:t>、</a:t>
              </a:r>
              <a:r>
                <a:rPr lang="en-US" altLang="zh-CN" b="1" i="1">
                  <a:solidFill>
                    <a:srgbClr val="FF6600"/>
                  </a:solidFill>
                  <a:ea typeface="楷体_GB2312" pitchFamily="49" charset="-122"/>
                </a:rPr>
                <a:t>W  </a:t>
              </a:r>
              <a:r>
                <a:rPr lang="zh-CN" altLang="en-US" b="1">
                  <a:latin typeface="楷体_GB2312" pitchFamily="49" charset="-122"/>
                  <a:ea typeface="楷体_GB2312" pitchFamily="49" charset="-122"/>
                </a:rPr>
                <a:t>都是正值（各量的大小），热量 </a:t>
              </a:r>
              <a:r>
                <a:rPr lang="en-US" altLang="zh-CN" b="1" i="1">
                  <a:solidFill>
                    <a:srgbClr val="FF6600"/>
                  </a:solidFill>
                  <a:ea typeface="楷体_GB2312" pitchFamily="49" charset="-122"/>
                </a:rPr>
                <a:t>Q  </a:t>
              </a:r>
              <a:r>
                <a:rPr lang="zh-CN" altLang="en-US" b="1">
                  <a:ea typeface="楷体_GB2312" pitchFamily="49" charset="-122"/>
                </a:rPr>
                <a:t>的下标</a:t>
              </a:r>
              <a:r>
                <a:rPr lang="zh-CN" altLang="en-US" b="1">
                  <a:solidFill>
                    <a:srgbClr val="FF6600"/>
                  </a:solidFill>
                  <a:ea typeface="楷体_GB2312" pitchFamily="49" charset="-122"/>
                </a:rPr>
                <a:t>“</a:t>
              </a:r>
              <a:r>
                <a:rPr lang="en-US" altLang="zh-CN" b="1">
                  <a:solidFill>
                    <a:srgbClr val="FF6600"/>
                  </a:solidFill>
                  <a:ea typeface="楷体_GB2312" pitchFamily="49" charset="-122"/>
                </a:rPr>
                <a:t>1”</a:t>
              </a:r>
              <a:r>
                <a:rPr lang="zh-CN" altLang="en-US" b="1">
                  <a:ea typeface="楷体_GB2312" pitchFamily="49" charset="-122"/>
                </a:rPr>
                <a:t>表示系统与</a:t>
              </a:r>
              <a:r>
                <a:rPr lang="zh-CN" altLang="en-US" b="1">
                  <a:solidFill>
                    <a:srgbClr val="FF6600"/>
                  </a:solidFill>
                  <a:ea typeface="楷体_GB2312" pitchFamily="49" charset="-122"/>
                </a:rPr>
                <a:t>高温热源</a:t>
              </a:r>
              <a:r>
                <a:rPr lang="zh-CN" altLang="en-US" b="1">
                  <a:ea typeface="楷体_GB2312" pitchFamily="49" charset="-122"/>
                </a:rPr>
                <a:t>交换的热量，下标</a:t>
              </a:r>
              <a:r>
                <a:rPr lang="zh-CN" altLang="en-US" b="1">
                  <a:solidFill>
                    <a:srgbClr val="FF6600"/>
                  </a:solidFill>
                  <a:ea typeface="楷体_GB2312" pitchFamily="49" charset="-122"/>
                </a:rPr>
                <a:t>“</a:t>
              </a:r>
              <a:r>
                <a:rPr lang="en-US" altLang="zh-CN" b="1">
                  <a:solidFill>
                    <a:srgbClr val="FF6600"/>
                  </a:solidFill>
                  <a:ea typeface="楷体_GB2312" pitchFamily="49" charset="-122"/>
                </a:rPr>
                <a:t>2”</a:t>
              </a:r>
              <a:r>
                <a:rPr lang="zh-CN" altLang="en-US" b="1">
                  <a:ea typeface="楷体_GB2312" pitchFamily="49" charset="-122"/>
                </a:rPr>
                <a:t>表示系统与</a:t>
              </a:r>
              <a:r>
                <a:rPr lang="zh-CN" altLang="en-US" b="1">
                  <a:solidFill>
                    <a:srgbClr val="FF6600"/>
                  </a:solidFill>
                  <a:ea typeface="楷体_GB2312" pitchFamily="49" charset="-122"/>
                </a:rPr>
                <a:t>低温热源</a:t>
              </a:r>
              <a:r>
                <a:rPr lang="zh-CN" altLang="en-US" b="1">
                  <a:ea typeface="楷体_GB2312" pitchFamily="49" charset="-122"/>
                </a:rPr>
                <a:t>交换的热量。</a:t>
              </a:r>
              <a:endParaRPr lang="zh-CN" altLang="en-US" b="1">
                <a:latin typeface="楷体_GB2312" pitchFamily="49" charset="-122"/>
                <a:ea typeface="楷体_GB2312" pitchFamily="49" charset="-122"/>
              </a:endParaRPr>
            </a:p>
          </p:txBody>
        </p:sp>
        <p:graphicFrame>
          <p:nvGraphicFramePr>
            <p:cNvPr id="45059" name="Object 6"/>
            <p:cNvGraphicFramePr>
              <a:graphicFrameLocks noChangeAspect="1"/>
            </p:cNvGraphicFramePr>
            <p:nvPr/>
          </p:nvGraphicFramePr>
          <p:xfrm>
            <a:off x="4237388" y="3549298"/>
            <a:ext cx="311729" cy="285752"/>
          </p:xfrm>
          <a:graphic>
            <a:graphicData uri="http://schemas.openxmlformats.org/presentationml/2006/ole">
              <mc:AlternateContent xmlns:mc="http://schemas.openxmlformats.org/markup-compatibility/2006">
                <mc:Choice xmlns:v="urn:schemas-microsoft-com:vml" Requires="v">
                  <p:oleObj spid="_x0000_s45057" name="Equation" r:id="rId1" imgW="3657600" imgH="3352800" progId="Equation.DSMT4">
                    <p:embed/>
                  </p:oleObj>
                </mc:Choice>
                <mc:Fallback>
                  <p:oleObj name="Equation" r:id="rId1" imgW="3657600" imgH="3352800" progId="Equation.DSMT4">
                    <p:embed/>
                    <p:pic>
                      <p:nvPicPr>
                        <p:cNvPr id="0" name="Object 6"/>
                        <p:cNvPicPr>
                          <a:picLocks noChangeAspect="1"/>
                        </p:cNvPicPr>
                        <p:nvPr/>
                      </p:nvPicPr>
                      <p:blipFill>
                        <a:blip r:embed="rId2"/>
                        <a:stretch>
                          <a:fillRect/>
                        </a:stretch>
                      </p:blipFill>
                      <p:spPr>
                        <a:xfrm>
                          <a:off x="4237388" y="3549298"/>
                          <a:ext cx="311729" cy="285752"/>
                        </a:xfrm>
                        <a:prstGeom prst="rect">
                          <a:avLst/>
                        </a:prstGeom>
                        <a:noFill/>
                        <a:ln w="9525">
                          <a:noFill/>
                        </a:ln>
                      </p:spPr>
                    </p:pic>
                  </p:oleObj>
                </mc:Fallback>
              </mc:AlternateContent>
            </a:graphicData>
          </a:graphic>
        </p:graphicFrame>
      </p:grpSp>
      <p:grpSp>
        <p:nvGrpSpPr>
          <p:cNvPr id="4" name="组合 9"/>
          <p:cNvGrpSpPr/>
          <p:nvPr/>
        </p:nvGrpSpPr>
        <p:grpSpPr bwMode="auto">
          <a:xfrm>
            <a:off x="214313" y="1714500"/>
            <a:ext cx="8640762" cy="1422400"/>
            <a:chOff x="214282" y="1714488"/>
            <a:chExt cx="8640762" cy="1421928"/>
          </a:xfrm>
        </p:grpSpPr>
        <p:sp>
          <p:nvSpPr>
            <p:cNvPr id="45063" name="Text Box 2"/>
            <p:cNvSpPr txBox="1">
              <a:spLocks noChangeArrowheads="1"/>
            </p:cNvSpPr>
            <p:nvPr/>
          </p:nvSpPr>
          <p:spPr bwMode="auto">
            <a:xfrm>
              <a:off x="214282" y="1714488"/>
              <a:ext cx="8640762" cy="1421928"/>
            </a:xfrm>
            <a:prstGeom prst="rect">
              <a:avLst/>
            </a:prstGeom>
            <a:noFill/>
            <a:ln w="9525">
              <a:noFill/>
              <a:miter lim="800000"/>
            </a:ln>
          </p:spPr>
          <p:txBody>
            <a:bodyPr>
              <a:spAutoFit/>
            </a:bodyPr>
            <a:lstStyle/>
            <a:p>
              <a:pPr>
                <a:lnSpc>
                  <a:spcPct val="120000"/>
                </a:lnSpc>
              </a:pPr>
              <a:r>
                <a:rPr lang="en-US" altLang="zh-CN" b="1">
                  <a:ea typeface="楷体_GB2312" pitchFamily="49" charset="-122"/>
                </a:rPr>
                <a:t>(1)</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热机效率 </a:t>
              </a:r>
              <a:r>
                <a:rPr lang="en-US" altLang="zh-CN" b="1" i="1">
                  <a:solidFill>
                    <a:srgbClr val="FF6600"/>
                  </a:solidFill>
                  <a:latin typeface="Symbol" panose="05050102010706020507" pitchFamily="18" charset="2"/>
                  <a:ea typeface="楷体_GB2312" pitchFamily="49" charset="-122"/>
                </a:rPr>
                <a:t>h</a:t>
              </a:r>
              <a:r>
                <a:rPr lang="en-US" altLang="zh-CN" b="1">
                  <a:latin typeface="Symbol" panose="05050102010706020507" pitchFamily="18" charset="2"/>
                  <a:ea typeface="楷体_GB2312" pitchFamily="49" charset="-122"/>
                </a:rPr>
                <a:t>  </a:t>
              </a:r>
              <a:r>
                <a:rPr lang="zh-CN" altLang="en-US" b="1">
                  <a:latin typeface="楷体_GB2312" pitchFamily="49" charset="-122"/>
                  <a:ea typeface="楷体_GB2312" pitchFamily="49" charset="-122"/>
                </a:rPr>
                <a:t>的表达式中，</a:t>
              </a:r>
              <a:r>
                <a:rPr lang="en-US" altLang="zh-CN" b="1" i="1">
                  <a:solidFill>
                    <a:srgbClr val="FF6600"/>
                  </a:solidFill>
                  <a:ea typeface="楷体_GB2312" pitchFamily="49" charset="-122"/>
                </a:rPr>
                <a:t>Q</a:t>
              </a:r>
              <a:r>
                <a:rPr lang="en-US" altLang="zh-CN" b="1" baseline="-25000">
                  <a:solidFill>
                    <a:srgbClr val="FF6600"/>
                  </a:solidFill>
                  <a:ea typeface="楷体_GB2312" pitchFamily="49" charset="-122"/>
                </a:rPr>
                <a:t>1 </a:t>
              </a:r>
              <a:r>
                <a:rPr lang="zh-CN" altLang="en-US" b="1">
                  <a:ea typeface="楷体_GB2312" pitchFamily="49" charset="-122"/>
                </a:rPr>
                <a:t>为各过程吸热之和，</a:t>
              </a:r>
              <a:r>
                <a:rPr lang="en-US" altLang="zh-CN" b="1" i="1">
                  <a:solidFill>
                    <a:srgbClr val="FF6600"/>
                  </a:solidFill>
                  <a:ea typeface="楷体_GB2312" pitchFamily="49" charset="-122"/>
                </a:rPr>
                <a:t>Q</a:t>
              </a:r>
              <a:r>
                <a:rPr lang="en-US" altLang="zh-CN" b="1" baseline="-25000">
                  <a:solidFill>
                    <a:srgbClr val="FF6600"/>
                  </a:solidFill>
                  <a:ea typeface="楷体_GB2312" pitchFamily="49" charset="-122"/>
                </a:rPr>
                <a:t>2 </a:t>
              </a:r>
              <a:r>
                <a:rPr lang="zh-CN" altLang="en-US" b="1">
                  <a:latin typeface="楷体_GB2312" pitchFamily="49" charset="-122"/>
                  <a:ea typeface="楷体_GB2312" pitchFamily="49" charset="-122"/>
                </a:rPr>
                <a:t>为各过程放热之和的绝对值；制冷系数 </a:t>
              </a:r>
              <a:r>
                <a:rPr lang="en-US" altLang="zh-CN" b="1" i="1">
                  <a:solidFill>
                    <a:srgbClr val="FF6600"/>
                  </a:solidFill>
                  <a:ea typeface="楷体_GB2312" pitchFamily="49" charset="-122"/>
                </a:rPr>
                <a:t>   </a:t>
              </a:r>
              <a:r>
                <a:rPr lang="zh-CN" altLang="en-US" b="1">
                  <a:latin typeface="楷体_GB2312" pitchFamily="49" charset="-122"/>
                  <a:ea typeface="楷体_GB2312" pitchFamily="49" charset="-122"/>
                </a:rPr>
                <a:t>的表达式中，各过程从</a:t>
              </a:r>
              <a:r>
                <a:rPr lang="zh-CN" altLang="en-US" b="1">
                  <a:solidFill>
                    <a:srgbClr val="FF6600"/>
                  </a:solidFill>
                  <a:latin typeface="楷体_GB2312" pitchFamily="49" charset="-122"/>
                  <a:ea typeface="楷体_GB2312" pitchFamily="49" charset="-122"/>
                </a:rPr>
                <a:t>冷库</a:t>
              </a:r>
              <a:r>
                <a:rPr lang="zh-CN" altLang="en-US" b="1">
                  <a:latin typeface="楷体_GB2312" pitchFamily="49" charset="-122"/>
                  <a:ea typeface="楷体_GB2312" pitchFamily="49" charset="-122"/>
                </a:rPr>
                <a:t>中吸热之和用 </a:t>
              </a:r>
              <a:r>
                <a:rPr lang="en-US" altLang="zh-CN" b="1" i="1">
                  <a:solidFill>
                    <a:srgbClr val="FF6600"/>
                  </a:solidFill>
                  <a:ea typeface="楷体_GB2312" pitchFamily="49" charset="-122"/>
                </a:rPr>
                <a:t>Q</a:t>
              </a:r>
              <a:r>
                <a:rPr lang="en-US" altLang="zh-CN" b="1" baseline="-25000">
                  <a:solidFill>
                    <a:srgbClr val="FF6600"/>
                  </a:solidFill>
                  <a:ea typeface="楷体_GB2312" pitchFamily="49" charset="-122"/>
                </a:rPr>
                <a:t>2</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表示，放热之和的绝对值用 </a:t>
              </a:r>
              <a:r>
                <a:rPr lang="en-US" altLang="zh-CN" b="1" i="1">
                  <a:solidFill>
                    <a:srgbClr val="FF6600"/>
                  </a:solidFill>
                  <a:ea typeface="楷体_GB2312" pitchFamily="49" charset="-122"/>
                </a:rPr>
                <a:t>Q</a:t>
              </a:r>
              <a:r>
                <a:rPr lang="en-US" altLang="zh-CN" b="1" baseline="-25000">
                  <a:solidFill>
                    <a:srgbClr val="FF6600"/>
                  </a:solidFill>
                  <a:ea typeface="楷体_GB2312" pitchFamily="49" charset="-122"/>
                </a:rPr>
                <a:t>1 </a:t>
              </a:r>
              <a:r>
                <a:rPr lang="zh-CN" altLang="en-US" b="1">
                  <a:latin typeface="楷体_GB2312" pitchFamily="49" charset="-122"/>
                  <a:ea typeface="楷体_GB2312" pitchFamily="49" charset="-122"/>
                </a:rPr>
                <a:t>表示。    </a:t>
              </a:r>
              <a:endParaRPr lang="zh-CN" altLang="en-US" b="1">
                <a:latin typeface="楷体_GB2312" pitchFamily="49" charset="-122"/>
                <a:ea typeface="楷体_GB2312" pitchFamily="49" charset="-122"/>
              </a:endParaRPr>
            </a:p>
          </p:txBody>
        </p:sp>
        <p:graphicFrame>
          <p:nvGraphicFramePr>
            <p:cNvPr id="45058" name="Object 7"/>
            <p:cNvGraphicFramePr>
              <a:graphicFrameLocks noChangeAspect="1"/>
            </p:cNvGraphicFramePr>
            <p:nvPr/>
          </p:nvGraphicFramePr>
          <p:xfrm>
            <a:off x="4902908" y="2285994"/>
            <a:ext cx="311150" cy="285750"/>
          </p:xfrm>
          <a:graphic>
            <a:graphicData uri="http://schemas.openxmlformats.org/presentationml/2006/ole">
              <mc:AlternateContent xmlns:mc="http://schemas.openxmlformats.org/markup-compatibility/2006">
                <mc:Choice xmlns:v="urn:schemas-microsoft-com:vml" Requires="v">
                  <p:oleObj spid="_x0000_s45058" name="Equation" r:id="rId3" imgW="3657600" imgH="3352800" progId="Equation.DSMT4">
                    <p:embed/>
                  </p:oleObj>
                </mc:Choice>
                <mc:Fallback>
                  <p:oleObj name="Equation" r:id="rId3" imgW="3657600" imgH="3352800" progId="Equation.DSMT4">
                    <p:embed/>
                    <p:pic>
                      <p:nvPicPr>
                        <p:cNvPr id="0" name="Object 7"/>
                        <p:cNvPicPr>
                          <a:picLocks noChangeAspect="1"/>
                        </p:cNvPicPr>
                        <p:nvPr/>
                      </p:nvPicPr>
                      <p:blipFill>
                        <a:blip r:embed="rId2"/>
                        <a:stretch>
                          <a:fillRect/>
                        </a:stretch>
                      </p:blipFill>
                      <p:spPr>
                        <a:xfrm>
                          <a:off x="4902908" y="2285994"/>
                          <a:ext cx="311150" cy="285750"/>
                        </a:xfrm>
                        <a:prstGeom prst="rect">
                          <a:avLst/>
                        </a:prstGeom>
                        <a:noFill/>
                        <a:ln w="9525">
                          <a:noFill/>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2"/>
          <p:cNvSpPr txBox="1">
            <a:spLocks noChangeArrowheads="1"/>
          </p:cNvSpPr>
          <p:nvPr/>
        </p:nvSpPr>
        <p:spPr bwMode="auto">
          <a:xfrm>
            <a:off x="161925" y="442913"/>
            <a:ext cx="765175" cy="512762"/>
          </a:xfrm>
          <a:prstGeom prst="rect">
            <a:avLst/>
          </a:prstGeom>
          <a:noFill/>
          <a:ln w="9525">
            <a:noFill/>
            <a:miter lim="800000"/>
          </a:ln>
        </p:spPr>
        <p:txBody>
          <a:bodyPr>
            <a:spAutoFit/>
          </a:bodyPr>
          <a:lstStyle/>
          <a:p>
            <a:pPr>
              <a:lnSpc>
                <a:spcPct val="115000"/>
              </a:lnSpc>
            </a:pPr>
            <a:r>
              <a:rPr lang="zh-CN" altLang="en-US" b="1">
                <a:solidFill>
                  <a:srgbClr val="FF0000"/>
                </a:solidFill>
              </a:rPr>
              <a:t>例</a:t>
            </a:r>
            <a:endParaRPr lang="zh-CN" altLang="en-US" b="1"/>
          </a:p>
        </p:txBody>
      </p:sp>
      <p:sp>
        <p:nvSpPr>
          <p:cNvPr id="225283" name="Text Box 3"/>
          <p:cNvSpPr txBox="1">
            <a:spLocks noChangeArrowheads="1"/>
          </p:cNvSpPr>
          <p:nvPr/>
        </p:nvSpPr>
        <p:spPr bwMode="auto">
          <a:xfrm>
            <a:off x="746125" y="458788"/>
            <a:ext cx="8147050" cy="512762"/>
          </a:xfrm>
          <a:prstGeom prst="rect">
            <a:avLst/>
          </a:prstGeom>
          <a:noFill/>
          <a:ln w="9525">
            <a:noFill/>
            <a:miter lim="800000"/>
          </a:ln>
        </p:spPr>
        <p:txBody>
          <a:bodyPr>
            <a:spAutoFit/>
          </a:bodyPr>
          <a:lstStyle/>
          <a:p>
            <a:pPr>
              <a:lnSpc>
                <a:spcPct val="115000"/>
              </a:lnSpc>
            </a:pPr>
            <a:r>
              <a:rPr lang="en-US" altLang="zh-CN" b="1">
                <a:solidFill>
                  <a:srgbClr val="FF6600"/>
                </a:solidFill>
              </a:rPr>
              <a:t>1 mol</a:t>
            </a:r>
            <a:r>
              <a:rPr lang="en-US" altLang="zh-CN" b="1"/>
              <a:t> </a:t>
            </a:r>
            <a:r>
              <a:rPr lang="zh-CN" altLang="en-US" b="1"/>
              <a:t>氦气经如图所示的循环，其中 </a:t>
            </a:r>
            <a:r>
              <a:rPr lang="en-US" altLang="zh-CN" b="1" i="1">
                <a:solidFill>
                  <a:srgbClr val="FF6600"/>
                </a:solidFill>
              </a:rPr>
              <a:t>p</a:t>
            </a:r>
            <a:r>
              <a:rPr lang="en-US" altLang="zh-CN" b="1" baseline="-25000">
                <a:solidFill>
                  <a:srgbClr val="FF6600"/>
                </a:solidFill>
              </a:rPr>
              <a:t>2</a:t>
            </a:r>
            <a:r>
              <a:rPr lang="en-US" altLang="zh-CN" b="1">
                <a:solidFill>
                  <a:srgbClr val="FF6600"/>
                </a:solidFill>
              </a:rPr>
              <a:t> = 2 </a:t>
            </a:r>
            <a:r>
              <a:rPr lang="en-US" altLang="zh-CN" b="1" i="1">
                <a:solidFill>
                  <a:srgbClr val="FF6600"/>
                </a:solidFill>
              </a:rPr>
              <a:t>p</a:t>
            </a:r>
            <a:r>
              <a:rPr lang="en-US" altLang="zh-CN" b="1" baseline="-25000">
                <a:solidFill>
                  <a:srgbClr val="FF6600"/>
                </a:solidFill>
              </a:rPr>
              <a:t>1</a:t>
            </a:r>
            <a:r>
              <a:rPr lang="zh-CN" altLang="en-US" b="1"/>
              <a:t>，</a:t>
            </a:r>
            <a:r>
              <a:rPr lang="en-US" altLang="zh-CN" b="1" i="1">
                <a:solidFill>
                  <a:srgbClr val="FF6600"/>
                </a:solidFill>
              </a:rPr>
              <a:t>V</a:t>
            </a:r>
            <a:r>
              <a:rPr lang="en-US" altLang="zh-CN" b="1" baseline="-25000">
                <a:solidFill>
                  <a:srgbClr val="FF6600"/>
                </a:solidFill>
              </a:rPr>
              <a:t>4</a:t>
            </a:r>
            <a:r>
              <a:rPr lang="en-US" altLang="zh-CN" b="1">
                <a:solidFill>
                  <a:srgbClr val="FF6600"/>
                </a:solidFill>
              </a:rPr>
              <a:t> = 2 </a:t>
            </a:r>
            <a:r>
              <a:rPr lang="en-US" altLang="zh-CN" b="1" i="1">
                <a:solidFill>
                  <a:srgbClr val="FF6600"/>
                </a:solidFill>
              </a:rPr>
              <a:t>V</a:t>
            </a:r>
            <a:r>
              <a:rPr lang="en-US" altLang="zh-CN" b="1" baseline="-25000">
                <a:solidFill>
                  <a:srgbClr val="FF6600"/>
                </a:solidFill>
              </a:rPr>
              <a:t>1</a:t>
            </a:r>
            <a:r>
              <a:rPr lang="zh-CN" altLang="en-US" b="1"/>
              <a:t>。</a:t>
            </a:r>
            <a:endParaRPr lang="zh-CN" altLang="en-US" b="1"/>
          </a:p>
        </p:txBody>
      </p:sp>
      <p:grpSp>
        <p:nvGrpSpPr>
          <p:cNvPr id="2" name="Group 4"/>
          <p:cNvGrpSpPr/>
          <p:nvPr/>
        </p:nvGrpSpPr>
        <p:grpSpPr bwMode="auto">
          <a:xfrm>
            <a:off x="5988050" y="3276600"/>
            <a:ext cx="2376488" cy="2024063"/>
            <a:chOff x="4150" y="1752"/>
            <a:chExt cx="1497" cy="1275"/>
          </a:xfrm>
        </p:grpSpPr>
        <p:sp>
          <p:nvSpPr>
            <p:cNvPr id="96304" name="Line 5"/>
            <p:cNvSpPr>
              <a:spLocks noChangeShapeType="1"/>
            </p:cNvSpPr>
            <p:nvPr/>
          </p:nvSpPr>
          <p:spPr bwMode="auto">
            <a:xfrm flipV="1">
              <a:off x="4377" y="1842"/>
              <a:ext cx="0" cy="908"/>
            </a:xfrm>
            <a:prstGeom prst="line">
              <a:avLst/>
            </a:prstGeom>
            <a:noFill/>
            <a:ln w="38100">
              <a:solidFill>
                <a:srgbClr val="000099"/>
              </a:solidFill>
              <a:round/>
              <a:tailEnd type="triangle" w="med" len="med"/>
            </a:ln>
          </p:spPr>
          <p:txBody>
            <a:bodyPr/>
            <a:lstStyle/>
            <a:p>
              <a:endParaRPr lang="zh-CN" altLang="en-US"/>
            </a:p>
          </p:txBody>
        </p:sp>
        <p:sp>
          <p:nvSpPr>
            <p:cNvPr id="96305" name="Line 6"/>
            <p:cNvSpPr>
              <a:spLocks noChangeShapeType="1"/>
            </p:cNvSpPr>
            <p:nvPr/>
          </p:nvSpPr>
          <p:spPr bwMode="auto">
            <a:xfrm>
              <a:off x="4365" y="2750"/>
              <a:ext cx="1043" cy="0"/>
            </a:xfrm>
            <a:prstGeom prst="line">
              <a:avLst/>
            </a:prstGeom>
            <a:noFill/>
            <a:ln w="38100">
              <a:solidFill>
                <a:srgbClr val="000099"/>
              </a:solidFill>
              <a:round/>
              <a:tailEnd type="triangle" w="med" len="med"/>
            </a:ln>
          </p:spPr>
          <p:txBody>
            <a:bodyPr/>
            <a:lstStyle/>
            <a:p>
              <a:endParaRPr lang="zh-CN" altLang="en-US"/>
            </a:p>
          </p:txBody>
        </p:sp>
        <p:sp>
          <p:nvSpPr>
            <p:cNvPr id="96306" name="Text Box 7"/>
            <p:cNvSpPr txBox="1">
              <a:spLocks noChangeArrowheads="1"/>
            </p:cNvSpPr>
            <p:nvPr/>
          </p:nvSpPr>
          <p:spPr bwMode="auto">
            <a:xfrm>
              <a:off x="4150" y="2704"/>
              <a:ext cx="408" cy="323"/>
            </a:xfrm>
            <a:prstGeom prst="rect">
              <a:avLst/>
            </a:prstGeom>
            <a:noFill/>
            <a:ln w="9525">
              <a:noFill/>
              <a:miter lim="800000"/>
            </a:ln>
          </p:spPr>
          <p:txBody>
            <a:bodyPr>
              <a:spAutoFit/>
            </a:bodyPr>
            <a:lstStyle/>
            <a:p>
              <a:pPr>
                <a:lnSpc>
                  <a:spcPct val="115000"/>
                </a:lnSpc>
              </a:pPr>
              <a:r>
                <a:rPr lang="en-US" altLang="zh-CN" b="1" i="1">
                  <a:solidFill>
                    <a:srgbClr val="000099"/>
                  </a:solidFill>
                </a:rPr>
                <a:t>O</a:t>
              </a:r>
              <a:endParaRPr lang="en-US" altLang="zh-CN" b="1" i="1">
                <a:solidFill>
                  <a:srgbClr val="000099"/>
                </a:solidFill>
              </a:endParaRPr>
            </a:p>
          </p:txBody>
        </p:sp>
        <p:sp>
          <p:nvSpPr>
            <p:cNvPr id="96307" name="Text Box 8"/>
            <p:cNvSpPr txBox="1">
              <a:spLocks noChangeArrowheads="1"/>
            </p:cNvSpPr>
            <p:nvPr/>
          </p:nvSpPr>
          <p:spPr bwMode="auto">
            <a:xfrm>
              <a:off x="4150" y="1752"/>
              <a:ext cx="272" cy="323"/>
            </a:xfrm>
            <a:prstGeom prst="rect">
              <a:avLst/>
            </a:prstGeom>
            <a:noFill/>
            <a:ln w="9525">
              <a:noFill/>
              <a:miter lim="800000"/>
            </a:ln>
          </p:spPr>
          <p:txBody>
            <a:bodyPr>
              <a:spAutoFit/>
            </a:bodyPr>
            <a:lstStyle/>
            <a:p>
              <a:pPr>
                <a:lnSpc>
                  <a:spcPct val="115000"/>
                </a:lnSpc>
              </a:pPr>
              <a:r>
                <a:rPr lang="en-US" altLang="zh-CN" b="1" i="1">
                  <a:solidFill>
                    <a:srgbClr val="000099"/>
                  </a:solidFill>
                </a:rPr>
                <a:t>p</a:t>
              </a:r>
              <a:endParaRPr lang="en-US" altLang="zh-CN" b="1" i="1">
                <a:solidFill>
                  <a:srgbClr val="000099"/>
                </a:solidFill>
              </a:endParaRPr>
            </a:p>
          </p:txBody>
        </p:sp>
        <p:sp>
          <p:nvSpPr>
            <p:cNvPr id="96308" name="Text Box 9"/>
            <p:cNvSpPr txBox="1">
              <a:spLocks noChangeArrowheads="1"/>
            </p:cNvSpPr>
            <p:nvPr/>
          </p:nvSpPr>
          <p:spPr bwMode="auto">
            <a:xfrm>
              <a:off x="5329" y="2704"/>
              <a:ext cx="318" cy="323"/>
            </a:xfrm>
            <a:prstGeom prst="rect">
              <a:avLst/>
            </a:prstGeom>
            <a:noFill/>
            <a:ln w="9525">
              <a:noFill/>
              <a:miter lim="800000"/>
            </a:ln>
          </p:spPr>
          <p:txBody>
            <a:bodyPr>
              <a:spAutoFit/>
            </a:bodyPr>
            <a:lstStyle/>
            <a:p>
              <a:pPr>
                <a:lnSpc>
                  <a:spcPct val="115000"/>
                </a:lnSpc>
              </a:pPr>
              <a:r>
                <a:rPr lang="en-US" altLang="zh-CN" b="1" i="1">
                  <a:solidFill>
                    <a:srgbClr val="000099"/>
                  </a:solidFill>
                </a:rPr>
                <a:t>V</a:t>
              </a:r>
              <a:endParaRPr lang="en-US" altLang="zh-CN" b="1" i="1">
                <a:solidFill>
                  <a:srgbClr val="000099"/>
                </a:solidFill>
              </a:endParaRPr>
            </a:p>
          </p:txBody>
        </p:sp>
      </p:grpSp>
      <p:sp>
        <p:nvSpPr>
          <p:cNvPr id="225290" name="Line 10"/>
          <p:cNvSpPr>
            <a:spLocks noChangeShapeType="1"/>
          </p:cNvSpPr>
          <p:nvPr/>
        </p:nvSpPr>
        <p:spPr bwMode="auto">
          <a:xfrm>
            <a:off x="6870700" y="4211638"/>
            <a:ext cx="0" cy="649287"/>
          </a:xfrm>
          <a:prstGeom prst="line">
            <a:avLst/>
          </a:prstGeom>
          <a:noFill/>
          <a:ln w="9525">
            <a:solidFill>
              <a:srgbClr val="000099"/>
            </a:solidFill>
            <a:prstDash val="dash"/>
            <a:round/>
          </a:ln>
        </p:spPr>
        <p:txBody>
          <a:bodyPr/>
          <a:lstStyle/>
          <a:p>
            <a:endParaRPr lang="zh-CN" altLang="en-US"/>
          </a:p>
        </p:txBody>
      </p:sp>
      <p:sp>
        <p:nvSpPr>
          <p:cNvPr id="225291" name="Line 11"/>
          <p:cNvSpPr>
            <a:spLocks noChangeShapeType="1"/>
          </p:cNvSpPr>
          <p:nvPr/>
        </p:nvSpPr>
        <p:spPr bwMode="auto">
          <a:xfrm>
            <a:off x="7427913" y="4284663"/>
            <a:ext cx="0" cy="576262"/>
          </a:xfrm>
          <a:prstGeom prst="line">
            <a:avLst/>
          </a:prstGeom>
          <a:noFill/>
          <a:ln w="9525">
            <a:solidFill>
              <a:srgbClr val="000099"/>
            </a:solidFill>
            <a:prstDash val="dash"/>
            <a:round/>
          </a:ln>
        </p:spPr>
        <p:txBody>
          <a:bodyPr/>
          <a:lstStyle/>
          <a:p>
            <a:endParaRPr lang="zh-CN" altLang="en-US"/>
          </a:p>
        </p:txBody>
      </p:sp>
      <p:sp>
        <p:nvSpPr>
          <p:cNvPr id="225292" name="Line 12"/>
          <p:cNvSpPr>
            <a:spLocks noChangeShapeType="1"/>
          </p:cNvSpPr>
          <p:nvPr/>
        </p:nvSpPr>
        <p:spPr bwMode="auto">
          <a:xfrm rot="-5400000">
            <a:off x="6636544" y="3491707"/>
            <a:ext cx="0" cy="576262"/>
          </a:xfrm>
          <a:prstGeom prst="line">
            <a:avLst/>
          </a:prstGeom>
          <a:noFill/>
          <a:ln w="9525">
            <a:solidFill>
              <a:srgbClr val="000099"/>
            </a:solidFill>
            <a:prstDash val="dash"/>
            <a:round/>
          </a:ln>
        </p:spPr>
        <p:txBody>
          <a:bodyPr/>
          <a:lstStyle/>
          <a:p>
            <a:endParaRPr lang="zh-CN" altLang="en-US"/>
          </a:p>
        </p:txBody>
      </p:sp>
      <p:sp>
        <p:nvSpPr>
          <p:cNvPr id="225293" name="Line 13"/>
          <p:cNvSpPr>
            <a:spLocks noChangeShapeType="1"/>
          </p:cNvSpPr>
          <p:nvPr/>
        </p:nvSpPr>
        <p:spPr bwMode="auto">
          <a:xfrm rot="-5400000">
            <a:off x="6636544" y="4067969"/>
            <a:ext cx="0" cy="576262"/>
          </a:xfrm>
          <a:prstGeom prst="line">
            <a:avLst/>
          </a:prstGeom>
          <a:noFill/>
          <a:ln w="9525">
            <a:solidFill>
              <a:srgbClr val="000099"/>
            </a:solidFill>
            <a:prstDash val="dash"/>
            <a:round/>
          </a:ln>
        </p:spPr>
        <p:txBody>
          <a:bodyPr/>
          <a:lstStyle/>
          <a:p>
            <a:endParaRPr lang="zh-CN" altLang="en-US"/>
          </a:p>
        </p:txBody>
      </p:sp>
      <p:grpSp>
        <p:nvGrpSpPr>
          <p:cNvPr id="3" name="Group 14"/>
          <p:cNvGrpSpPr/>
          <p:nvPr/>
        </p:nvGrpSpPr>
        <p:grpSpPr bwMode="auto">
          <a:xfrm>
            <a:off x="6851650" y="3779838"/>
            <a:ext cx="4763" cy="576262"/>
            <a:chOff x="4694" y="2069"/>
            <a:chExt cx="3" cy="363"/>
          </a:xfrm>
        </p:grpSpPr>
        <p:sp>
          <p:nvSpPr>
            <p:cNvPr id="96302" name="Line 15"/>
            <p:cNvSpPr>
              <a:spLocks noChangeShapeType="1"/>
            </p:cNvSpPr>
            <p:nvPr/>
          </p:nvSpPr>
          <p:spPr bwMode="auto">
            <a:xfrm flipV="1">
              <a:off x="4697" y="2069"/>
              <a:ext cx="0" cy="363"/>
            </a:xfrm>
            <a:prstGeom prst="line">
              <a:avLst/>
            </a:prstGeom>
            <a:noFill/>
            <a:ln w="38100">
              <a:solidFill>
                <a:srgbClr val="800000"/>
              </a:solidFill>
              <a:round/>
            </a:ln>
          </p:spPr>
          <p:txBody>
            <a:bodyPr/>
            <a:lstStyle/>
            <a:p>
              <a:endParaRPr lang="zh-CN" altLang="en-US"/>
            </a:p>
          </p:txBody>
        </p:sp>
        <p:sp>
          <p:nvSpPr>
            <p:cNvPr id="96303" name="Line 16"/>
            <p:cNvSpPr>
              <a:spLocks noChangeShapeType="1"/>
            </p:cNvSpPr>
            <p:nvPr/>
          </p:nvSpPr>
          <p:spPr bwMode="auto">
            <a:xfrm flipV="1">
              <a:off x="4694" y="2251"/>
              <a:ext cx="0" cy="45"/>
            </a:xfrm>
            <a:prstGeom prst="line">
              <a:avLst/>
            </a:prstGeom>
            <a:noFill/>
            <a:ln w="38100">
              <a:solidFill>
                <a:srgbClr val="800000"/>
              </a:solidFill>
              <a:round/>
              <a:tailEnd type="triangle" w="med" len="med"/>
            </a:ln>
          </p:spPr>
          <p:txBody>
            <a:bodyPr/>
            <a:lstStyle/>
            <a:p>
              <a:endParaRPr lang="zh-CN" altLang="en-US"/>
            </a:p>
          </p:txBody>
        </p:sp>
      </p:grpSp>
      <p:grpSp>
        <p:nvGrpSpPr>
          <p:cNvPr id="4" name="Group 17"/>
          <p:cNvGrpSpPr/>
          <p:nvPr/>
        </p:nvGrpSpPr>
        <p:grpSpPr bwMode="auto">
          <a:xfrm rot="5400000">
            <a:off x="7137401" y="3494087"/>
            <a:ext cx="4762" cy="576263"/>
            <a:chOff x="4694" y="2069"/>
            <a:chExt cx="3" cy="363"/>
          </a:xfrm>
        </p:grpSpPr>
        <p:sp>
          <p:nvSpPr>
            <p:cNvPr id="96300" name="Line 18"/>
            <p:cNvSpPr>
              <a:spLocks noChangeShapeType="1"/>
            </p:cNvSpPr>
            <p:nvPr/>
          </p:nvSpPr>
          <p:spPr bwMode="auto">
            <a:xfrm flipV="1">
              <a:off x="4697" y="2069"/>
              <a:ext cx="0" cy="363"/>
            </a:xfrm>
            <a:prstGeom prst="line">
              <a:avLst/>
            </a:prstGeom>
            <a:noFill/>
            <a:ln w="38100">
              <a:solidFill>
                <a:srgbClr val="800000"/>
              </a:solidFill>
              <a:round/>
            </a:ln>
          </p:spPr>
          <p:txBody>
            <a:bodyPr/>
            <a:lstStyle/>
            <a:p>
              <a:endParaRPr lang="zh-CN" altLang="en-US"/>
            </a:p>
          </p:txBody>
        </p:sp>
        <p:sp>
          <p:nvSpPr>
            <p:cNvPr id="96301" name="Line 19"/>
            <p:cNvSpPr>
              <a:spLocks noChangeShapeType="1"/>
            </p:cNvSpPr>
            <p:nvPr/>
          </p:nvSpPr>
          <p:spPr bwMode="auto">
            <a:xfrm flipV="1">
              <a:off x="4694" y="2251"/>
              <a:ext cx="0" cy="45"/>
            </a:xfrm>
            <a:prstGeom prst="line">
              <a:avLst/>
            </a:prstGeom>
            <a:noFill/>
            <a:ln w="38100">
              <a:solidFill>
                <a:srgbClr val="800000"/>
              </a:solidFill>
              <a:round/>
              <a:tailEnd type="triangle" w="med" len="med"/>
            </a:ln>
          </p:spPr>
          <p:txBody>
            <a:bodyPr/>
            <a:lstStyle/>
            <a:p>
              <a:endParaRPr lang="zh-CN" altLang="en-US"/>
            </a:p>
          </p:txBody>
        </p:sp>
      </p:grpSp>
      <p:grpSp>
        <p:nvGrpSpPr>
          <p:cNvPr id="5" name="Group 20"/>
          <p:cNvGrpSpPr/>
          <p:nvPr/>
        </p:nvGrpSpPr>
        <p:grpSpPr bwMode="auto">
          <a:xfrm rot="10800000">
            <a:off x="7423150" y="3779838"/>
            <a:ext cx="4763" cy="576262"/>
            <a:chOff x="4694" y="2069"/>
            <a:chExt cx="3" cy="363"/>
          </a:xfrm>
        </p:grpSpPr>
        <p:sp>
          <p:nvSpPr>
            <p:cNvPr id="96298" name="Line 21"/>
            <p:cNvSpPr>
              <a:spLocks noChangeShapeType="1"/>
            </p:cNvSpPr>
            <p:nvPr/>
          </p:nvSpPr>
          <p:spPr bwMode="auto">
            <a:xfrm flipV="1">
              <a:off x="4697" y="2069"/>
              <a:ext cx="0" cy="363"/>
            </a:xfrm>
            <a:prstGeom prst="line">
              <a:avLst/>
            </a:prstGeom>
            <a:noFill/>
            <a:ln w="38100">
              <a:solidFill>
                <a:srgbClr val="800000"/>
              </a:solidFill>
              <a:round/>
            </a:ln>
          </p:spPr>
          <p:txBody>
            <a:bodyPr/>
            <a:lstStyle/>
            <a:p>
              <a:endParaRPr lang="zh-CN" altLang="en-US"/>
            </a:p>
          </p:txBody>
        </p:sp>
        <p:sp>
          <p:nvSpPr>
            <p:cNvPr id="96299" name="Line 22"/>
            <p:cNvSpPr>
              <a:spLocks noChangeShapeType="1"/>
            </p:cNvSpPr>
            <p:nvPr/>
          </p:nvSpPr>
          <p:spPr bwMode="auto">
            <a:xfrm flipV="1">
              <a:off x="4694" y="2251"/>
              <a:ext cx="0" cy="45"/>
            </a:xfrm>
            <a:prstGeom prst="line">
              <a:avLst/>
            </a:prstGeom>
            <a:noFill/>
            <a:ln w="38100">
              <a:solidFill>
                <a:srgbClr val="800000"/>
              </a:solidFill>
              <a:round/>
              <a:tailEnd type="triangle" w="med" len="med"/>
            </a:ln>
          </p:spPr>
          <p:txBody>
            <a:bodyPr/>
            <a:lstStyle/>
            <a:p>
              <a:endParaRPr lang="zh-CN" altLang="en-US"/>
            </a:p>
          </p:txBody>
        </p:sp>
      </p:grpSp>
      <p:grpSp>
        <p:nvGrpSpPr>
          <p:cNvPr id="6" name="Group 23"/>
          <p:cNvGrpSpPr/>
          <p:nvPr/>
        </p:nvGrpSpPr>
        <p:grpSpPr bwMode="auto">
          <a:xfrm rot="-5400000">
            <a:off x="7137401" y="4065587"/>
            <a:ext cx="4762" cy="576263"/>
            <a:chOff x="4694" y="2069"/>
            <a:chExt cx="3" cy="363"/>
          </a:xfrm>
        </p:grpSpPr>
        <p:sp>
          <p:nvSpPr>
            <p:cNvPr id="96296" name="Line 24"/>
            <p:cNvSpPr>
              <a:spLocks noChangeShapeType="1"/>
            </p:cNvSpPr>
            <p:nvPr/>
          </p:nvSpPr>
          <p:spPr bwMode="auto">
            <a:xfrm flipV="1">
              <a:off x="4697" y="2069"/>
              <a:ext cx="0" cy="363"/>
            </a:xfrm>
            <a:prstGeom prst="line">
              <a:avLst/>
            </a:prstGeom>
            <a:noFill/>
            <a:ln w="38100">
              <a:solidFill>
                <a:srgbClr val="800000"/>
              </a:solidFill>
              <a:round/>
            </a:ln>
          </p:spPr>
          <p:txBody>
            <a:bodyPr/>
            <a:lstStyle/>
            <a:p>
              <a:endParaRPr lang="zh-CN" altLang="en-US"/>
            </a:p>
          </p:txBody>
        </p:sp>
        <p:sp>
          <p:nvSpPr>
            <p:cNvPr id="96297" name="Line 25"/>
            <p:cNvSpPr>
              <a:spLocks noChangeShapeType="1"/>
            </p:cNvSpPr>
            <p:nvPr/>
          </p:nvSpPr>
          <p:spPr bwMode="auto">
            <a:xfrm flipV="1">
              <a:off x="4694" y="2251"/>
              <a:ext cx="0" cy="45"/>
            </a:xfrm>
            <a:prstGeom prst="line">
              <a:avLst/>
            </a:prstGeom>
            <a:noFill/>
            <a:ln w="38100">
              <a:solidFill>
                <a:srgbClr val="800000"/>
              </a:solidFill>
              <a:round/>
              <a:tailEnd type="triangle" w="med" len="med"/>
            </a:ln>
          </p:spPr>
          <p:txBody>
            <a:bodyPr/>
            <a:lstStyle/>
            <a:p>
              <a:endParaRPr lang="zh-CN" altLang="en-US"/>
            </a:p>
          </p:txBody>
        </p:sp>
      </p:grpSp>
      <p:sp>
        <p:nvSpPr>
          <p:cNvPr id="225306" name="Text Box 26"/>
          <p:cNvSpPr txBox="1">
            <a:spLocks noChangeArrowheads="1"/>
          </p:cNvSpPr>
          <p:nvPr/>
        </p:nvSpPr>
        <p:spPr bwMode="auto">
          <a:xfrm>
            <a:off x="6635750" y="4822825"/>
            <a:ext cx="741363" cy="442913"/>
          </a:xfrm>
          <a:prstGeom prst="rect">
            <a:avLst/>
          </a:prstGeom>
          <a:noFill/>
          <a:ln w="9525">
            <a:noFill/>
            <a:miter lim="800000"/>
          </a:ln>
        </p:spPr>
        <p:txBody>
          <a:bodyPr>
            <a:spAutoFit/>
          </a:bodyPr>
          <a:lstStyle/>
          <a:p>
            <a:pPr>
              <a:lnSpc>
                <a:spcPct val="115000"/>
              </a:lnSpc>
            </a:pPr>
            <a:r>
              <a:rPr lang="en-US" altLang="zh-CN" sz="2000" b="1" i="1">
                <a:solidFill>
                  <a:srgbClr val="0000FF"/>
                </a:solidFill>
              </a:rPr>
              <a:t>V</a:t>
            </a:r>
            <a:r>
              <a:rPr lang="en-US" altLang="zh-CN" sz="2000" b="1" baseline="-25000">
                <a:solidFill>
                  <a:srgbClr val="0000FF"/>
                </a:solidFill>
              </a:rPr>
              <a:t>1</a:t>
            </a:r>
            <a:endParaRPr lang="en-US" altLang="zh-CN" sz="2000" b="1" baseline="-25000">
              <a:solidFill>
                <a:srgbClr val="0000FF"/>
              </a:solidFill>
            </a:endParaRPr>
          </a:p>
        </p:txBody>
      </p:sp>
      <p:sp>
        <p:nvSpPr>
          <p:cNvPr id="225307" name="Text Box 27"/>
          <p:cNvSpPr txBox="1">
            <a:spLocks noChangeArrowheads="1"/>
          </p:cNvSpPr>
          <p:nvPr/>
        </p:nvSpPr>
        <p:spPr bwMode="auto">
          <a:xfrm>
            <a:off x="7226300" y="4816475"/>
            <a:ext cx="741363" cy="442913"/>
          </a:xfrm>
          <a:prstGeom prst="rect">
            <a:avLst/>
          </a:prstGeom>
          <a:noFill/>
          <a:ln w="9525">
            <a:noFill/>
            <a:miter lim="800000"/>
          </a:ln>
        </p:spPr>
        <p:txBody>
          <a:bodyPr>
            <a:spAutoFit/>
          </a:bodyPr>
          <a:lstStyle/>
          <a:p>
            <a:pPr>
              <a:lnSpc>
                <a:spcPct val="115000"/>
              </a:lnSpc>
            </a:pPr>
            <a:r>
              <a:rPr lang="en-US" altLang="zh-CN" sz="2000" b="1" i="1">
                <a:solidFill>
                  <a:srgbClr val="0000FF"/>
                </a:solidFill>
              </a:rPr>
              <a:t>V</a:t>
            </a:r>
            <a:r>
              <a:rPr lang="en-US" altLang="zh-CN" sz="2000" b="1" baseline="-25000">
                <a:solidFill>
                  <a:srgbClr val="0000FF"/>
                </a:solidFill>
              </a:rPr>
              <a:t>4</a:t>
            </a:r>
            <a:endParaRPr lang="en-US" altLang="zh-CN" sz="2000" b="1" baseline="-25000">
              <a:solidFill>
                <a:srgbClr val="0000FF"/>
              </a:solidFill>
            </a:endParaRPr>
          </a:p>
        </p:txBody>
      </p:sp>
      <p:sp>
        <p:nvSpPr>
          <p:cNvPr id="225308" name="Text Box 28"/>
          <p:cNvSpPr txBox="1">
            <a:spLocks noChangeArrowheads="1"/>
          </p:cNvSpPr>
          <p:nvPr/>
        </p:nvSpPr>
        <p:spPr bwMode="auto">
          <a:xfrm>
            <a:off x="5967413" y="4068763"/>
            <a:ext cx="741362" cy="442912"/>
          </a:xfrm>
          <a:prstGeom prst="rect">
            <a:avLst/>
          </a:prstGeom>
          <a:noFill/>
          <a:ln w="9525">
            <a:noFill/>
            <a:miter lim="800000"/>
          </a:ln>
        </p:spPr>
        <p:txBody>
          <a:bodyPr>
            <a:spAutoFit/>
          </a:bodyPr>
          <a:lstStyle/>
          <a:p>
            <a:pPr>
              <a:lnSpc>
                <a:spcPct val="115000"/>
              </a:lnSpc>
            </a:pPr>
            <a:r>
              <a:rPr lang="en-US" altLang="zh-CN" sz="2000" b="1" i="1">
                <a:solidFill>
                  <a:srgbClr val="0000FF"/>
                </a:solidFill>
              </a:rPr>
              <a:t>p</a:t>
            </a:r>
            <a:r>
              <a:rPr lang="en-US" altLang="zh-CN" sz="2000" b="1" baseline="-25000">
                <a:solidFill>
                  <a:srgbClr val="0000FF"/>
                </a:solidFill>
              </a:rPr>
              <a:t>1</a:t>
            </a:r>
            <a:endParaRPr lang="en-US" altLang="zh-CN" sz="2000" b="1" baseline="-25000">
              <a:solidFill>
                <a:srgbClr val="0000FF"/>
              </a:solidFill>
            </a:endParaRPr>
          </a:p>
        </p:txBody>
      </p:sp>
      <p:sp>
        <p:nvSpPr>
          <p:cNvPr id="225309" name="Text Box 29"/>
          <p:cNvSpPr txBox="1">
            <a:spLocks noChangeArrowheads="1"/>
          </p:cNvSpPr>
          <p:nvPr/>
        </p:nvSpPr>
        <p:spPr bwMode="auto">
          <a:xfrm>
            <a:off x="5967413" y="3563938"/>
            <a:ext cx="741362" cy="442912"/>
          </a:xfrm>
          <a:prstGeom prst="rect">
            <a:avLst/>
          </a:prstGeom>
          <a:noFill/>
          <a:ln w="9525">
            <a:noFill/>
            <a:miter lim="800000"/>
          </a:ln>
        </p:spPr>
        <p:txBody>
          <a:bodyPr>
            <a:spAutoFit/>
          </a:bodyPr>
          <a:lstStyle/>
          <a:p>
            <a:pPr>
              <a:lnSpc>
                <a:spcPct val="115000"/>
              </a:lnSpc>
            </a:pPr>
            <a:r>
              <a:rPr lang="en-US" altLang="zh-CN" sz="2000" b="1" i="1">
                <a:solidFill>
                  <a:srgbClr val="0000FF"/>
                </a:solidFill>
              </a:rPr>
              <a:t>p</a:t>
            </a:r>
            <a:r>
              <a:rPr lang="en-US" altLang="zh-CN" sz="2000" b="1" baseline="-25000">
                <a:solidFill>
                  <a:srgbClr val="0000FF"/>
                </a:solidFill>
              </a:rPr>
              <a:t>2</a:t>
            </a:r>
            <a:endParaRPr lang="en-US" altLang="zh-CN" sz="2000" b="1" baseline="-25000">
              <a:solidFill>
                <a:srgbClr val="0000FF"/>
              </a:solidFill>
            </a:endParaRPr>
          </a:p>
        </p:txBody>
      </p:sp>
      <p:sp>
        <p:nvSpPr>
          <p:cNvPr id="225310" name="Text Box 30"/>
          <p:cNvSpPr txBox="1">
            <a:spLocks noChangeArrowheads="1"/>
          </p:cNvSpPr>
          <p:nvPr/>
        </p:nvSpPr>
        <p:spPr bwMode="auto">
          <a:xfrm>
            <a:off x="6605588" y="4202113"/>
            <a:ext cx="741362" cy="442912"/>
          </a:xfrm>
          <a:prstGeom prst="rect">
            <a:avLst/>
          </a:prstGeom>
          <a:noFill/>
          <a:ln w="9525">
            <a:noFill/>
            <a:miter lim="800000"/>
          </a:ln>
        </p:spPr>
        <p:txBody>
          <a:bodyPr>
            <a:spAutoFit/>
          </a:bodyPr>
          <a:lstStyle/>
          <a:p>
            <a:pPr>
              <a:lnSpc>
                <a:spcPct val="115000"/>
              </a:lnSpc>
            </a:pPr>
            <a:r>
              <a:rPr lang="en-US" altLang="zh-CN" sz="2000" b="1">
                <a:solidFill>
                  <a:srgbClr val="FF0000"/>
                </a:solidFill>
              </a:rPr>
              <a:t>1</a:t>
            </a:r>
            <a:endParaRPr lang="en-US" altLang="zh-CN" sz="2000" b="1" baseline="-25000">
              <a:solidFill>
                <a:srgbClr val="FF0000"/>
              </a:solidFill>
            </a:endParaRPr>
          </a:p>
        </p:txBody>
      </p:sp>
      <p:sp>
        <p:nvSpPr>
          <p:cNvPr id="225311" name="Text Box 31"/>
          <p:cNvSpPr txBox="1">
            <a:spLocks noChangeArrowheads="1"/>
          </p:cNvSpPr>
          <p:nvPr/>
        </p:nvSpPr>
        <p:spPr bwMode="auto">
          <a:xfrm>
            <a:off x="6635750" y="3419475"/>
            <a:ext cx="741363" cy="442913"/>
          </a:xfrm>
          <a:prstGeom prst="rect">
            <a:avLst/>
          </a:prstGeom>
          <a:noFill/>
          <a:ln w="9525">
            <a:noFill/>
            <a:miter lim="800000"/>
          </a:ln>
        </p:spPr>
        <p:txBody>
          <a:bodyPr>
            <a:spAutoFit/>
          </a:bodyPr>
          <a:lstStyle/>
          <a:p>
            <a:pPr>
              <a:lnSpc>
                <a:spcPct val="115000"/>
              </a:lnSpc>
            </a:pPr>
            <a:r>
              <a:rPr lang="en-US" altLang="zh-CN" sz="2000" b="1">
                <a:solidFill>
                  <a:srgbClr val="FF0000"/>
                </a:solidFill>
              </a:rPr>
              <a:t>2</a:t>
            </a:r>
            <a:endParaRPr lang="en-US" altLang="zh-CN" sz="2000" b="1" baseline="-25000">
              <a:solidFill>
                <a:srgbClr val="FF0000"/>
              </a:solidFill>
            </a:endParaRPr>
          </a:p>
        </p:txBody>
      </p:sp>
      <p:sp>
        <p:nvSpPr>
          <p:cNvPr id="225312" name="Text Box 32"/>
          <p:cNvSpPr txBox="1">
            <a:spLocks noChangeArrowheads="1"/>
          </p:cNvSpPr>
          <p:nvPr/>
        </p:nvSpPr>
        <p:spPr bwMode="auto">
          <a:xfrm>
            <a:off x="7407275" y="3436938"/>
            <a:ext cx="741363" cy="442912"/>
          </a:xfrm>
          <a:prstGeom prst="rect">
            <a:avLst/>
          </a:prstGeom>
          <a:noFill/>
          <a:ln w="9525">
            <a:noFill/>
            <a:miter lim="800000"/>
          </a:ln>
        </p:spPr>
        <p:txBody>
          <a:bodyPr>
            <a:spAutoFit/>
          </a:bodyPr>
          <a:lstStyle/>
          <a:p>
            <a:pPr>
              <a:lnSpc>
                <a:spcPct val="115000"/>
              </a:lnSpc>
            </a:pPr>
            <a:r>
              <a:rPr lang="en-US" altLang="zh-CN" sz="2000" b="1">
                <a:solidFill>
                  <a:srgbClr val="FF0000"/>
                </a:solidFill>
              </a:rPr>
              <a:t>3</a:t>
            </a:r>
            <a:endParaRPr lang="en-US" altLang="zh-CN" sz="2000" b="1" baseline="-25000">
              <a:solidFill>
                <a:srgbClr val="FF0000"/>
              </a:solidFill>
            </a:endParaRPr>
          </a:p>
        </p:txBody>
      </p:sp>
      <p:sp>
        <p:nvSpPr>
          <p:cNvPr id="225313" name="Text Box 33"/>
          <p:cNvSpPr txBox="1">
            <a:spLocks noChangeArrowheads="1"/>
          </p:cNvSpPr>
          <p:nvPr/>
        </p:nvSpPr>
        <p:spPr bwMode="auto">
          <a:xfrm>
            <a:off x="7392988" y="4194175"/>
            <a:ext cx="741362" cy="442913"/>
          </a:xfrm>
          <a:prstGeom prst="rect">
            <a:avLst/>
          </a:prstGeom>
          <a:noFill/>
          <a:ln w="9525">
            <a:noFill/>
            <a:miter lim="800000"/>
          </a:ln>
        </p:spPr>
        <p:txBody>
          <a:bodyPr>
            <a:spAutoFit/>
          </a:bodyPr>
          <a:lstStyle/>
          <a:p>
            <a:pPr>
              <a:lnSpc>
                <a:spcPct val="115000"/>
              </a:lnSpc>
            </a:pPr>
            <a:r>
              <a:rPr lang="en-US" altLang="zh-CN" sz="2000" b="1">
                <a:solidFill>
                  <a:srgbClr val="FF0000"/>
                </a:solidFill>
              </a:rPr>
              <a:t>4</a:t>
            </a:r>
            <a:endParaRPr lang="en-US" altLang="zh-CN" sz="2000" b="1" baseline="-25000">
              <a:solidFill>
                <a:srgbClr val="FF0000"/>
              </a:solidFill>
            </a:endParaRPr>
          </a:p>
        </p:txBody>
      </p:sp>
      <p:sp>
        <p:nvSpPr>
          <p:cNvPr id="225314" name="Text Box 34"/>
          <p:cNvSpPr txBox="1">
            <a:spLocks noChangeArrowheads="1"/>
          </p:cNvSpPr>
          <p:nvPr/>
        </p:nvSpPr>
        <p:spPr bwMode="auto">
          <a:xfrm>
            <a:off x="161925" y="1009650"/>
            <a:ext cx="836613" cy="512763"/>
          </a:xfrm>
          <a:prstGeom prst="rect">
            <a:avLst/>
          </a:prstGeom>
          <a:noFill/>
          <a:ln w="9525">
            <a:noFill/>
            <a:miter lim="800000"/>
          </a:ln>
        </p:spPr>
        <p:txBody>
          <a:bodyPr>
            <a:spAutoFit/>
          </a:bodyPr>
          <a:lstStyle/>
          <a:p>
            <a:pPr>
              <a:lnSpc>
                <a:spcPct val="115000"/>
              </a:lnSpc>
            </a:pPr>
            <a:r>
              <a:rPr lang="zh-CN" altLang="en-US" b="1">
                <a:solidFill>
                  <a:srgbClr val="FF0000"/>
                </a:solidFill>
              </a:rPr>
              <a:t>求</a:t>
            </a:r>
            <a:endParaRPr lang="zh-CN" altLang="en-US" b="1"/>
          </a:p>
        </p:txBody>
      </p:sp>
      <p:sp>
        <p:nvSpPr>
          <p:cNvPr id="225315" name="Text Box 35"/>
          <p:cNvSpPr txBox="1">
            <a:spLocks noChangeArrowheads="1"/>
          </p:cNvSpPr>
          <p:nvPr/>
        </p:nvSpPr>
        <p:spPr bwMode="auto">
          <a:xfrm>
            <a:off x="720725" y="998538"/>
            <a:ext cx="7991475" cy="933450"/>
          </a:xfrm>
          <a:prstGeom prst="rect">
            <a:avLst/>
          </a:prstGeom>
          <a:noFill/>
          <a:ln w="9525">
            <a:noFill/>
            <a:miter lim="800000"/>
          </a:ln>
        </p:spPr>
        <p:txBody>
          <a:bodyPr>
            <a:spAutoFit/>
          </a:bodyPr>
          <a:lstStyle/>
          <a:p>
            <a:pPr>
              <a:lnSpc>
                <a:spcPct val="115000"/>
              </a:lnSpc>
            </a:pPr>
            <a:r>
              <a:rPr lang="zh-CN" altLang="en-US" b="1"/>
              <a:t>在</a:t>
            </a:r>
            <a:r>
              <a:rPr lang="en-US" altLang="zh-CN" b="1">
                <a:solidFill>
                  <a:srgbClr val="FF6600"/>
                </a:solidFill>
              </a:rPr>
              <a:t>1~2</a:t>
            </a:r>
            <a:r>
              <a:rPr lang="zh-CN" altLang="en-US" b="1"/>
              <a:t>、</a:t>
            </a:r>
            <a:r>
              <a:rPr lang="en-US" altLang="zh-CN" b="1">
                <a:solidFill>
                  <a:srgbClr val="FF6600"/>
                </a:solidFill>
              </a:rPr>
              <a:t>2~3</a:t>
            </a:r>
            <a:r>
              <a:rPr lang="zh-CN" altLang="en-US" b="1"/>
              <a:t>、</a:t>
            </a:r>
            <a:r>
              <a:rPr lang="en-US" altLang="zh-CN" b="1">
                <a:solidFill>
                  <a:srgbClr val="FF6600"/>
                </a:solidFill>
              </a:rPr>
              <a:t>3~4</a:t>
            </a:r>
            <a:r>
              <a:rPr lang="zh-CN" altLang="en-US" b="1"/>
              <a:t>、</a:t>
            </a:r>
            <a:r>
              <a:rPr lang="en-US" altLang="zh-CN" b="1">
                <a:solidFill>
                  <a:srgbClr val="FF6600"/>
                </a:solidFill>
              </a:rPr>
              <a:t>4~1</a:t>
            </a:r>
            <a:r>
              <a:rPr lang="zh-CN" altLang="en-US" b="1"/>
              <a:t>等过程中气体与环境的热量交换以及循环效率（可将氦气视为理想气体）。</a:t>
            </a:r>
            <a:endParaRPr lang="zh-CN" altLang="en-US" b="1"/>
          </a:p>
        </p:txBody>
      </p:sp>
      <p:sp>
        <p:nvSpPr>
          <p:cNvPr id="225316" name="Text Box 36"/>
          <p:cNvSpPr txBox="1">
            <a:spLocks noChangeArrowheads="1"/>
          </p:cNvSpPr>
          <p:nvPr/>
        </p:nvSpPr>
        <p:spPr bwMode="auto">
          <a:xfrm>
            <a:off x="206375" y="2168525"/>
            <a:ext cx="774700" cy="512763"/>
          </a:xfrm>
          <a:prstGeom prst="rect">
            <a:avLst/>
          </a:prstGeom>
          <a:noFill/>
          <a:ln w="9525">
            <a:noFill/>
            <a:miter lim="800000"/>
          </a:ln>
        </p:spPr>
        <p:txBody>
          <a:bodyPr>
            <a:spAutoFit/>
          </a:bodyPr>
          <a:lstStyle/>
          <a:p>
            <a:pPr>
              <a:lnSpc>
                <a:spcPct val="115000"/>
              </a:lnSpc>
            </a:pPr>
            <a:r>
              <a:rPr lang="zh-CN" altLang="en-US" b="1">
                <a:solidFill>
                  <a:srgbClr val="FF0000"/>
                </a:solidFill>
              </a:rPr>
              <a:t>解</a:t>
            </a:r>
            <a:endParaRPr lang="zh-CN" altLang="en-US" b="1"/>
          </a:p>
        </p:txBody>
      </p:sp>
      <p:sp>
        <p:nvSpPr>
          <p:cNvPr id="225317" name="Text Box 37"/>
          <p:cNvSpPr txBox="1">
            <a:spLocks noChangeArrowheads="1"/>
          </p:cNvSpPr>
          <p:nvPr/>
        </p:nvSpPr>
        <p:spPr bwMode="auto">
          <a:xfrm>
            <a:off x="792163" y="2214563"/>
            <a:ext cx="8172450" cy="457200"/>
          </a:xfrm>
          <a:prstGeom prst="rect">
            <a:avLst/>
          </a:prstGeom>
          <a:noFill/>
          <a:ln w="9525">
            <a:noFill/>
            <a:miter lim="800000"/>
          </a:ln>
        </p:spPr>
        <p:txBody>
          <a:bodyPr>
            <a:spAutoFit/>
          </a:bodyPr>
          <a:lstStyle/>
          <a:p>
            <a:pPr>
              <a:spcBef>
                <a:spcPct val="50000"/>
              </a:spcBef>
              <a:defRPr/>
            </a:pPr>
            <a:r>
              <a:rPr lang="zh-CN" altLang="en-US" b="1" dirty="0">
                <a:latin typeface="+mn-ea"/>
                <a:ea typeface="+mn-ea"/>
              </a:rPr>
              <a:t>根据各过程的特征方程求出各点的状态参量，</a:t>
            </a:r>
            <a:r>
              <a:rPr kumimoji="1" lang="zh-CN" altLang="en-US" b="1" dirty="0">
                <a:latin typeface="+mn-ea"/>
                <a:ea typeface="+mn-ea"/>
              </a:rPr>
              <a:t>得</a:t>
            </a:r>
            <a:endParaRPr kumimoji="1" lang="zh-CN" altLang="en-US" b="1" dirty="0">
              <a:latin typeface="+mn-ea"/>
              <a:ea typeface="+mn-ea"/>
            </a:endParaRPr>
          </a:p>
        </p:txBody>
      </p:sp>
      <p:sp>
        <p:nvSpPr>
          <p:cNvPr id="225318" name="Text Box 38"/>
          <p:cNvSpPr txBox="1">
            <a:spLocks noChangeArrowheads="1"/>
          </p:cNvSpPr>
          <p:nvPr/>
        </p:nvSpPr>
        <p:spPr bwMode="auto">
          <a:xfrm>
            <a:off x="1404938" y="2908300"/>
            <a:ext cx="1779587" cy="512763"/>
          </a:xfrm>
          <a:prstGeom prst="rect">
            <a:avLst/>
          </a:prstGeom>
          <a:noFill/>
          <a:ln w="9525">
            <a:noFill/>
            <a:miter lim="800000"/>
          </a:ln>
        </p:spPr>
        <p:txBody>
          <a:bodyPr>
            <a:spAutoFit/>
          </a:bodyPr>
          <a:lstStyle/>
          <a:p>
            <a:pPr>
              <a:lnSpc>
                <a:spcPct val="115000"/>
              </a:lnSpc>
            </a:pPr>
            <a:r>
              <a:rPr lang="en-US" altLang="zh-CN" b="1" i="1">
                <a:solidFill>
                  <a:schemeClr val="accent2"/>
                </a:solidFill>
              </a:rPr>
              <a:t>p</a:t>
            </a:r>
            <a:r>
              <a:rPr lang="en-US" altLang="zh-CN" b="1" baseline="-25000">
                <a:solidFill>
                  <a:schemeClr val="accent2"/>
                </a:solidFill>
              </a:rPr>
              <a:t>2</a:t>
            </a:r>
            <a:r>
              <a:rPr lang="en-US" altLang="zh-CN" b="1">
                <a:solidFill>
                  <a:schemeClr val="accent2"/>
                </a:solidFill>
              </a:rPr>
              <a:t> = 2 </a:t>
            </a:r>
            <a:r>
              <a:rPr lang="en-US" altLang="zh-CN" b="1" i="1">
                <a:solidFill>
                  <a:schemeClr val="accent2"/>
                </a:solidFill>
              </a:rPr>
              <a:t>p</a:t>
            </a:r>
            <a:r>
              <a:rPr lang="en-US" altLang="zh-CN" b="1" baseline="-25000">
                <a:solidFill>
                  <a:schemeClr val="accent2"/>
                </a:solidFill>
              </a:rPr>
              <a:t>1</a:t>
            </a:r>
            <a:endParaRPr lang="en-US" altLang="zh-CN" b="1" baseline="-25000">
              <a:solidFill>
                <a:schemeClr val="accent2"/>
              </a:solidFill>
            </a:endParaRPr>
          </a:p>
        </p:txBody>
      </p:sp>
      <p:sp>
        <p:nvSpPr>
          <p:cNvPr id="225319" name="Text Box 39"/>
          <p:cNvSpPr txBox="1">
            <a:spLocks noChangeArrowheads="1"/>
          </p:cNvSpPr>
          <p:nvPr/>
        </p:nvSpPr>
        <p:spPr bwMode="auto">
          <a:xfrm>
            <a:off x="1404938" y="3392488"/>
            <a:ext cx="1779587" cy="512762"/>
          </a:xfrm>
          <a:prstGeom prst="rect">
            <a:avLst/>
          </a:prstGeom>
          <a:noFill/>
          <a:ln w="9525">
            <a:noFill/>
            <a:miter lim="800000"/>
          </a:ln>
        </p:spPr>
        <p:txBody>
          <a:bodyPr>
            <a:spAutoFit/>
          </a:bodyPr>
          <a:lstStyle/>
          <a:p>
            <a:pPr>
              <a:lnSpc>
                <a:spcPct val="115000"/>
              </a:lnSpc>
            </a:pPr>
            <a:r>
              <a:rPr lang="en-US" altLang="zh-CN" b="1" i="1">
                <a:solidFill>
                  <a:schemeClr val="accent2"/>
                </a:solidFill>
              </a:rPr>
              <a:t>V</a:t>
            </a:r>
            <a:r>
              <a:rPr lang="en-US" altLang="zh-CN" b="1" baseline="-25000">
                <a:solidFill>
                  <a:schemeClr val="accent2"/>
                </a:solidFill>
              </a:rPr>
              <a:t>2</a:t>
            </a:r>
            <a:r>
              <a:rPr lang="en-US" altLang="zh-CN" b="1">
                <a:solidFill>
                  <a:schemeClr val="accent2"/>
                </a:solidFill>
              </a:rPr>
              <a:t> = </a:t>
            </a:r>
            <a:r>
              <a:rPr lang="en-US" altLang="zh-CN" b="1" i="1">
                <a:solidFill>
                  <a:schemeClr val="accent2"/>
                </a:solidFill>
              </a:rPr>
              <a:t>V</a:t>
            </a:r>
            <a:r>
              <a:rPr lang="en-US" altLang="zh-CN" b="1" baseline="-25000">
                <a:solidFill>
                  <a:schemeClr val="accent2"/>
                </a:solidFill>
              </a:rPr>
              <a:t>1</a:t>
            </a:r>
            <a:endParaRPr lang="en-US" altLang="zh-CN" b="1" baseline="-25000">
              <a:solidFill>
                <a:schemeClr val="accent2"/>
              </a:solidFill>
            </a:endParaRPr>
          </a:p>
        </p:txBody>
      </p:sp>
      <p:sp>
        <p:nvSpPr>
          <p:cNvPr id="225320" name="AutoShape 40"/>
          <p:cNvSpPr/>
          <p:nvPr/>
        </p:nvSpPr>
        <p:spPr bwMode="auto">
          <a:xfrm>
            <a:off x="2649538" y="3124200"/>
            <a:ext cx="123825" cy="647700"/>
          </a:xfrm>
          <a:prstGeom prst="rightBrace">
            <a:avLst>
              <a:gd name="adj1" fmla="val 43590"/>
              <a:gd name="adj2" fmla="val 50000"/>
            </a:avLst>
          </a:prstGeom>
          <a:noFill/>
          <a:ln w="25400">
            <a:solidFill>
              <a:schemeClr val="tx1"/>
            </a:solidFill>
            <a:round/>
          </a:ln>
        </p:spPr>
        <p:txBody>
          <a:bodyPr wrap="none" anchor="ctr"/>
          <a:lstStyle/>
          <a:p>
            <a:pPr algn="ctr"/>
            <a:endParaRPr lang="zh-CN" altLang="en-US"/>
          </a:p>
        </p:txBody>
      </p:sp>
      <p:sp>
        <p:nvSpPr>
          <p:cNvPr id="225321" name="AutoShape 41"/>
          <p:cNvSpPr>
            <a:spLocks noChangeArrowheads="1"/>
          </p:cNvSpPr>
          <p:nvPr/>
        </p:nvSpPr>
        <p:spPr bwMode="auto">
          <a:xfrm>
            <a:off x="2908300" y="3340100"/>
            <a:ext cx="701675" cy="180975"/>
          </a:xfrm>
          <a:prstGeom prst="rightArrow">
            <a:avLst>
              <a:gd name="adj1" fmla="val 50000"/>
              <a:gd name="adj2" fmla="val 96930"/>
            </a:avLst>
          </a:prstGeom>
          <a:solidFill>
            <a:srgbClr val="0000FF"/>
          </a:solidFill>
          <a:ln w="9525">
            <a:solidFill>
              <a:schemeClr val="tx1"/>
            </a:solidFill>
            <a:miter lim="800000"/>
          </a:ln>
        </p:spPr>
        <p:txBody>
          <a:bodyPr wrap="none" anchor="ctr"/>
          <a:lstStyle/>
          <a:p>
            <a:pPr algn="ctr"/>
            <a:endParaRPr lang="zh-CN" altLang="en-US"/>
          </a:p>
        </p:txBody>
      </p:sp>
      <p:sp>
        <p:nvSpPr>
          <p:cNvPr id="225322" name="Text Box 42"/>
          <p:cNvSpPr txBox="1">
            <a:spLocks noChangeArrowheads="1"/>
          </p:cNvSpPr>
          <p:nvPr/>
        </p:nvSpPr>
        <p:spPr bwMode="auto">
          <a:xfrm>
            <a:off x="3648075" y="3187700"/>
            <a:ext cx="1779588" cy="512763"/>
          </a:xfrm>
          <a:prstGeom prst="rect">
            <a:avLst/>
          </a:prstGeom>
          <a:noFill/>
          <a:ln w="9525">
            <a:noFill/>
            <a:miter lim="800000"/>
          </a:ln>
        </p:spPr>
        <p:txBody>
          <a:bodyPr>
            <a:spAutoFit/>
          </a:bodyPr>
          <a:lstStyle/>
          <a:p>
            <a:pPr>
              <a:lnSpc>
                <a:spcPct val="115000"/>
              </a:lnSpc>
            </a:pPr>
            <a:r>
              <a:rPr lang="en-US" altLang="zh-CN" b="1" i="1">
                <a:solidFill>
                  <a:schemeClr val="accent2"/>
                </a:solidFill>
              </a:rPr>
              <a:t>T</a:t>
            </a:r>
            <a:r>
              <a:rPr lang="en-US" altLang="zh-CN" b="1" baseline="-25000">
                <a:solidFill>
                  <a:schemeClr val="accent2"/>
                </a:solidFill>
              </a:rPr>
              <a:t>2</a:t>
            </a:r>
            <a:r>
              <a:rPr lang="en-US" altLang="zh-CN" b="1">
                <a:solidFill>
                  <a:schemeClr val="accent2"/>
                </a:solidFill>
              </a:rPr>
              <a:t> = 2 </a:t>
            </a:r>
            <a:r>
              <a:rPr lang="en-US" altLang="zh-CN" b="1" i="1">
                <a:solidFill>
                  <a:schemeClr val="accent2"/>
                </a:solidFill>
              </a:rPr>
              <a:t>T</a:t>
            </a:r>
            <a:r>
              <a:rPr lang="en-US" altLang="zh-CN" b="1" baseline="-25000">
                <a:solidFill>
                  <a:schemeClr val="accent2"/>
                </a:solidFill>
              </a:rPr>
              <a:t>1</a:t>
            </a:r>
            <a:endParaRPr lang="en-US" altLang="zh-CN" b="1" baseline="-25000">
              <a:solidFill>
                <a:schemeClr val="accent2"/>
              </a:solidFill>
            </a:endParaRPr>
          </a:p>
        </p:txBody>
      </p:sp>
      <p:sp>
        <p:nvSpPr>
          <p:cNvPr id="225323" name="Text Box 43"/>
          <p:cNvSpPr txBox="1">
            <a:spLocks noChangeArrowheads="1"/>
          </p:cNvSpPr>
          <p:nvPr/>
        </p:nvSpPr>
        <p:spPr bwMode="auto">
          <a:xfrm>
            <a:off x="1425575" y="3986213"/>
            <a:ext cx="1779588" cy="512762"/>
          </a:xfrm>
          <a:prstGeom prst="rect">
            <a:avLst/>
          </a:prstGeom>
          <a:noFill/>
          <a:ln w="9525">
            <a:noFill/>
            <a:miter lim="800000"/>
          </a:ln>
        </p:spPr>
        <p:txBody>
          <a:bodyPr>
            <a:spAutoFit/>
          </a:bodyPr>
          <a:lstStyle/>
          <a:p>
            <a:pPr>
              <a:lnSpc>
                <a:spcPct val="115000"/>
              </a:lnSpc>
            </a:pPr>
            <a:r>
              <a:rPr lang="en-US" altLang="zh-CN" b="1" i="1">
                <a:solidFill>
                  <a:schemeClr val="accent2"/>
                </a:solidFill>
              </a:rPr>
              <a:t>p</a:t>
            </a:r>
            <a:r>
              <a:rPr lang="en-US" altLang="zh-CN" b="1" baseline="-25000">
                <a:solidFill>
                  <a:schemeClr val="accent2"/>
                </a:solidFill>
              </a:rPr>
              <a:t>3</a:t>
            </a:r>
            <a:r>
              <a:rPr lang="en-US" altLang="zh-CN" b="1">
                <a:solidFill>
                  <a:schemeClr val="accent2"/>
                </a:solidFill>
              </a:rPr>
              <a:t> = 2 </a:t>
            </a:r>
            <a:r>
              <a:rPr lang="en-US" altLang="zh-CN" b="1" i="1">
                <a:solidFill>
                  <a:schemeClr val="accent2"/>
                </a:solidFill>
              </a:rPr>
              <a:t>p</a:t>
            </a:r>
            <a:r>
              <a:rPr lang="en-US" altLang="zh-CN" b="1" baseline="-25000">
                <a:solidFill>
                  <a:schemeClr val="accent2"/>
                </a:solidFill>
              </a:rPr>
              <a:t>1</a:t>
            </a:r>
            <a:endParaRPr lang="en-US" altLang="zh-CN" b="1" baseline="-25000">
              <a:solidFill>
                <a:schemeClr val="accent2"/>
              </a:solidFill>
            </a:endParaRPr>
          </a:p>
        </p:txBody>
      </p:sp>
      <p:sp>
        <p:nvSpPr>
          <p:cNvPr id="225324" name="Text Box 44"/>
          <p:cNvSpPr txBox="1">
            <a:spLocks noChangeArrowheads="1"/>
          </p:cNvSpPr>
          <p:nvPr/>
        </p:nvSpPr>
        <p:spPr bwMode="auto">
          <a:xfrm>
            <a:off x="1354138" y="4491038"/>
            <a:ext cx="1779587" cy="512762"/>
          </a:xfrm>
          <a:prstGeom prst="rect">
            <a:avLst/>
          </a:prstGeom>
          <a:noFill/>
          <a:ln w="9525">
            <a:noFill/>
            <a:miter lim="800000"/>
          </a:ln>
        </p:spPr>
        <p:txBody>
          <a:bodyPr>
            <a:spAutoFit/>
          </a:bodyPr>
          <a:lstStyle/>
          <a:p>
            <a:pPr>
              <a:lnSpc>
                <a:spcPct val="115000"/>
              </a:lnSpc>
            </a:pPr>
            <a:r>
              <a:rPr lang="en-US" altLang="zh-CN" b="1" i="1">
                <a:solidFill>
                  <a:schemeClr val="accent2"/>
                </a:solidFill>
              </a:rPr>
              <a:t>V</a:t>
            </a:r>
            <a:r>
              <a:rPr lang="en-US" altLang="zh-CN" b="1" baseline="-25000">
                <a:solidFill>
                  <a:schemeClr val="accent2"/>
                </a:solidFill>
              </a:rPr>
              <a:t>3</a:t>
            </a:r>
            <a:r>
              <a:rPr lang="en-US" altLang="zh-CN" b="1">
                <a:solidFill>
                  <a:schemeClr val="accent2"/>
                </a:solidFill>
              </a:rPr>
              <a:t> = 2 </a:t>
            </a:r>
            <a:r>
              <a:rPr lang="en-US" altLang="zh-CN" b="1" i="1">
                <a:solidFill>
                  <a:schemeClr val="accent2"/>
                </a:solidFill>
              </a:rPr>
              <a:t>V</a:t>
            </a:r>
            <a:r>
              <a:rPr lang="en-US" altLang="zh-CN" b="1" baseline="-25000">
                <a:solidFill>
                  <a:schemeClr val="accent2"/>
                </a:solidFill>
              </a:rPr>
              <a:t>1</a:t>
            </a:r>
            <a:endParaRPr lang="en-US" altLang="zh-CN" b="1" baseline="-25000">
              <a:solidFill>
                <a:schemeClr val="accent2"/>
              </a:solidFill>
            </a:endParaRPr>
          </a:p>
        </p:txBody>
      </p:sp>
      <p:sp>
        <p:nvSpPr>
          <p:cNvPr id="225325" name="AutoShape 45"/>
          <p:cNvSpPr/>
          <p:nvPr/>
        </p:nvSpPr>
        <p:spPr bwMode="auto">
          <a:xfrm>
            <a:off x="2649538" y="4130675"/>
            <a:ext cx="123825" cy="598488"/>
          </a:xfrm>
          <a:prstGeom prst="rightBrace">
            <a:avLst>
              <a:gd name="adj1" fmla="val 40278"/>
              <a:gd name="adj2" fmla="val 50000"/>
            </a:avLst>
          </a:prstGeom>
          <a:noFill/>
          <a:ln w="25400">
            <a:solidFill>
              <a:schemeClr val="tx1"/>
            </a:solidFill>
            <a:round/>
          </a:ln>
        </p:spPr>
        <p:txBody>
          <a:bodyPr wrap="none" anchor="ctr"/>
          <a:lstStyle/>
          <a:p>
            <a:pPr algn="ctr"/>
            <a:endParaRPr lang="zh-CN" altLang="en-US"/>
          </a:p>
        </p:txBody>
      </p:sp>
      <p:sp>
        <p:nvSpPr>
          <p:cNvPr id="225326" name="AutoShape 46"/>
          <p:cNvSpPr>
            <a:spLocks noChangeArrowheads="1"/>
          </p:cNvSpPr>
          <p:nvPr/>
        </p:nvSpPr>
        <p:spPr bwMode="auto">
          <a:xfrm>
            <a:off x="2908300" y="4346575"/>
            <a:ext cx="701675" cy="180975"/>
          </a:xfrm>
          <a:prstGeom prst="rightArrow">
            <a:avLst>
              <a:gd name="adj1" fmla="val 50000"/>
              <a:gd name="adj2" fmla="val 96930"/>
            </a:avLst>
          </a:prstGeom>
          <a:solidFill>
            <a:srgbClr val="0000FF"/>
          </a:solidFill>
          <a:ln w="9525">
            <a:solidFill>
              <a:schemeClr val="tx1"/>
            </a:solidFill>
            <a:miter lim="800000"/>
          </a:ln>
        </p:spPr>
        <p:txBody>
          <a:bodyPr wrap="none" anchor="ctr"/>
          <a:lstStyle/>
          <a:p>
            <a:pPr algn="ctr"/>
            <a:endParaRPr lang="zh-CN" altLang="en-US"/>
          </a:p>
        </p:txBody>
      </p:sp>
      <p:sp>
        <p:nvSpPr>
          <p:cNvPr id="225327" name="Text Box 47"/>
          <p:cNvSpPr txBox="1">
            <a:spLocks noChangeArrowheads="1"/>
          </p:cNvSpPr>
          <p:nvPr/>
        </p:nvSpPr>
        <p:spPr bwMode="auto">
          <a:xfrm>
            <a:off x="3648075" y="4135438"/>
            <a:ext cx="1779588" cy="512762"/>
          </a:xfrm>
          <a:prstGeom prst="rect">
            <a:avLst/>
          </a:prstGeom>
          <a:noFill/>
          <a:ln w="9525">
            <a:noFill/>
            <a:miter lim="800000"/>
          </a:ln>
        </p:spPr>
        <p:txBody>
          <a:bodyPr>
            <a:spAutoFit/>
          </a:bodyPr>
          <a:lstStyle/>
          <a:p>
            <a:pPr>
              <a:lnSpc>
                <a:spcPct val="115000"/>
              </a:lnSpc>
            </a:pPr>
            <a:r>
              <a:rPr lang="en-US" altLang="zh-CN" b="1" i="1">
                <a:solidFill>
                  <a:schemeClr val="accent2"/>
                </a:solidFill>
              </a:rPr>
              <a:t>T</a:t>
            </a:r>
            <a:r>
              <a:rPr lang="en-US" altLang="zh-CN" b="1" baseline="-25000">
                <a:solidFill>
                  <a:schemeClr val="accent2"/>
                </a:solidFill>
              </a:rPr>
              <a:t>3</a:t>
            </a:r>
            <a:r>
              <a:rPr lang="en-US" altLang="zh-CN" b="1">
                <a:solidFill>
                  <a:schemeClr val="accent2"/>
                </a:solidFill>
              </a:rPr>
              <a:t> = 4 </a:t>
            </a:r>
            <a:r>
              <a:rPr lang="en-US" altLang="zh-CN" b="1" i="1">
                <a:solidFill>
                  <a:schemeClr val="accent2"/>
                </a:solidFill>
              </a:rPr>
              <a:t>T</a:t>
            </a:r>
            <a:r>
              <a:rPr lang="en-US" altLang="zh-CN" b="1" baseline="-25000">
                <a:solidFill>
                  <a:schemeClr val="accent2"/>
                </a:solidFill>
              </a:rPr>
              <a:t>1</a:t>
            </a:r>
            <a:endParaRPr lang="en-US" altLang="zh-CN" b="1" baseline="-25000">
              <a:solidFill>
                <a:schemeClr val="accent2"/>
              </a:solidFill>
            </a:endParaRPr>
          </a:p>
        </p:txBody>
      </p:sp>
      <p:sp>
        <p:nvSpPr>
          <p:cNvPr id="225328" name="Text Box 48"/>
          <p:cNvSpPr txBox="1">
            <a:spLocks noChangeArrowheads="1"/>
          </p:cNvSpPr>
          <p:nvPr/>
        </p:nvSpPr>
        <p:spPr bwMode="auto">
          <a:xfrm>
            <a:off x="1425575" y="5022850"/>
            <a:ext cx="1779588" cy="512763"/>
          </a:xfrm>
          <a:prstGeom prst="rect">
            <a:avLst/>
          </a:prstGeom>
          <a:noFill/>
          <a:ln w="9525">
            <a:noFill/>
            <a:miter lim="800000"/>
          </a:ln>
        </p:spPr>
        <p:txBody>
          <a:bodyPr>
            <a:spAutoFit/>
          </a:bodyPr>
          <a:lstStyle/>
          <a:p>
            <a:pPr>
              <a:lnSpc>
                <a:spcPct val="115000"/>
              </a:lnSpc>
            </a:pPr>
            <a:r>
              <a:rPr lang="en-US" altLang="zh-CN" b="1" i="1">
                <a:solidFill>
                  <a:schemeClr val="accent2"/>
                </a:solidFill>
              </a:rPr>
              <a:t>p</a:t>
            </a:r>
            <a:r>
              <a:rPr lang="en-US" altLang="zh-CN" b="1" baseline="-25000">
                <a:solidFill>
                  <a:schemeClr val="accent2"/>
                </a:solidFill>
              </a:rPr>
              <a:t>4</a:t>
            </a:r>
            <a:r>
              <a:rPr lang="en-US" altLang="zh-CN" b="1">
                <a:solidFill>
                  <a:schemeClr val="accent2"/>
                </a:solidFill>
              </a:rPr>
              <a:t> = </a:t>
            </a:r>
            <a:r>
              <a:rPr lang="en-US" altLang="zh-CN" b="1" i="1">
                <a:solidFill>
                  <a:schemeClr val="accent2"/>
                </a:solidFill>
              </a:rPr>
              <a:t>p</a:t>
            </a:r>
            <a:r>
              <a:rPr lang="en-US" altLang="zh-CN" b="1" baseline="-25000">
                <a:solidFill>
                  <a:schemeClr val="accent2"/>
                </a:solidFill>
              </a:rPr>
              <a:t>1</a:t>
            </a:r>
            <a:endParaRPr lang="en-US" altLang="zh-CN" b="1" baseline="-25000">
              <a:solidFill>
                <a:schemeClr val="accent2"/>
              </a:solidFill>
            </a:endParaRPr>
          </a:p>
        </p:txBody>
      </p:sp>
      <p:sp>
        <p:nvSpPr>
          <p:cNvPr id="225329" name="Text Box 49"/>
          <p:cNvSpPr txBox="1">
            <a:spLocks noChangeArrowheads="1"/>
          </p:cNvSpPr>
          <p:nvPr/>
        </p:nvSpPr>
        <p:spPr bwMode="auto">
          <a:xfrm>
            <a:off x="1354138" y="5526088"/>
            <a:ext cx="1779587" cy="512762"/>
          </a:xfrm>
          <a:prstGeom prst="rect">
            <a:avLst/>
          </a:prstGeom>
          <a:noFill/>
          <a:ln w="9525">
            <a:noFill/>
            <a:miter lim="800000"/>
          </a:ln>
        </p:spPr>
        <p:txBody>
          <a:bodyPr>
            <a:spAutoFit/>
          </a:bodyPr>
          <a:lstStyle/>
          <a:p>
            <a:pPr>
              <a:lnSpc>
                <a:spcPct val="115000"/>
              </a:lnSpc>
            </a:pPr>
            <a:r>
              <a:rPr lang="en-US" altLang="zh-CN" b="1" i="1">
                <a:solidFill>
                  <a:schemeClr val="accent2"/>
                </a:solidFill>
              </a:rPr>
              <a:t>V</a:t>
            </a:r>
            <a:r>
              <a:rPr lang="en-US" altLang="zh-CN" b="1" baseline="-25000">
                <a:solidFill>
                  <a:schemeClr val="accent2"/>
                </a:solidFill>
              </a:rPr>
              <a:t>4</a:t>
            </a:r>
            <a:r>
              <a:rPr lang="en-US" altLang="zh-CN" b="1">
                <a:solidFill>
                  <a:schemeClr val="accent2"/>
                </a:solidFill>
              </a:rPr>
              <a:t> = 2 </a:t>
            </a:r>
            <a:r>
              <a:rPr lang="en-US" altLang="zh-CN" b="1" i="1">
                <a:solidFill>
                  <a:schemeClr val="accent2"/>
                </a:solidFill>
              </a:rPr>
              <a:t>V</a:t>
            </a:r>
            <a:r>
              <a:rPr lang="en-US" altLang="zh-CN" b="1" baseline="-25000">
                <a:solidFill>
                  <a:schemeClr val="accent2"/>
                </a:solidFill>
              </a:rPr>
              <a:t>1</a:t>
            </a:r>
            <a:endParaRPr lang="en-US" altLang="zh-CN" b="1" baseline="-25000">
              <a:solidFill>
                <a:schemeClr val="accent2"/>
              </a:solidFill>
            </a:endParaRPr>
          </a:p>
        </p:txBody>
      </p:sp>
      <p:sp>
        <p:nvSpPr>
          <p:cNvPr id="225330" name="AutoShape 50"/>
          <p:cNvSpPr/>
          <p:nvPr/>
        </p:nvSpPr>
        <p:spPr bwMode="auto">
          <a:xfrm>
            <a:off x="2649538" y="5238750"/>
            <a:ext cx="123825" cy="647700"/>
          </a:xfrm>
          <a:prstGeom prst="rightBrace">
            <a:avLst>
              <a:gd name="adj1" fmla="val 43590"/>
              <a:gd name="adj2" fmla="val 50000"/>
            </a:avLst>
          </a:prstGeom>
          <a:noFill/>
          <a:ln w="25400">
            <a:solidFill>
              <a:schemeClr val="tx1"/>
            </a:solidFill>
            <a:round/>
          </a:ln>
        </p:spPr>
        <p:txBody>
          <a:bodyPr wrap="none" anchor="ctr"/>
          <a:lstStyle/>
          <a:p>
            <a:pPr algn="ctr"/>
            <a:endParaRPr lang="zh-CN" altLang="en-US"/>
          </a:p>
        </p:txBody>
      </p:sp>
      <p:sp>
        <p:nvSpPr>
          <p:cNvPr id="225331" name="AutoShape 51"/>
          <p:cNvSpPr>
            <a:spLocks noChangeArrowheads="1"/>
          </p:cNvSpPr>
          <p:nvPr/>
        </p:nvSpPr>
        <p:spPr bwMode="auto">
          <a:xfrm>
            <a:off x="2908300" y="5454650"/>
            <a:ext cx="701675" cy="180975"/>
          </a:xfrm>
          <a:prstGeom prst="rightArrow">
            <a:avLst>
              <a:gd name="adj1" fmla="val 50000"/>
              <a:gd name="adj2" fmla="val 96930"/>
            </a:avLst>
          </a:prstGeom>
          <a:solidFill>
            <a:srgbClr val="0000FF"/>
          </a:solidFill>
          <a:ln w="9525">
            <a:solidFill>
              <a:schemeClr val="tx1"/>
            </a:solidFill>
            <a:miter lim="800000"/>
          </a:ln>
        </p:spPr>
        <p:txBody>
          <a:bodyPr wrap="none" anchor="ctr"/>
          <a:lstStyle/>
          <a:p>
            <a:pPr algn="ctr"/>
            <a:endParaRPr lang="zh-CN" altLang="en-US"/>
          </a:p>
        </p:txBody>
      </p:sp>
      <p:sp>
        <p:nvSpPr>
          <p:cNvPr id="225332" name="Text Box 52"/>
          <p:cNvSpPr txBox="1">
            <a:spLocks noChangeArrowheads="1"/>
          </p:cNvSpPr>
          <p:nvPr/>
        </p:nvSpPr>
        <p:spPr bwMode="auto">
          <a:xfrm>
            <a:off x="3648075" y="5302250"/>
            <a:ext cx="1779588" cy="512763"/>
          </a:xfrm>
          <a:prstGeom prst="rect">
            <a:avLst/>
          </a:prstGeom>
          <a:noFill/>
          <a:ln w="9525">
            <a:noFill/>
            <a:miter lim="800000"/>
          </a:ln>
        </p:spPr>
        <p:txBody>
          <a:bodyPr>
            <a:spAutoFit/>
          </a:bodyPr>
          <a:lstStyle/>
          <a:p>
            <a:pPr>
              <a:lnSpc>
                <a:spcPct val="115000"/>
              </a:lnSpc>
            </a:pPr>
            <a:r>
              <a:rPr lang="en-US" altLang="zh-CN" b="1" i="1">
                <a:solidFill>
                  <a:schemeClr val="accent2"/>
                </a:solidFill>
              </a:rPr>
              <a:t>T</a:t>
            </a:r>
            <a:r>
              <a:rPr lang="en-US" altLang="zh-CN" b="1" baseline="-25000">
                <a:solidFill>
                  <a:schemeClr val="accent2"/>
                </a:solidFill>
              </a:rPr>
              <a:t>4</a:t>
            </a:r>
            <a:r>
              <a:rPr lang="en-US" altLang="zh-CN" b="1">
                <a:solidFill>
                  <a:schemeClr val="accent2"/>
                </a:solidFill>
              </a:rPr>
              <a:t> = 2 </a:t>
            </a:r>
            <a:r>
              <a:rPr lang="en-US" altLang="zh-CN" b="1" i="1">
                <a:solidFill>
                  <a:schemeClr val="accent2"/>
                </a:solidFill>
              </a:rPr>
              <a:t>T</a:t>
            </a:r>
            <a:r>
              <a:rPr lang="en-US" altLang="zh-CN" b="1" baseline="-25000">
                <a:solidFill>
                  <a:schemeClr val="accent2"/>
                </a:solidFill>
              </a:rPr>
              <a:t>1</a:t>
            </a:r>
            <a:endParaRPr lang="en-US" altLang="zh-CN" b="1" baseline="-25000">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282"/>
                                        </p:tgtEl>
                                        <p:attrNameLst>
                                          <p:attrName>style.visibility</p:attrName>
                                        </p:attrNameLst>
                                      </p:cBhvr>
                                      <p:to>
                                        <p:strVal val="visible"/>
                                      </p:to>
                                    </p:set>
                                    <p:animEffect transition="in" filter="wipe(left)">
                                      <p:cBhvr>
                                        <p:cTn id="7" dur="500"/>
                                        <p:tgtEl>
                                          <p:spTgt spid="22528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5283"/>
                                        </p:tgtEl>
                                        <p:attrNameLst>
                                          <p:attrName>style.visibility</p:attrName>
                                        </p:attrNameLst>
                                      </p:cBhvr>
                                      <p:to>
                                        <p:strVal val="visible"/>
                                      </p:to>
                                    </p:set>
                                    <p:animEffect transition="in" filter="wipe(left)">
                                      <p:cBhvr>
                                        <p:cTn id="11" dur="500"/>
                                        <p:tgtEl>
                                          <p:spTgt spid="225283"/>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out)">
                                      <p:cBhvr>
                                        <p:cTn id="16" dur="500"/>
                                        <p:tgtEl>
                                          <p:spTgt spid="2"/>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225310"/>
                                        </p:tgtEl>
                                        <p:attrNameLst>
                                          <p:attrName>style.visibility</p:attrName>
                                        </p:attrNameLst>
                                      </p:cBhvr>
                                      <p:to>
                                        <p:strVal val="visible"/>
                                      </p:to>
                                    </p:set>
                                    <p:animEffect transition="in" filter="wipe(down)">
                                      <p:cBhvr>
                                        <p:cTn id="20" dur="500"/>
                                        <p:tgtEl>
                                          <p:spTgt spid="225310"/>
                                        </p:tgtEl>
                                      </p:cBhvr>
                                    </p:animEffect>
                                  </p:childTnLst>
                                </p:cTn>
                              </p:par>
                              <p:par>
                                <p:cTn id="21" presetID="2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par>
                          <p:cTn id="24" fill="hold">
                            <p:stCondLst>
                              <p:cond delay="1000"/>
                            </p:stCondLst>
                            <p:childTnLst>
                              <p:par>
                                <p:cTn id="25" presetID="22" presetClass="entr" presetSubtype="8"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25311"/>
                                        </p:tgtEl>
                                        <p:attrNameLst>
                                          <p:attrName>style.visibility</p:attrName>
                                        </p:attrNameLst>
                                      </p:cBhvr>
                                      <p:to>
                                        <p:strVal val="visible"/>
                                      </p:to>
                                    </p:set>
                                    <p:animEffect transition="in" filter="wipe(left)">
                                      <p:cBhvr>
                                        <p:cTn id="30" dur="500"/>
                                        <p:tgtEl>
                                          <p:spTgt spid="225311"/>
                                        </p:tgtEl>
                                      </p:cBhvr>
                                    </p:animEffect>
                                  </p:childTnLst>
                                </p:cTn>
                              </p:par>
                            </p:childTnLst>
                          </p:cTn>
                        </p:par>
                        <p:par>
                          <p:cTn id="31" fill="hold">
                            <p:stCondLst>
                              <p:cond delay="1500"/>
                            </p:stCondLst>
                            <p:childTnLst>
                              <p:par>
                                <p:cTn id="32" presetID="22" presetClass="entr" presetSubtype="1" fill="hold" grpId="0" nodeType="afterEffect">
                                  <p:stCondLst>
                                    <p:cond delay="0"/>
                                  </p:stCondLst>
                                  <p:childTnLst>
                                    <p:set>
                                      <p:cBhvr>
                                        <p:cTn id="33" dur="1" fill="hold">
                                          <p:stCondLst>
                                            <p:cond delay="0"/>
                                          </p:stCondLst>
                                        </p:cTn>
                                        <p:tgtEl>
                                          <p:spTgt spid="225312"/>
                                        </p:tgtEl>
                                        <p:attrNameLst>
                                          <p:attrName>style.visibility</p:attrName>
                                        </p:attrNameLst>
                                      </p:cBhvr>
                                      <p:to>
                                        <p:strVal val="visible"/>
                                      </p:to>
                                    </p:set>
                                    <p:animEffect transition="in" filter="wipe(up)">
                                      <p:cBhvr>
                                        <p:cTn id="34" dur="500"/>
                                        <p:tgtEl>
                                          <p:spTgt spid="225312"/>
                                        </p:tgtEl>
                                      </p:cBhvr>
                                    </p:animEffect>
                                  </p:childTnLst>
                                </p:cTn>
                              </p:par>
                              <p:par>
                                <p:cTn id="35" presetID="22" presetClass="entr" presetSubtype="1"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up)">
                                      <p:cBhvr>
                                        <p:cTn id="37" dur="500"/>
                                        <p:tgtEl>
                                          <p:spTgt spid="5"/>
                                        </p:tgtEl>
                                      </p:cBhvr>
                                    </p:animEffect>
                                  </p:childTnLst>
                                </p:cTn>
                              </p:par>
                            </p:childTnLst>
                          </p:cTn>
                        </p:par>
                        <p:par>
                          <p:cTn id="38" fill="hold">
                            <p:stCondLst>
                              <p:cond delay="2000"/>
                            </p:stCondLst>
                            <p:childTnLst>
                              <p:par>
                                <p:cTn id="39" presetID="22" presetClass="entr" presetSubtype="2" fill="hold" grpId="0" nodeType="afterEffect">
                                  <p:stCondLst>
                                    <p:cond delay="0"/>
                                  </p:stCondLst>
                                  <p:childTnLst>
                                    <p:set>
                                      <p:cBhvr>
                                        <p:cTn id="40" dur="1" fill="hold">
                                          <p:stCondLst>
                                            <p:cond delay="0"/>
                                          </p:stCondLst>
                                        </p:cTn>
                                        <p:tgtEl>
                                          <p:spTgt spid="225313"/>
                                        </p:tgtEl>
                                        <p:attrNameLst>
                                          <p:attrName>style.visibility</p:attrName>
                                        </p:attrNameLst>
                                      </p:cBhvr>
                                      <p:to>
                                        <p:strVal val="visible"/>
                                      </p:to>
                                    </p:set>
                                    <p:animEffect transition="in" filter="wipe(right)">
                                      <p:cBhvr>
                                        <p:cTn id="41" dur="500"/>
                                        <p:tgtEl>
                                          <p:spTgt spid="225313"/>
                                        </p:tgtEl>
                                      </p:cBhvr>
                                    </p:animEffect>
                                  </p:childTnLst>
                                </p:cTn>
                              </p:par>
                              <p:par>
                                <p:cTn id="42" presetID="22" presetClass="entr" presetSubtype="2" fill="hold"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right)">
                                      <p:cBhvr>
                                        <p:cTn id="44" dur="500"/>
                                        <p:tgtEl>
                                          <p:spTgt spid="6"/>
                                        </p:tgtEl>
                                      </p:cBhvr>
                                    </p:animEffect>
                                  </p:childTnLst>
                                </p:cTn>
                              </p:par>
                            </p:childTnLst>
                          </p:cTn>
                        </p:par>
                        <p:par>
                          <p:cTn id="45" fill="hold">
                            <p:stCondLst>
                              <p:cond delay="2500"/>
                            </p:stCondLst>
                            <p:childTnLst>
                              <p:par>
                                <p:cTn id="46" presetID="22" presetClass="entr" presetSubtype="4" fill="hold" grpId="0" nodeType="afterEffect">
                                  <p:stCondLst>
                                    <p:cond delay="0"/>
                                  </p:stCondLst>
                                  <p:childTnLst>
                                    <p:set>
                                      <p:cBhvr>
                                        <p:cTn id="47" dur="1" fill="hold">
                                          <p:stCondLst>
                                            <p:cond delay="0"/>
                                          </p:stCondLst>
                                        </p:cTn>
                                        <p:tgtEl>
                                          <p:spTgt spid="225293"/>
                                        </p:tgtEl>
                                        <p:attrNameLst>
                                          <p:attrName>style.visibility</p:attrName>
                                        </p:attrNameLst>
                                      </p:cBhvr>
                                      <p:to>
                                        <p:strVal val="visible"/>
                                      </p:to>
                                    </p:set>
                                    <p:animEffect transition="in" filter="wipe(down)">
                                      <p:cBhvr>
                                        <p:cTn id="48" dur="500"/>
                                        <p:tgtEl>
                                          <p:spTgt spid="225293"/>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225290"/>
                                        </p:tgtEl>
                                        <p:attrNameLst>
                                          <p:attrName>style.visibility</p:attrName>
                                        </p:attrNameLst>
                                      </p:cBhvr>
                                      <p:to>
                                        <p:strVal val="visible"/>
                                      </p:to>
                                    </p:set>
                                    <p:animEffect transition="in" filter="wipe(down)">
                                      <p:cBhvr>
                                        <p:cTn id="51" dur="500"/>
                                        <p:tgtEl>
                                          <p:spTgt spid="225290"/>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25291"/>
                                        </p:tgtEl>
                                        <p:attrNameLst>
                                          <p:attrName>style.visibility</p:attrName>
                                        </p:attrNameLst>
                                      </p:cBhvr>
                                      <p:to>
                                        <p:strVal val="visible"/>
                                      </p:to>
                                    </p:set>
                                    <p:animEffect transition="in" filter="wipe(down)">
                                      <p:cBhvr>
                                        <p:cTn id="54" dur="500"/>
                                        <p:tgtEl>
                                          <p:spTgt spid="225291"/>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225292"/>
                                        </p:tgtEl>
                                        <p:attrNameLst>
                                          <p:attrName>style.visibility</p:attrName>
                                        </p:attrNameLst>
                                      </p:cBhvr>
                                      <p:to>
                                        <p:strVal val="visible"/>
                                      </p:to>
                                    </p:set>
                                    <p:animEffect transition="in" filter="wipe(down)">
                                      <p:cBhvr>
                                        <p:cTn id="57" dur="500"/>
                                        <p:tgtEl>
                                          <p:spTgt spid="225292"/>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225309"/>
                                        </p:tgtEl>
                                        <p:attrNameLst>
                                          <p:attrName>style.visibility</p:attrName>
                                        </p:attrNameLst>
                                      </p:cBhvr>
                                      <p:to>
                                        <p:strVal val="visible"/>
                                      </p:to>
                                    </p:set>
                                    <p:animEffect transition="in" filter="wipe(down)">
                                      <p:cBhvr>
                                        <p:cTn id="60" dur="500"/>
                                        <p:tgtEl>
                                          <p:spTgt spid="225309"/>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25308"/>
                                        </p:tgtEl>
                                        <p:attrNameLst>
                                          <p:attrName>style.visibility</p:attrName>
                                        </p:attrNameLst>
                                      </p:cBhvr>
                                      <p:to>
                                        <p:strVal val="visible"/>
                                      </p:to>
                                    </p:set>
                                    <p:animEffect transition="in" filter="wipe(down)">
                                      <p:cBhvr>
                                        <p:cTn id="63" dur="500"/>
                                        <p:tgtEl>
                                          <p:spTgt spid="225308"/>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25306"/>
                                        </p:tgtEl>
                                        <p:attrNameLst>
                                          <p:attrName>style.visibility</p:attrName>
                                        </p:attrNameLst>
                                      </p:cBhvr>
                                      <p:to>
                                        <p:strVal val="visible"/>
                                      </p:to>
                                    </p:set>
                                    <p:animEffect transition="in" filter="wipe(down)">
                                      <p:cBhvr>
                                        <p:cTn id="66" dur="500"/>
                                        <p:tgtEl>
                                          <p:spTgt spid="225306"/>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25307"/>
                                        </p:tgtEl>
                                        <p:attrNameLst>
                                          <p:attrName>style.visibility</p:attrName>
                                        </p:attrNameLst>
                                      </p:cBhvr>
                                      <p:to>
                                        <p:strVal val="visible"/>
                                      </p:to>
                                    </p:set>
                                    <p:animEffect transition="in" filter="wipe(down)">
                                      <p:cBhvr>
                                        <p:cTn id="69" dur="500"/>
                                        <p:tgtEl>
                                          <p:spTgt spid="22530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25314"/>
                                        </p:tgtEl>
                                        <p:attrNameLst>
                                          <p:attrName>style.visibility</p:attrName>
                                        </p:attrNameLst>
                                      </p:cBhvr>
                                      <p:to>
                                        <p:strVal val="visible"/>
                                      </p:to>
                                    </p:set>
                                    <p:animEffect transition="in" filter="wipe(left)">
                                      <p:cBhvr>
                                        <p:cTn id="74" dur="500"/>
                                        <p:tgtEl>
                                          <p:spTgt spid="225314"/>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225315"/>
                                        </p:tgtEl>
                                        <p:attrNameLst>
                                          <p:attrName>style.visibility</p:attrName>
                                        </p:attrNameLst>
                                      </p:cBhvr>
                                      <p:to>
                                        <p:strVal val="visible"/>
                                      </p:to>
                                    </p:set>
                                    <p:animEffect transition="in" filter="wipe(left)">
                                      <p:cBhvr>
                                        <p:cTn id="78" dur="500"/>
                                        <p:tgtEl>
                                          <p:spTgt spid="22531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25316"/>
                                        </p:tgtEl>
                                        <p:attrNameLst>
                                          <p:attrName>style.visibility</p:attrName>
                                        </p:attrNameLst>
                                      </p:cBhvr>
                                      <p:to>
                                        <p:strVal val="visible"/>
                                      </p:to>
                                    </p:set>
                                    <p:animEffect transition="in" filter="wipe(left)">
                                      <p:cBhvr>
                                        <p:cTn id="83" dur="500"/>
                                        <p:tgtEl>
                                          <p:spTgt spid="22531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25317"/>
                                        </p:tgtEl>
                                        <p:attrNameLst>
                                          <p:attrName>style.visibility</p:attrName>
                                        </p:attrNameLst>
                                      </p:cBhvr>
                                      <p:to>
                                        <p:strVal val="visible"/>
                                      </p:to>
                                    </p:set>
                                    <p:animEffect transition="in" filter="wipe(left)">
                                      <p:cBhvr>
                                        <p:cTn id="88" dur="500"/>
                                        <p:tgtEl>
                                          <p:spTgt spid="225317"/>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25318"/>
                                        </p:tgtEl>
                                        <p:attrNameLst>
                                          <p:attrName>style.visibility</p:attrName>
                                        </p:attrNameLst>
                                      </p:cBhvr>
                                      <p:to>
                                        <p:strVal val="visible"/>
                                      </p:to>
                                    </p:set>
                                    <p:animEffect transition="in" filter="wipe(left)">
                                      <p:cBhvr>
                                        <p:cTn id="93" dur="500"/>
                                        <p:tgtEl>
                                          <p:spTgt spid="225318"/>
                                        </p:tgtEl>
                                      </p:cBhvr>
                                    </p:animEffect>
                                  </p:childTnLst>
                                </p:cTn>
                              </p:par>
                            </p:childTnLst>
                          </p:cTn>
                        </p:par>
                        <p:par>
                          <p:cTn id="94" fill="hold">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225319"/>
                                        </p:tgtEl>
                                        <p:attrNameLst>
                                          <p:attrName>style.visibility</p:attrName>
                                        </p:attrNameLst>
                                      </p:cBhvr>
                                      <p:to>
                                        <p:strVal val="visible"/>
                                      </p:to>
                                    </p:set>
                                    <p:animEffect transition="in" filter="wipe(left)">
                                      <p:cBhvr>
                                        <p:cTn id="97" dur="500"/>
                                        <p:tgtEl>
                                          <p:spTgt spid="225319"/>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225320"/>
                                        </p:tgtEl>
                                        <p:attrNameLst>
                                          <p:attrName>style.visibility</p:attrName>
                                        </p:attrNameLst>
                                      </p:cBhvr>
                                      <p:to>
                                        <p:strVal val="visible"/>
                                      </p:to>
                                    </p:set>
                                    <p:animEffect transition="in" filter="blinds(horizontal)">
                                      <p:cBhvr>
                                        <p:cTn id="102" dur="500"/>
                                        <p:tgtEl>
                                          <p:spTgt spid="225320"/>
                                        </p:tgtEl>
                                      </p:cBhvr>
                                    </p:animEffect>
                                  </p:childTnLst>
                                </p:cTn>
                              </p:par>
                            </p:childTnLst>
                          </p:cTn>
                        </p:par>
                        <p:par>
                          <p:cTn id="103" fill="hold">
                            <p:stCondLst>
                              <p:cond delay="500"/>
                            </p:stCondLst>
                            <p:childTnLst>
                              <p:par>
                                <p:cTn id="104" presetID="22" presetClass="entr" presetSubtype="8" fill="hold" grpId="0" nodeType="afterEffect">
                                  <p:stCondLst>
                                    <p:cond delay="0"/>
                                  </p:stCondLst>
                                  <p:childTnLst>
                                    <p:set>
                                      <p:cBhvr>
                                        <p:cTn id="105" dur="1" fill="hold">
                                          <p:stCondLst>
                                            <p:cond delay="0"/>
                                          </p:stCondLst>
                                        </p:cTn>
                                        <p:tgtEl>
                                          <p:spTgt spid="225321"/>
                                        </p:tgtEl>
                                        <p:attrNameLst>
                                          <p:attrName>style.visibility</p:attrName>
                                        </p:attrNameLst>
                                      </p:cBhvr>
                                      <p:to>
                                        <p:strVal val="visible"/>
                                      </p:to>
                                    </p:set>
                                    <p:animEffect transition="in" filter="wipe(left)">
                                      <p:cBhvr>
                                        <p:cTn id="106" dur="500"/>
                                        <p:tgtEl>
                                          <p:spTgt spid="225321"/>
                                        </p:tgtEl>
                                      </p:cBhvr>
                                    </p:animEffect>
                                  </p:childTnLst>
                                </p:cTn>
                              </p:par>
                            </p:childTnLst>
                          </p:cTn>
                        </p:par>
                        <p:par>
                          <p:cTn id="107" fill="hold">
                            <p:stCondLst>
                              <p:cond delay="1000"/>
                            </p:stCondLst>
                            <p:childTnLst>
                              <p:par>
                                <p:cTn id="108" presetID="22" presetClass="entr" presetSubtype="8" fill="hold" grpId="0" nodeType="afterEffect">
                                  <p:stCondLst>
                                    <p:cond delay="0"/>
                                  </p:stCondLst>
                                  <p:childTnLst>
                                    <p:set>
                                      <p:cBhvr>
                                        <p:cTn id="109" dur="1" fill="hold">
                                          <p:stCondLst>
                                            <p:cond delay="0"/>
                                          </p:stCondLst>
                                        </p:cTn>
                                        <p:tgtEl>
                                          <p:spTgt spid="225322"/>
                                        </p:tgtEl>
                                        <p:attrNameLst>
                                          <p:attrName>style.visibility</p:attrName>
                                        </p:attrNameLst>
                                      </p:cBhvr>
                                      <p:to>
                                        <p:strVal val="visible"/>
                                      </p:to>
                                    </p:set>
                                    <p:animEffect transition="in" filter="wipe(left)">
                                      <p:cBhvr>
                                        <p:cTn id="110" dur="500"/>
                                        <p:tgtEl>
                                          <p:spTgt spid="225322"/>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25323"/>
                                        </p:tgtEl>
                                        <p:attrNameLst>
                                          <p:attrName>style.visibility</p:attrName>
                                        </p:attrNameLst>
                                      </p:cBhvr>
                                      <p:to>
                                        <p:strVal val="visible"/>
                                      </p:to>
                                    </p:set>
                                    <p:animEffect transition="in" filter="wipe(left)">
                                      <p:cBhvr>
                                        <p:cTn id="115" dur="500"/>
                                        <p:tgtEl>
                                          <p:spTgt spid="225323"/>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225324"/>
                                        </p:tgtEl>
                                        <p:attrNameLst>
                                          <p:attrName>style.visibility</p:attrName>
                                        </p:attrNameLst>
                                      </p:cBhvr>
                                      <p:to>
                                        <p:strVal val="visible"/>
                                      </p:to>
                                    </p:set>
                                    <p:animEffect transition="in" filter="wipe(left)">
                                      <p:cBhvr>
                                        <p:cTn id="119" dur="500"/>
                                        <p:tgtEl>
                                          <p:spTgt spid="225324"/>
                                        </p:tgtEl>
                                      </p:cBhvr>
                                    </p:animEffect>
                                  </p:childTnLst>
                                </p:cTn>
                              </p:par>
                            </p:childTnLst>
                          </p:cTn>
                        </p:par>
                        <p:par>
                          <p:cTn id="120" fill="hold">
                            <p:stCondLst>
                              <p:cond delay="1000"/>
                            </p:stCondLst>
                            <p:childTnLst>
                              <p:par>
                                <p:cTn id="121" presetID="3" presetClass="entr" presetSubtype="10" fill="hold" grpId="0" nodeType="afterEffect">
                                  <p:stCondLst>
                                    <p:cond delay="0"/>
                                  </p:stCondLst>
                                  <p:childTnLst>
                                    <p:set>
                                      <p:cBhvr>
                                        <p:cTn id="122" dur="1" fill="hold">
                                          <p:stCondLst>
                                            <p:cond delay="0"/>
                                          </p:stCondLst>
                                        </p:cTn>
                                        <p:tgtEl>
                                          <p:spTgt spid="225325"/>
                                        </p:tgtEl>
                                        <p:attrNameLst>
                                          <p:attrName>style.visibility</p:attrName>
                                        </p:attrNameLst>
                                      </p:cBhvr>
                                      <p:to>
                                        <p:strVal val="visible"/>
                                      </p:to>
                                    </p:set>
                                    <p:animEffect transition="in" filter="blinds(horizontal)">
                                      <p:cBhvr>
                                        <p:cTn id="123" dur="500"/>
                                        <p:tgtEl>
                                          <p:spTgt spid="225325"/>
                                        </p:tgtEl>
                                      </p:cBhvr>
                                    </p:animEffect>
                                  </p:childTnLst>
                                </p:cTn>
                              </p:par>
                            </p:childTnLst>
                          </p:cTn>
                        </p:par>
                        <p:par>
                          <p:cTn id="124" fill="hold">
                            <p:stCondLst>
                              <p:cond delay="1500"/>
                            </p:stCondLst>
                            <p:childTnLst>
                              <p:par>
                                <p:cTn id="125" presetID="22" presetClass="entr" presetSubtype="8" fill="hold" grpId="0" nodeType="afterEffect">
                                  <p:stCondLst>
                                    <p:cond delay="0"/>
                                  </p:stCondLst>
                                  <p:childTnLst>
                                    <p:set>
                                      <p:cBhvr>
                                        <p:cTn id="126" dur="1" fill="hold">
                                          <p:stCondLst>
                                            <p:cond delay="0"/>
                                          </p:stCondLst>
                                        </p:cTn>
                                        <p:tgtEl>
                                          <p:spTgt spid="225326"/>
                                        </p:tgtEl>
                                        <p:attrNameLst>
                                          <p:attrName>style.visibility</p:attrName>
                                        </p:attrNameLst>
                                      </p:cBhvr>
                                      <p:to>
                                        <p:strVal val="visible"/>
                                      </p:to>
                                    </p:set>
                                    <p:animEffect transition="in" filter="wipe(left)">
                                      <p:cBhvr>
                                        <p:cTn id="127" dur="500"/>
                                        <p:tgtEl>
                                          <p:spTgt spid="225326"/>
                                        </p:tgtEl>
                                      </p:cBhvr>
                                    </p:animEffect>
                                  </p:childTnLst>
                                </p:cTn>
                              </p:par>
                            </p:childTnLst>
                          </p:cTn>
                        </p:par>
                        <p:par>
                          <p:cTn id="128" fill="hold">
                            <p:stCondLst>
                              <p:cond delay="2000"/>
                            </p:stCondLst>
                            <p:childTnLst>
                              <p:par>
                                <p:cTn id="129" presetID="22" presetClass="entr" presetSubtype="8" fill="hold" grpId="0" nodeType="afterEffect">
                                  <p:stCondLst>
                                    <p:cond delay="0"/>
                                  </p:stCondLst>
                                  <p:childTnLst>
                                    <p:set>
                                      <p:cBhvr>
                                        <p:cTn id="130" dur="1" fill="hold">
                                          <p:stCondLst>
                                            <p:cond delay="0"/>
                                          </p:stCondLst>
                                        </p:cTn>
                                        <p:tgtEl>
                                          <p:spTgt spid="225327"/>
                                        </p:tgtEl>
                                        <p:attrNameLst>
                                          <p:attrName>style.visibility</p:attrName>
                                        </p:attrNameLst>
                                      </p:cBhvr>
                                      <p:to>
                                        <p:strVal val="visible"/>
                                      </p:to>
                                    </p:set>
                                    <p:animEffect transition="in" filter="wipe(left)">
                                      <p:cBhvr>
                                        <p:cTn id="131" dur="500"/>
                                        <p:tgtEl>
                                          <p:spTgt spid="225327"/>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225328"/>
                                        </p:tgtEl>
                                        <p:attrNameLst>
                                          <p:attrName>style.visibility</p:attrName>
                                        </p:attrNameLst>
                                      </p:cBhvr>
                                      <p:to>
                                        <p:strVal val="visible"/>
                                      </p:to>
                                    </p:set>
                                    <p:animEffect transition="in" filter="wipe(left)">
                                      <p:cBhvr>
                                        <p:cTn id="136" dur="500"/>
                                        <p:tgtEl>
                                          <p:spTgt spid="225328"/>
                                        </p:tgtEl>
                                      </p:cBhvr>
                                    </p:animEffect>
                                  </p:childTnLst>
                                </p:cTn>
                              </p:par>
                            </p:childTnLst>
                          </p:cTn>
                        </p:par>
                        <p:par>
                          <p:cTn id="137" fill="hold">
                            <p:stCondLst>
                              <p:cond delay="500"/>
                            </p:stCondLst>
                            <p:childTnLst>
                              <p:par>
                                <p:cTn id="138" presetID="22" presetClass="entr" presetSubtype="8" fill="hold" grpId="0" nodeType="afterEffect">
                                  <p:stCondLst>
                                    <p:cond delay="0"/>
                                  </p:stCondLst>
                                  <p:childTnLst>
                                    <p:set>
                                      <p:cBhvr>
                                        <p:cTn id="139" dur="1" fill="hold">
                                          <p:stCondLst>
                                            <p:cond delay="0"/>
                                          </p:stCondLst>
                                        </p:cTn>
                                        <p:tgtEl>
                                          <p:spTgt spid="225329"/>
                                        </p:tgtEl>
                                        <p:attrNameLst>
                                          <p:attrName>style.visibility</p:attrName>
                                        </p:attrNameLst>
                                      </p:cBhvr>
                                      <p:to>
                                        <p:strVal val="visible"/>
                                      </p:to>
                                    </p:set>
                                    <p:animEffect transition="in" filter="wipe(left)">
                                      <p:cBhvr>
                                        <p:cTn id="140" dur="500"/>
                                        <p:tgtEl>
                                          <p:spTgt spid="225329"/>
                                        </p:tgtEl>
                                      </p:cBhvr>
                                    </p:animEffect>
                                  </p:childTnLst>
                                </p:cTn>
                              </p:par>
                            </p:childTnLst>
                          </p:cTn>
                        </p:par>
                        <p:par>
                          <p:cTn id="141" fill="hold">
                            <p:stCondLst>
                              <p:cond delay="1000"/>
                            </p:stCondLst>
                            <p:childTnLst>
                              <p:par>
                                <p:cTn id="142" presetID="3" presetClass="entr" presetSubtype="10" fill="hold" grpId="0" nodeType="afterEffect">
                                  <p:stCondLst>
                                    <p:cond delay="0"/>
                                  </p:stCondLst>
                                  <p:childTnLst>
                                    <p:set>
                                      <p:cBhvr>
                                        <p:cTn id="143" dur="1" fill="hold">
                                          <p:stCondLst>
                                            <p:cond delay="0"/>
                                          </p:stCondLst>
                                        </p:cTn>
                                        <p:tgtEl>
                                          <p:spTgt spid="225330"/>
                                        </p:tgtEl>
                                        <p:attrNameLst>
                                          <p:attrName>style.visibility</p:attrName>
                                        </p:attrNameLst>
                                      </p:cBhvr>
                                      <p:to>
                                        <p:strVal val="visible"/>
                                      </p:to>
                                    </p:set>
                                    <p:animEffect transition="in" filter="blinds(horizontal)">
                                      <p:cBhvr>
                                        <p:cTn id="144" dur="500"/>
                                        <p:tgtEl>
                                          <p:spTgt spid="225330"/>
                                        </p:tgtEl>
                                      </p:cBhvr>
                                    </p:animEffect>
                                  </p:childTnLst>
                                </p:cTn>
                              </p:par>
                            </p:childTnLst>
                          </p:cTn>
                        </p:par>
                        <p:par>
                          <p:cTn id="145" fill="hold">
                            <p:stCondLst>
                              <p:cond delay="1500"/>
                            </p:stCondLst>
                            <p:childTnLst>
                              <p:par>
                                <p:cTn id="146" presetID="22" presetClass="entr" presetSubtype="8" fill="hold" grpId="0" nodeType="afterEffect">
                                  <p:stCondLst>
                                    <p:cond delay="0"/>
                                  </p:stCondLst>
                                  <p:childTnLst>
                                    <p:set>
                                      <p:cBhvr>
                                        <p:cTn id="147" dur="1" fill="hold">
                                          <p:stCondLst>
                                            <p:cond delay="0"/>
                                          </p:stCondLst>
                                        </p:cTn>
                                        <p:tgtEl>
                                          <p:spTgt spid="225331"/>
                                        </p:tgtEl>
                                        <p:attrNameLst>
                                          <p:attrName>style.visibility</p:attrName>
                                        </p:attrNameLst>
                                      </p:cBhvr>
                                      <p:to>
                                        <p:strVal val="visible"/>
                                      </p:to>
                                    </p:set>
                                    <p:animEffect transition="in" filter="wipe(left)">
                                      <p:cBhvr>
                                        <p:cTn id="148" dur="500"/>
                                        <p:tgtEl>
                                          <p:spTgt spid="225331"/>
                                        </p:tgtEl>
                                      </p:cBhvr>
                                    </p:animEffect>
                                  </p:childTnLst>
                                </p:cTn>
                              </p:par>
                            </p:childTnLst>
                          </p:cTn>
                        </p:par>
                        <p:par>
                          <p:cTn id="149" fill="hold">
                            <p:stCondLst>
                              <p:cond delay="2000"/>
                            </p:stCondLst>
                            <p:childTnLst>
                              <p:par>
                                <p:cTn id="150" presetID="22" presetClass="entr" presetSubtype="8" fill="hold" grpId="0" nodeType="afterEffect">
                                  <p:stCondLst>
                                    <p:cond delay="0"/>
                                  </p:stCondLst>
                                  <p:childTnLst>
                                    <p:set>
                                      <p:cBhvr>
                                        <p:cTn id="151" dur="1" fill="hold">
                                          <p:stCondLst>
                                            <p:cond delay="0"/>
                                          </p:stCondLst>
                                        </p:cTn>
                                        <p:tgtEl>
                                          <p:spTgt spid="225332"/>
                                        </p:tgtEl>
                                        <p:attrNameLst>
                                          <p:attrName>style.visibility</p:attrName>
                                        </p:attrNameLst>
                                      </p:cBhvr>
                                      <p:to>
                                        <p:strVal val="visible"/>
                                      </p:to>
                                    </p:set>
                                    <p:animEffect transition="in" filter="wipe(left)">
                                      <p:cBhvr>
                                        <p:cTn id="152" dur="500"/>
                                        <p:tgtEl>
                                          <p:spTgt spid="225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2" grpId="0"/>
      <p:bldP spid="225283" grpId="0"/>
      <p:bldP spid="225290" grpId="0" animBg="1"/>
      <p:bldP spid="225291" grpId="0" animBg="1"/>
      <p:bldP spid="225292" grpId="0" animBg="1"/>
      <p:bldP spid="225293" grpId="0" animBg="1"/>
      <p:bldP spid="225306" grpId="0"/>
      <p:bldP spid="225307" grpId="0"/>
      <p:bldP spid="225308" grpId="0"/>
      <p:bldP spid="225309" grpId="0"/>
      <p:bldP spid="225310" grpId="0"/>
      <p:bldP spid="225311" grpId="0"/>
      <p:bldP spid="225312" grpId="0"/>
      <p:bldP spid="225313" grpId="0"/>
      <p:bldP spid="225314" grpId="0"/>
      <p:bldP spid="225315" grpId="0"/>
      <p:bldP spid="225316" grpId="0"/>
      <p:bldP spid="225317" grpId="0"/>
      <p:bldP spid="225318" grpId="0"/>
      <p:bldP spid="225319" grpId="0"/>
      <p:bldP spid="225320" grpId="0" animBg="1"/>
      <p:bldP spid="225321" grpId="0" animBg="1"/>
      <p:bldP spid="225322" grpId="0"/>
      <p:bldP spid="225323" grpId="0"/>
      <p:bldP spid="225324" grpId="0"/>
      <p:bldP spid="225325" grpId="0" animBg="1"/>
      <p:bldP spid="225326" grpId="0" animBg="1"/>
      <p:bldP spid="225327" grpId="0"/>
      <p:bldP spid="225328" grpId="0"/>
      <p:bldP spid="225329" grpId="0"/>
      <p:bldP spid="225330" grpId="0" animBg="1"/>
      <p:bldP spid="225331" grpId="0" animBg="1"/>
      <p:bldP spid="22533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93" name="Group 2"/>
          <p:cNvGrpSpPr/>
          <p:nvPr/>
        </p:nvGrpSpPr>
        <p:grpSpPr bwMode="auto">
          <a:xfrm>
            <a:off x="6464300" y="2349500"/>
            <a:ext cx="2376488" cy="2024063"/>
            <a:chOff x="4150" y="1752"/>
            <a:chExt cx="1497" cy="1275"/>
          </a:xfrm>
        </p:grpSpPr>
        <p:sp>
          <p:nvSpPr>
            <p:cNvPr id="45098" name="Line 3"/>
            <p:cNvSpPr>
              <a:spLocks noChangeShapeType="1"/>
            </p:cNvSpPr>
            <p:nvPr/>
          </p:nvSpPr>
          <p:spPr bwMode="auto">
            <a:xfrm flipV="1">
              <a:off x="4377" y="1842"/>
              <a:ext cx="0" cy="908"/>
            </a:xfrm>
            <a:prstGeom prst="line">
              <a:avLst/>
            </a:prstGeom>
            <a:noFill/>
            <a:ln w="38100">
              <a:solidFill>
                <a:srgbClr val="000099"/>
              </a:solidFill>
              <a:round/>
              <a:tailEnd type="triangle" w="med" len="med"/>
            </a:ln>
          </p:spPr>
          <p:txBody>
            <a:bodyPr/>
            <a:lstStyle/>
            <a:p>
              <a:pPr>
                <a:defRPr/>
              </a:pPr>
              <a:endParaRPr lang="zh-CN" altLang="en-US">
                <a:ea typeface="+mn-ea"/>
                <a:cs typeface="Times New Roman" panose="02020603050405020304" pitchFamily="18" charset="0"/>
              </a:endParaRPr>
            </a:p>
          </p:txBody>
        </p:sp>
        <p:sp>
          <p:nvSpPr>
            <p:cNvPr id="45099" name="Line 4"/>
            <p:cNvSpPr>
              <a:spLocks noChangeShapeType="1"/>
            </p:cNvSpPr>
            <p:nvPr/>
          </p:nvSpPr>
          <p:spPr bwMode="auto">
            <a:xfrm>
              <a:off x="4365" y="2750"/>
              <a:ext cx="1043" cy="0"/>
            </a:xfrm>
            <a:prstGeom prst="line">
              <a:avLst/>
            </a:prstGeom>
            <a:noFill/>
            <a:ln w="38100">
              <a:solidFill>
                <a:srgbClr val="000099"/>
              </a:solidFill>
              <a:round/>
              <a:tailEnd type="triangle" w="med" len="med"/>
            </a:ln>
          </p:spPr>
          <p:txBody>
            <a:bodyPr/>
            <a:lstStyle/>
            <a:p>
              <a:pPr>
                <a:defRPr/>
              </a:pPr>
              <a:endParaRPr lang="zh-CN" altLang="en-US">
                <a:ea typeface="+mn-ea"/>
                <a:cs typeface="Times New Roman" panose="02020603050405020304" pitchFamily="18" charset="0"/>
              </a:endParaRPr>
            </a:p>
          </p:txBody>
        </p:sp>
        <p:sp>
          <p:nvSpPr>
            <p:cNvPr id="45100" name="Text Box 5"/>
            <p:cNvSpPr txBox="1">
              <a:spLocks noChangeArrowheads="1"/>
            </p:cNvSpPr>
            <p:nvPr/>
          </p:nvSpPr>
          <p:spPr bwMode="auto">
            <a:xfrm>
              <a:off x="4150" y="2704"/>
              <a:ext cx="408" cy="323"/>
            </a:xfrm>
            <a:prstGeom prst="rect">
              <a:avLst/>
            </a:prstGeom>
            <a:noFill/>
            <a:ln w="9525">
              <a:noFill/>
              <a:miter lim="800000"/>
            </a:ln>
          </p:spPr>
          <p:txBody>
            <a:bodyPr>
              <a:spAutoFit/>
            </a:bodyPr>
            <a:lstStyle/>
            <a:p>
              <a:pPr>
                <a:lnSpc>
                  <a:spcPct val="115000"/>
                </a:lnSpc>
                <a:defRPr/>
              </a:pPr>
              <a:r>
                <a:rPr lang="en-US" altLang="zh-CN" b="1" i="1">
                  <a:solidFill>
                    <a:srgbClr val="000099"/>
                  </a:solidFill>
                  <a:ea typeface="+mn-ea"/>
                  <a:cs typeface="Times New Roman" panose="02020603050405020304" pitchFamily="18" charset="0"/>
                </a:rPr>
                <a:t>O</a:t>
              </a:r>
              <a:endParaRPr lang="en-US" altLang="zh-CN" b="1" i="1">
                <a:solidFill>
                  <a:srgbClr val="000099"/>
                </a:solidFill>
                <a:ea typeface="+mn-ea"/>
                <a:cs typeface="Times New Roman" panose="02020603050405020304" pitchFamily="18" charset="0"/>
              </a:endParaRPr>
            </a:p>
          </p:txBody>
        </p:sp>
        <p:sp>
          <p:nvSpPr>
            <p:cNvPr id="45101" name="Text Box 6"/>
            <p:cNvSpPr txBox="1">
              <a:spLocks noChangeArrowheads="1"/>
            </p:cNvSpPr>
            <p:nvPr/>
          </p:nvSpPr>
          <p:spPr bwMode="auto">
            <a:xfrm>
              <a:off x="4150" y="1752"/>
              <a:ext cx="272" cy="323"/>
            </a:xfrm>
            <a:prstGeom prst="rect">
              <a:avLst/>
            </a:prstGeom>
            <a:noFill/>
            <a:ln w="9525">
              <a:noFill/>
              <a:miter lim="800000"/>
            </a:ln>
          </p:spPr>
          <p:txBody>
            <a:bodyPr>
              <a:spAutoFit/>
            </a:bodyPr>
            <a:lstStyle/>
            <a:p>
              <a:pPr>
                <a:lnSpc>
                  <a:spcPct val="115000"/>
                </a:lnSpc>
                <a:defRPr/>
              </a:pPr>
              <a:r>
                <a:rPr lang="en-US" altLang="zh-CN" b="1" i="1">
                  <a:solidFill>
                    <a:srgbClr val="000099"/>
                  </a:solidFill>
                  <a:ea typeface="+mn-ea"/>
                  <a:cs typeface="Times New Roman" panose="02020603050405020304" pitchFamily="18" charset="0"/>
                </a:rPr>
                <a:t>p</a:t>
              </a:r>
              <a:endParaRPr lang="en-US" altLang="zh-CN" b="1" i="1">
                <a:solidFill>
                  <a:srgbClr val="000099"/>
                </a:solidFill>
                <a:ea typeface="+mn-ea"/>
                <a:cs typeface="Times New Roman" panose="02020603050405020304" pitchFamily="18" charset="0"/>
              </a:endParaRPr>
            </a:p>
          </p:txBody>
        </p:sp>
        <p:sp>
          <p:nvSpPr>
            <p:cNvPr id="45102" name="Text Box 7"/>
            <p:cNvSpPr txBox="1">
              <a:spLocks noChangeArrowheads="1"/>
            </p:cNvSpPr>
            <p:nvPr/>
          </p:nvSpPr>
          <p:spPr bwMode="auto">
            <a:xfrm>
              <a:off x="5329" y="2704"/>
              <a:ext cx="318" cy="323"/>
            </a:xfrm>
            <a:prstGeom prst="rect">
              <a:avLst/>
            </a:prstGeom>
            <a:noFill/>
            <a:ln w="9525">
              <a:noFill/>
              <a:miter lim="800000"/>
            </a:ln>
          </p:spPr>
          <p:txBody>
            <a:bodyPr>
              <a:spAutoFit/>
            </a:bodyPr>
            <a:lstStyle/>
            <a:p>
              <a:pPr>
                <a:lnSpc>
                  <a:spcPct val="115000"/>
                </a:lnSpc>
                <a:defRPr/>
              </a:pPr>
              <a:r>
                <a:rPr lang="en-US" altLang="zh-CN" b="1" i="1">
                  <a:solidFill>
                    <a:srgbClr val="000099"/>
                  </a:solidFill>
                  <a:ea typeface="+mn-ea"/>
                  <a:cs typeface="Times New Roman" panose="02020603050405020304" pitchFamily="18" charset="0"/>
                </a:rPr>
                <a:t>V</a:t>
              </a:r>
              <a:endParaRPr lang="en-US" altLang="zh-CN" b="1" i="1">
                <a:solidFill>
                  <a:srgbClr val="000099"/>
                </a:solidFill>
                <a:ea typeface="+mn-ea"/>
                <a:cs typeface="Times New Roman" panose="02020603050405020304" pitchFamily="18" charset="0"/>
              </a:endParaRPr>
            </a:p>
          </p:txBody>
        </p:sp>
      </p:grpSp>
      <p:sp>
        <p:nvSpPr>
          <p:cNvPr id="45070" name="Line 8"/>
          <p:cNvSpPr>
            <a:spLocks noChangeShapeType="1"/>
          </p:cNvSpPr>
          <p:nvPr/>
        </p:nvSpPr>
        <p:spPr bwMode="auto">
          <a:xfrm>
            <a:off x="7308850" y="3284538"/>
            <a:ext cx="0" cy="649287"/>
          </a:xfrm>
          <a:prstGeom prst="line">
            <a:avLst/>
          </a:prstGeom>
          <a:noFill/>
          <a:ln w="9525">
            <a:solidFill>
              <a:srgbClr val="000099"/>
            </a:solidFill>
            <a:prstDash val="dash"/>
            <a:round/>
          </a:ln>
        </p:spPr>
        <p:txBody>
          <a:bodyPr/>
          <a:lstStyle/>
          <a:p>
            <a:pPr>
              <a:defRPr/>
            </a:pPr>
            <a:endParaRPr lang="zh-CN" altLang="en-US">
              <a:ea typeface="+mn-ea"/>
              <a:cs typeface="Times New Roman" panose="02020603050405020304" pitchFamily="18" charset="0"/>
            </a:endParaRPr>
          </a:p>
        </p:txBody>
      </p:sp>
      <p:sp>
        <p:nvSpPr>
          <p:cNvPr id="45071" name="Line 9"/>
          <p:cNvSpPr>
            <a:spLocks noChangeShapeType="1"/>
          </p:cNvSpPr>
          <p:nvPr/>
        </p:nvSpPr>
        <p:spPr bwMode="auto">
          <a:xfrm>
            <a:off x="7904163" y="3357563"/>
            <a:ext cx="0" cy="576262"/>
          </a:xfrm>
          <a:prstGeom prst="line">
            <a:avLst/>
          </a:prstGeom>
          <a:noFill/>
          <a:ln w="9525">
            <a:solidFill>
              <a:srgbClr val="000099"/>
            </a:solidFill>
            <a:prstDash val="dash"/>
            <a:round/>
          </a:ln>
        </p:spPr>
        <p:txBody>
          <a:bodyPr/>
          <a:lstStyle/>
          <a:p>
            <a:pPr>
              <a:defRPr/>
            </a:pPr>
            <a:endParaRPr lang="zh-CN" altLang="en-US">
              <a:ea typeface="+mn-ea"/>
              <a:cs typeface="Times New Roman" panose="02020603050405020304" pitchFamily="18" charset="0"/>
            </a:endParaRPr>
          </a:p>
        </p:txBody>
      </p:sp>
      <p:sp>
        <p:nvSpPr>
          <p:cNvPr id="45072" name="Line 10"/>
          <p:cNvSpPr>
            <a:spLocks noChangeShapeType="1"/>
          </p:cNvSpPr>
          <p:nvPr/>
        </p:nvSpPr>
        <p:spPr bwMode="auto">
          <a:xfrm rot="-5400000">
            <a:off x="7112794" y="2564607"/>
            <a:ext cx="0" cy="576262"/>
          </a:xfrm>
          <a:prstGeom prst="line">
            <a:avLst/>
          </a:prstGeom>
          <a:noFill/>
          <a:ln w="9525">
            <a:solidFill>
              <a:srgbClr val="000099"/>
            </a:solidFill>
            <a:prstDash val="dash"/>
            <a:round/>
          </a:ln>
        </p:spPr>
        <p:txBody>
          <a:bodyPr/>
          <a:lstStyle/>
          <a:p>
            <a:pPr>
              <a:defRPr/>
            </a:pPr>
            <a:endParaRPr lang="zh-CN" altLang="en-US">
              <a:ea typeface="+mn-ea"/>
              <a:cs typeface="Times New Roman" panose="02020603050405020304" pitchFamily="18" charset="0"/>
            </a:endParaRPr>
          </a:p>
        </p:txBody>
      </p:sp>
      <p:sp>
        <p:nvSpPr>
          <p:cNvPr id="45073" name="Line 11"/>
          <p:cNvSpPr>
            <a:spLocks noChangeShapeType="1"/>
          </p:cNvSpPr>
          <p:nvPr/>
        </p:nvSpPr>
        <p:spPr bwMode="auto">
          <a:xfrm rot="-5400000">
            <a:off x="7112794" y="3140869"/>
            <a:ext cx="0" cy="576262"/>
          </a:xfrm>
          <a:prstGeom prst="line">
            <a:avLst/>
          </a:prstGeom>
          <a:noFill/>
          <a:ln w="9525">
            <a:solidFill>
              <a:srgbClr val="000099"/>
            </a:solidFill>
            <a:prstDash val="dash"/>
            <a:round/>
          </a:ln>
        </p:spPr>
        <p:txBody>
          <a:bodyPr/>
          <a:lstStyle/>
          <a:p>
            <a:pPr>
              <a:defRPr/>
            </a:pPr>
            <a:endParaRPr lang="zh-CN" altLang="en-US">
              <a:ea typeface="+mn-ea"/>
              <a:cs typeface="Times New Roman" panose="02020603050405020304" pitchFamily="18" charset="0"/>
            </a:endParaRPr>
          </a:p>
        </p:txBody>
      </p:sp>
      <p:grpSp>
        <p:nvGrpSpPr>
          <p:cNvPr id="3" name="Group 12"/>
          <p:cNvGrpSpPr/>
          <p:nvPr/>
        </p:nvGrpSpPr>
        <p:grpSpPr bwMode="auto">
          <a:xfrm>
            <a:off x="7308850" y="2852738"/>
            <a:ext cx="4763" cy="576262"/>
            <a:chOff x="4694" y="2069"/>
            <a:chExt cx="3" cy="363"/>
          </a:xfrm>
        </p:grpSpPr>
        <p:sp>
          <p:nvSpPr>
            <p:cNvPr id="45096" name="Line 13"/>
            <p:cNvSpPr>
              <a:spLocks noChangeShapeType="1"/>
            </p:cNvSpPr>
            <p:nvPr/>
          </p:nvSpPr>
          <p:spPr bwMode="auto">
            <a:xfrm flipV="1">
              <a:off x="4697" y="2069"/>
              <a:ext cx="0" cy="363"/>
            </a:xfrm>
            <a:prstGeom prst="line">
              <a:avLst/>
            </a:prstGeom>
            <a:noFill/>
            <a:ln w="38100">
              <a:solidFill>
                <a:srgbClr val="800000"/>
              </a:solidFill>
              <a:round/>
            </a:ln>
          </p:spPr>
          <p:txBody>
            <a:bodyPr/>
            <a:lstStyle/>
            <a:p>
              <a:pPr>
                <a:defRPr/>
              </a:pPr>
              <a:endParaRPr lang="zh-CN" altLang="en-US">
                <a:ea typeface="+mn-ea"/>
                <a:cs typeface="Times New Roman" panose="02020603050405020304" pitchFamily="18" charset="0"/>
              </a:endParaRPr>
            </a:p>
          </p:txBody>
        </p:sp>
        <p:sp>
          <p:nvSpPr>
            <p:cNvPr id="45097" name="Line 14"/>
            <p:cNvSpPr>
              <a:spLocks noChangeShapeType="1"/>
            </p:cNvSpPr>
            <p:nvPr/>
          </p:nvSpPr>
          <p:spPr bwMode="auto">
            <a:xfrm flipV="1">
              <a:off x="4694" y="2251"/>
              <a:ext cx="0" cy="45"/>
            </a:xfrm>
            <a:prstGeom prst="line">
              <a:avLst/>
            </a:prstGeom>
            <a:noFill/>
            <a:ln w="38100">
              <a:solidFill>
                <a:srgbClr val="800000"/>
              </a:solidFill>
              <a:round/>
              <a:tailEnd type="triangle" w="med" len="med"/>
            </a:ln>
          </p:spPr>
          <p:txBody>
            <a:bodyPr/>
            <a:lstStyle/>
            <a:p>
              <a:pPr>
                <a:defRPr/>
              </a:pPr>
              <a:endParaRPr lang="zh-CN" altLang="en-US">
                <a:ea typeface="+mn-ea"/>
                <a:cs typeface="Times New Roman" panose="02020603050405020304" pitchFamily="18" charset="0"/>
              </a:endParaRPr>
            </a:p>
          </p:txBody>
        </p:sp>
      </p:grpSp>
      <p:grpSp>
        <p:nvGrpSpPr>
          <p:cNvPr id="4" name="Group 15"/>
          <p:cNvGrpSpPr/>
          <p:nvPr/>
        </p:nvGrpSpPr>
        <p:grpSpPr bwMode="auto">
          <a:xfrm rot="5400000">
            <a:off x="7594601" y="2566987"/>
            <a:ext cx="4762" cy="576263"/>
            <a:chOff x="4694" y="2069"/>
            <a:chExt cx="3" cy="363"/>
          </a:xfrm>
        </p:grpSpPr>
        <p:sp>
          <p:nvSpPr>
            <p:cNvPr id="45094" name="Line 16"/>
            <p:cNvSpPr>
              <a:spLocks noChangeShapeType="1"/>
            </p:cNvSpPr>
            <p:nvPr/>
          </p:nvSpPr>
          <p:spPr bwMode="auto">
            <a:xfrm flipV="1">
              <a:off x="4697" y="2069"/>
              <a:ext cx="0" cy="363"/>
            </a:xfrm>
            <a:prstGeom prst="line">
              <a:avLst/>
            </a:prstGeom>
            <a:noFill/>
            <a:ln w="38100">
              <a:solidFill>
                <a:srgbClr val="800000"/>
              </a:solidFill>
              <a:round/>
            </a:ln>
          </p:spPr>
          <p:txBody>
            <a:bodyPr/>
            <a:lstStyle/>
            <a:p>
              <a:pPr>
                <a:defRPr/>
              </a:pPr>
              <a:endParaRPr lang="zh-CN" altLang="en-US">
                <a:ea typeface="+mn-ea"/>
                <a:cs typeface="Times New Roman" panose="02020603050405020304" pitchFamily="18" charset="0"/>
              </a:endParaRPr>
            </a:p>
          </p:txBody>
        </p:sp>
        <p:sp>
          <p:nvSpPr>
            <p:cNvPr id="45095" name="Line 17"/>
            <p:cNvSpPr>
              <a:spLocks noChangeShapeType="1"/>
            </p:cNvSpPr>
            <p:nvPr/>
          </p:nvSpPr>
          <p:spPr bwMode="auto">
            <a:xfrm flipV="1">
              <a:off x="4694" y="2251"/>
              <a:ext cx="0" cy="45"/>
            </a:xfrm>
            <a:prstGeom prst="line">
              <a:avLst/>
            </a:prstGeom>
            <a:noFill/>
            <a:ln w="38100">
              <a:solidFill>
                <a:srgbClr val="800000"/>
              </a:solidFill>
              <a:round/>
              <a:tailEnd type="triangle" w="med" len="med"/>
            </a:ln>
          </p:spPr>
          <p:txBody>
            <a:bodyPr/>
            <a:lstStyle/>
            <a:p>
              <a:pPr>
                <a:defRPr/>
              </a:pPr>
              <a:endParaRPr lang="zh-CN" altLang="en-US">
                <a:ea typeface="+mn-ea"/>
                <a:cs typeface="Times New Roman" panose="02020603050405020304" pitchFamily="18" charset="0"/>
              </a:endParaRPr>
            </a:p>
          </p:txBody>
        </p:sp>
      </p:grpSp>
      <p:grpSp>
        <p:nvGrpSpPr>
          <p:cNvPr id="5" name="Group 18"/>
          <p:cNvGrpSpPr/>
          <p:nvPr/>
        </p:nvGrpSpPr>
        <p:grpSpPr bwMode="auto">
          <a:xfrm rot="10800000">
            <a:off x="7880350" y="2852738"/>
            <a:ext cx="4763" cy="576262"/>
            <a:chOff x="4694" y="2069"/>
            <a:chExt cx="3" cy="363"/>
          </a:xfrm>
        </p:grpSpPr>
        <p:sp>
          <p:nvSpPr>
            <p:cNvPr id="45092" name="Line 19"/>
            <p:cNvSpPr>
              <a:spLocks noChangeShapeType="1"/>
            </p:cNvSpPr>
            <p:nvPr/>
          </p:nvSpPr>
          <p:spPr bwMode="auto">
            <a:xfrm flipV="1">
              <a:off x="4693" y="2073"/>
              <a:ext cx="0" cy="363"/>
            </a:xfrm>
            <a:prstGeom prst="line">
              <a:avLst/>
            </a:prstGeom>
            <a:noFill/>
            <a:ln w="38100">
              <a:solidFill>
                <a:srgbClr val="800000"/>
              </a:solidFill>
              <a:round/>
            </a:ln>
          </p:spPr>
          <p:txBody>
            <a:bodyPr/>
            <a:lstStyle/>
            <a:p>
              <a:pPr>
                <a:defRPr/>
              </a:pPr>
              <a:endParaRPr lang="zh-CN" altLang="en-US">
                <a:ea typeface="+mn-ea"/>
                <a:cs typeface="Times New Roman" panose="02020603050405020304" pitchFamily="18" charset="0"/>
              </a:endParaRPr>
            </a:p>
          </p:txBody>
        </p:sp>
        <p:sp>
          <p:nvSpPr>
            <p:cNvPr id="45093" name="Line 20"/>
            <p:cNvSpPr>
              <a:spLocks noChangeShapeType="1"/>
            </p:cNvSpPr>
            <p:nvPr/>
          </p:nvSpPr>
          <p:spPr bwMode="auto">
            <a:xfrm flipV="1">
              <a:off x="4690" y="2255"/>
              <a:ext cx="0" cy="45"/>
            </a:xfrm>
            <a:prstGeom prst="line">
              <a:avLst/>
            </a:prstGeom>
            <a:noFill/>
            <a:ln w="38100">
              <a:solidFill>
                <a:srgbClr val="800000"/>
              </a:solidFill>
              <a:round/>
              <a:tailEnd type="triangle" w="med" len="med"/>
            </a:ln>
          </p:spPr>
          <p:txBody>
            <a:bodyPr/>
            <a:lstStyle/>
            <a:p>
              <a:pPr>
                <a:defRPr/>
              </a:pPr>
              <a:endParaRPr lang="zh-CN" altLang="en-US">
                <a:ea typeface="+mn-ea"/>
                <a:cs typeface="Times New Roman" panose="02020603050405020304" pitchFamily="18" charset="0"/>
              </a:endParaRPr>
            </a:p>
          </p:txBody>
        </p:sp>
      </p:grpSp>
      <p:grpSp>
        <p:nvGrpSpPr>
          <p:cNvPr id="6" name="Group 21"/>
          <p:cNvGrpSpPr/>
          <p:nvPr/>
        </p:nvGrpSpPr>
        <p:grpSpPr bwMode="auto">
          <a:xfrm rot="-5400000">
            <a:off x="7594601" y="3138487"/>
            <a:ext cx="4762" cy="576263"/>
            <a:chOff x="4694" y="2069"/>
            <a:chExt cx="3" cy="363"/>
          </a:xfrm>
        </p:grpSpPr>
        <p:sp>
          <p:nvSpPr>
            <p:cNvPr id="45090" name="Line 22"/>
            <p:cNvSpPr>
              <a:spLocks noChangeShapeType="1"/>
            </p:cNvSpPr>
            <p:nvPr/>
          </p:nvSpPr>
          <p:spPr bwMode="auto">
            <a:xfrm flipV="1">
              <a:off x="4693" y="2069"/>
              <a:ext cx="0" cy="363"/>
            </a:xfrm>
            <a:prstGeom prst="line">
              <a:avLst/>
            </a:prstGeom>
            <a:noFill/>
            <a:ln w="38100">
              <a:solidFill>
                <a:srgbClr val="800000"/>
              </a:solidFill>
              <a:round/>
            </a:ln>
          </p:spPr>
          <p:txBody>
            <a:bodyPr/>
            <a:lstStyle/>
            <a:p>
              <a:pPr>
                <a:defRPr/>
              </a:pPr>
              <a:endParaRPr lang="zh-CN" altLang="en-US">
                <a:ea typeface="+mn-ea"/>
                <a:cs typeface="Times New Roman" panose="02020603050405020304" pitchFamily="18" charset="0"/>
              </a:endParaRPr>
            </a:p>
          </p:txBody>
        </p:sp>
        <p:sp>
          <p:nvSpPr>
            <p:cNvPr id="45091" name="Line 23"/>
            <p:cNvSpPr>
              <a:spLocks noChangeShapeType="1"/>
            </p:cNvSpPr>
            <p:nvPr/>
          </p:nvSpPr>
          <p:spPr bwMode="auto">
            <a:xfrm flipV="1">
              <a:off x="4690" y="2251"/>
              <a:ext cx="0" cy="45"/>
            </a:xfrm>
            <a:prstGeom prst="line">
              <a:avLst/>
            </a:prstGeom>
            <a:noFill/>
            <a:ln w="38100">
              <a:solidFill>
                <a:srgbClr val="800000"/>
              </a:solidFill>
              <a:round/>
              <a:tailEnd type="triangle" w="med" len="med"/>
            </a:ln>
          </p:spPr>
          <p:txBody>
            <a:bodyPr/>
            <a:lstStyle/>
            <a:p>
              <a:pPr>
                <a:defRPr/>
              </a:pPr>
              <a:endParaRPr lang="zh-CN" altLang="en-US">
                <a:ea typeface="+mn-ea"/>
                <a:cs typeface="Times New Roman" panose="02020603050405020304" pitchFamily="18" charset="0"/>
              </a:endParaRPr>
            </a:p>
          </p:txBody>
        </p:sp>
      </p:grpSp>
      <p:sp>
        <p:nvSpPr>
          <p:cNvPr id="45078" name="Text Box 24"/>
          <p:cNvSpPr txBox="1">
            <a:spLocks noChangeArrowheads="1"/>
          </p:cNvSpPr>
          <p:nvPr/>
        </p:nvSpPr>
        <p:spPr bwMode="auto">
          <a:xfrm>
            <a:off x="7112000" y="3895725"/>
            <a:ext cx="741363" cy="442913"/>
          </a:xfrm>
          <a:prstGeom prst="rect">
            <a:avLst/>
          </a:prstGeom>
          <a:noFill/>
          <a:ln w="9525">
            <a:noFill/>
            <a:miter lim="800000"/>
          </a:ln>
        </p:spPr>
        <p:txBody>
          <a:bodyPr>
            <a:spAutoFit/>
          </a:bodyPr>
          <a:lstStyle/>
          <a:p>
            <a:pPr>
              <a:lnSpc>
                <a:spcPct val="115000"/>
              </a:lnSpc>
              <a:defRPr/>
            </a:pPr>
            <a:r>
              <a:rPr lang="en-US" altLang="zh-CN" sz="2000" b="1" i="1">
                <a:solidFill>
                  <a:srgbClr val="0000FF"/>
                </a:solidFill>
                <a:ea typeface="+mn-ea"/>
                <a:cs typeface="Times New Roman" panose="02020603050405020304" pitchFamily="18" charset="0"/>
              </a:rPr>
              <a:t>V</a:t>
            </a:r>
            <a:r>
              <a:rPr lang="en-US" altLang="zh-CN" sz="2000" b="1" baseline="-25000">
                <a:solidFill>
                  <a:srgbClr val="0000FF"/>
                </a:solidFill>
                <a:ea typeface="+mn-ea"/>
                <a:cs typeface="Times New Roman" panose="02020603050405020304" pitchFamily="18" charset="0"/>
              </a:rPr>
              <a:t>1</a:t>
            </a:r>
            <a:endParaRPr lang="en-US" altLang="zh-CN" sz="2000" b="1" baseline="-25000">
              <a:solidFill>
                <a:srgbClr val="0000FF"/>
              </a:solidFill>
              <a:ea typeface="+mn-ea"/>
              <a:cs typeface="Times New Roman" panose="02020603050405020304" pitchFamily="18" charset="0"/>
            </a:endParaRPr>
          </a:p>
        </p:txBody>
      </p:sp>
      <p:sp>
        <p:nvSpPr>
          <p:cNvPr id="45079" name="Text Box 25"/>
          <p:cNvSpPr txBox="1">
            <a:spLocks noChangeArrowheads="1"/>
          </p:cNvSpPr>
          <p:nvPr/>
        </p:nvSpPr>
        <p:spPr bwMode="auto">
          <a:xfrm>
            <a:off x="7667625" y="3860800"/>
            <a:ext cx="741363" cy="442913"/>
          </a:xfrm>
          <a:prstGeom prst="rect">
            <a:avLst/>
          </a:prstGeom>
          <a:noFill/>
          <a:ln w="9525">
            <a:noFill/>
            <a:miter lim="800000"/>
          </a:ln>
        </p:spPr>
        <p:txBody>
          <a:bodyPr>
            <a:spAutoFit/>
          </a:bodyPr>
          <a:lstStyle/>
          <a:p>
            <a:pPr>
              <a:lnSpc>
                <a:spcPct val="115000"/>
              </a:lnSpc>
              <a:defRPr/>
            </a:pPr>
            <a:r>
              <a:rPr lang="en-US" altLang="zh-CN" sz="2000" b="1" i="1">
                <a:solidFill>
                  <a:srgbClr val="0000FF"/>
                </a:solidFill>
                <a:ea typeface="+mn-ea"/>
                <a:cs typeface="Times New Roman" panose="02020603050405020304" pitchFamily="18" charset="0"/>
              </a:rPr>
              <a:t>V</a:t>
            </a:r>
            <a:r>
              <a:rPr lang="en-US" altLang="zh-CN" sz="2000" b="1" baseline="-25000">
                <a:solidFill>
                  <a:srgbClr val="0000FF"/>
                </a:solidFill>
                <a:ea typeface="+mn-ea"/>
                <a:cs typeface="Times New Roman" panose="02020603050405020304" pitchFamily="18" charset="0"/>
              </a:rPr>
              <a:t>4</a:t>
            </a:r>
            <a:endParaRPr lang="en-US" altLang="zh-CN" sz="2000" b="1" baseline="-25000">
              <a:solidFill>
                <a:srgbClr val="0000FF"/>
              </a:solidFill>
              <a:ea typeface="+mn-ea"/>
              <a:cs typeface="Times New Roman" panose="02020603050405020304" pitchFamily="18" charset="0"/>
            </a:endParaRPr>
          </a:p>
        </p:txBody>
      </p:sp>
      <p:sp>
        <p:nvSpPr>
          <p:cNvPr id="45080" name="Text Box 26"/>
          <p:cNvSpPr txBox="1">
            <a:spLocks noChangeArrowheads="1"/>
          </p:cNvSpPr>
          <p:nvPr/>
        </p:nvSpPr>
        <p:spPr bwMode="auto">
          <a:xfrm>
            <a:off x="6443663" y="3141663"/>
            <a:ext cx="741362" cy="442912"/>
          </a:xfrm>
          <a:prstGeom prst="rect">
            <a:avLst/>
          </a:prstGeom>
          <a:noFill/>
          <a:ln w="9525">
            <a:noFill/>
            <a:miter lim="800000"/>
          </a:ln>
        </p:spPr>
        <p:txBody>
          <a:bodyPr>
            <a:spAutoFit/>
          </a:bodyPr>
          <a:lstStyle/>
          <a:p>
            <a:pPr>
              <a:lnSpc>
                <a:spcPct val="115000"/>
              </a:lnSpc>
              <a:defRPr/>
            </a:pPr>
            <a:r>
              <a:rPr lang="en-US" altLang="zh-CN" sz="2000" b="1" i="1">
                <a:solidFill>
                  <a:srgbClr val="0000FF"/>
                </a:solidFill>
                <a:ea typeface="+mn-ea"/>
                <a:cs typeface="Times New Roman" panose="02020603050405020304" pitchFamily="18" charset="0"/>
              </a:rPr>
              <a:t>p</a:t>
            </a:r>
            <a:r>
              <a:rPr lang="en-US" altLang="zh-CN" sz="2000" b="1" baseline="-25000">
                <a:solidFill>
                  <a:srgbClr val="0000FF"/>
                </a:solidFill>
                <a:ea typeface="+mn-ea"/>
                <a:cs typeface="Times New Roman" panose="02020603050405020304" pitchFamily="18" charset="0"/>
              </a:rPr>
              <a:t>1</a:t>
            </a:r>
            <a:endParaRPr lang="en-US" altLang="zh-CN" sz="2000" b="1" baseline="-25000">
              <a:solidFill>
                <a:srgbClr val="0000FF"/>
              </a:solidFill>
              <a:ea typeface="+mn-ea"/>
              <a:cs typeface="Times New Roman" panose="02020603050405020304" pitchFamily="18" charset="0"/>
            </a:endParaRPr>
          </a:p>
        </p:txBody>
      </p:sp>
      <p:sp>
        <p:nvSpPr>
          <p:cNvPr id="45081" name="Text Box 27"/>
          <p:cNvSpPr txBox="1">
            <a:spLocks noChangeArrowheads="1"/>
          </p:cNvSpPr>
          <p:nvPr/>
        </p:nvSpPr>
        <p:spPr bwMode="auto">
          <a:xfrm>
            <a:off x="6443663" y="2636838"/>
            <a:ext cx="741362" cy="442912"/>
          </a:xfrm>
          <a:prstGeom prst="rect">
            <a:avLst/>
          </a:prstGeom>
          <a:noFill/>
          <a:ln w="9525">
            <a:noFill/>
            <a:miter lim="800000"/>
          </a:ln>
        </p:spPr>
        <p:txBody>
          <a:bodyPr>
            <a:spAutoFit/>
          </a:bodyPr>
          <a:lstStyle/>
          <a:p>
            <a:pPr>
              <a:lnSpc>
                <a:spcPct val="115000"/>
              </a:lnSpc>
              <a:defRPr/>
            </a:pPr>
            <a:r>
              <a:rPr lang="en-US" altLang="zh-CN" sz="2000" b="1" i="1">
                <a:solidFill>
                  <a:srgbClr val="0000FF"/>
                </a:solidFill>
                <a:ea typeface="+mn-ea"/>
                <a:cs typeface="Times New Roman" panose="02020603050405020304" pitchFamily="18" charset="0"/>
              </a:rPr>
              <a:t>p</a:t>
            </a:r>
            <a:r>
              <a:rPr lang="en-US" altLang="zh-CN" sz="2000" b="1" baseline="-25000">
                <a:solidFill>
                  <a:srgbClr val="0000FF"/>
                </a:solidFill>
                <a:ea typeface="+mn-ea"/>
                <a:cs typeface="Times New Roman" panose="02020603050405020304" pitchFamily="18" charset="0"/>
              </a:rPr>
              <a:t>2</a:t>
            </a:r>
            <a:endParaRPr lang="en-US" altLang="zh-CN" sz="2000" b="1" baseline="-25000">
              <a:solidFill>
                <a:srgbClr val="0000FF"/>
              </a:solidFill>
              <a:ea typeface="+mn-ea"/>
              <a:cs typeface="Times New Roman" panose="02020603050405020304" pitchFamily="18" charset="0"/>
            </a:endParaRPr>
          </a:p>
        </p:txBody>
      </p:sp>
      <p:sp>
        <p:nvSpPr>
          <p:cNvPr id="45082" name="Text Box 28"/>
          <p:cNvSpPr txBox="1">
            <a:spLocks noChangeArrowheads="1"/>
          </p:cNvSpPr>
          <p:nvPr/>
        </p:nvSpPr>
        <p:spPr bwMode="auto">
          <a:xfrm>
            <a:off x="7046913" y="3294063"/>
            <a:ext cx="741362" cy="442912"/>
          </a:xfrm>
          <a:prstGeom prst="rect">
            <a:avLst/>
          </a:prstGeom>
          <a:noFill/>
          <a:ln w="9525">
            <a:noFill/>
            <a:miter lim="800000"/>
          </a:ln>
        </p:spPr>
        <p:txBody>
          <a:bodyPr>
            <a:spAutoFit/>
          </a:bodyPr>
          <a:lstStyle/>
          <a:p>
            <a:pPr>
              <a:lnSpc>
                <a:spcPct val="115000"/>
              </a:lnSpc>
              <a:defRPr/>
            </a:pPr>
            <a:r>
              <a:rPr lang="en-US" altLang="zh-CN" sz="2000" b="1">
                <a:solidFill>
                  <a:srgbClr val="FF0000"/>
                </a:solidFill>
                <a:ea typeface="+mn-ea"/>
                <a:cs typeface="Times New Roman" panose="02020603050405020304" pitchFamily="18" charset="0"/>
              </a:rPr>
              <a:t>1</a:t>
            </a:r>
            <a:endParaRPr lang="en-US" altLang="zh-CN" sz="2000" b="1" baseline="-25000">
              <a:solidFill>
                <a:srgbClr val="FF0000"/>
              </a:solidFill>
              <a:ea typeface="+mn-ea"/>
              <a:cs typeface="Times New Roman" panose="02020603050405020304" pitchFamily="18" charset="0"/>
            </a:endParaRPr>
          </a:p>
        </p:txBody>
      </p:sp>
      <p:sp>
        <p:nvSpPr>
          <p:cNvPr id="45083" name="Text Box 29"/>
          <p:cNvSpPr txBox="1">
            <a:spLocks noChangeArrowheads="1"/>
          </p:cNvSpPr>
          <p:nvPr/>
        </p:nvSpPr>
        <p:spPr bwMode="auto">
          <a:xfrm>
            <a:off x="7092950" y="2492375"/>
            <a:ext cx="741363" cy="442913"/>
          </a:xfrm>
          <a:prstGeom prst="rect">
            <a:avLst/>
          </a:prstGeom>
          <a:noFill/>
          <a:ln w="9525">
            <a:noFill/>
            <a:miter lim="800000"/>
          </a:ln>
        </p:spPr>
        <p:txBody>
          <a:bodyPr>
            <a:spAutoFit/>
          </a:bodyPr>
          <a:lstStyle/>
          <a:p>
            <a:pPr>
              <a:lnSpc>
                <a:spcPct val="115000"/>
              </a:lnSpc>
              <a:defRPr/>
            </a:pPr>
            <a:r>
              <a:rPr lang="en-US" altLang="zh-CN" sz="2000" b="1">
                <a:solidFill>
                  <a:srgbClr val="FF0000"/>
                </a:solidFill>
                <a:ea typeface="+mn-ea"/>
                <a:cs typeface="Times New Roman" panose="02020603050405020304" pitchFamily="18" charset="0"/>
              </a:rPr>
              <a:t>2</a:t>
            </a:r>
            <a:endParaRPr lang="en-US" altLang="zh-CN" sz="2000" b="1" baseline="-25000">
              <a:solidFill>
                <a:srgbClr val="FF0000"/>
              </a:solidFill>
              <a:ea typeface="+mn-ea"/>
              <a:cs typeface="Times New Roman" panose="02020603050405020304" pitchFamily="18" charset="0"/>
            </a:endParaRPr>
          </a:p>
        </p:txBody>
      </p:sp>
      <p:sp>
        <p:nvSpPr>
          <p:cNvPr id="45084" name="Text Box 30"/>
          <p:cNvSpPr txBox="1">
            <a:spLocks noChangeArrowheads="1"/>
          </p:cNvSpPr>
          <p:nvPr/>
        </p:nvSpPr>
        <p:spPr bwMode="auto">
          <a:xfrm>
            <a:off x="7858125" y="2492375"/>
            <a:ext cx="741363" cy="442913"/>
          </a:xfrm>
          <a:prstGeom prst="rect">
            <a:avLst/>
          </a:prstGeom>
          <a:noFill/>
          <a:ln w="9525">
            <a:noFill/>
            <a:miter lim="800000"/>
          </a:ln>
        </p:spPr>
        <p:txBody>
          <a:bodyPr>
            <a:spAutoFit/>
          </a:bodyPr>
          <a:lstStyle/>
          <a:p>
            <a:pPr>
              <a:lnSpc>
                <a:spcPct val="115000"/>
              </a:lnSpc>
              <a:defRPr/>
            </a:pPr>
            <a:r>
              <a:rPr lang="en-US" altLang="zh-CN" sz="2000" b="1">
                <a:solidFill>
                  <a:srgbClr val="FF0000"/>
                </a:solidFill>
                <a:ea typeface="+mn-ea"/>
                <a:cs typeface="Times New Roman" panose="02020603050405020304" pitchFamily="18" charset="0"/>
              </a:rPr>
              <a:t>3</a:t>
            </a:r>
            <a:endParaRPr lang="en-US" altLang="zh-CN" sz="2000" b="1" baseline="-25000">
              <a:solidFill>
                <a:srgbClr val="FF0000"/>
              </a:solidFill>
              <a:ea typeface="+mn-ea"/>
              <a:cs typeface="Times New Roman" panose="02020603050405020304" pitchFamily="18" charset="0"/>
            </a:endParaRPr>
          </a:p>
        </p:txBody>
      </p:sp>
      <p:sp>
        <p:nvSpPr>
          <p:cNvPr id="45085" name="Text Box 31"/>
          <p:cNvSpPr txBox="1">
            <a:spLocks noChangeArrowheads="1"/>
          </p:cNvSpPr>
          <p:nvPr/>
        </p:nvSpPr>
        <p:spPr bwMode="auto">
          <a:xfrm>
            <a:off x="7858125" y="3249613"/>
            <a:ext cx="741363" cy="442912"/>
          </a:xfrm>
          <a:prstGeom prst="rect">
            <a:avLst/>
          </a:prstGeom>
          <a:noFill/>
          <a:ln w="9525">
            <a:noFill/>
            <a:miter lim="800000"/>
          </a:ln>
        </p:spPr>
        <p:txBody>
          <a:bodyPr>
            <a:spAutoFit/>
          </a:bodyPr>
          <a:lstStyle/>
          <a:p>
            <a:pPr>
              <a:lnSpc>
                <a:spcPct val="115000"/>
              </a:lnSpc>
              <a:defRPr/>
            </a:pPr>
            <a:r>
              <a:rPr lang="en-US" altLang="zh-CN" sz="2000" b="1">
                <a:solidFill>
                  <a:srgbClr val="FF0000"/>
                </a:solidFill>
                <a:ea typeface="+mn-ea"/>
                <a:cs typeface="Times New Roman" panose="02020603050405020304" pitchFamily="18" charset="0"/>
              </a:rPr>
              <a:t>4</a:t>
            </a:r>
            <a:endParaRPr lang="en-US" altLang="zh-CN" sz="2000" b="1" baseline="-25000">
              <a:solidFill>
                <a:srgbClr val="FF0000"/>
              </a:solidFill>
              <a:ea typeface="+mn-ea"/>
              <a:cs typeface="Times New Roman" panose="02020603050405020304" pitchFamily="18" charset="0"/>
            </a:endParaRPr>
          </a:p>
        </p:txBody>
      </p:sp>
      <p:graphicFrame>
        <p:nvGraphicFramePr>
          <p:cNvPr id="226336" name="Object 32"/>
          <p:cNvGraphicFramePr>
            <a:graphicFrameLocks noChangeAspect="1"/>
          </p:cNvGraphicFramePr>
          <p:nvPr/>
        </p:nvGraphicFramePr>
        <p:xfrm>
          <a:off x="701675" y="1284288"/>
          <a:ext cx="2374900" cy="730250"/>
        </p:xfrm>
        <a:graphic>
          <a:graphicData uri="http://schemas.openxmlformats.org/presentationml/2006/ole">
            <mc:AlternateContent xmlns:mc="http://schemas.openxmlformats.org/markup-compatibility/2006">
              <mc:Choice xmlns:v="urn:schemas-microsoft-com:vml" Requires="v">
                <p:oleObj spid="_x0000_s46081" name="公式" r:id="rId1" imgW="31699200" imgH="9753600" progId="Equation.3">
                  <p:embed/>
                </p:oleObj>
              </mc:Choice>
              <mc:Fallback>
                <p:oleObj name="公式" r:id="rId1" imgW="31699200" imgH="9753600" progId="Equation.3">
                  <p:embed/>
                  <p:pic>
                    <p:nvPicPr>
                      <p:cNvPr id="0" name="Object 32"/>
                      <p:cNvPicPr>
                        <a:picLocks noChangeAspect="1"/>
                      </p:cNvPicPr>
                      <p:nvPr/>
                    </p:nvPicPr>
                    <p:blipFill>
                      <a:blip r:embed="rId2"/>
                      <a:stretch>
                        <a:fillRect/>
                      </a:stretch>
                    </p:blipFill>
                    <p:spPr>
                      <a:xfrm>
                        <a:off x="701675" y="1284288"/>
                        <a:ext cx="2374900" cy="730250"/>
                      </a:xfrm>
                      <a:prstGeom prst="rect">
                        <a:avLst/>
                      </a:prstGeom>
                      <a:noFill/>
                      <a:ln w="9525">
                        <a:noFill/>
                      </a:ln>
                    </p:spPr>
                  </p:pic>
                </p:oleObj>
              </mc:Fallback>
            </mc:AlternateContent>
          </a:graphicData>
        </a:graphic>
      </p:graphicFrame>
      <p:sp>
        <p:nvSpPr>
          <p:cNvPr id="226337" name="Text Box 33"/>
          <p:cNvSpPr txBox="1">
            <a:spLocks noChangeArrowheads="1"/>
          </p:cNvSpPr>
          <p:nvPr/>
        </p:nvSpPr>
        <p:spPr bwMode="auto">
          <a:xfrm>
            <a:off x="223838" y="549275"/>
            <a:ext cx="3492500" cy="512763"/>
          </a:xfrm>
          <a:prstGeom prst="rect">
            <a:avLst/>
          </a:prstGeom>
          <a:noFill/>
          <a:ln w="9525">
            <a:noFill/>
            <a:miter lim="800000"/>
          </a:ln>
        </p:spPr>
        <p:txBody>
          <a:bodyPr>
            <a:spAutoFit/>
          </a:bodyPr>
          <a:lstStyle/>
          <a:p>
            <a:pPr>
              <a:lnSpc>
                <a:spcPct val="115000"/>
              </a:lnSpc>
              <a:defRPr/>
            </a:pPr>
            <a:r>
              <a:rPr lang="en-US" altLang="zh-CN" b="1">
                <a:solidFill>
                  <a:srgbClr val="FF6600"/>
                </a:solidFill>
                <a:ea typeface="+mn-ea"/>
                <a:cs typeface="Times New Roman" panose="02020603050405020304" pitchFamily="18" charset="0"/>
              </a:rPr>
              <a:t>1→2</a:t>
            </a:r>
            <a:r>
              <a:rPr lang="en-US" altLang="zh-CN" b="1">
                <a:ea typeface="+mn-ea"/>
                <a:cs typeface="Times New Roman" panose="02020603050405020304" pitchFamily="18" charset="0"/>
              </a:rPr>
              <a:t> </a:t>
            </a:r>
            <a:r>
              <a:rPr lang="zh-CN" altLang="en-US" b="1">
                <a:ea typeface="+mn-ea"/>
                <a:cs typeface="Times New Roman" panose="02020603050405020304" pitchFamily="18" charset="0"/>
              </a:rPr>
              <a:t>为等体过程，</a:t>
            </a:r>
            <a:endParaRPr lang="zh-CN" altLang="en-US" b="1">
              <a:ea typeface="+mn-ea"/>
              <a:cs typeface="Times New Roman" panose="02020603050405020304" pitchFamily="18" charset="0"/>
            </a:endParaRPr>
          </a:p>
        </p:txBody>
      </p:sp>
      <p:sp>
        <p:nvSpPr>
          <p:cNvPr id="226338" name="Text Box 34"/>
          <p:cNvSpPr txBox="1">
            <a:spLocks noChangeArrowheads="1"/>
          </p:cNvSpPr>
          <p:nvPr/>
        </p:nvSpPr>
        <p:spPr bwMode="auto">
          <a:xfrm>
            <a:off x="161925" y="2168525"/>
            <a:ext cx="3582988" cy="512763"/>
          </a:xfrm>
          <a:prstGeom prst="rect">
            <a:avLst/>
          </a:prstGeom>
          <a:noFill/>
          <a:ln w="9525">
            <a:noFill/>
            <a:miter lim="800000"/>
          </a:ln>
        </p:spPr>
        <p:txBody>
          <a:bodyPr>
            <a:spAutoFit/>
          </a:bodyPr>
          <a:lstStyle/>
          <a:p>
            <a:pPr>
              <a:lnSpc>
                <a:spcPct val="115000"/>
              </a:lnSpc>
              <a:defRPr/>
            </a:pPr>
            <a:r>
              <a:rPr lang="en-US" altLang="zh-CN" b="1">
                <a:solidFill>
                  <a:srgbClr val="FF6600"/>
                </a:solidFill>
                <a:ea typeface="+mn-ea"/>
                <a:cs typeface="Times New Roman" panose="02020603050405020304" pitchFamily="18" charset="0"/>
              </a:rPr>
              <a:t>2→3</a:t>
            </a:r>
            <a:r>
              <a:rPr lang="en-US" altLang="zh-CN" b="1">
                <a:ea typeface="+mn-ea"/>
                <a:cs typeface="Times New Roman" panose="02020603050405020304" pitchFamily="18" charset="0"/>
              </a:rPr>
              <a:t> </a:t>
            </a:r>
            <a:r>
              <a:rPr lang="zh-CN" altLang="en-US" b="1">
                <a:ea typeface="+mn-ea"/>
                <a:cs typeface="Times New Roman" panose="02020603050405020304" pitchFamily="18" charset="0"/>
              </a:rPr>
              <a:t>为等压过程，</a:t>
            </a:r>
            <a:endParaRPr lang="zh-CN" altLang="en-US" b="1">
              <a:ea typeface="+mn-ea"/>
              <a:cs typeface="Times New Roman" panose="02020603050405020304" pitchFamily="18" charset="0"/>
            </a:endParaRPr>
          </a:p>
        </p:txBody>
      </p:sp>
      <p:graphicFrame>
        <p:nvGraphicFramePr>
          <p:cNvPr id="226339" name="Object 35"/>
          <p:cNvGraphicFramePr>
            <a:graphicFrameLocks noChangeAspect="1"/>
          </p:cNvGraphicFramePr>
          <p:nvPr/>
        </p:nvGraphicFramePr>
        <p:xfrm>
          <a:off x="765175" y="2625725"/>
          <a:ext cx="2397125" cy="731838"/>
        </p:xfrm>
        <a:graphic>
          <a:graphicData uri="http://schemas.openxmlformats.org/presentationml/2006/ole">
            <mc:AlternateContent xmlns:mc="http://schemas.openxmlformats.org/markup-compatibility/2006">
              <mc:Choice xmlns:v="urn:schemas-microsoft-com:vml" Requires="v">
                <p:oleObj spid="_x0000_s46083" name="公式" r:id="rId3" imgW="32004000" imgH="9753600" progId="Equation.3">
                  <p:embed/>
                </p:oleObj>
              </mc:Choice>
              <mc:Fallback>
                <p:oleObj name="公式" r:id="rId3" imgW="32004000" imgH="9753600" progId="Equation.3">
                  <p:embed/>
                  <p:pic>
                    <p:nvPicPr>
                      <p:cNvPr id="0" name="Object 35"/>
                      <p:cNvPicPr>
                        <a:picLocks noChangeAspect="1"/>
                      </p:cNvPicPr>
                      <p:nvPr/>
                    </p:nvPicPr>
                    <p:blipFill>
                      <a:blip r:embed="rId4"/>
                      <a:stretch>
                        <a:fillRect/>
                      </a:stretch>
                    </p:blipFill>
                    <p:spPr>
                      <a:xfrm>
                        <a:off x="765175" y="2625725"/>
                        <a:ext cx="2397125" cy="731838"/>
                      </a:xfrm>
                      <a:prstGeom prst="rect">
                        <a:avLst/>
                      </a:prstGeom>
                      <a:noFill/>
                      <a:ln w="9525">
                        <a:noFill/>
                      </a:ln>
                    </p:spPr>
                  </p:pic>
                </p:oleObj>
              </mc:Fallback>
            </mc:AlternateContent>
          </a:graphicData>
        </a:graphic>
      </p:graphicFrame>
      <p:graphicFrame>
        <p:nvGraphicFramePr>
          <p:cNvPr id="226340" name="Object 36"/>
          <p:cNvGraphicFramePr>
            <a:graphicFrameLocks noChangeAspect="1"/>
          </p:cNvGraphicFramePr>
          <p:nvPr/>
        </p:nvGraphicFramePr>
        <p:xfrm>
          <a:off x="3132138" y="1314450"/>
          <a:ext cx="2709862" cy="735013"/>
        </p:xfrm>
        <a:graphic>
          <a:graphicData uri="http://schemas.openxmlformats.org/presentationml/2006/ole">
            <mc:AlternateContent xmlns:mc="http://schemas.openxmlformats.org/markup-compatibility/2006">
              <mc:Choice xmlns:v="urn:schemas-microsoft-com:vml" Requires="v">
                <p:oleObj spid="_x0000_s46084" name="公式" r:id="rId5" imgW="35966400" imgH="9753600" progId="Equation.3">
                  <p:embed/>
                </p:oleObj>
              </mc:Choice>
              <mc:Fallback>
                <p:oleObj name="公式" r:id="rId5" imgW="35966400" imgH="9753600" progId="Equation.3">
                  <p:embed/>
                  <p:pic>
                    <p:nvPicPr>
                      <p:cNvPr id="0" name="Object 36"/>
                      <p:cNvPicPr>
                        <a:picLocks noChangeAspect="1"/>
                      </p:cNvPicPr>
                      <p:nvPr/>
                    </p:nvPicPr>
                    <p:blipFill>
                      <a:blip r:embed="rId6"/>
                      <a:stretch>
                        <a:fillRect/>
                      </a:stretch>
                    </p:blipFill>
                    <p:spPr>
                      <a:xfrm>
                        <a:off x="3132138" y="1314450"/>
                        <a:ext cx="2709862" cy="735013"/>
                      </a:xfrm>
                      <a:prstGeom prst="rect">
                        <a:avLst/>
                      </a:prstGeom>
                      <a:noFill/>
                      <a:ln w="9525">
                        <a:noFill/>
                      </a:ln>
                    </p:spPr>
                  </p:pic>
                </p:oleObj>
              </mc:Fallback>
            </mc:AlternateContent>
          </a:graphicData>
        </a:graphic>
      </p:graphicFrame>
      <p:graphicFrame>
        <p:nvGraphicFramePr>
          <p:cNvPr id="226341" name="Object 37"/>
          <p:cNvGraphicFramePr>
            <a:graphicFrameLocks noChangeAspect="1"/>
          </p:cNvGraphicFramePr>
          <p:nvPr/>
        </p:nvGraphicFramePr>
        <p:xfrm>
          <a:off x="3176588" y="2652713"/>
          <a:ext cx="2760662" cy="731837"/>
        </p:xfrm>
        <a:graphic>
          <a:graphicData uri="http://schemas.openxmlformats.org/presentationml/2006/ole">
            <mc:AlternateContent xmlns:mc="http://schemas.openxmlformats.org/markup-compatibility/2006">
              <mc:Choice xmlns:v="urn:schemas-microsoft-com:vml" Requires="v">
                <p:oleObj spid="_x0000_s46085" name="公式" r:id="rId7" imgW="36880800" imgH="9753600" progId="Equation.3">
                  <p:embed/>
                </p:oleObj>
              </mc:Choice>
              <mc:Fallback>
                <p:oleObj name="公式" r:id="rId7" imgW="36880800" imgH="9753600" progId="Equation.3">
                  <p:embed/>
                  <p:pic>
                    <p:nvPicPr>
                      <p:cNvPr id="0" name="Object 37"/>
                      <p:cNvPicPr>
                        <a:picLocks noChangeAspect="1"/>
                      </p:cNvPicPr>
                      <p:nvPr/>
                    </p:nvPicPr>
                    <p:blipFill>
                      <a:blip r:embed="rId8"/>
                      <a:stretch>
                        <a:fillRect/>
                      </a:stretch>
                    </p:blipFill>
                    <p:spPr>
                      <a:xfrm>
                        <a:off x="3176588" y="2652713"/>
                        <a:ext cx="2760662" cy="731837"/>
                      </a:xfrm>
                      <a:prstGeom prst="rect">
                        <a:avLst/>
                      </a:prstGeom>
                      <a:noFill/>
                      <a:ln w="9525">
                        <a:noFill/>
                      </a:ln>
                    </p:spPr>
                  </p:pic>
                </p:oleObj>
              </mc:Fallback>
            </mc:AlternateContent>
          </a:graphicData>
        </a:graphic>
      </p:graphicFrame>
      <p:sp>
        <p:nvSpPr>
          <p:cNvPr id="226342" name="Text Box 38"/>
          <p:cNvSpPr txBox="1">
            <a:spLocks noChangeArrowheads="1"/>
          </p:cNvSpPr>
          <p:nvPr/>
        </p:nvSpPr>
        <p:spPr bwMode="auto">
          <a:xfrm>
            <a:off x="206375" y="3429000"/>
            <a:ext cx="2900363" cy="512763"/>
          </a:xfrm>
          <a:prstGeom prst="rect">
            <a:avLst/>
          </a:prstGeom>
          <a:noFill/>
          <a:ln w="9525">
            <a:noFill/>
            <a:miter lim="800000"/>
          </a:ln>
        </p:spPr>
        <p:txBody>
          <a:bodyPr>
            <a:spAutoFit/>
          </a:bodyPr>
          <a:lstStyle/>
          <a:p>
            <a:pPr>
              <a:lnSpc>
                <a:spcPct val="115000"/>
              </a:lnSpc>
              <a:defRPr/>
            </a:pPr>
            <a:r>
              <a:rPr lang="en-US" altLang="zh-CN" b="1">
                <a:solidFill>
                  <a:srgbClr val="FF6600"/>
                </a:solidFill>
                <a:ea typeface="+mn-ea"/>
                <a:cs typeface="Times New Roman" panose="02020603050405020304" pitchFamily="18" charset="0"/>
              </a:rPr>
              <a:t>3→4</a:t>
            </a:r>
            <a:r>
              <a:rPr lang="en-US" altLang="zh-CN" b="1">
                <a:ea typeface="+mn-ea"/>
                <a:cs typeface="Times New Roman" panose="02020603050405020304" pitchFamily="18" charset="0"/>
              </a:rPr>
              <a:t> </a:t>
            </a:r>
            <a:r>
              <a:rPr lang="zh-CN" altLang="en-US" b="1">
                <a:ea typeface="+mn-ea"/>
                <a:cs typeface="Times New Roman" panose="02020603050405020304" pitchFamily="18" charset="0"/>
              </a:rPr>
              <a:t>为等体过程，</a:t>
            </a:r>
            <a:endParaRPr lang="zh-CN" altLang="en-US" b="1">
              <a:ea typeface="+mn-ea"/>
              <a:cs typeface="Times New Roman" panose="02020603050405020304" pitchFamily="18" charset="0"/>
            </a:endParaRPr>
          </a:p>
        </p:txBody>
      </p:sp>
      <p:graphicFrame>
        <p:nvGraphicFramePr>
          <p:cNvPr id="226343" name="Object 39"/>
          <p:cNvGraphicFramePr>
            <a:graphicFrameLocks noChangeAspect="1"/>
          </p:cNvGraphicFramePr>
          <p:nvPr/>
        </p:nvGraphicFramePr>
        <p:xfrm>
          <a:off x="752475" y="3994150"/>
          <a:ext cx="2397125" cy="730250"/>
        </p:xfrm>
        <a:graphic>
          <a:graphicData uri="http://schemas.openxmlformats.org/presentationml/2006/ole">
            <mc:AlternateContent xmlns:mc="http://schemas.openxmlformats.org/markup-compatibility/2006">
              <mc:Choice xmlns:v="urn:schemas-microsoft-com:vml" Requires="v">
                <p:oleObj spid="_x0000_s46086" name="公式" r:id="rId9" imgW="32004000" imgH="9753600" progId="Equation.3">
                  <p:embed/>
                </p:oleObj>
              </mc:Choice>
              <mc:Fallback>
                <p:oleObj name="公式" r:id="rId9" imgW="32004000" imgH="9753600" progId="Equation.3">
                  <p:embed/>
                  <p:pic>
                    <p:nvPicPr>
                      <p:cNvPr id="0" name="Object 39"/>
                      <p:cNvPicPr>
                        <a:picLocks noChangeAspect="1"/>
                      </p:cNvPicPr>
                      <p:nvPr/>
                    </p:nvPicPr>
                    <p:blipFill>
                      <a:blip r:embed="rId10"/>
                      <a:stretch>
                        <a:fillRect/>
                      </a:stretch>
                    </p:blipFill>
                    <p:spPr>
                      <a:xfrm>
                        <a:off x="752475" y="3994150"/>
                        <a:ext cx="2397125" cy="730250"/>
                      </a:xfrm>
                      <a:prstGeom prst="rect">
                        <a:avLst/>
                      </a:prstGeom>
                      <a:noFill/>
                      <a:ln w="9525">
                        <a:noFill/>
                      </a:ln>
                    </p:spPr>
                  </p:pic>
                </p:oleObj>
              </mc:Fallback>
            </mc:AlternateContent>
          </a:graphicData>
        </a:graphic>
      </p:graphicFrame>
      <p:graphicFrame>
        <p:nvGraphicFramePr>
          <p:cNvPr id="226344" name="Object 40"/>
          <p:cNvGraphicFramePr>
            <a:graphicFrameLocks noChangeAspect="1"/>
          </p:cNvGraphicFramePr>
          <p:nvPr/>
        </p:nvGraphicFramePr>
        <p:xfrm>
          <a:off x="3176588" y="4017963"/>
          <a:ext cx="2940050" cy="733425"/>
        </p:xfrm>
        <a:graphic>
          <a:graphicData uri="http://schemas.openxmlformats.org/presentationml/2006/ole">
            <mc:AlternateContent xmlns:mc="http://schemas.openxmlformats.org/markup-compatibility/2006">
              <mc:Choice xmlns:v="urn:schemas-microsoft-com:vml" Requires="v">
                <p:oleObj spid="_x0000_s46087" name="公式" r:id="rId11" imgW="39014400" imgH="9753600" progId="Equation.3">
                  <p:embed/>
                </p:oleObj>
              </mc:Choice>
              <mc:Fallback>
                <p:oleObj name="公式" r:id="rId11" imgW="39014400" imgH="9753600" progId="Equation.3">
                  <p:embed/>
                  <p:pic>
                    <p:nvPicPr>
                      <p:cNvPr id="0" name="Object 40"/>
                      <p:cNvPicPr>
                        <a:picLocks noChangeAspect="1"/>
                      </p:cNvPicPr>
                      <p:nvPr/>
                    </p:nvPicPr>
                    <p:blipFill>
                      <a:blip r:embed="rId12"/>
                      <a:stretch>
                        <a:fillRect/>
                      </a:stretch>
                    </p:blipFill>
                    <p:spPr>
                      <a:xfrm>
                        <a:off x="3176588" y="4017963"/>
                        <a:ext cx="2940050" cy="733425"/>
                      </a:xfrm>
                      <a:prstGeom prst="rect">
                        <a:avLst/>
                      </a:prstGeom>
                      <a:noFill/>
                      <a:ln w="9525">
                        <a:noFill/>
                      </a:ln>
                    </p:spPr>
                  </p:pic>
                </p:oleObj>
              </mc:Fallback>
            </mc:AlternateContent>
          </a:graphicData>
        </a:graphic>
      </p:graphicFrame>
      <p:sp>
        <p:nvSpPr>
          <p:cNvPr id="226345" name="Text Box 41"/>
          <p:cNvSpPr txBox="1">
            <a:spLocks noChangeArrowheads="1"/>
          </p:cNvSpPr>
          <p:nvPr/>
        </p:nvSpPr>
        <p:spPr bwMode="auto">
          <a:xfrm>
            <a:off x="250825" y="4868863"/>
            <a:ext cx="2900363" cy="512762"/>
          </a:xfrm>
          <a:prstGeom prst="rect">
            <a:avLst/>
          </a:prstGeom>
          <a:noFill/>
          <a:ln w="9525">
            <a:noFill/>
            <a:miter lim="800000"/>
          </a:ln>
        </p:spPr>
        <p:txBody>
          <a:bodyPr>
            <a:spAutoFit/>
          </a:bodyPr>
          <a:lstStyle/>
          <a:p>
            <a:pPr>
              <a:lnSpc>
                <a:spcPct val="115000"/>
              </a:lnSpc>
              <a:defRPr/>
            </a:pPr>
            <a:r>
              <a:rPr lang="en-US" altLang="zh-CN" b="1">
                <a:solidFill>
                  <a:srgbClr val="FF6600"/>
                </a:solidFill>
                <a:ea typeface="+mn-ea"/>
                <a:cs typeface="Times New Roman" panose="02020603050405020304" pitchFamily="18" charset="0"/>
              </a:rPr>
              <a:t>4→1</a:t>
            </a:r>
            <a:r>
              <a:rPr lang="en-US" altLang="zh-CN" b="1">
                <a:ea typeface="+mn-ea"/>
                <a:cs typeface="Times New Roman" panose="02020603050405020304" pitchFamily="18" charset="0"/>
              </a:rPr>
              <a:t> </a:t>
            </a:r>
            <a:r>
              <a:rPr lang="zh-CN" altLang="en-US" b="1">
                <a:ea typeface="+mn-ea"/>
                <a:cs typeface="Times New Roman" panose="02020603050405020304" pitchFamily="18" charset="0"/>
              </a:rPr>
              <a:t>为等压过程，</a:t>
            </a:r>
            <a:endParaRPr lang="zh-CN" altLang="en-US" b="1">
              <a:ea typeface="+mn-ea"/>
              <a:cs typeface="Times New Roman" panose="02020603050405020304" pitchFamily="18" charset="0"/>
            </a:endParaRPr>
          </a:p>
        </p:txBody>
      </p:sp>
      <p:graphicFrame>
        <p:nvGraphicFramePr>
          <p:cNvPr id="226346" name="Object 42"/>
          <p:cNvGraphicFramePr>
            <a:graphicFrameLocks noChangeAspect="1"/>
          </p:cNvGraphicFramePr>
          <p:nvPr/>
        </p:nvGraphicFramePr>
        <p:xfrm>
          <a:off x="790575" y="5568950"/>
          <a:ext cx="2346325" cy="730250"/>
        </p:xfrm>
        <a:graphic>
          <a:graphicData uri="http://schemas.openxmlformats.org/presentationml/2006/ole">
            <mc:AlternateContent xmlns:mc="http://schemas.openxmlformats.org/markup-compatibility/2006">
              <mc:Choice xmlns:v="urn:schemas-microsoft-com:vml" Requires="v">
                <p:oleObj spid="_x0000_s46088" name="公式" r:id="rId13" imgW="31394400" imgH="9753600" progId="Equation.3">
                  <p:embed/>
                </p:oleObj>
              </mc:Choice>
              <mc:Fallback>
                <p:oleObj name="公式" r:id="rId13" imgW="31394400" imgH="9753600" progId="Equation.3">
                  <p:embed/>
                  <p:pic>
                    <p:nvPicPr>
                      <p:cNvPr id="0" name="Object 42"/>
                      <p:cNvPicPr>
                        <a:picLocks noChangeAspect="1"/>
                      </p:cNvPicPr>
                      <p:nvPr/>
                    </p:nvPicPr>
                    <p:blipFill>
                      <a:blip r:embed="rId14"/>
                      <a:stretch>
                        <a:fillRect/>
                      </a:stretch>
                    </p:blipFill>
                    <p:spPr>
                      <a:xfrm>
                        <a:off x="790575" y="5568950"/>
                        <a:ext cx="2346325" cy="730250"/>
                      </a:xfrm>
                      <a:prstGeom prst="rect">
                        <a:avLst/>
                      </a:prstGeom>
                      <a:noFill/>
                      <a:ln w="9525">
                        <a:noFill/>
                      </a:ln>
                    </p:spPr>
                  </p:pic>
                </p:oleObj>
              </mc:Fallback>
            </mc:AlternateContent>
          </a:graphicData>
        </a:graphic>
      </p:graphicFrame>
      <p:graphicFrame>
        <p:nvGraphicFramePr>
          <p:cNvPr id="226347" name="Object 43"/>
          <p:cNvGraphicFramePr>
            <a:graphicFrameLocks noChangeAspect="1"/>
          </p:cNvGraphicFramePr>
          <p:nvPr/>
        </p:nvGraphicFramePr>
        <p:xfrm>
          <a:off x="3257550" y="5578475"/>
          <a:ext cx="2889250" cy="730250"/>
        </p:xfrm>
        <a:graphic>
          <a:graphicData uri="http://schemas.openxmlformats.org/presentationml/2006/ole">
            <mc:AlternateContent xmlns:mc="http://schemas.openxmlformats.org/markup-compatibility/2006">
              <mc:Choice xmlns:v="urn:schemas-microsoft-com:vml" Requires="v">
                <p:oleObj spid="_x0000_s46089" name="公式" r:id="rId15" imgW="38709600" imgH="9753600" progId="Equation.3">
                  <p:embed/>
                </p:oleObj>
              </mc:Choice>
              <mc:Fallback>
                <p:oleObj name="公式" r:id="rId15" imgW="38709600" imgH="9753600" progId="Equation.3">
                  <p:embed/>
                  <p:pic>
                    <p:nvPicPr>
                      <p:cNvPr id="0" name="Object 43"/>
                      <p:cNvPicPr>
                        <a:picLocks noChangeAspect="1"/>
                      </p:cNvPicPr>
                      <p:nvPr/>
                    </p:nvPicPr>
                    <p:blipFill>
                      <a:blip r:embed="rId16"/>
                      <a:stretch>
                        <a:fillRect/>
                      </a:stretch>
                    </p:blipFill>
                    <p:spPr>
                      <a:xfrm>
                        <a:off x="3257550" y="5578475"/>
                        <a:ext cx="2889250" cy="730250"/>
                      </a:xfrm>
                      <a:prstGeom prst="rect">
                        <a:avLst/>
                      </a:prstGeom>
                      <a:noFill/>
                      <a:ln w="9525">
                        <a:noFill/>
                      </a:ln>
                    </p:spPr>
                  </p:pic>
                </p:oleObj>
              </mc:Fallback>
            </mc:AlternateContent>
          </a:graphicData>
        </a:graphic>
      </p:graphicFrame>
      <p:graphicFrame>
        <p:nvGraphicFramePr>
          <p:cNvPr id="46090" name="Object 44"/>
          <p:cNvGraphicFramePr>
            <a:graphicFrameLocks noChangeAspect="1"/>
          </p:cNvGraphicFramePr>
          <p:nvPr/>
        </p:nvGraphicFramePr>
        <p:xfrm>
          <a:off x="5067300" y="638175"/>
          <a:ext cx="906463" cy="366713"/>
        </p:xfrm>
        <a:graphic>
          <a:graphicData uri="http://schemas.openxmlformats.org/presentationml/2006/ole">
            <mc:AlternateContent xmlns:mc="http://schemas.openxmlformats.org/markup-compatibility/2006">
              <mc:Choice xmlns:v="urn:schemas-microsoft-com:vml" Requires="v">
                <p:oleObj spid="_x0000_s46090" name="公式" r:id="rId17" imgW="12801600" imgH="5181600" progId="Equation.3">
                  <p:embed/>
                </p:oleObj>
              </mc:Choice>
              <mc:Fallback>
                <p:oleObj name="公式" r:id="rId17" imgW="12801600" imgH="5181600" progId="Equation.3">
                  <p:embed/>
                  <p:pic>
                    <p:nvPicPr>
                      <p:cNvPr id="0" name="Object 44"/>
                      <p:cNvPicPr>
                        <a:picLocks noChangeAspect="1"/>
                      </p:cNvPicPr>
                      <p:nvPr/>
                    </p:nvPicPr>
                    <p:blipFill>
                      <a:blip r:embed="rId18"/>
                      <a:stretch>
                        <a:fillRect/>
                      </a:stretch>
                    </p:blipFill>
                    <p:spPr>
                      <a:xfrm>
                        <a:off x="5067300" y="638175"/>
                        <a:ext cx="906463" cy="366713"/>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graphicFrame>
        <p:nvGraphicFramePr>
          <p:cNvPr id="46091" name="Object 45"/>
          <p:cNvGraphicFramePr>
            <a:graphicFrameLocks noChangeAspect="1"/>
          </p:cNvGraphicFramePr>
          <p:nvPr/>
        </p:nvGraphicFramePr>
        <p:xfrm>
          <a:off x="6456363" y="628650"/>
          <a:ext cx="906462" cy="387350"/>
        </p:xfrm>
        <a:graphic>
          <a:graphicData uri="http://schemas.openxmlformats.org/presentationml/2006/ole">
            <mc:AlternateContent xmlns:mc="http://schemas.openxmlformats.org/markup-compatibility/2006">
              <mc:Choice xmlns:v="urn:schemas-microsoft-com:vml" Requires="v">
                <p:oleObj spid="_x0000_s46091" name="公式" r:id="rId19" imgW="12801600" imgH="5486400" progId="Equation.3">
                  <p:embed/>
                </p:oleObj>
              </mc:Choice>
              <mc:Fallback>
                <p:oleObj name="公式" r:id="rId19" imgW="12801600" imgH="5486400" progId="Equation.3">
                  <p:embed/>
                  <p:pic>
                    <p:nvPicPr>
                      <p:cNvPr id="0" name="Object 45"/>
                      <p:cNvPicPr>
                        <a:picLocks noChangeAspect="1"/>
                      </p:cNvPicPr>
                      <p:nvPr/>
                    </p:nvPicPr>
                    <p:blipFill>
                      <a:blip r:embed="rId20"/>
                      <a:stretch>
                        <a:fillRect/>
                      </a:stretch>
                    </p:blipFill>
                    <p:spPr>
                      <a:xfrm>
                        <a:off x="6456363" y="628650"/>
                        <a:ext cx="906462" cy="387350"/>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graphicFrame>
        <p:nvGraphicFramePr>
          <p:cNvPr id="46092" name="Object 46"/>
          <p:cNvGraphicFramePr>
            <a:graphicFrameLocks noChangeAspect="1"/>
          </p:cNvGraphicFramePr>
          <p:nvPr/>
        </p:nvGraphicFramePr>
        <p:xfrm>
          <a:off x="7812088" y="638175"/>
          <a:ext cx="906462" cy="366713"/>
        </p:xfrm>
        <a:graphic>
          <a:graphicData uri="http://schemas.openxmlformats.org/presentationml/2006/ole">
            <mc:AlternateContent xmlns:mc="http://schemas.openxmlformats.org/markup-compatibility/2006">
              <mc:Choice xmlns:v="urn:schemas-microsoft-com:vml" Requires="v">
                <p:oleObj spid="_x0000_s46092" name="公式" r:id="rId21" imgW="12801600" imgH="5181600" progId="Equation.3">
                  <p:embed/>
                </p:oleObj>
              </mc:Choice>
              <mc:Fallback>
                <p:oleObj name="公式" r:id="rId21" imgW="12801600" imgH="5181600" progId="Equation.3">
                  <p:embed/>
                  <p:pic>
                    <p:nvPicPr>
                      <p:cNvPr id="0" name="Object 46"/>
                      <p:cNvPicPr>
                        <a:picLocks noChangeAspect="1"/>
                      </p:cNvPicPr>
                      <p:nvPr/>
                    </p:nvPicPr>
                    <p:blipFill>
                      <a:blip r:embed="rId22"/>
                      <a:stretch>
                        <a:fillRect/>
                      </a:stretch>
                    </p:blipFill>
                    <p:spPr>
                      <a:xfrm>
                        <a:off x="7812088" y="638175"/>
                        <a:ext cx="906462" cy="366713"/>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6337"/>
                                        </p:tgtEl>
                                        <p:attrNameLst>
                                          <p:attrName>style.visibility</p:attrName>
                                        </p:attrNameLst>
                                      </p:cBhvr>
                                      <p:to>
                                        <p:strVal val="visible"/>
                                      </p:to>
                                    </p:set>
                                    <p:animEffect transition="in" filter="wipe(left)">
                                      <p:cBhvr>
                                        <p:cTn id="7" dur="500"/>
                                        <p:tgtEl>
                                          <p:spTgt spid="226337"/>
                                        </p:tgtEl>
                                      </p:cBhvr>
                                    </p:animEffect>
                                  </p:childTnLst>
                                </p:cTn>
                              </p:par>
                            </p:childTnLst>
                          </p:cTn>
                        </p:par>
                        <p:par>
                          <p:cTn id="8" fill="hold">
                            <p:stCondLst>
                              <p:cond delay="500"/>
                            </p:stCondLst>
                            <p:childTnLst>
                              <p:par>
                                <p:cTn id="9" presetID="26" presetClass="emph" presetSubtype="0" fill="hold" nodeType="afterEffect">
                                  <p:stCondLst>
                                    <p:cond delay="0"/>
                                  </p:stCondLst>
                                  <p:childTnLst>
                                    <p:animEffect transition="out" filter="fade">
                                      <p:cBhvr>
                                        <p:cTn id="10" dur="1000" tmFilter="0, 0; .2, .5; .8, .5; 1, 0"/>
                                        <p:tgtEl>
                                          <p:spTgt spid="3"/>
                                        </p:tgtEl>
                                      </p:cBhvr>
                                    </p:animEffect>
                                    <p:animScale>
                                      <p:cBhvr>
                                        <p:cTn id="11" dur="500" autoRev="1" fill="hold"/>
                                        <p:tgtEl>
                                          <p:spTgt spid="3"/>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26336"/>
                                        </p:tgtEl>
                                        <p:attrNameLst>
                                          <p:attrName>style.visibility</p:attrName>
                                        </p:attrNameLst>
                                      </p:cBhvr>
                                      <p:to>
                                        <p:strVal val="visible"/>
                                      </p:to>
                                    </p:set>
                                    <p:animEffect transition="in" filter="wipe(left)">
                                      <p:cBhvr>
                                        <p:cTn id="16" dur="500"/>
                                        <p:tgtEl>
                                          <p:spTgt spid="22633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6340"/>
                                        </p:tgtEl>
                                        <p:attrNameLst>
                                          <p:attrName>style.visibility</p:attrName>
                                        </p:attrNameLst>
                                      </p:cBhvr>
                                      <p:to>
                                        <p:strVal val="visible"/>
                                      </p:to>
                                    </p:set>
                                    <p:animEffect transition="in" filter="wipe(left)">
                                      <p:cBhvr>
                                        <p:cTn id="21" dur="500"/>
                                        <p:tgtEl>
                                          <p:spTgt spid="22634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26338"/>
                                        </p:tgtEl>
                                        <p:attrNameLst>
                                          <p:attrName>style.visibility</p:attrName>
                                        </p:attrNameLst>
                                      </p:cBhvr>
                                      <p:to>
                                        <p:strVal val="visible"/>
                                      </p:to>
                                    </p:set>
                                    <p:animEffect transition="in" filter="wipe(left)">
                                      <p:cBhvr>
                                        <p:cTn id="26" dur="500"/>
                                        <p:tgtEl>
                                          <p:spTgt spid="226338"/>
                                        </p:tgtEl>
                                      </p:cBhvr>
                                    </p:animEffect>
                                  </p:childTnLst>
                                </p:cTn>
                              </p:par>
                            </p:childTnLst>
                          </p:cTn>
                        </p:par>
                        <p:par>
                          <p:cTn id="27" fill="hold">
                            <p:stCondLst>
                              <p:cond delay="500"/>
                            </p:stCondLst>
                            <p:childTnLst>
                              <p:par>
                                <p:cTn id="28" presetID="26" presetClass="emph" presetSubtype="0" fill="hold" nodeType="afterEffect">
                                  <p:stCondLst>
                                    <p:cond delay="0"/>
                                  </p:stCondLst>
                                  <p:childTnLst>
                                    <p:animEffect transition="out" filter="fade">
                                      <p:cBhvr>
                                        <p:cTn id="29" dur="1000" tmFilter="0, 0; .2, .5; .8, .5; 1, 0"/>
                                        <p:tgtEl>
                                          <p:spTgt spid="4"/>
                                        </p:tgtEl>
                                      </p:cBhvr>
                                    </p:animEffect>
                                    <p:animScale>
                                      <p:cBhvr>
                                        <p:cTn id="30" dur="500" autoRev="1" fill="hold"/>
                                        <p:tgtEl>
                                          <p:spTgt spid="4"/>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26339"/>
                                        </p:tgtEl>
                                        <p:attrNameLst>
                                          <p:attrName>style.visibility</p:attrName>
                                        </p:attrNameLst>
                                      </p:cBhvr>
                                      <p:to>
                                        <p:strVal val="visible"/>
                                      </p:to>
                                    </p:set>
                                    <p:animEffect transition="in" filter="wipe(left)">
                                      <p:cBhvr>
                                        <p:cTn id="35" dur="500"/>
                                        <p:tgtEl>
                                          <p:spTgt spid="22633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26341"/>
                                        </p:tgtEl>
                                        <p:attrNameLst>
                                          <p:attrName>style.visibility</p:attrName>
                                        </p:attrNameLst>
                                      </p:cBhvr>
                                      <p:to>
                                        <p:strVal val="visible"/>
                                      </p:to>
                                    </p:set>
                                    <p:animEffect transition="in" filter="wipe(left)">
                                      <p:cBhvr>
                                        <p:cTn id="40" dur="500"/>
                                        <p:tgtEl>
                                          <p:spTgt spid="22634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26342"/>
                                        </p:tgtEl>
                                        <p:attrNameLst>
                                          <p:attrName>style.visibility</p:attrName>
                                        </p:attrNameLst>
                                      </p:cBhvr>
                                      <p:to>
                                        <p:strVal val="visible"/>
                                      </p:to>
                                    </p:set>
                                    <p:animEffect transition="in" filter="wipe(left)">
                                      <p:cBhvr>
                                        <p:cTn id="45" dur="500"/>
                                        <p:tgtEl>
                                          <p:spTgt spid="226342"/>
                                        </p:tgtEl>
                                      </p:cBhvr>
                                    </p:animEffect>
                                  </p:childTnLst>
                                </p:cTn>
                              </p:par>
                            </p:childTnLst>
                          </p:cTn>
                        </p:par>
                        <p:par>
                          <p:cTn id="46" fill="hold">
                            <p:stCondLst>
                              <p:cond delay="500"/>
                            </p:stCondLst>
                            <p:childTnLst>
                              <p:par>
                                <p:cTn id="47" presetID="26" presetClass="emph" presetSubtype="0" fill="hold" nodeType="afterEffect">
                                  <p:stCondLst>
                                    <p:cond delay="0"/>
                                  </p:stCondLst>
                                  <p:childTnLst>
                                    <p:animEffect transition="out" filter="fade">
                                      <p:cBhvr>
                                        <p:cTn id="48" dur="1000" tmFilter="0, 0; .2, .5; .8, .5; 1, 0"/>
                                        <p:tgtEl>
                                          <p:spTgt spid="5"/>
                                        </p:tgtEl>
                                      </p:cBhvr>
                                    </p:animEffect>
                                    <p:animScale>
                                      <p:cBhvr>
                                        <p:cTn id="49" dur="500" autoRev="1" fill="hold"/>
                                        <p:tgtEl>
                                          <p:spTgt spid="5"/>
                                        </p:tgtEl>
                                      </p:cBhvr>
                                      <p:by x="105000" y="105000"/>
                                    </p:animScale>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26343"/>
                                        </p:tgtEl>
                                        <p:attrNameLst>
                                          <p:attrName>style.visibility</p:attrName>
                                        </p:attrNameLst>
                                      </p:cBhvr>
                                      <p:to>
                                        <p:strVal val="visible"/>
                                      </p:to>
                                    </p:set>
                                    <p:animEffect transition="in" filter="wipe(left)">
                                      <p:cBhvr>
                                        <p:cTn id="54" dur="500"/>
                                        <p:tgtEl>
                                          <p:spTgt spid="22634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26344"/>
                                        </p:tgtEl>
                                        <p:attrNameLst>
                                          <p:attrName>style.visibility</p:attrName>
                                        </p:attrNameLst>
                                      </p:cBhvr>
                                      <p:to>
                                        <p:strVal val="visible"/>
                                      </p:to>
                                    </p:set>
                                    <p:animEffect transition="in" filter="wipe(left)">
                                      <p:cBhvr>
                                        <p:cTn id="59" dur="500"/>
                                        <p:tgtEl>
                                          <p:spTgt spid="22634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26345"/>
                                        </p:tgtEl>
                                        <p:attrNameLst>
                                          <p:attrName>style.visibility</p:attrName>
                                        </p:attrNameLst>
                                      </p:cBhvr>
                                      <p:to>
                                        <p:strVal val="visible"/>
                                      </p:to>
                                    </p:set>
                                    <p:animEffect transition="in" filter="wipe(left)">
                                      <p:cBhvr>
                                        <p:cTn id="64" dur="500"/>
                                        <p:tgtEl>
                                          <p:spTgt spid="226345"/>
                                        </p:tgtEl>
                                      </p:cBhvr>
                                    </p:animEffect>
                                  </p:childTnLst>
                                </p:cTn>
                              </p:par>
                            </p:childTnLst>
                          </p:cTn>
                        </p:par>
                        <p:par>
                          <p:cTn id="65" fill="hold">
                            <p:stCondLst>
                              <p:cond delay="500"/>
                            </p:stCondLst>
                            <p:childTnLst>
                              <p:par>
                                <p:cTn id="66" presetID="26" presetClass="emph" presetSubtype="0" fill="hold" nodeType="afterEffect">
                                  <p:stCondLst>
                                    <p:cond delay="0"/>
                                  </p:stCondLst>
                                  <p:childTnLst>
                                    <p:animEffect transition="out" filter="fade">
                                      <p:cBhvr>
                                        <p:cTn id="67" dur="1000" tmFilter="0, 0; .2, .5; .8, .5; 1, 0"/>
                                        <p:tgtEl>
                                          <p:spTgt spid="6"/>
                                        </p:tgtEl>
                                      </p:cBhvr>
                                    </p:animEffect>
                                    <p:animScale>
                                      <p:cBhvr>
                                        <p:cTn id="68" dur="500" autoRev="1" fill="hold"/>
                                        <p:tgtEl>
                                          <p:spTgt spid="6"/>
                                        </p:tgtEl>
                                      </p:cBhvr>
                                      <p:by x="105000" y="105000"/>
                                    </p:animScale>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26346"/>
                                        </p:tgtEl>
                                        <p:attrNameLst>
                                          <p:attrName>style.visibility</p:attrName>
                                        </p:attrNameLst>
                                      </p:cBhvr>
                                      <p:to>
                                        <p:strVal val="visible"/>
                                      </p:to>
                                    </p:set>
                                    <p:animEffect transition="in" filter="wipe(left)">
                                      <p:cBhvr>
                                        <p:cTn id="73" dur="500"/>
                                        <p:tgtEl>
                                          <p:spTgt spid="22634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26347"/>
                                        </p:tgtEl>
                                        <p:attrNameLst>
                                          <p:attrName>style.visibility</p:attrName>
                                        </p:attrNameLst>
                                      </p:cBhvr>
                                      <p:to>
                                        <p:strVal val="visible"/>
                                      </p:to>
                                    </p:set>
                                    <p:animEffect transition="in" filter="wipe(left)">
                                      <p:cBhvr>
                                        <p:cTn id="78" dur="500"/>
                                        <p:tgtEl>
                                          <p:spTgt spid="226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37" grpId="0"/>
      <p:bldP spid="226338" grpId="0"/>
      <p:bldP spid="226342" grpId="0"/>
      <p:bldP spid="22634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10" name="Group 2"/>
          <p:cNvGrpSpPr/>
          <p:nvPr/>
        </p:nvGrpSpPr>
        <p:grpSpPr bwMode="auto">
          <a:xfrm>
            <a:off x="6680200" y="2565400"/>
            <a:ext cx="2376488" cy="1908175"/>
            <a:chOff x="4150" y="1752"/>
            <a:chExt cx="1497" cy="1202"/>
          </a:xfrm>
        </p:grpSpPr>
        <p:sp>
          <p:nvSpPr>
            <p:cNvPr id="47139" name="Line 3"/>
            <p:cNvSpPr>
              <a:spLocks noChangeShapeType="1"/>
            </p:cNvSpPr>
            <p:nvPr/>
          </p:nvSpPr>
          <p:spPr bwMode="auto">
            <a:xfrm flipV="1">
              <a:off x="4377" y="1842"/>
              <a:ext cx="0" cy="908"/>
            </a:xfrm>
            <a:prstGeom prst="line">
              <a:avLst/>
            </a:prstGeom>
            <a:noFill/>
            <a:ln w="38100">
              <a:solidFill>
                <a:schemeClr val="tx1"/>
              </a:solidFill>
              <a:round/>
              <a:tailEnd type="triangle" w="med" len="med"/>
            </a:ln>
          </p:spPr>
          <p:txBody>
            <a:bodyPr/>
            <a:lstStyle/>
            <a:p>
              <a:endParaRPr lang="zh-CN" altLang="en-US"/>
            </a:p>
          </p:txBody>
        </p:sp>
        <p:sp>
          <p:nvSpPr>
            <p:cNvPr id="47140" name="Line 4"/>
            <p:cNvSpPr>
              <a:spLocks noChangeShapeType="1"/>
            </p:cNvSpPr>
            <p:nvPr/>
          </p:nvSpPr>
          <p:spPr bwMode="auto">
            <a:xfrm>
              <a:off x="4365" y="2750"/>
              <a:ext cx="1043" cy="0"/>
            </a:xfrm>
            <a:prstGeom prst="line">
              <a:avLst/>
            </a:prstGeom>
            <a:noFill/>
            <a:ln w="38100">
              <a:solidFill>
                <a:schemeClr val="tx1"/>
              </a:solidFill>
              <a:round/>
              <a:tailEnd type="triangle" w="med" len="med"/>
            </a:ln>
          </p:spPr>
          <p:txBody>
            <a:bodyPr/>
            <a:lstStyle/>
            <a:p>
              <a:endParaRPr lang="zh-CN" altLang="en-US"/>
            </a:p>
          </p:txBody>
        </p:sp>
        <p:sp>
          <p:nvSpPr>
            <p:cNvPr id="47141" name="Text Box 5"/>
            <p:cNvSpPr txBox="1">
              <a:spLocks noChangeArrowheads="1"/>
            </p:cNvSpPr>
            <p:nvPr/>
          </p:nvSpPr>
          <p:spPr bwMode="auto">
            <a:xfrm>
              <a:off x="4150" y="2704"/>
              <a:ext cx="408" cy="250"/>
            </a:xfrm>
            <a:prstGeom prst="rect">
              <a:avLst/>
            </a:prstGeom>
            <a:noFill/>
            <a:ln w="9525">
              <a:noFill/>
              <a:miter lim="800000"/>
            </a:ln>
          </p:spPr>
          <p:txBody>
            <a:bodyPr>
              <a:spAutoFit/>
            </a:bodyPr>
            <a:lstStyle/>
            <a:p>
              <a:r>
                <a:rPr lang="en-US" altLang="zh-CN" sz="2000" i="1"/>
                <a:t>O</a:t>
              </a:r>
              <a:endParaRPr lang="en-US" altLang="zh-CN" sz="2000" i="1"/>
            </a:p>
          </p:txBody>
        </p:sp>
        <p:sp>
          <p:nvSpPr>
            <p:cNvPr id="47142" name="Text Box 6"/>
            <p:cNvSpPr txBox="1">
              <a:spLocks noChangeArrowheads="1"/>
            </p:cNvSpPr>
            <p:nvPr/>
          </p:nvSpPr>
          <p:spPr bwMode="auto">
            <a:xfrm>
              <a:off x="4150" y="1752"/>
              <a:ext cx="272" cy="250"/>
            </a:xfrm>
            <a:prstGeom prst="rect">
              <a:avLst/>
            </a:prstGeom>
            <a:noFill/>
            <a:ln w="9525">
              <a:noFill/>
              <a:miter lim="800000"/>
            </a:ln>
          </p:spPr>
          <p:txBody>
            <a:bodyPr>
              <a:spAutoFit/>
            </a:bodyPr>
            <a:lstStyle/>
            <a:p>
              <a:r>
                <a:rPr lang="en-US" altLang="zh-CN" sz="2000" i="1"/>
                <a:t>p</a:t>
              </a:r>
              <a:endParaRPr lang="en-US" altLang="zh-CN" sz="2000" i="1"/>
            </a:p>
          </p:txBody>
        </p:sp>
        <p:sp>
          <p:nvSpPr>
            <p:cNvPr id="47143" name="Text Box 7"/>
            <p:cNvSpPr txBox="1">
              <a:spLocks noChangeArrowheads="1"/>
            </p:cNvSpPr>
            <p:nvPr/>
          </p:nvSpPr>
          <p:spPr bwMode="auto">
            <a:xfrm>
              <a:off x="5329" y="2704"/>
              <a:ext cx="318" cy="250"/>
            </a:xfrm>
            <a:prstGeom prst="rect">
              <a:avLst/>
            </a:prstGeom>
            <a:noFill/>
            <a:ln w="9525">
              <a:noFill/>
              <a:miter lim="800000"/>
            </a:ln>
          </p:spPr>
          <p:txBody>
            <a:bodyPr>
              <a:spAutoFit/>
            </a:bodyPr>
            <a:lstStyle/>
            <a:p>
              <a:r>
                <a:rPr lang="en-US" altLang="zh-CN" sz="2000" i="1"/>
                <a:t>V</a:t>
              </a:r>
              <a:endParaRPr lang="en-US" altLang="zh-CN" sz="2000" i="1"/>
            </a:p>
          </p:txBody>
        </p:sp>
      </p:grpSp>
      <p:sp>
        <p:nvSpPr>
          <p:cNvPr id="47111" name="Line 8"/>
          <p:cNvSpPr>
            <a:spLocks noChangeShapeType="1"/>
          </p:cNvSpPr>
          <p:nvPr/>
        </p:nvSpPr>
        <p:spPr bwMode="auto">
          <a:xfrm>
            <a:off x="7562850" y="3500438"/>
            <a:ext cx="0" cy="649287"/>
          </a:xfrm>
          <a:prstGeom prst="line">
            <a:avLst/>
          </a:prstGeom>
          <a:noFill/>
          <a:ln w="9525">
            <a:solidFill>
              <a:schemeClr val="tx1"/>
            </a:solidFill>
            <a:prstDash val="dash"/>
            <a:round/>
          </a:ln>
        </p:spPr>
        <p:txBody>
          <a:bodyPr/>
          <a:lstStyle/>
          <a:p>
            <a:endParaRPr lang="zh-CN" altLang="en-US"/>
          </a:p>
        </p:txBody>
      </p:sp>
      <p:sp>
        <p:nvSpPr>
          <p:cNvPr id="47112" name="Line 9"/>
          <p:cNvSpPr>
            <a:spLocks noChangeShapeType="1"/>
          </p:cNvSpPr>
          <p:nvPr/>
        </p:nvSpPr>
        <p:spPr bwMode="auto">
          <a:xfrm>
            <a:off x="8120063" y="3573463"/>
            <a:ext cx="0" cy="576262"/>
          </a:xfrm>
          <a:prstGeom prst="line">
            <a:avLst/>
          </a:prstGeom>
          <a:noFill/>
          <a:ln w="9525">
            <a:solidFill>
              <a:schemeClr val="tx1"/>
            </a:solidFill>
            <a:prstDash val="dash"/>
            <a:round/>
          </a:ln>
        </p:spPr>
        <p:txBody>
          <a:bodyPr/>
          <a:lstStyle/>
          <a:p>
            <a:endParaRPr lang="zh-CN" altLang="en-US"/>
          </a:p>
        </p:txBody>
      </p:sp>
      <p:sp>
        <p:nvSpPr>
          <p:cNvPr id="47113" name="Line 10"/>
          <p:cNvSpPr>
            <a:spLocks noChangeShapeType="1"/>
          </p:cNvSpPr>
          <p:nvPr/>
        </p:nvSpPr>
        <p:spPr bwMode="auto">
          <a:xfrm rot="-5400000">
            <a:off x="7328694" y="2780507"/>
            <a:ext cx="0" cy="576262"/>
          </a:xfrm>
          <a:prstGeom prst="line">
            <a:avLst/>
          </a:prstGeom>
          <a:noFill/>
          <a:ln w="9525">
            <a:solidFill>
              <a:schemeClr val="tx1"/>
            </a:solidFill>
            <a:prstDash val="dash"/>
            <a:round/>
          </a:ln>
        </p:spPr>
        <p:txBody>
          <a:bodyPr/>
          <a:lstStyle/>
          <a:p>
            <a:endParaRPr lang="zh-CN" altLang="en-US"/>
          </a:p>
        </p:txBody>
      </p:sp>
      <p:sp>
        <p:nvSpPr>
          <p:cNvPr id="47114" name="Line 11"/>
          <p:cNvSpPr>
            <a:spLocks noChangeShapeType="1"/>
          </p:cNvSpPr>
          <p:nvPr/>
        </p:nvSpPr>
        <p:spPr bwMode="auto">
          <a:xfrm rot="-5400000">
            <a:off x="7328694" y="3356769"/>
            <a:ext cx="0" cy="576262"/>
          </a:xfrm>
          <a:prstGeom prst="line">
            <a:avLst/>
          </a:prstGeom>
          <a:noFill/>
          <a:ln w="9525">
            <a:solidFill>
              <a:schemeClr val="tx1"/>
            </a:solidFill>
            <a:prstDash val="dash"/>
            <a:round/>
          </a:ln>
        </p:spPr>
        <p:txBody>
          <a:bodyPr/>
          <a:lstStyle/>
          <a:p>
            <a:endParaRPr lang="zh-CN" altLang="en-US"/>
          </a:p>
        </p:txBody>
      </p:sp>
      <p:grpSp>
        <p:nvGrpSpPr>
          <p:cNvPr id="47115" name="Group 12"/>
          <p:cNvGrpSpPr/>
          <p:nvPr/>
        </p:nvGrpSpPr>
        <p:grpSpPr bwMode="auto">
          <a:xfrm>
            <a:off x="7543800" y="3068638"/>
            <a:ext cx="4763" cy="576262"/>
            <a:chOff x="4694" y="2069"/>
            <a:chExt cx="3" cy="363"/>
          </a:xfrm>
        </p:grpSpPr>
        <p:sp>
          <p:nvSpPr>
            <p:cNvPr id="47137" name="Line 13"/>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47138" name="Line 14"/>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grpSp>
        <p:nvGrpSpPr>
          <p:cNvPr id="47116" name="Group 15"/>
          <p:cNvGrpSpPr/>
          <p:nvPr/>
        </p:nvGrpSpPr>
        <p:grpSpPr bwMode="auto">
          <a:xfrm rot="5400000">
            <a:off x="7829551" y="2782887"/>
            <a:ext cx="4762" cy="576263"/>
            <a:chOff x="4694" y="2069"/>
            <a:chExt cx="3" cy="363"/>
          </a:xfrm>
        </p:grpSpPr>
        <p:sp>
          <p:nvSpPr>
            <p:cNvPr id="47135" name="Line 16"/>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47136" name="Line 17"/>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grpSp>
        <p:nvGrpSpPr>
          <p:cNvPr id="47117" name="Group 18"/>
          <p:cNvGrpSpPr/>
          <p:nvPr/>
        </p:nvGrpSpPr>
        <p:grpSpPr bwMode="auto">
          <a:xfrm rot="10800000">
            <a:off x="8115300" y="3068638"/>
            <a:ext cx="4763" cy="576262"/>
            <a:chOff x="4694" y="2069"/>
            <a:chExt cx="3" cy="363"/>
          </a:xfrm>
        </p:grpSpPr>
        <p:sp>
          <p:nvSpPr>
            <p:cNvPr id="47133" name="Line 19"/>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47134" name="Line 20"/>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grpSp>
        <p:nvGrpSpPr>
          <p:cNvPr id="47118" name="Group 21"/>
          <p:cNvGrpSpPr/>
          <p:nvPr/>
        </p:nvGrpSpPr>
        <p:grpSpPr bwMode="auto">
          <a:xfrm rot="-5400000">
            <a:off x="7829551" y="3354387"/>
            <a:ext cx="4762" cy="576263"/>
            <a:chOff x="4694" y="2069"/>
            <a:chExt cx="3" cy="363"/>
          </a:xfrm>
        </p:grpSpPr>
        <p:sp>
          <p:nvSpPr>
            <p:cNvPr id="47131" name="Line 22"/>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47132" name="Line 23"/>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sp>
        <p:nvSpPr>
          <p:cNvPr id="47119" name="Text Box 24"/>
          <p:cNvSpPr txBox="1">
            <a:spLocks noChangeArrowheads="1"/>
          </p:cNvSpPr>
          <p:nvPr/>
        </p:nvSpPr>
        <p:spPr bwMode="auto">
          <a:xfrm>
            <a:off x="7327900" y="4111625"/>
            <a:ext cx="741363" cy="396875"/>
          </a:xfrm>
          <a:prstGeom prst="rect">
            <a:avLst/>
          </a:prstGeom>
          <a:noFill/>
          <a:ln w="9525">
            <a:noFill/>
            <a:miter lim="800000"/>
          </a:ln>
        </p:spPr>
        <p:txBody>
          <a:bodyPr>
            <a:spAutoFit/>
          </a:bodyPr>
          <a:lstStyle/>
          <a:p>
            <a:r>
              <a:rPr lang="en-US" altLang="zh-CN" sz="2000" i="1">
                <a:solidFill>
                  <a:srgbClr val="0000FF"/>
                </a:solidFill>
              </a:rPr>
              <a:t>V</a:t>
            </a:r>
            <a:r>
              <a:rPr lang="en-US" altLang="zh-CN" sz="2000" baseline="-25000">
                <a:solidFill>
                  <a:srgbClr val="0000FF"/>
                </a:solidFill>
              </a:rPr>
              <a:t>1</a:t>
            </a:r>
            <a:endParaRPr lang="en-US" altLang="zh-CN" sz="2000" baseline="-25000">
              <a:solidFill>
                <a:srgbClr val="0000FF"/>
              </a:solidFill>
            </a:endParaRPr>
          </a:p>
        </p:txBody>
      </p:sp>
      <p:sp>
        <p:nvSpPr>
          <p:cNvPr id="47120" name="Text Box 25"/>
          <p:cNvSpPr txBox="1">
            <a:spLocks noChangeArrowheads="1"/>
          </p:cNvSpPr>
          <p:nvPr/>
        </p:nvSpPr>
        <p:spPr bwMode="auto">
          <a:xfrm>
            <a:off x="7918450" y="4105275"/>
            <a:ext cx="741363" cy="396875"/>
          </a:xfrm>
          <a:prstGeom prst="rect">
            <a:avLst/>
          </a:prstGeom>
          <a:noFill/>
          <a:ln w="9525">
            <a:noFill/>
            <a:miter lim="800000"/>
          </a:ln>
        </p:spPr>
        <p:txBody>
          <a:bodyPr>
            <a:spAutoFit/>
          </a:bodyPr>
          <a:lstStyle/>
          <a:p>
            <a:r>
              <a:rPr lang="en-US" altLang="zh-CN" sz="2000" i="1">
                <a:solidFill>
                  <a:srgbClr val="0000FF"/>
                </a:solidFill>
              </a:rPr>
              <a:t>V</a:t>
            </a:r>
            <a:r>
              <a:rPr lang="en-US" altLang="zh-CN" sz="2000" baseline="-25000">
                <a:solidFill>
                  <a:srgbClr val="0000FF"/>
                </a:solidFill>
              </a:rPr>
              <a:t>4</a:t>
            </a:r>
            <a:endParaRPr lang="en-US" altLang="zh-CN" sz="2000" baseline="-25000">
              <a:solidFill>
                <a:srgbClr val="0000FF"/>
              </a:solidFill>
            </a:endParaRPr>
          </a:p>
        </p:txBody>
      </p:sp>
      <p:sp>
        <p:nvSpPr>
          <p:cNvPr id="47121" name="Text Box 26"/>
          <p:cNvSpPr txBox="1">
            <a:spLocks noChangeArrowheads="1"/>
          </p:cNvSpPr>
          <p:nvPr/>
        </p:nvSpPr>
        <p:spPr bwMode="auto">
          <a:xfrm>
            <a:off x="6659563" y="3357563"/>
            <a:ext cx="741362" cy="396875"/>
          </a:xfrm>
          <a:prstGeom prst="rect">
            <a:avLst/>
          </a:prstGeom>
          <a:noFill/>
          <a:ln w="9525">
            <a:noFill/>
            <a:miter lim="800000"/>
          </a:ln>
        </p:spPr>
        <p:txBody>
          <a:bodyPr>
            <a:spAutoFit/>
          </a:bodyPr>
          <a:lstStyle/>
          <a:p>
            <a:r>
              <a:rPr lang="en-US" altLang="zh-CN" sz="2000" i="1">
                <a:solidFill>
                  <a:srgbClr val="0000FF"/>
                </a:solidFill>
              </a:rPr>
              <a:t>p</a:t>
            </a:r>
            <a:r>
              <a:rPr lang="en-US" altLang="zh-CN" sz="2000" baseline="-25000">
                <a:solidFill>
                  <a:srgbClr val="0000FF"/>
                </a:solidFill>
              </a:rPr>
              <a:t>1</a:t>
            </a:r>
            <a:endParaRPr lang="en-US" altLang="zh-CN" sz="2000" baseline="-25000">
              <a:solidFill>
                <a:srgbClr val="0000FF"/>
              </a:solidFill>
            </a:endParaRPr>
          </a:p>
        </p:txBody>
      </p:sp>
      <p:sp>
        <p:nvSpPr>
          <p:cNvPr id="47122" name="Text Box 27"/>
          <p:cNvSpPr txBox="1">
            <a:spLocks noChangeArrowheads="1"/>
          </p:cNvSpPr>
          <p:nvPr/>
        </p:nvSpPr>
        <p:spPr bwMode="auto">
          <a:xfrm>
            <a:off x="6659563" y="2852738"/>
            <a:ext cx="741362" cy="396875"/>
          </a:xfrm>
          <a:prstGeom prst="rect">
            <a:avLst/>
          </a:prstGeom>
          <a:noFill/>
          <a:ln w="9525">
            <a:noFill/>
            <a:miter lim="800000"/>
          </a:ln>
        </p:spPr>
        <p:txBody>
          <a:bodyPr>
            <a:spAutoFit/>
          </a:bodyPr>
          <a:lstStyle/>
          <a:p>
            <a:r>
              <a:rPr lang="en-US" altLang="zh-CN" sz="2000" i="1">
                <a:solidFill>
                  <a:srgbClr val="0000FF"/>
                </a:solidFill>
              </a:rPr>
              <a:t>p</a:t>
            </a:r>
            <a:r>
              <a:rPr lang="en-US" altLang="zh-CN" sz="2000" baseline="-25000">
                <a:solidFill>
                  <a:srgbClr val="0000FF"/>
                </a:solidFill>
              </a:rPr>
              <a:t>2</a:t>
            </a:r>
            <a:endParaRPr lang="en-US" altLang="zh-CN" sz="2000" baseline="-25000">
              <a:solidFill>
                <a:srgbClr val="0000FF"/>
              </a:solidFill>
            </a:endParaRPr>
          </a:p>
        </p:txBody>
      </p:sp>
      <p:sp>
        <p:nvSpPr>
          <p:cNvPr id="47123" name="Text Box 28"/>
          <p:cNvSpPr txBox="1">
            <a:spLocks noChangeArrowheads="1"/>
          </p:cNvSpPr>
          <p:nvPr/>
        </p:nvSpPr>
        <p:spPr bwMode="auto">
          <a:xfrm>
            <a:off x="7327900" y="3573463"/>
            <a:ext cx="741363" cy="396875"/>
          </a:xfrm>
          <a:prstGeom prst="rect">
            <a:avLst/>
          </a:prstGeom>
          <a:noFill/>
          <a:ln w="9525">
            <a:noFill/>
            <a:miter lim="800000"/>
          </a:ln>
        </p:spPr>
        <p:txBody>
          <a:bodyPr>
            <a:spAutoFit/>
          </a:bodyPr>
          <a:lstStyle/>
          <a:p>
            <a:r>
              <a:rPr lang="en-US" altLang="zh-CN" sz="2000">
                <a:solidFill>
                  <a:srgbClr val="FF0000"/>
                </a:solidFill>
              </a:rPr>
              <a:t>1</a:t>
            </a:r>
            <a:endParaRPr lang="en-US" altLang="zh-CN" sz="2000" baseline="-25000">
              <a:solidFill>
                <a:srgbClr val="FF0000"/>
              </a:solidFill>
            </a:endParaRPr>
          </a:p>
        </p:txBody>
      </p:sp>
      <p:sp>
        <p:nvSpPr>
          <p:cNvPr id="47124" name="Text Box 29"/>
          <p:cNvSpPr txBox="1">
            <a:spLocks noChangeArrowheads="1"/>
          </p:cNvSpPr>
          <p:nvPr/>
        </p:nvSpPr>
        <p:spPr bwMode="auto">
          <a:xfrm>
            <a:off x="7327900" y="2708275"/>
            <a:ext cx="741363" cy="396875"/>
          </a:xfrm>
          <a:prstGeom prst="rect">
            <a:avLst/>
          </a:prstGeom>
          <a:noFill/>
          <a:ln w="9525">
            <a:noFill/>
            <a:miter lim="800000"/>
          </a:ln>
        </p:spPr>
        <p:txBody>
          <a:bodyPr>
            <a:spAutoFit/>
          </a:bodyPr>
          <a:lstStyle/>
          <a:p>
            <a:r>
              <a:rPr lang="en-US" altLang="zh-CN" sz="2000">
                <a:solidFill>
                  <a:srgbClr val="FF0000"/>
                </a:solidFill>
              </a:rPr>
              <a:t>2</a:t>
            </a:r>
            <a:endParaRPr lang="en-US" altLang="zh-CN" sz="2000" baseline="-25000">
              <a:solidFill>
                <a:srgbClr val="FF0000"/>
              </a:solidFill>
            </a:endParaRPr>
          </a:p>
        </p:txBody>
      </p:sp>
      <p:sp>
        <p:nvSpPr>
          <p:cNvPr id="47125" name="Text Box 30"/>
          <p:cNvSpPr txBox="1">
            <a:spLocks noChangeArrowheads="1"/>
          </p:cNvSpPr>
          <p:nvPr/>
        </p:nvSpPr>
        <p:spPr bwMode="auto">
          <a:xfrm>
            <a:off x="8099425" y="2708275"/>
            <a:ext cx="741363" cy="396875"/>
          </a:xfrm>
          <a:prstGeom prst="rect">
            <a:avLst/>
          </a:prstGeom>
          <a:noFill/>
          <a:ln w="9525">
            <a:noFill/>
            <a:miter lim="800000"/>
          </a:ln>
        </p:spPr>
        <p:txBody>
          <a:bodyPr>
            <a:spAutoFit/>
          </a:bodyPr>
          <a:lstStyle/>
          <a:p>
            <a:r>
              <a:rPr lang="en-US" altLang="zh-CN" sz="2000">
                <a:solidFill>
                  <a:srgbClr val="FF0000"/>
                </a:solidFill>
              </a:rPr>
              <a:t>3</a:t>
            </a:r>
            <a:endParaRPr lang="en-US" altLang="zh-CN" sz="2000" baseline="-25000">
              <a:solidFill>
                <a:srgbClr val="FF0000"/>
              </a:solidFill>
            </a:endParaRPr>
          </a:p>
        </p:txBody>
      </p:sp>
      <p:sp>
        <p:nvSpPr>
          <p:cNvPr id="47126" name="Text Box 31"/>
          <p:cNvSpPr txBox="1">
            <a:spLocks noChangeArrowheads="1"/>
          </p:cNvSpPr>
          <p:nvPr/>
        </p:nvSpPr>
        <p:spPr bwMode="auto">
          <a:xfrm>
            <a:off x="8099425" y="3500438"/>
            <a:ext cx="741363" cy="396875"/>
          </a:xfrm>
          <a:prstGeom prst="rect">
            <a:avLst/>
          </a:prstGeom>
          <a:noFill/>
          <a:ln w="9525">
            <a:noFill/>
            <a:miter lim="800000"/>
          </a:ln>
        </p:spPr>
        <p:txBody>
          <a:bodyPr>
            <a:spAutoFit/>
          </a:bodyPr>
          <a:lstStyle/>
          <a:p>
            <a:r>
              <a:rPr lang="en-US" altLang="zh-CN" sz="2000">
                <a:solidFill>
                  <a:srgbClr val="FF0000"/>
                </a:solidFill>
              </a:rPr>
              <a:t>4</a:t>
            </a:r>
            <a:endParaRPr lang="en-US" altLang="zh-CN" sz="2000" baseline="-25000">
              <a:solidFill>
                <a:srgbClr val="FF0000"/>
              </a:solidFill>
            </a:endParaRPr>
          </a:p>
        </p:txBody>
      </p:sp>
      <p:sp>
        <p:nvSpPr>
          <p:cNvPr id="89120" name="Text Box 32"/>
          <p:cNvSpPr txBox="1">
            <a:spLocks noChangeArrowheads="1"/>
          </p:cNvSpPr>
          <p:nvPr/>
        </p:nvSpPr>
        <p:spPr bwMode="auto">
          <a:xfrm>
            <a:off x="755650" y="1052513"/>
            <a:ext cx="1244600" cy="457200"/>
          </a:xfrm>
          <a:prstGeom prst="rect">
            <a:avLst/>
          </a:prstGeom>
          <a:noFill/>
          <a:ln w="9525">
            <a:noFill/>
            <a:miter lim="800000"/>
          </a:ln>
        </p:spPr>
        <p:txBody>
          <a:bodyPr>
            <a:spAutoFit/>
          </a:bodyPr>
          <a:lstStyle/>
          <a:p>
            <a:r>
              <a:rPr lang="zh-CN" altLang="en-US" b="1">
                <a:solidFill>
                  <a:srgbClr val="0000FF"/>
                </a:solidFill>
                <a:cs typeface="Times New Roman" panose="02020603050405020304" pitchFamily="18" charset="0"/>
              </a:rPr>
              <a:t>（</a:t>
            </a:r>
            <a:r>
              <a:rPr lang="en-US" altLang="zh-CN" b="1">
                <a:solidFill>
                  <a:srgbClr val="0000FF"/>
                </a:solidFill>
                <a:cs typeface="Times New Roman" panose="02020603050405020304" pitchFamily="18" charset="0"/>
              </a:rPr>
              <a:t>2</a:t>
            </a:r>
            <a:r>
              <a:rPr lang="zh-CN" altLang="en-US" b="1">
                <a:solidFill>
                  <a:srgbClr val="0000FF"/>
                </a:solidFill>
                <a:cs typeface="Times New Roman" panose="02020603050405020304" pitchFamily="18" charset="0"/>
              </a:rPr>
              <a:t>）</a:t>
            </a:r>
            <a:endParaRPr lang="zh-CN" altLang="en-US" b="1">
              <a:solidFill>
                <a:srgbClr val="0000FF"/>
              </a:solidFill>
              <a:cs typeface="Times New Roman" panose="02020603050405020304" pitchFamily="18" charset="0"/>
            </a:endParaRPr>
          </a:p>
        </p:txBody>
      </p:sp>
      <p:sp>
        <p:nvSpPr>
          <p:cNvPr id="89121" name="Text Box 33"/>
          <p:cNvSpPr txBox="1">
            <a:spLocks noChangeArrowheads="1"/>
          </p:cNvSpPr>
          <p:nvPr/>
        </p:nvSpPr>
        <p:spPr bwMode="auto">
          <a:xfrm>
            <a:off x="1643063" y="1052513"/>
            <a:ext cx="5203825" cy="457200"/>
          </a:xfrm>
          <a:prstGeom prst="rect">
            <a:avLst/>
          </a:prstGeom>
          <a:noFill/>
          <a:ln w="9525">
            <a:noFill/>
            <a:miter lim="800000"/>
          </a:ln>
        </p:spPr>
        <p:txBody>
          <a:bodyPr>
            <a:spAutoFit/>
          </a:bodyPr>
          <a:lstStyle/>
          <a:p>
            <a:r>
              <a:rPr lang="zh-CN" altLang="en-US" b="1"/>
              <a:t>经历一个循环，系统吸收的总热量</a:t>
            </a:r>
            <a:endParaRPr lang="zh-CN" altLang="en-US" b="1"/>
          </a:p>
        </p:txBody>
      </p:sp>
      <p:graphicFrame>
        <p:nvGraphicFramePr>
          <p:cNvPr id="89122" name="Object 34"/>
          <p:cNvGraphicFramePr>
            <a:graphicFrameLocks noChangeAspect="1"/>
          </p:cNvGraphicFramePr>
          <p:nvPr/>
        </p:nvGraphicFramePr>
        <p:xfrm>
          <a:off x="1560513" y="1700213"/>
          <a:ext cx="1719262" cy="454025"/>
        </p:xfrm>
        <a:graphic>
          <a:graphicData uri="http://schemas.openxmlformats.org/presentationml/2006/ole">
            <mc:AlternateContent xmlns:mc="http://schemas.openxmlformats.org/markup-compatibility/2006">
              <mc:Choice xmlns:v="urn:schemas-microsoft-com:vml" Requires="v">
                <p:oleObj spid="_x0000_s47105" name="Equation" r:id="rId1" imgW="20726400" imgH="5486400" progId="Equation.DSMT4">
                  <p:embed/>
                </p:oleObj>
              </mc:Choice>
              <mc:Fallback>
                <p:oleObj name="Equation" r:id="rId1" imgW="20726400" imgH="5486400" progId="Equation.DSMT4">
                  <p:embed/>
                  <p:pic>
                    <p:nvPicPr>
                      <p:cNvPr id="0" name="Object 34"/>
                      <p:cNvPicPr>
                        <a:picLocks noChangeAspect="1"/>
                      </p:cNvPicPr>
                      <p:nvPr/>
                    </p:nvPicPr>
                    <p:blipFill>
                      <a:blip r:embed="rId2"/>
                      <a:stretch>
                        <a:fillRect/>
                      </a:stretch>
                    </p:blipFill>
                    <p:spPr>
                      <a:xfrm>
                        <a:off x="1560513" y="1700213"/>
                        <a:ext cx="1719262" cy="454025"/>
                      </a:xfrm>
                      <a:prstGeom prst="rect">
                        <a:avLst/>
                      </a:prstGeom>
                      <a:noFill/>
                      <a:ln w="9525">
                        <a:noFill/>
                      </a:ln>
                    </p:spPr>
                  </p:pic>
                </p:oleObj>
              </mc:Fallback>
            </mc:AlternateContent>
          </a:graphicData>
        </a:graphic>
      </p:graphicFrame>
      <p:graphicFrame>
        <p:nvGraphicFramePr>
          <p:cNvPr id="89123" name="Object 35"/>
          <p:cNvGraphicFramePr>
            <a:graphicFrameLocks noChangeAspect="1"/>
          </p:cNvGraphicFramePr>
          <p:nvPr/>
        </p:nvGraphicFramePr>
        <p:xfrm>
          <a:off x="3289300" y="1557338"/>
          <a:ext cx="2909888" cy="782637"/>
        </p:xfrm>
        <a:graphic>
          <a:graphicData uri="http://schemas.openxmlformats.org/presentationml/2006/ole">
            <mc:AlternateContent xmlns:mc="http://schemas.openxmlformats.org/markup-compatibility/2006">
              <mc:Choice xmlns:v="urn:schemas-microsoft-com:vml" Requires="v">
                <p:oleObj spid="_x0000_s47107" name="Equation" r:id="rId3" imgW="35052000" imgH="9448800" progId="Equation.DSMT4">
                  <p:embed/>
                </p:oleObj>
              </mc:Choice>
              <mc:Fallback>
                <p:oleObj name="Equation" r:id="rId3" imgW="35052000" imgH="9448800" progId="Equation.DSMT4">
                  <p:embed/>
                  <p:pic>
                    <p:nvPicPr>
                      <p:cNvPr id="0" name="Object 35"/>
                      <p:cNvPicPr>
                        <a:picLocks noChangeAspect="1"/>
                      </p:cNvPicPr>
                      <p:nvPr/>
                    </p:nvPicPr>
                    <p:blipFill>
                      <a:blip r:embed="rId4"/>
                      <a:stretch>
                        <a:fillRect/>
                      </a:stretch>
                    </p:blipFill>
                    <p:spPr>
                      <a:xfrm>
                        <a:off x="3289300" y="1557338"/>
                        <a:ext cx="2909888" cy="782637"/>
                      </a:xfrm>
                      <a:prstGeom prst="rect">
                        <a:avLst/>
                      </a:prstGeom>
                      <a:noFill/>
                      <a:ln w="9525">
                        <a:noFill/>
                      </a:ln>
                    </p:spPr>
                  </p:pic>
                </p:oleObj>
              </mc:Fallback>
            </mc:AlternateContent>
          </a:graphicData>
        </a:graphic>
      </p:graphicFrame>
      <p:sp>
        <p:nvSpPr>
          <p:cNvPr id="89124" name="Text Box 36"/>
          <p:cNvSpPr txBox="1">
            <a:spLocks noChangeArrowheads="1"/>
          </p:cNvSpPr>
          <p:nvPr/>
        </p:nvSpPr>
        <p:spPr bwMode="auto">
          <a:xfrm>
            <a:off x="1476375" y="2408238"/>
            <a:ext cx="5203825" cy="457200"/>
          </a:xfrm>
          <a:prstGeom prst="rect">
            <a:avLst/>
          </a:prstGeom>
          <a:noFill/>
          <a:ln w="9525">
            <a:noFill/>
            <a:miter lim="800000"/>
          </a:ln>
        </p:spPr>
        <p:txBody>
          <a:bodyPr>
            <a:spAutoFit/>
          </a:bodyPr>
          <a:lstStyle/>
          <a:p>
            <a:r>
              <a:rPr lang="zh-CN" altLang="en-US" b="1"/>
              <a:t>系统放出的总热量</a:t>
            </a:r>
            <a:endParaRPr lang="zh-CN" altLang="en-US" b="1"/>
          </a:p>
        </p:txBody>
      </p:sp>
      <p:graphicFrame>
        <p:nvGraphicFramePr>
          <p:cNvPr id="89125" name="Object 37"/>
          <p:cNvGraphicFramePr>
            <a:graphicFrameLocks noChangeAspect="1"/>
          </p:cNvGraphicFramePr>
          <p:nvPr/>
        </p:nvGraphicFramePr>
        <p:xfrm>
          <a:off x="1547813" y="2924175"/>
          <a:ext cx="3033712" cy="782638"/>
        </p:xfrm>
        <a:graphic>
          <a:graphicData uri="http://schemas.openxmlformats.org/presentationml/2006/ole">
            <mc:AlternateContent xmlns:mc="http://schemas.openxmlformats.org/markup-compatibility/2006">
              <mc:Choice xmlns:v="urn:schemas-microsoft-com:vml" Requires="v">
                <p:oleObj spid="_x0000_s47108" name="Equation" r:id="rId5" imgW="36576000" imgH="9448800" progId="Equation.DSMT4">
                  <p:embed/>
                </p:oleObj>
              </mc:Choice>
              <mc:Fallback>
                <p:oleObj name="Equation" r:id="rId5" imgW="36576000" imgH="9448800" progId="Equation.DSMT4">
                  <p:embed/>
                  <p:pic>
                    <p:nvPicPr>
                      <p:cNvPr id="0" name="Object 37"/>
                      <p:cNvPicPr>
                        <a:picLocks noChangeAspect="1"/>
                      </p:cNvPicPr>
                      <p:nvPr/>
                    </p:nvPicPr>
                    <p:blipFill>
                      <a:blip r:embed="rId6"/>
                      <a:stretch>
                        <a:fillRect/>
                      </a:stretch>
                    </p:blipFill>
                    <p:spPr>
                      <a:xfrm>
                        <a:off x="1547813" y="2924175"/>
                        <a:ext cx="3033712" cy="782638"/>
                      </a:xfrm>
                      <a:prstGeom prst="rect">
                        <a:avLst/>
                      </a:prstGeom>
                      <a:noFill/>
                      <a:ln w="9525">
                        <a:noFill/>
                      </a:ln>
                    </p:spPr>
                  </p:pic>
                </p:oleObj>
              </mc:Fallback>
            </mc:AlternateContent>
          </a:graphicData>
        </a:graphic>
      </p:graphicFrame>
      <p:sp>
        <p:nvSpPr>
          <p:cNvPr id="89126" name="AutoShape 38"/>
          <p:cNvSpPr>
            <a:spLocks noChangeArrowheads="1"/>
          </p:cNvSpPr>
          <p:nvPr/>
        </p:nvSpPr>
        <p:spPr bwMode="auto">
          <a:xfrm>
            <a:off x="827088" y="4149725"/>
            <a:ext cx="649287" cy="142875"/>
          </a:xfrm>
          <a:prstGeom prst="rightArrow">
            <a:avLst>
              <a:gd name="adj1" fmla="val 50000"/>
              <a:gd name="adj2" fmla="val 113611"/>
            </a:avLst>
          </a:prstGeom>
          <a:solidFill>
            <a:schemeClr val="accent1"/>
          </a:solidFill>
          <a:ln w="9525">
            <a:solidFill>
              <a:schemeClr val="tx1"/>
            </a:solidFill>
            <a:miter lim="800000"/>
          </a:ln>
        </p:spPr>
        <p:txBody>
          <a:bodyPr wrap="none" anchor="ctr"/>
          <a:lstStyle/>
          <a:p>
            <a:pPr algn="ctr"/>
            <a:endParaRPr lang="zh-CN" altLang="en-US"/>
          </a:p>
        </p:txBody>
      </p:sp>
      <p:graphicFrame>
        <p:nvGraphicFramePr>
          <p:cNvPr id="89127" name="Object 39"/>
          <p:cNvGraphicFramePr>
            <a:graphicFrameLocks noChangeAspect="1"/>
          </p:cNvGraphicFramePr>
          <p:nvPr/>
        </p:nvGraphicFramePr>
        <p:xfrm>
          <a:off x="1847850" y="3860800"/>
          <a:ext cx="2959100" cy="858838"/>
        </p:xfrm>
        <a:graphic>
          <a:graphicData uri="http://schemas.openxmlformats.org/presentationml/2006/ole">
            <mc:AlternateContent xmlns:mc="http://schemas.openxmlformats.org/markup-compatibility/2006">
              <mc:Choice xmlns:v="urn:schemas-microsoft-com:vml" Requires="v">
                <p:oleObj spid="_x0000_s47109" name="Equation" r:id="rId7" imgW="35661600" imgH="10363200" progId="Equation.DSMT4">
                  <p:embed/>
                </p:oleObj>
              </mc:Choice>
              <mc:Fallback>
                <p:oleObj name="Equation" r:id="rId7" imgW="35661600" imgH="10363200" progId="Equation.DSMT4">
                  <p:embed/>
                  <p:pic>
                    <p:nvPicPr>
                      <p:cNvPr id="0" name="Object 39"/>
                      <p:cNvPicPr>
                        <a:picLocks noChangeAspect="1"/>
                      </p:cNvPicPr>
                      <p:nvPr/>
                    </p:nvPicPr>
                    <p:blipFill>
                      <a:blip r:embed="rId8"/>
                      <a:stretch>
                        <a:fillRect/>
                      </a:stretch>
                    </p:blipFill>
                    <p:spPr>
                      <a:xfrm>
                        <a:off x="1847850" y="3860800"/>
                        <a:ext cx="2959100" cy="85883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9120"/>
                                        </p:tgtEl>
                                        <p:attrNameLst>
                                          <p:attrName>style.visibility</p:attrName>
                                        </p:attrNameLst>
                                      </p:cBhvr>
                                      <p:to>
                                        <p:strVal val="visible"/>
                                      </p:to>
                                    </p:set>
                                    <p:animEffect transition="in" filter="wipe(left)">
                                      <p:cBhvr>
                                        <p:cTn id="7" dur="500"/>
                                        <p:tgtEl>
                                          <p:spTgt spid="8912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9121"/>
                                        </p:tgtEl>
                                        <p:attrNameLst>
                                          <p:attrName>style.visibility</p:attrName>
                                        </p:attrNameLst>
                                      </p:cBhvr>
                                      <p:to>
                                        <p:strVal val="visible"/>
                                      </p:to>
                                    </p:set>
                                    <p:animEffect transition="in" filter="wipe(left)">
                                      <p:cBhvr>
                                        <p:cTn id="11" dur="500"/>
                                        <p:tgtEl>
                                          <p:spTgt spid="891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9122"/>
                                        </p:tgtEl>
                                        <p:attrNameLst>
                                          <p:attrName>style.visibility</p:attrName>
                                        </p:attrNameLst>
                                      </p:cBhvr>
                                      <p:to>
                                        <p:strVal val="visible"/>
                                      </p:to>
                                    </p:set>
                                    <p:animEffect transition="in" filter="wipe(left)">
                                      <p:cBhvr>
                                        <p:cTn id="16" dur="500"/>
                                        <p:tgtEl>
                                          <p:spTgt spid="891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9123"/>
                                        </p:tgtEl>
                                        <p:attrNameLst>
                                          <p:attrName>style.visibility</p:attrName>
                                        </p:attrNameLst>
                                      </p:cBhvr>
                                      <p:to>
                                        <p:strVal val="visible"/>
                                      </p:to>
                                    </p:set>
                                    <p:animEffect transition="in" filter="wipe(left)">
                                      <p:cBhvr>
                                        <p:cTn id="21" dur="500"/>
                                        <p:tgtEl>
                                          <p:spTgt spid="891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9124"/>
                                        </p:tgtEl>
                                        <p:attrNameLst>
                                          <p:attrName>style.visibility</p:attrName>
                                        </p:attrNameLst>
                                      </p:cBhvr>
                                      <p:to>
                                        <p:strVal val="visible"/>
                                      </p:to>
                                    </p:set>
                                    <p:animEffect transition="in" filter="wipe(left)">
                                      <p:cBhvr>
                                        <p:cTn id="26" dur="500"/>
                                        <p:tgtEl>
                                          <p:spTgt spid="8912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9125"/>
                                        </p:tgtEl>
                                        <p:attrNameLst>
                                          <p:attrName>style.visibility</p:attrName>
                                        </p:attrNameLst>
                                      </p:cBhvr>
                                      <p:to>
                                        <p:strVal val="visible"/>
                                      </p:to>
                                    </p:set>
                                    <p:animEffect transition="in" filter="wipe(left)">
                                      <p:cBhvr>
                                        <p:cTn id="31" dur="500"/>
                                        <p:tgtEl>
                                          <p:spTgt spid="8912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89126"/>
                                        </p:tgtEl>
                                        <p:attrNameLst>
                                          <p:attrName>style.visibility</p:attrName>
                                        </p:attrNameLst>
                                      </p:cBhvr>
                                      <p:to>
                                        <p:strVal val="visible"/>
                                      </p:to>
                                    </p:set>
                                    <p:animEffect transition="in" filter="wipe(left)">
                                      <p:cBhvr>
                                        <p:cTn id="36" dur="500"/>
                                        <p:tgtEl>
                                          <p:spTgt spid="89126"/>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89127"/>
                                        </p:tgtEl>
                                        <p:attrNameLst>
                                          <p:attrName>style.visibility</p:attrName>
                                        </p:attrNameLst>
                                      </p:cBhvr>
                                      <p:to>
                                        <p:strVal val="visible"/>
                                      </p:to>
                                    </p:set>
                                    <p:animEffect transition="in" filter="wipe(left)">
                                      <p:cBhvr>
                                        <p:cTn id="40" dur="500"/>
                                        <p:tgtEl>
                                          <p:spTgt spid="89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20" grpId="0"/>
      <p:bldP spid="89121" grpId="0"/>
      <p:bldP spid="89124" grpId="0"/>
      <p:bldP spid="8912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958850" y="3141663"/>
            <a:ext cx="7500938" cy="1422400"/>
          </a:xfrm>
          <a:prstGeom prst="rect">
            <a:avLst/>
          </a:prstGeom>
          <a:noFill/>
          <a:ln w="9525">
            <a:noFill/>
            <a:miter lim="800000"/>
          </a:ln>
        </p:spPr>
        <p:txBody>
          <a:bodyPr>
            <a:spAutoFit/>
          </a:bodyPr>
          <a:lstStyle/>
          <a:p>
            <a:pPr>
              <a:lnSpc>
                <a:spcPct val="120000"/>
              </a:lnSpc>
            </a:pPr>
            <a:r>
              <a:rPr lang="en-US" altLang="zh-CN" b="1">
                <a:solidFill>
                  <a:schemeClr val="tx2"/>
                </a:solidFill>
                <a:latin typeface="宋体" panose="02010600030101010101" pitchFamily="2" charset="-122"/>
              </a:rPr>
              <a:t>② </a:t>
            </a:r>
            <a:r>
              <a:rPr lang="zh-CN" altLang="en-US" b="1">
                <a:solidFill>
                  <a:schemeClr val="tx2"/>
                </a:solidFill>
                <a:latin typeface="宋体" panose="02010600030101010101" pitchFamily="2" charset="-122"/>
              </a:rPr>
              <a:t>当给定某过程初、末态的</a:t>
            </a:r>
            <a:r>
              <a:rPr lang="zh-CN" altLang="en-US" b="1">
                <a:solidFill>
                  <a:schemeClr val="tx2"/>
                </a:solidFill>
              </a:rPr>
              <a:t>（</a:t>
            </a:r>
            <a:r>
              <a:rPr lang="en-US" altLang="zh-CN" b="1" i="1">
                <a:solidFill>
                  <a:schemeClr val="tx2"/>
                </a:solidFill>
              </a:rPr>
              <a:t>P</a:t>
            </a:r>
            <a:r>
              <a:rPr lang="zh-CN" altLang="en-US" b="1">
                <a:solidFill>
                  <a:schemeClr val="tx2"/>
                </a:solidFill>
              </a:rPr>
              <a:t>、</a:t>
            </a:r>
            <a:r>
              <a:rPr lang="en-US" altLang="zh-CN" b="1" i="1">
                <a:solidFill>
                  <a:schemeClr val="tx2"/>
                </a:solidFill>
              </a:rPr>
              <a:t>V</a:t>
            </a:r>
            <a:r>
              <a:rPr lang="zh-CN" altLang="en-US" b="1">
                <a:solidFill>
                  <a:schemeClr val="tx2"/>
                </a:solidFill>
              </a:rPr>
              <a:t>）</a:t>
            </a:r>
            <a:r>
              <a:rPr lang="zh-CN" altLang="en-US" b="1">
                <a:solidFill>
                  <a:schemeClr val="tx2"/>
                </a:solidFill>
                <a:latin typeface="宋体" panose="02010600030101010101" pitchFamily="2" charset="-122"/>
              </a:rPr>
              <a:t>值时，需要根据</a:t>
            </a:r>
            <a:endParaRPr lang="zh-CN" altLang="en-US" b="1">
              <a:solidFill>
                <a:schemeClr val="tx2"/>
              </a:solidFill>
              <a:latin typeface="宋体" panose="02010600030101010101" pitchFamily="2" charset="-122"/>
            </a:endParaRPr>
          </a:p>
          <a:p>
            <a:pPr>
              <a:lnSpc>
                <a:spcPct val="120000"/>
              </a:lnSpc>
            </a:pPr>
            <a:r>
              <a:rPr lang="zh-CN" altLang="en-US" b="1">
                <a:solidFill>
                  <a:schemeClr val="tx2"/>
                </a:solidFill>
                <a:latin typeface="宋体" panose="02010600030101010101" pitchFamily="2" charset="-122"/>
              </a:rPr>
              <a:t>   理想气体状态方程</a:t>
            </a:r>
            <a:r>
              <a:rPr lang="en-US" altLang="zh-CN" b="1">
                <a:solidFill>
                  <a:schemeClr val="tx2"/>
                </a:solidFill>
                <a:latin typeface="宋体" panose="02010600030101010101" pitchFamily="2" charset="-122"/>
              </a:rPr>
              <a:t>,</a:t>
            </a:r>
            <a:r>
              <a:rPr lang="zh-CN" altLang="en-US" b="1">
                <a:solidFill>
                  <a:srgbClr val="FF0000"/>
                </a:solidFill>
                <a:latin typeface="宋体" panose="02010600030101010101" pitchFamily="2" charset="-122"/>
              </a:rPr>
              <a:t>把</a:t>
            </a:r>
            <a:r>
              <a:rPr lang="en-US" altLang="zh-CN" b="1" i="1">
                <a:solidFill>
                  <a:srgbClr val="FF0000"/>
                </a:solidFill>
              </a:rPr>
              <a:t>P</a:t>
            </a:r>
            <a:r>
              <a:rPr lang="zh-CN" altLang="en-US" b="1">
                <a:solidFill>
                  <a:srgbClr val="FF0000"/>
                </a:solidFill>
              </a:rPr>
              <a:t>、</a:t>
            </a:r>
            <a:r>
              <a:rPr lang="en-US" altLang="zh-CN" b="1" i="1">
                <a:solidFill>
                  <a:srgbClr val="FF0000"/>
                </a:solidFill>
              </a:rPr>
              <a:t>V</a:t>
            </a:r>
            <a:r>
              <a:rPr lang="en-US" altLang="zh-CN" b="1" i="1">
                <a:solidFill>
                  <a:srgbClr val="FF0000"/>
                </a:solidFill>
                <a:latin typeface="宋体" panose="02010600030101010101" pitchFamily="2" charset="-122"/>
              </a:rPr>
              <a:t> </a:t>
            </a:r>
            <a:r>
              <a:rPr lang="zh-CN" altLang="en-US" b="1">
                <a:solidFill>
                  <a:srgbClr val="FF0000"/>
                </a:solidFill>
                <a:latin typeface="宋体" panose="02010600030101010101" pitchFamily="2" charset="-122"/>
              </a:rPr>
              <a:t>之间的关系变换成温度</a:t>
            </a:r>
            <a:endParaRPr lang="zh-CN" altLang="en-US" b="1">
              <a:solidFill>
                <a:srgbClr val="FF0000"/>
              </a:solidFill>
              <a:latin typeface="宋体" panose="02010600030101010101" pitchFamily="2" charset="-122"/>
            </a:endParaRPr>
          </a:p>
          <a:p>
            <a:pPr>
              <a:lnSpc>
                <a:spcPct val="120000"/>
              </a:lnSpc>
            </a:pPr>
            <a:r>
              <a:rPr lang="zh-CN" altLang="en-US" b="1">
                <a:solidFill>
                  <a:srgbClr val="FF0000"/>
                </a:solidFill>
                <a:latin typeface="宋体" panose="02010600030101010101" pitchFamily="2" charset="-122"/>
              </a:rPr>
              <a:t>   </a:t>
            </a:r>
            <a:r>
              <a:rPr lang="en-US" altLang="zh-CN" b="1" i="1">
                <a:solidFill>
                  <a:srgbClr val="FF0000"/>
                </a:solidFill>
              </a:rPr>
              <a:t>T</a:t>
            </a:r>
            <a:r>
              <a:rPr lang="zh-CN" altLang="en-US" b="1">
                <a:solidFill>
                  <a:srgbClr val="FF0000"/>
                </a:solidFill>
                <a:latin typeface="宋体" panose="02010600030101010101" pitchFamily="2" charset="-122"/>
              </a:rPr>
              <a:t>值之间的关系</a:t>
            </a:r>
            <a:r>
              <a:rPr lang="zh-CN" altLang="en-US" b="1">
                <a:solidFill>
                  <a:schemeClr val="tx2"/>
                </a:solidFill>
                <a:latin typeface="宋体" panose="02010600030101010101" pitchFamily="2" charset="-122"/>
              </a:rPr>
              <a:t>，对于此类技巧，应能掌握。</a:t>
            </a:r>
            <a:endParaRPr lang="zh-CN" altLang="en-US" b="1">
              <a:solidFill>
                <a:schemeClr val="tx2"/>
              </a:solidFill>
              <a:latin typeface="宋体" panose="02010600030101010101" pitchFamily="2" charset="-122"/>
            </a:endParaRPr>
          </a:p>
        </p:txBody>
      </p:sp>
      <p:sp>
        <p:nvSpPr>
          <p:cNvPr id="90115" name="Text Box 3"/>
          <p:cNvSpPr txBox="1">
            <a:spLocks noChangeArrowheads="1"/>
          </p:cNvSpPr>
          <p:nvPr/>
        </p:nvSpPr>
        <p:spPr bwMode="auto">
          <a:xfrm>
            <a:off x="611188" y="981075"/>
            <a:ext cx="1223962" cy="457200"/>
          </a:xfrm>
          <a:prstGeom prst="rect">
            <a:avLst/>
          </a:prstGeom>
          <a:noFill/>
          <a:ln w="9525" algn="ctr">
            <a:noFill/>
            <a:miter lim="800000"/>
          </a:ln>
        </p:spPr>
        <p:txBody>
          <a:bodyPr>
            <a:spAutoFit/>
          </a:bodyPr>
          <a:lstStyle/>
          <a:p>
            <a:pPr algn="ctr">
              <a:spcBef>
                <a:spcPct val="50000"/>
              </a:spcBef>
            </a:pPr>
            <a:r>
              <a:rPr lang="zh-CN" altLang="en-US" b="1">
                <a:solidFill>
                  <a:srgbClr val="FF0000"/>
                </a:solidFill>
              </a:rPr>
              <a:t>小结：</a:t>
            </a:r>
            <a:endParaRPr lang="zh-CN" altLang="en-US" b="1">
              <a:solidFill>
                <a:srgbClr val="FF0000"/>
              </a:solidFill>
            </a:endParaRPr>
          </a:p>
        </p:txBody>
      </p:sp>
      <p:sp>
        <p:nvSpPr>
          <p:cNvPr id="90116" name="Text Box 4"/>
          <p:cNvSpPr txBox="1">
            <a:spLocks noChangeArrowheads="1"/>
          </p:cNvSpPr>
          <p:nvPr/>
        </p:nvSpPr>
        <p:spPr bwMode="auto">
          <a:xfrm>
            <a:off x="900113" y="1557338"/>
            <a:ext cx="7559675" cy="1406525"/>
          </a:xfrm>
          <a:prstGeom prst="rect">
            <a:avLst/>
          </a:prstGeom>
          <a:noFill/>
          <a:ln w="9525" algn="ctr">
            <a:noFill/>
            <a:miter lim="800000"/>
          </a:ln>
        </p:spPr>
        <p:txBody>
          <a:bodyPr>
            <a:spAutoFit/>
          </a:bodyPr>
          <a:lstStyle/>
          <a:p>
            <a:pPr>
              <a:lnSpc>
                <a:spcPct val="120000"/>
              </a:lnSpc>
            </a:pPr>
            <a:r>
              <a:rPr lang="en-US" altLang="zh-CN" b="1">
                <a:solidFill>
                  <a:schemeClr val="tx2"/>
                </a:solidFill>
              </a:rPr>
              <a:t>① </a:t>
            </a:r>
            <a:r>
              <a:rPr lang="zh-CN" altLang="en-US" b="1">
                <a:solidFill>
                  <a:schemeClr val="tx2"/>
                </a:solidFill>
              </a:rPr>
              <a:t>求解循环效率问题的一般规律是，先求出各个分过</a:t>
            </a:r>
            <a:endParaRPr lang="zh-CN" altLang="en-US" b="1">
              <a:solidFill>
                <a:schemeClr val="tx2"/>
              </a:solidFill>
            </a:endParaRPr>
          </a:p>
          <a:p>
            <a:pPr>
              <a:lnSpc>
                <a:spcPct val="120000"/>
              </a:lnSpc>
            </a:pPr>
            <a:r>
              <a:rPr lang="zh-CN" altLang="en-US" b="1">
                <a:solidFill>
                  <a:schemeClr val="tx2"/>
                </a:solidFill>
              </a:rPr>
              <a:t>     程的</a:t>
            </a:r>
            <a:r>
              <a:rPr lang="zh-CN" altLang="en-US" b="1">
                <a:solidFill>
                  <a:srgbClr val="FF0000"/>
                </a:solidFill>
              </a:rPr>
              <a:t>热量</a:t>
            </a:r>
            <a:r>
              <a:rPr lang="zh-CN" altLang="en-US" b="1">
                <a:solidFill>
                  <a:schemeClr val="tx2"/>
                </a:solidFill>
              </a:rPr>
              <a:t>，然后算出</a:t>
            </a:r>
            <a:r>
              <a:rPr lang="zh-CN" altLang="en-US" b="1">
                <a:solidFill>
                  <a:srgbClr val="FF0000"/>
                </a:solidFill>
              </a:rPr>
              <a:t>总的吸热</a:t>
            </a:r>
            <a:r>
              <a:rPr lang="zh-CN" altLang="en-US" b="1">
                <a:solidFill>
                  <a:schemeClr val="tx2"/>
                </a:solidFill>
              </a:rPr>
              <a:t>和</a:t>
            </a:r>
            <a:r>
              <a:rPr lang="zh-CN" altLang="en-US" b="1">
                <a:solidFill>
                  <a:srgbClr val="FF0000"/>
                </a:solidFill>
              </a:rPr>
              <a:t>总的放热</a:t>
            </a:r>
            <a:r>
              <a:rPr lang="zh-CN" altLang="en-US" b="1">
                <a:solidFill>
                  <a:schemeClr val="tx2"/>
                </a:solidFill>
              </a:rPr>
              <a:t>，再代入  </a:t>
            </a:r>
            <a:endParaRPr lang="zh-CN" altLang="en-US" b="1">
              <a:solidFill>
                <a:schemeClr val="tx2"/>
              </a:solidFill>
            </a:endParaRPr>
          </a:p>
          <a:p>
            <a:pPr>
              <a:lnSpc>
                <a:spcPct val="120000"/>
              </a:lnSpc>
            </a:pPr>
            <a:r>
              <a:rPr lang="zh-CN" altLang="en-US" b="1">
                <a:solidFill>
                  <a:schemeClr val="tx2"/>
                </a:solidFill>
              </a:rPr>
              <a:t>     </a:t>
            </a:r>
            <a:r>
              <a:rPr lang="zh-CN" altLang="en-US" b="1">
                <a:solidFill>
                  <a:srgbClr val="FF0000"/>
                </a:solidFill>
              </a:rPr>
              <a:t>效率公式</a:t>
            </a:r>
            <a:r>
              <a:rPr lang="zh-CN" altLang="en-US" b="1">
                <a:solidFill>
                  <a:schemeClr val="tx2"/>
                </a:solidFill>
              </a:rPr>
              <a:t>计算</a:t>
            </a:r>
            <a:r>
              <a:rPr lang="en-US" altLang="zh-CN" b="1">
                <a:solidFill>
                  <a:schemeClr val="tx2"/>
                </a:solidFill>
              </a:rPr>
              <a:t>;</a:t>
            </a:r>
            <a:endParaRPr lang="en-US" altLang="zh-CN"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115"/>
                                        </p:tgtEl>
                                        <p:attrNameLst>
                                          <p:attrName>style.visibility</p:attrName>
                                        </p:attrNameLst>
                                      </p:cBhvr>
                                      <p:to>
                                        <p:strVal val="visible"/>
                                      </p:to>
                                    </p:set>
                                    <p:animEffect transition="in" filter="wipe(left)">
                                      <p:cBhvr>
                                        <p:cTn id="7" dur="500"/>
                                        <p:tgtEl>
                                          <p:spTgt spid="901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116"/>
                                        </p:tgtEl>
                                        <p:attrNameLst>
                                          <p:attrName>style.visibility</p:attrName>
                                        </p:attrNameLst>
                                      </p:cBhvr>
                                      <p:to>
                                        <p:strVal val="visible"/>
                                      </p:to>
                                    </p:set>
                                    <p:animEffect transition="in" filter="wipe(left)">
                                      <p:cBhvr>
                                        <p:cTn id="12" dur="500"/>
                                        <p:tgtEl>
                                          <p:spTgt spid="901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114"/>
                                        </p:tgtEl>
                                        <p:attrNameLst>
                                          <p:attrName>style.visibility</p:attrName>
                                        </p:attrNameLst>
                                      </p:cBhvr>
                                      <p:to>
                                        <p:strVal val="visible"/>
                                      </p:to>
                                    </p:set>
                                    <p:animEffect transition="in" filter="wipe(left)">
                                      <p:cBhvr>
                                        <p:cTn id="17" dur="500"/>
                                        <p:tgtEl>
                                          <p:spTgt spid="90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p:bldP spid="90115" grpId="0"/>
      <p:bldP spid="9011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p:cNvSpPr txBox="1">
            <a:spLocks noChangeArrowheads="1"/>
          </p:cNvSpPr>
          <p:nvPr/>
        </p:nvSpPr>
        <p:spPr bwMode="auto">
          <a:xfrm>
            <a:off x="611188" y="458788"/>
            <a:ext cx="3889375" cy="933450"/>
          </a:xfrm>
          <a:prstGeom prst="rect">
            <a:avLst/>
          </a:prstGeom>
          <a:noFill/>
          <a:ln w="9525">
            <a:noFill/>
            <a:miter lim="800000"/>
          </a:ln>
        </p:spPr>
        <p:txBody>
          <a:bodyPr>
            <a:spAutoFit/>
          </a:bodyPr>
          <a:lstStyle/>
          <a:p>
            <a:pPr>
              <a:lnSpc>
                <a:spcPct val="115000"/>
              </a:lnSpc>
            </a:pPr>
            <a:r>
              <a:rPr kumimoji="1" lang="en-US" altLang="zh-CN" b="1">
                <a:ea typeface="楷体_GB2312" pitchFamily="49" charset="-122"/>
              </a:rPr>
              <a:t> </a:t>
            </a:r>
            <a:r>
              <a:rPr kumimoji="1" lang="en-US" altLang="zh-CN" b="1">
                <a:solidFill>
                  <a:srgbClr val="FF6600"/>
                </a:solidFill>
                <a:ea typeface="楷体_GB2312" pitchFamily="49" charset="-122"/>
              </a:rPr>
              <a:t>1 mol</a:t>
            </a:r>
            <a:r>
              <a:rPr kumimoji="1" lang="en-US" altLang="zh-CN" b="1">
                <a:ea typeface="楷体_GB2312" pitchFamily="49" charset="-122"/>
              </a:rPr>
              <a:t> </a:t>
            </a:r>
            <a:r>
              <a:rPr kumimoji="1" lang="zh-CN" altLang="en-US" b="1">
                <a:latin typeface="宋体" panose="02010600030101010101" pitchFamily="2" charset="-122"/>
              </a:rPr>
              <a:t>单原子分子理想气   </a:t>
            </a:r>
            <a:endParaRPr kumimoji="1" lang="zh-CN" altLang="en-US" b="1">
              <a:latin typeface="宋体" panose="02010600030101010101" pitchFamily="2" charset="-122"/>
            </a:endParaRPr>
          </a:p>
          <a:p>
            <a:pPr>
              <a:lnSpc>
                <a:spcPct val="115000"/>
              </a:lnSpc>
            </a:pPr>
            <a:r>
              <a:rPr kumimoji="1" lang="zh-CN" altLang="en-US" b="1">
                <a:latin typeface="宋体" panose="02010600030101010101" pitchFamily="2" charset="-122"/>
              </a:rPr>
              <a:t>体的循环过程如图所示。</a:t>
            </a:r>
            <a:r>
              <a:rPr kumimoji="1" lang="zh-CN" altLang="en-US" b="1">
                <a:ea typeface="楷体_GB2312" pitchFamily="49" charset="-122"/>
              </a:rPr>
              <a:t>   </a:t>
            </a:r>
            <a:endParaRPr kumimoji="1" lang="zh-CN" altLang="en-US" b="1">
              <a:ea typeface="楷体_GB2312" pitchFamily="49" charset="-122"/>
            </a:endParaRPr>
          </a:p>
        </p:txBody>
      </p:sp>
      <p:sp>
        <p:nvSpPr>
          <p:cNvPr id="246787" name="Rectangle 3"/>
          <p:cNvSpPr>
            <a:spLocks noChangeArrowheads="1"/>
          </p:cNvSpPr>
          <p:nvPr/>
        </p:nvSpPr>
        <p:spPr bwMode="auto">
          <a:xfrm>
            <a:off x="706438" y="1370013"/>
            <a:ext cx="3311525" cy="933450"/>
          </a:xfrm>
          <a:prstGeom prst="rect">
            <a:avLst/>
          </a:prstGeom>
          <a:noFill/>
          <a:ln w="9525">
            <a:noFill/>
            <a:miter lim="800000"/>
          </a:ln>
        </p:spPr>
        <p:txBody>
          <a:bodyPr>
            <a:spAutoFit/>
          </a:bodyPr>
          <a:lstStyle/>
          <a:p>
            <a:pPr>
              <a:lnSpc>
                <a:spcPct val="115000"/>
              </a:lnSpc>
            </a:pPr>
            <a:r>
              <a:rPr kumimoji="1" lang="en-US" altLang="zh-CN" b="1">
                <a:ea typeface="楷体_GB2312" pitchFamily="49" charset="-122"/>
              </a:rPr>
              <a:t>(1) </a:t>
            </a:r>
            <a:r>
              <a:rPr kumimoji="1" lang="zh-CN" altLang="en-US" b="1"/>
              <a:t>作出</a:t>
            </a:r>
            <a:r>
              <a:rPr kumimoji="1" lang="zh-CN" altLang="en-US" b="1">
                <a:ea typeface="楷体_GB2312" pitchFamily="49" charset="-122"/>
              </a:rPr>
              <a:t> </a:t>
            </a:r>
            <a:r>
              <a:rPr kumimoji="1" lang="en-US" altLang="zh-CN" b="1" i="1">
                <a:solidFill>
                  <a:srgbClr val="FF6600"/>
                </a:solidFill>
                <a:ea typeface="楷体_GB2312" pitchFamily="49" charset="-122"/>
              </a:rPr>
              <a:t>p</a:t>
            </a:r>
            <a:r>
              <a:rPr kumimoji="1" lang="en-US" altLang="zh-CN" b="1" i="1">
                <a:solidFill>
                  <a:srgbClr val="FF6600"/>
                </a:solidFill>
                <a:ea typeface="楷体_GB2312" pitchFamily="49" charset="-122"/>
                <a:sym typeface="Symbol" panose="05050102010706020507" pitchFamily="18" charset="2"/>
              </a:rPr>
              <a:t></a:t>
            </a:r>
            <a:r>
              <a:rPr kumimoji="1" lang="en-US" altLang="zh-CN" b="1" i="1">
                <a:solidFill>
                  <a:srgbClr val="FF6600"/>
                </a:solidFill>
                <a:ea typeface="楷体_GB2312" pitchFamily="49" charset="-122"/>
              </a:rPr>
              <a:t>V</a:t>
            </a:r>
            <a:r>
              <a:rPr kumimoji="1" lang="en-US" altLang="zh-CN" b="1" i="1">
                <a:ea typeface="楷体_GB2312" pitchFamily="49" charset="-122"/>
              </a:rPr>
              <a:t> </a:t>
            </a:r>
            <a:r>
              <a:rPr kumimoji="1" lang="zh-CN" altLang="en-US" b="1"/>
              <a:t>图；</a:t>
            </a:r>
            <a:endParaRPr kumimoji="1" lang="zh-CN" altLang="en-US" b="1"/>
          </a:p>
          <a:p>
            <a:pPr>
              <a:lnSpc>
                <a:spcPct val="115000"/>
              </a:lnSpc>
            </a:pPr>
            <a:r>
              <a:rPr kumimoji="1" lang="en-US" altLang="zh-CN" b="1">
                <a:ea typeface="楷体_GB2312" pitchFamily="49" charset="-122"/>
              </a:rPr>
              <a:t>(2) </a:t>
            </a:r>
            <a:r>
              <a:rPr kumimoji="1" lang="zh-CN" altLang="en-US" b="1"/>
              <a:t>此循环效率。</a:t>
            </a:r>
            <a:endParaRPr kumimoji="1" lang="zh-CN" altLang="en-US" b="1"/>
          </a:p>
        </p:txBody>
      </p:sp>
      <p:sp>
        <p:nvSpPr>
          <p:cNvPr id="246788" name="Text Box 4"/>
          <p:cNvSpPr txBox="1">
            <a:spLocks noChangeArrowheads="1"/>
          </p:cNvSpPr>
          <p:nvPr/>
        </p:nvSpPr>
        <p:spPr bwMode="auto">
          <a:xfrm>
            <a:off x="161925" y="2393950"/>
            <a:ext cx="625475" cy="512763"/>
          </a:xfrm>
          <a:prstGeom prst="rect">
            <a:avLst/>
          </a:prstGeom>
          <a:noFill/>
          <a:ln w="12700" cap="sq">
            <a:noFill/>
            <a:miter lim="800000"/>
            <a:headEnd type="none" w="sm" len="sm"/>
            <a:tailEnd type="none" w="sm" len="sm"/>
          </a:ln>
        </p:spPr>
        <p:txBody>
          <a:bodyPr>
            <a:spAutoFit/>
          </a:bodyPr>
          <a:lstStyle/>
          <a:p>
            <a:pPr>
              <a:lnSpc>
                <a:spcPct val="115000"/>
              </a:lnSpc>
            </a:pPr>
            <a:r>
              <a:rPr kumimoji="1" lang="zh-CN" altLang="en-US" b="1">
                <a:solidFill>
                  <a:srgbClr val="FF0000"/>
                </a:solidFill>
              </a:rPr>
              <a:t>解</a:t>
            </a:r>
            <a:endParaRPr kumimoji="1" lang="zh-CN" altLang="en-US" b="1" i="1">
              <a:solidFill>
                <a:srgbClr val="FF0000"/>
              </a:solidFill>
            </a:endParaRPr>
          </a:p>
        </p:txBody>
      </p:sp>
      <p:sp>
        <p:nvSpPr>
          <p:cNvPr id="246789" name="Text Box 5"/>
          <p:cNvSpPr txBox="1">
            <a:spLocks noChangeArrowheads="1"/>
          </p:cNvSpPr>
          <p:nvPr/>
        </p:nvSpPr>
        <p:spPr bwMode="auto">
          <a:xfrm>
            <a:off x="161925" y="441325"/>
            <a:ext cx="490538" cy="512763"/>
          </a:xfrm>
          <a:prstGeom prst="rect">
            <a:avLst/>
          </a:prstGeom>
          <a:noFill/>
          <a:ln w="9525">
            <a:noFill/>
            <a:miter lim="800000"/>
          </a:ln>
        </p:spPr>
        <p:txBody>
          <a:bodyPr wrap="none">
            <a:spAutoFit/>
          </a:bodyPr>
          <a:lstStyle/>
          <a:p>
            <a:pPr>
              <a:lnSpc>
                <a:spcPct val="115000"/>
              </a:lnSpc>
            </a:pPr>
            <a:r>
              <a:rPr kumimoji="1" lang="zh-CN" altLang="en-US" b="1">
                <a:solidFill>
                  <a:srgbClr val="FF0000"/>
                </a:solidFill>
              </a:rPr>
              <a:t>例</a:t>
            </a:r>
            <a:endParaRPr kumimoji="1" lang="zh-CN" altLang="en-US" b="1">
              <a:solidFill>
                <a:srgbClr val="FF0000"/>
              </a:solidFill>
            </a:endParaRPr>
          </a:p>
        </p:txBody>
      </p:sp>
      <p:sp>
        <p:nvSpPr>
          <p:cNvPr id="246790" name="Rectangle 6"/>
          <p:cNvSpPr>
            <a:spLocks noChangeArrowheads="1"/>
          </p:cNvSpPr>
          <p:nvPr/>
        </p:nvSpPr>
        <p:spPr bwMode="auto">
          <a:xfrm>
            <a:off x="161925" y="1385888"/>
            <a:ext cx="490538" cy="512762"/>
          </a:xfrm>
          <a:prstGeom prst="rect">
            <a:avLst/>
          </a:prstGeom>
          <a:noFill/>
          <a:ln w="9525">
            <a:noFill/>
            <a:miter lim="800000"/>
          </a:ln>
        </p:spPr>
        <p:txBody>
          <a:bodyPr wrap="none">
            <a:spAutoFit/>
          </a:bodyPr>
          <a:lstStyle/>
          <a:p>
            <a:pPr>
              <a:lnSpc>
                <a:spcPct val="115000"/>
              </a:lnSpc>
            </a:pPr>
            <a:r>
              <a:rPr kumimoji="1" lang="zh-CN" altLang="en-US" b="1">
                <a:solidFill>
                  <a:srgbClr val="FF0000"/>
                </a:solidFill>
              </a:rPr>
              <a:t>求</a:t>
            </a:r>
            <a:endParaRPr kumimoji="1" lang="zh-CN" altLang="en-US" b="1">
              <a:solidFill>
                <a:srgbClr val="FF0000"/>
              </a:solidFill>
            </a:endParaRPr>
          </a:p>
        </p:txBody>
      </p:sp>
      <p:grpSp>
        <p:nvGrpSpPr>
          <p:cNvPr id="2" name="Group 7"/>
          <p:cNvGrpSpPr/>
          <p:nvPr/>
        </p:nvGrpSpPr>
        <p:grpSpPr bwMode="auto">
          <a:xfrm>
            <a:off x="4772025" y="466725"/>
            <a:ext cx="4030663" cy="2827338"/>
            <a:chOff x="2921" y="294"/>
            <a:chExt cx="2539" cy="1781"/>
          </a:xfrm>
        </p:grpSpPr>
        <p:sp>
          <p:nvSpPr>
            <p:cNvPr id="48174" name="Text Box 8"/>
            <p:cNvSpPr txBox="1">
              <a:spLocks noChangeArrowheads="1"/>
            </p:cNvSpPr>
            <p:nvPr/>
          </p:nvSpPr>
          <p:spPr bwMode="auto">
            <a:xfrm>
              <a:off x="3754" y="1232"/>
              <a:ext cx="187" cy="279"/>
            </a:xfrm>
            <a:prstGeom prst="rect">
              <a:avLst/>
            </a:prstGeom>
            <a:noFill/>
            <a:ln w="9525">
              <a:noFill/>
              <a:miter lim="800000"/>
            </a:ln>
          </p:spPr>
          <p:txBody>
            <a:bodyPr wrap="none">
              <a:spAutoFit/>
            </a:bodyPr>
            <a:lstStyle/>
            <a:p>
              <a:pPr>
                <a:lnSpc>
                  <a:spcPct val="115000"/>
                </a:lnSpc>
              </a:pPr>
              <a:r>
                <a:rPr kumimoji="1" lang="en-US" altLang="zh-CN" sz="2000" b="1" i="1">
                  <a:solidFill>
                    <a:srgbClr val="000099"/>
                  </a:solidFill>
                  <a:ea typeface="楷体_GB2312" pitchFamily="49" charset="-122"/>
                </a:rPr>
                <a:t>c</a:t>
              </a:r>
              <a:endParaRPr kumimoji="1" lang="en-US" altLang="zh-CN" sz="2000" b="1" i="1">
                <a:solidFill>
                  <a:srgbClr val="000099"/>
                </a:solidFill>
                <a:ea typeface="楷体_GB2312" pitchFamily="49" charset="-122"/>
              </a:endParaRPr>
            </a:p>
          </p:txBody>
        </p:sp>
        <p:sp>
          <p:nvSpPr>
            <p:cNvPr id="48175" name="AutoShape 9"/>
            <p:cNvSpPr>
              <a:spLocks noChangeArrowheads="1"/>
            </p:cNvSpPr>
            <p:nvPr/>
          </p:nvSpPr>
          <p:spPr bwMode="auto">
            <a:xfrm flipV="1">
              <a:off x="3795" y="755"/>
              <a:ext cx="576" cy="576"/>
            </a:xfrm>
            <a:prstGeom prst="rtTriangle">
              <a:avLst/>
            </a:prstGeom>
            <a:noFill/>
            <a:ln w="38100">
              <a:solidFill>
                <a:srgbClr val="FF0000"/>
              </a:solidFill>
              <a:miter lim="800000"/>
            </a:ln>
          </p:spPr>
          <p:txBody>
            <a:bodyPr wrap="none" anchor="ctr"/>
            <a:lstStyle/>
            <a:p>
              <a:pPr algn="ctr"/>
              <a:endParaRPr lang="zh-CN" altLang="en-US"/>
            </a:p>
          </p:txBody>
        </p:sp>
        <p:sp>
          <p:nvSpPr>
            <p:cNvPr id="48176" name="Line 10"/>
            <p:cNvSpPr>
              <a:spLocks noChangeShapeType="1"/>
            </p:cNvSpPr>
            <p:nvPr/>
          </p:nvSpPr>
          <p:spPr bwMode="auto">
            <a:xfrm flipV="1">
              <a:off x="3267" y="1283"/>
              <a:ext cx="576" cy="576"/>
            </a:xfrm>
            <a:prstGeom prst="line">
              <a:avLst/>
            </a:prstGeom>
            <a:noFill/>
            <a:ln w="19050">
              <a:solidFill>
                <a:srgbClr val="000099"/>
              </a:solidFill>
              <a:prstDash val="dash"/>
              <a:round/>
            </a:ln>
          </p:spPr>
          <p:txBody>
            <a:bodyPr/>
            <a:lstStyle/>
            <a:p>
              <a:endParaRPr lang="zh-CN" altLang="en-US"/>
            </a:p>
          </p:txBody>
        </p:sp>
        <p:sp>
          <p:nvSpPr>
            <p:cNvPr id="48177" name="Line 11"/>
            <p:cNvSpPr>
              <a:spLocks noChangeShapeType="1"/>
            </p:cNvSpPr>
            <p:nvPr/>
          </p:nvSpPr>
          <p:spPr bwMode="auto">
            <a:xfrm>
              <a:off x="3795" y="1235"/>
              <a:ext cx="0" cy="624"/>
            </a:xfrm>
            <a:prstGeom prst="line">
              <a:avLst/>
            </a:prstGeom>
            <a:noFill/>
            <a:ln w="19050">
              <a:solidFill>
                <a:srgbClr val="000099"/>
              </a:solidFill>
              <a:prstDash val="dash"/>
              <a:round/>
            </a:ln>
          </p:spPr>
          <p:txBody>
            <a:bodyPr/>
            <a:lstStyle/>
            <a:p>
              <a:endParaRPr lang="zh-CN" altLang="en-US"/>
            </a:p>
          </p:txBody>
        </p:sp>
        <p:sp>
          <p:nvSpPr>
            <p:cNvPr id="48178" name="Line 12"/>
            <p:cNvSpPr>
              <a:spLocks noChangeShapeType="1"/>
            </p:cNvSpPr>
            <p:nvPr/>
          </p:nvSpPr>
          <p:spPr bwMode="auto">
            <a:xfrm>
              <a:off x="4377" y="755"/>
              <a:ext cx="0" cy="1104"/>
            </a:xfrm>
            <a:prstGeom prst="line">
              <a:avLst/>
            </a:prstGeom>
            <a:noFill/>
            <a:ln w="19050">
              <a:solidFill>
                <a:srgbClr val="000099"/>
              </a:solidFill>
              <a:prstDash val="dash"/>
              <a:round/>
            </a:ln>
          </p:spPr>
          <p:txBody>
            <a:bodyPr/>
            <a:lstStyle/>
            <a:p>
              <a:endParaRPr lang="zh-CN" altLang="en-US"/>
            </a:p>
          </p:txBody>
        </p:sp>
        <p:sp>
          <p:nvSpPr>
            <p:cNvPr id="48179" name="Line 13"/>
            <p:cNvSpPr>
              <a:spLocks noChangeShapeType="1"/>
            </p:cNvSpPr>
            <p:nvPr/>
          </p:nvSpPr>
          <p:spPr bwMode="auto">
            <a:xfrm>
              <a:off x="3267" y="755"/>
              <a:ext cx="528" cy="0"/>
            </a:xfrm>
            <a:prstGeom prst="line">
              <a:avLst/>
            </a:prstGeom>
            <a:noFill/>
            <a:ln w="19050">
              <a:solidFill>
                <a:srgbClr val="000099"/>
              </a:solidFill>
              <a:prstDash val="dash"/>
              <a:round/>
            </a:ln>
          </p:spPr>
          <p:txBody>
            <a:bodyPr/>
            <a:lstStyle/>
            <a:p>
              <a:endParaRPr lang="zh-CN" altLang="en-US"/>
            </a:p>
          </p:txBody>
        </p:sp>
        <p:sp>
          <p:nvSpPr>
            <p:cNvPr id="48180" name="Text Box 14"/>
            <p:cNvSpPr txBox="1">
              <a:spLocks noChangeArrowheads="1"/>
            </p:cNvSpPr>
            <p:nvPr/>
          </p:nvSpPr>
          <p:spPr bwMode="auto">
            <a:xfrm>
              <a:off x="3705" y="476"/>
              <a:ext cx="196" cy="279"/>
            </a:xfrm>
            <a:prstGeom prst="rect">
              <a:avLst/>
            </a:prstGeom>
            <a:noFill/>
            <a:ln w="9525">
              <a:noFill/>
              <a:miter lim="800000"/>
            </a:ln>
          </p:spPr>
          <p:txBody>
            <a:bodyPr wrap="none">
              <a:spAutoFit/>
            </a:bodyPr>
            <a:lstStyle/>
            <a:p>
              <a:pPr>
                <a:lnSpc>
                  <a:spcPct val="115000"/>
                </a:lnSpc>
              </a:pPr>
              <a:r>
                <a:rPr kumimoji="1" lang="en-US" altLang="zh-CN" sz="2000" b="1" i="1">
                  <a:solidFill>
                    <a:srgbClr val="000099"/>
                  </a:solidFill>
                  <a:ea typeface="楷体_GB2312" pitchFamily="49" charset="-122"/>
                </a:rPr>
                <a:t>a</a:t>
              </a:r>
              <a:endParaRPr kumimoji="1" lang="en-US" altLang="zh-CN" sz="2000" b="1" i="1">
                <a:solidFill>
                  <a:srgbClr val="000099"/>
                </a:solidFill>
                <a:ea typeface="楷体_GB2312" pitchFamily="49" charset="-122"/>
              </a:endParaRPr>
            </a:p>
          </p:txBody>
        </p:sp>
        <p:sp>
          <p:nvSpPr>
            <p:cNvPr id="48181" name="Text Box 15"/>
            <p:cNvSpPr txBox="1">
              <a:spLocks noChangeArrowheads="1"/>
            </p:cNvSpPr>
            <p:nvPr/>
          </p:nvSpPr>
          <p:spPr bwMode="auto">
            <a:xfrm>
              <a:off x="4371" y="520"/>
              <a:ext cx="196" cy="279"/>
            </a:xfrm>
            <a:prstGeom prst="rect">
              <a:avLst/>
            </a:prstGeom>
            <a:noFill/>
            <a:ln w="9525">
              <a:noFill/>
              <a:miter lim="800000"/>
            </a:ln>
          </p:spPr>
          <p:txBody>
            <a:bodyPr wrap="none">
              <a:spAutoFit/>
            </a:bodyPr>
            <a:lstStyle/>
            <a:p>
              <a:pPr>
                <a:lnSpc>
                  <a:spcPct val="115000"/>
                </a:lnSpc>
              </a:pPr>
              <a:r>
                <a:rPr kumimoji="1" lang="en-US" altLang="zh-CN" sz="2000" b="1" i="1">
                  <a:solidFill>
                    <a:srgbClr val="000099"/>
                  </a:solidFill>
                  <a:ea typeface="楷体_GB2312" pitchFamily="49" charset="-122"/>
                </a:rPr>
                <a:t>b</a:t>
              </a:r>
              <a:endParaRPr kumimoji="1" lang="en-US" altLang="zh-CN" sz="2000" b="1" i="1">
                <a:solidFill>
                  <a:srgbClr val="000099"/>
                </a:solidFill>
                <a:ea typeface="楷体_GB2312" pitchFamily="49" charset="-122"/>
              </a:endParaRPr>
            </a:p>
          </p:txBody>
        </p:sp>
        <p:sp>
          <p:nvSpPr>
            <p:cNvPr id="48182" name="Text Box 16"/>
            <p:cNvSpPr txBox="1">
              <a:spLocks noChangeArrowheads="1"/>
            </p:cNvSpPr>
            <p:nvPr/>
          </p:nvSpPr>
          <p:spPr bwMode="auto">
            <a:xfrm>
              <a:off x="2921" y="601"/>
              <a:ext cx="35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600</a:t>
              </a:r>
              <a:endParaRPr kumimoji="1" lang="en-US" altLang="zh-CN" sz="2000" b="1">
                <a:solidFill>
                  <a:srgbClr val="000099"/>
                </a:solidFill>
                <a:ea typeface="楷体_GB2312" pitchFamily="49" charset="-122"/>
              </a:endParaRPr>
            </a:p>
          </p:txBody>
        </p:sp>
        <p:sp>
          <p:nvSpPr>
            <p:cNvPr id="48183" name="Text Box 17"/>
            <p:cNvSpPr txBox="1">
              <a:spLocks noChangeArrowheads="1"/>
            </p:cNvSpPr>
            <p:nvPr/>
          </p:nvSpPr>
          <p:spPr bwMode="auto">
            <a:xfrm>
              <a:off x="4286" y="1796"/>
              <a:ext cx="19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2</a:t>
              </a:r>
              <a:endParaRPr kumimoji="1" lang="en-US" altLang="zh-CN" sz="2000" b="1">
                <a:solidFill>
                  <a:srgbClr val="000099"/>
                </a:solidFill>
                <a:ea typeface="楷体_GB2312" pitchFamily="49" charset="-122"/>
              </a:endParaRPr>
            </a:p>
          </p:txBody>
        </p:sp>
        <p:sp>
          <p:nvSpPr>
            <p:cNvPr id="48184" name="Text Box 18"/>
            <p:cNvSpPr txBox="1">
              <a:spLocks noChangeArrowheads="1"/>
            </p:cNvSpPr>
            <p:nvPr/>
          </p:nvSpPr>
          <p:spPr bwMode="auto">
            <a:xfrm>
              <a:off x="3689" y="1791"/>
              <a:ext cx="19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1</a:t>
              </a:r>
              <a:endParaRPr kumimoji="1" lang="en-US" altLang="zh-CN" sz="2000" b="1">
                <a:solidFill>
                  <a:srgbClr val="000099"/>
                </a:solidFill>
                <a:ea typeface="楷体_GB2312" pitchFamily="49" charset="-122"/>
              </a:endParaRPr>
            </a:p>
          </p:txBody>
        </p:sp>
        <p:sp>
          <p:nvSpPr>
            <p:cNvPr id="48185" name="Line 19"/>
            <p:cNvSpPr>
              <a:spLocks noChangeShapeType="1"/>
            </p:cNvSpPr>
            <p:nvPr/>
          </p:nvSpPr>
          <p:spPr bwMode="auto">
            <a:xfrm>
              <a:off x="3795" y="925"/>
              <a:ext cx="0" cy="240"/>
            </a:xfrm>
            <a:prstGeom prst="line">
              <a:avLst/>
            </a:prstGeom>
            <a:noFill/>
            <a:ln w="57150">
              <a:solidFill>
                <a:srgbClr val="008000"/>
              </a:solidFill>
              <a:round/>
              <a:headEnd type="triangle" w="med" len="med"/>
            </a:ln>
          </p:spPr>
          <p:txBody>
            <a:bodyPr/>
            <a:lstStyle/>
            <a:p>
              <a:endParaRPr lang="zh-CN" altLang="en-US"/>
            </a:p>
          </p:txBody>
        </p:sp>
        <p:sp>
          <p:nvSpPr>
            <p:cNvPr id="48186" name="Line 20"/>
            <p:cNvSpPr>
              <a:spLocks noChangeShapeType="1"/>
            </p:cNvSpPr>
            <p:nvPr/>
          </p:nvSpPr>
          <p:spPr bwMode="auto">
            <a:xfrm>
              <a:off x="3273" y="332"/>
              <a:ext cx="0" cy="1519"/>
            </a:xfrm>
            <a:prstGeom prst="line">
              <a:avLst/>
            </a:prstGeom>
            <a:noFill/>
            <a:ln w="28575" cap="sq">
              <a:solidFill>
                <a:srgbClr val="000099"/>
              </a:solidFill>
              <a:miter lim="800000"/>
              <a:headEnd type="triangle" w="med" len="med"/>
            </a:ln>
          </p:spPr>
          <p:txBody>
            <a:bodyPr wrap="none"/>
            <a:lstStyle/>
            <a:p>
              <a:endParaRPr lang="zh-CN" altLang="en-US"/>
            </a:p>
          </p:txBody>
        </p:sp>
        <p:sp>
          <p:nvSpPr>
            <p:cNvPr id="48187" name="Line 21"/>
            <p:cNvSpPr>
              <a:spLocks noChangeShapeType="1"/>
            </p:cNvSpPr>
            <p:nvPr/>
          </p:nvSpPr>
          <p:spPr bwMode="auto">
            <a:xfrm flipV="1">
              <a:off x="3272" y="1844"/>
              <a:ext cx="1477" cy="0"/>
            </a:xfrm>
            <a:prstGeom prst="line">
              <a:avLst/>
            </a:prstGeom>
            <a:noFill/>
            <a:ln w="28575" cap="sq">
              <a:solidFill>
                <a:srgbClr val="000099"/>
              </a:solidFill>
              <a:miter lim="800000"/>
              <a:tailEnd type="triangle" w="med" len="med"/>
            </a:ln>
          </p:spPr>
          <p:txBody>
            <a:bodyPr wrap="none"/>
            <a:lstStyle/>
            <a:p>
              <a:endParaRPr lang="zh-CN" altLang="en-US"/>
            </a:p>
          </p:txBody>
        </p:sp>
        <p:sp>
          <p:nvSpPr>
            <p:cNvPr id="48188" name="Text Box 22"/>
            <p:cNvSpPr txBox="1">
              <a:spLocks noChangeArrowheads="1"/>
            </p:cNvSpPr>
            <p:nvPr/>
          </p:nvSpPr>
          <p:spPr bwMode="auto">
            <a:xfrm>
              <a:off x="3264" y="294"/>
              <a:ext cx="552" cy="250"/>
            </a:xfrm>
            <a:prstGeom prst="rect">
              <a:avLst/>
            </a:prstGeom>
            <a:noFill/>
            <a:ln w="12700" cap="sq">
              <a:noFill/>
              <a:miter lim="800000"/>
              <a:headEnd type="none" w="sm" len="sm"/>
              <a:tailEnd type="none" w="sm" len="sm"/>
            </a:ln>
          </p:spPr>
          <p:txBody>
            <a:bodyPr wrap="none">
              <a:spAutoFit/>
            </a:bodyPr>
            <a:lstStyle/>
            <a:p>
              <a:r>
                <a:rPr kumimoji="1" lang="en-US" altLang="zh-CN" sz="2000" b="1" i="1">
                  <a:solidFill>
                    <a:srgbClr val="000099"/>
                  </a:solidFill>
                </a:rPr>
                <a:t>T</a:t>
              </a:r>
              <a:r>
                <a:rPr kumimoji="1" lang="en-US" altLang="zh-CN" sz="2000" b="1">
                  <a:solidFill>
                    <a:srgbClr val="000099"/>
                  </a:solidFill>
                </a:rPr>
                <a:t>(K</a:t>
              </a:r>
              <a:r>
                <a:rPr kumimoji="1" lang="zh-CN" altLang="en-US" sz="2000" b="1">
                  <a:solidFill>
                    <a:srgbClr val="000099"/>
                  </a:solidFill>
                </a:rPr>
                <a:t>）</a:t>
              </a:r>
              <a:endParaRPr kumimoji="1" lang="zh-CN" altLang="en-US" sz="2000" b="1">
                <a:solidFill>
                  <a:srgbClr val="000099"/>
                </a:solidFill>
              </a:endParaRPr>
            </a:p>
          </p:txBody>
        </p:sp>
        <p:sp>
          <p:nvSpPr>
            <p:cNvPr id="48189" name="Text Box 23"/>
            <p:cNvSpPr txBox="1">
              <a:spLocks noChangeArrowheads="1"/>
            </p:cNvSpPr>
            <p:nvPr/>
          </p:nvSpPr>
          <p:spPr bwMode="auto">
            <a:xfrm>
              <a:off x="4496" y="1598"/>
              <a:ext cx="964" cy="250"/>
            </a:xfrm>
            <a:prstGeom prst="rect">
              <a:avLst/>
            </a:prstGeom>
            <a:noFill/>
            <a:ln w="12700" cap="sq">
              <a:noFill/>
              <a:miter lim="800000"/>
              <a:headEnd type="none" w="sm" len="sm"/>
              <a:tailEnd type="none" w="sm" len="sm"/>
            </a:ln>
          </p:spPr>
          <p:txBody>
            <a:bodyPr>
              <a:spAutoFit/>
            </a:bodyPr>
            <a:lstStyle/>
            <a:p>
              <a:r>
                <a:rPr kumimoji="1" lang="en-US" altLang="zh-CN" sz="2000" b="1" i="1">
                  <a:solidFill>
                    <a:srgbClr val="000099"/>
                  </a:solidFill>
                </a:rPr>
                <a:t>V </a:t>
              </a:r>
              <a:r>
                <a:rPr kumimoji="1" lang="en-US" altLang="zh-CN" sz="2000" b="1">
                  <a:solidFill>
                    <a:srgbClr val="000099"/>
                  </a:solidFill>
                </a:rPr>
                <a:t>(10</a:t>
              </a:r>
              <a:r>
                <a:rPr kumimoji="1" lang="en-US" altLang="zh-CN" sz="2000" b="1" baseline="50000">
                  <a:solidFill>
                    <a:srgbClr val="000099"/>
                  </a:solidFill>
                </a:rPr>
                <a:t>-3</a:t>
              </a:r>
              <a:r>
                <a:rPr kumimoji="1" lang="en-US" altLang="zh-CN" sz="2000" b="1">
                  <a:solidFill>
                    <a:srgbClr val="000099"/>
                  </a:solidFill>
                </a:rPr>
                <a:t>m</a:t>
              </a:r>
              <a:r>
                <a:rPr kumimoji="1" lang="en-US" altLang="zh-CN" sz="2000" b="1" baseline="50000">
                  <a:solidFill>
                    <a:srgbClr val="000099"/>
                  </a:solidFill>
                </a:rPr>
                <a:t>3</a:t>
              </a:r>
              <a:r>
                <a:rPr kumimoji="1" lang="en-US" altLang="zh-CN" sz="2000" b="1">
                  <a:solidFill>
                    <a:srgbClr val="000099"/>
                  </a:solidFill>
                </a:rPr>
                <a:t>)</a:t>
              </a:r>
              <a:endParaRPr kumimoji="1" lang="en-US" altLang="zh-CN" sz="2000" b="1">
                <a:solidFill>
                  <a:srgbClr val="000099"/>
                </a:solidFill>
              </a:endParaRPr>
            </a:p>
          </p:txBody>
        </p:sp>
        <p:sp>
          <p:nvSpPr>
            <p:cNvPr id="48190" name="Text Box 24"/>
            <p:cNvSpPr txBox="1">
              <a:spLocks noChangeArrowheads="1"/>
            </p:cNvSpPr>
            <p:nvPr/>
          </p:nvSpPr>
          <p:spPr bwMode="auto">
            <a:xfrm>
              <a:off x="3073" y="1791"/>
              <a:ext cx="232" cy="250"/>
            </a:xfrm>
            <a:prstGeom prst="rect">
              <a:avLst/>
            </a:prstGeom>
            <a:noFill/>
            <a:ln w="9525">
              <a:noFill/>
              <a:miter lim="800000"/>
            </a:ln>
          </p:spPr>
          <p:txBody>
            <a:bodyPr wrap="none">
              <a:spAutoFit/>
            </a:bodyPr>
            <a:lstStyle/>
            <a:p>
              <a:r>
                <a:rPr lang="en-US" altLang="zh-CN" sz="2000" b="1" i="1">
                  <a:solidFill>
                    <a:srgbClr val="000099"/>
                  </a:solidFill>
                </a:rPr>
                <a:t>O</a:t>
              </a:r>
              <a:endParaRPr lang="en-US" altLang="zh-CN" sz="2000" b="1" i="1">
                <a:solidFill>
                  <a:srgbClr val="000099"/>
                </a:solidFill>
              </a:endParaRPr>
            </a:p>
          </p:txBody>
        </p:sp>
      </p:grpSp>
      <p:graphicFrame>
        <p:nvGraphicFramePr>
          <p:cNvPr id="246809" name="Object 25"/>
          <p:cNvGraphicFramePr/>
          <p:nvPr/>
        </p:nvGraphicFramePr>
        <p:xfrm>
          <a:off x="1374775" y="3519488"/>
          <a:ext cx="2241550" cy="800100"/>
        </p:xfrm>
        <a:graphic>
          <a:graphicData uri="http://schemas.openxmlformats.org/presentationml/2006/ole">
            <mc:AlternateContent xmlns:mc="http://schemas.openxmlformats.org/markup-compatibility/2006">
              <mc:Choice xmlns:v="urn:schemas-microsoft-com:vml" Requires="v">
                <p:oleObj spid="_x0000_s48129" name="公式" r:id="rId1" imgW="29870400" imgH="10668000" progId="Equation.3">
                  <p:embed/>
                </p:oleObj>
              </mc:Choice>
              <mc:Fallback>
                <p:oleObj name="公式" r:id="rId1" imgW="29870400" imgH="10668000" progId="Equation.3">
                  <p:embed/>
                  <p:pic>
                    <p:nvPicPr>
                      <p:cNvPr id="0" name="Object 25"/>
                      <p:cNvPicPr/>
                      <p:nvPr/>
                    </p:nvPicPr>
                    <p:blipFill>
                      <a:blip r:embed="rId2"/>
                      <a:stretch>
                        <a:fillRect/>
                      </a:stretch>
                    </p:blipFill>
                    <p:spPr>
                      <a:xfrm>
                        <a:off x="1374775" y="3519488"/>
                        <a:ext cx="2241550" cy="800100"/>
                      </a:xfrm>
                      <a:prstGeom prst="rect">
                        <a:avLst/>
                      </a:prstGeom>
                      <a:noFill/>
                      <a:ln w="9525">
                        <a:noFill/>
                      </a:ln>
                    </p:spPr>
                  </p:pic>
                </p:oleObj>
              </mc:Fallback>
            </mc:AlternateContent>
          </a:graphicData>
        </a:graphic>
      </p:graphicFrame>
      <p:sp>
        <p:nvSpPr>
          <p:cNvPr id="48142" name="Text Box 26"/>
          <p:cNvSpPr txBox="1">
            <a:spLocks noChangeArrowheads="1"/>
          </p:cNvSpPr>
          <p:nvPr/>
        </p:nvSpPr>
        <p:spPr bwMode="auto">
          <a:xfrm>
            <a:off x="2392363" y="4389438"/>
            <a:ext cx="184150" cy="512762"/>
          </a:xfrm>
          <a:prstGeom prst="rect">
            <a:avLst/>
          </a:prstGeom>
          <a:noFill/>
          <a:ln w="9525">
            <a:noFill/>
            <a:miter lim="800000"/>
          </a:ln>
        </p:spPr>
        <p:txBody>
          <a:bodyPr wrap="none">
            <a:spAutoFit/>
          </a:bodyPr>
          <a:lstStyle/>
          <a:p>
            <a:pPr>
              <a:lnSpc>
                <a:spcPct val="115000"/>
              </a:lnSpc>
            </a:pPr>
            <a:endParaRPr lang="zh-CN" altLang="zh-CN" b="1">
              <a:solidFill>
                <a:schemeClr val="bg1"/>
              </a:solidFill>
              <a:ea typeface="楷体_GB2312" pitchFamily="49" charset="-122"/>
            </a:endParaRPr>
          </a:p>
        </p:txBody>
      </p:sp>
      <p:sp>
        <p:nvSpPr>
          <p:cNvPr id="246811" name="Text Box 27"/>
          <p:cNvSpPr txBox="1">
            <a:spLocks noChangeArrowheads="1"/>
          </p:cNvSpPr>
          <p:nvPr/>
        </p:nvSpPr>
        <p:spPr bwMode="auto">
          <a:xfrm>
            <a:off x="723900" y="2916238"/>
            <a:ext cx="3622675" cy="512762"/>
          </a:xfrm>
          <a:prstGeom prst="rect">
            <a:avLst/>
          </a:prstGeom>
          <a:noFill/>
          <a:ln w="9525">
            <a:noFill/>
            <a:miter lim="800000"/>
          </a:ln>
        </p:spPr>
        <p:txBody>
          <a:bodyPr>
            <a:spAutoFit/>
          </a:bodyPr>
          <a:lstStyle/>
          <a:p>
            <a:pPr>
              <a:lnSpc>
                <a:spcPct val="115000"/>
              </a:lnSpc>
              <a:defRPr/>
            </a:pPr>
            <a:r>
              <a:rPr kumimoji="1" lang="en-US" altLang="zh-CN" b="1" dirty="0">
                <a:ea typeface="楷体_GB2312" pitchFamily="49" charset="-122"/>
              </a:rPr>
              <a:t>(2) </a:t>
            </a:r>
            <a:r>
              <a:rPr kumimoji="1" lang="en-US" altLang="zh-CN" b="1" dirty="0">
                <a:solidFill>
                  <a:srgbClr val="FF6600"/>
                </a:solidFill>
                <a:ea typeface="楷体_GB2312" pitchFamily="49" charset="-122"/>
              </a:rPr>
              <a:t> </a:t>
            </a:r>
            <a:r>
              <a:rPr kumimoji="1" lang="en-US" altLang="zh-CN" b="1" i="1" dirty="0" err="1">
                <a:ea typeface="楷体_GB2312" pitchFamily="49" charset="-122"/>
              </a:rPr>
              <a:t>ab</a:t>
            </a:r>
            <a:r>
              <a:rPr kumimoji="1" lang="en-US" altLang="zh-CN" b="1" i="1" dirty="0">
                <a:solidFill>
                  <a:srgbClr val="FF6600"/>
                </a:solidFill>
                <a:ea typeface="楷体_GB2312" pitchFamily="49" charset="-122"/>
              </a:rPr>
              <a:t> </a:t>
            </a:r>
            <a:r>
              <a:rPr kumimoji="1" lang="zh-CN" altLang="en-US" b="1" dirty="0">
                <a:latin typeface="+mn-ea"/>
                <a:ea typeface="+mn-ea"/>
              </a:rPr>
              <a:t>是</a:t>
            </a:r>
            <a:r>
              <a:rPr kumimoji="1" lang="zh-CN" altLang="en-US" b="1" dirty="0">
                <a:solidFill>
                  <a:srgbClr val="FF6600"/>
                </a:solidFill>
                <a:latin typeface="+mn-ea"/>
                <a:ea typeface="+mn-ea"/>
              </a:rPr>
              <a:t>等温过程</a:t>
            </a:r>
            <a:r>
              <a:rPr kumimoji="1" lang="zh-CN" altLang="en-US" b="1" dirty="0">
                <a:latin typeface="+mn-ea"/>
                <a:ea typeface="+mn-ea"/>
              </a:rPr>
              <a:t>，有</a:t>
            </a:r>
            <a:endParaRPr kumimoji="1" lang="zh-CN" altLang="en-US" b="1" dirty="0">
              <a:latin typeface="+mn-ea"/>
              <a:ea typeface="+mn-ea"/>
            </a:endParaRPr>
          </a:p>
        </p:txBody>
      </p:sp>
      <p:sp>
        <p:nvSpPr>
          <p:cNvPr id="48144" name="Text Box 28"/>
          <p:cNvSpPr txBox="1">
            <a:spLocks noChangeArrowheads="1"/>
          </p:cNvSpPr>
          <p:nvPr/>
        </p:nvSpPr>
        <p:spPr bwMode="auto">
          <a:xfrm>
            <a:off x="1958975" y="5397500"/>
            <a:ext cx="184150" cy="512763"/>
          </a:xfrm>
          <a:prstGeom prst="rect">
            <a:avLst/>
          </a:prstGeom>
          <a:noFill/>
          <a:ln w="9525">
            <a:noFill/>
            <a:miter lim="800000"/>
          </a:ln>
        </p:spPr>
        <p:txBody>
          <a:bodyPr wrap="none">
            <a:spAutoFit/>
          </a:bodyPr>
          <a:lstStyle/>
          <a:p>
            <a:pPr>
              <a:lnSpc>
                <a:spcPct val="115000"/>
              </a:lnSpc>
            </a:pPr>
            <a:endParaRPr lang="zh-CN" altLang="zh-CN" b="1">
              <a:solidFill>
                <a:schemeClr val="bg1"/>
              </a:solidFill>
              <a:ea typeface="楷体_GB2312" pitchFamily="49" charset="-122"/>
            </a:endParaRPr>
          </a:p>
        </p:txBody>
      </p:sp>
      <p:sp>
        <p:nvSpPr>
          <p:cNvPr id="246813" name="Text Box 29"/>
          <p:cNvSpPr txBox="1">
            <a:spLocks noChangeArrowheads="1"/>
          </p:cNvSpPr>
          <p:nvPr/>
        </p:nvSpPr>
        <p:spPr bwMode="auto">
          <a:xfrm>
            <a:off x="1206500" y="4868863"/>
            <a:ext cx="3140075" cy="512762"/>
          </a:xfrm>
          <a:prstGeom prst="rect">
            <a:avLst/>
          </a:prstGeom>
          <a:noFill/>
          <a:ln w="9525">
            <a:noFill/>
            <a:miter lim="800000"/>
          </a:ln>
        </p:spPr>
        <p:txBody>
          <a:bodyPr>
            <a:spAutoFit/>
          </a:bodyPr>
          <a:lstStyle/>
          <a:p>
            <a:pPr>
              <a:lnSpc>
                <a:spcPct val="115000"/>
              </a:lnSpc>
              <a:defRPr/>
            </a:pPr>
            <a:r>
              <a:rPr kumimoji="1" lang="en-US" altLang="zh-CN" b="1" i="1" dirty="0" err="1">
                <a:latin typeface="+mn-ea"/>
                <a:ea typeface="+mn-ea"/>
              </a:rPr>
              <a:t>bc</a:t>
            </a:r>
            <a:r>
              <a:rPr kumimoji="1" lang="en-US" altLang="zh-CN" b="1" i="1" dirty="0">
                <a:latin typeface="+mn-ea"/>
                <a:ea typeface="+mn-ea"/>
              </a:rPr>
              <a:t> </a:t>
            </a:r>
            <a:r>
              <a:rPr kumimoji="1" lang="zh-CN" altLang="en-US" b="1" dirty="0">
                <a:latin typeface="+mn-ea"/>
                <a:ea typeface="+mn-ea"/>
              </a:rPr>
              <a:t>是</a:t>
            </a:r>
            <a:r>
              <a:rPr kumimoji="1" lang="zh-CN" altLang="en-US" b="1" dirty="0">
                <a:solidFill>
                  <a:srgbClr val="FF6600"/>
                </a:solidFill>
                <a:latin typeface="+mn-ea"/>
                <a:ea typeface="+mn-ea"/>
              </a:rPr>
              <a:t>等压过程</a:t>
            </a:r>
            <a:r>
              <a:rPr kumimoji="1" lang="zh-CN" altLang="en-US" b="1" dirty="0">
                <a:latin typeface="+mn-ea"/>
                <a:ea typeface="+mn-ea"/>
              </a:rPr>
              <a:t>，有</a:t>
            </a:r>
            <a:endParaRPr kumimoji="1" lang="zh-CN" altLang="en-US" b="1" dirty="0">
              <a:latin typeface="+mn-ea"/>
              <a:ea typeface="+mn-ea"/>
            </a:endParaRPr>
          </a:p>
        </p:txBody>
      </p:sp>
      <p:graphicFrame>
        <p:nvGraphicFramePr>
          <p:cNvPr id="246814" name="Object 30"/>
          <p:cNvGraphicFramePr>
            <a:graphicFrameLocks noChangeAspect="1"/>
          </p:cNvGraphicFramePr>
          <p:nvPr/>
        </p:nvGraphicFramePr>
        <p:xfrm>
          <a:off x="792163" y="5661025"/>
          <a:ext cx="2124075" cy="431800"/>
        </p:xfrm>
        <a:graphic>
          <a:graphicData uri="http://schemas.openxmlformats.org/presentationml/2006/ole">
            <mc:AlternateContent xmlns:mc="http://schemas.openxmlformats.org/markup-compatibility/2006">
              <mc:Choice xmlns:v="urn:schemas-microsoft-com:vml" Requires="v">
                <p:oleObj spid="_x0000_s48131" name="公式" r:id="rId3" imgW="28956000" imgH="5791200" progId="Equation.3">
                  <p:embed/>
                </p:oleObj>
              </mc:Choice>
              <mc:Fallback>
                <p:oleObj name="公式" r:id="rId3" imgW="28956000" imgH="5791200" progId="Equation.3">
                  <p:embed/>
                  <p:pic>
                    <p:nvPicPr>
                      <p:cNvPr id="0" name="Object 30"/>
                      <p:cNvPicPr>
                        <a:picLocks noChangeAspect="1"/>
                      </p:cNvPicPr>
                      <p:nvPr/>
                    </p:nvPicPr>
                    <p:blipFill>
                      <a:blip r:embed="rId4"/>
                      <a:stretch>
                        <a:fillRect/>
                      </a:stretch>
                    </p:blipFill>
                    <p:spPr>
                      <a:xfrm>
                        <a:off x="792163" y="5661025"/>
                        <a:ext cx="2124075" cy="431800"/>
                      </a:xfrm>
                      <a:prstGeom prst="rect">
                        <a:avLst/>
                      </a:prstGeom>
                      <a:noFill/>
                      <a:ln w="9525">
                        <a:noFill/>
                      </a:ln>
                    </p:spPr>
                  </p:pic>
                </p:oleObj>
              </mc:Fallback>
            </mc:AlternateContent>
          </a:graphicData>
        </a:graphic>
      </p:graphicFrame>
      <p:sp>
        <p:nvSpPr>
          <p:cNvPr id="246815" name="Text Box 31"/>
          <p:cNvSpPr txBox="1">
            <a:spLocks noChangeArrowheads="1"/>
          </p:cNvSpPr>
          <p:nvPr/>
        </p:nvSpPr>
        <p:spPr bwMode="auto">
          <a:xfrm>
            <a:off x="711200" y="2376488"/>
            <a:ext cx="2374900" cy="512762"/>
          </a:xfrm>
          <a:prstGeom prst="rect">
            <a:avLst/>
          </a:prstGeom>
          <a:noFill/>
          <a:ln w="9525">
            <a:noFill/>
            <a:miter lim="800000"/>
          </a:ln>
        </p:spPr>
        <p:txBody>
          <a:bodyPr>
            <a:spAutoFit/>
          </a:bodyPr>
          <a:lstStyle/>
          <a:p>
            <a:pPr>
              <a:lnSpc>
                <a:spcPct val="115000"/>
              </a:lnSpc>
              <a:defRPr/>
            </a:pPr>
            <a:r>
              <a:rPr kumimoji="1" lang="en-US" altLang="zh-CN" b="1" dirty="0">
                <a:ea typeface="楷体_GB2312" pitchFamily="49" charset="-122"/>
              </a:rPr>
              <a:t>(1)  </a:t>
            </a:r>
            <a:r>
              <a:rPr kumimoji="1" lang="en-US" altLang="zh-CN" b="1" i="1" dirty="0" err="1">
                <a:solidFill>
                  <a:srgbClr val="FF6600"/>
                </a:solidFill>
                <a:ea typeface="楷体_GB2312" pitchFamily="49" charset="-122"/>
              </a:rPr>
              <a:t>p</a:t>
            </a:r>
            <a:r>
              <a:rPr kumimoji="1" lang="en-US" altLang="zh-CN" b="1" i="1" dirty="0" err="1">
                <a:solidFill>
                  <a:srgbClr val="FF6600"/>
                </a:solidFill>
                <a:ea typeface="楷体_GB2312" pitchFamily="49" charset="-122"/>
                <a:sym typeface="Symbol" panose="05050102010706020507" pitchFamily="18" charset="2"/>
              </a:rPr>
              <a:t></a:t>
            </a:r>
            <a:r>
              <a:rPr kumimoji="1" lang="en-US" altLang="zh-CN" b="1" i="1" dirty="0" err="1">
                <a:solidFill>
                  <a:srgbClr val="FF6600"/>
                </a:solidFill>
                <a:ea typeface="楷体_GB2312" pitchFamily="49" charset="-122"/>
              </a:rPr>
              <a:t>V</a:t>
            </a:r>
            <a:r>
              <a:rPr kumimoji="1" lang="en-US" altLang="zh-CN" b="1" i="1" dirty="0">
                <a:ea typeface="楷体_GB2312" pitchFamily="49" charset="-122"/>
              </a:rPr>
              <a:t> </a:t>
            </a:r>
            <a:r>
              <a:rPr kumimoji="1" lang="zh-CN" altLang="en-US" b="1" dirty="0">
                <a:latin typeface="+mn-ea"/>
                <a:ea typeface="+mn-ea"/>
              </a:rPr>
              <a:t>图</a:t>
            </a:r>
            <a:r>
              <a:rPr kumimoji="1" lang="zh-CN" altLang="en-US" b="1" dirty="0">
                <a:ea typeface="楷体_GB2312" pitchFamily="49" charset="-122"/>
              </a:rPr>
              <a:t> </a:t>
            </a:r>
            <a:endParaRPr kumimoji="1" lang="zh-CN" altLang="en-US" b="1" dirty="0">
              <a:ea typeface="楷体_GB2312" pitchFamily="49" charset="-122"/>
            </a:endParaRPr>
          </a:p>
        </p:txBody>
      </p:sp>
      <p:sp>
        <p:nvSpPr>
          <p:cNvPr id="246816" name="Freeform 32"/>
          <p:cNvSpPr/>
          <p:nvPr/>
        </p:nvSpPr>
        <p:spPr bwMode="auto">
          <a:xfrm>
            <a:off x="5964238" y="4271963"/>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2147483647 h 672"/>
              <a:gd name="T8" fmla="*/ 2147483647 w 576"/>
              <a:gd name="T9" fmla="*/ 2147483647 h 672"/>
              <a:gd name="T10" fmla="*/ 0 60000 65536"/>
              <a:gd name="T11" fmla="*/ 0 60000 65536"/>
              <a:gd name="T12" fmla="*/ 0 60000 65536"/>
              <a:gd name="T13" fmla="*/ 0 60000 65536"/>
              <a:gd name="T14" fmla="*/ 0 60000 65536"/>
              <a:gd name="T15" fmla="*/ 0 w 576"/>
              <a:gd name="T16" fmla="*/ 0 h 672"/>
              <a:gd name="T17" fmla="*/ 576 w 576"/>
              <a:gd name="T18" fmla="*/ 672 h 672"/>
            </a:gdLst>
            <a:ahLst/>
            <a:cxnLst>
              <a:cxn ang="T10">
                <a:pos x="T0" y="T1"/>
              </a:cxn>
              <a:cxn ang="T11">
                <a:pos x="T2" y="T3"/>
              </a:cxn>
              <a:cxn ang="T12">
                <a:pos x="T4" y="T5"/>
              </a:cxn>
              <a:cxn ang="T13">
                <a:pos x="T6" y="T7"/>
              </a:cxn>
              <a:cxn ang="T14">
                <a:pos x="T8" y="T9"/>
              </a:cxn>
            </a:cxnLst>
            <a:rect l="T15" t="T16" r="T17" b="T18"/>
            <a:pathLst>
              <a:path w="576" h="672">
                <a:moveTo>
                  <a:pt x="0" y="0"/>
                </a:moveTo>
                <a:cubicBezTo>
                  <a:pt x="28" y="64"/>
                  <a:pt x="56" y="128"/>
                  <a:pt x="96" y="192"/>
                </a:cubicBezTo>
                <a:cubicBezTo>
                  <a:pt x="136" y="256"/>
                  <a:pt x="192" y="328"/>
                  <a:pt x="240" y="384"/>
                </a:cubicBezTo>
                <a:cubicBezTo>
                  <a:pt x="288" y="440"/>
                  <a:pt x="328" y="480"/>
                  <a:pt x="384" y="528"/>
                </a:cubicBezTo>
                <a:cubicBezTo>
                  <a:pt x="440" y="576"/>
                  <a:pt x="544" y="648"/>
                  <a:pt x="576" y="672"/>
                </a:cubicBezTo>
              </a:path>
            </a:pathLst>
          </a:custGeom>
          <a:noFill/>
          <a:ln w="38100">
            <a:solidFill>
              <a:srgbClr val="FF6600"/>
            </a:solidFill>
            <a:round/>
          </a:ln>
        </p:spPr>
        <p:txBody>
          <a:bodyPr/>
          <a:lstStyle/>
          <a:p>
            <a:pPr algn="ctr"/>
            <a:endParaRPr lang="zh-CN" altLang="en-US"/>
          </a:p>
        </p:txBody>
      </p:sp>
      <p:sp>
        <p:nvSpPr>
          <p:cNvPr id="246817" name="Line 33"/>
          <p:cNvSpPr>
            <a:spLocks noChangeShapeType="1"/>
          </p:cNvSpPr>
          <p:nvPr/>
        </p:nvSpPr>
        <p:spPr bwMode="auto">
          <a:xfrm>
            <a:off x="5964238" y="4271963"/>
            <a:ext cx="0" cy="1066800"/>
          </a:xfrm>
          <a:prstGeom prst="line">
            <a:avLst/>
          </a:prstGeom>
          <a:noFill/>
          <a:ln w="38100">
            <a:solidFill>
              <a:srgbClr val="FF6600"/>
            </a:solidFill>
            <a:round/>
          </a:ln>
        </p:spPr>
        <p:txBody>
          <a:bodyPr/>
          <a:lstStyle/>
          <a:p>
            <a:endParaRPr lang="zh-CN" altLang="en-US"/>
          </a:p>
        </p:txBody>
      </p:sp>
      <p:sp>
        <p:nvSpPr>
          <p:cNvPr id="246818" name="Text Box 34"/>
          <p:cNvSpPr txBox="1">
            <a:spLocks noChangeArrowheads="1"/>
          </p:cNvSpPr>
          <p:nvPr/>
        </p:nvSpPr>
        <p:spPr bwMode="auto">
          <a:xfrm>
            <a:off x="5915025" y="3924300"/>
            <a:ext cx="311150" cy="442913"/>
          </a:xfrm>
          <a:prstGeom prst="rect">
            <a:avLst/>
          </a:prstGeom>
          <a:noFill/>
          <a:ln w="9525">
            <a:noFill/>
            <a:miter lim="800000"/>
          </a:ln>
        </p:spPr>
        <p:txBody>
          <a:bodyPr wrap="none">
            <a:spAutoFit/>
          </a:bodyPr>
          <a:lstStyle/>
          <a:p>
            <a:pPr>
              <a:lnSpc>
                <a:spcPct val="115000"/>
              </a:lnSpc>
            </a:pPr>
            <a:r>
              <a:rPr kumimoji="1" lang="en-US" altLang="zh-CN" sz="2000" b="1" i="1">
                <a:ea typeface="楷体_GB2312" pitchFamily="49" charset="-122"/>
              </a:rPr>
              <a:t>a</a:t>
            </a:r>
            <a:endParaRPr kumimoji="1" lang="en-US" altLang="zh-CN" sz="2000" b="1" i="1">
              <a:ea typeface="楷体_GB2312" pitchFamily="49" charset="-122"/>
            </a:endParaRPr>
          </a:p>
        </p:txBody>
      </p:sp>
      <p:sp>
        <p:nvSpPr>
          <p:cNvPr id="246819" name="Text Box 35"/>
          <p:cNvSpPr txBox="1">
            <a:spLocks noChangeArrowheads="1"/>
          </p:cNvSpPr>
          <p:nvPr/>
        </p:nvSpPr>
        <p:spPr bwMode="auto">
          <a:xfrm>
            <a:off x="5670550" y="5229225"/>
            <a:ext cx="296863" cy="442913"/>
          </a:xfrm>
          <a:prstGeom prst="rect">
            <a:avLst/>
          </a:prstGeom>
          <a:noFill/>
          <a:ln w="9525">
            <a:noFill/>
            <a:miter lim="800000"/>
          </a:ln>
        </p:spPr>
        <p:txBody>
          <a:bodyPr wrap="none">
            <a:spAutoFit/>
          </a:bodyPr>
          <a:lstStyle/>
          <a:p>
            <a:pPr>
              <a:lnSpc>
                <a:spcPct val="115000"/>
              </a:lnSpc>
            </a:pPr>
            <a:r>
              <a:rPr kumimoji="1" lang="en-US" altLang="zh-CN" sz="2000" b="1" i="1">
                <a:ea typeface="楷体_GB2312" pitchFamily="49" charset="-122"/>
              </a:rPr>
              <a:t>c</a:t>
            </a:r>
            <a:endParaRPr kumimoji="1" lang="en-US" altLang="zh-CN" sz="2000" b="1" i="1">
              <a:ea typeface="楷体_GB2312" pitchFamily="49" charset="-122"/>
            </a:endParaRPr>
          </a:p>
        </p:txBody>
      </p:sp>
      <p:grpSp>
        <p:nvGrpSpPr>
          <p:cNvPr id="3" name="Group 36"/>
          <p:cNvGrpSpPr/>
          <p:nvPr/>
        </p:nvGrpSpPr>
        <p:grpSpPr bwMode="auto">
          <a:xfrm>
            <a:off x="5811838" y="5338763"/>
            <a:ext cx="311150" cy="1087437"/>
            <a:chOff x="3557" y="3091"/>
            <a:chExt cx="196" cy="685"/>
          </a:xfrm>
        </p:grpSpPr>
        <p:sp>
          <p:nvSpPr>
            <p:cNvPr id="48172" name="Line 37"/>
            <p:cNvSpPr>
              <a:spLocks noChangeShapeType="1"/>
            </p:cNvSpPr>
            <p:nvPr/>
          </p:nvSpPr>
          <p:spPr bwMode="auto">
            <a:xfrm>
              <a:off x="3653" y="3091"/>
              <a:ext cx="0" cy="432"/>
            </a:xfrm>
            <a:prstGeom prst="line">
              <a:avLst/>
            </a:prstGeom>
            <a:noFill/>
            <a:ln w="19050">
              <a:solidFill>
                <a:srgbClr val="000099"/>
              </a:solidFill>
              <a:prstDash val="dash"/>
              <a:round/>
            </a:ln>
          </p:spPr>
          <p:txBody>
            <a:bodyPr/>
            <a:lstStyle/>
            <a:p>
              <a:endParaRPr lang="zh-CN" altLang="en-US"/>
            </a:p>
          </p:txBody>
        </p:sp>
        <p:sp>
          <p:nvSpPr>
            <p:cNvPr id="48173" name="Text Box 38"/>
            <p:cNvSpPr txBox="1">
              <a:spLocks noChangeArrowheads="1"/>
            </p:cNvSpPr>
            <p:nvPr/>
          </p:nvSpPr>
          <p:spPr bwMode="auto">
            <a:xfrm>
              <a:off x="3557" y="3497"/>
              <a:ext cx="19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1</a:t>
              </a:r>
              <a:endParaRPr kumimoji="1" lang="en-US" altLang="zh-CN" sz="2000" b="1">
                <a:solidFill>
                  <a:srgbClr val="000099"/>
                </a:solidFill>
                <a:ea typeface="楷体_GB2312" pitchFamily="49" charset="-122"/>
              </a:endParaRPr>
            </a:p>
          </p:txBody>
        </p:sp>
      </p:grpSp>
      <p:sp>
        <p:nvSpPr>
          <p:cNvPr id="246823" name="Line 39"/>
          <p:cNvSpPr>
            <a:spLocks noChangeShapeType="1"/>
          </p:cNvSpPr>
          <p:nvPr/>
        </p:nvSpPr>
        <p:spPr bwMode="auto">
          <a:xfrm>
            <a:off x="5202238" y="4271963"/>
            <a:ext cx="762000" cy="0"/>
          </a:xfrm>
          <a:prstGeom prst="line">
            <a:avLst/>
          </a:prstGeom>
          <a:noFill/>
          <a:ln w="19050">
            <a:solidFill>
              <a:srgbClr val="000099"/>
            </a:solidFill>
            <a:prstDash val="dash"/>
            <a:round/>
          </a:ln>
        </p:spPr>
        <p:txBody>
          <a:bodyPr/>
          <a:lstStyle/>
          <a:p>
            <a:endParaRPr lang="zh-CN" altLang="en-US"/>
          </a:p>
        </p:txBody>
      </p:sp>
      <p:sp>
        <p:nvSpPr>
          <p:cNvPr id="246824" name="Text Box 40"/>
          <p:cNvSpPr txBox="1">
            <a:spLocks noChangeArrowheads="1"/>
          </p:cNvSpPr>
          <p:nvPr/>
        </p:nvSpPr>
        <p:spPr bwMode="auto">
          <a:xfrm>
            <a:off x="4662488" y="4014788"/>
            <a:ext cx="565150" cy="442912"/>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600</a:t>
            </a:r>
            <a:endParaRPr kumimoji="1" lang="en-US" altLang="zh-CN" sz="2000" b="1">
              <a:solidFill>
                <a:srgbClr val="000099"/>
              </a:solidFill>
              <a:ea typeface="楷体_GB2312" pitchFamily="49" charset="-122"/>
            </a:endParaRPr>
          </a:p>
        </p:txBody>
      </p:sp>
      <p:sp>
        <p:nvSpPr>
          <p:cNvPr id="246825" name="Line 41"/>
          <p:cNvSpPr>
            <a:spLocks noChangeShapeType="1"/>
          </p:cNvSpPr>
          <p:nvPr/>
        </p:nvSpPr>
        <p:spPr bwMode="auto">
          <a:xfrm>
            <a:off x="5202238" y="5338763"/>
            <a:ext cx="762000" cy="0"/>
          </a:xfrm>
          <a:prstGeom prst="line">
            <a:avLst/>
          </a:prstGeom>
          <a:noFill/>
          <a:ln w="19050">
            <a:solidFill>
              <a:srgbClr val="000099"/>
            </a:solidFill>
            <a:prstDash val="dash"/>
            <a:round/>
          </a:ln>
        </p:spPr>
        <p:txBody>
          <a:bodyPr/>
          <a:lstStyle/>
          <a:p>
            <a:endParaRPr lang="zh-CN" altLang="en-US"/>
          </a:p>
        </p:txBody>
      </p:sp>
      <p:sp>
        <p:nvSpPr>
          <p:cNvPr id="246826" name="Text Box 42"/>
          <p:cNvSpPr txBox="1">
            <a:spLocks noChangeArrowheads="1"/>
          </p:cNvSpPr>
          <p:nvPr/>
        </p:nvSpPr>
        <p:spPr bwMode="auto">
          <a:xfrm>
            <a:off x="4637088" y="5056188"/>
            <a:ext cx="565150" cy="442912"/>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300</a:t>
            </a:r>
            <a:endParaRPr kumimoji="1" lang="en-US" altLang="zh-CN" sz="2000" b="1">
              <a:solidFill>
                <a:srgbClr val="000099"/>
              </a:solidFill>
              <a:ea typeface="楷体_GB2312" pitchFamily="49" charset="-122"/>
            </a:endParaRPr>
          </a:p>
        </p:txBody>
      </p:sp>
      <p:sp>
        <p:nvSpPr>
          <p:cNvPr id="246827" name="Text Box 43"/>
          <p:cNvSpPr txBox="1">
            <a:spLocks noChangeArrowheads="1"/>
          </p:cNvSpPr>
          <p:nvPr/>
        </p:nvSpPr>
        <p:spPr bwMode="auto">
          <a:xfrm>
            <a:off x="6878638" y="5094288"/>
            <a:ext cx="311150" cy="442912"/>
          </a:xfrm>
          <a:prstGeom prst="rect">
            <a:avLst/>
          </a:prstGeom>
          <a:noFill/>
          <a:ln w="9525">
            <a:noFill/>
            <a:miter lim="800000"/>
          </a:ln>
        </p:spPr>
        <p:txBody>
          <a:bodyPr wrap="none">
            <a:spAutoFit/>
          </a:bodyPr>
          <a:lstStyle/>
          <a:p>
            <a:pPr>
              <a:lnSpc>
                <a:spcPct val="115000"/>
              </a:lnSpc>
            </a:pPr>
            <a:r>
              <a:rPr kumimoji="1" lang="en-US" altLang="zh-CN" sz="2000" b="1" i="1">
                <a:ea typeface="楷体_GB2312" pitchFamily="49" charset="-122"/>
              </a:rPr>
              <a:t>b</a:t>
            </a:r>
            <a:endParaRPr kumimoji="1" lang="en-US" altLang="zh-CN" sz="2000" b="1" i="1">
              <a:ea typeface="楷体_GB2312" pitchFamily="49" charset="-122"/>
            </a:endParaRPr>
          </a:p>
        </p:txBody>
      </p:sp>
      <p:sp>
        <p:nvSpPr>
          <p:cNvPr id="246828" name="Line 44"/>
          <p:cNvSpPr>
            <a:spLocks noChangeShapeType="1"/>
          </p:cNvSpPr>
          <p:nvPr/>
        </p:nvSpPr>
        <p:spPr bwMode="auto">
          <a:xfrm>
            <a:off x="5964238" y="5338763"/>
            <a:ext cx="914400" cy="0"/>
          </a:xfrm>
          <a:prstGeom prst="line">
            <a:avLst/>
          </a:prstGeom>
          <a:noFill/>
          <a:ln w="38100">
            <a:solidFill>
              <a:srgbClr val="FF6600"/>
            </a:solidFill>
            <a:round/>
          </a:ln>
        </p:spPr>
        <p:txBody>
          <a:bodyPr/>
          <a:lstStyle/>
          <a:p>
            <a:endParaRPr lang="zh-CN" altLang="en-US"/>
          </a:p>
        </p:txBody>
      </p:sp>
      <p:grpSp>
        <p:nvGrpSpPr>
          <p:cNvPr id="4" name="Group 45"/>
          <p:cNvGrpSpPr/>
          <p:nvPr/>
        </p:nvGrpSpPr>
        <p:grpSpPr bwMode="auto">
          <a:xfrm>
            <a:off x="6726238" y="5338763"/>
            <a:ext cx="311150" cy="1087437"/>
            <a:chOff x="4133" y="3091"/>
            <a:chExt cx="196" cy="685"/>
          </a:xfrm>
        </p:grpSpPr>
        <p:sp>
          <p:nvSpPr>
            <p:cNvPr id="48170" name="Text Box 46"/>
            <p:cNvSpPr txBox="1">
              <a:spLocks noChangeArrowheads="1"/>
            </p:cNvSpPr>
            <p:nvPr/>
          </p:nvSpPr>
          <p:spPr bwMode="auto">
            <a:xfrm>
              <a:off x="4133" y="3497"/>
              <a:ext cx="19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2</a:t>
              </a:r>
              <a:endParaRPr kumimoji="1" lang="en-US" altLang="zh-CN" sz="2000" b="1">
                <a:solidFill>
                  <a:srgbClr val="000099"/>
                </a:solidFill>
                <a:ea typeface="楷体_GB2312" pitchFamily="49" charset="-122"/>
              </a:endParaRPr>
            </a:p>
          </p:txBody>
        </p:sp>
        <p:sp>
          <p:nvSpPr>
            <p:cNvPr id="48171" name="Line 47"/>
            <p:cNvSpPr>
              <a:spLocks noChangeShapeType="1"/>
            </p:cNvSpPr>
            <p:nvPr/>
          </p:nvSpPr>
          <p:spPr bwMode="auto">
            <a:xfrm>
              <a:off x="4229" y="3091"/>
              <a:ext cx="0" cy="432"/>
            </a:xfrm>
            <a:prstGeom prst="line">
              <a:avLst/>
            </a:prstGeom>
            <a:noFill/>
            <a:ln w="19050">
              <a:solidFill>
                <a:srgbClr val="000099"/>
              </a:solidFill>
              <a:prstDash val="dash"/>
              <a:round/>
            </a:ln>
          </p:spPr>
          <p:txBody>
            <a:bodyPr/>
            <a:lstStyle/>
            <a:p>
              <a:endParaRPr lang="zh-CN" altLang="en-US"/>
            </a:p>
          </p:txBody>
        </p:sp>
      </p:grpSp>
      <p:sp>
        <p:nvSpPr>
          <p:cNvPr id="246832" name="Line 48"/>
          <p:cNvSpPr>
            <a:spLocks noChangeShapeType="1"/>
          </p:cNvSpPr>
          <p:nvPr/>
        </p:nvSpPr>
        <p:spPr bwMode="auto">
          <a:xfrm>
            <a:off x="5956300" y="4556125"/>
            <a:ext cx="0" cy="381000"/>
          </a:xfrm>
          <a:prstGeom prst="line">
            <a:avLst/>
          </a:prstGeom>
          <a:noFill/>
          <a:ln w="57150">
            <a:solidFill>
              <a:srgbClr val="008000"/>
            </a:solidFill>
            <a:round/>
            <a:headEnd type="triangle" w="med" len="med"/>
          </a:ln>
        </p:spPr>
        <p:txBody>
          <a:bodyPr/>
          <a:lstStyle/>
          <a:p>
            <a:endParaRPr lang="zh-CN" altLang="en-US"/>
          </a:p>
        </p:txBody>
      </p:sp>
      <p:sp>
        <p:nvSpPr>
          <p:cNvPr id="246833" name="Freeform 49"/>
          <p:cNvSpPr/>
          <p:nvPr/>
        </p:nvSpPr>
        <p:spPr bwMode="auto">
          <a:xfrm rot="-10028271">
            <a:off x="6275388" y="4522788"/>
            <a:ext cx="215900" cy="609600"/>
          </a:xfrm>
          <a:custGeom>
            <a:avLst/>
            <a:gdLst>
              <a:gd name="T0" fmla="*/ 0 w 192"/>
              <a:gd name="T1" fmla="*/ 2147483647 h 384"/>
              <a:gd name="T2" fmla="*/ 2147483647 w 192"/>
              <a:gd name="T3" fmla="*/ 2147483647 h 384"/>
              <a:gd name="T4" fmla="*/ 2147483647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cubicBezTo>
                  <a:pt x="8" y="320"/>
                  <a:pt x="16" y="256"/>
                  <a:pt x="48" y="192"/>
                </a:cubicBezTo>
                <a:cubicBezTo>
                  <a:pt x="80" y="128"/>
                  <a:pt x="136" y="64"/>
                  <a:pt x="192" y="0"/>
                </a:cubicBezTo>
              </a:path>
            </a:pathLst>
          </a:custGeom>
          <a:noFill/>
          <a:ln w="57150">
            <a:solidFill>
              <a:srgbClr val="FF0000"/>
            </a:solidFill>
            <a:round/>
            <a:tailEnd type="triangle" w="med" len="med"/>
          </a:ln>
        </p:spPr>
        <p:txBody>
          <a:bodyPr/>
          <a:lstStyle/>
          <a:p>
            <a:pPr algn="ctr"/>
            <a:endParaRPr lang="zh-CN" altLang="en-US"/>
          </a:p>
        </p:txBody>
      </p:sp>
      <p:sp>
        <p:nvSpPr>
          <p:cNvPr id="246834" name="Freeform 50"/>
          <p:cNvSpPr/>
          <p:nvPr/>
        </p:nvSpPr>
        <p:spPr bwMode="auto">
          <a:xfrm rot="-10028271">
            <a:off x="6130925" y="5060950"/>
            <a:ext cx="215900" cy="609600"/>
          </a:xfrm>
          <a:custGeom>
            <a:avLst/>
            <a:gdLst>
              <a:gd name="T0" fmla="*/ 0 w 192"/>
              <a:gd name="T1" fmla="*/ 2147483647 h 384"/>
              <a:gd name="T2" fmla="*/ 2147483647 w 192"/>
              <a:gd name="T3" fmla="*/ 2147483647 h 384"/>
              <a:gd name="T4" fmla="*/ 2147483647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cubicBezTo>
                  <a:pt x="8" y="320"/>
                  <a:pt x="16" y="256"/>
                  <a:pt x="48" y="192"/>
                </a:cubicBezTo>
                <a:cubicBezTo>
                  <a:pt x="80" y="128"/>
                  <a:pt x="136" y="64"/>
                  <a:pt x="192" y="0"/>
                </a:cubicBezTo>
              </a:path>
            </a:pathLst>
          </a:custGeom>
          <a:noFill/>
          <a:ln w="57150">
            <a:solidFill>
              <a:srgbClr val="FF0000"/>
            </a:solidFill>
            <a:round/>
            <a:tailEnd type="triangle" w="med" len="med"/>
          </a:ln>
        </p:spPr>
        <p:txBody>
          <a:bodyPr/>
          <a:lstStyle/>
          <a:p>
            <a:pPr algn="ctr"/>
            <a:endParaRPr lang="zh-CN" altLang="en-US"/>
          </a:p>
        </p:txBody>
      </p:sp>
      <p:sp>
        <p:nvSpPr>
          <p:cNvPr id="246835" name="Freeform 51"/>
          <p:cNvSpPr/>
          <p:nvPr/>
        </p:nvSpPr>
        <p:spPr bwMode="auto">
          <a:xfrm rot="8354261" flipH="1">
            <a:off x="5843588" y="4738688"/>
            <a:ext cx="215900" cy="609600"/>
          </a:xfrm>
          <a:custGeom>
            <a:avLst/>
            <a:gdLst>
              <a:gd name="T0" fmla="*/ 0 w 192"/>
              <a:gd name="T1" fmla="*/ 2147483647 h 384"/>
              <a:gd name="T2" fmla="*/ 2147483647 w 192"/>
              <a:gd name="T3" fmla="*/ 2147483647 h 384"/>
              <a:gd name="T4" fmla="*/ 2147483647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cubicBezTo>
                  <a:pt x="8" y="320"/>
                  <a:pt x="16" y="256"/>
                  <a:pt x="48" y="192"/>
                </a:cubicBezTo>
                <a:cubicBezTo>
                  <a:pt x="80" y="128"/>
                  <a:pt x="136" y="64"/>
                  <a:pt x="192" y="0"/>
                </a:cubicBezTo>
              </a:path>
            </a:pathLst>
          </a:custGeom>
          <a:noFill/>
          <a:ln w="57150">
            <a:solidFill>
              <a:srgbClr val="FF0000"/>
            </a:solidFill>
            <a:round/>
            <a:tailEnd type="triangle" w="med" len="med"/>
          </a:ln>
        </p:spPr>
        <p:txBody>
          <a:bodyPr/>
          <a:lstStyle/>
          <a:p>
            <a:pPr algn="ctr"/>
            <a:endParaRPr lang="zh-CN" altLang="en-US"/>
          </a:p>
        </p:txBody>
      </p:sp>
      <p:grpSp>
        <p:nvGrpSpPr>
          <p:cNvPr id="5" name="Group 52"/>
          <p:cNvGrpSpPr/>
          <p:nvPr/>
        </p:nvGrpSpPr>
        <p:grpSpPr bwMode="auto">
          <a:xfrm>
            <a:off x="4879975" y="3473450"/>
            <a:ext cx="3787775" cy="2873375"/>
            <a:chOff x="2308" y="317"/>
            <a:chExt cx="2386" cy="1810"/>
          </a:xfrm>
        </p:grpSpPr>
        <p:sp>
          <p:nvSpPr>
            <p:cNvPr id="48164" name="Line 53"/>
            <p:cNvSpPr>
              <a:spLocks noChangeShapeType="1"/>
            </p:cNvSpPr>
            <p:nvPr/>
          </p:nvSpPr>
          <p:spPr bwMode="auto">
            <a:xfrm>
              <a:off x="2507" y="438"/>
              <a:ext cx="0" cy="1519"/>
            </a:xfrm>
            <a:prstGeom prst="line">
              <a:avLst/>
            </a:prstGeom>
            <a:noFill/>
            <a:ln w="28575" cap="sq">
              <a:solidFill>
                <a:srgbClr val="000099"/>
              </a:solidFill>
              <a:miter lim="800000"/>
              <a:headEnd type="triangle" w="med" len="med"/>
            </a:ln>
          </p:spPr>
          <p:txBody>
            <a:bodyPr wrap="none"/>
            <a:lstStyle/>
            <a:p>
              <a:endParaRPr lang="zh-CN" altLang="en-US"/>
            </a:p>
          </p:txBody>
        </p:sp>
        <p:sp>
          <p:nvSpPr>
            <p:cNvPr id="48165" name="Line 54"/>
            <p:cNvSpPr>
              <a:spLocks noChangeShapeType="1"/>
            </p:cNvSpPr>
            <p:nvPr/>
          </p:nvSpPr>
          <p:spPr bwMode="auto">
            <a:xfrm flipV="1">
              <a:off x="2506" y="1950"/>
              <a:ext cx="1519" cy="0"/>
            </a:xfrm>
            <a:prstGeom prst="line">
              <a:avLst/>
            </a:prstGeom>
            <a:noFill/>
            <a:ln w="28575" cap="sq">
              <a:solidFill>
                <a:srgbClr val="000099"/>
              </a:solidFill>
              <a:miter lim="800000"/>
              <a:tailEnd type="triangle" w="med" len="med"/>
            </a:ln>
          </p:spPr>
          <p:txBody>
            <a:bodyPr wrap="none"/>
            <a:lstStyle/>
            <a:p>
              <a:endParaRPr lang="zh-CN" altLang="en-US"/>
            </a:p>
          </p:txBody>
        </p:sp>
        <p:sp>
          <p:nvSpPr>
            <p:cNvPr id="48166" name="Text Box 55"/>
            <p:cNvSpPr txBox="1">
              <a:spLocks noChangeArrowheads="1"/>
            </p:cNvSpPr>
            <p:nvPr/>
          </p:nvSpPr>
          <p:spPr bwMode="auto">
            <a:xfrm>
              <a:off x="2529" y="317"/>
              <a:ext cx="116" cy="288"/>
            </a:xfrm>
            <a:prstGeom prst="rect">
              <a:avLst/>
            </a:prstGeom>
            <a:noFill/>
            <a:ln w="12700" cap="sq">
              <a:noFill/>
              <a:miter lim="800000"/>
              <a:headEnd type="none" w="sm" len="sm"/>
              <a:tailEnd type="none" w="sm" len="sm"/>
            </a:ln>
          </p:spPr>
          <p:txBody>
            <a:bodyPr wrap="none">
              <a:spAutoFit/>
            </a:bodyPr>
            <a:lstStyle/>
            <a:p>
              <a:endParaRPr kumimoji="1" lang="zh-CN" altLang="zh-CN">
                <a:solidFill>
                  <a:schemeClr val="bg1"/>
                </a:solidFill>
              </a:endParaRPr>
            </a:p>
          </p:txBody>
        </p:sp>
        <p:sp>
          <p:nvSpPr>
            <p:cNvPr id="48167" name="Text Box 56"/>
            <p:cNvSpPr txBox="1">
              <a:spLocks noChangeArrowheads="1"/>
            </p:cNvSpPr>
            <p:nvPr/>
          </p:nvSpPr>
          <p:spPr bwMode="auto">
            <a:xfrm>
              <a:off x="3799" y="1735"/>
              <a:ext cx="895" cy="250"/>
            </a:xfrm>
            <a:prstGeom prst="rect">
              <a:avLst/>
            </a:prstGeom>
            <a:noFill/>
            <a:ln w="12700" cap="sq">
              <a:noFill/>
              <a:miter lim="800000"/>
              <a:headEnd type="none" w="sm" len="sm"/>
              <a:tailEnd type="none" w="sm" len="sm"/>
            </a:ln>
          </p:spPr>
          <p:txBody>
            <a:bodyPr>
              <a:spAutoFit/>
            </a:bodyPr>
            <a:lstStyle/>
            <a:p>
              <a:r>
                <a:rPr kumimoji="1" lang="en-US" altLang="zh-CN" sz="2000" b="1" i="1">
                  <a:solidFill>
                    <a:srgbClr val="000099"/>
                  </a:solidFill>
                </a:rPr>
                <a:t>V </a:t>
              </a:r>
              <a:r>
                <a:rPr kumimoji="1" lang="en-US" altLang="zh-CN" sz="2000" b="1">
                  <a:solidFill>
                    <a:srgbClr val="000099"/>
                  </a:solidFill>
                </a:rPr>
                <a:t>(10</a:t>
              </a:r>
              <a:r>
                <a:rPr kumimoji="1" lang="en-US" altLang="zh-CN" sz="2000" b="1" baseline="50000">
                  <a:solidFill>
                    <a:srgbClr val="000099"/>
                  </a:solidFill>
                </a:rPr>
                <a:t>-3</a:t>
              </a:r>
              <a:r>
                <a:rPr kumimoji="1" lang="en-US" altLang="zh-CN" sz="2000" b="1">
                  <a:solidFill>
                    <a:srgbClr val="000099"/>
                  </a:solidFill>
                </a:rPr>
                <a:t>m</a:t>
              </a:r>
              <a:r>
                <a:rPr kumimoji="1" lang="en-US" altLang="zh-CN" sz="2000" b="1" baseline="50000">
                  <a:solidFill>
                    <a:srgbClr val="000099"/>
                  </a:solidFill>
                </a:rPr>
                <a:t>3</a:t>
              </a:r>
              <a:r>
                <a:rPr kumimoji="1" lang="en-US" altLang="zh-CN" sz="2000" b="1">
                  <a:solidFill>
                    <a:srgbClr val="000099"/>
                  </a:solidFill>
                </a:rPr>
                <a:t>)</a:t>
              </a:r>
              <a:endParaRPr kumimoji="1" lang="en-US" altLang="zh-CN" sz="2000" b="1">
                <a:solidFill>
                  <a:srgbClr val="000099"/>
                </a:solidFill>
              </a:endParaRPr>
            </a:p>
          </p:txBody>
        </p:sp>
        <p:sp>
          <p:nvSpPr>
            <p:cNvPr id="48168" name="Text Box 57"/>
            <p:cNvSpPr txBox="1">
              <a:spLocks noChangeArrowheads="1"/>
            </p:cNvSpPr>
            <p:nvPr/>
          </p:nvSpPr>
          <p:spPr bwMode="auto">
            <a:xfrm>
              <a:off x="2308" y="1877"/>
              <a:ext cx="232" cy="250"/>
            </a:xfrm>
            <a:prstGeom prst="rect">
              <a:avLst/>
            </a:prstGeom>
            <a:noFill/>
            <a:ln w="9525">
              <a:noFill/>
              <a:miter lim="800000"/>
            </a:ln>
          </p:spPr>
          <p:txBody>
            <a:bodyPr wrap="none">
              <a:spAutoFit/>
            </a:bodyPr>
            <a:lstStyle/>
            <a:p>
              <a:r>
                <a:rPr lang="en-US" altLang="zh-CN" sz="2000" b="1" i="1">
                  <a:solidFill>
                    <a:srgbClr val="000099"/>
                  </a:solidFill>
                </a:rPr>
                <a:t>O</a:t>
              </a:r>
              <a:endParaRPr lang="en-US" altLang="zh-CN" sz="2000" b="1" i="1">
                <a:solidFill>
                  <a:srgbClr val="000099"/>
                </a:solidFill>
              </a:endParaRPr>
            </a:p>
          </p:txBody>
        </p:sp>
        <p:sp>
          <p:nvSpPr>
            <p:cNvPr id="48169" name="Rectangle 58"/>
            <p:cNvSpPr>
              <a:spLocks noChangeArrowheads="1"/>
            </p:cNvSpPr>
            <p:nvPr/>
          </p:nvSpPr>
          <p:spPr bwMode="auto">
            <a:xfrm>
              <a:off x="2511" y="402"/>
              <a:ext cx="906" cy="250"/>
            </a:xfrm>
            <a:prstGeom prst="rect">
              <a:avLst/>
            </a:prstGeom>
            <a:noFill/>
            <a:ln w="9525">
              <a:noFill/>
              <a:miter lim="800000"/>
            </a:ln>
          </p:spPr>
          <p:txBody>
            <a:bodyPr wrap="none">
              <a:spAutoFit/>
            </a:bodyPr>
            <a:lstStyle/>
            <a:p>
              <a:r>
                <a:rPr kumimoji="1" lang="en-US" altLang="zh-CN" sz="2000" b="1" i="1">
                  <a:solidFill>
                    <a:srgbClr val="000099"/>
                  </a:solidFill>
                </a:rPr>
                <a:t>P </a:t>
              </a:r>
              <a:r>
                <a:rPr kumimoji="1" lang="en-US" altLang="zh-CN" sz="2000" b="1">
                  <a:solidFill>
                    <a:srgbClr val="000099"/>
                  </a:solidFill>
                </a:rPr>
                <a:t>(10</a:t>
              </a:r>
              <a:r>
                <a:rPr kumimoji="1" lang="en-US" altLang="zh-CN" sz="2000" b="1" baseline="50000">
                  <a:solidFill>
                    <a:srgbClr val="000099"/>
                  </a:solidFill>
                </a:rPr>
                <a:t>3</a:t>
              </a:r>
              <a:r>
                <a:rPr kumimoji="1" lang="en-US" altLang="zh-CN" sz="2000" b="1">
                  <a:solidFill>
                    <a:srgbClr val="000099"/>
                  </a:solidFill>
                </a:rPr>
                <a:t>R Pa)</a:t>
              </a:r>
              <a:endParaRPr kumimoji="1" lang="en-US" altLang="zh-CN" sz="2000" b="1">
                <a:solidFill>
                  <a:srgbClr val="000099"/>
                </a:solidFill>
              </a:endParaRPr>
            </a:p>
          </p:txBody>
        </p:sp>
      </p:grpSp>
      <p:graphicFrame>
        <p:nvGraphicFramePr>
          <p:cNvPr id="246843" name="Object 59"/>
          <p:cNvGraphicFramePr/>
          <p:nvPr/>
        </p:nvGraphicFramePr>
        <p:xfrm>
          <a:off x="1851025" y="4373563"/>
          <a:ext cx="1257300" cy="320675"/>
        </p:xfrm>
        <a:graphic>
          <a:graphicData uri="http://schemas.openxmlformats.org/presentationml/2006/ole">
            <mc:AlternateContent xmlns:mc="http://schemas.openxmlformats.org/markup-compatibility/2006">
              <mc:Choice xmlns:v="urn:schemas-microsoft-com:vml" Requires="v">
                <p:oleObj spid="_x0000_s48132" name="Equation" r:id="rId5" imgW="16764000" imgH="4267200" progId="Equation.DSMT4">
                  <p:embed/>
                </p:oleObj>
              </mc:Choice>
              <mc:Fallback>
                <p:oleObj name="Equation" r:id="rId5" imgW="16764000" imgH="4267200" progId="Equation.DSMT4">
                  <p:embed/>
                  <p:pic>
                    <p:nvPicPr>
                      <p:cNvPr id="0" name="Object 59"/>
                      <p:cNvPicPr/>
                      <p:nvPr/>
                    </p:nvPicPr>
                    <p:blipFill>
                      <a:blip r:embed="rId6"/>
                      <a:stretch>
                        <a:fillRect/>
                      </a:stretch>
                    </p:blipFill>
                    <p:spPr>
                      <a:xfrm>
                        <a:off x="1851025" y="4373563"/>
                        <a:ext cx="1257300" cy="320675"/>
                      </a:xfrm>
                      <a:prstGeom prst="rect">
                        <a:avLst/>
                      </a:prstGeom>
                      <a:noFill/>
                      <a:ln w="9525">
                        <a:noFill/>
                      </a:ln>
                    </p:spPr>
                  </p:pic>
                </p:oleObj>
              </mc:Fallback>
            </mc:AlternateContent>
          </a:graphicData>
        </a:graphic>
      </p:graphicFrame>
      <p:graphicFrame>
        <p:nvGraphicFramePr>
          <p:cNvPr id="246844" name="Object 60"/>
          <p:cNvGraphicFramePr/>
          <p:nvPr/>
        </p:nvGraphicFramePr>
        <p:xfrm>
          <a:off x="3146425" y="4373563"/>
          <a:ext cx="434975" cy="320675"/>
        </p:xfrm>
        <a:graphic>
          <a:graphicData uri="http://schemas.openxmlformats.org/presentationml/2006/ole">
            <mc:AlternateContent xmlns:mc="http://schemas.openxmlformats.org/markup-compatibility/2006">
              <mc:Choice xmlns:v="urn:schemas-microsoft-com:vml" Requires="v">
                <p:oleObj spid="_x0000_s48133" name="Equation" r:id="rId7" imgW="5791200" imgH="4267200" progId="Equation.DSMT4">
                  <p:embed/>
                </p:oleObj>
              </mc:Choice>
              <mc:Fallback>
                <p:oleObj name="Equation" r:id="rId7" imgW="5791200" imgH="4267200" progId="Equation.DSMT4">
                  <p:embed/>
                  <p:pic>
                    <p:nvPicPr>
                      <p:cNvPr id="0" name="Object 60"/>
                      <p:cNvPicPr/>
                      <p:nvPr/>
                    </p:nvPicPr>
                    <p:blipFill>
                      <a:blip r:embed="rId8"/>
                      <a:stretch>
                        <a:fillRect/>
                      </a:stretch>
                    </p:blipFill>
                    <p:spPr>
                      <a:xfrm>
                        <a:off x="3146425" y="4373563"/>
                        <a:ext cx="434975" cy="320675"/>
                      </a:xfrm>
                      <a:prstGeom prst="rect">
                        <a:avLst/>
                      </a:prstGeom>
                      <a:noFill/>
                      <a:ln w="9525">
                        <a:noFill/>
                      </a:ln>
                    </p:spPr>
                  </p:pic>
                </p:oleObj>
              </mc:Fallback>
            </mc:AlternateContent>
          </a:graphicData>
        </a:graphic>
      </p:graphicFrame>
      <p:graphicFrame>
        <p:nvGraphicFramePr>
          <p:cNvPr id="246845" name="Object 61"/>
          <p:cNvGraphicFramePr>
            <a:graphicFrameLocks noChangeAspect="1"/>
          </p:cNvGraphicFramePr>
          <p:nvPr/>
        </p:nvGraphicFramePr>
        <p:xfrm>
          <a:off x="2962275" y="5678488"/>
          <a:ext cx="1030288" cy="317500"/>
        </p:xfrm>
        <a:graphic>
          <a:graphicData uri="http://schemas.openxmlformats.org/presentationml/2006/ole">
            <mc:AlternateContent xmlns:mc="http://schemas.openxmlformats.org/markup-compatibility/2006">
              <mc:Choice xmlns:v="urn:schemas-microsoft-com:vml" Requires="v">
                <p:oleObj spid="_x0000_s48134" name="Equation" r:id="rId9" imgW="14020800" imgH="4267200" progId="Equation.DSMT4">
                  <p:embed/>
                </p:oleObj>
              </mc:Choice>
              <mc:Fallback>
                <p:oleObj name="Equation" r:id="rId9" imgW="14020800" imgH="4267200" progId="Equation.DSMT4">
                  <p:embed/>
                  <p:pic>
                    <p:nvPicPr>
                      <p:cNvPr id="0" name="Object 61"/>
                      <p:cNvPicPr>
                        <a:picLocks noChangeAspect="1"/>
                      </p:cNvPicPr>
                      <p:nvPr/>
                    </p:nvPicPr>
                    <p:blipFill>
                      <a:blip r:embed="rId10"/>
                      <a:stretch>
                        <a:fillRect/>
                      </a:stretch>
                    </p:blipFill>
                    <p:spPr>
                      <a:xfrm>
                        <a:off x="2962275" y="5678488"/>
                        <a:ext cx="1030288" cy="317500"/>
                      </a:xfrm>
                      <a:prstGeom prst="rect">
                        <a:avLst/>
                      </a:prstGeom>
                      <a:noFill/>
                      <a:ln w="9525">
                        <a:noFill/>
                      </a:ln>
                    </p:spPr>
                  </p:pic>
                </p:oleObj>
              </mc:Fallback>
            </mc:AlternateContent>
          </a:graphicData>
        </a:graphic>
      </p:graphicFrame>
      <p:graphicFrame>
        <p:nvGraphicFramePr>
          <p:cNvPr id="246846" name="Object 62"/>
          <p:cNvGraphicFramePr>
            <a:graphicFrameLocks noChangeAspect="1"/>
          </p:cNvGraphicFramePr>
          <p:nvPr/>
        </p:nvGraphicFramePr>
        <p:xfrm>
          <a:off x="4032250" y="5678488"/>
          <a:ext cx="425450" cy="317500"/>
        </p:xfrm>
        <a:graphic>
          <a:graphicData uri="http://schemas.openxmlformats.org/presentationml/2006/ole">
            <mc:AlternateContent xmlns:mc="http://schemas.openxmlformats.org/markup-compatibility/2006">
              <mc:Choice xmlns:v="urn:schemas-microsoft-com:vml" Requires="v">
                <p:oleObj spid="_x0000_s48135" name="Equation" r:id="rId11" imgW="5791200" imgH="4267200" progId="Equation.DSMT4">
                  <p:embed/>
                </p:oleObj>
              </mc:Choice>
              <mc:Fallback>
                <p:oleObj name="Equation" r:id="rId11" imgW="5791200" imgH="4267200" progId="Equation.DSMT4">
                  <p:embed/>
                  <p:pic>
                    <p:nvPicPr>
                      <p:cNvPr id="0" name="Object 62"/>
                      <p:cNvPicPr>
                        <a:picLocks noChangeAspect="1"/>
                      </p:cNvPicPr>
                      <p:nvPr/>
                    </p:nvPicPr>
                    <p:blipFill>
                      <a:blip r:embed="rId12"/>
                      <a:stretch>
                        <a:fillRect/>
                      </a:stretch>
                    </p:blipFill>
                    <p:spPr>
                      <a:xfrm>
                        <a:off x="4032250" y="5678488"/>
                        <a:ext cx="425450" cy="31750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789"/>
                                        </p:tgtEl>
                                        <p:attrNameLst>
                                          <p:attrName>style.visibility</p:attrName>
                                        </p:attrNameLst>
                                      </p:cBhvr>
                                      <p:to>
                                        <p:strVal val="visible"/>
                                      </p:to>
                                    </p:set>
                                    <p:animEffect transition="in" filter="wipe(left)">
                                      <p:cBhvr>
                                        <p:cTn id="7" dur="500"/>
                                        <p:tgtEl>
                                          <p:spTgt spid="24678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786"/>
                                        </p:tgtEl>
                                        <p:attrNameLst>
                                          <p:attrName>style.visibility</p:attrName>
                                        </p:attrNameLst>
                                      </p:cBhvr>
                                      <p:to>
                                        <p:strVal val="visible"/>
                                      </p:to>
                                    </p:set>
                                    <p:animEffect transition="in" filter="wipe(left)">
                                      <p:cBhvr>
                                        <p:cTn id="12" dur="500"/>
                                        <p:tgtEl>
                                          <p:spTgt spid="2467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6790"/>
                                        </p:tgtEl>
                                        <p:attrNameLst>
                                          <p:attrName>style.visibility</p:attrName>
                                        </p:attrNameLst>
                                      </p:cBhvr>
                                      <p:to>
                                        <p:strVal val="visible"/>
                                      </p:to>
                                    </p:set>
                                    <p:animEffect transition="in" filter="wipe(left)">
                                      <p:cBhvr>
                                        <p:cTn id="22" dur="500"/>
                                        <p:tgtEl>
                                          <p:spTgt spid="246790"/>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246787"/>
                                        </p:tgtEl>
                                        <p:attrNameLst>
                                          <p:attrName>style.visibility</p:attrName>
                                        </p:attrNameLst>
                                      </p:cBhvr>
                                      <p:to>
                                        <p:strVal val="visible"/>
                                      </p:to>
                                    </p:set>
                                    <p:animEffect transition="in" filter="wipe(left)">
                                      <p:cBhvr>
                                        <p:cTn id="26" dur="500"/>
                                        <p:tgtEl>
                                          <p:spTgt spid="24678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46788"/>
                                        </p:tgtEl>
                                        <p:attrNameLst>
                                          <p:attrName>style.visibility</p:attrName>
                                        </p:attrNameLst>
                                      </p:cBhvr>
                                      <p:to>
                                        <p:strVal val="visible"/>
                                      </p:to>
                                    </p:set>
                                    <p:animEffect transition="in" filter="wipe(left)">
                                      <p:cBhvr>
                                        <p:cTn id="31" dur="500"/>
                                        <p:tgtEl>
                                          <p:spTgt spid="24678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46815"/>
                                        </p:tgtEl>
                                        <p:attrNameLst>
                                          <p:attrName>style.visibility</p:attrName>
                                        </p:attrNameLst>
                                      </p:cBhvr>
                                      <p:to>
                                        <p:strVal val="visible"/>
                                      </p:to>
                                    </p:set>
                                    <p:animEffect transition="in" filter="wipe(left)">
                                      <p:cBhvr>
                                        <p:cTn id="36" dur="500"/>
                                        <p:tgtEl>
                                          <p:spTgt spid="2468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246818"/>
                                        </p:tgtEl>
                                        <p:attrNameLst>
                                          <p:attrName>style.visibility</p:attrName>
                                        </p:attrNameLst>
                                      </p:cBhvr>
                                      <p:to>
                                        <p:strVal val="visible"/>
                                      </p:to>
                                    </p:set>
                                    <p:animEffect transition="in" filter="wipe(left)">
                                      <p:cBhvr>
                                        <p:cTn id="44" dur="500"/>
                                        <p:tgtEl>
                                          <p:spTgt spid="246818"/>
                                        </p:tgtEl>
                                      </p:cBhvr>
                                    </p:animEffect>
                                  </p:childTnLst>
                                </p:cTn>
                              </p:par>
                              <p:par>
                                <p:cTn id="45" presetID="22" presetClass="entr" presetSubtype="1" fill="hold" nodeType="with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up)">
                                      <p:cBhvr>
                                        <p:cTn id="47" dur="500"/>
                                        <p:tgtEl>
                                          <p:spTgt spid="3"/>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246823"/>
                                        </p:tgtEl>
                                        <p:attrNameLst>
                                          <p:attrName>style.visibility</p:attrName>
                                        </p:attrNameLst>
                                      </p:cBhvr>
                                      <p:to>
                                        <p:strVal val="visible"/>
                                      </p:to>
                                    </p:set>
                                    <p:animEffect transition="in" filter="wipe(right)">
                                      <p:cBhvr>
                                        <p:cTn id="50" dur="500"/>
                                        <p:tgtEl>
                                          <p:spTgt spid="246823"/>
                                        </p:tgtEl>
                                      </p:cBhvr>
                                    </p:animEffect>
                                  </p:childTnLst>
                                </p:cTn>
                              </p:par>
                              <p:par>
                                <p:cTn id="51" presetID="22" presetClass="entr" presetSubtype="2" fill="hold" grpId="0" nodeType="withEffect">
                                  <p:stCondLst>
                                    <p:cond delay="0"/>
                                  </p:stCondLst>
                                  <p:childTnLst>
                                    <p:set>
                                      <p:cBhvr>
                                        <p:cTn id="52" dur="1" fill="hold">
                                          <p:stCondLst>
                                            <p:cond delay="0"/>
                                          </p:stCondLst>
                                        </p:cTn>
                                        <p:tgtEl>
                                          <p:spTgt spid="246824"/>
                                        </p:tgtEl>
                                        <p:attrNameLst>
                                          <p:attrName>style.visibility</p:attrName>
                                        </p:attrNameLst>
                                      </p:cBhvr>
                                      <p:to>
                                        <p:strVal val="visible"/>
                                      </p:to>
                                    </p:set>
                                    <p:animEffect transition="in" filter="wipe(right)">
                                      <p:cBhvr>
                                        <p:cTn id="53" dur="500"/>
                                        <p:tgtEl>
                                          <p:spTgt spid="246824"/>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46827"/>
                                        </p:tgtEl>
                                        <p:attrNameLst>
                                          <p:attrName>style.visibility</p:attrName>
                                        </p:attrNameLst>
                                      </p:cBhvr>
                                      <p:to>
                                        <p:strVal val="visible"/>
                                      </p:to>
                                    </p:set>
                                    <p:animEffect transition="in" filter="wipe(left)">
                                      <p:cBhvr>
                                        <p:cTn id="56" dur="500"/>
                                        <p:tgtEl>
                                          <p:spTgt spid="246827"/>
                                        </p:tgtEl>
                                      </p:cBhvr>
                                    </p:animEffect>
                                  </p:childTnLst>
                                </p:cTn>
                              </p:par>
                              <p:par>
                                <p:cTn id="57" presetID="22" presetClass="entr" presetSubtype="1" fill="hold" nodeType="with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wipe(up)">
                                      <p:cBhvr>
                                        <p:cTn id="59" dur="500"/>
                                        <p:tgtEl>
                                          <p:spTgt spid="4"/>
                                        </p:tgtEl>
                                      </p:cBhvr>
                                    </p:animEffect>
                                  </p:childTnLst>
                                </p:cTn>
                              </p:par>
                              <p:par>
                                <p:cTn id="60" presetID="22" presetClass="entr" presetSubtype="2" fill="hold" grpId="0" nodeType="withEffect">
                                  <p:stCondLst>
                                    <p:cond delay="0"/>
                                  </p:stCondLst>
                                  <p:childTnLst>
                                    <p:set>
                                      <p:cBhvr>
                                        <p:cTn id="61" dur="1" fill="hold">
                                          <p:stCondLst>
                                            <p:cond delay="0"/>
                                          </p:stCondLst>
                                        </p:cTn>
                                        <p:tgtEl>
                                          <p:spTgt spid="246825"/>
                                        </p:tgtEl>
                                        <p:attrNameLst>
                                          <p:attrName>style.visibility</p:attrName>
                                        </p:attrNameLst>
                                      </p:cBhvr>
                                      <p:to>
                                        <p:strVal val="visible"/>
                                      </p:to>
                                    </p:set>
                                    <p:animEffect transition="in" filter="wipe(right)">
                                      <p:cBhvr>
                                        <p:cTn id="62" dur="500"/>
                                        <p:tgtEl>
                                          <p:spTgt spid="246825"/>
                                        </p:tgtEl>
                                      </p:cBhvr>
                                    </p:animEffect>
                                  </p:childTnLst>
                                </p:cTn>
                              </p:par>
                              <p:par>
                                <p:cTn id="63" presetID="22" presetClass="entr" presetSubtype="2" fill="hold" grpId="0" nodeType="withEffect">
                                  <p:stCondLst>
                                    <p:cond delay="0"/>
                                  </p:stCondLst>
                                  <p:childTnLst>
                                    <p:set>
                                      <p:cBhvr>
                                        <p:cTn id="64" dur="1" fill="hold">
                                          <p:stCondLst>
                                            <p:cond delay="0"/>
                                          </p:stCondLst>
                                        </p:cTn>
                                        <p:tgtEl>
                                          <p:spTgt spid="246826"/>
                                        </p:tgtEl>
                                        <p:attrNameLst>
                                          <p:attrName>style.visibility</p:attrName>
                                        </p:attrNameLst>
                                      </p:cBhvr>
                                      <p:to>
                                        <p:strVal val="visible"/>
                                      </p:to>
                                    </p:set>
                                    <p:animEffect transition="in" filter="wipe(right)">
                                      <p:cBhvr>
                                        <p:cTn id="65" dur="500"/>
                                        <p:tgtEl>
                                          <p:spTgt spid="246826"/>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246816"/>
                                        </p:tgtEl>
                                        <p:attrNameLst>
                                          <p:attrName>style.visibility</p:attrName>
                                        </p:attrNameLst>
                                      </p:cBhvr>
                                      <p:to>
                                        <p:strVal val="visible"/>
                                      </p:to>
                                    </p:set>
                                    <p:animEffect transition="in" filter="wipe(left)">
                                      <p:cBhvr>
                                        <p:cTn id="68" dur="500"/>
                                        <p:tgtEl>
                                          <p:spTgt spid="246816"/>
                                        </p:tgtEl>
                                      </p:cBhvr>
                                    </p:animEffect>
                                  </p:childTnLst>
                                </p:cTn>
                              </p:par>
                              <p:par>
                                <p:cTn id="69" presetID="22" presetClass="entr" presetSubtype="2" fill="hold" grpId="0" nodeType="withEffect">
                                  <p:stCondLst>
                                    <p:cond delay="0"/>
                                  </p:stCondLst>
                                  <p:childTnLst>
                                    <p:set>
                                      <p:cBhvr>
                                        <p:cTn id="70" dur="1" fill="hold">
                                          <p:stCondLst>
                                            <p:cond delay="0"/>
                                          </p:stCondLst>
                                        </p:cTn>
                                        <p:tgtEl>
                                          <p:spTgt spid="246828"/>
                                        </p:tgtEl>
                                        <p:attrNameLst>
                                          <p:attrName>style.visibility</p:attrName>
                                        </p:attrNameLst>
                                      </p:cBhvr>
                                      <p:to>
                                        <p:strVal val="visible"/>
                                      </p:to>
                                    </p:set>
                                    <p:animEffect transition="in" filter="wipe(right)">
                                      <p:cBhvr>
                                        <p:cTn id="71" dur="500"/>
                                        <p:tgtEl>
                                          <p:spTgt spid="246828"/>
                                        </p:tgtEl>
                                      </p:cBhvr>
                                    </p:animEffect>
                                  </p:childTnLst>
                                </p:cTn>
                              </p:par>
                              <p:par>
                                <p:cTn id="72" presetID="1" presetClass="entr" presetSubtype="0" fill="hold" grpId="0" nodeType="withEffect">
                                  <p:stCondLst>
                                    <p:cond delay="0"/>
                                  </p:stCondLst>
                                  <p:childTnLst>
                                    <p:set>
                                      <p:cBhvr>
                                        <p:cTn id="73" dur="1" fill="hold">
                                          <p:stCondLst>
                                            <p:cond delay="0"/>
                                          </p:stCondLst>
                                        </p:cTn>
                                        <p:tgtEl>
                                          <p:spTgt spid="246819"/>
                                        </p:tgtEl>
                                        <p:attrNameLst>
                                          <p:attrName>style.visibility</p:attrName>
                                        </p:attrNameLst>
                                      </p:cBhvr>
                                      <p:to>
                                        <p:strVal val="visible"/>
                                      </p:to>
                                    </p:set>
                                  </p:childTnLst>
                                </p:cTn>
                              </p:par>
                              <p:par>
                                <p:cTn id="74" presetID="22" presetClass="entr" presetSubtype="4" fill="hold" grpId="0" nodeType="withEffect">
                                  <p:stCondLst>
                                    <p:cond delay="0"/>
                                  </p:stCondLst>
                                  <p:childTnLst>
                                    <p:set>
                                      <p:cBhvr>
                                        <p:cTn id="75" dur="1" fill="hold">
                                          <p:stCondLst>
                                            <p:cond delay="0"/>
                                          </p:stCondLst>
                                        </p:cTn>
                                        <p:tgtEl>
                                          <p:spTgt spid="246817"/>
                                        </p:tgtEl>
                                        <p:attrNameLst>
                                          <p:attrName>style.visibility</p:attrName>
                                        </p:attrNameLst>
                                      </p:cBhvr>
                                      <p:to>
                                        <p:strVal val="visible"/>
                                      </p:to>
                                    </p:set>
                                    <p:animEffect transition="in" filter="wipe(down)">
                                      <p:cBhvr>
                                        <p:cTn id="76" dur="500"/>
                                        <p:tgtEl>
                                          <p:spTgt spid="246817"/>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246832"/>
                                        </p:tgtEl>
                                        <p:attrNameLst>
                                          <p:attrName>style.visibility</p:attrName>
                                        </p:attrNameLst>
                                      </p:cBhvr>
                                      <p:to>
                                        <p:strVal val="visible"/>
                                      </p:to>
                                    </p:set>
                                    <p:animEffect transition="in" filter="wipe(down)">
                                      <p:cBhvr>
                                        <p:cTn id="79" dur="500"/>
                                        <p:tgtEl>
                                          <p:spTgt spid="24683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46833"/>
                                        </p:tgtEl>
                                        <p:attrNameLst>
                                          <p:attrName>style.visibility</p:attrName>
                                        </p:attrNameLst>
                                      </p:cBhvr>
                                      <p:to>
                                        <p:strVal val="visible"/>
                                      </p:to>
                                    </p:set>
                                    <p:animEffect transition="in" filter="wipe(left)">
                                      <p:cBhvr>
                                        <p:cTn id="84" dur="500"/>
                                        <p:tgtEl>
                                          <p:spTgt spid="246833"/>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46834"/>
                                        </p:tgtEl>
                                        <p:attrNameLst>
                                          <p:attrName>style.visibility</p:attrName>
                                        </p:attrNameLst>
                                      </p:cBhvr>
                                      <p:to>
                                        <p:strVal val="visible"/>
                                      </p:to>
                                    </p:set>
                                    <p:animEffect transition="in" filter="wipe(left)">
                                      <p:cBhvr>
                                        <p:cTn id="89" dur="500"/>
                                        <p:tgtEl>
                                          <p:spTgt spid="246834"/>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46835"/>
                                        </p:tgtEl>
                                        <p:attrNameLst>
                                          <p:attrName>style.visibility</p:attrName>
                                        </p:attrNameLst>
                                      </p:cBhvr>
                                      <p:to>
                                        <p:strVal val="visible"/>
                                      </p:to>
                                    </p:set>
                                    <p:animEffect transition="in" filter="wipe(left)">
                                      <p:cBhvr>
                                        <p:cTn id="94" dur="500"/>
                                        <p:tgtEl>
                                          <p:spTgt spid="24683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46811"/>
                                        </p:tgtEl>
                                        <p:attrNameLst>
                                          <p:attrName>style.visibility</p:attrName>
                                        </p:attrNameLst>
                                      </p:cBhvr>
                                      <p:to>
                                        <p:strVal val="visible"/>
                                      </p:to>
                                    </p:set>
                                    <p:animEffect transition="in" filter="wipe(left)">
                                      <p:cBhvr>
                                        <p:cTn id="99" dur="500"/>
                                        <p:tgtEl>
                                          <p:spTgt spid="246811"/>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246809"/>
                                        </p:tgtEl>
                                        <p:attrNameLst>
                                          <p:attrName>style.visibility</p:attrName>
                                        </p:attrNameLst>
                                      </p:cBhvr>
                                      <p:to>
                                        <p:strVal val="visible"/>
                                      </p:to>
                                    </p:set>
                                    <p:animEffect transition="in" filter="wipe(left)">
                                      <p:cBhvr>
                                        <p:cTn id="104" dur="500"/>
                                        <p:tgtEl>
                                          <p:spTgt spid="246809"/>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246843"/>
                                        </p:tgtEl>
                                        <p:attrNameLst>
                                          <p:attrName>style.visibility</p:attrName>
                                        </p:attrNameLst>
                                      </p:cBhvr>
                                      <p:to>
                                        <p:strVal val="visible"/>
                                      </p:to>
                                    </p:set>
                                    <p:animEffect transition="in" filter="wipe(left)">
                                      <p:cBhvr>
                                        <p:cTn id="109" dur="500"/>
                                        <p:tgtEl>
                                          <p:spTgt spid="246843"/>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246844"/>
                                        </p:tgtEl>
                                        <p:attrNameLst>
                                          <p:attrName>style.visibility</p:attrName>
                                        </p:attrNameLst>
                                      </p:cBhvr>
                                      <p:to>
                                        <p:strVal val="visible"/>
                                      </p:to>
                                    </p:set>
                                    <p:animEffect transition="in" filter="wipe(left)">
                                      <p:cBhvr>
                                        <p:cTn id="114" dur="500"/>
                                        <p:tgtEl>
                                          <p:spTgt spid="246844"/>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46813"/>
                                        </p:tgtEl>
                                        <p:attrNameLst>
                                          <p:attrName>style.visibility</p:attrName>
                                        </p:attrNameLst>
                                      </p:cBhvr>
                                      <p:to>
                                        <p:strVal val="visible"/>
                                      </p:to>
                                    </p:set>
                                    <p:animEffect transition="in" filter="wipe(left)">
                                      <p:cBhvr>
                                        <p:cTn id="119" dur="500"/>
                                        <p:tgtEl>
                                          <p:spTgt spid="246813"/>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246814"/>
                                        </p:tgtEl>
                                        <p:attrNameLst>
                                          <p:attrName>style.visibility</p:attrName>
                                        </p:attrNameLst>
                                      </p:cBhvr>
                                      <p:to>
                                        <p:strVal val="visible"/>
                                      </p:to>
                                    </p:set>
                                    <p:animEffect transition="in" filter="wipe(left)">
                                      <p:cBhvr>
                                        <p:cTn id="124" dur="500"/>
                                        <p:tgtEl>
                                          <p:spTgt spid="246814"/>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246845"/>
                                        </p:tgtEl>
                                        <p:attrNameLst>
                                          <p:attrName>style.visibility</p:attrName>
                                        </p:attrNameLst>
                                      </p:cBhvr>
                                      <p:to>
                                        <p:strVal val="visible"/>
                                      </p:to>
                                    </p:set>
                                    <p:animEffect transition="in" filter="wipe(left)">
                                      <p:cBhvr>
                                        <p:cTn id="129" dur="500"/>
                                        <p:tgtEl>
                                          <p:spTgt spid="246845"/>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246846"/>
                                        </p:tgtEl>
                                        <p:attrNameLst>
                                          <p:attrName>style.visibility</p:attrName>
                                        </p:attrNameLst>
                                      </p:cBhvr>
                                      <p:to>
                                        <p:strVal val="visible"/>
                                      </p:to>
                                    </p:set>
                                    <p:animEffect transition="in" filter="wipe(left)">
                                      <p:cBhvr>
                                        <p:cTn id="134" dur="500"/>
                                        <p:tgtEl>
                                          <p:spTgt spid="2468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autoUpdateAnimBg="0"/>
      <p:bldP spid="246787" grpId="0"/>
      <p:bldP spid="246788" grpId="0" autoUpdateAnimBg="0"/>
      <p:bldP spid="246789" grpId="0"/>
      <p:bldP spid="246790" grpId="0"/>
      <p:bldP spid="246811" grpId="0" autoUpdateAnimBg="0"/>
      <p:bldP spid="246813" grpId="0" autoUpdateAnimBg="0"/>
      <p:bldP spid="246815" grpId="0"/>
      <p:bldP spid="246816" grpId="0" animBg="1"/>
      <p:bldP spid="246817" grpId="0" animBg="1"/>
      <p:bldP spid="246818" grpId="0"/>
      <p:bldP spid="246819" grpId="0"/>
      <p:bldP spid="246823" grpId="0" animBg="1"/>
      <p:bldP spid="246824" grpId="0"/>
      <p:bldP spid="246825" grpId="0" animBg="1"/>
      <p:bldP spid="246826" grpId="0"/>
      <p:bldP spid="246827" grpId="0"/>
      <p:bldP spid="246828" grpId="0" animBg="1"/>
      <p:bldP spid="246832" grpId="0" animBg="1"/>
      <p:bldP spid="246833" grpId="0" animBg="1"/>
      <p:bldP spid="246834" grpId="0" animBg="1"/>
      <p:bldP spid="24683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63" name="Group 2"/>
          <p:cNvGrpSpPr/>
          <p:nvPr/>
        </p:nvGrpSpPr>
        <p:grpSpPr bwMode="auto">
          <a:xfrm>
            <a:off x="5076825" y="3644900"/>
            <a:ext cx="3876675" cy="2952750"/>
            <a:chOff x="2921" y="2188"/>
            <a:chExt cx="2442" cy="1860"/>
          </a:xfrm>
        </p:grpSpPr>
        <p:sp>
          <p:nvSpPr>
            <p:cNvPr id="49186" name="Freeform 3"/>
            <p:cNvSpPr/>
            <p:nvPr/>
          </p:nvSpPr>
          <p:spPr bwMode="auto">
            <a:xfrm>
              <a:off x="3757" y="2691"/>
              <a:ext cx="576" cy="672"/>
            </a:xfrm>
            <a:custGeom>
              <a:avLst/>
              <a:gdLst>
                <a:gd name="T0" fmla="*/ 0 w 576"/>
                <a:gd name="T1" fmla="*/ 0 h 672"/>
                <a:gd name="T2" fmla="*/ 96 w 576"/>
                <a:gd name="T3" fmla="*/ 192 h 672"/>
                <a:gd name="T4" fmla="*/ 240 w 576"/>
                <a:gd name="T5" fmla="*/ 384 h 672"/>
                <a:gd name="T6" fmla="*/ 384 w 576"/>
                <a:gd name="T7" fmla="*/ 528 h 672"/>
                <a:gd name="T8" fmla="*/ 576 w 576"/>
                <a:gd name="T9" fmla="*/ 672 h 672"/>
                <a:gd name="T10" fmla="*/ 0 60000 65536"/>
                <a:gd name="T11" fmla="*/ 0 60000 65536"/>
                <a:gd name="T12" fmla="*/ 0 60000 65536"/>
                <a:gd name="T13" fmla="*/ 0 60000 65536"/>
                <a:gd name="T14" fmla="*/ 0 60000 65536"/>
                <a:gd name="T15" fmla="*/ 0 w 576"/>
                <a:gd name="T16" fmla="*/ 0 h 672"/>
                <a:gd name="T17" fmla="*/ 576 w 576"/>
                <a:gd name="T18" fmla="*/ 672 h 672"/>
              </a:gdLst>
              <a:ahLst/>
              <a:cxnLst>
                <a:cxn ang="T10">
                  <a:pos x="T0" y="T1"/>
                </a:cxn>
                <a:cxn ang="T11">
                  <a:pos x="T2" y="T3"/>
                </a:cxn>
                <a:cxn ang="T12">
                  <a:pos x="T4" y="T5"/>
                </a:cxn>
                <a:cxn ang="T13">
                  <a:pos x="T6" y="T7"/>
                </a:cxn>
                <a:cxn ang="T14">
                  <a:pos x="T8" y="T9"/>
                </a:cxn>
              </a:cxnLst>
              <a:rect l="T15" t="T16" r="T17" b="T18"/>
              <a:pathLst>
                <a:path w="576" h="672">
                  <a:moveTo>
                    <a:pt x="0" y="0"/>
                  </a:moveTo>
                  <a:cubicBezTo>
                    <a:pt x="28" y="64"/>
                    <a:pt x="56" y="128"/>
                    <a:pt x="96" y="192"/>
                  </a:cubicBezTo>
                  <a:cubicBezTo>
                    <a:pt x="136" y="256"/>
                    <a:pt x="192" y="328"/>
                    <a:pt x="240" y="384"/>
                  </a:cubicBezTo>
                  <a:cubicBezTo>
                    <a:pt x="288" y="440"/>
                    <a:pt x="328" y="480"/>
                    <a:pt x="384" y="528"/>
                  </a:cubicBezTo>
                  <a:cubicBezTo>
                    <a:pt x="440" y="576"/>
                    <a:pt x="544" y="648"/>
                    <a:pt x="576" y="672"/>
                  </a:cubicBezTo>
                </a:path>
              </a:pathLst>
            </a:custGeom>
            <a:noFill/>
            <a:ln w="38100">
              <a:solidFill>
                <a:srgbClr val="FF6600"/>
              </a:solidFill>
              <a:round/>
            </a:ln>
          </p:spPr>
          <p:txBody>
            <a:bodyPr/>
            <a:lstStyle/>
            <a:p>
              <a:pPr algn="ctr"/>
              <a:endParaRPr lang="zh-CN" altLang="en-US"/>
            </a:p>
          </p:txBody>
        </p:sp>
        <p:sp>
          <p:nvSpPr>
            <p:cNvPr id="49187" name="Line 4"/>
            <p:cNvSpPr>
              <a:spLocks noChangeShapeType="1"/>
            </p:cNvSpPr>
            <p:nvPr/>
          </p:nvSpPr>
          <p:spPr bwMode="auto">
            <a:xfrm>
              <a:off x="3757" y="2691"/>
              <a:ext cx="0" cy="672"/>
            </a:xfrm>
            <a:prstGeom prst="line">
              <a:avLst/>
            </a:prstGeom>
            <a:noFill/>
            <a:ln w="38100">
              <a:solidFill>
                <a:srgbClr val="FF6600"/>
              </a:solidFill>
              <a:round/>
            </a:ln>
          </p:spPr>
          <p:txBody>
            <a:bodyPr/>
            <a:lstStyle/>
            <a:p>
              <a:endParaRPr lang="zh-CN" altLang="en-US"/>
            </a:p>
          </p:txBody>
        </p:sp>
        <p:sp>
          <p:nvSpPr>
            <p:cNvPr id="49188" name="Text Box 5"/>
            <p:cNvSpPr txBox="1">
              <a:spLocks noChangeArrowheads="1"/>
            </p:cNvSpPr>
            <p:nvPr/>
          </p:nvSpPr>
          <p:spPr bwMode="auto">
            <a:xfrm>
              <a:off x="3726" y="2472"/>
              <a:ext cx="196" cy="279"/>
            </a:xfrm>
            <a:prstGeom prst="rect">
              <a:avLst/>
            </a:prstGeom>
            <a:noFill/>
            <a:ln w="9525">
              <a:noFill/>
              <a:miter lim="800000"/>
            </a:ln>
          </p:spPr>
          <p:txBody>
            <a:bodyPr wrap="none">
              <a:spAutoFit/>
            </a:bodyPr>
            <a:lstStyle/>
            <a:p>
              <a:pPr>
                <a:lnSpc>
                  <a:spcPct val="115000"/>
                </a:lnSpc>
              </a:pPr>
              <a:r>
                <a:rPr kumimoji="1" lang="en-US" altLang="zh-CN" sz="2000" b="1" i="1">
                  <a:ea typeface="楷体_GB2312" pitchFamily="49" charset="-122"/>
                </a:rPr>
                <a:t>a</a:t>
              </a:r>
              <a:endParaRPr kumimoji="1" lang="en-US" altLang="zh-CN" sz="2000" b="1" i="1">
                <a:ea typeface="楷体_GB2312" pitchFamily="49" charset="-122"/>
              </a:endParaRPr>
            </a:p>
          </p:txBody>
        </p:sp>
        <p:sp>
          <p:nvSpPr>
            <p:cNvPr id="49189" name="Text Box 6"/>
            <p:cNvSpPr txBox="1">
              <a:spLocks noChangeArrowheads="1"/>
            </p:cNvSpPr>
            <p:nvPr/>
          </p:nvSpPr>
          <p:spPr bwMode="auto">
            <a:xfrm>
              <a:off x="3572" y="3294"/>
              <a:ext cx="187" cy="279"/>
            </a:xfrm>
            <a:prstGeom prst="rect">
              <a:avLst/>
            </a:prstGeom>
            <a:noFill/>
            <a:ln w="9525">
              <a:noFill/>
              <a:miter lim="800000"/>
            </a:ln>
          </p:spPr>
          <p:txBody>
            <a:bodyPr wrap="none">
              <a:spAutoFit/>
            </a:bodyPr>
            <a:lstStyle/>
            <a:p>
              <a:pPr>
                <a:lnSpc>
                  <a:spcPct val="115000"/>
                </a:lnSpc>
              </a:pPr>
              <a:r>
                <a:rPr kumimoji="1" lang="en-US" altLang="zh-CN" sz="2000" b="1" i="1">
                  <a:ea typeface="楷体_GB2312" pitchFamily="49" charset="-122"/>
                </a:rPr>
                <a:t>c</a:t>
              </a:r>
              <a:endParaRPr kumimoji="1" lang="en-US" altLang="zh-CN" sz="2000" b="1" i="1">
                <a:ea typeface="楷体_GB2312" pitchFamily="49" charset="-122"/>
              </a:endParaRPr>
            </a:p>
          </p:txBody>
        </p:sp>
        <p:grpSp>
          <p:nvGrpSpPr>
            <p:cNvPr id="49190" name="Group 7"/>
            <p:cNvGrpSpPr/>
            <p:nvPr/>
          </p:nvGrpSpPr>
          <p:grpSpPr bwMode="auto">
            <a:xfrm>
              <a:off x="3661" y="3363"/>
              <a:ext cx="196" cy="685"/>
              <a:chOff x="3557" y="3091"/>
              <a:chExt cx="196" cy="685"/>
            </a:xfrm>
          </p:grpSpPr>
          <p:sp>
            <p:nvSpPr>
              <p:cNvPr id="49210" name="Line 8"/>
              <p:cNvSpPr>
                <a:spLocks noChangeShapeType="1"/>
              </p:cNvSpPr>
              <p:nvPr/>
            </p:nvSpPr>
            <p:spPr bwMode="auto">
              <a:xfrm>
                <a:off x="3653" y="3091"/>
                <a:ext cx="0" cy="432"/>
              </a:xfrm>
              <a:prstGeom prst="line">
                <a:avLst/>
              </a:prstGeom>
              <a:noFill/>
              <a:ln w="19050">
                <a:solidFill>
                  <a:srgbClr val="000099"/>
                </a:solidFill>
                <a:prstDash val="dash"/>
                <a:round/>
              </a:ln>
            </p:spPr>
            <p:txBody>
              <a:bodyPr/>
              <a:lstStyle/>
              <a:p>
                <a:endParaRPr lang="zh-CN" altLang="en-US"/>
              </a:p>
            </p:txBody>
          </p:sp>
          <p:sp>
            <p:nvSpPr>
              <p:cNvPr id="49211" name="Text Box 9"/>
              <p:cNvSpPr txBox="1">
                <a:spLocks noChangeArrowheads="1"/>
              </p:cNvSpPr>
              <p:nvPr/>
            </p:nvSpPr>
            <p:spPr bwMode="auto">
              <a:xfrm>
                <a:off x="3557" y="3497"/>
                <a:ext cx="19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1</a:t>
                </a:r>
                <a:endParaRPr kumimoji="1" lang="en-US" altLang="zh-CN" sz="2000" b="1">
                  <a:solidFill>
                    <a:srgbClr val="000099"/>
                  </a:solidFill>
                  <a:ea typeface="楷体_GB2312" pitchFamily="49" charset="-122"/>
                </a:endParaRPr>
              </a:p>
            </p:txBody>
          </p:sp>
        </p:grpSp>
        <p:sp>
          <p:nvSpPr>
            <p:cNvPr id="49191" name="Line 10"/>
            <p:cNvSpPr>
              <a:spLocks noChangeShapeType="1"/>
            </p:cNvSpPr>
            <p:nvPr/>
          </p:nvSpPr>
          <p:spPr bwMode="auto">
            <a:xfrm>
              <a:off x="3277" y="2691"/>
              <a:ext cx="480" cy="0"/>
            </a:xfrm>
            <a:prstGeom prst="line">
              <a:avLst/>
            </a:prstGeom>
            <a:noFill/>
            <a:ln w="19050">
              <a:solidFill>
                <a:srgbClr val="000099"/>
              </a:solidFill>
              <a:prstDash val="dash"/>
              <a:round/>
            </a:ln>
          </p:spPr>
          <p:txBody>
            <a:bodyPr/>
            <a:lstStyle/>
            <a:p>
              <a:endParaRPr lang="zh-CN" altLang="en-US"/>
            </a:p>
          </p:txBody>
        </p:sp>
        <p:sp>
          <p:nvSpPr>
            <p:cNvPr id="49192" name="Text Box 11"/>
            <p:cNvSpPr txBox="1">
              <a:spLocks noChangeArrowheads="1"/>
            </p:cNvSpPr>
            <p:nvPr/>
          </p:nvSpPr>
          <p:spPr bwMode="auto">
            <a:xfrm>
              <a:off x="2937" y="2529"/>
              <a:ext cx="35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600</a:t>
              </a:r>
              <a:endParaRPr kumimoji="1" lang="en-US" altLang="zh-CN" sz="2000" b="1">
                <a:solidFill>
                  <a:srgbClr val="000099"/>
                </a:solidFill>
                <a:ea typeface="楷体_GB2312" pitchFamily="49" charset="-122"/>
              </a:endParaRPr>
            </a:p>
          </p:txBody>
        </p:sp>
        <p:sp>
          <p:nvSpPr>
            <p:cNvPr id="49193" name="Line 12"/>
            <p:cNvSpPr>
              <a:spLocks noChangeShapeType="1"/>
            </p:cNvSpPr>
            <p:nvPr/>
          </p:nvSpPr>
          <p:spPr bwMode="auto">
            <a:xfrm>
              <a:off x="3277" y="3363"/>
              <a:ext cx="480" cy="0"/>
            </a:xfrm>
            <a:prstGeom prst="line">
              <a:avLst/>
            </a:prstGeom>
            <a:noFill/>
            <a:ln w="19050">
              <a:solidFill>
                <a:srgbClr val="000099"/>
              </a:solidFill>
              <a:prstDash val="dash"/>
              <a:round/>
            </a:ln>
          </p:spPr>
          <p:txBody>
            <a:bodyPr/>
            <a:lstStyle/>
            <a:p>
              <a:endParaRPr lang="zh-CN" altLang="en-US"/>
            </a:p>
          </p:txBody>
        </p:sp>
        <p:sp>
          <p:nvSpPr>
            <p:cNvPr id="49194" name="Text Box 13"/>
            <p:cNvSpPr txBox="1">
              <a:spLocks noChangeArrowheads="1"/>
            </p:cNvSpPr>
            <p:nvPr/>
          </p:nvSpPr>
          <p:spPr bwMode="auto">
            <a:xfrm>
              <a:off x="2921" y="3185"/>
              <a:ext cx="35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300</a:t>
              </a:r>
              <a:endParaRPr kumimoji="1" lang="en-US" altLang="zh-CN" sz="2000" b="1">
                <a:solidFill>
                  <a:srgbClr val="000099"/>
                </a:solidFill>
                <a:ea typeface="楷体_GB2312" pitchFamily="49" charset="-122"/>
              </a:endParaRPr>
            </a:p>
          </p:txBody>
        </p:sp>
        <p:sp>
          <p:nvSpPr>
            <p:cNvPr id="49195" name="Text Box 14"/>
            <p:cNvSpPr txBox="1">
              <a:spLocks noChangeArrowheads="1"/>
            </p:cNvSpPr>
            <p:nvPr/>
          </p:nvSpPr>
          <p:spPr bwMode="auto">
            <a:xfrm>
              <a:off x="4333" y="3209"/>
              <a:ext cx="196" cy="279"/>
            </a:xfrm>
            <a:prstGeom prst="rect">
              <a:avLst/>
            </a:prstGeom>
            <a:noFill/>
            <a:ln w="9525">
              <a:noFill/>
              <a:miter lim="800000"/>
            </a:ln>
          </p:spPr>
          <p:txBody>
            <a:bodyPr wrap="none">
              <a:spAutoFit/>
            </a:bodyPr>
            <a:lstStyle/>
            <a:p>
              <a:pPr>
                <a:lnSpc>
                  <a:spcPct val="115000"/>
                </a:lnSpc>
              </a:pPr>
              <a:r>
                <a:rPr kumimoji="1" lang="en-US" altLang="zh-CN" sz="2000" b="1" i="1">
                  <a:ea typeface="楷体_GB2312" pitchFamily="49" charset="-122"/>
                </a:rPr>
                <a:t>b</a:t>
              </a:r>
              <a:endParaRPr kumimoji="1" lang="en-US" altLang="zh-CN" sz="2000" b="1" i="1">
                <a:ea typeface="楷体_GB2312" pitchFamily="49" charset="-122"/>
              </a:endParaRPr>
            </a:p>
          </p:txBody>
        </p:sp>
        <p:sp>
          <p:nvSpPr>
            <p:cNvPr id="49196" name="Line 15"/>
            <p:cNvSpPr>
              <a:spLocks noChangeShapeType="1"/>
            </p:cNvSpPr>
            <p:nvPr/>
          </p:nvSpPr>
          <p:spPr bwMode="auto">
            <a:xfrm>
              <a:off x="3757" y="3363"/>
              <a:ext cx="576" cy="0"/>
            </a:xfrm>
            <a:prstGeom prst="line">
              <a:avLst/>
            </a:prstGeom>
            <a:noFill/>
            <a:ln w="38100">
              <a:solidFill>
                <a:srgbClr val="FF6600"/>
              </a:solidFill>
              <a:round/>
            </a:ln>
          </p:spPr>
          <p:txBody>
            <a:bodyPr/>
            <a:lstStyle/>
            <a:p>
              <a:endParaRPr lang="zh-CN" altLang="en-US"/>
            </a:p>
          </p:txBody>
        </p:sp>
        <p:grpSp>
          <p:nvGrpSpPr>
            <p:cNvPr id="49197" name="Group 16"/>
            <p:cNvGrpSpPr/>
            <p:nvPr/>
          </p:nvGrpSpPr>
          <p:grpSpPr bwMode="auto">
            <a:xfrm>
              <a:off x="4237" y="3363"/>
              <a:ext cx="196" cy="685"/>
              <a:chOff x="4133" y="3091"/>
              <a:chExt cx="196" cy="685"/>
            </a:xfrm>
          </p:grpSpPr>
          <p:sp>
            <p:nvSpPr>
              <p:cNvPr id="49208" name="Text Box 17"/>
              <p:cNvSpPr txBox="1">
                <a:spLocks noChangeArrowheads="1"/>
              </p:cNvSpPr>
              <p:nvPr/>
            </p:nvSpPr>
            <p:spPr bwMode="auto">
              <a:xfrm>
                <a:off x="4133" y="3497"/>
                <a:ext cx="19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2</a:t>
                </a:r>
                <a:endParaRPr kumimoji="1" lang="en-US" altLang="zh-CN" sz="2000" b="1">
                  <a:solidFill>
                    <a:srgbClr val="000099"/>
                  </a:solidFill>
                  <a:ea typeface="楷体_GB2312" pitchFamily="49" charset="-122"/>
                </a:endParaRPr>
              </a:p>
            </p:txBody>
          </p:sp>
          <p:sp>
            <p:nvSpPr>
              <p:cNvPr id="49209" name="Line 18"/>
              <p:cNvSpPr>
                <a:spLocks noChangeShapeType="1"/>
              </p:cNvSpPr>
              <p:nvPr/>
            </p:nvSpPr>
            <p:spPr bwMode="auto">
              <a:xfrm>
                <a:off x="4229" y="3091"/>
                <a:ext cx="0" cy="432"/>
              </a:xfrm>
              <a:prstGeom prst="line">
                <a:avLst/>
              </a:prstGeom>
              <a:noFill/>
              <a:ln w="19050">
                <a:solidFill>
                  <a:srgbClr val="000099"/>
                </a:solidFill>
                <a:prstDash val="dash"/>
                <a:round/>
              </a:ln>
            </p:spPr>
            <p:txBody>
              <a:bodyPr/>
              <a:lstStyle/>
              <a:p>
                <a:endParaRPr lang="zh-CN" altLang="en-US"/>
              </a:p>
            </p:txBody>
          </p:sp>
        </p:grpSp>
        <p:sp>
          <p:nvSpPr>
            <p:cNvPr id="49198" name="Line 19"/>
            <p:cNvSpPr>
              <a:spLocks noChangeShapeType="1"/>
            </p:cNvSpPr>
            <p:nvPr/>
          </p:nvSpPr>
          <p:spPr bwMode="auto">
            <a:xfrm>
              <a:off x="3752" y="2870"/>
              <a:ext cx="0" cy="240"/>
            </a:xfrm>
            <a:prstGeom prst="line">
              <a:avLst/>
            </a:prstGeom>
            <a:noFill/>
            <a:ln w="57150">
              <a:solidFill>
                <a:srgbClr val="008000"/>
              </a:solidFill>
              <a:round/>
              <a:headEnd type="triangle" w="med" len="med"/>
            </a:ln>
          </p:spPr>
          <p:txBody>
            <a:bodyPr/>
            <a:lstStyle/>
            <a:p>
              <a:endParaRPr lang="zh-CN" altLang="en-US"/>
            </a:p>
          </p:txBody>
        </p:sp>
        <p:sp>
          <p:nvSpPr>
            <p:cNvPr id="49199" name="Freeform 20"/>
            <p:cNvSpPr/>
            <p:nvPr/>
          </p:nvSpPr>
          <p:spPr bwMode="auto">
            <a:xfrm rot="-10028271">
              <a:off x="3953" y="2849"/>
              <a:ext cx="136" cy="384"/>
            </a:xfrm>
            <a:custGeom>
              <a:avLst/>
              <a:gdLst>
                <a:gd name="T0" fmla="*/ 0 w 192"/>
                <a:gd name="T1" fmla="*/ 384 h 384"/>
                <a:gd name="T2" fmla="*/ 3 w 192"/>
                <a:gd name="T3" fmla="*/ 192 h 384"/>
                <a:gd name="T4" fmla="*/ 12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cubicBezTo>
                    <a:pt x="8" y="320"/>
                    <a:pt x="16" y="256"/>
                    <a:pt x="48" y="192"/>
                  </a:cubicBezTo>
                  <a:cubicBezTo>
                    <a:pt x="80" y="128"/>
                    <a:pt x="136" y="64"/>
                    <a:pt x="192" y="0"/>
                  </a:cubicBezTo>
                </a:path>
              </a:pathLst>
            </a:custGeom>
            <a:noFill/>
            <a:ln w="57150">
              <a:solidFill>
                <a:srgbClr val="FF0000"/>
              </a:solidFill>
              <a:round/>
              <a:tailEnd type="triangle" w="med" len="med"/>
            </a:ln>
          </p:spPr>
          <p:txBody>
            <a:bodyPr/>
            <a:lstStyle/>
            <a:p>
              <a:pPr algn="ctr"/>
              <a:endParaRPr lang="zh-CN" altLang="en-US"/>
            </a:p>
          </p:txBody>
        </p:sp>
        <p:sp>
          <p:nvSpPr>
            <p:cNvPr id="49200" name="Freeform 21"/>
            <p:cNvSpPr/>
            <p:nvPr/>
          </p:nvSpPr>
          <p:spPr bwMode="auto">
            <a:xfrm rot="-10028271">
              <a:off x="3862" y="3188"/>
              <a:ext cx="136" cy="384"/>
            </a:xfrm>
            <a:custGeom>
              <a:avLst/>
              <a:gdLst>
                <a:gd name="T0" fmla="*/ 0 w 192"/>
                <a:gd name="T1" fmla="*/ 384 h 384"/>
                <a:gd name="T2" fmla="*/ 3 w 192"/>
                <a:gd name="T3" fmla="*/ 192 h 384"/>
                <a:gd name="T4" fmla="*/ 12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cubicBezTo>
                    <a:pt x="8" y="320"/>
                    <a:pt x="16" y="256"/>
                    <a:pt x="48" y="192"/>
                  </a:cubicBezTo>
                  <a:cubicBezTo>
                    <a:pt x="80" y="128"/>
                    <a:pt x="136" y="64"/>
                    <a:pt x="192" y="0"/>
                  </a:cubicBezTo>
                </a:path>
              </a:pathLst>
            </a:custGeom>
            <a:noFill/>
            <a:ln w="57150">
              <a:solidFill>
                <a:srgbClr val="FF0000"/>
              </a:solidFill>
              <a:round/>
              <a:tailEnd type="triangle" w="med" len="med"/>
            </a:ln>
          </p:spPr>
          <p:txBody>
            <a:bodyPr/>
            <a:lstStyle/>
            <a:p>
              <a:pPr algn="ctr"/>
              <a:endParaRPr lang="zh-CN" altLang="en-US"/>
            </a:p>
          </p:txBody>
        </p:sp>
        <p:sp>
          <p:nvSpPr>
            <p:cNvPr id="49201" name="Freeform 22"/>
            <p:cNvSpPr/>
            <p:nvPr/>
          </p:nvSpPr>
          <p:spPr bwMode="auto">
            <a:xfrm rot="8354261" flipH="1">
              <a:off x="3681" y="2985"/>
              <a:ext cx="136" cy="384"/>
            </a:xfrm>
            <a:custGeom>
              <a:avLst/>
              <a:gdLst>
                <a:gd name="T0" fmla="*/ 0 w 192"/>
                <a:gd name="T1" fmla="*/ 384 h 384"/>
                <a:gd name="T2" fmla="*/ 3 w 192"/>
                <a:gd name="T3" fmla="*/ 192 h 384"/>
                <a:gd name="T4" fmla="*/ 12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cubicBezTo>
                    <a:pt x="8" y="320"/>
                    <a:pt x="16" y="256"/>
                    <a:pt x="48" y="192"/>
                  </a:cubicBezTo>
                  <a:cubicBezTo>
                    <a:pt x="80" y="128"/>
                    <a:pt x="136" y="64"/>
                    <a:pt x="192" y="0"/>
                  </a:cubicBezTo>
                </a:path>
              </a:pathLst>
            </a:custGeom>
            <a:noFill/>
            <a:ln w="57150">
              <a:solidFill>
                <a:srgbClr val="FF0000"/>
              </a:solidFill>
              <a:round/>
              <a:tailEnd type="triangle" w="med" len="med"/>
            </a:ln>
          </p:spPr>
          <p:txBody>
            <a:bodyPr/>
            <a:lstStyle/>
            <a:p>
              <a:pPr algn="ctr"/>
              <a:endParaRPr lang="zh-CN" altLang="en-US"/>
            </a:p>
          </p:txBody>
        </p:sp>
        <p:sp>
          <p:nvSpPr>
            <p:cNvPr id="49202" name="Line 23"/>
            <p:cNvSpPr>
              <a:spLocks noChangeShapeType="1"/>
            </p:cNvSpPr>
            <p:nvPr/>
          </p:nvSpPr>
          <p:spPr bwMode="auto">
            <a:xfrm>
              <a:off x="3273" y="2309"/>
              <a:ext cx="0" cy="1519"/>
            </a:xfrm>
            <a:prstGeom prst="line">
              <a:avLst/>
            </a:prstGeom>
            <a:noFill/>
            <a:ln w="28575" cap="sq">
              <a:solidFill>
                <a:srgbClr val="000099"/>
              </a:solidFill>
              <a:miter lim="800000"/>
              <a:headEnd type="triangle" w="med" len="med"/>
            </a:ln>
          </p:spPr>
          <p:txBody>
            <a:bodyPr wrap="none"/>
            <a:lstStyle/>
            <a:p>
              <a:endParaRPr lang="zh-CN" altLang="en-US"/>
            </a:p>
          </p:txBody>
        </p:sp>
        <p:sp>
          <p:nvSpPr>
            <p:cNvPr id="49203" name="Line 24"/>
            <p:cNvSpPr>
              <a:spLocks noChangeShapeType="1"/>
            </p:cNvSpPr>
            <p:nvPr/>
          </p:nvSpPr>
          <p:spPr bwMode="auto">
            <a:xfrm flipV="1">
              <a:off x="3272" y="3821"/>
              <a:ext cx="1519" cy="0"/>
            </a:xfrm>
            <a:prstGeom prst="line">
              <a:avLst/>
            </a:prstGeom>
            <a:noFill/>
            <a:ln w="28575" cap="sq">
              <a:solidFill>
                <a:srgbClr val="000099"/>
              </a:solidFill>
              <a:miter lim="800000"/>
              <a:tailEnd type="triangle" w="med" len="med"/>
            </a:ln>
          </p:spPr>
          <p:txBody>
            <a:bodyPr wrap="none"/>
            <a:lstStyle/>
            <a:p>
              <a:endParaRPr lang="zh-CN" altLang="en-US"/>
            </a:p>
          </p:txBody>
        </p:sp>
        <p:sp>
          <p:nvSpPr>
            <p:cNvPr id="49204" name="Text Box 25"/>
            <p:cNvSpPr txBox="1">
              <a:spLocks noChangeArrowheads="1"/>
            </p:cNvSpPr>
            <p:nvPr/>
          </p:nvSpPr>
          <p:spPr bwMode="auto">
            <a:xfrm>
              <a:off x="3295" y="2188"/>
              <a:ext cx="116" cy="288"/>
            </a:xfrm>
            <a:prstGeom prst="rect">
              <a:avLst/>
            </a:prstGeom>
            <a:noFill/>
            <a:ln w="12700" cap="sq">
              <a:noFill/>
              <a:miter lim="800000"/>
              <a:headEnd type="none" w="sm" len="sm"/>
              <a:tailEnd type="none" w="sm" len="sm"/>
            </a:ln>
          </p:spPr>
          <p:txBody>
            <a:bodyPr wrap="none">
              <a:spAutoFit/>
            </a:bodyPr>
            <a:lstStyle/>
            <a:p>
              <a:endParaRPr kumimoji="1" lang="zh-CN" altLang="zh-CN">
                <a:solidFill>
                  <a:schemeClr val="bg1"/>
                </a:solidFill>
              </a:endParaRPr>
            </a:p>
          </p:txBody>
        </p:sp>
        <p:sp>
          <p:nvSpPr>
            <p:cNvPr id="49205" name="Text Box 26"/>
            <p:cNvSpPr txBox="1">
              <a:spLocks noChangeArrowheads="1"/>
            </p:cNvSpPr>
            <p:nvPr/>
          </p:nvSpPr>
          <p:spPr bwMode="auto">
            <a:xfrm>
              <a:off x="4468" y="3554"/>
              <a:ext cx="895" cy="250"/>
            </a:xfrm>
            <a:prstGeom prst="rect">
              <a:avLst/>
            </a:prstGeom>
            <a:noFill/>
            <a:ln w="12700" cap="sq">
              <a:noFill/>
              <a:miter lim="800000"/>
              <a:headEnd type="none" w="sm" len="sm"/>
              <a:tailEnd type="none" w="sm" len="sm"/>
            </a:ln>
          </p:spPr>
          <p:txBody>
            <a:bodyPr>
              <a:spAutoFit/>
            </a:bodyPr>
            <a:lstStyle/>
            <a:p>
              <a:r>
                <a:rPr kumimoji="1" lang="en-US" altLang="zh-CN" sz="2000" b="1" i="1">
                  <a:solidFill>
                    <a:srgbClr val="000099"/>
                  </a:solidFill>
                </a:rPr>
                <a:t>V </a:t>
              </a:r>
              <a:r>
                <a:rPr kumimoji="1" lang="en-US" altLang="zh-CN" sz="2000" b="1">
                  <a:solidFill>
                    <a:srgbClr val="000099"/>
                  </a:solidFill>
                </a:rPr>
                <a:t>(10</a:t>
              </a:r>
              <a:r>
                <a:rPr kumimoji="1" lang="en-US" altLang="zh-CN" sz="2000" b="1" baseline="50000">
                  <a:solidFill>
                    <a:srgbClr val="000099"/>
                  </a:solidFill>
                </a:rPr>
                <a:t>-3</a:t>
              </a:r>
              <a:r>
                <a:rPr kumimoji="1" lang="en-US" altLang="zh-CN" sz="2000" b="1">
                  <a:solidFill>
                    <a:srgbClr val="000099"/>
                  </a:solidFill>
                </a:rPr>
                <a:t>m</a:t>
              </a:r>
              <a:r>
                <a:rPr kumimoji="1" lang="en-US" altLang="zh-CN" sz="2000" b="1" baseline="50000">
                  <a:solidFill>
                    <a:srgbClr val="000099"/>
                  </a:solidFill>
                </a:rPr>
                <a:t>3</a:t>
              </a:r>
              <a:r>
                <a:rPr kumimoji="1" lang="en-US" altLang="zh-CN" sz="2000" b="1">
                  <a:solidFill>
                    <a:srgbClr val="000099"/>
                  </a:solidFill>
                </a:rPr>
                <a:t>)</a:t>
              </a:r>
              <a:endParaRPr kumimoji="1" lang="en-US" altLang="zh-CN" sz="2000" b="1">
                <a:solidFill>
                  <a:srgbClr val="000099"/>
                </a:solidFill>
              </a:endParaRPr>
            </a:p>
          </p:txBody>
        </p:sp>
        <p:sp>
          <p:nvSpPr>
            <p:cNvPr id="49206" name="Text Box 27"/>
            <p:cNvSpPr txBox="1">
              <a:spLocks noChangeArrowheads="1"/>
            </p:cNvSpPr>
            <p:nvPr/>
          </p:nvSpPr>
          <p:spPr bwMode="auto">
            <a:xfrm>
              <a:off x="3074" y="3748"/>
              <a:ext cx="232" cy="250"/>
            </a:xfrm>
            <a:prstGeom prst="rect">
              <a:avLst/>
            </a:prstGeom>
            <a:noFill/>
            <a:ln w="9525">
              <a:noFill/>
              <a:miter lim="800000"/>
            </a:ln>
          </p:spPr>
          <p:txBody>
            <a:bodyPr wrap="none">
              <a:spAutoFit/>
            </a:bodyPr>
            <a:lstStyle/>
            <a:p>
              <a:r>
                <a:rPr lang="en-US" altLang="zh-CN" sz="2000" b="1" i="1">
                  <a:solidFill>
                    <a:srgbClr val="000099"/>
                  </a:solidFill>
                </a:rPr>
                <a:t>O</a:t>
              </a:r>
              <a:endParaRPr lang="en-US" altLang="zh-CN" sz="2000" b="1" i="1">
                <a:solidFill>
                  <a:srgbClr val="000099"/>
                </a:solidFill>
              </a:endParaRPr>
            </a:p>
          </p:txBody>
        </p:sp>
        <p:sp>
          <p:nvSpPr>
            <p:cNvPr id="49207" name="Rectangle 28"/>
            <p:cNvSpPr>
              <a:spLocks noChangeArrowheads="1"/>
            </p:cNvSpPr>
            <p:nvPr/>
          </p:nvSpPr>
          <p:spPr bwMode="auto">
            <a:xfrm>
              <a:off x="3277" y="2273"/>
              <a:ext cx="906" cy="250"/>
            </a:xfrm>
            <a:prstGeom prst="rect">
              <a:avLst/>
            </a:prstGeom>
            <a:noFill/>
            <a:ln w="9525">
              <a:noFill/>
              <a:miter lim="800000"/>
            </a:ln>
          </p:spPr>
          <p:txBody>
            <a:bodyPr wrap="none">
              <a:spAutoFit/>
            </a:bodyPr>
            <a:lstStyle/>
            <a:p>
              <a:r>
                <a:rPr kumimoji="1" lang="en-US" altLang="zh-CN" sz="2000" b="1" i="1">
                  <a:solidFill>
                    <a:srgbClr val="000099"/>
                  </a:solidFill>
                </a:rPr>
                <a:t>P </a:t>
              </a:r>
              <a:r>
                <a:rPr kumimoji="1" lang="en-US" altLang="zh-CN" sz="2000" b="1">
                  <a:solidFill>
                    <a:srgbClr val="000099"/>
                  </a:solidFill>
                </a:rPr>
                <a:t>(10</a:t>
              </a:r>
              <a:r>
                <a:rPr kumimoji="1" lang="en-US" altLang="zh-CN" sz="2000" b="1" baseline="50000">
                  <a:solidFill>
                    <a:srgbClr val="000099"/>
                  </a:solidFill>
                </a:rPr>
                <a:t>3</a:t>
              </a:r>
              <a:r>
                <a:rPr kumimoji="1" lang="en-US" altLang="zh-CN" sz="2000" b="1">
                  <a:solidFill>
                    <a:srgbClr val="000099"/>
                  </a:solidFill>
                </a:rPr>
                <a:t>R Pa)</a:t>
              </a:r>
              <a:endParaRPr kumimoji="1" lang="en-US" altLang="zh-CN" sz="2000" b="1">
                <a:solidFill>
                  <a:srgbClr val="000099"/>
                </a:solidFill>
              </a:endParaRPr>
            </a:p>
          </p:txBody>
        </p:sp>
      </p:grpSp>
      <p:sp>
        <p:nvSpPr>
          <p:cNvPr id="247837" name="Text Box 29"/>
          <p:cNvSpPr txBox="1">
            <a:spLocks noChangeArrowheads="1"/>
          </p:cNvSpPr>
          <p:nvPr/>
        </p:nvSpPr>
        <p:spPr bwMode="auto">
          <a:xfrm>
            <a:off x="179388" y="476250"/>
            <a:ext cx="3165475" cy="512763"/>
          </a:xfrm>
          <a:prstGeom prst="rect">
            <a:avLst/>
          </a:prstGeom>
          <a:noFill/>
          <a:ln w="9525">
            <a:noFill/>
            <a:miter lim="800000"/>
          </a:ln>
        </p:spPr>
        <p:txBody>
          <a:bodyPr>
            <a:spAutoFit/>
          </a:bodyPr>
          <a:lstStyle/>
          <a:p>
            <a:pPr>
              <a:lnSpc>
                <a:spcPct val="115000"/>
              </a:lnSpc>
            </a:pPr>
            <a:r>
              <a:rPr kumimoji="1" lang="en-US" altLang="zh-CN" b="1" i="1">
                <a:ea typeface="楷体_GB2312" pitchFamily="49" charset="-122"/>
              </a:rPr>
              <a:t>ca</a:t>
            </a:r>
            <a:r>
              <a:rPr kumimoji="1" lang="en-US" altLang="zh-CN" b="1" i="1">
                <a:solidFill>
                  <a:srgbClr val="FF6600"/>
                </a:solidFill>
                <a:ea typeface="楷体_GB2312" pitchFamily="49" charset="-122"/>
              </a:rPr>
              <a:t> </a:t>
            </a:r>
            <a:r>
              <a:rPr kumimoji="1" lang="zh-CN" altLang="en-US" b="1">
                <a:ea typeface="楷体_GB2312" pitchFamily="49" charset="-122"/>
              </a:rPr>
              <a:t>是</a:t>
            </a:r>
            <a:r>
              <a:rPr kumimoji="1" lang="zh-CN" altLang="en-US" b="1">
                <a:solidFill>
                  <a:srgbClr val="FF6600"/>
                </a:solidFill>
                <a:ea typeface="楷体_GB2312" pitchFamily="49" charset="-122"/>
              </a:rPr>
              <a:t>等体过程</a:t>
            </a:r>
            <a:endParaRPr kumimoji="1" lang="zh-CN" altLang="en-US" b="1">
              <a:solidFill>
                <a:srgbClr val="FF6600"/>
              </a:solidFill>
              <a:ea typeface="楷体_GB2312" pitchFamily="49" charset="-122"/>
            </a:endParaRPr>
          </a:p>
        </p:txBody>
      </p:sp>
      <p:graphicFrame>
        <p:nvGraphicFramePr>
          <p:cNvPr id="247838" name="Object 30"/>
          <p:cNvGraphicFramePr>
            <a:graphicFrameLocks noChangeAspect="1"/>
          </p:cNvGraphicFramePr>
          <p:nvPr/>
        </p:nvGraphicFramePr>
        <p:xfrm>
          <a:off x="568325" y="1196975"/>
          <a:ext cx="1111250" cy="412750"/>
        </p:xfrm>
        <a:graphic>
          <a:graphicData uri="http://schemas.openxmlformats.org/presentationml/2006/ole">
            <mc:AlternateContent xmlns:mc="http://schemas.openxmlformats.org/markup-compatibility/2006">
              <mc:Choice xmlns:v="urn:schemas-microsoft-com:vml" Requires="v">
                <p:oleObj spid="_x0000_s49153" name="公式" r:id="rId1" imgW="14935200" imgH="5486400" progId="Equation.3">
                  <p:embed/>
                </p:oleObj>
              </mc:Choice>
              <mc:Fallback>
                <p:oleObj name="公式" r:id="rId1" imgW="14935200" imgH="5486400" progId="Equation.3">
                  <p:embed/>
                  <p:pic>
                    <p:nvPicPr>
                      <p:cNvPr id="0" name="Object 30"/>
                      <p:cNvPicPr>
                        <a:picLocks noChangeAspect="1"/>
                      </p:cNvPicPr>
                      <p:nvPr/>
                    </p:nvPicPr>
                    <p:blipFill>
                      <a:blip r:embed="rId2"/>
                      <a:stretch>
                        <a:fillRect/>
                      </a:stretch>
                    </p:blipFill>
                    <p:spPr>
                      <a:xfrm>
                        <a:off x="568325" y="1196975"/>
                        <a:ext cx="1111250" cy="412750"/>
                      </a:xfrm>
                      <a:prstGeom prst="rect">
                        <a:avLst/>
                      </a:prstGeom>
                      <a:noFill/>
                      <a:ln w="9525">
                        <a:noFill/>
                      </a:ln>
                    </p:spPr>
                  </p:pic>
                </p:oleObj>
              </mc:Fallback>
            </mc:AlternateContent>
          </a:graphicData>
        </a:graphic>
      </p:graphicFrame>
      <p:graphicFrame>
        <p:nvGraphicFramePr>
          <p:cNvPr id="247839" name="Object 31"/>
          <p:cNvGraphicFramePr>
            <a:graphicFrameLocks noChangeAspect="1"/>
          </p:cNvGraphicFramePr>
          <p:nvPr/>
        </p:nvGraphicFramePr>
        <p:xfrm>
          <a:off x="1720850" y="1196975"/>
          <a:ext cx="1722438" cy="412750"/>
        </p:xfrm>
        <a:graphic>
          <a:graphicData uri="http://schemas.openxmlformats.org/presentationml/2006/ole">
            <mc:AlternateContent xmlns:mc="http://schemas.openxmlformats.org/markup-compatibility/2006">
              <mc:Choice xmlns:v="urn:schemas-microsoft-com:vml" Requires="v">
                <p:oleObj spid="_x0000_s49155" name="公式" r:id="rId3" imgW="23164800" imgH="5486400" progId="Equation.3">
                  <p:embed/>
                </p:oleObj>
              </mc:Choice>
              <mc:Fallback>
                <p:oleObj name="公式" r:id="rId3" imgW="23164800" imgH="5486400" progId="Equation.3">
                  <p:embed/>
                  <p:pic>
                    <p:nvPicPr>
                      <p:cNvPr id="0" name="Object 31"/>
                      <p:cNvPicPr>
                        <a:picLocks noChangeAspect="1"/>
                      </p:cNvPicPr>
                      <p:nvPr/>
                    </p:nvPicPr>
                    <p:blipFill>
                      <a:blip r:embed="rId4"/>
                      <a:stretch>
                        <a:fillRect/>
                      </a:stretch>
                    </p:blipFill>
                    <p:spPr>
                      <a:xfrm>
                        <a:off x="1720850" y="1196975"/>
                        <a:ext cx="1722438" cy="412750"/>
                      </a:xfrm>
                      <a:prstGeom prst="rect">
                        <a:avLst/>
                      </a:prstGeom>
                      <a:noFill/>
                      <a:ln w="9525">
                        <a:noFill/>
                      </a:ln>
                    </p:spPr>
                  </p:pic>
                </p:oleObj>
              </mc:Fallback>
            </mc:AlternateContent>
          </a:graphicData>
        </a:graphic>
      </p:graphicFrame>
      <p:graphicFrame>
        <p:nvGraphicFramePr>
          <p:cNvPr id="247841" name="Object 33"/>
          <p:cNvGraphicFramePr>
            <a:graphicFrameLocks noChangeAspect="1"/>
          </p:cNvGraphicFramePr>
          <p:nvPr/>
        </p:nvGraphicFramePr>
        <p:xfrm>
          <a:off x="3521075" y="1211263"/>
          <a:ext cx="906463" cy="319087"/>
        </p:xfrm>
        <a:graphic>
          <a:graphicData uri="http://schemas.openxmlformats.org/presentationml/2006/ole">
            <mc:AlternateContent xmlns:mc="http://schemas.openxmlformats.org/markup-compatibility/2006">
              <mc:Choice xmlns:v="urn:schemas-microsoft-com:vml" Requires="v">
                <p:oleObj spid="_x0000_s49156" name="公式" r:id="rId5" imgW="12192000" imgH="4267200" progId="Equation.3">
                  <p:embed/>
                </p:oleObj>
              </mc:Choice>
              <mc:Fallback>
                <p:oleObj name="公式" r:id="rId5" imgW="12192000" imgH="4267200" progId="Equation.3">
                  <p:embed/>
                  <p:pic>
                    <p:nvPicPr>
                      <p:cNvPr id="0" name="Object 33"/>
                      <p:cNvPicPr>
                        <a:picLocks noChangeAspect="1"/>
                      </p:cNvPicPr>
                      <p:nvPr/>
                    </p:nvPicPr>
                    <p:blipFill>
                      <a:blip r:embed="rId6"/>
                      <a:stretch>
                        <a:fillRect/>
                      </a:stretch>
                    </p:blipFill>
                    <p:spPr>
                      <a:xfrm>
                        <a:off x="3521075" y="1211263"/>
                        <a:ext cx="906463" cy="319087"/>
                      </a:xfrm>
                      <a:prstGeom prst="rect">
                        <a:avLst/>
                      </a:prstGeom>
                      <a:noFill/>
                      <a:ln w="9525">
                        <a:noFill/>
                      </a:ln>
                    </p:spPr>
                  </p:pic>
                </p:oleObj>
              </mc:Fallback>
            </mc:AlternateContent>
          </a:graphicData>
        </a:graphic>
      </p:graphicFrame>
      <p:sp>
        <p:nvSpPr>
          <p:cNvPr id="247842" name="Text Box 34"/>
          <p:cNvSpPr txBox="1">
            <a:spLocks noChangeArrowheads="1"/>
          </p:cNvSpPr>
          <p:nvPr/>
        </p:nvSpPr>
        <p:spPr bwMode="auto">
          <a:xfrm>
            <a:off x="341313" y="1773238"/>
            <a:ext cx="4186237" cy="512762"/>
          </a:xfrm>
          <a:prstGeom prst="rect">
            <a:avLst/>
          </a:prstGeom>
          <a:noFill/>
          <a:ln w="9525">
            <a:noFill/>
            <a:miter lim="800000"/>
          </a:ln>
        </p:spPr>
        <p:txBody>
          <a:bodyPr>
            <a:spAutoFit/>
          </a:bodyPr>
          <a:lstStyle/>
          <a:p>
            <a:pPr>
              <a:lnSpc>
                <a:spcPct val="115000"/>
              </a:lnSpc>
            </a:pPr>
            <a:r>
              <a:rPr kumimoji="1" lang="zh-CN" altLang="en-US" b="1">
                <a:ea typeface="楷体_GB2312" pitchFamily="49" charset="-122"/>
              </a:rPr>
              <a:t>循环过程中系统吸热</a:t>
            </a:r>
            <a:endParaRPr kumimoji="1" lang="zh-CN" altLang="en-US" b="1">
              <a:ea typeface="楷体_GB2312" pitchFamily="49" charset="-122"/>
            </a:endParaRPr>
          </a:p>
        </p:txBody>
      </p:sp>
      <p:graphicFrame>
        <p:nvGraphicFramePr>
          <p:cNvPr id="247843" name="Object 35"/>
          <p:cNvGraphicFramePr>
            <a:graphicFrameLocks noChangeAspect="1"/>
          </p:cNvGraphicFramePr>
          <p:nvPr/>
        </p:nvGraphicFramePr>
        <p:xfrm>
          <a:off x="179388" y="2568575"/>
          <a:ext cx="1639887" cy="414338"/>
        </p:xfrm>
        <a:graphic>
          <a:graphicData uri="http://schemas.openxmlformats.org/presentationml/2006/ole">
            <mc:AlternateContent xmlns:mc="http://schemas.openxmlformats.org/markup-compatibility/2006">
              <mc:Choice xmlns:v="urn:schemas-microsoft-com:vml" Requires="v">
                <p:oleObj spid="_x0000_s49157" name="公式" r:id="rId7" imgW="21945600" imgH="5486400" progId="Equation.3">
                  <p:embed/>
                </p:oleObj>
              </mc:Choice>
              <mc:Fallback>
                <p:oleObj name="公式" r:id="rId7" imgW="21945600" imgH="5486400" progId="Equation.3">
                  <p:embed/>
                  <p:pic>
                    <p:nvPicPr>
                      <p:cNvPr id="0" name="Object 35"/>
                      <p:cNvPicPr>
                        <a:picLocks noChangeAspect="1"/>
                      </p:cNvPicPr>
                      <p:nvPr/>
                    </p:nvPicPr>
                    <p:blipFill>
                      <a:blip r:embed="rId8"/>
                      <a:stretch>
                        <a:fillRect/>
                      </a:stretch>
                    </p:blipFill>
                    <p:spPr>
                      <a:xfrm>
                        <a:off x="179388" y="2568575"/>
                        <a:ext cx="1639887" cy="414338"/>
                      </a:xfrm>
                      <a:prstGeom prst="rect">
                        <a:avLst/>
                      </a:prstGeom>
                      <a:noFill/>
                      <a:ln w="9525">
                        <a:noFill/>
                      </a:ln>
                    </p:spPr>
                  </p:pic>
                </p:oleObj>
              </mc:Fallback>
            </mc:AlternateContent>
          </a:graphicData>
        </a:graphic>
      </p:graphicFrame>
      <p:graphicFrame>
        <p:nvGraphicFramePr>
          <p:cNvPr id="247844" name="Object 36"/>
          <p:cNvGraphicFramePr>
            <a:graphicFrameLocks noChangeAspect="1"/>
          </p:cNvGraphicFramePr>
          <p:nvPr/>
        </p:nvGraphicFramePr>
        <p:xfrm>
          <a:off x="1898650" y="2613025"/>
          <a:ext cx="3005138" cy="322263"/>
        </p:xfrm>
        <a:graphic>
          <a:graphicData uri="http://schemas.openxmlformats.org/presentationml/2006/ole">
            <mc:AlternateContent xmlns:mc="http://schemas.openxmlformats.org/markup-compatibility/2006">
              <mc:Choice xmlns:v="urn:schemas-microsoft-com:vml" Requires="v">
                <p:oleObj spid="_x0000_s49158" name="Equation" r:id="rId9" imgW="40233600" imgH="4267200" progId="Equation.DSMT4">
                  <p:embed/>
                </p:oleObj>
              </mc:Choice>
              <mc:Fallback>
                <p:oleObj name="Equation" r:id="rId9" imgW="40233600" imgH="4267200" progId="Equation.DSMT4">
                  <p:embed/>
                  <p:pic>
                    <p:nvPicPr>
                      <p:cNvPr id="0" name="Object 36"/>
                      <p:cNvPicPr>
                        <a:picLocks noChangeAspect="1"/>
                      </p:cNvPicPr>
                      <p:nvPr/>
                    </p:nvPicPr>
                    <p:blipFill>
                      <a:blip r:embed="rId10"/>
                      <a:stretch>
                        <a:fillRect/>
                      </a:stretch>
                    </p:blipFill>
                    <p:spPr>
                      <a:xfrm>
                        <a:off x="1898650" y="2613025"/>
                        <a:ext cx="3005138" cy="322263"/>
                      </a:xfrm>
                      <a:prstGeom prst="rect">
                        <a:avLst/>
                      </a:prstGeom>
                      <a:noFill/>
                      <a:ln w="9525">
                        <a:noFill/>
                      </a:ln>
                    </p:spPr>
                  </p:pic>
                </p:oleObj>
              </mc:Fallback>
            </mc:AlternateContent>
          </a:graphicData>
        </a:graphic>
      </p:graphicFrame>
      <p:sp>
        <p:nvSpPr>
          <p:cNvPr id="247845" name="Text Box 37"/>
          <p:cNvSpPr txBox="1">
            <a:spLocks noChangeArrowheads="1"/>
          </p:cNvSpPr>
          <p:nvPr/>
        </p:nvSpPr>
        <p:spPr bwMode="auto">
          <a:xfrm>
            <a:off x="468313" y="3357563"/>
            <a:ext cx="4200525" cy="512762"/>
          </a:xfrm>
          <a:prstGeom prst="rect">
            <a:avLst/>
          </a:prstGeom>
          <a:noFill/>
          <a:ln w="9525">
            <a:noFill/>
            <a:miter lim="800000"/>
          </a:ln>
        </p:spPr>
        <p:txBody>
          <a:bodyPr>
            <a:spAutoFit/>
          </a:bodyPr>
          <a:lstStyle/>
          <a:p>
            <a:pPr>
              <a:lnSpc>
                <a:spcPct val="115000"/>
              </a:lnSpc>
            </a:pPr>
            <a:r>
              <a:rPr kumimoji="1" lang="zh-CN" altLang="en-US" b="1">
                <a:ea typeface="楷体_GB2312" pitchFamily="49" charset="-122"/>
              </a:rPr>
              <a:t>循环过程中系统放热</a:t>
            </a:r>
            <a:endParaRPr lang="zh-CN" altLang="en-US" b="1">
              <a:ea typeface="楷体_GB2312" pitchFamily="49" charset="-122"/>
            </a:endParaRPr>
          </a:p>
        </p:txBody>
      </p:sp>
      <p:graphicFrame>
        <p:nvGraphicFramePr>
          <p:cNvPr id="247846" name="Object 38"/>
          <p:cNvGraphicFramePr>
            <a:graphicFrameLocks noChangeAspect="1"/>
          </p:cNvGraphicFramePr>
          <p:nvPr/>
        </p:nvGraphicFramePr>
        <p:xfrm>
          <a:off x="1150938" y="4195763"/>
          <a:ext cx="1108075" cy="457200"/>
        </p:xfrm>
        <a:graphic>
          <a:graphicData uri="http://schemas.openxmlformats.org/presentationml/2006/ole">
            <mc:AlternateContent xmlns:mc="http://schemas.openxmlformats.org/markup-compatibility/2006">
              <mc:Choice xmlns:v="urn:schemas-microsoft-com:vml" Requires="v">
                <p:oleObj spid="_x0000_s49159" name="公式" r:id="rId11" imgW="14935200" imgH="6096000" progId="Equation.3">
                  <p:embed/>
                </p:oleObj>
              </mc:Choice>
              <mc:Fallback>
                <p:oleObj name="公式" r:id="rId11" imgW="14935200" imgH="6096000" progId="Equation.3">
                  <p:embed/>
                  <p:pic>
                    <p:nvPicPr>
                      <p:cNvPr id="0" name="Object 38"/>
                      <p:cNvPicPr>
                        <a:picLocks noChangeAspect="1"/>
                      </p:cNvPicPr>
                      <p:nvPr/>
                    </p:nvPicPr>
                    <p:blipFill>
                      <a:blip r:embed="rId12"/>
                      <a:stretch>
                        <a:fillRect/>
                      </a:stretch>
                    </p:blipFill>
                    <p:spPr>
                      <a:xfrm>
                        <a:off x="1150938" y="4195763"/>
                        <a:ext cx="1108075" cy="457200"/>
                      </a:xfrm>
                      <a:prstGeom prst="rect">
                        <a:avLst/>
                      </a:prstGeom>
                      <a:noFill/>
                      <a:ln w="9525">
                        <a:noFill/>
                      </a:ln>
                    </p:spPr>
                  </p:pic>
                </p:oleObj>
              </mc:Fallback>
            </mc:AlternateContent>
          </a:graphicData>
        </a:graphic>
      </p:graphicFrame>
      <p:graphicFrame>
        <p:nvGraphicFramePr>
          <p:cNvPr id="247847" name="Object 39"/>
          <p:cNvGraphicFramePr>
            <a:graphicFrameLocks noChangeAspect="1"/>
          </p:cNvGraphicFramePr>
          <p:nvPr/>
        </p:nvGraphicFramePr>
        <p:xfrm>
          <a:off x="2411413" y="4248150"/>
          <a:ext cx="904875" cy="320675"/>
        </p:xfrm>
        <a:graphic>
          <a:graphicData uri="http://schemas.openxmlformats.org/presentationml/2006/ole">
            <mc:AlternateContent xmlns:mc="http://schemas.openxmlformats.org/markup-compatibility/2006">
              <mc:Choice xmlns:v="urn:schemas-microsoft-com:vml" Requires="v">
                <p:oleObj spid="_x0000_s49160" name="公式" r:id="rId13" imgW="12192000" imgH="4267200" progId="Equation.3">
                  <p:embed/>
                </p:oleObj>
              </mc:Choice>
              <mc:Fallback>
                <p:oleObj name="公式" r:id="rId13" imgW="12192000" imgH="4267200" progId="Equation.3">
                  <p:embed/>
                  <p:pic>
                    <p:nvPicPr>
                      <p:cNvPr id="0" name="Object 39"/>
                      <p:cNvPicPr>
                        <a:picLocks noChangeAspect="1"/>
                      </p:cNvPicPr>
                      <p:nvPr/>
                    </p:nvPicPr>
                    <p:blipFill>
                      <a:blip r:embed="rId14"/>
                      <a:stretch>
                        <a:fillRect/>
                      </a:stretch>
                    </p:blipFill>
                    <p:spPr>
                      <a:xfrm>
                        <a:off x="2411413" y="4248150"/>
                        <a:ext cx="904875" cy="320675"/>
                      </a:xfrm>
                      <a:prstGeom prst="rect">
                        <a:avLst/>
                      </a:prstGeom>
                      <a:noFill/>
                      <a:ln w="9525">
                        <a:noFill/>
                      </a:ln>
                    </p:spPr>
                  </p:pic>
                </p:oleObj>
              </mc:Fallback>
            </mc:AlternateContent>
          </a:graphicData>
        </a:graphic>
      </p:graphicFrame>
      <p:graphicFrame>
        <p:nvGraphicFramePr>
          <p:cNvPr id="247848" name="Object 40"/>
          <p:cNvGraphicFramePr>
            <a:graphicFrameLocks noChangeAspect="1"/>
          </p:cNvGraphicFramePr>
          <p:nvPr/>
        </p:nvGraphicFramePr>
        <p:xfrm>
          <a:off x="684213" y="5505450"/>
          <a:ext cx="1328737" cy="803275"/>
        </p:xfrm>
        <a:graphic>
          <a:graphicData uri="http://schemas.openxmlformats.org/presentationml/2006/ole">
            <mc:AlternateContent xmlns:mc="http://schemas.openxmlformats.org/markup-compatibility/2006">
              <mc:Choice xmlns:v="urn:schemas-microsoft-com:vml" Requires="v">
                <p:oleObj spid="_x0000_s49161" name="公式" r:id="rId15" imgW="17678400" imgH="10668000" progId="Equation.3">
                  <p:embed/>
                </p:oleObj>
              </mc:Choice>
              <mc:Fallback>
                <p:oleObj name="公式" r:id="rId15" imgW="17678400" imgH="10668000" progId="Equation.3">
                  <p:embed/>
                  <p:pic>
                    <p:nvPicPr>
                      <p:cNvPr id="0" name="Object 40"/>
                      <p:cNvPicPr>
                        <a:picLocks noChangeAspect="1"/>
                      </p:cNvPicPr>
                      <p:nvPr/>
                    </p:nvPicPr>
                    <p:blipFill>
                      <a:blip r:embed="rId16"/>
                      <a:stretch>
                        <a:fillRect/>
                      </a:stretch>
                    </p:blipFill>
                    <p:spPr>
                      <a:xfrm>
                        <a:off x="684213" y="5505450"/>
                        <a:ext cx="1328737" cy="803275"/>
                      </a:xfrm>
                      <a:prstGeom prst="rect">
                        <a:avLst/>
                      </a:prstGeom>
                      <a:noFill/>
                      <a:ln w="9525">
                        <a:noFill/>
                      </a:ln>
                    </p:spPr>
                  </p:pic>
                </p:oleObj>
              </mc:Fallback>
            </mc:AlternateContent>
          </a:graphicData>
        </a:graphic>
      </p:graphicFrame>
      <p:sp>
        <p:nvSpPr>
          <p:cNvPr id="247849" name="Text Box 41"/>
          <p:cNvSpPr txBox="1">
            <a:spLocks noChangeArrowheads="1"/>
          </p:cNvSpPr>
          <p:nvPr/>
        </p:nvSpPr>
        <p:spPr bwMode="auto">
          <a:xfrm>
            <a:off x="476250" y="4932363"/>
            <a:ext cx="2535238" cy="512762"/>
          </a:xfrm>
          <a:prstGeom prst="rect">
            <a:avLst/>
          </a:prstGeom>
          <a:noFill/>
          <a:ln w="9525">
            <a:noFill/>
            <a:miter lim="800000"/>
          </a:ln>
        </p:spPr>
        <p:txBody>
          <a:bodyPr>
            <a:spAutoFit/>
          </a:bodyPr>
          <a:lstStyle/>
          <a:p>
            <a:pPr>
              <a:lnSpc>
                <a:spcPct val="115000"/>
              </a:lnSpc>
            </a:pPr>
            <a:r>
              <a:rPr kumimoji="1" lang="zh-CN" altLang="en-US" b="1">
                <a:ea typeface="楷体_GB2312" pitchFamily="49" charset="-122"/>
              </a:rPr>
              <a:t>此循环效率</a:t>
            </a:r>
            <a:endParaRPr lang="zh-CN" altLang="en-US" b="1">
              <a:ea typeface="楷体_GB2312" pitchFamily="49" charset="-122"/>
            </a:endParaRPr>
          </a:p>
        </p:txBody>
      </p:sp>
      <p:graphicFrame>
        <p:nvGraphicFramePr>
          <p:cNvPr id="247850" name="Object 42"/>
          <p:cNvGraphicFramePr>
            <a:graphicFrameLocks noChangeAspect="1"/>
          </p:cNvGraphicFramePr>
          <p:nvPr/>
        </p:nvGraphicFramePr>
        <p:xfrm>
          <a:off x="2079625" y="5499100"/>
          <a:ext cx="2314575" cy="735013"/>
        </p:xfrm>
        <a:graphic>
          <a:graphicData uri="http://schemas.openxmlformats.org/presentationml/2006/ole">
            <mc:AlternateContent xmlns:mc="http://schemas.openxmlformats.org/markup-compatibility/2006">
              <mc:Choice xmlns:v="urn:schemas-microsoft-com:vml" Requires="v">
                <p:oleObj spid="_x0000_s49162" name="公式" r:id="rId17" imgW="30784800" imgH="9753600" progId="Equation.3">
                  <p:embed/>
                </p:oleObj>
              </mc:Choice>
              <mc:Fallback>
                <p:oleObj name="公式" r:id="rId17" imgW="30784800" imgH="9753600" progId="Equation.3">
                  <p:embed/>
                  <p:pic>
                    <p:nvPicPr>
                      <p:cNvPr id="0" name="Object 42"/>
                      <p:cNvPicPr>
                        <a:picLocks noChangeAspect="1"/>
                      </p:cNvPicPr>
                      <p:nvPr/>
                    </p:nvPicPr>
                    <p:blipFill>
                      <a:blip r:embed="rId18"/>
                      <a:stretch>
                        <a:fillRect/>
                      </a:stretch>
                    </p:blipFill>
                    <p:spPr>
                      <a:xfrm>
                        <a:off x="2079625" y="5499100"/>
                        <a:ext cx="2314575" cy="735013"/>
                      </a:xfrm>
                      <a:prstGeom prst="rect">
                        <a:avLst/>
                      </a:prstGeom>
                      <a:noFill/>
                      <a:ln w="9525">
                        <a:noFill/>
                      </a:ln>
                    </p:spPr>
                  </p:pic>
                </p:oleObj>
              </mc:Fallback>
            </mc:AlternateContent>
          </a:graphicData>
        </a:graphic>
      </p:graphicFrame>
      <p:grpSp>
        <p:nvGrpSpPr>
          <p:cNvPr id="49168" name="Group 43"/>
          <p:cNvGrpSpPr/>
          <p:nvPr/>
        </p:nvGrpSpPr>
        <p:grpSpPr bwMode="auto">
          <a:xfrm>
            <a:off x="4933950" y="457200"/>
            <a:ext cx="4030663" cy="2827338"/>
            <a:chOff x="2921" y="294"/>
            <a:chExt cx="2539" cy="1781"/>
          </a:xfrm>
        </p:grpSpPr>
        <p:sp>
          <p:nvSpPr>
            <p:cNvPr id="49169" name="Text Box 44"/>
            <p:cNvSpPr txBox="1">
              <a:spLocks noChangeArrowheads="1"/>
            </p:cNvSpPr>
            <p:nvPr/>
          </p:nvSpPr>
          <p:spPr bwMode="auto">
            <a:xfrm>
              <a:off x="3754" y="1232"/>
              <a:ext cx="187" cy="279"/>
            </a:xfrm>
            <a:prstGeom prst="rect">
              <a:avLst/>
            </a:prstGeom>
            <a:noFill/>
            <a:ln w="9525">
              <a:noFill/>
              <a:miter lim="800000"/>
            </a:ln>
          </p:spPr>
          <p:txBody>
            <a:bodyPr wrap="none">
              <a:spAutoFit/>
            </a:bodyPr>
            <a:lstStyle/>
            <a:p>
              <a:pPr>
                <a:lnSpc>
                  <a:spcPct val="115000"/>
                </a:lnSpc>
              </a:pPr>
              <a:r>
                <a:rPr kumimoji="1" lang="en-US" altLang="zh-CN" sz="2000" b="1" i="1">
                  <a:solidFill>
                    <a:srgbClr val="000099"/>
                  </a:solidFill>
                  <a:ea typeface="楷体_GB2312" pitchFamily="49" charset="-122"/>
                </a:rPr>
                <a:t>c</a:t>
              </a:r>
              <a:endParaRPr kumimoji="1" lang="en-US" altLang="zh-CN" sz="2000" b="1" i="1">
                <a:solidFill>
                  <a:srgbClr val="000099"/>
                </a:solidFill>
                <a:ea typeface="楷体_GB2312" pitchFamily="49" charset="-122"/>
              </a:endParaRPr>
            </a:p>
          </p:txBody>
        </p:sp>
        <p:sp>
          <p:nvSpPr>
            <p:cNvPr id="49170" name="AutoShape 45"/>
            <p:cNvSpPr>
              <a:spLocks noChangeArrowheads="1"/>
            </p:cNvSpPr>
            <p:nvPr/>
          </p:nvSpPr>
          <p:spPr bwMode="auto">
            <a:xfrm flipV="1">
              <a:off x="3795" y="755"/>
              <a:ext cx="576" cy="576"/>
            </a:xfrm>
            <a:prstGeom prst="rtTriangle">
              <a:avLst/>
            </a:prstGeom>
            <a:noFill/>
            <a:ln w="38100">
              <a:solidFill>
                <a:srgbClr val="FF0000"/>
              </a:solidFill>
              <a:miter lim="800000"/>
            </a:ln>
          </p:spPr>
          <p:txBody>
            <a:bodyPr wrap="none" anchor="ctr"/>
            <a:lstStyle/>
            <a:p>
              <a:pPr algn="ctr"/>
              <a:endParaRPr lang="zh-CN" altLang="en-US"/>
            </a:p>
          </p:txBody>
        </p:sp>
        <p:sp>
          <p:nvSpPr>
            <p:cNvPr id="49171" name="Line 46"/>
            <p:cNvSpPr>
              <a:spLocks noChangeShapeType="1"/>
            </p:cNvSpPr>
            <p:nvPr/>
          </p:nvSpPr>
          <p:spPr bwMode="auto">
            <a:xfrm flipV="1">
              <a:off x="3267" y="1283"/>
              <a:ext cx="576" cy="576"/>
            </a:xfrm>
            <a:prstGeom prst="line">
              <a:avLst/>
            </a:prstGeom>
            <a:noFill/>
            <a:ln w="19050">
              <a:solidFill>
                <a:srgbClr val="000099"/>
              </a:solidFill>
              <a:prstDash val="dash"/>
              <a:round/>
            </a:ln>
          </p:spPr>
          <p:txBody>
            <a:bodyPr/>
            <a:lstStyle/>
            <a:p>
              <a:endParaRPr lang="zh-CN" altLang="en-US"/>
            </a:p>
          </p:txBody>
        </p:sp>
        <p:sp>
          <p:nvSpPr>
            <p:cNvPr id="49172" name="Line 47"/>
            <p:cNvSpPr>
              <a:spLocks noChangeShapeType="1"/>
            </p:cNvSpPr>
            <p:nvPr/>
          </p:nvSpPr>
          <p:spPr bwMode="auto">
            <a:xfrm>
              <a:off x="3795" y="1235"/>
              <a:ext cx="0" cy="624"/>
            </a:xfrm>
            <a:prstGeom prst="line">
              <a:avLst/>
            </a:prstGeom>
            <a:noFill/>
            <a:ln w="19050">
              <a:solidFill>
                <a:srgbClr val="000099"/>
              </a:solidFill>
              <a:prstDash val="dash"/>
              <a:round/>
            </a:ln>
          </p:spPr>
          <p:txBody>
            <a:bodyPr/>
            <a:lstStyle/>
            <a:p>
              <a:endParaRPr lang="zh-CN" altLang="en-US"/>
            </a:p>
          </p:txBody>
        </p:sp>
        <p:sp>
          <p:nvSpPr>
            <p:cNvPr id="49173" name="Line 48"/>
            <p:cNvSpPr>
              <a:spLocks noChangeShapeType="1"/>
            </p:cNvSpPr>
            <p:nvPr/>
          </p:nvSpPr>
          <p:spPr bwMode="auto">
            <a:xfrm>
              <a:off x="4377" y="755"/>
              <a:ext cx="0" cy="1104"/>
            </a:xfrm>
            <a:prstGeom prst="line">
              <a:avLst/>
            </a:prstGeom>
            <a:noFill/>
            <a:ln w="19050">
              <a:solidFill>
                <a:srgbClr val="000099"/>
              </a:solidFill>
              <a:prstDash val="dash"/>
              <a:round/>
            </a:ln>
          </p:spPr>
          <p:txBody>
            <a:bodyPr/>
            <a:lstStyle/>
            <a:p>
              <a:endParaRPr lang="zh-CN" altLang="en-US"/>
            </a:p>
          </p:txBody>
        </p:sp>
        <p:sp>
          <p:nvSpPr>
            <p:cNvPr id="49174" name="Line 49"/>
            <p:cNvSpPr>
              <a:spLocks noChangeShapeType="1"/>
            </p:cNvSpPr>
            <p:nvPr/>
          </p:nvSpPr>
          <p:spPr bwMode="auto">
            <a:xfrm>
              <a:off x="3267" y="755"/>
              <a:ext cx="528" cy="0"/>
            </a:xfrm>
            <a:prstGeom prst="line">
              <a:avLst/>
            </a:prstGeom>
            <a:noFill/>
            <a:ln w="19050">
              <a:solidFill>
                <a:srgbClr val="000099"/>
              </a:solidFill>
              <a:prstDash val="dash"/>
              <a:round/>
            </a:ln>
          </p:spPr>
          <p:txBody>
            <a:bodyPr/>
            <a:lstStyle/>
            <a:p>
              <a:endParaRPr lang="zh-CN" altLang="en-US"/>
            </a:p>
          </p:txBody>
        </p:sp>
        <p:sp>
          <p:nvSpPr>
            <p:cNvPr id="49175" name="Text Box 50"/>
            <p:cNvSpPr txBox="1">
              <a:spLocks noChangeArrowheads="1"/>
            </p:cNvSpPr>
            <p:nvPr/>
          </p:nvSpPr>
          <p:spPr bwMode="auto">
            <a:xfrm>
              <a:off x="3705" y="476"/>
              <a:ext cx="196" cy="279"/>
            </a:xfrm>
            <a:prstGeom prst="rect">
              <a:avLst/>
            </a:prstGeom>
            <a:noFill/>
            <a:ln w="9525">
              <a:noFill/>
              <a:miter lim="800000"/>
            </a:ln>
          </p:spPr>
          <p:txBody>
            <a:bodyPr wrap="none">
              <a:spAutoFit/>
            </a:bodyPr>
            <a:lstStyle/>
            <a:p>
              <a:pPr>
                <a:lnSpc>
                  <a:spcPct val="115000"/>
                </a:lnSpc>
              </a:pPr>
              <a:r>
                <a:rPr kumimoji="1" lang="en-US" altLang="zh-CN" sz="2000" b="1" i="1">
                  <a:solidFill>
                    <a:srgbClr val="000099"/>
                  </a:solidFill>
                  <a:ea typeface="楷体_GB2312" pitchFamily="49" charset="-122"/>
                </a:rPr>
                <a:t>a</a:t>
              </a:r>
              <a:endParaRPr kumimoji="1" lang="en-US" altLang="zh-CN" sz="2000" b="1" i="1">
                <a:solidFill>
                  <a:srgbClr val="000099"/>
                </a:solidFill>
                <a:ea typeface="楷体_GB2312" pitchFamily="49" charset="-122"/>
              </a:endParaRPr>
            </a:p>
          </p:txBody>
        </p:sp>
        <p:sp>
          <p:nvSpPr>
            <p:cNvPr id="49176" name="Text Box 51"/>
            <p:cNvSpPr txBox="1">
              <a:spLocks noChangeArrowheads="1"/>
            </p:cNvSpPr>
            <p:nvPr/>
          </p:nvSpPr>
          <p:spPr bwMode="auto">
            <a:xfrm>
              <a:off x="4371" y="520"/>
              <a:ext cx="196" cy="279"/>
            </a:xfrm>
            <a:prstGeom prst="rect">
              <a:avLst/>
            </a:prstGeom>
            <a:noFill/>
            <a:ln w="9525">
              <a:noFill/>
              <a:miter lim="800000"/>
            </a:ln>
          </p:spPr>
          <p:txBody>
            <a:bodyPr wrap="none">
              <a:spAutoFit/>
            </a:bodyPr>
            <a:lstStyle/>
            <a:p>
              <a:pPr>
                <a:lnSpc>
                  <a:spcPct val="115000"/>
                </a:lnSpc>
              </a:pPr>
              <a:r>
                <a:rPr kumimoji="1" lang="en-US" altLang="zh-CN" sz="2000" b="1" i="1">
                  <a:solidFill>
                    <a:srgbClr val="000099"/>
                  </a:solidFill>
                  <a:ea typeface="楷体_GB2312" pitchFamily="49" charset="-122"/>
                </a:rPr>
                <a:t>b</a:t>
              </a:r>
              <a:endParaRPr kumimoji="1" lang="en-US" altLang="zh-CN" sz="2000" b="1" i="1">
                <a:solidFill>
                  <a:srgbClr val="000099"/>
                </a:solidFill>
                <a:ea typeface="楷体_GB2312" pitchFamily="49" charset="-122"/>
              </a:endParaRPr>
            </a:p>
          </p:txBody>
        </p:sp>
        <p:sp>
          <p:nvSpPr>
            <p:cNvPr id="49177" name="Text Box 52"/>
            <p:cNvSpPr txBox="1">
              <a:spLocks noChangeArrowheads="1"/>
            </p:cNvSpPr>
            <p:nvPr/>
          </p:nvSpPr>
          <p:spPr bwMode="auto">
            <a:xfrm>
              <a:off x="2921" y="601"/>
              <a:ext cx="35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600</a:t>
              </a:r>
              <a:endParaRPr kumimoji="1" lang="en-US" altLang="zh-CN" sz="2000" b="1">
                <a:solidFill>
                  <a:srgbClr val="000099"/>
                </a:solidFill>
                <a:ea typeface="楷体_GB2312" pitchFamily="49" charset="-122"/>
              </a:endParaRPr>
            </a:p>
          </p:txBody>
        </p:sp>
        <p:sp>
          <p:nvSpPr>
            <p:cNvPr id="49178" name="Text Box 53"/>
            <p:cNvSpPr txBox="1">
              <a:spLocks noChangeArrowheads="1"/>
            </p:cNvSpPr>
            <p:nvPr/>
          </p:nvSpPr>
          <p:spPr bwMode="auto">
            <a:xfrm>
              <a:off x="4286" y="1796"/>
              <a:ext cx="19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2</a:t>
              </a:r>
              <a:endParaRPr kumimoji="1" lang="en-US" altLang="zh-CN" sz="2000" b="1">
                <a:solidFill>
                  <a:srgbClr val="000099"/>
                </a:solidFill>
                <a:ea typeface="楷体_GB2312" pitchFamily="49" charset="-122"/>
              </a:endParaRPr>
            </a:p>
          </p:txBody>
        </p:sp>
        <p:sp>
          <p:nvSpPr>
            <p:cNvPr id="49179" name="Text Box 54"/>
            <p:cNvSpPr txBox="1">
              <a:spLocks noChangeArrowheads="1"/>
            </p:cNvSpPr>
            <p:nvPr/>
          </p:nvSpPr>
          <p:spPr bwMode="auto">
            <a:xfrm>
              <a:off x="3689" y="1791"/>
              <a:ext cx="196" cy="279"/>
            </a:xfrm>
            <a:prstGeom prst="rect">
              <a:avLst/>
            </a:prstGeom>
            <a:noFill/>
            <a:ln w="9525">
              <a:noFill/>
              <a:miter lim="800000"/>
            </a:ln>
          </p:spPr>
          <p:txBody>
            <a:bodyPr wrap="none">
              <a:spAutoFit/>
            </a:bodyPr>
            <a:lstStyle/>
            <a:p>
              <a:pPr>
                <a:lnSpc>
                  <a:spcPct val="115000"/>
                </a:lnSpc>
              </a:pPr>
              <a:r>
                <a:rPr kumimoji="1" lang="en-US" altLang="zh-CN" sz="2000" b="1">
                  <a:solidFill>
                    <a:srgbClr val="000099"/>
                  </a:solidFill>
                  <a:ea typeface="楷体_GB2312" pitchFamily="49" charset="-122"/>
                </a:rPr>
                <a:t>1</a:t>
              </a:r>
              <a:endParaRPr kumimoji="1" lang="en-US" altLang="zh-CN" sz="2000" b="1">
                <a:solidFill>
                  <a:srgbClr val="000099"/>
                </a:solidFill>
                <a:ea typeface="楷体_GB2312" pitchFamily="49" charset="-122"/>
              </a:endParaRPr>
            </a:p>
          </p:txBody>
        </p:sp>
        <p:sp>
          <p:nvSpPr>
            <p:cNvPr id="49180" name="Line 55"/>
            <p:cNvSpPr>
              <a:spLocks noChangeShapeType="1"/>
            </p:cNvSpPr>
            <p:nvPr/>
          </p:nvSpPr>
          <p:spPr bwMode="auto">
            <a:xfrm>
              <a:off x="3795" y="925"/>
              <a:ext cx="0" cy="240"/>
            </a:xfrm>
            <a:prstGeom prst="line">
              <a:avLst/>
            </a:prstGeom>
            <a:noFill/>
            <a:ln w="57150">
              <a:solidFill>
                <a:srgbClr val="008000"/>
              </a:solidFill>
              <a:round/>
              <a:headEnd type="triangle" w="med" len="med"/>
            </a:ln>
          </p:spPr>
          <p:txBody>
            <a:bodyPr/>
            <a:lstStyle/>
            <a:p>
              <a:endParaRPr lang="zh-CN" altLang="en-US"/>
            </a:p>
          </p:txBody>
        </p:sp>
        <p:sp>
          <p:nvSpPr>
            <p:cNvPr id="49181" name="Line 56"/>
            <p:cNvSpPr>
              <a:spLocks noChangeShapeType="1"/>
            </p:cNvSpPr>
            <p:nvPr/>
          </p:nvSpPr>
          <p:spPr bwMode="auto">
            <a:xfrm>
              <a:off x="3273" y="332"/>
              <a:ext cx="0" cy="1519"/>
            </a:xfrm>
            <a:prstGeom prst="line">
              <a:avLst/>
            </a:prstGeom>
            <a:noFill/>
            <a:ln w="28575" cap="sq">
              <a:solidFill>
                <a:srgbClr val="000099"/>
              </a:solidFill>
              <a:miter lim="800000"/>
              <a:headEnd type="triangle" w="med" len="med"/>
            </a:ln>
          </p:spPr>
          <p:txBody>
            <a:bodyPr wrap="none"/>
            <a:lstStyle/>
            <a:p>
              <a:endParaRPr lang="zh-CN" altLang="en-US"/>
            </a:p>
          </p:txBody>
        </p:sp>
        <p:sp>
          <p:nvSpPr>
            <p:cNvPr id="49182" name="Line 57"/>
            <p:cNvSpPr>
              <a:spLocks noChangeShapeType="1"/>
            </p:cNvSpPr>
            <p:nvPr/>
          </p:nvSpPr>
          <p:spPr bwMode="auto">
            <a:xfrm flipV="1">
              <a:off x="3272" y="1844"/>
              <a:ext cx="1477" cy="0"/>
            </a:xfrm>
            <a:prstGeom prst="line">
              <a:avLst/>
            </a:prstGeom>
            <a:noFill/>
            <a:ln w="28575" cap="sq">
              <a:solidFill>
                <a:srgbClr val="000099"/>
              </a:solidFill>
              <a:miter lim="800000"/>
              <a:tailEnd type="triangle" w="med" len="med"/>
            </a:ln>
          </p:spPr>
          <p:txBody>
            <a:bodyPr wrap="none"/>
            <a:lstStyle/>
            <a:p>
              <a:endParaRPr lang="zh-CN" altLang="en-US"/>
            </a:p>
          </p:txBody>
        </p:sp>
        <p:sp>
          <p:nvSpPr>
            <p:cNvPr id="49183" name="Text Box 58"/>
            <p:cNvSpPr txBox="1">
              <a:spLocks noChangeArrowheads="1"/>
            </p:cNvSpPr>
            <p:nvPr/>
          </p:nvSpPr>
          <p:spPr bwMode="auto">
            <a:xfrm>
              <a:off x="3264" y="294"/>
              <a:ext cx="552" cy="250"/>
            </a:xfrm>
            <a:prstGeom prst="rect">
              <a:avLst/>
            </a:prstGeom>
            <a:noFill/>
            <a:ln w="12700" cap="sq">
              <a:noFill/>
              <a:miter lim="800000"/>
              <a:headEnd type="none" w="sm" len="sm"/>
              <a:tailEnd type="none" w="sm" len="sm"/>
            </a:ln>
          </p:spPr>
          <p:txBody>
            <a:bodyPr wrap="none">
              <a:spAutoFit/>
            </a:bodyPr>
            <a:lstStyle/>
            <a:p>
              <a:r>
                <a:rPr kumimoji="1" lang="en-US" altLang="zh-CN" sz="2000" b="1" i="1">
                  <a:solidFill>
                    <a:srgbClr val="000099"/>
                  </a:solidFill>
                </a:rPr>
                <a:t>T</a:t>
              </a:r>
              <a:r>
                <a:rPr kumimoji="1" lang="en-US" altLang="zh-CN" sz="2000" b="1">
                  <a:solidFill>
                    <a:srgbClr val="000099"/>
                  </a:solidFill>
                </a:rPr>
                <a:t>(K</a:t>
              </a:r>
              <a:r>
                <a:rPr kumimoji="1" lang="zh-CN" altLang="en-US" sz="2000" b="1">
                  <a:solidFill>
                    <a:srgbClr val="000099"/>
                  </a:solidFill>
                </a:rPr>
                <a:t>）</a:t>
              </a:r>
              <a:endParaRPr kumimoji="1" lang="zh-CN" altLang="en-US" sz="2000" b="1">
                <a:solidFill>
                  <a:srgbClr val="000099"/>
                </a:solidFill>
              </a:endParaRPr>
            </a:p>
          </p:txBody>
        </p:sp>
        <p:sp>
          <p:nvSpPr>
            <p:cNvPr id="49184" name="Text Box 59"/>
            <p:cNvSpPr txBox="1">
              <a:spLocks noChangeArrowheads="1"/>
            </p:cNvSpPr>
            <p:nvPr/>
          </p:nvSpPr>
          <p:spPr bwMode="auto">
            <a:xfrm>
              <a:off x="4496" y="1598"/>
              <a:ext cx="964" cy="250"/>
            </a:xfrm>
            <a:prstGeom prst="rect">
              <a:avLst/>
            </a:prstGeom>
            <a:noFill/>
            <a:ln w="12700" cap="sq">
              <a:noFill/>
              <a:miter lim="800000"/>
              <a:headEnd type="none" w="sm" len="sm"/>
              <a:tailEnd type="none" w="sm" len="sm"/>
            </a:ln>
          </p:spPr>
          <p:txBody>
            <a:bodyPr>
              <a:spAutoFit/>
            </a:bodyPr>
            <a:lstStyle/>
            <a:p>
              <a:r>
                <a:rPr kumimoji="1" lang="en-US" altLang="zh-CN" sz="2000" b="1" i="1">
                  <a:solidFill>
                    <a:srgbClr val="000099"/>
                  </a:solidFill>
                </a:rPr>
                <a:t>V </a:t>
              </a:r>
              <a:r>
                <a:rPr kumimoji="1" lang="en-US" altLang="zh-CN" sz="2000" b="1">
                  <a:solidFill>
                    <a:srgbClr val="000099"/>
                  </a:solidFill>
                </a:rPr>
                <a:t>(10</a:t>
              </a:r>
              <a:r>
                <a:rPr kumimoji="1" lang="en-US" altLang="zh-CN" sz="2000" b="1" baseline="50000">
                  <a:solidFill>
                    <a:srgbClr val="000099"/>
                  </a:solidFill>
                </a:rPr>
                <a:t>-3</a:t>
              </a:r>
              <a:r>
                <a:rPr kumimoji="1" lang="en-US" altLang="zh-CN" sz="2000" b="1">
                  <a:solidFill>
                    <a:srgbClr val="000099"/>
                  </a:solidFill>
                </a:rPr>
                <a:t>m</a:t>
              </a:r>
              <a:r>
                <a:rPr kumimoji="1" lang="en-US" altLang="zh-CN" sz="2000" b="1" baseline="50000">
                  <a:solidFill>
                    <a:srgbClr val="000099"/>
                  </a:solidFill>
                </a:rPr>
                <a:t>3</a:t>
              </a:r>
              <a:r>
                <a:rPr kumimoji="1" lang="en-US" altLang="zh-CN" sz="2000" b="1">
                  <a:solidFill>
                    <a:srgbClr val="000099"/>
                  </a:solidFill>
                </a:rPr>
                <a:t>)</a:t>
              </a:r>
              <a:endParaRPr kumimoji="1" lang="en-US" altLang="zh-CN" sz="2000" b="1">
                <a:solidFill>
                  <a:srgbClr val="000099"/>
                </a:solidFill>
              </a:endParaRPr>
            </a:p>
          </p:txBody>
        </p:sp>
        <p:sp>
          <p:nvSpPr>
            <p:cNvPr id="49185" name="Text Box 60"/>
            <p:cNvSpPr txBox="1">
              <a:spLocks noChangeArrowheads="1"/>
            </p:cNvSpPr>
            <p:nvPr/>
          </p:nvSpPr>
          <p:spPr bwMode="auto">
            <a:xfrm>
              <a:off x="3073" y="1791"/>
              <a:ext cx="232" cy="250"/>
            </a:xfrm>
            <a:prstGeom prst="rect">
              <a:avLst/>
            </a:prstGeom>
            <a:noFill/>
            <a:ln w="9525">
              <a:noFill/>
              <a:miter lim="800000"/>
            </a:ln>
          </p:spPr>
          <p:txBody>
            <a:bodyPr wrap="none">
              <a:spAutoFit/>
            </a:bodyPr>
            <a:lstStyle/>
            <a:p>
              <a:r>
                <a:rPr lang="en-US" altLang="zh-CN" sz="2000" b="1" i="1">
                  <a:solidFill>
                    <a:srgbClr val="000099"/>
                  </a:solidFill>
                </a:rPr>
                <a:t>O</a:t>
              </a:r>
              <a:endParaRPr lang="en-US" altLang="zh-CN" sz="2000" b="1" i="1">
                <a:solidFill>
                  <a:srgbClr val="000099"/>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7837"/>
                                        </p:tgtEl>
                                        <p:attrNameLst>
                                          <p:attrName>style.visibility</p:attrName>
                                        </p:attrNameLst>
                                      </p:cBhvr>
                                      <p:to>
                                        <p:strVal val="visible"/>
                                      </p:to>
                                    </p:set>
                                    <p:animEffect transition="in" filter="wipe(left)">
                                      <p:cBhvr>
                                        <p:cTn id="7" dur="500"/>
                                        <p:tgtEl>
                                          <p:spTgt spid="2478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7838"/>
                                        </p:tgtEl>
                                        <p:attrNameLst>
                                          <p:attrName>style.visibility</p:attrName>
                                        </p:attrNameLst>
                                      </p:cBhvr>
                                      <p:to>
                                        <p:strVal val="visible"/>
                                      </p:to>
                                    </p:set>
                                    <p:animEffect transition="in" filter="wipe(left)">
                                      <p:cBhvr>
                                        <p:cTn id="12" dur="500"/>
                                        <p:tgtEl>
                                          <p:spTgt spid="2478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7839"/>
                                        </p:tgtEl>
                                        <p:attrNameLst>
                                          <p:attrName>style.visibility</p:attrName>
                                        </p:attrNameLst>
                                      </p:cBhvr>
                                      <p:to>
                                        <p:strVal val="visible"/>
                                      </p:to>
                                    </p:set>
                                    <p:animEffect transition="in" filter="wipe(left)">
                                      <p:cBhvr>
                                        <p:cTn id="17" dur="500"/>
                                        <p:tgtEl>
                                          <p:spTgt spid="2478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7841"/>
                                        </p:tgtEl>
                                        <p:attrNameLst>
                                          <p:attrName>style.visibility</p:attrName>
                                        </p:attrNameLst>
                                      </p:cBhvr>
                                      <p:to>
                                        <p:strVal val="visible"/>
                                      </p:to>
                                    </p:set>
                                    <p:animEffect transition="in" filter="wipe(left)">
                                      <p:cBhvr>
                                        <p:cTn id="22" dur="500"/>
                                        <p:tgtEl>
                                          <p:spTgt spid="2478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7842"/>
                                        </p:tgtEl>
                                        <p:attrNameLst>
                                          <p:attrName>style.visibility</p:attrName>
                                        </p:attrNameLst>
                                      </p:cBhvr>
                                      <p:to>
                                        <p:strVal val="visible"/>
                                      </p:to>
                                    </p:set>
                                    <p:animEffect transition="in" filter="wipe(left)">
                                      <p:cBhvr>
                                        <p:cTn id="27" dur="500"/>
                                        <p:tgtEl>
                                          <p:spTgt spid="24784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47843"/>
                                        </p:tgtEl>
                                        <p:attrNameLst>
                                          <p:attrName>style.visibility</p:attrName>
                                        </p:attrNameLst>
                                      </p:cBhvr>
                                      <p:to>
                                        <p:strVal val="visible"/>
                                      </p:to>
                                    </p:set>
                                    <p:animEffect transition="in" filter="wipe(left)">
                                      <p:cBhvr>
                                        <p:cTn id="32" dur="500"/>
                                        <p:tgtEl>
                                          <p:spTgt spid="24784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7844"/>
                                        </p:tgtEl>
                                        <p:attrNameLst>
                                          <p:attrName>style.visibility</p:attrName>
                                        </p:attrNameLst>
                                      </p:cBhvr>
                                      <p:to>
                                        <p:strVal val="visible"/>
                                      </p:to>
                                    </p:set>
                                    <p:animEffect transition="in" filter="wipe(left)">
                                      <p:cBhvr>
                                        <p:cTn id="37" dur="500"/>
                                        <p:tgtEl>
                                          <p:spTgt spid="2478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7845"/>
                                        </p:tgtEl>
                                        <p:attrNameLst>
                                          <p:attrName>style.visibility</p:attrName>
                                        </p:attrNameLst>
                                      </p:cBhvr>
                                      <p:to>
                                        <p:strVal val="visible"/>
                                      </p:to>
                                    </p:set>
                                    <p:animEffect transition="in" filter="wipe(left)">
                                      <p:cBhvr>
                                        <p:cTn id="42" dur="500"/>
                                        <p:tgtEl>
                                          <p:spTgt spid="24784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47846"/>
                                        </p:tgtEl>
                                        <p:attrNameLst>
                                          <p:attrName>style.visibility</p:attrName>
                                        </p:attrNameLst>
                                      </p:cBhvr>
                                      <p:to>
                                        <p:strVal val="visible"/>
                                      </p:to>
                                    </p:set>
                                    <p:animEffect transition="in" filter="wipe(left)">
                                      <p:cBhvr>
                                        <p:cTn id="47" dur="500"/>
                                        <p:tgtEl>
                                          <p:spTgt spid="2478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47847"/>
                                        </p:tgtEl>
                                        <p:attrNameLst>
                                          <p:attrName>style.visibility</p:attrName>
                                        </p:attrNameLst>
                                      </p:cBhvr>
                                      <p:to>
                                        <p:strVal val="visible"/>
                                      </p:to>
                                    </p:set>
                                    <p:animEffect transition="in" filter="wipe(left)">
                                      <p:cBhvr>
                                        <p:cTn id="52" dur="500"/>
                                        <p:tgtEl>
                                          <p:spTgt spid="24784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7849"/>
                                        </p:tgtEl>
                                        <p:attrNameLst>
                                          <p:attrName>style.visibility</p:attrName>
                                        </p:attrNameLst>
                                      </p:cBhvr>
                                      <p:to>
                                        <p:strVal val="visible"/>
                                      </p:to>
                                    </p:set>
                                    <p:animEffect transition="in" filter="wipe(left)">
                                      <p:cBhvr>
                                        <p:cTn id="57" dur="500"/>
                                        <p:tgtEl>
                                          <p:spTgt spid="24784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7848"/>
                                        </p:tgtEl>
                                        <p:attrNameLst>
                                          <p:attrName>style.visibility</p:attrName>
                                        </p:attrNameLst>
                                      </p:cBhvr>
                                      <p:to>
                                        <p:strVal val="visible"/>
                                      </p:to>
                                    </p:set>
                                    <p:animEffect transition="in" filter="wipe(left)">
                                      <p:cBhvr>
                                        <p:cTn id="62" dur="500"/>
                                        <p:tgtEl>
                                          <p:spTgt spid="24784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47850"/>
                                        </p:tgtEl>
                                        <p:attrNameLst>
                                          <p:attrName>style.visibility</p:attrName>
                                        </p:attrNameLst>
                                      </p:cBhvr>
                                      <p:to>
                                        <p:strVal val="visible"/>
                                      </p:to>
                                    </p:set>
                                    <p:animEffect transition="in" filter="wipe(left)">
                                      <p:cBhvr>
                                        <p:cTn id="67" dur="500"/>
                                        <p:tgtEl>
                                          <p:spTgt spid="247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37" grpId="0"/>
      <p:bldP spid="247842" grpId="0"/>
      <p:bldP spid="247845" grpId="0"/>
      <p:bldP spid="247849"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ChangeArrowheads="1"/>
          </p:cNvSpPr>
          <p:nvPr/>
        </p:nvSpPr>
        <p:spPr bwMode="auto">
          <a:xfrm>
            <a:off x="206375" y="449263"/>
            <a:ext cx="720725" cy="549275"/>
          </a:xfrm>
          <a:prstGeom prst="rect">
            <a:avLst/>
          </a:prstGeom>
          <a:noFill/>
          <a:ln w="9525">
            <a:noFill/>
            <a:miter lim="800000"/>
          </a:ln>
        </p:spPr>
        <p:txBody>
          <a:bodyPr>
            <a:spAutoFit/>
          </a:bodyPr>
          <a:lstStyle/>
          <a:p>
            <a:pPr>
              <a:lnSpc>
                <a:spcPct val="125000"/>
              </a:lnSpc>
              <a:spcBef>
                <a:spcPct val="50000"/>
              </a:spcBef>
            </a:pPr>
            <a:r>
              <a:rPr lang="zh-CN" altLang="en-US" b="1">
                <a:solidFill>
                  <a:srgbClr val="FF0000"/>
                </a:solidFill>
              </a:rPr>
              <a:t>例</a:t>
            </a:r>
            <a:endParaRPr lang="zh-CN" altLang="en-US" b="1"/>
          </a:p>
        </p:txBody>
      </p:sp>
      <p:sp>
        <p:nvSpPr>
          <p:cNvPr id="228355" name="Rectangle 3"/>
          <p:cNvSpPr>
            <a:spLocks noChangeArrowheads="1"/>
          </p:cNvSpPr>
          <p:nvPr/>
        </p:nvSpPr>
        <p:spPr bwMode="auto">
          <a:xfrm>
            <a:off x="835025" y="458788"/>
            <a:ext cx="7516813" cy="1006475"/>
          </a:xfrm>
          <a:prstGeom prst="rect">
            <a:avLst/>
          </a:prstGeom>
          <a:noFill/>
          <a:ln w="9525">
            <a:noFill/>
            <a:miter lim="800000"/>
          </a:ln>
        </p:spPr>
        <p:txBody>
          <a:bodyPr>
            <a:spAutoFit/>
          </a:bodyPr>
          <a:lstStyle/>
          <a:p>
            <a:pPr>
              <a:lnSpc>
                <a:spcPct val="125000"/>
              </a:lnSpc>
              <a:spcBef>
                <a:spcPct val="50000"/>
              </a:spcBef>
            </a:pPr>
            <a:r>
              <a:rPr lang="en-US" altLang="zh-CN" b="1">
                <a:solidFill>
                  <a:srgbClr val="FF6600"/>
                </a:solidFill>
              </a:rPr>
              <a:t>1 mol</a:t>
            </a:r>
            <a:r>
              <a:rPr lang="en-US" altLang="zh-CN" b="1"/>
              <a:t> </a:t>
            </a:r>
            <a:r>
              <a:rPr lang="zh-CN" altLang="en-US" b="1"/>
              <a:t>单原子理想气体如图所示的循环。已知 </a:t>
            </a:r>
            <a:r>
              <a:rPr lang="en-US" altLang="zh-CN" b="1" i="1">
                <a:solidFill>
                  <a:srgbClr val="FF6600"/>
                </a:solidFill>
              </a:rPr>
              <a:t>V</a:t>
            </a:r>
            <a:r>
              <a:rPr lang="en-US" altLang="zh-CN" b="1" i="1" baseline="-25000">
                <a:solidFill>
                  <a:srgbClr val="FF6600"/>
                </a:solidFill>
              </a:rPr>
              <a:t>a</a:t>
            </a:r>
            <a:r>
              <a:rPr lang="en-US" altLang="zh-CN" b="1">
                <a:solidFill>
                  <a:srgbClr val="FF6600"/>
                </a:solidFill>
              </a:rPr>
              <a:t> = </a:t>
            </a:r>
            <a:r>
              <a:rPr lang="en-US" altLang="zh-CN" b="1" i="1">
                <a:solidFill>
                  <a:srgbClr val="FF6600"/>
                </a:solidFill>
              </a:rPr>
              <a:t>V</a:t>
            </a:r>
            <a:r>
              <a:rPr lang="en-US" altLang="zh-CN" b="1" i="1" baseline="-25000">
                <a:solidFill>
                  <a:srgbClr val="FF6600"/>
                </a:solidFill>
              </a:rPr>
              <a:t>b</a:t>
            </a:r>
            <a:r>
              <a:rPr lang="en-US" altLang="zh-CN" b="1">
                <a:solidFill>
                  <a:srgbClr val="FF6600"/>
                </a:solidFill>
              </a:rPr>
              <a:t> = 3L </a:t>
            </a:r>
            <a:r>
              <a:rPr lang="zh-CN" altLang="en-US" b="1"/>
              <a:t>，</a:t>
            </a:r>
            <a:r>
              <a:rPr lang="en-US" altLang="zh-CN" b="1" i="1">
                <a:solidFill>
                  <a:srgbClr val="FF6600"/>
                </a:solidFill>
              </a:rPr>
              <a:t>V</a:t>
            </a:r>
            <a:r>
              <a:rPr lang="en-US" altLang="zh-CN" b="1" i="1" baseline="-25000">
                <a:solidFill>
                  <a:srgbClr val="FF6600"/>
                </a:solidFill>
              </a:rPr>
              <a:t>c</a:t>
            </a:r>
            <a:r>
              <a:rPr lang="en-US" altLang="zh-CN" b="1">
                <a:solidFill>
                  <a:srgbClr val="FF6600"/>
                </a:solidFill>
              </a:rPr>
              <a:t> = 6L</a:t>
            </a:r>
            <a:r>
              <a:rPr lang="en-US" altLang="zh-CN" b="1"/>
              <a:t> </a:t>
            </a:r>
            <a:r>
              <a:rPr lang="zh-CN" altLang="en-US" b="1"/>
              <a:t>。</a:t>
            </a:r>
            <a:r>
              <a:rPr lang="en-US" altLang="zh-CN" b="1" i="1">
                <a:solidFill>
                  <a:srgbClr val="FF6600"/>
                </a:solidFill>
              </a:rPr>
              <a:t>bc</a:t>
            </a:r>
            <a:r>
              <a:rPr lang="en-US" altLang="zh-CN" b="1"/>
              <a:t> </a:t>
            </a:r>
            <a:r>
              <a:rPr lang="zh-CN" altLang="en-US" b="1"/>
              <a:t>为直线，且 </a:t>
            </a:r>
            <a:r>
              <a:rPr lang="en-US" altLang="zh-CN" b="1" i="1">
                <a:solidFill>
                  <a:srgbClr val="FF6600"/>
                </a:solidFill>
              </a:rPr>
              <a:t>T</a:t>
            </a:r>
            <a:r>
              <a:rPr lang="en-US" altLang="zh-CN" b="1" i="1" baseline="-25000">
                <a:solidFill>
                  <a:srgbClr val="FF6600"/>
                </a:solidFill>
              </a:rPr>
              <a:t>b</a:t>
            </a:r>
            <a:r>
              <a:rPr lang="en-US" altLang="zh-CN" b="1">
                <a:solidFill>
                  <a:srgbClr val="FF6600"/>
                </a:solidFill>
              </a:rPr>
              <a:t> = </a:t>
            </a:r>
            <a:r>
              <a:rPr lang="en-US" altLang="zh-CN" b="1" i="1">
                <a:solidFill>
                  <a:srgbClr val="FF6600"/>
                </a:solidFill>
              </a:rPr>
              <a:t>T</a:t>
            </a:r>
            <a:r>
              <a:rPr lang="en-US" altLang="zh-CN" b="1" i="1" baseline="-25000">
                <a:solidFill>
                  <a:srgbClr val="FF6600"/>
                </a:solidFill>
              </a:rPr>
              <a:t>c</a:t>
            </a:r>
            <a:r>
              <a:rPr lang="en-US" altLang="zh-CN" b="1">
                <a:solidFill>
                  <a:srgbClr val="FF6600"/>
                </a:solidFill>
              </a:rPr>
              <a:t> = </a:t>
            </a:r>
            <a:r>
              <a:rPr lang="en-US" altLang="zh-CN" b="1" i="1">
                <a:solidFill>
                  <a:srgbClr val="FF6600"/>
                </a:solidFill>
              </a:rPr>
              <a:t>T</a:t>
            </a:r>
            <a:endParaRPr lang="en-US" altLang="zh-CN" b="1"/>
          </a:p>
        </p:txBody>
      </p:sp>
      <p:sp>
        <p:nvSpPr>
          <p:cNvPr id="228356" name="Rectangle 4"/>
          <p:cNvSpPr>
            <a:spLocks noChangeArrowheads="1"/>
          </p:cNvSpPr>
          <p:nvPr/>
        </p:nvSpPr>
        <p:spPr bwMode="auto">
          <a:xfrm>
            <a:off x="206375" y="1493838"/>
            <a:ext cx="855663" cy="549275"/>
          </a:xfrm>
          <a:prstGeom prst="rect">
            <a:avLst/>
          </a:prstGeom>
          <a:noFill/>
          <a:ln w="9525">
            <a:noFill/>
            <a:miter lim="800000"/>
          </a:ln>
        </p:spPr>
        <p:txBody>
          <a:bodyPr>
            <a:spAutoFit/>
          </a:bodyPr>
          <a:lstStyle/>
          <a:p>
            <a:pPr>
              <a:lnSpc>
                <a:spcPct val="125000"/>
              </a:lnSpc>
              <a:spcBef>
                <a:spcPct val="50000"/>
              </a:spcBef>
            </a:pPr>
            <a:r>
              <a:rPr lang="zh-CN" altLang="en-US" b="1">
                <a:solidFill>
                  <a:srgbClr val="FF0000"/>
                </a:solidFill>
              </a:rPr>
              <a:t>求</a:t>
            </a:r>
            <a:endParaRPr lang="zh-CN" altLang="en-US" b="1"/>
          </a:p>
        </p:txBody>
      </p:sp>
      <p:sp>
        <p:nvSpPr>
          <p:cNvPr id="228357" name="Rectangle 5"/>
          <p:cNvSpPr>
            <a:spLocks noChangeArrowheads="1"/>
          </p:cNvSpPr>
          <p:nvPr/>
        </p:nvSpPr>
        <p:spPr bwMode="auto">
          <a:xfrm>
            <a:off x="836613" y="1493838"/>
            <a:ext cx="2071687" cy="549275"/>
          </a:xfrm>
          <a:prstGeom prst="rect">
            <a:avLst/>
          </a:prstGeom>
          <a:noFill/>
          <a:ln w="9525">
            <a:noFill/>
            <a:miter lim="800000"/>
          </a:ln>
        </p:spPr>
        <p:txBody>
          <a:bodyPr>
            <a:spAutoFit/>
          </a:bodyPr>
          <a:lstStyle/>
          <a:p>
            <a:pPr>
              <a:lnSpc>
                <a:spcPct val="125000"/>
              </a:lnSpc>
              <a:spcBef>
                <a:spcPct val="50000"/>
              </a:spcBef>
            </a:pPr>
            <a:r>
              <a:rPr lang="zh-CN" altLang="en-US" b="1"/>
              <a:t>效率</a:t>
            </a:r>
            <a:r>
              <a:rPr lang="en-US" altLang="zh-CN" b="1" i="1">
                <a:solidFill>
                  <a:srgbClr val="FF6600"/>
                </a:solidFill>
              </a:rPr>
              <a:t>η</a:t>
            </a:r>
            <a:r>
              <a:rPr lang="zh-CN" altLang="en-US" b="1"/>
              <a:t>。</a:t>
            </a:r>
            <a:endParaRPr lang="zh-CN" altLang="en-US" b="1"/>
          </a:p>
        </p:txBody>
      </p:sp>
      <p:grpSp>
        <p:nvGrpSpPr>
          <p:cNvPr id="2" name="Group 6"/>
          <p:cNvGrpSpPr/>
          <p:nvPr/>
        </p:nvGrpSpPr>
        <p:grpSpPr bwMode="auto">
          <a:xfrm>
            <a:off x="6257925" y="1628775"/>
            <a:ext cx="2376488" cy="1908175"/>
            <a:chOff x="4150" y="1752"/>
            <a:chExt cx="1497" cy="1202"/>
          </a:xfrm>
        </p:grpSpPr>
        <p:sp>
          <p:nvSpPr>
            <p:cNvPr id="50217" name="Line 7"/>
            <p:cNvSpPr>
              <a:spLocks noChangeShapeType="1"/>
            </p:cNvSpPr>
            <p:nvPr/>
          </p:nvSpPr>
          <p:spPr bwMode="auto">
            <a:xfrm flipV="1">
              <a:off x="4377" y="1842"/>
              <a:ext cx="0" cy="908"/>
            </a:xfrm>
            <a:prstGeom prst="line">
              <a:avLst/>
            </a:prstGeom>
            <a:noFill/>
            <a:ln w="38100">
              <a:solidFill>
                <a:schemeClr val="tx1"/>
              </a:solidFill>
              <a:round/>
              <a:tailEnd type="triangle" w="med" len="med"/>
            </a:ln>
          </p:spPr>
          <p:txBody>
            <a:bodyPr/>
            <a:lstStyle/>
            <a:p>
              <a:endParaRPr lang="zh-CN" altLang="en-US"/>
            </a:p>
          </p:txBody>
        </p:sp>
        <p:sp>
          <p:nvSpPr>
            <p:cNvPr id="50218" name="Line 8"/>
            <p:cNvSpPr>
              <a:spLocks noChangeShapeType="1"/>
            </p:cNvSpPr>
            <p:nvPr/>
          </p:nvSpPr>
          <p:spPr bwMode="auto">
            <a:xfrm>
              <a:off x="4365" y="2750"/>
              <a:ext cx="1043" cy="0"/>
            </a:xfrm>
            <a:prstGeom prst="line">
              <a:avLst/>
            </a:prstGeom>
            <a:noFill/>
            <a:ln w="38100">
              <a:solidFill>
                <a:schemeClr val="tx1"/>
              </a:solidFill>
              <a:round/>
              <a:tailEnd type="triangle" w="med" len="med"/>
            </a:ln>
          </p:spPr>
          <p:txBody>
            <a:bodyPr/>
            <a:lstStyle/>
            <a:p>
              <a:endParaRPr lang="zh-CN" altLang="en-US"/>
            </a:p>
          </p:txBody>
        </p:sp>
        <p:sp>
          <p:nvSpPr>
            <p:cNvPr id="50219" name="Text Box 9"/>
            <p:cNvSpPr txBox="1">
              <a:spLocks noChangeArrowheads="1"/>
            </p:cNvSpPr>
            <p:nvPr/>
          </p:nvSpPr>
          <p:spPr bwMode="auto">
            <a:xfrm>
              <a:off x="4150" y="2704"/>
              <a:ext cx="408" cy="250"/>
            </a:xfrm>
            <a:prstGeom prst="rect">
              <a:avLst/>
            </a:prstGeom>
            <a:noFill/>
            <a:ln w="9525">
              <a:noFill/>
              <a:miter lim="800000"/>
            </a:ln>
          </p:spPr>
          <p:txBody>
            <a:bodyPr>
              <a:spAutoFit/>
            </a:bodyPr>
            <a:lstStyle/>
            <a:p>
              <a:r>
                <a:rPr lang="en-US" altLang="zh-CN" sz="2000" b="1" i="1"/>
                <a:t>O</a:t>
              </a:r>
              <a:endParaRPr lang="en-US" altLang="zh-CN" sz="2000" b="1" i="1"/>
            </a:p>
          </p:txBody>
        </p:sp>
        <p:sp>
          <p:nvSpPr>
            <p:cNvPr id="50220" name="Text Box 10"/>
            <p:cNvSpPr txBox="1">
              <a:spLocks noChangeArrowheads="1"/>
            </p:cNvSpPr>
            <p:nvPr/>
          </p:nvSpPr>
          <p:spPr bwMode="auto">
            <a:xfrm>
              <a:off x="4150" y="1752"/>
              <a:ext cx="272" cy="250"/>
            </a:xfrm>
            <a:prstGeom prst="rect">
              <a:avLst/>
            </a:prstGeom>
            <a:noFill/>
            <a:ln w="9525">
              <a:noFill/>
              <a:miter lim="800000"/>
            </a:ln>
          </p:spPr>
          <p:txBody>
            <a:bodyPr>
              <a:spAutoFit/>
            </a:bodyPr>
            <a:lstStyle/>
            <a:p>
              <a:r>
                <a:rPr lang="en-US" altLang="zh-CN" sz="2000" b="1" i="1"/>
                <a:t>p</a:t>
              </a:r>
              <a:endParaRPr lang="en-US" altLang="zh-CN" sz="2000" b="1" i="1"/>
            </a:p>
          </p:txBody>
        </p:sp>
        <p:sp>
          <p:nvSpPr>
            <p:cNvPr id="50221" name="Text Box 11"/>
            <p:cNvSpPr txBox="1">
              <a:spLocks noChangeArrowheads="1"/>
            </p:cNvSpPr>
            <p:nvPr/>
          </p:nvSpPr>
          <p:spPr bwMode="auto">
            <a:xfrm>
              <a:off x="5329" y="2704"/>
              <a:ext cx="318" cy="250"/>
            </a:xfrm>
            <a:prstGeom prst="rect">
              <a:avLst/>
            </a:prstGeom>
            <a:noFill/>
            <a:ln w="9525">
              <a:noFill/>
              <a:miter lim="800000"/>
            </a:ln>
          </p:spPr>
          <p:txBody>
            <a:bodyPr>
              <a:spAutoFit/>
            </a:bodyPr>
            <a:lstStyle/>
            <a:p>
              <a:r>
                <a:rPr lang="en-US" altLang="zh-CN" sz="2000" b="1" i="1"/>
                <a:t>V</a:t>
              </a:r>
              <a:endParaRPr lang="en-US" altLang="zh-CN" sz="2000" b="1" i="1"/>
            </a:p>
          </p:txBody>
        </p:sp>
      </p:grpSp>
      <p:sp>
        <p:nvSpPr>
          <p:cNvPr id="228364" name="Line 12"/>
          <p:cNvSpPr>
            <a:spLocks noChangeShapeType="1"/>
          </p:cNvSpPr>
          <p:nvPr/>
        </p:nvSpPr>
        <p:spPr bwMode="auto">
          <a:xfrm>
            <a:off x="7140575" y="2563813"/>
            <a:ext cx="0" cy="649287"/>
          </a:xfrm>
          <a:prstGeom prst="line">
            <a:avLst/>
          </a:prstGeom>
          <a:noFill/>
          <a:ln w="9525">
            <a:solidFill>
              <a:schemeClr val="tx1"/>
            </a:solidFill>
            <a:prstDash val="dash"/>
            <a:round/>
          </a:ln>
        </p:spPr>
        <p:txBody>
          <a:bodyPr/>
          <a:lstStyle/>
          <a:p>
            <a:endParaRPr lang="zh-CN" altLang="en-US"/>
          </a:p>
        </p:txBody>
      </p:sp>
      <p:sp>
        <p:nvSpPr>
          <p:cNvPr id="228365" name="Line 13"/>
          <p:cNvSpPr>
            <a:spLocks noChangeShapeType="1"/>
          </p:cNvSpPr>
          <p:nvPr/>
        </p:nvSpPr>
        <p:spPr bwMode="auto">
          <a:xfrm>
            <a:off x="7697788" y="2708275"/>
            <a:ext cx="0" cy="504825"/>
          </a:xfrm>
          <a:prstGeom prst="line">
            <a:avLst/>
          </a:prstGeom>
          <a:noFill/>
          <a:ln w="9525">
            <a:solidFill>
              <a:schemeClr val="tx1"/>
            </a:solidFill>
            <a:prstDash val="dash"/>
            <a:round/>
          </a:ln>
        </p:spPr>
        <p:txBody>
          <a:bodyPr/>
          <a:lstStyle/>
          <a:p>
            <a:endParaRPr lang="zh-CN" altLang="en-US"/>
          </a:p>
        </p:txBody>
      </p:sp>
      <p:sp>
        <p:nvSpPr>
          <p:cNvPr id="228366" name="Line 14"/>
          <p:cNvSpPr>
            <a:spLocks noChangeShapeType="1"/>
          </p:cNvSpPr>
          <p:nvPr/>
        </p:nvSpPr>
        <p:spPr bwMode="auto">
          <a:xfrm rot="-5400000">
            <a:off x="6869907" y="1889919"/>
            <a:ext cx="0" cy="484187"/>
          </a:xfrm>
          <a:prstGeom prst="line">
            <a:avLst/>
          </a:prstGeom>
          <a:noFill/>
          <a:ln w="9525">
            <a:solidFill>
              <a:schemeClr val="tx1"/>
            </a:solidFill>
            <a:prstDash val="dash"/>
            <a:round/>
          </a:ln>
        </p:spPr>
        <p:txBody>
          <a:bodyPr/>
          <a:lstStyle/>
          <a:p>
            <a:endParaRPr lang="zh-CN" altLang="en-US"/>
          </a:p>
        </p:txBody>
      </p:sp>
      <p:sp>
        <p:nvSpPr>
          <p:cNvPr id="228367" name="Line 15"/>
          <p:cNvSpPr>
            <a:spLocks noChangeShapeType="1"/>
          </p:cNvSpPr>
          <p:nvPr/>
        </p:nvSpPr>
        <p:spPr bwMode="auto">
          <a:xfrm rot="-5400000">
            <a:off x="6906419" y="2420144"/>
            <a:ext cx="0" cy="576262"/>
          </a:xfrm>
          <a:prstGeom prst="line">
            <a:avLst/>
          </a:prstGeom>
          <a:noFill/>
          <a:ln w="9525">
            <a:solidFill>
              <a:schemeClr val="tx1"/>
            </a:solidFill>
            <a:prstDash val="dash"/>
            <a:round/>
          </a:ln>
        </p:spPr>
        <p:txBody>
          <a:bodyPr/>
          <a:lstStyle/>
          <a:p>
            <a:endParaRPr lang="zh-CN" altLang="en-US"/>
          </a:p>
        </p:txBody>
      </p:sp>
      <p:grpSp>
        <p:nvGrpSpPr>
          <p:cNvPr id="3" name="Group 16"/>
          <p:cNvGrpSpPr/>
          <p:nvPr/>
        </p:nvGrpSpPr>
        <p:grpSpPr bwMode="auto">
          <a:xfrm>
            <a:off x="7121525" y="2132013"/>
            <a:ext cx="4763" cy="576262"/>
            <a:chOff x="4694" y="2069"/>
            <a:chExt cx="3" cy="363"/>
          </a:xfrm>
        </p:grpSpPr>
        <p:sp>
          <p:nvSpPr>
            <p:cNvPr id="50215" name="Line 17"/>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50216" name="Line 18"/>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grpSp>
        <p:nvGrpSpPr>
          <p:cNvPr id="4" name="Group 19"/>
          <p:cNvGrpSpPr/>
          <p:nvPr/>
        </p:nvGrpSpPr>
        <p:grpSpPr bwMode="auto">
          <a:xfrm>
            <a:off x="7410450" y="2009775"/>
            <a:ext cx="52388" cy="806450"/>
            <a:chOff x="4934" y="1856"/>
            <a:chExt cx="33" cy="508"/>
          </a:xfrm>
        </p:grpSpPr>
        <p:sp>
          <p:nvSpPr>
            <p:cNvPr id="50213" name="Line 20"/>
            <p:cNvSpPr>
              <a:spLocks noChangeShapeType="1"/>
            </p:cNvSpPr>
            <p:nvPr/>
          </p:nvSpPr>
          <p:spPr bwMode="auto">
            <a:xfrm rot="-2700000">
              <a:off x="4934" y="1856"/>
              <a:ext cx="0" cy="508"/>
            </a:xfrm>
            <a:prstGeom prst="line">
              <a:avLst/>
            </a:prstGeom>
            <a:noFill/>
            <a:ln w="38100">
              <a:solidFill>
                <a:srgbClr val="3333CC"/>
              </a:solidFill>
              <a:round/>
            </a:ln>
          </p:spPr>
          <p:txBody>
            <a:bodyPr/>
            <a:lstStyle/>
            <a:p>
              <a:endParaRPr lang="zh-CN" altLang="en-US"/>
            </a:p>
          </p:txBody>
        </p:sp>
        <p:sp>
          <p:nvSpPr>
            <p:cNvPr id="50214" name="Line 21"/>
            <p:cNvSpPr>
              <a:spLocks noChangeShapeType="1"/>
            </p:cNvSpPr>
            <p:nvPr/>
          </p:nvSpPr>
          <p:spPr bwMode="auto">
            <a:xfrm rot="-2700000">
              <a:off x="4967" y="2117"/>
              <a:ext cx="0" cy="43"/>
            </a:xfrm>
            <a:prstGeom prst="line">
              <a:avLst/>
            </a:prstGeom>
            <a:noFill/>
            <a:ln w="38100">
              <a:solidFill>
                <a:srgbClr val="3333CC"/>
              </a:solidFill>
              <a:round/>
              <a:tailEnd type="triangle" w="med" len="med"/>
            </a:ln>
          </p:spPr>
          <p:txBody>
            <a:bodyPr/>
            <a:lstStyle/>
            <a:p>
              <a:endParaRPr lang="zh-CN" altLang="en-US"/>
            </a:p>
          </p:txBody>
        </p:sp>
      </p:grpSp>
      <p:grpSp>
        <p:nvGrpSpPr>
          <p:cNvPr id="5" name="Group 22"/>
          <p:cNvGrpSpPr/>
          <p:nvPr/>
        </p:nvGrpSpPr>
        <p:grpSpPr bwMode="auto">
          <a:xfrm rot="-5400000">
            <a:off x="7407276" y="2417762"/>
            <a:ext cx="4762" cy="576263"/>
            <a:chOff x="4694" y="2069"/>
            <a:chExt cx="3" cy="363"/>
          </a:xfrm>
        </p:grpSpPr>
        <p:sp>
          <p:nvSpPr>
            <p:cNvPr id="50211" name="Line 23"/>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50212" name="Line 24"/>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sp>
        <p:nvSpPr>
          <p:cNvPr id="228377" name="Text Box 25"/>
          <p:cNvSpPr txBox="1">
            <a:spLocks noChangeArrowheads="1"/>
          </p:cNvSpPr>
          <p:nvPr/>
        </p:nvSpPr>
        <p:spPr bwMode="auto">
          <a:xfrm>
            <a:off x="6905625" y="3175000"/>
            <a:ext cx="741363" cy="396875"/>
          </a:xfrm>
          <a:prstGeom prst="rect">
            <a:avLst/>
          </a:prstGeom>
          <a:noFill/>
          <a:ln w="9525">
            <a:noFill/>
            <a:miter lim="800000"/>
          </a:ln>
        </p:spPr>
        <p:txBody>
          <a:bodyPr>
            <a:spAutoFit/>
          </a:bodyPr>
          <a:lstStyle/>
          <a:p>
            <a:r>
              <a:rPr lang="en-US" altLang="zh-CN" sz="2000" b="1" i="1">
                <a:solidFill>
                  <a:srgbClr val="0000FF"/>
                </a:solidFill>
              </a:rPr>
              <a:t>V</a:t>
            </a:r>
            <a:r>
              <a:rPr lang="en-US" altLang="zh-CN" sz="2000" b="1" i="1" baseline="-25000">
                <a:solidFill>
                  <a:srgbClr val="0000FF"/>
                </a:solidFill>
              </a:rPr>
              <a:t>a</a:t>
            </a:r>
            <a:endParaRPr lang="en-US" altLang="zh-CN" sz="2000" b="1" i="1" baseline="-25000">
              <a:solidFill>
                <a:srgbClr val="0000FF"/>
              </a:solidFill>
            </a:endParaRPr>
          </a:p>
        </p:txBody>
      </p:sp>
      <p:sp>
        <p:nvSpPr>
          <p:cNvPr id="228378" name="Text Box 26"/>
          <p:cNvSpPr txBox="1">
            <a:spLocks noChangeArrowheads="1"/>
          </p:cNvSpPr>
          <p:nvPr/>
        </p:nvSpPr>
        <p:spPr bwMode="auto">
          <a:xfrm>
            <a:off x="7496175" y="3168650"/>
            <a:ext cx="741363" cy="396875"/>
          </a:xfrm>
          <a:prstGeom prst="rect">
            <a:avLst/>
          </a:prstGeom>
          <a:noFill/>
          <a:ln w="9525">
            <a:noFill/>
            <a:miter lim="800000"/>
          </a:ln>
        </p:spPr>
        <p:txBody>
          <a:bodyPr>
            <a:spAutoFit/>
          </a:bodyPr>
          <a:lstStyle/>
          <a:p>
            <a:r>
              <a:rPr lang="en-US" altLang="zh-CN" sz="2000" b="1" i="1">
                <a:solidFill>
                  <a:srgbClr val="0000FF"/>
                </a:solidFill>
              </a:rPr>
              <a:t>V</a:t>
            </a:r>
            <a:r>
              <a:rPr lang="en-US" altLang="zh-CN" sz="2000" b="1" i="1" baseline="-25000">
                <a:solidFill>
                  <a:srgbClr val="0000FF"/>
                </a:solidFill>
              </a:rPr>
              <a:t>c</a:t>
            </a:r>
            <a:endParaRPr lang="en-US" altLang="zh-CN" sz="2000" b="1" i="1" baseline="-25000">
              <a:solidFill>
                <a:srgbClr val="0000FF"/>
              </a:solidFill>
            </a:endParaRPr>
          </a:p>
        </p:txBody>
      </p:sp>
      <p:sp>
        <p:nvSpPr>
          <p:cNvPr id="228379" name="Text Box 27"/>
          <p:cNvSpPr txBox="1">
            <a:spLocks noChangeArrowheads="1"/>
          </p:cNvSpPr>
          <p:nvPr/>
        </p:nvSpPr>
        <p:spPr bwMode="auto">
          <a:xfrm>
            <a:off x="6237288" y="2420938"/>
            <a:ext cx="741362" cy="396875"/>
          </a:xfrm>
          <a:prstGeom prst="rect">
            <a:avLst/>
          </a:prstGeom>
          <a:noFill/>
          <a:ln w="9525">
            <a:noFill/>
            <a:miter lim="800000"/>
          </a:ln>
        </p:spPr>
        <p:txBody>
          <a:bodyPr>
            <a:spAutoFit/>
          </a:bodyPr>
          <a:lstStyle/>
          <a:p>
            <a:r>
              <a:rPr lang="en-US" altLang="zh-CN" sz="2000" b="1" i="1">
                <a:solidFill>
                  <a:srgbClr val="0000FF"/>
                </a:solidFill>
              </a:rPr>
              <a:t>p</a:t>
            </a:r>
            <a:r>
              <a:rPr lang="en-US" altLang="zh-CN" sz="2000" b="1" i="1" baseline="-25000">
                <a:solidFill>
                  <a:srgbClr val="0000FF"/>
                </a:solidFill>
              </a:rPr>
              <a:t>a</a:t>
            </a:r>
            <a:endParaRPr lang="en-US" altLang="zh-CN" sz="2000" b="1" i="1" baseline="-25000">
              <a:solidFill>
                <a:srgbClr val="0000FF"/>
              </a:solidFill>
            </a:endParaRPr>
          </a:p>
        </p:txBody>
      </p:sp>
      <p:sp>
        <p:nvSpPr>
          <p:cNvPr id="228380" name="Text Box 28"/>
          <p:cNvSpPr txBox="1">
            <a:spLocks noChangeArrowheads="1"/>
          </p:cNvSpPr>
          <p:nvPr/>
        </p:nvSpPr>
        <p:spPr bwMode="auto">
          <a:xfrm>
            <a:off x="6237288" y="1916113"/>
            <a:ext cx="741362" cy="396875"/>
          </a:xfrm>
          <a:prstGeom prst="rect">
            <a:avLst/>
          </a:prstGeom>
          <a:noFill/>
          <a:ln w="9525">
            <a:noFill/>
            <a:miter lim="800000"/>
          </a:ln>
        </p:spPr>
        <p:txBody>
          <a:bodyPr>
            <a:spAutoFit/>
          </a:bodyPr>
          <a:lstStyle/>
          <a:p>
            <a:r>
              <a:rPr lang="en-US" altLang="zh-CN" sz="2000" b="1" i="1">
                <a:solidFill>
                  <a:srgbClr val="0000FF"/>
                </a:solidFill>
              </a:rPr>
              <a:t>p</a:t>
            </a:r>
            <a:r>
              <a:rPr lang="en-US" altLang="zh-CN" sz="2000" b="1" i="1" baseline="-25000">
                <a:solidFill>
                  <a:srgbClr val="0000FF"/>
                </a:solidFill>
              </a:rPr>
              <a:t>b</a:t>
            </a:r>
            <a:endParaRPr lang="en-US" altLang="zh-CN" sz="2000" b="1" i="1" baseline="-25000">
              <a:solidFill>
                <a:srgbClr val="0000FF"/>
              </a:solidFill>
            </a:endParaRPr>
          </a:p>
        </p:txBody>
      </p:sp>
      <p:sp>
        <p:nvSpPr>
          <p:cNvPr id="228381" name="Text Box 29"/>
          <p:cNvSpPr txBox="1">
            <a:spLocks noChangeArrowheads="1"/>
          </p:cNvSpPr>
          <p:nvPr/>
        </p:nvSpPr>
        <p:spPr bwMode="auto">
          <a:xfrm>
            <a:off x="6905625" y="2636838"/>
            <a:ext cx="741363" cy="396875"/>
          </a:xfrm>
          <a:prstGeom prst="rect">
            <a:avLst/>
          </a:prstGeom>
          <a:noFill/>
          <a:ln w="9525">
            <a:noFill/>
            <a:miter lim="800000"/>
          </a:ln>
        </p:spPr>
        <p:txBody>
          <a:bodyPr>
            <a:spAutoFit/>
          </a:bodyPr>
          <a:lstStyle/>
          <a:p>
            <a:r>
              <a:rPr lang="en-US" altLang="zh-CN" sz="2000" b="1" i="1">
                <a:solidFill>
                  <a:srgbClr val="FF0000"/>
                </a:solidFill>
              </a:rPr>
              <a:t>a</a:t>
            </a:r>
            <a:endParaRPr lang="en-US" altLang="zh-CN" sz="2000" b="1" i="1" baseline="-25000">
              <a:solidFill>
                <a:srgbClr val="FF0000"/>
              </a:solidFill>
            </a:endParaRPr>
          </a:p>
        </p:txBody>
      </p:sp>
      <p:sp>
        <p:nvSpPr>
          <p:cNvPr id="228382" name="Text Box 30"/>
          <p:cNvSpPr txBox="1">
            <a:spLocks noChangeArrowheads="1"/>
          </p:cNvSpPr>
          <p:nvPr/>
        </p:nvSpPr>
        <p:spPr bwMode="auto">
          <a:xfrm>
            <a:off x="6905625" y="1771650"/>
            <a:ext cx="741363" cy="396875"/>
          </a:xfrm>
          <a:prstGeom prst="rect">
            <a:avLst/>
          </a:prstGeom>
          <a:noFill/>
          <a:ln w="9525">
            <a:noFill/>
            <a:miter lim="800000"/>
          </a:ln>
        </p:spPr>
        <p:txBody>
          <a:bodyPr>
            <a:spAutoFit/>
          </a:bodyPr>
          <a:lstStyle/>
          <a:p>
            <a:r>
              <a:rPr lang="en-US" altLang="zh-CN" sz="2000" b="1" i="1">
                <a:solidFill>
                  <a:srgbClr val="FF0000"/>
                </a:solidFill>
              </a:rPr>
              <a:t>b</a:t>
            </a:r>
            <a:endParaRPr lang="en-US" altLang="zh-CN" sz="2000" b="1" i="1" baseline="-25000">
              <a:solidFill>
                <a:srgbClr val="FF0000"/>
              </a:solidFill>
            </a:endParaRPr>
          </a:p>
        </p:txBody>
      </p:sp>
      <p:sp>
        <p:nvSpPr>
          <p:cNvPr id="228383" name="Text Box 31"/>
          <p:cNvSpPr txBox="1">
            <a:spLocks noChangeArrowheads="1"/>
          </p:cNvSpPr>
          <p:nvPr/>
        </p:nvSpPr>
        <p:spPr bwMode="auto">
          <a:xfrm>
            <a:off x="7677150" y="2563813"/>
            <a:ext cx="741363" cy="396875"/>
          </a:xfrm>
          <a:prstGeom prst="rect">
            <a:avLst/>
          </a:prstGeom>
          <a:noFill/>
          <a:ln w="9525">
            <a:noFill/>
            <a:miter lim="800000"/>
          </a:ln>
        </p:spPr>
        <p:txBody>
          <a:bodyPr>
            <a:spAutoFit/>
          </a:bodyPr>
          <a:lstStyle/>
          <a:p>
            <a:r>
              <a:rPr lang="en-US" altLang="zh-CN" sz="2000" b="1" i="1">
                <a:solidFill>
                  <a:srgbClr val="FF0000"/>
                </a:solidFill>
              </a:rPr>
              <a:t>c</a:t>
            </a:r>
            <a:endParaRPr lang="en-US" altLang="zh-CN" sz="2000" b="1" i="1" baseline="-25000">
              <a:solidFill>
                <a:srgbClr val="FF0000"/>
              </a:solidFill>
            </a:endParaRPr>
          </a:p>
        </p:txBody>
      </p:sp>
      <p:sp>
        <p:nvSpPr>
          <p:cNvPr id="228384" name="Text Box 32"/>
          <p:cNvSpPr txBox="1">
            <a:spLocks noChangeArrowheads="1"/>
          </p:cNvSpPr>
          <p:nvPr/>
        </p:nvSpPr>
        <p:spPr bwMode="auto">
          <a:xfrm>
            <a:off x="206375" y="2214563"/>
            <a:ext cx="955675" cy="457200"/>
          </a:xfrm>
          <a:prstGeom prst="rect">
            <a:avLst/>
          </a:prstGeom>
          <a:noFill/>
          <a:ln w="9525">
            <a:noFill/>
            <a:miter lim="800000"/>
          </a:ln>
        </p:spPr>
        <p:txBody>
          <a:bodyPr>
            <a:spAutoFit/>
          </a:bodyPr>
          <a:lstStyle/>
          <a:p>
            <a:r>
              <a:rPr lang="zh-CN" altLang="en-US" b="1">
                <a:solidFill>
                  <a:srgbClr val="FF0000"/>
                </a:solidFill>
              </a:rPr>
              <a:t>解</a:t>
            </a:r>
            <a:endParaRPr lang="zh-CN" altLang="en-US" b="1"/>
          </a:p>
        </p:txBody>
      </p:sp>
      <p:sp>
        <p:nvSpPr>
          <p:cNvPr id="228385" name="Rectangle 33"/>
          <p:cNvSpPr>
            <a:spLocks noChangeArrowheads="1"/>
          </p:cNvSpPr>
          <p:nvPr/>
        </p:nvSpPr>
        <p:spPr bwMode="auto">
          <a:xfrm>
            <a:off x="835025" y="2114550"/>
            <a:ext cx="2881313" cy="549275"/>
          </a:xfrm>
          <a:prstGeom prst="rect">
            <a:avLst/>
          </a:prstGeom>
          <a:noFill/>
          <a:ln w="9525">
            <a:noFill/>
            <a:miter lim="800000"/>
          </a:ln>
        </p:spPr>
        <p:txBody>
          <a:bodyPr>
            <a:spAutoFit/>
          </a:bodyPr>
          <a:lstStyle/>
          <a:p>
            <a:pPr>
              <a:lnSpc>
                <a:spcPct val="125000"/>
              </a:lnSpc>
              <a:spcBef>
                <a:spcPct val="50000"/>
              </a:spcBef>
              <a:defRPr/>
            </a:pPr>
            <a:r>
              <a:rPr lang="zh-CN" altLang="en-US" b="1" dirty="0">
                <a:latin typeface="+mn-ea"/>
                <a:ea typeface="+mn-ea"/>
              </a:rPr>
              <a:t>由题已知，得</a:t>
            </a:r>
            <a:endParaRPr lang="zh-CN" altLang="en-US" b="1" dirty="0">
              <a:latin typeface="+mn-ea"/>
              <a:ea typeface="+mn-ea"/>
            </a:endParaRPr>
          </a:p>
        </p:txBody>
      </p:sp>
      <p:graphicFrame>
        <p:nvGraphicFramePr>
          <p:cNvPr id="228386" name="Object 34"/>
          <p:cNvGraphicFramePr>
            <a:graphicFrameLocks noChangeAspect="1"/>
          </p:cNvGraphicFramePr>
          <p:nvPr/>
        </p:nvGraphicFramePr>
        <p:xfrm>
          <a:off x="1062038" y="3452813"/>
          <a:ext cx="1076325" cy="733425"/>
        </p:xfrm>
        <a:graphic>
          <a:graphicData uri="http://schemas.openxmlformats.org/presentationml/2006/ole">
            <mc:AlternateContent xmlns:mc="http://schemas.openxmlformats.org/markup-compatibility/2006">
              <mc:Choice xmlns:v="urn:schemas-microsoft-com:vml" Requires="v">
                <p:oleObj spid="_x0000_s50177" name="公式" r:id="rId1" imgW="14325600" imgH="9753600" progId="Equation.3">
                  <p:embed/>
                </p:oleObj>
              </mc:Choice>
              <mc:Fallback>
                <p:oleObj name="公式" r:id="rId1" imgW="14325600" imgH="9753600" progId="Equation.3">
                  <p:embed/>
                  <p:pic>
                    <p:nvPicPr>
                      <p:cNvPr id="0" name="Object 34"/>
                      <p:cNvPicPr>
                        <a:picLocks noChangeAspect="1"/>
                      </p:cNvPicPr>
                      <p:nvPr/>
                    </p:nvPicPr>
                    <p:blipFill>
                      <a:blip r:embed="rId2"/>
                      <a:stretch>
                        <a:fillRect/>
                      </a:stretch>
                    </p:blipFill>
                    <p:spPr>
                      <a:xfrm>
                        <a:off x="1062038" y="3452813"/>
                        <a:ext cx="1076325" cy="733425"/>
                      </a:xfrm>
                      <a:prstGeom prst="rect">
                        <a:avLst/>
                      </a:prstGeom>
                      <a:noFill/>
                      <a:ln w="9525">
                        <a:noFill/>
                      </a:ln>
                    </p:spPr>
                  </p:pic>
                </p:oleObj>
              </mc:Fallback>
            </mc:AlternateContent>
          </a:graphicData>
        </a:graphic>
      </p:graphicFrame>
      <p:graphicFrame>
        <p:nvGraphicFramePr>
          <p:cNvPr id="228387" name="Object 35"/>
          <p:cNvGraphicFramePr>
            <a:graphicFrameLocks noChangeAspect="1"/>
          </p:cNvGraphicFramePr>
          <p:nvPr/>
        </p:nvGraphicFramePr>
        <p:xfrm>
          <a:off x="1154113" y="4364038"/>
          <a:ext cx="917575" cy="414337"/>
        </p:xfrm>
        <a:graphic>
          <a:graphicData uri="http://schemas.openxmlformats.org/presentationml/2006/ole">
            <mc:AlternateContent xmlns:mc="http://schemas.openxmlformats.org/markup-compatibility/2006">
              <mc:Choice xmlns:v="urn:schemas-microsoft-com:vml" Requires="v">
                <p:oleObj spid="_x0000_s50179" name="公式" r:id="rId3" imgW="12192000" imgH="5486400" progId="Equation.3">
                  <p:embed/>
                </p:oleObj>
              </mc:Choice>
              <mc:Fallback>
                <p:oleObj name="公式" r:id="rId3" imgW="12192000" imgH="5486400" progId="Equation.3">
                  <p:embed/>
                  <p:pic>
                    <p:nvPicPr>
                      <p:cNvPr id="0" name="Object 35"/>
                      <p:cNvPicPr>
                        <a:picLocks noChangeAspect="1"/>
                      </p:cNvPicPr>
                      <p:nvPr/>
                    </p:nvPicPr>
                    <p:blipFill>
                      <a:blip r:embed="rId4"/>
                      <a:stretch>
                        <a:fillRect/>
                      </a:stretch>
                    </p:blipFill>
                    <p:spPr>
                      <a:xfrm>
                        <a:off x="1154113" y="4364038"/>
                        <a:ext cx="917575" cy="414337"/>
                      </a:xfrm>
                      <a:prstGeom prst="rect">
                        <a:avLst/>
                      </a:prstGeom>
                      <a:noFill/>
                      <a:ln w="9525">
                        <a:noFill/>
                      </a:ln>
                    </p:spPr>
                  </p:pic>
                </p:oleObj>
              </mc:Fallback>
            </mc:AlternateContent>
          </a:graphicData>
        </a:graphic>
      </p:graphicFrame>
      <p:sp>
        <p:nvSpPr>
          <p:cNvPr id="228388" name="AutoShape 36"/>
          <p:cNvSpPr/>
          <p:nvPr/>
        </p:nvSpPr>
        <p:spPr bwMode="auto">
          <a:xfrm>
            <a:off x="2298700" y="3806825"/>
            <a:ext cx="142875" cy="792163"/>
          </a:xfrm>
          <a:prstGeom prst="rightBrace">
            <a:avLst>
              <a:gd name="adj1" fmla="val 46204"/>
              <a:gd name="adj2" fmla="val 50000"/>
            </a:avLst>
          </a:prstGeom>
          <a:noFill/>
          <a:ln w="25400">
            <a:solidFill>
              <a:schemeClr val="tx1"/>
            </a:solidFill>
            <a:round/>
          </a:ln>
        </p:spPr>
        <p:txBody>
          <a:bodyPr wrap="none" anchor="ctr"/>
          <a:lstStyle/>
          <a:p>
            <a:pPr algn="ctr"/>
            <a:endParaRPr lang="zh-CN" altLang="en-US"/>
          </a:p>
        </p:txBody>
      </p:sp>
      <p:sp>
        <p:nvSpPr>
          <p:cNvPr id="228389" name="AutoShape 37"/>
          <p:cNvSpPr>
            <a:spLocks noChangeArrowheads="1"/>
          </p:cNvSpPr>
          <p:nvPr/>
        </p:nvSpPr>
        <p:spPr bwMode="auto">
          <a:xfrm>
            <a:off x="2587625" y="4094163"/>
            <a:ext cx="503238" cy="215900"/>
          </a:xfrm>
          <a:prstGeom prst="rightArrow">
            <a:avLst>
              <a:gd name="adj1" fmla="val 50000"/>
              <a:gd name="adj2" fmla="val 58272"/>
            </a:avLst>
          </a:prstGeom>
          <a:solidFill>
            <a:srgbClr val="0000FF"/>
          </a:solidFill>
          <a:ln w="9525">
            <a:solidFill>
              <a:schemeClr val="tx1"/>
            </a:solidFill>
            <a:miter lim="800000"/>
          </a:ln>
        </p:spPr>
        <p:txBody>
          <a:bodyPr wrap="none" anchor="ctr"/>
          <a:lstStyle/>
          <a:p>
            <a:pPr algn="ctr"/>
            <a:endParaRPr lang="zh-CN" altLang="en-US"/>
          </a:p>
        </p:txBody>
      </p:sp>
      <p:graphicFrame>
        <p:nvGraphicFramePr>
          <p:cNvPr id="228390" name="Object 38"/>
          <p:cNvGraphicFramePr>
            <a:graphicFrameLocks noChangeAspect="1"/>
          </p:cNvGraphicFramePr>
          <p:nvPr/>
        </p:nvGraphicFramePr>
        <p:xfrm>
          <a:off x="3197225" y="3824288"/>
          <a:ext cx="1763713" cy="733425"/>
        </p:xfrm>
        <a:graphic>
          <a:graphicData uri="http://schemas.openxmlformats.org/presentationml/2006/ole">
            <mc:AlternateContent xmlns:mc="http://schemas.openxmlformats.org/markup-compatibility/2006">
              <mc:Choice xmlns:v="urn:schemas-microsoft-com:vml" Requires="v">
                <p:oleObj spid="_x0000_s50180" name="公式" r:id="rId5" imgW="23469600" imgH="9753600" progId="Equation.3">
                  <p:embed/>
                </p:oleObj>
              </mc:Choice>
              <mc:Fallback>
                <p:oleObj name="公式" r:id="rId5" imgW="23469600" imgH="9753600" progId="Equation.3">
                  <p:embed/>
                  <p:pic>
                    <p:nvPicPr>
                      <p:cNvPr id="0" name="Object 38"/>
                      <p:cNvPicPr>
                        <a:picLocks noChangeAspect="1"/>
                      </p:cNvPicPr>
                      <p:nvPr/>
                    </p:nvPicPr>
                    <p:blipFill>
                      <a:blip r:embed="rId6"/>
                      <a:stretch>
                        <a:fillRect/>
                      </a:stretch>
                    </p:blipFill>
                    <p:spPr>
                      <a:xfrm>
                        <a:off x="3197225" y="3824288"/>
                        <a:ext cx="1763713" cy="733425"/>
                      </a:xfrm>
                      <a:prstGeom prst="rect">
                        <a:avLst/>
                      </a:prstGeom>
                      <a:noFill/>
                      <a:ln w="9525">
                        <a:noFill/>
                      </a:ln>
                    </p:spPr>
                  </p:pic>
                </p:oleObj>
              </mc:Fallback>
            </mc:AlternateContent>
          </a:graphicData>
        </a:graphic>
      </p:graphicFrame>
      <p:graphicFrame>
        <p:nvGraphicFramePr>
          <p:cNvPr id="228391" name="Object 39"/>
          <p:cNvGraphicFramePr>
            <a:graphicFrameLocks noChangeAspect="1"/>
          </p:cNvGraphicFramePr>
          <p:nvPr/>
        </p:nvGraphicFramePr>
        <p:xfrm>
          <a:off x="893763" y="5624513"/>
          <a:ext cx="2403475" cy="730250"/>
        </p:xfrm>
        <a:graphic>
          <a:graphicData uri="http://schemas.openxmlformats.org/presentationml/2006/ole">
            <mc:AlternateContent xmlns:mc="http://schemas.openxmlformats.org/markup-compatibility/2006">
              <mc:Choice xmlns:v="urn:schemas-microsoft-com:vml" Requires="v">
                <p:oleObj spid="_x0000_s50181" name="公式" r:id="rId7" imgW="32004000" imgH="9753600" progId="Equation.3">
                  <p:embed/>
                </p:oleObj>
              </mc:Choice>
              <mc:Fallback>
                <p:oleObj name="公式" r:id="rId7" imgW="32004000" imgH="9753600" progId="Equation.3">
                  <p:embed/>
                  <p:pic>
                    <p:nvPicPr>
                      <p:cNvPr id="0" name="Object 39"/>
                      <p:cNvPicPr>
                        <a:picLocks noChangeAspect="1"/>
                      </p:cNvPicPr>
                      <p:nvPr/>
                    </p:nvPicPr>
                    <p:blipFill>
                      <a:blip r:embed="rId8"/>
                      <a:stretch>
                        <a:fillRect/>
                      </a:stretch>
                    </p:blipFill>
                    <p:spPr>
                      <a:xfrm>
                        <a:off x="893763" y="5624513"/>
                        <a:ext cx="2403475" cy="730250"/>
                      </a:xfrm>
                      <a:prstGeom prst="rect">
                        <a:avLst/>
                      </a:prstGeom>
                      <a:noFill/>
                      <a:ln w="9525">
                        <a:noFill/>
                      </a:ln>
                    </p:spPr>
                  </p:pic>
                </p:oleObj>
              </mc:Fallback>
            </mc:AlternateContent>
          </a:graphicData>
        </a:graphic>
      </p:graphicFrame>
      <p:sp>
        <p:nvSpPr>
          <p:cNvPr id="228392" name="Text Box 40"/>
          <p:cNvSpPr txBox="1">
            <a:spLocks noChangeArrowheads="1"/>
          </p:cNvSpPr>
          <p:nvPr/>
        </p:nvSpPr>
        <p:spPr bwMode="auto">
          <a:xfrm>
            <a:off x="701675" y="4997450"/>
            <a:ext cx="3690938" cy="457200"/>
          </a:xfrm>
          <a:prstGeom prst="rect">
            <a:avLst/>
          </a:prstGeom>
          <a:noFill/>
          <a:ln w="9525">
            <a:noFill/>
            <a:miter lim="800000"/>
          </a:ln>
        </p:spPr>
        <p:txBody>
          <a:bodyPr>
            <a:spAutoFit/>
          </a:bodyPr>
          <a:lstStyle/>
          <a:p>
            <a:pPr>
              <a:defRPr/>
            </a:pPr>
            <a:r>
              <a:rPr lang="en-US" altLang="zh-CN" b="1" i="1" dirty="0">
                <a:ea typeface="楷体_GB2312" pitchFamily="49" charset="-122"/>
              </a:rPr>
              <a:t>a </a:t>
            </a:r>
            <a:r>
              <a:rPr lang="en-US" altLang="zh-CN" b="1" dirty="0">
                <a:ea typeface="楷体_GB2312" pitchFamily="49" charset="-122"/>
              </a:rPr>
              <a:t>→ </a:t>
            </a:r>
            <a:r>
              <a:rPr lang="en-US" altLang="zh-CN" b="1" i="1" dirty="0">
                <a:ea typeface="楷体_GB2312" pitchFamily="49" charset="-122"/>
              </a:rPr>
              <a:t>b</a:t>
            </a:r>
            <a:r>
              <a:rPr lang="en-US" altLang="zh-CN" b="1" dirty="0">
                <a:ea typeface="楷体_GB2312" pitchFamily="49" charset="-122"/>
              </a:rPr>
              <a:t> </a:t>
            </a:r>
            <a:r>
              <a:rPr lang="zh-CN" altLang="en-US" b="1" dirty="0">
                <a:latin typeface="+mn-ea"/>
                <a:ea typeface="+mn-ea"/>
              </a:rPr>
              <a:t>为等体过程</a:t>
            </a:r>
            <a:endParaRPr lang="zh-CN" altLang="en-US" b="1" dirty="0">
              <a:latin typeface="+mn-ea"/>
              <a:ea typeface="+mn-ea"/>
            </a:endParaRPr>
          </a:p>
        </p:txBody>
      </p:sp>
      <p:graphicFrame>
        <p:nvGraphicFramePr>
          <p:cNvPr id="228393" name="Object 41"/>
          <p:cNvGraphicFramePr>
            <a:graphicFrameLocks noChangeAspect="1"/>
          </p:cNvGraphicFramePr>
          <p:nvPr/>
        </p:nvGraphicFramePr>
        <p:xfrm>
          <a:off x="3311525" y="5618163"/>
          <a:ext cx="1770063" cy="735012"/>
        </p:xfrm>
        <a:graphic>
          <a:graphicData uri="http://schemas.openxmlformats.org/presentationml/2006/ole">
            <mc:AlternateContent xmlns:mc="http://schemas.openxmlformats.org/markup-compatibility/2006">
              <mc:Choice xmlns:v="urn:schemas-microsoft-com:vml" Requires="v">
                <p:oleObj spid="_x0000_s50182" name="公式" r:id="rId9" imgW="23469600" imgH="9753600" progId="Equation.3">
                  <p:embed/>
                </p:oleObj>
              </mc:Choice>
              <mc:Fallback>
                <p:oleObj name="公式" r:id="rId9" imgW="23469600" imgH="9753600" progId="Equation.3">
                  <p:embed/>
                  <p:pic>
                    <p:nvPicPr>
                      <p:cNvPr id="0" name="Object 41"/>
                      <p:cNvPicPr>
                        <a:picLocks noChangeAspect="1"/>
                      </p:cNvPicPr>
                      <p:nvPr/>
                    </p:nvPicPr>
                    <p:blipFill>
                      <a:blip r:embed="rId10"/>
                      <a:stretch>
                        <a:fillRect/>
                      </a:stretch>
                    </p:blipFill>
                    <p:spPr>
                      <a:xfrm>
                        <a:off x="3311525" y="5618163"/>
                        <a:ext cx="1770063" cy="735012"/>
                      </a:xfrm>
                      <a:prstGeom prst="rect">
                        <a:avLst/>
                      </a:prstGeom>
                      <a:noFill/>
                      <a:ln w="9525">
                        <a:noFill/>
                      </a:ln>
                    </p:spPr>
                  </p:pic>
                </p:oleObj>
              </mc:Fallback>
            </mc:AlternateContent>
          </a:graphicData>
        </a:graphic>
      </p:graphicFrame>
      <p:graphicFrame>
        <p:nvGraphicFramePr>
          <p:cNvPr id="228394" name="Object 42"/>
          <p:cNvGraphicFramePr>
            <a:graphicFrameLocks noChangeAspect="1"/>
          </p:cNvGraphicFramePr>
          <p:nvPr/>
        </p:nvGraphicFramePr>
        <p:xfrm>
          <a:off x="974725" y="2895600"/>
          <a:ext cx="1331913" cy="414338"/>
        </p:xfrm>
        <a:graphic>
          <a:graphicData uri="http://schemas.openxmlformats.org/presentationml/2006/ole">
            <mc:AlternateContent xmlns:mc="http://schemas.openxmlformats.org/markup-compatibility/2006">
              <mc:Choice xmlns:v="urn:schemas-microsoft-com:vml" Requires="v">
                <p:oleObj spid="_x0000_s50183" name="公式" r:id="rId11" imgW="17678400" imgH="5486400" progId="Equation.3">
                  <p:embed/>
                </p:oleObj>
              </mc:Choice>
              <mc:Fallback>
                <p:oleObj name="公式" r:id="rId11" imgW="17678400" imgH="5486400" progId="Equation.3">
                  <p:embed/>
                  <p:pic>
                    <p:nvPicPr>
                      <p:cNvPr id="0" name="Object 42"/>
                      <p:cNvPicPr>
                        <a:picLocks noChangeAspect="1"/>
                      </p:cNvPicPr>
                      <p:nvPr/>
                    </p:nvPicPr>
                    <p:blipFill>
                      <a:blip r:embed="rId12"/>
                      <a:stretch>
                        <a:fillRect/>
                      </a:stretch>
                    </p:blipFill>
                    <p:spPr>
                      <a:xfrm>
                        <a:off x="974725" y="2895600"/>
                        <a:ext cx="1331913" cy="414338"/>
                      </a:xfrm>
                      <a:prstGeom prst="rect">
                        <a:avLst/>
                      </a:prstGeom>
                      <a:noFill/>
                      <a:ln w="9525">
                        <a:noFill/>
                      </a:ln>
                    </p:spPr>
                  </p:pic>
                </p:oleObj>
              </mc:Fallback>
            </mc:AlternateContent>
          </a:graphicData>
        </a:graphic>
      </p:graphicFrame>
      <p:sp>
        <p:nvSpPr>
          <p:cNvPr id="228395" name="AutoShape 43"/>
          <p:cNvSpPr>
            <a:spLocks noChangeArrowheads="1"/>
          </p:cNvSpPr>
          <p:nvPr/>
        </p:nvSpPr>
        <p:spPr bwMode="auto">
          <a:xfrm>
            <a:off x="2595563" y="3013075"/>
            <a:ext cx="503237" cy="215900"/>
          </a:xfrm>
          <a:prstGeom prst="rightArrow">
            <a:avLst>
              <a:gd name="adj1" fmla="val 50000"/>
              <a:gd name="adj2" fmla="val 58272"/>
            </a:avLst>
          </a:prstGeom>
          <a:solidFill>
            <a:srgbClr val="0000FF"/>
          </a:solidFill>
          <a:ln w="9525">
            <a:solidFill>
              <a:schemeClr val="tx1"/>
            </a:solidFill>
            <a:miter lim="800000"/>
          </a:ln>
        </p:spPr>
        <p:txBody>
          <a:bodyPr wrap="none" anchor="ctr"/>
          <a:lstStyle/>
          <a:p>
            <a:pPr algn="ctr"/>
            <a:endParaRPr lang="zh-CN" altLang="en-US"/>
          </a:p>
        </p:txBody>
      </p:sp>
      <p:graphicFrame>
        <p:nvGraphicFramePr>
          <p:cNvPr id="228396" name="Object 44"/>
          <p:cNvGraphicFramePr>
            <a:graphicFrameLocks noChangeAspect="1"/>
          </p:cNvGraphicFramePr>
          <p:nvPr/>
        </p:nvGraphicFramePr>
        <p:xfrm>
          <a:off x="3206750" y="2732088"/>
          <a:ext cx="1971675" cy="803275"/>
        </p:xfrm>
        <a:graphic>
          <a:graphicData uri="http://schemas.openxmlformats.org/presentationml/2006/ole">
            <mc:AlternateContent xmlns:mc="http://schemas.openxmlformats.org/markup-compatibility/2006">
              <mc:Choice xmlns:v="urn:schemas-microsoft-com:vml" Requires="v">
                <p:oleObj spid="_x0000_s50184" name="公式" r:id="rId13" imgW="26212800" imgH="10668000" progId="Equation.3">
                  <p:embed/>
                </p:oleObj>
              </mc:Choice>
              <mc:Fallback>
                <p:oleObj name="公式" r:id="rId13" imgW="26212800" imgH="10668000" progId="Equation.3">
                  <p:embed/>
                  <p:pic>
                    <p:nvPicPr>
                      <p:cNvPr id="0" name="Object 44"/>
                      <p:cNvPicPr>
                        <a:picLocks noChangeAspect="1"/>
                      </p:cNvPicPr>
                      <p:nvPr/>
                    </p:nvPicPr>
                    <p:blipFill>
                      <a:blip r:embed="rId14"/>
                      <a:stretch>
                        <a:fillRect/>
                      </a:stretch>
                    </p:blipFill>
                    <p:spPr>
                      <a:xfrm>
                        <a:off x="3206750" y="2732088"/>
                        <a:ext cx="1971675" cy="803275"/>
                      </a:xfrm>
                      <a:prstGeom prst="rect">
                        <a:avLst/>
                      </a:prstGeom>
                      <a:noFill/>
                      <a:ln w="9525">
                        <a:noFill/>
                      </a:ln>
                    </p:spPr>
                  </p:pic>
                </p:oleObj>
              </mc:Fallback>
            </mc:AlternateContent>
          </a:graphicData>
        </a:graphic>
      </p:graphicFrame>
      <p:graphicFrame>
        <p:nvGraphicFramePr>
          <p:cNvPr id="228397" name="Object 45"/>
          <p:cNvGraphicFramePr>
            <a:graphicFrameLocks noChangeAspect="1"/>
          </p:cNvGraphicFramePr>
          <p:nvPr/>
        </p:nvGraphicFramePr>
        <p:xfrm>
          <a:off x="5202238" y="5634038"/>
          <a:ext cx="919162" cy="735012"/>
        </p:xfrm>
        <a:graphic>
          <a:graphicData uri="http://schemas.openxmlformats.org/presentationml/2006/ole">
            <mc:AlternateContent xmlns:mc="http://schemas.openxmlformats.org/markup-compatibility/2006">
              <mc:Choice xmlns:v="urn:schemas-microsoft-com:vml" Requires="v">
                <p:oleObj spid="_x0000_s50185" name="公式" r:id="rId15" imgW="12192000" imgH="9753600" progId="Equation.3">
                  <p:embed/>
                </p:oleObj>
              </mc:Choice>
              <mc:Fallback>
                <p:oleObj name="公式" r:id="rId15" imgW="12192000" imgH="9753600" progId="Equation.3">
                  <p:embed/>
                  <p:pic>
                    <p:nvPicPr>
                      <p:cNvPr id="0" name="Object 45"/>
                      <p:cNvPicPr>
                        <a:picLocks noChangeAspect="1"/>
                      </p:cNvPicPr>
                      <p:nvPr/>
                    </p:nvPicPr>
                    <p:blipFill>
                      <a:blip r:embed="rId16"/>
                      <a:stretch>
                        <a:fillRect/>
                      </a:stretch>
                    </p:blipFill>
                    <p:spPr>
                      <a:xfrm>
                        <a:off x="5202238" y="5634038"/>
                        <a:ext cx="919162" cy="735012"/>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8354"/>
                                        </p:tgtEl>
                                        <p:attrNameLst>
                                          <p:attrName>style.visibility</p:attrName>
                                        </p:attrNameLst>
                                      </p:cBhvr>
                                      <p:to>
                                        <p:strVal val="visible"/>
                                      </p:to>
                                    </p:set>
                                    <p:animEffect transition="in" filter="wipe(left)">
                                      <p:cBhvr>
                                        <p:cTn id="7" dur="500"/>
                                        <p:tgtEl>
                                          <p:spTgt spid="22835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8355"/>
                                        </p:tgtEl>
                                        <p:attrNameLst>
                                          <p:attrName>style.visibility</p:attrName>
                                        </p:attrNameLst>
                                      </p:cBhvr>
                                      <p:to>
                                        <p:strVal val="visible"/>
                                      </p:to>
                                    </p:set>
                                    <p:animEffect transition="in" filter="wipe(left)">
                                      <p:cBhvr>
                                        <p:cTn id="11" dur="500"/>
                                        <p:tgtEl>
                                          <p:spTgt spid="228355"/>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out)">
                                      <p:cBhvr>
                                        <p:cTn id="16" dur="500"/>
                                        <p:tgtEl>
                                          <p:spTgt spid="2"/>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228381"/>
                                        </p:tgtEl>
                                        <p:attrNameLst>
                                          <p:attrName>style.visibility</p:attrName>
                                        </p:attrNameLst>
                                      </p:cBhvr>
                                      <p:to>
                                        <p:strVal val="visible"/>
                                      </p:to>
                                    </p:set>
                                    <p:animEffect transition="in" filter="wipe(down)">
                                      <p:cBhvr>
                                        <p:cTn id="20" dur="500"/>
                                        <p:tgtEl>
                                          <p:spTgt spid="228381"/>
                                        </p:tgtEl>
                                      </p:cBhvr>
                                    </p:animEffect>
                                  </p:childTnLst>
                                </p:cTn>
                              </p:par>
                              <p:par>
                                <p:cTn id="21" presetID="2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228382"/>
                                        </p:tgtEl>
                                        <p:attrNameLst>
                                          <p:attrName>style.visibility</p:attrName>
                                        </p:attrNameLst>
                                      </p:cBhvr>
                                      <p:to>
                                        <p:strVal val="visible"/>
                                      </p:to>
                                    </p:set>
                                    <p:animEffect transition="in" filter="wipe(left)">
                                      <p:cBhvr>
                                        <p:cTn id="27" dur="500"/>
                                        <p:tgtEl>
                                          <p:spTgt spid="228382"/>
                                        </p:tgtEl>
                                      </p:cBhvr>
                                    </p:animEffect>
                                  </p:childTnLst>
                                </p:cTn>
                              </p:par>
                              <p:par>
                                <p:cTn id="28" presetID="22" presetClass="entr" presetSubtype="8" fill="hold"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par>
                          <p:cTn id="31" fill="hold">
                            <p:stCondLst>
                              <p:cond delay="1500"/>
                            </p:stCondLst>
                            <p:childTnLst>
                              <p:par>
                                <p:cTn id="32" presetID="22" presetClass="entr" presetSubtype="2" fill="hold" grpId="0" nodeType="afterEffect">
                                  <p:stCondLst>
                                    <p:cond delay="0"/>
                                  </p:stCondLst>
                                  <p:childTnLst>
                                    <p:set>
                                      <p:cBhvr>
                                        <p:cTn id="33" dur="1" fill="hold">
                                          <p:stCondLst>
                                            <p:cond delay="0"/>
                                          </p:stCondLst>
                                        </p:cTn>
                                        <p:tgtEl>
                                          <p:spTgt spid="228383"/>
                                        </p:tgtEl>
                                        <p:attrNameLst>
                                          <p:attrName>style.visibility</p:attrName>
                                        </p:attrNameLst>
                                      </p:cBhvr>
                                      <p:to>
                                        <p:strVal val="visible"/>
                                      </p:to>
                                    </p:set>
                                    <p:animEffect transition="in" filter="wipe(right)">
                                      <p:cBhvr>
                                        <p:cTn id="34" dur="500"/>
                                        <p:tgtEl>
                                          <p:spTgt spid="228383"/>
                                        </p:tgtEl>
                                      </p:cBhvr>
                                    </p:animEffect>
                                  </p:childTnLst>
                                </p:cTn>
                              </p:par>
                              <p:par>
                                <p:cTn id="35" presetID="22" presetClass="entr" presetSubtype="2"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500"/>
                                        <p:tgtEl>
                                          <p:spTgt spid="5"/>
                                        </p:tgtEl>
                                      </p:cBhvr>
                                    </p:animEffect>
                                  </p:childTnLst>
                                </p:cTn>
                              </p:par>
                            </p:childTnLst>
                          </p:cTn>
                        </p:par>
                        <p:par>
                          <p:cTn id="38" fill="hold">
                            <p:stCondLst>
                              <p:cond delay="2000"/>
                            </p:stCondLst>
                            <p:childTnLst>
                              <p:par>
                                <p:cTn id="39" presetID="22" presetClass="entr" presetSubtype="4" fill="hold" grpId="0" nodeType="afterEffect">
                                  <p:stCondLst>
                                    <p:cond delay="0"/>
                                  </p:stCondLst>
                                  <p:childTnLst>
                                    <p:set>
                                      <p:cBhvr>
                                        <p:cTn id="40" dur="1" fill="hold">
                                          <p:stCondLst>
                                            <p:cond delay="0"/>
                                          </p:stCondLst>
                                        </p:cTn>
                                        <p:tgtEl>
                                          <p:spTgt spid="228367"/>
                                        </p:tgtEl>
                                        <p:attrNameLst>
                                          <p:attrName>style.visibility</p:attrName>
                                        </p:attrNameLst>
                                      </p:cBhvr>
                                      <p:to>
                                        <p:strVal val="visible"/>
                                      </p:to>
                                    </p:set>
                                    <p:animEffect transition="in" filter="wipe(down)">
                                      <p:cBhvr>
                                        <p:cTn id="41" dur="500"/>
                                        <p:tgtEl>
                                          <p:spTgt spid="228367"/>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28366"/>
                                        </p:tgtEl>
                                        <p:attrNameLst>
                                          <p:attrName>style.visibility</p:attrName>
                                        </p:attrNameLst>
                                      </p:cBhvr>
                                      <p:to>
                                        <p:strVal val="visible"/>
                                      </p:to>
                                    </p:set>
                                    <p:animEffect transition="in" filter="wipe(down)">
                                      <p:cBhvr>
                                        <p:cTn id="44" dur="500"/>
                                        <p:tgtEl>
                                          <p:spTgt spid="228366"/>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28380"/>
                                        </p:tgtEl>
                                        <p:attrNameLst>
                                          <p:attrName>style.visibility</p:attrName>
                                        </p:attrNameLst>
                                      </p:cBhvr>
                                      <p:to>
                                        <p:strVal val="visible"/>
                                      </p:to>
                                    </p:set>
                                    <p:animEffect transition="in" filter="wipe(down)">
                                      <p:cBhvr>
                                        <p:cTn id="47" dur="500"/>
                                        <p:tgtEl>
                                          <p:spTgt spid="228380"/>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28379"/>
                                        </p:tgtEl>
                                        <p:attrNameLst>
                                          <p:attrName>style.visibility</p:attrName>
                                        </p:attrNameLst>
                                      </p:cBhvr>
                                      <p:to>
                                        <p:strVal val="visible"/>
                                      </p:to>
                                    </p:set>
                                    <p:animEffect transition="in" filter="wipe(down)">
                                      <p:cBhvr>
                                        <p:cTn id="50" dur="500"/>
                                        <p:tgtEl>
                                          <p:spTgt spid="228379"/>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28364"/>
                                        </p:tgtEl>
                                        <p:attrNameLst>
                                          <p:attrName>style.visibility</p:attrName>
                                        </p:attrNameLst>
                                      </p:cBhvr>
                                      <p:to>
                                        <p:strVal val="visible"/>
                                      </p:to>
                                    </p:set>
                                    <p:animEffect transition="in" filter="wipe(down)">
                                      <p:cBhvr>
                                        <p:cTn id="53" dur="500"/>
                                        <p:tgtEl>
                                          <p:spTgt spid="228364"/>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28377"/>
                                        </p:tgtEl>
                                        <p:attrNameLst>
                                          <p:attrName>style.visibility</p:attrName>
                                        </p:attrNameLst>
                                      </p:cBhvr>
                                      <p:to>
                                        <p:strVal val="visible"/>
                                      </p:to>
                                    </p:set>
                                    <p:animEffect transition="in" filter="wipe(down)">
                                      <p:cBhvr>
                                        <p:cTn id="56" dur="500"/>
                                        <p:tgtEl>
                                          <p:spTgt spid="228377"/>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228365"/>
                                        </p:tgtEl>
                                        <p:attrNameLst>
                                          <p:attrName>style.visibility</p:attrName>
                                        </p:attrNameLst>
                                      </p:cBhvr>
                                      <p:to>
                                        <p:strVal val="visible"/>
                                      </p:to>
                                    </p:set>
                                    <p:animEffect transition="in" filter="wipe(down)">
                                      <p:cBhvr>
                                        <p:cTn id="59" dur="500"/>
                                        <p:tgtEl>
                                          <p:spTgt spid="228365"/>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228378"/>
                                        </p:tgtEl>
                                        <p:attrNameLst>
                                          <p:attrName>style.visibility</p:attrName>
                                        </p:attrNameLst>
                                      </p:cBhvr>
                                      <p:to>
                                        <p:strVal val="visible"/>
                                      </p:to>
                                    </p:set>
                                    <p:animEffect transition="in" filter="wipe(down)">
                                      <p:cBhvr>
                                        <p:cTn id="62" dur="500"/>
                                        <p:tgtEl>
                                          <p:spTgt spid="22837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28356"/>
                                        </p:tgtEl>
                                        <p:attrNameLst>
                                          <p:attrName>style.visibility</p:attrName>
                                        </p:attrNameLst>
                                      </p:cBhvr>
                                      <p:to>
                                        <p:strVal val="visible"/>
                                      </p:to>
                                    </p:set>
                                    <p:animEffect transition="in" filter="wipe(left)">
                                      <p:cBhvr>
                                        <p:cTn id="67" dur="500"/>
                                        <p:tgtEl>
                                          <p:spTgt spid="228356"/>
                                        </p:tgtEl>
                                      </p:cBhvr>
                                    </p:animEffect>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228357"/>
                                        </p:tgtEl>
                                        <p:attrNameLst>
                                          <p:attrName>style.visibility</p:attrName>
                                        </p:attrNameLst>
                                      </p:cBhvr>
                                      <p:to>
                                        <p:strVal val="visible"/>
                                      </p:to>
                                    </p:set>
                                    <p:animEffect transition="in" filter="wipe(left)">
                                      <p:cBhvr>
                                        <p:cTn id="71" dur="500"/>
                                        <p:tgtEl>
                                          <p:spTgt spid="22835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28384"/>
                                        </p:tgtEl>
                                        <p:attrNameLst>
                                          <p:attrName>style.visibility</p:attrName>
                                        </p:attrNameLst>
                                      </p:cBhvr>
                                      <p:to>
                                        <p:strVal val="visible"/>
                                      </p:to>
                                    </p:set>
                                    <p:animEffect transition="in" filter="wipe(left)">
                                      <p:cBhvr>
                                        <p:cTn id="76" dur="500"/>
                                        <p:tgtEl>
                                          <p:spTgt spid="228384"/>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28385"/>
                                        </p:tgtEl>
                                        <p:attrNameLst>
                                          <p:attrName>style.visibility</p:attrName>
                                        </p:attrNameLst>
                                      </p:cBhvr>
                                      <p:to>
                                        <p:strVal val="visible"/>
                                      </p:to>
                                    </p:set>
                                    <p:animEffect transition="in" filter="wipe(left)">
                                      <p:cBhvr>
                                        <p:cTn id="81" dur="500"/>
                                        <p:tgtEl>
                                          <p:spTgt spid="22838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28394"/>
                                        </p:tgtEl>
                                        <p:attrNameLst>
                                          <p:attrName>style.visibility</p:attrName>
                                        </p:attrNameLst>
                                      </p:cBhvr>
                                      <p:to>
                                        <p:strVal val="visible"/>
                                      </p:to>
                                    </p:set>
                                    <p:animEffect transition="in" filter="wipe(left)">
                                      <p:cBhvr>
                                        <p:cTn id="86" dur="500"/>
                                        <p:tgtEl>
                                          <p:spTgt spid="22839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28395"/>
                                        </p:tgtEl>
                                        <p:attrNameLst>
                                          <p:attrName>style.visibility</p:attrName>
                                        </p:attrNameLst>
                                      </p:cBhvr>
                                      <p:to>
                                        <p:strVal val="visible"/>
                                      </p:to>
                                    </p:set>
                                    <p:animEffect transition="in" filter="wipe(left)">
                                      <p:cBhvr>
                                        <p:cTn id="91" dur="500"/>
                                        <p:tgtEl>
                                          <p:spTgt spid="228395"/>
                                        </p:tgtEl>
                                      </p:cBhvr>
                                    </p:animEffect>
                                  </p:childTnLst>
                                </p:cTn>
                              </p:par>
                            </p:childTnLst>
                          </p:cTn>
                        </p:par>
                        <p:par>
                          <p:cTn id="92" fill="hold">
                            <p:stCondLst>
                              <p:cond delay="500"/>
                            </p:stCondLst>
                            <p:childTnLst>
                              <p:par>
                                <p:cTn id="93" presetID="22" presetClass="entr" presetSubtype="8" fill="hold" nodeType="afterEffect">
                                  <p:stCondLst>
                                    <p:cond delay="0"/>
                                  </p:stCondLst>
                                  <p:childTnLst>
                                    <p:set>
                                      <p:cBhvr>
                                        <p:cTn id="94" dur="1" fill="hold">
                                          <p:stCondLst>
                                            <p:cond delay="0"/>
                                          </p:stCondLst>
                                        </p:cTn>
                                        <p:tgtEl>
                                          <p:spTgt spid="228396"/>
                                        </p:tgtEl>
                                        <p:attrNameLst>
                                          <p:attrName>style.visibility</p:attrName>
                                        </p:attrNameLst>
                                      </p:cBhvr>
                                      <p:to>
                                        <p:strVal val="visible"/>
                                      </p:to>
                                    </p:set>
                                    <p:animEffect transition="in" filter="wipe(left)">
                                      <p:cBhvr>
                                        <p:cTn id="95" dur="500"/>
                                        <p:tgtEl>
                                          <p:spTgt spid="228396"/>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28386"/>
                                        </p:tgtEl>
                                        <p:attrNameLst>
                                          <p:attrName>style.visibility</p:attrName>
                                        </p:attrNameLst>
                                      </p:cBhvr>
                                      <p:to>
                                        <p:strVal val="visible"/>
                                      </p:to>
                                    </p:set>
                                    <p:animEffect transition="in" filter="wipe(left)">
                                      <p:cBhvr>
                                        <p:cTn id="100" dur="500"/>
                                        <p:tgtEl>
                                          <p:spTgt spid="228386"/>
                                        </p:tgtEl>
                                      </p:cBhvr>
                                    </p:animEffect>
                                  </p:childTnLst>
                                </p:cTn>
                              </p:par>
                            </p:childTnLst>
                          </p:cTn>
                        </p:par>
                        <p:par>
                          <p:cTn id="101" fill="hold">
                            <p:stCondLst>
                              <p:cond delay="500"/>
                            </p:stCondLst>
                            <p:childTnLst>
                              <p:par>
                                <p:cTn id="102" presetID="22" presetClass="entr" presetSubtype="8" fill="hold" nodeType="afterEffect">
                                  <p:stCondLst>
                                    <p:cond delay="0"/>
                                  </p:stCondLst>
                                  <p:childTnLst>
                                    <p:set>
                                      <p:cBhvr>
                                        <p:cTn id="103" dur="1" fill="hold">
                                          <p:stCondLst>
                                            <p:cond delay="0"/>
                                          </p:stCondLst>
                                        </p:cTn>
                                        <p:tgtEl>
                                          <p:spTgt spid="228387"/>
                                        </p:tgtEl>
                                        <p:attrNameLst>
                                          <p:attrName>style.visibility</p:attrName>
                                        </p:attrNameLst>
                                      </p:cBhvr>
                                      <p:to>
                                        <p:strVal val="visible"/>
                                      </p:to>
                                    </p:set>
                                    <p:animEffect transition="in" filter="wipe(left)">
                                      <p:cBhvr>
                                        <p:cTn id="104" dur="500"/>
                                        <p:tgtEl>
                                          <p:spTgt spid="228387"/>
                                        </p:tgtEl>
                                      </p:cBhvr>
                                    </p:animEffect>
                                  </p:childTnLst>
                                </p:cTn>
                              </p:par>
                            </p:childTnLst>
                          </p:cTn>
                        </p:par>
                        <p:par>
                          <p:cTn id="105" fill="hold">
                            <p:stCondLst>
                              <p:cond delay="1000"/>
                            </p:stCondLst>
                            <p:childTnLst>
                              <p:par>
                                <p:cTn id="106" presetID="3" presetClass="entr" presetSubtype="10" fill="hold" grpId="0" nodeType="afterEffect">
                                  <p:stCondLst>
                                    <p:cond delay="0"/>
                                  </p:stCondLst>
                                  <p:childTnLst>
                                    <p:set>
                                      <p:cBhvr>
                                        <p:cTn id="107" dur="1" fill="hold">
                                          <p:stCondLst>
                                            <p:cond delay="0"/>
                                          </p:stCondLst>
                                        </p:cTn>
                                        <p:tgtEl>
                                          <p:spTgt spid="228388"/>
                                        </p:tgtEl>
                                        <p:attrNameLst>
                                          <p:attrName>style.visibility</p:attrName>
                                        </p:attrNameLst>
                                      </p:cBhvr>
                                      <p:to>
                                        <p:strVal val="visible"/>
                                      </p:to>
                                    </p:set>
                                    <p:animEffect transition="in" filter="blinds(horizontal)">
                                      <p:cBhvr>
                                        <p:cTn id="108" dur="500"/>
                                        <p:tgtEl>
                                          <p:spTgt spid="228388"/>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28389"/>
                                        </p:tgtEl>
                                        <p:attrNameLst>
                                          <p:attrName>style.visibility</p:attrName>
                                        </p:attrNameLst>
                                      </p:cBhvr>
                                      <p:to>
                                        <p:strVal val="visible"/>
                                      </p:to>
                                    </p:set>
                                    <p:animEffect transition="in" filter="wipe(left)">
                                      <p:cBhvr>
                                        <p:cTn id="113" dur="500"/>
                                        <p:tgtEl>
                                          <p:spTgt spid="228389"/>
                                        </p:tgtEl>
                                      </p:cBhvr>
                                    </p:animEffect>
                                  </p:childTnLst>
                                </p:cTn>
                              </p:par>
                            </p:childTnLst>
                          </p:cTn>
                        </p:par>
                        <p:par>
                          <p:cTn id="114" fill="hold">
                            <p:stCondLst>
                              <p:cond delay="500"/>
                            </p:stCondLst>
                            <p:childTnLst>
                              <p:par>
                                <p:cTn id="115" presetID="22" presetClass="entr" presetSubtype="8" fill="hold" nodeType="afterEffect">
                                  <p:stCondLst>
                                    <p:cond delay="0"/>
                                  </p:stCondLst>
                                  <p:childTnLst>
                                    <p:set>
                                      <p:cBhvr>
                                        <p:cTn id="116" dur="1" fill="hold">
                                          <p:stCondLst>
                                            <p:cond delay="0"/>
                                          </p:stCondLst>
                                        </p:cTn>
                                        <p:tgtEl>
                                          <p:spTgt spid="228390"/>
                                        </p:tgtEl>
                                        <p:attrNameLst>
                                          <p:attrName>style.visibility</p:attrName>
                                        </p:attrNameLst>
                                      </p:cBhvr>
                                      <p:to>
                                        <p:strVal val="visible"/>
                                      </p:to>
                                    </p:set>
                                    <p:animEffect transition="in" filter="wipe(left)">
                                      <p:cBhvr>
                                        <p:cTn id="117" dur="500"/>
                                        <p:tgtEl>
                                          <p:spTgt spid="228390"/>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28392"/>
                                        </p:tgtEl>
                                        <p:attrNameLst>
                                          <p:attrName>style.visibility</p:attrName>
                                        </p:attrNameLst>
                                      </p:cBhvr>
                                      <p:to>
                                        <p:strVal val="visible"/>
                                      </p:to>
                                    </p:set>
                                    <p:animEffect transition="in" filter="wipe(left)">
                                      <p:cBhvr>
                                        <p:cTn id="122" dur="500"/>
                                        <p:tgtEl>
                                          <p:spTgt spid="228392"/>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228391"/>
                                        </p:tgtEl>
                                        <p:attrNameLst>
                                          <p:attrName>style.visibility</p:attrName>
                                        </p:attrNameLst>
                                      </p:cBhvr>
                                      <p:to>
                                        <p:strVal val="visible"/>
                                      </p:to>
                                    </p:set>
                                    <p:animEffect transition="in" filter="wipe(left)">
                                      <p:cBhvr>
                                        <p:cTn id="127" dur="500"/>
                                        <p:tgtEl>
                                          <p:spTgt spid="22839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228393"/>
                                        </p:tgtEl>
                                        <p:attrNameLst>
                                          <p:attrName>style.visibility</p:attrName>
                                        </p:attrNameLst>
                                      </p:cBhvr>
                                      <p:to>
                                        <p:strVal val="visible"/>
                                      </p:to>
                                    </p:set>
                                    <p:animEffect transition="in" filter="wipe(left)">
                                      <p:cBhvr>
                                        <p:cTn id="132" dur="500"/>
                                        <p:tgtEl>
                                          <p:spTgt spid="228393"/>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228397"/>
                                        </p:tgtEl>
                                        <p:attrNameLst>
                                          <p:attrName>style.visibility</p:attrName>
                                        </p:attrNameLst>
                                      </p:cBhvr>
                                      <p:to>
                                        <p:strVal val="visible"/>
                                      </p:to>
                                    </p:set>
                                    <p:animEffect transition="in" filter="wipe(left)">
                                      <p:cBhvr>
                                        <p:cTn id="137" dur="500"/>
                                        <p:tgtEl>
                                          <p:spTgt spid="228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p:bldP spid="228355" grpId="0"/>
      <p:bldP spid="228356" grpId="0"/>
      <p:bldP spid="228357" grpId="0"/>
      <p:bldP spid="228364" grpId="0" animBg="1"/>
      <p:bldP spid="228365" grpId="0" animBg="1"/>
      <p:bldP spid="228366" grpId="0" animBg="1"/>
      <p:bldP spid="228367" grpId="0" animBg="1"/>
      <p:bldP spid="228377" grpId="0"/>
      <p:bldP spid="228378" grpId="0"/>
      <p:bldP spid="228379" grpId="0"/>
      <p:bldP spid="228380" grpId="0"/>
      <p:bldP spid="228381" grpId="0"/>
      <p:bldP spid="228382" grpId="0"/>
      <p:bldP spid="228383" grpId="0"/>
      <p:bldP spid="228384" grpId="0"/>
      <p:bldP spid="228385" grpId="0"/>
      <p:bldP spid="228388" grpId="0" animBg="1"/>
      <p:bldP spid="228389" grpId="0" animBg="1"/>
      <p:bldP spid="228392" grpId="0"/>
      <p:bldP spid="22839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11" name="Group 2"/>
          <p:cNvGrpSpPr/>
          <p:nvPr/>
        </p:nvGrpSpPr>
        <p:grpSpPr bwMode="auto">
          <a:xfrm>
            <a:off x="6257925" y="928688"/>
            <a:ext cx="2376488" cy="1954212"/>
            <a:chOff x="4150" y="1752"/>
            <a:chExt cx="1497" cy="1231"/>
          </a:xfrm>
        </p:grpSpPr>
        <p:sp>
          <p:nvSpPr>
            <p:cNvPr id="51247" name="Line 3"/>
            <p:cNvSpPr>
              <a:spLocks noChangeShapeType="1"/>
            </p:cNvSpPr>
            <p:nvPr/>
          </p:nvSpPr>
          <p:spPr bwMode="auto">
            <a:xfrm flipV="1">
              <a:off x="4377" y="1842"/>
              <a:ext cx="0" cy="908"/>
            </a:xfrm>
            <a:prstGeom prst="line">
              <a:avLst/>
            </a:prstGeom>
            <a:noFill/>
            <a:ln w="38100">
              <a:solidFill>
                <a:schemeClr val="tx1"/>
              </a:solidFill>
              <a:round/>
              <a:tailEnd type="triangle" w="med" len="med"/>
            </a:ln>
          </p:spPr>
          <p:txBody>
            <a:bodyPr/>
            <a:lstStyle/>
            <a:p>
              <a:endParaRPr lang="zh-CN" altLang="en-US"/>
            </a:p>
          </p:txBody>
        </p:sp>
        <p:sp>
          <p:nvSpPr>
            <p:cNvPr id="51248" name="Line 4"/>
            <p:cNvSpPr>
              <a:spLocks noChangeShapeType="1"/>
            </p:cNvSpPr>
            <p:nvPr/>
          </p:nvSpPr>
          <p:spPr bwMode="auto">
            <a:xfrm>
              <a:off x="4365" y="2750"/>
              <a:ext cx="1043" cy="0"/>
            </a:xfrm>
            <a:prstGeom prst="line">
              <a:avLst/>
            </a:prstGeom>
            <a:noFill/>
            <a:ln w="38100">
              <a:solidFill>
                <a:schemeClr val="tx1"/>
              </a:solidFill>
              <a:round/>
              <a:tailEnd type="triangle" w="med" len="med"/>
            </a:ln>
          </p:spPr>
          <p:txBody>
            <a:bodyPr/>
            <a:lstStyle/>
            <a:p>
              <a:endParaRPr lang="zh-CN" altLang="en-US"/>
            </a:p>
          </p:txBody>
        </p:sp>
        <p:sp>
          <p:nvSpPr>
            <p:cNvPr id="51249" name="Text Box 5"/>
            <p:cNvSpPr txBox="1">
              <a:spLocks noChangeArrowheads="1"/>
            </p:cNvSpPr>
            <p:nvPr/>
          </p:nvSpPr>
          <p:spPr bwMode="auto">
            <a:xfrm>
              <a:off x="4150" y="2704"/>
              <a:ext cx="408" cy="279"/>
            </a:xfrm>
            <a:prstGeom prst="rect">
              <a:avLst/>
            </a:prstGeom>
            <a:noFill/>
            <a:ln w="9525">
              <a:noFill/>
              <a:miter lim="800000"/>
            </a:ln>
          </p:spPr>
          <p:txBody>
            <a:bodyPr>
              <a:spAutoFit/>
            </a:bodyPr>
            <a:lstStyle/>
            <a:p>
              <a:pPr>
                <a:lnSpc>
                  <a:spcPct val="115000"/>
                </a:lnSpc>
              </a:pPr>
              <a:r>
                <a:rPr lang="en-US" altLang="zh-CN" sz="2000" b="1" i="1"/>
                <a:t>O</a:t>
              </a:r>
              <a:endParaRPr lang="en-US" altLang="zh-CN" sz="2000" b="1" i="1"/>
            </a:p>
          </p:txBody>
        </p:sp>
        <p:sp>
          <p:nvSpPr>
            <p:cNvPr id="51250" name="Text Box 6"/>
            <p:cNvSpPr txBox="1">
              <a:spLocks noChangeArrowheads="1"/>
            </p:cNvSpPr>
            <p:nvPr/>
          </p:nvSpPr>
          <p:spPr bwMode="auto">
            <a:xfrm>
              <a:off x="4150" y="1752"/>
              <a:ext cx="272" cy="279"/>
            </a:xfrm>
            <a:prstGeom prst="rect">
              <a:avLst/>
            </a:prstGeom>
            <a:noFill/>
            <a:ln w="9525">
              <a:noFill/>
              <a:miter lim="800000"/>
            </a:ln>
          </p:spPr>
          <p:txBody>
            <a:bodyPr>
              <a:spAutoFit/>
            </a:bodyPr>
            <a:lstStyle/>
            <a:p>
              <a:pPr>
                <a:lnSpc>
                  <a:spcPct val="115000"/>
                </a:lnSpc>
              </a:pPr>
              <a:r>
                <a:rPr lang="en-US" altLang="zh-CN" sz="2000" b="1" i="1"/>
                <a:t>p</a:t>
              </a:r>
              <a:endParaRPr lang="en-US" altLang="zh-CN" sz="2000" b="1" i="1"/>
            </a:p>
          </p:txBody>
        </p:sp>
        <p:sp>
          <p:nvSpPr>
            <p:cNvPr id="51251" name="Text Box 7"/>
            <p:cNvSpPr txBox="1">
              <a:spLocks noChangeArrowheads="1"/>
            </p:cNvSpPr>
            <p:nvPr/>
          </p:nvSpPr>
          <p:spPr bwMode="auto">
            <a:xfrm>
              <a:off x="5329" y="2704"/>
              <a:ext cx="318" cy="279"/>
            </a:xfrm>
            <a:prstGeom prst="rect">
              <a:avLst/>
            </a:prstGeom>
            <a:noFill/>
            <a:ln w="9525">
              <a:noFill/>
              <a:miter lim="800000"/>
            </a:ln>
          </p:spPr>
          <p:txBody>
            <a:bodyPr>
              <a:spAutoFit/>
            </a:bodyPr>
            <a:lstStyle/>
            <a:p>
              <a:pPr>
                <a:lnSpc>
                  <a:spcPct val="115000"/>
                </a:lnSpc>
              </a:pPr>
              <a:r>
                <a:rPr lang="en-US" altLang="zh-CN" sz="2000" b="1" i="1"/>
                <a:t>V</a:t>
              </a:r>
              <a:endParaRPr lang="en-US" altLang="zh-CN" sz="2000" b="1" i="1"/>
            </a:p>
          </p:txBody>
        </p:sp>
      </p:grpSp>
      <p:sp>
        <p:nvSpPr>
          <p:cNvPr id="51212" name="Line 8"/>
          <p:cNvSpPr>
            <a:spLocks noChangeShapeType="1"/>
          </p:cNvSpPr>
          <p:nvPr/>
        </p:nvSpPr>
        <p:spPr bwMode="auto">
          <a:xfrm>
            <a:off x="7140575" y="1863725"/>
            <a:ext cx="0" cy="649288"/>
          </a:xfrm>
          <a:prstGeom prst="line">
            <a:avLst/>
          </a:prstGeom>
          <a:noFill/>
          <a:ln w="9525">
            <a:solidFill>
              <a:schemeClr val="tx1"/>
            </a:solidFill>
            <a:prstDash val="dash"/>
            <a:round/>
          </a:ln>
        </p:spPr>
        <p:txBody>
          <a:bodyPr/>
          <a:lstStyle/>
          <a:p>
            <a:endParaRPr lang="zh-CN" altLang="en-US"/>
          </a:p>
        </p:txBody>
      </p:sp>
      <p:sp>
        <p:nvSpPr>
          <p:cNvPr id="51213" name="Line 9"/>
          <p:cNvSpPr>
            <a:spLocks noChangeShapeType="1"/>
          </p:cNvSpPr>
          <p:nvPr/>
        </p:nvSpPr>
        <p:spPr bwMode="auto">
          <a:xfrm>
            <a:off x="7697788" y="2008188"/>
            <a:ext cx="0" cy="504825"/>
          </a:xfrm>
          <a:prstGeom prst="line">
            <a:avLst/>
          </a:prstGeom>
          <a:noFill/>
          <a:ln w="9525">
            <a:solidFill>
              <a:schemeClr val="tx1"/>
            </a:solidFill>
            <a:prstDash val="dash"/>
            <a:round/>
          </a:ln>
        </p:spPr>
        <p:txBody>
          <a:bodyPr/>
          <a:lstStyle/>
          <a:p>
            <a:endParaRPr lang="zh-CN" altLang="en-US"/>
          </a:p>
        </p:txBody>
      </p:sp>
      <p:sp>
        <p:nvSpPr>
          <p:cNvPr id="51214" name="Line 10"/>
          <p:cNvSpPr>
            <a:spLocks noChangeShapeType="1"/>
          </p:cNvSpPr>
          <p:nvPr/>
        </p:nvSpPr>
        <p:spPr bwMode="auto">
          <a:xfrm rot="-5400000">
            <a:off x="6869907" y="1189831"/>
            <a:ext cx="0" cy="484187"/>
          </a:xfrm>
          <a:prstGeom prst="line">
            <a:avLst/>
          </a:prstGeom>
          <a:noFill/>
          <a:ln w="9525">
            <a:solidFill>
              <a:schemeClr val="tx1"/>
            </a:solidFill>
            <a:prstDash val="dash"/>
            <a:round/>
          </a:ln>
        </p:spPr>
        <p:txBody>
          <a:bodyPr/>
          <a:lstStyle/>
          <a:p>
            <a:endParaRPr lang="zh-CN" altLang="en-US"/>
          </a:p>
        </p:txBody>
      </p:sp>
      <p:sp>
        <p:nvSpPr>
          <p:cNvPr id="51215" name="Line 11"/>
          <p:cNvSpPr>
            <a:spLocks noChangeShapeType="1"/>
          </p:cNvSpPr>
          <p:nvPr/>
        </p:nvSpPr>
        <p:spPr bwMode="auto">
          <a:xfrm rot="-5400000">
            <a:off x="6906419" y="1720057"/>
            <a:ext cx="0" cy="576262"/>
          </a:xfrm>
          <a:prstGeom prst="line">
            <a:avLst/>
          </a:prstGeom>
          <a:noFill/>
          <a:ln w="9525">
            <a:solidFill>
              <a:schemeClr val="tx1"/>
            </a:solidFill>
            <a:prstDash val="dash"/>
            <a:round/>
          </a:ln>
        </p:spPr>
        <p:txBody>
          <a:bodyPr/>
          <a:lstStyle/>
          <a:p>
            <a:endParaRPr lang="zh-CN" altLang="en-US"/>
          </a:p>
        </p:txBody>
      </p:sp>
      <p:grpSp>
        <p:nvGrpSpPr>
          <p:cNvPr id="51216" name="Group 12"/>
          <p:cNvGrpSpPr/>
          <p:nvPr/>
        </p:nvGrpSpPr>
        <p:grpSpPr bwMode="auto">
          <a:xfrm>
            <a:off x="7121525" y="1431925"/>
            <a:ext cx="4763" cy="576263"/>
            <a:chOff x="4694" y="2069"/>
            <a:chExt cx="3" cy="363"/>
          </a:xfrm>
        </p:grpSpPr>
        <p:sp>
          <p:nvSpPr>
            <p:cNvPr id="51245" name="Line 13"/>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51246" name="Line 14"/>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grpSp>
        <p:nvGrpSpPr>
          <p:cNvPr id="51217" name="Group 15"/>
          <p:cNvGrpSpPr/>
          <p:nvPr/>
        </p:nvGrpSpPr>
        <p:grpSpPr bwMode="auto">
          <a:xfrm>
            <a:off x="7410450" y="1309688"/>
            <a:ext cx="52388" cy="806450"/>
            <a:chOff x="4798" y="1536"/>
            <a:chExt cx="33" cy="508"/>
          </a:xfrm>
        </p:grpSpPr>
        <p:sp>
          <p:nvSpPr>
            <p:cNvPr id="51243" name="Line 16"/>
            <p:cNvSpPr>
              <a:spLocks noChangeShapeType="1"/>
            </p:cNvSpPr>
            <p:nvPr/>
          </p:nvSpPr>
          <p:spPr bwMode="auto">
            <a:xfrm rot="-2700000">
              <a:off x="4798" y="1536"/>
              <a:ext cx="0" cy="508"/>
            </a:xfrm>
            <a:prstGeom prst="line">
              <a:avLst/>
            </a:prstGeom>
            <a:noFill/>
            <a:ln w="38100">
              <a:solidFill>
                <a:srgbClr val="3333CC"/>
              </a:solidFill>
              <a:round/>
            </a:ln>
          </p:spPr>
          <p:txBody>
            <a:bodyPr/>
            <a:lstStyle/>
            <a:p>
              <a:endParaRPr lang="zh-CN" altLang="en-US"/>
            </a:p>
          </p:txBody>
        </p:sp>
        <p:sp>
          <p:nvSpPr>
            <p:cNvPr id="51244" name="Line 17"/>
            <p:cNvSpPr>
              <a:spLocks noChangeShapeType="1"/>
            </p:cNvSpPr>
            <p:nvPr/>
          </p:nvSpPr>
          <p:spPr bwMode="auto">
            <a:xfrm rot="-2700000">
              <a:off x="4831" y="1797"/>
              <a:ext cx="0" cy="43"/>
            </a:xfrm>
            <a:prstGeom prst="line">
              <a:avLst/>
            </a:prstGeom>
            <a:noFill/>
            <a:ln w="38100">
              <a:solidFill>
                <a:srgbClr val="3333CC"/>
              </a:solidFill>
              <a:round/>
              <a:tailEnd type="triangle" w="med" len="med"/>
            </a:ln>
          </p:spPr>
          <p:txBody>
            <a:bodyPr/>
            <a:lstStyle/>
            <a:p>
              <a:endParaRPr lang="zh-CN" altLang="en-US"/>
            </a:p>
          </p:txBody>
        </p:sp>
      </p:grpSp>
      <p:grpSp>
        <p:nvGrpSpPr>
          <p:cNvPr id="51218" name="Group 18"/>
          <p:cNvGrpSpPr/>
          <p:nvPr/>
        </p:nvGrpSpPr>
        <p:grpSpPr bwMode="auto">
          <a:xfrm rot="-5400000">
            <a:off x="7407275" y="1717675"/>
            <a:ext cx="4763" cy="576263"/>
            <a:chOff x="4694" y="2069"/>
            <a:chExt cx="3" cy="363"/>
          </a:xfrm>
        </p:grpSpPr>
        <p:sp>
          <p:nvSpPr>
            <p:cNvPr id="51241" name="Line 19"/>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51242" name="Line 20"/>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sp>
        <p:nvSpPr>
          <p:cNvPr id="51219" name="Text Box 21"/>
          <p:cNvSpPr txBox="1">
            <a:spLocks noChangeArrowheads="1"/>
          </p:cNvSpPr>
          <p:nvPr/>
        </p:nvSpPr>
        <p:spPr bwMode="auto">
          <a:xfrm>
            <a:off x="6905625" y="2474913"/>
            <a:ext cx="741363" cy="442912"/>
          </a:xfrm>
          <a:prstGeom prst="rect">
            <a:avLst/>
          </a:prstGeom>
          <a:noFill/>
          <a:ln w="9525">
            <a:noFill/>
            <a:miter lim="800000"/>
          </a:ln>
        </p:spPr>
        <p:txBody>
          <a:bodyPr>
            <a:spAutoFit/>
          </a:bodyPr>
          <a:lstStyle/>
          <a:p>
            <a:pPr>
              <a:lnSpc>
                <a:spcPct val="115000"/>
              </a:lnSpc>
            </a:pPr>
            <a:r>
              <a:rPr lang="en-US" altLang="zh-CN" sz="2000" b="1" i="1">
                <a:solidFill>
                  <a:srgbClr val="0000FF"/>
                </a:solidFill>
              </a:rPr>
              <a:t>V</a:t>
            </a:r>
            <a:r>
              <a:rPr lang="en-US" altLang="zh-CN" sz="2000" b="1" i="1" baseline="-25000">
                <a:solidFill>
                  <a:srgbClr val="0000FF"/>
                </a:solidFill>
              </a:rPr>
              <a:t>a</a:t>
            </a:r>
            <a:endParaRPr lang="en-US" altLang="zh-CN" sz="2000" b="1" i="1" baseline="-25000">
              <a:solidFill>
                <a:srgbClr val="0000FF"/>
              </a:solidFill>
            </a:endParaRPr>
          </a:p>
        </p:txBody>
      </p:sp>
      <p:sp>
        <p:nvSpPr>
          <p:cNvPr id="51220" name="Text Box 22"/>
          <p:cNvSpPr txBox="1">
            <a:spLocks noChangeArrowheads="1"/>
          </p:cNvSpPr>
          <p:nvPr/>
        </p:nvSpPr>
        <p:spPr bwMode="auto">
          <a:xfrm>
            <a:off x="7496175" y="2468563"/>
            <a:ext cx="741363" cy="442912"/>
          </a:xfrm>
          <a:prstGeom prst="rect">
            <a:avLst/>
          </a:prstGeom>
          <a:noFill/>
          <a:ln w="9525">
            <a:noFill/>
            <a:miter lim="800000"/>
          </a:ln>
        </p:spPr>
        <p:txBody>
          <a:bodyPr>
            <a:spAutoFit/>
          </a:bodyPr>
          <a:lstStyle/>
          <a:p>
            <a:pPr>
              <a:lnSpc>
                <a:spcPct val="115000"/>
              </a:lnSpc>
            </a:pPr>
            <a:r>
              <a:rPr lang="en-US" altLang="zh-CN" sz="2000" b="1" i="1">
                <a:solidFill>
                  <a:srgbClr val="0000FF"/>
                </a:solidFill>
              </a:rPr>
              <a:t>V</a:t>
            </a:r>
            <a:r>
              <a:rPr lang="en-US" altLang="zh-CN" sz="2000" b="1" i="1" baseline="-25000">
                <a:solidFill>
                  <a:srgbClr val="0000FF"/>
                </a:solidFill>
              </a:rPr>
              <a:t>c</a:t>
            </a:r>
            <a:endParaRPr lang="en-US" altLang="zh-CN" sz="2000" b="1" i="1" baseline="-25000">
              <a:solidFill>
                <a:srgbClr val="0000FF"/>
              </a:solidFill>
            </a:endParaRPr>
          </a:p>
        </p:txBody>
      </p:sp>
      <p:sp>
        <p:nvSpPr>
          <p:cNvPr id="51221" name="Text Box 23"/>
          <p:cNvSpPr txBox="1">
            <a:spLocks noChangeArrowheads="1"/>
          </p:cNvSpPr>
          <p:nvPr/>
        </p:nvSpPr>
        <p:spPr bwMode="auto">
          <a:xfrm>
            <a:off x="6237288" y="1720850"/>
            <a:ext cx="741362" cy="442913"/>
          </a:xfrm>
          <a:prstGeom prst="rect">
            <a:avLst/>
          </a:prstGeom>
          <a:noFill/>
          <a:ln w="9525">
            <a:noFill/>
            <a:miter lim="800000"/>
          </a:ln>
        </p:spPr>
        <p:txBody>
          <a:bodyPr>
            <a:spAutoFit/>
          </a:bodyPr>
          <a:lstStyle/>
          <a:p>
            <a:pPr>
              <a:lnSpc>
                <a:spcPct val="115000"/>
              </a:lnSpc>
            </a:pPr>
            <a:r>
              <a:rPr lang="en-US" altLang="zh-CN" sz="2000" b="1" i="1">
                <a:solidFill>
                  <a:srgbClr val="0000FF"/>
                </a:solidFill>
              </a:rPr>
              <a:t>p</a:t>
            </a:r>
            <a:r>
              <a:rPr lang="en-US" altLang="zh-CN" sz="2000" b="1" i="1" baseline="-25000">
                <a:solidFill>
                  <a:srgbClr val="0000FF"/>
                </a:solidFill>
              </a:rPr>
              <a:t>a</a:t>
            </a:r>
            <a:endParaRPr lang="en-US" altLang="zh-CN" sz="2000" b="1" i="1" baseline="-25000">
              <a:solidFill>
                <a:srgbClr val="0000FF"/>
              </a:solidFill>
            </a:endParaRPr>
          </a:p>
        </p:txBody>
      </p:sp>
      <p:sp>
        <p:nvSpPr>
          <p:cNvPr id="51222" name="Text Box 24"/>
          <p:cNvSpPr txBox="1">
            <a:spLocks noChangeArrowheads="1"/>
          </p:cNvSpPr>
          <p:nvPr/>
        </p:nvSpPr>
        <p:spPr bwMode="auto">
          <a:xfrm>
            <a:off x="6237288" y="1216025"/>
            <a:ext cx="741362" cy="442913"/>
          </a:xfrm>
          <a:prstGeom prst="rect">
            <a:avLst/>
          </a:prstGeom>
          <a:noFill/>
          <a:ln w="9525">
            <a:noFill/>
            <a:miter lim="800000"/>
          </a:ln>
        </p:spPr>
        <p:txBody>
          <a:bodyPr>
            <a:spAutoFit/>
          </a:bodyPr>
          <a:lstStyle/>
          <a:p>
            <a:pPr>
              <a:lnSpc>
                <a:spcPct val="115000"/>
              </a:lnSpc>
            </a:pPr>
            <a:r>
              <a:rPr lang="en-US" altLang="zh-CN" sz="2000" b="1" i="1">
                <a:solidFill>
                  <a:srgbClr val="0000FF"/>
                </a:solidFill>
              </a:rPr>
              <a:t>p</a:t>
            </a:r>
            <a:r>
              <a:rPr lang="en-US" altLang="zh-CN" sz="2000" b="1" i="1" baseline="-25000">
                <a:solidFill>
                  <a:srgbClr val="0000FF"/>
                </a:solidFill>
              </a:rPr>
              <a:t>b</a:t>
            </a:r>
            <a:endParaRPr lang="en-US" altLang="zh-CN" sz="2000" b="1" i="1" baseline="-25000">
              <a:solidFill>
                <a:srgbClr val="0000FF"/>
              </a:solidFill>
            </a:endParaRPr>
          </a:p>
        </p:txBody>
      </p:sp>
      <p:sp>
        <p:nvSpPr>
          <p:cNvPr id="51223" name="Text Box 25"/>
          <p:cNvSpPr txBox="1">
            <a:spLocks noChangeArrowheads="1"/>
          </p:cNvSpPr>
          <p:nvPr/>
        </p:nvSpPr>
        <p:spPr bwMode="auto">
          <a:xfrm>
            <a:off x="6867525" y="1860550"/>
            <a:ext cx="741363" cy="442913"/>
          </a:xfrm>
          <a:prstGeom prst="rect">
            <a:avLst/>
          </a:prstGeom>
          <a:noFill/>
          <a:ln w="9525">
            <a:noFill/>
            <a:miter lim="800000"/>
          </a:ln>
        </p:spPr>
        <p:txBody>
          <a:bodyPr>
            <a:spAutoFit/>
          </a:bodyPr>
          <a:lstStyle/>
          <a:p>
            <a:pPr>
              <a:lnSpc>
                <a:spcPct val="115000"/>
              </a:lnSpc>
            </a:pPr>
            <a:r>
              <a:rPr lang="en-US" altLang="zh-CN" sz="2000" b="1" i="1">
                <a:solidFill>
                  <a:srgbClr val="FF0000"/>
                </a:solidFill>
              </a:rPr>
              <a:t>a</a:t>
            </a:r>
            <a:endParaRPr lang="en-US" altLang="zh-CN" sz="2000" b="1" i="1" baseline="-25000">
              <a:solidFill>
                <a:srgbClr val="FF0000"/>
              </a:solidFill>
            </a:endParaRPr>
          </a:p>
        </p:txBody>
      </p:sp>
      <p:sp>
        <p:nvSpPr>
          <p:cNvPr id="51224" name="Text Box 26"/>
          <p:cNvSpPr txBox="1">
            <a:spLocks noChangeArrowheads="1"/>
          </p:cNvSpPr>
          <p:nvPr/>
        </p:nvSpPr>
        <p:spPr bwMode="auto">
          <a:xfrm>
            <a:off x="6980238" y="1071563"/>
            <a:ext cx="741362" cy="442912"/>
          </a:xfrm>
          <a:prstGeom prst="rect">
            <a:avLst/>
          </a:prstGeom>
          <a:noFill/>
          <a:ln w="9525">
            <a:noFill/>
            <a:miter lim="800000"/>
          </a:ln>
        </p:spPr>
        <p:txBody>
          <a:bodyPr>
            <a:spAutoFit/>
          </a:bodyPr>
          <a:lstStyle/>
          <a:p>
            <a:pPr>
              <a:lnSpc>
                <a:spcPct val="115000"/>
              </a:lnSpc>
            </a:pPr>
            <a:r>
              <a:rPr lang="en-US" altLang="zh-CN" sz="2000" b="1" i="1">
                <a:solidFill>
                  <a:srgbClr val="FF0000"/>
                </a:solidFill>
              </a:rPr>
              <a:t>b</a:t>
            </a:r>
            <a:endParaRPr lang="en-US" altLang="zh-CN" sz="2000" b="1" i="1" baseline="-25000">
              <a:solidFill>
                <a:srgbClr val="FF0000"/>
              </a:solidFill>
            </a:endParaRPr>
          </a:p>
        </p:txBody>
      </p:sp>
      <p:sp>
        <p:nvSpPr>
          <p:cNvPr id="51225" name="Text Box 27"/>
          <p:cNvSpPr txBox="1">
            <a:spLocks noChangeArrowheads="1"/>
          </p:cNvSpPr>
          <p:nvPr/>
        </p:nvSpPr>
        <p:spPr bwMode="auto">
          <a:xfrm>
            <a:off x="7656513" y="1854200"/>
            <a:ext cx="741362" cy="442913"/>
          </a:xfrm>
          <a:prstGeom prst="rect">
            <a:avLst/>
          </a:prstGeom>
          <a:noFill/>
          <a:ln w="9525">
            <a:noFill/>
            <a:miter lim="800000"/>
          </a:ln>
        </p:spPr>
        <p:txBody>
          <a:bodyPr>
            <a:spAutoFit/>
          </a:bodyPr>
          <a:lstStyle/>
          <a:p>
            <a:pPr>
              <a:lnSpc>
                <a:spcPct val="115000"/>
              </a:lnSpc>
            </a:pPr>
            <a:r>
              <a:rPr lang="en-US" altLang="zh-CN" sz="2000" b="1" i="1">
                <a:solidFill>
                  <a:srgbClr val="FF0000"/>
                </a:solidFill>
              </a:rPr>
              <a:t>c</a:t>
            </a:r>
            <a:endParaRPr lang="en-US" altLang="zh-CN" sz="2000" b="1" i="1" baseline="-25000">
              <a:solidFill>
                <a:srgbClr val="FF0000"/>
              </a:solidFill>
            </a:endParaRPr>
          </a:p>
        </p:txBody>
      </p:sp>
      <p:sp>
        <p:nvSpPr>
          <p:cNvPr id="229404" name="Text Box 28"/>
          <p:cNvSpPr txBox="1">
            <a:spLocks noChangeArrowheads="1"/>
          </p:cNvSpPr>
          <p:nvPr/>
        </p:nvSpPr>
        <p:spPr bwMode="auto">
          <a:xfrm>
            <a:off x="433388" y="481013"/>
            <a:ext cx="2900362" cy="512762"/>
          </a:xfrm>
          <a:prstGeom prst="rect">
            <a:avLst/>
          </a:prstGeom>
          <a:noFill/>
          <a:ln w="9525">
            <a:noFill/>
            <a:miter lim="800000"/>
          </a:ln>
        </p:spPr>
        <p:txBody>
          <a:bodyPr>
            <a:spAutoFit/>
          </a:bodyPr>
          <a:lstStyle/>
          <a:p>
            <a:pPr>
              <a:lnSpc>
                <a:spcPct val="115000"/>
              </a:lnSpc>
            </a:pPr>
            <a:r>
              <a:rPr lang="en-US" altLang="zh-CN" b="1" i="1"/>
              <a:t>b</a:t>
            </a:r>
            <a:r>
              <a:rPr lang="en-US" altLang="zh-CN" b="1"/>
              <a:t>→</a:t>
            </a:r>
            <a:r>
              <a:rPr lang="en-US" altLang="zh-CN" b="1" i="1"/>
              <a:t>c </a:t>
            </a:r>
            <a:r>
              <a:rPr lang="en-US" altLang="zh-CN" b="1">
                <a:solidFill>
                  <a:srgbClr val="FF0000"/>
                </a:solidFill>
              </a:rPr>
              <a:t>?</a:t>
            </a:r>
            <a:endParaRPr lang="en-US" altLang="zh-CN" b="1">
              <a:solidFill>
                <a:srgbClr val="FF0000"/>
              </a:solidFill>
            </a:endParaRPr>
          </a:p>
        </p:txBody>
      </p:sp>
      <p:sp>
        <p:nvSpPr>
          <p:cNvPr id="229405" name="Freeform 29"/>
          <p:cNvSpPr/>
          <p:nvPr/>
        </p:nvSpPr>
        <p:spPr bwMode="auto">
          <a:xfrm>
            <a:off x="7243763" y="912813"/>
            <a:ext cx="866775" cy="1171575"/>
          </a:xfrm>
          <a:custGeom>
            <a:avLst/>
            <a:gdLst>
              <a:gd name="T0" fmla="*/ 0 w 546"/>
              <a:gd name="T1" fmla="*/ 0 h 738"/>
              <a:gd name="T2" fmla="*/ 2147483647 w 546"/>
              <a:gd name="T3" fmla="*/ 2147483647 h 738"/>
              <a:gd name="T4" fmla="*/ 2147483647 w 546"/>
              <a:gd name="T5" fmla="*/ 2147483647 h 738"/>
              <a:gd name="T6" fmla="*/ 2147483647 w 546"/>
              <a:gd name="T7" fmla="*/ 2147483647 h 738"/>
              <a:gd name="T8" fmla="*/ 2147483647 w 546"/>
              <a:gd name="T9" fmla="*/ 2147483647 h 738"/>
              <a:gd name="T10" fmla="*/ 0 60000 65536"/>
              <a:gd name="T11" fmla="*/ 0 60000 65536"/>
              <a:gd name="T12" fmla="*/ 0 60000 65536"/>
              <a:gd name="T13" fmla="*/ 0 60000 65536"/>
              <a:gd name="T14" fmla="*/ 0 60000 65536"/>
              <a:gd name="T15" fmla="*/ 0 w 546"/>
              <a:gd name="T16" fmla="*/ 0 h 738"/>
              <a:gd name="T17" fmla="*/ 546 w 546"/>
              <a:gd name="T18" fmla="*/ 738 h 738"/>
            </a:gdLst>
            <a:ahLst/>
            <a:cxnLst>
              <a:cxn ang="T10">
                <a:pos x="T0" y="T1"/>
              </a:cxn>
              <a:cxn ang="T11">
                <a:pos x="T2" y="T3"/>
              </a:cxn>
              <a:cxn ang="T12">
                <a:pos x="T4" y="T5"/>
              </a:cxn>
              <a:cxn ang="T13">
                <a:pos x="T6" y="T7"/>
              </a:cxn>
              <a:cxn ang="T14">
                <a:pos x="T8" y="T9"/>
              </a:cxn>
            </a:cxnLst>
            <a:rect l="T15" t="T16" r="T17" b="T18"/>
            <a:pathLst>
              <a:path w="546" h="738">
                <a:moveTo>
                  <a:pt x="0" y="0"/>
                </a:moveTo>
                <a:cubicBezTo>
                  <a:pt x="13" y="53"/>
                  <a:pt x="42" y="221"/>
                  <a:pt x="78" y="318"/>
                </a:cubicBezTo>
                <a:cubicBezTo>
                  <a:pt x="114" y="415"/>
                  <a:pt x="162" y="519"/>
                  <a:pt x="217" y="584"/>
                </a:cubicBezTo>
                <a:cubicBezTo>
                  <a:pt x="272" y="649"/>
                  <a:pt x="353" y="682"/>
                  <a:pt x="408" y="708"/>
                </a:cubicBezTo>
                <a:cubicBezTo>
                  <a:pt x="463" y="734"/>
                  <a:pt x="517" y="732"/>
                  <a:pt x="546" y="738"/>
                </a:cubicBezTo>
              </a:path>
            </a:pathLst>
          </a:custGeom>
          <a:noFill/>
          <a:ln w="38100">
            <a:solidFill>
              <a:srgbClr val="FF6600"/>
            </a:solidFill>
            <a:prstDash val="dash"/>
            <a:round/>
          </a:ln>
        </p:spPr>
        <p:txBody>
          <a:bodyPr/>
          <a:lstStyle/>
          <a:p>
            <a:pPr algn="ctr"/>
            <a:endParaRPr lang="zh-CN" altLang="en-US"/>
          </a:p>
        </p:txBody>
      </p:sp>
      <p:sp>
        <p:nvSpPr>
          <p:cNvPr id="229406" name="Oval 30"/>
          <p:cNvSpPr>
            <a:spLocks noChangeArrowheads="1"/>
          </p:cNvSpPr>
          <p:nvPr/>
        </p:nvSpPr>
        <p:spPr bwMode="auto">
          <a:xfrm>
            <a:off x="7537450" y="1830388"/>
            <a:ext cx="71438" cy="71437"/>
          </a:xfrm>
          <a:prstGeom prst="ellipse">
            <a:avLst/>
          </a:prstGeom>
          <a:solidFill>
            <a:srgbClr val="FF0000"/>
          </a:solidFill>
          <a:ln w="9525">
            <a:solidFill>
              <a:schemeClr val="tx1"/>
            </a:solidFill>
            <a:round/>
          </a:ln>
        </p:spPr>
        <p:txBody>
          <a:bodyPr wrap="none" anchor="ctr"/>
          <a:lstStyle/>
          <a:p>
            <a:pPr algn="ctr"/>
            <a:endParaRPr lang="zh-CN" altLang="en-US"/>
          </a:p>
        </p:txBody>
      </p:sp>
      <p:sp>
        <p:nvSpPr>
          <p:cNvPr id="229407" name="Text Box 31"/>
          <p:cNvSpPr txBox="1">
            <a:spLocks noChangeArrowheads="1"/>
          </p:cNvSpPr>
          <p:nvPr/>
        </p:nvSpPr>
        <p:spPr bwMode="auto">
          <a:xfrm>
            <a:off x="7534275" y="1538288"/>
            <a:ext cx="741363" cy="442912"/>
          </a:xfrm>
          <a:prstGeom prst="rect">
            <a:avLst/>
          </a:prstGeom>
          <a:noFill/>
          <a:ln w="9525">
            <a:noFill/>
            <a:miter lim="800000"/>
          </a:ln>
        </p:spPr>
        <p:txBody>
          <a:bodyPr>
            <a:spAutoFit/>
          </a:bodyPr>
          <a:lstStyle/>
          <a:p>
            <a:pPr>
              <a:lnSpc>
                <a:spcPct val="115000"/>
              </a:lnSpc>
            </a:pPr>
            <a:r>
              <a:rPr lang="en-US" altLang="zh-CN" sz="2000" b="1" i="1">
                <a:solidFill>
                  <a:srgbClr val="FF0000"/>
                </a:solidFill>
              </a:rPr>
              <a:t>d</a:t>
            </a:r>
            <a:endParaRPr lang="en-US" altLang="zh-CN" sz="2000" b="1" i="1" baseline="-25000">
              <a:solidFill>
                <a:srgbClr val="FF0000"/>
              </a:solidFill>
            </a:endParaRPr>
          </a:p>
        </p:txBody>
      </p:sp>
      <p:sp>
        <p:nvSpPr>
          <p:cNvPr id="229408" name="AutoShape 32"/>
          <p:cNvSpPr>
            <a:spLocks noChangeArrowheads="1"/>
          </p:cNvSpPr>
          <p:nvPr/>
        </p:nvSpPr>
        <p:spPr bwMode="auto">
          <a:xfrm rot="-1552557">
            <a:off x="7323138" y="949325"/>
            <a:ext cx="576262" cy="71438"/>
          </a:xfrm>
          <a:prstGeom prst="rightArrow">
            <a:avLst>
              <a:gd name="adj1" fmla="val 50000"/>
              <a:gd name="adj2" fmla="val 201665"/>
            </a:avLst>
          </a:prstGeom>
          <a:solidFill>
            <a:srgbClr val="0000FF"/>
          </a:solidFill>
          <a:ln w="9525">
            <a:solidFill>
              <a:schemeClr val="tx1"/>
            </a:solidFill>
            <a:miter lim="800000"/>
          </a:ln>
        </p:spPr>
        <p:txBody>
          <a:bodyPr wrap="none" anchor="ctr"/>
          <a:lstStyle/>
          <a:p>
            <a:pPr algn="ctr"/>
            <a:endParaRPr lang="zh-CN" altLang="en-US"/>
          </a:p>
        </p:txBody>
      </p:sp>
      <p:sp>
        <p:nvSpPr>
          <p:cNvPr id="229409" name="Text Box 33"/>
          <p:cNvSpPr txBox="1">
            <a:spLocks noChangeArrowheads="1"/>
          </p:cNvSpPr>
          <p:nvPr/>
        </p:nvSpPr>
        <p:spPr bwMode="auto">
          <a:xfrm>
            <a:off x="7605713" y="458788"/>
            <a:ext cx="1152525" cy="442912"/>
          </a:xfrm>
          <a:prstGeom prst="rect">
            <a:avLst/>
          </a:prstGeom>
          <a:noFill/>
          <a:ln w="9525">
            <a:noFill/>
            <a:miter lim="800000"/>
          </a:ln>
        </p:spPr>
        <p:txBody>
          <a:bodyPr>
            <a:spAutoFit/>
          </a:bodyPr>
          <a:lstStyle/>
          <a:p>
            <a:pPr>
              <a:lnSpc>
                <a:spcPct val="115000"/>
              </a:lnSpc>
            </a:pPr>
            <a:r>
              <a:rPr lang="zh-CN" altLang="en-US" sz="2000" b="1">
                <a:solidFill>
                  <a:srgbClr val="FF6600"/>
                </a:solidFill>
                <a:ea typeface="楷体_GB2312" pitchFamily="49" charset="-122"/>
              </a:rPr>
              <a:t>绝热线</a:t>
            </a:r>
            <a:endParaRPr lang="zh-CN" altLang="en-US" sz="2000" b="1">
              <a:solidFill>
                <a:srgbClr val="FF6600"/>
              </a:solidFill>
              <a:ea typeface="楷体_GB2312" pitchFamily="49" charset="-122"/>
            </a:endParaRPr>
          </a:p>
        </p:txBody>
      </p:sp>
      <p:sp>
        <p:nvSpPr>
          <p:cNvPr id="229410" name="Text Box 34"/>
          <p:cNvSpPr txBox="1">
            <a:spLocks noChangeArrowheads="1"/>
          </p:cNvSpPr>
          <p:nvPr/>
        </p:nvSpPr>
        <p:spPr bwMode="auto">
          <a:xfrm>
            <a:off x="341313" y="1004888"/>
            <a:ext cx="5310187" cy="933450"/>
          </a:xfrm>
          <a:prstGeom prst="rect">
            <a:avLst/>
          </a:prstGeom>
          <a:noFill/>
          <a:ln w="9525">
            <a:noFill/>
            <a:miter lim="800000"/>
          </a:ln>
        </p:spPr>
        <p:txBody>
          <a:bodyPr>
            <a:spAutoFit/>
          </a:bodyPr>
          <a:lstStyle/>
          <a:p>
            <a:pPr>
              <a:lnSpc>
                <a:spcPct val="115000"/>
              </a:lnSpc>
              <a:defRPr/>
            </a:pPr>
            <a:r>
              <a:rPr lang="zh-CN" altLang="en-US" b="1" dirty="0">
                <a:ea typeface="+mn-ea"/>
                <a:cs typeface="Times New Roman" panose="02020603050405020304" pitchFamily="18" charset="0"/>
              </a:rPr>
              <a:t>假设 </a:t>
            </a:r>
            <a:r>
              <a:rPr lang="en-US" altLang="zh-CN" b="1" i="1" dirty="0" err="1">
                <a:ea typeface="+mn-ea"/>
                <a:cs typeface="Times New Roman" panose="02020603050405020304" pitchFamily="18" charset="0"/>
              </a:rPr>
              <a:t>b</a:t>
            </a:r>
            <a:r>
              <a:rPr lang="en-US" altLang="zh-CN" b="1" dirty="0" err="1">
                <a:ea typeface="+mn-ea"/>
                <a:cs typeface="Times New Roman" panose="02020603050405020304" pitchFamily="18" charset="0"/>
              </a:rPr>
              <a:t>→</a:t>
            </a:r>
            <a:r>
              <a:rPr lang="en-US" altLang="zh-CN" b="1" i="1" dirty="0" err="1">
                <a:ea typeface="+mn-ea"/>
                <a:cs typeface="Times New Roman" panose="02020603050405020304" pitchFamily="18" charset="0"/>
              </a:rPr>
              <a:t>c</a:t>
            </a:r>
            <a:r>
              <a:rPr lang="en-US" altLang="zh-CN" b="1" i="1" dirty="0">
                <a:ea typeface="+mn-ea"/>
                <a:cs typeface="Times New Roman" panose="02020603050405020304" pitchFamily="18" charset="0"/>
              </a:rPr>
              <a:t> </a:t>
            </a:r>
            <a:r>
              <a:rPr lang="zh-CN" altLang="en-US" b="1" dirty="0">
                <a:ea typeface="+mn-ea"/>
                <a:cs typeface="Times New Roman" panose="02020603050405020304" pitchFamily="18" charset="0"/>
              </a:rPr>
              <a:t>过程中存在一</a:t>
            </a:r>
            <a:r>
              <a:rPr lang="zh-CN" altLang="en-US" b="1" dirty="0">
                <a:solidFill>
                  <a:srgbClr val="FF6600"/>
                </a:solidFill>
                <a:ea typeface="+mn-ea"/>
                <a:cs typeface="Times New Roman" panose="02020603050405020304" pitchFamily="18" charset="0"/>
              </a:rPr>
              <a:t>临界状态 </a:t>
            </a:r>
            <a:r>
              <a:rPr lang="en-US" altLang="zh-CN" b="1" i="1" dirty="0">
                <a:solidFill>
                  <a:srgbClr val="FF6600"/>
                </a:solidFill>
                <a:ea typeface="+mn-ea"/>
                <a:cs typeface="Times New Roman" panose="02020603050405020304" pitchFamily="18" charset="0"/>
              </a:rPr>
              <a:t>d</a:t>
            </a:r>
            <a:r>
              <a:rPr lang="en-US" altLang="zh-CN" b="1" dirty="0">
                <a:ea typeface="+mn-ea"/>
                <a:cs typeface="Times New Roman" panose="02020603050405020304" pitchFamily="18" charset="0"/>
              </a:rPr>
              <a:t> </a:t>
            </a:r>
            <a:r>
              <a:rPr lang="zh-CN" altLang="en-US" b="1" dirty="0">
                <a:ea typeface="+mn-ea"/>
                <a:cs typeface="Times New Roman" panose="02020603050405020304" pitchFamily="18" charset="0"/>
              </a:rPr>
              <a:t>，该状态处绝热线与 </a:t>
            </a:r>
            <a:r>
              <a:rPr lang="en-US" altLang="zh-CN" b="1" i="1" dirty="0" err="1">
                <a:ea typeface="+mn-ea"/>
                <a:cs typeface="Times New Roman" panose="02020603050405020304" pitchFamily="18" charset="0"/>
              </a:rPr>
              <a:t>bc</a:t>
            </a:r>
            <a:r>
              <a:rPr lang="en-US" altLang="zh-CN" b="1" dirty="0">
                <a:ea typeface="+mn-ea"/>
                <a:cs typeface="Times New Roman" panose="02020603050405020304" pitchFamily="18" charset="0"/>
              </a:rPr>
              <a:t> </a:t>
            </a:r>
            <a:r>
              <a:rPr lang="zh-CN" altLang="en-US" b="1" dirty="0">
                <a:ea typeface="+mn-ea"/>
                <a:cs typeface="Times New Roman" panose="02020603050405020304" pitchFamily="18" charset="0"/>
              </a:rPr>
              <a:t>相切，即</a:t>
            </a:r>
            <a:endParaRPr lang="zh-CN" altLang="en-US" b="1" i="1" dirty="0">
              <a:ea typeface="+mn-ea"/>
              <a:cs typeface="Times New Roman" panose="02020603050405020304" pitchFamily="18" charset="0"/>
            </a:endParaRPr>
          </a:p>
        </p:txBody>
      </p:sp>
      <p:graphicFrame>
        <p:nvGraphicFramePr>
          <p:cNvPr id="229411" name="Object 35"/>
          <p:cNvGraphicFramePr>
            <a:graphicFrameLocks noChangeAspect="1"/>
          </p:cNvGraphicFramePr>
          <p:nvPr/>
        </p:nvGraphicFramePr>
        <p:xfrm>
          <a:off x="1196975" y="2046288"/>
          <a:ext cx="2471738" cy="801687"/>
        </p:xfrm>
        <a:graphic>
          <a:graphicData uri="http://schemas.openxmlformats.org/presentationml/2006/ole">
            <mc:AlternateContent xmlns:mc="http://schemas.openxmlformats.org/markup-compatibility/2006">
              <mc:Choice xmlns:v="urn:schemas-microsoft-com:vml" Requires="v">
                <p:oleObj spid="_x0000_s51201" name="公式" r:id="rId1" imgW="32918400" imgH="10668000" progId="Equation.3">
                  <p:embed/>
                </p:oleObj>
              </mc:Choice>
              <mc:Fallback>
                <p:oleObj name="公式" r:id="rId1" imgW="32918400" imgH="10668000" progId="Equation.3">
                  <p:embed/>
                  <p:pic>
                    <p:nvPicPr>
                      <p:cNvPr id="0" name="Object 35"/>
                      <p:cNvPicPr>
                        <a:picLocks noChangeAspect="1"/>
                      </p:cNvPicPr>
                      <p:nvPr/>
                    </p:nvPicPr>
                    <p:blipFill>
                      <a:blip r:embed="rId2"/>
                      <a:stretch>
                        <a:fillRect/>
                      </a:stretch>
                    </p:blipFill>
                    <p:spPr>
                      <a:xfrm>
                        <a:off x="1196975" y="2046288"/>
                        <a:ext cx="2471738" cy="801687"/>
                      </a:xfrm>
                      <a:prstGeom prst="rect">
                        <a:avLst/>
                      </a:prstGeom>
                      <a:noFill/>
                      <a:ln w="9525">
                        <a:noFill/>
                      </a:ln>
                    </p:spPr>
                  </p:pic>
                </p:oleObj>
              </mc:Fallback>
            </mc:AlternateContent>
          </a:graphicData>
        </a:graphic>
      </p:graphicFrame>
      <p:sp>
        <p:nvSpPr>
          <p:cNvPr id="229412" name="Text Box 36"/>
          <p:cNvSpPr txBox="1">
            <a:spLocks noChangeArrowheads="1"/>
          </p:cNvSpPr>
          <p:nvPr/>
        </p:nvSpPr>
        <p:spPr bwMode="auto">
          <a:xfrm>
            <a:off x="414338" y="2979738"/>
            <a:ext cx="4627562" cy="512762"/>
          </a:xfrm>
          <a:prstGeom prst="rect">
            <a:avLst/>
          </a:prstGeom>
          <a:noFill/>
          <a:ln w="9525">
            <a:noFill/>
            <a:miter lim="800000"/>
          </a:ln>
        </p:spPr>
        <p:txBody>
          <a:bodyPr>
            <a:spAutoFit/>
          </a:bodyPr>
          <a:lstStyle/>
          <a:p>
            <a:pPr>
              <a:lnSpc>
                <a:spcPct val="115000"/>
              </a:lnSpc>
              <a:defRPr/>
            </a:pPr>
            <a:r>
              <a:rPr lang="zh-CN" altLang="en-US" b="1">
                <a:ea typeface="+mn-ea"/>
                <a:cs typeface="Times New Roman" panose="02020603050405020304" pitchFamily="18" charset="0"/>
              </a:rPr>
              <a:t>由图可知，对 </a:t>
            </a:r>
            <a:r>
              <a:rPr lang="en-US" altLang="zh-CN" b="1" i="1">
                <a:ea typeface="+mn-ea"/>
                <a:cs typeface="Times New Roman" panose="02020603050405020304" pitchFamily="18" charset="0"/>
              </a:rPr>
              <a:t>bc</a:t>
            </a:r>
            <a:r>
              <a:rPr lang="en-US" altLang="zh-CN" b="1">
                <a:ea typeface="+mn-ea"/>
                <a:cs typeface="Times New Roman" panose="02020603050405020304" pitchFamily="18" charset="0"/>
              </a:rPr>
              <a:t> </a:t>
            </a:r>
            <a:r>
              <a:rPr lang="zh-CN" altLang="en-US" b="1">
                <a:ea typeface="+mn-ea"/>
                <a:cs typeface="Times New Roman" panose="02020603050405020304" pitchFamily="18" charset="0"/>
              </a:rPr>
              <a:t>线上任一点</a:t>
            </a:r>
            <a:endParaRPr lang="zh-CN" altLang="en-US" b="1">
              <a:ea typeface="+mn-ea"/>
              <a:cs typeface="Times New Roman" panose="02020603050405020304" pitchFamily="18" charset="0"/>
            </a:endParaRPr>
          </a:p>
        </p:txBody>
      </p:sp>
      <p:sp>
        <p:nvSpPr>
          <p:cNvPr id="229413" name="AutoShape 37"/>
          <p:cNvSpPr>
            <a:spLocks noChangeArrowheads="1"/>
          </p:cNvSpPr>
          <p:nvPr/>
        </p:nvSpPr>
        <p:spPr bwMode="auto">
          <a:xfrm>
            <a:off x="3201988" y="3970338"/>
            <a:ext cx="508000" cy="104775"/>
          </a:xfrm>
          <a:prstGeom prst="rightArrow">
            <a:avLst>
              <a:gd name="adj1" fmla="val 50000"/>
              <a:gd name="adj2" fmla="val 121212"/>
            </a:avLst>
          </a:prstGeom>
          <a:solidFill>
            <a:srgbClr val="0000FF"/>
          </a:solidFill>
          <a:ln w="9525">
            <a:solidFill>
              <a:schemeClr val="tx1"/>
            </a:solidFill>
            <a:miter lim="800000"/>
          </a:ln>
        </p:spPr>
        <p:txBody>
          <a:bodyPr wrap="none" anchor="ctr"/>
          <a:lstStyle/>
          <a:p>
            <a:pPr algn="ctr"/>
            <a:endParaRPr lang="zh-CN" altLang="en-US"/>
          </a:p>
        </p:txBody>
      </p:sp>
      <p:graphicFrame>
        <p:nvGraphicFramePr>
          <p:cNvPr id="229414" name="Object 38"/>
          <p:cNvGraphicFramePr>
            <a:graphicFrameLocks noChangeAspect="1"/>
          </p:cNvGraphicFramePr>
          <p:nvPr/>
        </p:nvGraphicFramePr>
        <p:xfrm>
          <a:off x="1087438" y="3621088"/>
          <a:ext cx="2051050" cy="798512"/>
        </p:xfrm>
        <a:graphic>
          <a:graphicData uri="http://schemas.openxmlformats.org/presentationml/2006/ole">
            <mc:AlternateContent xmlns:mc="http://schemas.openxmlformats.org/markup-compatibility/2006">
              <mc:Choice xmlns:v="urn:schemas-microsoft-com:vml" Requires="v">
                <p:oleObj spid="_x0000_s51203" name="公式" r:id="rId3" imgW="27432000" imgH="10668000" progId="Equation.3">
                  <p:embed/>
                </p:oleObj>
              </mc:Choice>
              <mc:Fallback>
                <p:oleObj name="公式" r:id="rId3" imgW="27432000" imgH="10668000" progId="Equation.3">
                  <p:embed/>
                  <p:pic>
                    <p:nvPicPr>
                      <p:cNvPr id="0" name="Object 38"/>
                      <p:cNvPicPr>
                        <a:picLocks noChangeAspect="1"/>
                      </p:cNvPicPr>
                      <p:nvPr/>
                    </p:nvPicPr>
                    <p:blipFill>
                      <a:blip r:embed="rId4"/>
                      <a:stretch>
                        <a:fillRect/>
                      </a:stretch>
                    </p:blipFill>
                    <p:spPr>
                      <a:xfrm>
                        <a:off x="1087438" y="3621088"/>
                        <a:ext cx="2051050" cy="798512"/>
                      </a:xfrm>
                      <a:prstGeom prst="rect">
                        <a:avLst/>
                      </a:prstGeom>
                      <a:noFill/>
                      <a:ln w="9525">
                        <a:noFill/>
                      </a:ln>
                    </p:spPr>
                  </p:pic>
                </p:oleObj>
              </mc:Fallback>
            </mc:AlternateContent>
          </a:graphicData>
        </a:graphic>
      </p:graphicFrame>
      <p:graphicFrame>
        <p:nvGraphicFramePr>
          <p:cNvPr id="229415" name="Object 39"/>
          <p:cNvGraphicFramePr>
            <a:graphicFrameLocks noChangeAspect="1"/>
          </p:cNvGraphicFramePr>
          <p:nvPr/>
        </p:nvGraphicFramePr>
        <p:xfrm>
          <a:off x="3787775" y="3609975"/>
          <a:ext cx="1965325" cy="800100"/>
        </p:xfrm>
        <a:graphic>
          <a:graphicData uri="http://schemas.openxmlformats.org/presentationml/2006/ole">
            <mc:AlternateContent xmlns:mc="http://schemas.openxmlformats.org/markup-compatibility/2006">
              <mc:Choice xmlns:v="urn:schemas-microsoft-com:vml" Requires="v">
                <p:oleObj spid="_x0000_s51204" name="公式" r:id="rId5" imgW="26212800" imgH="10668000" progId="Equation.3">
                  <p:embed/>
                </p:oleObj>
              </mc:Choice>
              <mc:Fallback>
                <p:oleObj name="公式" r:id="rId5" imgW="26212800" imgH="10668000" progId="Equation.3">
                  <p:embed/>
                  <p:pic>
                    <p:nvPicPr>
                      <p:cNvPr id="0" name="Object 39"/>
                      <p:cNvPicPr>
                        <a:picLocks noChangeAspect="1"/>
                      </p:cNvPicPr>
                      <p:nvPr/>
                    </p:nvPicPr>
                    <p:blipFill>
                      <a:blip r:embed="rId6"/>
                      <a:stretch>
                        <a:fillRect/>
                      </a:stretch>
                    </p:blipFill>
                    <p:spPr>
                      <a:xfrm>
                        <a:off x="3787775" y="3609975"/>
                        <a:ext cx="1965325" cy="800100"/>
                      </a:xfrm>
                      <a:prstGeom prst="rect">
                        <a:avLst/>
                      </a:prstGeom>
                      <a:noFill/>
                      <a:ln w="9525">
                        <a:noFill/>
                      </a:ln>
                    </p:spPr>
                  </p:pic>
                </p:oleObj>
              </mc:Fallback>
            </mc:AlternateContent>
          </a:graphicData>
        </a:graphic>
      </p:graphicFrame>
      <p:sp>
        <p:nvSpPr>
          <p:cNvPr id="229416" name="AutoShape 40"/>
          <p:cNvSpPr>
            <a:spLocks noChangeArrowheads="1"/>
          </p:cNvSpPr>
          <p:nvPr/>
        </p:nvSpPr>
        <p:spPr bwMode="auto">
          <a:xfrm>
            <a:off x="5857875" y="3956050"/>
            <a:ext cx="508000" cy="104775"/>
          </a:xfrm>
          <a:prstGeom prst="rightArrow">
            <a:avLst>
              <a:gd name="adj1" fmla="val 50000"/>
              <a:gd name="adj2" fmla="val 121212"/>
            </a:avLst>
          </a:prstGeom>
          <a:solidFill>
            <a:srgbClr val="0000FF"/>
          </a:solidFill>
          <a:ln w="9525">
            <a:solidFill>
              <a:schemeClr val="tx1"/>
            </a:solidFill>
            <a:miter lim="800000"/>
          </a:ln>
        </p:spPr>
        <p:txBody>
          <a:bodyPr wrap="none" anchor="ctr"/>
          <a:lstStyle/>
          <a:p>
            <a:pPr algn="ctr"/>
            <a:endParaRPr lang="zh-CN" altLang="en-US"/>
          </a:p>
        </p:txBody>
      </p:sp>
      <p:graphicFrame>
        <p:nvGraphicFramePr>
          <p:cNvPr id="229417" name="Object 41"/>
          <p:cNvGraphicFramePr>
            <a:graphicFrameLocks noChangeAspect="1"/>
          </p:cNvGraphicFramePr>
          <p:nvPr/>
        </p:nvGraphicFramePr>
        <p:xfrm>
          <a:off x="6488113" y="3621088"/>
          <a:ext cx="1323975" cy="798512"/>
        </p:xfrm>
        <a:graphic>
          <a:graphicData uri="http://schemas.openxmlformats.org/presentationml/2006/ole">
            <mc:AlternateContent xmlns:mc="http://schemas.openxmlformats.org/markup-compatibility/2006">
              <mc:Choice xmlns:v="urn:schemas-microsoft-com:vml" Requires="v">
                <p:oleObj spid="_x0000_s51205" name="公式" r:id="rId7" imgW="17678400" imgH="10668000" progId="Equation.3">
                  <p:embed/>
                </p:oleObj>
              </mc:Choice>
              <mc:Fallback>
                <p:oleObj name="公式" r:id="rId7" imgW="17678400" imgH="10668000" progId="Equation.3">
                  <p:embed/>
                  <p:pic>
                    <p:nvPicPr>
                      <p:cNvPr id="0" name="Object 41"/>
                      <p:cNvPicPr>
                        <a:picLocks noChangeAspect="1"/>
                      </p:cNvPicPr>
                      <p:nvPr/>
                    </p:nvPicPr>
                    <p:blipFill>
                      <a:blip r:embed="rId8"/>
                      <a:stretch>
                        <a:fillRect/>
                      </a:stretch>
                    </p:blipFill>
                    <p:spPr>
                      <a:xfrm>
                        <a:off x="6488113" y="3621088"/>
                        <a:ext cx="1323975" cy="798512"/>
                      </a:xfrm>
                      <a:prstGeom prst="rect">
                        <a:avLst/>
                      </a:prstGeom>
                      <a:noFill/>
                      <a:ln w="9525">
                        <a:noFill/>
                      </a:ln>
                    </p:spPr>
                  </p:pic>
                </p:oleObj>
              </mc:Fallback>
            </mc:AlternateContent>
          </a:graphicData>
        </a:graphic>
      </p:graphicFrame>
      <p:sp>
        <p:nvSpPr>
          <p:cNvPr id="229418" name="Text Box 42"/>
          <p:cNvSpPr txBox="1">
            <a:spLocks noChangeArrowheads="1"/>
          </p:cNvSpPr>
          <p:nvPr/>
        </p:nvSpPr>
        <p:spPr bwMode="auto">
          <a:xfrm>
            <a:off x="520700" y="4625975"/>
            <a:ext cx="720725" cy="512763"/>
          </a:xfrm>
          <a:prstGeom prst="rect">
            <a:avLst/>
          </a:prstGeom>
          <a:noFill/>
          <a:ln w="9525">
            <a:noFill/>
            <a:miter lim="800000"/>
          </a:ln>
        </p:spPr>
        <p:txBody>
          <a:bodyPr>
            <a:spAutoFit/>
          </a:bodyPr>
          <a:lstStyle/>
          <a:p>
            <a:pPr>
              <a:lnSpc>
                <a:spcPct val="115000"/>
              </a:lnSpc>
              <a:defRPr/>
            </a:pPr>
            <a:r>
              <a:rPr lang="zh-CN" altLang="en-US" b="1">
                <a:ea typeface="+mn-ea"/>
                <a:cs typeface="Times New Roman" panose="02020603050405020304" pitchFamily="18" charset="0"/>
              </a:rPr>
              <a:t>则</a:t>
            </a:r>
            <a:endParaRPr lang="zh-CN" altLang="en-US" b="1">
              <a:ea typeface="+mn-ea"/>
              <a:cs typeface="Times New Roman" panose="02020603050405020304" pitchFamily="18" charset="0"/>
            </a:endParaRPr>
          </a:p>
        </p:txBody>
      </p:sp>
      <p:graphicFrame>
        <p:nvGraphicFramePr>
          <p:cNvPr id="229419" name="Object 43"/>
          <p:cNvGraphicFramePr>
            <a:graphicFrameLocks noChangeAspect="1"/>
          </p:cNvGraphicFramePr>
          <p:nvPr/>
        </p:nvGraphicFramePr>
        <p:xfrm>
          <a:off x="1244600" y="4608513"/>
          <a:ext cx="1598613" cy="800100"/>
        </p:xfrm>
        <a:graphic>
          <a:graphicData uri="http://schemas.openxmlformats.org/presentationml/2006/ole">
            <mc:AlternateContent xmlns:mc="http://schemas.openxmlformats.org/markup-compatibility/2006">
              <mc:Choice xmlns:v="urn:schemas-microsoft-com:vml" Requires="v">
                <p:oleObj spid="_x0000_s51206" name="公式" r:id="rId9" imgW="21336000" imgH="10668000" progId="Equation.3">
                  <p:embed/>
                </p:oleObj>
              </mc:Choice>
              <mc:Fallback>
                <p:oleObj name="公式" r:id="rId9" imgW="21336000" imgH="10668000" progId="Equation.3">
                  <p:embed/>
                  <p:pic>
                    <p:nvPicPr>
                      <p:cNvPr id="0" name="Object 43"/>
                      <p:cNvPicPr>
                        <a:picLocks noChangeAspect="1"/>
                      </p:cNvPicPr>
                      <p:nvPr/>
                    </p:nvPicPr>
                    <p:blipFill>
                      <a:blip r:embed="rId10"/>
                      <a:stretch>
                        <a:fillRect/>
                      </a:stretch>
                    </p:blipFill>
                    <p:spPr>
                      <a:xfrm>
                        <a:off x="1244600" y="4608513"/>
                        <a:ext cx="1598613" cy="800100"/>
                      </a:xfrm>
                      <a:prstGeom prst="rect">
                        <a:avLst/>
                      </a:prstGeom>
                      <a:noFill/>
                      <a:ln w="9525">
                        <a:noFill/>
                      </a:ln>
                    </p:spPr>
                  </p:pic>
                </p:oleObj>
              </mc:Fallback>
            </mc:AlternateContent>
          </a:graphicData>
        </a:graphic>
      </p:graphicFrame>
      <p:graphicFrame>
        <p:nvGraphicFramePr>
          <p:cNvPr id="229420" name="Object 44"/>
          <p:cNvGraphicFramePr>
            <a:graphicFrameLocks noChangeAspect="1"/>
          </p:cNvGraphicFramePr>
          <p:nvPr/>
        </p:nvGraphicFramePr>
        <p:xfrm>
          <a:off x="1096963" y="5543550"/>
          <a:ext cx="2170112" cy="798513"/>
        </p:xfrm>
        <a:graphic>
          <a:graphicData uri="http://schemas.openxmlformats.org/presentationml/2006/ole">
            <mc:AlternateContent xmlns:mc="http://schemas.openxmlformats.org/markup-compatibility/2006">
              <mc:Choice xmlns:v="urn:schemas-microsoft-com:vml" Requires="v">
                <p:oleObj spid="_x0000_s51207" name="公式" r:id="rId11" imgW="28956000" imgH="10668000" progId="Equation.3">
                  <p:embed/>
                </p:oleObj>
              </mc:Choice>
              <mc:Fallback>
                <p:oleObj name="公式" r:id="rId11" imgW="28956000" imgH="10668000" progId="Equation.3">
                  <p:embed/>
                  <p:pic>
                    <p:nvPicPr>
                      <p:cNvPr id="0" name="Object 44"/>
                      <p:cNvPicPr>
                        <a:picLocks noChangeAspect="1"/>
                      </p:cNvPicPr>
                      <p:nvPr/>
                    </p:nvPicPr>
                    <p:blipFill>
                      <a:blip r:embed="rId12"/>
                      <a:stretch>
                        <a:fillRect/>
                      </a:stretch>
                    </p:blipFill>
                    <p:spPr>
                      <a:xfrm>
                        <a:off x="1096963" y="5543550"/>
                        <a:ext cx="2170112" cy="798513"/>
                      </a:xfrm>
                      <a:prstGeom prst="rect">
                        <a:avLst/>
                      </a:prstGeom>
                      <a:noFill/>
                      <a:ln w="9525">
                        <a:noFill/>
                      </a:ln>
                    </p:spPr>
                  </p:pic>
                </p:oleObj>
              </mc:Fallback>
            </mc:AlternateContent>
          </a:graphicData>
        </a:graphic>
      </p:graphicFrame>
      <p:sp>
        <p:nvSpPr>
          <p:cNvPr id="229421" name="AutoShape 45"/>
          <p:cNvSpPr/>
          <p:nvPr/>
        </p:nvSpPr>
        <p:spPr bwMode="auto">
          <a:xfrm>
            <a:off x="3402013" y="4906963"/>
            <a:ext cx="215900" cy="1152525"/>
          </a:xfrm>
          <a:prstGeom prst="rightBrace">
            <a:avLst>
              <a:gd name="adj1" fmla="val 44485"/>
              <a:gd name="adj2" fmla="val 50000"/>
            </a:avLst>
          </a:prstGeom>
          <a:noFill/>
          <a:ln w="25400">
            <a:solidFill>
              <a:schemeClr val="tx1"/>
            </a:solidFill>
            <a:round/>
          </a:ln>
        </p:spPr>
        <p:txBody>
          <a:bodyPr wrap="none" anchor="ctr"/>
          <a:lstStyle/>
          <a:p>
            <a:pPr algn="ctr"/>
            <a:endParaRPr lang="zh-CN" altLang="en-US"/>
          </a:p>
        </p:txBody>
      </p:sp>
      <p:sp>
        <p:nvSpPr>
          <p:cNvPr id="229422" name="AutoShape 46"/>
          <p:cNvSpPr>
            <a:spLocks noChangeArrowheads="1"/>
          </p:cNvSpPr>
          <p:nvPr/>
        </p:nvSpPr>
        <p:spPr bwMode="auto">
          <a:xfrm>
            <a:off x="3716338" y="5411788"/>
            <a:ext cx="530225" cy="131762"/>
          </a:xfrm>
          <a:prstGeom prst="rightArrow">
            <a:avLst>
              <a:gd name="adj1" fmla="val 50000"/>
              <a:gd name="adj2" fmla="val 100603"/>
            </a:avLst>
          </a:prstGeom>
          <a:solidFill>
            <a:srgbClr val="0000FF"/>
          </a:solidFill>
          <a:ln w="9525">
            <a:solidFill>
              <a:schemeClr val="tx1"/>
            </a:solidFill>
            <a:miter lim="800000"/>
          </a:ln>
        </p:spPr>
        <p:txBody>
          <a:bodyPr wrap="none" anchor="ctr"/>
          <a:lstStyle/>
          <a:p>
            <a:pPr algn="ctr"/>
            <a:endParaRPr lang="zh-CN" altLang="en-US"/>
          </a:p>
        </p:txBody>
      </p:sp>
      <p:graphicFrame>
        <p:nvGraphicFramePr>
          <p:cNvPr id="229423" name="Object 47"/>
          <p:cNvGraphicFramePr>
            <a:graphicFrameLocks noChangeAspect="1"/>
          </p:cNvGraphicFramePr>
          <p:nvPr/>
        </p:nvGraphicFramePr>
        <p:xfrm>
          <a:off x="4641850" y="4689475"/>
          <a:ext cx="1235075" cy="730250"/>
        </p:xfrm>
        <a:graphic>
          <a:graphicData uri="http://schemas.openxmlformats.org/presentationml/2006/ole">
            <mc:AlternateContent xmlns:mc="http://schemas.openxmlformats.org/markup-compatibility/2006">
              <mc:Choice xmlns:v="urn:schemas-microsoft-com:vml" Requires="v">
                <p:oleObj spid="_x0000_s51208" name="公式" r:id="rId13" imgW="16459200" imgH="9753600" progId="Equation.3">
                  <p:embed/>
                </p:oleObj>
              </mc:Choice>
              <mc:Fallback>
                <p:oleObj name="公式" r:id="rId13" imgW="16459200" imgH="9753600" progId="Equation.3">
                  <p:embed/>
                  <p:pic>
                    <p:nvPicPr>
                      <p:cNvPr id="0" name="Object 47"/>
                      <p:cNvPicPr>
                        <a:picLocks noChangeAspect="1"/>
                      </p:cNvPicPr>
                      <p:nvPr/>
                    </p:nvPicPr>
                    <p:blipFill>
                      <a:blip r:embed="rId14"/>
                      <a:stretch>
                        <a:fillRect/>
                      </a:stretch>
                    </p:blipFill>
                    <p:spPr>
                      <a:xfrm>
                        <a:off x="4641850" y="4689475"/>
                        <a:ext cx="1235075" cy="730250"/>
                      </a:xfrm>
                      <a:prstGeom prst="rect">
                        <a:avLst/>
                      </a:prstGeom>
                      <a:noFill/>
                      <a:ln w="9525">
                        <a:noFill/>
                      </a:ln>
                    </p:spPr>
                  </p:pic>
                </p:oleObj>
              </mc:Fallback>
            </mc:AlternateContent>
          </a:graphicData>
        </a:graphic>
      </p:graphicFrame>
      <p:graphicFrame>
        <p:nvGraphicFramePr>
          <p:cNvPr id="229424" name="Object 48"/>
          <p:cNvGraphicFramePr>
            <a:graphicFrameLocks noChangeAspect="1"/>
          </p:cNvGraphicFramePr>
          <p:nvPr/>
        </p:nvGraphicFramePr>
        <p:xfrm>
          <a:off x="4691063" y="5589588"/>
          <a:ext cx="1141412" cy="730250"/>
        </p:xfrm>
        <a:graphic>
          <a:graphicData uri="http://schemas.openxmlformats.org/presentationml/2006/ole">
            <mc:AlternateContent xmlns:mc="http://schemas.openxmlformats.org/markup-compatibility/2006">
              <mc:Choice xmlns:v="urn:schemas-microsoft-com:vml" Requires="v">
                <p:oleObj spid="_x0000_s51209" name="公式" r:id="rId15" imgW="15240000" imgH="9753600" progId="Equation.3">
                  <p:embed/>
                </p:oleObj>
              </mc:Choice>
              <mc:Fallback>
                <p:oleObj name="公式" r:id="rId15" imgW="15240000" imgH="9753600" progId="Equation.3">
                  <p:embed/>
                  <p:pic>
                    <p:nvPicPr>
                      <p:cNvPr id="0" name="Object 48"/>
                      <p:cNvPicPr>
                        <a:picLocks noChangeAspect="1"/>
                      </p:cNvPicPr>
                      <p:nvPr/>
                    </p:nvPicPr>
                    <p:blipFill>
                      <a:blip r:embed="rId16"/>
                      <a:stretch>
                        <a:fillRect/>
                      </a:stretch>
                    </p:blipFill>
                    <p:spPr>
                      <a:xfrm>
                        <a:off x="4691063" y="5589588"/>
                        <a:ext cx="1141412" cy="730250"/>
                      </a:xfrm>
                      <a:prstGeom prst="rect">
                        <a:avLst/>
                      </a:prstGeom>
                      <a:noFill/>
                      <a:ln w="9525">
                        <a:noFill/>
                      </a:ln>
                    </p:spPr>
                  </p:pic>
                </p:oleObj>
              </mc:Fallback>
            </mc:AlternateContent>
          </a:graphicData>
        </a:graphic>
      </p:graphicFrame>
      <p:sp>
        <p:nvSpPr>
          <p:cNvPr id="229425" name="AutoShape 49"/>
          <p:cNvSpPr/>
          <p:nvPr/>
        </p:nvSpPr>
        <p:spPr bwMode="auto">
          <a:xfrm>
            <a:off x="4346575" y="4914900"/>
            <a:ext cx="180975" cy="1169988"/>
          </a:xfrm>
          <a:prstGeom prst="leftBrace">
            <a:avLst>
              <a:gd name="adj1" fmla="val 53874"/>
              <a:gd name="adj2" fmla="val 50000"/>
            </a:avLst>
          </a:prstGeom>
          <a:noFill/>
          <a:ln w="25400">
            <a:solidFill>
              <a:schemeClr val="tx1"/>
            </a:solidFill>
            <a:round/>
          </a:ln>
        </p:spPr>
        <p:txBody>
          <a:bodyPr wrap="none" anchor="ctr"/>
          <a:lstStyle/>
          <a:p>
            <a:pPr algn="ctr"/>
            <a:endParaRPr lang="zh-CN" altLang="en-US"/>
          </a:p>
        </p:txBody>
      </p:sp>
      <p:graphicFrame>
        <p:nvGraphicFramePr>
          <p:cNvPr id="229426" name="Object 50"/>
          <p:cNvGraphicFramePr>
            <a:graphicFrameLocks noChangeAspect="1"/>
          </p:cNvGraphicFramePr>
          <p:nvPr/>
        </p:nvGraphicFramePr>
        <p:xfrm>
          <a:off x="6507163" y="5094288"/>
          <a:ext cx="2303462" cy="730250"/>
        </p:xfrm>
        <a:graphic>
          <a:graphicData uri="http://schemas.openxmlformats.org/presentationml/2006/ole">
            <mc:AlternateContent xmlns:mc="http://schemas.openxmlformats.org/markup-compatibility/2006">
              <mc:Choice xmlns:v="urn:schemas-microsoft-com:vml" Requires="v">
                <p:oleObj spid="_x0000_s51210" name="公式" r:id="rId17" imgW="30784800" imgH="9753600" progId="Equation.3">
                  <p:embed/>
                </p:oleObj>
              </mc:Choice>
              <mc:Fallback>
                <p:oleObj name="公式" r:id="rId17" imgW="30784800" imgH="9753600" progId="Equation.3">
                  <p:embed/>
                  <p:pic>
                    <p:nvPicPr>
                      <p:cNvPr id="0" name="Object 50"/>
                      <p:cNvPicPr>
                        <a:picLocks noChangeAspect="1"/>
                      </p:cNvPicPr>
                      <p:nvPr/>
                    </p:nvPicPr>
                    <p:blipFill>
                      <a:blip r:embed="rId18"/>
                      <a:stretch>
                        <a:fillRect/>
                      </a:stretch>
                    </p:blipFill>
                    <p:spPr>
                      <a:xfrm>
                        <a:off x="6507163" y="5094288"/>
                        <a:ext cx="2303462" cy="730250"/>
                      </a:xfrm>
                      <a:prstGeom prst="rect">
                        <a:avLst/>
                      </a:prstGeom>
                      <a:noFill/>
                      <a:ln w="9525">
                        <a:noFill/>
                      </a:ln>
                    </p:spPr>
                  </p:pic>
                </p:oleObj>
              </mc:Fallback>
            </mc:AlternateContent>
          </a:graphicData>
        </a:graphic>
      </p:graphicFrame>
      <p:sp>
        <p:nvSpPr>
          <p:cNvPr id="229427" name="AutoShape 51"/>
          <p:cNvSpPr>
            <a:spLocks noChangeArrowheads="1"/>
          </p:cNvSpPr>
          <p:nvPr/>
        </p:nvSpPr>
        <p:spPr bwMode="auto">
          <a:xfrm>
            <a:off x="5859463" y="5373688"/>
            <a:ext cx="557212" cy="136525"/>
          </a:xfrm>
          <a:prstGeom prst="rightArrow">
            <a:avLst>
              <a:gd name="adj1" fmla="val 50000"/>
              <a:gd name="adj2" fmla="val 102035"/>
            </a:avLst>
          </a:prstGeom>
          <a:solidFill>
            <a:srgbClr val="0000FF"/>
          </a:solidFill>
          <a:ln w="9525">
            <a:solidFill>
              <a:schemeClr val="tx1"/>
            </a:solidFill>
            <a:miter lim="800000"/>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9404"/>
                                        </p:tgtEl>
                                        <p:attrNameLst>
                                          <p:attrName>style.visibility</p:attrName>
                                        </p:attrNameLst>
                                      </p:cBhvr>
                                      <p:to>
                                        <p:strVal val="visible"/>
                                      </p:to>
                                    </p:set>
                                    <p:animEffect transition="in" filter="wipe(left)">
                                      <p:cBhvr>
                                        <p:cTn id="7" dur="500"/>
                                        <p:tgtEl>
                                          <p:spTgt spid="2294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9410"/>
                                        </p:tgtEl>
                                        <p:attrNameLst>
                                          <p:attrName>style.visibility</p:attrName>
                                        </p:attrNameLst>
                                      </p:cBhvr>
                                      <p:to>
                                        <p:strVal val="visible"/>
                                      </p:to>
                                    </p:set>
                                    <p:animEffect transition="in" filter="wipe(left)">
                                      <p:cBhvr>
                                        <p:cTn id="12" dur="500"/>
                                        <p:tgtEl>
                                          <p:spTgt spid="2294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29406"/>
                                        </p:tgtEl>
                                        <p:attrNameLst>
                                          <p:attrName>style.visibility</p:attrName>
                                        </p:attrNameLst>
                                      </p:cBhvr>
                                      <p:to>
                                        <p:strVal val="visible"/>
                                      </p:to>
                                    </p:set>
                                    <p:animEffect transition="in" filter="wipe(up)">
                                      <p:cBhvr>
                                        <p:cTn id="17" dur="500"/>
                                        <p:tgtEl>
                                          <p:spTgt spid="229406"/>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29407"/>
                                        </p:tgtEl>
                                        <p:attrNameLst>
                                          <p:attrName>style.visibility</p:attrName>
                                        </p:attrNameLst>
                                      </p:cBhvr>
                                      <p:to>
                                        <p:strVal val="visible"/>
                                      </p:to>
                                    </p:set>
                                    <p:animEffect transition="in" filter="wipe(up)">
                                      <p:cBhvr>
                                        <p:cTn id="20" dur="500"/>
                                        <p:tgtEl>
                                          <p:spTgt spid="22940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29405"/>
                                        </p:tgtEl>
                                        <p:attrNameLst>
                                          <p:attrName>style.visibility</p:attrName>
                                        </p:attrNameLst>
                                      </p:cBhvr>
                                      <p:to>
                                        <p:strVal val="visible"/>
                                      </p:to>
                                    </p:set>
                                    <p:animEffect transition="in" filter="wipe(up)">
                                      <p:cBhvr>
                                        <p:cTn id="25" dur="500"/>
                                        <p:tgtEl>
                                          <p:spTgt spid="229405"/>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29408"/>
                                        </p:tgtEl>
                                        <p:attrNameLst>
                                          <p:attrName>style.visibility</p:attrName>
                                        </p:attrNameLst>
                                      </p:cBhvr>
                                      <p:to>
                                        <p:strVal val="visible"/>
                                      </p:to>
                                    </p:set>
                                    <p:animEffect transition="in" filter="wipe(left)">
                                      <p:cBhvr>
                                        <p:cTn id="29" dur="500"/>
                                        <p:tgtEl>
                                          <p:spTgt spid="229408"/>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229409"/>
                                        </p:tgtEl>
                                        <p:attrNameLst>
                                          <p:attrName>style.visibility</p:attrName>
                                        </p:attrNameLst>
                                      </p:cBhvr>
                                      <p:to>
                                        <p:strVal val="visible"/>
                                      </p:to>
                                    </p:set>
                                    <p:animEffect transition="in" filter="wipe(left)">
                                      <p:cBhvr>
                                        <p:cTn id="33" dur="500"/>
                                        <p:tgtEl>
                                          <p:spTgt spid="22940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29411"/>
                                        </p:tgtEl>
                                        <p:attrNameLst>
                                          <p:attrName>style.visibility</p:attrName>
                                        </p:attrNameLst>
                                      </p:cBhvr>
                                      <p:to>
                                        <p:strVal val="visible"/>
                                      </p:to>
                                    </p:set>
                                    <p:animEffect transition="in" filter="wipe(left)">
                                      <p:cBhvr>
                                        <p:cTn id="38" dur="500"/>
                                        <p:tgtEl>
                                          <p:spTgt spid="2294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29412"/>
                                        </p:tgtEl>
                                        <p:attrNameLst>
                                          <p:attrName>style.visibility</p:attrName>
                                        </p:attrNameLst>
                                      </p:cBhvr>
                                      <p:to>
                                        <p:strVal val="visible"/>
                                      </p:to>
                                    </p:set>
                                    <p:animEffect transition="in" filter="wipe(left)">
                                      <p:cBhvr>
                                        <p:cTn id="43" dur="500"/>
                                        <p:tgtEl>
                                          <p:spTgt spid="22941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29414"/>
                                        </p:tgtEl>
                                        <p:attrNameLst>
                                          <p:attrName>style.visibility</p:attrName>
                                        </p:attrNameLst>
                                      </p:cBhvr>
                                      <p:to>
                                        <p:strVal val="visible"/>
                                      </p:to>
                                    </p:set>
                                    <p:animEffect transition="in" filter="wipe(left)">
                                      <p:cBhvr>
                                        <p:cTn id="48" dur="500"/>
                                        <p:tgtEl>
                                          <p:spTgt spid="2294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29413"/>
                                        </p:tgtEl>
                                        <p:attrNameLst>
                                          <p:attrName>style.visibility</p:attrName>
                                        </p:attrNameLst>
                                      </p:cBhvr>
                                      <p:to>
                                        <p:strVal val="visible"/>
                                      </p:to>
                                    </p:set>
                                    <p:animEffect transition="in" filter="wipe(left)">
                                      <p:cBhvr>
                                        <p:cTn id="53" dur="500"/>
                                        <p:tgtEl>
                                          <p:spTgt spid="229413"/>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229415"/>
                                        </p:tgtEl>
                                        <p:attrNameLst>
                                          <p:attrName>style.visibility</p:attrName>
                                        </p:attrNameLst>
                                      </p:cBhvr>
                                      <p:to>
                                        <p:strVal val="visible"/>
                                      </p:to>
                                    </p:set>
                                    <p:animEffect transition="in" filter="wipe(left)">
                                      <p:cBhvr>
                                        <p:cTn id="57" dur="500"/>
                                        <p:tgtEl>
                                          <p:spTgt spid="22941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29416"/>
                                        </p:tgtEl>
                                        <p:attrNameLst>
                                          <p:attrName>style.visibility</p:attrName>
                                        </p:attrNameLst>
                                      </p:cBhvr>
                                      <p:to>
                                        <p:strVal val="visible"/>
                                      </p:to>
                                    </p:set>
                                    <p:animEffect transition="in" filter="wipe(left)">
                                      <p:cBhvr>
                                        <p:cTn id="62" dur="500"/>
                                        <p:tgtEl>
                                          <p:spTgt spid="229416"/>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229417"/>
                                        </p:tgtEl>
                                        <p:attrNameLst>
                                          <p:attrName>style.visibility</p:attrName>
                                        </p:attrNameLst>
                                      </p:cBhvr>
                                      <p:to>
                                        <p:strVal val="visible"/>
                                      </p:to>
                                    </p:set>
                                    <p:animEffect transition="in" filter="wipe(left)">
                                      <p:cBhvr>
                                        <p:cTn id="66" dur="500"/>
                                        <p:tgtEl>
                                          <p:spTgt spid="22941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29418"/>
                                        </p:tgtEl>
                                        <p:attrNameLst>
                                          <p:attrName>style.visibility</p:attrName>
                                        </p:attrNameLst>
                                      </p:cBhvr>
                                      <p:to>
                                        <p:strVal val="visible"/>
                                      </p:to>
                                    </p:set>
                                    <p:animEffect transition="in" filter="wipe(left)">
                                      <p:cBhvr>
                                        <p:cTn id="71" dur="500"/>
                                        <p:tgtEl>
                                          <p:spTgt spid="22941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29419"/>
                                        </p:tgtEl>
                                        <p:attrNameLst>
                                          <p:attrName>style.visibility</p:attrName>
                                        </p:attrNameLst>
                                      </p:cBhvr>
                                      <p:to>
                                        <p:strVal val="visible"/>
                                      </p:to>
                                    </p:set>
                                    <p:animEffect transition="in" filter="wipe(left)">
                                      <p:cBhvr>
                                        <p:cTn id="76" dur="500"/>
                                        <p:tgtEl>
                                          <p:spTgt spid="22941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29420"/>
                                        </p:tgtEl>
                                        <p:attrNameLst>
                                          <p:attrName>style.visibility</p:attrName>
                                        </p:attrNameLst>
                                      </p:cBhvr>
                                      <p:to>
                                        <p:strVal val="visible"/>
                                      </p:to>
                                    </p:set>
                                    <p:animEffect transition="in" filter="wipe(left)">
                                      <p:cBhvr>
                                        <p:cTn id="81" dur="500"/>
                                        <p:tgtEl>
                                          <p:spTgt spid="229420"/>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29421"/>
                                        </p:tgtEl>
                                        <p:attrNameLst>
                                          <p:attrName>style.visibility</p:attrName>
                                        </p:attrNameLst>
                                      </p:cBhvr>
                                      <p:to>
                                        <p:strVal val="visible"/>
                                      </p:to>
                                    </p:set>
                                    <p:animEffect transition="in" filter="blinds(horizontal)">
                                      <p:cBhvr>
                                        <p:cTn id="86" dur="500"/>
                                        <p:tgtEl>
                                          <p:spTgt spid="229421"/>
                                        </p:tgtEl>
                                      </p:cBhvr>
                                    </p:animEffect>
                                  </p:childTnLst>
                                </p:cTn>
                              </p:par>
                            </p:childTnLst>
                          </p:cTn>
                        </p:par>
                        <p:par>
                          <p:cTn id="87" fill="hold">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229422"/>
                                        </p:tgtEl>
                                        <p:attrNameLst>
                                          <p:attrName>style.visibility</p:attrName>
                                        </p:attrNameLst>
                                      </p:cBhvr>
                                      <p:to>
                                        <p:strVal val="visible"/>
                                      </p:to>
                                    </p:set>
                                    <p:animEffect transition="in" filter="wipe(left)">
                                      <p:cBhvr>
                                        <p:cTn id="90" dur="500"/>
                                        <p:tgtEl>
                                          <p:spTgt spid="229422"/>
                                        </p:tgtEl>
                                      </p:cBhvr>
                                    </p:animEffect>
                                  </p:childTnLst>
                                </p:cTn>
                              </p:par>
                            </p:childTnLst>
                          </p:cTn>
                        </p:par>
                        <p:par>
                          <p:cTn id="91" fill="hold">
                            <p:stCondLst>
                              <p:cond delay="1000"/>
                            </p:stCondLst>
                            <p:childTnLst>
                              <p:par>
                                <p:cTn id="92" presetID="22" presetClass="entr" presetSubtype="8" fill="hold" grpId="0" nodeType="afterEffect">
                                  <p:stCondLst>
                                    <p:cond delay="0"/>
                                  </p:stCondLst>
                                  <p:childTnLst>
                                    <p:set>
                                      <p:cBhvr>
                                        <p:cTn id="93" dur="1" fill="hold">
                                          <p:stCondLst>
                                            <p:cond delay="0"/>
                                          </p:stCondLst>
                                        </p:cTn>
                                        <p:tgtEl>
                                          <p:spTgt spid="229425"/>
                                        </p:tgtEl>
                                        <p:attrNameLst>
                                          <p:attrName>style.visibility</p:attrName>
                                        </p:attrNameLst>
                                      </p:cBhvr>
                                      <p:to>
                                        <p:strVal val="visible"/>
                                      </p:to>
                                    </p:set>
                                    <p:animEffect transition="in" filter="wipe(left)">
                                      <p:cBhvr>
                                        <p:cTn id="94" dur="500"/>
                                        <p:tgtEl>
                                          <p:spTgt spid="22942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229423"/>
                                        </p:tgtEl>
                                        <p:attrNameLst>
                                          <p:attrName>style.visibility</p:attrName>
                                        </p:attrNameLst>
                                      </p:cBhvr>
                                      <p:to>
                                        <p:strVal val="visible"/>
                                      </p:to>
                                    </p:set>
                                    <p:animEffect transition="in" filter="wipe(left)">
                                      <p:cBhvr>
                                        <p:cTn id="99" dur="500"/>
                                        <p:tgtEl>
                                          <p:spTgt spid="229423"/>
                                        </p:tgtEl>
                                      </p:cBhvr>
                                    </p:animEffect>
                                  </p:childTnLst>
                                </p:cTn>
                              </p:par>
                            </p:childTnLst>
                          </p:cTn>
                        </p:par>
                        <p:par>
                          <p:cTn id="100" fill="hold">
                            <p:stCondLst>
                              <p:cond delay="500"/>
                            </p:stCondLst>
                            <p:childTnLst>
                              <p:par>
                                <p:cTn id="101" presetID="22" presetClass="entr" presetSubtype="8" fill="hold" nodeType="afterEffect">
                                  <p:stCondLst>
                                    <p:cond delay="0"/>
                                  </p:stCondLst>
                                  <p:childTnLst>
                                    <p:set>
                                      <p:cBhvr>
                                        <p:cTn id="102" dur="1" fill="hold">
                                          <p:stCondLst>
                                            <p:cond delay="0"/>
                                          </p:stCondLst>
                                        </p:cTn>
                                        <p:tgtEl>
                                          <p:spTgt spid="229424"/>
                                        </p:tgtEl>
                                        <p:attrNameLst>
                                          <p:attrName>style.visibility</p:attrName>
                                        </p:attrNameLst>
                                      </p:cBhvr>
                                      <p:to>
                                        <p:strVal val="visible"/>
                                      </p:to>
                                    </p:set>
                                    <p:animEffect transition="in" filter="wipe(left)">
                                      <p:cBhvr>
                                        <p:cTn id="103" dur="500"/>
                                        <p:tgtEl>
                                          <p:spTgt spid="229424"/>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29427"/>
                                        </p:tgtEl>
                                        <p:attrNameLst>
                                          <p:attrName>style.visibility</p:attrName>
                                        </p:attrNameLst>
                                      </p:cBhvr>
                                      <p:to>
                                        <p:strVal val="visible"/>
                                      </p:to>
                                    </p:set>
                                    <p:animEffect transition="in" filter="wipe(left)">
                                      <p:cBhvr>
                                        <p:cTn id="108" dur="500"/>
                                        <p:tgtEl>
                                          <p:spTgt spid="229427"/>
                                        </p:tgtEl>
                                      </p:cBhvr>
                                    </p:animEffect>
                                  </p:childTnLst>
                                </p:cTn>
                              </p:par>
                            </p:childTnLst>
                          </p:cTn>
                        </p:par>
                        <p:par>
                          <p:cTn id="109" fill="hold">
                            <p:stCondLst>
                              <p:cond delay="500"/>
                            </p:stCondLst>
                            <p:childTnLst>
                              <p:par>
                                <p:cTn id="110" presetID="22" presetClass="entr" presetSubtype="8" fill="hold" nodeType="afterEffect">
                                  <p:stCondLst>
                                    <p:cond delay="0"/>
                                  </p:stCondLst>
                                  <p:childTnLst>
                                    <p:set>
                                      <p:cBhvr>
                                        <p:cTn id="111" dur="1" fill="hold">
                                          <p:stCondLst>
                                            <p:cond delay="0"/>
                                          </p:stCondLst>
                                        </p:cTn>
                                        <p:tgtEl>
                                          <p:spTgt spid="229426"/>
                                        </p:tgtEl>
                                        <p:attrNameLst>
                                          <p:attrName>style.visibility</p:attrName>
                                        </p:attrNameLst>
                                      </p:cBhvr>
                                      <p:to>
                                        <p:strVal val="visible"/>
                                      </p:to>
                                    </p:set>
                                    <p:animEffect transition="in" filter="wipe(left)">
                                      <p:cBhvr>
                                        <p:cTn id="112" dur="500"/>
                                        <p:tgtEl>
                                          <p:spTgt spid="229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404" grpId="0"/>
      <p:bldP spid="229405" grpId="0" animBg="1"/>
      <p:bldP spid="229406" grpId="0" animBg="1"/>
      <p:bldP spid="229407" grpId="0"/>
      <p:bldP spid="229408" grpId="0" animBg="1"/>
      <p:bldP spid="229409" grpId="0"/>
      <p:bldP spid="229410" grpId="0"/>
      <p:bldP spid="229412" grpId="0"/>
      <p:bldP spid="229413" grpId="0" animBg="1"/>
      <p:bldP spid="229416" grpId="0" animBg="1"/>
      <p:bldP spid="229418" grpId="0"/>
      <p:bldP spid="229421" grpId="0" animBg="1"/>
      <p:bldP spid="229422" grpId="0" animBg="1"/>
      <p:bldP spid="229425" grpId="0" animBg="1"/>
      <p:bldP spid="22942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Freeform 2"/>
          <p:cNvSpPr/>
          <p:nvPr/>
        </p:nvSpPr>
        <p:spPr bwMode="auto">
          <a:xfrm>
            <a:off x="7669213" y="2168525"/>
            <a:ext cx="142875" cy="631825"/>
          </a:xfrm>
          <a:custGeom>
            <a:avLst/>
            <a:gdLst>
              <a:gd name="T0" fmla="*/ 2147483647 w 90"/>
              <a:gd name="T1" fmla="*/ 0 h 398"/>
              <a:gd name="T2" fmla="*/ 2147483647 w 90"/>
              <a:gd name="T3" fmla="*/ 2147483647 h 398"/>
              <a:gd name="T4" fmla="*/ 2147483647 w 90"/>
              <a:gd name="T5" fmla="*/ 2147483647 h 398"/>
              <a:gd name="T6" fmla="*/ 0 w 90"/>
              <a:gd name="T7" fmla="*/ 2147483647 h 398"/>
              <a:gd name="T8" fmla="*/ 2147483647 w 90"/>
              <a:gd name="T9" fmla="*/ 0 h 398"/>
              <a:gd name="T10" fmla="*/ 0 60000 65536"/>
              <a:gd name="T11" fmla="*/ 0 60000 65536"/>
              <a:gd name="T12" fmla="*/ 0 60000 65536"/>
              <a:gd name="T13" fmla="*/ 0 60000 65536"/>
              <a:gd name="T14" fmla="*/ 0 60000 65536"/>
              <a:gd name="T15" fmla="*/ 0 w 90"/>
              <a:gd name="T16" fmla="*/ 0 h 398"/>
              <a:gd name="T17" fmla="*/ 90 w 90"/>
              <a:gd name="T18" fmla="*/ 398 h 398"/>
            </a:gdLst>
            <a:ahLst/>
            <a:cxnLst>
              <a:cxn ang="T10">
                <a:pos x="T0" y="T1"/>
              </a:cxn>
              <a:cxn ang="T11">
                <a:pos x="T2" y="T3"/>
              </a:cxn>
              <a:cxn ang="T12">
                <a:pos x="T4" y="T5"/>
              </a:cxn>
              <a:cxn ang="T13">
                <a:pos x="T6" y="T7"/>
              </a:cxn>
              <a:cxn ang="T14">
                <a:pos x="T8" y="T9"/>
              </a:cxn>
            </a:cxnLst>
            <a:rect l="T15" t="T16" r="T17" b="T18"/>
            <a:pathLst>
              <a:path w="90" h="398">
                <a:moveTo>
                  <a:pt x="8" y="0"/>
                </a:moveTo>
                <a:lnTo>
                  <a:pt x="90" y="74"/>
                </a:lnTo>
                <a:lnTo>
                  <a:pt x="82" y="398"/>
                </a:lnTo>
                <a:lnTo>
                  <a:pt x="0" y="398"/>
                </a:lnTo>
                <a:lnTo>
                  <a:pt x="8" y="0"/>
                </a:lnTo>
                <a:close/>
              </a:path>
            </a:pathLst>
          </a:custGeom>
          <a:pattFill prst="wdUpDiag">
            <a:fgClr>
              <a:srgbClr val="008000"/>
            </a:fgClr>
            <a:bgClr>
              <a:srgbClr val="DDDDDD"/>
            </a:bgClr>
          </a:pattFill>
          <a:ln w="9525">
            <a:noFill/>
            <a:round/>
          </a:ln>
        </p:spPr>
        <p:txBody>
          <a:bodyPr/>
          <a:lstStyle/>
          <a:p>
            <a:pPr algn="ctr"/>
            <a:endParaRPr lang="zh-CN" altLang="en-US"/>
          </a:p>
        </p:txBody>
      </p:sp>
      <p:sp>
        <p:nvSpPr>
          <p:cNvPr id="230403" name="Freeform 3"/>
          <p:cNvSpPr/>
          <p:nvPr/>
        </p:nvSpPr>
        <p:spPr bwMode="auto">
          <a:xfrm>
            <a:off x="7243763" y="1719263"/>
            <a:ext cx="433387" cy="1027112"/>
          </a:xfrm>
          <a:custGeom>
            <a:avLst/>
            <a:gdLst>
              <a:gd name="T0" fmla="*/ 0 w 273"/>
              <a:gd name="T1" fmla="*/ 0 h 635"/>
              <a:gd name="T2" fmla="*/ 2147483647 w 273"/>
              <a:gd name="T3" fmla="*/ 2147483647 h 635"/>
              <a:gd name="T4" fmla="*/ 2147483647 w 273"/>
              <a:gd name="T5" fmla="*/ 2147483647 h 635"/>
              <a:gd name="T6" fmla="*/ 0 w 273"/>
              <a:gd name="T7" fmla="*/ 2147483647 h 635"/>
              <a:gd name="T8" fmla="*/ 0 w 273"/>
              <a:gd name="T9" fmla="*/ 0 h 635"/>
              <a:gd name="T10" fmla="*/ 0 60000 65536"/>
              <a:gd name="T11" fmla="*/ 0 60000 65536"/>
              <a:gd name="T12" fmla="*/ 0 60000 65536"/>
              <a:gd name="T13" fmla="*/ 0 60000 65536"/>
              <a:gd name="T14" fmla="*/ 0 60000 65536"/>
              <a:gd name="T15" fmla="*/ 0 w 273"/>
              <a:gd name="T16" fmla="*/ 0 h 635"/>
              <a:gd name="T17" fmla="*/ 273 w 273"/>
              <a:gd name="T18" fmla="*/ 635 h 635"/>
            </a:gdLst>
            <a:ahLst/>
            <a:cxnLst>
              <a:cxn ang="T10">
                <a:pos x="T0" y="T1"/>
              </a:cxn>
              <a:cxn ang="T11">
                <a:pos x="T2" y="T3"/>
              </a:cxn>
              <a:cxn ang="T12">
                <a:pos x="T4" y="T5"/>
              </a:cxn>
              <a:cxn ang="T13">
                <a:pos x="T6" y="T7"/>
              </a:cxn>
              <a:cxn ang="T14">
                <a:pos x="T8" y="T9"/>
              </a:cxn>
            </a:cxnLst>
            <a:rect l="T15" t="T16" r="T17" b="T18"/>
            <a:pathLst>
              <a:path w="273" h="635">
                <a:moveTo>
                  <a:pt x="0" y="0"/>
                </a:moveTo>
                <a:lnTo>
                  <a:pt x="273" y="273"/>
                </a:lnTo>
                <a:lnTo>
                  <a:pt x="273" y="635"/>
                </a:lnTo>
                <a:lnTo>
                  <a:pt x="0" y="635"/>
                </a:lnTo>
                <a:lnTo>
                  <a:pt x="0" y="0"/>
                </a:lnTo>
                <a:close/>
              </a:path>
            </a:pathLst>
          </a:custGeom>
          <a:pattFill prst="wdUpDiag">
            <a:fgClr>
              <a:srgbClr val="FF0000"/>
            </a:fgClr>
            <a:bgClr>
              <a:srgbClr val="DDDDDD"/>
            </a:bgClr>
          </a:pattFill>
          <a:ln w="9525">
            <a:noFill/>
            <a:round/>
          </a:ln>
        </p:spPr>
        <p:txBody>
          <a:bodyPr/>
          <a:lstStyle/>
          <a:p>
            <a:pPr algn="ctr"/>
            <a:endParaRPr lang="zh-CN" altLang="en-US"/>
          </a:p>
        </p:txBody>
      </p:sp>
      <p:sp>
        <p:nvSpPr>
          <p:cNvPr id="230404" name="Line 4"/>
          <p:cNvSpPr>
            <a:spLocks noChangeShapeType="1"/>
          </p:cNvSpPr>
          <p:nvPr/>
        </p:nvSpPr>
        <p:spPr bwMode="auto">
          <a:xfrm>
            <a:off x="7677150" y="2103438"/>
            <a:ext cx="0" cy="647700"/>
          </a:xfrm>
          <a:prstGeom prst="line">
            <a:avLst/>
          </a:prstGeom>
          <a:noFill/>
          <a:ln w="9525">
            <a:solidFill>
              <a:schemeClr val="tx1"/>
            </a:solidFill>
            <a:prstDash val="dash"/>
            <a:round/>
          </a:ln>
        </p:spPr>
        <p:txBody>
          <a:bodyPr/>
          <a:lstStyle/>
          <a:p>
            <a:endParaRPr lang="zh-CN" altLang="en-US"/>
          </a:p>
        </p:txBody>
      </p:sp>
      <p:grpSp>
        <p:nvGrpSpPr>
          <p:cNvPr id="52243" name="Group 5"/>
          <p:cNvGrpSpPr/>
          <p:nvPr/>
        </p:nvGrpSpPr>
        <p:grpSpPr bwMode="auto">
          <a:xfrm>
            <a:off x="6327775" y="1179513"/>
            <a:ext cx="2397125" cy="1989137"/>
            <a:chOff x="4063" y="935"/>
            <a:chExt cx="1510" cy="1253"/>
          </a:xfrm>
        </p:grpSpPr>
        <p:grpSp>
          <p:nvGrpSpPr>
            <p:cNvPr id="52250" name="Group 6"/>
            <p:cNvGrpSpPr/>
            <p:nvPr/>
          </p:nvGrpSpPr>
          <p:grpSpPr bwMode="auto">
            <a:xfrm>
              <a:off x="4076" y="935"/>
              <a:ext cx="1497" cy="1231"/>
              <a:chOff x="4150" y="1752"/>
              <a:chExt cx="1497" cy="1231"/>
            </a:xfrm>
          </p:grpSpPr>
          <p:sp>
            <p:nvSpPr>
              <p:cNvPr id="52272" name="Line 7"/>
              <p:cNvSpPr>
                <a:spLocks noChangeShapeType="1"/>
              </p:cNvSpPr>
              <p:nvPr/>
            </p:nvSpPr>
            <p:spPr bwMode="auto">
              <a:xfrm flipV="1">
                <a:off x="4377" y="1842"/>
                <a:ext cx="0" cy="908"/>
              </a:xfrm>
              <a:prstGeom prst="line">
                <a:avLst/>
              </a:prstGeom>
              <a:noFill/>
              <a:ln w="38100">
                <a:solidFill>
                  <a:schemeClr val="tx1"/>
                </a:solidFill>
                <a:round/>
                <a:tailEnd type="triangle" w="med" len="med"/>
              </a:ln>
            </p:spPr>
            <p:txBody>
              <a:bodyPr/>
              <a:lstStyle/>
              <a:p>
                <a:endParaRPr lang="zh-CN" altLang="en-US"/>
              </a:p>
            </p:txBody>
          </p:sp>
          <p:sp>
            <p:nvSpPr>
              <p:cNvPr id="52273" name="Line 8"/>
              <p:cNvSpPr>
                <a:spLocks noChangeShapeType="1"/>
              </p:cNvSpPr>
              <p:nvPr/>
            </p:nvSpPr>
            <p:spPr bwMode="auto">
              <a:xfrm>
                <a:off x="4365" y="2750"/>
                <a:ext cx="1043" cy="0"/>
              </a:xfrm>
              <a:prstGeom prst="line">
                <a:avLst/>
              </a:prstGeom>
              <a:noFill/>
              <a:ln w="38100">
                <a:solidFill>
                  <a:schemeClr val="tx1"/>
                </a:solidFill>
                <a:round/>
                <a:tailEnd type="triangle" w="med" len="med"/>
              </a:ln>
            </p:spPr>
            <p:txBody>
              <a:bodyPr/>
              <a:lstStyle/>
              <a:p>
                <a:endParaRPr lang="zh-CN" altLang="en-US"/>
              </a:p>
            </p:txBody>
          </p:sp>
          <p:sp>
            <p:nvSpPr>
              <p:cNvPr id="52274" name="Text Box 9"/>
              <p:cNvSpPr txBox="1">
                <a:spLocks noChangeArrowheads="1"/>
              </p:cNvSpPr>
              <p:nvPr/>
            </p:nvSpPr>
            <p:spPr bwMode="auto">
              <a:xfrm>
                <a:off x="4150" y="2704"/>
                <a:ext cx="408" cy="279"/>
              </a:xfrm>
              <a:prstGeom prst="rect">
                <a:avLst/>
              </a:prstGeom>
              <a:noFill/>
              <a:ln w="9525">
                <a:noFill/>
                <a:miter lim="800000"/>
              </a:ln>
            </p:spPr>
            <p:txBody>
              <a:bodyPr>
                <a:spAutoFit/>
              </a:bodyPr>
              <a:lstStyle/>
              <a:p>
                <a:pPr>
                  <a:lnSpc>
                    <a:spcPct val="115000"/>
                  </a:lnSpc>
                </a:pPr>
                <a:r>
                  <a:rPr lang="en-US" altLang="zh-CN" sz="2000" b="1" i="1"/>
                  <a:t>O</a:t>
                </a:r>
                <a:endParaRPr lang="en-US" altLang="zh-CN" sz="2000" b="1" i="1"/>
              </a:p>
            </p:txBody>
          </p:sp>
          <p:sp>
            <p:nvSpPr>
              <p:cNvPr id="52275" name="Text Box 10"/>
              <p:cNvSpPr txBox="1">
                <a:spLocks noChangeArrowheads="1"/>
              </p:cNvSpPr>
              <p:nvPr/>
            </p:nvSpPr>
            <p:spPr bwMode="auto">
              <a:xfrm>
                <a:off x="4150" y="1752"/>
                <a:ext cx="272" cy="279"/>
              </a:xfrm>
              <a:prstGeom prst="rect">
                <a:avLst/>
              </a:prstGeom>
              <a:noFill/>
              <a:ln w="9525">
                <a:noFill/>
                <a:miter lim="800000"/>
              </a:ln>
            </p:spPr>
            <p:txBody>
              <a:bodyPr>
                <a:spAutoFit/>
              </a:bodyPr>
              <a:lstStyle/>
              <a:p>
                <a:pPr>
                  <a:lnSpc>
                    <a:spcPct val="115000"/>
                  </a:lnSpc>
                </a:pPr>
                <a:r>
                  <a:rPr lang="en-US" altLang="zh-CN" sz="2000" b="1" i="1"/>
                  <a:t>p</a:t>
                </a:r>
                <a:endParaRPr lang="en-US" altLang="zh-CN" sz="2000" b="1" i="1"/>
              </a:p>
            </p:txBody>
          </p:sp>
          <p:sp>
            <p:nvSpPr>
              <p:cNvPr id="52276" name="Text Box 11"/>
              <p:cNvSpPr txBox="1">
                <a:spLocks noChangeArrowheads="1"/>
              </p:cNvSpPr>
              <p:nvPr/>
            </p:nvSpPr>
            <p:spPr bwMode="auto">
              <a:xfrm>
                <a:off x="5329" y="2704"/>
                <a:ext cx="318" cy="279"/>
              </a:xfrm>
              <a:prstGeom prst="rect">
                <a:avLst/>
              </a:prstGeom>
              <a:noFill/>
              <a:ln w="9525">
                <a:noFill/>
                <a:miter lim="800000"/>
              </a:ln>
            </p:spPr>
            <p:txBody>
              <a:bodyPr>
                <a:spAutoFit/>
              </a:bodyPr>
              <a:lstStyle/>
              <a:p>
                <a:pPr>
                  <a:lnSpc>
                    <a:spcPct val="115000"/>
                  </a:lnSpc>
                </a:pPr>
                <a:r>
                  <a:rPr lang="en-US" altLang="zh-CN" sz="2000" b="1" i="1"/>
                  <a:t>V</a:t>
                </a:r>
                <a:endParaRPr lang="en-US" altLang="zh-CN" sz="2000" b="1" i="1"/>
              </a:p>
            </p:txBody>
          </p:sp>
        </p:grpSp>
        <p:sp>
          <p:nvSpPr>
            <p:cNvPr id="52251" name="Line 12"/>
            <p:cNvSpPr>
              <a:spLocks noChangeShapeType="1"/>
            </p:cNvSpPr>
            <p:nvPr/>
          </p:nvSpPr>
          <p:spPr bwMode="auto">
            <a:xfrm>
              <a:off x="4632" y="1524"/>
              <a:ext cx="0" cy="409"/>
            </a:xfrm>
            <a:prstGeom prst="line">
              <a:avLst/>
            </a:prstGeom>
            <a:noFill/>
            <a:ln w="9525">
              <a:solidFill>
                <a:schemeClr val="tx1"/>
              </a:solidFill>
              <a:prstDash val="dash"/>
              <a:round/>
            </a:ln>
          </p:spPr>
          <p:txBody>
            <a:bodyPr/>
            <a:lstStyle/>
            <a:p>
              <a:endParaRPr lang="zh-CN" altLang="en-US"/>
            </a:p>
          </p:txBody>
        </p:sp>
        <p:sp>
          <p:nvSpPr>
            <p:cNvPr id="52252" name="Line 13"/>
            <p:cNvSpPr>
              <a:spLocks noChangeShapeType="1"/>
            </p:cNvSpPr>
            <p:nvPr/>
          </p:nvSpPr>
          <p:spPr bwMode="auto">
            <a:xfrm>
              <a:off x="4983" y="1615"/>
              <a:ext cx="0" cy="318"/>
            </a:xfrm>
            <a:prstGeom prst="line">
              <a:avLst/>
            </a:prstGeom>
            <a:noFill/>
            <a:ln w="9525">
              <a:solidFill>
                <a:schemeClr val="tx1"/>
              </a:solidFill>
              <a:prstDash val="dash"/>
              <a:round/>
            </a:ln>
          </p:spPr>
          <p:txBody>
            <a:bodyPr/>
            <a:lstStyle/>
            <a:p>
              <a:endParaRPr lang="zh-CN" altLang="en-US"/>
            </a:p>
          </p:txBody>
        </p:sp>
        <p:sp>
          <p:nvSpPr>
            <p:cNvPr id="52253" name="Line 14"/>
            <p:cNvSpPr>
              <a:spLocks noChangeShapeType="1"/>
            </p:cNvSpPr>
            <p:nvPr/>
          </p:nvSpPr>
          <p:spPr bwMode="auto">
            <a:xfrm rot="-5400000">
              <a:off x="4462" y="1099"/>
              <a:ext cx="0" cy="305"/>
            </a:xfrm>
            <a:prstGeom prst="line">
              <a:avLst/>
            </a:prstGeom>
            <a:noFill/>
            <a:ln w="9525">
              <a:solidFill>
                <a:schemeClr val="tx1"/>
              </a:solidFill>
              <a:prstDash val="dash"/>
              <a:round/>
            </a:ln>
          </p:spPr>
          <p:txBody>
            <a:bodyPr/>
            <a:lstStyle/>
            <a:p>
              <a:endParaRPr lang="zh-CN" altLang="en-US"/>
            </a:p>
          </p:txBody>
        </p:sp>
        <p:sp>
          <p:nvSpPr>
            <p:cNvPr id="52254" name="Line 15"/>
            <p:cNvSpPr>
              <a:spLocks noChangeShapeType="1"/>
            </p:cNvSpPr>
            <p:nvPr/>
          </p:nvSpPr>
          <p:spPr bwMode="auto">
            <a:xfrm rot="-5400000">
              <a:off x="4485" y="1433"/>
              <a:ext cx="0" cy="363"/>
            </a:xfrm>
            <a:prstGeom prst="line">
              <a:avLst/>
            </a:prstGeom>
            <a:noFill/>
            <a:ln w="9525">
              <a:solidFill>
                <a:schemeClr val="tx1"/>
              </a:solidFill>
              <a:prstDash val="dash"/>
              <a:round/>
            </a:ln>
          </p:spPr>
          <p:txBody>
            <a:bodyPr/>
            <a:lstStyle/>
            <a:p>
              <a:endParaRPr lang="zh-CN" altLang="en-US"/>
            </a:p>
          </p:txBody>
        </p:sp>
        <p:grpSp>
          <p:nvGrpSpPr>
            <p:cNvPr id="52255" name="Group 16"/>
            <p:cNvGrpSpPr/>
            <p:nvPr/>
          </p:nvGrpSpPr>
          <p:grpSpPr bwMode="auto">
            <a:xfrm>
              <a:off x="4620" y="1252"/>
              <a:ext cx="3" cy="363"/>
              <a:chOff x="4694" y="2069"/>
              <a:chExt cx="3" cy="363"/>
            </a:xfrm>
          </p:grpSpPr>
          <p:sp>
            <p:nvSpPr>
              <p:cNvPr id="52270" name="Line 17"/>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52271" name="Line 18"/>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sp>
          <p:nvSpPr>
            <p:cNvPr id="52256" name="Line 19"/>
            <p:cNvSpPr>
              <a:spLocks noChangeShapeType="1"/>
            </p:cNvSpPr>
            <p:nvPr/>
          </p:nvSpPr>
          <p:spPr bwMode="auto">
            <a:xfrm rot="-2700000">
              <a:off x="4802" y="1175"/>
              <a:ext cx="0" cy="508"/>
            </a:xfrm>
            <a:prstGeom prst="line">
              <a:avLst/>
            </a:prstGeom>
            <a:noFill/>
            <a:ln w="38100">
              <a:solidFill>
                <a:srgbClr val="3333CC"/>
              </a:solidFill>
              <a:round/>
            </a:ln>
          </p:spPr>
          <p:txBody>
            <a:bodyPr/>
            <a:lstStyle/>
            <a:p>
              <a:endParaRPr lang="zh-CN" altLang="en-US"/>
            </a:p>
          </p:txBody>
        </p:sp>
        <p:sp>
          <p:nvSpPr>
            <p:cNvPr id="52257" name="Line 20"/>
            <p:cNvSpPr>
              <a:spLocks noChangeShapeType="1"/>
            </p:cNvSpPr>
            <p:nvPr/>
          </p:nvSpPr>
          <p:spPr bwMode="auto">
            <a:xfrm rot="-2700000">
              <a:off x="4835" y="1436"/>
              <a:ext cx="0" cy="43"/>
            </a:xfrm>
            <a:prstGeom prst="line">
              <a:avLst/>
            </a:prstGeom>
            <a:noFill/>
            <a:ln w="38100">
              <a:solidFill>
                <a:srgbClr val="3333CC"/>
              </a:solidFill>
              <a:round/>
              <a:tailEnd type="triangle" w="med" len="med"/>
            </a:ln>
          </p:spPr>
          <p:txBody>
            <a:bodyPr/>
            <a:lstStyle/>
            <a:p>
              <a:endParaRPr lang="zh-CN" altLang="en-US"/>
            </a:p>
          </p:txBody>
        </p:sp>
        <p:grpSp>
          <p:nvGrpSpPr>
            <p:cNvPr id="52258" name="Group 21"/>
            <p:cNvGrpSpPr/>
            <p:nvPr/>
          </p:nvGrpSpPr>
          <p:grpSpPr bwMode="auto">
            <a:xfrm rot="-5400000">
              <a:off x="4800" y="1432"/>
              <a:ext cx="3" cy="363"/>
              <a:chOff x="4694" y="2069"/>
              <a:chExt cx="3" cy="363"/>
            </a:xfrm>
          </p:grpSpPr>
          <p:sp>
            <p:nvSpPr>
              <p:cNvPr id="52268" name="Line 22"/>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52269" name="Line 23"/>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sp>
          <p:nvSpPr>
            <p:cNvPr id="52259" name="Text Box 24"/>
            <p:cNvSpPr txBox="1">
              <a:spLocks noChangeArrowheads="1"/>
            </p:cNvSpPr>
            <p:nvPr/>
          </p:nvSpPr>
          <p:spPr bwMode="auto">
            <a:xfrm>
              <a:off x="4484" y="1909"/>
              <a:ext cx="467" cy="279"/>
            </a:xfrm>
            <a:prstGeom prst="rect">
              <a:avLst/>
            </a:prstGeom>
            <a:noFill/>
            <a:ln w="9525">
              <a:noFill/>
              <a:miter lim="800000"/>
            </a:ln>
          </p:spPr>
          <p:txBody>
            <a:bodyPr>
              <a:spAutoFit/>
            </a:bodyPr>
            <a:lstStyle/>
            <a:p>
              <a:pPr>
                <a:lnSpc>
                  <a:spcPct val="115000"/>
                </a:lnSpc>
              </a:pPr>
              <a:r>
                <a:rPr lang="en-US" altLang="zh-CN" sz="2000" b="1" i="1">
                  <a:solidFill>
                    <a:srgbClr val="0000FF"/>
                  </a:solidFill>
                </a:rPr>
                <a:t>V</a:t>
              </a:r>
              <a:r>
                <a:rPr lang="en-US" altLang="zh-CN" sz="2000" b="1" i="1" baseline="-25000">
                  <a:solidFill>
                    <a:srgbClr val="0000FF"/>
                  </a:solidFill>
                </a:rPr>
                <a:t>a</a:t>
              </a:r>
              <a:endParaRPr lang="en-US" altLang="zh-CN" sz="2000" b="1" i="1" baseline="-25000">
                <a:solidFill>
                  <a:srgbClr val="0000FF"/>
                </a:solidFill>
              </a:endParaRPr>
            </a:p>
          </p:txBody>
        </p:sp>
        <p:sp>
          <p:nvSpPr>
            <p:cNvPr id="52260" name="Text Box 25"/>
            <p:cNvSpPr txBox="1">
              <a:spLocks noChangeArrowheads="1"/>
            </p:cNvSpPr>
            <p:nvPr/>
          </p:nvSpPr>
          <p:spPr bwMode="auto">
            <a:xfrm>
              <a:off x="4856" y="1905"/>
              <a:ext cx="467" cy="279"/>
            </a:xfrm>
            <a:prstGeom prst="rect">
              <a:avLst/>
            </a:prstGeom>
            <a:noFill/>
            <a:ln w="9525">
              <a:noFill/>
              <a:miter lim="800000"/>
            </a:ln>
          </p:spPr>
          <p:txBody>
            <a:bodyPr>
              <a:spAutoFit/>
            </a:bodyPr>
            <a:lstStyle/>
            <a:p>
              <a:pPr>
                <a:lnSpc>
                  <a:spcPct val="115000"/>
                </a:lnSpc>
              </a:pPr>
              <a:r>
                <a:rPr lang="en-US" altLang="zh-CN" sz="2000" b="1" i="1">
                  <a:solidFill>
                    <a:srgbClr val="0000FF"/>
                  </a:solidFill>
                </a:rPr>
                <a:t>V</a:t>
              </a:r>
              <a:r>
                <a:rPr lang="en-US" altLang="zh-CN" sz="2000" b="1" i="1" baseline="-25000">
                  <a:solidFill>
                    <a:srgbClr val="0000FF"/>
                  </a:solidFill>
                </a:rPr>
                <a:t>c</a:t>
              </a:r>
              <a:endParaRPr lang="en-US" altLang="zh-CN" sz="2000" b="1" i="1" baseline="-25000">
                <a:solidFill>
                  <a:srgbClr val="0000FF"/>
                </a:solidFill>
              </a:endParaRPr>
            </a:p>
          </p:txBody>
        </p:sp>
        <p:sp>
          <p:nvSpPr>
            <p:cNvPr id="52261" name="Text Box 26"/>
            <p:cNvSpPr txBox="1">
              <a:spLocks noChangeArrowheads="1"/>
            </p:cNvSpPr>
            <p:nvPr/>
          </p:nvSpPr>
          <p:spPr bwMode="auto">
            <a:xfrm>
              <a:off x="4063" y="1434"/>
              <a:ext cx="467" cy="279"/>
            </a:xfrm>
            <a:prstGeom prst="rect">
              <a:avLst/>
            </a:prstGeom>
            <a:noFill/>
            <a:ln w="9525">
              <a:noFill/>
              <a:miter lim="800000"/>
            </a:ln>
          </p:spPr>
          <p:txBody>
            <a:bodyPr>
              <a:spAutoFit/>
            </a:bodyPr>
            <a:lstStyle/>
            <a:p>
              <a:pPr>
                <a:lnSpc>
                  <a:spcPct val="115000"/>
                </a:lnSpc>
              </a:pPr>
              <a:r>
                <a:rPr lang="en-US" altLang="zh-CN" sz="2000" b="1" i="1">
                  <a:solidFill>
                    <a:srgbClr val="0000FF"/>
                  </a:solidFill>
                </a:rPr>
                <a:t>p</a:t>
              </a:r>
              <a:r>
                <a:rPr lang="en-US" altLang="zh-CN" sz="2000" b="1" i="1" baseline="-25000">
                  <a:solidFill>
                    <a:srgbClr val="0000FF"/>
                  </a:solidFill>
                </a:rPr>
                <a:t>a</a:t>
              </a:r>
              <a:endParaRPr lang="en-US" altLang="zh-CN" sz="2000" b="1" i="1" baseline="-25000">
                <a:solidFill>
                  <a:srgbClr val="0000FF"/>
                </a:solidFill>
              </a:endParaRPr>
            </a:p>
          </p:txBody>
        </p:sp>
        <p:sp>
          <p:nvSpPr>
            <p:cNvPr id="52262" name="Text Box 27"/>
            <p:cNvSpPr txBox="1">
              <a:spLocks noChangeArrowheads="1"/>
            </p:cNvSpPr>
            <p:nvPr/>
          </p:nvSpPr>
          <p:spPr bwMode="auto">
            <a:xfrm>
              <a:off x="4063" y="1116"/>
              <a:ext cx="467" cy="279"/>
            </a:xfrm>
            <a:prstGeom prst="rect">
              <a:avLst/>
            </a:prstGeom>
            <a:noFill/>
            <a:ln w="9525">
              <a:noFill/>
              <a:miter lim="800000"/>
            </a:ln>
          </p:spPr>
          <p:txBody>
            <a:bodyPr>
              <a:spAutoFit/>
            </a:bodyPr>
            <a:lstStyle/>
            <a:p>
              <a:pPr>
                <a:lnSpc>
                  <a:spcPct val="115000"/>
                </a:lnSpc>
              </a:pPr>
              <a:r>
                <a:rPr lang="en-US" altLang="zh-CN" sz="2000" b="1" i="1">
                  <a:solidFill>
                    <a:srgbClr val="0000FF"/>
                  </a:solidFill>
                </a:rPr>
                <a:t>p</a:t>
              </a:r>
              <a:r>
                <a:rPr lang="en-US" altLang="zh-CN" sz="2000" b="1" i="1" baseline="-25000">
                  <a:solidFill>
                    <a:srgbClr val="0000FF"/>
                  </a:solidFill>
                </a:rPr>
                <a:t>b</a:t>
              </a:r>
              <a:endParaRPr lang="en-US" altLang="zh-CN" sz="2000" b="1" i="1" baseline="-25000">
                <a:solidFill>
                  <a:srgbClr val="0000FF"/>
                </a:solidFill>
              </a:endParaRPr>
            </a:p>
          </p:txBody>
        </p:sp>
        <p:sp>
          <p:nvSpPr>
            <p:cNvPr id="52263" name="Text Box 28"/>
            <p:cNvSpPr txBox="1">
              <a:spLocks noChangeArrowheads="1"/>
            </p:cNvSpPr>
            <p:nvPr/>
          </p:nvSpPr>
          <p:spPr bwMode="auto">
            <a:xfrm>
              <a:off x="4484" y="1570"/>
              <a:ext cx="467" cy="279"/>
            </a:xfrm>
            <a:prstGeom prst="rect">
              <a:avLst/>
            </a:prstGeom>
            <a:noFill/>
            <a:ln w="9525">
              <a:noFill/>
              <a:miter lim="800000"/>
            </a:ln>
          </p:spPr>
          <p:txBody>
            <a:bodyPr>
              <a:spAutoFit/>
            </a:bodyPr>
            <a:lstStyle/>
            <a:p>
              <a:pPr>
                <a:lnSpc>
                  <a:spcPct val="115000"/>
                </a:lnSpc>
              </a:pPr>
              <a:r>
                <a:rPr lang="en-US" altLang="zh-CN" sz="2000" b="1" i="1">
                  <a:solidFill>
                    <a:srgbClr val="FF0000"/>
                  </a:solidFill>
                </a:rPr>
                <a:t>a</a:t>
              </a:r>
              <a:endParaRPr lang="en-US" altLang="zh-CN" sz="2000" b="1" i="1" baseline="-25000">
                <a:solidFill>
                  <a:srgbClr val="FF0000"/>
                </a:solidFill>
              </a:endParaRPr>
            </a:p>
          </p:txBody>
        </p:sp>
        <p:sp>
          <p:nvSpPr>
            <p:cNvPr id="52264" name="Text Box 29"/>
            <p:cNvSpPr txBox="1">
              <a:spLocks noChangeArrowheads="1"/>
            </p:cNvSpPr>
            <p:nvPr/>
          </p:nvSpPr>
          <p:spPr bwMode="auto">
            <a:xfrm>
              <a:off x="4484" y="1025"/>
              <a:ext cx="467" cy="279"/>
            </a:xfrm>
            <a:prstGeom prst="rect">
              <a:avLst/>
            </a:prstGeom>
            <a:noFill/>
            <a:ln w="9525">
              <a:noFill/>
              <a:miter lim="800000"/>
            </a:ln>
          </p:spPr>
          <p:txBody>
            <a:bodyPr>
              <a:spAutoFit/>
            </a:bodyPr>
            <a:lstStyle/>
            <a:p>
              <a:pPr>
                <a:lnSpc>
                  <a:spcPct val="115000"/>
                </a:lnSpc>
              </a:pPr>
              <a:r>
                <a:rPr lang="en-US" altLang="zh-CN" sz="2000" b="1" i="1">
                  <a:solidFill>
                    <a:srgbClr val="FF0000"/>
                  </a:solidFill>
                </a:rPr>
                <a:t>b</a:t>
              </a:r>
              <a:endParaRPr lang="en-US" altLang="zh-CN" sz="2000" b="1" i="1" baseline="-25000">
                <a:solidFill>
                  <a:srgbClr val="FF0000"/>
                </a:solidFill>
              </a:endParaRPr>
            </a:p>
          </p:txBody>
        </p:sp>
        <p:sp>
          <p:nvSpPr>
            <p:cNvPr id="52265" name="Text Box 30"/>
            <p:cNvSpPr txBox="1">
              <a:spLocks noChangeArrowheads="1"/>
            </p:cNvSpPr>
            <p:nvPr/>
          </p:nvSpPr>
          <p:spPr bwMode="auto">
            <a:xfrm>
              <a:off x="4970" y="1524"/>
              <a:ext cx="467" cy="279"/>
            </a:xfrm>
            <a:prstGeom prst="rect">
              <a:avLst/>
            </a:prstGeom>
            <a:noFill/>
            <a:ln w="9525">
              <a:noFill/>
              <a:miter lim="800000"/>
            </a:ln>
          </p:spPr>
          <p:txBody>
            <a:bodyPr>
              <a:spAutoFit/>
            </a:bodyPr>
            <a:lstStyle/>
            <a:p>
              <a:pPr>
                <a:lnSpc>
                  <a:spcPct val="115000"/>
                </a:lnSpc>
              </a:pPr>
              <a:r>
                <a:rPr lang="en-US" altLang="zh-CN" sz="2000" b="1" i="1">
                  <a:solidFill>
                    <a:srgbClr val="FF0000"/>
                  </a:solidFill>
                </a:rPr>
                <a:t>c</a:t>
              </a:r>
              <a:endParaRPr lang="en-US" altLang="zh-CN" sz="2000" b="1" i="1" baseline="-25000">
                <a:solidFill>
                  <a:srgbClr val="FF0000"/>
                </a:solidFill>
              </a:endParaRPr>
            </a:p>
          </p:txBody>
        </p:sp>
        <p:sp>
          <p:nvSpPr>
            <p:cNvPr id="52266" name="Oval 31"/>
            <p:cNvSpPr>
              <a:spLocks noChangeArrowheads="1"/>
            </p:cNvSpPr>
            <p:nvPr/>
          </p:nvSpPr>
          <p:spPr bwMode="auto">
            <a:xfrm>
              <a:off x="4882" y="1503"/>
              <a:ext cx="45" cy="45"/>
            </a:xfrm>
            <a:prstGeom prst="ellipse">
              <a:avLst/>
            </a:prstGeom>
            <a:solidFill>
              <a:srgbClr val="FF0000"/>
            </a:solidFill>
            <a:ln w="9525">
              <a:solidFill>
                <a:schemeClr val="tx1"/>
              </a:solidFill>
              <a:round/>
            </a:ln>
          </p:spPr>
          <p:txBody>
            <a:bodyPr wrap="none" anchor="ctr"/>
            <a:lstStyle/>
            <a:p>
              <a:pPr algn="ctr"/>
              <a:endParaRPr lang="zh-CN" altLang="en-US"/>
            </a:p>
          </p:txBody>
        </p:sp>
        <p:sp>
          <p:nvSpPr>
            <p:cNvPr id="52267" name="Text Box 32"/>
            <p:cNvSpPr txBox="1">
              <a:spLocks noChangeArrowheads="1"/>
            </p:cNvSpPr>
            <p:nvPr/>
          </p:nvSpPr>
          <p:spPr bwMode="auto">
            <a:xfrm>
              <a:off x="4880" y="1319"/>
              <a:ext cx="467" cy="279"/>
            </a:xfrm>
            <a:prstGeom prst="rect">
              <a:avLst/>
            </a:prstGeom>
            <a:noFill/>
            <a:ln w="9525">
              <a:noFill/>
              <a:miter lim="800000"/>
            </a:ln>
          </p:spPr>
          <p:txBody>
            <a:bodyPr>
              <a:spAutoFit/>
            </a:bodyPr>
            <a:lstStyle/>
            <a:p>
              <a:pPr>
                <a:lnSpc>
                  <a:spcPct val="115000"/>
                </a:lnSpc>
              </a:pPr>
              <a:r>
                <a:rPr lang="en-US" altLang="zh-CN" sz="2000" b="1" i="1">
                  <a:solidFill>
                    <a:srgbClr val="FF0000"/>
                  </a:solidFill>
                </a:rPr>
                <a:t>d</a:t>
              </a:r>
              <a:endParaRPr lang="en-US" altLang="zh-CN" sz="2000" b="1" i="1" baseline="-25000">
                <a:solidFill>
                  <a:srgbClr val="FF0000"/>
                </a:solidFill>
              </a:endParaRPr>
            </a:p>
          </p:txBody>
        </p:sp>
      </p:grpSp>
      <p:sp>
        <p:nvSpPr>
          <p:cNvPr id="230433" name="Text Box 33"/>
          <p:cNvSpPr txBox="1">
            <a:spLocks noChangeArrowheads="1"/>
          </p:cNvSpPr>
          <p:nvPr/>
        </p:nvSpPr>
        <p:spPr bwMode="auto">
          <a:xfrm>
            <a:off x="657225" y="503238"/>
            <a:ext cx="7364413" cy="512762"/>
          </a:xfrm>
          <a:prstGeom prst="rect">
            <a:avLst/>
          </a:prstGeom>
          <a:noFill/>
          <a:ln w="9525">
            <a:noFill/>
            <a:miter lim="800000"/>
          </a:ln>
        </p:spPr>
        <p:txBody>
          <a:bodyPr>
            <a:spAutoFit/>
          </a:bodyPr>
          <a:lstStyle/>
          <a:p>
            <a:pPr>
              <a:lnSpc>
                <a:spcPct val="115000"/>
              </a:lnSpc>
              <a:defRPr/>
            </a:pPr>
            <a:r>
              <a:rPr lang="en-US" altLang="zh-CN" b="1" i="1" dirty="0" err="1">
                <a:ea typeface="+mn-ea"/>
                <a:cs typeface="Times New Roman" panose="02020603050405020304" pitchFamily="18" charset="0"/>
              </a:rPr>
              <a:t>bc</a:t>
            </a:r>
            <a:r>
              <a:rPr lang="en-US" altLang="zh-CN" b="1" dirty="0">
                <a:ea typeface="+mn-ea"/>
                <a:cs typeface="Times New Roman" panose="02020603050405020304" pitchFamily="18" charset="0"/>
              </a:rPr>
              <a:t> </a:t>
            </a:r>
            <a:r>
              <a:rPr lang="zh-CN" altLang="en-US" b="1" dirty="0">
                <a:ea typeface="+mn-ea"/>
                <a:cs typeface="Times New Roman" panose="02020603050405020304" pitchFamily="18" charset="0"/>
              </a:rPr>
              <a:t>过程应该看作 </a:t>
            </a:r>
            <a:r>
              <a:rPr lang="en-US" altLang="zh-CN" b="1" i="1" dirty="0" err="1">
                <a:ea typeface="+mn-ea"/>
                <a:cs typeface="Times New Roman" panose="02020603050405020304" pitchFamily="18" charset="0"/>
              </a:rPr>
              <a:t>bd</a:t>
            </a:r>
            <a:r>
              <a:rPr lang="en-US" altLang="zh-CN" b="1" dirty="0">
                <a:ea typeface="+mn-ea"/>
                <a:cs typeface="Times New Roman" panose="02020603050405020304" pitchFamily="18" charset="0"/>
              </a:rPr>
              <a:t> </a:t>
            </a:r>
            <a:r>
              <a:rPr lang="zh-CN" altLang="en-US" b="1" dirty="0">
                <a:ea typeface="+mn-ea"/>
                <a:cs typeface="Times New Roman" panose="02020603050405020304" pitchFamily="18" charset="0"/>
              </a:rPr>
              <a:t>、</a:t>
            </a:r>
            <a:r>
              <a:rPr lang="en-US" altLang="zh-CN" b="1" i="1" dirty="0">
                <a:ea typeface="+mn-ea"/>
                <a:cs typeface="Times New Roman" panose="02020603050405020304" pitchFamily="18" charset="0"/>
              </a:rPr>
              <a:t>dc</a:t>
            </a:r>
            <a:r>
              <a:rPr lang="en-US" altLang="zh-CN" b="1" dirty="0">
                <a:ea typeface="+mn-ea"/>
                <a:cs typeface="Times New Roman" panose="02020603050405020304" pitchFamily="18" charset="0"/>
              </a:rPr>
              <a:t> </a:t>
            </a:r>
            <a:r>
              <a:rPr lang="zh-CN" altLang="en-US" b="1" dirty="0">
                <a:ea typeface="+mn-ea"/>
                <a:cs typeface="Times New Roman" panose="02020603050405020304" pitchFamily="18" charset="0"/>
              </a:rPr>
              <a:t>两个热力学过程，其中</a:t>
            </a:r>
            <a:endParaRPr lang="zh-CN" altLang="en-US" b="1" dirty="0">
              <a:ea typeface="+mn-ea"/>
              <a:cs typeface="Times New Roman" panose="02020603050405020304" pitchFamily="18" charset="0"/>
            </a:endParaRPr>
          </a:p>
        </p:txBody>
      </p:sp>
      <p:sp>
        <p:nvSpPr>
          <p:cNvPr id="230434" name="AutoShape 34"/>
          <p:cNvSpPr>
            <a:spLocks noChangeArrowheads="1"/>
          </p:cNvSpPr>
          <p:nvPr/>
        </p:nvSpPr>
        <p:spPr bwMode="auto">
          <a:xfrm>
            <a:off x="173038" y="457200"/>
            <a:ext cx="360362"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graphicFrame>
        <p:nvGraphicFramePr>
          <p:cNvPr id="230435" name="Object 35"/>
          <p:cNvGraphicFramePr>
            <a:graphicFrameLocks noChangeAspect="1"/>
          </p:cNvGraphicFramePr>
          <p:nvPr/>
        </p:nvGraphicFramePr>
        <p:xfrm>
          <a:off x="1343025" y="1179513"/>
          <a:ext cx="889000" cy="409575"/>
        </p:xfrm>
        <a:graphic>
          <a:graphicData uri="http://schemas.openxmlformats.org/presentationml/2006/ole">
            <mc:AlternateContent xmlns:mc="http://schemas.openxmlformats.org/markup-compatibility/2006">
              <mc:Choice xmlns:v="urn:schemas-microsoft-com:vml" Requires="v">
                <p:oleObj spid="_x0000_s52225" name="公式" r:id="rId1" imgW="11887200" imgH="5486400" progId="Equation.3">
                  <p:embed/>
                </p:oleObj>
              </mc:Choice>
              <mc:Fallback>
                <p:oleObj name="公式" r:id="rId1" imgW="11887200" imgH="5486400" progId="Equation.3">
                  <p:embed/>
                  <p:pic>
                    <p:nvPicPr>
                      <p:cNvPr id="0" name="Object 35"/>
                      <p:cNvPicPr>
                        <a:picLocks noChangeAspect="1"/>
                      </p:cNvPicPr>
                      <p:nvPr/>
                    </p:nvPicPr>
                    <p:blipFill>
                      <a:blip r:embed="rId2"/>
                      <a:stretch>
                        <a:fillRect/>
                      </a:stretch>
                    </p:blipFill>
                    <p:spPr>
                      <a:xfrm>
                        <a:off x="1343025" y="1179513"/>
                        <a:ext cx="889000" cy="409575"/>
                      </a:xfrm>
                      <a:prstGeom prst="rect">
                        <a:avLst/>
                      </a:prstGeom>
                      <a:noFill/>
                      <a:ln w="9525">
                        <a:noFill/>
                      </a:ln>
                    </p:spPr>
                  </p:pic>
                </p:oleObj>
              </mc:Fallback>
            </mc:AlternateContent>
          </a:graphicData>
        </a:graphic>
      </p:graphicFrame>
      <p:graphicFrame>
        <p:nvGraphicFramePr>
          <p:cNvPr id="230436" name="Object 36"/>
          <p:cNvGraphicFramePr>
            <a:graphicFrameLocks noChangeAspect="1"/>
          </p:cNvGraphicFramePr>
          <p:nvPr/>
        </p:nvGraphicFramePr>
        <p:xfrm>
          <a:off x="2997200" y="1133475"/>
          <a:ext cx="866775" cy="409575"/>
        </p:xfrm>
        <a:graphic>
          <a:graphicData uri="http://schemas.openxmlformats.org/presentationml/2006/ole">
            <mc:AlternateContent xmlns:mc="http://schemas.openxmlformats.org/markup-compatibility/2006">
              <mc:Choice xmlns:v="urn:schemas-microsoft-com:vml" Requires="v">
                <p:oleObj spid="_x0000_s52227" name="公式" r:id="rId3" imgW="11582400" imgH="5486400" progId="Equation.3">
                  <p:embed/>
                </p:oleObj>
              </mc:Choice>
              <mc:Fallback>
                <p:oleObj name="公式" r:id="rId3" imgW="11582400" imgH="5486400" progId="Equation.3">
                  <p:embed/>
                  <p:pic>
                    <p:nvPicPr>
                      <p:cNvPr id="0" name="Object 36"/>
                      <p:cNvPicPr>
                        <a:picLocks noChangeAspect="1"/>
                      </p:cNvPicPr>
                      <p:nvPr/>
                    </p:nvPicPr>
                    <p:blipFill>
                      <a:blip r:embed="rId4"/>
                      <a:stretch>
                        <a:fillRect/>
                      </a:stretch>
                    </p:blipFill>
                    <p:spPr>
                      <a:xfrm>
                        <a:off x="2997200" y="1133475"/>
                        <a:ext cx="866775" cy="409575"/>
                      </a:xfrm>
                      <a:prstGeom prst="rect">
                        <a:avLst/>
                      </a:prstGeom>
                      <a:noFill/>
                      <a:ln w="9525">
                        <a:noFill/>
                      </a:ln>
                    </p:spPr>
                  </p:pic>
                </p:oleObj>
              </mc:Fallback>
            </mc:AlternateContent>
          </a:graphicData>
        </a:graphic>
      </p:graphicFrame>
      <p:sp>
        <p:nvSpPr>
          <p:cNvPr id="230437" name="Text Box 37"/>
          <p:cNvSpPr txBox="1">
            <a:spLocks noChangeArrowheads="1"/>
          </p:cNvSpPr>
          <p:nvPr/>
        </p:nvSpPr>
        <p:spPr bwMode="auto">
          <a:xfrm>
            <a:off x="654050" y="1836738"/>
            <a:ext cx="1892300" cy="512762"/>
          </a:xfrm>
          <a:prstGeom prst="rect">
            <a:avLst/>
          </a:prstGeom>
          <a:noFill/>
          <a:ln w="9525">
            <a:noFill/>
            <a:miter lim="800000"/>
          </a:ln>
        </p:spPr>
        <p:txBody>
          <a:bodyPr>
            <a:spAutoFit/>
          </a:bodyPr>
          <a:lstStyle/>
          <a:p>
            <a:pPr>
              <a:lnSpc>
                <a:spcPct val="115000"/>
              </a:lnSpc>
              <a:defRPr/>
            </a:pPr>
            <a:r>
              <a:rPr lang="en-US" altLang="zh-CN" b="1" i="1">
                <a:solidFill>
                  <a:srgbClr val="9900CC"/>
                </a:solidFill>
                <a:ea typeface="+mn-ea"/>
                <a:cs typeface="Times New Roman" panose="02020603050405020304" pitchFamily="18" charset="0"/>
              </a:rPr>
              <a:t>bd</a:t>
            </a:r>
            <a:r>
              <a:rPr lang="en-US" altLang="zh-CN" b="1">
                <a:solidFill>
                  <a:srgbClr val="9900CC"/>
                </a:solidFill>
                <a:ea typeface="+mn-ea"/>
                <a:cs typeface="Times New Roman" panose="02020603050405020304" pitchFamily="18" charset="0"/>
              </a:rPr>
              <a:t> </a:t>
            </a:r>
            <a:r>
              <a:rPr lang="zh-CN" altLang="en-US" b="1">
                <a:ea typeface="+mn-ea"/>
                <a:cs typeface="Times New Roman" panose="02020603050405020304" pitchFamily="18" charset="0"/>
              </a:rPr>
              <a:t>过程，</a:t>
            </a:r>
            <a:endParaRPr lang="zh-CN" altLang="en-US" b="1">
              <a:ea typeface="+mn-ea"/>
              <a:cs typeface="Times New Roman" panose="02020603050405020304" pitchFamily="18" charset="0"/>
            </a:endParaRPr>
          </a:p>
        </p:txBody>
      </p:sp>
      <p:graphicFrame>
        <p:nvGraphicFramePr>
          <p:cNvPr id="230438" name="Object 38"/>
          <p:cNvGraphicFramePr>
            <a:graphicFrameLocks noChangeAspect="1"/>
          </p:cNvGraphicFramePr>
          <p:nvPr/>
        </p:nvGraphicFramePr>
        <p:xfrm>
          <a:off x="2051050" y="1752600"/>
          <a:ext cx="2605088" cy="730250"/>
        </p:xfrm>
        <a:graphic>
          <a:graphicData uri="http://schemas.openxmlformats.org/presentationml/2006/ole">
            <mc:AlternateContent xmlns:mc="http://schemas.openxmlformats.org/markup-compatibility/2006">
              <mc:Choice xmlns:v="urn:schemas-microsoft-com:vml" Requires="v">
                <p:oleObj spid="_x0000_s52228" name="公式" r:id="rId5" imgW="34747200" imgH="9753600" progId="Equation.3">
                  <p:embed/>
                </p:oleObj>
              </mc:Choice>
              <mc:Fallback>
                <p:oleObj name="公式" r:id="rId5" imgW="34747200" imgH="9753600" progId="Equation.3">
                  <p:embed/>
                  <p:pic>
                    <p:nvPicPr>
                      <p:cNvPr id="0" name="Object 38"/>
                      <p:cNvPicPr>
                        <a:picLocks noChangeAspect="1"/>
                      </p:cNvPicPr>
                      <p:nvPr/>
                    </p:nvPicPr>
                    <p:blipFill>
                      <a:blip r:embed="rId6"/>
                      <a:stretch>
                        <a:fillRect/>
                      </a:stretch>
                    </p:blipFill>
                    <p:spPr>
                      <a:xfrm>
                        <a:off x="2051050" y="1752600"/>
                        <a:ext cx="2605088" cy="730250"/>
                      </a:xfrm>
                      <a:prstGeom prst="rect">
                        <a:avLst/>
                      </a:prstGeom>
                      <a:noFill/>
                      <a:ln w="9525">
                        <a:noFill/>
                      </a:ln>
                    </p:spPr>
                  </p:pic>
                </p:oleObj>
              </mc:Fallback>
            </mc:AlternateContent>
          </a:graphicData>
        </a:graphic>
      </p:graphicFrame>
      <p:graphicFrame>
        <p:nvGraphicFramePr>
          <p:cNvPr id="230439" name="Object 39"/>
          <p:cNvGraphicFramePr>
            <a:graphicFrameLocks noChangeAspect="1"/>
          </p:cNvGraphicFramePr>
          <p:nvPr/>
        </p:nvGraphicFramePr>
        <p:xfrm>
          <a:off x="4733925" y="1752600"/>
          <a:ext cx="1187450" cy="731838"/>
        </p:xfrm>
        <a:graphic>
          <a:graphicData uri="http://schemas.openxmlformats.org/presentationml/2006/ole">
            <mc:AlternateContent xmlns:mc="http://schemas.openxmlformats.org/markup-compatibility/2006">
              <mc:Choice xmlns:v="urn:schemas-microsoft-com:vml" Requires="v">
                <p:oleObj spid="_x0000_s52229" name="公式" r:id="rId7" imgW="15849600" imgH="9753600" progId="Equation.3">
                  <p:embed/>
                </p:oleObj>
              </mc:Choice>
              <mc:Fallback>
                <p:oleObj name="公式" r:id="rId7" imgW="15849600" imgH="9753600" progId="Equation.3">
                  <p:embed/>
                  <p:pic>
                    <p:nvPicPr>
                      <p:cNvPr id="0" name="Object 39"/>
                      <p:cNvPicPr>
                        <a:picLocks noChangeAspect="1"/>
                      </p:cNvPicPr>
                      <p:nvPr/>
                    </p:nvPicPr>
                    <p:blipFill>
                      <a:blip r:embed="rId8"/>
                      <a:stretch>
                        <a:fillRect/>
                      </a:stretch>
                    </p:blipFill>
                    <p:spPr>
                      <a:xfrm>
                        <a:off x="4733925" y="1752600"/>
                        <a:ext cx="1187450" cy="731838"/>
                      </a:xfrm>
                      <a:prstGeom prst="rect">
                        <a:avLst/>
                      </a:prstGeom>
                      <a:noFill/>
                      <a:ln w="9525">
                        <a:noFill/>
                      </a:ln>
                    </p:spPr>
                  </p:pic>
                </p:oleObj>
              </mc:Fallback>
            </mc:AlternateContent>
          </a:graphicData>
        </a:graphic>
      </p:graphicFrame>
      <p:graphicFrame>
        <p:nvGraphicFramePr>
          <p:cNvPr id="230440" name="Object 40"/>
          <p:cNvGraphicFramePr>
            <a:graphicFrameLocks noChangeAspect="1"/>
          </p:cNvGraphicFramePr>
          <p:nvPr/>
        </p:nvGraphicFramePr>
        <p:xfrm>
          <a:off x="1354138" y="2619375"/>
          <a:ext cx="3040062" cy="730250"/>
        </p:xfrm>
        <a:graphic>
          <a:graphicData uri="http://schemas.openxmlformats.org/presentationml/2006/ole">
            <mc:AlternateContent xmlns:mc="http://schemas.openxmlformats.org/markup-compatibility/2006">
              <mc:Choice xmlns:v="urn:schemas-microsoft-com:vml" Requires="v">
                <p:oleObj spid="_x0000_s52230" name="公式" r:id="rId9" imgW="40538400" imgH="9753600" progId="Equation.3">
                  <p:embed/>
                </p:oleObj>
              </mc:Choice>
              <mc:Fallback>
                <p:oleObj name="公式" r:id="rId9" imgW="40538400" imgH="9753600" progId="Equation.3">
                  <p:embed/>
                  <p:pic>
                    <p:nvPicPr>
                      <p:cNvPr id="0" name="Object 40"/>
                      <p:cNvPicPr>
                        <a:picLocks noChangeAspect="1"/>
                      </p:cNvPicPr>
                      <p:nvPr/>
                    </p:nvPicPr>
                    <p:blipFill>
                      <a:blip r:embed="rId10"/>
                      <a:stretch>
                        <a:fillRect/>
                      </a:stretch>
                    </p:blipFill>
                    <p:spPr>
                      <a:xfrm>
                        <a:off x="1354138" y="2619375"/>
                        <a:ext cx="3040062" cy="730250"/>
                      </a:xfrm>
                      <a:prstGeom prst="rect">
                        <a:avLst/>
                      </a:prstGeom>
                      <a:noFill/>
                      <a:ln w="9525">
                        <a:noFill/>
                      </a:ln>
                    </p:spPr>
                  </p:pic>
                </p:oleObj>
              </mc:Fallback>
            </mc:AlternateContent>
          </a:graphicData>
        </a:graphic>
      </p:graphicFrame>
      <p:graphicFrame>
        <p:nvGraphicFramePr>
          <p:cNvPr id="230441" name="Object 41"/>
          <p:cNvGraphicFramePr>
            <a:graphicFrameLocks noChangeAspect="1"/>
          </p:cNvGraphicFramePr>
          <p:nvPr/>
        </p:nvGraphicFramePr>
        <p:xfrm>
          <a:off x="4481513" y="2636838"/>
          <a:ext cx="1189037" cy="730250"/>
        </p:xfrm>
        <a:graphic>
          <a:graphicData uri="http://schemas.openxmlformats.org/presentationml/2006/ole">
            <mc:AlternateContent xmlns:mc="http://schemas.openxmlformats.org/markup-compatibility/2006">
              <mc:Choice xmlns:v="urn:schemas-microsoft-com:vml" Requires="v">
                <p:oleObj spid="_x0000_s52231" name="公式" r:id="rId11" imgW="15849600" imgH="9753600" progId="Equation.3">
                  <p:embed/>
                </p:oleObj>
              </mc:Choice>
              <mc:Fallback>
                <p:oleObj name="公式" r:id="rId11" imgW="15849600" imgH="9753600" progId="Equation.3">
                  <p:embed/>
                  <p:pic>
                    <p:nvPicPr>
                      <p:cNvPr id="0" name="Object 41"/>
                      <p:cNvPicPr>
                        <a:picLocks noChangeAspect="1"/>
                      </p:cNvPicPr>
                      <p:nvPr/>
                    </p:nvPicPr>
                    <p:blipFill>
                      <a:blip r:embed="rId12"/>
                      <a:stretch>
                        <a:fillRect/>
                      </a:stretch>
                    </p:blipFill>
                    <p:spPr>
                      <a:xfrm>
                        <a:off x="4481513" y="2636838"/>
                        <a:ext cx="1189037" cy="730250"/>
                      </a:xfrm>
                      <a:prstGeom prst="rect">
                        <a:avLst/>
                      </a:prstGeom>
                      <a:noFill/>
                      <a:ln w="9525">
                        <a:noFill/>
                      </a:ln>
                    </p:spPr>
                  </p:pic>
                </p:oleObj>
              </mc:Fallback>
            </mc:AlternateContent>
          </a:graphicData>
        </a:graphic>
      </p:graphicFrame>
      <p:sp>
        <p:nvSpPr>
          <p:cNvPr id="230442" name="AutoShape 42"/>
          <p:cNvSpPr>
            <a:spLocks noChangeArrowheads="1"/>
          </p:cNvSpPr>
          <p:nvPr/>
        </p:nvSpPr>
        <p:spPr bwMode="auto">
          <a:xfrm>
            <a:off x="1492250" y="3748088"/>
            <a:ext cx="422275" cy="131762"/>
          </a:xfrm>
          <a:prstGeom prst="rightArrow">
            <a:avLst>
              <a:gd name="adj1" fmla="val 50000"/>
              <a:gd name="adj2" fmla="val 80121"/>
            </a:avLst>
          </a:prstGeom>
          <a:solidFill>
            <a:srgbClr val="0000FF"/>
          </a:solidFill>
          <a:ln w="9525">
            <a:solidFill>
              <a:schemeClr val="tx1"/>
            </a:solidFill>
            <a:miter lim="800000"/>
          </a:ln>
        </p:spPr>
        <p:txBody>
          <a:bodyPr wrap="none" anchor="ctr"/>
          <a:lstStyle/>
          <a:p>
            <a:pPr algn="ctr"/>
            <a:endParaRPr lang="zh-CN" altLang="en-US"/>
          </a:p>
        </p:txBody>
      </p:sp>
      <p:graphicFrame>
        <p:nvGraphicFramePr>
          <p:cNvPr id="230443" name="Object 43"/>
          <p:cNvGraphicFramePr>
            <a:graphicFrameLocks noChangeAspect="1"/>
          </p:cNvGraphicFramePr>
          <p:nvPr/>
        </p:nvGraphicFramePr>
        <p:xfrm>
          <a:off x="2062163" y="3619500"/>
          <a:ext cx="1990725" cy="411163"/>
        </p:xfrm>
        <a:graphic>
          <a:graphicData uri="http://schemas.openxmlformats.org/presentationml/2006/ole">
            <mc:AlternateContent xmlns:mc="http://schemas.openxmlformats.org/markup-compatibility/2006">
              <mc:Choice xmlns:v="urn:schemas-microsoft-com:vml" Requires="v">
                <p:oleObj spid="_x0000_s52232" name="公式" r:id="rId13" imgW="26517600" imgH="5486400" progId="Equation.3">
                  <p:embed/>
                </p:oleObj>
              </mc:Choice>
              <mc:Fallback>
                <p:oleObj name="公式" r:id="rId13" imgW="26517600" imgH="5486400" progId="Equation.3">
                  <p:embed/>
                  <p:pic>
                    <p:nvPicPr>
                      <p:cNvPr id="0" name="Object 43"/>
                      <p:cNvPicPr>
                        <a:picLocks noChangeAspect="1"/>
                      </p:cNvPicPr>
                      <p:nvPr/>
                    </p:nvPicPr>
                    <p:blipFill>
                      <a:blip r:embed="rId14"/>
                      <a:stretch>
                        <a:fillRect/>
                      </a:stretch>
                    </p:blipFill>
                    <p:spPr>
                      <a:xfrm>
                        <a:off x="2062163" y="3619500"/>
                        <a:ext cx="1990725" cy="411163"/>
                      </a:xfrm>
                      <a:prstGeom prst="rect">
                        <a:avLst/>
                      </a:prstGeom>
                      <a:noFill/>
                      <a:ln w="9525">
                        <a:noFill/>
                      </a:ln>
                    </p:spPr>
                  </p:pic>
                </p:oleObj>
              </mc:Fallback>
            </mc:AlternateContent>
          </a:graphicData>
        </a:graphic>
      </p:graphicFrame>
      <p:graphicFrame>
        <p:nvGraphicFramePr>
          <p:cNvPr id="230444" name="Object 44"/>
          <p:cNvGraphicFramePr>
            <a:graphicFrameLocks noChangeAspect="1"/>
          </p:cNvGraphicFramePr>
          <p:nvPr/>
        </p:nvGraphicFramePr>
        <p:xfrm>
          <a:off x="4140200" y="3416300"/>
          <a:ext cx="1057275" cy="733425"/>
        </p:xfrm>
        <a:graphic>
          <a:graphicData uri="http://schemas.openxmlformats.org/presentationml/2006/ole">
            <mc:AlternateContent xmlns:mc="http://schemas.openxmlformats.org/markup-compatibility/2006">
              <mc:Choice xmlns:v="urn:schemas-microsoft-com:vml" Requires="v">
                <p:oleObj spid="_x0000_s52233" name="公式" r:id="rId15" imgW="14020800" imgH="9753600" progId="Equation.3">
                  <p:embed/>
                </p:oleObj>
              </mc:Choice>
              <mc:Fallback>
                <p:oleObj name="公式" r:id="rId15" imgW="14020800" imgH="9753600" progId="Equation.3">
                  <p:embed/>
                  <p:pic>
                    <p:nvPicPr>
                      <p:cNvPr id="0" name="Object 44"/>
                      <p:cNvPicPr>
                        <a:picLocks noChangeAspect="1"/>
                      </p:cNvPicPr>
                      <p:nvPr/>
                    </p:nvPicPr>
                    <p:blipFill>
                      <a:blip r:embed="rId16"/>
                      <a:stretch>
                        <a:fillRect/>
                      </a:stretch>
                    </p:blipFill>
                    <p:spPr>
                      <a:xfrm>
                        <a:off x="4140200" y="3416300"/>
                        <a:ext cx="1057275" cy="733425"/>
                      </a:xfrm>
                      <a:prstGeom prst="rect">
                        <a:avLst/>
                      </a:prstGeom>
                      <a:noFill/>
                      <a:ln w="9525">
                        <a:noFill/>
                      </a:ln>
                    </p:spPr>
                  </p:pic>
                </p:oleObj>
              </mc:Fallback>
            </mc:AlternateContent>
          </a:graphicData>
        </a:graphic>
      </p:graphicFrame>
      <p:sp>
        <p:nvSpPr>
          <p:cNvPr id="230445" name="Text Box 45"/>
          <p:cNvSpPr txBox="1">
            <a:spLocks noChangeArrowheads="1"/>
          </p:cNvSpPr>
          <p:nvPr/>
        </p:nvSpPr>
        <p:spPr bwMode="auto">
          <a:xfrm>
            <a:off x="835025" y="4321175"/>
            <a:ext cx="1892300" cy="512763"/>
          </a:xfrm>
          <a:prstGeom prst="rect">
            <a:avLst/>
          </a:prstGeom>
          <a:noFill/>
          <a:ln w="9525">
            <a:noFill/>
            <a:miter lim="800000"/>
          </a:ln>
        </p:spPr>
        <p:txBody>
          <a:bodyPr>
            <a:spAutoFit/>
          </a:bodyPr>
          <a:lstStyle/>
          <a:p>
            <a:pPr>
              <a:lnSpc>
                <a:spcPct val="115000"/>
              </a:lnSpc>
              <a:defRPr/>
            </a:pPr>
            <a:r>
              <a:rPr lang="en-US" altLang="zh-CN" b="1" i="1">
                <a:solidFill>
                  <a:srgbClr val="9900CC"/>
                </a:solidFill>
                <a:ea typeface="+mn-ea"/>
                <a:cs typeface="Times New Roman" panose="02020603050405020304" pitchFamily="18" charset="0"/>
              </a:rPr>
              <a:t>dc</a:t>
            </a:r>
            <a:r>
              <a:rPr lang="en-US" altLang="zh-CN" b="1">
                <a:solidFill>
                  <a:srgbClr val="9900CC"/>
                </a:solidFill>
                <a:ea typeface="+mn-ea"/>
                <a:cs typeface="Times New Roman" panose="02020603050405020304" pitchFamily="18" charset="0"/>
              </a:rPr>
              <a:t> </a:t>
            </a:r>
            <a:r>
              <a:rPr lang="zh-CN" altLang="en-US" b="1">
                <a:ea typeface="+mn-ea"/>
                <a:cs typeface="Times New Roman" panose="02020603050405020304" pitchFamily="18" charset="0"/>
              </a:rPr>
              <a:t>过程，</a:t>
            </a:r>
            <a:endParaRPr lang="zh-CN" altLang="en-US" b="1">
              <a:ea typeface="+mn-ea"/>
              <a:cs typeface="Times New Roman" panose="02020603050405020304" pitchFamily="18" charset="0"/>
            </a:endParaRPr>
          </a:p>
        </p:txBody>
      </p:sp>
      <p:graphicFrame>
        <p:nvGraphicFramePr>
          <p:cNvPr id="230446" name="Object 46"/>
          <p:cNvGraphicFramePr>
            <a:graphicFrameLocks noChangeAspect="1"/>
          </p:cNvGraphicFramePr>
          <p:nvPr/>
        </p:nvGraphicFramePr>
        <p:xfrm>
          <a:off x="2276475" y="4238625"/>
          <a:ext cx="2579688" cy="730250"/>
        </p:xfrm>
        <a:graphic>
          <a:graphicData uri="http://schemas.openxmlformats.org/presentationml/2006/ole">
            <mc:AlternateContent xmlns:mc="http://schemas.openxmlformats.org/markup-compatibility/2006">
              <mc:Choice xmlns:v="urn:schemas-microsoft-com:vml" Requires="v">
                <p:oleObj spid="_x0000_s52234" name="公式" r:id="rId17" imgW="34442400" imgH="9753600" progId="Equation.3">
                  <p:embed/>
                </p:oleObj>
              </mc:Choice>
              <mc:Fallback>
                <p:oleObj name="公式" r:id="rId17" imgW="34442400" imgH="9753600" progId="Equation.3">
                  <p:embed/>
                  <p:pic>
                    <p:nvPicPr>
                      <p:cNvPr id="0" name="Object 46"/>
                      <p:cNvPicPr>
                        <a:picLocks noChangeAspect="1"/>
                      </p:cNvPicPr>
                      <p:nvPr/>
                    </p:nvPicPr>
                    <p:blipFill>
                      <a:blip r:embed="rId18"/>
                      <a:stretch>
                        <a:fillRect/>
                      </a:stretch>
                    </p:blipFill>
                    <p:spPr>
                      <a:xfrm>
                        <a:off x="2276475" y="4238625"/>
                        <a:ext cx="2579688" cy="730250"/>
                      </a:xfrm>
                      <a:prstGeom prst="rect">
                        <a:avLst/>
                      </a:prstGeom>
                      <a:noFill/>
                      <a:ln w="9525">
                        <a:noFill/>
                      </a:ln>
                    </p:spPr>
                  </p:pic>
                </p:oleObj>
              </mc:Fallback>
            </mc:AlternateContent>
          </a:graphicData>
        </a:graphic>
      </p:graphicFrame>
      <p:graphicFrame>
        <p:nvGraphicFramePr>
          <p:cNvPr id="230447" name="Object 47"/>
          <p:cNvGraphicFramePr>
            <a:graphicFrameLocks noChangeAspect="1"/>
          </p:cNvGraphicFramePr>
          <p:nvPr/>
        </p:nvGraphicFramePr>
        <p:xfrm>
          <a:off x="4886325" y="4238625"/>
          <a:ext cx="1392238" cy="730250"/>
        </p:xfrm>
        <a:graphic>
          <a:graphicData uri="http://schemas.openxmlformats.org/presentationml/2006/ole">
            <mc:AlternateContent xmlns:mc="http://schemas.openxmlformats.org/markup-compatibility/2006">
              <mc:Choice xmlns:v="urn:schemas-microsoft-com:vml" Requires="v">
                <p:oleObj spid="_x0000_s52235" name="公式" r:id="rId19" imgW="18592800" imgH="9753600" progId="Equation.3">
                  <p:embed/>
                </p:oleObj>
              </mc:Choice>
              <mc:Fallback>
                <p:oleObj name="公式" r:id="rId19" imgW="18592800" imgH="9753600" progId="Equation.3">
                  <p:embed/>
                  <p:pic>
                    <p:nvPicPr>
                      <p:cNvPr id="0" name="Object 47"/>
                      <p:cNvPicPr>
                        <a:picLocks noChangeAspect="1"/>
                      </p:cNvPicPr>
                      <p:nvPr/>
                    </p:nvPicPr>
                    <p:blipFill>
                      <a:blip r:embed="rId20"/>
                      <a:stretch>
                        <a:fillRect/>
                      </a:stretch>
                    </p:blipFill>
                    <p:spPr>
                      <a:xfrm>
                        <a:off x="4886325" y="4238625"/>
                        <a:ext cx="1392238" cy="730250"/>
                      </a:xfrm>
                      <a:prstGeom prst="rect">
                        <a:avLst/>
                      </a:prstGeom>
                      <a:noFill/>
                      <a:ln w="9525">
                        <a:noFill/>
                      </a:ln>
                    </p:spPr>
                  </p:pic>
                </p:oleObj>
              </mc:Fallback>
            </mc:AlternateContent>
          </a:graphicData>
        </a:graphic>
      </p:graphicFrame>
      <p:graphicFrame>
        <p:nvGraphicFramePr>
          <p:cNvPr id="230448" name="Object 48"/>
          <p:cNvGraphicFramePr>
            <a:graphicFrameLocks noChangeAspect="1"/>
          </p:cNvGraphicFramePr>
          <p:nvPr/>
        </p:nvGraphicFramePr>
        <p:xfrm>
          <a:off x="1482725" y="5016500"/>
          <a:ext cx="2997200" cy="730250"/>
        </p:xfrm>
        <a:graphic>
          <a:graphicData uri="http://schemas.openxmlformats.org/presentationml/2006/ole">
            <mc:AlternateContent xmlns:mc="http://schemas.openxmlformats.org/markup-compatibility/2006">
              <mc:Choice xmlns:v="urn:schemas-microsoft-com:vml" Requires="v">
                <p:oleObj spid="_x0000_s52236" name="公式" r:id="rId21" imgW="39928800" imgH="9753600" progId="Equation.3">
                  <p:embed/>
                </p:oleObj>
              </mc:Choice>
              <mc:Fallback>
                <p:oleObj name="公式" r:id="rId21" imgW="39928800" imgH="9753600" progId="Equation.3">
                  <p:embed/>
                  <p:pic>
                    <p:nvPicPr>
                      <p:cNvPr id="0" name="Object 48"/>
                      <p:cNvPicPr>
                        <a:picLocks noChangeAspect="1"/>
                      </p:cNvPicPr>
                      <p:nvPr/>
                    </p:nvPicPr>
                    <p:blipFill>
                      <a:blip r:embed="rId22"/>
                      <a:stretch>
                        <a:fillRect/>
                      </a:stretch>
                    </p:blipFill>
                    <p:spPr>
                      <a:xfrm>
                        <a:off x="1482725" y="5016500"/>
                        <a:ext cx="2997200" cy="730250"/>
                      </a:xfrm>
                      <a:prstGeom prst="rect">
                        <a:avLst/>
                      </a:prstGeom>
                      <a:noFill/>
                      <a:ln w="9525">
                        <a:noFill/>
                      </a:ln>
                    </p:spPr>
                  </p:pic>
                </p:oleObj>
              </mc:Fallback>
            </mc:AlternateContent>
          </a:graphicData>
        </a:graphic>
      </p:graphicFrame>
      <p:graphicFrame>
        <p:nvGraphicFramePr>
          <p:cNvPr id="230449" name="Object 49"/>
          <p:cNvGraphicFramePr>
            <a:graphicFrameLocks noChangeAspect="1"/>
          </p:cNvGraphicFramePr>
          <p:nvPr/>
        </p:nvGraphicFramePr>
        <p:xfrm>
          <a:off x="4508500" y="5003800"/>
          <a:ext cx="1189038" cy="730250"/>
        </p:xfrm>
        <a:graphic>
          <a:graphicData uri="http://schemas.openxmlformats.org/presentationml/2006/ole">
            <mc:AlternateContent xmlns:mc="http://schemas.openxmlformats.org/markup-compatibility/2006">
              <mc:Choice xmlns:v="urn:schemas-microsoft-com:vml" Requires="v">
                <p:oleObj spid="_x0000_s52237" name="公式" r:id="rId23" imgW="15849600" imgH="9753600" progId="Equation.3">
                  <p:embed/>
                </p:oleObj>
              </mc:Choice>
              <mc:Fallback>
                <p:oleObj name="公式" r:id="rId23" imgW="15849600" imgH="9753600" progId="Equation.3">
                  <p:embed/>
                  <p:pic>
                    <p:nvPicPr>
                      <p:cNvPr id="0" name="Object 49"/>
                      <p:cNvPicPr>
                        <a:picLocks noChangeAspect="1"/>
                      </p:cNvPicPr>
                      <p:nvPr/>
                    </p:nvPicPr>
                    <p:blipFill>
                      <a:blip r:embed="rId24"/>
                      <a:stretch>
                        <a:fillRect/>
                      </a:stretch>
                    </p:blipFill>
                    <p:spPr>
                      <a:xfrm>
                        <a:off x="4508500" y="5003800"/>
                        <a:ext cx="1189038" cy="730250"/>
                      </a:xfrm>
                      <a:prstGeom prst="rect">
                        <a:avLst/>
                      </a:prstGeom>
                      <a:noFill/>
                      <a:ln w="9525">
                        <a:noFill/>
                      </a:ln>
                    </p:spPr>
                  </p:pic>
                </p:oleObj>
              </mc:Fallback>
            </mc:AlternateContent>
          </a:graphicData>
        </a:graphic>
      </p:graphicFrame>
      <p:sp>
        <p:nvSpPr>
          <p:cNvPr id="230450" name="AutoShape 50"/>
          <p:cNvSpPr>
            <a:spLocks noChangeArrowheads="1"/>
          </p:cNvSpPr>
          <p:nvPr/>
        </p:nvSpPr>
        <p:spPr bwMode="auto">
          <a:xfrm>
            <a:off x="1631950" y="6005513"/>
            <a:ext cx="468313" cy="125412"/>
          </a:xfrm>
          <a:prstGeom prst="rightArrow">
            <a:avLst>
              <a:gd name="adj1" fmla="val 50000"/>
              <a:gd name="adj2" fmla="val 93355"/>
            </a:avLst>
          </a:prstGeom>
          <a:solidFill>
            <a:srgbClr val="0000FF"/>
          </a:solidFill>
          <a:ln w="9525">
            <a:solidFill>
              <a:schemeClr val="tx1"/>
            </a:solidFill>
            <a:miter lim="800000"/>
          </a:ln>
        </p:spPr>
        <p:txBody>
          <a:bodyPr wrap="none" anchor="ctr"/>
          <a:lstStyle/>
          <a:p>
            <a:pPr algn="ctr"/>
            <a:endParaRPr lang="zh-CN" altLang="en-US"/>
          </a:p>
        </p:txBody>
      </p:sp>
      <p:graphicFrame>
        <p:nvGraphicFramePr>
          <p:cNvPr id="230451" name="Object 51"/>
          <p:cNvGraphicFramePr>
            <a:graphicFrameLocks noChangeAspect="1"/>
          </p:cNvGraphicFramePr>
          <p:nvPr/>
        </p:nvGraphicFramePr>
        <p:xfrm>
          <a:off x="2211388" y="5861050"/>
          <a:ext cx="1943100" cy="411163"/>
        </p:xfrm>
        <a:graphic>
          <a:graphicData uri="http://schemas.openxmlformats.org/presentationml/2006/ole">
            <mc:AlternateContent xmlns:mc="http://schemas.openxmlformats.org/markup-compatibility/2006">
              <mc:Choice xmlns:v="urn:schemas-microsoft-com:vml" Requires="v">
                <p:oleObj spid="_x0000_s52238" name="公式" r:id="rId25" imgW="25908000" imgH="5486400" progId="Equation.3">
                  <p:embed/>
                </p:oleObj>
              </mc:Choice>
              <mc:Fallback>
                <p:oleObj name="公式" r:id="rId25" imgW="25908000" imgH="5486400" progId="Equation.3">
                  <p:embed/>
                  <p:pic>
                    <p:nvPicPr>
                      <p:cNvPr id="0" name="Object 51"/>
                      <p:cNvPicPr>
                        <a:picLocks noChangeAspect="1"/>
                      </p:cNvPicPr>
                      <p:nvPr/>
                    </p:nvPicPr>
                    <p:blipFill>
                      <a:blip r:embed="rId26"/>
                      <a:stretch>
                        <a:fillRect/>
                      </a:stretch>
                    </p:blipFill>
                    <p:spPr>
                      <a:xfrm>
                        <a:off x="2211388" y="5861050"/>
                        <a:ext cx="1943100" cy="411163"/>
                      </a:xfrm>
                      <a:prstGeom prst="rect">
                        <a:avLst/>
                      </a:prstGeom>
                      <a:noFill/>
                      <a:ln w="9525">
                        <a:noFill/>
                      </a:ln>
                    </p:spPr>
                  </p:pic>
                </p:oleObj>
              </mc:Fallback>
            </mc:AlternateContent>
          </a:graphicData>
        </a:graphic>
      </p:graphicFrame>
      <p:graphicFrame>
        <p:nvGraphicFramePr>
          <p:cNvPr id="230452" name="Object 52"/>
          <p:cNvGraphicFramePr>
            <a:graphicFrameLocks noChangeAspect="1"/>
          </p:cNvGraphicFramePr>
          <p:nvPr/>
        </p:nvGraphicFramePr>
        <p:xfrm>
          <a:off x="4170363" y="5724525"/>
          <a:ext cx="1257300" cy="730250"/>
        </p:xfrm>
        <a:graphic>
          <a:graphicData uri="http://schemas.openxmlformats.org/presentationml/2006/ole">
            <mc:AlternateContent xmlns:mc="http://schemas.openxmlformats.org/markup-compatibility/2006">
              <mc:Choice xmlns:v="urn:schemas-microsoft-com:vml" Requires="v">
                <p:oleObj spid="_x0000_s52239" name="公式" r:id="rId27" imgW="16764000" imgH="9753600" progId="Equation.3">
                  <p:embed/>
                </p:oleObj>
              </mc:Choice>
              <mc:Fallback>
                <p:oleObj name="公式" r:id="rId27" imgW="16764000" imgH="9753600" progId="Equation.3">
                  <p:embed/>
                  <p:pic>
                    <p:nvPicPr>
                      <p:cNvPr id="0" name="Object 52"/>
                      <p:cNvPicPr>
                        <a:picLocks noChangeAspect="1"/>
                      </p:cNvPicPr>
                      <p:nvPr/>
                    </p:nvPicPr>
                    <p:blipFill>
                      <a:blip r:embed="rId28"/>
                      <a:stretch>
                        <a:fillRect/>
                      </a:stretch>
                    </p:blipFill>
                    <p:spPr>
                      <a:xfrm>
                        <a:off x="4170363" y="5724525"/>
                        <a:ext cx="1257300" cy="7302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30434"/>
                                        </p:tgtEl>
                                        <p:attrNameLst>
                                          <p:attrName>style.visibility</p:attrName>
                                        </p:attrNameLst>
                                      </p:cBhvr>
                                      <p:to>
                                        <p:strVal val="visible"/>
                                      </p:to>
                                    </p:set>
                                    <p:anim calcmode="lin" valueType="num">
                                      <p:cBhvr>
                                        <p:cTn id="7" dur="500" fill="hold"/>
                                        <p:tgtEl>
                                          <p:spTgt spid="230434"/>
                                        </p:tgtEl>
                                        <p:attrNameLst>
                                          <p:attrName>ppt_w</p:attrName>
                                        </p:attrNameLst>
                                      </p:cBhvr>
                                      <p:tavLst>
                                        <p:tav tm="0">
                                          <p:val>
                                            <p:strVal val="4*#ppt_w"/>
                                          </p:val>
                                        </p:tav>
                                        <p:tav tm="100000">
                                          <p:val>
                                            <p:strVal val="#ppt_w"/>
                                          </p:val>
                                        </p:tav>
                                      </p:tavLst>
                                    </p:anim>
                                    <p:anim calcmode="lin" valueType="num">
                                      <p:cBhvr>
                                        <p:cTn id="8" dur="500" fill="hold"/>
                                        <p:tgtEl>
                                          <p:spTgt spid="230434"/>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30433"/>
                                        </p:tgtEl>
                                        <p:attrNameLst>
                                          <p:attrName>style.visibility</p:attrName>
                                        </p:attrNameLst>
                                      </p:cBhvr>
                                      <p:to>
                                        <p:strVal val="visible"/>
                                      </p:to>
                                    </p:set>
                                    <p:animEffect transition="in" filter="wipe(left)">
                                      <p:cBhvr>
                                        <p:cTn id="12" dur="500"/>
                                        <p:tgtEl>
                                          <p:spTgt spid="2304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0435"/>
                                        </p:tgtEl>
                                        <p:attrNameLst>
                                          <p:attrName>style.visibility</p:attrName>
                                        </p:attrNameLst>
                                      </p:cBhvr>
                                      <p:to>
                                        <p:strVal val="visible"/>
                                      </p:to>
                                    </p:set>
                                    <p:animEffect transition="in" filter="wipe(left)">
                                      <p:cBhvr>
                                        <p:cTn id="17" dur="500"/>
                                        <p:tgtEl>
                                          <p:spTgt spid="2304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0436"/>
                                        </p:tgtEl>
                                        <p:attrNameLst>
                                          <p:attrName>style.visibility</p:attrName>
                                        </p:attrNameLst>
                                      </p:cBhvr>
                                      <p:to>
                                        <p:strVal val="visible"/>
                                      </p:to>
                                    </p:set>
                                    <p:animEffect transition="in" filter="wipe(left)">
                                      <p:cBhvr>
                                        <p:cTn id="22" dur="500"/>
                                        <p:tgtEl>
                                          <p:spTgt spid="2304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0437"/>
                                        </p:tgtEl>
                                        <p:attrNameLst>
                                          <p:attrName>style.visibility</p:attrName>
                                        </p:attrNameLst>
                                      </p:cBhvr>
                                      <p:to>
                                        <p:strVal val="visible"/>
                                      </p:to>
                                    </p:set>
                                    <p:animEffect transition="in" filter="wipe(left)">
                                      <p:cBhvr>
                                        <p:cTn id="27" dur="500"/>
                                        <p:tgtEl>
                                          <p:spTgt spid="2304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0438"/>
                                        </p:tgtEl>
                                        <p:attrNameLst>
                                          <p:attrName>style.visibility</p:attrName>
                                        </p:attrNameLst>
                                      </p:cBhvr>
                                      <p:to>
                                        <p:strVal val="visible"/>
                                      </p:to>
                                    </p:set>
                                    <p:animEffect transition="in" filter="wipe(left)">
                                      <p:cBhvr>
                                        <p:cTn id="32" dur="500"/>
                                        <p:tgtEl>
                                          <p:spTgt spid="2304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0439"/>
                                        </p:tgtEl>
                                        <p:attrNameLst>
                                          <p:attrName>style.visibility</p:attrName>
                                        </p:attrNameLst>
                                      </p:cBhvr>
                                      <p:to>
                                        <p:strVal val="visible"/>
                                      </p:to>
                                    </p:set>
                                    <p:animEffect transition="in" filter="wipe(left)">
                                      <p:cBhvr>
                                        <p:cTn id="37" dur="500"/>
                                        <p:tgtEl>
                                          <p:spTgt spid="2304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30404"/>
                                        </p:tgtEl>
                                        <p:attrNameLst>
                                          <p:attrName>style.visibility</p:attrName>
                                        </p:attrNameLst>
                                      </p:cBhvr>
                                      <p:to>
                                        <p:strVal val="visible"/>
                                      </p:to>
                                    </p:set>
                                    <p:animEffect transition="in" filter="wipe(up)">
                                      <p:cBhvr>
                                        <p:cTn id="42" dur="500"/>
                                        <p:tgtEl>
                                          <p:spTgt spid="230404"/>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230403"/>
                                        </p:tgtEl>
                                        <p:attrNameLst>
                                          <p:attrName>style.visibility</p:attrName>
                                        </p:attrNameLst>
                                      </p:cBhvr>
                                      <p:to>
                                        <p:strVal val="visible"/>
                                      </p:to>
                                    </p:set>
                                    <p:animEffect transition="in" filter="wipe(left)">
                                      <p:cBhvr>
                                        <p:cTn id="46" dur="500"/>
                                        <p:tgtEl>
                                          <p:spTgt spid="23040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30440"/>
                                        </p:tgtEl>
                                        <p:attrNameLst>
                                          <p:attrName>style.visibility</p:attrName>
                                        </p:attrNameLst>
                                      </p:cBhvr>
                                      <p:to>
                                        <p:strVal val="visible"/>
                                      </p:to>
                                    </p:set>
                                    <p:animEffect transition="in" filter="wipe(left)">
                                      <p:cBhvr>
                                        <p:cTn id="51" dur="500"/>
                                        <p:tgtEl>
                                          <p:spTgt spid="23044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30441"/>
                                        </p:tgtEl>
                                        <p:attrNameLst>
                                          <p:attrName>style.visibility</p:attrName>
                                        </p:attrNameLst>
                                      </p:cBhvr>
                                      <p:to>
                                        <p:strVal val="visible"/>
                                      </p:to>
                                    </p:set>
                                    <p:animEffect transition="in" filter="wipe(left)">
                                      <p:cBhvr>
                                        <p:cTn id="56" dur="500"/>
                                        <p:tgtEl>
                                          <p:spTgt spid="23044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30442"/>
                                        </p:tgtEl>
                                        <p:attrNameLst>
                                          <p:attrName>style.visibility</p:attrName>
                                        </p:attrNameLst>
                                      </p:cBhvr>
                                      <p:to>
                                        <p:strVal val="visible"/>
                                      </p:to>
                                    </p:set>
                                    <p:animEffect transition="in" filter="wipe(left)">
                                      <p:cBhvr>
                                        <p:cTn id="61" dur="500"/>
                                        <p:tgtEl>
                                          <p:spTgt spid="23044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30443"/>
                                        </p:tgtEl>
                                        <p:attrNameLst>
                                          <p:attrName>style.visibility</p:attrName>
                                        </p:attrNameLst>
                                      </p:cBhvr>
                                      <p:to>
                                        <p:strVal val="visible"/>
                                      </p:to>
                                    </p:set>
                                    <p:animEffect transition="in" filter="wipe(left)">
                                      <p:cBhvr>
                                        <p:cTn id="66" dur="500"/>
                                        <p:tgtEl>
                                          <p:spTgt spid="23044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30444"/>
                                        </p:tgtEl>
                                        <p:attrNameLst>
                                          <p:attrName>style.visibility</p:attrName>
                                        </p:attrNameLst>
                                      </p:cBhvr>
                                      <p:to>
                                        <p:strVal val="visible"/>
                                      </p:to>
                                    </p:set>
                                    <p:animEffect transition="in" filter="wipe(left)">
                                      <p:cBhvr>
                                        <p:cTn id="71" dur="500"/>
                                        <p:tgtEl>
                                          <p:spTgt spid="23044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30445"/>
                                        </p:tgtEl>
                                        <p:attrNameLst>
                                          <p:attrName>style.visibility</p:attrName>
                                        </p:attrNameLst>
                                      </p:cBhvr>
                                      <p:to>
                                        <p:strVal val="visible"/>
                                      </p:to>
                                    </p:set>
                                    <p:animEffect transition="in" filter="wipe(left)">
                                      <p:cBhvr>
                                        <p:cTn id="76" dur="500"/>
                                        <p:tgtEl>
                                          <p:spTgt spid="23044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30446"/>
                                        </p:tgtEl>
                                        <p:attrNameLst>
                                          <p:attrName>style.visibility</p:attrName>
                                        </p:attrNameLst>
                                      </p:cBhvr>
                                      <p:to>
                                        <p:strVal val="visible"/>
                                      </p:to>
                                    </p:set>
                                    <p:animEffect transition="in" filter="wipe(left)">
                                      <p:cBhvr>
                                        <p:cTn id="81" dur="500"/>
                                        <p:tgtEl>
                                          <p:spTgt spid="230446"/>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30447"/>
                                        </p:tgtEl>
                                        <p:attrNameLst>
                                          <p:attrName>style.visibility</p:attrName>
                                        </p:attrNameLst>
                                      </p:cBhvr>
                                      <p:to>
                                        <p:strVal val="visible"/>
                                      </p:to>
                                    </p:set>
                                    <p:animEffect transition="in" filter="wipe(left)">
                                      <p:cBhvr>
                                        <p:cTn id="86" dur="500"/>
                                        <p:tgtEl>
                                          <p:spTgt spid="230447"/>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230403"/>
                                        </p:tgtEl>
                                        <p:attrNameLst>
                                          <p:attrName>style.visibility</p:attrName>
                                        </p:attrNameLst>
                                      </p:cBhvr>
                                      <p:to>
                                        <p:strVal val="hidden"/>
                                      </p:to>
                                    </p:set>
                                  </p:childTnLst>
                                </p:cTn>
                              </p:par>
                            </p:childTnLst>
                          </p:cTn>
                        </p:par>
                        <p:par>
                          <p:cTn id="91" fill="hold">
                            <p:stCondLst>
                              <p:cond delay="0"/>
                            </p:stCondLst>
                            <p:childTnLst>
                              <p:par>
                                <p:cTn id="92" presetID="22" presetClass="entr" presetSubtype="8" fill="hold" grpId="0" nodeType="afterEffect">
                                  <p:stCondLst>
                                    <p:cond delay="0"/>
                                  </p:stCondLst>
                                  <p:childTnLst>
                                    <p:set>
                                      <p:cBhvr>
                                        <p:cTn id="93" dur="1" fill="hold">
                                          <p:stCondLst>
                                            <p:cond delay="0"/>
                                          </p:stCondLst>
                                        </p:cTn>
                                        <p:tgtEl>
                                          <p:spTgt spid="230402"/>
                                        </p:tgtEl>
                                        <p:attrNameLst>
                                          <p:attrName>style.visibility</p:attrName>
                                        </p:attrNameLst>
                                      </p:cBhvr>
                                      <p:to>
                                        <p:strVal val="visible"/>
                                      </p:to>
                                    </p:set>
                                    <p:animEffect transition="in" filter="wipe(left)">
                                      <p:cBhvr>
                                        <p:cTn id="94" dur="500"/>
                                        <p:tgtEl>
                                          <p:spTgt spid="230402"/>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230448"/>
                                        </p:tgtEl>
                                        <p:attrNameLst>
                                          <p:attrName>style.visibility</p:attrName>
                                        </p:attrNameLst>
                                      </p:cBhvr>
                                      <p:to>
                                        <p:strVal val="visible"/>
                                      </p:to>
                                    </p:set>
                                    <p:animEffect transition="in" filter="wipe(left)">
                                      <p:cBhvr>
                                        <p:cTn id="99" dur="500"/>
                                        <p:tgtEl>
                                          <p:spTgt spid="23044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230449"/>
                                        </p:tgtEl>
                                        <p:attrNameLst>
                                          <p:attrName>style.visibility</p:attrName>
                                        </p:attrNameLst>
                                      </p:cBhvr>
                                      <p:to>
                                        <p:strVal val="visible"/>
                                      </p:to>
                                    </p:set>
                                    <p:animEffect transition="in" filter="wipe(left)">
                                      <p:cBhvr>
                                        <p:cTn id="104" dur="500"/>
                                        <p:tgtEl>
                                          <p:spTgt spid="230449"/>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30450"/>
                                        </p:tgtEl>
                                        <p:attrNameLst>
                                          <p:attrName>style.visibility</p:attrName>
                                        </p:attrNameLst>
                                      </p:cBhvr>
                                      <p:to>
                                        <p:strVal val="visible"/>
                                      </p:to>
                                    </p:set>
                                    <p:animEffect transition="in" filter="wipe(left)">
                                      <p:cBhvr>
                                        <p:cTn id="109" dur="500"/>
                                        <p:tgtEl>
                                          <p:spTgt spid="230450"/>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230451"/>
                                        </p:tgtEl>
                                        <p:attrNameLst>
                                          <p:attrName>style.visibility</p:attrName>
                                        </p:attrNameLst>
                                      </p:cBhvr>
                                      <p:to>
                                        <p:strVal val="visible"/>
                                      </p:to>
                                    </p:set>
                                    <p:animEffect transition="in" filter="wipe(left)">
                                      <p:cBhvr>
                                        <p:cTn id="114" dur="500"/>
                                        <p:tgtEl>
                                          <p:spTgt spid="230451"/>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230452"/>
                                        </p:tgtEl>
                                        <p:attrNameLst>
                                          <p:attrName>style.visibility</p:attrName>
                                        </p:attrNameLst>
                                      </p:cBhvr>
                                      <p:to>
                                        <p:strVal val="visible"/>
                                      </p:to>
                                    </p:set>
                                    <p:animEffect transition="in" filter="wipe(left)">
                                      <p:cBhvr>
                                        <p:cTn id="119" dur="500"/>
                                        <p:tgtEl>
                                          <p:spTgt spid="230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animBg="1"/>
      <p:bldP spid="230403" grpId="0" animBg="1"/>
      <p:bldP spid="230403" grpId="1" animBg="1"/>
      <p:bldP spid="230404" grpId="0" animBg="1"/>
      <p:bldP spid="230433" grpId="0"/>
      <p:bldP spid="230434" grpId="0" animBg="1"/>
      <p:bldP spid="230437" grpId="0"/>
      <p:bldP spid="230442" grpId="0" animBg="1"/>
      <p:bldP spid="230445" grpId="0"/>
      <p:bldP spid="230450"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9" name="Group 2"/>
          <p:cNvGrpSpPr/>
          <p:nvPr/>
        </p:nvGrpSpPr>
        <p:grpSpPr bwMode="auto">
          <a:xfrm>
            <a:off x="6507163" y="503238"/>
            <a:ext cx="2397125" cy="1989137"/>
            <a:chOff x="4137" y="1230"/>
            <a:chExt cx="1510" cy="1253"/>
          </a:xfrm>
        </p:grpSpPr>
        <p:grpSp>
          <p:nvGrpSpPr>
            <p:cNvPr id="53264" name="Group 3"/>
            <p:cNvGrpSpPr/>
            <p:nvPr/>
          </p:nvGrpSpPr>
          <p:grpSpPr bwMode="auto">
            <a:xfrm>
              <a:off x="4150" y="1230"/>
              <a:ext cx="1497" cy="1231"/>
              <a:chOff x="4150" y="1752"/>
              <a:chExt cx="1497" cy="1231"/>
            </a:xfrm>
          </p:grpSpPr>
          <p:sp>
            <p:nvSpPr>
              <p:cNvPr id="53286" name="Line 4"/>
              <p:cNvSpPr>
                <a:spLocks noChangeShapeType="1"/>
              </p:cNvSpPr>
              <p:nvPr/>
            </p:nvSpPr>
            <p:spPr bwMode="auto">
              <a:xfrm flipV="1">
                <a:off x="4377" y="1842"/>
                <a:ext cx="0" cy="908"/>
              </a:xfrm>
              <a:prstGeom prst="line">
                <a:avLst/>
              </a:prstGeom>
              <a:noFill/>
              <a:ln w="38100">
                <a:solidFill>
                  <a:schemeClr val="tx1"/>
                </a:solidFill>
                <a:round/>
                <a:tailEnd type="triangle" w="med" len="med"/>
              </a:ln>
            </p:spPr>
            <p:txBody>
              <a:bodyPr/>
              <a:lstStyle/>
              <a:p>
                <a:endParaRPr lang="zh-CN" altLang="en-US"/>
              </a:p>
            </p:txBody>
          </p:sp>
          <p:sp>
            <p:nvSpPr>
              <p:cNvPr id="53287" name="Line 5"/>
              <p:cNvSpPr>
                <a:spLocks noChangeShapeType="1"/>
              </p:cNvSpPr>
              <p:nvPr/>
            </p:nvSpPr>
            <p:spPr bwMode="auto">
              <a:xfrm>
                <a:off x="4365" y="2750"/>
                <a:ext cx="1043" cy="0"/>
              </a:xfrm>
              <a:prstGeom prst="line">
                <a:avLst/>
              </a:prstGeom>
              <a:noFill/>
              <a:ln w="38100">
                <a:solidFill>
                  <a:schemeClr val="tx1"/>
                </a:solidFill>
                <a:round/>
                <a:tailEnd type="triangle" w="med" len="med"/>
              </a:ln>
            </p:spPr>
            <p:txBody>
              <a:bodyPr/>
              <a:lstStyle/>
              <a:p>
                <a:endParaRPr lang="zh-CN" altLang="en-US"/>
              </a:p>
            </p:txBody>
          </p:sp>
          <p:sp>
            <p:nvSpPr>
              <p:cNvPr id="53288" name="Text Box 6"/>
              <p:cNvSpPr txBox="1">
                <a:spLocks noChangeArrowheads="1"/>
              </p:cNvSpPr>
              <p:nvPr/>
            </p:nvSpPr>
            <p:spPr bwMode="auto">
              <a:xfrm>
                <a:off x="4150" y="2704"/>
                <a:ext cx="408" cy="279"/>
              </a:xfrm>
              <a:prstGeom prst="rect">
                <a:avLst/>
              </a:prstGeom>
              <a:noFill/>
              <a:ln w="9525">
                <a:noFill/>
                <a:miter lim="800000"/>
              </a:ln>
            </p:spPr>
            <p:txBody>
              <a:bodyPr>
                <a:spAutoFit/>
              </a:bodyPr>
              <a:lstStyle/>
              <a:p>
                <a:pPr>
                  <a:lnSpc>
                    <a:spcPct val="115000"/>
                  </a:lnSpc>
                </a:pPr>
                <a:r>
                  <a:rPr lang="en-US" altLang="zh-CN" sz="2000" b="1" i="1"/>
                  <a:t>O</a:t>
                </a:r>
                <a:endParaRPr lang="en-US" altLang="zh-CN" sz="2000" b="1" i="1"/>
              </a:p>
            </p:txBody>
          </p:sp>
          <p:sp>
            <p:nvSpPr>
              <p:cNvPr id="53289" name="Text Box 7"/>
              <p:cNvSpPr txBox="1">
                <a:spLocks noChangeArrowheads="1"/>
              </p:cNvSpPr>
              <p:nvPr/>
            </p:nvSpPr>
            <p:spPr bwMode="auto">
              <a:xfrm>
                <a:off x="4150" y="1752"/>
                <a:ext cx="272" cy="279"/>
              </a:xfrm>
              <a:prstGeom prst="rect">
                <a:avLst/>
              </a:prstGeom>
              <a:noFill/>
              <a:ln w="9525">
                <a:noFill/>
                <a:miter lim="800000"/>
              </a:ln>
            </p:spPr>
            <p:txBody>
              <a:bodyPr>
                <a:spAutoFit/>
              </a:bodyPr>
              <a:lstStyle/>
              <a:p>
                <a:pPr>
                  <a:lnSpc>
                    <a:spcPct val="115000"/>
                  </a:lnSpc>
                </a:pPr>
                <a:r>
                  <a:rPr lang="en-US" altLang="zh-CN" sz="2000" b="1" i="1"/>
                  <a:t>p</a:t>
                </a:r>
                <a:endParaRPr lang="en-US" altLang="zh-CN" sz="2000" b="1" i="1"/>
              </a:p>
            </p:txBody>
          </p:sp>
          <p:sp>
            <p:nvSpPr>
              <p:cNvPr id="53290" name="Text Box 8"/>
              <p:cNvSpPr txBox="1">
                <a:spLocks noChangeArrowheads="1"/>
              </p:cNvSpPr>
              <p:nvPr/>
            </p:nvSpPr>
            <p:spPr bwMode="auto">
              <a:xfrm>
                <a:off x="5329" y="2704"/>
                <a:ext cx="318" cy="279"/>
              </a:xfrm>
              <a:prstGeom prst="rect">
                <a:avLst/>
              </a:prstGeom>
              <a:noFill/>
              <a:ln w="9525">
                <a:noFill/>
                <a:miter lim="800000"/>
              </a:ln>
            </p:spPr>
            <p:txBody>
              <a:bodyPr>
                <a:spAutoFit/>
              </a:bodyPr>
              <a:lstStyle/>
              <a:p>
                <a:pPr>
                  <a:lnSpc>
                    <a:spcPct val="115000"/>
                  </a:lnSpc>
                </a:pPr>
                <a:r>
                  <a:rPr lang="en-US" altLang="zh-CN" sz="2000" b="1" i="1"/>
                  <a:t>V</a:t>
                </a:r>
                <a:endParaRPr lang="en-US" altLang="zh-CN" sz="2000" b="1" i="1"/>
              </a:p>
            </p:txBody>
          </p:sp>
        </p:grpSp>
        <p:sp>
          <p:nvSpPr>
            <p:cNvPr id="53265" name="Line 9"/>
            <p:cNvSpPr>
              <a:spLocks noChangeShapeType="1"/>
            </p:cNvSpPr>
            <p:nvPr/>
          </p:nvSpPr>
          <p:spPr bwMode="auto">
            <a:xfrm>
              <a:off x="4706" y="1819"/>
              <a:ext cx="0" cy="409"/>
            </a:xfrm>
            <a:prstGeom prst="line">
              <a:avLst/>
            </a:prstGeom>
            <a:noFill/>
            <a:ln w="9525">
              <a:solidFill>
                <a:schemeClr val="tx1"/>
              </a:solidFill>
              <a:prstDash val="dash"/>
              <a:round/>
            </a:ln>
          </p:spPr>
          <p:txBody>
            <a:bodyPr/>
            <a:lstStyle/>
            <a:p>
              <a:endParaRPr lang="zh-CN" altLang="en-US"/>
            </a:p>
          </p:txBody>
        </p:sp>
        <p:sp>
          <p:nvSpPr>
            <p:cNvPr id="53266" name="Line 10"/>
            <p:cNvSpPr>
              <a:spLocks noChangeShapeType="1"/>
            </p:cNvSpPr>
            <p:nvPr/>
          </p:nvSpPr>
          <p:spPr bwMode="auto">
            <a:xfrm>
              <a:off x="5057" y="1910"/>
              <a:ext cx="0" cy="318"/>
            </a:xfrm>
            <a:prstGeom prst="line">
              <a:avLst/>
            </a:prstGeom>
            <a:noFill/>
            <a:ln w="9525">
              <a:solidFill>
                <a:schemeClr val="tx1"/>
              </a:solidFill>
              <a:prstDash val="dash"/>
              <a:round/>
            </a:ln>
          </p:spPr>
          <p:txBody>
            <a:bodyPr/>
            <a:lstStyle/>
            <a:p>
              <a:endParaRPr lang="zh-CN" altLang="en-US"/>
            </a:p>
          </p:txBody>
        </p:sp>
        <p:sp>
          <p:nvSpPr>
            <p:cNvPr id="53267" name="Line 11"/>
            <p:cNvSpPr>
              <a:spLocks noChangeShapeType="1"/>
            </p:cNvSpPr>
            <p:nvPr/>
          </p:nvSpPr>
          <p:spPr bwMode="auto">
            <a:xfrm rot="-5400000">
              <a:off x="4536" y="1394"/>
              <a:ext cx="0" cy="305"/>
            </a:xfrm>
            <a:prstGeom prst="line">
              <a:avLst/>
            </a:prstGeom>
            <a:noFill/>
            <a:ln w="9525">
              <a:solidFill>
                <a:schemeClr val="tx1"/>
              </a:solidFill>
              <a:prstDash val="dash"/>
              <a:round/>
            </a:ln>
          </p:spPr>
          <p:txBody>
            <a:bodyPr/>
            <a:lstStyle/>
            <a:p>
              <a:endParaRPr lang="zh-CN" altLang="en-US"/>
            </a:p>
          </p:txBody>
        </p:sp>
        <p:sp>
          <p:nvSpPr>
            <p:cNvPr id="53268" name="Line 12"/>
            <p:cNvSpPr>
              <a:spLocks noChangeShapeType="1"/>
            </p:cNvSpPr>
            <p:nvPr/>
          </p:nvSpPr>
          <p:spPr bwMode="auto">
            <a:xfrm rot="-5400000">
              <a:off x="4559" y="1728"/>
              <a:ext cx="0" cy="363"/>
            </a:xfrm>
            <a:prstGeom prst="line">
              <a:avLst/>
            </a:prstGeom>
            <a:noFill/>
            <a:ln w="9525">
              <a:solidFill>
                <a:schemeClr val="tx1"/>
              </a:solidFill>
              <a:prstDash val="dash"/>
              <a:round/>
            </a:ln>
          </p:spPr>
          <p:txBody>
            <a:bodyPr/>
            <a:lstStyle/>
            <a:p>
              <a:endParaRPr lang="zh-CN" altLang="en-US"/>
            </a:p>
          </p:txBody>
        </p:sp>
        <p:grpSp>
          <p:nvGrpSpPr>
            <p:cNvPr id="53269" name="Group 13"/>
            <p:cNvGrpSpPr/>
            <p:nvPr/>
          </p:nvGrpSpPr>
          <p:grpSpPr bwMode="auto">
            <a:xfrm>
              <a:off x="4694" y="1547"/>
              <a:ext cx="3" cy="363"/>
              <a:chOff x="4694" y="2069"/>
              <a:chExt cx="3" cy="363"/>
            </a:xfrm>
          </p:grpSpPr>
          <p:sp>
            <p:nvSpPr>
              <p:cNvPr id="53284" name="Line 14"/>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53285" name="Line 15"/>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sp>
          <p:nvSpPr>
            <p:cNvPr id="53270" name="Line 16"/>
            <p:cNvSpPr>
              <a:spLocks noChangeShapeType="1"/>
            </p:cNvSpPr>
            <p:nvPr/>
          </p:nvSpPr>
          <p:spPr bwMode="auto">
            <a:xfrm rot="-2700000">
              <a:off x="4876" y="1470"/>
              <a:ext cx="0" cy="508"/>
            </a:xfrm>
            <a:prstGeom prst="line">
              <a:avLst/>
            </a:prstGeom>
            <a:noFill/>
            <a:ln w="38100">
              <a:solidFill>
                <a:srgbClr val="3333CC"/>
              </a:solidFill>
              <a:round/>
            </a:ln>
          </p:spPr>
          <p:txBody>
            <a:bodyPr/>
            <a:lstStyle/>
            <a:p>
              <a:endParaRPr lang="zh-CN" altLang="en-US"/>
            </a:p>
          </p:txBody>
        </p:sp>
        <p:sp>
          <p:nvSpPr>
            <p:cNvPr id="53271" name="Line 17"/>
            <p:cNvSpPr>
              <a:spLocks noChangeShapeType="1"/>
            </p:cNvSpPr>
            <p:nvPr/>
          </p:nvSpPr>
          <p:spPr bwMode="auto">
            <a:xfrm rot="-2700000">
              <a:off x="4909" y="1731"/>
              <a:ext cx="0" cy="43"/>
            </a:xfrm>
            <a:prstGeom prst="line">
              <a:avLst/>
            </a:prstGeom>
            <a:noFill/>
            <a:ln w="38100">
              <a:solidFill>
                <a:srgbClr val="3333CC"/>
              </a:solidFill>
              <a:round/>
              <a:tailEnd type="triangle" w="med" len="med"/>
            </a:ln>
          </p:spPr>
          <p:txBody>
            <a:bodyPr/>
            <a:lstStyle/>
            <a:p>
              <a:endParaRPr lang="zh-CN" altLang="en-US"/>
            </a:p>
          </p:txBody>
        </p:sp>
        <p:grpSp>
          <p:nvGrpSpPr>
            <p:cNvPr id="53272" name="Group 18"/>
            <p:cNvGrpSpPr/>
            <p:nvPr/>
          </p:nvGrpSpPr>
          <p:grpSpPr bwMode="auto">
            <a:xfrm rot="-5400000">
              <a:off x="4874" y="1727"/>
              <a:ext cx="3" cy="363"/>
              <a:chOff x="4694" y="2069"/>
              <a:chExt cx="3" cy="363"/>
            </a:xfrm>
          </p:grpSpPr>
          <p:sp>
            <p:nvSpPr>
              <p:cNvPr id="53282" name="Line 19"/>
              <p:cNvSpPr>
                <a:spLocks noChangeShapeType="1"/>
              </p:cNvSpPr>
              <p:nvPr/>
            </p:nvSpPr>
            <p:spPr bwMode="auto">
              <a:xfrm flipV="1">
                <a:off x="4697" y="2069"/>
                <a:ext cx="0" cy="363"/>
              </a:xfrm>
              <a:prstGeom prst="line">
                <a:avLst/>
              </a:prstGeom>
              <a:noFill/>
              <a:ln w="38100">
                <a:solidFill>
                  <a:srgbClr val="3333CC"/>
                </a:solidFill>
                <a:round/>
              </a:ln>
            </p:spPr>
            <p:txBody>
              <a:bodyPr/>
              <a:lstStyle/>
              <a:p>
                <a:endParaRPr lang="zh-CN" altLang="en-US"/>
              </a:p>
            </p:txBody>
          </p:sp>
          <p:sp>
            <p:nvSpPr>
              <p:cNvPr id="53283" name="Line 20"/>
              <p:cNvSpPr>
                <a:spLocks noChangeShapeType="1"/>
              </p:cNvSpPr>
              <p:nvPr/>
            </p:nvSpPr>
            <p:spPr bwMode="auto">
              <a:xfrm flipV="1">
                <a:off x="4694" y="2251"/>
                <a:ext cx="0" cy="45"/>
              </a:xfrm>
              <a:prstGeom prst="line">
                <a:avLst/>
              </a:prstGeom>
              <a:noFill/>
              <a:ln w="38100">
                <a:solidFill>
                  <a:srgbClr val="3333CC"/>
                </a:solidFill>
                <a:round/>
                <a:tailEnd type="triangle" w="med" len="med"/>
              </a:ln>
            </p:spPr>
            <p:txBody>
              <a:bodyPr/>
              <a:lstStyle/>
              <a:p>
                <a:endParaRPr lang="zh-CN" altLang="en-US"/>
              </a:p>
            </p:txBody>
          </p:sp>
        </p:grpSp>
        <p:sp>
          <p:nvSpPr>
            <p:cNvPr id="53273" name="Text Box 21"/>
            <p:cNvSpPr txBox="1">
              <a:spLocks noChangeArrowheads="1"/>
            </p:cNvSpPr>
            <p:nvPr/>
          </p:nvSpPr>
          <p:spPr bwMode="auto">
            <a:xfrm>
              <a:off x="4558" y="2204"/>
              <a:ext cx="467" cy="279"/>
            </a:xfrm>
            <a:prstGeom prst="rect">
              <a:avLst/>
            </a:prstGeom>
            <a:noFill/>
            <a:ln w="9525">
              <a:noFill/>
              <a:miter lim="800000"/>
            </a:ln>
          </p:spPr>
          <p:txBody>
            <a:bodyPr>
              <a:spAutoFit/>
            </a:bodyPr>
            <a:lstStyle/>
            <a:p>
              <a:pPr>
                <a:lnSpc>
                  <a:spcPct val="115000"/>
                </a:lnSpc>
              </a:pPr>
              <a:r>
                <a:rPr lang="en-US" altLang="zh-CN" sz="2000" b="1" i="1">
                  <a:solidFill>
                    <a:srgbClr val="0000FF"/>
                  </a:solidFill>
                </a:rPr>
                <a:t>V</a:t>
              </a:r>
              <a:r>
                <a:rPr lang="en-US" altLang="zh-CN" sz="2000" b="1" i="1" baseline="-25000">
                  <a:solidFill>
                    <a:srgbClr val="0000FF"/>
                  </a:solidFill>
                </a:rPr>
                <a:t>a</a:t>
              </a:r>
              <a:endParaRPr lang="en-US" altLang="zh-CN" sz="2000" b="1" i="1" baseline="-25000">
                <a:solidFill>
                  <a:srgbClr val="0000FF"/>
                </a:solidFill>
              </a:endParaRPr>
            </a:p>
          </p:txBody>
        </p:sp>
        <p:sp>
          <p:nvSpPr>
            <p:cNvPr id="53274" name="Text Box 22"/>
            <p:cNvSpPr txBox="1">
              <a:spLocks noChangeArrowheads="1"/>
            </p:cNvSpPr>
            <p:nvPr/>
          </p:nvSpPr>
          <p:spPr bwMode="auto">
            <a:xfrm>
              <a:off x="4930" y="2200"/>
              <a:ext cx="467" cy="279"/>
            </a:xfrm>
            <a:prstGeom prst="rect">
              <a:avLst/>
            </a:prstGeom>
            <a:noFill/>
            <a:ln w="9525">
              <a:noFill/>
              <a:miter lim="800000"/>
            </a:ln>
          </p:spPr>
          <p:txBody>
            <a:bodyPr>
              <a:spAutoFit/>
            </a:bodyPr>
            <a:lstStyle/>
            <a:p>
              <a:pPr>
                <a:lnSpc>
                  <a:spcPct val="115000"/>
                </a:lnSpc>
              </a:pPr>
              <a:r>
                <a:rPr lang="en-US" altLang="zh-CN" sz="2000" b="1" i="1">
                  <a:solidFill>
                    <a:srgbClr val="0000FF"/>
                  </a:solidFill>
                </a:rPr>
                <a:t>V</a:t>
              </a:r>
              <a:r>
                <a:rPr lang="en-US" altLang="zh-CN" sz="2000" b="1" i="1" baseline="-25000">
                  <a:solidFill>
                    <a:srgbClr val="0000FF"/>
                  </a:solidFill>
                </a:rPr>
                <a:t>c</a:t>
              </a:r>
              <a:endParaRPr lang="en-US" altLang="zh-CN" sz="2000" b="1" i="1" baseline="-25000">
                <a:solidFill>
                  <a:srgbClr val="0000FF"/>
                </a:solidFill>
              </a:endParaRPr>
            </a:p>
          </p:txBody>
        </p:sp>
        <p:sp>
          <p:nvSpPr>
            <p:cNvPr id="53275" name="Text Box 23"/>
            <p:cNvSpPr txBox="1">
              <a:spLocks noChangeArrowheads="1"/>
            </p:cNvSpPr>
            <p:nvPr/>
          </p:nvSpPr>
          <p:spPr bwMode="auto">
            <a:xfrm>
              <a:off x="4137" y="1729"/>
              <a:ext cx="467" cy="279"/>
            </a:xfrm>
            <a:prstGeom prst="rect">
              <a:avLst/>
            </a:prstGeom>
            <a:noFill/>
            <a:ln w="9525">
              <a:noFill/>
              <a:miter lim="800000"/>
            </a:ln>
          </p:spPr>
          <p:txBody>
            <a:bodyPr>
              <a:spAutoFit/>
            </a:bodyPr>
            <a:lstStyle/>
            <a:p>
              <a:pPr>
                <a:lnSpc>
                  <a:spcPct val="115000"/>
                </a:lnSpc>
              </a:pPr>
              <a:r>
                <a:rPr lang="en-US" altLang="zh-CN" sz="2000" b="1" i="1">
                  <a:solidFill>
                    <a:srgbClr val="0000FF"/>
                  </a:solidFill>
                </a:rPr>
                <a:t>p</a:t>
              </a:r>
              <a:r>
                <a:rPr lang="en-US" altLang="zh-CN" sz="2000" b="1" i="1" baseline="-25000">
                  <a:solidFill>
                    <a:srgbClr val="0000FF"/>
                  </a:solidFill>
                </a:rPr>
                <a:t>a</a:t>
              </a:r>
              <a:endParaRPr lang="en-US" altLang="zh-CN" sz="2000" b="1" i="1" baseline="-25000">
                <a:solidFill>
                  <a:srgbClr val="0000FF"/>
                </a:solidFill>
              </a:endParaRPr>
            </a:p>
          </p:txBody>
        </p:sp>
        <p:sp>
          <p:nvSpPr>
            <p:cNvPr id="53276" name="Text Box 24"/>
            <p:cNvSpPr txBox="1">
              <a:spLocks noChangeArrowheads="1"/>
            </p:cNvSpPr>
            <p:nvPr/>
          </p:nvSpPr>
          <p:spPr bwMode="auto">
            <a:xfrm>
              <a:off x="4137" y="1411"/>
              <a:ext cx="467" cy="279"/>
            </a:xfrm>
            <a:prstGeom prst="rect">
              <a:avLst/>
            </a:prstGeom>
            <a:noFill/>
            <a:ln w="9525">
              <a:noFill/>
              <a:miter lim="800000"/>
            </a:ln>
          </p:spPr>
          <p:txBody>
            <a:bodyPr>
              <a:spAutoFit/>
            </a:bodyPr>
            <a:lstStyle/>
            <a:p>
              <a:pPr>
                <a:lnSpc>
                  <a:spcPct val="115000"/>
                </a:lnSpc>
              </a:pPr>
              <a:r>
                <a:rPr lang="en-US" altLang="zh-CN" sz="2000" b="1" i="1">
                  <a:solidFill>
                    <a:srgbClr val="0000FF"/>
                  </a:solidFill>
                </a:rPr>
                <a:t>p</a:t>
              </a:r>
              <a:r>
                <a:rPr lang="en-US" altLang="zh-CN" sz="2000" b="1" i="1" baseline="-25000">
                  <a:solidFill>
                    <a:srgbClr val="0000FF"/>
                  </a:solidFill>
                </a:rPr>
                <a:t>b</a:t>
              </a:r>
              <a:endParaRPr lang="en-US" altLang="zh-CN" sz="2000" b="1" i="1" baseline="-25000">
                <a:solidFill>
                  <a:srgbClr val="0000FF"/>
                </a:solidFill>
              </a:endParaRPr>
            </a:p>
          </p:txBody>
        </p:sp>
        <p:sp>
          <p:nvSpPr>
            <p:cNvPr id="53277" name="Text Box 25"/>
            <p:cNvSpPr txBox="1">
              <a:spLocks noChangeArrowheads="1"/>
            </p:cNvSpPr>
            <p:nvPr/>
          </p:nvSpPr>
          <p:spPr bwMode="auto">
            <a:xfrm>
              <a:off x="4553" y="1796"/>
              <a:ext cx="467" cy="279"/>
            </a:xfrm>
            <a:prstGeom prst="rect">
              <a:avLst/>
            </a:prstGeom>
            <a:noFill/>
            <a:ln w="9525">
              <a:noFill/>
              <a:miter lim="800000"/>
            </a:ln>
          </p:spPr>
          <p:txBody>
            <a:bodyPr>
              <a:spAutoFit/>
            </a:bodyPr>
            <a:lstStyle/>
            <a:p>
              <a:pPr>
                <a:lnSpc>
                  <a:spcPct val="115000"/>
                </a:lnSpc>
              </a:pPr>
              <a:r>
                <a:rPr lang="en-US" altLang="zh-CN" sz="2000" b="1" i="1">
                  <a:solidFill>
                    <a:srgbClr val="FF0000"/>
                  </a:solidFill>
                </a:rPr>
                <a:t>a</a:t>
              </a:r>
              <a:endParaRPr lang="en-US" altLang="zh-CN" sz="2000" b="1" i="1" baseline="-25000">
                <a:solidFill>
                  <a:srgbClr val="FF0000"/>
                </a:solidFill>
              </a:endParaRPr>
            </a:p>
          </p:txBody>
        </p:sp>
        <p:sp>
          <p:nvSpPr>
            <p:cNvPr id="53278" name="Text Box 26"/>
            <p:cNvSpPr txBox="1">
              <a:spLocks noChangeArrowheads="1"/>
            </p:cNvSpPr>
            <p:nvPr/>
          </p:nvSpPr>
          <p:spPr bwMode="auto">
            <a:xfrm>
              <a:off x="4596" y="1320"/>
              <a:ext cx="467" cy="279"/>
            </a:xfrm>
            <a:prstGeom prst="rect">
              <a:avLst/>
            </a:prstGeom>
            <a:noFill/>
            <a:ln w="9525">
              <a:noFill/>
              <a:miter lim="800000"/>
            </a:ln>
          </p:spPr>
          <p:txBody>
            <a:bodyPr>
              <a:spAutoFit/>
            </a:bodyPr>
            <a:lstStyle/>
            <a:p>
              <a:pPr>
                <a:lnSpc>
                  <a:spcPct val="115000"/>
                </a:lnSpc>
              </a:pPr>
              <a:r>
                <a:rPr lang="en-US" altLang="zh-CN" sz="2000" b="1" i="1">
                  <a:solidFill>
                    <a:srgbClr val="FF0000"/>
                  </a:solidFill>
                </a:rPr>
                <a:t>b</a:t>
              </a:r>
              <a:endParaRPr lang="en-US" altLang="zh-CN" sz="2000" b="1" i="1" baseline="-25000">
                <a:solidFill>
                  <a:srgbClr val="FF0000"/>
                </a:solidFill>
              </a:endParaRPr>
            </a:p>
          </p:txBody>
        </p:sp>
        <p:sp>
          <p:nvSpPr>
            <p:cNvPr id="53279" name="Text Box 27"/>
            <p:cNvSpPr txBox="1">
              <a:spLocks noChangeArrowheads="1"/>
            </p:cNvSpPr>
            <p:nvPr/>
          </p:nvSpPr>
          <p:spPr bwMode="auto">
            <a:xfrm>
              <a:off x="5021" y="1763"/>
              <a:ext cx="467" cy="279"/>
            </a:xfrm>
            <a:prstGeom prst="rect">
              <a:avLst/>
            </a:prstGeom>
            <a:noFill/>
            <a:ln w="9525">
              <a:noFill/>
              <a:miter lim="800000"/>
            </a:ln>
          </p:spPr>
          <p:txBody>
            <a:bodyPr>
              <a:spAutoFit/>
            </a:bodyPr>
            <a:lstStyle/>
            <a:p>
              <a:pPr>
                <a:lnSpc>
                  <a:spcPct val="115000"/>
                </a:lnSpc>
              </a:pPr>
              <a:r>
                <a:rPr lang="en-US" altLang="zh-CN" sz="2000" b="1" i="1">
                  <a:solidFill>
                    <a:srgbClr val="FF0000"/>
                  </a:solidFill>
                </a:rPr>
                <a:t>c</a:t>
              </a:r>
              <a:endParaRPr lang="en-US" altLang="zh-CN" sz="2000" b="1" i="1" baseline="-25000">
                <a:solidFill>
                  <a:srgbClr val="FF0000"/>
                </a:solidFill>
              </a:endParaRPr>
            </a:p>
          </p:txBody>
        </p:sp>
        <p:sp>
          <p:nvSpPr>
            <p:cNvPr id="53280" name="Text Box 28"/>
            <p:cNvSpPr txBox="1">
              <a:spLocks noChangeArrowheads="1"/>
            </p:cNvSpPr>
            <p:nvPr/>
          </p:nvSpPr>
          <p:spPr bwMode="auto">
            <a:xfrm>
              <a:off x="4954" y="1593"/>
              <a:ext cx="467" cy="279"/>
            </a:xfrm>
            <a:prstGeom prst="rect">
              <a:avLst/>
            </a:prstGeom>
            <a:noFill/>
            <a:ln w="9525">
              <a:noFill/>
              <a:miter lim="800000"/>
            </a:ln>
          </p:spPr>
          <p:txBody>
            <a:bodyPr>
              <a:spAutoFit/>
            </a:bodyPr>
            <a:lstStyle/>
            <a:p>
              <a:pPr>
                <a:lnSpc>
                  <a:spcPct val="115000"/>
                </a:lnSpc>
              </a:pPr>
              <a:r>
                <a:rPr lang="en-US" altLang="zh-CN" sz="2000" b="1" i="1">
                  <a:solidFill>
                    <a:srgbClr val="FF0000"/>
                  </a:solidFill>
                </a:rPr>
                <a:t>d</a:t>
              </a:r>
              <a:endParaRPr lang="en-US" altLang="zh-CN" sz="2000" b="1" i="1" baseline="-25000">
                <a:solidFill>
                  <a:srgbClr val="FF0000"/>
                </a:solidFill>
              </a:endParaRPr>
            </a:p>
          </p:txBody>
        </p:sp>
        <p:sp>
          <p:nvSpPr>
            <p:cNvPr id="53281" name="Oval 29"/>
            <p:cNvSpPr>
              <a:spLocks noChangeArrowheads="1"/>
            </p:cNvSpPr>
            <p:nvPr/>
          </p:nvSpPr>
          <p:spPr bwMode="auto">
            <a:xfrm>
              <a:off x="4956" y="1798"/>
              <a:ext cx="45" cy="45"/>
            </a:xfrm>
            <a:prstGeom prst="ellipse">
              <a:avLst/>
            </a:prstGeom>
            <a:solidFill>
              <a:srgbClr val="FF0000"/>
            </a:solidFill>
            <a:ln w="9525">
              <a:solidFill>
                <a:schemeClr val="tx1"/>
              </a:solidFill>
              <a:round/>
            </a:ln>
          </p:spPr>
          <p:txBody>
            <a:bodyPr wrap="none" anchor="ctr"/>
            <a:lstStyle/>
            <a:p>
              <a:pPr algn="ctr"/>
              <a:endParaRPr lang="zh-CN" altLang="en-US"/>
            </a:p>
          </p:txBody>
        </p:sp>
      </p:grpSp>
      <p:sp>
        <p:nvSpPr>
          <p:cNvPr id="231454" name="Text Box 30"/>
          <p:cNvSpPr txBox="1">
            <a:spLocks noChangeArrowheads="1"/>
          </p:cNvSpPr>
          <p:nvPr/>
        </p:nvSpPr>
        <p:spPr bwMode="auto">
          <a:xfrm>
            <a:off x="341313" y="485775"/>
            <a:ext cx="2900362" cy="512763"/>
          </a:xfrm>
          <a:prstGeom prst="rect">
            <a:avLst/>
          </a:prstGeom>
          <a:noFill/>
          <a:ln w="9525">
            <a:noFill/>
            <a:miter lim="800000"/>
          </a:ln>
        </p:spPr>
        <p:txBody>
          <a:bodyPr>
            <a:spAutoFit/>
          </a:bodyPr>
          <a:lstStyle/>
          <a:p>
            <a:pPr>
              <a:lnSpc>
                <a:spcPct val="115000"/>
              </a:lnSpc>
              <a:defRPr/>
            </a:pPr>
            <a:r>
              <a:rPr lang="en-US" altLang="zh-CN" b="1" i="1" dirty="0" err="1">
                <a:ea typeface="+mn-ea"/>
                <a:cs typeface="Times New Roman" panose="02020603050405020304" pitchFamily="18" charset="0"/>
              </a:rPr>
              <a:t>c</a:t>
            </a:r>
            <a:r>
              <a:rPr lang="en-US" altLang="zh-CN" b="1" dirty="0" err="1">
                <a:ea typeface="+mn-ea"/>
                <a:cs typeface="Times New Roman" panose="02020603050405020304" pitchFamily="18" charset="0"/>
              </a:rPr>
              <a:t>→</a:t>
            </a:r>
            <a:r>
              <a:rPr lang="en-US" altLang="zh-CN" b="1" i="1" dirty="0" err="1">
                <a:ea typeface="+mn-ea"/>
                <a:cs typeface="Times New Roman" panose="02020603050405020304" pitchFamily="18" charset="0"/>
              </a:rPr>
              <a:t>a</a:t>
            </a:r>
            <a:r>
              <a:rPr lang="en-US" altLang="zh-CN" b="1" dirty="0">
                <a:ea typeface="+mn-ea"/>
                <a:cs typeface="Times New Roman" panose="02020603050405020304" pitchFamily="18" charset="0"/>
              </a:rPr>
              <a:t> </a:t>
            </a:r>
            <a:r>
              <a:rPr lang="zh-CN" altLang="en-US" b="1" dirty="0">
                <a:ea typeface="+mn-ea"/>
                <a:cs typeface="Times New Roman" panose="02020603050405020304" pitchFamily="18" charset="0"/>
              </a:rPr>
              <a:t>为等压过程，</a:t>
            </a:r>
            <a:endParaRPr lang="zh-CN" altLang="en-US" b="1" dirty="0">
              <a:ea typeface="+mn-ea"/>
              <a:cs typeface="Times New Roman" panose="02020603050405020304" pitchFamily="18" charset="0"/>
            </a:endParaRPr>
          </a:p>
        </p:txBody>
      </p:sp>
      <p:graphicFrame>
        <p:nvGraphicFramePr>
          <p:cNvPr id="231455" name="Object 31"/>
          <p:cNvGraphicFramePr>
            <a:graphicFrameLocks noChangeAspect="1"/>
          </p:cNvGraphicFramePr>
          <p:nvPr/>
        </p:nvGraphicFramePr>
        <p:xfrm>
          <a:off x="803275" y="1212850"/>
          <a:ext cx="2374900" cy="730250"/>
        </p:xfrm>
        <a:graphic>
          <a:graphicData uri="http://schemas.openxmlformats.org/presentationml/2006/ole">
            <mc:AlternateContent xmlns:mc="http://schemas.openxmlformats.org/markup-compatibility/2006">
              <mc:Choice xmlns:v="urn:schemas-microsoft-com:vml" Requires="v">
                <p:oleObj spid="_x0000_s53249" name="公式" r:id="rId1" imgW="31699200" imgH="9753600" progId="Equation.3">
                  <p:embed/>
                </p:oleObj>
              </mc:Choice>
              <mc:Fallback>
                <p:oleObj name="公式" r:id="rId1" imgW="31699200" imgH="9753600" progId="Equation.3">
                  <p:embed/>
                  <p:pic>
                    <p:nvPicPr>
                      <p:cNvPr id="0" name="Object 31"/>
                      <p:cNvPicPr>
                        <a:picLocks noChangeAspect="1"/>
                      </p:cNvPicPr>
                      <p:nvPr/>
                    </p:nvPicPr>
                    <p:blipFill>
                      <a:blip r:embed="rId2"/>
                      <a:stretch>
                        <a:fillRect/>
                      </a:stretch>
                    </p:blipFill>
                    <p:spPr>
                      <a:xfrm>
                        <a:off x="803275" y="1212850"/>
                        <a:ext cx="2374900" cy="730250"/>
                      </a:xfrm>
                      <a:prstGeom prst="rect">
                        <a:avLst/>
                      </a:prstGeom>
                      <a:noFill/>
                      <a:ln w="9525">
                        <a:noFill/>
                      </a:ln>
                    </p:spPr>
                  </p:pic>
                </p:oleObj>
              </mc:Fallback>
            </mc:AlternateContent>
          </a:graphicData>
        </a:graphic>
      </p:graphicFrame>
      <p:graphicFrame>
        <p:nvGraphicFramePr>
          <p:cNvPr id="231456" name="Object 32"/>
          <p:cNvGraphicFramePr>
            <a:graphicFrameLocks noChangeAspect="1"/>
          </p:cNvGraphicFramePr>
          <p:nvPr/>
        </p:nvGraphicFramePr>
        <p:xfrm>
          <a:off x="3222625" y="1223963"/>
          <a:ext cx="1766888" cy="733425"/>
        </p:xfrm>
        <a:graphic>
          <a:graphicData uri="http://schemas.openxmlformats.org/presentationml/2006/ole">
            <mc:AlternateContent xmlns:mc="http://schemas.openxmlformats.org/markup-compatibility/2006">
              <mc:Choice xmlns:v="urn:schemas-microsoft-com:vml" Requires="v">
                <p:oleObj spid="_x0000_s53251" name="公式" r:id="rId3" imgW="23469600" imgH="9753600" progId="Equation.3">
                  <p:embed/>
                </p:oleObj>
              </mc:Choice>
              <mc:Fallback>
                <p:oleObj name="公式" r:id="rId3" imgW="23469600" imgH="9753600" progId="Equation.3">
                  <p:embed/>
                  <p:pic>
                    <p:nvPicPr>
                      <p:cNvPr id="0" name="Object 32"/>
                      <p:cNvPicPr>
                        <a:picLocks noChangeAspect="1"/>
                      </p:cNvPicPr>
                      <p:nvPr/>
                    </p:nvPicPr>
                    <p:blipFill>
                      <a:blip r:embed="rId4"/>
                      <a:stretch>
                        <a:fillRect/>
                      </a:stretch>
                    </p:blipFill>
                    <p:spPr>
                      <a:xfrm>
                        <a:off x="3222625" y="1223963"/>
                        <a:ext cx="1766888" cy="733425"/>
                      </a:xfrm>
                      <a:prstGeom prst="rect">
                        <a:avLst/>
                      </a:prstGeom>
                      <a:noFill/>
                      <a:ln w="9525">
                        <a:noFill/>
                      </a:ln>
                    </p:spPr>
                  </p:pic>
                </p:oleObj>
              </mc:Fallback>
            </mc:AlternateContent>
          </a:graphicData>
        </a:graphic>
      </p:graphicFrame>
      <p:sp>
        <p:nvSpPr>
          <p:cNvPr id="231457" name="Text Box 33"/>
          <p:cNvSpPr txBox="1">
            <a:spLocks noChangeArrowheads="1"/>
          </p:cNvSpPr>
          <p:nvPr/>
        </p:nvSpPr>
        <p:spPr bwMode="auto">
          <a:xfrm>
            <a:off x="250825" y="2106613"/>
            <a:ext cx="6408738" cy="512762"/>
          </a:xfrm>
          <a:prstGeom prst="rect">
            <a:avLst/>
          </a:prstGeom>
          <a:noFill/>
          <a:ln w="9525">
            <a:noFill/>
            <a:miter lim="800000"/>
          </a:ln>
        </p:spPr>
        <p:txBody>
          <a:bodyPr>
            <a:spAutoFit/>
          </a:bodyPr>
          <a:lstStyle/>
          <a:p>
            <a:pPr>
              <a:lnSpc>
                <a:spcPct val="115000"/>
              </a:lnSpc>
              <a:defRPr/>
            </a:pPr>
            <a:r>
              <a:rPr lang="zh-CN" altLang="en-US" b="1">
                <a:ea typeface="+mn-ea"/>
                <a:cs typeface="Times New Roman" panose="02020603050405020304" pitchFamily="18" charset="0"/>
              </a:rPr>
              <a:t>经历一个循环，系统吸收的总热量</a:t>
            </a:r>
            <a:endParaRPr lang="zh-CN" altLang="en-US" b="1">
              <a:ea typeface="+mn-ea"/>
              <a:cs typeface="Times New Roman" panose="02020603050405020304" pitchFamily="18" charset="0"/>
            </a:endParaRPr>
          </a:p>
        </p:txBody>
      </p:sp>
      <p:graphicFrame>
        <p:nvGraphicFramePr>
          <p:cNvPr id="231458" name="Object 34"/>
          <p:cNvGraphicFramePr>
            <a:graphicFrameLocks noChangeAspect="1"/>
          </p:cNvGraphicFramePr>
          <p:nvPr/>
        </p:nvGraphicFramePr>
        <p:xfrm>
          <a:off x="788988" y="2927350"/>
          <a:ext cx="1670050" cy="411163"/>
        </p:xfrm>
        <a:graphic>
          <a:graphicData uri="http://schemas.openxmlformats.org/presentationml/2006/ole">
            <mc:AlternateContent xmlns:mc="http://schemas.openxmlformats.org/markup-compatibility/2006">
              <mc:Choice xmlns:v="urn:schemas-microsoft-com:vml" Requires="v">
                <p:oleObj spid="_x0000_s53252" name="公式" r:id="rId5" imgW="22250400" imgH="5486400" progId="Equation.3">
                  <p:embed/>
                </p:oleObj>
              </mc:Choice>
              <mc:Fallback>
                <p:oleObj name="公式" r:id="rId5" imgW="22250400" imgH="5486400" progId="Equation.3">
                  <p:embed/>
                  <p:pic>
                    <p:nvPicPr>
                      <p:cNvPr id="0" name="Object 34"/>
                      <p:cNvPicPr>
                        <a:picLocks noChangeAspect="1"/>
                      </p:cNvPicPr>
                      <p:nvPr/>
                    </p:nvPicPr>
                    <p:blipFill>
                      <a:blip r:embed="rId6"/>
                      <a:stretch>
                        <a:fillRect/>
                      </a:stretch>
                    </p:blipFill>
                    <p:spPr>
                      <a:xfrm>
                        <a:off x="788988" y="2927350"/>
                        <a:ext cx="1670050" cy="411163"/>
                      </a:xfrm>
                      <a:prstGeom prst="rect">
                        <a:avLst/>
                      </a:prstGeom>
                      <a:noFill/>
                      <a:ln w="9525">
                        <a:noFill/>
                      </a:ln>
                    </p:spPr>
                  </p:pic>
                </p:oleObj>
              </mc:Fallback>
            </mc:AlternateContent>
          </a:graphicData>
        </a:graphic>
      </p:graphicFrame>
      <p:sp>
        <p:nvSpPr>
          <p:cNvPr id="231459" name="Text Box 35"/>
          <p:cNvSpPr txBox="1">
            <a:spLocks noChangeArrowheads="1"/>
          </p:cNvSpPr>
          <p:nvPr/>
        </p:nvSpPr>
        <p:spPr bwMode="auto">
          <a:xfrm>
            <a:off x="296863" y="3636963"/>
            <a:ext cx="5203825" cy="512762"/>
          </a:xfrm>
          <a:prstGeom prst="rect">
            <a:avLst/>
          </a:prstGeom>
          <a:noFill/>
          <a:ln w="9525">
            <a:noFill/>
            <a:miter lim="800000"/>
          </a:ln>
        </p:spPr>
        <p:txBody>
          <a:bodyPr>
            <a:spAutoFit/>
          </a:bodyPr>
          <a:lstStyle/>
          <a:p>
            <a:pPr>
              <a:lnSpc>
                <a:spcPct val="115000"/>
              </a:lnSpc>
              <a:defRPr/>
            </a:pPr>
            <a:r>
              <a:rPr lang="zh-CN" altLang="en-US" b="1">
                <a:ea typeface="+mn-ea"/>
                <a:cs typeface="Times New Roman" panose="02020603050405020304" pitchFamily="18" charset="0"/>
              </a:rPr>
              <a:t>系统放出的总热量</a:t>
            </a:r>
            <a:endParaRPr lang="zh-CN" altLang="en-US" b="1">
              <a:ea typeface="+mn-ea"/>
              <a:cs typeface="Times New Roman" panose="02020603050405020304" pitchFamily="18" charset="0"/>
            </a:endParaRPr>
          </a:p>
        </p:txBody>
      </p:sp>
      <p:graphicFrame>
        <p:nvGraphicFramePr>
          <p:cNvPr id="231460" name="Object 36"/>
          <p:cNvGraphicFramePr>
            <a:graphicFrameLocks noChangeAspect="1"/>
          </p:cNvGraphicFramePr>
          <p:nvPr/>
        </p:nvGraphicFramePr>
        <p:xfrm>
          <a:off x="881063" y="4560888"/>
          <a:ext cx="1828800" cy="455612"/>
        </p:xfrm>
        <a:graphic>
          <a:graphicData uri="http://schemas.openxmlformats.org/presentationml/2006/ole">
            <mc:AlternateContent xmlns:mc="http://schemas.openxmlformats.org/markup-compatibility/2006">
              <mc:Choice xmlns:v="urn:schemas-microsoft-com:vml" Requires="v">
                <p:oleObj spid="_x0000_s53253" name="公式" r:id="rId7" imgW="24384000" imgH="6096000" progId="Equation.3">
                  <p:embed/>
                </p:oleObj>
              </mc:Choice>
              <mc:Fallback>
                <p:oleObj name="公式" r:id="rId7" imgW="24384000" imgH="6096000" progId="Equation.3">
                  <p:embed/>
                  <p:pic>
                    <p:nvPicPr>
                      <p:cNvPr id="0" name="Object 36"/>
                      <p:cNvPicPr>
                        <a:picLocks noChangeAspect="1"/>
                      </p:cNvPicPr>
                      <p:nvPr/>
                    </p:nvPicPr>
                    <p:blipFill>
                      <a:blip r:embed="rId8"/>
                      <a:stretch>
                        <a:fillRect/>
                      </a:stretch>
                    </p:blipFill>
                    <p:spPr>
                      <a:xfrm>
                        <a:off x="881063" y="4560888"/>
                        <a:ext cx="1828800" cy="455612"/>
                      </a:xfrm>
                      <a:prstGeom prst="rect">
                        <a:avLst/>
                      </a:prstGeom>
                      <a:noFill/>
                      <a:ln w="9525">
                        <a:noFill/>
                      </a:ln>
                    </p:spPr>
                  </p:pic>
                </p:oleObj>
              </mc:Fallback>
            </mc:AlternateContent>
          </a:graphicData>
        </a:graphic>
      </p:graphicFrame>
      <p:sp>
        <p:nvSpPr>
          <p:cNvPr id="231461" name="AutoShape 37"/>
          <p:cNvSpPr>
            <a:spLocks noChangeArrowheads="1"/>
          </p:cNvSpPr>
          <p:nvPr/>
        </p:nvSpPr>
        <p:spPr bwMode="auto">
          <a:xfrm>
            <a:off x="566738" y="5634038"/>
            <a:ext cx="493712" cy="134937"/>
          </a:xfrm>
          <a:prstGeom prst="rightArrow">
            <a:avLst>
              <a:gd name="adj1" fmla="val 50000"/>
              <a:gd name="adj2" fmla="val 91471"/>
            </a:avLst>
          </a:prstGeom>
          <a:solidFill>
            <a:srgbClr val="0000FF"/>
          </a:solidFill>
          <a:ln w="9525">
            <a:solidFill>
              <a:schemeClr val="tx1"/>
            </a:solidFill>
            <a:miter lim="800000"/>
          </a:ln>
        </p:spPr>
        <p:txBody>
          <a:bodyPr wrap="none" anchor="ctr"/>
          <a:lstStyle/>
          <a:p>
            <a:pPr algn="ctr"/>
            <a:endParaRPr lang="zh-CN" altLang="en-US"/>
          </a:p>
        </p:txBody>
      </p:sp>
      <p:graphicFrame>
        <p:nvGraphicFramePr>
          <p:cNvPr id="231462" name="Object 38"/>
          <p:cNvGraphicFramePr>
            <a:graphicFrameLocks noChangeAspect="1"/>
          </p:cNvGraphicFramePr>
          <p:nvPr/>
        </p:nvGraphicFramePr>
        <p:xfrm>
          <a:off x="1150938" y="5330825"/>
          <a:ext cx="1233487" cy="798513"/>
        </p:xfrm>
        <a:graphic>
          <a:graphicData uri="http://schemas.openxmlformats.org/presentationml/2006/ole">
            <mc:AlternateContent xmlns:mc="http://schemas.openxmlformats.org/markup-compatibility/2006">
              <mc:Choice xmlns:v="urn:schemas-microsoft-com:vml" Requires="v">
                <p:oleObj spid="_x0000_s53254" name="公式" r:id="rId9" imgW="16459200" imgH="10668000" progId="Equation.3">
                  <p:embed/>
                </p:oleObj>
              </mc:Choice>
              <mc:Fallback>
                <p:oleObj name="公式" r:id="rId9" imgW="16459200" imgH="10668000" progId="Equation.3">
                  <p:embed/>
                  <p:pic>
                    <p:nvPicPr>
                      <p:cNvPr id="0" name="Object 38"/>
                      <p:cNvPicPr>
                        <a:picLocks noChangeAspect="1"/>
                      </p:cNvPicPr>
                      <p:nvPr/>
                    </p:nvPicPr>
                    <p:blipFill>
                      <a:blip r:embed="rId10"/>
                      <a:stretch>
                        <a:fillRect/>
                      </a:stretch>
                    </p:blipFill>
                    <p:spPr>
                      <a:xfrm>
                        <a:off x="1150938" y="5330825"/>
                        <a:ext cx="1233487" cy="798513"/>
                      </a:xfrm>
                      <a:prstGeom prst="rect">
                        <a:avLst/>
                      </a:prstGeom>
                      <a:noFill/>
                      <a:ln w="9525">
                        <a:noFill/>
                      </a:ln>
                    </p:spPr>
                  </p:pic>
                </p:oleObj>
              </mc:Fallback>
            </mc:AlternateContent>
          </a:graphicData>
        </a:graphic>
      </p:graphicFrame>
      <p:graphicFrame>
        <p:nvGraphicFramePr>
          <p:cNvPr id="231463" name="Object 39"/>
          <p:cNvGraphicFramePr>
            <a:graphicFrameLocks noChangeAspect="1"/>
          </p:cNvGraphicFramePr>
          <p:nvPr/>
        </p:nvGraphicFramePr>
        <p:xfrm>
          <a:off x="2551113" y="2798763"/>
          <a:ext cx="2979737" cy="730250"/>
        </p:xfrm>
        <a:graphic>
          <a:graphicData uri="http://schemas.openxmlformats.org/presentationml/2006/ole">
            <mc:AlternateContent xmlns:mc="http://schemas.openxmlformats.org/markup-compatibility/2006">
              <mc:Choice xmlns:v="urn:schemas-microsoft-com:vml" Requires="v">
                <p:oleObj spid="_x0000_s53255" name="公式" r:id="rId11" imgW="39624000" imgH="9753600" progId="Equation.3">
                  <p:embed/>
                </p:oleObj>
              </mc:Choice>
              <mc:Fallback>
                <p:oleObj name="公式" r:id="rId11" imgW="39624000" imgH="9753600" progId="Equation.3">
                  <p:embed/>
                  <p:pic>
                    <p:nvPicPr>
                      <p:cNvPr id="0" name="Object 39"/>
                      <p:cNvPicPr>
                        <a:picLocks noChangeAspect="1"/>
                      </p:cNvPicPr>
                      <p:nvPr/>
                    </p:nvPicPr>
                    <p:blipFill>
                      <a:blip r:embed="rId12"/>
                      <a:stretch>
                        <a:fillRect/>
                      </a:stretch>
                    </p:blipFill>
                    <p:spPr>
                      <a:xfrm>
                        <a:off x="2551113" y="2798763"/>
                        <a:ext cx="2979737" cy="730250"/>
                      </a:xfrm>
                      <a:prstGeom prst="rect">
                        <a:avLst/>
                      </a:prstGeom>
                      <a:noFill/>
                      <a:ln w="9525">
                        <a:noFill/>
                      </a:ln>
                    </p:spPr>
                  </p:pic>
                </p:oleObj>
              </mc:Fallback>
            </mc:AlternateContent>
          </a:graphicData>
        </a:graphic>
      </p:graphicFrame>
      <p:graphicFrame>
        <p:nvGraphicFramePr>
          <p:cNvPr id="231464" name="Object 40"/>
          <p:cNvGraphicFramePr>
            <a:graphicFrameLocks noChangeAspect="1"/>
          </p:cNvGraphicFramePr>
          <p:nvPr/>
        </p:nvGraphicFramePr>
        <p:xfrm>
          <a:off x="5021263" y="1223963"/>
          <a:ext cx="1125537" cy="733425"/>
        </p:xfrm>
        <a:graphic>
          <a:graphicData uri="http://schemas.openxmlformats.org/presentationml/2006/ole">
            <mc:AlternateContent xmlns:mc="http://schemas.openxmlformats.org/markup-compatibility/2006">
              <mc:Choice xmlns:v="urn:schemas-microsoft-com:vml" Requires="v">
                <p:oleObj spid="_x0000_s53256" name="公式" r:id="rId13" imgW="14935200" imgH="9753600" progId="Equation.3">
                  <p:embed/>
                </p:oleObj>
              </mc:Choice>
              <mc:Fallback>
                <p:oleObj name="公式" r:id="rId13" imgW="14935200" imgH="9753600" progId="Equation.3">
                  <p:embed/>
                  <p:pic>
                    <p:nvPicPr>
                      <p:cNvPr id="0" name="Object 40"/>
                      <p:cNvPicPr>
                        <a:picLocks noChangeAspect="1"/>
                      </p:cNvPicPr>
                      <p:nvPr/>
                    </p:nvPicPr>
                    <p:blipFill>
                      <a:blip r:embed="rId14"/>
                      <a:stretch>
                        <a:fillRect/>
                      </a:stretch>
                    </p:blipFill>
                    <p:spPr>
                      <a:xfrm>
                        <a:off x="5021263" y="1223963"/>
                        <a:ext cx="1125537" cy="733425"/>
                      </a:xfrm>
                      <a:prstGeom prst="rect">
                        <a:avLst/>
                      </a:prstGeom>
                      <a:noFill/>
                      <a:ln w="9525">
                        <a:noFill/>
                      </a:ln>
                    </p:spPr>
                  </p:pic>
                </p:oleObj>
              </mc:Fallback>
            </mc:AlternateContent>
          </a:graphicData>
        </a:graphic>
      </p:graphicFrame>
      <p:graphicFrame>
        <p:nvGraphicFramePr>
          <p:cNvPr id="231465" name="Object 41"/>
          <p:cNvGraphicFramePr>
            <a:graphicFrameLocks noChangeAspect="1"/>
          </p:cNvGraphicFramePr>
          <p:nvPr/>
        </p:nvGraphicFramePr>
        <p:xfrm>
          <a:off x="2771775" y="4408488"/>
          <a:ext cx="1050925" cy="730250"/>
        </p:xfrm>
        <a:graphic>
          <a:graphicData uri="http://schemas.openxmlformats.org/presentationml/2006/ole">
            <mc:AlternateContent xmlns:mc="http://schemas.openxmlformats.org/markup-compatibility/2006">
              <mc:Choice xmlns:v="urn:schemas-microsoft-com:vml" Requires="v">
                <p:oleObj spid="_x0000_s53257" name="公式" r:id="rId15" imgW="14020800" imgH="9753600" progId="Equation.3">
                  <p:embed/>
                </p:oleObj>
              </mc:Choice>
              <mc:Fallback>
                <p:oleObj name="公式" r:id="rId15" imgW="14020800" imgH="9753600" progId="Equation.3">
                  <p:embed/>
                  <p:pic>
                    <p:nvPicPr>
                      <p:cNvPr id="0" name="Object 41"/>
                      <p:cNvPicPr>
                        <a:picLocks noChangeAspect="1"/>
                      </p:cNvPicPr>
                      <p:nvPr/>
                    </p:nvPicPr>
                    <p:blipFill>
                      <a:blip r:embed="rId16"/>
                      <a:stretch>
                        <a:fillRect/>
                      </a:stretch>
                    </p:blipFill>
                    <p:spPr>
                      <a:xfrm>
                        <a:off x="2771775" y="4408488"/>
                        <a:ext cx="1050925" cy="730250"/>
                      </a:xfrm>
                      <a:prstGeom prst="rect">
                        <a:avLst/>
                      </a:prstGeom>
                      <a:noFill/>
                      <a:ln w="9525">
                        <a:noFill/>
                      </a:ln>
                    </p:spPr>
                  </p:pic>
                </p:oleObj>
              </mc:Fallback>
            </mc:AlternateContent>
          </a:graphicData>
        </a:graphic>
      </p:graphicFrame>
      <p:graphicFrame>
        <p:nvGraphicFramePr>
          <p:cNvPr id="231466" name="Object 42"/>
          <p:cNvGraphicFramePr>
            <a:graphicFrameLocks noChangeAspect="1"/>
          </p:cNvGraphicFramePr>
          <p:nvPr/>
        </p:nvGraphicFramePr>
        <p:xfrm>
          <a:off x="2476500" y="5319713"/>
          <a:ext cx="1646238" cy="730250"/>
        </p:xfrm>
        <a:graphic>
          <a:graphicData uri="http://schemas.openxmlformats.org/presentationml/2006/ole">
            <mc:AlternateContent xmlns:mc="http://schemas.openxmlformats.org/markup-compatibility/2006">
              <mc:Choice xmlns:v="urn:schemas-microsoft-com:vml" Requires="v">
                <p:oleObj spid="_x0000_s53258" name="公式" r:id="rId17" imgW="21945600" imgH="9753600" progId="Equation.3">
                  <p:embed/>
                </p:oleObj>
              </mc:Choice>
              <mc:Fallback>
                <p:oleObj name="公式" r:id="rId17" imgW="21945600" imgH="9753600" progId="Equation.3">
                  <p:embed/>
                  <p:pic>
                    <p:nvPicPr>
                      <p:cNvPr id="0" name="Object 42"/>
                      <p:cNvPicPr>
                        <a:picLocks noChangeAspect="1"/>
                      </p:cNvPicPr>
                      <p:nvPr/>
                    </p:nvPicPr>
                    <p:blipFill>
                      <a:blip r:embed="rId18"/>
                      <a:stretch>
                        <a:fillRect/>
                      </a:stretch>
                    </p:blipFill>
                    <p:spPr>
                      <a:xfrm>
                        <a:off x="2476500" y="5319713"/>
                        <a:ext cx="1646238" cy="7302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1454"/>
                                        </p:tgtEl>
                                        <p:attrNameLst>
                                          <p:attrName>style.visibility</p:attrName>
                                        </p:attrNameLst>
                                      </p:cBhvr>
                                      <p:to>
                                        <p:strVal val="visible"/>
                                      </p:to>
                                    </p:set>
                                    <p:animEffect transition="in" filter="wipe(left)">
                                      <p:cBhvr>
                                        <p:cTn id="7" dur="500"/>
                                        <p:tgtEl>
                                          <p:spTgt spid="2314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1455"/>
                                        </p:tgtEl>
                                        <p:attrNameLst>
                                          <p:attrName>style.visibility</p:attrName>
                                        </p:attrNameLst>
                                      </p:cBhvr>
                                      <p:to>
                                        <p:strVal val="visible"/>
                                      </p:to>
                                    </p:set>
                                    <p:animEffect transition="in" filter="wipe(left)">
                                      <p:cBhvr>
                                        <p:cTn id="12" dur="500"/>
                                        <p:tgtEl>
                                          <p:spTgt spid="2314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1456"/>
                                        </p:tgtEl>
                                        <p:attrNameLst>
                                          <p:attrName>style.visibility</p:attrName>
                                        </p:attrNameLst>
                                      </p:cBhvr>
                                      <p:to>
                                        <p:strVal val="visible"/>
                                      </p:to>
                                    </p:set>
                                    <p:animEffect transition="in" filter="wipe(left)">
                                      <p:cBhvr>
                                        <p:cTn id="17" dur="500"/>
                                        <p:tgtEl>
                                          <p:spTgt spid="2314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1464"/>
                                        </p:tgtEl>
                                        <p:attrNameLst>
                                          <p:attrName>style.visibility</p:attrName>
                                        </p:attrNameLst>
                                      </p:cBhvr>
                                      <p:to>
                                        <p:strVal val="visible"/>
                                      </p:to>
                                    </p:set>
                                    <p:animEffect transition="in" filter="wipe(left)">
                                      <p:cBhvr>
                                        <p:cTn id="22" dur="500"/>
                                        <p:tgtEl>
                                          <p:spTgt spid="2314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1457"/>
                                        </p:tgtEl>
                                        <p:attrNameLst>
                                          <p:attrName>style.visibility</p:attrName>
                                        </p:attrNameLst>
                                      </p:cBhvr>
                                      <p:to>
                                        <p:strVal val="visible"/>
                                      </p:to>
                                    </p:set>
                                    <p:animEffect transition="in" filter="wipe(left)">
                                      <p:cBhvr>
                                        <p:cTn id="27" dur="500"/>
                                        <p:tgtEl>
                                          <p:spTgt spid="2314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1458"/>
                                        </p:tgtEl>
                                        <p:attrNameLst>
                                          <p:attrName>style.visibility</p:attrName>
                                        </p:attrNameLst>
                                      </p:cBhvr>
                                      <p:to>
                                        <p:strVal val="visible"/>
                                      </p:to>
                                    </p:set>
                                    <p:animEffect transition="in" filter="wipe(left)">
                                      <p:cBhvr>
                                        <p:cTn id="32" dur="500"/>
                                        <p:tgtEl>
                                          <p:spTgt spid="23145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1463"/>
                                        </p:tgtEl>
                                        <p:attrNameLst>
                                          <p:attrName>style.visibility</p:attrName>
                                        </p:attrNameLst>
                                      </p:cBhvr>
                                      <p:to>
                                        <p:strVal val="visible"/>
                                      </p:to>
                                    </p:set>
                                    <p:animEffect transition="in" filter="wipe(left)">
                                      <p:cBhvr>
                                        <p:cTn id="37" dur="500"/>
                                        <p:tgtEl>
                                          <p:spTgt spid="23146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1459"/>
                                        </p:tgtEl>
                                        <p:attrNameLst>
                                          <p:attrName>style.visibility</p:attrName>
                                        </p:attrNameLst>
                                      </p:cBhvr>
                                      <p:to>
                                        <p:strVal val="visible"/>
                                      </p:to>
                                    </p:set>
                                    <p:animEffect transition="in" filter="wipe(left)">
                                      <p:cBhvr>
                                        <p:cTn id="42" dur="500"/>
                                        <p:tgtEl>
                                          <p:spTgt spid="23145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31460"/>
                                        </p:tgtEl>
                                        <p:attrNameLst>
                                          <p:attrName>style.visibility</p:attrName>
                                        </p:attrNameLst>
                                      </p:cBhvr>
                                      <p:to>
                                        <p:strVal val="visible"/>
                                      </p:to>
                                    </p:set>
                                    <p:animEffect transition="in" filter="wipe(left)">
                                      <p:cBhvr>
                                        <p:cTn id="47" dur="500"/>
                                        <p:tgtEl>
                                          <p:spTgt spid="23146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31465"/>
                                        </p:tgtEl>
                                        <p:attrNameLst>
                                          <p:attrName>style.visibility</p:attrName>
                                        </p:attrNameLst>
                                      </p:cBhvr>
                                      <p:to>
                                        <p:strVal val="visible"/>
                                      </p:to>
                                    </p:set>
                                    <p:animEffect transition="in" filter="wipe(left)">
                                      <p:cBhvr>
                                        <p:cTn id="52" dur="500"/>
                                        <p:tgtEl>
                                          <p:spTgt spid="23146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31461"/>
                                        </p:tgtEl>
                                        <p:attrNameLst>
                                          <p:attrName>style.visibility</p:attrName>
                                        </p:attrNameLst>
                                      </p:cBhvr>
                                      <p:to>
                                        <p:strVal val="visible"/>
                                      </p:to>
                                    </p:set>
                                    <p:animEffect transition="in" filter="wipe(left)">
                                      <p:cBhvr>
                                        <p:cTn id="57" dur="500"/>
                                        <p:tgtEl>
                                          <p:spTgt spid="231461"/>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231462"/>
                                        </p:tgtEl>
                                        <p:attrNameLst>
                                          <p:attrName>style.visibility</p:attrName>
                                        </p:attrNameLst>
                                      </p:cBhvr>
                                      <p:to>
                                        <p:strVal val="visible"/>
                                      </p:to>
                                    </p:set>
                                    <p:animEffect transition="in" filter="wipe(left)">
                                      <p:cBhvr>
                                        <p:cTn id="61" dur="500"/>
                                        <p:tgtEl>
                                          <p:spTgt spid="23146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31466"/>
                                        </p:tgtEl>
                                        <p:attrNameLst>
                                          <p:attrName>style.visibility</p:attrName>
                                        </p:attrNameLst>
                                      </p:cBhvr>
                                      <p:to>
                                        <p:strVal val="visible"/>
                                      </p:to>
                                    </p:set>
                                    <p:animEffect transition="in" filter="wipe(left)">
                                      <p:cBhvr>
                                        <p:cTn id="66" dur="500"/>
                                        <p:tgtEl>
                                          <p:spTgt spid="231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54" grpId="0"/>
      <p:bldP spid="231457" grpId="0"/>
      <p:bldP spid="231459" grpId="0"/>
      <p:bldP spid="231461"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ChangeArrowheads="1"/>
          </p:cNvSpPr>
          <p:nvPr/>
        </p:nvSpPr>
        <p:spPr bwMode="auto">
          <a:xfrm>
            <a:off x="611188" y="425450"/>
            <a:ext cx="8280400" cy="2282825"/>
          </a:xfrm>
          <a:prstGeom prst="rect">
            <a:avLst/>
          </a:prstGeom>
          <a:noFill/>
          <a:ln w="9525">
            <a:noFill/>
            <a:miter lim="800000"/>
          </a:ln>
        </p:spPr>
        <p:txBody>
          <a:bodyPr>
            <a:spAutoFit/>
          </a:bodyPr>
          <a:lstStyle/>
          <a:p>
            <a:pPr>
              <a:lnSpc>
                <a:spcPct val="120000"/>
              </a:lnSpc>
            </a:pPr>
            <a:r>
              <a:rPr kumimoji="1" lang="zh-CN" altLang="en-US" b="1"/>
              <a:t>逆向斯特林致冷循环的热力学循环原理如图所示，该循环由四个过程组成，先把工质由初态 </a:t>
            </a:r>
            <a:r>
              <a:rPr kumimoji="1" lang="en-US" altLang="zh-CN" b="1" i="1">
                <a:solidFill>
                  <a:srgbClr val="FF6600"/>
                </a:solidFill>
              </a:rPr>
              <a:t>A</a:t>
            </a:r>
            <a:r>
              <a:rPr kumimoji="1" lang="zh-CN" altLang="en-US" b="1">
                <a:solidFill>
                  <a:srgbClr val="FF6600"/>
                </a:solidFill>
              </a:rPr>
              <a:t>（</a:t>
            </a:r>
            <a:r>
              <a:rPr kumimoji="1" lang="en-US" altLang="zh-CN" b="1" i="1">
                <a:solidFill>
                  <a:srgbClr val="FF6600"/>
                </a:solidFill>
              </a:rPr>
              <a:t>V</a:t>
            </a:r>
            <a:r>
              <a:rPr kumimoji="1" lang="en-US" altLang="zh-CN" b="1" baseline="-25000">
                <a:solidFill>
                  <a:srgbClr val="FF6600"/>
                </a:solidFill>
              </a:rPr>
              <a:t>1</a:t>
            </a:r>
            <a:r>
              <a:rPr kumimoji="1" lang="zh-CN" altLang="en-US" b="1">
                <a:solidFill>
                  <a:srgbClr val="FF6600"/>
                </a:solidFill>
              </a:rPr>
              <a:t>，</a:t>
            </a:r>
            <a:r>
              <a:rPr kumimoji="1" lang="zh-CN" altLang="en-US" b="1" baseline="-25000">
                <a:solidFill>
                  <a:srgbClr val="FF6600"/>
                </a:solidFill>
                <a:cs typeface="Times New Roman" panose="02020603050405020304" pitchFamily="18" charset="0"/>
              </a:rPr>
              <a:t> </a:t>
            </a:r>
            <a:r>
              <a:rPr kumimoji="1" lang="en-US" altLang="zh-CN" b="1" i="1">
                <a:solidFill>
                  <a:srgbClr val="FF6600"/>
                </a:solidFill>
              </a:rPr>
              <a:t>T</a:t>
            </a:r>
            <a:r>
              <a:rPr kumimoji="1" lang="en-US" altLang="zh-CN" b="1" baseline="-25000">
                <a:solidFill>
                  <a:srgbClr val="FF6600"/>
                </a:solidFill>
              </a:rPr>
              <a:t>1</a:t>
            </a:r>
            <a:r>
              <a:rPr kumimoji="1" lang="zh-CN" altLang="en-US" b="1">
                <a:solidFill>
                  <a:srgbClr val="FF6600"/>
                </a:solidFill>
              </a:rPr>
              <a:t>）</a:t>
            </a:r>
            <a:r>
              <a:rPr kumimoji="1" lang="zh-CN" altLang="en-US" b="1"/>
              <a:t>等温压缩到 </a:t>
            </a:r>
            <a:r>
              <a:rPr kumimoji="1" lang="en-US" altLang="zh-CN" b="1" i="1">
                <a:solidFill>
                  <a:srgbClr val="FF6600"/>
                </a:solidFill>
              </a:rPr>
              <a:t>B</a:t>
            </a:r>
            <a:r>
              <a:rPr kumimoji="1" lang="zh-CN" altLang="en-US" b="1">
                <a:solidFill>
                  <a:srgbClr val="FF6600"/>
                </a:solidFill>
              </a:rPr>
              <a:t>（</a:t>
            </a:r>
            <a:r>
              <a:rPr kumimoji="1" lang="en-US" altLang="zh-CN" b="1" i="1">
                <a:solidFill>
                  <a:srgbClr val="FF6600"/>
                </a:solidFill>
              </a:rPr>
              <a:t>V</a:t>
            </a:r>
            <a:r>
              <a:rPr kumimoji="1" lang="en-US" altLang="zh-CN" b="1" baseline="-25000">
                <a:solidFill>
                  <a:srgbClr val="FF6600"/>
                </a:solidFill>
              </a:rPr>
              <a:t>2</a:t>
            </a:r>
            <a:r>
              <a:rPr kumimoji="1" lang="en-US" altLang="zh-CN" b="1" baseline="-25000">
                <a:solidFill>
                  <a:srgbClr val="FF6600"/>
                </a:solidFill>
                <a:cs typeface="Times New Roman" panose="02020603050405020304" pitchFamily="18" charset="0"/>
              </a:rPr>
              <a:t>  </a:t>
            </a:r>
            <a:r>
              <a:rPr kumimoji="1" lang="zh-CN" altLang="en-US" b="1">
                <a:solidFill>
                  <a:srgbClr val="FF6600"/>
                </a:solidFill>
                <a:cs typeface="Times New Roman" panose="02020603050405020304" pitchFamily="18" charset="0"/>
              </a:rPr>
              <a:t>，</a:t>
            </a:r>
            <a:r>
              <a:rPr kumimoji="1" lang="zh-CN" altLang="en-US" b="1" baseline="-25000">
                <a:solidFill>
                  <a:srgbClr val="FF6600"/>
                </a:solidFill>
                <a:cs typeface="Times New Roman" panose="02020603050405020304" pitchFamily="18" charset="0"/>
              </a:rPr>
              <a:t> </a:t>
            </a:r>
            <a:r>
              <a:rPr kumimoji="1" lang="en-US" altLang="zh-CN" b="1" i="1">
                <a:solidFill>
                  <a:srgbClr val="FF6600"/>
                </a:solidFill>
              </a:rPr>
              <a:t>T</a:t>
            </a:r>
            <a:r>
              <a:rPr kumimoji="1" lang="en-US" altLang="zh-CN" b="1" baseline="-25000">
                <a:solidFill>
                  <a:srgbClr val="FF6600"/>
                </a:solidFill>
              </a:rPr>
              <a:t>1</a:t>
            </a:r>
            <a:r>
              <a:rPr kumimoji="1" lang="zh-CN" altLang="en-US" b="1">
                <a:solidFill>
                  <a:srgbClr val="FF6600"/>
                </a:solidFill>
              </a:rPr>
              <a:t>）</a:t>
            </a:r>
            <a:r>
              <a:rPr kumimoji="1" lang="zh-CN" altLang="en-US" b="1"/>
              <a:t> 状态，再等体降温到 </a:t>
            </a:r>
            <a:r>
              <a:rPr kumimoji="1" lang="en-US" altLang="zh-CN" b="1" i="1">
                <a:solidFill>
                  <a:srgbClr val="FF6600"/>
                </a:solidFill>
              </a:rPr>
              <a:t>C </a:t>
            </a:r>
            <a:r>
              <a:rPr kumimoji="1" lang="zh-CN" altLang="en-US" b="1">
                <a:solidFill>
                  <a:srgbClr val="FF6600"/>
                </a:solidFill>
              </a:rPr>
              <a:t>（</a:t>
            </a:r>
            <a:r>
              <a:rPr kumimoji="1" lang="en-US" altLang="zh-CN" b="1" i="1">
                <a:solidFill>
                  <a:srgbClr val="FF6600"/>
                </a:solidFill>
              </a:rPr>
              <a:t>V</a:t>
            </a:r>
            <a:r>
              <a:rPr kumimoji="1" lang="en-US" altLang="zh-CN" b="1" baseline="-25000">
                <a:solidFill>
                  <a:srgbClr val="FF6600"/>
                </a:solidFill>
              </a:rPr>
              <a:t>2</a:t>
            </a:r>
            <a:r>
              <a:rPr kumimoji="1" lang="zh-CN" altLang="en-US" b="1">
                <a:solidFill>
                  <a:srgbClr val="FF6600"/>
                </a:solidFill>
              </a:rPr>
              <a:t>，</a:t>
            </a:r>
            <a:r>
              <a:rPr kumimoji="1" lang="zh-CN" altLang="en-US" b="1" baseline="-25000">
                <a:solidFill>
                  <a:srgbClr val="FF6600"/>
                </a:solidFill>
              </a:rPr>
              <a:t>  </a:t>
            </a:r>
            <a:r>
              <a:rPr kumimoji="1" lang="en-US" altLang="zh-CN" b="1" i="1">
                <a:solidFill>
                  <a:srgbClr val="FF6600"/>
                </a:solidFill>
              </a:rPr>
              <a:t>T</a:t>
            </a:r>
            <a:r>
              <a:rPr kumimoji="1" lang="en-US" altLang="zh-CN" b="1" baseline="-25000">
                <a:solidFill>
                  <a:srgbClr val="FF6600"/>
                </a:solidFill>
              </a:rPr>
              <a:t>2</a:t>
            </a:r>
            <a:r>
              <a:rPr kumimoji="1" lang="zh-CN" altLang="en-US" b="1">
                <a:solidFill>
                  <a:srgbClr val="FF6600"/>
                </a:solidFill>
              </a:rPr>
              <a:t>）</a:t>
            </a:r>
            <a:r>
              <a:rPr kumimoji="1" lang="zh-CN" altLang="en-US" b="1"/>
              <a:t>状态，然后经等温膨胀达到 </a:t>
            </a:r>
            <a:r>
              <a:rPr kumimoji="1" lang="en-US" altLang="zh-CN" b="1" i="1">
                <a:solidFill>
                  <a:srgbClr val="FF6600"/>
                </a:solidFill>
              </a:rPr>
              <a:t>D </a:t>
            </a:r>
            <a:r>
              <a:rPr kumimoji="1" lang="zh-CN" altLang="en-US" b="1">
                <a:solidFill>
                  <a:srgbClr val="FF6600"/>
                </a:solidFill>
              </a:rPr>
              <a:t>（</a:t>
            </a:r>
            <a:r>
              <a:rPr kumimoji="1" lang="en-US" altLang="zh-CN" b="1" i="1">
                <a:solidFill>
                  <a:srgbClr val="FF6600"/>
                </a:solidFill>
              </a:rPr>
              <a:t>V</a:t>
            </a:r>
            <a:r>
              <a:rPr kumimoji="1" lang="en-US" altLang="zh-CN" b="1" baseline="-25000">
                <a:solidFill>
                  <a:srgbClr val="FF6600"/>
                </a:solidFill>
              </a:rPr>
              <a:t>1</a:t>
            </a:r>
            <a:r>
              <a:rPr kumimoji="1" lang="zh-CN" altLang="en-US" b="1">
                <a:solidFill>
                  <a:srgbClr val="FF6600"/>
                </a:solidFill>
              </a:rPr>
              <a:t>，</a:t>
            </a:r>
            <a:r>
              <a:rPr kumimoji="1" lang="zh-CN" altLang="en-US" b="1" baseline="-25000">
                <a:solidFill>
                  <a:srgbClr val="FF6600"/>
                </a:solidFill>
              </a:rPr>
              <a:t>  </a:t>
            </a:r>
            <a:r>
              <a:rPr kumimoji="1" lang="en-US" altLang="zh-CN" b="1" i="1">
                <a:solidFill>
                  <a:srgbClr val="FF6600"/>
                </a:solidFill>
              </a:rPr>
              <a:t>T</a:t>
            </a:r>
            <a:r>
              <a:rPr kumimoji="1" lang="en-US" altLang="zh-CN" b="1" baseline="-25000">
                <a:solidFill>
                  <a:srgbClr val="FF6600"/>
                </a:solidFill>
              </a:rPr>
              <a:t>2</a:t>
            </a:r>
            <a:r>
              <a:rPr kumimoji="1" lang="zh-CN" altLang="en-US" b="1">
                <a:solidFill>
                  <a:srgbClr val="FF6600"/>
                </a:solidFill>
              </a:rPr>
              <a:t>）</a:t>
            </a:r>
            <a:r>
              <a:rPr kumimoji="1" lang="zh-CN" altLang="en-US" b="1"/>
              <a:t> 状态，最后经等体升温回到初状态 </a:t>
            </a:r>
            <a:r>
              <a:rPr kumimoji="1" lang="en-US" altLang="zh-CN" b="1" i="1">
                <a:solidFill>
                  <a:srgbClr val="FF6600"/>
                </a:solidFill>
              </a:rPr>
              <a:t>A </a:t>
            </a:r>
            <a:r>
              <a:rPr kumimoji="1" lang="zh-CN" altLang="en-US" b="1"/>
              <a:t>，完成一个循环。 </a:t>
            </a:r>
            <a:endParaRPr kumimoji="1" lang="zh-CN" altLang="en-US" b="1"/>
          </a:p>
        </p:txBody>
      </p:sp>
      <p:sp>
        <p:nvSpPr>
          <p:cNvPr id="244739" name="Rectangle 3"/>
          <p:cNvSpPr>
            <a:spLocks noChangeArrowheads="1"/>
          </p:cNvSpPr>
          <p:nvPr/>
        </p:nvSpPr>
        <p:spPr bwMode="auto">
          <a:xfrm>
            <a:off x="706438" y="2732088"/>
            <a:ext cx="4297362" cy="457200"/>
          </a:xfrm>
          <a:prstGeom prst="rect">
            <a:avLst/>
          </a:prstGeom>
          <a:noFill/>
          <a:ln w="9525">
            <a:noFill/>
            <a:miter lim="800000"/>
          </a:ln>
        </p:spPr>
        <p:txBody>
          <a:bodyPr>
            <a:spAutoFit/>
          </a:bodyPr>
          <a:lstStyle/>
          <a:p>
            <a:r>
              <a:rPr kumimoji="1" lang="zh-CN" altLang="en-US" b="1"/>
              <a:t>该致冷循环的致冷系数。</a:t>
            </a:r>
            <a:endParaRPr kumimoji="1" lang="zh-CN" altLang="en-US" b="1"/>
          </a:p>
        </p:txBody>
      </p:sp>
      <p:sp>
        <p:nvSpPr>
          <p:cNvPr id="244740" name="Text Box 4"/>
          <p:cNvSpPr txBox="1">
            <a:spLocks noChangeArrowheads="1"/>
          </p:cNvSpPr>
          <p:nvPr/>
        </p:nvSpPr>
        <p:spPr bwMode="auto">
          <a:xfrm>
            <a:off x="203200" y="3213100"/>
            <a:ext cx="696913" cy="457200"/>
          </a:xfrm>
          <a:prstGeom prst="rect">
            <a:avLst/>
          </a:prstGeom>
          <a:noFill/>
          <a:ln w="12700" cap="sq">
            <a:noFill/>
            <a:miter lim="800000"/>
            <a:headEnd type="none" w="sm" len="sm"/>
            <a:tailEnd type="none" w="sm" len="sm"/>
          </a:ln>
        </p:spPr>
        <p:txBody>
          <a:bodyPr>
            <a:spAutoFit/>
          </a:bodyPr>
          <a:lstStyle/>
          <a:p>
            <a:r>
              <a:rPr kumimoji="1" lang="zh-CN" altLang="en-US" b="1">
                <a:solidFill>
                  <a:srgbClr val="FF0000"/>
                </a:solidFill>
              </a:rPr>
              <a:t>解</a:t>
            </a:r>
            <a:endParaRPr kumimoji="1" lang="zh-CN" altLang="en-US" sz="2800" b="1" i="1">
              <a:solidFill>
                <a:srgbClr val="FF0000"/>
              </a:solidFill>
            </a:endParaRPr>
          </a:p>
        </p:txBody>
      </p:sp>
      <p:sp>
        <p:nvSpPr>
          <p:cNvPr id="244741" name="Text Box 5"/>
          <p:cNvSpPr txBox="1">
            <a:spLocks noChangeArrowheads="1"/>
          </p:cNvSpPr>
          <p:nvPr/>
        </p:nvSpPr>
        <p:spPr bwMode="auto">
          <a:xfrm>
            <a:off x="107950" y="476250"/>
            <a:ext cx="492125" cy="457200"/>
          </a:xfrm>
          <a:prstGeom prst="rect">
            <a:avLst/>
          </a:prstGeom>
          <a:noFill/>
          <a:ln w="9525">
            <a:noFill/>
            <a:miter lim="800000"/>
          </a:ln>
        </p:spPr>
        <p:txBody>
          <a:bodyPr wrap="none">
            <a:spAutoFit/>
          </a:bodyPr>
          <a:lstStyle/>
          <a:p>
            <a:r>
              <a:rPr kumimoji="1" lang="zh-CN" altLang="en-US" b="1">
                <a:solidFill>
                  <a:srgbClr val="FF0000"/>
                </a:solidFill>
                <a:latin typeface="Arial" panose="020B0604020202020204" pitchFamily="34" charset="0"/>
              </a:rPr>
              <a:t>例</a:t>
            </a:r>
            <a:endParaRPr kumimoji="1" lang="zh-CN" altLang="en-US" b="1">
              <a:solidFill>
                <a:srgbClr val="FF0000"/>
              </a:solidFill>
              <a:latin typeface="Arial" panose="020B0604020202020204" pitchFamily="34" charset="0"/>
            </a:endParaRPr>
          </a:p>
        </p:txBody>
      </p:sp>
      <p:sp>
        <p:nvSpPr>
          <p:cNvPr id="244742" name="Rectangle 6"/>
          <p:cNvSpPr>
            <a:spLocks noChangeArrowheads="1"/>
          </p:cNvSpPr>
          <p:nvPr/>
        </p:nvSpPr>
        <p:spPr bwMode="auto">
          <a:xfrm>
            <a:off x="179388" y="2708275"/>
            <a:ext cx="492125" cy="457200"/>
          </a:xfrm>
          <a:prstGeom prst="rect">
            <a:avLst/>
          </a:prstGeom>
          <a:noFill/>
          <a:ln w="9525">
            <a:noFill/>
            <a:miter lim="800000"/>
          </a:ln>
        </p:spPr>
        <p:txBody>
          <a:bodyPr wrap="none">
            <a:spAutoFit/>
          </a:bodyPr>
          <a:lstStyle/>
          <a:p>
            <a:r>
              <a:rPr kumimoji="1" lang="zh-CN" altLang="en-US" b="1">
                <a:solidFill>
                  <a:srgbClr val="FF0000"/>
                </a:solidFill>
                <a:latin typeface="Arial" panose="020B0604020202020204" pitchFamily="34" charset="0"/>
              </a:rPr>
              <a:t>求</a:t>
            </a:r>
            <a:endParaRPr kumimoji="1" lang="zh-CN" altLang="en-US" b="1">
              <a:solidFill>
                <a:srgbClr val="FF0000"/>
              </a:solidFill>
              <a:latin typeface="Arial" panose="020B0604020202020204" pitchFamily="34" charset="0"/>
            </a:endParaRPr>
          </a:p>
        </p:txBody>
      </p:sp>
      <p:sp>
        <p:nvSpPr>
          <p:cNvPr id="244743" name="Text Box 7"/>
          <p:cNvSpPr txBox="1">
            <a:spLocks noChangeArrowheads="1"/>
          </p:cNvSpPr>
          <p:nvPr/>
        </p:nvSpPr>
        <p:spPr bwMode="auto">
          <a:xfrm>
            <a:off x="706438" y="3195638"/>
            <a:ext cx="4519612" cy="979487"/>
          </a:xfrm>
          <a:prstGeom prst="rect">
            <a:avLst/>
          </a:prstGeom>
          <a:noFill/>
          <a:ln w="9525">
            <a:noFill/>
            <a:miter lim="800000"/>
          </a:ln>
        </p:spPr>
        <p:txBody>
          <a:bodyPr wrap="none">
            <a:spAutoFit/>
          </a:bodyPr>
          <a:lstStyle/>
          <a:p>
            <a:pPr>
              <a:lnSpc>
                <a:spcPct val="120000"/>
              </a:lnSpc>
              <a:defRPr/>
            </a:pPr>
            <a:r>
              <a:rPr kumimoji="1" lang="zh-CN" altLang="en-US" b="1" dirty="0">
                <a:ea typeface="+mn-ea"/>
                <a:cs typeface="Times New Roman" panose="02020603050405020304" pitchFamily="18" charset="0"/>
              </a:rPr>
              <a:t>在过程 </a:t>
            </a:r>
            <a:r>
              <a:rPr kumimoji="1" lang="en-US" altLang="zh-CN" b="1" i="1" dirty="0">
                <a:solidFill>
                  <a:srgbClr val="FF6600"/>
                </a:solidFill>
                <a:ea typeface="+mn-ea"/>
                <a:cs typeface="Times New Roman" panose="02020603050405020304" pitchFamily="18" charset="0"/>
              </a:rPr>
              <a:t>CD </a:t>
            </a:r>
            <a:r>
              <a:rPr kumimoji="1" lang="zh-CN" altLang="en-US" b="1" dirty="0">
                <a:ea typeface="+mn-ea"/>
                <a:cs typeface="Times New Roman" panose="02020603050405020304" pitchFamily="18" charset="0"/>
              </a:rPr>
              <a:t>中，工质从</a:t>
            </a:r>
            <a:r>
              <a:rPr kumimoji="1" lang="zh-CN" altLang="en-US" b="1" dirty="0">
                <a:solidFill>
                  <a:srgbClr val="FF6600"/>
                </a:solidFill>
                <a:ea typeface="+mn-ea"/>
                <a:cs typeface="Times New Roman" panose="02020603050405020304" pitchFamily="18" charset="0"/>
              </a:rPr>
              <a:t>冷库</a:t>
            </a:r>
            <a:r>
              <a:rPr kumimoji="1" lang="zh-CN" altLang="en-US" b="1" dirty="0">
                <a:ea typeface="+mn-ea"/>
                <a:cs typeface="Times New Roman" panose="02020603050405020304" pitchFamily="18" charset="0"/>
              </a:rPr>
              <a:t>吸取</a:t>
            </a:r>
            <a:endParaRPr kumimoji="1" lang="zh-CN" altLang="en-US" b="1" dirty="0">
              <a:ea typeface="+mn-ea"/>
              <a:cs typeface="Times New Roman" panose="02020603050405020304" pitchFamily="18" charset="0"/>
            </a:endParaRPr>
          </a:p>
          <a:p>
            <a:pPr>
              <a:lnSpc>
                <a:spcPct val="120000"/>
              </a:lnSpc>
              <a:defRPr/>
            </a:pPr>
            <a:r>
              <a:rPr kumimoji="1" lang="zh-CN" altLang="en-US" b="1" dirty="0">
                <a:ea typeface="+mn-ea"/>
                <a:cs typeface="Times New Roman" panose="02020603050405020304" pitchFamily="18" charset="0"/>
              </a:rPr>
              <a:t>的热量为</a:t>
            </a:r>
            <a:endParaRPr kumimoji="1" lang="zh-CN" altLang="en-US" b="1" dirty="0">
              <a:ea typeface="+mn-ea"/>
              <a:cs typeface="Times New Roman" panose="02020603050405020304" pitchFamily="18" charset="0"/>
            </a:endParaRPr>
          </a:p>
        </p:txBody>
      </p:sp>
      <p:graphicFrame>
        <p:nvGraphicFramePr>
          <p:cNvPr id="244744" name="Object 8"/>
          <p:cNvGraphicFramePr>
            <a:graphicFrameLocks noChangeAspect="1"/>
          </p:cNvGraphicFramePr>
          <p:nvPr/>
        </p:nvGraphicFramePr>
        <p:xfrm>
          <a:off x="1455738" y="4141788"/>
          <a:ext cx="2460625" cy="755650"/>
        </p:xfrm>
        <a:graphic>
          <a:graphicData uri="http://schemas.openxmlformats.org/presentationml/2006/ole">
            <mc:AlternateContent xmlns:mc="http://schemas.openxmlformats.org/markup-compatibility/2006">
              <mc:Choice xmlns:v="urn:schemas-microsoft-com:vml" Requires="v">
                <p:oleObj spid="_x0000_s54273" name="公式" r:id="rId1" imgW="34747200" imgH="10668000" progId="Equation.3">
                  <p:embed/>
                </p:oleObj>
              </mc:Choice>
              <mc:Fallback>
                <p:oleObj name="公式" r:id="rId1" imgW="34747200" imgH="10668000" progId="Equation.3">
                  <p:embed/>
                  <p:pic>
                    <p:nvPicPr>
                      <p:cNvPr id="0" name="Object 8"/>
                      <p:cNvPicPr>
                        <a:picLocks noChangeAspect="1"/>
                      </p:cNvPicPr>
                      <p:nvPr/>
                    </p:nvPicPr>
                    <p:blipFill>
                      <a:blip r:embed="rId2"/>
                      <a:stretch>
                        <a:fillRect/>
                      </a:stretch>
                    </p:blipFill>
                    <p:spPr>
                      <a:xfrm>
                        <a:off x="1455738" y="4141788"/>
                        <a:ext cx="2460625" cy="755650"/>
                      </a:xfrm>
                      <a:prstGeom prst="rect">
                        <a:avLst/>
                      </a:prstGeom>
                      <a:noFill/>
                      <a:ln w="9525">
                        <a:noFill/>
                      </a:ln>
                    </p:spPr>
                  </p:pic>
                </p:oleObj>
              </mc:Fallback>
            </mc:AlternateContent>
          </a:graphicData>
        </a:graphic>
      </p:graphicFrame>
      <p:graphicFrame>
        <p:nvGraphicFramePr>
          <p:cNvPr id="244745" name="Object 9"/>
          <p:cNvGraphicFramePr>
            <a:graphicFrameLocks noChangeAspect="1"/>
          </p:cNvGraphicFramePr>
          <p:nvPr/>
        </p:nvGraphicFramePr>
        <p:xfrm>
          <a:off x="1544638" y="5732463"/>
          <a:ext cx="2503487" cy="755650"/>
        </p:xfrm>
        <a:graphic>
          <a:graphicData uri="http://schemas.openxmlformats.org/presentationml/2006/ole">
            <mc:AlternateContent xmlns:mc="http://schemas.openxmlformats.org/markup-compatibility/2006">
              <mc:Choice xmlns:v="urn:schemas-microsoft-com:vml" Requires="v">
                <p:oleObj spid="_x0000_s54275" name="公式" r:id="rId3" imgW="35356800" imgH="10668000" progId="Equation.3">
                  <p:embed/>
                </p:oleObj>
              </mc:Choice>
              <mc:Fallback>
                <p:oleObj name="公式" r:id="rId3" imgW="35356800" imgH="10668000" progId="Equation.3">
                  <p:embed/>
                  <p:pic>
                    <p:nvPicPr>
                      <p:cNvPr id="0" name="Object 9"/>
                      <p:cNvPicPr>
                        <a:picLocks noChangeAspect="1"/>
                      </p:cNvPicPr>
                      <p:nvPr/>
                    </p:nvPicPr>
                    <p:blipFill>
                      <a:blip r:embed="rId4"/>
                      <a:stretch>
                        <a:fillRect/>
                      </a:stretch>
                    </p:blipFill>
                    <p:spPr>
                      <a:xfrm>
                        <a:off x="1544638" y="5732463"/>
                        <a:ext cx="2503487" cy="755650"/>
                      </a:xfrm>
                      <a:prstGeom prst="rect">
                        <a:avLst/>
                      </a:prstGeom>
                      <a:noFill/>
                      <a:ln w="9525">
                        <a:noFill/>
                      </a:ln>
                    </p:spPr>
                  </p:pic>
                </p:oleObj>
              </mc:Fallback>
            </mc:AlternateContent>
          </a:graphicData>
        </a:graphic>
      </p:graphicFrame>
      <p:sp>
        <p:nvSpPr>
          <p:cNvPr id="244746" name="Text Box 10"/>
          <p:cNvSpPr txBox="1">
            <a:spLocks noChangeArrowheads="1"/>
          </p:cNvSpPr>
          <p:nvPr/>
        </p:nvSpPr>
        <p:spPr bwMode="auto">
          <a:xfrm>
            <a:off x="733425" y="4868863"/>
            <a:ext cx="4267200" cy="979487"/>
          </a:xfrm>
          <a:prstGeom prst="rect">
            <a:avLst/>
          </a:prstGeom>
          <a:noFill/>
          <a:ln w="9525">
            <a:noFill/>
            <a:miter lim="800000"/>
          </a:ln>
        </p:spPr>
        <p:txBody>
          <a:bodyPr>
            <a:spAutoFit/>
          </a:bodyPr>
          <a:lstStyle/>
          <a:p>
            <a:pPr>
              <a:lnSpc>
                <a:spcPct val="120000"/>
              </a:lnSpc>
              <a:defRPr/>
            </a:pPr>
            <a:r>
              <a:rPr kumimoji="1" lang="zh-CN" altLang="en-US" b="1">
                <a:ea typeface="+mn-ea"/>
                <a:cs typeface="Times New Roman" panose="02020603050405020304" pitchFamily="18" charset="0"/>
              </a:rPr>
              <a:t>在过程中 </a:t>
            </a:r>
            <a:r>
              <a:rPr kumimoji="1" lang="en-US" altLang="zh-CN" b="1" i="1">
                <a:solidFill>
                  <a:srgbClr val="FF6600"/>
                </a:solidFill>
                <a:ea typeface="+mn-ea"/>
                <a:cs typeface="Times New Roman" panose="02020603050405020304" pitchFamily="18" charset="0"/>
              </a:rPr>
              <a:t>AB </a:t>
            </a:r>
            <a:r>
              <a:rPr kumimoji="1" lang="zh-CN" altLang="en-US" b="1">
                <a:ea typeface="+mn-ea"/>
                <a:cs typeface="Times New Roman" panose="02020603050405020304" pitchFamily="18" charset="0"/>
              </a:rPr>
              <a:t>中，向环境中放出的热量为</a:t>
            </a:r>
            <a:endParaRPr kumimoji="1" lang="zh-CN" altLang="en-US" b="1">
              <a:ea typeface="+mn-ea"/>
              <a:cs typeface="Times New Roman" panose="02020603050405020304" pitchFamily="18" charset="0"/>
            </a:endParaRPr>
          </a:p>
        </p:txBody>
      </p:sp>
      <p:sp>
        <p:nvSpPr>
          <p:cNvPr id="244747" name="Freeform 11"/>
          <p:cNvSpPr/>
          <p:nvPr/>
        </p:nvSpPr>
        <p:spPr bwMode="auto">
          <a:xfrm rot="-903195">
            <a:off x="6796088" y="3983038"/>
            <a:ext cx="944562" cy="673100"/>
          </a:xfrm>
          <a:custGeom>
            <a:avLst/>
            <a:gdLst>
              <a:gd name="T0" fmla="*/ 0 w 576"/>
              <a:gd name="T1" fmla="*/ 0 h 672"/>
              <a:gd name="T2" fmla="*/ 2147483647 w 576"/>
              <a:gd name="T3" fmla="*/ 2147483647 h 672"/>
              <a:gd name="T4" fmla="*/ 2147483647 w 576"/>
              <a:gd name="T5" fmla="*/ 2147483647 h 672"/>
              <a:gd name="T6" fmla="*/ 2147483647 w 576"/>
              <a:gd name="T7" fmla="*/ 2147483647 h 672"/>
              <a:gd name="T8" fmla="*/ 2147483647 w 576"/>
              <a:gd name="T9" fmla="*/ 2147483647 h 672"/>
              <a:gd name="T10" fmla="*/ 0 60000 65536"/>
              <a:gd name="T11" fmla="*/ 0 60000 65536"/>
              <a:gd name="T12" fmla="*/ 0 60000 65536"/>
              <a:gd name="T13" fmla="*/ 0 60000 65536"/>
              <a:gd name="T14" fmla="*/ 0 60000 65536"/>
              <a:gd name="T15" fmla="*/ 0 w 576"/>
              <a:gd name="T16" fmla="*/ 0 h 672"/>
              <a:gd name="T17" fmla="*/ 576 w 576"/>
              <a:gd name="T18" fmla="*/ 672 h 672"/>
            </a:gdLst>
            <a:ahLst/>
            <a:cxnLst>
              <a:cxn ang="T10">
                <a:pos x="T0" y="T1"/>
              </a:cxn>
              <a:cxn ang="T11">
                <a:pos x="T2" y="T3"/>
              </a:cxn>
              <a:cxn ang="T12">
                <a:pos x="T4" y="T5"/>
              </a:cxn>
              <a:cxn ang="T13">
                <a:pos x="T6" y="T7"/>
              </a:cxn>
              <a:cxn ang="T14">
                <a:pos x="T8" y="T9"/>
              </a:cxn>
            </a:cxnLst>
            <a:rect l="T15" t="T16" r="T17" b="T18"/>
            <a:pathLst>
              <a:path w="576" h="672">
                <a:moveTo>
                  <a:pt x="0" y="0"/>
                </a:moveTo>
                <a:cubicBezTo>
                  <a:pt x="28" y="64"/>
                  <a:pt x="56" y="128"/>
                  <a:pt x="96" y="192"/>
                </a:cubicBezTo>
                <a:cubicBezTo>
                  <a:pt x="136" y="256"/>
                  <a:pt x="192" y="328"/>
                  <a:pt x="240" y="384"/>
                </a:cubicBezTo>
                <a:cubicBezTo>
                  <a:pt x="288" y="440"/>
                  <a:pt x="328" y="480"/>
                  <a:pt x="384" y="528"/>
                </a:cubicBezTo>
                <a:cubicBezTo>
                  <a:pt x="440" y="576"/>
                  <a:pt x="544" y="648"/>
                  <a:pt x="576" y="672"/>
                </a:cubicBezTo>
              </a:path>
            </a:pathLst>
          </a:custGeom>
          <a:noFill/>
          <a:ln w="38100">
            <a:solidFill>
              <a:srgbClr val="0000FF"/>
            </a:solidFill>
            <a:round/>
          </a:ln>
        </p:spPr>
        <p:txBody>
          <a:bodyPr/>
          <a:lstStyle/>
          <a:p>
            <a:pPr algn="ctr"/>
            <a:endParaRPr lang="zh-CN" altLang="en-US"/>
          </a:p>
        </p:txBody>
      </p:sp>
      <p:sp>
        <p:nvSpPr>
          <p:cNvPr id="244748" name="Freeform 12"/>
          <p:cNvSpPr/>
          <p:nvPr/>
        </p:nvSpPr>
        <p:spPr bwMode="auto">
          <a:xfrm rot="-903195">
            <a:off x="6845300" y="2814638"/>
            <a:ext cx="865188" cy="936625"/>
          </a:xfrm>
          <a:custGeom>
            <a:avLst/>
            <a:gdLst>
              <a:gd name="T0" fmla="*/ 0 w 576"/>
              <a:gd name="T1" fmla="*/ 0 h 672"/>
              <a:gd name="T2" fmla="*/ 2147483647 w 576"/>
              <a:gd name="T3" fmla="*/ 2147483647 h 672"/>
              <a:gd name="T4" fmla="*/ 2147483647 w 576"/>
              <a:gd name="T5" fmla="*/ 2147483647 h 672"/>
              <a:gd name="T6" fmla="*/ 2147483647 w 576"/>
              <a:gd name="T7" fmla="*/ 2147483647 h 672"/>
              <a:gd name="T8" fmla="*/ 2147483647 w 576"/>
              <a:gd name="T9" fmla="*/ 2147483647 h 672"/>
              <a:gd name="T10" fmla="*/ 0 60000 65536"/>
              <a:gd name="T11" fmla="*/ 0 60000 65536"/>
              <a:gd name="T12" fmla="*/ 0 60000 65536"/>
              <a:gd name="T13" fmla="*/ 0 60000 65536"/>
              <a:gd name="T14" fmla="*/ 0 60000 65536"/>
              <a:gd name="T15" fmla="*/ 0 w 576"/>
              <a:gd name="T16" fmla="*/ 0 h 672"/>
              <a:gd name="T17" fmla="*/ 576 w 576"/>
              <a:gd name="T18" fmla="*/ 672 h 672"/>
            </a:gdLst>
            <a:ahLst/>
            <a:cxnLst>
              <a:cxn ang="T10">
                <a:pos x="T0" y="T1"/>
              </a:cxn>
              <a:cxn ang="T11">
                <a:pos x="T2" y="T3"/>
              </a:cxn>
              <a:cxn ang="T12">
                <a:pos x="T4" y="T5"/>
              </a:cxn>
              <a:cxn ang="T13">
                <a:pos x="T6" y="T7"/>
              </a:cxn>
              <a:cxn ang="T14">
                <a:pos x="T8" y="T9"/>
              </a:cxn>
            </a:cxnLst>
            <a:rect l="T15" t="T16" r="T17" b="T18"/>
            <a:pathLst>
              <a:path w="576" h="672">
                <a:moveTo>
                  <a:pt x="0" y="0"/>
                </a:moveTo>
                <a:cubicBezTo>
                  <a:pt x="28" y="64"/>
                  <a:pt x="56" y="128"/>
                  <a:pt x="96" y="192"/>
                </a:cubicBezTo>
                <a:cubicBezTo>
                  <a:pt x="136" y="256"/>
                  <a:pt x="192" y="328"/>
                  <a:pt x="240" y="384"/>
                </a:cubicBezTo>
                <a:cubicBezTo>
                  <a:pt x="288" y="440"/>
                  <a:pt x="328" y="480"/>
                  <a:pt x="384" y="528"/>
                </a:cubicBezTo>
                <a:cubicBezTo>
                  <a:pt x="440" y="576"/>
                  <a:pt x="544" y="648"/>
                  <a:pt x="576" y="672"/>
                </a:cubicBezTo>
              </a:path>
            </a:pathLst>
          </a:custGeom>
          <a:noFill/>
          <a:ln w="38100">
            <a:solidFill>
              <a:srgbClr val="0000FF"/>
            </a:solidFill>
            <a:round/>
          </a:ln>
        </p:spPr>
        <p:txBody>
          <a:bodyPr/>
          <a:lstStyle/>
          <a:p>
            <a:pPr algn="ctr"/>
            <a:endParaRPr lang="zh-CN" altLang="en-US"/>
          </a:p>
        </p:txBody>
      </p:sp>
      <p:sp>
        <p:nvSpPr>
          <p:cNvPr id="244749" name="Line 13"/>
          <p:cNvSpPr>
            <a:spLocks noChangeShapeType="1"/>
          </p:cNvSpPr>
          <p:nvPr/>
        </p:nvSpPr>
        <p:spPr bwMode="auto">
          <a:xfrm>
            <a:off x="7797800" y="3605213"/>
            <a:ext cx="0" cy="942975"/>
          </a:xfrm>
          <a:prstGeom prst="line">
            <a:avLst/>
          </a:prstGeom>
          <a:noFill/>
          <a:ln w="38100">
            <a:solidFill>
              <a:srgbClr val="0000FF"/>
            </a:solidFill>
            <a:round/>
          </a:ln>
        </p:spPr>
        <p:txBody>
          <a:bodyPr/>
          <a:lstStyle/>
          <a:p>
            <a:endParaRPr lang="zh-CN" altLang="en-US"/>
          </a:p>
        </p:txBody>
      </p:sp>
      <p:sp>
        <p:nvSpPr>
          <p:cNvPr id="244750" name="Line 14"/>
          <p:cNvSpPr>
            <a:spLocks noChangeShapeType="1"/>
          </p:cNvSpPr>
          <p:nvPr/>
        </p:nvSpPr>
        <p:spPr bwMode="auto">
          <a:xfrm flipH="1">
            <a:off x="6721475" y="2933700"/>
            <a:ext cx="9525" cy="1212850"/>
          </a:xfrm>
          <a:prstGeom prst="line">
            <a:avLst/>
          </a:prstGeom>
          <a:noFill/>
          <a:ln w="38100">
            <a:solidFill>
              <a:srgbClr val="0000FF"/>
            </a:solidFill>
            <a:round/>
          </a:ln>
        </p:spPr>
        <p:txBody>
          <a:bodyPr/>
          <a:lstStyle/>
          <a:p>
            <a:endParaRPr lang="zh-CN" altLang="en-US"/>
          </a:p>
        </p:txBody>
      </p:sp>
      <p:sp>
        <p:nvSpPr>
          <p:cNvPr id="244751" name="Text Box 15"/>
          <p:cNvSpPr txBox="1">
            <a:spLocks noChangeArrowheads="1"/>
          </p:cNvSpPr>
          <p:nvPr/>
        </p:nvSpPr>
        <p:spPr bwMode="auto">
          <a:xfrm>
            <a:off x="7812088" y="3314700"/>
            <a:ext cx="387350" cy="457200"/>
          </a:xfrm>
          <a:prstGeom prst="rect">
            <a:avLst/>
          </a:prstGeom>
          <a:noFill/>
          <a:ln w="9525">
            <a:noFill/>
            <a:miter lim="800000"/>
          </a:ln>
        </p:spPr>
        <p:txBody>
          <a:bodyPr wrap="none">
            <a:spAutoFit/>
          </a:bodyPr>
          <a:lstStyle/>
          <a:p>
            <a:r>
              <a:rPr kumimoji="1" lang="en-US" altLang="zh-CN" b="1" i="1">
                <a:solidFill>
                  <a:srgbClr val="FF0000"/>
                </a:solidFill>
              </a:rPr>
              <a:t>A</a:t>
            </a:r>
            <a:endParaRPr kumimoji="1" lang="en-US" altLang="zh-CN" b="1" i="1">
              <a:solidFill>
                <a:srgbClr val="FF0000"/>
              </a:solidFill>
            </a:endParaRPr>
          </a:p>
        </p:txBody>
      </p:sp>
      <p:sp>
        <p:nvSpPr>
          <p:cNvPr id="244752" name="Text Box 16"/>
          <p:cNvSpPr txBox="1">
            <a:spLocks noChangeArrowheads="1"/>
          </p:cNvSpPr>
          <p:nvPr/>
        </p:nvSpPr>
        <p:spPr bwMode="auto">
          <a:xfrm>
            <a:off x="6273800" y="2628900"/>
            <a:ext cx="387350" cy="457200"/>
          </a:xfrm>
          <a:prstGeom prst="rect">
            <a:avLst/>
          </a:prstGeom>
          <a:noFill/>
          <a:ln w="9525">
            <a:noFill/>
            <a:miter lim="800000"/>
          </a:ln>
        </p:spPr>
        <p:txBody>
          <a:bodyPr wrap="none">
            <a:spAutoFit/>
          </a:bodyPr>
          <a:lstStyle/>
          <a:p>
            <a:r>
              <a:rPr kumimoji="1" lang="en-US" altLang="zh-CN" b="1" i="1">
                <a:solidFill>
                  <a:srgbClr val="FF0000"/>
                </a:solidFill>
              </a:rPr>
              <a:t>B</a:t>
            </a:r>
            <a:endParaRPr kumimoji="1" lang="en-US" altLang="zh-CN" b="1" i="1">
              <a:solidFill>
                <a:srgbClr val="FF0000"/>
              </a:solidFill>
            </a:endParaRPr>
          </a:p>
        </p:txBody>
      </p:sp>
      <p:sp>
        <p:nvSpPr>
          <p:cNvPr id="244753" name="Text Box 17"/>
          <p:cNvSpPr txBox="1">
            <a:spLocks noChangeArrowheads="1"/>
          </p:cNvSpPr>
          <p:nvPr/>
        </p:nvSpPr>
        <p:spPr bwMode="auto">
          <a:xfrm>
            <a:off x="6273800" y="3908425"/>
            <a:ext cx="387350" cy="457200"/>
          </a:xfrm>
          <a:prstGeom prst="rect">
            <a:avLst/>
          </a:prstGeom>
          <a:noFill/>
          <a:ln w="9525">
            <a:noFill/>
            <a:miter lim="800000"/>
          </a:ln>
        </p:spPr>
        <p:txBody>
          <a:bodyPr wrap="none">
            <a:spAutoFit/>
          </a:bodyPr>
          <a:lstStyle/>
          <a:p>
            <a:r>
              <a:rPr kumimoji="1" lang="en-US" altLang="zh-CN" b="1" i="1">
                <a:solidFill>
                  <a:srgbClr val="FF0000"/>
                </a:solidFill>
              </a:rPr>
              <a:t>C</a:t>
            </a:r>
            <a:endParaRPr kumimoji="1" lang="en-US" altLang="zh-CN" b="1" i="1">
              <a:solidFill>
                <a:srgbClr val="FF0000"/>
              </a:solidFill>
            </a:endParaRPr>
          </a:p>
        </p:txBody>
      </p:sp>
      <p:sp>
        <p:nvSpPr>
          <p:cNvPr id="244754" name="Text Box 18"/>
          <p:cNvSpPr txBox="1">
            <a:spLocks noChangeArrowheads="1"/>
          </p:cNvSpPr>
          <p:nvPr/>
        </p:nvSpPr>
        <p:spPr bwMode="auto">
          <a:xfrm>
            <a:off x="7812088" y="4411663"/>
            <a:ext cx="404812" cy="457200"/>
          </a:xfrm>
          <a:prstGeom prst="rect">
            <a:avLst/>
          </a:prstGeom>
          <a:noFill/>
          <a:ln w="9525">
            <a:noFill/>
            <a:miter lim="800000"/>
          </a:ln>
        </p:spPr>
        <p:txBody>
          <a:bodyPr wrap="none">
            <a:spAutoFit/>
          </a:bodyPr>
          <a:lstStyle/>
          <a:p>
            <a:r>
              <a:rPr kumimoji="1" lang="en-US" altLang="zh-CN" b="1" i="1">
                <a:solidFill>
                  <a:srgbClr val="FF0000"/>
                </a:solidFill>
              </a:rPr>
              <a:t>D</a:t>
            </a:r>
            <a:endParaRPr kumimoji="1" lang="en-US" altLang="zh-CN" b="1" i="1">
              <a:solidFill>
                <a:srgbClr val="FF0000"/>
              </a:solidFill>
            </a:endParaRPr>
          </a:p>
        </p:txBody>
      </p:sp>
      <p:grpSp>
        <p:nvGrpSpPr>
          <p:cNvPr id="2" name="Group 19"/>
          <p:cNvGrpSpPr/>
          <p:nvPr/>
        </p:nvGrpSpPr>
        <p:grpSpPr bwMode="auto">
          <a:xfrm>
            <a:off x="6877050" y="2781300"/>
            <a:ext cx="608013" cy="609600"/>
            <a:chOff x="4332" y="2115"/>
            <a:chExt cx="383" cy="384"/>
          </a:xfrm>
        </p:grpSpPr>
        <p:graphicFrame>
          <p:nvGraphicFramePr>
            <p:cNvPr id="54277" name="Object 20"/>
            <p:cNvGraphicFramePr>
              <a:graphicFrameLocks noChangeAspect="1"/>
            </p:cNvGraphicFramePr>
            <p:nvPr/>
          </p:nvGraphicFramePr>
          <p:xfrm>
            <a:off x="4513" y="2160"/>
            <a:ext cx="202" cy="231"/>
          </p:xfrm>
          <a:graphic>
            <a:graphicData uri="http://schemas.openxmlformats.org/presentationml/2006/ole">
              <mc:AlternateContent xmlns:mc="http://schemas.openxmlformats.org/markup-compatibility/2006">
                <mc:Choice xmlns:v="urn:schemas-microsoft-com:vml" Requires="v">
                  <p:oleObj spid="_x0000_s54277" name="公式" r:id="rId5" imgW="4572000" imgH="5181600" progId="Equation.3">
                    <p:embed/>
                  </p:oleObj>
                </mc:Choice>
                <mc:Fallback>
                  <p:oleObj name="公式" r:id="rId5" imgW="4572000" imgH="5181600" progId="Equation.3">
                    <p:embed/>
                    <p:pic>
                      <p:nvPicPr>
                        <p:cNvPr id="0" name="Object 20"/>
                        <p:cNvPicPr>
                          <a:picLocks noChangeAspect="1"/>
                        </p:cNvPicPr>
                        <p:nvPr/>
                      </p:nvPicPr>
                      <p:blipFill>
                        <a:blip r:embed="rId6"/>
                        <a:stretch>
                          <a:fillRect/>
                        </a:stretch>
                      </p:blipFill>
                      <p:spPr>
                        <a:xfrm>
                          <a:off x="4513" y="2160"/>
                          <a:ext cx="202" cy="231"/>
                        </a:xfrm>
                        <a:prstGeom prst="rect">
                          <a:avLst/>
                        </a:prstGeom>
                        <a:noFill/>
                        <a:ln w="9525">
                          <a:noFill/>
                        </a:ln>
                      </p:spPr>
                    </p:pic>
                  </p:oleObj>
                </mc:Fallback>
              </mc:AlternateContent>
            </a:graphicData>
          </a:graphic>
        </p:graphicFrame>
        <p:sp>
          <p:nvSpPr>
            <p:cNvPr id="54304" name="Freeform 21"/>
            <p:cNvSpPr/>
            <p:nvPr/>
          </p:nvSpPr>
          <p:spPr bwMode="auto">
            <a:xfrm rot="724237">
              <a:off x="4332" y="2115"/>
              <a:ext cx="136" cy="384"/>
            </a:xfrm>
            <a:custGeom>
              <a:avLst/>
              <a:gdLst>
                <a:gd name="T0" fmla="*/ 0 w 192"/>
                <a:gd name="T1" fmla="*/ 384 h 384"/>
                <a:gd name="T2" fmla="*/ 3 w 192"/>
                <a:gd name="T3" fmla="*/ 192 h 384"/>
                <a:gd name="T4" fmla="*/ 12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cubicBezTo>
                    <a:pt x="8" y="320"/>
                    <a:pt x="16" y="256"/>
                    <a:pt x="48" y="192"/>
                  </a:cubicBezTo>
                  <a:cubicBezTo>
                    <a:pt x="80" y="128"/>
                    <a:pt x="136" y="64"/>
                    <a:pt x="192" y="0"/>
                  </a:cubicBezTo>
                </a:path>
              </a:pathLst>
            </a:custGeom>
            <a:noFill/>
            <a:ln w="57150">
              <a:solidFill>
                <a:srgbClr val="FF0000"/>
              </a:solidFill>
              <a:round/>
              <a:tailEnd type="triangle" w="med" len="med"/>
            </a:ln>
          </p:spPr>
          <p:txBody>
            <a:bodyPr/>
            <a:lstStyle/>
            <a:p>
              <a:pPr algn="ctr"/>
              <a:endParaRPr lang="zh-CN" altLang="en-US"/>
            </a:p>
          </p:txBody>
        </p:sp>
      </p:grpSp>
      <p:grpSp>
        <p:nvGrpSpPr>
          <p:cNvPr id="3" name="Group 22"/>
          <p:cNvGrpSpPr/>
          <p:nvPr/>
        </p:nvGrpSpPr>
        <p:grpSpPr bwMode="auto">
          <a:xfrm>
            <a:off x="7451725" y="4149725"/>
            <a:ext cx="341313" cy="796925"/>
            <a:chOff x="4694" y="2977"/>
            <a:chExt cx="215" cy="502"/>
          </a:xfrm>
        </p:grpSpPr>
        <p:graphicFrame>
          <p:nvGraphicFramePr>
            <p:cNvPr id="54276" name="Object 23"/>
            <p:cNvGraphicFramePr>
              <a:graphicFrameLocks noChangeAspect="1"/>
            </p:cNvGraphicFramePr>
            <p:nvPr/>
          </p:nvGraphicFramePr>
          <p:xfrm>
            <a:off x="4694" y="3249"/>
            <a:ext cx="215" cy="230"/>
          </p:xfrm>
          <a:graphic>
            <a:graphicData uri="http://schemas.openxmlformats.org/presentationml/2006/ole">
              <mc:AlternateContent xmlns:mc="http://schemas.openxmlformats.org/markup-compatibility/2006">
                <mc:Choice xmlns:v="urn:schemas-microsoft-com:vml" Requires="v">
                  <p:oleObj spid="_x0000_s54276" name="公式" r:id="rId7" imgW="4876800" imgH="5181600" progId="Equation.3">
                    <p:embed/>
                  </p:oleObj>
                </mc:Choice>
                <mc:Fallback>
                  <p:oleObj name="公式" r:id="rId7" imgW="4876800" imgH="5181600" progId="Equation.3">
                    <p:embed/>
                    <p:pic>
                      <p:nvPicPr>
                        <p:cNvPr id="0" name="Object 23"/>
                        <p:cNvPicPr>
                          <a:picLocks noChangeAspect="1"/>
                        </p:cNvPicPr>
                        <p:nvPr/>
                      </p:nvPicPr>
                      <p:blipFill>
                        <a:blip r:embed="rId8"/>
                        <a:stretch>
                          <a:fillRect/>
                        </a:stretch>
                      </p:blipFill>
                      <p:spPr>
                        <a:xfrm>
                          <a:off x="4694" y="3249"/>
                          <a:ext cx="215" cy="230"/>
                        </a:xfrm>
                        <a:prstGeom prst="rect">
                          <a:avLst/>
                        </a:prstGeom>
                        <a:noFill/>
                        <a:ln w="9525">
                          <a:noFill/>
                        </a:ln>
                      </p:spPr>
                    </p:pic>
                  </p:oleObj>
                </mc:Fallback>
              </mc:AlternateContent>
            </a:graphicData>
          </a:graphic>
        </p:graphicFrame>
        <p:sp>
          <p:nvSpPr>
            <p:cNvPr id="54303" name="Freeform 24"/>
            <p:cNvSpPr/>
            <p:nvPr/>
          </p:nvSpPr>
          <p:spPr bwMode="auto">
            <a:xfrm rot="724237">
              <a:off x="4694" y="2977"/>
              <a:ext cx="136" cy="384"/>
            </a:xfrm>
            <a:custGeom>
              <a:avLst/>
              <a:gdLst>
                <a:gd name="T0" fmla="*/ 0 w 192"/>
                <a:gd name="T1" fmla="*/ 384 h 384"/>
                <a:gd name="T2" fmla="*/ 3 w 192"/>
                <a:gd name="T3" fmla="*/ 192 h 384"/>
                <a:gd name="T4" fmla="*/ 12 w 192"/>
                <a:gd name="T5" fmla="*/ 0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384"/>
                  </a:moveTo>
                  <a:cubicBezTo>
                    <a:pt x="8" y="320"/>
                    <a:pt x="16" y="256"/>
                    <a:pt x="48" y="192"/>
                  </a:cubicBezTo>
                  <a:cubicBezTo>
                    <a:pt x="80" y="128"/>
                    <a:pt x="136" y="64"/>
                    <a:pt x="192" y="0"/>
                  </a:cubicBezTo>
                </a:path>
              </a:pathLst>
            </a:custGeom>
            <a:noFill/>
            <a:ln w="57150">
              <a:solidFill>
                <a:srgbClr val="FF0000"/>
              </a:solidFill>
              <a:round/>
              <a:tailEnd type="triangle" w="med" len="med"/>
            </a:ln>
          </p:spPr>
          <p:txBody>
            <a:bodyPr/>
            <a:lstStyle/>
            <a:p>
              <a:pPr algn="ctr"/>
              <a:endParaRPr lang="zh-CN" altLang="en-US"/>
            </a:p>
          </p:txBody>
        </p:sp>
      </p:grpSp>
      <p:grpSp>
        <p:nvGrpSpPr>
          <p:cNvPr id="4" name="Group 25"/>
          <p:cNvGrpSpPr/>
          <p:nvPr/>
        </p:nvGrpSpPr>
        <p:grpSpPr bwMode="auto">
          <a:xfrm>
            <a:off x="5292725" y="2420938"/>
            <a:ext cx="3455988" cy="3182937"/>
            <a:chOff x="3334" y="1888"/>
            <a:chExt cx="2177" cy="2005"/>
          </a:xfrm>
        </p:grpSpPr>
        <p:sp>
          <p:nvSpPr>
            <p:cNvPr id="54298" name="Line 26"/>
            <p:cNvSpPr>
              <a:spLocks noChangeShapeType="1"/>
            </p:cNvSpPr>
            <p:nvPr/>
          </p:nvSpPr>
          <p:spPr bwMode="auto">
            <a:xfrm>
              <a:off x="3606" y="3612"/>
              <a:ext cx="1904" cy="5"/>
            </a:xfrm>
            <a:prstGeom prst="line">
              <a:avLst/>
            </a:prstGeom>
            <a:noFill/>
            <a:ln w="28575">
              <a:solidFill>
                <a:schemeClr val="tx1"/>
              </a:solidFill>
              <a:round/>
              <a:tailEnd type="triangle" w="med" len="lg"/>
            </a:ln>
          </p:spPr>
          <p:txBody>
            <a:bodyPr wrap="none" anchor="ctr"/>
            <a:lstStyle/>
            <a:p>
              <a:endParaRPr lang="zh-CN" altLang="en-US"/>
            </a:p>
          </p:txBody>
        </p:sp>
        <p:sp>
          <p:nvSpPr>
            <p:cNvPr id="54299" name="Line 27"/>
            <p:cNvSpPr>
              <a:spLocks noChangeShapeType="1"/>
            </p:cNvSpPr>
            <p:nvPr/>
          </p:nvSpPr>
          <p:spPr bwMode="auto">
            <a:xfrm flipH="1" flipV="1">
              <a:off x="3606" y="1988"/>
              <a:ext cx="12" cy="1639"/>
            </a:xfrm>
            <a:prstGeom prst="line">
              <a:avLst/>
            </a:prstGeom>
            <a:noFill/>
            <a:ln w="28575">
              <a:solidFill>
                <a:schemeClr val="tx1"/>
              </a:solidFill>
              <a:round/>
              <a:tailEnd type="triangle" w="med" len="lg"/>
            </a:ln>
          </p:spPr>
          <p:txBody>
            <a:bodyPr wrap="none" anchor="ctr"/>
            <a:lstStyle/>
            <a:p>
              <a:endParaRPr lang="zh-CN" altLang="en-US"/>
            </a:p>
          </p:txBody>
        </p:sp>
        <p:sp>
          <p:nvSpPr>
            <p:cNvPr id="54300" name="Text Box 28"/>
            <p:cNvSpPr txBox="1">
              <a:spLocks noChangeArrowheads="1"/>
            </p:cNvSpPr>
            <p:nvPr/>
          </p:nvSpPr>
          <p:spPr bwMode="auto">
            <a:xfrm>
              <a:off x="5267" y="3605"/>
              <a:ext cx="244" cy="288"/>
            </a:xfrm>
            <a:prstGeom prst="rect">
              <a:avLst/>
            </a:prstGeom>
            <a:noFill/>
            <a:ln w="9525">
              <a:noFill/>
              <a:miter lim="800000"/>
            </a:ln>
          </p:spPr>
          <p:txBody>
            <a:bodyPr wrap="none">
              <a:spAutoFit/>
            </a:bodyPr>
            <a:lstStyle/>
            <a:p>
              <a:r>
                <a:rPr lang="en-US" altLang="zh-CN" b="1" i="1"/>
                <a:t>V</a:t>
              </a:r>
              <a:endParaRPr lang="en-US" altLang="zh-CN" b="1" i="1"/>
            </a:p>
          </p:txBody>
        </p:sp>
        <p:sp>
          <p:nvSpPr>
            <p:cNvPr id="54301" name="Text Box 29"/>
            <p:cNvSpPr txBox="1">
              <a:spLocks noChangeArrowheads="1"/>
            </p:cNvSpPr>
            <p:nvPr/>
          </p:nvSpPr>
          <p:spPr bwMode="auto">
            <a:xfrm>
              <a:off x="3334" y="1888"/>
              <a:ext cx="228" cy="327"/>
            </a:xfrm>
            <a:prstGeom prst="rect">
              <a:avLst/>
            </a:prstGeom>
            <a:noFill/>
            <a:ln w="9525">
              <a:noFill/>
              <a:miter lim="800000"/>
            </a:ln>
          </p:spPr>
          <p:txBody>
            <a:bodyPr wrap="none">
              <a:spAutoFit/>
            </a:bodyPr>
            <a:lstStyle/>
            <a:p>
              <a:r>
                <a:rPr lang="en-US" altLang="zh-CN" sz="2800" b="1" i="1"/>
                <a:t>p</a:t>
              </a:r>
              <a:endParaRPr lang="en-US" altLang="zh-CN" sz="2800" b="1" i="1"/>
            </a:p>
          </p:txBody>
        </p:sp>
        <p:sp>
          <p:nvSpPr>
            <p:cNvPr id="54302" name="Text Box 30"/>
            <p:cNvSpPr txBox="1">
              <a:spLocks noChangeArrowheads="1"/>
            </p:cNvSpPr>
            <p:nvPr/>
          </p:nvSpPr>
          <p:spPr bwMode="auto">
            <a:xfrm>
              <a:off x="3381" y="3560"/>
              <a:ext cx="255" cy="288"/>
            </a:xfrm>
            <a:prstGeom prst="rect">
              <a:avLst/>
            </a:prstGeom>
            <a:noFill/>
            <a:ln w="9525">
              <a:noFill/>
              <a:miter lim="800000"/>
            </a:ln>
          </p:spPr>
          <p:txBody>
            <a:bodyPr wrap="none">
              <a:spAutoFit/>
            </a:bodyPr>
            <a:lstStyle/>
            <a:p>
              <a:r>
                <a:rPr lang="en-US" altLang="zh-CN" b="1" i="1"/>
                <a:t>O</a:t>
              </a:r>
              <a:endParaRPr lang="en-US" altLang="zh-CN" b="1" i="1"/>
            </a:p>
          </p:txBody>
        </p:sp>
      </p:grpSp>
      <p:sp>
        <p:nvSpPr>
          <p:cNvPr id="244767" name="Freeform 31"/>
          <p:cNvSpPr/>
          <p:nvPr/>
        </p:nvSpPr>
        <p:spPr bwMode="auto">
          <a:xfrm rot="-1879776">
            <a:off x="7237413" y="3222625"/>
            <a:ext cx="209550" cy="369888"/>
          </a:xfrm>
          <a:custGeom>
            <a:avLst/>
            <a:gdLst>
              <a:gd name="T0" fmla="*/ 0 w 576"/>
              <a:gd name="T1" fmla="*/ 0 h 672"/>
              <a:gd name="T2" fmla="*/ 2147483647 w 576"/>
              <a:gd name="T3" fmla="*/ 2147483647 h 672"/>
              <a:gd name="T4" fmla="*/ 2147483647 w 576"/>
              <a:gd name="T5" fmla="*/ 2147483647 h 672"/>
              <a:gd name="T6" fmla="*/ 2147483647 w 576"/>
              <a:gd name="T7" fmla="*/ 2147483647 h 672"/>
              <a:gd name="T8" fmla="*/ 2147483647 w 576"/>
              <a:gd name="T9" fmla="*/ 2147483647 h 672"/>
              <a:gd name="T10" fmla="*/ 0 60000 65536"/>
              <a:gd name="T11" fmla="*/ 0 60000 65536"/>
              <a:gd name="T12" fmla="*/ 0 60000 65536"/>
              <a:gd name="T13" fmla="*/ 0 60000 65536"/>
              <a:gd name="T14" fmla="*/ 0 60000 65536"/>
              <a:gd name="T15" fmla="*/ 0 w 576"/>
              <a:gd name="T16" fmla="*/ 0 h 672"/>
              <a:gd name="T17" fmla="*/ 576 w 576"/>
              <a:gd name="T18" fmla="*/ 672 h 672"/>
            </a:gdLst>
            <a:ahLst/>
            <a:cxnLst>
              <a:cxn ang="T10">
                <a:pos x="T0" y="T1"/>
              </a:cxn>
              <a:cxn ang="T11">
                <a:pos x="T2" y="T3"/>
              </a:cxn>
              <a:cxn ang="T12">
                <a:pos x="T4" y="T5"/>
              </a:cxn>
              <a:cxn ang="T13">
                <a:pos x="T6" y="T7"/>
              </a:cxn>
              <a:cxn ang="T14">
                <a:pos x="T8" y="T9"/>
              </a:cxn>
            </a:cxnLst>
            <a:rect l="T15" t="T16" r="T17" b="T18"/>
            <a:pathLst>
              <a:path w="576" h="672">
                <a:moveTo>
                  <a:pt x="0" y="0"/>
                </a:moveTo>
                <a:cubicBezTo>
                  <a:pt x="28" y="64"/>
                  <a:pt x="56" y="128"/>
                  <a:pt x="96" y="192"/>
                </a:cubicBezTo>
                <a:cubicBezTo>
                  <a:pt x="136" y="256"/>
                  <a:pt x="192" y="328"/>
                  <a:pt x="240" y="384"/>
                </a:cubicBezTo>
                <a:cubicBezTo>
                  <a:pt x="288" y="440"/>
                  <a:pt x="328" y="480"/>
                  <a:pt x="384" y="528"/>
                </a:cubicBezTo>
                <a:cubicBezTo>
                  <a:pt x="440" y="576"/>
                  <a:pt x="544" y="648"/>
                  <a:pt x="576" y="672"/>
                </a:cubicBezTo>
              </a:path>
            </a:pathLst>
          </a:custGeom>
          <a:noFill/>
          <a:ln w="38100">
            <a:solidFill>
              <a:srgbClr val="00FF00"/>
            </a:solidFill>
            <a:round/>
            <a:headEnd type="triangle" w="med" len="med"/>
          </a:ln>
        </p:spPr>
        <p:txBody>
          <a:bodyPr/>
          <a:lstStyle/>
          <a:p>
            <a:pPr algn="ctr"/>
            <a:endParaRPr lang="zh-CN" altLang="en-US"/>
          </a:p>
        </p:txBody>
      </p:sp>
      <p:sp>
        <p:nvSpPr>
          <p:cNvPr id="244768" name="Freeform 32"/>
          <p:cNvSpPr/>
          <p:nvPr/>
        </p:nvSpPr>
        <p:spPr bwMode="auto">
          <a:xfrm rot="-1879776">
            <a:off x="7059613" y="4203700"/>
            <a:ext cx="258762" cy="311150"/>
          </a:xfrm>
          <a:custGeom>
            <a:avLst/>
            <a:gdLst>
              <a:gd name="T0" fmla="*/ 0 w 576"/>
              <a:gd name="T1" fmla="*/ 0 h 672"/>
              <a:gd name="T2" fmla="*/ 2147483647 w 576"/>
              <a:gd name="T3" fmla="*/ 2147483647 h 672"/>
              <a:gd name="T4" fmla="*/ 2147483647 w 576"/>
              <a:gd name="T5" fmla="*/ 2147483647 h 672"/>
              <a:gd name="T6" fmla="*/ 2147483647 w 576"/>
              <a:gd name="T7" fmla="*/ 2147483647 h 672"/>
              <a:gd name="T8" fmla="*/ 2147483647 w 576"/>
              <a:gd name="T9" fmla="*/ 2147483647 h 672"/>
              <a:gd name="T10" fmla="*/ 0 60000 65536"/>
              <a:gd name="T11" fmla="*/ 0 60000 65536"/>
              <a:gd name="T12" fmla="*/ 0 60000 65536"/>
              <a:gd name="T13" fmla="*/ 0 60000 65536"/>
              <a:gd name="T14" fmla="*/ 0 60000 65536"/>
              <a:gd name="T15" fmla="*/ 0 w 576"/>
              <a:gd name="T16" fmla="*/ 0 h 672"/>
              <a:gd name="T17" fmla="*/ 576 w 576"/>
              <a:gd name="T18" fmla="*/ 672 h 672"/>
            </a:gdLst>
            <a:ahLst/>
            <a:cxnLst>
              <a:cxn ang="T10">
                <a:pos x="T0" y="T1"/>
              </a:cxn>
              <a:cxn ang="T11">
                <a:pos x="T2" y="T3"/>
              </a:cxn>
              <a:cxn ang="T12">
                <a:pos x="T4" y="T5"/>
              </a:cxn>
              <a:cxn ang="T13">
                <a:pos x="T6" y="T7"/>
              </a:cxn>
              <a:cxn ang="T14">
                <a:pos x="T8" y="T9"/>
              </a:cxn>
            </a:cxnLst>
            <a:rect l="T15" t="T16" r="T17" b="T18"/>
            <a:pathLst>
              <a:path w="576" h="672">
                <a:moveTo>
                  <a:pt x="0" y="0"/>
                </a:moveTo>
                <a:cubicBezTo>
                  <a:pt x="28" y="64"/>
                  <a:pt x="56" y="128"/>
                  <a:pt x="96" y="192"/>
                </a:cubicBezTo>
                <a:cubicBezTo>
                  <a:pt x="136" y="256"/>
                  <a:pt x="192" y="328"/>
                  <a:pt x="240" y="384"/>
                </a:cubicBezTo>
                <a:cubicBezTo>
                  <a:pt x="288" y="440"/>
                  <a:pt x="328" y="480"/>
                  <a:pt x="384" y="528"/>
                </a:cubicBezTo>
                <a:cubicBezTo>
                  <a:pt x="440" y="576"/>
                  <a:pt x="544" y="648"/>
                  <a:pt x="576" y="672"/>
                </a:cubicBezTo>
              </a:path>
            </a:pathLst>
          </a:custGeom>
          <a:noFill/>
          <a:ln w="38100">
            <a:solidFill>
              <a:srgbClr val="00FF00"/>
            </a:solidFill>
            <a:round/>
            <a:tailEnd type="triangle" w="med" len="med"/>
          </a:ln>
        </p:spPr>
        <p:txBody>
          <a:bodyP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4741"/>
                                        </p:tgtEl>
                                        <p:attrNameLst>
                                          <p:attrName>style.visibility</p:attrName>
                                        </p:attrNameLst>
                                      </p:cBhvr>
                                      <p:to>
                                        <p:strVal val="visible"/>
                                      </p:to>
                                    </p:set>
                                    <p:animEffect transition="in" filter="wipe(left)">
                                      <p:cBhvr>
                                        <p:cTn id="7" dur="500"/>
                                        <p:tgtEl>
                                          <p:spTgt spid="2447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4738"/>
                                        </p:tgtEl>
                                        <p:attrNameLst>
                                          <p:attrName>style.visibility</p:attrName>
                                        </p:attrNameLst>
                                      </p:cBhvr>
                                      <p:to>
                                        <p:strVal val="visible"/>
                                      </p:to>
                                    </p:set>
                                    <p:animEffect transition="in" filter="wipe(left)">
                                      <p:cBhvr>
                                        <p:cTn id="12" dur="500"/>
                                        <p:tgtEl>
                                          <p:spTgt spid="2447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44751"/>
                                        </p:tgtEl>
                                        <p:attrNameLst>
                                          <p:attrName>style.visibility</p:attrName>
                                        </p:attrNameLst>
                                      </p:cBhvr>
                                      <p:to>
                                        <p:strVal val="visible"/>
                                      </p:to>
                                    </p:set>
                                    <p:animEffect transition="in" filter="wipe(down)">
                                      <p:cBhvr>
                                        <p:cTn id="22" dur="500"/>
                                        <p:tgtEl>
                                          <p:spTgt spid="244751"/>
                                        </p:tgtEl>
                                      </p:cBhvr>
                                    </p:animEffect>
                                  </p:childTnLst>
                                </p:cTn>
                              </p:par>
                            </p:childTnLst>
                          </p:cTn>
                        </p:par>
                        <p:par>
                          <p:cTn id="23" fill="hold">
                            <p:stCondLst>
                              <p:cond delay="500"/>
                            </p:stCondLst>
                            <p:childTnLst>
                              <p:par>
                                <p:cTn id="24" presetID="22" presetClass="entr" presetSubtype="4" fill="hold" grpId="0" nodeType="afterEffect">
                                  <p:stCondLst>
                                    <p:cond delay="0"/>
                                  </p:stCondLst>
                                  <p:childTnLst>
                                    <p:set>
                                      <p:cBhvr>
                                        <p:cTn id="25" dur="1" fill="hold">
                                          <p:stCondLst>
                                            <p:cond delay="0"/>
                                          </p:stCondLst>
                                        </p:cTn>
                                        <p:tgtEl>
                                          <p:spTgt spid="244748"/>
                                        </p:tgtEl>
                                        <p:attrNameLst>
                                          <p:attrName>style.visibility</p:attrName>
                                        </p:attrNameLst>
                                      </p:cBhvr>
                                      <p:to>
                                        <p:strVal val="visible"/>
                                      </p:to>
                                    </p:set>
                                    <p:animEffect transition="in" filter="wipe(down)">
                                      <p:cBhvr>
                                        <p:cTn id="26" dur="500"/>
                                        <p:tgtEl>
                                          <p:spTgt spid="244748"/>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244767"/>
                                        </p:tgtEl>
                                        <p:attrNameLst>
                                          <p:attrName>style.visibility</p:attrName>
                                        </p:attrNameLst>
                                      </p:cBhvr>
                                      <p:to>
                                        <p:strVal val="visible"/>
                                      </p:to>
                                    </p:set>
                                    <p:animEffect transition="in" filter="wipe(left)">
                                      <p:cBhvr>
                                        <p:cTn id="30" dur="500"/>
                                        <p:tgtEl>
                                          <p:spTgt spid="244767"/>
                                        </p:tgtEl>
                                      </p:cBhvr>
                                    </p:animEffect>
                                  </p:childTnLst>
                                </p:cTn>
                              </p:par>
                            </p:childTnLst>
                          </p:cTn>
                        </p:par>
                        <p:par>
                          <p:cTn id="31" fill="hold">
                            <p:stCondLst>
                              <p:cond delay="1500"/>
                            </p:stCondLst>
                            <p:childTnLst>
                              <p:par>
                                <p:cTn id="32" presetID="22" presetClass="entr" presetSubtype="4" fill="hold" grpId="0" nodeType="afterEffect">
                                  <p:stCondLst>
                                    <p:cond delay="0"/>
                                  </p:stCondLst>
                                  <p:childTnLst>
                                    <p:set>
                                      <p:cBhvr>
                                        <p:cTn id="33" dur="1" fill="hold">
                                          <p:stCondLst>
                                            <p:cond delay="0"/>
                                          </p:stCondLst>
                                        </p:cTn>
                                        <p:tgtEl>
                                          <p:spTgt spid="244752"/>
                                        </p:tgtEl>
                                        <p:attrNameLst>
                                          <p:attrName>style.visibility</p:attrName>
                                        </p:attrNameLst>
                                      </p:cBhvr>
                                      <p:to>
                                        <p:strVal val="visible"/>
                                      </p:to>
                                    </p:set>
                                    <p:animEffect transition="in" filter="wipe(down)">
                                      <p:cBhvr>
                                        <p:cTn id="34" dur="500"/>
                                        <p:tgtEl>
                                          <p:spTgt spid="244752"/>
                                        </p:tgtEl>
                                      </p:cBhvr>
                                    </p:animEffect>
                                  </p:childTnLst>
                                </p:cTn>
                              </p:par>
                            </p:childTnLst>
                          </p:cTn>
                        </p:par>
                        <p:par>
                          <p:cTn id="35" fill="hold">
                            <p:stCondLst>
                              <p:cond delay="2000"/>
                            </p:stCondLst>
                            <p:childTnLst>
                              <p:par>
                                <p:cTn id="36" presetID="22" presetClass="entr" presetSubtype="1" fill="hold" grpId="0" nodeType="afterEffect">
                                  <p:stCondLst>
                                    <p:cond delay="0"/>
                                  </p:stCondLst>
                                  <p:childTnLst>
                                    <p:set>
                                      <p:cBhvr>
                                        <p:cTn id="37" dur="1" fill="hold">
                                          <p:stCondLst>
                                            <p:cond delay="0"/>
                                          </p:stCondLst>
                                        </p:cTn>
                                        <p:tgtEl>
                                          <p:spTgt spid="244750"/>
                                        </p:tgtEl>
                                        <p:attrNameLst>
                                          <p:attrName>style.visibility</p:attrName>
                                        </p:attrNameLst>
                                      </p:cBhvr>
                                      <p:to>
                                        <p:strVal val="visible"/>
                                      </p:to>
                                    </p:set>
                                    <p:animEffect transition="in" filter="wipe(up)">
                                      <p:cBhvr>
                                        <p:cTn id="38" dur="500"/>
                                        <p:tgtEl>
                                          <p:spTgt spid="244750"/>
                                        </p:tgtEl>
                                      </p:cBhvr>
                                    </p:animEffect>
                                  </p:childTnLst>
                                </p:cTn>
                              </p:par>
                            </p:childTnLst>
                          </p:cTn>
                        </p:par>
                        <p:par>
                          <p:cTn id="39" fill="hold">
                            <p:stCondLst>
                              <p:cond delay="2500"/>
                            </p:stCondLst>
                            <p:childTnLst>
                              <p:par>
                                <p:cTn id="40" presetID="22" presetClass="entr" presetSubtype="4" fill="hold" grpId="0" nodeType="afterEffect">
                                  <p:stCondLst>
                                    <p:cond delay="0"/>
                                  </p:stCondLst>
                                  <p:childTnLst>
                                    <p:set>
                                      <p:cBhvr>
                                        <p:cTn id="41" dur="1" fill="hold">
                                          <p:stCondLst>
                                            <p:cond delay="0"/>
                                          </p:stCondLst>
                                        </p:cTn>
                                        <p:tgtEl>
                                          <p:spTgt spid="244753"/>
                                        </p:tgtEl>
                                        <p:attrNameLst>
                                          <p:attrName>style.visibility</p:attrName>
                                        </p:attrNameLst>
                                      </p:cBhvr>
                                      <p:to>
                                        <p:strVal val="visible"/>
                                      </p:to>
                                    </p:set>
                                    <p:animEffect transition="in" filter="wipe(down)">
                                      <p:cBhvr>
                                        <p:cTn id="42" dur="500"/>
                                        <p:tgtEl>
                                          <p:spTgt spid="244753"/>
                                        </p:tgtEl>
                                      </p:cBhvr>
                                    </p:animEffect>
                                  </p:childTnLst>
                                </p:cTn>
                              </p:par>
                            </p:childTnLst>
                          </p:cTn>
                        </p:par>
                        <p:par>
                          <p:cTn id="43" fill="hold">
                            <p:stCondLst>
                              <p:cond delay="3000"/>
                            </p:stCondLst>
                            <p:childTnLst>
                              <p:par>
                                <p:cTn id="44" presetID="22" presetClass="entr" presetSubtype="8" fill="hold" grpId="0" nodeType="afterEffect">
                                  <p:stCondLst>
                                    <p:cond delay="0"/>
                                  </p:stCondLst>
                                  <p:childTnLst>
                                    <p:set>
                                      <p:cBhvr>
                                        <p:cTn id="45" dur="1" fill="hold">
                                          <p:stCondLst>
                                            <p:cond delay="0"/>
                                          </p:stCondLst>
                                        </p:cTn>
                                        <p:tgtEl>
                                          <p:spTgt spid="244747"/>
                                        </p:tgtEl>
                                        <p:attrNameLst>
                                          <p:attrName>style.visibility</p:attrName>
                                        </p:attrNameLst>
                                      </p:cBhvr>
                                      <p:to>
                                        <p:strVal val="visible"/>
                                      </p:to>
                                    </p:set>
                                    <p:animEffect transition="in" filter="wipe(left)">
                                      <p:cBhvr>
                                        <p:cTn id="46" dur="500"/>
                                        <p:tgtEl>
                                          <p:spTgt spid="244747"/>
                                        </p:tgtEl>
                                      </p:cBhvr>
                                    </p:animEffect>
                                  </p:childTnLst>
                                </p:cTn>
                              </p:par>
                            </p:childTnLst>
                          </p:cTn>
                        </p:par>
                        <p:par>
                          <p:cTn id="47" fill="hold">
                            <p:stCondLst>
                              <p:cond delay="3500"/>
                            </p:stCondLst>
                            <p:childTnLst>
                              <p:par>
                                <p:cTn id="48" presetID="22" presetClass="entr" presetSubtype="8" fill="hold" grpId="0" nodeType="afterEffect">
                                  <p:stCondLst>
                                    <p:cond delay="0"/>
                                  </p:stCondLst>
                                  <p:childTnLst>
                                    <p:set>
                                      <p:cBhvr>
                                        <p:cTn id="49" dur="1" fill="hold">
                                          <p:stCondLst>
                                            <p:cond delay="0"/>
                                          </p:stCondLst>
                                        </p:cTn>
                                        <p:tgtEl>
                                          <p:spTgt spid="244768"/>
                                        </p:tgtEl>
                                        <p:attrNameLst>
                                          <p:attrName>style.visibility</p:attrName>
                                        </p:attrNameLst>
                                      </p:cBhvr>
                                      <p:to>
                                        <p:strVal val="visible"/>
                                      </p:to>
                                    </p:set>
                                    <p:animEffect transition="in" filter="wipe(left)">
                                      <p:cBhvr>
                                        <p:cTn id="50" dur="500"/>
                                        <p:tgtEl>
                                          <p:spTgt spid="244768"/>
                                        </p:tgtEl>
                                      </p:cBhvr>
                                    </p:animEffect>
                                  </p:childTnLst>
                                </p:cTn>
                              </p:par>
                            </p:childTnLst>
                          </p:cTn>
                        </p:par>
                        <p:par>
                          <p:cTn id="51" fill="hold">
                            <p:stCondLst>
                              <p:cond delay="4000"/>
                            </p:stCondLst>
                            <p:childTnLst>
                              <p:par>
                                <p:cTn id="52" presetID="22" presetClass="entr" presetSubtype="4" fill="hold" grpId="0" nodeType="afterEffect">
                                  <p:stCondLst>
                                    <p:cond delay="0"/>
                                  </p:stCondLst>
                                  <p:childTnLst>
                                    <p:set>
                                      <p:cBhvr>
                                        <p:cTn id="53" dur="1" fill="hold">
                                          <p:stCondLst>
                                            <p:cond delay="0"/>
                                          </p:stCondLst>
                                        </p:cTn>
                                        <p:tgtEl>
                                          <p:spTgt spid="244749"/>
                                        </p:tgtEl>
                                        <p:attrNameLst>
                                          <p:attrName>style.visibility</p:attrName>
                                        </p:attrNameLst>
                                      </p:cBhvr>
                                      <p:to>
                                        <p:strVal val="visible"/>
                                      </p:to>
                                    </p:set>
                                    <p:animEffect transition="in" filter="wipe(down)">
                                      <p:cBhvr>
                                        <p:cTn id="54" dur="500"/>
                                        <p:tgtEl>
                                          <p:spTgt spid="244749"/>
                                        </p:tgtEl>
                                      </p:cBhvr>
                                    </p:animEffect>
                                  </p:childTnLst>
                                </p:cTn>
                              </p:par>
                            </p:childTnLst>
                          </p:cTn>
                        </p:par>
                        <p:par>
                          <p:cTn id="55" fill="hold">
                            <p:stCondLst>
                              <p:cond delay="4500"/>
                            </p:stCondLst>
                            <p:childTnLst>
                              <p:par>
                                <p:cTn id="56" presetID="22" presetClass="entr" presetSubtype="4" fill="hold" grpId="0" nodeType="afterEffect">
                                  <p:stCondLst>
                                    <p:cond delay="0"/>
                                  </p:stCondLst>
                                  <p:childTnLst>
                                    <p:set>
                                      <p:cBhvr>
                                        <p:cTn id="57" dur="1" fill="hold">
                                          <p:stCondLst>
                                            <p:cond delay="0"/>
                                          </p:stCondLst>
                                        </p:cTn>
                                        <p:tgtEl>
                                          <p:spTgt spid="244754"/>
                                        </p:tgtEl>
                                        <p:attrNameLst>
                                          <p:attrName>style.visibility</p:attrName>
                                        </p:attrNameLst>
                                      </p:cBhvr>
                                      <p:to>
                                        <p:strVal val="visible"/>
                                      </p:to>
                                    </p:set>
                                    <p:animEffect transition="in" filter="wipe(down)">
                                      <p:cBhvr>
                                        <p:cTn id="58" dur="500"/>
                                        <p:tgtEl>
                                          <p:spTgt spid="24475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44742"/>
                                        </p:tgtEl>
                                        <p:attrNameLst>
                                          <p:attrName>style.visibility</p:attrName>
                                        </p:attrNameLst>
                                      </p:cBhvr>
                                      <p:to>
                                        <p:strVal val="visible"/>
                                      </p:to>
                                    </p:set>
                                    <p:animEffect transition="in" filter="wipe(left)">
                                      <p:cBhvr>
                                        <p:cTn id="63" dur="500"/>
                                        <p:tgtEl>
                                          <p:spTgt spid="244742"/>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244739"/>
                                        </p:tgtEl>
                                        <p:attrNameLst>
                                          <p:attrName>style.visibility</p:attrName>
                                        </p:attrNameLst>
                                      </p:cBhvr>
                                      <p:to>
                                        <p:strVal val="visible"/>
                                      </p:to>
                                    </p:set>
                                    <p:animEffect transition="in" filter="wipe(left)">
                                      <p:cBhvr>
                                        <p:cTn id="67" dur="500"/>
                                        <p:tgtEl>
                                          <p:spTgt spid="24473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4740"/>
                                        </p:tgtEl>
                                        <p:attrNameLst>
                                          <p:attrName>style.visibility</p:attrName>
                                        </p:attrNameLst>
                                      </p:cBhvr>
                                      <p:to>
                                        <p:strVal val="visible"/>
                                      </p:to>
                                    </p:set>
                                    <p:animEffect transition="in" filter="wipe(left)">
                                      <p:cBhvr>
                                        <p:cTn id="72" dur="500"/>
                                        <p:tgtEl>
                                          <p:spTgt spid="24474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44743"/>
                                        </p:tgtEl>
                                        <p:attrNameLst>
                                          <p:attrName>style.visibility</p:attrName>
                                        </p:attrNameLst>
                                      </p:cBhvr>
                                      <p:to>
                                        <p:strVal val="visible"/>
                                      </p:to>
                                    </p:set>
                                    <p:animEffect transition="in" filter="wipe(left)">
                                      <p:cBhvr>
                                        <p:cTn id="77" dur="500"/>
                                        <p:tgtEl>
                                          <p:spTgt spid="24474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44744"/>
                                        </p:tgtEl>
                                        <p:attrNameLst>
                                          <p:attrName>style.visibility</p:attrName>
                                        </p:attrNameLst>
                                      </p:cBhvr>
                                      <p:to>
                                        <p:strVal val="visible"/>
                                      </p:to>
                                    </p:set>
                                    <p:animEffect transition="in" filter="wipe(left)">
                                      <p:cBhvr>
                                        <p:cTn id="82" dur="500"/>
                                        <p:tgtEl>
                                          <p:spTgt spid="24474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left)">
                                      <p:cBhvr>
                                        <p:cTn id="87" dur="1000"/>
                                        <p:tgtEl>
                                          <p:spTgt spid="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44746"/>
                                        </p:tgtEl>
                                        <p:attrNameLst>
                                          <p:attrName>style.visibility</p:attrName>
                                        </p:attrNameLst>
                                      </p:cBhvr>
                                      <p:to>
                                        <p:strVal val="visible"/>
                                      </p:to>
                                    </p:set>
                                    <p:animEffect transition="in" filter="wipe(left)">
                                      <p:cBhvr>
                                        <p:cTn id="92" dur="500"/>
                                        <p:tgtEl>
                                          <p:spTgt spid="244746"/>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44745"/>
                                        </p:tgtEl>
                                        <p:attrNameLst>
                                          <p:attrName>style.visibility</p:attrName>
                                        </p:attrNameLst>
                                      </p:cBhvr>
                                      <p:to>
                                        <p:strVal val="visible"/>
                                      </p:to>
                                    </p:set>
                                    <p:animEffect transition="in" filter="wipe(left)">
                                      <p:cBhvr>
                                        <p:cTn id="97" dur="500"/>
                                        <p:tgtEl>
                                          <p:spTgt spid="24474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wipe(left)">
                                      <p:cBhvr>
                                        <p:cTn id="10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8" grpId="0"/>
      <p:bldP spid="244739" grpId="0"/>
      <p:bldP spid="244740" grpId="0" autoUpdateAnimBg="0"/>
      <p:bldP spid="244741" grpId="0"/>
      <p:bldP spid="244742" grpId="0"/>
      <p:bldP spid="244743" grpId="0" autoUpdateAnimBg="0"/>
      <p:bldP spid="244746" grpId="0" autoUpdateAnimBg="0"/>
      <p:bldP spid="244747" grpId="0" animBg="1"/>
      <p:bldP spid="244748" grpId="0" animBg="1"/>
      <p:bldP spid="244749" grpId="0" animBg="1"/>
      <p:bldP spid="244750" grpId="0" animBg="1"/>
      <p:bldP spid="244751" grpId="0" autoUpdateAnimBg="0"/>
      <p:bldP spid="244752" grpId="0" autoUpdateAnimBg="0"/>
      <p:bldP spid="244753" grpId="0" autoUpdateAnimBg="0"/>
      <p:bldP spid="244754" grpId="0" autoUpdateAnimBg="0"/>
      <p:bldP spid="244767" grpId="0" animBg="1"/>
      <p:bldP spid="24476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2"/>
          <p:cNvSpPr txBox="1">
            <a:spLocks noChangeArrowheads="1"/>
          </p:cNvSpPr>
          <p:nvPr/>
        </p:nvSpPr>
        <p:spPr bwMode="auto">
          <a:xfrm>
            <a:off x="179388" y="476250"/>
            <a:ext cx="5256212" cy="534988"/>
          </a:xfrm>
          <a:prstGeom prst="rect">
            <a:avLst/>
          </a:prstGeom>
          <a:noFill/>
          <a:ln w="9525">
            <a:noFill/>
            <a:miter lim="800000"/>
          </a:ln>
        </p:spPr>
        <p:txBody>
          <a:bodyPr>
            <a:spAutoFit/>
          </a:bodyPr>
          <a:lstStyle/>
          <a:p>
            <a:pPr>
              <a:lnSpc>
                <a:spcPct val="120000"/>
              </a:lnSpc>
              <a:defRPr/>
            </a:pPr>
            <a:r>
              <a:rPr kumimoji="1" lang="zh-CN" altLang="en-US" b="1" dirty="0">
                <a:ea typeface="+mn-ea"/>
                <a:cs typeface="Times New Roman" panose="02020603050405020304" pitchFamily="18" charset="0"/>
              </a:rPr>
              <a:t>在过程</a:t>
            </a:r>
            <a:r>
              <a:rPr kumimoji="1" lang="en-US" altLang="zh-CN" b="1" i="1" dirty="0">
                <a:solidFill>
                  <a:srgbClr val="FF6600"/>
                </a:solidFill>
                <a:ea typeface="+mn-ea"/>
                <a:cs typeface="Times New Roman" panose="02020603050405020304" pitchFamily="18" charset="0"/>
              </a:rPr>
              <a:t>BC</a:t>
            </a:r>
            <a:r>
              <a:rPr kumimoji="1" lang="en-US" altLang="zh-CN" b="1" dirty="0">
                <a:ea typeface="+mn-ea"/>
                <a:cs typeface="Times New Roman" panose="02020603050405020304" pitchFamily="18" charset="0"/>
              </a:rPr>
              <a:t> </a:t>
            </a:r>
            <a:r>
              <a:rPr kumimoji="1" lang="zh-CN" altLang="en-US" b="1" dirty="0">
                <a:ea typeface="+mn-ea"/>
                <a:cs typeface="Times New Roman" panose="02020603050405020304" pitchFamily="18" charset="0"/>
              </a:rPr>
              <a:t>和</a:t>
            </a:r>
            <a:r>
              <a:rPr kumimoji="1" lang="en-US" altLang="zh-CN" b="1" i="1" dirty="0">
                <a:solidFill>
                  <a:srgbClr val="FF6600"/>
                </a:solidFill>
                <a:ea typeface="+mn-ea"/>
                <a:cs typeface="Times New Roman" panose="02020603050405020304" pitchFamily="18" charset="0"/>
              </a:rPr>
              <a:t>DA</a:t>
            </a:r>
            <a:r>
              <a:rPr kumimoji="1" lang="en-US" altLang="zh-CN" b="1" dirty="0">
                <a:ea typeface="+mn-ea"/>
                <a:cs typeface="Times New Roman" panose="02020603050405020304" pitchFamily="18" charset="0"/>
              </a:rPr>
              <a:t> </a:t>
            </a:r>
            <a:r>
              <a:rPr kumimoji="1" lang="zh-CN" altLang="en-US" b="1" dirty="0">
                <a:ea typeface="+mn-ea"/>
                <a:cs typeface="Times New Roman" panose="02020603050405020304" pitchFamily="18" charset="0"/>
              </a:rPr>
              <a:t>都是</a:t>
            </a:r>
            <a:r>
              <a:rPr kumimoji="1" lang="zh-CN" altLang="en-US" b="1" dirty="0">
                <a:solidFill>
                  <a:srgbClr val="FF6600"/>
                </a:solidFill>
                <a:ea typeface="+mn-ea"/>
                <a:cs typeface="Times New Roman" panose="02020603050405020304" pitchFamily="18" charset="0"/>
              </a:rPr>
              <a:t>等体过程</a:t>
            </a:r>
            <a:r>
              <a:rPr kumimoji="1" lang="zh-CN" altLang="en-US" b="1" dirty="0">
                <a:ea typeface="+mn-ea"/>
                <a:cs typeface="Times New Roman" panose="02020603050405020304" pitchFamily="18" charset="0"/>
              </a:rPr>
              <a:t>，则</a:t>
            </a:r>
            <a:endParaRPr kumimoji="1" lang="zh-CN" altLang="en-US" b="1" dirty="0">
              <a:ea typeface="+mn-ea"/>
              <a:cs typeface="Times New Roman" panose="02020603050405020304" pitchFamily="18" charset="0"/>
            </a:endParaRPr>
          </a:p>
        </p:txBody>
      </p:sp>
      <p:graphicFrame>
        <p:nvGraphicFramePr>
          <p:cNvPr id="245763" name="Object 3"/>
          <p:cNvGraphicFramePr>
            <a:graphicFrameLocks noChangeAspect="1"/>
          </p:cNvGraphicFramePr>
          <p:nvPr/>
        </p:nvGraphicFramePr>
        <p:xfrm>
          <a:off x="5329238" y="549275"/>
          <a:ext cx="1779587" cy="414338"/>
        </p:xfrm>
        <a:graphic>
          <a:graphicData uri="http://schemas.openxmlformats.org/presentationml/2006/ole">
            <mc:AlternateContent xmlns:mc="http://schemas.openxmlformats.org/markup-compatibility/2006">
              <mc:Choice xmlns:v="urn:schemas-microsoft-com:vml" Requires="v">
                <p:oleObj spid="_x0000_s55297" name="公式" r:id="rId1" imgW="23469600" imgH="5486400" progId="Equation.3">
                  <p:embed/>
                </p:oleObj>
              </mc:Choice>
              <mc:Fallback>
                <p:oleObj name="公式" r:id="rId1" imgW="23469600" imgH="5486400" progId="Equation.3">
                  <p:embed/>
                  <p:pic>
                    <p:nvPicPr>
                      <p:cNvPr id="0" name="Object 3"/>
                      <p:cNvPicPr>
                        <a:picLocks noChangeAspect="1"/>
                      </p:cNvPicPr>
                      <p:nvPr/>
                    </p:nvPicPr>
                    <p:blipFill>
                      <a:blip r:embed="rId2"/>
                      <a:stretch>
                        <a:fillRect/>
                      </a:stretch>
                    </p:blipFill>
                    <p:spPr>
                      <a:xfrm>
                        <a:off x="5329238" y="549275"/>
                        <a:ext cx="1779587" cy="414338"/>
                      </a:xfrm>
                      <a:prstGeom prst="rect">
                        <a:avLst/>
                      </a:prstGeom>
                      <a:noFill/>
                      <a:ln w="9525">
                        <a:noFill/>
                      </a:ln>
                    </p:spPr>
                  </p:pic>
                </p:oleObj>
              </mc:Fallback>
            </mc:AlternateContent>
          </a:graphicData>
        </a:graphic>
      </p:graphicFrame>
      <p:graphicFrame>
        <p:nvGraphicFramePr>
          <p:cNvPr id="245764" name="Object 4"/>
          <p:cNvGraphicFramePr>
            <a:graphicFrameLocks noChangeAspect="1"/>
          </p:cNvGraphicFramePr>
          <p:nvPr/>
        </p:nvGraphicFramePr>
        <p:xfrm>
          <a:off x="1733550" y="1887538"/>
          <a:ext cx="1433513" cy="388937"/>
        </p:xfrm>
        <a:graphic>
          <a:graphicData uri="http://schemas.openxmlformats.org/presentationml/2006/ole">
            <mc:AlternateContent xmlns:mc="http://schemas.openxmlformats.org/markup-compatibility/2006">
              <mc:Choice xmlns:v="urn:schemas-microsoft-com:vml" Requires="v">
                <p:oleObj spid="_x0000_s55299" name="公式" r:id="rId3" imgW="19202400" imgH="5181600" progId="Equation.3">
                  <p:embed/>
                </p:oleObj>
              </mc:Choice>
              <mc:Fallback>
                <p:oleObj name="公式" r:id="rId3" imgW="19202400" imgH="5181600" progId="Equation.3">
                  <p:embed/>
                  <p:pic>
                    <p:nvPicPr>
                      <p:cNvPr id="0" name="Object 4"/>
                      <p:cNvPicPr>
                        <a:picLocks noChangeAspect="1"/>
                      </p:cNvPicPr>
                      <p:nvPr/>
                    </p:nvPicPr>
                    <p:blipFill>
                      <a:blip r:embed="rId4"/>
                      <a:stretch>
                        <a:fillRect/>
                      </a:stretch>
                    </p:blipFill>
                    <p:spPr>
                      <a:xfrm>
                        <a:off x="1733550" y="1887538"/>
                        <a:ext cx="1433513" cy="388937"/>
                      </a:xfrm>
                      <a:prstGeom prst="rect">
                        <a:avLst/>
                      </a:prstGeom>
                      <a:noFill/>
                      <a:ln w="9525">
                        <a:noFill/>
                      </a:ln>
                    </p:spPr>
                  </p:pic>
                </p:oleObj>
              </mc:Fallback>
            </mc:AlternateContent>
          </a:graphicData>
        </a:graphic>
      </p:graphicFrame>
      <p:sp>
        <p:nvSpPr>
          <p:cNvPr id="245765" name="Text Box 5"/>
          <p:cNvSpPr txBox="1">
            <a:spLocks noChangeArrowheads="1"/>
          </p:cNvSpPr>
          <p:nvPr/>
        </p:nvSpPr>
        <p:spPr bwMode="auto">
          <a:xfrm>
            <a:off x="179388" y="1196975"/>
            <a:ext cx="4826000" cy="461963"/>
          </a:xfrm>
          <a:prstGeom prst="rect">
            <a:avLst/>
          </a:prstGeom>
          <a:noFill/>
          <a:ln w="9525">
            <a:noFill/>
            <a:miter lim="800000"/>
          </a:ln>
        </p:spPr>
        <p:txBody>
          <a:bodyPr wrap="none">
            <a:spAutoFit/>
          </a:bodyPr>
          <a:lstStyle/>
          <a:p>
            <a:pPr>
              <a:defRPr/>
            </a:pPr>
            <a:r>
              <a:rPr kumimoji="1" lang="zh-CN" altLang="en-US" b="1">
                <a:ea typeface="+mn-ea"/>
                <a:cs typeface="Times New Roman" panose="02020603050405020304" pitchFamily="18" charset="0"/>
              </a:rPr>
              <a:t>整个循环中环境对工质做的</a:t>
            </a:r>
            <a:r>
              <a:rPr kumimoji="1" lang="zh-CN" altLang="en-US" b="1">
                <a:solidFill>
                  <a:srgbClr val="FF6600"/>
                </a:solidFill>
                <a:ea typeface="+mn-ea"/>
                <a:cs typeface="Times New Roman" panose="02020603050405020304" pitchFamily="18" charset="0"/>
              </a:rPr>
              <a:t>净功</a:t>
            </a:r>
            <a:r>
              <a:rPr kumimoji="1" lang="zh-CN" altLang="en-US" b="1">
                <a:ea typeface="+mn-ea"/>
                <a:cs typeface="Times New Roman" panose="02020603050405020304" pitchFamily="18" charset="0"/>
              </a:rPr>
              <a:t>为</a:t>
            </a:r>
            <a:endParaRPr kumimoji="1" lang="zh-CN" altLang="en-US" b="1">
              <a:ea typeface="+mn-ea"/>
              <a:cs typeface="Times New Roman" panose="02020603050405020304" pitchFamily="18" charset="0"/>
            </a:endParaRPr>
          </a:p>
        </p:txBody>
      </p:sp>
      <p:sp>
        <p:nvSpPr>
          <p:cNvPr id="245766" name="Text Box 6"/>
          <p:cNvSpPr txBox="1">
            <a:spLocks noChangeArrowheads="1"/>
          </p:cNvSpPr>
          <p:nvPr/>
        </p:nvSpPr>
        <p:spPr bwMode="auto">
          <a:xfrm>
            <a:off x="468313" y="2636838"/>
            <a:ext cx="2659062" cy="461962"/>
          </a:xfrm>
          <a:prstGeom prst="rect">
            <a:avLst/>
          </a:prstGeom>
          <a:noFill/>
          <a:ln w="9525">
            <a:noFill/>
            <a:miter lim="800000"/>
          </a:ln>
        </p:spPr>
        <p:txBody>
          <a:bodyPr wrap="none">
            <a:spAutoFit/>
          </a:bodyPr>
          <a:lstStyle/>
          <a:p>
            <a:pPr>
              <a:defRPr/>
            </a:pPr>
            <a:r>
              <a:rPr kumimoji="1" lang="zh-CN" altLang="en-US" b="1">
                <a:ea typeface="+mn-ea"/>
                <a:cs typeface="Times New Roman" panose="02020603050405020304" pitchFamily="18" charset="0"/>
              </a:rPr>
              <a:t>循环的致冷系数为</a:t>
            </a:r>
            <a:endParaRPr kumimoji="1" lang="zh-CN" altLang="en-US" b="1">
              <a:ea typeface="+mn-ea"/>
              <a:cs typeface="Times New Roman" panose="02020603050405020304" pitchFamily="18" charset="0"/>
            </a:endParaRPr>
          </a:p>
        </p:txBody>
      </p:sp>
      <p:graphicFrame>
        <p:nvGraphicFramePr>
          <p:cNvPr id="245767" name="Object 7"/>
          <p:cNvGraphicFramePr>
            <a:graphicFrameLocks noChangeAspect="1"/>
          </p:cNvGraphicFramePr>
          <p:nvPr/>
        </p:nvGraphicFramePr>
        <p:xfrm>
          <a:off x="1214438" y="3502025"/>
          <a:ext cx="909637" cy="733425"/>
        </p:xfrm>
        <a:graphic>
          <a:graphicData uri="http://schemas.openxmlformats.org/presentationml/2006/ole">
            <mc:AlternateContent xmlns:mc="http://schemas.openxmlformats.org/markup-compatibility/2006">
              <mc:Choice xmlns:v="urn:schemas-microsoft-com:vml" Requires="v">
                <p:oleObj spid="_x0000_s55300" name="公式" r:id="rId5" imgW="12192000" imgH="9753600" progId="Equation.3">
                  <p:embed/>
                </p:oleObj>
              </mc:Choice>
              <mc:Fallback>
                <p:oleObj name="公式" r:id="rId5" imgW="12192000" imgH="9753600" progId="Equation.3">
                  <p:embed/>
                  <p:pic>
                    <p:nvPicPr>
                      <p:cNvPr id="0" name="Object 7"/>
                      <p:cNvPicPr>
                        <a:picLocks noChangeAspect="1"/>
                      </p:cNvPicPr>
                      <p:nvPr/>
                    </p:nvPicPr>
                    <p:blipFill>
                      <a:blip r:embed="rId6"/>
                      <a:stretch>
                        <a:fillRect/>
                      </a:stretch>
                    </p:blipFill>
                    <p:spPr>
                      <a:xfrm>
                        <a:off x="1214438" y="3502025"/>
                        <a:ext cx="909637" cy="733425"/>
                      </a:xfrm>
                      <a:prstGeom prst="rect">
                        <a:avLst/>
                      </a:prstGeom>
                      <a:noFill/>
                      <a:ln w="9525">
                        <a:noFill/>
                      </a:ln>
                    </p:spPr>
                  </p:pic>
                </p:oleObj>
              </mc:Fallback>
            </mc:AlternateContent>
          </a:graphicData>
        </a:graphic>
      </p:graphicFrame>
      <p:graphicFrame>
        <p:nvGraphicFramePr>
          <p:cNvPr id="245768" name="Object 8"/>
          <p:cNvGraphicFramePr>
            <a:graphicFrameLocks noChangeAspect="1"/>
          </p:cNvGraphicFramePr>
          <p:nvPr/>
        </p:nvGraphicFramePr>
        <p:xfrm>
          <a:off x="4500563" y="3502025"/>
          <a:ext cx="1090612" cy="801688"/>
        </p:xfrm>
        <a:graphic>
          <a:graphicData uri="http://schemas.openxmlformats.org/presentationml/2006/ole">
            <mc:AlternateContent xmlns:mc="http://schemas.openxmlformats.org/markup-compatibility/2006">
              <mc:Choice xmlns:v="urn:schemas-microsoft-com:vml" Requires="v">
                <p:oleObj spid="_x0000_s55301" name="公式" r:id="rId7" imgW="14630400" imgH="10668000" progId="Equation.3">
                  <p:embed/>
                </p:oleObj>
              </mc:Choice>
              <mc:Fallback>
                <p:oleObj name="公式" r:id="rId7" imgW="14630400" imgH="10668000" progId="Equation.3">
                  <p:embed/>
                  <p:pic>
                    <p:nvPicPr>
                      <p:cNvPr id="0" name="Object 8"/>
                      <p:cNvPicPr>
                        <a:picLocks noChangeAspect="1"/>
                      </p:cNvPicPr>
                      <p:nvPr/>
                    </p:nvPicPr>
                    <p:blipFill>
                      <a:blip r:embed="rId8"/>
                      <a:stretch>
                        <a:fillRect/>
                      </a:stretch>
                    </p:blipFill>
                    <p:spPr>
                      <a:xfrm>
                        <a:off x="4500563" y="3502025"/>
                        <a:ext cx="1090612" cy="801688"/>
                      </a:xfrm>
                      <a:prstGeom prst="rect">
                        <a:avLst/>
                      </a:prstGeom>
                      <a:noFill/>
                      <a:ln w="9525">
                        <a:noFill/>
                      </a:ln>
                    </p:spPr>
                  </p:pic>
                </p:oleObj>
              </mc:Fallback>
            </mc:AlternateContent>
          </a:graphicData>
        </a:graphic>
      </p:graphicFrame>
      <p:graphicFrame>
        <p:nvGraphicFramePr>
          <p:cNvPr id="245769" name="Object 9"/>
          <p:cNvGraphicFramePr>
            <a:graphicFrameLocks noChangeAspect="1"/>
          </p:cNvGraphicFramePr>
          <p:nvPr/>
        </p:nvGraphicFramePr>
        <p:xfrm>
          <a:off x="3203575" y="1736725"/>
          <a:ext cx="2028825" cy="755650"/>
        </p:xfrm>
        <a:graphic>
          <a:graphicData uri="http://schemas.openxmlformats.org/presentationml/2006/ole">
            <mc:AlternateContent xmlns:mc="http://schemas.openxmlformats.org/markup-compatibility/2006">
              <mc:Choice xmlns:v="urn:schemas-microsoft-com:vml" Requires="v">
                <p:oleObj spid="_x0000_s55302" name="公式" r:id="rId9" imgW="28651200" imgH="10668000" progId="Equation.3">
                  <p:embed/>
                </p:oleObj>
              </mc:Choice>
              <mc:Fallback>
                <p:oleObj name="公式" r:id="rId9" imgW="28651200" imgH="10668000" progId="Equation.3">
                  <p:embed/>
                  <p:pic>
                    <p:nvPicPr>
                      <p:cNvPr id="0" name="Object 9"/>
                      <p:cNvPicPr>
                        <a:picLocks noChangeAspect="1"/>
                      </p:cNvPicPr>
                      <p:nvPr/>
                    </p:nvPicPr>
                    <p:blipFill>
                      <a:blip r:embed="rId10"/>
                      <a:stretch>
                        <a:fillRect/>
                      </a:stretch>
                    </p:blipFill>
                    <p:spPr>
                      <a:xfrm>
                        <a:off x="3203575" y="1736725"/>
                        <a:ext cx="2028825" cy="755650"/>
                      </a:xfrm>
                      <a:prstGeom prst="rect">
                        <a:avLst/>
                      </a:prstGeom>
                      <a:noFill/>
                      <a:ln w="9525">
                        <a:noFill/>
                      </a:ln>
                    </p:spPr>
                  </p:pic>
                </p:oleObj>
              </mc:Fallback>
            </mc:AlternateContent>
          </a:graphicData>
        </a:graphic>
      </p:graphicFrame>
      <p:graphicFrame>
        <p:nvGraphicFramePr>
          <p:cNvPr id="245770" name="Object 10"/>
          <p:cNvGraphicFramePr>
            <a:graphicFrameLocks noChangeAspect="1"/>
          </p:cNvGraphicFramePr>
          <p:nvPr/>
        </p:nvGraphicFramePr>
        <p:xfrm>
          <a:off x="2268538" y="3213100"/>
          <a:ext cx="2071687" cy="1423988"/>
        </p:xfrm>
        <a:graphic>
          <a:graphicData uri="http://schemas.openxmlformats.org/presentationml/2006/ole">
            <mc:AlternateContent xmlns:mc="http://schemas.openxmlformats.org/markup-compatibility/2006">
              <mc:Choice xmlns:v="urn:schemas-microsoft-com:vml" Requires="v">
                <p:oleObj spid="_x0000_s55303" name="公式" r:id="rId11" imgW="29260800" imgH="20116800" progId="Equation.3">
                  <p:embed/>
                </p:oleObj>
              </mc:Choice>
              <mc:Fallback>
                <p:oleObj name="公式" r:id="rId11" imgW="29260800" imgH="20116800" progId="Equation.3">
                  <p:embed/>
                  <p:pic>
                    <p:nvPicPr>
                      <p:cNvPr id="0" name="Object 10"/>
                      <p:cNvPicPr>
                        <a:picLocks noChangeAspect="1"/>
                      </p:cNvPicPr>
                      <p:nvPr/>
                    </p:nvPicPr>
                    <p:blipFill>
                      <a:blip r:embed="rId12"/>
                      <a:stretch>
                        <a:fillRect/>
                      </a:stretch>
                    </p:blipFill>
                    <p:spPr>
                      <a:xfrm>
                        <a:off x="2268538" y="3213100"/>
                        <a:ext cx="2071687" cy="1423988"/>
                      </a:xfrm>
                      <a:prstGeom prst="rect">
                        <a:avLst/>
                      </a:prstGeom>
                      <a:noFill/>
                      <a:ln w="9525">
                        <a:noFill/>
                      </a:ln>
                    </p:spPr>
                  </p:pic>
                </p:oleObj>
              </mc:Fallback>
            </mc:AlternateContent>
          </a:graphicData>
        </a:graphic>
      </p:graphicFrame>
      <p:graphicFrame>
        <p:nvGraphicFramePr>
          <p:cNvPr id="245771" name="Object 11"/>
          <p:cNvGraphicFramePr>
            <a:graphicFrameLocks noChangeAspect="1"/>
          </p:cNvGraphicFramePr>
          <p:nvPr/>
        </p:nvGraphicFramePr>
        <p:xfrm>
          <a:off x="5651500" y="3500438"/>
          <a:ext cx="1352550" cy="800100"/>
        </p:xfrm>
        <a:graphic>
          <a:graphicData uri="http://schemas.openxmlformats.org/presentationml/2006/ole">
            <mc:AlternateContent xmlns:mc="http://schemas.openxmlformats.org/markup-compatibility/2006">
              <mc:Choice xmlns:v="urn:schemas-microsoft-com:vml" Requires="v">
                <p:oleObj spid="_x0000_s55304" name="公式" r:id="rId13" imgW="18288000" imgH="10668000" progId="Equation.3">
                  <p:embed/>
                </p:oleObj>
              </mc:Choice>
              <mc:Fallback>
                <p:oleObj name="公式" r:id="rId13" imgW="18288000" imgH="10668000" progId="Equation.3">
                  <p:embed/>
                  <p:pic>
                    <p:nvPicPr>
                      <p:cNvPr id="0" name="Object 11"/>
                      <p:cNvPicPr>
                        <a:picLocks noChangeAspect="1"/>
                      </p:cNvPicPr>
                      <p:nvPr/>
                    </p:nvPicPr>
                    <p:blipFill>
                      <a:blip r:embed="rId14"/>
                      <a:stretch>
                        <a:fillRect/>
                      </a:stretch>
                    </p:blipFill>
                    <p:spPr>
                      <a:xfrm>
                        <a:off x="5651500" y="3500438"/>
                        <a:ext cx="1352550" cy="800100"/>
                      </a:xfrm>
                      <a:prstGeom prst="rect">
                        <a:avLst/>
                      </a:prstGeom>
                      <a:noFill/>
                      <a:ln w="9525">
                        <a:noFill/>
                      </a:ln>
                    </p:spPr>
                  </p:pic>
                </p:oleObj>
              </mc:Fallback>
            </mc:AlternateContent>
          </a:graphicData>
        </a:graphic>
      </p:graphicFrame>
      <p:sp>
        <p:nvSpPr>
          <p:cNvPr id="245772" name="Text Box 12"/>
          <p:cNvSpPr txBox="1">
            <a:spLocks noChangeArrowheads="1"/>
          </p:cNvSpPr>
          <p:nvPr/>
        </p:nvSpPr>
        <p:spPr bwMode="auto">
          <a:xfrm>
            <a:off x="1403350" y="4941888"/>
            <a:ext cx="3860800" cy="457200"/>
          </a:xfrm>
          <a:prstGeom prst="rect">
            <a:avLst/>
          </a:prstGeom>
          <a:noFill/>
          <a:ln w="9525">
            <a:noFill/>
            <a:miter lim="800000"/>
          </a:ln>
        </p:spPr>
        <p:txBody>
          <a:bodyPr wrap="none">
            <a:spAutoFit/>
          </a:bodyPr>
          <a:lstStyle/>
          <a:p>
            <a:pPr>
              <a:defRPr/>
            </a:pPr>
            <a:r>
              <a:rPr kumimoji="1" lang="zh-CN" altLang="en-US" b="1">
                <a:ea typeface="+mn-ea"/>
                <a:cs typeface="Times New Roman" panose="02020603050405020304" pitchFamily="18" charset="0"/>
              </a:rPr>
              <a:t>温差越大，致冷系数越低。</a:t>
            </a:r>
            <a:endParaRPr kumimoji="1" lang="zh-CN" altLang="en-US" b="1">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62"/>
                                        </p:tgtEl>
                                        <p:attrNameLst>
                                          <p:attrName>style.visibility</p:attrName>
                                        </p:attrNameLst>
                                      </p:cBhvr>
                                      <p:to>
                                        <p:strVal val="visible"/>
                                      </p:to>
                                    </p:set>
                                    <p:animEffect transition="in" filter="wipe(left)">
                                      <p:cBhvr>
                                        <p:cTn id="7" dur="500"/>
                                        <p:tgtEl>
                                          <p:spTgt spid="2457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5763"/>
                                        </p:tgtEl>
                                        <p:attrNameLst>
                                          <p:attrName>style.visibility</p:attrName>
                                        </p:attrNameLst>
                                      </p:cBhvr>
                                      <p:to>
                                        <p:strVal val="visible"/>
                                      </p:to>
                                    </p:set>
                                    <p:animEffect transition="in" filter="wipe(left)">
                                      <p:cBhvr>
                                        <p:cTn id="12" dur="500"/>
                                        <p:tgtEl>
                                          <p:spTgt spid="2457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765"/>
                                        </p:tgtEl>
                                        <p:attrNameLst>
                                          <p:attrName>style.visibility</p:attrName>
                                        </p:attrNameLst>
                                      </p:cBhvr>
                                      <p:to>
                                        <p:strVal val="visible"/>
                                      </p:to>
                                    </p:set>
                                    <p:animEffect transition="in" filter="wipe(left)">
                                      <p:cBhvr>
                                        <p:cTn id="17" dur="500"/>
                                        <p:tgtEl>
                                          <p:spTgt spid="2457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5764"/>
                                        </p:tgtEl>
                                        <p:attrNameLst>
                                          <p:attrName>style.visibility</p:attrName>
                                        </p:attrNameLst>
                                      </p:cBhvr>
                                      <p:to>
                                        <p:strVal val="visible"/>
                                      </p:to>
                                    </p:set>
                                    <p:animEffect transition="in" filter="wipe(left)">
                                      <p:cBhvr>
                                        <p:cTn id="22" dur="500"/>
                                        <p:tgtEl>
                                          <p:spTgt spid="2457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5769"/>
                                        </p:tgtEl>
                                        <p:attrNameLst>
                                          <p:attrName>style.visibility</p:attrName>
                                        </p:attrNameLst>
                                      </p:cBhvr>
                                      <p:to>
                                        <p:strVal val="visible"/>
                                      </p:to>
                                    </p:set>
                                    <p:animEffect transition="in" filter="wipe(left)">
                                      <p:cBhvr>
                                        <p:cTn id="27" dur="500"/>
                                        <p:tgtEl>
                                          <p:spTgt spid="2457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5766"/>
                                        </p:tgtEl>
                                        <p:attrNameLst>
                                          <p:attrName>style.visibility</p:attrName>
                                        </p:attrNameLst>
                                      </p:cBhvr>
                                      <p:to>
                                        <p:strVal val="visible"/>
                                      </p:to>
                                    </p:set>
                                    <p:animEffect transition="in" filter="wipe(left)">
                                      <p:cBhvr>
                                        <p:cTn id="32" dur="500"/>
                                        <p:tgtEl>
                                          <p:spTgt spid="24576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5767"/>
                                        </p:tgtEl>
                                        <p:attrNameLst>
                                          <p:attrName>style.visibility</p:attrName>
                                        </p:attrNameLst>
                                      </p:cBhvr>
                                      <p:to>
                                        <p:strVal val="visible"/>
                                      </p:to>
                                    </p:set>
                                    <p:animEffect transition="in" filter="wipe(left)">
                                      <p:cBhvr>
                                        <p:cTn id="37" dur="500"/>
                                        <p:tgtEl>
                                          <p:spTgt spid="24576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45770"/>
                                        </p:tgtEl>
                                        <p:attrNameLst>
                                          <p:attrName>style.visibility</p:attrName>
                                        </p:attrNameLst>
                                      </p:cBhvr>
                                      <p:to>
                                        <p:strVal val="visible"/>
                                      </p:to>
                                    </p:set>
                                    <p:animEffect transition="in" filter="wipe(left)">
                                      <p:cBhvr>
                                        <p:cTn id="42" dur="500"/>
                                        <p:tgtEl>
                                          <p:spTgt spid="24577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45768"/>
                                        </p:tgtEl>
                                        <p:attrNameLst>
                                          <p:attrName>style.visibility</p:attrName>
                                        </p:attrNameLst>
                                      </p:cBhvr>
                                      <p:to>
                                        <p:strVal val="visible"/>
                                      </p:to>
                                    </p:set>
                                    <p:animEffect transition="in" filter="wipe(left)">
                                      <p:cBhvr>
                                        <p:cTn id="47" dur="500"/>
                                        <p:tgtEl>
                                          <p:spTgt spid="24576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45771"/>
                                        </p:tgtEl>
                                        <p:attrNameLst>
                                          <p:attrName>style.visibility</p:attrName>
                                        </p:attrNameLst>
                                      </p:cBhvr>
                                      <p:to>
                                        <p:strVal val="visible"/>
                                      </p:to>
                                    </p:set>
                                    <p:animEffect transition="in" filter="wipe(left)">
                                      <p:cBhvr>
                                        <p:cTn id="52" dur="500"/>
                                        <p:tgtEl>
                                          <p:spTgt spid="24577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5772"/>
                                        </p:tgtEl>
                                        <p:attrNameLst>
                                          <p:attrName>style.visibility</p:attrName>
                                        </p:attrNameLst>
                                      </p:cBhvr>
                                      <p:to>
                                        <p:strVal val="visible"/>
                                      </p:to>
                                    </p:set>
                                    <p:animEffect transition="in" filter="wipe(left)">
                                      <p:cBhvr>
                                        <p:cTn id="57" dur="500"/>
                                        <p:tgtEl>
                                          <p:spTgt spid="245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2" grpId="0" autoUpdateAnimBg="0"/>
      <p:bldP spid="245765" grpId="0" autoUpdateAnimBg="0"/>
      <p:bldP spid="245766" grpId="0" autoUpdateAnimBg="0"/>
      <p:bldP spid="245772"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p:cNvSpPr txBox="1">
            <a:spLocks noChangeArrowheads="1"/>
          </p:cNvSpPr>
          <p:nvPr/>
        </p:nvSpPr>
        <p:spPr bwMode="auto">
          <a:xfrm>
            <a:off x="641350" y="5853113"/>
            <a:ext cx="3168650" cy="396875"/>
          </a:xfrm>
          <a:prstGeom prst="rect">
            <a:avLst/>
          </a:prstGeom>
          <a:noFill/>
          <a:ln w="9525">
            <a:noFill/>
            <a:miter lim="800000"/>
          </a:ln>
        </p:spPr>
        <p:txBody>
          <a:bodyPr>
            <a:spAutoFit/>
          </a:bodyPr>
          <a:lstStyle/>
          <a:p>
            <a:r>
              <a:rPr lang="en-US" altLang="zh-CN" sz="2000" b="1"/>
              <a:t>Sadi Carnot (1796~1832)</a:t>
            </a:r>
            <a:endParaRPr lang="en-US" altLang="zh-CN" sz="2000" b="1"/>
          </a:p>
        </p:txBody>
      </p:sp>
      <p:pic>
        <p:nvPicPr>
          <p:cNvPr id="63492" name="Picture 4" descr="Carnot_Sadi_2"/>
          <p:cNvPicPr>
            <a:picLocks noGrp="1" noChangeAspect="1" noChangeArrowheads="1"/>
          </p:cNvPicPr>
          <p:nvPr>
            <p:ph sz="half" idx="2"/>
          </p:nvPr>
        </p:nvPicPr>
        <p:blipFill>
          <a:blip r:embed="rId1"/>
          <a:srcRect/>
          <a:stretch>
            <a:fillRect/>
          </a:stretch>
        </p:blipFill>
        <p:spPr>
          <a:xfrm>
            <a:off x="250825" y="1484313"/>
            <a:ext cx="3341688" cy="4311650"/>
          </a:xfrm>
        </p:spPr>
      </p:pic>
      <p:sp>
        <p:nvSpPr>
          <p:cNvPr id="63493" name="Text Box 5"/>
          <p:cNvSpPr txBox="1">
            <a:spLocks noChangeArrowheads="1"/>
          </p:cNvSpPr>
          <p:nvPr/>
        </p:nvSpPr>
        <p:spPr bwMode="auto">
          <a:xfrm>
            <a:off x="3924300" y="1484313"/>
            <a:ext cx="4824413" cy="4664075"/>
          </a:xfrm>
          <a:prstGeom prst="rect">
            <a:avLst/>
          </a:prstGeom>
          <a:noFill/>
          <a:ln w="9525">
            <a:noFill/>
            <a:miter lim="800000"/>
          </a:ln>
        </p:spPr>
        <p:txBody>
          <a:bodyPr>
            <a:spAutoFit/>
          </a:bodyPr>
          <a:lstStyle/>
          <a:p>
            <a:pPr>
              <a:lnSpc>
                <a:spcPct val="125000"/>
              </a:lnSpc>
            </a:pPr>
            <a:r>
              <a:rPr lang="zh-CN" altLang="en-US" b="1">
                <a:solidFill>
                  <a:srgbClr val="FF0000"/>
                </a:solidFill>
                <a:latin typeface="楷体_GB2312" pitchFamily="49" charset="-122"/>
              </a:rPr>
              <a:t>萨迪</a:t>
            </a:r>
            <a:r>
              <a:rPr lang="en-US" altLang="zh-CN" b="1">
                <a:solidFill>
                  <a:srgbClr val="FF0000"/>
                </a:solidFill>
                <a:latin typeface="楷体_GB2312" pitchFamily="49" charset="-122"/>
              </a:rPr>
              <a:t>.</a:t>
            </a:r>
            <a:r>
              <a:rPr lang="zh-CN" altLang="en-US" b="1">
                <a:solidFill>
                  <a:srgbClr val="FF0000"/>
                </a:solidFill>
                <a:latin typeface="楷体_GB2312" pitchFamily="49" charset="-122"/>
              </a:rPr>
              <a:t>卡诺</a:t>
            </a:r>
            <a:r>
              <a:rPr lang="zh-CN" altLang="en-US" b="1">
                <a:latin typeface="楷体_GB2312" pitchFamily="49" charset="-122"/>
              </a:rPr>
              <a:t>是法国工程师。 他运用</a:t>
            </a:r>
            <a:r>
              <a:rPr lang="zh-CN" altLang="en-US" b="1"/>
              <a:t>“</a:t>
            </a:r>
            <a:r>
              <a:rPr lang="zh-CN" altLang="en-US" b="1">
                <a:latin typeface="楷体_GB2312" pitchFamily="49" charset="-122"/>
              </a:rPr>
              <a:t>理想实验</a:t>
            </a:r>
            <a:r>
              <a:rPr lang="zh-CN" altLang="en-US" b="1"/>
              <a:t>”</a:t>
            </a:r>
            <a:r>
              <a:rPr lang="zh-CN" altLang="en-US" b="1">
                <a:latin typeface="楷体_GB2312" pitchFamily="49" charset="-122"/>
              </a:rPr>
              <a:t>的思维方法，提出了最简单、但有重要理论意义的热机循环（</a:t>
            </a:r>
            <a:r>
              <a:rPr lang="zh-CN" altLang="en-US" b="1">
                <a:solidFill>
                  <a:srgbClr val="FF6600"/>
                </a:solidFill>
                <a:latin typeface="楷体_GB2312" pitchFamily="49" charset="-122"/>
              </a:rPr>
              <a:t>卡诺循环</a:t>
            </a:r>
            <a:r>
              <a:rPr lang="zh-CN" altLang="en-US" b="1">
                <a:latin typeface="楷体_GB2312" pitchFamily="49" charset="-122"/>
              </a:rPr>
              <a:t>），创造了与工质无关的理想热机模型（</a:t>
            </a:r>
            <a:r>
              <a:rPr lang="zh-CN" altLang="en-US" b="1">
                <a:solidFill>
                  <a:srgbClr val="FF6600"/>
                </a:solidFill>
                <a:latin typeface="楷体_GB2312" pitchFamily="49" charset="-122"/>
              </a:rPr>
              <a:t>卡诺热机</a:t>
            </a:r>
            <a:r>
              <a:rPr lang="zh-CN" altLang="en-US" b="1">
                <a:latin typeface="楷体_GB2312" pitchFamily="49" charset="-122"/>
              </a:rPr>
              <a:t>），揭示热产生动力的普遍的规律。</a:t>
            </a:r>
            <a:r>
              <a:rPr lang="en-US" altLang="zh-CN" b="1">
                <a:latin typeface="楷体_GB2312" pitchFamily="49" charset="-122"/>
              </a:rPr>
              <a:t>1824 </a:t>
            </a:r>
            <a:r>
              <a:rPr lang="zh-CN" altLang="en-US" b="1">
                <a:latin typeface="楷体_GB2312" pitchFamily="49" charset="-122"/>
              </a:rPr>
              <a:t>年提出了</a:t>
            </a:r>
            <a:r>
              <a:rPr lang="zh-CN" altLang="en-US" b="1">
                <a:solidFill>
                  <a:srgbClr val="FF6600"/>
                </a:solidFill>
                <a:latin typeface="楷体_GB2312" pitchFamily="49" charset="-122"/>
              </a:rPr>
              <a:t>卡诺定理</a:t>
            </a:r>
            <a:r>
              <a:rPr lang="zh-CN" altLang="en-US" b="1">
                <a:latin typeface="楷体_GB2312" pitchFamily="49" charset="-122"/>
              </a:rPr>
              <a:t>，指出了提高热机效率的有效途径，揭示了热力学的不可逆性，被后人认为是热力学第二定律的先驱。</a:t>
            </a:r>
            <a:endParaRPr lang="zh-CN" altLang="en-US" b="1">
              <a:latin typeface="楷体_GB2312" pitchFamily="49" charset="-122"/>
            </a:endParaRPr>
          </a:p>
        </p:txBody>
      </p:sp>
      <p:sp>
        <p:nvSpPr>
          <p:cNvPr id="7" name="Text Box 4"/>
          <p:cNvSpPr txBox="1">
            <a:spLocks noChangeArrowheads="1"/>
          </p:cNvSpPr>
          <p:nvPr/>
        </p:nvSpPr>
        <p:spPr bwMode="auto">
          <a:xfrm>
            <a:off x="179388" y="549275"/>
            <a:ext cx="5033962" cy="457200"/>
          </a:xfrm>
          <a:prstGeom prst="rect">
            <a:avLst/>
          </a:prstGeom>
          <a:noFill/>
          <a:ln w="12700" cap="sq">
            <a:noFill/>
            <a:miter lim="800000"/>
            <a:headEnd type="none" w="sm" len="sm"/>
            <a:tailEnd type="none" w="sm" len="sm"/>
          </a:ln>
        </p:spPr>
        <p:txBody>
          <a:bodyPr>
            <a:spAutoFit/>
          </a:bodyPr>
          <a:lstStyle/>
          <a:p>
            <a:r>
              <a:rPr kumimoji="1" lang="en-US" altLang="zh-CN" b="1">
                <a:solidFill>
                  <a:srgbClr val="0000FF"/>
                </a:solidFill>
              </a:rPr>
              <a:t>7.4.2  </a:t>
            </a:r>
            <a:r>
              <a:rPr kumimoji="1" lang="zh-CN" altLang="en-US" b="1">
                <a:solidFill>
                  <a:srgbClr val="0000FF"/>
                </a:solidFill>
              </a:rPr>
              <a:t>卡诺循环</a:t>
            </a:r>
            <a:endParaRPr kumimoji="1" lang="zh-CN" altLang="en-US" b="1">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box(out)">
                                      <p:cBhvr>
                                        <p:cTn id="7" dur="500"/>
                                        <p:tgtEl>
                                          <p:spTgt spid="6349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3491"/>
                                        </p:tgtEl>
                                        <p:attrNameLst>
                                          <p:attrName>style.visibility</p:attrName>
                                        </p:attrNameLst>
                                      </p:cBhvr>
                                      <p:to>
                                        <p:strVal val="visible"/>
                                      </p:to>
                                    </p:set>
                                    <p:animEffect transition="in" filter="wipe(left)">
                                      <p:cBhvr>
                                        <p:cTn id="11" dur="500"/>
                                        <p:tgtEl>
                                          <p:spTgt spid="6349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3493"/>
                                        </p:tgtEl>
                                        <p:attrNameLst>
                                          <p:attrName>style.visibility</p:attrName>
                                        </p:attrNameLst>
                                      </p:cBhvr>
                                      <p:to>
                                        <p:strVal val="visible"/>
                                      </p:to>
                                    </p:set>
                                    <p:animEffect transition="in" filter="wipe(left)">
                                      <p:cBhvr>
                                        <p:cTn id="15" dur="500"/>
                                        <p:tgtEl>
                                          <p:spTgt spid="6349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p:bldP spid="63493" grpId="0"/>
      <p:bldP spid="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250825" y="1357313"/>
            <a:ext cx="6842125" cy="461962"/>
          </a:xfrm>
          <a:prstGeom prst="rect">
            <a:avLst/>
          </a:prstGeom>
          <a:noFill/>
          <a:ln w="12700" cap="sq">
            <a:noFill/>
            <a:miter lim="800000"/>
            <a:headEnd type="none" w="sm" len="sm"/>
            <a:tailEnd type="none" w="sm" len="sm"/>
          </a:ln>
        </p:spPr>
        <p:txBody>
          <a:bodyPr>
            <a:spAutoFit/>
          </a:bodyPr>
          <a:lstStyle/>
          <a:p>
            <a:r>
              <a:rPr kumimoji="1" lang="zh-CN" altLang="en-US" b="1">
                <a:solidFill>
                  <a:srgbClr val="0000FF"/>
                </a:solidFill>
                <a:latin typeface="宋体" panose="02010600030101010101" pitchFamily="2" charset="-122"/>
              </a:rPr>
              <a:t>卡诺循环</a:t>
            </a:r>
            <a:endParaRPr kumimoji="1" lang="zh-CN" altLang="en-US" b="1">
              <a:solidFill>
                <a:srgbClr val="0000FF"/>
              </a:solidFill>
              <a:latin typeface="宋体" panose="02010600030101010101" pitchFamily="2" charset="-122"/>
            </a:endParaRPr>
          </a:p>
        </p:txBody>
      </p:sp>
      <p:pic>
        <p:nvPicPr>
          <p:cNvPr id="162820" name="Picture 4" descr="motor"/>
          <p:cNvPicPr>
            <a:picLocks noChangeAspect="1" noChangeArrowheads="1" noCrop="1"/>
          </p:cNvPicPr>
          <p:nvPr/>
        </p:nvPicPr>
        <p:blipFill>
          <a:blip r:embed="rId1"/>
          <a:srcRect/>
          <a:stretch>
            <a:fillRect/>
          </a:stretch>
        </p:blipFill>
        <p:spPr bwMode="auto">
          <a:xfrm>
            <a:off x="4427538" y="2293938"/>
            <a:ext cx="3671887" cy="2447925"/>
          </a:xfrm>
          <a:prstGeom prst="rect">
            <a:avLst/>
          </a:prstGeom>
          <a:noFill/>
          <a:ln w="9525">
            <a:noFill/>
            <a:miter lim="800000"/>
            <a:headEnd/>
            <a:tailEnd/>
          </a:ln>
        </p:spPr>
      </p:pic>
      <p:sp>
        <p:nvSpPr>
          <p:cNvPr id="162821" name="Text Box 5"/>
          <p:cNvSpPr txBox="1">
            <a:spLocks noChangeArrowheads="1"/>
          </p:cNvSpPr>
          <p:nvPr/>
        </p:nvSpPr>
        <p:spPr bwMode="auto">
          <a:xfrm>
            <a:off x="1187450" y="2438400"/>
            <a:ext cx="2736850" cy="457200"/>
          </a:xfrm>
          <a:prstGeom prst="rect">
            <a:avLst/>
          </a:prstGeom>
          <a:noFill/>
          <a:ln w="9525">
            <a:noFill/>
            <a:miter lim="800000"/>
          </a:ln>
        </p:spPr>
        <p:txBody>
          <a:bodyPr>
            <a:spAutoFit/>
          </a:bodyPr>
          <a:lstStyle/>
          <a:p>
            <a:r>
              <a:rPr lang="en-US" altLang="zh-CN" b="1"/>
              <a:t>A→B</a:t>
            </a:r>
            <a:r>
              <a:rPr lang="zh-CN" altLang="en-US" b="1"/>
              <a:t>：等温膨胀</a:t>
            </a:r>
            <a:endParaRPr lang="zh-CN" altLang="en-US" b="1"/>
          </a:p>
        </p:txBody>
      </p:sp>
      <p:sp>
        <p:nvSpPr>
          <p:cNvPr id="162822" name="Text Box 6"/>
          <p:cNvSpPr txBox="1">
            <a:spLocks noChangeArrowheads="1"/>
          </p:cNvSpPr>
          <p:nvPr/>
        </p:nvSpPr>
        <p:spPr bwMode="auto">
          <a:xfrm>
            <a:off x="1187450" y="3014663"/>
            <a:ext cx="2736850" cy="457200"/>
          </a:xfrm>
          <a:prstGeom prst="rect">
            <a:avLst/>
          </a:prstGeom>
          <a:noFill/>
          <a:ln w="9525">
            <a:noFill/>
            <a:miter lim="800000"/>
          </a:ln>
        </p:spPr>
        <p:txBody>
          <a:bodyPr>
            <a:spAutoFit/>
          </a:bodyPr>
          <a:lstStyle/>
          <a:p>
            <a:r>
              <a:rPr lang="en-US" altLang="zh-CN" b="1"/>
              <a:t>B→C</a:t>
            </a:r>
            <a:r>
              <a:rPr lang="zh-CN" altLang="en-US" b="1"/>
              <a:t>：绝热膨胀</a:t>
            </a:r>
            <a:endParaRPr lang="zh-CN" altLang="en-US" b="1"/>
          </a:p>
        </p:txBody>
      </p:sp>
      <p:sp>
        <p:nvSpPr>
          <p:cNvPr id="162823" name="Text Box 7"/>
          <p:cNvSpPr txBox="1">
            <a:spLocks noChangeArrowheads="1"/>
          </p:cNvSpPr>
          <p:nvPr/>
        </p:nvSpPr>
        <p:spPr bwMode="auto">
          <a:xfrm>
            <a:off x="1171575" y="3565525"/>
            <a:ext cx="2755900" cy="457200"/>
          </a:xfrm>
          <a:prstGeom prst="rect">
            <a:avLst/>
          </a:prstGeom>
          <a:noFill/>
          <a:ln w="9525">
            <a:noFill/>
            <a:miter lim="800000"/>
          </a:ln>
        </p:spPr>
        <p:txBody>
          <a:bodyPr>
            <a:spAutoFit/>
          </a:bodyPr>
          <a:lstStyle/>
          <a:p>
            <a:r>
              <a:rPr lang="en-US" altLang="zh-CN" b="1"/>
              <a:t>C→D</a:t>
            </a:r>
            <a:r>
              <a:rPr lang="zh-CN" altLang="en-US" b="1"/>
              <a:t>：等温压缩</a:t>
            </a:r>
            <a:endParaRPr lang="zh-CN" altLang="en-US" b="1"/>
          </a:p>
        </p:txBody>
      </p:sp>
      <p:sp>
        <p:nvSpPr>
          <p:cNvPr id="162824" name="Text Box 8"/>
          <p:cNvSpPr txBox="1">
            <a:spLocks noChangeArrowheads="1"/>
          </p:cNvSpPr>
          <p:nvPr/>
        </p:nvSpPr>
        <p:spPr bwMode="auto">
          <a:xfrm>
            <a:off x="1187450" y="4141788"/>
            <a:ext cx="2755900" cy="457200"/>
          </a:xfrm>
          <a:prstGeom prst="rect">
            <a:avLst/>
          </a:prstGeom>
          <a:noFill/>
          <a:ln w="9525">
            <a:noFill/>
            <a:miter lim="800000"/>
          </a:ln>
        </p:spPr>
        <p:txBody>
          <a:bodyPr>
            <a:spAutoFit/>
          </a:bodyPr>
          <a:lstStyle/>
          <a:p>
            <a:r>
              <a:rPr lang="en-US" altLang="zh-CN" b="1"/>
              <a:t>D→A</a:t>
            </a:r>
            <a:r>
              <a:rPr lang="zh-CN" altLang="en-US" b="1"/>
              <a:t>：绝热压缩</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2818"/>
                                        </p:tgtEl>
                                        <p:attrNameLst>
                                          <p:attrName>style.visibility</p:attrName>
                                        </p:attrNameLst>
                                      </p:cBhvr>
                                      <p:to>
                                        <p:strVal val="visible"/>
                                      </p:to>
                                    </p:set>
                                    <p:animEffect transition="in" filter="wipe(left)">
                                      <p:cBhvr>
                                        <p:cTn id="7" dur="500"/>
                                        <p:tgtEl>
                                          <p:spTgt spid="16281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62820"/>
                                        </p:tgtEl>
                                        <p:attrNameLst>
                                          <p:attrName>style.visibility</p:attrName>
                                        </p:attrNameLst>
                                      </p:cBhvr>
                                      <p:to>
                                        <p:strVal val="visible"/>
                                      </p:to>
                                    </p:set>
                                    <p:animEffect transition="in" filter="box(out)">
                                      <p:cBhvr>
                                        <p:cTn id="12" dur="500"/>
                                        <p:tgtEl>
                                          <p:spTgt spid="1628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2821"/>
                                        </p:tgtEl>
                                        <p:attrNameLst>
                                          <p:attrName>style.visibility</p:attrName>
                                        </p:attrNameLst>
                                      </p:cBhvr>
                                      <p:to>
                                        <p:strVal val="visible"/>
                                      </p:to>
                                    </p:set>
                                    <p:animEffect transition="in" filter="wipe(left)">
                                      <p:cBhvr>
                                        <p:cTn id="17" dur="500"/>
                                        <p:tgtEl>
                                          <p:spTgt spid="1628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2822"/>
                                        </p:tgtEl>
                                        <p:attrNameLst>
                                          <p:attrName>style.visibility</p:attrName>
                                        </p:attrNameLst>
                                      </p:cBhvr>
                                      <p:to>
                                        <p:strVal val="visible"/>
                                      </p:to>
                                    </p:set>
                                    <p:animEffect transition="in" filter="wipe(left)">
                                      <p:cBhvr>
                                        <p:cTn id="22" dur="500"/>
                                        <p:tgtEl>
                                          <p:spTgt spid="1628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2823"/>
                                        </p:tgtEl>
                                        <p:attrNameLst>
                                          <p:attrName>style.visibility</p:attrName>
                                        </p:attrNameLst>
                                      </p:cBhvr>
                                      <p:to>
                                        <p:strVal val="visible"/>
                                      </p:to>
                                    </p:set>
                                    <p:animEffect transition="in" filter="wipe(left)">
                                      <p:cBhvr>
                                        <p:cTn id="27" dur="500"/>
                                        <p:tgtEl>
                                          <p:spTgt spid="1628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2824"/>
                                        </p:tgtEl>
                                        <p:attrNameLst>
                                          <p:attrName>style.visibility</p:attrName>
                                        </p:attrNameLst>
                                      </p:cBhvr>
                                      <p:to>
                                        <p:strVal val="visible"/>
                                      </p:to>
                                    </p:set>
                                    <p:animEffect transition="in" filter="wipe(left)">
                                      <p:cBhvr>
                                        <p:cTn id="32" dur="500"/>
                                        <p:tgtEl>
                                          <p:spTgt spid="162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p:bldP spid="162821" grpId="0"/>
      <p:bldP spid="162822" grpId="0"/>
      <p:bldP spid="162823" grpId="0"/>
      <p:bldP spid="16282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Line 2"/>
          <p:cNvSpPr>
            <a:spLocks noChangeShapeType="1"/>
          </p:cNvSpPr>
          <p:nvPr/>
        </p:nvSpPr>
        <p:spPr bwMode="auto">
          <a:xfrm>
            <a:off x="6611938" y="1820863"/>
            <a:ext cx="0" cy="1655762"/>
          </a:xfrm>
          <a:prstGeom prst="line">
            <a:avLst/>
          </a:prstGeom>
          <a:noFill/>
          <a:ln w="9525">
            <a:solidFill>
              <a:schemeClr val="tx1"/>
            </a:solidFill>
            <a:prstDash val="lgDash"/>
            <a:round/>
          </a:ln>
        </p:spPr>
        <p:txBody>
          <a:bodyPr/>
          <a:lstStyle/>
          <a:p>
            <a:endParaRPr lang="zh-CN" altLang="en-US"/>
          </a:p>
        </p:txBody>
      </p:sp>
      <p:sp>
        <p:nvSpPr>
          <p:cNvPr id="163843" name="Line 3"/>
          <p:cNvSpPr>
            <a:spLocks noChangeShapeType="1"/>
          </p:cNvSpPr>
          <p:nvPr/>
        </p:nvSpPr>
        <p:spPr bwMode="auto">
          <a:xfrm>
            <a:off x="6869113" y="2644775"/>
            <a:ext cx="0" cy="820738"/>
          </a:xfrm>
          <a:prstGeom prst="line">
            <a:avLst/>
          </a:prstGeom>
          <a:noFill/>
          <a:ln w="9525">
            <a:solidFill>
              <a:schemeClr val="tx1"/>
            </a:solidFill>
            <a:prstDash val="lgDash"/>
            <a:round/>
          </a:ln>
        </p:spPr>
        <p:txBody>
          <a:bodyPr/>
          <a:lstStyle/>
          <a:p>
            <a:endParaRPr lang="zh-CN" altLang="en-US"/>
          </a:p>
        </p:txBody>
      </p:sp>
      <p:sp>
        <p:nvSpPr>
          <p:cNvPr id="163844" name="Line 4"/>
          <p:cNvSpPr>
            <a:spLocks noChangeShapeType="1"/>
          </p:cNvSpPr>
          <p:nvPr/>
        </p:nvSpPr>
        <p:spPr bwMode="auto">
          <a:xfrm>
            <a:off x="7500938" y="2260600"/>
            <a:ext cx="0" cy="1204913"/>
          </a:xfrm>
          <a:prstGeom prst="line">
            <a:avLst/>
          </a:prstGeom>
          <a:noFill/>
          <a:ln w="9525">
            <a:solidFill>
              <a:schemeClr val="tx1"/>
            </a:solidFill>
            <a:prstDash val="lgDash"/>
            <a:round/>
          </a:ln>
        </p:spPr>
        <p:txBody>
          <a:bodyPr/>
          <a:lstStyle/>
          <a:p>
            <a:endParaRPr lang="zh-CN" altLang="en-US"/>
          </a:p>
        </p:txBody>
      </p:sp>
      <p:sp>
        <p:nvSpPr>
          <p:cNvPr id="163845" name="Line 5"/>
          <p:cNvSpPr>
            <a:spLocks noChangeShapeType="1"/>
          </p:cNvSpPr>
          <p:nvPr/>
        </p:nvSpPr>
        <p:spPr bwMode="auto">
          <a:xfrm>
            <a:off x="8077200" y="2949575"/>
            <a:ext cx="0" cy="522288"/>
          </a:xfrm>
          <a:prstGeom prst="line">
            <a:avLst/>
          </a:prstGeom>
          <a:noFill/>
          <a:ln w="9525">
            <a:solidFill>
              <a:schemeClr val="tx1"/>
            </a:solidFill>
            <a:prstDash val="lgDash"/>
            <a:round/>
          </a:ln>
        </p:spPr>
        <p:txBody>
          <a:bodyPr/>
          <a:lstStyle/>
          <a:p>
            <a:endParaRPr lang="zh-CN" altLang="en-US"/>
          </a:p>
        </p:txBody>
      </p:sp>
      <p:sp>
        <p:nvSpPr>
          <p:cNvPr id="163846" name="Text Box 6"/>
          <p:cNvSpPr txBox="1">
            <a:spLocks noChangeArrowheads="1"/>
          </p:cNvSpPr>
          <p:nvPr/>
        </p:nvSpPr>
        <p:spPr bwMode="auto">
          <a:xfrm>
            <a:off x="77788" y="1917700"/>
            <a:ext cx="2940050" cy="457200"/>
          </a:xfrm>
          <a:prstGeom prst="rect">
            <a:avLst/>
          </a:prstGeom>
          <a:noFill/>
          <a:ln w="9525">
            <a:noFill/>
            <a:miter lim="800000"/>
          </a:ln>
        </p:spPr>
        <p:txBody>
          <a:bodyPr wrap="none">
            <a:spAutoFit/>
          </a:bodyPr>
          <a:lstStyle/>
          <a:p>
            <a:r>
              <a:rPr lang="en-US" altLang="zh-CN" b="1" i="1"/>
              <a:t>ab</a:t>
            </a:r>
            <a:r>
              <a:rPr lang="zh-CN" altLang="en-US" b="1"/>
              <a:t>为等温膨胀过程：</a:t>
            </a:r>
            <a:endParaRPr lang="zh-CN" altLang="en-US" b="1"/>
          </a:p>
        </p:txBody>
      </p:sp>
      <p:graphicFrame>
        <p:nvGraphicFramePr>
          <p:cNvPr id="163847" name="Object 7"/>
          <p:cNvGraphicFramePr>
            <a:graphicFrameLocks noChangeAspect="1"/>
          </p:cNvGraphicFramePr>
          <p:nvPr/>
        </p:nvGraphicFramePr>
        <p:xfrm>
          <a:off x="2887663" y="1701800"/>
          <a:ext cx="2751137" cy="865188"/>
        </p:xfrm>
        <a:graphic>
          <a:graphicData uri="http://schemas.openxmlformats.org/presentationml/2006/ole">
            <mc:AlternateContent xmlns:mc="http://schemas.openxmlformats.org/markup-compatibility/2006">
              <mc:Choice xmlns:v="urn:schemas-microsoft-com:vml" Requires="v">
                <p:oleObj spid="_x0000_s56321" name="Equation" r:id="rId1" imgW="32918400" imgH="10363200" progId="Equation.DSMT4">
                  <p:embed/>
                </p:oleObj>
              </mc:Choice>
              <mc:Fallback>
                <p:oleObj name="Equation" r:id="rId1" imgW="32918400" imgH="10363200" progId="Equation.DSMT4">
                  <p:embed/>
                  <p:pic>
                    <p:nvPicPr>
                      <p:cNvPr id="0" name="Object 7"/>
                      <p:cNvPicPr>
                        <a:picLocks noChangeAspect="1"/>
                      </p:cNvPicPr>
                      <p:nvPr/>
                    </p:nvPicPr>
                    <p:blipFill>
                      <a:blip r:embed="rId2"/>
                      <a:stretch>
                        <a:fillRect/>
                      </a:stretch>
                    </p:blipFill>
                    <p:spPr>
                      <a:xfrm>
                        <a:off x="2887663" y="1701800"/>
                        <a:ext cx="2751137" cy="865188"/>
                      </a:xfrm>
                      <a:prstGeom prst="rect">
                        <a:avLst/>
                      </a:prstGeom>
                      <a:noFill/>
                      <a:ln w="9525">
                        <a:noFill/>
                      </a:ln>
                    </p:spPr>
                  </p:pic>
                </p:oleObj>
              </mc:Fallback>
            </mc:AlternateContent>
          </a:graphicData>
        </a:graphic>
      </p:graphicFrame>
      <p:sp>
        <p:nvSpPr>
          <p:cNvPr id="163848" name="Text Box 8"/>
          <p:cNvSpPr txBox="1">
            <a:spLocks noChangeArrowheads="1"/>
          </p:cNvSpPr>
          <p:nvPr/>
        </p:nvSpPr>
        <p:spPr bwMode="auto">
          <a:xfrm>
            <a:off x="138113" y="2709863"/>
            <a:ext cx="2922587" cy="457200"/>
          </a:xfrm>
          <a:prstGeom prst="rect">
            <a:avLst/>
          </a:prstGeom>
          <a:noFill/>
          <a:ln w="9525">
            <a:noFill/>
            <a:miter lim="800000"/>
          </a:ln>
        </p:spPr>
        <p:txBody>
          <a:bodyPr wrap="none">
            <a:spAutoFit/>
          </a:bodyPr>
          <a:lstStyle/>
          <a:p>
            <a:r>
              <a:rPr lang="en-US" altLang="zh-CN" b="1" i="1"/>
              <a:t>bc</a:t>
            </a:r>
            <a:r>
              <a:rPr lang="zh-CN" altLang="en-US" b="1"/>
              <a:t>为绝热膨胀过程：</a:t>
            </a:r>
            <a:endParaRPr lang="zh-CN" altLang="en-US" b="1"/>
          </a:p>
        </p:txBody>
      </p:sp>
      <p:graphicFrame>
        <p:nvGraphicFramePr>
          <p:cNvPr id="163849" name="Object 9"/>
          <p:cNvGraphicFramePr>
            <a:graphicFrameLocks noChangeAspect="1"/>
          </p:cNvGraphicFramePr>
          <p:nvPr/>
        </p:nvGraphicFramePr>
        <p:xfrm>
          <a:off x="3030538" y="2636838"/>
          <a:ext cx="1054100" cy="511175"/>
        </p:xfrm>
        <a:graphic>
          <a:graphicData uri="http://schemas.openxmlformats.org/presentationml/2006/ole">
            <mc:AlternateContent xmlns:mc="http://schemas.openxmlformats.org/markup-compatibility/2006">
              <mc:Choice xmlns:v="urn:schemas-microsoft-com:vml" Requires="v">
                <p:oleObj spid="_x0000_s56323" name="Equation" r:id="rId3" imgW="11277600" imgH="5486400" progId="Equation.DSMT4">
                  <p:embed/>
                </p:oleObj>
              </mc:Choice>
              <mc:Fallback>
                <p:oleObj name="Equation" r:id="rId3" imgW="11277600" imgH="5486400" progId="Equation.DSMT4">
                  <p:embed/>
                  <p:pic>
                    <p:nvPicPr>
                      <p:cNvPr id="0" name="Object 9"/>
                      <p:cNvPicPr>
                        <a:picLocks noChangeAspect="1"/>
                      </p:cNvPicPr>
                      <p:nvPr/>
                    </p:nvPicPr>
                    <p:blipFill>
                      <a:blip r:embed="rId4"/>
                      <a:stretch>
                        <a:fillRect/>
                      </a:stretch>
                    </p:blipFill>
                    <p:spPr>
                      <a:xfrm>
                        <a:off x="3030538" y="2636838"/>
                        <a:ext cx="1054100" cy="511175"/>
                      </a:xfrm>
                      <a:prstGeom prst="rect">
                        <a:avLst/>
                      </a:prstGeom>
                      <a:noFill/>
                      <a:ln w="9525">
                        <a:noFill/>
                      </a:ln>
                    </p:spPr>
                  </p:pic>
                </p:oleObj>
              </mc:Fallback>
            </mc:AlternateContent>
          </a:graphicData>
        </a:graphic>
      </p:graphicFrame>
      <p:sp>
        <p:nvSpPr>
          <p:cNvPr id="163850" name="Text Box 10"/>
          <p:cNvSpPr txBox="1">
            <a:spLocks noChangeArrowheads="1"/>
          </p:cNvSpPr>
          <p:nvPr/>
        </p:nvSpPr>
        <p:spPr bwMode="auto">
          <a:xfrm>
            <a:off x="66675" y="3403600"/>
            <a:ext cx="2922588" cy="457200"/>
          </a:xfrm>
          <a:prstGeom prst="rect">
            <a:avLst/>
          </a:prstGeom>
          <a:noFill/>
          <a:ln w="9525">
            <a:noFill/>
            <a:miter lim="800000"/>
          </a:ln>
        </p:spPr>
        <p:txBody>
          <a:bodyPr wrap="none">
            <a:spAutoFit/>
          </a:bodyPr>
          <a:lstStyle/>
          <a:p>
            <a:r>
              <a:rPr lang="en-US" altLang="zh-CN" b="1" i="1"/>
              <a:t>cd</a:t>
            </a:r>
            <a:r>
              <a:rPr lang="zh-CN" altLang="en-US" b="1"/>
              <a:t>为等温压缩过程：</a:t>
            </a:r>
            <a:endParaRPr lang="zh-CN" altLang="en-US" b="1"/>
          </a:p>
        </p:txBody>
      </p:sp>
      <p:graphicFrame>
        <p:nvGraphicFramePr>
          <p:cNvPr id="163851" name="Object 11"/>
          <p:cNvGraphicFramePr>
            <a:graphicFrameLocks noChangeAspect="1"/>
          </p:cNvGraphicFramePr>
          <p:nvPr/>
        </p:nvGraphicFramePr>
        <p:xfrm>
          <a:off x="2876550" y="3213100"/>
          <a:ext cx="2720975" cy="857250"/>
        </p:xfrm>
        <a:graphic>
          <a:graphicData uri="http://schemas.openxmlformats.org/presentationml/2006/ole">
            <mc:AlternateContent xmlns:mc="http://schemas.openxmlformats.org/markup-compatibility/2006">
              <mc:Choice xmlns:v="urn:schemas-microsoft-com:vml" Requires="v">
                <p:oleObj spid="_x0000_s56324" name="Equation" r:id="rId5" imgW="32918400" imgH="10363200" progId="Equation.DSMT4">
                  <p:embed/>
                </p:oleObj>
              </mc:Choice>
              <mc:Fallback>
                <p:oleObj name="Equation" r:id="rId5" imgW="32918400" imgH="10363200" progId="Equation.DSMT4">
                  <p:embed/>
                  <p:pic>
                    <p:nvPicPr>
                      <p:cNvPr id="0" name="Object 11"/>
                      <p:cNvPicPr>
                        <a:picLocks noChangeAspect="1"/>
                      </p:cNvPicPr>
                      <p:nvPr/>
                    </p:nvPicPr>
                    <p:blipFill>
                      <a:blip r:embed="rId6"/>
                      <a:stretch>
                        <a:fillRect/>
                      </a:stretch>
                    </p:blipFill>
                    <p:spPr>
                      <a:xfrm>
                        <a:off x="2876550" y="3213100"/>
                        <a:ext cx="2720975" cy="857250"/>
                      </a:xfrm>
                      <a:prstGeom prst="rect">
                        <a:avLst/>
                      </a:prstGeom>
                      <a:noFill/>
                      <a:ln w="9525">
                        <a:noFill/>
                      </a:ln>
                    </p:spPr>
                  </p:pic>
                </p:oleObj>
              </mc:Fallback>
            </mc:AlternateContent>
          </a:graphicData>
        </a:graphic>
      </p:graphicFrame>
      <p:sp>
        <p:nvSpPr>
          <p:cNvPr id="163852" name="Text Box 12"/>
          <p:cNvSpPr txBox="1">
            <a:spLocks noChangeArrowheads="1"/>
          </p:cNvSpPr>
          <p:nvPr/>
        </p:nvSpPr>
        <p:spPr bwMode="auto">
          <a:xfrm>
            <a:off x="77788" y="4076700"/>
            <a:ext cx="2940050" cy="457200"/>
          </a:xfrm>
          <a:prstGeom prst="rect">
            <a:avLst/>
          </a:prstGeom>
          <a:noFill/>
          <a:ln w="9525">
            <a:noFill/>
            <a:miter lim="800000"/>
          </a:ln>
        </p:spPr>
        <p:txBody>
          <a:bodyPr wrap="none">
            <a:spAutoFit/>
          </a:bodyPr>
          <a:lstStyle/>
          <a:p>
            <a:r>
              <a:rPr lang="en-US" altLang="zh-CN" b="1" i="1"/>
              <a:t>da</a:t>
            </a:r>
            <a:r>
              <a:rPr lang="zh-CN" altLang="en-US" b="1"/>
              <a:t>为绝热压缩过程：</a:t>
            </a:r>
            <a:endParaRPr lang="zh-CN" altLang="en-US" b="1"/>
          </a:p>
        </p:txBody>
      </p:sp>
      <p:graphicFrame>
        <p:nvGraphicFramePr>
          <p:cNvPr id="163853" name="Object 13"/>
          <p:cNvGraphicFramePr>
            <a:graphicFrameLocks noChangeAspect="1"/>
          </p:cNvGraphicFramePr>
          <p:nvPr/>
        </p:nvGraphicFramePr>
        <p:xfrm>
          <a:off x="3016250" y="4070350"/>
          <a:ext cx="1082675" cy="511175"/>
        </p:xfrm>
        <a:graphic>
          <a:graphicData uri="http://schemas.openxmlformats.org/presentationml/2006/ole">
            <mc:AlternateContent xmlns:mc="http://schemas.openxmlformats.org/markup-compatibility/2006">
              <mc:Choice xmlns:v="urn:schemas-microsoft-com:vml" Requires="v">
                <p:oleObj spid="_x0000_s56325" name="Equation" r:id="rId7" imgW="11582400" imgH="5486400" progId="Equation.DSMT4">
                  <p:embed/>
                </p:oleObj>
              </mc:Choice>
              <mc:Fallback>
                <p:oleObj name="Equation" r:id="rId7" imgW="11582400" imgH="5486400" progId="Equation.DSMT4">
                  <p:embed/>
                  <p:pic>
                    <p:nvPicPr>
                      <p:cNvPr id="0" name="Object 13"/>
                      <p:cNvPicPr>
                        <a:picLocks noChangeAspect="1"/>
                      </p:cNvPicPr>
                      <p:nvPr/>
                    </p:nvPicPr>
                    <p:blipFill>
                      <a:blip r:embed="rId8"/>
                      <a:stretch>
                        <a:fillRect/>
                      </a:stretch>
                    </p:blipFill>
                    <p:spPr>
                      <a:xfrm>
                        <a:off x="3016250" y="4070350"/>
                        <a:ext cx="1082675" cy="511175"/>
                      </a:xfrm>
                      <a:prstGeom prst="rect">
                        <a:avLst/>
                      </a:prstGeom>
                      <a:noFill/>
                      <a:ln w="9525">
                        <a:noFill/>
                      </a:ln>
                    </p:spPr>
                  </p:pic>
                </p:oleObj>
              </mc:Fallback>
            </mc:AlternateContent>
          </a:graphicData>
        </a:graphic>
      </p:graphicFrame>
      <p:grpSp>
        <p:nvGrpSpPr>
          <p:cNvPr id="2" name="Group 14"/>
          <p:cNvGrpSpPr/>
          <p:nvPr/>
        </p:nvGrpSpPr>
        <p:grpSpPr bwMode="auto">
          <a:xfrm>
            <a:off x="5724525" y="1196975"/>
            <a:ext cx="3384550" cy="2473325"/>
            <a:chOff x="3606" y="754"/>
            <a:chExt cx="2132" cy="1558"/>
          </a:xfrm>
        </p:grpSpPr>
        <p:sp>
          <p:nvSpPr>
            <p:cNvPr id="56365" name="Text Box 15"/>
            <p:cNvSpPr txBox="1">
              <a:spLocks noChangeArrowheads="1"/>
            </p:cNvSpPr>
            <p:nvPr/>
          </p:nvSpPr>
          <p:spPr bwMode="auto">
            <a:xfrm>
              <a:off x="3651" y="754"/>
              <a:ext cx="408" cy="288"/>
            </a:xfrm>
            <a:prstGeom prst="rect">
              <a:avLst/>
            </a:prstGeom>
            <a:noFill/>
            <a:ln w="9525">
              <a:noFill/>
              <a:miter lim="800000"/>
            </a:ln>
          </p:spPr>
          <p:txBody>
            <a:bodyPr>
              <a:spAutoFit/>
            </a:bodyPr>
            <a:lstStyle/>
            <a:p>
              <a:r>
                <a:rPr lang="en-US" altLang="zh-CN" b="1" i="1"/>
                <a:t>p</a:t>
              </a:r>
              <a:endParaRPr lang="en-US" altLang="zh-CN" b="1" i="1"/>
            </a:p>
          </p:txBody>
        </p:sp>
        <p:sp>
          <p:nvSpPr>
            <p:cNvPr id="56366" name="Line 16"/>
            <p:cNvSpPr>
              <a:spLocks noChangeShapeType="1"/>
            </p:cNvSpPr>
            <p:nvPr/>
          </p:nvSpPr>
          <p:spPr bwMode="auto">
            <a:xfrm flipV="1">
              <a:off x="3878" y="968"/>
              <a:ext cx="0" cy="1224"/>
            </a:xfrm>
            <a:prstGeom prst="line">
              <a:avLst/>
            </a:prstGeom>
            <a:noFill/>
            <a:ln w="28575">
              <a:solidFill>
                <a:schemeClr val="tx1"/>
              </a:solidFill>
              <a:round/>
              <a:tailEnd type="triangle" w="med" len="med"/>
            </a:ln>
          </p:spPr>
          <p:txBody>
            <a:bodyPr/>
            <a:lstStyle/>
            <a:p>
              <a:endParaRPr lang="zh-CN" altLang="en-US"/>
            </a:p>
          </p:txBody>
        </p:sp>
        <p:sp>
          <p:nvSpPr>
            <p:cNvPr id="56367" name="Line 17"/>
            <p:cNvSpPr>
              <a:spLocks noChangeShapeType="1"/>
            </p:cNvSpPr>
            <p:nvPr/>
          </p:nvSpPr>
          <p:spPr bwMode="auto">
            <a:xfrm>
              <a:off x="3868" y="2192"/>
              <a:ext cx="1462" cy="0"/>
            </a:xfrm>
            <a:prstGeom prst="line">
              <a:avLst/>
            </a:prstGeom>
            <a:noFill/>
            <a:ln w="28575">
              <a:solidFill>
                <a:schemeClr val="tx1"/>
              </a:solidFill>
              <a:round/>
              <a:tailEnd type="triangle" w="med" len="med"/>
            </a:ln>
          </p:spPr>
          <p:txBody>
            <a:bodyPr/>
            <a:lstStyle/>
            <a:p>
              <a:endParaRPr lang="zh-CN" altLang="en-US"/>
            </a:p>
          </p:txBody>
        </p:sp>
        <p:sp>
          <p:nvSpPr>
            <p:cNvPr id="56368" name="Text Box 18"/>
            <p:cNvSpPr txBox="1">
              <a:spLocks noChangeArrowheads="1"/>
            </p:cNvSpPr>
            <p:nvPr/>
          </p:nvSpPr>
          <p:spPr bwMode="auto">
            <a:xfrm>
              <a:off x="5358" y="2024"/>
              <a:ext cx="380" cy="288"/>
            </a:xfrm>
            <a:prstGeom prst="rect">
              <a:avLst/>
            </a:prstGeom>
            <a:noFill/>
            <a:ln w="9525">
              <a:noFill/>
              <a:miter lim="800000"/>
            </a:ln>
          </p:spPr>
          <p:txBody>
            <a:bodyPr>
              <a:spAutoFit/>
            </a:bodyPr>
            <a:lstStyle/>
            <a:p>
              <a:r>
                <a:rPr lang="en-US" altLang="zh-CN" b="1" i="1"/>
                <a:t>V</a:t>
              </a:r>
              <a:endParaRPr lang="en-US" altLang="zh-CN" b="1" i="1"/>
            </a:p>
          </p:txBody>
        </p:sp>
        <p:sp>
          <p:nvSpPr>
            <p:cNvPr id="56369" name="Text Box 19"/>
            <p:cNvSpPr txBox="1">
              <a:spLocks noChangeArrowheads="1"/>
            </p:cNvSpPr>
            <p:nvPr/>
          </p:nvSpPr>
          <p:spPr bwMode="auto">
            <a:xfrm>
              <a:off x="3606" y="2011"/>
              <a:ext cx="408" cy="288"/>
            </a:xfrm>
            <a:prstGeom prst="rect">
              <a:avLst/>
            </a:prstGeom>
            <a:noFill/>
            <a:ln w="9525">
              <a:noFill/>
              <a:miter lim="800000"/>
            </a:ln>
          </p:spPr>
          <p:txBody>
            <a:bodyPr>
              <a:spAutoFit/>
            </a:bodyPr>
            <a:lstStyle/>
            <a:p>
              <a:r>
                <a:rPr lang="en-US" altLang="zh-CN" b="1" i="1"/>
                <a:t>O</a:t>
              </a:r>
              <a:endParaRPr lang="en-US" altLang="zh-CN" b="1" i="1"/>
            </a:p>
          </p:txBody>
        </p:sp>
      </p:grpSp>
      <p:grpSp>
        <p:nvGrpSpPr>
          <p:cNvPr id="3" name="Group 20"/>
          <p:cNvGrpSpPr/>
          <p:nvPr/>
        </p:nvGrpSpPr>
        <p:grpSpPr bwMode="auto">
          <a:xfrm>
            <a:off x="6605588" y="1812925"/>
            <a:ext cx="919162" cy="463550"/>
            <a:chOff x="4161" y="1142"/>
            <a:chExt cx="579" cy="292"/>
          </a:xfrm>
        </p:grpSpPr>
        <p:sp>
          <p:nvSpPr>
            <p:cNvPr id="56363" name="Freeform 21"/>
            <p:cNvSpPr/>
            <p:nvPr/>
          </p:nvSpPr>
          <p:spPr bwMode="auto">
            <a:xfrm>
              <a:off x="4161" y="1142"/>
              <a:ext cx="579" cy="292"/>
            </a:xfrm>
            <a:custGeom>
              <a:avLst/>
              <a:gdLst>
                <a:gd name="T0" fmla="*/ 0 w 579"/>
                <a:gd name="T1" fmla="*/ 0 h 292"/>
                <a:gd name="T2" fmla="*/ 154 w 579"/>
                <a:gd name="T3" fmla="*/ 135 h 292"/>
                <a:gd name="T4" fmla="*/ 346 w 579"/>
                <a:gd name="T5" fmla="*/ 231 h 292"/>
                <a:gd name="T6" fmla="*/ 579 w 579"/>
                <a:gd name="T7" fmla="*/ 292 h 292"/>
                <a:gd name="T8" fmla="*/ 0 60000 65536"/>
                <a:gd name="T9" fmla="*/ 0 60000 65536"/>
                <a:gd name="T10" fmla="*/ 0 60000 65536"/>
                <a:gd name="T11" fmla="*/ 0 60000 65536"/>
                <a:gd name="T12" fmla="*/ 0 w 579"/>
                <a:gd name="T13" fmla="*/ 0 h 292"/>
                <a:gd name="T14" fmla="*/ 579 w 579"/>
                <a:gd name="T15" fmla="*/ 292 h 292"/>
              </a:gdLst>
              <a:ahLst/>
              <a:cxnLst>
                <a:cxn ang="T8">
                  <a:pos x="T0" y="T1"/>
                </a:cxn>
                <a:cxn ang="T9">
                  <a:pos x="T2" y="T3"/>
                </a:cxn>
                <a:cxn ang="T10">
                  <a:pos x="T4" y="T5"/>
                </a:cxn>
                <a:cxn ang="T11">
                  <a:pos x="T6" y="T7"/>
                </a:cxn>
              </a:cxnLst>
              <a:rect l="T12" t="T13" r="T14" b="T15"/>
              <a:pathLst>
                <a:path w="579" h="292">
                  <a:moveTo>
                    <a:pt x="0" y="0"/>
                  </a:moveTo>
                  <a:cubicBezTo>
                    <a:pt x="26" y="22"/>
                    <a:pt x="96" y="97"/>
                    <a:pt x="154" y="135"/>
                  </a:cubicBezTo>
                  <a:cubicBezTo>
                    <a:pt x="212" y="173"/>
                    <a:pt x="275" y="205"/>
                    <a:pt x="346" y="231"/>
                  </a:cubicBezTo>
                  <a:cubicBezTo>
                    <a:pt x="417" y="257"/>
                    <a:pt x="531" y="279"/>
                    <a:pt x="579" y="292"/>
                  </a:cubicBezTo>
                </a:path>
              </a:pathLst>
            </a:custGeom>
            <a:noFill/>
            <a:ln w="38100">
              <a:solidFill>
                <a:srgbClr val="3333CC"/>
              </a:solidFill>
              <a:round/>
            </a:ln>
          </p:spPr>
          <p:txBody>
            <a:bodyPr/>
            <a:lstStyle/>
            <a:p>
              <a:pPr algn="ctr"/>
              <a:endParaRPr lang="zh-CN" altLang="en-US" b="1"/>
            </a:p>
          </p:txBody>
        </p:sp>
        <p:sp>
          <p:nvSpPr>
            <p:cNvPr id="56364" name="Line 22"/>
            <p:cNvSpPr>
              <a:spLocks noChangeShapeType="1"/>
            </p:cNvSpPr>
            <p:nvPr/>
          </p:nvSpPr>
          <p:spPr bwMode="auto">
            <a:xfrm>
              <a:off x="4286" y="1253"/>
              <a:ext cx="137" cy="91"/>
            </a:xfrm>
            <a:prstGeom prst="line">
              <a:avLst/>
            </a:prstGeom>
            <a:noFill/>
            <a:ln w="38100">
              <a:solidFill>
                <a:srgbClr val="3333CC"/>
              </a:solidFill>
              <a:round/>
              <a:tailEnd type="triangle" w="med" len="med"/>
            </a:ln>
          </p:spPr>
          <p:txBody>
            <a:bodyPr/>
            <a:lstStyle/>
            <a:p>
              <a:endParaRPr lang="zh-CN" altLang="en-US"/>
            </a:p>
          </p:txBody>
        </p:sp>
      </p:grpSp>
      <p:grpSp>
        <p:nvGrpSpPr>
          <p:cNvPr id="4" name="Group 23"/>
          <p:cNvGrpSpPr/>
          <p:nvPr/>
        </p:nvGrpSpPr>
        <p:grpSpPr bwMode="auto">
          <a:xfrm>
            <a:off x="7513638" y="2270125"/>
            <a:ext cx="593725" cy="693738"/>
            <a:chOff x="4733" y="1430"/>
            <a:chExt cx="374" cy="437"/>
          </a:xfrm>
        </p:grpSpPr>
        <p:sp>
          <p:nvSpPr>
            <p:cNvPr id="56361" name="Freeform 24"/>
            <p:cNvSpPr/>
            <p:nvPr/>
          </p:nvSpPr>
          <p:spPr bwMode="auto">
            <a:xfrm>
              <a:off x="4733" y="1430"/>
              <a:ext cx="374" cy="437"/>
            </a:xfrm>
            <a:custGeom>
              <a:avLst/>
              <a:gdLst>
                <a:gd name="T0" fmla="*/ 0 w 374"/>
                <a:gd name="T1" fmla="*/ 0 h 437"/>
                <a:gd name="T2" fmla="*/ 58 w 374"/>
                <a:gd name="T3" fmla="*/ 120 h 437"/>
                <a:gd name="T4" fmla="*/ 154 w 374"/>
                <a:gd name="T5" fmla="*/ 254 h 437"/>
                <a:gd name="T6" fmla="*/ 245 w 374"/>
                <a:gd name="T7" fmla="*/ 346 h 437"/>
                <a:gd name="T8" fmla="*/ 374 w 374"/>
                <a:gd name="T9" fmla="*/ 437 h 437"/>
                <a:gd name="T10" fmla="*/ 0 60000 65536"/>
                <a:gd name="T11" fmla="*/ 0 60000 65536"/>
                <a:gd name="T12" fmla="*/ 0 60000 65536"/>
                <a:gd name="T13" fmla="*/ 0 60000 65536"/>
                <a:gd name="T14" fmla="*/ 0 60000 65536"/>
                <a:gd name="T15" fmla="*/ 0 w 374"/>
                <a:gd name="T16" fmla="*/ 0 h 437"/>
                <a:gd name="T17" fmla="*/ 374 w 374"/>
                <a:gd name="T18" fmla="*/ 437 h 437"/>
              </a:gdLst>
              <a:ahLst/>
              <a:cxnLst>
                <a:cxn ang="T10">
                  <a:pos x="T0" y="T1"/>
                </a:cxn>
                <a:cxn ang="T11">
                  <a:pos x="T2" y="T3"/>
                </a:cxn>
                <a:cxn ang="T12">
                  <a:pos x="T4" y="T5"/>
                </a:cxn>
                <a:cxn ang="T13">
                  <a:pos x="T6" y="T7"/>
                </a:cxn>
                <a:cxn ang="T14">
                  <a:pos x="T8" y="T9"/>
                </a:cxn>
              </a:cxnLst>
              <a:rect l="T15" t="T16" r="T17" b="T18"/>
              <a:pathLst>
                <a:path w="374" h="437">
                  <a:moveTo>
                    <a:pt x="0" y="0"/>
                  </a:moveTo>
                  <a:cubicBezTo>
                    <a:pt x="9" y="20"/>
                    <a:pt x="32" y="78"/>
                    <a:pt x="58" y="120"/>
                  </a:cubicBezTo>
                  <a:cubicBezTo>
                    <a:pt x="84" y="162"/>
                    <a:pt x="123" y="216"/>
                    <a:pt x="154" y="254"/>
                  </a:cubicBezTo>
                  <a:cubicBezTo>
                    <a:pt x="185" y="292"/>
                    <a:pt x="208" y="316"/>
                    <a:pt x="245" y="346"/>
                  </a:cubicBezTo>
                  <a:cubicBezTo>
                    <a:pt x="282" y="376"/>
                    <a:pt x="347" y="418"/>
                    <a:pt x="374" y="437"/>
                  </a:cubicBezTo>
                </a:path>
              </a:pathLst>
            </a:custGeom>
            <a:noFill/>
            <a:ln w="38100">
              <a:solidFill>
                <a:srgbClr val="3333CC"/>
              </a:solidFill>
              <a:round/>
            </a:ln>
          </p:spPr>
          <p:txBody>
            <a:bodyPr/>
            <a:lstStyle/>
            <a:p>
              <a:pPr algn="ctr"/>
              <a:endParaRPr lang="zh-CN" altLang="en-US" b="1"/>
            </a:p>
          </p:txBody>
        </p:sp>
        <p:sp>
          <p:nvSpPr>
            <p:cNvPr id="56362" name="Line 25"/>
            <p:cNvSpPr>
              <a:spLocks noChangeShapeType="1"/>
            </p:cNvSpPr>
            <p:nvPr/>
          </p:nvSpPr>
          <p:spPr bwMode="auto">
            <a:xfrm rot="1857826">
              <a:off x="4795" y="1606"/>
              <a:ext cx="91" cy="45"/>
            </a:xfrm>
            <a:prstGeom prst="line">
              <a:avLst/>
            </a:prstGeom>
            <a:noFill/>
            <a:ln w="38100">
              <a:solidFill>
                <a:srgbClr val="3333CC"/>
              </a:solidFill>
              <a:round/>
              <a:tailEnd type="triangle" w="med" len="med"/>
            </a:ln>
          </p:spPr>
          <p:txBody>
            <a:bodyPr/>
            <a:lstStyle/>
            <a:p>
              <a:endParaRPr lang="zh-CN" altLang="en-US"/>
            </a:p>
          </p:txBody>
        </p:sp>
      </p:grpSp>
      <p:grpSp>
        <p:nvGrpSpPr>
          <p:cNvPr id="5" name="Group 26"/>
          <p:cNvGrpSpPr/>
          <p:nvPr/>
        </p:nvGrpSpPr>
        <p:grpSpPr bwMode="auto">
          <a:xfrm>
            <a:off x="6872288" y="2652713"/>
            <a:ext cx="1228725" cy="312737"/>
            <a:chOff x="4329" y="1671"/>
            <a:chExt cx="774" cy="197"/>
          </a:xfrm>
        </p:grpSpPr>
        <p:sp>
          <p:nvSpPr>
            <p:cNvPr id="56359" name="Freeform 27"/>
            <p:cNvSpPr/>
            <p:nvPr/>
          </p:nvSpPr>
          <p:spPr bwMode="auto">
            <a:xfrm>
              <a:off x="4329" y="1671"/>
              <a:ext cx="774" cy="197"/>
            </a:xfrm>
            <a:custGeom>
              <a:avLst/>
              <a:gdLst>
                <a:gd name="T0" fmla="*/ 774 w 774"/>
                <a:gd name="T1" fmla="*/ 197 h 197"/>
                <a:gd name="T2" fmla="*/ 572 w 774"/>
                <a:gd name="T3" fmla="*/ 171 h 197"/>
                <a:gd name="T4" fmla="*/ 375 w 774"/>
                <a:gd name="T5" fmla="*/ 128 h 197"/>
                <a:gd name="T6" fmla="*/ 178 w 774"/>
                <a:gd name="T7" fmla="*/ 76 h 197"/>
                <a:gd name="T8" fmla="*/ 0 w 774"/>
                <a:gd name="T9" fmla="*/ 0 h 197"/>
                <a:gd name="T10" fmla="*/ 0 60000 65536"/>
                <a:gd name="T11" fmla="*/ 0 60000 65536"/>
                <a:gd name="T12" fmla="*/ 0 60000 65536"/>
                <a:gd name="T13" fmla="*/ 0 60000 65536"/>
                <a:gd name="T14" fmla="*/ 0 60000 65536"/>
                <a:gd name="T15" fmla="*/ 0 w 774"/>
                <a:gd name="T16" fmla="*/ 0 h 197"/>
                <a:gd name="T17" fmla="*/ 774 w 774"/>
                <a:gd name="T18" fmla="*/ 197 h 197"/>
              </a:gdLst>
              <a:ahLst/>
              <a:cxnLst>
                <a:cxn ang="T10">
                  <a:pos x="T0" y="T1"/>
                </a:cxn>
                <a:cxn ang="T11">
                  <a:pos x="T2" y="T3"/>
                </a:cxn>
                <a:cxn ang="T12">
                  <a:pos x="T4" y="T5"/>
                </a:cxn>
                <a:cxn ang="T13">
                  <a:pos x="T6" y="T7"/>
                </a:cxn>
                <a:cxn ang="T14">
                  <a:pos x="T8" y="T9"/>
                </a:cxn>
              </a:cxnLst>
              <a:rect l="T15" t="T16" r="T17" b="T18"/>
              <a:pathLst>
                <a:path w="774" h="197">
                  <a:moveTo>
                    <a:pt x="774" y="197"/>
                  </a:moveTo>
                  <a:cubicBezTo>
                    <a:pt x="740" y="193"/>
                    <a:pt x="638" y="182"/>
                    <a:pt x="572" y="171"/>
                  </a:cubicBezTo>
                  <a:cubicBezTo>
                    <a:pt x="506" y="160"/>
                    <a:pt x="441" y="144"/>
                    <a:pt x="375" y="128"/>
                  </a:cubicBezTo>
                  <a:cubicBezTo>
                    <a:pt x="309" y="112"/>
                    <a:pt x="240" y="97"/>
                    <a:pt x="178" y="76"/>
                  </a:cubicBezTo>
                  <a:cubicBezTo>
                    <a:pt x="116" y="55"/>
                    <a:pt x="37" y="16"/>
                    <a:pt x="0" y="0"/>
                  </a:cubicBezTo>
                </a:path>
              </a:pathLst>
            </a:custGeom>
            <a:noFill/>
            <a:ln w="38100">
              <a:solidFill>
                <a:srgbClr val="3333CC"/>
              </a:solidFill>
              <a:round/>
            </a:ln>
          </p:spPr>
          <p:txBody>
            <a:bodyPr/>
            <a:lstStyle/>
            <a:p>
              <a:pPr algn="ctr"/>
              <a:endParaRPr lang="zh-CN" altLang="en-US" b="1"/>
            </a:p>
          </p:txBody>
        </p:sp>
        <p:sp>
          <p:nvSpPr>
            <p:cNvPr id="56360" name="Line 28"/>
            <p:cNvSpPr>
              <a:spLocks noChangeShapeType="1"/>
            </p:cNvSpPr>
            <p:nvPr/>
          </p:nvSpPr>
          <p:spPr bwMode="auto">
            <a:xfrm rot="-414157" flipH="1" flipV="1">
              <a:off x="4604" y="1762"/>
              <a:ext cx="91" cy="45"/>
            </a:xfrm>
            <a:prstGeom prst="line">
              <a:avLst/>
            </a:prstGeom>
            <a:noFill/>
            <a:ln w="38100">
              <a:solidFill>
                <a:srgbClr val="3333CC"/>
              </a:solidFill>
              <a:round/>
              <a:tailEnd type="triangle" w="med" len="med"/>
            </a:ln>
          </p:spPr>
          <p:txBody>
            <a:bodyPr/>
            <a:lstStyle/>
            <a:p>
              <a:endParaRPr lang="zh-CN" altLang="en-US"/>
            </a:p>
          </p:txBody>
        </p:sp>
      </p:grpSp>
      <p:grpSp>
        <p:nvGrpSpPr>
          <p:cNvPr id="6" name="Group 29"/>
          <p:cNvGrpSpPr/>
          <p:nvPr/>
        </p:nvGrpSpPr>
        <p:grpSpPr bwMode="auto">
          <a:xfrm>
            <a:off x="6611938" y="1836738"/>
            <a:ext cx="260350" cy="822325"/>
            <a:chOff x="4165" y="1157"/>
            <a:chExt cx="164" cy="518"/>
          </a:xfrm>
        </p:grpSpPr>
        <p:sp>
          <p:nvSpPr>
            <p:cNvPr id="56357" name="Freeform 30"/>
            <p:cNvSpPr/>
            <p:nvPr/>
          </p:nvSpPr>
          <p:spPr bwMode="auto">
            <a:xfrm>
              <a:off x="4165" y="1157"/>
              <a:ext cx="164" cy="518"/>
            </a:xfrm>
            <a:custGeom>
              <a:avLst/>
              <a:gdLst>
                <a:gd name="T0" fmla="*/ 0 w 164"/>
                <a:gd name="T1" fmla="*/ 0 h 518"/>
                <a:gd name="T2" fmla="*/ 25 w 164"/>
                <a:gd name="T3" fmla="*/ 149 h 518"/>
                <a:gd name="T4" fmla="*/ 59 w 164"/>
                <a:gd name="T5" fmla="*/ 278 h 518"/>
                <a:gd name="T6" fmla="*/ 107 w 164"/>
                <a:gd name="T7" fmla="*/ 417 h 518"/>
                <a:gd name="T8" fmla="*/ 164 w 164"/>
                <a:gd name="T9" fmla="*/ 518 h 518"/>
                <a:gd name="T10" fmla="*/ 0 60000 65536"/>
                <a:gd name="T11" fmla="*/ 0 60000 65536"/>
                <a:gd name="T12" fmla="*/ 0 60000 65536"/>
                <a:gd name="T13" fmla="*/ 0 60000 65536"/>
                <a:gd name="T14" fmla="*/ 0 60000 65536"/>
                <a:gd name="T15" fmla="*/ 0 w 164"/>
                <a:gd name="T16" fmla="*/ 0 h 518"/>
                <a:gd name="T17" fmla="*/ 164 w 164"/>
                <a:gd name="T18" fmla="*/ 518 h 518"/>
              </a:gdLst>
              <a:ahLst/>
              <a:cxnLst>
                <a:cxn ang="T10">
                  <a:pos x="T0" y="T1"/>
                </a:cxn>
                <a:cxn ang="T11">
                  <a:pos x="T2" y="T3"/>
                </a:cxn>
                <a:cxn ang="T12">
                  <a:pos x="T4" y="T5"/>
                </a:cxn>
                <a:cxn ang="T13">
                  <a:pos x="T6" y="T7"/>
                </a:cxn>
                <a:cxn ang="T14">
                  <a:pos x="T8" y="T9"/>
                </a:cxn>
              </a:cxnLst>
              <a:rect l="T15" t="T16" r="T17" b="T18"/>
              <a:pathLst>
                <a:path w="164" h="518">
                  <a:moveTo>
                    <a:pt x="0" y="0"/>
                  </a:moveTo>
                  <a:cubicBezTo>
                    <a:pt x="4" y="25"/>
                    <a:pt x="15" y="103"/>
                    <a:pt x="25" y="149"/>
                  </a:cubicBezTo>
                  <a:cubicBezTo>
                    <a:pt x="35" y="195"/>
                    <a:pt x="45" y="233"/>
                    <a:pt x="59" y="278"/>
                  </a:cubicBezTo>
                  <a:cubicBezTo>
                    <a:pt x="73" y="323"/>
                    <a:pt x="90" y="377"/>
                    <a:pt x="107" y="417"/>
                  </a:cubicBezTo>
                  <a:cubicBezTo>
                    <a:pt x="124" y="457"/>
                    <a:pt x="152" y="497"/>
                    <a:pt x="164" y="518"/>
                  </a:cubicBezTo>
                </a:path>
              </a:pathLst>
            </a:custGeom>
            <a:noFill/>
            <a:ln w="38100">
              <a:solidFill>
                <a:srgbClr val="3333CC"/>
              </a:solidFill>
              <a:round/>
            </a:ln>
          </p:spPr>
          <p:txBody>
            <a:bodyPr/>
            <a:lstStyle/>
            <a:p>
              <a:pPr algn="ctr"/>
              <a:endParaRPr lang="zh-CN" altLang="en-US" b="1"/>
            </a:p>
          </p:txBody>
        </p:sp>
        <p:sp>
          <p:nvSpPr>
            <p:cNvPr id="56358" name="Line 31"/>
            <p:cNvSpPr>
              <a:spLocks noChangeShapeType="1"/>
            </p:cNvSpPr>
            <p:nvPr/>
          </p:nvSpPr>
          <p:spPr bwMode="auto">
            <a:xfrm flipH="1" flipV="1">
              <a:off x="4221" y="1434"/>
              <a:ext cx="45" cy="136"/>
            </a:xfrm>
            <a:prstGeom prst="line">
              <a:avLst/>
            </a:prstGeom>
            <a:noFill/>
            <a:ln w="38100">
              <a:solidFill>
                <a:srgbClr val="3333CC"/>
              </a:solidFill>
              <a:round/>
              <a:tailEnd type="triangle" w="med" len="med"/>
            </a:ln>
          </p:spPr>
          <p:txBody>
            <a:bodyPr/>
            <a:lstStyle/>
            <a:p>
              <a:endParaRPr lang="zh-CN" altLang="en-US"/>
            </a:p>
          </p:txBody>
        </p:sp>
      </p:grpSp>
      <p:sp>
        <p:nvSpPr>
          <p:cNvPr id="163872" name="Oval 32"/>
          <p:cNvSpPr>
            <a:spLocks noChangeArrowheads="1"/>
          </p:cNvSpPr>
          <p:nvPr/>
        </p:nvSpPr>
        <p:spPr bwMode="auto">
          <a:xfrm>
            <a:off x="6580188" y="1789113"/>
            <a:ext cx="73025" cy="71437"/>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163873" name="Oval 33"/>
          <p:cNvSpPr>
            <a:spLocks noChangeArrowheads="1"/>
          </p:cNvSpPr>
          <p:nvPr/>
        </p:nvSpPr>
        <p:spPr bwMode="auto">
          <a:xfrm>
            <a:off x="7459663" y="2228850"/>
            <a:ext cx="73025" cy="71438"/>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163874" name="Oval 34"/>
          <p:cNvSpPr>
            <a:spLocks noChangeArrowheads="1"/>
          </p:cNvSpPr>
          <p:nvPr/>
        </p:nvSpPr>
        <p:spPr bwMode="auto">
          <a:xfrm>
            <a:off x="8037513" y="2916238"/>
            <a:ext cx="73025" cy="71437"/>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163875" name="Oval 35"/>
          <p:cNvSpPr>
            <a:spLocks noChangeArrowheads="1"/>
          </p:cNvSpPr>
          <p:nvPr/>
        </p:nvSpPr>
        <p:spPr bwMode="auto">
          <a:xfrm>
            <a:off x="6835775" y="2600325"/>
            <a:ext cx="73025" cy="71438"/>
          </a:xfrm>
          <a:prstGeom prst="ellipse">
            <a:avLst/>
          </a:prstGeom>
          <a:solidFill>
            <a:srgbClr val="FF0000"/>
          </a:solidFill>
          <a:ln w="9525">
            <a:solidFill>
              <a:schemeClr val="tx1"/>
            </a:solidFill>
            <a:round/>
          </a:ln>
        </p:spPr>
        <p:txBody>
          <a:bodyPr wrap="none" anchor="ctr"/>
          <a:lstStyle/>
          <a:p>
            <a:pPr algn="ctr"/>
            <a:endParaRPr lang="zh-CN" altLang="en-US" b="1"/>
          </a:p>
        </p:txBody>
      </p:sp>
      <p:sp>
        <p:nvSpPr>
          <p:cNvPr id="163876" name="Text Box 36"/>
          <p:cNvSpPr txBox="1">
            <a:spLocks noChangeArrowheads="1"/>
          </p:cNvSpPr>
          <p:nvPr/>
        </p:nvSpPr>
        <p:spPr bwMode="auto">
          <a:xfrm>
            <a:off x="6445250" y="1412875"/>
            <a:ext cx="574675" cy="457200"/>
          </a:xfrm>
          <a:prstGeom prst="rect">
            <a:avLst/>
          </a:prstGeom>
          <a:noFill/>
          <a:ln w="9525">
            <a:noFill/>
            <a:miter lim="800000"/>
          </a:ln>
        </p:spPr>
        <p:txBody>
          <a:bodyPr>
            <a:spAutoFit/>
          </a:bodyPr>
          <a:lstStyle/>
          <a:p>
            <a:r>
              <a:rPr lang="en-US" altLang="zh-CN" b="1" i="1"/>
              <a:t>a</a:t>
            </a:r>
            <a:endParaRPr lang="en-US" altLang="zh-CN" b="1" i="1"/>
          </a:p>
        </p:txBody>
      </p:sp>
      <p:sp>
        <p:nvSpPr>
          <p:cNvPr id="163877" name="Text Box 37"/>
          <p:cNvSpPr txBox="1">
            <a:spLocks noChangeArrowheads="1"/>
          </p:cNvSpPr>
          <p:nvPr/>
        </p:nvSpPr>
        <p:spPr bwMode="auto">
          <a:xfrm>
            <a:off x="7380288" y="1844675"/>
            <a:ext cx="576262" cy="457200"/>
          </a:xfrm>
          <a:prstGeom prst="rect">
            <a:avLst/>
          </a:prstGeom>
          <a:noFill/>
          <a:ln w="9525">
            <a:noFill/>
            <a:miter lim="800000"/>
          </a:ln>
        </p:spPr>
        <p:txBody>
          <a:bodyPr>
            <a:spAutoFit/>
          </a:bodyPr>
          <a:lstStyle/>
          <a:p>
            <a:r>
              <a:rPr lang="en-US" altLang="zh-CN" b="1" i="1"/>
              <a:t>b</a:t>
            </a:r>
            <a:endParaRPr lang="en-US" altLang="zh-CN" b="1" i="1"/>
          </a:p>
        </p:txBody>
      </p:sp>
      <p:sp>
        <p:nvSpPr>
          <p:cNvPr id="163878" name="Text Box 38"/>
          <p:cNvSpPr txBox="1">
            <a:spLocks noChangeArrowheads="1"/>
          </p:cNvSpPr>
          <p:nvPr/>
        </p:nvSpPr>
        <p:spPr bwMode="auto">
          <a:xfrm>
            <a:off x="7997825" y="2540000"/>
            <a:ext cx="319088" cy="457200"/>
          </a:xfrm>
          <a:prstGeom prst="rect">
            <a:avLst/>
          </a:prstGeom>
          <a:noFill/>
          <a:ln w="9525">
            <a:noFill/>
            <a:miter lim="800000"/>
          </a:ln>
        </p:spPr>
        <p:txBody>
          <a:bodyPr wrap="none">
            <a:spAutoFit/>
          </a:bodyPr>
          <a:lstStyle/>
          <a:p>
            <a:r>
              <a:rPr lang="en-US" altLang="zh-CN" b="1" i="1"/>
              <a:t>c</a:t>
            </a:r>
            <a:endParaRPr lang="en-US" altLang="zh-CN" b="1" i="1"/>
          </a:p>
        </p:txBody>
      </p:sp>
      <p:sp>
        <p:nvSpPr>
          <p:cNvPr id="163879" name="Text Box 39"/>
          <p:cNvSpPr txBox="1">
            <a:spLocks noChangeArrowheads="1"/>
          </p:cNvSpPr>
          <p:nvPr/>
        </p:nvSpPr>
        <p:spPr bwMode="auto">
          <a:xfrm>
            <a:off x="6532563" y="2492375"/>
            <a:ext cx="336550" cy="457200"/>
          </a:xfrm>
          <a:prstGeom prst="rect">
            <a:avLst/>
          </a:prstGeom>
          <a:noFill/>
          <a:ln w="9525">
            <a:noFill/>
            <a:miter lim="800000"/>
          </a:ln>
        </p:spPr>
        <p:txBody>
          <a:bodyPr wrap="none">
            <a:spAutoFit/>
          </a:bodyPr>
          <a:lstStyle/>
          <a:p>
            <a:r>
              <a:rPr lang="en-US" altLang="zh-CN" b="1" i="1"/>
              <a:t>d</a:t>
            </a:r>
            <a:endParaRPr lang="en-US" altLang="zh-CN" b="1" i="1"/>
          </a:p>
        </p:txBody>
      </p:sp>
      <p:sp>
        <p:nvSpPr>
          <p:cNvPr id="163880" name="Text Box 40"/>
          <p:cNvSpPr txBox="1">
            <a:spLocks noChangeArrowheads="1"/>
          </p:cNvSpPr>
          <p:nvPr/>
        </p:nvSpPr>
        <p:spPr bwMode="auto">
          <a:xfrm>
            <a:off x="6391275" y="3429000"/>
            <a:ext cx="390525" cy="369888"/>
          </a:xfrm>
          <a:prstGeom prst="rect">
            <a:avLst/>
          </a:prstGeom>
          <a:noFill/>
          <a:ln w="9525">
            <a:noFill/>
            <a:miter lim="800000"/>
          </a:ln>
        </p:spPr>
        <p:txBody>
          <a:bodyPr wrap="none">
            <a:spAutoFit/>
          </a:bodyPr>
          <a:lstStyle/>
          <a:p>
            <a:r>
              <a:rPr lang="en-US" altLang="zh-CN" sz="1800" b="1" i="1">
                <a:solidFill>
                  <a:srgbClr val="3333CC"/>
                </a:solidFill>
              </a:rPr>
              <a:t>V</a:t>
            </a:r>
            <a:r>
              <a:rPr lang="en-US" altLang="zh-CN" sz="1800" b="1" i="1" baseline="-25000">
                <a:solidFill>
                  <a:srgbClr val="3333CC"/>
                </a:solidFill>
              </a:rPr>
              <a:t>a</a:t>
            </a:r>
            <a:endParaRPr lang="en-US" altLang="zh-CN" sz="1800" b="1" i="1">
              <a:solidFill>
                <a:srgbClr val="3333CC"/>
              </a:solidFill>
            </a:endParaRPr>
          </a:p>
        </p:txBody>
      </p:sp>
      <p:sp>
        <p:nvSpPr>
          <p:cNvPr id="163881" name="Text Box 41"/>
          <p:cNvSpPr txBox="1">
            <a:spLocks noChangeArrowheads="1"/>
          </p:cNvSpPr>
          <p:nvPr/>
        </p:nvSpPr>
        <p:spPr bwMode="auto">
          <a:xfrm>
            <a:off x="6661150" y="3429000"/>
            <a:ext cx="412750" cy="366713"/>
          </a:xfrm>
          <a:prstGeom prst="rect">
            <a:avLst/>
          </a:prstGeom>
          <a:noFill/>
          <a:ln w="9525">
            <a:noFill/>
            <a:miter lim="800000"/>
          </a:ln>
        </p:spPr>
        <p:txBody>
          <a:bodyPr wrap="none">
            <a:spAutoFit/>
          </a:bodyPr>
          <a:lstStyle/>
          <a:p>
            <a:r>
              <a:rPr lang="en-US" altLang="zh-CN" sz="1800" b="1" i="1">
                <a:solidFill>
                  <a:srgbClr val="3333CC"/>
                </a:solidFill>
              </a:rPr>
              <a:t>V</a:t>
            </a:r>
            <a:r>
              <a:rPr lang="en-US" altLang="zh-CN" sz="1800" b="1" i="1" baseline="-25000">
                <a:solidFill>
                  <a:srgbClr val="3333CC"/>
                </a:solidFill>
              </a:rPr>
              <a:t>d</a:t>
            </a:r>
            <a:endParaRPr lang="en-US" altLang="zh-CN" sz="1800" b="1" i="1">
              <a:solidFill>
                <a:srgbClr val="3333CC"/>
              </a:solidFill>
            </a:endParaRPr>
          </a:p>
        </p:txBody>
      </p:sp>
      <p:sp>
        <p:nvSpPr>
          <p:cNvPr id="163882" name="Text Box 42"/>
          <p:cNvSpPr txBox="1">
            <a:spLocks noChangeArrowheads="1"/>
          </p:cNvSpPr>
          <p:nvPr/>
        </p:nvSpPr>
        <p:spPr bwMode="auto">
          <a:xfrm>
            <a:off x="7327900" y="3429000"/>
            <a:ext cx="412750" cy="366713"/>
          </a:xfrm>
          <a:prstGeom prst="rect">
            <a:avLst/>
          </a:prstGeom>
          <a:noFill/>
          <a:ln w="9525">
            <a:noFill/>
            <a:miter lim="800000"/>
          </a:ln>
        </p:spPr>
        <p:txBody>
          <a:bodyPr wrap="none">
            <a:spAutoFit/>
          </a:bodyPr>
          <a:lstStyle/>
          <a:p>
            <a:r>
              <a:rPr lang="en-US" altLang="zh-CN" sz="1800" b="1" i="1">
                <a:solidFill>
                  <a:srgbClr val="3333CC"/>
                </a:solidFill>
              </a:rPr>
              <a:t>V</a:t>
            </a:r>
            <a:r>
              <a:rPr lang="en-US" altLang="zh-CN" sz="1800" b="1" i="1" baseline="-25000">
                <a:solidFill>
                  <a:srgbClr val="3333CC"/>
                </a:solidFill>
              </a:rPr>
              <a:t>b</a:t>
            </a:r>
            <a:endParaRPr lang="en-US" altLang="zh-CN" sz="1800" b="1" i="1">
              <a:solidFill>
                <a:srgbClr val="3333CC"/>
              </a:solidFill>
            </a:endParaRPr>
          </a:p>
        </p:txBody>
      </p:sp>
      <p:sp>
        <p:nvSpPr>
          <p:cNvPr id="163883" name="Text Box 43"/>
          <p:cNvSpPr txBox="1">
            <a:spLocks noChangeArrowheads="1"/>
          </p:cNvSpPr>
          <p:nvPr/>
        </p:nvSpPr>
        <p:spPr bwMode="auto">
          <a:xfrm>
            <a:off x="7912100" y="3429000"/>
            <a:ext cx="404813" cy="366713"/>
          </a:xfrm>
          <a:prstGeom prst="rect">
            <a:avLst/>
          </a:prstGeom>
          <a:noFill/>
          <a:ln w="9525">
            <a:noFill/>
            <a:miter lim="800000"/>
          </a:ln>
        </p:spPr>
        <p:txBody>
          <a:bodyPr wrap="none">
            <a:spAutoFit/>
          </a:bodyPr>
          <a:lstStyle/>
          <a:p>
            <a:r>
              <a:rPr lang="en-US" altLang="zh-CN" sz="1800" b="1" i="1">
                <a:solidFill>
                  <a:srgbClr val="3333CC"/>
                </a:solidFill>
              </a:rPr>
              <a:t>V</a:t>
            </a:r>
            <a:r>
              <a:rPr lang="en-US" altLang="zh-CN" sz="1800" b="1" i="1" baseline="-25000">
                <a:solidFill>
                  <a:srgbClr val="3333CC"/>
                </a:solidFill>
              </a:rPr>
              <a:t>c</a:t>
            </a:r>
            <a:endParaRPr lang="en-US" altLang="zh-CN" sz="1800" b="1" i="1">
              <a:solidFill>
                <a:srgbClr val="3333CC"/>
              </a:solidFill>
            </a:endParaRPr>
          </a:p>
        </p:txBody>
      </p:sp>
      <p:sp>
        <p:nvSpPr>
          <p:cNvPr id="163884" name="Text Box 44"/>
          <p:cNvSpPr txBox="1">
            <a:spLocks noChangeArrowheads="1"/>
          </p:cNvSpPr>
          <p:nvPr/>
        </p:nvSpPr>
        <p:spPr bwMode="auto">
          <a:xfrm>
            <a:off x="6948488" y="1676400"/>
            <a:ext cx="792162" cy="457200"/>
          </a:xfrm>
          <a:prstGeom prst="rect">
            <a:avLst/>
          </a:prstGeom>
          <a:noFill/>
          <a:ln w="9525">
            <a:noFill/>
            <a:miter lim="800000"/>
          </a:ln>
        </p:spPr>
        <p:txBody>
          <a:bodyPr>
            <a:spAutoFit/>
          </a:bodyPr>
          <a:lstStyle/>
          <a:p>
            <a:r>
              <a:rPr lang="en-US" altLang="zh-CN" b="1" i="1">
                <a:solidFill>
                  <a:srgbClr val="FF0000"/>
                </a:solidFill>
              </a:rPr>
              <a:t>T</a:t>
            </a:r>
            <a:r>
              <a:rPr lang="en-US" altLang="zh-CN" b="1" baseline="-25000">
                <a:solidFill>
                  <a:srgbClr val="FF0000"/>
                </a:solidFill>
              </a:rPr>
              <a:t>1</a:t>
            </a:r>
            <a:endParaRPr lang="en-US" altLang="zh-CN" b="1">
              <a:solidFill>
                <a:srgbClr val="FF0000"/>
              </a:solidFill>
            </a:endParaRPr>
          </a:p>
        </p:txBody>
      </p:sp>
      <p:sp>
        <p:nvSpPr>
          <p:cNvPr id="163885" name="Text Box 45"/>
          <p:cNvSpPr txBox="1">
            <a:spLocks noChangeArrowheads="1"/>
          </p:cNvSpPr>
          <p:nvPr/>
        </p:nvSpPr>
        <p:spPr bwMode="auto">
          <a:xfrm>
            <a:off x="7021513" y="2781300"/>
            <a:ext cx="646112" cy="457200"/>
          </a:xfrm>
          <a:prstGeom prst="rect">
            <a:avLst/>
          </a:prstGeom>
          <a:noFill/>
          <a:ln w="9525">
            <a:noFill/>
            <a:miter lim="800000"/>
          </a:ln>
        </p:spPr>
        <p:txBody>
          <a:bodyPr>
            <a:spAutoFit/>
          </a:bodyPr>
          <a:lstStyle/>
          <a:p>
            <a:r>
              <a:rPr lang="en-US" altLang="zh-CN" b="1" i="1">
                <a:solidFill>
                  <a:srgbClr val="FF0000"/>
                </a:solidFill>
              </a:rPr>
              <a:t>T</a:t>
            </a:r>
            <a:r>
              <a:rPr lang="en-US" altLang="zh-CN" b="1" baseline="-25000">
                <a:solidFill>
                  <a:srgbClr val="FF0000"/>
                </a:solidFill>
              </a:rPr>
              <a:t>2</a:t>
            </a:r>
            <a:endParaRPr lang="en-US" altLang="zh-CN" b="1">
              <a:solidFill>
                <a:srgbClr val="FF0000"/>
              </a:solidFill>
            </a:endParaRPr>
          </a:p>
        </p:txBody>
      </p:sp>
      <p:graphicFrame>
        <p:nvGraphicFramePr>
          <p:cNvPr id="163886" name="Object 46"/>
          <p:cNvGraphicFramePr>
            <a:graphicFrameLocks noChangeAspect="1"/>
          </p:cNvGraphicFramePr>
          <p:nvPr/>
        </p:nvGraphicFramePr>
        <p:xfrm>
          <a:off x="1466850" y="5024438"/>
          <a:ext cx="3078163" cy="925512"/>
        </p:xfrm>
        <a:graphic>
          <a:graphicData uri="http://schemas.openxmlformats.org/presentationml/2006/ole">
            <mc:AlternateContent xmlns:mc="http://schemas.openxmlformats.org/markup-compatibility/2006">
              <mc:Choice xmlns:v="urn:schemas-microsoft-com:vml" Requires="v">
                <p:oleObj spid="_x0000_s56326" name="Equation" r:id="rId9" imgW="34442400" imgH="10363200" progId="Equation.DSMT4">
                  <p:embed/>
                </p:oleObj>
              </mc:Choice>
              <mc:Fallback>
                <p:oleObj name="Equation" r:id="rId9" imgW="34442400" imgH="10363200" progId="Equation.DSMT4">
                  <p:embed/>
                  <p:pic>
                    <p:nvPicPr>
                      <p:cNvPr id="0" name="Object 46"/>
                      <p:cNvPicPr>
                        <a:picLocks noChangeAspect="1"/>
                      </p:cNvPicPr>
                      <p:nvPr/>
                    </p:nvPicPr>
                    <p:blipFill>
                      <a:blip r:embed="rId10"/>
                      <a:stretch>
                        <a:fillRect/>
                      </a:stretch>
                    </p:blipFill>
                    <p:spPr>
                      <a:xfrm>
                        <a:off x="1466850" y="5024438"/>
                        <a:ext cx="3078163" cy="925512"/>
                      </a:xfrm>
                      <a:prstGeom prst="rect">
                        <a:avLst/>
                      </a:prstGeom>
                      <a:noFill/>
                      <a:ln w="9525">
                        <a:noFill/>
                      </a:ln>
                    </p:spPr>
                  </p:pic>
                </p:oleObj>
              </mc:Fallback>
            </mc:AlternateContent>
          </a:graphicData>
        </a:graphic>
      </p:graphicFrame>
      <p:sp>
        <p:nvSpPr>
          <p:cNvPr id="163887" name="AutoShape 47"/>
          <p:cNvSpPr>
            <a:spLocks noChangeArrowheads="1"/>
          </p:cNvSpPr>
          <p:nvPr/>
        </p:nvSpPr>
        <p:spPr bwMode="auto">
          <a:xfrm>
            <a:off x="609600" y="5402263"/>
            <a:ext cx="604838" cy="203200"/>
          </a:xfrm>
          <a:prstGeom prst="rightArrow">
            <a:avLst>
              <a:gd name="adj1" fmla="val 50000"/>
              <a:gd name="adj2" fmla="val 91736"/>
            </a:avLst>
          </a:prstGeom>
          <a:solidFill>
            <a:schemeClr val="accent1"/>
          </a:solidFill>
          <a:ln w="9525">
            <a:solidFill>
              <a:schemeClr val="tx1"/>
            </a:solidFill>
            <a:miter lim="800000"/>
          </a:ln>
        </p:spPr>
        <p:txBody>
          <a:bodyPr wrap="none" anchor="ctr"/>
          <a:lstStyle/>
          <a:p>
            <a:pPr algn="ctr"/>
            <a:endParaRPr lang="zh-CN" altLang="en-US" b="1"/>
          </a:p>
        </p:txBody>
      </p:sp>
      <p:graphicFrame>
        <p:nvGraphicFramePr>
          <p:cNvPr id="163888" name="Object 48"/>
          <p:cNvGraphicFramePr>
            <a:graphicFrameLocks noChangeAspect="1"/>
          </p:cNvGraphicFramePr>
          <p:nvPr/>
        </p:nvGraphicFramePr>
        <p:xfrm>
          <a:off x="4946650" y="5014913"/>
          <a:ext cx="3390900" cy="968375"/>
        </p:xfrm>
        <a:graphic>
          <a:graphicData uri="http://schemas.openxmlformats.org/presentationml/2006/ole">
            <mc:AlternateContent xmlns:mc="http://schemas.openxmlformats.org/markup-compatibility/2006">
              <mc:Choice xmlns:v="urn:schemas-microsoft-com:vml" Requires="v">
                <p:oleObj spid="_x0000_s56327" name="Equation" r:id="rId11" imgW="36271200" imgH="10363200" progId="Equation.DSMT4">
                  <p:embed/>
                </p:oleObj>
              </mc:Choice>
              <mc:Fallback>
                <p:oleObj name="Equation" r:id="rId11" imgW="36271200" imgH="10363200" progId="Equation.DSMT4">
                  <p:embed/>
                  <p:pic>
                    <p:nvPicPr>
                      <p:cNvPr id="0" name="Object 48"/>
                      <p:cNvPicPr>
                        <a:picLocks noChangeAspect="1"/>
                      </p:cNvPicPr>
                      <p:nvPr/>
                    </p:nvPicPr>
                    <p:blipFill>
                      <a:blip r:embed="rId12"/>
                      <a:stretch>
                        <a:fillRect/>
                      </a:stretch>
                    </p:blipFill>
                    <p:spPr>
                      <a:xfrm>
                        <a:off x="4946650" y="5014913"/>
                        <a:ext cx="3390900" cy="968375"/>
                      </a:xfrm>
                      <a:prstGeom prst="rect">
                        <a:avLst/>
                      </a:prstGeom>
                      <a:noFill/>
                      <a:ln w="9525">
                        <a:noFill/>
                      </a:ln>
                    </p:spPr>
                  </p:pic>
                </p:oleObj>
              </mc:Fallback>
            </mc:AlternateContent>
          </a:graphicData>
        </a:graphic>
      </p:graphicFrame>
      <p:sp>
        <p:nvSpPr>
          <p:cNvPr id="163890" name="Text Box 50"/>
          <p:cNvSpPr txBox="1">
            <a:spLocks noChangeArrowheads="1"/>
          </p:cNvSpPr>
          <p:nvPr/>
        </p:nvSpPr>
        <p:spPr bwMode="auto">
          <a:xfrm>
            <a:off x="611188" y="1052513"/>
            <a:ext cx="3455987" cy="457200"/>
          </a:xfrm>
          <a:prstGeom prst="rect">
            <a:avLst/>
          </a:prstGeom>
          <a:noFill/>
          <a:ln w="9525">
            <a:noFill/>
            <a:miter lim="800000"/>
          </a:ln>
        </p:spPr>
        <p:txBody>
          <a:bodyPr>
            <a:spAutoFit/>
          </a:bodyPr>
          <a:lstStyle/>
          <a:p>
            <a:r>
              <a:rPr lang="zh-CN" altLang="en-US" b="1">
                <a:solidFill>
                  <a:srgbClr val="3333CC"/>
                </a:solidFill>
              </a:rPr>
              <a:t>卡诺热机的循环效率：</a:t>
            </a:r>
            <a:endParaRPr lang="zh-CN" altLang="en-US" b="1">
              <a:solidFill>
                <a:srgbClr val="3333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3890"/>
                                        </p:tgtEl>
                                        <p:attrNameLst>
                                          <p:attrName>style.visibility</p:attrName>
                                        </p:attrNameLst>
                                      </p:cBhvr>
                                      <p:to>
                                        <p:strVal val="visible"/>
                                      </p:to>
                                    </p:set>
                                    <p:animEffect transition="in" filter="wipe(left)">
                                      <p:cBhvr>
                                        <p:cTn id="7" dur="500"/>
                                        <p:tgtEl>
                                          <p:spTgt spid="16389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63876"/>
                                        </p:tgtEl>
                                        <p:attrNameLst>
                                          <p:attrName>style.visibility</p:attrName>
                                        </p:attrNameLst>
                                      </p:cBhvr>
                                      <p:to>
                                        <p:strVal val="visible"/>
                                      </p:to>
                                    </p:set>
                                    <p:animEffect transition="in" filter="wipe(up)">
                                      <p:cBhvr>
                                        <p:cTn id="17" dur="500"/>
                                        <p:tgtEl>
                                          <p:spTgt spid="163876"/>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163872"/>
                                        </p:tgtEl>
                                        <p:attrNameLst>
                                          <p:attrName>style.visibility</p:attrName>
                                        </p:attrNameLst>
                                      </p:cBhvr>
                                      <p:to>
                                        <p:strVal val="visible"/>
                                      </p:to>
                                    </p:set>
                                    <p:animEffect transition="in" filter="wipe(up)">
                                      <p:cBhvr>
                                        <p:cTn id="20" dur="500"/>
                                        <p:tgtEl>
                                          <p:spTgt spid="163872"/>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63884"/>
                                        </p:tgtEl>
                                        <p:attrNameLst>
                                          <p:attrName>style.visibility</p:attrName>
                                        </p:attrNameLst>
                                      </p:cBhvr>
                                      <p:to>
                                        <p:strVal val="visible"/>
                                      </p:to>
                                    </p:set>
                                    <p:animEffect transition="in" filter="wipe(up)">
                                      <p:cBhvr>
                                        <p:cTn id="27" dur="500"/>
                                        <p:tgtEl>
                                          <p:spTgt spid="163884"/>
                                        </p:tgtEl>
                                      </p:cBhvr>
                                    </p:animEffect>
                                  </p:childTnLst>
                                </p:cTn>
                              </p:par>
                            </p:childTnLst>
                          </p:cTn>
                        </p:par>
                        <p:par>
                          <p:cTn id="28" fill="hold">
                            <p:stCondLst>
                              <p:cond delay="1000"/>
                            </p:stCondLst>
                            <p:childTnLst>
                              <p:par>
                                <p:cTn id="29" presetID="22" presetClass="entr" presetSubtype="1" fill="hold" grpId="0" nodeType="afterEffect">
                                  <p:stCondLst>
                                    <p:cond delay="0"/>
                                  </p:stCondLst>
                                  <p:childTnLst>
                                    <p:set>
                                      <p:cBhvr>
                                        <p:cTn id="30" dur="1" fill="hold">
                                          <p:stCondLst>
                                            <p:cond delay="0"/>
                                          </p:stCondLst>
                                        </p:cTn>
                                        <p:tgtEl>
                                          <p:spTgt spid="163877"/>
                                        </p:tgtEl>
                                        <p:attrNameLst>
                                          <p:attrName>style.visibility</p:attrName>
                                        </p:attrNameLst>
                                      </p:cBhvr>
                                      <p:to>
                                        <p:strVal val="visible"/>
                                      </p:to>
                                    </p:set>
                                    <p:animEffect transition="in" filter="wipe(up)">
                                      <p:cBhvr>
                                        <p:cTn id="31" dur="500"/>
                                        <p:tgtEl>
                                          <p:spTgt spid="163877"/>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63873"/>
                                        </p:tgtEl>
                                        <p:attrNameLst>
                                          <p:attrName>style.visibility</p:attrName>
                                        </p:attrNameLst>
                                      </p:cBhvr>
                                      <p:to>
                                        <p:strVal val="visible"/>
                                      </p:to>
                                    </p:set>
                                    <p:animEffect transition="in" filter="wipe(up)">
                                      <p:cBhvr>
                                        <p:cTn id="34" dur="500"/>
                                        <p:tgtEl>
                                          <p:spTgt spid="163873"/>
                                        </p:tgtEl>
                                      </p:cBhvr>
                                    </p:animEffect>
                                  </p:childTnLst>
                                </p:cTn>
                              </p:par>
                            </p:childTnLst>
                          </p:cTn>
                        </p:par>
                        <p:par>
                          <p:cTn id="35" fill="hold">
                            <p:stCondLst>
                              <p:cond delay="1500"/>
                            </p:stCondLst>
                            <p:childTnLst>
                              <p:par>
                                <p:cTn id="36" presetID="22" presetClass="entr" presetSubtype="8"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left)">
                                      <p:cBhvr>
                                        <p:cTn id="38" dur="500"/>
                                        <p:tgtEl>
                                          <p:spTgt spid="4"/>
                                        </p:tgtEl>
                                      </p:cBhvr>
                                    </p:animEffect>
                                  </p:childTnLst>
                                </p:cTn>
                              </p:par>
                            </p:childTnLst>
                          </p:cTn>
                        </p:par>
                        <p:par>
                          <p:cTn id="39" fill="hold">
                            <p:stCondLst>
                              <p:cond delay="2000"/>
                            </p:stCondLst>
                            <p:childTnLst>
                              <p:par>
                                <p:cTn id="40" presetID="22" presetClass="entr" presetSubtype="1" fill="hold" grpId="0" nodeType="afterEffect">
                                  <p:stCondLst>
                                    <p:cond delay="0"/>
                                  </p:stCondLst>
                                  <p:childTnLst>
                                    <p:set>
                                      <p:cBhvr>
                                        <p:cTn id="41" dur="1" fill="hold">
                                          <p:stCondLst>
                                            <p:cond delay="0"/>
                                          </p:stCondLst>
                                        </p:cTn>
                                        <p:tgtEl>
                                          <p:spTgt spid="163878"/>
                                        </p:tgtEl>
                                        <p:attrNameLst>
                                          <p:attrName>style.visibility</p:attrName>
                                        </p:attrNameLst>
                                      </p:cBhvr>
                                      <p:to>
                                        <p:strVal val="visible"/>
                                      </p:to>
                                    </p:set>
                                    <p:animEffect transition="in" filter="wipe(up)">
                                      <p:cBhvr>
                                        <p:cTn id="42" dur="500"/>
                                        <p:tgtEl>
                                          <p:spTgt spid="163878"/>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163874"/>
                                        </p:tgtEl>
                                        <p:attrNameLst>
                                          <p:attrName>style.visibility</p:attrName>
                                        </p:attrNameLst>
                                      </p:cBhvr>
                                      <p:to>
                                        <p:strVal val="visible"/>
                                      </p:to>
                                    </p:set>
                                    <p:animEffect transition="in" filter="wipe(up)">
                                      <p:cBhvr>
                                        <p:cTn id="45" dur="500"/>
                                        <p:tgtEl>
                                          <p:spTgt spid="163874"/>
                                        </p:tgtEl>
                                      </p:cBhvr>
                                    </p:animEffect>
                                  </p:childTnLst>
                                </p:cTn>
                              </p:par>
                            </p:childTnLst>
                          </p:cTn>
                        </p:par>
                        <p:par>
                          <p:cTn id="46" fill="hold">
                            <p:stCondLst>
                              <p:cond delay="2500"/>
                            </p:stCondLst>
                            <p:childTnLst>
                              <p:par>
                                <p:cTn id="47" presetID="22" presetClass="entr" presetSubtype="2" fill="hold" nodeType="after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right)">
                                      <p:cBhvr>
                                        <p:cTn id="49" dur="500"/>
                                        <p:tgtEl>
                                          <p:spTgt spid="5"/>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163885"/>
                                        </p:tgtEl>
                                        <p:attrNameLst>
                                          <p:attrName>style.visibility</p:attrName>
                                        </p:attrNameLst>
                                      </p:cBhvr>
                                      <p:to>
                                        <p:strVal val="visible"/>
                                      </p:to>
                                    </p:set>
                                    <p:animEffect transition="in" filter="wipe(up)">
                                      <p:cBhvr>
                                        <p:cTn id="52" dur="500"/>
                                        <p:tgtEl>
                                          <p:spTgt spid="163885"/>
                                        </p:tgtEl>
                                      </p:cBhvr>
                                    </p:animEffect>
                                  </p:childTnLst>
                                </p:cTn>
                              </p:par>
                            </p:childTnLst>
                          </p:cTn>
                        </p:par>
                        <p:par>
                          <p:cTn id="53" fill="hold">
                            <p:stCondLst>
                              <p:cond delay="3000"/>
                            </p:stCondLst>
                            <p:childTnLst>
                              <p:par>
                                <p:cTn id="54" presetID="22" presetClass="entr" presetSubtype="1" fill="hold" grpId="0" nodeType="afterEffect">
                                  <p:stCondLst>
                                    <p:cond delay="0"/>
                                  </p:stCondLst>
                                  <p:childTnLst>
                                    <p:set>
                                      <p:cBhvr>
                                        <p:cTn id="55" dur="1" fill="hold">
                                          <p:stCondLst>
                                            <p:cond delay="0"/>
                                          </p:stCondLst>
                                        </p:cTn>
                                        <p:tgtEl>
                                          <p:spTgt spid="163879"/>
                                        </p:tgtEl>
                                        <p:attrNameLst>
                                          <p:attrName>style.visibility</p:attrName>
                                        </p:attrNameLst>
                                      </p:cBhvr>
                                      <p:to>
                                        <p:strVal val="visible"/>
                                      </p:to>
                                    </p:set>
                                    <p:animEffect transition="in" filter="wipe(up)">
                                      <p:cBhvr>
                                        <p:cTn id="56" dur="500"/>
                                        <p:tgtEl>
                                          <p:spTgt spid="163879"/>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163875"/>
                                        </p:tgtEl>
                                        <p:attrNameLst>
                                          <p:attrName>style.visibility</p:attrName>
                                        </p:attrNameLst>
                                      </p:cBhvr>
                                      <p:to>
                                        <p:strVal val="visible"/>
                                      </p:to>
                                    </p:set>
                                    <p:animEffect transition="in" filter="wipe(up)">
                                      <p:cBhvr>
                                        <p:cTn id="59" dur="500"/>
                                        <p:tgtEl>
                                          <p:spTgt spid="163875"/>
                                        </p:tgtEl>
                                      </p:cBhvr>
                                    </p:animEffect>
                                  </p:childTnLst>
                                </p:cTn>
                              </p:par>
                            </p:childTnLst>
                          </p:cTn>
                        </p:par>
                        <p:par>
                          <p:cTn id="60" fill="hold">
                            <p:stCondLst>
                              <p:cond delay="3500"/>
                            </p:stCondLst>
                            <p:childTnLst>
                              <p:par>
                                <p:cTn id="61" presetID="22" presetClass="entr" presetSubtype="4" fill="hold" nodeType="after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down)">
                                      <p:cBhvr>
                                        <p:cTn id="63" dur="500"/>
                                        <p:tgtEl>
                                          <p:spTgt spid="6"/>
                                        </p:tgtEl>
                                      </p:cBhvr>
                                    </p:animEffect>
                                  </p:childTnLst>
                                </p:cTn>
                              </p:par>
                            </p:childTnLst>
                          </p:cTn>
                        </p:par>
                        <p:par>
                          <p:cTn id="64" fill="hold">
                            <p:stCondLst>
                              <p:cond delay="4000"/>
                            </p:stCondLst>
                            <p:childTnLst>
                              <p:par>
                                <p:cTn id="65" presetID="22" presetClass="entr" presetSubtype="1" fill="hold" grpId="0" nodeType="afterEffect">
                                  <p:stCondLst>
                                    <p:cond delay="0"/>
                                  </p:stCondLst>
                                  <p:childTnLst>
                                    <p:set>
                                      <p:cBhvr>
                                        <p:cTn id="66" dur="1" fill="hold">
                                          <p:stCondLst>
                                            <p:cond delay="0"/>
                                          </p:stCondLst>
                                        </p:cTn>
                                        <p:tgtEl>
                                          <p:spTgt spid="163842"/>
                                        </p:tgtEl>
                                        <p:attrNameLst>
                                          <p:attrName>style.visibility</p:attrName>
                                        </p:attrNameLst>
                                      </p:cBhvr>
                                      <p:to>
                                        <p:strVal val="visible"/>
                                      </p:to>
                                    </p:set>
                                    <p:animEffect transition="in" filter="wipe(up)">
                                      <p:cBhvr>
                                        <p:cTn id="67" dur="500"/>
                                        <p:tgtEl>
                                          <p:spTgt spid="163842"/>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163843"/>
                                        </p:tgtEl>
                                        <p:attrNameLst>
                                          <p:attrName>style.visibility</p:attrName>
                                        </p:attrNameLst>
                                      </p:cBhvr>
                                      <p:to>
                                        <p:strVal val="visible"/>
                                      </p:to>
                                    </p:set>
                                    <p:animEffect transition="in" filter="wipe(up)">
                                      <p:cBhvr>
                                        <p:cTn id="70" dur="500"/>
                                        <p:tgtEl>
                                          <p:spTgt spid="163843"/>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163844"/>
                                        </p:tgtEl>
                                        <p:attrNameLst>
                                          <p:attrName>style.visibility</p:attrName>
                                        </p:attrNameLst>
                                      </p:cBhvr>
                                      <p:to>
                                        <p:strVal val="visible"/>
                                      </p:to>
                                    </p:set>
                                    <p:animEffect transition="in" filter="wipe(up)">
                                      <p:cBhvr>
                                        <p:cTn id="73" dur="500"/>
                                        <p:tgtEl>
                                          <p:spTgt spid="163844"/>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163845"/>
                                        </p:tgtEl>
                                        <p:attrNameLst>
                                          <p:attrName>style.visibility</p:attrName>
                                        </p:attrNameLst>
                                      </p:cBhvr>
                                      <p:to>
                                        <p:strVal val="visible"/>
                                      </p:to>
                                    </p:set>
                                    <p:animEffect transition="in" filter="wipe(up)">
                                      <p:cBhvr>
                                        <p:cTn id="76" dur="500"/>
                                        <p:tgtEl>
                                          <p:spTgt spid="163845"/>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163880"/>
                                        </p:tgtEl>
                                        <p:attrNameLst>
                                          <p:attrName>style.visibility</p:attrName>
                                        </p:attrNameLst>
                                      </p:cBhvr>
                                      <p:to>
                                        <p:strVal val="visible"/>
                                      </p:to>
                                    </p:set>
                                    <p:animEffect transition="in" filter="wipe(up)">
                                      <p:cBhvr>
                                        <p:cTn id="79" dur="500"/>
                                        <p:tgtEl>
                                          <p:spTgt spid="163880"/>
                                        </p:tgtEl>
                                      </p:cBhvr>
                                    </p:animEffect>
                                  </p:childTnLst>
                                </p:cTn>
                              </p:par>
                              <p:par>
                                <p:cTn id="80" presetID="22" presetClass="entr" presetSubtype="1" fill="hold" grpId="0" nodeType="withEffect">
                                  <p:stCondLst>
                                    <p:cond delay="0"/>
                                  </p:stCondLst>
                                  <p:childTnLst>
                                    <p:set>
                                      <p:cBhvr>
                                        <p:cTn id="81" dur="1" fill="hold">
                                          <p:stCondLst>
                                            <p:cond delay="0"/>
                                          </p:stCondLst>
                                        </p:cTn>
                                        <p:tgtEl>
                                          <p:spTgt spid="163881"/>
                                        </p:tgtEl>
                                        <p:attrNameLst>
                                          <p:attrName>style.visibility</p:attrName>
                                        </p:attrNameLst>
                                      </p:cBhvr>
                                      <p:to>
                                        <p:strVal val="visible"/>
                                      </p:to>
                                    </p:set>
                                    <p:animEffect transition="in" filter="wipe(up)">
                                      <p:cBhvr>
                                        <p:cTn id="82" dur="500"/>
                                        <p:tgtEl>
                                          <p:spTgt spid="163881"/>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163882"/>
                                        </p:tgtEl>
                                        <p:attrNameLst>
                                          <p:attrName>style.visibility</p:attrName>
                                        </p:attrNameLst>
                                      </p:cBhvr>
                                      <p:to>
                                        <p:strVal val="visible"/>
                                      </p:to>
                                    </p:set>
                                    <p:animEffect transition="in" filter="wipe(up)">
                                      <p:cBhvr>
                                        <p:cTn id="85" dur="500"/>
                                        <p:tgtEl>
                                          <p:spTgt spid="163882"/>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163883"/>
                                        </p:tgtEl>
                                        <p:attrNameLst>
                                          <p:attrName>style.visibility</p:attrName>
                                        </p:attrNameLst>
                                      </p:cBhvr>
                                      <p:to>
                                        <p:strVal val="visible"/>
                                      </p:to>
                                    </p:set>
                                    <p:animEffect transition="in" filter="wipe(up)">
                                      <p:cBhvr>
                                        <p:cTn id="88" dur="500"/>
                                        <p:tgtEl>
                                          <p:spTgt spid="16388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63846"/>
                                        </p:tgtEl>
                                        <p:attrNameLst>
                                          <p:attrName>style.visibility</p:attrName>
                                        </p:attrNameLst>
                                      </p:cBhvr>
                                      <p:to>
                                        <p:strVal val="visible"/>
                                      </p:to>
                                    </p:set>
                                    <p:animEffect transition="in" filter="wipe(left)">
                                      <p:cBhvr>
                                        <p:cTn id="93" dur="500"/>
                                        <p:tgtEl>
                                          <p:spTgt spid="163846"/>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163847"/>
                                        </p:tgtEl>
                                        <p:attrNameLst>
                                          <p:attrName>style.visibility</p:attrName>
                                        </p:attrNameLst>
                                      </p:cBhvr>
                                      <p:to>
                                        <p:strVal val="visible"/>
                                      </p:to>
                                    </p:set>
                                    <p:animEffect transition="in" filter="wipe(left)">
                                      <p:cBhvr>
                                        <p:cTn id="98" dur="500"/>
                                        <p:tgtEl>
                                          <p:spTgt spid="163847"/>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63848"/>
                                        </p:tgtEl>
                                        <p:attrNameLst>
                                          <p:attrName>style.visibility</p:attrName>
                                        </p:attrNameLst>
                                      </p:cBhvr>
                                      <p:to>
                                        <p:strVal val="visible"/>
                                      </p:to>
                                    </p:set>
                                    <p:animEffect transition="in" filter="wipe(left)">
                                      <p:cBhvr>
                                        <p:cTn id="103" dur="500"/>
                                        <p:tgtEl>
                                          <p:spTgt spid="16384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163849"/>
                                        </p:tgtEl>
                                        <p:attrNameLst>
                                          <p:attrName>style.visibility</p:attrName>
                                        </p:attrNameLst>
                                      </p:cBhvr>
                                      <p:to>
                                        <p:strVal val="visible"/>
                                      </p:to>
                                    </p:set>
                                    <p:animEffect transition="in" filter="wipe(left)">
                                      <p:cBhvr>
                                        <p:cTn id="108" dur="500"/>
                                        <p:tgtEl>
                                          <p:spTgt spid="163849"/>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63850"/>
                                        </p:tgtEl>
                                        <p:attrNameLst>
                                          <p:attrName>style.visibility</p:attrName>
                                        </p:attrNameLst>
                                      </p:cBhvr>
                                      <p:to>
                                        <p:strVal val="visible"/>
                                      </p:to>
                                    </p:set>
                                    <p:animEffect transition="in" filter="wipe(left)">
                                      <p:cBhvr>
                                        <p:cTn id="113" dur="500"/>
                                        <p:tgtEl>
                                          <p:spTgt spid="163850"/>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163851"/>
                                        </p:tgtEl>
                                        <p:attrNameLst>
                                          <p:attrName>style.visibility</p:attrName>
                                        </p:attrNameLst>
                                      </p:cBhvr>
                                      <p:to>
                                        <p:strVal val="visible"/>
                                      </p:to>
                                    </p:set>
                                    <p:animEffect transition="in" filter="wipe(left)">
                                      <p:cBhvr>
                                        <p:cTn id="118" dur="500"/>
                                        <p:tgtEl>
                                          <p:spTgt spid="163851"/>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63852"/>
                                        </p:tgtEl>
                                        <p:attrNameLst>
                                          <p:attrName>style.visibility</p:attrName>
                                        </p:attrNameLst>
                                      </p:cBhvr>
                                      <p:to>
                                        <p:strVal val="visible"/>
                                      </p:to>
                                    </p:set>
                                    <p:animEffect transition="in" filter="wipe(left)">
                                      <p:cBhvr>
                                        <p:cTn id="123" dur="500"/>
                                        <p:tgtEl>
                                          <p:spTgt spid="163852"/>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163853"/>
                                        </p:tgtEl>
                                        <p:attrNameLst>
                                          <p:attrName>style.visibility</p:attrName>
                                        </p:attrNameLst>
                                      </p:cBhvr>
                                      <p:to>
                                        <p:strVal val="visible"/>
                                      </p:to>
                                    </p:set>
                                    <p:animEffect transition="in" filter="wipe(left)">
                                      <p:cBhvr>
                                        <p:cTn id="128" dur="500"/>
                                        <p:tgtEl>
                                          <p:spTgt spid="163853"/>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63887"/>
                                        </p:tgtEl>
                                        <p:attrNameLst>
                                          <p:attrName>style.visibility</p:attrName>
                                        </p:attrNameLst>
                                      </p:cBhvr>
                                      <p:to>
                                        <p:strVal val="visible"/>
                                      </p:to>
                                    </p:set>
                                    <p:animEffect transition="in" filter="wipe(left)">
                                      <p:cBhvr>
                                        <p:cTn id="133" dur="500"/>
                                        <p:tgtEl>
                                          <p:spTgt spid="163887"/>
                                        </p:tgtEl>
                                      </p:cBhvr>
                                    </p:animEffect>
                                  </p:childTnLst>
                                </p:cTn>
                              </p:par>
                            </p:childTnLst>
                          </p:cTn>
                        </p:par>
                        <p:par>
                          <p:cTn id="134" fill="hold">
                            <p:stCondLst>
                              <p:cond delay="500"/>
                            </p:stCondLst>
                            <p:childTnLst>
                              <p:par>
                                <p:cTn id="135" presetID="22" presetClass="entr" presetSubtype="8" fill="hold" nodeType="afterEffect">
                                  <p:stCondLst>
                                    <p:cond delay="0"/>
                                  </p:stCondLst>
                                  <p:childTnLst>
                                    <p:set>
                                      <p:cBhvr>
                                        <p:cTn id="136" dur="1" fill="hold">
                                          <p:stCondLst>
                                            <p:cond delay="0"/>
                                          </p:stCondLst>
                                        </p:cTn>
                                        <p:tgtEl>
                                          <p:spTgt spid="163886"/>
                                        </p:tgtEl>
                                        <p:attrNameLst>
                                          <p:attrName>style.visibility</p:attrName>
                                        </p:attrNameLst>
                                      </p:cBhvr>
                                      <p:to>
                                        <p:strVal val="visible"/>
                                      </p:to>
                                    </p:set>
                                    <p:animEffect transition="in" filter="wipe(left)">
                                      <p:cBhvr>
                                        <p:cTn id="137" dur="500"/>
                                        <p:tgtEl>
                                          <p:spTgt spid="163886"/>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163888"/>
                                        </p:tgtEl>
                                        <p:attrNameLst>
                                          <p:attrName>style.visibility</p:attrName>
                                        </p:attrNameLst>
                                      </p:cBhvr>
                                      <p:to>
                                        <p:strVal val="visible"/>
                                      </p:to>
                                    </p:set>
                                    <p:animEffect transition="in" filter="wipe(left)">
                                      <p:cBhvr>
                                        <p:cTn id="142" dur="500"/>
                                        <p:tgtEl>
                                          <p:spTgt spid="163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animBg="1"/>
      <p:bldP spid="163843" grpId="0" animBg="1"/>
      <p:bldP spid="163844" grpId="0" animBg="1"/>
      <p:bldP spid="163845" grpId="0" animBg="1"/>
      <p:bldP spid="163846" grpId="0"/>
      <p:bldP spid="163848" grpId="0"/>
      <p:bldP spid="163850" grpId="0"/>
      <p:bldP spid="163852" grpId="0"/>
      <p:bldP spid="163872" grpId="0" animBg="1"/>
      <p:bldP spid="163873" grpId="0" animBg="1"/>
      <p:bldP spid="163874" grpId="0" animBg="1"/>
      <p:bldP spid="163875" grpId="0" animBg="1"/>
      <p:bldP spid="163876" grpId="0"/>
      <p:bldP spid="163877" grpId="0"/>
      <p:bldP spid="163878" grpId="0"/>
      <p:bldP spid="163879" grpId="0"/>
      <p:bldP spid="163880" grpId="0"/>
      <p:bldP spid="163881" grpId="0"/>
      <p:bldP spid="163882" grpId="0"/>
      <p:bldP spid="163883" grpId="0"/>
      <p:bldP spid="163884" grpId="0"/>
      <p:bldP spid="163885" grpId="0"/>
      <p:bldP spid="163887" grpId="0" animBg="1"/>
      <p:bldP spid="16389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1" name="Line 2"/>
          <p:cNvSpPr>
            <a:spLocks noChangeShapeType="1"/>
          </p:cNvSpPr>
          <p:nvPr/>
        </p:nvSpPr>
        <p:spPr bwMode="auto">
          <a:xfrm>
            <a:off x="6611938" y="1820863"/>
            <a:ext cx="0" cy="1655762"/>
          </a:xfrm>
          <a:prstGeom prst="line">
            <a:avLst/>
          </a:prstGeom>
          <a:noFill/>
          <a:ln w="9525">
            <a:solidFill>
              <a:schemeClr val="tx1"/>
            </a:solidFill>
            <a:prstDash val="lgDash"/>
            <a:round/>
          </a:ln>
        </p:spPr>
        <p:txBody>
          <a:bodyPr/>
          <a:lstStyle/>
          <a:p>
            <a:endParaRPr lang="zh-CN" altLang="en-US"/>
          </a:p>
        </p:txBody>
      </p:sp>
      <p:sp>
        <p:nvSpPr>
          <p:cNvPr id="57352" name="Line 3"/>
          <p:cNvSpPr>
            <a:spLocks noChangeShapeType="1"/>
          </p:cNvSpPr>
          <p:nvPr/>
        </p:nvSpPr>
        <p:spPr bwMode="auto">
          <a:xfrm>
            <a:off x="6869113" y="2644775"/>
            <a:ext cx="0" cy="820738"/>
          </a:xfrm>
          <a:prstGeom prst="line">
            <a:avLst/>
          </a:prstGeom>
          <a:noFill/>
          <a:ln w="9525">
            <a:solidFill>
              <a:schemeClr val="tx1"/>
            </a:solidFill>
            <a:prstDash val="lgDash"/>
            <a:round/>
          </a:ln>
        </p:spPr>
        <p:txBody>
          <a:bodyPr/>
          <a:lstStyle/>
          <a:p>
            <a:endParaRPr lang="zh-CN" altLang="en-US"/>
          </a:p>
        </p:txBody>
      </p:sp>
      <p:sp>
        <p:nvSpPr>
          <p:cNvPr id="57353" name="Line 4"/>
          <p:cNvSpPr>
            <a:spLocks noChangeShapeType="1"/>
          </p:cNvSpPr>
          <p:nvPr/>
        </p:nvSpPr>
        <p:spPr bwMode="auto">
          <a:xfrm>
            <a:off x="7500938" y="2260600"/>
            <a:ext cx="0" cy="1204913"/>
          </a:xfrm>
          <a:prstGeom prst="line">
            <a:avLst/>
          </a:prstGeom>
          <a:noFill/>
          <a:ln w="9525">
            <a:solidFill>
              <a:schemeClr val="tx1"/>
            </a:solidFill>
            <a:prstDash val="lgDash"/>
            <a:round/>
          </a:ln>
        </p:spPr>
        <p:txBody>
          <a:bodyPr/>
          <a:lstStyle/>
          <a:p>
            <a:endParaRPr lang="zh-CN" altLang="en-US"/>
          </a:p>
        </p:txBody>
      </p:sp>
      <p:sp>
        <p:nvSpPr>
          <p:cNvPr id="57354" name="Line 5"/>
          <p:cNvSpPr>
            <a:spLocks noChangeShapeType="1"/>
          </p:cNvSpPr>
          <p:nvPr/>
        </p:nvSpPr>
        <p:spPr bwMode="auto">
          <a:xfrm>
            <a:off x="8077200" y="2949575"/>
            <a:ext cx="0" cy="522288"/>
          </a:xfrm>
          <a:prstGeom prst="line">
            <a:avLst/>
          </a:prstGeom>
          <a:noFill/>
          <a:ln w="9525">
            <a:solidFill>
              <a:schemeClr val="tx1"/>
            </a:solidFill>
            <a:prstDash val="lgDash"/>
            <a:round/>
          </a:ln>
        </p:spPr>
        <p:txBody>
          <a:bodyPr/>
          <a:lstStyle/>
          <a:p>
            <a:endParaRPr lang="zh-CN" altLang="en-US"/>
          </a:p>
        </p:txBody>
      </p:sp>
      <p:sp>
        <p:nvSpPr>
          <p:cNvPr id="57355" name="Line 6"/>
          <p:cNvSpPr>
            <a:spLocks noChangeShapeType="1"/>
          </p:cNvSpPr>
          <p:nvPr/>
        </p:nvSpPr>
        <p:spPr bwMode="auto">
          <a:xfrm flipV="1">
            <a:off x="6156325" y="1536700"/>
            <a:ext cx="0" cy="1943100"/>
          </a:xfrm>
          <a:prstGeom prst="line">
            <a:avLst/>
          </a:prstGeom>
          <a:noFill/>
          <a:ln w="28575">
            <a:solidFill>
              <a:schemeClr val="tx1"/>
            </a:solidFill>
            <a:round/>
            <a:tailEnd type="triangle" w="med" len="med"/>
          </a:ln>
        </p:spPr>
        <p:txBody>
          <a:bodyPr/>
          <a:lstStyle/>
          <a:p>
            <a:endParaRPr lang="zh-CN" altLang="en-US"/>
          </a:p>
        </p:txBody>
      </p:sp>
      <p:sp>
        <p:nvSpPr>
          <p:cNvPr id="57356" name="Line 7"/>
          <p:cNvSpPr>
            <a:spLocks noChangeShapeType="1"/>
          </p:cNvSpPr>
          <p:nvPr/>
        </p:nvSpPr>
        <p:spPr bwMode="auto">
          <a:xfrm>
            <a:off x="6140450" y="3479800"/>
            <a:ext cx="2320925" cy="0"/>
          </a:xfrm>
          <a:prstGeom prst="line">
            <a:avLst/>
          </a:prstGeom>
          <a:noFill/>
          <a:ln w="28575">
            <a:solidFill>
              <a:schemeClr val="tx1"/>
            </a:solidFill>
            <a:round/>
            <a:tailEnd type="triangle" w="med" len="med"/>
          </a:ln>
        </p:spPr>
        <p:txBody>
          <a:bodyPr/>
          <a:lstStyle/>
          <a:p>
            <a:endParaRPr lang="zh-CN" altLang="en-US"/>
          </a:p>
        </p:txBody>
      </p:sp>
      <p:sp>
        <p:nvSpPr>
          <p:cNvPr id="57357" name="Text Box 8"/>
          <p:cNvSpPr txBox="1">
            <a:spLocks noChangeArrowheads="1"/>
          </p:cNvSpPr>
          <p:nvPr/>
        </p:nvSpPr>
        <p:spPr bwMode="auto">
          <a:xfrm>
            <a:off x="5795963" y="1196975"/>
            <a:ext cx="336550" cy="457200"/>
          </a:xfrm>
          <a:prstGeom prst="rect">
            <a:avLst/>
          </a:prstGeom>
          <a:noFill/>
          <a:ln w="9525">
            <a:noFill/>
            <a:miter lim="800000"/>
          </a:ln>
        </p:spPr>
        <p:txBody>
          <a:bodyPr wrap="none">
            <a:spAutoFit/>
          </a:bodyPr>
          <a:lstStyle/>
          <a:p>
            <a:r>
              <a:rPr lang="en-US" altLang="zh-CN" i="1"/>
              <a:t>p</a:t>
            </a:r>
            <a:endParaRPr lang="en-US" altLang="zh-CN" i="1"/>
          </a:p>
        </p:txBody>
      </p:sp>
      <p:sp>
        <p:nvSpPr>
          <p:cNvPr id="57358" name="Text Box 9"/>
          <p:cNvSpPr txBox="1">
            <a:spLocks noChangeArrowheads="1"/>
          </p:cNvSpPr>
          <p:nvPr/>
        </p:nvSpPr>
        <p:spPr bwMode="auto">
          <a:xfrm>
            <a:off x="8505825" y="3213100"/>
            <a:ext cx="387350" cy="457200"/>
          </a:xfrm>
          <a:prstGeom prst="rect">
            <a:avLst/>
          </a:prstGeom>
          <a:noFill/>
          <a:ln w="9525">
            <a:noFill/>
            <a:miter lim="800000"/>
          </a:ln>
        </p:spPr>
        <p:txBody>
          <a:bodyPr wrap="none">
            <a:spAutoFit/>
          </a:bodyPr>
          <a:lstStyle/>
          <a:p>
            <a:r>
              <a:rPr lang="en-US" altLang="zh-CN" i="1"/>
              <a:t>V</a:t>
            </a:r>
            <a:endParaRPr lang="en-US" altLang="zh-CN" i="1"/>
          </a:p>
        </p:txBody>
      </p:sp>
      <p:sp>
        <p:nvSpPr>
          <p:cNvPr id="57359" name="Text Box 10"/>
          <p:cNvSpPr txBox="1">
            <a:spLocks noChangeArrowheads="1"/>
          </p:cNvSpPr>
          <p:nvPr/>
        </p:nvSpPr>
        <p:spPr bwMode="auto">
          <a:xfrm>
            <a:off x="5724525" y="3192463"/>
            <a:ext cx="404813" cy="457200"/>
          </a:xfrm>
          <a:prstGeom prst="rect">
            <a:avLst/>
          </a:prstGeom>
          <a:noFill/>
          <a:ln w="9525">
            <a:noFill/>
            <a:miter lim="800000"/>
          </a:ln>
        </p:spPr>
        <p:txBody>
          <a:bodyPr wrap="none">
            <a:spAutoFit/>
          </a:bodyPr>
          <a:lstStyle/>
          <a:p>
            <a:r>
              <a:rPr lang="en-US" altLang="zh-CN" i="1"/>
              <a:t>O</a:t>
            </a:r>
            <a:endParaRPr lang="en-US" altLang="zh-CN" i="1"/>
          </a:p>
        </p:txBody>
      </p:sp>
      <p:sp>
        <p:nvSpPr>
          <p:cNvPr id="57360" name="Freeform 11"/>
          <p:cNvSpPr/>
          <p:nvPr/>
        </p:nvSpPr>
        <p:spPr bwMode="auto">
          <a:xfrm>
            <a:off x="6605588" y="1812925"/>
            <a:ext cx="919162" cy="463550"/>
          </a:xfrm>
          <a:custGeom>
            <a:avLst/>
            <a:gdLst>
              <a:gd name="T0" fmla="*/ 0 w 579"/>
              <a:gd name="T1" fmla="*/ 0 h 292"/>
              <a:gd name="T2" fmla="*/ 2147483647 w 579"/>
              <a:gd name="T3" fmla="*/ 2147483647 h 292"/>
              <a:gd name="T4" fmla="*/ 2147483647 w 579"/>
              <a:gd name="T5" fmla="*/ 2147483647 h 292"/>
              <a:gd name="T6" fmla="*/ 2147483647 w 579"/>
              <a:gd name="T7" fmla="*/ 2147483647 h 292"/>
              <a:gd name="T8" fmla="*/ 0 60000 65536"/>
              <a:gd name="T9" fmla="*/ 0 60000 65536"/>
              <a:gd name="T10" fmla="*/ 0 60000 65536"/>
              <a:gd name="T11" fmla="*/ 0 60000 65536"/>
              <a:gd name="T12" fmla="*/ 0 w 579"/>
              <a:gd name="T13" fmla="*/ 0 h 292"/>
              <a:gd name="T14" fmla="*/ 579 w 579"/>
              <a:gd name="T15" fmla="*/ 292 h 292"/>
            </a:gdLst>
            <a:ahLst/>
            <a:cxnLst>
              <a:cxn ang="T8">
                <a:pos x="T0" y="T1"/>
              </a:cxn>
              <a:cxn ang="T9">
                <a:pos x="T2" y="T3"/>
              </a:cxn>
              <a:cxn ang="T10">
                <a:pos x="T4" y="T5"/>
              </a:cxn>
              <a:cxn ang="T11">
                <a:pos x="T6" y="T7"/>
              </a:cxn>
            </a:cxnLst>
            <a:rect l="T12" t="T13" r="T14" b="T15"/>
            <a:pathLst>
              <a:path w="579" h="292">
                <a:moveTo>
                  <a:pt x="0" y="0"/>
                </a:moveTo>
                <a:cubicBezTo>
                  <a:pt x="26" y="22"/>
                  <a:pt x="96" y="97"/>
                  <a:pt x="154" y="135"/>
                </a:cubicBezTo>
                <a:cubicBezTo>
                  <a:pt x="212" y="173"/>
                  <a:pt x="275" y="205"/>
                  <a:pt x="346" y="231"/>
                </a:cubicBezTo>
                <a:cubicBezTo>
                  <a:pt x="417" y="257"/>
                  <a:pt x="531" y="279"/>
                  <a:pt x="579" y="292"/>
                </a:cubicBezTo>
              </a:path>
            </a:pathLst>
          </a:custGeom>
          <a:noFill/>
          <a:ln w="38100">
            <a:solidFill>
              <a:srgbClr val="3333CC"/>
            </a:solidFill>
            <a:round/>
          </a:ln>
        </p:spPr>
        <p:txBody>
          <a:bodyPr/>
          <a:lstStyle/>
          <a:p>
            <a:pPr algn="ctr"/>
            <a:endParaRPr lang="zh-CN" altLang="en-US"/>
          </a:p>
        </p:txBody>
      </p:sp>
      <p:sp>
        <p:nvSpPr>
          <p:cNvPr id="57361" name="Line 12"/>
          <p:cNvSpPr>
            <a:spLocks noChangeShapeType="1"/>
          </p:cNvSpPr>
          <p:nvPr/>
        </p:nvSpPr>
        <p:spPr bwMode="auto">
          <a:xfrm>
            <a:off x="6804025" y="1989138"/>
            <a:ext cx="217488" cy="144462"/>
          </a:xfrm>
          <a:prstGeom prst="line">
            <a:avLst/>
          </a:prstGeom>
          <a:noFill/>
          <a:ln w="38100">
            <a:solidFill>
              <a:srgbClr val="3333CC"/>
            </a:solidFill>
            <a:round/>
            <a:tailEnd type="triangle" w="med" len="med"/>
          </a:ln>
        </p:spPr>
        <p:txBody>
          <a:bodyPr/>
          <a:lstStyle/>
          <a:p>
            <a:endParaRPr lang="zh-CN" altLang="en-US"/>
          </a:p>
        </p:txBody>
      </p:sp>
      <p:sp>
        <p:nvSpPr>
          <p:cNvPr id="57362" name="Freeform 13"/>
          <p:cNvSpPr/>
          <p:nvPr/>
        </p:nvSpPr>
        <p:spPr bwMode="auto">
          <a:xfrm>
            <a:off x="7513638" y="2270125"/>
            <a:ext cx="593725" cy="693738"/>
          </a:xfrm>
          <a:custGeom>
            <a:avLst/>
            <a:gdLst>
              <a:gd name="T0" fmla="*/ 0 w 374"/>
              <a:gd name="T1" fmla="*/ 0 h 437"/>
              <a:gd name="T2" fmla="*/ 2147483647 w 374"/>
              <a:gd name="T3" fmla="*/ 2147483647 h 437"/>
              <a:gd name="T4" fmla="*/ 2147483647 w 374"/>
              <a:gd name="T5" fmla="*/ 2147483647 h 437"/>
              <a:gd name="T6" fmla="*/ 2147483647 w 374"/>
              <a:gd name="T7" fmla="*/ 2147483647 h 437"/>
              <a:gd name="T8" fmla="*/ 2147483647 w 374"/>
              <a:gd name="T9" fmla="*/ 2147483647 h 437"/>
              <a:gd name="T10" fmla="*/ 0 60000 65536"/>
              <a:gd name="T11" fmla="*/ 0 60000 65536"/>
              <a:gd name="T12" fmla="*/ 0 60000 65536"/>
              <a:gd name="T13" fmla="*/ 0 60000 65536"/>
              <a:gd name="T14" fmla="*/ 0 60000 65536"/>
              <a:gd name="T15" fmla="*/ 0 w 374"/>
              <a:gd name="T16" fmla="*/ 0 h 437"/>
              <a:gd name="T17" fmla="*/ 374 w 374"/>
              <a:gd name="T18" fmla="*/ 437 h 437"/>
            </a:gdLst>
            <a:ahLst/>
            <a:cxnLst>
              <a:cxn ang="T10">
                <a:pos x="T0" y="T1"/>
              </a:cxn>
              <a:cxn ang="T11">
                <a:pos x="T2" y="T3"/>
              </a:cxn>
              <a:cxn ang="T12">
                <a:pos x="T4" y="T5"/>
              </a:cxn>
              <a:cxn ang="T13">
                <a:pos x="T6" y="T7"/>
              </a:cxn>
              <a:cxn ang="T14">
                <a:pos x="T8" y="T9"/>
              </a:cxn>
            </a:cxnLst>
            <a:rect l="T15" t="T16" r="T17" b="T18"/>
            <a:pathLst>
              <a:path w="374" h="437">
                <a:moveTo>
                  <a:pt x="0" y="0"/>
                </a:moveTo>
                <a:cubicBezTo>
                  <a:pt x="9" y="20"/>
                  <a:pt x="32" y="78"/>
                  <a:pt x="58" y="120"/>
                </a:cubicBezTo>
                <a:cubicBezTo>
                  <a:pt x="84" y="162"/>
                  <a:pt x="123" y="216"/>
                  <a:pt x="154" y="254"/>
                </a:cubicBezTo>
                <a:cubicBezTo>
                  <a:pt x="185" y="292"/>
                  <a:pt x="208" y="316"/>
                  <a:pt x="245" y="346"/>
                </a:cubicBezTo>
                <a:cubicBezTo>
                  <a:pt x="282" y="376"/>
                  <a:pt x="347" y="418"/>
                  <a:pt x="374" y="437"/>
                </a:cubicBezTo>
              </a:path>
            </a:pathLst>
          </a:custGeom>
          <a:noFill/>
          <a:ln w="38100">
            <a:solidFill>
              <a:srgbClr val="3333CC"/>
            </a:solidFill>
            <a:round/>
          </a:ln>
        </p:spPr>
        <p:txBody>
          <a:bodyPr/>
          <a:lstStyle/>
          <a:p>
            <a:pPr algn="ctr"/>
            <a:endParaRPr lang="zh-CN" altLang="en-US"/>
          </a:p>
        </p:txBody>
      </p:sp>
      <p:sp>
        <p:nvSpPr>
          <p:cNvPr id="57363" name="Line 14"/>
          <p:cNvSpPr>
            <a:spLocks noChangeShapeType="1"/>
          </p:cNvSpPr>
          <p:nvPr/>
        </p:nvSpPr>
        <p:spPr bwMode="auto">
          <a:xfrm rot="1857826">
            <a:off x="7612063" y="2549525"/>
            <a:ext cx="144462" cy="71438"/>
          </a:xfrm>
          <a:prstGeom prst="line">
            <a:avLst/>
          </a:prstGeom>
          <a:noFill/>
          <a:ln w="38100">
            <a:solidFill>
              <a:srgbClr val="3333CC"/>
            </a:solidFill>
            <a:round/>
            <a:tailEnd type="triangle" w="med" len="med"/>
          </a:ln>
        </p:spPr>
        <p:txBody>
          <a:bodyPr/>
          <a:lstStyle/>
          <a:p>
            <a:endParaRPr lang="zh-CN" altLang="en-US"/>
          </a:p>
        </p:txBody>
      </p:sp>
      <p:sp>
        <p:nvSpPr>
          <p:cNvPr id="57364" name="Freeform 15"/>
          <p:cNvSpPr/>
          <p:nvPr/>
        </p:nvSpPr>
        <p:spPr bwMode="auto">
          <a:xfrm>
            <a:off x="6872288" y="2652713"/>
            <a:ext cx="1228725" cy="312737"/>
          </a:xfrm>
          <a:custGeom>
            <a:avLst/>
            <a:gdLst>
              <a:gd name="T0" fmla="*/ 2147483647 w 774"/>
              <a:gd name="T1" fmla="*/ 2147483647 h 197"/>
              <a:gd name="T2" fmla="*/ 2147483647 w 774"/>
              <a:gd name="T3" fmla="*/ 2147483647 h 197"/>
              <a:gd name="T4" fmla="*/ 2147483647 w 774"/>
              <a:gd name="T5" fmla="*/ 2147483647 h 197"/>
              <a:gd name="T6" fmla="*/ 2147483647 w 774"/>
              <a:gd name="T7" fmla="*/ 2147483647 h 197"/>
              <a:gd name="T8" fmla="*/ 0 w 774"/>
              <a:gd name="T9" fmla="*/ 0 h 197"/>
              <a:gd name="T10" fmla="*/ 0 60000 65536"/>
              <a:gd name="T11" fmla="*/ 0 60000 65536"/>
              <a:gd name="T12" fmla="*/ 0 60000 65536"/>
              <a:gd name="T13" fmla="*/ 0 60000 65536"/>
              <a:gd name="T14" fmla="*/ 0 60000 65536"/>
              <a:gd name="T15" fmla="*/ 0 w 774"/>
              <a:gd name="T16" fmla="*/ 0 h 197"/>
              <a:gd name="T17" fmla="*/ 774 w 774"/>
              <a:gd name="T18" fmla="*/ 197 h 197"/>
            </a:gdLst>
            <a:ahLst/>
            <a:cxnLst>
              <a:cxn ang="T10">
                <a:pos x="T0" y="T1"/>
              </a:cxn>
              <a:cxn ang="T11">
                <a:pos x="T2" y="T3"/>
              </a:cxn>
              <a:cxn ang="T12">
                <a:pos x="T4" y="T5"/>
              </a:cxn>
              <a:cxn ang="T13">
                <a:pos x="T6" y="T7"/>
              </a:cxn>
              <a:cxn ang="T14">
                <a:pos x="T8" y="T9"/>
              </a:cxn>
            </a:cxnLst>
            <a:rect l="T15" t="T16" r="T17" b="T18"/>
            <a:pathLst>
              <a:path w="774" h="197">
                <a:moveTo>
                  <a:pt x="774" y="197"/>
                </a:moveTo>
                <a:cubicBezTo>
                  <a:pt x="740" y="193"/>
                  <a:pt x="638" y="182"/>
                  <a:pt x="572" y="171"/>
                </a:cubicBezTo>
                <a:cubicBezTo>
                  <a:pt x="506" y="160"/>
                  <a:pt x="441" y="144"/>
                  <a:pt x="375" y="128"/>
                </a:cubicBezTo>
                <a:cubicBezTo>
                  <a:pt x="309" y="112"/>
                  <a:pt x="240" y="97"/>
                  <a:pt x="178" y="76"/>
                </a:cubicBezTo>
                <a:cubicBezTo>
                  <a:pt x="116" y="55"/>
                  <a:pt x="37" y="16"/>
                  <a:pt x="0" y="0"/>
                </a:cubicBezTo>
              </a:path>
            </a:pathLst>
          </a:custGeom>
          <a:noFill/>
          <a:ln w="38100">
            <a:solidFill>
              <a:srgbClr val="3333CC"/>
            </a:solidFill>
            <a:round/>
          </a:ln>
        </p:spPr>
        <p:txBody>
          <a:bodyPr/>
          <a:lstStyle/>
          <a:p>
            <a:pPr algn="ctr"/>
            <a:endParaRPr lang="zh-CN" altLang="en-US"/>
          </a:p>
        </p:txBody>
      </p:sp>
      <p:sp>
        <p:nvSpPr>
          <p:cNvPr id="57365" name="Line 16"/>
          <p:cNvSpPr>
            <a:spLocks noChangeShapeType="1"/>
          </p:cNvSpPr>
          <p:nvPr/>
        </p:nvSpPr>
        <p:spPr bwMode="auto">
          <a:xfrm rot="-414157" flipH="1" flipV="1">
            <a:off x="7308850" y="2797175"/>
            <a:ext cx="144463" cy="71438"/>
          </a:xfrm>
          <a:prstGeom prst="line">
            <a:avLst/>
          </a:prstGeom>
          <a:noFill/>
          <a:ln w="38100">
            <a:solidFill>
              <a:srgbClr val="3333CC"/>
            </a:solidFill>
            <a:round/>
            <a:tailEnd type="triangle" w="med" len="med"/>
          </a:ln>
        </p:spPr>
        <p:txBody>
          <a:bodyPr/>
          <a:lstStyle/>
          <a:p>
            <a:endParaRPr lang="zh-CN" altLang="en-US"/>
          </a:p>
        </p:txBody>
      </p:sp>
      <p:sp>
        <p:nvSpPr>
          <p:cNvPr id="57366" name="Freeform 17"/>
          <p:cNvSpPr/>
          <p:nvPr/>
        </p:nvSpPr>
        <p:spPr bwMode="auto">
          <a:xfrm>
            <a:off x="6611938" y="1836738"/>
            <a:ext cx="260350" cy="822325"/>
          </a:xfrm>
          <a:custGeom>
            <a:avLst/>
            <a:gdLst>
              <a:gd name="T0" fmla="*/ 0 w 164"/>
              <a:gd name="T1" fmla="*/ 0 h 518"/>
              <a:gd name="T2" fmla="*/ 2147483647 w 164"/>
              <a:gd name="T3" fmla="*/ 2147483647 h 518"/>
              <a:gd name="T4" fmla="*/ 2147483647 w 164"/>
              <a:gd name="T5" fmla="*/ 2147483647 h 518"/>
              <a:gd name="T6" fmla="*/ 2147483647 w 164"/>
              <a:gd name="T7" fmla="*/ 2147483647 h 518"/>
              <a:gd name="T8" fmla="*/ 2147483647 w 164"/>
              <a:gd name="T9" fmla="*/ 2147483647 h 518"/>
              <a:gd name="T10" fmla="*/ 0 60000 65536"/>
              <a:gd name="T11" fmla="*/ 0 60000 65536"/>
              <a:gd name="T12" fmla="*/ 0 60000 65536"/>
              <a:gd name="T13" fmla="*/ 0 60000 65536"/>
              <a:gd name="T14" fmla="*/ 0 60000 65536"/>
              <a:gd name="T15" fmla="*/ 0 w 164"/>
              <a:gd name="T16" fmla="*/ 0 h 518"/>
              <a:gd name="T17" fmla="*/ 164 w 164"/>
              <a:gd name="T18" fmla="*/ 518 h 518"/>
            </a:gdLst>
            <a:ahLst/>
            <a:cxnLst>
              <a:cxn ang="T10">
                <a:pos x="T0" y="T1"/>
              </a:cxn>
              <a:cxn ang="T11">
                <a:pos x="T2" y="T3"/>
              </a:cxn>
              <a:cxn ang="T12">
                <a:pos x="T4" y="T5"/>
              </a:cxn>
              <a:cxn ang="T13">
                <a:pos x="T6" y="T7"/>
              </a:cxn>
              <a:cxn ang="T14">
                <a:pos x="T8" y="T9"/>
              </a:cxn>
            </a:cxnLst>
            <a:rect l="T15" t="T16" r="T17" b="T18"/>
            <a:pathLst>
              <a:path w="164" h="518">
                <a:moveTo>
                  <a:pt x="0" y="0"/>
                </a:moveTo>
                <a:cubicBezTo>
                  <a:pt x="4" y="25"/>
                  <a:pt x="15" y="103"/>
                  <a:pt x="25" y="149"/>
                </a:cubicBezTo>
                <a:cubicBezTo>
                  <a:pt x="35" y="195"/>
                  <a:pt x="45" y="233"/>
                  <a:pt x="59" y="278"/>
                </a:cubicBezTo>
                <a:cubicBezTo>
                  <a:pt x="73" y="323"/>
                  <a:pt x="90" y="377"/>
                  <a:pt x="107" y="417"/>
                </a:cubicBezTo>
                <a:cubicBezTo>
                  <a:pt x="124" y="457"/>
                  <a:pt x="152" y="497"/>
                  <a:pt x="164" y="518"/>
                </a:cubicBezTo>
              </a:path>
            </a:pathLst>
          </a:custGeom>
          <a:noFill/>
          <a:ln w="38100">
            <a:solidFill>
              <a:srgbClr val="3333CC"/>
            </a:solidFill>
            <a:round/>
          </a:ln>
        </p:spPr>
        <p:txBody>
          <a:bodyPr/>
          <a:lstStyle/>
          <a:p>
            <a:pPr algn="ctr"/>
            <a:endParaRPr lang="zh-CN" altLang="en-US"/>
          </a:p>
        </p:txBody>
      </p:sp>
      <p:sp>
        <p:nvSpPr>
          <p:cNvPr id="57367" name="Line 18"/>
          <p:cNvSpPr>
            <a:spLocks noChangeShapeType="1"/>
          </p:cNvSpPr>
          <p:nvPr/>
        </p:nvSpPr>
        <p:spPr bwMode="auto">
          <a:xfrm flipH="1" flipV="1">
            <a:off x="6700838" y="2276475"/>
            <a:ext cx="71437" cy="215900"/>
          </a:xfrm>
          <a:prstGeom prst="line">
            <a:avLst/>
          </a:prstGeom>
          <a:noFill/>
          <a:ln w="38100">
            <a:solidFill>
              <a:srgbClr val="3333CC"/>
            </a:solidFill>
            <a:round/>
            <a:tailEnd type="triangle" w="med" len="med"/>
          </a:ln>
        </p:spPr>
        <p:txBody>
          <a:bodyPr/>
          <a:lstStyle/>
          <a:p>
            <a:endParaRPr lang="zh-CN" altLang="en-US"/>
          </a:p>
        </p:txBody>
      </p:sp>
      <p:sp>
        <p:nvSpPr>
          <p:cNvPr id="57368" name="Oval 19"/>
          <p:cNvSpPr>
            <a:spLocks noChangeArrowheads="1"/>
          </p:cNvSpPr>
          <p:nvPr/>
        </p:nvSpPr>
        <p:spPr bwMode="auto">
          <a:xfrm>
            <a:off x="6580188" y="1789113"/>
            <a:ext cx="73025" cy="71437"/>
          </a:xfrm>
          <a:prstGeom prst="ellipse">
            <a:avLst/>
          </a:prstGeom>
          <a:solidFill>
            <a:srgbClr val="FF0000"/>
          </a:solidFill>
          <a:ln w="9525">
            <a:solidFill>
              <a:schemeClr val="tx1"/>
            </a:solidFill>
            <a:round/>
          </a:ln>
        </p:spPr>
        <p:txBody>
          <a:bodyPr wrap="none" anchor="ctr"/>
          <a:lstStyle/>
          <a:p>
            <a:pPr algn="ctr"/>
            <a:endParaRPr lang="zh-CN" altLang="en-US"/>
          </a:p>
        </p:txBody>
      </p:sp>
      <p:sp>
        <p:nvSpPr>
          <p:cNvPr id="57369" name="Oval 20"/>
          <p:cNvSpPr>
            <a:spLocks noChangeArrowheads="1"/>
          </p:cNvSpPr>
          <p:nvPr/>
        </p:nvSpPr>
        <p:spPr bwMode="auto">
          <a:xfrm>
            <a:off x="7459663" y="2228850"/>
            <a:ext cx="73025" cy="71438"/>
          </a:xfrm>
          <a:prstGeom prst="ellipse">
            <a:avLst/>
          </a:prstGeom>
          <a:solidFill>
            <a:srgbClr val="FF0000"/>
          </a:solidFill>
          <a:ln w="9525">
            <a:solidFill>
              <a:schemeClr val="tx1"/>
            </a:solidFill>
            <a:round/>
          </a:ln>
        </p:spPr>
        <p:txBody>
          <a:bodyPr wrap="none" anchor="ctr"/>
          <a:lstStyle/>
          <a:p>
            <a:pPr algn="ctr"/>
            <a:endParaRPr lang="zh-CN" altLang="en-US"/>
          </a:p>
        </p:txBody>
      </p:sp>
      <p:sp>
        <p:nvSpPr>
          <p:cNvPr id="57370" name="Oval 21"/>
          <p:cNvSpPr>
            <a:spLocks noChangeArrowheads="1"/>
          </p:cNvSpPr>
          <p:nvPr/>
        </p:nvSpPr>
        <p:spPr bwMode="auto">
          <a:xfrm>
            <a:off x="8037513" y="2916238"/>
            <a:ext cx="73025" cy="71437"/>
          </a:xfrm>
          <a:prstGeom prst="ellipse">
            <a:avLst/>
          </a:prstGeom>
          <a:solidFill>
            <a:srgbClr val="FF0000"/>
          </a:solidFill>
          <a:ln w="9525">
            <a:solidFill>
              <a:schemeClr val="tx1"/>
            </a:solidFill>
            <a:round/>
          </a:ln>
        </p:spPr>
        <p:txBody>
          <a:bodyPr wrap="none" anchor="ctr"/>
          <a:lstStyle/>
          <a:p>
            <a:pPr algn="ctr"/>
            <a:endParaRPr lang="zh-CN" altLang="en-US"/>
          </a:p>
        </p:txBody>
      </p:sp>
      <p:sp>
        <p:nvSpPr>
          <p:cNvPr id="57371" name="Oval 22"/>
          <p:cNvSpPr>
            <a:spLocks noChangeArrowheads="1"/>
          </p:cNvSpPr>
          <p:nvPr/>
        </p:nvSpPr>
        <p:spPr bwMode="auto">
          <a:xfrm>
            <a:off x="6835775" y="2600325"/>
            <a:ext cx="73025" cy="71438"/>
          </a:xfrm>
          <a:prstGeom prst="ellipse">
            <a:avLst/>
          </a:prstGeom>
          <a:solidFill>
            <a:srgbClr val="FF0000"/>
          </a:solidFill>
          <a:ln w="9525">
            <a:solidFill>
              <a:schemeClr val="tx1"/>
            </a:solidFill>
            <a:round/>
          </a:ln>
        </p:spPr>
        <p:txBody>
          <a:bodyPr wrap="none" anchor="ctr"/>
          <a:lstStyle/>
          <a:p>
            <a:pPr algn="ctr"/>
            <a:endParaRPr lang="zh-CN" altLang="en-US"/>
          </a:p>
        </p:txBody>
      </p:sp>
      <p:sp>
        <p:nvSpPr>
          <p:cNvPr id="57372" name="Text Box 23"/>
          <p:cNvSpPr txBox="1">
            <a:spLocks noChangeArrowheads="1"/>
          </p:cNvSpPr>
          <p:nvPr/>
        </p:nvSpPr>
        <p:spPr bwMode="auto">
          <a:xfrm>
            <a:off x="6445250" y="1412875"/>
            <a:ext cx="336550" cy="457200"/>
          </a:xfrm>
          <a:prstGeom prst="rect">
            <a:avLst/>
          </a:prstGeom>
          <a:noFill/>
          <a:ln w="9525">
            <a:noFill/>
            <a:miter lim="800000"/>
          </a:ln>
        </p:spPr>
        <p:txBody>
          <a:bodyPr wrap="none">
            <a:spAutoFit/>
          </a:bodyPr>
          <a:lstStyle/>
          <a:p>
            <a:r>
              <a:rPr lang="en-US" altLang="zh-CN" i="1"/>
              <a:t>a</a:t>
            </a:r>
            <a:endParaRPr lang="en-US" altLang="zh-CN" i="1"/>
          </a:p>
        </p:txBody>
      </p:sp>
      <p:sp>
        <p:nvSpPr>
          <p:cNvPr id="57373" name="Text Box 24"/>
          <p:cNvSpPr txBox="1">
            <a:spLocks noChangeArrowheads="1"/>
          </p:cNvSpPr>
          <p:nvPr/>
        </p:nvSpPr>
        <p:spPr bwMode="auto">
          <a:xfrm>
            <a:off x="7380288" y="1844675"/>
            <a:ext cx="336550" cy="457200"/>
          </a:xfrm>
          <a:prstGeom prst="rect">
            <a:avLst/>
          </a:prstGeom>
          <a:noFill/>
          <a:ln w="9525">
            <a:noFill/>
            <a:miter lim="800000"/>
          </a:ln>
        </p:spPr>
        <p:txBody>
          <a:bodyPr wrap="none">
            <a:spAutoFit/>
          </a:bodyPr>
          <a:lstStyle/>
          <a:p>
            <a:r>
              <a:rPr lang="en-US" altLang="zh-CN" i="1"/>
              <a:t>b</a:t>
            </a:r>
            <a:endParaRPr lang="en-US" altLang="zh-CN" i="1"/>
          </a:p>
        </p:txBody>
      </p:sp>
      <p:sp>
        <p:nvSpPr>
          <p:cNvPr id="57374" name="Text Box 25"/>
          <p:cNvSpPr txBox="1">
            <a:spLocks noChangeArrowheads="1"/>
          </p:cNvSpPr>
          <p:nvPr/>
        </p:nvSpPr>
        <p:spPr bwMode="auto">
          <a:xfrm>
            <a:off x="7997825" y="2540000"/>
            <a:ext cx="319088" cy="457200"/>
          </a:xfrm>
          <a:prstGeom prst="rect">
            <a:avLst/>
          </a:prstGeom>
          <a:noFill/>
          <a:ln w="9525">
            <a:noFill/>
            <a:miter lim="800000"/>
          </a:ln>
        </p:spPr>
        <p:txBody>
          <a:bodyPr wrap="none">
            <a:spAutoFit/>
          </a:bodyPr>
          <a:lstStyle/>
          <a:p>
            <a:r>
              <a:rPr lang="en-US" altLang="zh-CN" i="1"/>
              <a:t>c</a:t>
            </a:r>
            <a:endParaRPr lang="en-US" altLang="zh-CN" i="1"/>
          </a:p>
        </p:txBody>
      </p:sp>
      <p:sp>
        <p:nvSpPr>
          <p:cNvPr id="57375" name="Text Box 26"/>
          <p:cNvSpPr txBox="1">
            <a:spLocks noChangeArrowheads="1"/>
          </p:cNvSpPr>
          <p:nvPr/>
        </p:nvSpPr>
        <p:spPr bwMode="auto">
          <a:xfrm>
            <a:off x="6532563" y="2492375"/>
            <a:ext cx="336550" cy="457200"/>
          </a:xfrm>
          <a:prstGeom prst="rect">
            <a:avLst/>
          </a:prstGeom>
          <a:noFill/>
          <a:ln w="9525">
            <a:noFill/>
            <a:miter lim="800000"/>
          </a:ln>
        </p:spPr>
        <p:txBody>
          <a:bodyPr wrap="none">
            <a:spAutoFit/>
          </a:bodyPr>
          <a:lstStyle/>
          <a:p>
            <a:r>
              <a:rPr lang="en-US" altLang="zh-CN" i="1"/>
              <a:t>d</a:t>
            </a:r>
            <a:endParaRPr lang="en-US" altLang="zh-CN" i="1"/>
          </a:p>
        </p:txBody>
      </p:sp>
      <p:sp>
        <p:nvSpPr>
          <p:cNvPr id="57376" name="Text Box 27"/>
          <p:cNvSpPr txBox="1">
            <a:spLocks noChangeArrowheads="1"/>
          </p:cNvSpPr>
          <p:nvPr/>
        </p:nvSpPr>
        <p:spPr bwMode="auto">
          <a:xfrm>
            <a:off x="6391275" y="3429000"/>
            <a:ext cx="412750" cy="366713"/>
          </a:xfrm>
          <a:prstGeom prst="rect">
            <a:avLst/>
          </a:prstGeom>
          <a:noFill/>
          <a:ln w="9525">
            <a:noFill/>
            <a:miter lim="800000"/>
          </a:ln>
        </p:spPr>
        <p:txBody>
          <a:bodyPr wrap="none">
            <a:spAutoFit/>
          </a:bodyPr>
          <a:lstStyle/>
          <a:p>
            <a:r>
              <a:rPr lang="en-US" altLang="zh-CN" sz="1800" i="1">
                <a:solidFill>
                  <a:srgbClr val="3333CC"/>
                </a:solidFill>
              </a:rPr>
              <a:t>V</a:t>
            </a:r>
            <a:r>
              <a:rPr lang="en-US" altLang="zh-CN" sz="1800" i="1" baseline="-25000">
                <a:solidFill>
                  <a:srgbClr val="3333CC"/>
                </a:solidFill>
              </a:rPr>
              <a:t>a</a:t>
            </a:r>
            <a:endParaRPr lang="en-US" altLang="zh-CN" sz="1800" i="1">
              <a:solidFill>
                <a:srgbClr val="3333CC"/>
              </a:solidFill>
            </a:endParaRPr>
          </a:p>
        </p:txBody>
      </p:sp>
      <p:sp>
        <p:nvSpPr>
          <p:cNvPr id="57377" name="Text Box 28"/>
          <p:cNvSpPr txBox="1">
            <a:spLocks noChangeArrowheads="1"/>
          </p:cNvSpPr>
          <p:nvPr/>
        </p:nvSpPr>
        <p:spPr bwMode="auto">
          <a:xfrm>
            <a:off x="6661150" y="3429000"/>
            <a:ext cx="412750" cy="366713"/>
          </a:xfrm>
          <a:prstGeom prst="rect">
            <a:avLst/>
          </a:prstGeom>
          <a:noFill/>
          <a:ln w="9525">
            <a:noFill/>
            <a:miter lim="800000"/>
          </a:ln>
        </p:spPr>
        <p:txBody>
          <a:bodyPr wrap="none">
            <a:spAutoFit/>
          </a:bodyPr>
          <a:lstStyle/>
          <a:p>
            <a:r>
              <a:rPr lang="en-US" altLang="zh-CN" sz="1800" i="1">
                <a:solidFill>
                  <a:srgbClr val="3333CC"/>
                </a:solidFill>
              </a:rPr>
              <a:t>V</a:t>
            </a:r>
            <a:r>
              <a:rPr lang="en-US" altLang="zh-CN" sz="1800" i="1" baseline="-25000">
                <a:solidFill>
                  <a:srgbClr val="3333CC"/>
                </a:solidFill>
              </a:rPr>
              <a:t>d</a:t>
            </a:r>
            <a:endParaRPr lang="en-US" altLang="zh-CN" sz="1800" i="1">
              <a:solidFill>
                <a:srgbClr val="3333CC"/>
              </a:solidFill>
            </a:endParaRPr>
          </a:p>
        </p:txBody>
      </p:sp>
      <p:sp>
        <p:nvSpPr>
          <p:cNvPr id="57378" name="Text Box 29"/>
          <p:cNvSpPr txBox="1">
            <a:spLocks noChangeArrowheads="1"/>
          </p:cNvSpPr>
          <p:nvPr/>
        </p:nvSpPr>
        <p:spPr bwMode="auto">
          <a:xfrm>
            <a:off x="7327900" y="3429000"/>
            <a:ext cx="412750" cy="366713"/>
          </a:xfrm>
          <a:prstGeom prst="rect">
            <a:avLst/>
          </a:prstGeom>
          <a:noFill/>
          <a:ln w="9525">
            <a:noFill/>
            <a:miter lim="800000"/>
          </a:ln>
        </p:spPr>
        <p:txBody>
          <a:bodyPr wrap="none">
            <a:spAutoFit/>
          </a:bodyPr>
          <a:lstStyle/>
          <a:p>
            <a:r>
              <a:rPr lang="en-US" altLang="zh-CN" sz="1800" i="1">
                <a:solidFill>
                  <a:srgbClr val="3333CC"/>
                </a:solidFill>
              </a:rPr>
              <a:t>V</a:t>
            </a:r>
            <a:r>
              <a:rPr lang="en-US" altLang="zh-CN" sz="1800" i="1" baseline="-25000">
                <a:solidFill>
                  <a:srgbClr val="3333CC"/>
                </a:solidFill>
              </a:rPr>
              <a:t>b</a:t>
            </a:r>
            <a:endParaRPr lang="en-US" altLang="zh-CN" sz="1800" i="1">
              <a:solidFill>
                <a:srgbClr val="3333CC"/>
              </a:solidFill>
            </a:endParaRPr>
          </a:p>
        </p:txBody>
      </p:sp>
      <p:sp>
        <p:nvSpPr>
          <p:cNvPr id="57379" name="Text Box 30"/>
          <p:cNvSpPr txBox="1">
            <a:spLocks noChangeArrowheads="1"/>
          </p:cNvSpPr>
          <p:nvPr/>
        </p:nvSpPr>
        <p:spPr bwMode="auto">
          <a:xfrm>
            <a:off x="7912100" y="3429000"/>
            <a:ext cx="404813" cy="366713"/>
          </a:xfrm>
          <a:prstGeom prst="rect">
            <a:avLst/>
          </a:prstGeom>
          <a:noFill/>
          <a:ln w="9525">
            <a:noFill/>
            <a:miter lim="800000"/>
          </a:ln>
        </p:spPr>
        <p:txBody>
          <a:bodyPr wrap="none">
            <a:spAutoFit/>
          </a:bodyPr>
          <a:lstStyle/>
          <a:p>
            <a:r>
              <a:rPr lang="en-US" altLang="zh-CN" sz="1800" i="1">
                <a:solidFill>
                  <a:srgbClr val="3333CC"/>
                </a:solidFill>
              </a:rPr>
              <a:t>V</a:t>
            </a:r>
            <a:r>
              <a:rPr lang="en-US" altLang="zh-CN" sz="1800" i="1" baseline="-25000">
                <a:solidFill>
                  <a:srgbClr val="3333CC"/>
                </a:solidFill>
              </a:rPr>
              <a:t>c</a:t>
            </a:r>
            <a:endParaRPr lang="en-US" altLang="zh-CN" sz="1800" i="1">
              <a:solidFill>
                <a:srgbClr val="3333CC"/>
              </a:solidFill>
            </a:endParaRPr>
          </a:p>
        </p:txBody>
      </p:sp>
      <p:sp>
        <p:nvSpPr>
          <p:cNvPr id="164895" name="AutoShape 31"/>
          <p:cNvSpPr>
            <a:spLocks noChangeArrowheads="1"/>
          </p:cNvSpPr>
          <p:nvPr/>
        </p:nvSpPr>
        <p:spPr bwMode="auto">
          <a:xfrm>
            <a:off x="250825" y="1196975"/>
            <a:ext cx="792163" cy="215900"/>
          </a:xfrm>
          <a:prstGeom prst="rightArrow">
            <a:avLst>
              <a:gd name="adj1" fmla="val 50000"/>
              <a:gd name="adj2" fmla="val 91728"/>
            </a:avLst>
          </a:prstGeom>
          <a:solidFill>
            <a:schemeClr val="accent1"/>
          </a:solidFill>
          <a:ln w="9525">
            <a:solidFill>
              <a:schemeClr val="tx1"/>
            </a:solidFill>
            <a:miter lim="800000"/>
          </a:ln>
        </p:spPr>
        <p:txBody>
          <a:bodyPr wrap="none" anchor="ctr"/>
          <a:lstStyle/>
          <a:p>
            <a:pPr algn="ctr"/>
            <a:endParaRPr lang="zh-CN" altLang="en-US"/>
          </a:p>
        </p:txBody>
      </p:sp>
      <p:graphicFrame>
        <p:nvGraphicFramePr>
          <p:cNvPr id="164896" name="Object 32"/>
          <p:cNvGraphicFramePr>
            <a:graphicFrameLocks noChangeAspect="1"/>
          </p:cNvGraphicFramePr>
          <p:nvPr/>
        </p:nvGraphicFramePr>
        <p:xfrm>
          <a:off x="395288" y="1666875"/>
          <a:ext cx="4910137" cy="969963"/>
        </p:xfrm>
        <a:graphic>
          <a:graphicData uri="http://schemas.openxmlformats.org/presentationml/2006/ole">
            <mc:AlternateContent xmlns:mc="http://schemas.openxmlformats.org/markup-compatibility/2006">
              <mc:Choice xmlns:v="urn:schemas-microsoft-com:vml" Requires="v">
                <p:oleObj spid="_x0000_s57345" name="公式" r:id="rId1" imgW="52730400" imgH="10363200" progId="Equation.3">
                  <p:embed/>
                </p:oleObj>
              </mc:Choice>
              <mc:Fallback>
                <p:oleObj name="公式" r:id="rId1" imgW="52730400" imgH="10363200" progId="Equation.3">
                  <p:embed/>
                  <p:pic>
                    <p:nvPicPr>
                      <p:cNvPr id="0" name="Object 32"/>
                      <p:cNvPicPr>
                        <a:picLocks noChangeAspect="1"/>
                      </p:cNvPicPr>
                      <p:nvPr/>
                    </p:nvPicPr>
                    <p:blipFill>
                      <a:blip r:embed="rId2"/>
                      <a:stretch>
                        <a:fillRect/>
                      </a:stretch>
                    </p:blipFill>
                    <p:spPr>
                      <a:xfrm>
                        <a:off x="395288" y="1666875"/>
                        <a:ext cx="4910137" cy="969963"/>
                      </a:xfrm>
                      <a:prstGeom prst="rect">
                        <a:avLst/>
                      </a:prstGeom>
                      <a:noFill/>
                      <a:ln w="9525">
                        <a:noFill/>
                      </a:ln>
                    </p:spPr>
                  </p:pic>
                </p:oleObj>
              </mc:Fallback>
            </mc:AlternateContent>
          </a:graphicData>
        </a:graphic>
      </p:graphicFrame>
      <p:sp>
        <p:nvSpPr>
          <p:cNvPr id="57381" name="Text Box 33"/>
          <p:cNvSpPr txBox="1">
            <a:spLocks noChangeArrowheads="1"/>
          </p:cNvSpPr>
          <p:nvPr/>
        </p:nvSpPr>
        <p:spPr bwMode="auto">
          <a:xfrm>
            <a:off x="6948488" y="1676400"/>
            <a:ext cx="471487" cy="457200"/>
          </a:xfrm>
          <a:prstGeom prst="rect">
            <a:avLst/>
          </a:prstGeom>
          <a:noFill/>
          <a:ln w="9525">
            <a:noFill/>
            <a:miter lim="800000"/>
          </a:ln>
        </p:spPr>
        <p:txBody>
          <a:bodyPr wrap="none">
            <a:spAutoFit/>
          </a:bodyPr>
          <a:lstStyle/>
          <a:p>
            <a:r>
              <a:rPr lang="en-US" altLang="zh-CN" i="1">
                <a:solidFill>
                  <a:srgbClr val="FF0000"/>
                </a:solidFill>
              </a:rPr>
              <a:t>T</a:t>
            </a:r>
            <a:r>
              <a:rPr lang="en-US" altLang="zh-CN" baseline="-25000">
                <a:solidFill>
                  <a:srgbClr val="FF0000"/>
                </a:solidFill>
              </a:rPr>
              <a:t>1</a:t>
            </a:r>
            <a:endParaRPr lang="en-US" altLang="zh-CN">
              <a:solidFill>
                <a:srgbClr val="FF0000"/>
              </a:solidFill>
            </a:endParaRPr>
          </a:p>
        </p:txBody>
      </p:sp>
      <p:sp>
        <p:nvSpPr>
          <p:cNvPr id="57382" name="Text Box 34"/>
          <p:cNvSpPr txBox="1">
            <a:spLocks noChangeArrowheads="1"/>
          </p:cNvSpPr>
          <p:nvPr/>
        </p:nvSpPr>
        <p:spPr bwMode="auto">
          <a:xfrm>
            <a:off x="7021513" y="2781300"/>
            <a:ext cx="471487" cy="457200"/>
          </a:xfrm>
          <a:prstGeom prst="rect">
            <a:avLst/>
          </a:prstGeom>
          <a:noFill/>
          <a:ln w="9525">
            <a:noFill/>
            <a:miter lim="800000"/>
          </a:ln>
        </p:spPr>
        <p:txBody>
          <a:bodyPr wrap="none">
            <a:spAutoFit/>
          </a:bodyPr>
          <a:lstStyle/>
          <a:p>
            <a:r>
              <a:rPr lang="en-US" altLang="zh-CN" i="1">
                <a:solidFill>
                  <a:srgbClr val="FF0000"/>
                </a:solidFill>
              </a:rPr>
              <a:t>T</a:t>
            </a:r>
            <a:r>
              <a:rPr lang="en-US" altLang="zh-CN" baseline="-25000">
                <a:solidFill>
                  <a:srgbClr val="FF0000"/>
                </a:solidFill>
              </a:rPr>
              <a:t>2</a:t>
            </a:r>
            <a:endParaRPr lang="en-US" altLang="zh-CN">
              <a:solidFill>
                <a:srgbClr val="FF0000"/>
              </a:solidFill>
            </a:endParaRPr>
          </a:p>
        </p:txBody>
      </p:sp>
      <p:sp>
        <p:nvSpPr>
          <p:cNvPr id="164899" name="Text Box 35"/>
          <p:cNvSpPr txBox="1">
            <a:spLocks noChangeArrowheads="1"/>
          </p:cNvSpPr>
          <p:nvPr/>
        </p:nvSpPr>
        <p:spPr bwMode="auto">
          <a:xfrm>
            <a:off x="180975" y="2708275"/>
            <a:ext cx="5903913" cy="457200"/>
          </a:xfrm>
          <a:prstGeom prst="rect">
            <a:avLst/>
          </a:prstGeom>
          <a:noFill/>
          <a:ln w="9525">
            <a:noFill/>
            <a:miter lim="800000"/>
          </a:ln>
        </p:spPr>
        <p:txBody>
          <a:bodyPr>
            <a:spAutoFit/>
          </a:bodyPr>
          <a:lstStyle/>
          <a:p>
            <a:r>
              <a:rPr lang="en-US" altLang="zh-CN" b="1" i="1"/>
              <a:t>bc</a:t>
            </a:r>
            <a:r>
              <a:rPr lang="zh-CN" altLang="en-US" b="1"/>
              <a:t>、</a:t>
            </a:r>
            <a:r>
              <a:rPr lang="en-US" altLang="zh-CN" b="1" i="1"/>
              <a:t>ab</a:t>
            </a:r>
            <a:r>
              <a:rPr lang="zh-CN" altLang="en-US" b="1"/>
              <a:t>过程均为绝热过程，由绝热方程：</a:t>
            </a:r>
            <a:endParaRPr lang="zh-CN" altLang="en-US" b="1"/>
          </a:p>
        </p:txBody>
      </p:sp>
      <p:graphicFrame>
        <p:nvGraphicFramePr>
          <p:cNvPr id="164900" name="Object 36"/>
          <p:cNvGraphicFramePr>
            <a:graphicFrameLocks noChangeAspect="1"/>
          </p:cNvGraphicFramePr>
          <p:nvPr/>
        </p:nvGraphicFramePr>
        <p:xfrm>
          <a:off x="539750" y="3284538"/>
          <a:ext cx="2376488" cy="609600"/>
        </p:xfrm>
        <a:graphic>
          <a:graphicData uri="http://schemas.openxmlformats.org/presentationml/2006/ole">
            <mc:AlternateContent xmlns:mc="http://schemas.openxmlformats.org/markup-compatibility/2006">
              <mc:Choice xmlns:v="urn:schemas-microsoft-com:vml" Requires="v">
                <p:oleObj spid="_x0000_s57347" name="公式" r:id="rId3" imgW="22555200" imgH="5791200" progId="Equation.3">
                  <p:embed/>
                </p:oleObj>
              </mc:Choice>
              <mc:Fallback>
                <p:oleObj name="公式" r:id="rId3" imgW="22555200" imgH="5791200" progId="Equation.3">
                  <p:embed/>
                  <p:pic>
                    <p:nvPicPr>
                      <p:cNvPr id="0" name="Object 36"/>
                      <p:cNvPicPr>
                        <a:picLocks noChangeAspect="1"/>
                      </p:cNvPicPr>
                      <p:nvPr/>
                    </p:nvPicPr>
                    <p:blipFill>
                      <a:blip r:embed="rId4"/>
                      <a:stretch>
                        <a:fillRect/>
                      </a:stretch>
                    </p:blipFill>
                    <p:spPr>
                      <a:xfrm>
                        <a:off x="539750" y="3284538"/>
                        <a:ext cx="2376488" cy="609600"/>
                      </a:xfrm>
                      <a:prstGeom prst="rect">
                        <a:avLst/>
                      </a:prstGeom>
                      <a:noFill/>
                      <a:ln w="9525">
                        <a:noFill/>
                      </a:ln>
                    </p:spPr>
                  </p:pic>
                </p:oleObj>
              </mc:Fallback>
            </mc:AlternateContent>
          </a:graphicData>
        </a:graphic>
      </p:graphicFrame>
      <p:graphicFrame>
        <p:nvGraphicFramePr>
          <p:cNvPr id="164901" name="Object 37"/>
          <p:cNvGraphicFramePr>
            <a:graphicFrameLocks noChangeAspect="1"/>
          </p:cNvGraphicFramePr>
          <p:nvPr/>
        </p:nvGraphicFramePr>
        <p:xfrm>
          <a:off x="468313" y="4043363"/>
          <a:ext cx="2439987" cy="609600"/>
        </p:xfrm>
        <a:graphic>
          <a:graphicData uri="http://schemas.openxmlformats.org/presentationml/2006/ole">
            <mc:AlternateContent xmlns:mc="http://schemas.openxmlformats.org/markup-compatibility/2006">
              <mc:Choice xmlns:v="urn:schemas-microsoft-com:vml" Requires="v">
                <p:oleObj spid="_x0000_s57348" name="公式" r:id="rId5" imgW="23164800" imgH="5791200" progId="Equation.3">
                  <p:embed/>
                </p:oleObj>
              </mc:Choice>
              <mc:Fallback>
                <p:oleObj name="公式" r:id="rId5" imgW="23164800" imgH="5791200" progId="Equation.3">
                  <p:embed/>
                  <p:pic>
                    <p:nvPicPr>
                      <p:cNvPr id="0" name="Object 37"/>
                      <p:cNvPicPr>
                        <a:picLocks noChangeAspect="1"/>
                      </p:cNvPicPr>
                      <p:nvPr/>
                    </p:nvPicPr>
                    <p:blipFill>
                      <a:blip r:embed="rId6"/>
                      <a:stretch>
                        <a:fillRect/>
                      </a:stretch>
                    </p:blipFill>
                    <p:spPr>
                      <a:xfrm>
                        <a:off x="468313" y="4043363"/>
                        <a:ext cx="2439987" cy="609600"/>
                      </a:xfrm>
                      <a:prstGeom prst="rect">
                        <a:avLst/>
                      </a:prstGeom>
                      <a:noFill/>
                      <a:ln w="9525">
                        <a:noFill/>
                      </a:ln>
                    </p:spPr>
                  </p:pic>
                </p:oleObj>
              </mc:Fallback>
            </mc:AlternateContent>
          </a:graphicData>
        </a:graphic>
      </p:graphicFrame>
      <p:sp>
        <p:nvSpPr>
          <p:cNvPr id="164902" name="Text Box 38"/>
          <p:cNvSpPr txBox="1">
            <a:spLocks noChangeArrowheads="1"/>
          </p:cNvSpPr>
          <p:nvPr/>
        </p:nvSpPr>
        <p:spPr bwMode="auto">
          <a:xfrm>
            <a:off x="3132138" y="3357563"/>
            <a:ext cx="2278062" cy="457200"/>
          </a:xfrm>
          <a:prstGeom prst="rect">
            <a:avLst/>
          </a:prstGeom>
          <a:noFill/>
          <a:ln w="9525">
            <a:noFill/>
            <a:miter lim="800000"/>
          </a:ln>
        </p:spPr>
        <p:txBody>
          <a:bodyPr wrap="none">
            <a:spAutoFit/>
          </a:bodyPr>
          <a:lstStyle/>
          <a:p>
            <a:r>
              <a:rPr lang="en-US" altLang="zh-CN"/>
              <a:t>(</a:t>
            </a:r>
            <a:r>
              <a:rPr lang="en-US" altLang="zh-CN" i="1"/>
              <a:t>T</a:t>
            </a:r>
            <a:r>
              <a:rPr lang="en-US" altLang="zh-CN" i="1" baseline="-25000"/>
              <a:t>b </a:t>
            </a:r>
            <a:r>
              <a:rPr lang="en-US" altLang="zh-CN"/>
              <a:t>= </a:t>
            </a:r>
            <a:r>
              <a:rPr lang="en-US" altLang="zh-CN" i="1"/>
              <a:t>T</a:t>
            </a:r>
            <a:r>
              <a:rPr lang="en-US" altLang="zh-CN" baseline="-25000"/>
              <a:t>1</a:t>
            </a:r>
            <a:r>
              <a:rPr lang="en-US" altLang="zh-CN"/>
              <a:t>, </a:t>
            </a:r>
            <a:r>
              <a:rPr lang="en-US" altLang="zh-CN" i="1"/>
              <a:t>T</a:t>
            </a:r>
            <a:r>
              <a:rPr lang="en-US" altLang="zh-CN" i="1" baseline="-25000"/>
              <a:t>c </a:t>
            </a:r>
            <a:r>
              <a:rPr lang="en-US" altLang="zh-CN"/>
              <a:t>= </a:t>
            </a:r>
            <a:r>
              <a:rPr lang="en-US" altLang="zh-CN" i="1"/>
              <a:t>T</a:t>
            </a:r>
            <a:r>
              <a:rPr lang="en-US" altLang="zh-CN" baseline="-25000"/>
              <a:t>2</a:t>
            </a:r>
            <a:r>
              <a:rPr lang="en-US" altLang="zh-CN"/>
              <a:t>)</a:t>
            </a:r>
            <a:endParaRPr lang="en-US" altLang="zh-CN"/>
          </a:p>
        </p:txBody>
      </p:sp>
      <p:sp>
        <p:nvSpPr>
          <p:cNvPr id="164903" name="AutoShape 39"/>
          <p:cNvSpPr/>
          <p:nvPr/>
        </p:nvSpPr>
        <p:spPr bwMode="auto">
          <a:xfrm>
            <a:off x="250825" y="3500438"/>
            <a:ext cx="144463" cy="935037"/>
          </a:xfrm>
          <a:prstGeom prst="leftBrace">
            <a:avLst>
              <a:gd name="adj1" fmla="val 53938"/>
              <a:gd name="adj2" fmla="val 50000"/>
            </a:avLst>
          </a:prstGeom>
          <a:noFill/>
          <a:ln w="9525">
            <a:solidFill>
              <a:schemeClr val="tx1"/>
            </a:solidFill>
            <a:round/>
          </a:ln>
        </p:spPr>
        <p:txBody>
          <a:bodyPr wrap="none" anchor="ctr"/>
          <a:lstStyle/>
          <a:p>
            <a:pPr algn="ctr"/>
            <a:endParaRPr lang="zh-CN" altLang="en-US"/>
          </a:p>
        </p:txBody>
      </p:sp>
      <p:sp>
        <p:nvSpPr>
          <p:cNvPr id="164904" name="Text Box 40"/>
          <p:cNvSpPr txBox="1">
            <a:spLocks noChangeArrowheads="1"/>
          </p:cNvSpPr>
          <p:nvPr/>
        </p:nvSpPr>
        <p:spPr bwMode="auto">
          <a:xfrm>
            <a:off x="3132138" y="4051300"/>
            <a:ext cx="2289175" cy="457200"/>
          </a:xfrm>
          <a:prstGeom prst="rect">
            <a:avLst/>
          </a:prstGeom>
          <a:noFill/>
          <a:ln w="9525">
            <a:noFill/>
            <a:miter lim="800000"/>
          </a:ln>
        </p:spPr>
        <p:txBody>
          <a:bodyPr wrap="none">
            <a:spAutoFit/>
          </a:bodyPr>
          <a:lstStyle/>
          <a:p>
            <a:r>
              <a:rPr lang="en-US" altLang="zh-CN"/>
              <a:t>(</a:t>
            </a:r>
            <a:r>
              <a:rPr lang="en-US" altLang="zh-CN" i="1"/>
              <a:t>T</a:t>
            </a:r>
            <a:r>
              <a:rPr lang="en-US" altLang="zh-CN" i="1" baseline="-25000"/>
              <a:t>a </a:t>
            </a:r>
            <a:r>
              <a:rPr lang="en-US" altLang="zh-CN"/>
              <a:t>= </a:t>
            </a:r>
            <a:r>
              <a:rPr lang="en-US" altLang="zh-CN" i="1"/>
              <a:t>T</a:t>
            </a:r>
            <a:r>
              <a:rPr lang="en-US" altLang="zh-CN" baseline="-25000"/>
              <a:t>1</a:t>
            </a:r>
            <a:r>
              <a:rPr lang="en-US" altLang="zh-CN"/>
              <a:t>, </a:t>
            </a:r>
            <a:r>
              <a:rPr lang="en-US" altLang="zh-CN" i="1"/>
              <a:t>T</a:t>
            </a:r>
            <a:r>
              <a:rPr lang="en-US" altLang="zh-CN" i="1" baseline="-25000"/>
              <a:t>d </a:t>
            </a:r>
            <a:r>
              <a:rPr lang="en-US" altLang="zh-CN"/>
              <a:t>= </a:t>
            </a:r>
            <a:r>
              <a:rPr lang="en-US" altLang="zh-CN" i="1"/>
              <a:t>T</a:t>
            </a:r>
            <a:r>
              <a:rPr lang="en-US" altLang="zh-CN" baseline="-25000"/>
              <a:t>2</a:t>
            </a:r>
            <a:r>
              <a:rPr lang="en-US" altLang="zh-CN"/>
              <a:t>)</a:t>
            </a:r>
            <a:endParaRPr lang="en-US" altLang="zh-CN"/>
          </a:p>
        </p:txBody>
      </p:sp>
      <p:sp>
        <p:nvSpPr>
          <p:cNvPr id="164905" name="AutoShape 41"/>
          <p:cNvSpPr>
            <a:spLocks noChangeArrowheads="1"/>
          </p:cNvSpPr>
          <p:nvPr/>
        </p:nvSpPr>
        <p:spPr bwMode="auto">
          <a:xfrm>
            <a:off x="250825" y="5157788"/>
            <a:ext cx="649288" cy="215900"/>
          </a:xfrm>
          <a:prstGeom prst="rightArrow">
            <a:avLst>
              <a:gd name="adj1" fmla="val 50000"/>
              <a:gd name="adj2" fmla="val 75184"/>
            </a:avLst>
          </a:prstGeom>
          <a:solidFill>
            <a:schemeClr val="accent1"/>
          </a:solidFill>
          <a:ln w="9525">
            <a:solidFill>
              <a:schemeClr val="tx1"/>
            </a:solidFill>
            <a:miter lim="800000"/>
          </a:ln>
        </p:spPr>
        <p:txBody>
          <a:bodyPr wrap="none" anchor="ctr"/>
          <a:lstStyle/>
          <a:p>
            <a:pPr algn="ctr"/>
            <a:endParaRPr lang="zh-CN" altLang="en-US"/>
          </a:p>
        </p:txBody>
      </p:sp>
      <p:graphicFrame>
        <p:nvGraphicFramePr>
          <p:cNvPr id="164906" name="Object 42"/>
          <p:cNvGraphicFramePr>
            <a:graphicFrameLocks noChangeAspect="1"/>
          </p:cNvGraphicFramePr>
          <p:nvPr/>
        </p:nvGraphicFramePr>
        <p:xfrm>
          <a:off x="1187450" y="4868863"/>
          <a:ext cx="1152525" cy="933450"/>
        </p:xfrm>
        <a:graphic>
          <a:graphicData uri="http://schemas.openxmlformats.org/presentationml/2006/ole">
            <mc:AlternateContent xmlns:mc="http://schemas.openxmlformats.org/markup-compatibility/2006">
              <mc:Choice xmlns:v="urn:schemas-microsoft-com:vml" Requires="v">
                <p:oleObj spid="_x0000_s57349" name="公式" r:id="rId7" imgW="12801600" imgH="10363200" progId="Equation.3">
                  <p:embed/>
                </p:oleObj>
              </mc:Choice>
              <mc:Fallback>
                <p:oleObj name="公式" r:id="rId7" imgW="12801600" imgH="10363200" progId="Equation.3">
                  <p:embed/>
                  <p:pic>
                    <p:nvPicPr>
                      <p:cNvPr id="0" name="Object 42"/>
                      <p:cNvPicPr>
                        <a:picLocks noChangeAspect="1"/>
                      </p:cNvPicPr>
                      <p:nvPr/>
                    </p:nvPicPr>
                    <p:blipFill>
                      <a:blip r:embed="rId8"/>
                      <a:stretch>
                        <a:fillRect/>
                      </a:stretch>
                    </p:blipFill>
                    <p:spPr>
                      <a:xfrm>
                        <a:off x="1187450" y="4868863"/>
                        <a:ext cx="1152525" cy="933450"/>
                      </a:xfrm>
                      <a:prstGeom prst="rect">
                        <a:avLst/>
                      </a:prstGeom>
                      <a:noFill/>
                      <a:ln w="9525">
                        <a:noFill/>
                      </a:ln>
                    </p:spPr>
                  </p:pic>
                </p:oleObj>
              </mc:Fallback>
            </mc:AlternateContent>
          </a:graphicData>
        </a:graphic>
      </p:graphicFrame>
      <p:sp>
        <p:nvSpPr>
          <p:cNvPr id="164907" name="AutoShape 43"/>
          <p:cNvSpPr>
            <a:spLocks noChangeArrowheads="1"/>
          </p:cNvSpPr>
          <p:nvPr/>
        </p:nvSpPr>
        <p:spPr bwMode="auto">
          <a:xfrm>
            <a:off x="2627313" y="5157788"/>
            <a:ext cx="649287" cy="215900"/>
          </a:xfrm>
          <a:prstGeom prst="rightArrow">
            <a:avLst>
              <a:gd name="adj1" fmla="val 50000"/>
              <a:gd name="adj2" fmla="val 75184"/>
            </a:avLst>
          </a:prstGeom>
          <a:solidFill>
            <a:schemeClr val="accent1"/>
          </a:solidFill>
          <a:ln w="9525">
            <a:solidFill>
              <a:schemeClr val="tx1"/>
            </a:solidFill>
            <a:miter lim="800000"/>
          </a:ln>
        </p:spPr>
        <p:txBody>
          <a:bodyPr wrap="none" anchor="ctr"/>
          <a:lstStyle/>
          <a:p>
            <a:pPr algn="ctr"/>
            <a:endParaRPr lang="zh-CN" altLang="en-US"/>
          </a:p>
        </p:txBody>
      </p:sp>
      <p:graphicFrame>
        <p:nvGraphicFramePr>
          <p:cNvPr id="164908" name="Object 44"/>
          <p:cNvGraphicFramePr>
            <a:graphicFrameLocks noChangeAspect="1"/>
          </p:cNvGraphicFramePr>
          <p:nvPr/>
        </p:nvGraphicFramePr>
        <p:xfrm>
          <a:off x="3794125" y="4797425"/>
          <a:ext cx="2554288" cy="969963"/>
        </p:xfrm>
        <a:graphic>
          <a:graphicData uri="http://schemas.openxmlformats.org/presentationml/2006/ole">
            <mc:AlternateContent xmlns:mc="http://schemas.openxmlformats.org/markup-compatibility/2006">
              <mc:Choice xmlns:v="urn:schemas-microsoft-com:vml" Requires="v">
                <p:oleObj spid="_x0000_s57350" name="Equation" r:id="rId9" imgW="27432000" imgH="10363200" progId="Equation.DSMT4">
                  <p:embed/>
                </p:oleObj>
              </mc:Choice>
              <mc:Fallback>
                <p:oleObj name="Equation" r:id="rId9" imgW="27432000" imgH="10363200" progId="Equation.DSMT4">
                  <p:embed/>
                  <p:pic>
                    <p:nvPicPr>
                      <p:cNvPr id="0" name="Object 44"/>
                      <p:cNvPicPr>
                        <a:picLocks noChangeAspect="1"/>
                      </p:cNvPicPr>
                      <p:nvPr/>
                    </p:nvPicPr>
                    <p:blipFill>
                      <a:blip r:embed="rId10"/>
                      <a:stretch>
                        <a:fillRect/>
                      </a:stretch>
                    </p:blipFill>
                    <p:spPr>
                      <a:xfrm>
                        <a:off x="3794125" y="4797425"/>
                        <a:ext cx="2554288" cy="969963"/>
                      </a:xfrm>
                      <a:prstGeom prst="rect">
                        <a:avLst/>
                      </a:prstGeom>
                      <a:noFill/>
                      <a:ln w="9525">
                        <a:noFill/>
                      </a:ln>
                    </p:spPr>
                  </p:pic>
                </p:oleObj>
              </mc:Fallback>
            </mc:AlternateContent>
          </a:graphicData>
        </a:graphic>
      </p:graphicFrame>
      <p:sp>
        <p:nvSpPr>
          <p:cNvPr id="164909" name="AutoShape 45"/>
          <p:cNvSpPr>
            <a:spLocks noChangeArrowheads="1"/>
          </p:cNvSpPr>
          <p:nvPr/>
        </p:nvSpPr>
        <p:spPr bwMode="auto">
          <a:xfrm>
            <a:off x="6588125" y="4076700"/>
            <a:ext cx="2305050" cy="1584325"/>
          </a:xfrm>
          <a:prstGeom prst="wedgeRoundRectCallout">
            <a:avLst>
              <a:gd name="adj1" fmla="val -60264"/>
              <a:gd name="adj2" fmla="val 26755"/>
              <a:gd name="adj3" fmla="val 16667"/>
            </a:avLst>
          </a:prstGeom>
          <a:solidFill>
            <a:srgbClr val="A3EF1B"/>
          </a:solidFill>
          <a:ln w="9525">
            <a:noFill/>
            <a:miter lim="800000"/>
          </a:ln>
        </p:spPr>
        <p:txBody>
          <a:bodyPr/>
          <a:lstStyle/>
          <a:p>
            <a:pPr>
              <a:lnSpc>
                <a:spcPct val="120000"/>
              </a:lnSpc>
              <a:spcBef>
                <a:spcPct val="50000"/>
              </a:spcBef>
              <a:buClr>
                <a:schemeClr val="hlink"/>
              </a:buClr>
            </a:pPr>
            <a:r>
              <a:rPr lang="zh-CN" altLang="en-US" b="1">
                <a:solidFill>
                  <a:srgbClr val="FF00FF"/>
                </a:solidFill>
                <a:latin typeface="Garamond" panose="02020404030301010803" pitchFamily="18" charset="0"/>
              </a:rPr>
              <a:t>注意：</a:t>
            </a:r>
            <a:r>
              <a:rPr lang="zh-CN" altLang="en-US" b="1">
                <a:solidFill>
                  <a:srgbClr val="FF0000"/>
                </a:solidFill>
                <a:latin typeface="Garamond" panose="02020404030301010803" pitchFamily="18" charset="0"/>
              </a:rPr>
              <a:t>此式只适用于卡诺循环的计算。</a:t>
            </a:r>
            <a:endParaRPr lang="zh-CN" altLang="en-US" b="1">
              <a:solidFill>
                <a:srgbClr val="FF0000"/>
              </a:solidFill>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95"/>
                                        </p:tgtEl>
                                        <p:attrNameLst>
                                          <p:attrName>style.visibility</p:attrName>
                                        </p:attrNameLst>
                                      </p:cBhvr>
                                      <p:to>
                                        <p:strVal val="visible"/>
                                      </p:to>
                                    </p:set>
                                    <p:animEffect transition="in" filter="wipe(left)">
                                      <p:cBhvr>
                                        <p:cTn id="7" dur="500"/>
                                        <p:tgtEl>
                                          <p:spTgt spid="16489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4896"/>
                                        </p:tgtEl>
                                        <p:attrNameLst>
                                          <p:attrName>style.visibility</p:attrName>
                                        </p:attrNameLst>
                                      </p:cBhvr>
                                      <p:to>
                                        <p:strVal val="visible"/>
                                      </p:to>
                                    </p:set>
                                    <p:animEffect transition="in" filter="wipe(left)">
                                      <p:cBhvr>
                                        <p:cTn id="11" dur="500"/>
                                        <p:tgtEl>
                                          <p:spTgt spid="16489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4899"/>
                                        </p:tgtEl>
                                        <p:attrNameLst>
                                          <p:attrName>style.visibility</p:attrName>
                                        </p:attrNameLst>
                                      </p:cBhvr>
                                      <p:to>
                                        <p:strVal val="visible"/>
                                      </p:to>
                                    </p:set>
                                    <p:animEffect transition="in" filter="wipe(left)">
                                      <p:cBhvr>
                                        <p:cTn id="16" dur="500"/>
                                        <p:tgtEl>
                                          <p:spTgt spid="16489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4900"/>
                                        </p:tgtEl>
                                        <p:attrNameLst>
                                          <p:attrName>style.visibility</p:attrName>
                                        </p:attrNameLst>
                                      </p:cBhvr>
                                      <p:to>
                                        <p:strVal val="visible"/>
                                      </p:to>
                                    </p:set>
                                    <p:animEffect transition="in" filter="wipe(left)">
                                      <p:cBhvr>
                                        <p:cTn id="21" dur="500"/>
                                        <p:tgtEl>
                                          <p:spTgt spid="16490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4902"/>
                                        </p:tgtEl>
                                        <p:attrNameLst>
                                          <p:attrName>style.visibility</p:attrName>
                                        </p:attrNameLst>
                                      </p:cBhvr>
                                      <p:to>
                                        <p:strVal val="visible"/>
                                      </p:to>
                                    </p:set>
                                    <p:animEffect transition="in" filter="wipe(left)">
                                      <p:cBhvr>
                                        <p:cTn id="26" dur="500"/>
                                        <p:tgtEl>
                                          <p:spTgt spid="16490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64901"/>
                                        </p:tgtEl>
                                        <p:attrNameLst>
                                          <p:attrName>style.visibility</p:attrName>
                                        </p:attrNameLst>
                                      </p:cBhvr>
                                      <p:to>
                                        <p:strVal val="visible"/>
                                      </p:to>
                                    </p:set>
                                    <p:animEffect transition="in" filter="wipe(left)">
                                      <p:cBhvr>
                                        <p:cTn id="31" dur="500"/>
                                        <p:tgtEl>
                                          <p:spTgt spid="16490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4904"/>
                                        </p:tgtEl>
                                        <p:attrNameLst>
                                          <p:attrName>style.visibility</p:attrName>
                                        </p:attrNameLst>
                                      </p:cBhvr>
                                      <p:to>
                                        <p:strVal val="visible"/>
                                      </p:to>
                                    </p:set>
                                    <p:animEffect transition="in" filter="wipe(left)">
                                      <p:cBhvr>
                                        <p:cTn id="36" dur="500"/>
                                        <p:tgtEl>
                                          <p:spTgt spid="164904"/>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64903"/>
                                        </p:tgtEl>
                                        <p:attrNameLst>
                                          <p:attrName>style.visibility</p:attrName>
                                        </p:attrNameLst>
                                      </p:cBhvr>
                                      <p:to>
                                        <p:strVal val="visible"/>
                                      </p:to>
                                    </p:set>
                                    <p:animEffect transition="in" filter="blinds(horizontal)">
                                      <p:cBhvr>
                                        <p:cTn id="41" dur="500"/>
                                        <p:tgtEl>
                                          <p:spTgt spid="16490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64905"/>
                                        </p:tgtEl>
                                        <p:attrNameLst>
                                          <p:attrName>style.visibility</p:attrName>
                                        </p:attrNameLst>
                                      </p:cBhvr>
                                      <p:to>
                                        <p:strVal val="visible"/>
                                      </p:to>
                                    </p:set>
                                    <p:animEffect transition="in" filter="wipe(left)">
                                      <p:cBhvr>
                                        <p:cTn id="46" dur="500"/>
                                        <p:tgtEl>
                                          <p:spTgt spid="164905"/>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164906"/>
                                        </p:tgtEl>
                                        <p:attrNameLst>
                                          <p:attrName>style.visibility</p:attrName>
                                        </p:attrNameLst>
                                      </p:cBhvr>
                                      <p:to>
                                        <p:strVal val="visible"/>
                                      </p:to>
                                    </p:set>
                                    <p:animEffect transition="in" filter="wipe(left)">
                                      <p:cBhvr>
                                        <p:cTn id="50" dur="500"/>
                                        <p:tgtEl>
                                          <p:spTgt spid="16490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64907"/>
                                        </p:tgtEl>
                                        <p:attrNameLst>
                                          <p:attrName>style.visibility</p:attrName>
                                        </p:attrNameLst>
                                      </p:cBhvr>
                                      <p:to>
                                        <p:strVal val="visible"/>
                                      </p:to>
                                    </p:set>
                                    <p:animEffect transition="in" filter="wipe(left)">
                                      <p:cBhvr>
                                        <p:cTn id="55" dur="500"/>
                                        <p:tgtEl>
                                          <p:spTgt spid="164907"/>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164908"/>
                                        </p:tgtEl>
                                        <p:attrNameLst>
                                          <p:attrName>style.visibility</p:attrName>
                                        </p:attrNameLst>
                                      </p:cBhvr>
                                      <p:to>
                                        <p:strVal val="visible"/>
                                      </p:to>
                                    </p:set>
                                    <p:animEffect transition="in" filter="wipe(left)">
                                      <p:cBhvr>
                                        <p:cTn id="59" dur="500"/>
                                        <p:tgtEl>
                                          <p:spTgt spid="164908"/>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164909"/>
                                        </p:tgtEl>
                                        <p:attrNameLst>
                                          <p:attrName>style.visibility</p:attrName>
                                        </p:attrNameLst>
                                      </p:cBhvr>
                                      <p:to>
                                        <p:strVal val="visible"/>
                                      </p:to>
                                    </p:set>
                                    <p:animEffect transition="in" filter="dissolve">
                                      <p:cBhvr>
                                        <p:cTn id="64" dur="500"/>
                                        <p:tgtEl>
                                          <p:spTgt spid="164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95" grpId="0" animBg="1"/>
      <p:bldP spid="164899" grpId="0"/>
      <p:bldP spid="164902" grpId="0"/>
      <p:bldP spid="164903" grpId="0" animBg="1"/>
      <p:bldP spid="164904" grpId="0"/>
      <p:bldP spid="164905" grpId="0" animBg="1"/>
      <p:bldP spid="164907" grpId="0" animBg="1"/>
      <p:bldP spid="164909"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AutoShape 2"/>
          <p:cNvSpPr>
            <a:spLocks noChangeArrowheads="1"/>
          </p:cNvSpPr>
          <p:nvPr/>
        </p:nvSpPr>
        <p:spPr bwMode="auto">
          <a:xfrm>
            <a:off x="161925" y="4210050"/>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sp>
        <p:nvSpPr>
          <p:cNvPr id="237571" name="Text Box 3"/>
          <p:cNvSpPr txBox="1">
            <a:spLocks noChangeArrowheads="1"/>
          </p:cNvSpPr>
          <p:nvPr/>
        </p:nvSpPr>
        <p:spPr bwMode="auto">
          <a:xfrm>
            <a:off x="590550" y="4273550"/>
            <a:ext cx="3486150" cy="512763"/>
          </a:xfrm>
          <a:prstGeom prst="rect">
            <a:avLst/>
          </a:prstGeom>
          <a:noFill/>
          <a:ln w="9525">
            <a:noFill/>
            <a:miter lim="800000"/>
          </a:ln>
        </p:spPr>
        <p:txBody>
          <a:bodyPr>
            <a:spAutoFit/>
          </a:bodyPr>
          <a:lstStyle/>
          <a:p>
            <a:pPr>
              <a:lnSpc>
                <a:spcPct val="115000"/>
              </a:lnSpc>
            </a:pPr>
            <a:r>
              <a:rPr lang="zh-CN" altLang="en-US" b="1">
                <a:solidFill>
                  <a:srgbClr val="FF6600"/>
                </a:solidFill>
              </a:rPr>
              <a:t>提高热机效率的方法</a:t>
            </a:r>
            <a:endParaRPr lang="zh-CN" altLang="en-US" b="1">
              <a:solidFill>
                <a:srgbClr val="FF6600"/>
              </a:solidFill>
            </a:endParaRPr>
          </a:p>
        </p:txBody>
      </p:sp>
      <p:sp>
        <p:nvSpPr>
          <p:cNvPr id="237572" name="Text Box 4"/>
          <p:cNvSpPr txBox="1">
            <a:spLocks noChangeArrowheads="1"/>
          </p:cNvSpPr>
          <p:nvPr/>
        </p:nvSpPr>
        <p:spPr bwMode="auto">
          <a:xfrm>
            <a:off x="369888" y="4851400"/>
            <a:ext cx="6273800" cy="512763"/>
          </a:xfrm>
          <a:prstGeom prst="rect">
            <a:avLst/>
          </a:prstGeom>
          <a:noFill/>
          <a:ln w="9525">
            <a:noFill/>
            <a:miter lim="800000"/>
          </a:ln>
        </p:spPr>
        <p:txBody>
          <a:bodyPr>
            <a:spAutoFit/>
          </a:bodyPr>
          <a:lstStyle/>
          <a:p>
            <a:pPr>
              <a:lnSpc>
                <a:spcPct val="115000"/>
              </a:lnSpc>
              <a:defRPr/>
            </a:pPr>
            <a:r>
              <a:rPr lang="en-US" altLang="zh-CN" b="1" dirty="0">
                <a:ea typeface="+mn-ea"/>
                <a:cs typeface="Times New Roman" panose="02020603050405020304" pitchFamily="18" charset="0"/>
              </a:rPr>
              <a:t>(1) </a:t>
            </a:r>
            <a:r>
              <a:rPr lang="zh-CN" altLang="en-US" b="1" dirty="0">
                <a:ea typeface="+mn-ea"/>
                <a:cs typeface="Times New Roman" panose="02020603050405020304" pitchFamily="18" charset="0"/>
              </a:rPr>
              <a:t>减小循环过程中的损耗，如摩擦等；</a:t>
            </a:r>
            <a:endParaRPr lang="zh-CN" altLang="en-US" b="1" dirty="0">
              <a:ea typeface="+mn-ea"/>
              <a:cs typeface="Times New Roman" panose="02020603050405020304" pitchFamily="18" charset="0"/>
            </a:endParaRPr>
          </a:p>
        </p:txBody>
      </p:sp>
      <p:sp>
        <p:nvSpPr>
          <p:cNvPr id="237573" name="Text Box 5"/>
          <p:cNvSpPr txBox="1">
            <a:spLocks noChangeArrowheads="1"/>
          </p:cNvSpPr>
          <p:nvPr/>
        </p:nvSpPr>
        <p:spPr bwMode="auto">
          <a:xfrm>
            <a:off x="325438" y="5454650"/>
            <a:ext cx="4032250" cy="512763"/>
          </a:xfrm>
          <a:prstGeom prst="rect">
            <a:avLst/>
          </a:prstGeom>
          <a:noFill/>
          <a:ln w="9525">
            <a:noFill/>
            <a:miter lim="800000"/>
          </a:ln>
        </p:spPr>
        <p:txBody>
          <a:bodyPr>
            <a:spAutoFit/>
          </a:bodyPr>
          <a:lstStyle/>
          <a:p>
            <a:pPr>
              <a:lnSpc>
                <a:spcPct val="115000"/>
              </a:lnSpc>
              <a:defRPr/>
            </a:pPr>
            <a:r>
              <a:rPr lang="en-US" altLang="zh-CN" b="1" dirty="0">
                <a:ea typeface="+mn-ea"/>
                <a:cs typeface="Times New Roman" panose="02020603050405020304" pitchFamily="18" charset="0"/>
              </a:rPr>
              <a:t>(2) </a:t>
            </a:r>
            <a:r>
              <a:rPr lang="zh-CN" altLang="en-US" b="1" dirty="0">
                <a:ea typeface="+mn-ea"/>
                <a:cs typeface="Times New Roman" panose="02020603050405020304" pitchFamily="18" charset="0"/>
              </a:rPr>
              <a:t>提高高温热源的温度。</a:t>
            </a:r>
            <a:endParaRPr lang="zh-CN" altLang="en-US" b="1" dirty="0">
              <a:ea typeface="+mn-ea"/>
              <a:cs typeface="Times New Roman" panose="02020603050405020304" pitchFamily="18" charset="0"/>
            </a:endParaRPr>
          </a:p>
        </p:txBody>
      </p:sp>
      <p:sp>
        <p:nvSpPr>
          <p:cNvPr id="237574" name="Text Box 6"/>
          <p:cNvSpPr txBox="1">
            <a:spLocks noChangeArrowheads="1"/>
          </p:cNvSpPr>
          <p:nvPr/>
        </p:nvSpPr>
        <p:spPr bwMode="auto">
          <a:xfrm>
            <a:off x="304800" y="1654175"/>
            <a:ext cx="8553450" cy="1774825"/>
          </a:xfrm>
          <a:prstGeom prst="rect">
            <a:avLst/>
          </a:prstGeom>
          <a:noFill/>
          <a:ln w="9525">
            <a:noFill/>
            <a:miter lim="800000"/>
          </a:ln>
        </p:spPr>
        <p:txBody>
          <a:bodyPr>
            <a:spAutoFit/>
          </a:bodyPr>
          <a:lstStyle/>
          <a:p>
            <a:pPr>
              <a:lnSpc>
                <a:spcPct val="115000"/>
              </a:lnSpc>
              <a:defRPr/>
            </a:pPr>
            <a:r>
              <a:rPr kumimoji="1" lang="en-US" altLang="zh-CN" b="1" dirty="0">
                <a:ea typeface="+mn-ea"/>
                <a:cs typeface="Times New Roman" panose="02020603050405020304" pitchFamily="18" charset="0"/>
              </a:rPr>
              <a:t>(1) </a:t>
            </a:r>
            <a:r>
              <a:rPr kumimoji="1" lang="zh-CN" altLang="en-US" b="1" dirty="0">
                <a:ea typeface="+mn-ea"/>
                <a:cs typeface="Times New Roman" panose="02020603050405020304" pitchFamily="18" charset="0"/>
              </a:rPr>
              <a:t>理想气体卡诺循环热机效率只与 </a:t>
            </a:r>
            <a:r>
              <a:rPr kumimoji="1" lang="en-US" altLang="zh-CN" b="1" i="1" dirty="0">
                <a:solidFill>
                  <a:srgbClr val="FF6600"/>
                </a:solidFill>
                <a:ea typeface="+mn-ea"/>
                <a:cs typeface="Times New Roman" panose="02020603050405020304" pitchFamily="18" charset="0"/>
              </a:rPr>
              <a:t>T</a:t>
            </a:r>
            <a:r>
              <a:rPr kumimoji="1" lang="en-US" altLang="zh-CN" b="1" baseline="-25000" dirty="0">
                <a:solidFill>
                  <a:srgbClr val="FF6600"/>
                </a:solidFill>
                <a:ea typeface="+mn-ea"/>
                <a:cs typeface="Times New Roman" panose="02020603050405020304" pitchFamily="18" charset="0"/>
              </a:rPr>
              <a:t>1 </a:t>
            </a:r>
            <a:r>
              <a:rPr kumimoji="1" lang="zh-CN" altLang="en-US" b="1" dirty="0">
                <a:ea typeface="+mn-ea"/>
                <a:cs typeface="Times New Roman" panose="02020603050405020304" pitchFamily="18" charset="0"/>
              </a:rPr>
              <a:t>，</a:t>
            </a:r>
            <a:r>
              <a:rPr kumimoji="1" lang="en-US" altLang="zh-CN" b="1" i="1" dirty="0">
                <a:solidFill>
                  <a:srgbClr val="FF6600"/>
                </a:solidFill>
                <a:ea typeface="+mn-ea"/>
                <a:cs typeface="Times New Roman" panose="02020603050405020304" pitchFamily="18" charset="0"/>
              </a:rPr>
              <a:t>T</a:t>
            </a:r>
            <a:r>
              <a:rPr kumimoji="1" lang="en-US" altLang="zh-CN" b="1" baseline="-25000" dirty="0">
                <a:solidFill>
                  <a:srgbClr val="FF6600"/>
                </a:solidFill>
                <a:ea typeface="+mn-ea"/>
                <a:cs typeface="Times New Roman" panose="02020603050405020304" pitchFamily="18" charset="0"/>
              </a:rPr>
              <a:t>2</a:t>
            </a:r>
            <a:r>
              <a:rPr kumimoji="1" lang="en-US" altLang="zh-CN" b="1" dirty="0">
                <a:solidFill>
                  <a:srgbClr val="FF6600"/>
                </a:solidFill>
                <a:ea typeface="+mn-ea"/>
                <a:cs typeface="Times New Roman" panose="02020603050405020304" pitchFamily="18" charset="0"/>
              </a:rPr>
              <a:t> </a:t>
            </a:r>
            <a:r>
              <a:rPr kumimoji="1" lang="zh-CN" altLang="en-US" b="1" dirty="0">
                <a:ea typeface="+mn-ea"/>
                <a:cs typeface="Times New Roman" panose="02020603050405020304" pitchFamily="18" charset="0"/>
              </a:rPr>
              <a:t>有关</a:t>
            </a:r>
            <a:r>
              <a:rPr kumimoji="1" lang="en-US" altLang="zh-CN" b="1" dirty="0">
                <a:ea typeface="+mn-ea"/>
                <a:cs typeface="Times New Roman" panose="02020603050405020304" pitchFamily="18" charset="0"/>
              </a:rPr>
              <a:t>,</a:t>
            </a:r>
            <a:r>
              <a:rPr kumimoji="1" lang="zh-CN" altLang="en-US" b="1" dirty="0">
                <a:ea typeface="+mn-ea"/>
                <a:cs typeface="Times New Roman" panose="02020603050405020304" pitchFamily="18" charset="0"/>
              </a:rPr>
              <a:t>温差越大，效率越高。</a:t>
            </a:r>
            <a:r>
              <a:rPr kumimoji="1" lang="zh-CN" altLang="en-US" b="1" dirty="0">
                <a:solidFill>
                  <a:srgbClr val="FF6600"/>
                </a:solidFill>
                <a:ea typeface="+mn-ea"/>
                <a:cs typeface="Times New Roman" panose="02020603050405020304" pitchFamily="18" charset="0"/>
              </a:rPr>
              <a:t>提高</a:t>
            </a:r>
            <a:r>
              <a:rPr kumimoji="1" lang="zh-CN" altLang="en-US" b="1" dirty="0">
                <a:ea typeface="+mn-ea"/>
                <a:cs typeface="Times New Roman" panose="02020603050405020304" pitchFamily="18" charset="0"/>
              </a:rPr>
              <a:t>热机高温热源的温度 </a:t>
            </a:r>
            <a:r>
              <a:rPr kumimoji="1" lang="en-US" altLang="zh-CN" b="1" i="1" dirty="0">
                <a:solidFill>
                  <a:srgbClr val="FF6600"/>
                </a:solidFill>
                <a:ea typeface="+mn-ea"/>
                <a:cs typeface="Times New Roman" panose="02020603050405020304" pitchFamily="18" charset="0"/>
              </a:rPr>
              <a:t>T</a:t>
            </a:r>
            <a:r>
              <a:rPr kumimoji="1" lang="en-US" altLang="zh-CN" b="1" baseline="-25000" dirty="0">
                <a:solidFill>
                  <a:srgbClr val="FF6600"/>
                </a:solidFill>
                <a:ea typeface="+mn-ea"/>
                <a:cs typeface="Times New Roman" panose="02020603050405020304" pitchFamily="18" charset="0"/>
              </a:rPr>
              <a:t>1</a:t>
            </a:r>
            <a:r>
              <a:rPr kumimoji="1" lang="en-US" altLang="zh-CN" b="1" dirty="0">
                <a:ea typeface="+mn-ea"/>
                <a:cs typeface="Times New Roman" panose="02020603050405020304" pitchFamily="18" charset="0"/>
              </a:rPr>
              <a:t> </a:t>
            </a:r>
            <a:r>
              <a:rPr kumimoji="1" lang="zh-CN" altLang="en-US" b="1" dirty="0">
                <a:ea typeface="+mn-ea"/>
                <a:cs typeface="Times New Roman" panose="02020603050405020304" pitchFamily="18" charset="0"/>
              </a:rPr>
              <a:t>，</a:t>
            </a:r>
            <a:r>
              <a:rPr kumimoji="1" lang="zh-CN" altLang="en-US" b="1" dirty="0">
                <a:solidFill>
                  <a:srgbClr val="FF6600"/>
                </a:solidFill>
                <a:ea typeface="+mn-ea"/>
                <a:cs typeface="Times New Roman" panose="02020603050405020304" pitchFamily="18" charset="0"/>
              </a:rPr>
              <a:t>降低</a:t>
            </a:r>
            <a:r>
              <a:rPr kumimoji="1" lang="zh-CN" altLang="en-US" b="1" dirty="0">
                <a:solidFill>
                  <a:srgbClr val="9900CC"/>
                </a:solidFill>
                <a:ea typeface="+mn-ea"/>
                <a:cs typeface="Times New Roman" panose="02020603050405020304" pitchFamily="18" charset="0"/>
              </a:rPr>
              <a:t>低温热源的温度</a:t>
            </a:r>
            <a:r>
              <a:rPr kumimoji="1" lang="zh-CN" altLang="en-US" b="1" dirty="0">
                <a:ea typeface="+mn-ea"/>
                <a:cs typeface="Times New Roman" panose="02020603050405020304" pitchFamily="18" charset="0"/>
              </a:rPr>
              <a:t> </a:t>
            </a:r>
            <a:r>
              <a:rPr kumimoji="1" lang="en-US" altLang="zh-CN" b="1" i="1" dirty="0">
                <a:solidFill>
                  <a:srgbClr val="FF6600"/>
                </a:solidFill>
                <a:ea typeface="+mn-ea"/>
                <a:cs typeface="Times New Roman" panose="02020603050405020304" pitchFamily="18" charset="0"/>
              </a:rPr>
              <a:t>T</a:t>
            </a:r>
            <a:r>
              <a:rPr kumimoji="1" lang="en-US" altLang="zh-CN" b="1" baseline="-25000" dirty="0">
                <a:solidFill>
                  <a:srgbClr val="FF6600"/>
                </a:solidFill>
                <a:ea typeface="+mn-ea"/>
                <a:cs typeface="Times New Roman" panose="02020603050405020304" pitchFamily="18" charset="0"/>
              </a:rPr>
              <a:t>2</a:t>
            </a:r>
            <a:r>
              <a:rPr kumimoji="1" lang="en-US" altLang="zh-CN" b="1" baseline="-25000" dirty="0">
                <a:ea typeface="+mn-ea"/>
                <a:cs typeface="Times New Roman" panose="02020603050405020304" pitchFamily="18" charset="0"/>
              </a:rPr>
              <a:t>   </a:t>
            </a:r>
            <a:r>
              <a:rPr kumimoji="1" lang="zh-CN" altLang="en-US" b="1" dirty="0">
                <a:ea typeface="+mn-ea"/>
                <a:cs typeface="Times New Roman" panose="02020603050405020304" pitchFamily="18" charset="0"/>
              </a:rPr>
              <a:t>都可以</a:t>
            </a:r>
            <a:r>
              <a:rPr kumimoji="1" lang="zh-CN" altLang="en-US" b="1" dirty="0">
                <a:solidFill>
                  <a:srgbClr val="FF6600"/>
                </a:solidFill>
                <a:ea typeface="+mn-ea"/>
                <a:cs typeface="Times New Roman" panose="02020603050405020304" pitchFamily="18" charset="0"/>
              </a:rPr>
              <a:t>提高热机的效率</a:t>
            </a:r>
            <a:r>
              <a:rPr kumimoji="1" lang="zh-CN" altLang="en-US" b="1" dirty="0">
                <a:ea typeface="+mn-ea"/>
                <a:cs typeface="Times New Roman" panose="02020603050405020304" pitchFamily="18" charset="0"/>
              </a:rPr>
              <a:t>。但实际中通常采用的方法是提高热机高温热源的温度 </a:t>
            </a:r>
            <a:r>
              <a:rPr kumimoji="1" lang="en-US" altLang="zh-CN" b="1" i="1" dirty="0">
                <a:solidFill>
                  <a:srgbClr val="FF6600"/>
                </a:solidFill>
                <a:ea typeface="+mn-ea"/>
                <a:cs typeface="Times New Roman" panose="02020603050405020304" pitchFamily="18" charset="0"/>
              </a:rPr>
              <a:t>T</a:t>
            </a:r>
            <a:r>
              <a:rPr kumimoji="1" lang="en-US" altLang="zh-CN" b="1" baseline="-25000" dirty="0">
                <a:solidFill>
                  <a:srgbClr val="FF6600"/>
                </a:solidFill>
                <a:ea typeface="+mn-ea"/>
                <a:cs typeface="Times New Roman" panose="02020603050405020304" pitchFamily="18" charset="0"/>
              </a:rPr>
              <a:t>1</a:t>
            </a:r>
            <a:r>
              <a:rPr kumimoji="1" lang="en-US" altLang="zh-CN" b="1" dirty="0">
                <a:solidFill>
                  <a:srgbClr val="FF6600"/>
                </a:solidFill>
                <a:ea typeface="+mn-ea"/>
                <a:cs typeface="Times New Roman" panose="02020603050405020304" pitchFamily="18" charset="0"/>
              </a:rPr>
              <a:t> </a:t>
            </a:r>
            <a:r>
              <a:rPr kumimoji="1" lang="zh-CN" altLang="en-US" b="1" dirty="0">
                <a:ea typeface="+mn-ea"/>
                <a:cs typeface="Times New Roman" panose="02020603050405020304" pitchFamily="18" charset="0"/>
              </a:rPr>
              <a:t>。   </a:t>
            </a:r>
            <a:endParaRPr kumimoji="1" lang="zh-CN" altLang="en-US" b="1" dirty="0">
              <a:ea typeface="+mn-ea"/>
              <a:cs typeface="Times New Roman" panose="02020603050405020304" pitchFamily="18" charset="0"/>
            </a:endParaRPr>
          </a:p>
        </p:txBody>
      </p:sp>
      <p:sp>
        <p:nvSpPr>
          <p:cNvPr id="237575" name="Rectangle 7"/>
          <p:cNvSpPr>
            <a:spLocks noChangeArrowheads="1"/>
          </p:cNvSpPr>
          <p:nvPr/>
        </p:nvSpPr>
        <p:spPr bwMode="auto">
          <a:xfrm>
            <a:off x="566738" y="950913"/>
            <a:ext cx="2159000" cy="512762"/>
          </a:xfrm>
          <a:prstGeom prst="rect">
            <a:avLst/>
          </a:prstGeom>
          <a:noFill/>
          <a:ln w="9525">
            <a:noFill/>
            <a:miter lim="800000"/>
          </a:ln>
        </p:spPr>
        <p:txBody>
          <a:bodyPr>
            <a:spAutoFit/>
          </a:bodyPr>
          <a:lstStyle/>
          <a:p>
            <a:pPr>
              <a:lnSpc>
                <a:spcPct val="115000"/>
              </a:lnSpc>
            </a:pPr>
            <a:r>
              <a:rPr kumimoji="1" lang="zh-CN" altLang="en-US" b="1">
                <a:solidFill>
                  <a:srgbClr val="FF6600"/>
                </a:solidFill>
                <a:latin typeface="Arial" panose="020B0604020202020204" pitchFamily="34" charset="0"/>
              </a:rPr>
              <a:t>讨论</a:t>
            </a:r>
            <a:endParaRPr kumimoji="1" lang="zh-CN" altLang="en-US" b="1">
              <a:solidFill>
                <a:srgbClr val="FF6600"/>
              </a:solidFill>
              <a:latin typeface="Arial" panose="020B0604020202020204" pitchFamily="34" charset="0"/>
            </a:endParaRPr>
          </a:p>
        </p:txBody>
      </p:sp>
      <p:sp>
        <p:nvSpPr>
          <p:cNvPr id="237576" name="Text Box 8"/>
          <p:cNvSpPr txBox="1">
            <a:spLocks noChangeArrowheads="1"/>
          </p:cNvSpPr>
          <p:nvPr/>
        </p:nvSpPr>
        <p:spPr bwMode="auto">
          <a:xfrm>
            <a:off x="328613" y="3449638"/>
            <a:ext cx="8172450" cy="479425"/>
          </a:xfrm>
          <a:prstGeom prst="rect">
            <a:avLst/>
          </a:prstGeom>
          <a:noFill/>
          <a:ln w="9525" algn="ctr">
            <a:noFill/>
            <a:miter lim="800000"/>
          </a:ln>
        </p:spPr>
        <p:txBody>
          <a:bodyPr>
            <a:spAutoFit/>
          </a:bodyPr>
          <a:lstStyle/>
          <a:p>
            <a:pPr>
              <a:lnSpc>
                <a:spcPct val="115000"/>
              </a:lnSpc>
              <a:defRPr/>
            </a:pPr>
            <a:r>
              <a:rPr kumimoji="1" lang="en-US" altLang="zh-CN" b="1" dirty="0">
                <a:ea typeface="+mn-ea"/>
                <a:cs typeface="Times New Roman" panose="02020603050405020304" pitchFamily="18" charset="0"/>
              </a:rPr>
              <a:t>(2) </a:t>
            </a:r>
            <a:r>
              <a:rPr kumimoji="1" lang="zh-CN" altLang="en-US" b="1" dirty="0">
                <a:ea typeface="+mn-ea"/>
                <a:cs typeface="Times New Roman" panose="02020603050405020304" pitchFamily="18" charset="0"/>
              </a:rPr>
              <a:t>卡诺循环热机的效率与工作物质无关。</a:t>
            </a:r>
            <a:endParaRPr kumimoji="1" lang="zh-CN" altLang="en-US" b="1" dirty="0">
              <a:ea typeface="+mn-ea"/>
              <a:cs typeface="Times New Roman" panose="02020603050405020304" pitchFamily="18" charset="0"/>
            </a:endParaRPr>
          </a:p>
        </p:txBody>
      </p:sp>
      <p:sp>
        <p:nvSpPr>
          <p:cNvPr id="237577" name="AutoShape 9"/>
          <p:cNvSpPr>
            <a:spLocks noChangeArrowheads="1"/>
          </p:cNvSpPr>
          <p:nvPr/>
        </p:nvSpPr>
        <p:spPr bwMode="auto">
          <a:xfrm>
            <a:off x="161925" y="92392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graphicFrame>
        <p:nvGraphicFramePr>
          <p:cNvPr id="58370" name="Object 10"/>
          <p:cNvGraphicFramePr>
            <a:graphicFrameLocks noChangeAspect="1"/>
          </p:cNvGraphicFramePr>
          <p:nvPr/>
        </p:nvGraphicFramePr>
        <p:xfrm>
          <a:off x="3071813" y="428625"/>
          <a:ext cx="2430462" cy="857250"/>
        </p:xfrm>
        <a:graphic>
          <a:graphicData uri="http://schemas.openxmlformats.org/presentationml/2006/ole">
            <mc:AlternateContent xmlns:mc="http://schemas.openxmlformats.org/markup-compatibility/2006">
              <mc:Choice xmlns:v="urn:schemas-microsoft-com:vml" Requires="v">
                <p:oleObj spid="_x0000_s58369" name="Equation" r:id="rId1" imgW="29565600" imgH="10363200" progId="Equation.DSMT4">
                  <p:embed/>
                </p:oleObj>
              </mc:Choice>
              <mc:Fallback>
                <p:oleObj name="Equation" r:id="rId1" imgW="29565600" imgH="10363200" progId="Equation.DSMT4">
                  <p:embed/>
                  <p:pic>
                    <p:nvPicPr>
                      <p:cNvPr id="0" name="Object 10"/>
                      <p:cNvPicPr>
                        <a:picLocks noChangeAspect="1"/>
                      </p:cNvPicPr>
                      <p:nvPr/>
                    </p:nvPicPr>
                    <p:blipFill>
                      <a:blip r:embed="rId2"/>
                      <a:stretch>
                        <a:fillRect/>
                      </a:stretch>
                    </p:blipFill>
                    <p:spPr>
                      <a:xfrm>
                        <a:off x="3071813" y="428625"/>
                        <a:ext cx="2430462" cy="857250"/>
                      </a:xfrm>
                      <a:prstGeom prst="rect">
                        <a:avLst/>
                      </a:prstGeom>
                      <a:solidFill>
                        <a:srgbClr val="CCFFCC"/>
                      </a:solidFill>
                      <a:ln w="9525" cap="flat" cmpd="sng">
                        <a:solidFill>
                          <a:srgbClr val="00FF00"/>
                        </a:solidFill>
                        <a:prstDash val="solid"/>
                        <a:miter/>
                        <a:headEnd type="none" w="med" len="med"/>
                        <a:tailEnd type="none" w="med" len="me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37577"/>
                                        </p:tgtEl>
                                        <p:attrNameLst>
                                          <p:attrName>style.visibility</p:attrName>
                                        </p:attrNameLst>
                                      </p:cBhvr>
                                      <p:to>
                                        <p:strVal val="visible"/>
                                      </p:to>
                                    </p:set>
                                    <p:anim calcmode="lin" valueType="num">
                                      <p:cBhvr>
                                        <p:cTn id="7" dur="500" fill="hold"/>
                                        <p:tgtEl>
                                          <p:spTgt spid="237577"/>
                                        </p:tgtEl>
                                        <p:attrNameLst>
                                          <p:attrName>ppt_w</p:attrName>
                                        </p:attrNameLst>
                                      </p:cBhvr>
                                      <p:tavLst>
                                        <p:tav tm="0">
                                          <p:val>
                                            <p:strVal val="4*#ppt_w"/>
                                          </p:val>
                                        </p:tav>
                                        <p:tav tm="100000">
                                          <p:val>
                                            <p:strVal val="#ppt_w"/>
                                          </p:val>
                                        </p:tav>
                                      </p:tavLst>
                                    </p:anim>
                                    <p:anim calcmode="lin" valueType="num">
                                      <p:cBhvr>
                                        <p:cTn id="8" dur="500" fill="hold"/>
                                        <p:tgtEl>
                                          <p:spTgt spid="237577"/>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37575"/>
                                        </p:tgtEl>
                                        <p:attrNameLst>
                                          <p:attrName>style.visibility</p:attrName>
                                        </p:attrNameLst>
                                      </p:cBhvr>
                                      <p:to>
                                        <p:strVal val="visible"/>
                                      </p:to>
                                    </p:set>
                                    <p:animEffect transition="in" filter="wipe(left)">
                                      <p:cBhvr>
                                        <p:cTn id="12" dur="500"/>
                                        <p:tgtEl>
                                          <p:spTgt spid="2375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7574"/>
                                        </p:tgtEl>
                                        <p:attrNameLst>
                                          <p:attrName>style.visibility</p:attrName>
                                        </p:attrNameLst>
                                      </p:cBhvr>
                                      <p:to>
                                        <p:strVal val="visible"/>
                                      </p:to>
                                    </p:set>
                                    <p:animEffect transition="in" filter="wipe(left)">
                                      <p:cBhvr>
                                        <p:cTn id="17" dur="500"/>
                                        <p:tgtEl>
                                          <p:spTgt spid="2375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7576"/>
                                        </p:tgtEl>
                                        <p:attrNameLst>
                                          <p:attrName>style.visibility</p:attrName>
                                        </p:attrNameLst>
                                      </p:cBhvr>
                                      <p:to>
                                        <p:strVal val="visible"/>
                                      </p:to>
                                    </p:set>
                                    <p:animEffect transition="in" filter="wipe(left)">
                                      <p:cBhvr>
                                        <p:cTn id="22" dur="500"/>
                                        <p:tgtEl>
                                          <p:spTgt spid="237576"/>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32" fill="hold" grpId="0" nodeType="clickEffect">
                                  <p:stCondLst>
                                    <p:cond delay="0"/>
                                  </p:stCondLst>
                                  <p:childTnLst>
                                    <p:set>
                                      <p:cBhvr>
                                        <p:cTn id="26" dur="1" fill="hold">
                                          <p:stCondLst>
                                            <p:cond delay="0"/>
                                          </p:stCondLst>
                                        </p:cTn>
                                        <p:tgtEl>
                                          <p:spTgt spid="237570"/>
                                        </p:tgtEl>
                                        <p:attrNameLst>
                                          <p:attrName>style.visibility</p:attrName>
                                        </p:attrNameLst>
                                      </p:cBhvr>
                                      <p:to>
                                        <p:strVal val="visible"/>
                                      </p:to>
                                    </p:set>
                                    <p:anim calcmode="lin" valueType="num">
                                      <p:cBhvr>
                                        <p:cTn id="27" dur="500" fill="hold"/>
                                        <p:tgtEl>
                                          <p:spTgt spid="237570"/>
                                        </p:tgtEl>
                                        <p:attrNameLst>
                                          <p:attrName>ppt_w</p:attrName>
                                        </p:attrNameLst>
                                      </p:cBhvr>
                                      <p:tavLst>
                                        <p:tav tm="0">
                                          <p:val>
                                            <p:strVal val="4*#ppt_w"/>
                                          </p:val>
                                        </p:tav>
                                        <p:tav tm="100000">
                                          <p:val>
                                            <p:strVal val="#ppt_w"/>
                                          </p:val>
                                        </p:tav>
                                      </p:tavLst>
                                    </p:anim>
                                    <p:anim calcmode="lin" valueType="num">
                                      <p:cBhvr>
                                        <p:cTn id="28" dur="500" fill="hold"/>
                                        <p:tgtEl>
                                          <p:spTgt spid="237570"/>
                                        </p:tgtEl>
                                        <p:attrNameLst>
                                          <p:attrName>ppt_h</p:attrName>
                                        </p:attrNameLst>
                                      </p:cBhvr>
                                      <p:tavLst>
                                        <p:tav tm="0">
                                          <p:val>
                                            <p:strVal val="4*#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37571"/>
                                        </p:tgtEl>
                                        <p:attrNameLst>
                                          <p:attrName>style.visibility</p:attrName>
                                        </p:attrNameLst>
                                      </p:cBhvr>
                                      <p:to>
                                        <p:strVal val="visible"/>
                                      </p:to>
                                    </p:set>
                                    <p:animEffect transition="in" filter="wipe(left)">
                                      <p:cBhvr>
                                        <p:cTn id="33" dur="500"/>
                                        <p:tgtEl>
                                          <p:spTgt spid="23757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37572"/>
                                        </p:tgtEl>
                                        <p:attrNameLst>
                                          <p:attrName>style.visibility</p:attrName>
                                        </p:attrNameLst>
                                      </p:cBhvr>
                                      <p:to>
                                        <p:strVal val="visible"/>
                                      </p:to>
                                    </p:set>
                                    <p:animEffect transition="in" filter="wipe(left)">
                                      <p:cBhvr>
                                        <p:cTn id="38" dur="500"/>
                                        <p:tgtEl>
                                          <p:spTgt spid="23757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37573"/>
                                        </p:tgtEl>
                                        <p:attrNameLst>
                                          <p:attrName>style.visibility</p:attrName>
                                        </p:attrNameLst>
                                      </p:cBhvr>
                                      <p:to>
                                        <p:strVal val="visible"/>
                                      </p:to>
                                    </p:set>
                                    <p:animEffect transition="in" filter="wipe(left)">
                                      <p:cBhvr>
                                        <p:cTn id="43" dur="500"/>
                                        <p:tgtEl>
                                          <p:spTgt spid="237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0" grpId="0" animBg="1"/>
      <p:bldP spid="237571" grpId="0"/>
      <p:bldP spid="237572" grpId="0"/>
      <p:bldP spid="237573" grpId="0"/>
      <p:bldP spid="237574" grpId="0"/>
      <p:bldP spid="237575" grpId="0"/>
      <p:bldP spid="237576" grpId="0"/>
      <p:bldP spid="23757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Line 2"/>
          <p:cNvSpPr>
            <a:spLocks noChangeShapeType="1"/>
          </p:cNvSpPr>
          <p:nvPr/>
        </p:nvSpPr>
        <p:spPr bwMode="auto">
          <a:xfrm>
            <a:off x="6440488" y="1077913"/>
            <a:ext cx="0" cy="1655762"/>
          </a:xfrm>
          <a:prstGeom prst="line">
            <a:avLst/>
          </a:prstGeom>
          <a:noFill/>
          <a:ln w="9525">
            <a:solidFill>
              <a:schemeClr val="tx1"/>
            </a:solidFill>
            <a:prstDash val="lgDash"/>
            <a:round/>
          </a:ln>
        </p:spPr>
        <p:txBody>
          <a:bodyPr/>
          <a:lstStyle/>
          <a:p>
            <a:pPr>
              <a:defRPr/>
            </a:pPr>
            <a:endParaRPr lang="zh-CN" altLang="en-US">
              <a:ea typeface="+mn-ea"/>
              <a:cs typeface="Times New Roman" panose="02020603050405020304" pitchFamily="18" charset="0"/>
            </a:endParaRPr>
          </a:p>
        </p:txBody>
      </p:sp>
      <p:sp>
        <p:nvSpPr>
          <p:cNvPr id="238595" name="Line 3"/>
          <p:cNvSpPr>
            <a:spLocks noChangeShapeType="1"/>
          </p:cNvSpPr>
          <p:nvPr/>
        </p:nvSpPr>
        <p:spPr bwMode="auto">
          <a:xfrm>
            <a:off x="6697663" y="1901825"/>
            <a:ext cx="0" cy="820738"/>
          </a:xfrm>
          <a:prstGeom prst="line">
            <a:avLst/>
          </a:prstGeom>
          <a:noFill/>
          <a:ln w="9525">
            <a:solidFill>
              <a:schemeClr val="tx1"/>
            </a:solidFill>
            <a:prstDash val="lgDash"/>
            <a:round/>
          </a:ln>
        </p:spPr>
        <p:txBody>
          <a:bodyPr/>
          <a:lstStyle/>
          <a:p>
            <a:pPr>
              <a:defRPr/>
            </a:pPr>
            <a:endParaRPr lang="zh-CN" altLang="en-US">
              <a:ea typeface="+mn-ea"/>
              <a:cs typeface="Times New Roman" panose="02020603050405020304" pitchFamily="18" charset="0"/>
            </a:endParaRPr>
          </a:p>
        </p:txBody>
      </p:sp>
      <p:sp>
        <p:nvSpPr>
          <p:cNvPr id="238596" name="Line 4"/>
          <p:cNvSpPr>
            <a:spLocks noChangeShapeType="1"/>
          </p:cNvSpPr>
          <p:nvPr/>
        </p:nvSpPr>
        <p:spPr bwMode="auto">
          <a:xfrm>
            <a:off x="7329488" y="1517650"/>
            <a:ext cx="0" cy="1204913"/>
          </a:xfrm>
          <a:prstGeom prst="line">
            <a:avLst/>
          </a:prstGeom>
          <a:noFill/>
          <a:ln w="9525">
            <a:solidFill>
              <a:schemeClr val="tx1"/>
            </a:solidFill>
            <a:prstDash val="lgDash"/>
            <a:round/>
          </a:ln>
        </p:spPr>
        <p:txBody>
          <a:bodyPr/>
          <a:lstStyle/>
          <a:p>
            <a:pPr>
              <a:defRPr/>
            </a:pPr>
            <a:endParaRPr lang="zh-CN" altLang="en-US">
              <a:ea typeface="+mn-ea"/>
              <a:cs typeface="Times New Roman" panose="02020603050405020304" pitchFamily="18" charset="0"/>
            </a:endParaRPr>
          </a:p>
        </p:txBody>
      </p:sp>
      <p:sp>
        <p:nvSpPr>
          <p:cNvPr id="238597" name="Line 5"/>
          <p:cNvSpPr>
            <a:spLocks noChangeShapeType="1"/>
          </p:cNvSpPr>
          <p:nvPr/>
        </p:nvSpPr>
        <p:spPr bwMode="auto">
          <a:xfrm>
            <a:off x="7905750" y="2206625"/>
            <a:ext cx="0" cy="522288"/>
          </a:xfrm>
          <a:prstGeom prst="line">
            <a:avLst/>
          </a:prstGeom>
          <a:noFill/>
          <a:ln w="9525">
            <a:solidFill>
              <a:schemeClr val="tx1"/>
            </a:solidFill>
            <a:prstDash val="lgDash"/>
            <a:round/>
          </a:ln>
        </p:spPr>
        <p:txBody>
          <a:bodyPr/>
          <a:lstStyle/>
          <a:p>
            <a:pPr>
              <a:defRPr/>
            </a:pPr>
            <a:endParaRPr lang="zh-CN" altLang="en-US">
              <a:ea typeface="+mn-ea"/>
              <a:cs typeface="Times New Roman" panose="02020603050405020304" pitchFamily="18" charset="0"/>
            </a:endParaRPr>
          </a:p>
        </p:txBody>
      </p:sp>
      <p:grpSp>
        <p:nvGrpSpPr>
          <p:cNvPr id="2" name="Group 6"/>
          <p:cNvGrpSpPr/>
          <p:nvPr/>
        </p:nvGrpSpPr>
        <p:grpSpPr bwMode="auto">
          <a:xfrm>
            <a:off x="5553075" y="454025"/>
            <a:ext cx="3384550" cy="2459038"/>
            <a:chOff x="3606" y="754"/>
            <a:chExt cx="2132" cy="1549"/>
          </a:xfrm>
        </p:grpSpPr>
        <p:sp>
          <p:nvSpPr>
            <p:cNvPr id="58418" name="Line 7"/>
            <p:cNvSpPr>
              <a:spLocks noChangeShapeType="1"/>
            </p:cNvSpPr>
            <p:nvPr/>
          </p:nvSpPr>
          <p:spPr bwMode="auto">
            <a:xfrm flipV="1">
              <a:off x="3878" y="968"/>
              <a:ext cx="0" cy="1224"/>
            </a:xfrm>
            <a:prstGeom prst="line">
              <a:avLst/>
            </a:prstGeom>
            <a:noFill/>
            <a:ln w="28575">
              <a:solidFill>
                <a:schemeClr val="tx1"/>
              </a:solidFill>
              <a:round/>
              <a:tailEnd type="triangle" w="med" len="med"/>
            </a:ln>
          </p:spPr>
          <p:txBody>
            <a:bodyPr/>
            <a:lstStyle/>
            <a:p>
              <a:pPr>
                <a:defRPr/>
              </a:pPr>
              <a:endParaRPr lang="zh-CN" altLang="en-US">
                <a:ea typeface="+mn-ea"/>
                <a:cs typeface="Times New Roman" panose="02020603050405020304" pitchFamily="18" charset="0"/>
              </a:endParaRPr>
            </a:p>
          </p:txBody>
        </p:sp>
        <p:sp>
          <p:nvSpPr>
            <p:cNvPr id="58419" name="Line 8"/>
            <p:cNvSpPr>
              <a:spLocks noChangeShapeType="1"/>
            </p:cNvSpPr>
            <p:nvPr/>
          </p:nvSpPr>
          <p:spPr bwMode="auto">
            <a:xfrm>
              <a:off x="3868" y="2192"/>
              <a:ext cx="1462" cy="0"/>
            </a:xfrm>
            <a:prstGeom prst="line">
              <a:avLst/>
            </a:prstGeom>
            <a:noFill/>
            <a:ln w="28575">
              <a:solidFill>
                <a:schemeClr val="tx1"/>
              </a:solidFill>
              <a:round/>
              <a:tailEnd type="triangle" w="med" len="med"/>
            </a:ln>
          </p:spPr>
          <p:txBody>
            <a:bodyPr/>
            <a:lstStyle/>
            <a:p>
              <a:pPr>
                <a:defRPr/>
              </a:pPr>
              <a:endParaRPr lang="zh-CN" altLang="en-US">
                <a:ea typeface="+mn-ea"/>
                <a:cs typeface="Times New Roman" panose="02020603050405020304" pitchFamily="18" charset="0"/>
              </a:endParaRPr>
            </a:p>
          </p:txBody>
        </p:sp>
        <p:sp>
          <p:nvSpPr>
            <p:cNvPr id="58420" name="Text Box 9"/>
            <p:cNvSpPr txBox="1">
              <a:spLocks noChangeArrowheads="1"/>
            </p:cNvSpPr>
            <p:nvPr/>
          </p:nvSpPr>
          <p:spPr bwMode="auto">
            <a:xfrm>
              <a:off x="3651" y="754"/>
              <a:ext cx="318" cy="279"/>
            </a:xfrm>
            <a:prstGeom prst="rect">
              <a:avLst/>
            </a:prstGeom>
            <a:noFill/>
            <a:ln w="9525">
              <a:noFill/>
              <a:miter lim="800000"/>
            </a:ln>
          </p:spPr>
          <p:txBody>
            <a:bodyPr>
              <a:spAutoFit/>
            </a:bodyPr>
            <a:lstStyle/>
            <a:p>
              <a:pPr>
                <a:lnSpc>
                  <a:spcPct val="115000"/>
                </a:lnSpc>
                <a:defRPr/>
              </a:pPr>
              <a:r>
                <a:rPr lang="en-US" altLang="zh-CN" sz="2000" b="1" i="1">
                  <a:ea typeface="+mn-ea"/>
                  <a:cs typeface="Times New Roman" panose="02020603050405020304" pitchFamily="18" charset="0"/>
                </a:rPr>
                <a:t>p</a:t>
              </a:r>
              <a:endParaRPr lang="en-US" altLang="zh-CN" sz="2000" b="1" i="1">
                <a:ea typeface="+mn-ea"/>
                <a:cs typeface="Times New Roman" panose="02020603050405020304" pitchFamily="18" charset="0"/>
              </a:endParaRPr>
            </a:p>
          </p:txBody>
        </p:sp>
        <p:sp>
          <p:nvSpPr>
            <p:cNvPr id="58421" name="Text Box 10"/>
            <p:cNvSpPr txBox="1">
              <a:spLocks noChangeArrowheads="1"/>
            </p:cNvSpPr>
            <p:nvPr/>
          </p:nvSpPr>
          <p:spPr bwMode="auto">
            <a:xfrm>
              <a:off x="5358" y="2024"/>
              <a:ext cx="380" cy="279"/>
            </a:xfrm>
            <a:prstGeom prst="rect">
              <a:avLst/>
            </a:prstGeom>
            <a:noFill/>
            <a:ln w="9525">
              <a:noFill/>
              <a:miter lim="800000"/>
            </a:ln>
          </p:spPr>
          <p:txBody>
            <a:bodyPr>
              <a:spAutoFit/>
            </a:bodyPr>
            <a:lstStyle/>
            <a:p>
              <a:pPr>
                <a:lnSpc>
                  <a:spcPct val="115000"/>
                </a:lnSpc>
                <a:defRPr/>
              </a:pPr>
              <a:r>
                <a:rPr lang="en-US" altLang="zh-CN" sz="2000" b="1" i="1">
                  <a:ea typeface="+mn-ea"/>
                  <a:cs typeface="Times New Roman" panose="02020603050405020304" pitchFamily="18" charset="0"/>
                </a:rPr>
                <a:t>V</a:t>
              </a:r>
              <a:endParaRPr lang="en-US" altLang="zh-CN" sz="2000" b="1" i="1">
                <a:ea typeface="+mn-ea"/>
                <a:cs typeface="Times New Roman" panose="02020603050405020304" pitchFamily="18" charset="0"/>
              </a:endParaRPr>
            </a:p>
          </p:txBody>
        </p:sp>
        <p:sp>
          <p:nvSpPr>
            <p:cNvPr id="58422" name="Text Box 11"/>
            <p:cNvSpPr txBox="1">
              <a:spLocks noChangeArrowheads="1"/>
            </p:cNvSpPr>
            <p:nvPr/>
          </p:nvSpPr>
          <p:spPr bwMode="auto">
            <a:xfrm>
              <a:off x="3606" y="2011"/>
              <a:ext cx="408" cy="279"/>
            </a:xfrm>
            <a:prstGeom prst="rect">
              <a:avLst/>
            </a:prstGeom>
            <a:noFill/>
            <a:ln w="9525">
              <a:noFill/>
              <a:miter lim="800000"/>
            </a:ln>
          </p:spPr>
          <p:txBody>
            <a:bodyPr>
              <a:spAutoFit/>
            </a:bodyPr>
            <a:lstStyle/>
            <a:p>
              <a:pPr>
                <a:lnSpc>
                  <a:spcPct val="115000"/>
                </a:lnSpc>
                <a:defRPr/>
              </a:pPr>
              <a:r>
                <a:rPr lang="en-US" altLang="zh-CN" sz="2000" b="1" i="1">
                  <a:ea typeface="+mn-ea"/>
                  <a:cs typeface="Times New Roman" panose="02020603050405020304" pitchFamily="18" charset="0"/>
                </a:rPr>
                <a:t>O</a:t>
              </a:r>
              <a:endParaRPr lang="en-US" altLang="zh-CN" sz="2000" b="1" i="1">
                <a:ea typeface="+mn-ea"/>
                <a:cs typeface="Times New Roman" panose="02020603050405020304" pitchFamily="18" charset="0"/>
              </a:endParaRPr>
            </a:p>
          </p:txBody>
        </p:sp>
      </p:grpSp>
      <p:grpSp>
        <p:nvGrpSpPr>
          <p:cNvPr id="3" name="Group 12"/>
          <p:cNvGrpSpPr/>
          <p:nvPr/>
        </p:nvGrpSpPr>
        <p:grpSpPr bwMode="auto">
          <a:xfrm>
            <a:off x="6434138" y="1069975"/>
            <a:ext cx="919162" cy="463550"/>
            <a:chOff x="4161" y="1142"/>
            <a:chExt cx="579" cy="292"/>
          </a:xfrm>
        </p:grpSpPr>
        <p:sp>
          <p:nvSpPr>
            <p:cNvPr id="58416" name="Freeform 13"/>
            <p:cNvSpPr/>
            <p:nvPr/>
          </p:nvSpPr>
          <p:spPr bwMode="auto">
            <a:xfrm>
              <a:off x="4161" y="1142"/>
              <a:ext cx="579" cy="292"/>
            </a:xfrm>
            <a:custGeom>
              <a:avLst/>
              <a:gdLst>
                <a:gd name="T0" fmla="*/ 0 w 579"/>
                <a:gd name="T1" fmla="*/ 0 h 292"/>
                <a:gd name="T2" fmla="*/ 154 w 579"/>
                <a:gd name="T3" fmla="*/ 135 h 292"/>
                <a:gd name="T4" fmla="*/ 346 w 579"/>
                <a:gd name="T5" fmla="*/ 231 h 292"/>
                <a:gd name="T6" fmla="*/ 579 w 579"/>
                <a:gd name="T7" fmla="*/ 292 h 292"/>
                <a:gd name="T8" fmla="*/ 0 60000 65536"/>
                <a:gd name="T9" fmla="*/ 0 60000 65536"/>
                <a:gd name="T10" fmla="*/ 0 60000 65536"/>
                <a:gd name="T11" fmla="*/ 0 60000 65536"/>
                <a:gd name="T12" fmla="*/ 0 w 579"/>
                <a:gd name="T13" fmla="*/ 0 h 292"/>
                <a:gd name="T14" fmla="*/ 579 w 579"/>
                <a:gd name="T15" fmla="*/ 292 h 292"/>
              </a:gdLst>
              <a:ahLst/>
              <a:cxnLst>
                <a:cxn ang="T8">
                  <a:pos x="T0" y="T1"/>
                </a:cxn>
                <a:cxn ang="T9">
                  <a:pos x="T2" y="T3"/>
                </a:cxn>
                <a:cxn ang="T10">
                  <a:pos x="T4" y="T5"/>
                </a:cxn>
                <a:cxn ang="T11">
                  <a:pos x="T6" y="T7"/>
                </a:cxn>
              </a:cxnLst>
              <a:rect l="T12" t="T13" r="T14" b="T15"/>
              <a:pathLst>
                <a:path w="579" h="292">
                  <a:moveTo>
                    <a:pt x="0" y="0"/>
                  </a:moveTo>
                  <a:cubicBezTo>
                    <a:pt x="26" y="22"/>
                    <a:pt x="96" y="97"/>
                    <a:pt x="154" y="135"/>
                  </a:cubicBezTo>
                  <a:cubicBezTo>
                    <a:pt x="212" y="173"/>
                    <a:pt x="275" y="205"/>
                    <a:pt x="346" y="231"/>
                  </a:cubicBezTo>
                  <a:cubicBezTo>
                    <a:pt x="417" y="257"/>
                    <a:pt x="531" y="279"/>
                    <a:pt x="579" y="292"/>
                  </a:cubicBezTo>
                </a:path>
              </a:pathLst>
            </a:custGeom>
            <a:noFill/>
            <a:ln w="38100">
              <a:solidFill>
                <a:srgbClr val="3333CC"/>
              </a:solidFill>
              <a:round/>
            </a:ln>
          </p:spPr>
          <p:txBody>
            <a:bodyPr/>
            <a:lstStyle/>
            <a:p>
              <a:pPr algn="ctr">
                <a:defRPr/>
              </a:pPr>
              <a:endParaRPr lang="zh-CN" altLang="en-US">
                <a:ea typeface="+mn-ea"/>
                <a:cs typeface="Times New Roman" panose="02020603050405020304" pitchFamily="18" charset="0"/>
              </a:endParaRPr>
            </a:p>
          </p:txBody>
        </p:sp>
        <p:sp>
          <p:nvSpPr>
            <p:cNvPr id="58417" name="Line 14"/>
            <p:cNvSpPr>
              <a:spLocks noChangeShapeType="1"/>
            </p:cNvSpPr>
            <p:nvPr/>
          </p:nvSpPr>
          <p:spPr bwMode="auto">
            <a:xfrm rot="10800000">
              <a:off x="4286" y="1253"/>
              <a:ext cx="137" cy="91"/>
            </a:xfrm>
            <a:prstGeom prst="line">
              <a:avLst/>
            </a:prstGeom>
            <a:noFill/>
            <a:ln w="38100">
              <a:solidFill>
                <a:srgbClr val="3333CC"/>
              </a:solidFill>
              <a:round/>
              <a:tailEnd type="triangle" w="med" len="med"/>
            </a:ln>
          </p:spPr>
          <p:txBody>
            <a:bodyPr/>
            <a:lstStyle/>
            <a:p>
              <a:pPr>
                <a:defRPr/>
              </a:pPr>
              <a:endParaRPr lang="zh-CN" altLang="en-US">
                <a:ea typeface="+mn-ea"/>
                <a:cs typeface="Times New Roman" panose="02020603050405020304" pitchFamily="18" charset="0"/>
              </a:endParaRPr>
            </a:p>
          </p:txBody>
        </p:sp>
      </p:grpSp>
      <p:grpSp>
        <p:nvGrpSpPr>
          <p:cNvPr id="4" name="Group 15"/>
          <p:cNvGrpSpPr/>
          <p:nvPr/>
        </p:nvGrpSpPr>
        <p:grpSpPr bwMode="auto">
          <a:xfrm>
            <a:off x="7342188" y="1527175"/>
            <a:ext cx="593725" cy="693738"/>
            <a:chOff x="4733" y="1430"/>
            <a:chExt cx="374" cy="437"/>
          </a:xfrm>
        </p:grpSpPr>
        <p:sp>
          <p:nvSpPr>
            <p:cNvPr id="58414" name="Freeform 16"/>
            <p:cNvSpPr/>
            <p:nvPr/>
          </p:nvSpPr>
          <p:spPr bwMode="auto">
            <a:xfrm>
              <a:off x="4733" y="1430"/>
              <a:ext cx="374" cy="437"/>
            </a:xfrm>
            <a:custGeom>
              <a:avLst/>
              <a:gdLst>
                <a:gd name="T0" fmla="*/ 0 w 374"/>
                <a:gd name="T1" fmla="*/ 0 h 437"/>
                <a:gd name="T2" fmla="*/ 58 w 374"/>
                <a:gd name="T3" fmla="*/ 120 h 437"/>
                <a:gd name="T4" fmla="*/ 154 w 374"/>
                <a:gd name="T5" fmla="*/ 254 h 437"/>
                <a:gd name="T6" fmla="*/ 245 w 374"/>
                <a:gd name="T7" fmla="*/ 346 h 437"/>
                <a:gd name="T8" fmla="*/ 374 w 374"/>
                <a:gd name="T9" fmla="*/ 437 h 437"/>
                <a:gd name="T10" fmla="*/ 0 60000 65536"/>
                <a:gd name="T11" fmla="*/ 0 60000 65536"/>
                <a:gd name="T12" fmla="*/ 0 60000 65536"/>
                <a:gd name="T13" fmla="*/ 0 60000 65536"/>
                <a:gd name="T14" fmla="*/ 0 60000 65536"/>
                <a:gd name="T15" fmla="*/ 0 w 374"/>
                <a:gd name="T16" fmla="*/ 0 h 437"/>
                <a:gd name="T17" fmla="*/ 374 w 374"/>
                <a:gd name="T18" fmla="*/ 437 h 437"/>
              </a:gdLst>
              <a:ahLst/>
              <a:cxnLst>
                <a:cxn ang="T10">
                  <a:pos x="T0" y="T1"/>
                </a:cxn>
                <a:cxn ang="T11">
                  <a:pos x="T2" y="T3"/>
                </a:cxn>
                <a:cxn ang="T12">
                  <a:pos x="T4" y="T5"/>
                </a:cxn>
                <a:cxn ang="T13">
                  <a:pos x="T6" y="T7"/>
                </a:cxn>
                <a:cxn ang="T14">
                  <a:pos x="T8" y="T9"/>
                </a:cxn>
              </a:cxnLst>
              <a:rect l="T15" t="T16" r="T17" b="T18"/>
              <a:pathLst>
                <a:path w="374" h="437">
                  <a:moveTo>
                    <a:pt x="0" y="0"/>
                  </a:moveTo>
                  <a:cubicBezTo>
                    <a:pt x="9" y="20"/>
                    <a:pt x="32" y="78"/>
                    <a:pt x="58" y="120"/>
                  </a:cubicBezTo>
                  <a:cubicBezTo>
                    <a:pt x="84" y="162"/>
                    <a:pt x="123" y="216"/>
                    <a:pt x="154" y="254"/>
                  </a:cubicBezTo>
                  <a:cubicBezTo>
                    <a:pt x="185" y="292"/>
                    <a:pt x="208" y="316"/>
                    <a:pt x="245" y="346"/>
                  </a:cubicBezTo>
                  <a:cubicBezTo>
                    <a:pt x="282" y="376"/>
                    <a:pt x="347" y="418"/>
                    <a:pt x="374" y="437"/>
                  </a:cubicBezTo>
                </a:path>
              </a:pathLst>
            </a:custGeom>
            <a:noFill/>
            <a:ln w="38100">
              <a:solidFill>
                <a:srgbClr val="3333CC"/>
              </a:solidFill>
              <a:round/>
            </a:ln>
          </p:spPr>
          <p:txBody>
            <a:bodyPr/>
            <a:lstStyle/>
            <a:p>
              <a:pPr algn="ctr">
                <a:defRPr/>
              </a:pPr>
              <a:endParaRPr lang="zh-CN" altLang="en-US">
                <a:ea typeface="+mn-ea"/>
                <a:cs typeface="Times New Roman" panose="02020603050405020304" pitchFamily="18" charset="0"/>
              </a:endParaRPr>
            </a:p>
          </p:txBody>
        </p:sp>
        <p:sp>
          <p:nvSpPr>
            <p:cNvPr id="58415" name="Line 17"/>
            <p:cNvSpPr>
              <a:spLocks noChangeShapeType="1"/>
            </p:cNvSpPr>
            <p:nvPr/>
          </p:nvSpPr>
          <p:spPr bwMode="auto">
            <a:xfrm rot="-8942174">
              <a:off x="4795" y="1606"/>
              <a:ext cx="91" cy="45"/>
            </a:xfrm>
            <a:prstGeom prst="line">
              <a:avLst/>
            </a:prstGeom>
            <a:noFill/>
            <a:ln w="38100">
              <a:solidFill>
                <a:srgbClr val="3333CC"/>
              </a:solidFill>
              <a:round/>
              <a:tailEnd type="triangle" w="med" len="med"/>
            </a:ln>
          </p:spPr>
          <p:txBody>
            <a:bodyPr/>
            <a:lstStyle/>
            <a:p>
              <a:pPr>
                <a:defRPr/>
              </a:pPr>
              <a:endParaRPr lang="zh-CN" altLang="en-US">
                <a:ea typeface="+mn-ea"/>
                <a:cs typeface="Times New Roman" panose="02020603050405020304" pitchFamily="18" charset="0"/>
              </a:endParaRPr>
            </a:p>
          </p:txBody>
        </p:sp>
      </p:grpSp>
      <p:grpSp>
        <p:nvGrpSpPr>
          <p:cNvPr id="5" name="Group 18"/>
          <p:cNvGrpSpPr/>
          <p:nvPr/>
        </p:nvGrpSpPr>
        <p:grpSpPr bwMode="auto">
          <a:xfrm>
            <a:off x="6700838" y="1909763"/>
            <a:ext cx="1228725" cy="312737"/>
            <a:chOff x="4329" y="1671"/>
            <a:chExt cx="774" cy="197"/>
          </a:xfrm>
        </p:grpSpPr>
        <p:sp>
          <p:nvSpPr>
            <p:cNvPr id="58412" name="Freeform 19"/>
            <p:cNvSpPr/>
            <p:nvPr/>
          </p:nvSpPr>
          <p:spPr bwMode="auto">
            <a:xfrm>
              <a:off x="4329" y="1671"/>
              <a:ext cx="774" cy="197"/>
            </a:xfrm>
            <a:custGeom>
              <a:avLst/>
              <a:gdLst>
                <a:gd name="T0" fmla="*/ 774 w 774"/>
                <a:gd name="T1" fmla="*/ 197 h 197"/>
                <a:gd name="T2" fmla="*/ 572 w 774"/>
                <a:gd name="T3" fmla="*/ 171 h 197"/>
                <a:gd name="T4" fmla="*/ 375 w 774"/>
                <a:gd name="T5" fmla="*/ 128 h 197"/>
                <a:gd name="T6" fmla="*/ 178 w 774"/>
                <a:gd name="T7" fmla="*/ 76 h 197"/>
                <a:gd name="T8" fmla="*/ 0 w 774"/>
                <a:gd name="T9" fmla="*/ 0 h 197"/>
                <a:gd name="T10" fmla="*/ 0 60000 65536"/>
                <a:gd name="T11" fmla="*/ 0 60000 65536"/>
                <a:gd name="T12" fmla="*/ 0 60000 65536"/>
                <a:gd name="T13" fmla="*/ 0 60000 65536"/>
                <a:gd name="T14" fmla="*/ 0 60000 65536"/>
                <a:gd name="T15" fmla="*/ 0 w 774"/>
                <a:gd name="T16" fmla="*/ 0 h 197"/>
                <a:gd name="T17" fmla="*/ 774 w 774"/>
                <a:gd name="T18" fmla="*/ 197 h 197"/>
              </a:gdLst>
              <a:ahLst/>
              <a:cxnLst>
                <a:cxn ang="T10">
                  <a:pos x="T0" y="T1"/>
                </a:cxn>
                <a:cxn ang="T11">
                  <a:pos x="T2" y="T3"/>
                </a:cxn>
                <a:cxn ang="T12">
                  <a:pos x="T4" y="T5"/>
                </a:cxn>
                <a:cxn ang="T13">
                  <a:pos x="T6" y="T7"/>
                </a:cxn>
                <a:cxn ang="T14">
                  <a:pos x="T8" y="T9"/>
                </a:cxn>
              </a:cxnLst>
              <a:rect l="T15" t="T16" r="T17" b="T18"/>
              <a:pathLst>
                <a:path w="774" h="197">
                  <a:moveTo>
                    <a:pt x="774" y="197"/>
                  </a:moveTo>
                  <a:cubicBezTo>
                    <a:pt x="740" y="193"/>
                    <a:pt x="638" y="182"/>
                    <a:pt x="572" y="171"/>
                  </a:cubicBezTo>
                  <a:cubicBezTo>
                    <a:pt x="506" y="160"/>
                    <a:pt x="441" y="144"/>
                    <a:pt x="375" y="128"/>
                  </a:cubicBezTo>
                  <a:cubicBezTo>
                    <a:pt x="309" y="112"/>
                    <a:pt x="240" y="97"/>
                    <a:pt x="178" y="76"/>
                  </a:cubicBezTo>
                  <a:cubicBezTo>
                    <a:pt x="116" y="55"/>
                    <a:pt x="37" y="16"/>
                    <a:pt x="0" y="0"/>
                  </a:cubicBezTo>
                </a:path>
              </a:pathLst>
            </a:custGeom>
            <a:noFill/>
            <a:ln w="38100">
              <a:solidFill>
                <a:srgbClr val="3333CC"/>
              </a:solidFill>
              <a:round/>
            </a:ln>
          </p:spPr>
          <p:txBody>
            <a:bodyPr/>
            <a:lstStyle/>
            <a:p>
              <a:pPr algn="ctr">
                <a:defRPr/>
              </a:pPr>
              <a:endParaRPr lang="zh-CN" altLang="en-US">
                <a:ea typeface="+mn-ea"/>
                <a:cs typeface="Times New Roman" panose="02020603050405020304" pitchFamily="18" charset="0"/>
              </a:endParaRPr>
            </a:p>
          </p:txBody>
        </p:sp>
        <p:sp>
          <p:nvSpPr>
            <p:cNvPr id="58413" name="Line 20"/>
            <p:cNvSpPr>
              <a:spLocks noChangeShapeType="1"/>
            </p:cNvSpPr>
            <p:nvPr/>
          </p:nvSpPr>
          <p:spPr bwMode="auto">
            <a:xfrm rot="10385843" flipH="1" flipV="1">
              <a:off x="4604" y="1762"/>
              <a:ext cx="91" cy="45"/>
            </a:xfrm>
            <a:prstGeom prst="line">
              <a:avLst/>
            </a:prstGeom>
            <a:noFill/>
            <a:ln w="38100">
              <a:solidFill>
                <a:srgbClr val="3333CC"/>
              </a:solidFill>
              <a:round/>
              <a:tailEnd type="triangle" w="med" len="med"/>
            </a:ln>
          </p:spPr>
          <p:txBody>
            <a:bodyPr/>
            <a:lstStyle/>
            <a:p>
              <a:pPr>
                <a:defRPr/>
              </a:pPr>
              <a:endParaRPr lang="zh-CN" altLang="en-US">
                <a:ea typeface="+mn-ea"/>
                <a:cs typeface="Times New Roman" panose="02020603050405020304" pitchFamily="18" charset="0"/>
              </a:endParaRPr>
            </a:p>
          </p:txBody>
        </p:sp>
      </p:grpSp>
      <p:grpSp>
        <p:nvGrpSpPr>
          <p:cNvPr id="6" name="Group 21"/>
          <p:cNvGrpSpPr/>
          <p:nvPr/>
        </p:nvGrpSpPr>
        <p:grpSpPr bwMode="auto">
          <a:xfrm>
            <a:off x="6440488" y="1093788"/>
            <a:ext cx="260350" cy="822325"/>
            <a:chOff x="4165" y="1157"/>
            <a:chExt cx="164" cy="518"/>
          </a:xfrm>
        </p:grpSpPr>
        <p:sp>
          <p:nvSpPr>
            <p:cNvPr id="58410" name="Freeform 22"/>
            <p:cNvSpPr/>
            <p:nvPr/>
          </p:nvSpPr>
          <p:spPr bwMode="auto">
            <a:xfrm>
              <a:off x="4165" y="1157"/>
              <a:ext cx="164" cy="518"/>
            </a:xfrm>
            <a:custGeom>
              <a:avLst/>
              <a:gdLst>
                <a:gd name="T0" fmla="*/ 0 w 164"/>
                <a:gd name="T1" fmla="*/ 0 h 518"/>
                <a:gd name="T2" fmla="*/ 25 w 164"/>
                <a:gd name="T3" fmla="*/ 149 h 518"/>
                <a:gd name="T4" fmla="*/ 59 w 164"/>
                <a:gd name="T5" fmla="*/ 278 h 518"/>
                <a:gd name="T6" fmla="*/ 107 w 164"/>
                <a:gd name="T7" fmla="*/ 417 h 518"/>
                <a:gd name="T8" fmla="*/ 164 w 164"/>
                <a:gd name="T9" fmla="*/ 518 h 518"/>
                <a:gd name="T10" fmla="*/ 0 60000 65536"/>
                <a:gd name="T11" fmla="*/ 0 60000 65536"/>
                <a:gd name="T12" fmla="*/ 0 60000 65536"/>
                <a:gd name="T13" fmla="*/ 0 60000 65536"/>
                <a:gd name="T14" fmla="*/ 0 60000 65536"/>
                <a:gd name="T15" fmla="*/ 0 w 164"/>
                <a:gd name="T16" fmla="*/ 0 h 518"/>
                <a:gd name="T17" fmla="*/ 164 w 164"/>
                <a:gd name="T18" fmla="*/ 518 h 518"/>
              </a:gdLst>
              <a:ahLst/>
              <a:cxnLst>
                <a:cxn ang="T10">
                  <a:pos x="T0" y="T1"/>
                </a:cxn>
                <a:cxn ang="T11">
                  <a:pos x="T2" y="T3"/>
                </a:cxn>
                <a:cxn ang="T12">
                  <a:pos x="T4" y="T5"/>
                </a:cxn>
                <a:cxn ang="T13">
                  <a:pos x="T6" y="T7"/>
                </a:cxn>
                <a:cxn ang="T14">
                  <a:pos x="T8" y="T9"/>
                </a:cxn>
              </a:cxnLst>
              <a:rect l="T15" t="T16" r="T17" b="T18"/>
              <a:pathLst>
                <a:path w="164" h="518">
                  <a:moveTo>
                    <a:pt x="0" y="0"/>
                  </a:moveTo>
                  <a:cubicBezTo>
                    <a:pt x="4" y="25"/>
                    <a:pt x="15" y="103"/>
                    <a:pt x="25" y="149"/>
                  </a:cubicBezTo>
                  <a:cubicBezTo>
                    <a:pt x="35" y="195"/>
                    <a:pt x="45" y="233"/>
                    <a:pt x="59" y="278"/>
                  </a:cubicBezTo>
                  <a:cubicBezTo>
                    <a:pt x="73" y="323"/>
                    <a:pt x="90" y="377"/>
                    <a:pt x="107" y="417"/>
                  </a:cubicBezTo>
                  <a:cubicBezTo>
                    <a:pt x="124" y="457"/>
                    <a:pt x="152" y="497"/>
                    <a:pt x="164" y="518"/>
                  </a:cubicBezTo>
                </a:path>
              </a:pathLst>
            </a:custGeom>
            <a:noFill/>
            <a:ln w="38100">
              <a:solidFill>
                <a:srgbClr val="3333CC"/>
              </a:solidFill>
              <a:round/>
            </a:ln>
          </p:spPr>
          <p:txBody>
            <a:bodyPr/>
            <a:lstStyle/>
            <a:p>
              <a:pPr algn="ctr">
                <a:defRPr/>
              </a:pPr>
              <a:endParaRPr lang="zh-CN" altLang="en-US">
                <a:ea typeface="+mn-ea"/>
                <a:cs typeface="Times New Roman" panose="02020603050405020304" pitchFamily="18" charset="0"/>
              </a:endParaRPr>
            </a:p>
          </p:txBody>
        </p:sp>
        <p:sp>
          <p:nvSpPr>
            <p:cNvPr id="58411" name="Line 23"/>
            <p:cNvSpPr>
              <a:spLocks noChangeShapeType="1"/>
            </p:cNvSpPr>
            <p:nvPr/>
          </p:nvSpPr>
          <p:spPr bwMode="auto">
            <a:xfrm rot="10800000" flipH="1" flipV="1">
              <a:off x="4221" y="1434"/>
              <a:ext cx="45" cy="136"/>
            </a:xfrm>
            <a:prstGeom prst="line">
              <a:avLst/>
            </a:prstGeom>
            <a:noFill/>
            <a:ln w="38100">
              <a:solidFill>
                <a:srgbClr val="3333CC"/>
              </a:solidFill>
              <a:round/>
              <a:tailEnd type="triangle" w="med" len="med"/>
            </a:ln>
          </p:spPr>
          <p:txBody>
            <a:bodyPr/>
            <a:lstStyle/>
            <a:p>
              <a:pPr>
                <a:defRPr/>
              </a:pPr>
              <a:endParaRPr lang="zh-CN" altLang="en-US">
                <a:ea typeface="+mn-ea"/>
                <a:cs typeface="Times New Roman" panose="02020603050405020304" pitchFamily="18" charset="0"/>
              </a:endParaRPr>
            </a:p>
          </p:txBody>
        </p:sp>
      </p:grpSp>
      <p:sp>
        <p:nvSpPr>
          <p:cNvPr id="238616" name="Oval 24"/>
          <p:cNvSpPr>
            <a:spLocks noChangeArrowheads="1"/>
          </p:cNvSpPr>
          <p:nvPr/>
        </p:nvSpPr>
        <p:spPr bwMode="auto">
          <a:xfrm>
            <a:off x="6408738" y="1046163"/>
            <a:ext cx="73025" cy="71437"/>
          </a:xfrm>
          <a:prstGeom prst="ellipse">
            <a:avLst/>
          </a:prstGeom>
          <a:solidFill>
            <a:srgbClr val="FF0000"/>
          </a:solidFill>
          <a:ln w="9525">
            <a:solidFill>
              <a:schemeClr val="tx1"/>
            </a:solidFill>
            <a:round/>
          </a:ln>
        </p:spPr>
        <p:txBody>
          <a:bodyPr wrap="none" anchor="ctr"/>
          <a:lstStyle/>
          <a:p>
            <a:pPr algn="ctr">
              <a:defRPr/>
            </a:pPr>
            <a:endParaRPr lang="zh-CN" altLang="en-US">
              <a:ea typeface="+mn-ea"/>
              <a:cs typeface="Times New Roman" panose="02020603050405020304" pitchFamily="18" charset="0"/>
            </a:endParaRPr>
          </a:p>
        </p:txBody>
      </p:sp>
      <p:sp>
        <p:nvSpPr>
          <p:cNvPr id="238617" name="Oval 25"/>
          <p:cNvSpPr>
            <a:spLocks noChangeArrowheads="1"/>
          </p:cNvSpPr>
          <p:nvPr/>
        </p:nvSpPr>
        <p:spPr bwMode="auto">
          <a:xfrm>
            <a:off x="7288213" y="1485900"/>
            <a:ext cx="73025" cy="71438"/>
          </a:xfrm>
          <a:prstGeom prst="ellipse">
            <a:avLst/>
          </a:prstGeom>
          <a:solidFill>
            <a:srgbClr val="FF0000"/>
          </a:solidFill>
          <a:ln w="9525">
            <a:solidFill>
              <a:schemeClr val="tx1"/>
            </a:solidFill>
            <a:round/>
          </a:ln>
        </p:spPr>
        <p:txBody>
          <a:bodyPr wrap="none" anchor="ctr"/>
          <a:lstStyle/>
          <a:p>
            <a:pPr algn="ctr">
              <a:defRPr/>
            </a:pPr>
            <a:endParaRPr lang="zh-CN" altLang="en-US">
              <a:ea typeface="+mn-ea"/>
              <a:cs typeface="Times New Roman" panose="02020603050405020304" pitchFamily="18" charset="0"/>
            </a:endParaRPr>
          </a:p>
        </p:txBody>
      </p:sp>
      <p:sp>
        <p:nvSpPr>
          <p:cNvPr id="238618" name="Oval 26"/>
          <p:cNvSpPr>
            <a:spLocks noChangeArrowheads="1"/>
          </p:cNvSpPr>
          <p:nvPr/>
        </p:nvSpPr>
        <p:spPr bwMode="auto">
          <a:xfrm>
            <a:off x="7866063" y="2173288"/>
            <a:ext cx="73025" cy="71437"/>
          </a:xfrm>
          <a:prstGeom prst="ellipse">
            <a:avLst/>
          </a:prstGeom>
          <a:solidFill>
            <a:srgbClr val="FF0000"/>
          </a:solidFill>
          <a:ln w="9525">
            <a:solidFill>
              <a:schemeClr val="tx1"/>
            </a:solidFill>
            <a:round/>
          </a:ln>
        </p:spPr>
        <p:txBody>
          <a:bodyPr wrap="none" anchor="ctr"/>
          <a:lstStyle/>
          <a:p>
            <a:pPr algn="ctr">
              <a:defRPr/>
            </a:pPr>
            <a:endParaRPr lang="zh-CN" altLang="en-US">
              <a:ea typeface="+mn-ea"/>
              <a:cs typeface="Times New Roman" panose="02020603050405020304" pitchFamily="18" charset="0"/>
            </a:endParaRPr>
          </a:p>
        </p:txBody>
      </p:sp>
      <p:sp>
        <p:nvSpPr>
          <p:cNvPr id="238619" name="Oval 27"/>
          <p:cNvSpPr>
            <a:spLocks noChangeArrowheads="1"/>
          </p:cNvSpPr>
          <p:nvPr/>
        </p:nvSpPr>
        <p:spPr bwMode="auto">
          <a:xfrm>
            <a:off x="6664325" y="1857375"/>
            <a:ext cx="73025" cy="71438"/>
          </a:xfrm>
          <a:prstGeom prst="ellipse">
            <a:avLst/>
          </a:prstGeom>
          <a:solidFill>
            <a:srgbClr val="FF0000"/>
          </a:solidFill>
          <a:ln w="9525">
            <a:solidFill>
              <a:schemeClr val="tx1"/>
            </a:solidFill>
            <a:round/>
          </a:ln>
        </p:spPr>
        <p:txBody>
          <a:bodyPr wrap="none" anchor="ctr"/>
          <a:lstStyle/>
          <a:p>
            <a:pPr algn="ctr">
              <a:defRPr/>
            </a:pPr>
            <a:endParaRPr lang="zh-CN" altLang="en-US">
              <a:ea typeface="+mn-ea"/>
              <a:cs typeface="Times New Roman" panose="02020603050405020304" pitchFamily="18" charset="0"/>
            </a:endParaRPr>
          </a:p>
        </p:txBody>
      </p:sp>
      <p:sp>
        <p:nvSpPr>
          <p:cNvPr id="238620" name="Text Box 28"/>
          <p:cNvSpPr txBox="1">
            <a:spLocks noChangeArrowheads="1"/>
          </p:cNvSpPr>
          <p:nvPr/>
        </p:nvSpPr>
        <p:spPr bwMode="auto">
          <a:xfrm>
            <a:off x="6273800" y="682625"/>
            <a:ext cx="314325" cy="446088"/>
          </a:xfrm>
          <a:prstGeom prst="rect">
            <a:avLst/>
          </a:prstGeom>
          <a:noFill/>
          <a:ln w="9525">
            <a:noFill/>
            <a:miter lim="800000"/>
          </a:ln>
        </p:spPr>
        <p:txBody>
          <a:bodyPr wrap="none">
            <a:spAutoFit/>
          </a:bodyPr>
          <a:lstStyle/>
          <a:p>
            <a:pPr>
              <a:lnSpc>
                <a:spcPct val="115000"/>
              </a:lnSpc>
              <a:defRPr/>
            </a:pPr>
            <a:r>
              <a:rPr lang="en-US" altLang="zh-CN" sz="2000" b="1" i="1">
                <a:ea typeface="+mn-ea"/>
                <a:cs typeface="Times New Roman" panose="02020603050405020304" pitchFamily="18" charset="0"/>
              </a:rPr>
              <a:t>a</a:t>
            </a:r>
            <a:endParaRPr lang="en-US" altLang="zh-CN" sz="2000" b="1" i="1">
              <a:ea typeface="+mn-ea"/>
              <a:cs typeface="Times New Roman" panose="02020603050405020304" pitchFamily="18" charset="0"/>
            </a:endParaRPr>
          </a:p>
        </p:txBody>
      </p:sp>
      <p:sp>
        <p:nvSpPr>
          <p:cNvPr id="238621" name="Text Box 29"/>
          <p:cNvSpPr txBox="1">
            <a:spLocks noChangeArrowheads="1"/>
          </p:cNvSpPr>
          <p:nvPr/>
        </p:nvSpPr>
        <p:spPr bwMode="auto">
          <a:xfrm>
            <a:off x="7208838" y="1114425"/>
            <a:ext cx="314325" cy="446088"/>
          </a:xfrm>
          <a:prstGeom prst="rect">
            <a:avLst/>
          </a:prstGeom>
          <a:noFill/>
          <a:ln w="9525">
            <a:noFill/>
            <a:miter lim="800000"/>
          </a:ln>
        </p:spPr>
        <p:txBody>
          <a:bodyPr wrap="none">
            <a:spAutoFit/>
          </a:bodyPr>
          <a:lstStyle/>
          <a:p>
            <a:pPr>
              <a:lnSpc>
                <a:spcPct val="115000"/>
              </a:lnSpc>
              <a:defRPr/>
            </a:pPr>
            <a:r>
              <a:rPr lang="en-US" altLang="zh-CN" sz="2000" b="1" i="1">
                <a:ea typeface="+mn-ea"/>
                <a:cs typeface="Times New Roman" panose="02020603050405020304" pitchFamily="18" charset="0"/>
              </a:rPr>
              <a:t>b</a:t>
            </a:r>
            <a:endParaRPr lang="en-US" altLang="zh-CN" sz="2000" b="1" i="1">
              <a:ea typeface="+mn-ea"/>
              <a:cs typeface="Times New Roman" panose="02020603050405020304" pitchFamily="18" charset="0"/>
            </a:endParaRPr>
          </a:p>
        </p:txBody>
      </p:sp>
      <p:sp>
        <p:nvSpPr>
          <p:cNvPr id="238622" name="Text Box 30"/>
          <p:cNvSpPr txBox="1">
            <a:spLocks noChangeArrowheads="1"/>
          </p:cNvSpPr>
          <p:nvPr/>
        </p:nvSpPr>
        <p:spPr bwMode="auto">
          <a:xfrm>
            <a:off x="7929563" y="1919288"/>
            <a:ext cx="298450" cy="446087"/>
          </a:xfrm>
          <a:prstGeom prst="rect">
            <a:avLst/>
          </a:prstGeom>
          <a:noFill/>
          <a:ln w="9525">
            <a:noFill/>
            <a:miter lim="800000"/>
          </a:ln>
        </p:spPr>
        <p:txBody>
          <a:bodyPr wrap="none">
            <a:spAutoFit/>
          </a:bodyPr>
          <a:lstStyle/>
          <a:p>
            <a:pPr>
              <a:lnSpc>
                <a:spcPct val="115000"/>
              </a:lnSpc>
              <a:defRPr/>
            </a:pPr>
            <a:r>
              <a:rPr lang="en-US" altLang="zh-CN" sz="2000" b="1" i="1">
                <a:ea typeface="+mn-ea"/>
                <a:cs typeface="Times New Roman" panose="02020603050405020304" pitchFamily="18" charset="0"/>
              </a:rPr>
              <a:t>c</a:t>
            </a:r>
            <a:endParaRPr lang="en-US" altLang="zh-CN" sz="2000" b="1" i="1">
              <a:ea typeface="+mn-ea"/>
              <a:cs typeface="Times New Roman" panose="02020603050405020304" pitchFamily="18" charset="0"/>
            </a:endParaRPr>
          </a:p>
        </p:txBody>
      </p:sp>
      <p:sp>
        <p:nvSpPr>
          <p:cNvPr id="238623" name="Text Box 31"/>
          <p:cNvSpPr txBox="1">
            <a:spLocks noChangeArrowheads="1"/>
          </p:cNvSpPr>
          <p:nvPr/>
        </p:nvSpPr>
        <p:spPr bwMode="auto">
          <a:xfrm>
            <a:off x="6426200" y="1784350"/>
            <a:ext cx="314325" cy="446088"/>
          </a:xfrm>
          <a:prstGeom prst="rect">
            <a:avLst/>
          </a:prstGeom>
          <a:noFill/>
          <a:ln w="9525">
            <a:noFill/>
            <a:miter lim="800000"/>
          </a:ln>
        </p:spPr>
        <p:txBody>
          <a:bodyPr wrap="none">
            <a:spAutoFit/>
          </a:bodyPr>
          <a:lstStyle/>
          <a:p>
            <a:pPr>
              <a:lnSpc>
                <a:spcPct val="115000"/>
              </a:lnSpc>
              <a:defRPr/>
            </a:pPr>
            <a:r>
              <a:rPr lang="en-US" altLang="zh-CN" sz="2000" b="1" i="1">
                <a:ea typeface="+mn-ea"/>
                <a:cs typeface="Times New Roman" panose="02020603050405020304" pitchFamily="18" charset="0"/>
              </a:rPr>
              <a:t>d</a:t>
            </a:r>
            <a:endParaRPr lang="en-US" altLang="zh-CN" sz="2000" b="1" i="1">
              <a:ea typeface="+mn-ea"/>
              <a:cs typeface="Times New Roman" panose="02020603050405020304" pitchFamily="18" charset="0"/>
            </a:endParaRPr>
          </a:p>
        </p:txBody>
      </p:sp>
      <p:sp>
        <p:nvSpPr>
          <p:cNvPr id="238624" name="Text Box 32"/>
          <p:cNvSpPr txBox="1">
            <a:spLocks noChangeArrowheads="1"/>
          </p:cNvSpPr>
          <p:nvPr/>
        </p:nvSpPr>
        <p:spPr bwMode="auto">
          <a:xfrm>
            <a:off x="6219825" y="2625725"/>
            <a:ext cx="412750" cy="446088"/>
          </a:xfrm>
          <a:prstGeom prst="rect">
            <a:avLst/>
          </a:prstGeom>
          <a:noFill/>
          <a:ln w="9525">
            <a:noFill/>
            <a:miter lim="800000"/>
          </a:ln>
        </p:spPr>
        <p:txBody>
          <a:bodyPr wrap="none">
            <a:spAutoFit/>
          </a:bodyPr>
          <a:lstStyle/>
          <a:p>
            <a:pPr>
              <a:lnSpc>
                <a:spcPct val="115000"/>
              </a:lnSpc>
              <a:defRPr/>
            </a:pPr>
            <a:r>
              <a:rPr lang="en-US" altLang="zh-CN" sz="2000" b="1" i="1">
                <a:solidFill>
                  <a:srgbClr val="3333CC"/>
                </a:solidFill>
                <a:ea typeface="+mn-ea"/>
                <a:cs typeface="Times New Roman" panose="02020603050405020304" pitchFamily="18" charset="0"/>
              </a:rPr>
              <a:t>V</a:t>
            </a:r>
            <a:r>
              <a:rPr lang="en-US" altLang="zh-CN" sz="2000" b="1" i="1" baseline="-25000">
                <a:solidFill>
                  <a:srgbClr val="3333CC"/>
                </a:solidFill>
                <a:ea typeface="+mn-ea"/>
                <a:cs typeface="Times New Roman" panose="02020603050405020304" pitchFamily="18" charset="0"/>
              </a:rPr>
              <a:t>a</a:t>
            </a:r>
            <a:endParaRPr lang="en-US" altLang="zh-CN" sz="2000" b="1" i="1">
              <a:solidFill>
                <a:srgbClr val="3333CC"/>
              </a:solidFill>
              <a:ea typeface="+mn-ea"/>
              <a:cs typeface="Times New Roman" panose="02020603050405020304" pitchFamily="18" charset="0"/>
            </a:endParaRPr>
          </a:p>
        </p:txBody>
      </p:sp>
      <p:sp>
        <p:nvSpPr>
          <p:cNvPr id="238625" name="Text Box 33"/>
          <p:cNvSpPr txBox="1">
            <a:spLocks noChangeArrowheads="1"/>
          </p:cNvSpPr>
          <p:nvPr/>
        </p:nvSpPr>
        <p:spPr bwMode="auto">
          <a:xfrm>
            <a:off x="6489700" y="2625725"/>
            <a:ext cx="441325" cy="446088"/>
          </a:xfrm>
          <a:prstGeom prst="rect">
            <a:avLst/>
          </a:prstGeom>
          <a:noFill/>
          <a:ln w="9525">
            <a:noFill/>
            <a:miter lim="800000"/>
          </a:ln>
        </p:spPr>
        <p:txBody>
          <a:bodyPr wrap="none">
            <a:spAutoFit/>
          </a:bodyPr>
          <a:lstStyle/>
          <a:p>
            <a:pPr>
              <a:lnSpc>
                <a:spcPct val="115000"/>
              </a:lnSpc>
              <a:defRPr/>
            </a:pPr>
            <a:r>
              <a:rPr lang="en-US" altLang="zh-CN" sz="2000" b="1" i="1">
                <a:solidFill>
                  <a:srgbClr val="3333CC"/>
                </a:solidFill>
                <a:ea typeface="+mn-ea"/>
                <a:cs typeface="Times New Roman" panose="02020603050405020304" pitchFamily="18" charset="0"/>
              </a:rPr>
              <a:t>V</a:t>
            </a:r>
            <a:r>
              <a:rPr lang="en-US" altLang="zh-CN" sz="2000" b="1" i="1" baseline="-25000">
                <a:solidFill>
                  <a:srgbClr val="3333CC"/>
                </a:solidFill>
                <a:ea typeface="+mn-ea"/>
                <a:cs typeface="Times New Roman" panose="02020603050405020304" pitchFamily="18" charset="0"/>
              </a:rPr>
              <a:t>d</a:t>
            </a:r>
            <a:endParaRPr lang="en-US" altLang="zh-CN" sz="2000" b="1" i="1">
              <a:solidFill>
                <a:srgbClr val="3333CC"/>
              </a:solidFill>
              <a:ea typeface="+mn-ea"/>
              <a:cs typeface="Times New Roman" panose="02020603050405020304" pitchFamily="18" charset="0"/>
            </a:endParaRPr>
          </a:p>
        </p:txBody>
      </p:sp>
      <p:sp>
        <p:nvSpPr>
          <p:cNvPr id="238626" name="Text Box 34"/>
          <p:cNvSpPr txBox="1">
            <a:spLocks noChangeArrowheads="1"/>
          </p:cNvSpPr>
          <p:nvPr/>
        </p:nvSpPr>
        <p:spPr bwMode="auto">
          <a:xfrm>
            <a:off x="7156450" y="2625725"/>
            <a:ext cx="441325" cy="446088"/>
          </a:xfrm>
          <a:prstGeom prst="rect">
            <a:avLst/>
          </a:prstGeom>
          <a:noFill/>
          <a:ln w="9525">
            <a:noFill/>
            <a:miter lim="800000"/>
          </a:ln>
        </p:spPr>
        <p:txBody>
          <a:bodyPr wrap="none">
            <a:spAutoFit/>
          </a:bodyPr>
          <a:lstStyle/>
          <a:p>
            <a:pPr>
              <a:lnSpc>
                <a:spcPct val="115000"/>
              </a:lnSpc>
              <a:defRPr/>
            </a:pPr>
            <a:r>
              <a:rPr lang="en-US" altLang="zh-CN" sz="2000" b="1" i="1">
                <a:solidFill>
                  <a:srgbClr val="3333CC"/>
                </a:solidFill>
                <a:ea typeface="+mn-ea"/>
                <a:cs typeface="Times New Roman" panose="02020603050405020304" pitchFamily="18" charset="0"/>
              </a:rPr>
              <a:t>V</a:t>
            </a:r>
            <a:r>
              <a:rPr lang="en-US" altLang="zh-CN" sz="2000" b="1" i="1" baseline="-25000">
                <a:solidFill>
                  <a:srgbClr val="3333CC"/>
                </a:solidFill>
                <a:ea typeface="+mn-ea"/>
                <a:cs typeface="Times New Roman" panose="02020603050405020304" pitchFamily="18" charset="0"/>
              </a:rPr>
              <a:t>b</a:t>
            </a:r>
            <a:endParaRPr lang="en-US" altLang="zh-CN" sz="2000" b="1" i="1">
              <a:solidFill>
                <a:srgbClr val="3333CC"/>
              </a:solidFill>
              <a:ea typeface="+mn-ea"/>
              <a:cs typeface="Times New Roman" panose="02020603050405020304" pitchFamily="18" charset="0"/>
            </a:endParaRPr>
          </a:p>
        </p:txBody>
      </p:sp>
      <p:sp>
        <p:nvSpPr>
          <p:cNvPr id="238627" name="Text Box 35"/>
          <p:cNvSpPr txBox="1">
            <a:spLocks noChangeArrowheads="1"/>
          </p:cNvSpPr>
          <p:nvPr/>
        </p:nvSpPr>
        <p:spPr bwMode="auto">
          <a:xfrm>
            <a:off x="7740650" y="2625725"/>
            <a:ext cx="431800" cy="446088"/>
          </a:xfrm>
          <a:prstGeom prst="rect">
            <a:avLst/>
          </a:prstGeom>
          <a:noFill/>
          <a:ln w="9525">
            <a:noFill/>
            <a:miter lim="800000"/>
          </a:ln>
        </p:spPr>
        <p:txBody>
          <a:bodyPr wrap="none">
            <a:spAutoFit/>
          </a:bodyPr>
          <a:lstStyle/>
          <a:p>
            <a:pPr>
              <a:lnSpc>
                <a:spcPct val="115000"/>
              </a:lnSpc>
              <a:defRPr/>
            </a:pPr>
            <a:r>
              <a:rPr lang="en-US" altLang="zh-CN" sz="2000" b="1" i="1">
                <a:solidFill>
                  <a:srgbClr val="3333CC"/>
                </a:solidFill>
                <a:ea typeface="+mn-ea"/>
                <a:cs typeface="Times New Roman" panose="02020603050405020304" pitchFamily="18" charset="0"/>
              </a:rPr>
              <a:t>V</a:t>
            </a:r>
            <a:r>
              <a:rPr lang="en-US" altLang="zh-CN" sz="2000" b="1" i="1" baseline="-25000">
                <a:solidFill>
                  <a:srgbClr val="3333CC"/>
                </a:solidFill>
                <a:ea typeface="+mn-ea"/>
                <a:cs typeface="Times New Roman" panose="02020603050405020304" pitchFamily="18" charset="0"/>
              </a:rPr>
              <a:t>c</a:t>
            </a:r>
            <a:endParaRPr lang="en-US" altLang="zh-CN" sz="2000" b="1" i="1">
              <a:solidFill>
                <a:srgbClr val="3333CC"/>
              </a:solidFill>
              <a:ea typeface="+mn-ea"/>
              <a:cs typeface="Times New Roman" panose="02020603050405020304" pitchFamily="18" charset="0"/>
            </a:endParaRPr>
          </a:p>
        </p:txBody>
      </p:sp>
      <p:sp>
        <p:nvSpPr>
          <p:cNvPr id="238628" name="Text Box 36"/>
          <p:cNvSpPr txBox="1">
            <a:spLocks noChangeArrowheads="1"/>
          </p:cNvSpPr>
          <p:nvPr/>
        </p:nvSpPr>
        <p:spPr bwMode="auto">
          <a:xfrm>
            <a:off x="6777038" y="946150"/>
            <a:ext cx="427037" cy="446088"/>
          </a:xfrm>
          <a:prstGeom prst="rect">
            <a:avLst/>
          </a:prstGeom>
          <a:noFill/>
          <a:ln w="9525">
            <a:noFill/>
            <a:miter lim="800000"/>
          </a:ln>
        </p:spPr>
        <p:txBody>
          <a:bodyPr wrap="none">
            <a:spAutoFit/>
          </a:bodyPr>
          <a:lstStyle/>
          <a:p>
            <a:pPr>
              <a:lnSpc>
                <a:spcPct val="115000"/>
              </a:lnSpc>
              <a:defRPr/>
            </a:pPr>
            <a:r>
              <a:rPr lang="en-US" altLang="zh-CN" sz="2000" b="1" i="1">
                <a:solidFill>
                  <a:srgbClr val="FF0000"/>
                </a:solidFill>
                <a:ea typeface="+mn-ea"/>
                <a:cs typeface="Times New Roman" panose="02020603050405020304" pitchFamily="18" charset="0"/>
              </a:rPr>
              <a:t>T</a:t>
            </a:r>
            <a:r>
              <a:rPr lang="en-US" altLang="zh-CN" sz="2000" b="1" baseline="-25000">
                <a:solidFill>
                  <a:srgbClr val="FF0000"/>
                </a:solidFill>
                <a:ea typeface="+mn-ea"/>
                <a:cs typeface="Times New Roman" panose="02020603050405020304" pitchFamily="18" charset="0"/>
              </a:rPr>
              <a:t>1</a:t>
            </a:r>
            <a:endParaRPr lang="en-US" altLang="zh-CN" sz="2000" b="1">
              <a:solidFill>
                <a:srgbClr val="FF0000"/>
              </a:solidFill>
              <a:ea typeface="+mn-ea"/>
              <a:cs typeface="Times New Roman" panose="02020603050405020304" pitchFamily="18" charset="0"/>
            </a:endParaRPr>
          </a:p>
        </p:txBody>
      </p:sp>
      <p:sp>
        <p:nvSpPr>
          <p:cNvPr id="238629" name="Text Box 37"/>
          <p:cNvSpPr txBox="1">
            <a:spLocks noChangeArrowheads="1"/>
          </p:cNvSpPr>
          <p:nvPr/>
        </p:nvSpPr>
        <p:spPr bwMode="auto">
          <a:xfrm>
            <a:off x="6948488" y="2047875"/>
            <a:ext cx="427037" cy="446088"/>
          </a:xfrm>
          <a:prstGeom prst="rect">
            <a:avLst/>
          </a:prstGeom>
          <a:noFill/>
          <a:ln w="9525">
            <a:noFill/>
            <a:miter lim="800000"/>
          </a:ln>
        </p:spPr>
        <p:txBody>
          <a:bodyPr wrap="none">
            <a:spAutoFit/>
          </a:bodyPr>
          <a:lstStyle/>
          <a:p>
            <a:pPr>
              <a:lnSpc>
                <a:spcPct val="115000"/>
              </a:lnSpc>
              <a:defRPr/>
            </a:pPr>
            <a:r>
              <a:rPr lang="en-US" altLang="zh-CN" sz="2000" b="1" i="1">
                <a:solidFill>
                  <a:srgbClr val="FF0000"/>
                </a:solidFill>
                <a:ea typeface="+mn-ea"/>
                <a:cs typeface="Times New Roman" panose="02020603050405020304" pitchFamily="18" charset="0"/>
              </a:rPr>
              <a:t>T</a:t>
            </a:r>
            <a:r>
              <a:rPr lang="en-US" altLang="zh-CN" sz="2000" b="1" baseline="-25000">
                <a:solidFill>
                  <a:srgbClr val="FF0000"/>
                </a:solidFill>
                <a:ea typeface="+mn-ea"/>
                <a:cs typeface="Times New Roman" panose="02020603050405020304" pitchFamily="18" charset="0"/>
              </a:rPr>
              <a:t>2</a:t>
            </a:r>
            <a:endParaRPr lang="en-US" altLang="zh-CN" sz="2000" b="1">
              <a:solidFill>
                <a:srgbClr val="FF0000"/>
              </a:solidFill>
              <a:ea typeface="+mn-ea"/>
              <a:cs typeface="Times New Roman" panose="02020603050405020304" pitchFamily="18" charset="0"/>
            </a:endParaRPr>
          </a:p>
        </p:txBody>
      </p:sp>
      <p:sp>
        <p:nvSpPr>
          <p:cNvPr id="238630" name="Text Box 38"/>
          <p:cNvSpPr txBox="1">
            <a:spLocks noChangeArrowheads="1"/>
          </p:cNvSpPr>
          <p:nvPr/>
        </p:nvSpPr>
        <p:spPr bwMode="auto">
          <a:xfrm>
            <a:off x="161925" y="458788"/>
            <a:ext cx="4562475" cy="512762"/>
          </a:xfrm>
          <a:prstGeom prst="rect">
            <a:avLst/>
          </a:prstGeom>
          <a:noFill/>
          <a:ln w="12700" cap="sq" algn="ctr">
            <a:noFill/>
            <a:miter lim="800000"/>
          </a:ln>
        </p:spPr>
        <p:txBody>
          <a:bodyPr>
            <a:spAutoFit/>
          </a:bodyPr>
          <a:lstStyle/>
          <a:p>
            <a:pPr>
              <a:lnSpc>
                <a:spcPct val="115000"/>
              </a:lnSpc>
              <a:buClr>
                <a:srgbClr val="CC0000"/>
              </a:buClr>
              <a:buSzPct val="80000"/>
              <a:buFont typeface="Wingdings" panose="05000000000000000000" pitchFamily="2" charset="2"/>
              <a:buNone/>
              <a:defRPr/>
            </a:pPr>
            <a:r>
              <a:rPr kumimoji="1" lang="zh-CN" altLang="en-US" b="1">
                <a:solidFill>
                  <a:srgbClr val="FF0000"/>
                </a:solidFill>
                <a:ea typeface="+mn-ea"/>
                <a:cs typeface="Times New Roman" panose="02020603050405020304" pitchFamily="18" charset="0"/>
              </a:rPr>
              <a:t>卡诺致冷机的致冷系数</a:t>
            </a:r>
            <a:r>
              <a:rPr kumimoji="1" lang="en-US" altLang="zh-CN" b="1">
                <a:solidFill>
                  <a:srgbClr val="FF0000"/>
                </a:solidFill>
                <a:ea typeface="+mn-ea"/>
                <a:cs typeface="Times New Roman" panose="02020603050405020304" pitchFamily="18" charset="0"/>
              </a:rPr>
              <a:t>:</a:t>
            </a:r>
            <a:endParaRPr kumimoji="1" lang="en-US" altLang="zh-CN" b="1">
              <a:solidFill>
                <a:srgbClr val="FF0000"/>
              </a:solidFill>
              <a:ea typeface="+mn-ea"/>
              <a:cs typeface="Times New Roman" panose="02020603050405020304" pitchFamily="18" charset="0"/>
            </a:endParaRPr>
          </a:p>
        </p:txBody>
      </p:sp>
      <p:sp>
        <p:nvSpPr>
          <p:cNvPr id="238631" name="Text Box 39"/>
          <p:cNvSpPr txBox="1">
            <a:spLocks noChangeArrowheads="1"/>
          </p:cNvSpPr>
          <p:nvPr/>
        </p:nvSpPr>
        <p:spPr bwMode="auto">
          <a:xfrm>
            <a:off x="522288" y="1089025"/>
            <a:ext cx="4268787" cy="512763"/>
          </a:xfrm>
          <a:prstGeom prst="rect">
            <a:avLst/>
          </a:prstGeom>
          <a:noFill/>
          <a:ln w="9525">
            <a:noFill/>
            <a:miter lim="800000"/>
          </a:ln>
        </p:spPr>
        <p:txBody>
          <a:bodyPr>
            <a:spAutoFit/>
          </a:bodyPr>
          <a:lstStyle/>
          <a:p>
            <a:pPr>
              <a:lnSpc>
                <a:spcPct val="115000"/>
              </a:lnSpc>
              <a:defRPr/>
            </a:pPr>
            <a:r>
              <a:rPr lang="en-US" altLang="zh-CN" b="1" i="1">
                <a:solidFill>
                  <a:srgbClr val="FF6600"/>
                </a:solidFill>
                <a:ea typeface="+mn-ea"/>
                <a:cs typeface="Times New Roman" panose="02020603050405020304" pitchFamily="18" charset="0"/>
              </a:rPr>
              <a:t>ad</a:t>
            </a:r>
            <a:r>
              <a:rPr lang="en-US" altLang="zh-CN" b="1" i="1">
                <a:ea typeface="+mn-ea"/>
                <a:cs typeface="Times New Roman" panose="02020603050405020304" pitchFamily="18" charset="0"/>
              </a:rPr>
              <a:t> </a:t>
            </a:r>
            <a:r>
              <a:rPr lang="zh-CN" altLang="en-US" b="1">
                <a:ea typeface="+mn-ea"/>
                <a:cs typeface="Times New Roman" panose="02020603050405020304" pitchFamily="18" charset="0"/>
              </a:rPr>
              <a:t>为绝热膨胀过程：</a:t>
            </a:r>
            <a:endParaRPr lang="zh-CN" altLang="en-US" b="1">
              <a:ea typeface="+mn-ea"/>
              <a:cs typeface="Times New Roman" panose="02020603050405020304" pitchFamily="18" charset="0"/>
            </a:endParaRPr>
          </a:p>
        </p:txBody>
      </p:sp>
      <p:graphicFrame>
        <p:nvGraphicFramePr>
          <p:cNvPr id="238632" name="Object 40"/>
          <p:cNvGraphicFramePr>
            <a:graphicFrameLocks noChangeAspect="1"/>
          </p:cNvGraphicFramePr>
          <p:nvPr/>
        </p:nvGraphicFramePr>
        <p:xfrm>
          <a:off x="3673475" y="1174750"/>
          <a:ext cx="892175" cy="409575"/>
        </p:xfrm>
        <a:graphic>
          <a:graphicData uri="http://schemas.openxmlformats.org/presentationml/2006/ole">
            <mc:AlternateContent xmlns:mc="http://schemas.openxmlformats.org/markup-compatibility/2006">
              <mc:Choice xmlns:v="urn:schemas-microsoft-com:vml" Requires="v">
                <p:oleObj spid="_x0000_s59393" name="公式" r:id="rId1" imgW="11887200" imgH="5486400" progId="Equation.3">
                  <p:embed/>
                </p:oleObj>
              </mc:Choice>
              <mc:Fallback>
                <p:oleObj name="公式" r:id="rId1" imgW="11887200" imgH="5486400" progId="Equation.3">
                  <p:embed/>
                  <p:pic>
                    <p:nvPicPr>
                      <p:cNvPr id="0" name="Object 40"/>
                      <p:cNvPicPr>
                        <a:picLocks noChangeAspect="1"/>
                      </p:cNvPicPr>
                      <p:nvPr/>
                    </p:nvPicPr>
                    <p:blipFill>
                      <a:blip r:embed="rId2"/>
                      <a:stretch>
                        <a:fillRect/>
                      </a:stretch>
                    </p:blipFill>
                    <p:spPr>
                      <a:xfrm>
                        <a:off x="3673475" y="1174750"/>
                        <a:ext cx="892175" cy="409575"/>
                      </a:xfrm>
                      <a:prstGeom prst="rect">
                        <a:avLst/>
                      </a:prstGeom>
                      <a:noFill/>
                      <a:ln w="9525">
                        <a:noFill/>
                      </a:ln>
                    </p:spPr>
                  </p:pic>
                </p:oleObj>
              </mc:Fallback>
            </mc:AlternateContent>
          </a:graphicData>
        </a:graphic>
      </p:graphicFrame>
      <p:sp>
        <p:nvSpPr>
          <p:cNvPr id="238633" name="Text Box 41"/>
          <p:cNvSpPr txBox="1">
            <a:spLocks noChangeArrowheads="1"/>
          </p:cNvSpPr>
          <p:nvPr/>
        </p:nvSpPr>
        <p:spPr bwMode="auto">
          <a:xfrm>
            <a:off x="476250" y="1628775"/>
            <a:ext cx="4010025" cy="512763"/>
          </a:xfrm>
          <a:prstGeom prst="rect">
            <a:avLst/>
          </a:prstGeom>
          <a:noFill/>
          <a:ln w="9525">
            <a:noFill/>
            <a:miter lim="800000"/>
          </a:ln>
        </p:spPr>
        <p:txBody>
          <a:bodyPr>
            <a:spAutoFit/>
          </a:bodyPr>
          <a:lstStyle/>
          <a:p>
            <a:pPr>
              <a:lnSpc>
                <a:spcPct val="115000"/>
              </a:lnSpc>
              <a:defRPr/>
            </a:pPr>
            <a:r>
              <a:rPr lang="en-US" altLang="zh-CN" b="1" i="1">
                <a:solidFill>
                  <a:srgbClr val="FF6600"/>
                </a:solidFill>
                <a:ea typeface="+mn-ea"/>
                <a:cs typeface="Times New Roman" panose="02020603050405020304" pitchFamily="18" charset="0"/>
              </a:rPr>
              <a:t>dc </a:t>
            </a:r>
            <a:r>
              <a:rPr lang="zh-CN" altLang="en-US" b="1">
                <a:ea typeface="+mn-ea"/>
                <a:cs typeface="Times New Roman" panose="02020603050405020304" pitchFamily="18" charset="0"/>
              </a:rPr>
              <a:t>为等温膨胀过程：</a:t>
            </a:r>
            <a:endParaRPr lang="zh-CN" altLang="en-US" b="1">
              <a:ea typeface="+mn-ea"/>
              <a:cs typeface="Times New Roman" panose="02020603050405020304" pitchFamily="18" charset="0"/>
            </a:endParaRPr>
          </a:p>
        </p:txBody>
      </p:sp>
      <p:graphicFrame>
        <p:nvGraphicFramePr>
          <p:cNvPr id="238634" name="Object 42"/>
          <p:cNvGraphicFramePr>
            <a:graphicFrameLocks noChangeAspect="1"/>
          </p:cNvGraphicFramePr>
          <p:nvPr/>
        </p:nvGraphicFramePr>
        <p:xfrm>
          <a:off x="1106488" y="2135188"/>
          <a:ext cx="2187575" cy="798512"/>
        </p:xfrm>
        <a:graphic>
          <a:graphicData uri="http://schemas.openxmlformats.org/presentationml/2006/ole">
            <mc:AlternateContent xmlns:mc="http://schemas.openxmlformats.org/markup-compatibility/2006">
              <mc:Choice xmlns:v="urn:schemas-microsoft-com:vml" Requires="v">
                <p:oleObj spid="_x0000_s59395" name="公式" r:id="rId3" imgW="29260800" imgH="10668000" progId="Equation.3">
                  <p:embed/>
                </p:oleObj>
              </mc:Choice>
              <mc:Fallback>
                <p:oleObj name="公式" r:id="rId3" imgW="29260800" imgH="10668000" progId="Equation.3">
                  <p:embed/>
                  <p:pic>
                    <p:nvPicPr>
                      <p:cNvPr id="0" name="Object 42"/>
                      <p:cNvPicPr>
                        <a:picLocks noChangeAspect="1"/>
                      </p:cNvPicPr>
                      <p:nvPr/>
                    </p:nvPicPr>
                    <p:blipFill>
                      <a:blip r:embed="rId4"/>
                      <a:stretch>
                        <a:fillRect/>
                      </a:stretch>
                    </p:blipFill>
                    <p:spPr>
                      <a:xfrm>
                        <a:off x="1106488" y="2135188"/>
                        <a:ext cx="2187575" cy="798512"/>
                      </a:xfrm>
                      <a:prstGeom prst="rect">
                        <a:avLst/>
                      </a:prstGeom>
                      <a:noFill/>
                      <a:ln w="9525">
                        <a:noFill/>
                      </a:ln>
                    </p:spPr>
                  </p:pic>
                </p:oleObj>
              </mc:Fallback>
            </mc:AlternateContent>
          </a:graphicData>
        </a:graphic>
      </p:graphicFrame>
      <p:graphicFrame>
        <p:nvGraphicFramePr>
          <p:cNvPr id="238635" name="Object 43"/>
          <p:cNvGraphicFramePr>
            <a:graphicFrameLocks noChangeAspect="1"/>
          </p:cNvGraphicFramePr>
          <p:nvPr/>
        </p:nvGraphicFramePr>
        <p:xfrm>
          <a:off x="3411538" y="2359025"/>
          <a:ext cx="431800" cy="319088"/>
        </p:xfrm>
        <a:graphic>
          <a:graphicData uri="http://schemas.openxmlformats.org/presentationml/2006/ole">
            <mc:AlternateContent xmlns:mc="http://schemas.openxmlformats.org/markup-compatibility/2006">
              <mc:Choice xmlns:v="urn:schemas-microsoft-com:vml" Requires="v">
                <p:oleObj spid="_x0000_s59396" name="公式" r:id="rId5" imgW="5791200" imgH="4267200" progId="Equation.3">
                  <p:embed/>
                </p:oleObj>
              </mc:Choice>
              <mc:Fallback>
                <p:oleObj name="公式" r:id="rId5" imgW="5791200" imgH="4267200" progId="Equation.3">
                  <p:embed/>
                  <p:pic>
                    <p:nvPicPr>
                      <p:cNvPr id="0" name="Object 43"/>
                      <p:cNvPicPr>
                        <a:picLocks noChangeAspect="1"/>
                      </p:cNvPicPr>
                      <p:nvPr/>
                    </p:nvPicPr>
                    <p:blipFill>
                      <a:blip r:embed="rId6"/>
                      <a:stretch>
                        <a:fillRect/>
                      </a:stretch>
                    </p:blipFill>
                    <p:spPr>
                      <a:xfrm>
                        <a:off x="3411538" y="2359025"/>
                        <a:ext cx="431800" cy="319088"/>
                      </a:xfrm>
                      <a:prstGeom prst="rect">
                        <a:avLst/>
                      </a:prstGeom>
                      <a:noFill/>
                      <a:ln w="9525">
                        <a:noFill/>
                      </a:ln>
                    </p:spPr>
                  </p:pic>
                </p:oleObj>
              </mc:Fallback>
            </mc:AlternateContent>
          </a:graphicData>
        </a:graphic>
      </p:graphicFrame>
      <p:sp>
        <p:nvSpPr>
          <p:cNvPr id="238636" name="Text Box 44"/>
          <p:cNvSpPr txBox="1">
            <a:spLocks noChangeArrowheads="1"/>
          </p:cNvSpPr>
          <p:nvPr/>
        </p:nvSpPr>
        <p:spPr bwMode="auto">
          <a:xfrm>
            <a:off x="566738" y="2933700"/>
            <a:ext cx="4208462" cy="512763"/>
          </a:xfrm>
          <a:prstGeom prst="rect">
            <a:avLst/>
          </a:prstGeom>
          <a:noFill/>
          <a:ln w="9525">
            <a:noFill/>
            <a:miter lim="800000"/>
          </a:ln>
        </p:spPr>
        <p:txBody>
          <a:bodyPr>
            <a:spAutoFit/>
          </a:bodyPr>
          <a:lstStyle/>
          <a:p>
            <a:pPr>
              <a:lnSpc>
                <a:spcPct val="115000"/>
              </a:lnSpc>
              <a:defRPr/>
            </a:pPr>
            <a:r>
              <a:rPr lang="en-US" altLang="zh-CN" b="1" i="1">
                <a:solidFill>
                  <a:srgbClr val="FF6600"/>
                </a:solidFill>
                <a:ea typeface="+mn-ea"/>
                <a:cs typeface="Times New Roman" panose="02020603050405020304" pitchFamily="18" charset="0"/>
              </a:rPr>
              <a:t>cb</a:t>
            </a:r>
            <a:r>
              <a:rPr lang="en-US" altLang="zh-CN" b="1" i="1">
                <a:ea typeface="+mn-ea"/>
                <a:cs typeface="Times New Roman" panose="02020603050405020304" pitchFamily="18" charset="0"/>
              </a:rPr>
              <a:t> </a:t>
            </a:r>
            <a:r>
              <a:rPr lang="zh-CN" altLang="en-US" b="1">
                <a:ea typeface="+mn-ea"/>
                <a:cs typeface="Times New Roman" panose="02020603050405020304" pitchFamily="18" charset="0"/>
              </a:rPr>
              <a:t>为绝热压缩过程：</a:t>
            </a:r>
            <a:endParaRPr lang="zh-CN" altLang="en-US" b="1">
              <a:ea typeface="+mn-ea"/>
              <a:cs typeface="Times New Roman" panose="02020603050405020304" pitchFamily="18" charset="0"/>
            </a:endParaRPr>
          </a:p>
        </p:txBody>
      </p:sp>
      <p:graphicFrame>
        <p:nvGraphicFramePr>
          <p:cNvPr id="238637" name="Object 45"/>
          <p:cNvGraphicFramePr>
            <a:graphicFrameLocks noChangeAspect="1"/>
          </p:cNvGraphicFramePr>
          <p:nvPr/>
        </p:nvGraphicFramePr>
        <p:xfrm>
          <a:off x="3694113" y="2995613"/>
          <a:ext cx="871537" cy="411162"/>
        </p:xfrm>
        <a:graphic>
          <a:graphicData uri="http://schemas.openxmlformats.org/presentationml/2006/ole">
            <mc:AlternateContent xmlns:mc="http://schemas.openxmlformats.org/markup-compatibility/2006">
              <mc:Choice xmlns:v="urn:schemas-microsoft-com:vml" Requires="v">
                <p:oleObj spid="_x0000_s59397" name="公式" r:id="rId7" imgW="11582400" imgH="5486400" progId="Equation.3">
                  <p:embed/>
                </p:oleObj>
              </mc:Choice>
              <mc:Fallback>
                <p:oleObj name="公式" r:id="rId7" imgW="11582400" imgH="5486400" progId="Equation.3">
                  <p:embed/>
                  <p:pic>
                    <p:nvPicPr>
                      <p:cNvPr id="0" name="Object 45"/>
                      <p:cNvPicPr>
                        <a:picLocks noChangeAspect="1"/>
                      </p:cNvPicPr>
                      <p:nvPr/>
                    </p:nvPicPr>
                    <p:blipFill>
                      <a:blip r:embed="rId8"/>
                      <a:stretch>
                        <a:fillRect/>
                      </a:stretch>
                    </p:blipFill>
                    <p:spPr>
                      <a:xfrm>
                        <a:off x="3694113" y="2995613"/>
                        <a:ext cx="871537" cy="411162"/>
                      </a:xfrm>
                      <a:prstGeom prst="rect">
                        <a:avLst/>
                      </a:prstGeom>
                      <a:noFill/>
                      <a:ln w="9525">
                        <a:noFill/>
                      </a:ln>
                    </p:spPr>
                  </p:pic>
                </p:oleObj>
              </mc:Fallback>
            </mc:AlternateContent>
          </a:graphicData>
        </a:graphic>
      </p:graphicFrame>
      <p:sp>
        <p:nvSpPr>
          <p:cNvPr id="238638" name="Text Box 46"/>
          <p:cNvSpPr txBox="1">
            <a:spLocks noChangeArrowheads="1"/>
          </p:cNvSpPr>
          <p:nvPr/>
        </p:nvSpPr>
        <p:spPr bwMode="auto">
          <a:xfrm>
            <a:off x="566738" y="3517900"/>
            <a:ext cx="3729037" cy="512763"/>
          </a:xfrm>
          <a:prstGeom prst="rect">
            <a:avLst/>
          </a:prstGeom>
          <a:noFill/>
          <a:ln w="9525">
            <a:noFill/>
            <a:miter lim="800000"/>
          </a:ln>
        </p:spPr>
        <p:txBody>
          <a:bodyPr>
            <a:spAutoFit/>
          </a:bodyPr>
          <a:lstStyle/>
          <a:p>
            <a:pPr>
              <a:lnSpc>
                <a:spcPct val="115000"/>
              </a:lnSpc>
              <a:defRPr/>
            </a:pPr>
            <a:r>
              <a:rPr lang="en-US" altLang="zh-CN" b="1" i="1">
                <a:solidFill>
                  <a:srgbClr val="FF6600"/>
                </a:solidFill>
                <a:ea typeface="+mn-ea"/>
                <a:cs typeface="Times New Roman" panose="02020603050405020304" pitchFamily="18" charset="0"/>
              </a:rPr>
              <a:t>ba</a:t>
            </a:r>
            <a:r>
              <a:rPr lang="en-US" altLang="zh-CN" b="1" i="1">
                <a:ea typeface="+mn-ea"/>
                <a:cs typeface="Times New Roman" panose="02020603050405020304" pitchFamily="18" charset="0"/>
              </a:rPr>
              <a:t> </a:t>
            </a:r>
            <a:r>
              <a:rPr lang="zh-CN" altLang="en-US" b="1">
                <a:ea typeface="+mn-ea"/>
                <a:cs typeface="Times New Roman" panose="02020603050405020304" pitchFamily="18" charset="0"/>
              </a:rPr>
              <a:t>为等温压缩过程：</a:t>
            </a:r>
            <a:endParaRPr lang="zh-CN" altLang="en-US" b="1">
              <a:ea typeface="+mn-ea"/>
              <a:cs typeface="Times New Roman" panose="02020603050405020304" pitchFamily="18" charset="0"/>
            </a:endParaRPr>
          </a:p>
        </p:txBody>
      </p:sp>
      <p:graphicFrame>
        <p:nvGraphicFramePr>
          <p:cNvPr id="238639" name="Object 47"/>
          <p:cNvGraphicFramePr>
            <a:graphicFrameLocks noChangeAspect="1"/>
          </p:cNvGraphicFramePr>
          <p:nvPr/>
        </p:nvGraphicFramePr>
        <p:xfrm>
          <a:off x="3621088" y="3429000"/>
          <a:ext cx="2193925" cy="798513"/>
        </p:xfrm>
        <a:graphic>
          <a:graphicData uri="http://schemas.openxmlformats.org/presentationml/2006/ole">
            <mc:AlternateContent xmlns:mc="http://schemas.openxmlformats.org/markup-compatibility/2006">
              <mc:Choice xmlns:v="urn:schemas-microsoft-com:vml" Requires="v">
                <p:oleObj spid="_x0000_s59398" name="公式" r:id="rId9" imgW="29260800" imgH="10668000" progId="Equation.3">
                  <p:embed/>
                </p:oleObj>
              </mc:Choice>
              <mc:Fallback>
                <p:oleObj name="公式" r:id="rId9" imgW="29260800" imgH="10668000" progId="Equation.3">
                  <p:embed/>
                  <p:pic>
                    <p:nvPicPr>
                      <p:cNvPr id="0" name="Object 47"/>
                      <p:cNvPicPr>
                        <a:picLocks noChangeAspect="1"/>
                      </p:cNvPicPr>
                      <p:nvPr/>
                    </p:nvPicPr>
                    <p:blipFill>
                      <a:blip r:embed="rId10"/>
                      <a:stretch>
                        <a:fillRect/>
                      </a:stretch>
                    </p:blipFill>
                    <p:spPr>
                      <a:xfrm>
                        <a:off x="3621088" y="3429000"/>
                        <a:ext cx="2193925" cy="798513"/>
                      </a:xfrm>
                      <a:prstGeom prst="rect">
                        <a:avLst/>
                      </a:prstGeom>
                      <a:noFill/>
                      <a:ln w="9525">
                        <a:noFill/>
                      </a:ln>
                    </p:spPr>
                  </p:pic>
                </p:oleObj>
              </mc:Fallback>
            </mc:AlternateContent>
          </a:graphicData>
        </a:graphic>
      </p:graphicFrame>
      <p:graphicFrame>
        <p:nvGraphicFramePr>
          <p:cNvPr id="238640" name="Object 48"/>
          <p:cNvGraphicFramePr>
            <a:graphicFrameLocks noChangeAspect="1"/>
          </p:cNvGraphicFramePr>
          <p:nvPr/>
        </p:nvGraphicFramePr>
        <p:xfrm>
          <a:off x="5870575" y="3643313"/>
          <a:ext cx="434975" cy="319087"/>
        </p:xfrm>
        <a:graphic>
          <a:graphicData uri="http://schemas.openxmlformats.org/presentationml/2006/ole">
            <mc:AlternateContent xmlns:mc="http://schemas.openxmlformats.org/markup-compatibility/2006">
              <mc:Choice xmlns:v="urn:schemas-microsoft-com:vml" Requires="v">
                <p:oleObj spid="_x0000_s59399" name="公式" r:id="rId11" imgW="5791200" imgH="4267200" progId="Equation.3">
                  <p:embed/>
                </p:oleObj>
              </mc:Choice>
              <mc:Fallback>
                <p:oleObj name="公式" r:id="rId11" imgW="5791200" imgH="4267200" progId="Equation.3">
                  <p:embed/>
                  <p:pic>
                    <p:nvPicPr>
                      <p:cNvPr id="0" name="Object 48"/>
                      <p:cNvPicPr>
                        <a:picLocks noChangeAspect="1"/>
                      </p:cNvPicPr>
                      <p:nvPr/>
                    </p:nvPicPr>
                    <p:blipFill>
                      <a:blip r:embed="rId12"/>
                      <a:stretch>
                        <a:fillRect/>
                      </a:stretch>
                    </p:blipFill>
                    <p:spPr>
                      <a:xfrm>
                        <a:off x="5870575" y="3643313"/>
                        <a:ext cx="434975" cy="319087"/>
                      </a:xfrm>
                      <a:prstGeom prst="rect">
                        <a:avLst/>
                      </a:prstGeom>
                      <a:noFill/>
                      <a:ln w="9525">
                        <a:noFill/>
                      </a:ln>
                    </p:spPr>
                  </p:pic>
                </p:oleObj>
              </mc:Fallback>
            </mc:AlternateContent>
          </a:graphicData>
        </a:graphic>
      </p:graphicFrame>
      <p:graphicFrame>
        <p:nvGraphicFramePr>
          <p:cNvPr id="238641" name="Object 49"/>
          <p:cNvGraphicFramePr>
            <a:graphicFrameLocks noChangeAspect="1"/>
          </p:cNvGraphicFramePr>
          <p:nvPr/>
        </p:nvGraphicFramePr>
        <p:xfrm>
          <a:off x="1422400" y="4251325"/>
          <a:ext cx="2555875" cy="798513"/>
        </p:xfrm>
        <a:graphic>
          <a:graphicData uri="http://schemas.openxmlformats.org/presentationml/2006/ole">
            <mc:AlternateContent xmlns:mc="http://schemas.openxmlformats.org/markup-compatibility/2006">
              <mc:Choice xmlns:v="urn:schemas-microsoft-com:vml" Requires="v">
                <p:oleObj spid="_x0000_s59400" name="公式" r:id="rId13" imgW="34137600" imgH="10668000" progId="Equation.3">
                  <p:embed/>
                </p:oleObj>
              </mc:Choice>
              <mc:Fallback>
                <p:oleObj name="公式" r:id="rId13" imgW="34137600" imgH="10668000" progId="Equation.3">
                  <p:embed/>
                  <p:pic>
                    <p:nvPicPr>
                      <p:cNvPr id="0" name="Object 49"/>
                      <p:cNvPicPr>
                        <a:picLocks noChangeAspect="1"/>
                      </p:cNvPicPr>
                      <p:nvPr/>
                    </p:nvPicPr>
                    <p:blipFill>
                      <a:blip r:embed="rId14"/>
                      <a:stretch>
                        <a:fillRect/>
                      </a:stretch>
                    </p:blipFill>
                    <p:spPr>
                      <a:xfrm>
                        <a:off x="1422400" y="4251325"/>
                        <a:ext cx="2555875" cy="798513"/>
                      </a:xfrm>
                      <a:prstGeom prst="rect">
                        <a:avLst/>
                      </a:prstGeom>
                      <a:noFill/>
                      <a:ln w="9525">
                        <a:noFill/>
                      </a:ln>
                    </p:spPr>
                  </p:pic>
                </p:oleObj>
              </mc:Fallback>
            </mc:AlternateContent>
          </a:graphicData>
        </a:graphic>
      </p:graphicFrame>
      <p:graphicFrame>
        <p:nvGraphicFramePr>
          <p:cNvPr id="238642" name="Object 50"/>
          <p:cNvGraphicFramePr>
            <a:graphicFrameLocks noChangeAspect="1"/>
          </p:cNvGraphicFramePr>
          <p:nvPr/>
        </p:nvGraphicFramePr>
        <p:xfrm>
          <a:off x="4629150" y="4251325"/>
          <a:ext cx="2508250" cy="798513"/>
        </p:xfrm>
        <a:graphic>
          <a:graphicData uri="http://schemas.openxmlformats.org/presentationml/2006/ole">
            <mc:AlternateContent xmlns:mc="http://schemas.openxmlformats.org/markup-compatibility/2006">
              <mc:Choice xmlns:v="urn:schemas-microsoft-com:vml" Requires="v">
                <p:oleObj spid="_x0000_s59401" name="公式" r:id="rId15" imgW="33528000" imgH="10668000" progId="Equation.3">
                  <p:embed/>
                </p:oleObj>
              </mc:Choice>
              <mc:Fallback>
                <p:oleObj name="公式" r:id="rId15" imgW="33528000" imgH="10668000" progId="Equation.3">
                  <p:embed/>
                  <p:pic>
                    <p:nvPicPr>
                      <p:cNvPr id="0" name="Object 50"/>
                      <p:cNvPicPr>
                        <a:picLocks noChangeAspect="1"/>
                      </p:cNvPicPr>
                      <p:nvPr/>
                    </p:nvPicPr>
                    <p:blipFill>
                      <a:blip r:embed="rId16"/>
                      <a:stretch>
                        <a:fillRect/>
                      </a:stretch>
                    </p:blipFill>
                    <p:spPr>
                      <a:xfrm>
                        <a:off x="4629150" y="4251325"/>
                        <a:ext cx="2508250" cy="798513"/>
                      </a:xfrm>
                      <a:prstGeom prst="rect">
                        <a:avLst/>
                      </a:prstGeom>
                      <a:noFill/>
                      <a:ln w="9525">
                        <a:noFill/>
                      </a:ln>
                    </p:spPr>
                  </p:pic>
                </p:oleObj>
              </mc:Fallback>
            </mc:AlternateContent>
          </a:graphicData>
        </a:graphic>
      </p:graphicFrame>
      <p:sp>
        <p:nvSpPr>
          <p:cNvPr id="238643" name="AutoShape 51"/>
          <p:cNvSpPr>
            <a:spLocks noChangeArrowheads="1"/>
          </p:cNvSpPr>
          <p:nvPr/>
        </p:nvSpPr>
        <p:spPr bwMode="auto">
          <a:xfrm>
            <a:off x="701675" y="4598988"/>
            <a:ext cx="485775" cy="134937"/>
          </a:xfrm>
          <a:prstGeom prst="rightArrow">
            <a:avLst>
              <a:gd name="adj1" fmla="val 50000"/>
              <a:gd name="adj2" fmla="val 90000"/>
            </a:avLst>
          </a:prstGeom>
          <a:solidFill>
            <a:srgbClr val="0000FF"/>
          </a:solidFill>
          <a:ln w="9525">
            <a:solidFill>
              <a:schemeClr val="tx1"/>
            </a:solidFill>
            <a:miter lim="800000"/>
          </a:ln>
        </p:spPr>
        <p:txBody>
          <a:bodyPr wrap="none" anchor="ctr"/>
          <a:lstStyle/>
          <a:p>
            <a:pPr algn="ctr">
              <a:defRPr/>
            </a:pPr>
            <a:endParaRPr lang="zh-CN" altLang="en-US">
              <a:ea typeface="+mn-ea"/>
              <a:cs typeface="Times New Roman" panose="02020603050405020304" pitchFamily="18" charset="0"/>
            </a:endParaRPr>
          </a:p>
        </p:txBody>
      </p:sp>
      <p:graphicFrame>
        <p:nvGraphicFramePr>
          <p:cNvPr id="238644" name="Object 52"/>
          <p:cNvGraphicFramePr>
            <a:graphicFrameLocks noChangeAspect="1"/>
          </p:cNvGraphicFramePr>
          <p:nvPr/>
        </p:nvGraphicFramePr>
        <p:xfrm>
          <a:off x="1533525" y="5497513"/>
          <a:ext cx="990600" cy="665162"/>
        </p:xfrm>
        <a:graphic>
          <a:graphicData uri="http://schemas.openxmlformats.org/presentationml/2006/ole">
            <mc:AlternateContent xmlns:mc="http://schemas.openxmlformats.org/markup-compatibility/2006">
              <mc:Choice xmlns:v="urn:schemas-microsoft-com:vml" Requires="v">
                <p:oleObj spid="_x0000_s59402" name="Equation" r:id="rId17" imgW="14020800" imgH="9448800" progId="Equation.DSMT4">
                  <p:embed/>
                </p:oleObj>
              </mc:Choice>
              <mc:Fallback>
                <p:oleObj name="Equation" r:id="rId17" imgW="14020800" imgH="9448800" progId="Equation.DSMT4">
                  <p:embed/>
                  <p:pic>
                    <p:nvPicPr>
                      <p:cNvPr id="0" name="Object 52"/>
                      <p:cNvPicPr>
                        <a:picLocks noChangeAspect="1"/>
                      </p:cNvPicPr>
                      <p:nvPr/>
                    </p:nvPicPr>
                    <p:blipFill>
                      <a:blip r:embed="rId18"/>
                      <a:stretch>
                        <a:fillRect/>
                      </a:stretch>
                    </p:blipFill>
                    <p:spPr>
                      <a:xfrm>
                        <a:off x="1533525" y="5497513"/>
                        <a:ext cx="990600" cy="665162"/>
                      </a:xfrm>
                      <a:prstGeom prst="rect">
                        <a:avLst/>
                      </a:prstGeom>
                      <a:noFill/>
                      <a:ln w="9525">
                        <a:noFill/>
                      </a:ln>
                    </p:spPr>
                  </p:pic>
                </p:oleObj>
              </mc:Fallback>
            </mc:AlternateContent>
          </a:graphicData>
        </a:graphic>
      </p:graphicFrame>
      <p:graphicFrame>
        <p:nvGraphicFramePr>
          <p:cNvPr id="238645" name="Object 53"/>
          <p:cNvGraphicFramePr>
            <a:graphicFrameLocks noChangeAspect="1"/>
          </p:cNvGraphicFramePr>
          <p:nvPr/>
        </p:nvGraphicFramePr>
        <p:xfrm>
          <a:off x="2635250" y="5454650"/>
          <a:ext cx="1127125" cy="757238"/>
        </p:xfrm>
        <a:graphic>
          <a:graphicData uri="http://schemas.openxmlformats.org/presentationml/2006/ole">
            <mc:AlternateContent xmlns:mc="http://schemas.openxmlformats.org/markup-compatibility/2006">
              <mc:Choice xmlns:v="urn:schemas-microsoft-com:vml" Requires="v">
                <p:oleObj spid="_x0000_s59403" name="公式" r:id="rId19" imgW="15849600" imgH="10668000" progId="Equation.3">
                  <p:embed/>
                </p:oleObj>
              </mc:Choice>
              <mc:Fallback>
                <p:oleObj name="公式" r:id="rId19" imgW="15849600" imgH="10668000" progId="Equation.3">
                  <p:embed/>
                  <p:pic>
                    <p:nvPicPr>
                      <p:cNvPr id="0" name="Object 53"/>
                      <p:cNvPicPr>
                        <a:picLocks noChangeAspect="1"/>
                      </p:cNvPicPr>
                      <p:nvPr/>
                    </p:nvPicPr>
                    <p:blipFill>
                      <a:blip r:embed="rId20"/>
                      <a:stretch>
                        <a:fillRect/>
                      </a:stretch>
                    </p:blipFill>
                    <p:spPr>
                      <a:xfrm>
                        <a:off x="2635250" y="5454650"/>
                        <a:ext cx="1127125" cy="757238"/>
                      </a:xfrm>
                      <a:prstGeom prst="rect">
                        <a:avLst/>
                      </a:prstGeom>
                      <a:noFill/>
                      <a:ln w="9525">
                        <a:noFill/>
                      </a:ln>
                    </p:spPr>
                  </p:pic>
                </p:oleObj>
              </mc:Fallback>
            </mc:AlternateContent>
          </a:graphicData>
        </a:graphic>
      </p:graphicFrame>
      <p:graphicFrame>
        <p:nvGraphicFramePr>
          <p:cNvPr id="238646" name="Object 54"/>
          <p:cNvGraphicFramePr>
            <a:graphicFrameLocks noChangeAspect="1"/>
          </p:cNvGraphicFramePr>
          <p:nvPr/>
        </p:nvGraphicFramePr>
        <p:xfrm>
          <a:off x="3897313" y="5111750"/>
          <a:ext cx="2195512" cy="1422400"/>
        </p:xfrm>
        <a:graphic>
          <a:graphicData uri="http://schemas.openxmlformats.org/presentationml/2006/ole">
            <mc:AlternateContent xmlns:mc="http://schemas.openxmlformats.org/markup-compatibility/2006">
              <mc:Choice xmlns:v="urn:schemas-microsoft-com:vml" Requires="v">
                <p:oleObj spid="_x0000_s59404" name="公式" r:id="rId21" imgW="31089600" imgH="20116800" progId="Equation.3">
                  <p:embed/>
                </p:oleObj>
              </mc:Choice>
              <mc:Fallback>
                <p:oleObj name="公式" r:id="rId21" imgW="31089600" imgH="20116800" progId="Equation.3">
                  <p:embed/>
                  <p:pic>
                    <p:nvPicPr>
                      <p:cNvPr id="0" name="Object 54"/>
                      <p:cNvPicPr>
                        <a:picLocks noChangeAspect="1"/>
                      </p:cNvPicPr>
                      <p:nvPr/>
                    </p:nvPicPr>
                    <p:blipFill>
                      <a:blip r:embed="rId22"/>
                      <a:stretch>
                        <a:fillRect/>
                      </a:stretch>
                    </p:blipFill>
                    <p:spPr>
                      <a:xfrm>
                        <a:off x="3897313" y="5111750"/>
                        <a:ext cx="2195512" cy="14224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8630"/>
                                        </p:tgtEl>
                                        <p:attrNameLst>
                                          <p:attrName>style.visibility</p:attrName>
                                        </p:attrNameLst>
                                      </p:cBhvr>
                                      <p:to>
                                        <p:strVal val="visible"/>
                                      </p:to>
                                    </p:set>
                                    <p:animEffect transition="in" filter="wipe(left)">
                                      <p:cBhvr>
                                        <p:cTn id="7" dur="500"/>
                                        <p:tgtEl>
                                          <p:spTgt spid="23863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8620"/>
                                        </p:tgtEl>
                                        <p:attrNameLst>
                                          <p:attrName>style.visibility</p:attrName>
                                        </p:attrNameLst>
                                      </p:cBhvr>
                                      <p:to>
                                        <p:strVal val="visible"/>
                                      </p:to>
                                    </p:set>
                                    <p:animEffect transition="in" filter="wipe(up)">
                                      <p:cBhvr>
                                        <p:cTn id="17" dur="500"/>
                                        <p:tgtEl>
                                          <p:spTgt spid="238620"/>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38616"/>
                                        </p:tgtEl>
                                        <p:attrNameLst>
                                          <p:attrName>style.visibility</p:attrName>
                                        </p:attrNameLst>
                                      </p:cBhvr>
                                      <p:to>
                                        <p:strVal val="visible"/>
                                      </p:to>
                                    </p:set>
                                    <p:animEffect transition="in" filter="wipe(up)">
                                      <p:cBhvr>
                                        <p:cTn id="20" dur="500"/>
                                        <p:tgtEl>
                                          <p:spTgt spid="238616"/>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up)">
                                      <p:cBhvr>
                                        <p:cTn id="24" dur="500"/>
                                        <p:tgtEl>
                                          <p:spTgt spid="6"/>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238623"/>
                                        </p:tgtEl>
                                        <p:attrNameLst>
                                          <p:attrName>style.visibility</p:attrName>
                                        </p:attrNameLst>
                                      </p:cBhvr>
                                      <p:to>
                                        <p:strVal val="visible"/>
                                      </p:to>
                                    </p:set>
                                    <p:animEffect transition="in" filter="wipe(up)">
                                      <p:cBhvr>
                                        <p:cTn id="28" dur="500"/>
                                        <p:tgtEl>
                                          <p:spTgt spid="238623"/>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238619"/>
                                        </p:tgtEl>
                                        <p:attrNameLst>
                                          <p:attrName>style.visibility</p:attrName>
                                        </p:attrNameLst>
                                      </p:cBhvr>
                                      <p:to>
                                        <p:strVal val="visible"/>
                                      </p:to>
                                    </p:set>
                                    <p:animEffect transition="in" filter="wipe(up)">
                                      <p:cBhvr>
                                        <p:cTn id="31" dur="500"/>
                                        <p:tgtEl>
                                          <p:spTgt spid="238619"/>
                                        </p:tgtEl>
                                      </p:cBhvr>
                                    </p:animEffect>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238629"/>
                                        </p:tgtEl>
                                        <p:attrNameLst>
                                          <p:attrName>style.visibility</p:attrName>
                                        </p:attrNameLst>
                                      </p:cBhvr>
                                      <p:to>
                                        <p:strVal val="visible"/>
                                      </p:to>
                                    </p:set>
                                    <p:animEffect transition="in" filter="wipe(up)">
                                      <p:cBhvr>
                                        <p:cTn id="38" dur="500"/>
                                        <p:tgtEl>
                                          <p:spTgt spid="238629"/>
                                        </p:tgtEl>
                                      </p:cBhvr>
                                    </p:animEffect>
                                  </p:childTnLst>
                                </p:cTn>
                              </p:par>
                            </p:childTnLst>
                          </p:cTn>
                        </p:par>
                        <p:par>
                          <p:cTn id="39" fill="hold">
                            <p:stCondLst>
                              <p:cond delay="2000"/>
                            </p:stCondLst>
                            <p:childTnLst>
                              <p:par>
                                <p:cTn id="40" presetID="22" presetClass="entr" presetSubtype="1" fill="hold" grpId="0" nodeType="afterEffect">
                                  <p:stCondLst>
                                    <p:cond delay="0"/>
                                  </p:stCondLst>
                                  <p:childTnLst>
                                    <p:set>
                                      <p:cBhvr>
                                        <p:cTn id="41" dur="1" fill="hold">
                                          <p:stCondLst>
                                            <p:cond delay="0"/>
                                          </p:stCondLst>
                                        </p:cTn>
                                        <p:tgtEl>
                                          <p:spTgt spid="238622"/>
                                        </p:tgtEl>
                                        <p:attrNameLst>
                                          <p:attrName>style.visibility</p:attrName>
                                        </p:attrNameLst>
                                      </p:cBhvr>
                                      <p:to>
                                        <p:strVal val="visible"/>
                                      </p:to>
                                    </p:set>
                                    <p:animEffect transition="in" filter="wipe(up)">
                                      <p:cBhvr>
                                        <p:cTn id="42" dur="500"/>
                                        <p:tgtEl>
                                          <p:spTgt spid="238622"/>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238618"/>
                                        </p:tgtEl>
                                        <p:attrNameLst>
                                          <p:attrName>style.visibility</p:attrName>
                                        </p:attrNameLst>
                                      </p:cBhvr>
                                      <p:to>
                                        <p:strVal val="visible"/>
                                      </p:to>
                                    </p:set>
                                    <p:animEffect transition="in" filter="wipe(up)">
                                      <p:cBhvr>
                                        <p:cTn id="45" dur="500"/>
                                        <p:tgtEl>
                                          <p:spTgt spid="238618"/>
                                        </p:tgtEl>
                                      </p:cBhvr>
                                    </p:animEffect>
                                  </p:childTnLst>
                                </p:cTn>
                              </p:par>
                            </p:childTnLst>
                          </p:cTn>
                        </p:par>
                        <p:par>
                          <p:cTn id="46" fill="hold">
                            <p:stCondLst>
                              <p:cond delay="2500"/>
                            </p:stCondLst>
                            <p:childTnLst>
                              <p:par>
                                <p:cTn id="47" presetID="22" presetClass="entr" presetSubtype="4" fill="hold" nodeType="after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down)">
                                      <p:cBhvr>
                                        <p:cTn id="49" dur="500"/>
                                        <p:tgtEl>
                                          <p:spTgt spid="4"/>
                                        </p:tgtEl>
                                      </p:cBhvr>
                                    </p:animEffect>
                                  </p:childTnLst>
                                </p:cTn>
                              </p:par>
                            </p:childTnLst>
                          </p:cTn>
                        </p:par>
                        <p:par>
                          <p:cTn id="50" fill="hold">
                            <p:stCondLst>
                              <p:cond delay="3000"/>
                            </p:stCondLst>
                            <p:childTnLst>
                              <p:par>
                                <p:cTn id="51" presetID="22" presetClass="entr" presetSubtype="1" fill="hold" grpId="0" nodeType="afterEffect">
                                  <p:stCondLst>
                                    <p:cond delay="0"/>
                                  </p:stCondLst>
                                  <p:childTnLst>
                                    <p:set>
                                      <p:cBhvr>
                                        <p:cTn id="52" dur="1" fill="hold">
                                          <p:stCondLst>
                                            <p:cond delay="0"/>
                                          </p:stCondLst>
                                        </p:cTn>
                                        <p:tgtEl>
                                          <p:spTgt spid="238621"/>
                                        </p:tgtEl>
                                        <p:attrNameLst>
                                          <p:attrName>style.visibility</p:attrName>
                                        </p:attrNameLst>
                                      </p:cBhvr>
                                      <p:to>
                                        <p:strVal val="visible"/>
                                      </p:to>
                                    </p:set>
                                    <p:animEffect transition="in" filter="wipe(up)">
                                      <p:cBhvr>
                                        <p:cTn id="53" dur="500"/>
                                        <p:tgtEl>
                                          <p:spTgt spid="238621"/>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238617"/>
                                        </p:tgtEl>
                                        <p:attrNameLst>
                                          <p:attrName>style.visibility</p:attrName>
                                        </p:attrNameLst>
                                      </p:cBhvr>
                                      <p:to>
                                        <p:strVal val="visible"/>
                                      </p:to>
                                    </p:set>
                                    <p:animEffect transition="in" filter="wipe(up)">
                                      <p:cBhvr>
                                        <p:cTn id="56" dur="500"/>
                                        <p:tgtEl>
                                          <p:spTgt spid="238617"/>
                                        </p:tgtEl>
                                      </p:cBhvr>
                                    </p:animEffect>
                                  </p:childTnLst>
                                </p:cTn>
                              </p:par>
                            </p:childTnLst>
                          </p:cTn>
                        </p:par>
                        <p:par>
                          <p:cTn id="57" fill="hold">
                            <p:stCondLst>
                              <p:cond delay="3500"/>
                            </p:stCondLst>
                            <p:childTnLst>
                              <p:par>
                                <p:cTn id="58" presetID="22" presetClass="entr" presetSubtype="2" fill="hold" nodeType="after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wipe(right)">
                                      <p:cBhvr>
                                        <p:cTn id="60" dur="500"/>
                                        <p:tgtEl>
                                          <p:spTgt spid="3"/>
                                        </p:tgtEl>
                                      </p:cBhvr>
                                    </p:animEffect>
                                  </p:childTnLst>
                                </p:cTn>
                              </p:par>
                            </p:childTnLst>
                          </p:cTn>
                        </p:par>
                        <p:par>
                          <p:cTn id="61" fill="hold">
                            <p:stCondLst>
                              <p:cond delay="4000"/>
                            </p:stCondLst>
                            <p:childTnLst>
                              <p:par>
                                <p:cTn id="62" presetID="22" presetClass="entr" presetSubtype="1" fill="hold" nodeType="afterEffect">
                                  <p:stCondLst>
                                    <p:cond delay="0"/>
                                  </p:stCondLst>
                                  <p:childTnLst>
                                    <p:set>
                                      <p:cBhvr>
                                        <p:cTn id="63" dur="1" fill="hold">
                                          <p:stCondLst>
                                            <p:cond delay="0"/>
                                          </p:stCondLst>
                                        </p:cTn>
                                        <p:tgtEl>
                                          <p:spTgt spid="238594"/>
                                        </p:tgtEl>
                                        <p:attrNameLst>
                                          <p:attrName>style.visibility</p:attrName>
                                        </p:attrNameLst>
                                      </p:cBhvr>
                                      <p:to>
                                        <p:strVal val="visible"/>
                                      </p:to>
                                    </p:set>
                                    <p:animEffect transition="in" filter="wipe(up)">
                                      <p:cBhvr>
                                        <p:cTn id="64" dur="500"/>
                                        <p:tgtEl>
                                          <p:spTgt spid="238594"/>
                                        </p:tgtEl>
                                      </p:cBhvr>
                                    </p:animEffect>
                                  </p:childTnLst>
                                </p:cTn>
                              </p:par>
                              <p:par>
                                <p:cTn id="65" presetID="22" presetClass="entr" presetSubtype="1" fill="hold" nodeType="withEffect">
                                  <p:stCondLst>
                                    <p:cond delay="0"/>
                                  </p:stCondLst>
                                  <p:childTnLst>
                                    <p:set>
                                      <p:cBhvr>
                                        <p:cTn id="66" dur="1" fill="hold">
                                          <p:stCondLst>
                                            <p:cond delay="0"/>
                                          </p:stCondLst>
                                        </p:cTn>
                                        <p:tgtEl>
                                          <p:spTgt spid="238595"/>
                                        </p:tgtEl>
                                        <p:attrNameLst>
                                          <p:attrName>style.visibility</p:attrName>
                                        </p:attrNameLst>
                                      </p:cBhvr>
                                      <p:to>
                                        <p:strVal val="visible"/>
                                      </p:to>
                                    </p:set>
                                    <p:animEffect transition="in" filter="wipe(up)">
                                      <p:cBhvr>
                                        <p:cTn id="67" dur="500"/>
                                        <p:tgtEl>
                                          <p:spTgt spid="238595"/>
                                        </p:tgtEl>
                                      </p:cBhvr>
                                    </p:animEffect>
                                  </p:childTnLst>
                                </p:cTn>
                              </p:par>
                              <p:par>
                                <p:cTn id="68" presetID="22" presetClass="entr" presetSubtype="1" fill="hold" nodeType="withEffect">
                                  <p:stCondLst>
                                    <p:cond delay="0"/>
                                  </p:stCondLst>
                                  <p:childTnLst>
                                    <p:set>
                                      <p:cBhvr>
                                        <p:cTn id="69" dur="1" fill="hold">
                                          <p:stCondLst>
                                            <p:cond delay="0"/>
                                          </p:stCondLst>
                                        </p:cTn>
                                        <p:tgtEl>
                                          <p:spTgt spid="238596"/>
                                        </p:tgtEl>
                                        <p:attrNameLst>
                                          <p:attrName>style.visibility</p:attrName>
                                        </p:attrNameLst>
                                      </p:cBhvr>
                                      <p:to>
                                        <p:strVal val="visible"/>
                                      </p:to>
                                    </p:set>
                                    <p:animEffect transition="in" filter="wipe(up)">
                                      <p:cBhvr>
                                        <p:cTn id="70" dur="500"/>
                                        <p:tgtEl>
                                          <p:spTgt spid="238596"/>
                                        </p:tgtEl>
                                      </p:cBhvr>
                                    </p:animEffect>
                                  </p:childTnLst>
                                </p:cTn>
                              </p:par>
                              <p:par>
                                <p:cTn id="71" presetID="22" presetClass="entr" presetSubtype="1" fill="hold" nodeType="withEffect">
                                  <p:stCondLst>
                                    <p:cond delay="0"/>
                                  </p:stCondLst>
                                  <p:childTnLst>
                                    <p:set>
                                      <p:cBhvr>
                                        <p:cTn id="72" dur="1" fill="hold">
                                          <p:stCondLst>
                                            <p:cond delay="0"/>
                                          </p:stCondLst>
                                        </p:cTn>
                                        <p:tgtEl>
                                          <p:spTgt spid="238597"/>
                                        </p:tgtEl>
                                        <p:attrNameLst>
                                          <p:attrName>style.visibility</p:attrName>
                                        </p:attrNameLst>
                                      </p:cBhvr>
                                      <p:to>
                                        <p:strVal val="visible"/>
                                      </p:to>
                                    </p:set>
                                    <p:animEffect transition="in" filter="wipe(up)">
                                      <p:cBhvr>
                                        <p:cTn id="73" dur="500"/>
                                        <p:tgtEl>
                                          <p:spTgt spid="238597"/>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238624"/>
                                        </p:tgtEl>
                                        <p:attrNameLst>
                                          <p:attrName>style.visibility</p:attrName>
                                        </p:attrNameLst>
                                      </p:cBhvr>
                                      <p:to>
                                        <p:strVal val="visible"/>
                                      </p:to>
                                    </p:set>
                                    <p:animEffect transition="in" filter="wipe(up)">
                                      <p:cBhvr>
                                        <p:cTn id="76" dur="500"/>
                                        <p:tgtEl>
                                          <p:spTgt spid="238624"/>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238625"/>
                                        </p:tgtEl>
                                        <p:attrNameLst>
                                          <p:attrName>style.visibility</p:attrName>
                                        </p:attrNameLst>
                                      </p:cBhvr>
                                      <p:to>
                                        <p:strVal val="visible"/>
                                      </p:to>
                                    </p:set>
                                    <p:animEffect transition="in" filter="wipe(up)">
                                      <p:cBhvr>
                                        <p:cTn id="79" dur="500"/>
                                        <p:tgtEl>
                                          <p:spTgt spid="238625"/>
                                        </p:tgtEl>
                                      </p:cBhvr>
                                    </p:animEffect>
                                  </p:childTnLst>
                                </p:cTn>
                              </p:par>
                              <p:par>
                                <p:cTn id="80" presetID="22" presetClass="entr" presetSubtype="1" fill="hold" grpId="0" nodeType="withEffect">
                                  <p:stCondLst>
                                    <p:cond delay="0"/>
                                  </p:stCondLst>
                                  <p:childTnLst>
                                    <p:set>
                                      <p:cBhvr>
                                        <p:cTn id="81" dur="1" fill="hold">
                                          <p:stCondLst>
                                            <p:cond delay="0"/>
                                          </p:stCondLst>
                                        </p:cTn>
                                        <p:tgtEl>
                                          <p:spTgt spid="238626"/>
                                        </p:tgtEl>
                                        <p:attrNameLst>
                                          <p:attrName>style.visibility</p:attrName>
                                        </p:attrNameLst>
                                      </p:cBhvr>
                                      <p:to>
                                        <p:strVal val="visible"/>
                                      </p:to>
                                    </p:set>
                                    <p:animEffect transition="in" filter="wipe(up)">
                                      <p:cBhvr>
                                        <p:cTn id="82" dur="500"/>
                                        <p:tgtEl>
                                          <p:spTgt spid="238626"/>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238627"/>
                                        </p:tgtEl>
                                        <p:attrNameLst>
                                          <p:attrName>style.visibility</p:attrName>
                                        </p:attrNameLst>
                                      </p:cBhvr>
                                      <p:to>
                                        <p:strVal val="visible"/>
                                      </p:to>
                                    </p:set>
                                    <p:animEffect transition="in" filter="wipe(up)">
                                      <p:cBhvr>
                                        <p:cTn id="85" dur="500"/>
                                        <p:tgtEl>
                                          <p:spTgt spid="238627"/>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238628"/>
                                        </p:tgtEl>
                                        <p:attrNameLst>
                                          <p:attrName>style.visibility</p:attrName>
                                        </p:attrNameLst>
                                      </p:cBhvr>
                                      <p:to>
                                        <p:strVal val="visible"/>
                                      </p:to>
                                    </p:set>
                                    <p:animEffect transition="in" filter="wipe(up)">
                                      <p:cBhvr>
                                        <p:cTn id="88" dur="500"/>
                                        <p:tgtEl>
                                          <p:spTgt spid="23862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38631"/>
                                        </p:tgtEl>
                                        <p:attrNameLst>
                                          <p:attrName>style.visibility</p:attrName>
                                        </p:attrNameLst>
                                      </p:cBhvr>
                                      <p:to>
                                        <p:strVal val="visible"/>
                                      </p:to>
                                    </p:set>
                                    <p:animEffect transition="in" filter="wipe(left)">
                                      <p:cBhvr>
                                        <p:cTn id="93" dur="500"/>
                                        <p:tgtEl>
                                          <p:spTgt spid="238631"/>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238632"/>
                                        </p:tgtEl>
                                        <p:attrNameLst>
                                          <p:attrName>style.visibility</p:attrName>
                                        </p:attrNameLst>
                                      </p:cBhvr>
                                      <p:to>
                                        <p:strVal val="visible"/>
                                      </p:to>
                                    </p:set>
                                    <p:animEffect transition="in" filter="wipe(left)">
                                      <p:cBhvr>
                                        <p:cTn id="98" dur="500"/>
                                        <p:tgtEl>
                                          <p:spTgt spid="238632"/>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38633"/>
                                        </p:tgtEl>
                                        <p:attrNameLst>
                                          <p:attrName>style.visibility</p:attrName>
                                        </p:attrNameLst>
                                      </p:cBhvr>
                                      <p:to>
                                        <p:strVal val="visible"/>
                                      </p:to>
                                    </p:set>
                                    <p:animEffect transition="in" filter="wipe(left)">
                                      <p:cBhvr>
                                        <p:cTn id="103" dur="500"/>
                                        <p:tgtEl>
                                          <p:spTgt spid="238633"/>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238634"/>
                                        </p:tgtEl>
                                        <p:attrNameLst>
                                          <p:attrName>style.visibility</p:attrName>
                                        </p:attrNameLst>
                                      </p:cBhvr>
                                      <p:to>
                                        <p:strVal val="visible"/>
                                      </p:to>
                                    </p:set>
                                    <p:animEffect transition="in" filter="wipe(left)">
                                      <p:cBhvr>
                                        <p:cTn id="108" dur="500"/>
                                        <p:tgtEl>
                                          <p:spTgt spid="238634"/>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238635"/>
                                        </p:tgtEl>
                                        <p:attrNameLst>
                                          <p:attrName>style.visibility</p:attrName>
                                        </p:attrNameLst>
                                      </p:cBhvr>
                                      <p:to>
                                        <p:strVal val="visible"/>
                                      </p:to>
                                    </p:set>
                                    <p:animEffect transition="in" filter="wipe(left)">
                                      <p:cBhvr>
                                        <p:cTn id="113" dur="500"/>
                                        <p:tgtEl>
                                          <p:spTgt spid="238635"/>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38636"/>
                                        </p:tgtEl>
                                        <p:attrNameLst>
                                          <p:attrName>style.visibility</p:attrName>
                                        </p:attrNameLst>
                                      </p:cBhvr>
                                      <p:to>
                                        <p:strVal val="visible"/>
                                      </p:to>
                                    </p:set>
                                    <p:animEffect transition="in" filter="wipe(left)">
                                      <p:cBhvr>
                                        <p:cTn id="118" dur="500"/>
                                        <p:tgtEl>
                                          <p:spTgt spid="238636"/>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nodeType="clickEffect">
                                  <p:stCondLst>
                                    <p:cond delay="0"/>
                                  </p:stCondLst>
                                  <p:childTnLst>
                                    <p:set>
                                      <p:cBhvr>
                                        <p:cTn id="122" dur="1" fill="hold">
                                          <p:stCondLst>
                                            <p:cond delay="0"/>
                                          </p:stCondLst>
                                        </p:cTn>
                                        <p:tgtEl>
                                          <p:spTgt spid="238637"/>
                                        </p:tgtEl>
                                        <p:attrNameLst>
                                          <p:attrName>style.visibility</p:attrName>
                                        </p:attrNameLst>
                                      </p:cBhvr>
                                      <p:to>
                                        <p:strVal val="visible"/>
                                      </p:to>
                                    </p:set>
                                    <p:animEffect transition="in" filter="wipe(left)">
                                      <p:cBhvr>
                                        <p:cTn id="123" dur="500"/>
                                        <p:tgtEl>
                                          <p:spTgt spid="238637"/>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238638"/>
                                        </p:tgtEl>
                                        <p:attrNameLst>
                                          <p:attrName>style.visibility</p:attrName>
                                        </p:attrNameLst>
                                      </p:cBhvr>
                                      <p:to>
                                        <p:strVal val="visible"/>
                                      </p:to>
                                    </p:set>
                                    <p:animEffect transition="in" filter="wipe(left)">
                                      <p:cBhvr>
                                        <p:cTn id="128" dur="500"/>
                                        <p:tgtEl>
                                          <p:spTgt spid="238638"/>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238639"/>
                                        </p:tgtEl>
                                        <p:attrNameLst>
                                          <p:attrName>style.visibility</p:attrName>
                                        </p:attrNameLst>
                                      </p:cBhvr>
                                      <p:to>
                                        <p:strVal val="visible"/>
                                      </p:to>
                                    </p:set>
                                    <p:animEffect transition="in" filter="wipe(left)">
                                      <p:cBhvr>
                                        <p:cTn id="133" dur="500"/>
                                        <p:tgtEl>
                                          <p:spTgt spid="238639"/>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238640"/>
                                        </p:tgtEl>
                                        <p:attrNameLst>
                                          <p:attrName>style.visibility</p:attrName>
                                        </p:attrNameLst>
                                      </p:cBhvr>
                                      <p:to>
                                        <p:strVal val="visible"/>
                                      </p:to>
                                    </p:set>
                                    <p:animEffect transition="in" filter="wipe(left)">
                                      <p:cBhvr>
                                        <p:cTn id="138" dur="500"/>
                                        <p:tgtEl>
                                          <p:spTgt spid="238640"/>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238643"/>
                                        </p:tgtEl>
                                        <p:attrNameLst>
                                          <p:attrName>style.visibility</p:attrName>
                                        </p:attrNameLst>
                                      </p:cBhvr>
                                      <p:to>
                                        <p:strVal val="visible"/>
                                      </p:to>
                                    </p:set>
                                    <p:animEffect transition="in" filter="wipe(left)">
                                      <p:cBhvr>
                                        <p:cTn id="143" dur="500"/>
                                        <p:tgtEl>
                                          <p:spTgt spid="238643"/>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nodeType="clickEffect">
                                  <p:stCondLst>
                                    <p:cond delay="0"/>
                                  </p:stCondLst>
                                  <p:childTnLst>
                                    <p:set>
                                      <p:cBhvr>
                                        <p:cTn id="147" dur="1" fill="hold">
                                          <p:stCondLst>
                                            <p:cond delay="0"/>
                                          </p:stCondLst>
                                        </p:cTn>
                                        <p:tgtEl>
                                          <p:spTgt spid="238641"/>
                                        </p:tgtEl>
                                        <p:attrNameLst>
                                          <p:attrName>style.visibility</p:attrName>
                                        </p:attrNameLst>
                                      </p:cBhvr>
                                      <p:to>
                                        <p:strVal val="visible"/>
                                      </p:to>
                                    </p:set>
                                    <p:animEffect transition="in" filter="wipe(left)">
                                      <p:cBhvr>
                                        <p:cTn id="148" dur="500"/>
                                        <p:tgtEl>
                                          <p:spTgt spid="238641"/>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238642"/>
                                        </p:tgtEl>
                                        <p:attrNameLst>
                                          <p:attrName>style.visibility</p:attrName>
                                        </p:attrNameLst>
                                      </p:cBhvr>
                                      <p:to>
                                        <p:strVal val="visible"/>
                                      </p:to>
                                    </p:set>
                                    <p:animEffect transition="in" filter="wipe(left)">
                                      <p:cBhvr>
                                        <p:cTn id="153" dur="500"/>
                                        <p:tgtEl>
                                          <p:spTgt spid="238642"/>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238644"/>
                                        </p:tgtEl>
                                        <p:attrNameLst>
                                          <p:attrName>style.visibility</p:attrName>
                                        </p:attrNameLst>
                                      </p:cBhvr>
                                      <p:to>
                                        <p:strVal val="visible"/>
                                      </p:to>
                                    </p:set>
                                    <p:animEffect transition="in" filter="wipe(left)">
                                      <p:cBhvr>
                                        <p:cTn id="158" dur="500"/>
                                        <p:tgtEl>
                                          <p:spTgt spid="238644"/>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nodeType="clickEffect">
                                  <p:stCondLst>
                                    <p:cond delay="0"/>
                                  </p:stCondLst>
                                  <p:childTnLst>
                                    <p:set>
                                      <p:cBhvr>
                                        <p:cTn id="162" dur="1" fill="hold">
                                          <p:stCondLst>
                                            <p:cond delay="0"/>
                                          </p:stCondLst>
                                        </p:cTn>
                                        <p:tgtEl>
                                          <p:spTgt spid="238645"/>
                                        </p:tgtEl>
                                        <p:attrNameLst>
                                          <p:attrName>style.visibility</p:attrName>
                                        </p:attrNameLst>
                                      </p:cBhvr>
                                      <p:to>
                                        <p:strVal val="visible"/>
                                      </p:to>
                                    </p:set>
                                    <p:animEffect transition="in" filter="wipe(left)">
                                      <p:cBhvr>
                                        <p:cTn id="163" dur="500"/>
                                        <p:tgtEl>
                                          <p:spTgt spid="238645"/>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nodeType="clickEffect">
                                  <p:stCondLst>
                                    <p:cond delay="0"/>
                                  </p:stCondLst>
                                  <p:childTnLst>
                                    <p:set>
                                      <p:cBhvr>
                                        <p:cTn id="167" dur="1" fill="hold">
                                          <p:stCondLst>
                                            <p:cond delay="0"/>
                                          </p:stCondLst>
                                        </p:cTn>
                                        <p:tgtEl>
                                          <p:spTgt spid="238646"/>
                                        </p:tgtEl>
                                        <p:attrNameLst>
                                          <p:attrName>style.visibility</p:attrName>
                                        </p:attrNameLst>
                                      </p:cBhvr>
                                      <p:to>
                                        <p:strVal val="visible"/>
                                      </p:to>
                                    </p:set>
                                    <p:animEffect transition="in" filter="wipe(left)">
                                      <p:cBhvr>
                                        <p:cTn id="168" dur="500"/>
                                        <p:tgtEl>
                                          <p:spTgt spid="238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616" grpId="0" animBg="1"/>
      <p:bldP spid="238617" grpId="0" animBg="1"/>
      <p:bldP spid="238618" grpId="0" animBg="1"/>
      <p:bldP spid="238619" grpId="0" animBg="1"/>
      <p:bldP spid="238620" grpId="0"/>
      <p:bldP spid="238621" grpId="0"/>
      <p:bldP spid="238622" grpId="0"/>
      <p:bldP spid="238623" grpId="0"/>
      <p:bldP spid="238624" grpId="0"/>
      <p:bldP spid="238625" grpId="0"/>
      <p:bldP spid="238626" grpId="0"/>
      <p:bldP spid="238627" grpId="0"/>
      <p:bldP spid="238628" grpId="0"/>
      <p:bldP spid="238629" grpId="0"/>
      <p:bldP spid="238630" grpId="0" autoUpdateAnimBg="0"/>
      <p:bldP spid="238631" grpId="0"/>
      <p:bldP spid="238633" grpId="0"/>
      <p:bldP spid="238636" grpId="0"/>
      <p:bldP spid="238638" grpId="0"/>
      <p:bldP spid="23864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Text Box 2"/>
          <p:cNvSpPr txBox="1">
            <a:spLocks noChangeArrowheads="1"/>
          </p:cNvSpPr>
          <p:nvPr/>
        </p:nvSpPr>
        <p:spPr bwMode="auto">
          <a:xfrm>
            <a:off x="250825" y="503238"/>
            <a:ext cx="6235700" cy="512762"/>
          </a:xfrm>
          <a:prstGeom prst="rect">
            <a:avLst/>
          </a:prstGeom>
          <a:noFill/>
          <a:ln w="9525">
            <a:noFill/>
            <a:miter lim="800000"/>
          </a:ln>
        </p:spPr>
        <p:txBody>
          <a:bodyPr>
            <a:spAutoFit/>
          </a:bodyPr>
          <a:lstStyle/>
          <a:p>
            <a:pPr>
              <a:lnSpc>
                <a:spcPct val="115000"/>
              </a:lnSpc>
              <a:defRPr/>
            </a:pPr>
            <a:r>
              <a:rPr lang="zh-CN" altLang="en-US" b="1">
                <a:ea typeface="+mn-ea"/>
                <a:cs typeface="Times New Roman" panose="02020603050405020304" pitchFamily="18" charset="0"/>
              </a:rPr>
              <a:t>由于 </a:t>
            </a:r>
            <a:r>
              <a:rPr lang="en-US" altLang="zh-CN" b="1" i="1">
                <a:solidFill>
                  <a:srgbClr val="FF6600"/>
                </a:solidFill>
                <a:ea typeface="+mn-ea"/>
                <a:cs typeface="Times New Roman" panose="02020603050405020304" pitchFamily="18" charset="0"/>
              </a:rPr>
              <a:t>ad</a:t>
            </a:r>
            <a:r>
              <a:rPr lang="en-US" altLang="zh-CN" b="1">
                <a:ea typeface="+mn-ea"/>
                <a:cs typeface="Times New Roman" panose="02020603050405020304" pitchFamily="18" charset="0"/>
              </a:rPr>
              <a:t> </a:t>
            </a:r>
            <a:r>
              <a:rPr lang="zh-CN" altLang="en-US" b="1">
                <a:ea typeface="+mn-ea"/>
                <a:cs typeface="Times New Roman" panose="02020603050405020304" pitchFamily="18" charset="0"/>
              </a:rPr>
              <a:t>、 </a:t>
            </a:r>
            <a:r>
              <a:rPr lang="en-US" altLang="zh-CN" b="1" i="1">
                <a:solidFill>
                  <a:srgbClr val="FF6600"/>
                </a:solidFill>
                <a:ea typeface="+mn-ea"/>
                <a:cs typeface="Times New Roman" panose="02020603050405020304" pitchFamily="18" charset="0"/>
              </a:rPr>
              <a:t>cb </a:t>
            </a:r>
            <a:r>
              <a:rPr lang="zh-CN" altLang="en-US" b="1">
                <a:ea typeface="+mn-ea"/>
                <a:cs typeface="Times New Roman" panose="02020603050405020304" pitchFamily="18" charset="0"/>
              </a:rPr>
              <a:t>均为绝热过程，由绝热方程：</a:t>
            </a:r>
            <a:endParaRPr lang="zh-CN" altLang="en-US" b="1">
              <a:ea typeface="+mn-ea"/>
              <a:cs typeface="Times New Roman" panose="02020603050405020304" pitchFamily="18" charset="0"/>
            </a:endParaRPr>
          </a:p>
        </p:txBody>
      </p:sp>
      <p:graphicFrame>
        <p:nvGraphicFramePr>
          <p:cNvPr id="239619" name="Object 3"/>
          <p:cNvGraphicFramePr>
            <a:graphicFrameLocks noChangeAspect="1"/>
          </p:cNvGraphicFramePr>
          <p:nvPr/>
        </p:nvGraphicFramePr>
        <p:xfrm>
          <a:off x="881063" y="1989138"/>
          <a:ext cx="1814512" cy="436562"/>
        </p:xfrm>
        <a:graphic>
          <a:graphicData uri="http://schemas.openxmlformats.org/presentationml/2006/ole">
            <mc:AlternateContent xmlns:mc="http://schemas.openxmlformats.org/markup-compatibility/2006">
              <mc:Choice xmlns:v="urn:schemas-microsoft-com:vml" Requires="v">
                <p:oleObj spid="_x0000_s60417" name="公式" r:id="rId1" imgW="24079200" imgH="5791200" progId="Equation.3">
                  <p:embed/>
                </p:oleObj>
              </mc:Choice>
              <mc:Fallback>
                <p:oleObj name="公式" r:id="rId1" imgW="24079200" imgH="5791200" progId="Equation.3">
                  <p:embed/>
                  <p:pic>
                    <p:nvPicPr>
                      <p:cNvPr id="0" name="Object 3"/>
                      <p:cNvPicPr>
                        <a:picLocks noChangeAspect="1"/>
                      </p:cNvPicPr>
                      <p:nvPr/>
                    </p:nvPicPr>
                    <p:blipFill>
                      <a:blip r:embed="rId2"/>
                      <a:stretch>
                        <a:fillRect/>
                      </a:stretch>
                    </p:blipFill>
                    <p:spPr>
                      <a:xfrm>
                        <a:off x="881063" y="1989138"/>
                        <a:ext cx="1814512" cy="436562"/>
                      </a:xfrm>
                      <a:prstGeom prst="rect">
                        <a:avLst/>
                      </a:prstGeom>
                      <a:noFill/>
                      <a:ln w="9525">
                        <a:noFill/>
                      </a:ln>
                    </p:spPr>
                  </p:pic>
                </p:oleObj>
              </mc:Fallback>
            </mc:AlternateContent>
          </a:graphicData>
        </a:graphic>
      </p:graphicFrame>
      <p:graphicFrame>
        <p:nvGraphicFramePr>
          <p:cNvPr id="239620" name="Object 4"/>
          <p:cNvGraphicFramePr>
            <a:graphicFrameLocks noChangeAspect="1"/>
          </p:cNvGraphicFramePr>
          <p:nvPr/>
        </p:nvGraphicFramePr>
        <p:xfrm>
          <a:off x="927100" y="1238250"/>
          <a:ext cx="1835150" cy="434975"/>
        </p:xfrm>
        <a:graphic>
          <a:graphicData uri="http://schemas.openxmlformats.org/presentationml/2006/ole">
            <mc:AlternateContent xmlns:mc="http://schemas.openxmlformats.org/markup-compatibility/2006">
              <mc:Choice xmlns:v="urn:schemas-microsoft-com:vml" Requires="v">
                <p:oleObj spid="_x0000_s60419" name="公式" r:id="rId3" imgW="24384000" imgH="5791200" progId="Equation.3">
                  <p:embed/>
                </p:oleObj>
              </mc:Choice>
              <mc:Fallback>
                <p:oleObj name="公式" r:id="rId3" imgW="24384000" imgH="5791200" progId="Equation.3">
                  <p:embed/>
                  <p:pic>
                    <p:nvPicPr>
                      <p:cNvPr id="0" name="Object 4"/>
                      <p:cNvPicPr>
                        <a:picLocks noChangeAspect="1"/>
                      </p:cNvPicPr>
                      <p:nvPr/>
                    </p:nvPicPr>
                    <p:blipFill>
                      <a:blip r:embed="rId4"/>
                      <a:stretch>
                        <a:fillRect/>
                      </a:stretch>
                    </p:blipFill>
                    <p:spPr>
                      <a:xfrm>
                        <a:off x="927100" y="1238250"/>
                        <a:ext cx="1835150" cy="434975"/>
                      </a:xfrm>
                      <a:prstGeom prst="rect">
                        <a:avLst/>
                      </a:prstGeom>
                      <a:noFill/>
                      <a:ln w="9525">
                        <a:noFill/>
                      </a:ln>
                    </p:spPr>
                  </p:pic>
                </p:oleObj>
              </mc:Fallback>
            </mc:AlternateContent>
          </a:graphicData>
        </a:graphic>
      </p:graphicFrame>
      <p:sp>
        <p:nvSpPr>
          <p:cNvPr id="239621" name="Text Box 5"/>
          <p:cNvSpPr txBox="1">
            <a:spLocks noChangeArrowheads="1"/>
          </p:cNvSpPr>
          <p:nvPr/>
        </p:nvSpPr>
        <p:spPr bwMode="auto">
          <a:xfrm>
            <a:off x="2952750" y="1898650"/>
            <a:ext cx="2879725" cy="517525"/>
          </a:xfrm>
          <a:prstGeom prst="rect">
            <a:avLst/>
          </a:prstGeom>
          <a:noFill/>
          <a:ln w="9525">
            <a:noFill/>
            <a:miter lim="800000"/>
          </a:ln>
        </p:spPr>
        <p:txBody>
          <a:bodyPr>
            <a:spAutoFit/>
          </a:bodyPr>
          <a:lstStyle/>
          <a:p>
            <a:pPr>
              <a:lnSpc>
                <a:spcPct val="115000"/>
              </a:lnSpc>
              <a:defRPr/>
            </a:pPr>
            <a:r>
              <a:rPr lang="en-US" altLang="zh-CN" b="1">
                <a:solidFill>
                  <a:srgbClr val="FF6600"/>
                </a:solidFill>
                <a:ea typeface="+mn-ea"/>
                <a:cs typeface="Times New Roman" panose="02020603050405020304" pitchFamily="18" charset="0"/>
              </a:rPr>
              <a:t>( </a:t>
            </a:r>
            <a:r>
              <a:rPr lang="en-US" altLang="zh-CN" b="1" i="1">
                <a:solidFill>
                  <a:srgbClr val="FF6600"/>
                </a:solidFill>
                <a:ea typeface="+mn-ea"/>
                <a:cs typeface="Times New Roman" panose="02020603050405020304" pitchFamily="18" charset="0"/>
              </a:rPr>
              <a:t>T</a:t>
            </a:r>
            <a:r>
              <a:rPr lang="en-US" altLang="zh-CN" b="1" i="1" baseline="-25000">
                <a:solidFill>
                  <a:srgbClr val="FF6600"/>
                </a:solidFill>
                <a:ea typeface="+mn-ea"/>
                <a:cs typeface="Times New Roman" panose="02020603050405020304" pitchFamily="18" charset="0"/>
              </a:rPr>
              <a:t>b </a:t>
            </a:r>
            <a:r>
              <a:rPr lang="en-US" altLang="zh-CN" b="1">
                <a:solidFill>
                  <a:srgbClr val="FF6600"/>
                </a:solidFill>
                <a:ea typeface="+mn-ea"/>
                <a:cs typeface="Times New Roman" panose="02020603050405020304" pitchFamily="18" charset="0"/>
              </a:rPr>
              <a:t>= </a:t>
            </a:r>
            <a:r>
              <a:rPr lang="en-US" altLang="zh-CN" b="1" i="1">
                <a:solidFill>
                  <a:srgbClr val="FF6600"/>
                </a:solidFill>
                <a:ea typeface="+mn-ea"/>
                <a:cs typeface="Times New Roman" panose="02020603050405020304" pitchFamily="18" charset="0"/>
              </a:rPr>
              <a:t>T</a:t>
            </a:r>
            <a:r>
              <a:rPr lang="en-US" altLang="zh-CN" b="1" baseline="-25000">
                <a:solidFill>
                  <a:srgbClr val="FF6600"/>
                </a:solidFill>
                <a:ea typeface="+mn-ea"/>
                <a:cs typeface="Times New Roman" panose="02020603050405020304" pitchFamily="18" charset="0"/>
              </a:rPr>
              <a:t>1</a:t>
            </a:r>
            <a:r>
              <a:rPr lang="zh-CN" altLang="en-US" b="1">
                <a:solidFill>
                  <a:srgbClr val="FF6600"/>
                </a:solidFill>
                <a:ea typeface="+mn-ea"/>
                <a:cs typeface="Times New Roman" panose="02020603050405020304" pitchFamily="18" charset="0"/>
              </a:rPr>
              <a:t>， </a:t>
            </a:r>
            <a:r>
              <a:rPr lang="en-US" altLang="zh-CN" b="1" i="1">
                <a:solidFill>
                  <a:srgbClr val="FF6600"/>
                </a:solidFill>
                <a:ea typeface="+mn-ea"/>
                <a:cs typeface="Times New Roman" panose="02020603050405020304" pitchFamily="18" charset="0"/>
              </a:rPr>
              <a:t>T</a:t>
            </a:r>
            <a:r>
              <a:rPr lang="en-US" altLang="zh-CN" b="1" i="1" baseline="-25000">
                <a:solidFill>
                  <a:srgbClr val="FF6600"/>
                </a:solidFill>
                <a:ea typeface="+mn-ea"/>
                <a:cs typeface="Times New Roman" panose="02020603050405020304" pitchFamily="18" charset="0"/>
              </a:rPr>
              <a:t>c </a:t>
            </a:r>
            <a:r>
              <a:rPr lang="en-US" altLang="zh-CN" b="1">
                <a:solidFill>
                  <a:srgbClr val="FF6600"/>
                </a:solidFill>
                <a:ea typeface="+mn-ea"/>
                <a:cs typeface="Times New Roman" panose="02020603050405020304" pitchFamily="18" charset="0"/>
              </a:rPr>
              <a:t>= </a:t>
            </a:r>
            <a:r>
              <a:rPr lang="en-US" altLang="zh-CN" b="1" i="1">
                <a:solidFill>
                  <a:srgbClr val="FF6600"/>
                </a:solidFill>
                <a:ea typeface="+mn-ea"/>
                <a:cs typeface="Times New Roman" panose="02020603050405020304" pitchFamily="18" charset="0"/>
              </a:rPr>
              <a:t>T</a:t>
            </a:r>
            <a:r>
              <a:rPr lang="en-US" altLang="zh-CN" b="1" baseline="-25000">
                <a:solidFill>
                  <a:srgbClr val="FF6600"/>
                </a:solidFill>
                <a:ea typeface="+mn-ea"/>
                <a:cs typeface="Times New Roman" panose="02020603050405020304" pitchFamily="18" charset="0"/>
              </a:rPr>
              <a:t>2 </a:t>
            </a:r>
            <a:r>
              <a:rPr lang="en-US" altLang="zh-CN" b="1">
                <a:solidFill>
                  <a:srgbClr val="FF6600"/>
                </a:solidFill>
                <a:ea typeface="+mn-ea"/>
                <a:cs typeface="Times New Roman" panose="02020603050405020304" pitchFamily="18" charset="0"/>
              </a:rPr>
              <a:t>)</a:t>
            </a:r>
            <a:endParaRPr lang="en-US" altLang="zh-CN" b="1">
              <a:solidFill>
                <a:srgbClr val="FF6600"/>
              </a:solidFill>
              <a:ea typeface="+mn-ea"/>
              <a:cs typeface="Times New Roman" panose="02020603050405020304" pitchFamily="18" charset="0"/>
            </a:endParaRPr>
          </a:p>
        </p:txBody>
      </p:sp>
      <p:sp>
        <p:nvSpPr>
          <p:cNvPr id="239622" name="AutoShape 6"/>
          <p:cNvSpPr/>
          <p:nvPr/>
        </p:nvSpPr>
        <p:spPr bwMode="auto">
          <a:xfrm>
            <a:off x="565150" y="1330325"/>
            <a:ext cx="144463" cy="935038"/>
          </a:xfrm>
          <a:prstGeom prst="leftBrace">
            <a:avLst>
              <a:gd name="adj1" fmla="val 53938"/>
              <a:gd name="adj2" fmla="val 50000"/>
            </a:avLst>
          </a:prstGeom>
          <a:noFill/>
          <a:ln w="25400">
            <a:solidFill>
              <a:schemeClr val="tx1"/>
            </a:solidFill>
            <a:round/>
          </a:ln>
        </p:spPr>
        <p:txBody>
          <a:bodyPr wrap="none" anchor="ctr"/>
          <a:lstStyle/>
          <a:p>
            <a:pPr algn="ctr">
              <a:defRPr/>
            </a:pPr>
            <a:endParaRPr lang="zh-CN" altLang="en-US">
              <a:ea typeface="+mn-ea"/>
              <a:cs typeface="Times New Roman" panose="02020603050405020304" pitchFamily="18" charset="0"/>
            </a:endParaRPr>
          </a:p>
        </p:txBody>
      </p:sp>
      <p:sp>
        <p:nvSpPr>
          <p:cNvPr id="239623" name="Text Box 7"/>
          <p:cNvSpPr txBox="1">
            <a:spLocks noChangeArrowheads="1"/>
          </p:cNvSpPr>
          <p:nvPr/>
        </p:nvSpPr>
        <p:spPr bwMode="auto">
          <a:xfrm>
            <a:off x="2952750" y="1179513"/>
            <a:ext cx="2617788" cy="517525"/>
          </a:xfrm>
          <a:prstGeom prst="rect">
            <a:avLst/>
          </a:prstGeom>
          <a:noFill/>
          <a:ln w="9525">
            <a:noFill/>
            <a:miter lim="800000"/>
          </a:ln>
        </p:spPr>
        <p:txBody>
          <a:bodyPr wrap="none">
            <a:spAutoFit/>
          </a:bodyPr>
          <a:lstStyle/>
          <a:p>
            <a:pPr>
              <a:lnSpc>
                <a:spcPct val="115000"/>
              </a:lnSpc>
              <a:defRPr/>
            </a:pPr>
            <a:r>
              <a:rPr lang="en-US" altLang="zh-CN" b="1">
                <a:solidFill>
                  <a:srgbClr val="FF6600"/>
                </a:solidFill>
                <a:ea typeface="+mn-ea"/>
                <a:cs typeface="Times New Roman" panose="02020603050405020304" pitchFamily="18" charset="0"/>
              </a:rPr>
              <a:t>( </a:t>
            </a:r>
            <a:r>
              <a:rPr lang="en-US" altLang="zh-CN" b="1" i="1">
                <a:solidFill>
                  <a:srgbClr val="FF6600"/>
                </a:solidFill>
                <a:ea typeface="+mn-ea"/>
                <a:cs typeface="Times New Roman" panose="02020603050405020304" pitchFamily="18" charset="0"/>
              </a:rPr>
              <a:t>T</a:t>
            </a:r>
            <a:r>
              <a:rPr lang="en-US" altLang="zh-CN" b="1" i="1" baseline="-25000">
                <a:solidFill>
                  <a:srgbClr val="FF6600"/>
                </a:solidFill>
                <a:ea typeface="+mn-ea"/>
                <a:cs typeface="Times New Roman" panose="02020603050405020304" pitchFamily="18" charset="0"/>
              </a:rPr>
              <a:t>a  </a:t>
            </a:r>
            <a:r>
              <a:rPr lang="en-US" altLang="zh-CN" b="1">
                <a:solidFill>
                  <a:srgbClr val="FF6600"/>
                </a:solidFill>
                <a:ea typeface="+mn-ea"/>
                <a:cs typeface="Times New Roman" panose="02020603050405020304" pitchFamily="18" charset="0"/>
              </a:rPr>
              <a:t>= </a:t>
            </a:r>
            <a:r>
              <a:rPr lang="en-US" altLang="zh-CN" b="1" i="1">
                <a:solidFill>
                  <a:srgbClr val="FF6600"/>
                </a:solidFill>
                <a:ea typeface="+mn-ea"/>
                <a:cs typeface="Times New Roman" panose="02020603050405020304" pitchFamily="18" charset="0"/>
              </a:rPr>
              <a:t>T</a:t>
            </a:r>
            <a:r>
              <a:rPr lang="en-US" altLang="zh-CN" b="1" baseline="-25000">
                <a:solidFill>
                  <a:srgbClr val="FF6600"/>
                </a:solidFill>
                <a:ea typeface="+mn-ea"/>
                <a:cs typeface="Times New Roman" panose="02020603050405020304" pitchFamily="18" charset="0"/>
              </a:rPr>
              <a:t>1</a:t>
            </a:r>
            <a:r>
              <a:rPr lang="zh-CN" altLang="en-US" b="1">
                <a:solidFill>
                  <a:srgbClr val="FF6600"/>
                </a:solidFill>
                <a:ea typeface="+mn-ea"/>
                <a:cs typeface="Times New Roman" panose="02020603050405020304" pitchFamily="18" charset="0"/>
              </a:rPr>
              <a:t>，</a:t>
            </a:r>
            <a:r>
              <a:rPr lang="en-US" altLang="zh-CN" b="1" i="1">
                <a:solidFill>
                  <a:srgbClr val="FF6600"/>
                </a:solidFill>
                <a:ea typeface="+mn-ea"/>
                <a:cs typeface="Times New Roman" panose="02020603050405020304" pitchFamily="18" charset="0"/>
              </a:rPr>
              <a:t>T</a:t>
            </a:r>
            <a:r>
              <a:rPr lang="en-US" altLang="zh-CN" b="1" i="1" baseline="-25000">
                <a:solidFill>
                  <a:srgbClr val="FF6600"/>
                </a:solidFill>
                <a:ea typeface="+mn-ea"/>
                <a:cs typeface="Times New Roman" panose="02020603050405020304" pitchFamily="18" charset="0"/>
              </a:rPr>
              <a:t>d </a:t>
            </a:r>
            <a:r>
              <a:rPr lang="en-US" altLang="zh-CN" b="1">
                <a:solidFill>
                  <a:srgbClr val="FF6600"/>
                </a:solidFill>
                <a:ea typeface="+mn-ea"/>
                <a:cs typeface="Times New Roman" panose="02020603050405020304" pitchFamily="18" charset="0"/>
              </a:rPr>
              <a:t>= </a:t>
            </a:r>
            <a:r>
              <a:rPr lang="en-US" altLang="zh-CN" b="1" i="1">
                <a:solidFill>
                  <a:srgbClr val="FF6600"/>
                </a:solidFill>
                <a:ea typeface="+mn-ea"/>
                <a:cs typeface="Times New Roman" panose="02020603050405020304" pitchFamily="18" charset="0"/>
              </a:rPr>
              <a:t>T</a:t>
            </a:r>
            <a:r>
              <a:rPr lang="en-US" altLang="zh-CN" b="1" baseline="-25000">
                <a:solidFill>
                  <a:srgbClr val="FF6600"/>
                </a:solidFill>
                <a:ea typeface="+mn-ea"/>
                <a:cs typeface="Times New Roman" panose="02020603050405020304" pitchFamily="18" charset="0"/>
              </a:rPr>
              <a:t>2 </a:t>
            </a:r>
            <a:r>
              <a:rPr lang="en-US" altLang="zh-CN" b="1">
                <a:solidFill>
                  <a:srgbClr val="FF6600"/>
                </a:solidFill>
                <a:ea typeface="+mn-ea"/>
                <a:cs typeface="Times New Roman" panose="02020603050405020304" pitchFamily="18" charset="0"/>
              </a:rPr>
              <a:t>)</a:t>
            </a:r>
            <a:endParaRPr lang="en-US" altLang="zh-CN" b="1">
              <a:solidFill>
                <a:srgbClr val="FF6600"/>
              </a:solidFill>
              <a:ea typeface="+mn-ea"/>
              <a:cs typeface="Times New Roman" panose="02020603050405020304" pitchFamily="18" charset="0"/>
            </a:endParaRPr>
          </a:p>
        </p:txBody>
      </p:sp>
      <p:sp>
        <p:nvSpPr>
          <p:cNvPr id="239624" name="AutoShape 8"/>
          <p:cNvSpPr>
            <a:spLocks noChangeArrowheads="1"/>
          </p:cNvSpPr>
          <p:nvPr/>
        </p:nvSpPr>
        <p:spPr bwMode="auto">
          <a:xfrm>
            <a:off x="457200" y="3011488"/>
            <a:ext cx="558800" cy="161925"/>
          </a:xfrm>
          <a:prstGeom prst="rightArrow">
            <a:avLst>
              <a:gd name="adj1" fmla="val 50000"/>
              <a:gd name="adj2" fmla="val 86275"/>
            </a:avLst>
          </a:prstGeom>
          <a:solidFill>
            <a:srgbClr val="0000FF"/>
          </a:solidFill>
          <a:ln w="9525">
            <a:solidFill>
              <a:schemeClr val="tx1"/>
            </a:solidFill>
            <a:miter lim="800000"/>
          </a:ln>
        </p:spPr>
        <p:txBody>
          <a:bodyPr wrap="none" anchor="ctr"/>
          <a:lstStyle/>
          <a:p>
            <a:pPr algn="ctr">
              <a:defRPr/>
            </a:pPr>
            <a:endParaRPr lang="zh-CN" altLang="en-US">
              <a:ea typeface="+mn-ea"/>
              <a:cs typeface="Times New Roman" panose="02020603050405020304" pitchFamily="18" charset="0"/>
            </a:endParaRPr>
          </a:p>
        </p:txBody>
      </p:sp>
      <p:graphicFrame>
        <p:nvGraphicFramePr>
          <p:cNvPr id="239625" name="Object 9"/>
          <p:cNvGraphicFramePr>
            <a:graphicFrameLocks noChangeAspect="1"/>
          </p:cNvGraphicFramePr>
          <p:nvPr/>
        </p:nvGraphicFramePr>
        <p:xfrm>
          <a:off x="1150938" y="2722563"/>
          <a:ext cx="1000125" cy="796925"/>
        </p:xfrm>
        <a:graphic>
          <a:graphicData uri="http://schemas.openxmlformats.org/presentationml/2006/ole">
            <mc:AlternateContent xmlns:mc="http://schemas.openxmlformats.org/markup-compatibility/2006">
              <mc:Choice xmlns:v="urn:schemas-microsoft-com:vml" Requires="v">
                <p:oleObj spid="_x0000_s60420" name="公式" r:id="rId5" imgW="13411200" imgH="10668000" progId="Equation.3">
                  <p:embed/>
                </p:oleObj>
              </mc:Choice>
              <mc:Fallback>
                <p:oleObj name="公式" r:id="rId5" imgW="13411200" imgH="10668000" progId="Equation.3">
                  <p:embed/>
                  <p:pic>
                    <p:nvPicPr>
                      <p:cNvPr id="0" name="Object 9"/>
                      <p:cNvPicPr>
                        <a:picLocks noChangeAspect="1"/>
                      </p:cNvPicPr>
                      <p:nvPr/>
                    </p:nvPicPr>
                    <p:blipFill>
                      <a:blip r:embed="rId6"/>
                      <a:stretch>
                        <a:fillRect/>
                      </a:stretch>
                    </p:blipFill>
                    <p:spPr>
                      <a:xfrm>
                        <a:off x="1150938" y="2722563"/>
                        <a:ext cx="1000125" cy="796925"/>
                      </a:xfrm>
                      <a:prstGeom prst="rect">
                        <a:avLst/>
                      </a:prstGeom>
                      <a:noFill/>
                      <a:ln w="9525">
                        <a:noFill/>
                      </a:ln>
                    </p:spPr>
                  </p:pic>
                </p:oleObj>
              </mc:Fallback>
            </mc:AlternateContent>
          </a:graphicData>
        </a:graphic>
      </p:graphicFrame>
      <p:grpSp>
        <p:nvGrpSpPr>
          <p:cNvPr id="60428" name="Group 10"/>
          <p:cNvGrpSpPr/>
          <p:nvPr/>
        </p:nvGrpSpPr>
        <p:grpSpPr bwMode="auto">
          <a:xfrm>
            <a:off x="6216650" y="2157413"/>
            <a:ext cx="2747963" cy="2424112"/>
            <a:chOff x="3759" y="378"/>
            <a:chExt cx="1731" cy="1527"/>
          </a:xfrm>
        </p:grpSpPr>
        <p:sp>
          <p:nvSpPr>
            <p:cNvPr id="59410" name="Line 11"/>
            <p:cNvSpPr>
              <a:spLocks noChangeAspect="1" noChangeShapeType="1"/>
            </p:cNvSpPr>
            <p:nvPr/>
          </p:nvSpPr>
          <p:spPr bwMode="auto">
            <a:xfrm>
              <a:off x="4241" y="720"/>
              <a:ext cx="0" cy="939"/>
            </a:xfrm>
            <a:prstGeom prst="line">
              <a:avLst/>
            </a:prstGeom>
            <a:noFill/>
            <a:ln w="9525">
              <a:solidFill>
                <a:schemeClr val="tx1"/>
              </a:solidFill>
              <a:prstDash val="lgDash"/>
              <a:round/>
            </a:ln>
          </p:spPr>
          <p:txBody>
            <a:bodyPr/>
            <a:lstStyle/>
            <a:p>
              <a:pPr>
                <a:defRPr/>
              </a:pPr>
              <a:endParaRPr lang="zh-CN" altLang="en-US">
                <a:ea typeface="+mn-ea"/>
                <a:cs typeface="Times New Roman" panose="02020603050405020304" pitchFamily="18" charset="0"/>
              </a:endParaRPr>
            </a:p>
          </p:txBody>
        </p:sp>
        <p:sp>
          <p:nvSpPr>
            <p:cNvPr id="59411" name="Line 12"/>
            <p:cNvSpPr>
              <a:spLocks noChangeAspect="1" noChangeShapeType="1"/>
            </p:cNvSpPr>
            <p:nvPr/>
          </p:nvSpPr>
          <p:spPr bwMode="auto">
            <a:xfrm>
              <a:off x="4387" y="1187"/>
              <a:ext cx="0" cy="466"/>
            </a:xfrm>
            <a:prstGeom prst="line">
              <a:avLst/>
            </a:prstGeom>
            <a:noFill/>
            <a:ln w="9525">
              <a:solidFill>
                <a:schemeClr val="tx1"/>
              </a:solidFill>
              <a:prstDash val="lgDash"/>
              <a:round/>
            </a:ln>
          </p:spPr>
          <p:txBody>
            <a:bodyPr/>
            <a:lstStyle/>
            <a:p>
              <a:pPr>
                <a:defRPr/>
              </a:pPr>
              <a:endParaRPr lang="zh-CN" altLang="en-US">
                <a:ea typeface="+mn-ea"/>
                <a:cs typeface="Times New Roman" panose="02020603050405020304" pitchFamily="18" charset="0"/>
              </a:endParaRPr>
            </a:p>
          </p:txBody>
        </p:sp>
        <p:sp>
          <p:nvSpPr>
            <p:cNvPr id="59412" name="Line 13"/>
            <p:cNvSpPr>
              <a:spLocks noChangeAspect="1" noChangeShapeType="1"/>
            </p:cNvSpPr>
            <p:nvPr/>
          </p:nvSpPr>
          <p:spPr bwMode="auto">
            <a:xfrm>
              <a:off x="4746" y="969"/>
              <a:ext cx="0" cy="684"/>
            </a:xfrm>
            <a:prstGeom prst="line">
              <a:avLst/>
            </a:prstGeom>
            <a:noFill/>
            <a:ln w="9525">
              <a:solidFill>
                <a:schemeClr val="tx1"/>
              </a:solidFill>
              <a:prstDash val="lgDash"/>
              <a:round/>
            </a:ln>
          </p:spPr>
          <p:txBody>
            <a:bodyPr/>
            <a:lstStyle/>
            <a:p>
              <a:pPr>
                <a:defRPr/>
              </a:pPr>
              <a:endParaRPr lang="zh-CN" altLang="en-US">
                <a:ea typeface="+mn-ea"/>
                <a:cs typeface="Times New Roman" panose="02020603050405020304" pitchFamily="18" charset="0"/>
              </a:endParaRPr>
            </a:p>
          </p:txBody>
        </p:sp>
        <p:sp>
          <p:nvSpPr>
            <p:cNvPr id="59413" name="Line 14"/>
            <p:cNvSpPr>
              <a:spLocks noChangeAspect="1" noChangeShapeType="1"/>
            </p:cNvSpPr>
            <p:nvPr/>
          </p:nvSpPr>
          <p:spPr bwMode="auto">
            <a:xfrm>
              <a:off x="5073" y="1360"/>
              <a:ext cx="0" cy="297"/>
            </a:xfrm>
            <a:prstGeom prst="line">
              <a:avLst/>
            </a:prstGeom>
            <a:noFill/>
            <a:ln w="9525">
              <a:solidFill>
                <a:schemeClr val="tx1"/>
              </a:solidFill>
              <a:prstDash val="lgDash"/>
              <a:round/>
            </a:ln>
          </p:spPr>
          <p:txBody>
            <a:bodyPr/>
            <a:lstStyle/>
            <a:p>
              <a:pPr>
                <a:defRPr/>
              </a:pPr>
              <a:endParaRPr lang="zh-CN" altLang="en-US">
                <a:ea typeface="+mn-ea"/>
                <a:cs typeface="Times New Roman" panose="02020603050405020304" pitchFamily="18" charset="0"/>
              </a:endParaRPr>
            </a:p>
          </p:txBody>
        </p:sp>
        <p:sp>
          <p:nvSpPr>
            <p:cNvPr id="59414" name="Line 15"/>
            <p:cNvSpPr>
              <a:spLocks noChangeAspect="1" noChangeShapeType="1"/>
            </p:cNvSpPr>
            <p:nvPr/>
          </p:nvSpPr>
          <p:spPr bwMode="auto">
            <a:xfrm flipV="1">
              <a:off x="3983" y="559"/>
              <a:ext cx="0" cy="1102"/>
            </a:xfrm>
            <a:prstGeom prst="line">
              <a:avLst/>
            </a:prstGeom>
            <a:noFill/>
            <a:ln w="28575">
              <a:solidFill>
                <a:schemeClr val="tx1"/>
              </a:solidFill>
              <a:round/>
              <a:tailEnd type="triangle" w="med" len="med"/>
            </a:ln>
          </p:spPr>
          <p:txBody>
            <a:bodyPr/>
            <a:lstStyle/>
            <a:p>
              <a:pPr>
                <a:defRPr/>
              </a:pPr>
              <a:endParaRPr lang="zh-CN" altLang="en-US">
                <a:ea typeface="+mn-ea"/>
                <a:cs typeface="Times New Roman" panose="02020603050405020304" pitchFamily="18" charset="0"/>
              </a:endParaRPr>
            </a:p>
          </p:txBody>
        </p:sp>
        <p:sp>
          <p:nvSpPr>
            <p:cNvPr id="59415" name="Line 16"/>
            <p:cNvSpPr>
              <a:spLocks noChangeAspect="1" noChangeShapeType="1"/>
            </p:cNvSpPr>
            <p:nvPr/>
          </p:nvSpPr>
          <p:spPr bwMode="auto">
            <a:xfrm>
              <a:off x="3974" y="1661"/>
              <a:ext cx="1317" cy="0"/>
            </a:xfrm>
            <a:prstGeom prst="line">
              <a:avLst/>
            </a:prstGeom>
            <a:noFill/>
            <a:ln w="28575">
              <a:solidFill>
                <a:schemeClr val="tx1"/>
              </a:solidFill>
              <a:round/>
              <a:tailEnd type="triangle" w="med" len="med"/>
            </a:ln>
          </p:spPr>
          <p:txBody>
            <a:bodyPr/>
            <a:lstStyle/>
            <a:p>
              <a:pPr>
                <a:defRPr/>
              </a:pPr>
              <a:endParaRPr lang="zh-CN" altLang="en-US">
                <a:ea typeface="+mn-ea"/>
                <a:cs typeface="Times New Roman" panose="02020603050405020304" pitchFamily="18" charset="0"/>
              </a:endParaRPr>
            </a:p>
          </p:txBody>
        </p:sp>
        <p:sp>
          <p:nvSpPr>
            <p:cNvPr id="59416" name="Text Box 17"/>
            <p:cNvSpPr txBox="1">
              <a:spLocks noChangeAspect="1" noChangeArrowheads="1"/>
            </p:cNvSpPr>
            <p:nvPr/>
          </p:nvSpPr>
          <p:spPr bwMode="auto">
            <a:xfrm>
              <a:off x="3816" y="378"/>
              <a:ext cx="286" cy="279"/>
            </a:xfrm>
            <a:prstGeom prst="rect">
              <a:avLst/>
            </a:prstGeom>
            <a:noFill/>
            <a:ln w="9525">
              <a:noFill/>
              <a:miter lim="800000"/>
            </a:ln>
          </p:spPr>
          <p:txBody>
            <a:bodyPr>
              <a:spAutoFit/>
            </a:bodyPr>
            <a:lstStyle/>
            <a:p>
              <a:pPr>
                <a:lnSpc>
                  <a:spcPct val="115000"/>
                </a:lnSpc>
                <a:defRPr/>
              </a:pPr>
              <a:r>
                <a:rPr lang="en-US" altLang="zh-CN" sz="2000" b="1" i="1">
                  <a:ea typeface="+mn-ea"/>
                  <a:cs typeface="Times New Roman" panose="02020603050405020304" pitchFamily="18" charset="0"/>
                </a:rPr>
                <a:t>p</a:t>
              </a:r>
              <a:endParaRPr lang="en-US" altLang="zh-CN" sz="2000" b="1" i="1">
                <a:ea typeface="+mn-ea"/>
                <a:cs typeface="Times New Roman" panose="02020603050405020304" pitchFamily="18" charset="0"/>
              </a:endParaRPr>
            </a:p>
          </p:txBody>
        </p:sp>
        <p:sp>
          <p:nvSpPr>
            <p:cNvPr id="59417" name="Text Box 18"/>
            <p:cNvSpPr txBox="1">
              <a:spLocks noChangeAspect="1" noChangeArrowheads="1"/>
            </p:cNvSpPr>
            <p:nvPr/>
          </p:nvSpPr>
          <p:spPr bwMode="auto">
            <a:xfrm>
              <a:off x="5148" y="1626"/>
              <a:ext cx="342" cy="279"/>
            </a:xfrm>
            <a:prstGeom prst="rect">
              <a:avLst/>
            </a:prstGeom>
            <a:noFill/>
            <a:ln w="9525">
              <a:noFill/>
              <a:miter lim="800000"/>
            </a:ln>
          </p:spPr>
          <p:txBody>
            <a:bodyPr>
              <a:spAutoFit/>
            </a:bodyPr>
            <a:lstStyle/>
            <a:p>
              <a:pPr>
                <a:lnSpc>
                  <a:spcPct val="115000"/>
                </a:lnSpc>
                <a:defRPr/>
              </a:pPr>
              <a:r>
                <a:rPr lang="en-US" altLang="zh-CN" sz="2000" b="1" i="1">
                  <a:ea typeface="+mn-ea"/>
                  <a:cs typeface="Times New Roman" panose="02020603050405020304" pitchFamily="18" charset="0"/>
                </a:rPr>
                <a:t>V</a:t>
              </a:r>
              <a:endParaRPr lang="en-US" altLang="zh-CN" sz="2000" b="1" i="1">
                <a:ea typeface="+mn-ea"/>
                <a:cs typeface="Times New Roman" panose="02020603050405020304" pitchFamily="18" charset="0"/>
              </a:endParaRPr>
            </a:p>
          </p:txBody>
        </p:sp>
        <p:sp>
          <p:nvSpPr>
            <p:cNvPr id="59418" name="Text Box 19"/>
            <p:cNvSpPr txBox="1">
              <a:spLocks noChangeAspect="1" noChangeArrowheads="1"/>
            </p:cNvSpPr>
            <p:nvPr/>
          </p:nvSpPr>
          <p:spPr bwMode="auto">
            <a:xfrm>
              <a:off x="3759" y="1512"/>
              <a:ext cx="367" cy="279"/>
            </a:xfrm>
            <a:prstGeom prst="rect">
              <a:avLst/>
            </a:prstGeom>
            <a:noFill/>
            <a:ln w="9525">
              <a:noFill/>
              <a:miter lim="800000"/>
            </a:ln>
          </p:spPr>
          <p:txBody>
            <a:bodyPr>
              <a:spAutoFit/>
            </a:bodyPr>
            <a:lstStyle/>
            <a:p>
              <a:pPr>
                <a:lnSpc>
                  <a:spcPct val="115000"/>
                </a:lnSpc>
                <a:defRPr/>
              </a:pPr>
              <a:r>
                <a:rPr lang="en-US" altLang="zh-CN" sz="2000" b="1" i="1">
                  <a:ea typeface="+mn-ea"/>
                  <a:cs typeface="Times New Roman" panose="02020603050405020304" pitchFamily="18" charset="0"/>
                </a:rPr>
                <a:t>O</a:t>
              </a:r>
              <a:endParaRPr lang="en-US" altLang="zh-CN" sz="2000" b="1" i="1">
                <a:ea typeface="+mn-ea"/>
                <a:cs typeface="Times New Roman" panose="02020603050405020304" pitchFamily="18" charset="0"/>
              </a:endParaRPr>
            </a:p>
          </p:txBody>
        </p:sp>
        <p:grpSp>
          <p:nvGrpSpPr>
            <p:cNvPr id="60443" name="Group 20"/>
            <p:cNvGrpSpPr>
              <a:grpSpLocks noChangeAspect="1"/>
            </p:cNvGrpSpPr>
            <p:nvPr/>
          </p:nvGrpSpPr>
          <p:grpSpPr bwMode="auto">
            <a:xfrm>
              <a:off x="4238" y="715"/>
              <a:ext cx="521" cy="263"/>
              <a:chOff x="4161" y="1142"/>
              <a:chExt cx="579" cy="292"/>
            </a:xfrm>
          </p:grpSpPr>
          <p:sp>
            <p:nvSpPr>
              <p:cNvPr id="59443" name="Freeform 21"/>
              <p:cNvSpPr>
                <a:spLocks noChangeAspect="1"/>
              </p:cNvSpPr>
              <p:nvPr/>
            </p:nvSpPr>
            <p:spPr bwMode="auto">
              <a:xfrm>
                <a:off x="4161" y="1142"/>
                <a:ext cx="579" cy="292"/>
              </a:xfrm>
              <a:custGeom>
                <a:avLst/>
                <a:gdLst>
                  <a:gd name="T0" fmla="*/ 0 w 579"/>
                  <a:gd name="T1" fmla="*/ 0 h 292"/>
                  <a:gd name="T2" fmla="*/ 154 w 579"/>
                  <a:gd name="T3" fmla="*/ 135 h 292"/>
                  <a:gd name="T4" fmla="*/ 346 w 579"/>
                  <a:gd name="T5" fmla="*/ 231 h 292"/>
                  <a:gd name="T6" fmla="*/ 579 w 579"/>
                  <a:gd name="T7" fmla="*/ 292 h 292"/>
                  <a:gd name="T8" fmla="*/ 0 60000 65536"/>
                  <a:gd name="T9" fmla="*/ 0 60000 65536"/>
                  <a:gd name="T10" fmla="*/ 0 60000 65536"/>
                  <a:gd name="T11" fmla="*/ 0 60000 65536"/>
                  <a:gd name="T12" fmla="*/ 0 w 579"/>
                  <a:gd name="T13" fmla="*/ 0 h 292"/>
                  <a:gd name="T14" fmla="*/ 579 w 579"/>
                  <a:gd name="T15" fmla="*/ 292 h 292"/>
                </a:gdLst>
                <a:ahLst/>
                <a:cxnLst>
                  <a:cxn ang="T8">
                    <a:pos x="T0" y="T1"/>
                  </a:cxn>
                  <a:cxn ang="T9">
                    <a:pos x="T2" y="T3"/>
                  </a:cxn>
                  <a:cxn ang="T10">
                    <a:pos x="T4" y="T5"/>
                  </a:cxn>
                  <a:cxn ang="T11">
                    <a:pos x="T6" y="T7"/>
                  </a:cxn>
                </a:cxnLst>
                <a:rect l="T12" t="T13" r="T14" b="T15"/>
                <a:pathLst>
                  <a:path w="579" h="292">
                    <a:moveTo>
                      <a:pt x="0" y="0"/>
                    </a:moveTo>
                    <a:cubicBezTo>
                      <a:pt x="26" y="22"/>
                      <a:pt x="96" y="97"/>
                      <a:pt x="154" y="135"/>
                    </a:cubicBezTo>
                    <a:cubicBezTo>
                      <a:pt x="212" y="173"/>
                      <a:pt x="275" y="205"/>
                      <a:pt x="346" y="231"/>
                    </a:cubicBezTo>
                    <a:cubicBezTo>
                      <a:pt x="417" y="257"/>
                      <a:pt x="531" y="279"/>
                      <a:pt x="579" y="292"/>
                    </a:cubicBezTo>
                  </a:path>
                </a:pathLst>
              </a:custGeom>
              <a:noFill/>
              <a:ln w="38100">
                <a:solidFill>
                  <a:srgbClr val="3333CC"/>
                </a:solidFill>
                <a:round/>
              </a:ln>
            </p:spPr>
            <p:txBody>
              <a:bodyPr/>
              <a:lstStyle/>
              <a:p>
                <a:pPr algn="ctr">
                  <a:defRPr/>
                </a:pPr>
                <a:endParaRPr lang="zh-CN" altLang="en-US">
                  <a:ea typeface="+mn-ea"/>
                  <a:cs typeface="Times New Roman" panose="02020603050405020304" pitchFamily="18" charset="0"/>
                </a:endParaRPr>
              </a:p>
            </p:txBody>
          </p:sp>
          <p:sp>
            <p:nvSpPr>
              <p:cNvPr id="59444" name="Line 22"/>
              <p:cNvSpPr>
                <a:spLocks noChangeAspect="1" noChangeShapeType="1"/>
              </p:cNvSpPr>
              <p:nvPr/>
            </p:nvSpPr>
            <p:spPr bwMode="auto">
              <a:xfrm rot="10800000">
                <a:off x="4285" y="1253"/>
                <a:ext cx="138" cy="91"/>
              </a:xfrm>
              <a:prstGeom prst="line">
                <a:avLst/>
              </a:prstGeom>
              <a:noFill/>
              <a:ln w="38100">
                <a:solidFill>
                  <a:srgbClr val="3333CC"/>
                </a:solidFill>
                <a:round/>
                <a:tailEnd type="triangle" w="med" len="med"/>
              </a:ln>
            </p:spPr>
            <p:txBody>
              <a:bodyPr/>
              <a:lstStyle/>
              <a:p>
                <a:pPr>
                  <a:defRPr/>
                </a:pPr>
                <a:endParaRPr lang="zh-CN" altLang="en-US">
                  <a:ea typeface="+mn-ea"/>
                  <a:cs typeface="Times New Roman" panose="02020603050405020304" pitchFamily="18" charset="0"/>
                </a:endParaRPr>
              </a:p>
            </p:txBody>
          </p:sp>
        </p:grpSp>
        <p:grpSp>
          <p:nvGrpSpPr>
            <p:cNvPr id="60444" name="Group 23"/>
            <p:cNvGrpSpPr>
              <a:grpSpLocks noChangeAspect="1"/>
            </p:cNvGrpSpPr>
            <p:nvPr/>
          </p:nvGrpSpPr>
          <p:grpSpPr bwMode="auto">
            <a:xfrm>
              <a:off x="4753" y="975"/>
              <a:ext cx="337" cy="393"/>
              <a:chOff x="4733" y="1430"/>
              <a:chExt cx="374" cy="437"/>
            </a:xfrm>
          </p:grpSpPr>
          <p:sp>
            <p:nvSpPr>
              <p:cNvPr id="59441" name="Freeform 24"/>
              <p:cNvSpPr>
                <a:spLocks noChangeAspect="1"/>
              </p:cNvSpPr>
              <p:nvPr/>
            </p:nvSpPr>
            <p:spPr bwMode="auto">
              <a:xfrm>
                <a:off x="4733" y="1430"/>
                <a:ext cx="374" cy="437"/>
              </a:xfrm>
              <a:custGeom>
                <a:avLst/>
                <a:gdLst>
                  <a:gd name="T0" fmla="*/ 0 w 374"/>
                  <a:gd name="T1" fmla="*/ 0 h 437"/>
                  <a:gd name="T2" fmla="*/ 58 w 374"/>
                  <a:gd name="T3" fmla="*/ 120 h 437"/>
                  <a:gd name="T4" fmla="*/ 154 w 374"/>
                  <a:gd name="T5" fmla="*/ 254 h 437"/>
                  <a:gd name="T6" fmla="*/ 245 w 374"/>
                  <a:gd name="T7" fmla="*/ 346 h 437"/>
                  <a:gd name="T8" fmla="*/ 374 w 374"/>
                  <a:gd name="T9" fmla="*/ 437 h 437"/>
                  <a:gd name="T10" fmla="*/ 0 60000 65536"/>
                  <a:gd name="T11" fmla="*/ 0 60000 65536"/>
                  <a:gd name="T12" fmla="*/ 0 60000 65536"/>
                  <a:gd name="T13" fmla="*/ 0 60000 65536"/>
                  <a:gd name="T14" fmla="*/ 0 60000 65536"/>
                  <a:gd name="T15" fmla="*/ 0 w 374"/>
                  <a:gd name="T16" fmla="*/ 0 h 437"/>
                  <a:gd name="T17" fmla="*/ 374 w 374"/>
                  <a:gd name="T18" fmla="*/ 437 h 437"/>
                </a:gdLst>
                <a:ahLst/>
                <a:cxnLst>
                  <a:cxn ang="T10">
                    <a:pos x="T0" y="T1"/>
                  </a:cxn>
                  <a:cxn ang="T11">
                    <a:pos x="T2" y="T3"/>
                  </a:cxn>
                  <a:cxn ang="T12">
                    <a:pos x="T4" y="T5"/>
                  </a:cxn>
                  <a:cxn ang="T13">
                    <a:pos x="T6" y="T7"/>
                  </a:cxn>
                  <a:cxn ang="T14">
                    <a:pos x="T8" y="T9"/>
                  </a:cxn>
                </a:cxnLst>
                <a:rect l="T15" t="T16" r="T17" b="T18"/>
                <a:pathLst>
                  <a:path w="374" h="437">
                    <a:moveTo>
                      <a:pt x="0" y="0"/>
                    </a:moveTo>
                    <a:cubicBezTo>
                      <a:pt x="9" y="20"/>
                      <a:pt x="32" y="78"/>
                      <a:pt x="58" y="120"/>
                    </a:cubicBezTo>
                    <a:cubicBezTo>
                      <a:pt x="84" y="162"/>
                      <a:pt x="123" y="216"/>
                      <a:pt x="154" y="254"/>
                    </a:cubicBezTo>
                    <a:cubicBezTo>
                      <a:pt x="185" y="292"/>
                      <a:pt x="208" y="316"/>
                      <a:pt x="245" y="346"/>
                    </a:cubicBezTo>
                    <a:cubicBezTo>
                      <a:pt x="282" y="376"/>
                      <a:pt x="347" y="418"/>
                      <a:pt x="374" y="437"/>
                    </a:cubicBezTo>
                  </a:path>
                </a:pathLst>
              </a:custGeom>
              <a:noFill/>
              <a:ln w="38100">
                <a:solidFill>
                  <a:srgbClr val="3333CC"/>
                </a:solidFill>
                <a:round/>
              </a:ln>
            </p:spPr>
            <p:txBody>
              <a:bodyPr/>
              <a:lstStyle/>
              <a:p>
                <a:pPr algn="ctr">
                  <a:defRPr/>
                </a:pPr>
                <a:endParaRPr lang="zh-CN" altLang="en-US">
                  <a:ea typeface="+mn-ea"/>
                  <a:cs typeface="Times New Roman" panose="02020603050405020304" pitchFamily="18" charset="0"/>
                </a:endParaRPr>
              </a:p>
            </p:txBody>
          </p:sp>
          <p:sp>
            <p:nvSpPr>
              <p:cNvPr id="59442" name="Line 25"/>
              <p:cNvSpPr>
                <a:spLocks noChangeAspect="1" noChangeShapeType="1"/>
              </p:cNvSpPr>
              <p:nvPr/>
            </p:nvSpPr>
            <p:spPr bwMode="auto">
              <a:xfrm rot="-8942174">
                <a:off x="4795" y="1606"/>
                <a:ext cx="91" cy="48"/>
              </a:xfrm>
              <a:prstGeom prst="line">
                <a:avLst/>
              </a:prstGeom>
              <a:noFill/>
              <a:ln w="38100">
                <a:solidFill>
                  <a:srgbClr val="3333CC"/>
                </a:solidFill>
                <a:round/>
                <a:tailEnd type="triangle" w="med" len="med"/>
              </a:ln>
            </p:spPr>
            <p:txBody>
              <a:bodyPr/>
              <a:lstStyle/>
              <a:p>
                <a:pPr>
                  <a:defRPr/>
                </a:pPr>
                <a:endParaRPr lang="zh-CN" altLang="en-US">
                  <a:ea typeface="+mn-ea"/>
                  <a:cs typeface="Times New Roman" panose="02020603050405020304" pitchFamily="18" charset="0"/>
                </a:endParaRPr>
              </a:p>
            </p:txBody>
          </p:sp>
        </p:grpSp>
        <p:grpSp>
          <p:nvGrpSpPr>
            <p:cNvPr id="60445" name="Group 26"/>
            <p:cNvGrpSpPr>
              <a:grpSpLocks noChangeAspect="1"/>
            </p:cNvGrpSpPr>
            <p:nvPr/>
          </p:nvGrpSpPr>
          <p:grpSpPr bwMode="auto">
            <a:xfrm>
              <a:off x="4389" y="1192"/>
              <a:ext cx="697" cy="177"/>
              <a:chOff x="4329" y="1671"/>
              <a:chExt cx="774" cy="197"/>
            </a:xfrm>
          </p:grpSpPr>
          <p:sp>
            <p:nvSpPr>
              <p:cNvPr id="59439" name="Freeform 27"/>
              <p:cNvSpPr>
                <a:spLocks noChangeAspect="1"/>
              </p:cNvSpPr>
              <p:nvPr/>
            </p:nvSpPr>
            <p:spPr bwMode="auto">
              <a:xfrm>
                <a:off x="4329" y="1671"/>
                <a:ext cx="774" cy="197"/>
              </a:xfrm>
              <a:custGeom>
                <a:avLst/>
                <a:gdLst>
                  <a:gd name="T0" fmla="*/ 774 w 774"/>
                  <a:gd name="T1" fmla="*/ 197 h 197"/>
                  <a:gd name="T2" fmla="*/ 572 w 774"/>
                  <a:gd name="T3" fmla="*/ 171 h 197"/>
                  <a:gd name="T4" fmla="*/ 375 w 774"/>
                  <a:gd name="T5" fmla="*/ 128 h 197"/>
                  <a:gd name="T6" fmla="*/ 178 w 774"/>
                  <a:gd name="T7" fmla="*/ 76 h 197"/>
                  <a:gd name="T8" fmla="*/ 0 w 774"/>
                  <a:gd name="T9" fmla="*/ 0 h 197"/>
                  <a:gd name="T10" fmla="*/ 0 60000 65536"/>
                  <a:gd name="T11" fmla="*/ 0 60000 65536"/>
                  <a:gd name="T12" fmla="*/ 0 60000 65536"/>
                  <a:gd name="T13" fmla="*/ 0 60000 65536"/>
                  <a:gd name="T14" fmla="*/ 0 60000 65536"/>
                  <a:gd name="T15" fmla="*/ 0 w 774"/>
                  <a:gd name="T16" fmla="*/ 0 h 197"/>
                  <a:gd name="T17" fmla="*/ 774 w 774"/>
                  <a:gd name="T18" fmla="*/ 197 h 197"/>
                </a:gdLst>
                <a:ahLst/>
                <a:cxnLst>
                  <a:cxn ang="T10">
                    <a:pos x="T0" y="T1"/>
                  </a:cxn>
                  <a:cxn ang="T11">
                    <a:pos x="T2" y="T3"/>
                  </a:cxn>
                  <a:cxn ang="T12">
                    <a:pos x="T4" y="T5"/>
                  </a:cxn>
                  <a:cxn ang="T13">
                    <a:pos x="T6" y="T7"/>
                  </a:cxn>
                  <a:cxn ang="T14">
                    <a:pos x="T8" y="T9"/>
                  </a:cxn>
                </a:cxnLst>
                <a:rect l="T15" t="T16" r="T17" b="T18"/>
                <a:pathLst>
                  <a:path w="774" h="197">
                    <a:moveTo>
                      <a:pt x="774" y="197"/>
                    </a:moveTo>
                    <a:cubicBezTo>
                      <a:pt x="740" y="193"/>
                      <a:pt x="638" y="182"/>
                      <a:pt x="572" y="171"/>
                    </a:cubicBezTo>
                    <a:cubicBezTo>
                      <a:pt x="506" y="160"/>
                      <a:pt x="441" y="144"/>
                      <a:pt x="375" y="128"/>
                    </a:cubicBezTo>
                    <a:cubicBezTo>
                      <a:pt x="309" y="112"/>
                      <a:pt x="240" y="97"/>
                      <a:pt x="178" y="76"/>
                    </a:cubicBezTo>
                    <a:cubicBezTo>
                      <a:pt x="116" y="55"/>
                      <a:pt x="37" y="16"/>
                      <a:pt x="0" y="0"/>
                    </a:cubicBezTo>
                  </a:path>
                </a:pathLst>
              </a:custGeom>
              <a:noFill/>
              <a:ln w="38100">
                <a:solidFill>
                  <a:srgbClr val="3333CC"/>
                </a:solidFill>
                <a:round/>
              </a:ln>
            </p:spPr>
            <p:txBody>
              <a:bodyPr/>
              <a:lstStyle/>
              <a:p>
                <a:pPr algn="ctr">
                  <a:defRPr/>
                </a:pPr>
                <a:endParaRPr lang="zh-CN" altLang="en-US">
                  <a:ea typeface="+mn-ea"/>
                  <a:cs typeface="Times New Roman" panose="02020603050405020304" pitchFamily="18" charset="0"/>
                </a:endParaRPr>
              </a:p>
            </p:txBody>
          </p:sp>
          <p:sp>
            <p:nvSpPr>
              <p:cNvPr id="59440" name="Line 28"/>
              <p:cNvSpPr>
                <a:spLocks noChangeAspect="1" noChangeShapeType="1"/>
              </p:cNvSpPr>
              <p:nvPr/>
            </p:nvSpPr>
            <p:spPr bwMode="auto">
              <a:xfrm rot="10385843" flipH="1" flipV="1">
                <a:off x="4604" y="1762"/>
                <a:ext cx="91" cy="45"/>
              </a:xfrm>
              <a:prstGeom prst="line">
                <a:avLst/>
              </a:prstGeom>
              <a:noFill/>
              <a:ln w="38100">
                <a:solidFill>
                  <a:srgbClr val="3333CC"/>
                </a:solidFill>
                <a:round/>
                <a:tailEnd type="triangle" w="med" len="med"/>
              </a:ln>
            </p:spPr>
            <p:txBody>
              <a:bodyPr/>
              <a:lstStyle/>
              <a:p>
                <a:pPr>
                  <a:defRPr/>
                </a:pPr>
                <a:endParaRPr lang="zh-CN" altLang="en-US">
                  <a:ea typeface="+mn-ea"/>
                  <a:cs typeface="Times New Roman" panose="02020603050405020304" pitchFamily="18" charset="0"/>
                </a:endParaRPr>
              </a:p>
            </p:txBody>
          </p:sp>
        </p:grpSp>
        <p:grpSp>
          <p:nvGrpSpPr>
            <p:cNvPr id="60446" name="Group 29"/>
            <p:cNvGrpSpPr>
              <a:grpSpLocks noChangeAspect="1"/>
            </p:cNvGrpSpPr>
            <p:nvPr/>
          </p:nvGrpSpPr>
          <p:grpSpPr bwMode="auto">
            <a:xfrm>
              <a:off x="4241" y="729"/>
              <a:ext cx="148" cy="467"/>
              <a:chOff x="4165" y="1157"/>
              <a:chExt cx="164" cy="518"/>
            </a:xfrm>
          </p:grpSpPr>
          <p:sp>
            <p:nvSpPr>
              <p:cNvPr id="59437" name="Freeform 30"/>
              <p:cNvSpPr>
                <a:spLocks noChangeAspect="1"/>
              </p:cNvSpPr>
              <p:nvPr/>
            </p:nvSpPr>
            <p:spPr bwMode="auto">
              <a:xfrm>
                <a:off x="4165" y="1157"/>
                <a:ext cx="164" cy="518"/>
              </a:xfrm>
              <a:custGeom>
                <a:avLst/>
                <a:gdLst>
                  <a:gd name="T0" fmla="*/ 0 w 164"/>
                  <a:gd name="T1" fmla="*/ 0 h 518"/>
                  <a:gd name="T2" fmla="*/ 25 w 164"/>
                  <a:gd name="T3" fmla="*/ 149 h 518"/>
                  <a:gd name="T4" fmla="*/ 59 w 164"/>
                  <a:gd name="T5" fmla="*/ 278 h 518"/>
                  <a:gd name="T6" fmla="*/ 107 w 164"/>
                  <a:gd name="T7" fmla="*/ 417 h 518"/>
                  <a:gd name="T8" fmla="*/ 164 w 164"/>
                  <a:gd name="T9" fmla="*/ 518 h 518"/>
                  <a:gd name="T10" fmla="*/ 0 60000 65536"/>
                  <a:gd name="T11" fmla="*/ 0 60000 65536"/>
                  <a:gd name="T12" fmla="*/ 0 60000 65536"/>
                  <a:gd name="T13" fmla="*/ 0 60000 65536"/>
                  <a:gd name="T14" fmla="*/ 0 60000 65536"/>
                  <a:gd name="T15" fmla="*/ 0 w 164"/>
                  <a:gd name="T16" fmla="*/ 0 h 518"/>
                  <a:gd name="T17" fmla="*/ 164 w 164"/>
                  <a:gd name="T18" fmla="*/ 518 h 518"/>
                </a:gdLst>
                <a:ahLst/>
                <a:cxnLst>
                  <a:cxn ang="T10">
                    <a:pos x="T0" y="T1"/>
                  </a:cxn>
                  <a:cxn ang="T11">
                    <a:pos x="T2" y="T3"/>
                  </a:cxn>
                  <a:cxn ang="T12">
                    <a:pos x="T4" y="T5"/>
                  </a:cxn>
                  <a:cxn ang="T13">
                    <a:pos x="T6" y="T7"/>
                  </a:cxn>
                  <a:cxn ang="T14">
                    <a:pos x="T8" y="T9"/>
                  </a:cxn>
                </a:cxnLst>
                <a:rect l="T15" t="T16" r="T17" b="T18"/>
                <a:pathLst>
                  <a:path w="164" h="518">
                    <a:moveTo>
                      <a:pt x="0" y="0"/>
                    </a:moveTo>
                    <a:cubicBezTo>
                      <a:pt x="4" y="25"/>
                      <a:pt x="15" y="103"/>
                      <a:pt x="25" y="149"/>
                    </a:cubicBezTo>
                    <a:cubicBezTo>
                      <a:pt x="35" y="195"/>
                      <a:pt x="45" y="233"/>
                      <a:pt x="59" y="278"/>
                    </a:cubicBezTo>
                    <a:cubicBezTo>
                      <a:pt x="73" y="323"/>
                      <a:pt x="90" y="377"/>
                      <a:pt x="107" y="417"/>
                    </a:cubicBezTo>
                    <a:cubicBezTo>
                      <a:pt x="124" y="457"/>
                      <a:pt x="152" y="497"/>
                      <a:pt x="164" y="518"/>
                    </a:cubicBezTo>
                  </a:path>
                </a:pathLst>
              </a:custGeom>
              <a:noFill/>
              <a:ln w="38100">
                <a:solidFill>
                  <a:srgbClr val="3333CC"/>
                </a:solidFill>
                <a:round/>
              </a:ln>
            </p:spPr>
            <p:txBody>
              <a:bodyPr/>
              <a:lstStyle/>
              <a:p>
                <a:pPr algn="ctr">
                  <a:defRPr/>
                </a:pPr>
                <a:endParaRPr lang="zh-CN" altLang="en-US">
                  <a:ea typeface="+mn-ea"/>
                  <a:cs typeface="Times New Roman" panose="02020603050405020304" pitchFamily="18" charset="0"/>
                </a:endParaRPr>
              </a:p>
            </p:txBody>
          </p:sp>
          <p:sp>
            <p:nvSpPr>
              <p:cNvPr id="59438" name="Line 31"/>
              <p:cNvSpPr>
                <a:spLocks noChangeAspect="1" noChangeShapeType="1"/>
              </p:cNvSpPr>
              <p:nvPr/>
            </p:nvSpPr>
            <p:spPr bwMode="auto">
              <a:xfrm rot="10800000" flipH="1" flipV="1">
                <a:off x="4222" y="1434"/>
                <a:ext cx="44" cy="134"/>
              </a:xfrm>
              <a:prstGeom prst="line">
                <a:avLst/>
              </a:prstGeom>
              <a:noFill/>
              <a:ln w="38100">
                <a:solidFill>
                  <a:srgbClr val="3333CC"/>
                </a:solidFill>
                <a:round/>
                <a:tailEnd type="triangle" w="med" len="med"/>
              </a:ln>
            </p:spPr>
            <p:txBody>
              <a:bodyPr/>
              <a:lstStyle/>
              <a:p>
                <a:pPr>
                  <a:defRPr/>
                </a:pPr>
                <a:endParaRPr lang="zh-CN" altLang="en-US">
                  <a:ea typeface="+mn-ea"/>
                  <a:cs typeface="Times New Roman" panose="02020603050405020304" pitchFamily="18" charset="0"/>
                </a:endParaRPr>
              </a:p>
            </p:txBody>
          </p:sp>
        </p:grpSp>
        <p:sp>
          <p:nvSpPr>
            <p:cNvPr id="59423" name="Oval 32"/>
            <p:cNvSpPr>
              <a:spLocks noChangeAspect="1" noChangeArrowheads="1"/>
            </p:cNvSpPr>
            <p:nvPr/>
          </p:nvSpPr>
          <p:spPr bwMode="auto">
            <a:xfrm>
              <a:off x="4223" y="702"/>
              <a:ext cx="42" cy="41"/>
            </a:xfrm>
            <a:prstGeom prst="ellipse">
              <a:avLst/>
            </a:prstGeom>
            <a:solidFill>
              <a:srgbClr val="FF0000"/>
            </a:solidFill>
            <a:ln w="9525">
              <a:solidFill>
                <a:schemeClr val="tx1"/>
              </a:solidFill>
              <a:round/>
            </a:ln>
          </p:spPr>
          <p:txBody>
            <a:bodyPr wrap="none" anchor="ctr"/>
            <a:lstStyle/>
            <a:p>
              <a:pPr algn="ctr">
                <a:defRPr/>
              </a:pPr>
              <a:endParaRPr lang="zh-CN" altLang="en-US">
                <a:ea typeface="+mn-ea"/>
                <a:cs typeface="Times New Roman" panose="02020603050405020304" pitchFamily="18" charset="0"/>
              </a:endParaRPr>
            </a:p>
          </p:txBody>
        </p:sp>
        <p:sp>
          <p:nvSpPr>
            <p:cNvPr id="59424" name="Oval 33"/>
            <p:cNvSpPr>
              <a:spLocks noChangeAspect="1" noChangeArrowheads="1"/>
            </p:cNvSpPr>
            <p:nvPr/>
          </p:nvSpPr>
          <p:spPr bwMode="auto">
            <a:xfrm>
              <a:off x="4722" y="951"/>
              <a:ext cx="42" cy="41"/>
            </a:xfrm>
            <a:prstGeom prst="ellipse">
              <a:avLst/>
            </a:prstGeom>
            <a:solidFill>
              <a:srgbClr val="FF0000"/>
            </a:solidFill>
            <a:ln w="9525">
              <a:solidFill>
                <a:schemeClr val="tx1"/>
              </a:solidFill>
              <a:round/>
            </a:ln>
          </p:spPr>
          <p:txBody>
            <a:bodyPr wrap="none" anchor="ctr"/>
            <a:lstStyle/>
            <a:p>
              <a:pPr algn="ctr">
                <a:defRPr/>
              </a:pPr>
              <a:endParaRPr lang="zh-CN" altLang="en-US">
                <a:ea typeface="+mn-ea"/>
                <a:cs typeface="Times New Roman" panose="02020603050405020304" pitchFamily="18" charset="0"/>
              </a:endParaRPr>
            </a:p>
          </p:txBody>
        </p:sp>
        <p:sp>
          <p:nvSpPr>
            <p:cNvPr id="59425" name="Oval 34"/>
            <p:cNvSpPr>
              <a:spLocks noChangeAspect="1" noChangeArrowheads="1"/>
            </p:cNvSpPr>
            <p:nvPr/>
          </p:nvSpPr>
          <p:spPr bwMode="auto">
            <a:xfrm>
              <a:off x="5050" y="1341"/>
              <a:ext cx="42" cy="41"/>
            </a:xfrm>
            <a:prstGeom prst="ellipse">
              <a:avLst/>
            </a:prstGeom>
            <a:solidFill>
              <a:srgbClr val="FF0000"/>
            </a:solidFill>
            <a:ln w="9525">
              <a:solidFill>
                <a:schemeClr val="tx1"/>
              </a:solidFill>
              <a:round/>
            </a:ln>
          </p:spPr>
          <p:txBody>
            <a:bodyPr wrap="none" anchor="ctr"/>
            <a:lstStyle/>
            <a:p>
              <a:pPr algn="ctr">
                <a:defRPr/>
              </a:pPr>
              <a:endParaRPr lang="zh-CN" altLang="en-US">
                <a:ea typeface="+mn-ea"/>
                <a:cs typeface="Times New Roman" panose="02020603050405020304" pitchFamily="18" charset="0"/>
              </a:endParaRPr>
            </a:p>
          </p:txBody>
        </p:sp>
        <p:sp>
          <p:nvSpPr>
            <p:cNvPr id="59426" name="Oval 35"/>
            <p:cNvSpPr>
              <a:spLocks noChangeAspect="1" noChangeArrowheads="1"/>
            </p:cNvSpPr>
            <p:nvPr/>
          </p:nvSpPr>
          <p:spPr bwMode="auto">
            <a:xfrm>
              <a:off x="4368" y="1162"/>
              <a:ext cx="42" cy="41"/>
            </a:xfrm>
            <a:prstGeom prst="ellipse">
              <a:avLst/>
            </a:prstGeom>
            <a:solidFill>
              <a:srgbClr val="FF0000"/>
            </a:solidFill>
            <a:ln w="9525">
              <a:solidFill>
                <a:schemeClr val="tx1"/>
              </a:solidFill>
              <a:round/>
            </a:ln>
          </p:spPr>
          <p:txBody>
            <a:bodyPr wrap="none" anchor="ctr"/>
            <a:lstStyle/>
            <a:p>
              <a:pPr algn="ctr">
                <a:defRPr/>
              </a:pPr>
              <a:endParaRPr lang="zh-CN" altLang="en-US">
                <a:ea typeface="+mn-ea"/>
                <a:cs typeface="Times New Roman" panose="02020603050405020304" pitchFamily="18" charset="0"/>
              </a:endParaRPr>
            </a:p>
          </p:txBody>
        </p:sp>
        <p:sp>
          <p:nvSpPr>
            <p:cNvPr id="59427" name="Text Box 36"/>
            <p:cNvSpPr txBox="1">
              <a:spLocks noChangeAspect="1" noChangeArrowheads="1"/>
            </p:cNvSpPr>
            <p:nvPr/>
          </p:nvSpPr>
          <p:spPr bwMode="auto">
            <a:xfrm>
              <a:off x="4099" y="487"/>
              <a:ext cx="190" cy="259"/>
            </a:xfrm>
            <a:prstGeom prst="rect">
              <a:avLst/>
            </a:prstGeom>
            <a:noFill/>
            <a:ln w="9525">
              <a:noFill/>
              <a:miter lim="800000"/>
            </a:ln>
          </p:spPr>
          <p:txBody>
            <a:bodyPr wrap="none">
              <a:spAutoFit/>
            </a:bodyPr>
            <a:lstStyle/>
            <a:p>
              <a:pPr>
                <a:lnSpc>
                  <a:spcPct val="115000"/>
                </a:lnSpc>
                <a:defRPr/>
              </a:pPr>
              <a:r>
                <a:rPr lang="en-US" altLang="zh-CN" sz="1800" b="1" i="1">
                  <a:ea typeface="+mn-ea"/>
                  <a:cs typeface="Times New Roman" panose="02020603050405020304" pitchFamily="18" charset="0"/>
                </a:rPr>
                <a:t>a</a:t>
              </a:r>
              <a:endParaRPr lang="en-US" altLang="zh-CN" sz="1800" b="1" i="1">
                <a:ea typeface="+mn-ea"/>
                <a:cs typeface="Times New Roman" panose="02020603050405020304" pitchFamily="18" charset="0"/>
              </a:endParaRPr>
            </a:p>
          </p:txBody>
        </p:sp>
        <p:sp>
          <p:nvSpPr>
            <p:cNvPr id="59428" name="Text Box 37"/>
            <p:cNvSpPr txBox="1">
              <a:spLocks noChangeAspect="1" noChangeArrowheads="1"/>
            </p:cNvSpPr>
            <p:nvPr/>
          </p:nvSpPr>
          <p:spPr bwMode="auto">
            <a:xfrm>
              <a:off x="4705" y="714"/>
              <a:ext cx="190" cy="259"/>
            </a:xfrm>
            <a:prstGeom prst="rect">
              <a:avLst/>
            </a:prstGeom>
            <a:noFill/>
            <a:ln w="9525">
              <a:noFill/>
              <a:miter lim="800000"/>
            </a:ln>
          </p:spPr>
          <p:txBody>
            <a:bodyPr wrap="none">
              <a:spAutoFit/>
            </a:bodyPr>
            <a:lstStyle/>
            <a:p>
              <a:pPr>
                <a:lnSpc>
                  <a:spcPct val="115000"/>
                </a:lnSpc>
                <a:defRPr/>
              </a:pPr>
              <a:r>
                <a:rPr lang="en-US" altLang="zh-CN" sz="1800" b="1" i="1">
                  <a:ea typeface="+mn-ea"/>
                  <a:cs typeface="Times New Roman" panose="02020603050405020304" pitchFamily="18" charset="0"/>
                </a:rPr>
                <a:t>b</a:t>
              </a:r>
              <a:endParaRPr lang="en-US" altLang="zh-CN" sz="1800" b="1" i="1">
                <a:ea typeface="+mn-ea"/>
                <a:cs typeface="Times New Roman" panose="02020603050405020304" pitchFamily="18" charset="0"/>
              </a:endParaRPr>
            </a:p>
          </p:txBody>
        </p:sp>
        <p:sp>
          <p:nvSpPr>
            <p:cNvPr id="59429" name="Text Box 38"/>
            <p:cNvSpPr txBox="1">
              <a:spLocks noChangeAspect="1" noChangeArrowheads="1"/>
            </p:cNvSpPr>
            <p:nvPr/>
          </p:nvSpPr>
          <p:spPr bwMode="auto">
            <a:xfrm>
              <a:off x="5086" y="1214"/>
              <a:ext cx="181" cy="259"/>
            </a:xfrm>
            <a:prstGeom prst="rect">
              <a:avLst/>
            </a:prstGeom>
            <a:noFill/>
            <a:ln w="9525">
              <a:noFill/>
              <a:miter lim="800000"/>
            </a:ln>
          </p:spPr>
          <p:txBody>
            <a:bodyPr wrap="none">
              <a:spAutoFit/>
            </a:bodyPr>
            <a:lstStyle/>
            <a:p>
              <a:pPr>
                <a:lnSpc>
                  <a:spcPct val="115000"/>
                </a:lnSpc>
                <a:defRPr/>
              </a:pPr>
              <a:r>
                <a:rPr lang="en-US" altLang="zh-CN" sz="1800" b="1" i="1">
                  <a:ea typeface="+mn-ea"/>
                  <a:cs typeface="Times New Roman" panose="02020603050405020304" pitchFamily="18" charset="0"/>
                </a:rPr>
                <a:t>c</a:t>
              </a:r>
              <a:endParaRPr lang="en-US" altLang="zh-CN" sz="1800" b="1" i="1">
                <a:ea typeface="+mn-ea"/>
                <a:cs typeface="Times New Roman" panose="02020603050405020304" pitchFamily="18" charset="0"/>
              </a:endParaRPr>
            </a:p>
          </p:txBody>
        </p:sp>
        <p:sp>
          <p:nvSpPr>
            <p:cNvPr id="59430" name="Text Box 39"/>
            <p:cNvSpPr txBox="1">
              <a:spLocks noChangeAspect="1" noChangeArrowheads="1"/>
            </p:cNvSpPr>
            <p:nvPr/>
          </p:nvSpPr>
          <p:spPr bwMode="auto">
            <a:xfrm>
              <a:off x="4195" y="1111"/>
              <a:ext cx="190" cy="259"/>
            </a:xfrm>
            <a:prstGeom prst="rect">
              <a:avLst/>
            </a:prstGeom>
            <a:noFill/>
            <a:ln w="9525">
              <a:noFill/>
              <a:miter lim="800000"/>
            </a:ln>
          </p:spPr>
          <p:txBody>
            <a:bodyPr wrap="none">
              <a:spAutoFit/>
            </a:bodyPr>
            <a:lstStyle/>
            <a:p>
              <a:pPr>
                <a:lnSpc>
                  <a:spcPct val="115000"/>
                </a:lnSpc>
                <a:defRPr/>
              </a:pPr>
              <a:r>
                <a:rPr lang="en-US" altLang="zh-CN" sz="1800" b="1" i="1">
                  <a:ea typeface="+mn-ea"/>
                  <a:cs typeface="Times New Roman" panose="02020603050405020304" pitchFamily="18" charset="0"/>
                </a:rPr>
                <a:t>d</a:t>
              </a:r>
              <a:endParaRPr lang="en-US" altLang="zh-CN" sz="1800" b="1" i="1">
                <a:ea typeface="+mn-ea"/>
                <a:cs typeface="Times New Roman" panose="02020603050405020304" pitchFamily="18" charset="0"/>
              </a:endParaRPr>
            </a:p>
          </p:txBody>
        </p:sp>
        <p:sp>
          <p:nvSpPr>
            <p:cNvPr id="59431" name="Text Box 40"/>
            <p:cNvSpPr txBox="1">
              <a:spLocks noChangeAspect="1" noChangeArrowheads="1"/>
            </p:cNvSpPr>
            <p:nvPr/>
          </p:nvSpPr>
          <p:spPr bwMode="auto">
            <a:xfrm>
              <a:off x="4116" y="1615"/>
              <a:ext cx="246" cy="259"/>
            </a:xfrm>
            <a:prstGeom prst="rect">
              <a:avLst/>
            </a:prstGeom>
            <a:noFill/>
            <a:ln w="9525">
              <a:noFill/>
              <a:miter lim="800000"/>
            </a:ln>
          </p:spPr>
          <p:txBody>
            <a:bodyPr wrap="none">
              <a:spAutoFit/>
            </a:bodyPr>
            <a:lstStyle/>
            <a:p>
              <a:pPr>
                <a:lnSpc>
                  <a:spcPct val="115000"/>
                </a:lnSpc>
                <a:defRPr/>
              </a:pPr>
              <a:r>
                <a:rPr lang="en-US" altLang="zh-CN" sz="1800" b="1" i="1">
                  <a:solidFill>
                    <a:srgbClr val="3333CC"/>
                  </a:solidFill>
                  <a:ea typeface="+mn-ea"/>
                  <a:cs typeface="Times New Roman" panose="02020603050405020304" pitchFamily="18" charset="0"/>
                </a:rPr>
                <a:t>V</a:t>
              </a:r>
              <a:r>
                <a:rPr lang="en-US" altLang="zh-CN" sz="1800" b="1" i="1" baseline="-25000">
                  <a:solidFill>
                    <a:srgbClr val="3333CC"/>
                  </a:solidFill>
                  <a:ea typeface="+mn-ea"/>
                  <a:cs typeface="Times New Roman" panose="02020603050405020304" pitchFamily="18" charset="0"/>
                </a:rPr>
                <a:t>a</a:t>
              </a:r>
              <a:endParaRPr lang="en-US" altLang="zh-CN" sz="1800" b="1" i="1">
                <a:solidFill>
                  <a:srgbClr val="3333CC"/>
                </a:solidFill>
                <a:ea typeface="+mn-ea"/>
                <a:cs typeface="Times New Roman" panose="02020603050405020304" pitchFamily="18" charset="0"/>
              </a:endParaRPr>
            </a:p>
          </p:txBody>
        </p:sp>
        <p:sp>
          <p:nvSpPr>
            <p:cNvPr id="59432" name="Text Box 41"/>
            <p:cNvSpPr txBox="1">
              <a:spLocks noChangeAspect="1" noChangeArrowheads="1"/>
            </p:cNvSpPr>
            <p:nvPr/>
          </p:nvSpPr>
          <p:spPr bwMode="auto">
            <a:xfrm>
              <a:off x="4269" y="1615"/>
              <a:ext cx="262" cy="259"/>
            </a:xfrm>
            <a:prstGeom prst="rect">
              <a:avLst/>
            </a:prstGeom>
            <a:noFill/>
            <a:ln w="9525">
              <a:noFill/>
              <a:miter lim="800000"/>
            </a:ln>
          </p:spPr>
          <p:txBody>
            <a:bodyPr wrap="none">
              <a:spAutoFit/>
            </a:bodyPr>
            <a:lstStyle/>
            <a:p>
              <a:pPr>
                <a:lnSpc>
                  <a:spcPct val="115000"/>
                </a:lnSpc>
                <a:defRPr/>
              </a:pPr>
              <a:r>
                <a:rPr lang="en-US" altLang="zh-CN" sz="1800" b="1" i="1">
                  <a:solidFill>
                    <a:srgbClr val="3333CC"/>
                  </a:solidFill>
                  <a:ea typeface="+mn-ea"/>
                  <a:cs typeface="Times New Roman" panose="02020603050405020304" pitchFamily="18" charset="0"/>
                </a:rPr>
                <a:t>V</a:t>
              </a:r>
              <a:r>
                <a:rPr lang="en-US" altLang="zh-CN" sz="1800" b="1" i="1" baseline="-25000">
                  <a:solidFill>
                    <a:srgbClr val="3333CC"/>
                  </a:solidFill>
                  <a:ea typeface="+mn-ea"/>
                  <a:cs typeface="Times New Roman" panose="02020603050405020304" pitchFamily="18" charset="0"/>
                </a:rPr>
                <a:t>d</a:t>
              </a:r>
              <a:endParaRPr lang="en-US" altLang="zh-CN" sz="1800" b="1" i="1">
                <a:solidFill>
                  <a:srgbClr val="3333CC"/>
                </a:solidFill>
                <a:ea typeface="+mn-ea"/>
                <a:cs typeface="Times New Roman" panose="02020603050405020304" pitchFamily="18" charset="0"/>
              </a:endParaRPr>
            </a:p>
          </p:txBody>
        </p:sp>
        <p:sp>
          <p:nvSpPr>
            <p:cNvPr id="59433" name="Text Box 42"/>
            <p:cNvSpPr txBox="1">
              <a:spLocks noChangeAspect="1" noChangeArrowheads="1"/>
            </p:cNvSpPr>
            <p:nvPr/>
          </p:nvSpPr>
          <p:spPr bwMode="auto">
            <a:xfrm>
              <a:off x="4638" y="1615"/>
              <a:ext cx="262" cy="259"/>
            </a:xfrm>
            <a:prstGeom prst="rect">
              <a:avLst/>
            </a:prstGeom>
            <a:noFill/>
            <a:ln w="9525">
              <a:noFill/>
              <a:miter lim="800000"/>
            </a:ln>
          </p:spPr>
          <p:txBody>
            <a:bodyPr wrap="none">
              <a:spAutoFit/>
            </a:bodyPr>
            <a:lstStyle/>
            <a:p>
              <a:pPr>
                <a:lnSpc>
                  <a:spcPct val="115000"/>
                </a:lnSpc>
                <a:defRPr/>
              </a:pPr>
              <a:r>
                <a:rPr lang="en-US" altLang="zh-CN" sz="1800" b="1" i="1">
                  <a:solidFill>
                    <a:srgbClr val="3333CC"/>
                  </a:solidFill>
                  <a:ea typeface="+mn-ea"/>
                  <a:cs typeface="Times New Roman" panose="02020603050405020304" pitchFamily="18" charset="0"/>
                </a:rPr>
                <a:t>V</a:t>
              </a:r>
              <a:r>
                <a:rPr lang="en-US" altLang="zh-CN" sz="1800" b="1" i="1" baseline="-25000">
                  <a:solidFill>
                    <a:srgbClr val="3333CC"/>
                  </a:solidFill>
                  <a:ea typeface="+mn-ea"/>
                  <a:cs typeface="Times New Roman" panose="02020603050405020304" pitchFamily="18" charset="0"/>
                </a:rPr>
                <a:t>b</a:t>
              </a:r>
              <a:endParaRPr lang="en-US" altLang="zh-CN" sz="1800" b="1" i="1">
                <a:solidFill>
                  <a:srgbClr val="3333CC"/>
                </a:solidFill>
                <a:ea typeface="+mn-ea"/>
                <a:cs typeface="Times New Roman" panose="02020603050405020304" pitchFamily="18" charset="0"/>
              </a:endParaRPr>
            </a:p>
          </p:txBody>
        </p:sp>
        <p:sp>
          <p:nvSpPr>
            <p:cNvPr id="59434" name="Text Box 43"/>
            <p:cNvSpPr txBox="1">
              <a:spLocks noChangeAspect="1" noChangeArrowheads="1"/>
            </p:cNvSpPr>
            <p:nvPr/>
          </p:nvSpPr>
          <p:spPr bwMode="auto">
            <a:xfrm>
              <a:off x="4950" y="1615"/>
              <a:ext cx="257" cy="259"/>
            </a:xfrm>
            <a:prstGeom prst="rect">
              <a:avLst/>
            </a:prstGeom>
            <a:noFill/>
            <a:ln w="9525">
              <a:noFill/>
              <a:miter lim="800000"/>
            </a:ln>
          </p:spPr>
          <p:txBody>
            <a:bodyPr wrap="none">
              <a:spAutoFit/>
            </a:bodyPr>
            <a:lstStyle/>
            <a:p>
              <a:pPr>
                <a:lnSpc>
                  <a:spcPct val="115000"/>
                </a:lnSpc>
                <a:defRPr/>
              </a:pPr>
              <a:r>
                <a:rPr lang="en-US" altLang="zh-CN" sz="1800" b="1" i="1">
                  <a:solidFill>
                    <a:srgbClr val="3333CC"/>
                  </a:solidFill>
                  <a:ea typeface="+mn-ea"/>
                  <a:cs typeface="Times New Roman" panose="02020603050405020304" pitchFamily="18" charset="0"/>
                </a:rPr>
                <a:t>V</a:t>
              </a:r>
              <a:r>
                <a:rPr lang="en-US" altLang="zh-CN" sz="1800" b="1" i="1" baseline="-25000">
                  <a:solidFill>
                    <a:srgbClr val="3333CC"/>
                  </a:solidFill>
                  <a:ea typeface="+mn-ea"/>
                  <a:cs typeface="Times New Roman" panose="02020603050405020304" pitchFamily="18" charset="0"/>
                </a:rPr>
                <a:t>c</a:t>
              </a:r>
              <a:endParaRPr lang="en-US" altLang="zh-CN" sz="1800" b="1" i="1">
                <a:solidFill>
                  <a:srgbClr val="3333CC"/>
                </a:solidFill>
                <a:ea typeface="+mn-ea"/>
                <a:cs typeface="Times New Roman" panose="02020603050405020304" pitchFamily="18" charset="0"/>
              </a:endParaRPr>
            </a:p>
          </p:txBody>
        </p:sp>
        <p:sp>
          <p:nvSpPr>
            <p:cNvPr id="59435" name="Text Box 44"/>
            <p:cNvSpPr txBox="1">
              <a:spLocks noChangeAspect="1" noChangeArrowheads="1"/>
            </p:cNvSpPr>
            <p:nvPr/>
          </p:nvSpPr>
          <p:spPr bwMode="auto">
            <a:xfrm>
              <a:off x="4432" y="662"/>
              <a:ext cx="254" cy="259"/>
            </a:xfrm>
            <a:prstGeom prst="rect">
              <a:avLst/>
            </a:prstGeom>
            <a:noFill/>
            <a:ln w="9525">
              <a:noFill/>
              <a:miter lim="800000"/>
            </a:ln>
          </p:spPr>
          <p:txBody>
            <a:bodyPr wrap="none">
              <a:spAutoFit/>
            </a:bodyPr>
            <a:lstStyle/>
            <a:p>
              <a:pPr>
                <a:lnSpc>
                  <a:spcPct val="115000"/>
                </a:lnSpc>
                <a:defRPr/>
              </a:pPr>
              <a:r>
                <a:rPr lang="en-US" altLang="zh-CN" sz="1800" b="1" i="1">
                  <a:solidFill>
                    <a:srgbClr val="FF0000"/>
                  </a:solidFill>
                  <a:ea typeface="+mn-ea"/>
                  <a:cs typeface="Times New Roman" panose="02020603050405020304" pitchFamily="18" charset="0"/>
                </a:rPr>
                <a:t>T</a:t>
              </a:r>
              <a:r>
                <a:rPr lang="en-US" altLang="zh-CN" sz="1800" b="1" baseline="-25000">
                  <a:solidFill>
                    <a:srgbClr val="FF0000"/>
                  </a:solidFill>
                  <a:ea typeface="+mn-ea"/>
                  <a:cs typeface="Times New Roman" panose="02020603050405020304" pitchFamily="18" charset="0"/>
                </a:rPr>
                <a:t>1</a:t>
              </a:r>
              <a:endParaRPr lang="en-US" altLang="zh-CN" sz="1800" b="1">
                <a:solidFill>
                  <a:srgbClr val="FF0000"/>
                </a:solidFill>
                <a:ea typeface="+mn-ea"/>
                <a:cs typeface="Times New Roman" panose="02020603050405020304" pitchFamily="18" charset="0"/>
              </a:endParaRPr>
            </a:p>
          </p:txBody>
        </p:sp>
        <p:sp>
          <p:nvSpPr>
            <p:cNvPr id="59436" name="Text Box 45"/>
            <p:cNvSpPr txBox="1">
              <a:spLocks noChangeAspect="1" noChangeArrowheads="1"/>
            </p:cNvSpPr>
            <p:nvPr/>
          </p:nvSpPr>
          <p:spPr bwMode="auto">
            <a:xfrm>
              <a:off x="4524" y="1253"/>
              <a:ext cx="254" cy="259"/>
            </a:xfrm>
            <a:prstGeom prst="rect">
              <a:avLst/>
            </a:prstGeom>
            <a:noFill/>
            <a:ln w="9525">
              <a:noFill/>
              <a:miter lim="800000"/>
            </a:ln>
          </p:spPr>
          <p:txBody>
            <a:bodyPr wrap="none">
              <a:spAutoFit/>
            </a:bodyPr>
            <a:lstStyle/>
            <a:p>
              <a:pPr>
                <a:lnSpc>
                  <a:spcPct val="115000"/>
                </a:lnSpc>
                <a:defRPr/>
              </a:pPr>
              <a:r>
                <a:rPr lang="en-US" altLang="zh-CN" sz="1800" b="1" i="1">
                  <a:solidFill>
                    <a:srgbClr val="FF0000"/>
                  </a:solidFill>
                  <a:ea typeface="+mn-ea"/>
                  <a:cs typeface="Times New Roman" panose="02020603050405020304" pitchFamily="18" charset="0"/>
                </a:rPr>
                <a:t>T</a:t>
              </a:r>
              <a:r>
                <a:rPr lang="en-US" altLang="zh-CN" sz="1800" b="1" baseline="-25000">
                  <a:solidFill>
                    <a:srgbClr val="FF0000"/>
                  </a:solidFill>
                  <a:ea typeface="+mn-ea"/>
                  <a:cs typeface="Times New Roman" panose="02020603050405020304" pitchFamily="18" charset="0"/>
                </a:rPr>
                <a:t>2</a:t>
              </a:r>
              <a:endParaRPr lang="en-US" altLang="zh-CN" sz="1800" b="1">
                <a:solidFill>
                  <a:srgbClr val="FF0000"/>
                </a:solidFill>
                <a:ea typeface="+mn-ea"/>
                <a:cs typeface="Times New Roman" panose="02020603050405020304" pitchFamily="18" charset="0"/>
              </a:endParaRPr>
            </a:p>
          </p:txBody>
        </p:sp>
      </p:grpSp>
      <p:graphicFrame>
        <p:nvGraphicFramePr>
          <p:cNvPr id="60421" name="Object 46"/>
          <p:cNvGraphicFramePr>
            <a:graphicFrameLocks noChangeAspect="1"/>
          </p:cNvGraphicFramePr>
          <p:nvPr/>
        </p:nvGraphicFramePr>
        <p:xfrm>
          <a:off x="6143625" y="500063"/>
          <a:ext cx="2589213" cy="1500187"/>
        </p:xfrm>
        <a:graphic>
          <a:graphicData uri="http://schemas.openxmlformats.org/presentationml/2006/ole">
            <mc:AlternateContent xmlns:mc="http://schemas.openxmlformats.org/markup-compatibility/2006">
              <mc:Choice xmlns:v="urn:schemas-microsoft-com:vml" Requires="v">
                <p:oleObj spid="_x0000_s60421" name="Equation" r:id="rId7" imgW="34747200" imgH="20116800" progId="Equation.DSMT4">
                  <p:embed/>
                </p:oleObj>
              </mc:Choice>
              <mc:Fallback>
                <p:oleObj name="Equation" r:id="rId7" imgW="34747200" imgH="20116800" progId="Equation.DSMT4">
                  <p:embed/>
                  <p:pic>
                    <p:nvPicPr>
                      <p:cNvPr id="0" name="Object 46"/>
                      <p:cNvPicPr>
                        <a:picLocks noChangeAspect="1"/>
                      </p:cNvPicPr>
                      <p:nvPr/>
                    </p:nvPicPr>
                    <p:blipFill>
                      <a:blip r:embed="rId8"/>
                      <a:stretch>
                        <a:fillRect/>
                      </a:stretch>
                    </p:blipFill>
                    <p:spPr>
                      <a:xfrm>
                        <a:off x="6143625" y="500063"/>
                        <a:ext cx="2589213" cy="1500187"/>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sp>
        <p:nvSpPr>
          <p:cNvPr id="239663" name="AutoShape 47"/>
          <p:cNvSpPr>
            <a:spLocks noChangeArrowheads="1"/>
          </p:cNvSpPr>
          <p:nvPr/>
        </p:nvSpPr>
        <p:spPr bwMode="auto">
          <a:xfrm>
            <a:off x="431800" y="3924300"/>
            <a:ext cx="584200" cy="179388"/>
          </a:xfrm>
          <a:prstGeom prst="rightArrow">
            <a:avLst>
              <a:gd name="adj1" fmla="val 50000"/>
              <a:gd name="adj2" fmla="val 81416"/>
            </a:avLst>
          </a:prstGeom>
          <a:solidFill>
            <a:srgbClr val="0000FF"/>
          </a:solidFill>
          <a:ln w="9525">
            <a:solidFill>
              <a:schemeClr val="tx1"/>
            </a:solidFill>
            <a:miter lim="800000"/>
          </a:ln>
        </p:spPr>
        <p:txBody>
          <a:bodyPr wrap="none" anchor="ctr"/>
          <a:lstStyle/>
          <a:p>
            <a:pPr algn="ctr">
              <a:defRPr/>
            </a:pPr>
            <a:endParaRPr lang="zh-CN" altLang="en-US">
              <a:ea typeface="+mn-ea"/>
              <a:cs typeface="Times New Roman" panose="02020603050405020304" pitchFamily="18" charset="0"/>
            </a:endParaRPr>
          </a:p>
        </p:txBody>
      </p:sp>
      <p:sp>
        <p:nvSpPr>
          <p:cNvPr id="239664" name="AutoShape 48"/>
          <p:cNvSpPr>
            <a:spLocks noChangeArrowheads="1"/>
          </p:cNvSpPr>
          <p:nvPr/>
        </p:nvSpPr>
        <p:spPr bwMode="auto">
          <a:xfrm>
            <a:off x="4122738" y="3382963"/>
            <a:ext cx="1890712" cy="1350962"/>
          </a:xfrm>
          <a:prstGeom prst="wedgeRoundRectCallout">
            <a:avLst>
              <a:gd name="adj1" fmla="val 46056"/>
              <a:gd name="adj2" fmla="val -29083"/>
              <a:gd name="adj3" fmla="val 16667"/>
            </a:avLst>
          </a:prstGeom>
          <a:solidFill>
            <a:srgbClr val="A3EF1B"/>
          </a:solidFill>
          <a:ln w="9525">
            <a:noFill/>
            <a:miter lim="800000"/>
          </a:ln>
        </p:spPr>
        <p:txBody>
          <a:bodyPr/>
          <a:lstStyle/>
          <a:p>
            <a:pPr algn="ctr">
              <a:lnSpc>
                <a:spcPct val="115000"/>
              </a:lnSpc>
              <a:buClr>
                <a:schemeClr val="hlink"/>
              </a:buClr>
              <a:defRPr/>
            </a:pPr>
            <a:r>
              <a:rPr lang="zh-CN" altLang="en-US" sz="2000" b="1">
                <a:ea typeface="+mn-ea"/>
                <a:cs typeface="Times New Roman" panose="02020603050405020304" pitchFamily="18" charset="0"/>
              </a:rPr>
              <a:t>注意：</a:t>
            </a:r>
            <a:r>
              <a:rPr lang="zh-CN" altLang="en-US" sz="2000" b="1">
                <a:solidFill>
                  <a:srgbClr val="FF0000"/>
                </a:solidFill>
                <a:ea typeface="+mn-ea"/>
                <a:cs typeface="Times New Roman" panose="02020603050405020304" pitchFamily="18" charset="0"/>
              </a:rPr>
              <a:t>此式只适用于卡诺循环的计算。</a:t>
            </a:r>
            <a:endParaRPr lang="zh-CN" altLang="en-US" sz="2000" b="1">
              <a:solidFill>
                <a:srgbClr val="FF0000"/>
              </a:solidFill>
              <a:ea typeface="+mn-ea"/>
              <a:cs typeface="Times New Roman" panose="02020603050405020304" pitchFamily="18" charset="0"/>
            </a:endParaRPr>
          </a:p>
        </p:txBody>
      </p:sp>
      <p:sp>
        <p:nvSpPr>
          <p:cNvPr id="239665" name="Text Box 49"/>
          <p:cNvSpPr txBox="1">
            <a:spLocks noChangeArrowheads="1"/>
          </p:cNvSpPr>
          <p:nvPr/>
        </p:nvSpPr>
        <p:spPr bwMode="auto">
          <a:xfrm>
            <a:off x="431800" y="5330825"/>
            <a:ext cx="8077200" cy="933450"/>
          </a:xfrm>
          <a:prstGeom prst="rect">
            <a:avLst/>
          </a:prstGeom>
          <a:noFill/>
          <a:ln w="9525">
            <a:noFill/>
            <a:miter lim="800000"/>
          </a:ln>
        </p:spPr>
        <p:txBody>
          <a:bodyPr>
            <a:spAutoFit/>
          </a:bodyPr>
          <a:lstStyle/>
          <a:p>
            <a:pPr>
              <a:lnSpc>
                <a:spcPct val="115000"/>
              </a:lnSpc>
              <a:defRPr/>
            </a:pPr>
            <a:r>
              <a:rPr kumimoji="1" lang="zh-CN" altLang="en-US" b="1" dirty="0">
                <a:ea typeface="+mn-ea"/>
                <a:cs typeface="Times New Roman" panose="02020603050405020304" pitchFamily="18" charset="0"/>
              </a:rPr>
              <a:t>当高温热源的温度 </a:t>
            </a:r>
            <a:r>
              <a:rPr kumimoji="1" lang="en-US" altLang="zh-CN" b="1" i="1" dirty="0">
                <a:solidFill>
                  <a:srgbClr val="FF6600"/>
                </a:solidFill>
                <a:ea typeface="+mn-ea"/>
                <a:cs typeface="Times New Roman" panose="02020603050405020304" pitchFamily="18" charset="0"/>
              </a:rPr>
              <a:t>T</a:t>
            </a:r>
            <a:r>
              <a:rPr kumimoji="1" lang="en-US" altLang="zh-CN" b="1" baseline="-25000" dirty="0">
                <a:solidFill>
                  <a:srgbClr val="FF6600"/>
                </a:solidFill>
                <a:ea typeface="+mn-ea"/>
                <a:cs typeface="Times New Roman" panose="02020603050405020304" pitchFamily="18" charset="0"/>
              </a:rPr>
              <a:t>1 </a:t>
            </a:r>
            <a:r>
              <a:rPr kumimoji="1" lang="zh-CN" altLang="en-US" b="1" dirty="0">
                <a:ea typeface="+mn-ea"/>
                <a:cs typeface="Times New Roman" panose="02020603050405020304" pitchFamily="18" charset="0"/>
              </a:rPr>
              <a:t>一定时，理想气体卡诺循环的致冷系数只取决于 </a:t>
            </a:r>
            <a:r>
              <a:rPr kumimoji="1" lang="en-US" altLang="zh-CN" b="1" i="1" dirty="0">
                <a:solidFill>
                  <a:srgbClr val="FF6600"/>
                </a:solidFill>
                <a:ea typeface="+mn-ea"/>
                <a:cs typeface="Times New Roman" panose="02020603050405020304" pitchFamily="18" charset="0"/>
              </a:rPr>
              <a:t>T</a:t>
            </a:r>
            <a:r>
              <a:rPr kumimoji="1" lang="en-US" altLang="zh-CN" b="1" baseline="-25000" dirty="0">
                <a:solidFill>
                  <a:srgbClr val="FF6600"/>
                </a:solidFill>
                <a:ea typeface="+mn-ea"/>
                <a:cs typeface="Times New Roman" panose="02020603050405020304" pitchFamily="18" charset="0"/>
              </a:rPr>
              <a:t>2</a:t>
            </a:r>
            <a:r>
              <a:rPr kumimoji="1" lang="en-US" altLang="zh-CN" b="1" dirty="0">
                <a:solidFill>
                  <a:srgbClr val="FF6600"/>
                </a:solidFill>
                <a:ea typeface="+mn-ea"/>
                <a:cs typeface="Times New Roman" panose="02020603050405020304" pitchFamily="18" charset="0"/>
              </a:rPr>
              <a:t> </a:t>
            </a:r>
            <a:r>
              <a:rPr kumimoji="1" lang="zh-CN" altLang="en-US" b="1" dirty="0">
                <a:solidFill>
                  <a:srgbClr val="FF6600"/>
                </a:solidFill>
                <a:ea typeface="+mn-ea"/>
                <a:cs typeface="Times New Roman" panose="02020603050405020304" pitchFamily="18" charset="0"/>
              </a:rPr>
              <a:t>： </a:t>
            </a:r>
            <a:r>
              <a:rPr kumimoji="1" lang="en-US" altLang="zh-CN" b="1" i="1" dirty="0">
                <a:solidFill>
                  <a:srgbClr val="FF6600"/>
                </a:solidFill>
                <a:ea typeface="+mn-ea"/>
                <a:cs typeface="Times New Roman" panose="02020603050405020304" pitchFamily="18" charset="0"/>
              </a:rPr>
              <a:t>T</a:t>
            </a:r>
            <a:r>
              <a:rPr kumimoji="1" lang="en-US" altLang="zh-CN" b="1" baseline="-25000" dirty="0">
                <a:solidFill>
                  <a:srgbClr val="FF6600"/>
                </a:solidFill>
                <a:ea typeface="+mn-ea"/>
                <a:cs typeface="Times New Roman" panose="02020603050405020304" pitchFamily="18" charset="0"/>
              </a:rPr>
              <a:t>2</a:t>
            </a:r>
            <a:r>
              <a:rPr kumimoji="1" lang="en-US" altLang="zh-CN" b="1" dirty="0">
                <a:solidFill>
                  <a:srgbClr val="FF6600"/>
                </a:solidFill>
                <a:ea typeface="+mn-ea"/>
                <a:cs typeface="Times New Roman" panose="02020603050405020304" pitchFamily="18" charset="0"/>
              </a:rPr>
              <a:t> </a:t>
            </a:r>
            <a:r>
              <a:rPr kumimoji="1" lang="zh-CN" altLang="en-US" b="1" dirty="0">
                <a:solidFill>
                  <a:srgbClr val="FF6600"/>
                </a:solidFill>
                <a:ea typeface="+mn-ea"/>
                <a:cs typeface="Times New Roman" panose="02020603050405020304" pitchFamily="18" charset="0"/>
              </a:rPr>
              <a:t>越低，则致冷系数越小</a:t>
            </a:r>
            <a:r>
              <a:rPr kumimoji="1" lang="zh-CN" altLang="en-US" b="1" dirty="0">
                <a:ea typeface="+mn-ea"/>
                <a:cs typeface="Times New Roman" panose="02020603050405020304" pitchFamily="18" charset="0"/>
              </a:rPr>
              <a:t>。</a:t>
            </a:r>
            <a:endParaRPr kumimoji="1" lang="zh-CN" altLang="en-US" b="1" dirty="0">
              <a:ea typeface="+mn-ea"/>
              <a:cs typeface="Times New Roman" panose="02020603050405020304" pitchFamily="18" charset="0"/>
            </a:endParaRPr>
          </a:p>
        </p:txBody>
      </p:sp>
      <p:sp>
        <p:nvSpPr>
          <p:cNvPr id="239666" name="Rectangle 50"/>
          <p:cNvSpPr>
            <a:spLocks noChangeArrowheads="1"/>
          </p:cNvSpPr>
          <p:nvPr/>
        </p:nvSpPr>
        <p:spPr bwMode="auto">
          <a:xfrm>
            <a:off x="476250" y="4643438"/>
            <a:ext cx="1079500" cy="512762"/>
          </a:xfrm>
          <a:prstGeom prst="rect">
            <a:avLst/>
          </a:prstGeom>
          <a:noFill/>
          <a:ln w="9525">
            <a:noFill/>
            <a:miter lim="800000"/>
          </a:ln>
        </p:spPr>
        <p:txBody>
          <a:bodyPr>
            <a:spAutoFit/>
          </a:bodyPr>
          <a:lstStyle/>
          <a:p>
            <a:pPr>
              <a:lnSpc>
                <a:spcPct val="115000"/>
              </a:lnSpc>
              <a:defRPr/>
            </a:pPr>
            <a:r>
              <a:rPr kumimoji="1" lang="zh-CN" altLang="en-US" b="1">
                <a:solidFill>
                  <a:srgbClr val="FF6600"/>
                </a:solidFill>
                <a:ea typeface="+mn-ea"/>
                <a:cs typeface="Times New Roman" panose="02020603050405020304" pitchFamily="18" charset="0"/>
              </a:rPr>
              <a:t>说明</a:t>
            </a:r>
            <a:endParaRPr kumimoji="1" lang="zh-CN" altLang="en-US" b="1">
              <a:solidFill>
                <a:srgbClr val="FF6600"/>
              </a:solidFill>
              <a:ea typeface="+mn-ea"/>
              <a:cs typeface="Times New Roman" panose="02020603050405020304" pitchFamily="18" charset="0"/>
            </a:endParaRPr>
          </a:p>
        </p:txBody>
      </p:sp>
      <p:sp>
        <p:nvSpPr>
          <p:cNvPr id="239667" name="AutoShape 51"/>
          <p:cNvSpPr>
            <a:spLocks noChangeArrowheads="1"/>
          </p:cNvSpPr>
          <p:nvPr/>
        </p:nvSpPr>
        <p:spPr bwMode="auto">
          <a:xfrm>
            <a:off x="117475" y="4652963"/>
            <a:ext cx="360363"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defRPr/>
            </a:pPr>
            <a:endParaRPr lang="zh-CN" altLang="en-US">
              <a:ea typeface="+mn-ea"/>
              <a:cs typeface="Times New Roman" panose="02020603050405020304" pitchFamily="18" charset="0"/>
            </a:endParaRPr>
          </a:p>
        </p:txBody>
      </p:sp>
      <p:graphicFrame>
        <p:nvGraphicFramePr>
          <p:cNvPr id="239668" name="Object 52"/>
          <p:cNvGraphicFramePr>
            <a:graphicFrameLocks noChangeAspect="1"/>
          </p:cNvGraphicFramePr>
          <p:nvPr/>
        </p:nvGraphicFramePr>
        <p:xfrm>
          <a:off x="1143000" y="3625850"/>
          <a:ext cx="2862263" cy="874713"/>
        </p:xfrm>
        <a:graphic>
          <a:graphicData uri="http://schemas.openxmlformats.org/presentationml/2006/ole">
            <mc:AlternateContent xmlns:mc="http://schemas.openxmlformats.org/markup-compatibility/2006">
              <mc:Choice xmlns:v="urn:schemas-microsoft-com:vml" Requires="v">
                <p:oleObj spid="_x0000_s60422" name="Equation" r:id="rId9" imgW="33832800" imgH="10363200" progId="Equation.DSMT4">
                  <p:embed/>
                </p:oleObj>
              </mc:Choice>
              <mc:Fallback>
                <p:oleObj name="Equation" r:id="rId9" imgW="33832800" imgH="10363200" progId="Equation.DSMT4">
                  <p:embed/>
                  <p:pic>
                    <p:nvPicPr>
                      <p:cNvPr id="0" name="Object 52"/>
                      <p:cNvPicPr>
                        <a:picLocks noChangeAspect="1"/>
                      </p:cNvPicPr>
                      <p:nvPr/>
                    </p:nvPicPr>
                    <p:blipFill>
                      <a:blip r:embed="rId10"/>
                      <a:stretch>
                        <a:fillRect/>
                      </a:stretch>
                    </p:blipFill>
                    <p:spPr>
                      <a:xfrm>
                        <a:off x="1143000" y="3625850"/>
                        <a:ext cx="2862263" cy="874713"/>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9618"/>
                                        </p:tgtEl>
                                        <p:attrNameLst>
                                          <p:attrName>style.visibility</p:attrName>
                                        </p:attrNameLst>
                                      </p:cBhvr>
                                      <p:to>
                                        <p:strVal val="visible"/>
                                      </p:to>
                                    </p:set>
                                    <p:animEffect transition="in" filter="wipe(left)">
                                      <p:cBhvr>
                                        <p:cTn id="7" dur="500"/>
                                        <p:tgtEl>
                                          <p:spTgt spid="2396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9620"/>
                                        </p:tgtEl>
                                        <p:attrNameLst>
                                          <p:attrName>style.visibility</p:attrName>
                                        </p:attrNameLst>
                                      </p:cBhvr>
                                      <p:to>
                                        <p:strVal val="visible"/>
                                      </p:to>
                                    </p:set>
                                    <p:animEffect transition="in" filter="wipe(left)">
                                      <p:cBhvr>
                                        <p:cTn id="12" dur="500"/>
                                        <p:tgtEl>
                                          <p:spTgt spid="2396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9623"/>
                                        </p:tgtEl>
                                        <p:attrNameLst>
                                          <p:attrName>style.visibility</p:attrName>
                                        </p:attrNameLst>
                                      </p:cBhvr>
                                      <p:to>
                                        <p:strVal val="visible"/>
                                      </p:to>
                                    </p:set>
                                    <p:animEffect transition="in" filter="wipe(left)">
                                      <p:cBhvr>
                                        <p:cTn id="17" dur="500"/>
                                        <p:tgtEl>
                                          <p:spTgt spid="2396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9619"/>
                                        </p:tgtEl>
                                        <p:attrNameLst>
                                          <p:attrName>style.visibility</p:attrName>
                                        </p:attrNameLst>
                                      </p:cBhvr>
                                      <p:to>
                                        <p:strVal val="visible"/>
                                      </p:to>
                                    </p:set>
                                    <p:animEffect transition="in" filter="wipe(left)">
                                      <p:cBhvr>
                                        <p:cTn id="22" dur="500"/>
                                        <p:tgtEl>
                                          <p:spTgt spid="2396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9621"/>
                                        </p:tgtEl>
                                        <p:attrNameLst>
                                          <p:attrName>style.visibility</p:attrName>
                                        </p:attrNameLst>
                                      </p:cBhvr>
                                      <p:to>
                                        <p:strVal val="visible"/>
                                      </p:to>
                                    </p:set>
                                    <p:animEffect transition="in" filter="wipe(left)">
                                      <p:cBhvr>
                                        <p:cTn id="27" dur="500"/>
                                        <p:tgtEl>
                                          <p:spTgt spid="23962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9622"/>
                                        </p:tgtEl>
                                        <p:attrNameLst>
                                          <p:attrName>style.visibility</p:attrName>
                                        </p:attrNameLst>
                                      </p:cBhvr>
                                      <p:to>
                                        <p:strVal val="visible"/>
                                      </p:to>
                                    </p:set>
                                    <p:animEffect transition="in" filter="blinds(horizontal)">
                                      <p:cBhvr>
                                        <p:cTn id="32" dur="500"/>
                                        <p:tgtEl>
                                          <p:spTgt spid="2396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9624"/>
                                        </p:tgtEl>
                                        <p:attrNameLst>
                                          <p:attrName>style.visibility</p:attrName>
                                        </p:attrNameLst>
                                      </p:cBhvr>
                                      <p:to>
                                        <p:strVal val="visible"/>
                                      </p:to>
                                    </p:set>
                                    <p:animEffect transition="in" filter="wipe(left)">
                                      <p:cBhvr>
                                        <p:cTn id="37" dur="500"/>
                                        <p:tgtEl>
                                          <p:spTgt spid="239624"/>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39625"/>
                                        </p:tgtEl>
                                        <p:attrNameLst>
                                          <p:attrName>style.visibility</p:attrName>
                                        </p:attrNameLst>
                                      </p:cBhvr>
                                      <p:to>
                                        <p:strVal val="visible"/>
                                      </p:to>
                                    </p:set>
                                    <p:animEffect transition="in" filter="wipe(left)">
                                      <p:cBhvr>
                                        <p:cTn id="41" dur="500"/>
                                        <p:tgtEl>
                                          <p:spTgt spid="23962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39663"/>
                                        </p:tgtEl>
                                        <p:attrNameLst>
                                          <p:attrName>style.visibility</p:attrName>
                                        </p:attrNameLst>
                                      </p:cBhvr>
                                      <p:to>
                                        <p:strVal val="visible"/>
                                      </p:to>
                                    </p:set>
                                    <p:animEffect transition="in" filter="wipe(left)">
                                      <p:cBhvr>
                                        <p:cTn id="46" dur="500"/>
                                        <p:tgtEl>
                                          <p:spTgt spid="23966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39668"/>
                                        </p:tgtEl>
                                        <p:attrNameLst>
                                          <p:attrName>style.visibility</p:attrName>
                                        </p:attrNameLst>
                                      </p:cBhvr>
                                      <p:to>
                                        <p:strVal val="visible"/>
                                      </p:to>
                                    </p:set>
                                    <p:animEffect transition="in" filter="wipe(left)">
                                      <p:cBhvr>
                                        <p:cTn id="51" dur="500"/>
                                        <p:tgtEl>
                                          <p:spTgt spid="239668"/>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239664"/>
                                        </p:tgtEl>
                                        <p:attrNameLst>
                                          <p:attrName>style.visibility</p:attrName>
                                        </p:attrNameLst>
                                      </p:cBhvr>
                                      <p:to>
                                        <p:strVal val="visible"/>
                                      </p:to>
                                    </p:set>
                                    <p:animEffect transition="in" filter="dissolve">
                                      <p:cBhvr>
                                        <p:cTn id="56" dur="500"/>
                                        <p:tgtEl>
                                          <p:spTgt spid="239664"/>
                                        </p:tgtEl>
                                      </p:cBhvr>
                                    </p:animEffect>
                                  </p:childTnLst>
                                </p:cTn>
                              </p:par>
                            </p:childTnLst>
                          </p:cTn>
                        </p:par>
                      </p:childTnLst>
                    </p:cTn>
                  </p:par>
                  <p:par>
                    <p:cTn id="57" fill="hold">
                      <p:stCondLst>
                        <p:cond delay="indefinite"/>
                      </p:stCondLst>
                      <p:childTnLst>
                        <p:par>
                          <p:cTn id="58" fill="hold">
                            <p:stCondLst>
                              <p:cond delay="0"/>
                            </p:stCondLst>
                            <p:childTnLst>
                              <p:par>
                                <p:cTn id="59" presetID="23" presetClass="entr" presetSubtype="32" fill="hold" grpId="0" nodeType="clickEffect">
                                  <p:stCondLst>
                                    <p:cond delay="0"/>
                                  </p:stCondLst>
                                  <p:childTnLst>
                                    <p:set>
                                      <p:cBhvr>
                                        <p:cTn id="60" dur="1" fill="hold">
                                          <p:stCondLst>
                                            <p:cond delay="0"/>
                                          </p:stCondLst>
                                        </p:cTn>
                                        <p:tgtEl>
                                          <p:spTgt spid="239667"/>
                                        </p:tgtEl>
                                        <p:attrNameLst>
                                          <p:attrName>style.visibility</p:attrName>
                                        </p:attrNameLst>
                                      </p:cBhvr>
                                      <p:to>
                                        <p:strVal val="visible"/>
                                      </p:to>
                                    </p:set>
                                    <p:anim calcmode="lin" valueType="num">
                                      <p:cBhvr>
                                        <p:cTn id="61" dur="500" fill="hold"/>
                                        <p:tgtEl>
                                          <p:spTgt spid="239667"/>
                                        </p:tgtEl>
                                        <p:attrNameLst>
                                          <p:attrName>ppt_w</p:attrName>
                                        </p:attrNameLst>
                                      </p:cBhvr>
                                      <p:tavLst>
                                        <p:tav tm="0">
                                          <p:val>
                                            <p:strVal val="4*#ppt_w"/>
                                          </p:val>
                                        </p:tav>
                                        <p:tav tm="100000">
                                          <p:val>
                                            <p:strVal val="#ppt_w"/>
                                          </p:val>
                                        </p:tav>
                                      </p:tavLst>
                                    </p:anim>
                                    <p:anim calcmode="lin" valueType="num">
                                      <p:cBhvr>
                                        <p:cTn id="62" dur="500" fill="hold"/>
                                        <p:tgtEl>
                                          <p:spTgt spid="239667"/>
                                        </p:tgtEl>
                                        <p:attrNameLst>
                                          <p:attrName>ppt_h</p:attrName>
                                        </p:attrNameLst>
                                      </p:cBhvr>
                                      <p:tavLst>
                                        <p:tav tm="0">
                                          <p:val>
                                            <p:strVal val="4*#ppt_h"/>
                                          </p:val>
                                        </p:tav>
                                        <p:tav tm="100000">
                                          <p:val>
                                            <p:strVal val="#ppt_h"/>
                                          </p:val>
                                        </p:tav>
                                      </p:tavLst>
                                    </p:anim>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239666"/>
                                        </p:tgtEl>
                                        <p:attrNameLst>
                                          <p:attrName>style.visibility</p:attrName>
                                        </p:attrNameLst>
                                      </p:cBhvr>
                                      <p:to>
                                        <p:strVal val="visible"/>
                                      </p:to>
                                    </p:set>
                                    <p:animEffect transition="in" filter="wipe(left)">
                                      <p:cBhvr>
                                        <p:cTn id="66" dur="500"/>
                                        <p:tgtEl>
                                          <p:spTgt spid="23966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39665"/>
                                        </p:tgtEl>
                                        <p:attrNameLst>
                                          <p:attrName>style.visibility</p:attrName>
                                        </p:attrNameLst>
                                      </p:cBhvr>
                                      <p:to>
                                        <p:strVal val="visible"/>
                                      </p:to>
                                    </p:set>
                                    <p:animEffect transition="in" filter="wipe(left)">
                                      <p:cBhvr>
                                        <p:cTn id="71" dur="1000"/>
                                        <p:tgtEl>
                                          <p:spTgt spid="239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p:bldP spid="239621" grpId="0"/>
      <p:bldP spid="239622" grpId="0" animBg="1"/>
      <p:bldP spid="239623" grpId="0"/>
      <p:bldP spid="239624" grpId="0" animBg="1"/>
      <p:bldP spid="239663" grpId="0" animBg="1"/>
      <p:bldP spid="239664" grpId="0" animBg="1" autoUpdateAnimBg="0"/>
      <p:bldP spid="239665" grpId="0"/>
      <p:bldP spid="239666" grpId="0"/>
      <p:bldP spid="239667"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18" name="Object 3"/>
          <p:cNvGraphicFramePr>
            <a:graphicFrameLocks noChangeAspect="1"/>
          </p:cNvGraphicFramePr>
          <p:nvPr/>
        </p:nvGraphicFramePr>
        <p:xfrm>
          <a:off x="2297113" y="549275"/>
          <a:ext cx="1522412" cy="781050"/>
        </p:xfrm>
        <a:graphic>
          <a:graphicData uri="http://schemas.openxmlformats.org/presentationml/2006/ole">
            <mc:AlternateContent xmlns:mc="http://schemas.openxmlformats.org/markup-compatibility/2006">
              <mc:Choice xmlns:v="urn:schemas-microsoft-com:vml" Requires="v">
                <p:oleObj spid="_x0000_s61441" name="Equation" r:id="rId1" imgW="20421600" imgH="10363200" progId="Equation.DSMT4">
                  <p:embed/>
                </p:oleObj>
              </mc:Choice>
              <mc:Fallback>
                <p:oleObj name="Equation" r:id="rId1" imgW="20421600" imgH="10363200" progId="Equation.DSMT4">
                  <p:embed/>
                  <p:pic>
                    <p:nvPicPr>
                      <p:cNvPr id="0" name="Object 3"/>
                      <p:cNvPicPr>
                        <a:picLocks noChangeAspect="1"/>
                      </p:cNvPicPr>
                      <p:nvPr/>
                    </p:nvPicPr>
                    <p:blipFill>
                      <a:blip r:embed="rId2"/>
                      <a:stretch>
                        <a:fillRect/>
                      </a:stretch>
                    </p:blipFill>
                    <p:spPr>
                      <a:xfrm>
                        <a:off x="2297113" y="549275"/>
                        <a:ext cx="1522412" cy="781050"/>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sp>
        <p:nvSpPr>
          <p:cNvPr id="117764" name="Text Box 4"/>
          <p:cNvSpPr txBox="1">
            <a:spLocks noChangeArrowheads="1"/>
          </p:cNvSpPr>
          <p:nvPr/>
        </p:nvSpPr>
        <p:spPr bwMode="auto">
          <a:xfrm>
            <a:off x="179388" y="1452563"/>
            <a:ext cx="8785225" cy="866775"/>
          </a:xfrm>
          <a:prstGeom prst="rect">
            <a:avLst/>
          </a:prstGeom>
          <a:noFill/>
          <a:ln w="9525">
            <a:noFill/>
            <a:miter lim="800000"/>
          </a:ln>
        </p:spPr>
        <p:txBody>
          <a:bodyPr>
            <a:spAutoFit/>
          </a:bodyPr>
          <a:lstStyle/>
          <a:p>
            <a:pPr>
              <a:lnSpc>
                <a:spcPct val="120000"/>
              </a:lnSpc>
              <a:defRPr/>
            </a:pPr>
            <a:r>
              <a:rPr kumimoji="1" lang="en-US" altLang="zh-CN" sz="2200" b="1">
                <a:ea typeface="+mn-ea"/>
                <a:cs typeface="Times New Roman" panose="02020603050405020304" pitchFamily="18" charset="0"/>
              </a:rPr>
              <a:t>       </a:t>
            </a:r>
            <a:r>
              <a:rPr kumimoji="1" lang="zh-CN" altLang="en-US" sz="2200" b="1">
                <a:ea typeface="+mn-ea"/>
                <a:cs typeface="Times New Roman" panose="02020603050405020304" pitchFamily="18" charset="0"/>
              </a:rPr>
              <a:t>若环境温度为 </a:t>
            </a:r>
            <a:r>
              <a:rPr kumimoji="1" lang="en-US" altLang="zh-CN" sz="2200" b="1">
                <a:solidFill>
                  <a:srgbClr val="FF6600"/>
                </a:solidFill>
                <a:ea typeface="+mn-ea"/>
                <a:cs typeface="Times New Roman" panose="02020603050405020304" pitchFamily="18" charset="0"/>
              </a:rPr>
              <a:t>300K</a:t>
            </a:r>
            <a:r>
              <a:rPr kumimoji="1" lang="en-US" altLang="zh-CN" sz="2200" b="1">
                <a:solidFill>
                  <a:srgbClr val="FF0000"/>
                </a:solidFill>
                <a:ea typeface="+mn-ea"/>
                <a:cs typeface="Times New Roman" panose="02020603050405020304" pitchFamily="18" charset="0"/>
              </a:rPr>
              <a:t> </a:t>
            </a:r>
            <a:r>
              <a:rPr kumimoji="1" lang="zh-CN" altLang="en-US" sz="2200" b="1">
                <a:ea typeface="+mn-ea"/>
                <a:cs typeface="Times New Roman" panose="02020603050405020304" pitchFamily="18" charset="0"/>
              </a:rPr>
              <a:t>，经历循环每次吸取的热量都是 </a:t>
            </a:r>
            <a:r>
              <a:rPr kumimoji="1" lang="en-US" altLang="zh-CN" sz="2200" b="1">
                <a:solidFill>
                  <a:srgbClr val="FF6600"/>
                </a:solidFill>
                <a:ea typeface="+mn-ea"/>
                <a:cs typeface="Times New Roman" panose="02020603050405020304" pitchFamily="18" charset="0"/>
              </a:rPr>
              <a:t>100J </a:t>
            </a:r>
            <a:r>
              <a:rPr kumimoji="1" lang="zh-CN" altLang="en-US" sz="2200" b="1">
                <a:ea typeface="+mn-ea"/>
                <a:cs typeface="Times New Roman" panose="02020603050405020304" pitchFamily="18" charset="0"/>
              </a:rPr>
              <a:t>，当冷库的温度分别为</a:t>
            </a:r>
            <a:r>
              <a:rPr kumimoji="1" lang="en-US" altLang="zh-CN" sz="2200" b="1">
                <a:solidFill>
                  <a:srgbClr val="FF6600"/>
                </a:solidFill>
                <a:ea typeface="+mn-ea"/>
                <a:cs typeface="Times New Roman" panose="02020603050405020304" pitchFamily="18" charset="0"/>
              </a:rPr>
              <a:t>100K</a:t>
            </a:r>
            <a:r>
              <a:rPr kumimoji="1" lang="zh-CN" altLang="en-US" sz="2200" b="1">
                <a:ea typeface="+mn-ea"/>
                <a:cs typeface="Times New Roman" panose="02020603050405020304" pitchFamily="18" charset="0"/>
              </a:rPr>
              <a:t>、</a:t>
            </a:r>
            <a:r>
              <a:rPr kumimoji="1" lang="en-US" altLang="zh-CN" sz="2200" b="1">
                <a:solidFill>
                  <a:srgbClr val="FF6600"/>
                </a:solidFill>
                <a:ea typeface="+mn-ea"/>
                <a:cs typeface="Times New Roman" panose="02020603050405020304" pitchFamily="18" charset="0"/>
              </a:rPr>
              <a:t>1K</a:t>
            </a:r>
            <a:r>
              <a:rPr kumimoji="1" lang="zh-CN" altLang="en-US" sz="2200" b="1">
                <a:ea typeface="+mn-ea"/>
                <a:cs typeface="Times New Roman" panose="02020603050405020304" pitchFamily="18" charset="0"/>
              </a:rPr>
              <a:t>、</a:t>
            </a:r>
            <a:r>
              <a:rPr kumimoji="1" lang="en-US" altLang="zh-CN" sz="2200" b="1">
                <a:solidFill>
                  <a:srgbClr val="FF6600"/>
                </a:solidFill>
                <a:ea typeface="+mn-ea"/>
                <a:cs typeface="Times New Roman" panose="02020603050405020304" pitchFamily="18" charset="0"/>
              </a:rPr>
              <a:t>10</a:t>
            </a:r>
            <a:r>
              <a:rPr kumimoji="1" lang="en-US" altLang="zh-CN" sz="2200" b="1" baseline="30000">
                <a:solidFill>
                  <a:srgbClr val="FF6600"/>
                </a:solidFill>
                <a:ea typeface="+mn-ea"/>
                <a:cs typeface="Times New Roman" panose="02020603050405020304" pitchFamily="18" charset="0"/>
              </a:rPr>
              <a:t>-3</a:t>
            </a:r>
            <a:r>
              <a:rPr kumimoji="1" lang="en-US" altLang="zh-CN" sz="2200" b="1">
                <a:solidFill>
                  <a:srgbClr val="FF6600"/>
                </a:solidFill>
                <a:ea typeface="+mn-ea"/>
                <a:cs typeface="Times New Roman" panose="02020603050405020304" pitchFamily="18" charset="0"/>
              </a:rPr>
              <a:t>K</a:t>
            </a:r>
            <a:r>
              <a:rPr kumimoji="1" lang="zh-CN" altLang="en-US" sz="2200" b="1">
                <a:ea typeface="+mn-ea"/>
                <a:cs typeface="Times New Roman" panose="02020603050405020304" pitchFamily="18" charset="0"/>
              </a:rPr>
              <a:t>时，需作的功。</a:t>
            </a:r>
            <a:endParaRPr kumimoji="1" lang="zh-CN" altLang="en-US" sz="2200" b="1">
              <a:ea typeface="+mn-ea"/>
              <a:cs typeface="Times New Roman" panose="02020603050405020304" pitchFamily="18" charset="0"/>
            </a:endParaRPr>
          </a:p>
        </p:txBody>
      </p:sp>
      <p:sp>
        <p:nvSpPr>
          <p:cNvPr id="60423" name="Text Box 5"/>
          <p:cNvSpPr txBox="1">
            <a:spLocks noChangeArrowheads="1"/>
          </p:cNvSpPr>
          <p:nvPr/>
        </p:nvSpPr>
        <p:spPr bwMode="auto">
          <a:xfrm>
            <a:off x="3951288" y="739775"/>
            <a:ext cx="3897312" cy="461963"/>
          </a:xfrm>
          <a:prstGeom prst="rect">
            <a:avLst/>
          </a:prstGeom>
          <a:noFill/>
          <a:ln w="9525">
            <a:noFill/>
            <a:miter lim="800000"/>
          </a:ln>
        </p:spPr>
        <p:txBody>
          <a:bodyPr wrap="none">
            <a:spAutoFit/>
          </a:bodyPr>
          <a:lstStyle/>
          <a:p>
            <a:pPr>
              <a:defRPr/>
            </a:pPr>
            <a:r>
              <a:rPr kumimoji="1" lang="zh-CN" altLang="en-US" b="1" dirty="0">
                <a:ea typeface="+mn-ea"/>
                <a:cs typeface="Times New Roman" panose="02020603050405020304" pitchFamily="18" charset="0"/>
              </a:rPr>
              <a:t>温差越大，致冷系数越低。</a:t>
            </a:r>
            <a:endParaRPr kumimoji="1" lang="zh-CN" altLang="en-US" b="1" dirty="0">
              <a:ea typeface="+mn-ea"/>
              <a:cs typeface="Times New Roman" panose="02020603050405020304" pitchFamily="18" charset="0"/>
            </a:endParaRPr>
          </a:p>
        </p:txBody>
      </p:sp>
      <p:graphicFrame>
        <p:nvGraphicFramePr>
          <p:cNvPr id="117766" name="Object 6"/>
          <p:cNvGraphicFramePr/>
          <p:nvPr/>
        </p:nvGraphicFramePr>
        <p:xfrm>
          <a:off x="793750" y="2503488"/>
          <a:ext cx="5534025" cy="776287"/>
        </p:xfrm>
        <a:graphic>
          <a:graphicData uri="http://schemas.openxmlformats.org/presentationml/2006/ole">
            <mc:AlternateContent xmlns:mc="http://schemas.openxmlformats.org/markup-compatibility/2006">
              <mc:Choice xmlns:v="urn:schemas-microsoft-com:vml" Requires="v">
                <p:oleObj spid="_x0000_s61443" name="Equation" r:id="rId3" imgW="73761600" imgH="10363200" progId="Equation.DSMT4">
                  <p:embed/>
                </p:oleObj>
              </mc:Choice>
              <mc:Fallback>
                <p:oleObj name="Equation" r:id="rId3" imgW="73761600" imgH="10363200" progId="Equation.DSMT4">
                  <p:embed/>
                  <p:pic>
                    <p:nvPicPr>
                      <p:cNvPr id="0" name="Object 6"/>
                      <p:cNvPicPr/>
                      <p:nvPr/>
                    </p:nvPicPr>
                    <p:blipFill>
                      <a:blip r:embed="rId4"/>
                      <a:stretch>
                        <a:fillRect/>
                      </a:stretch>
                    </p:blipFill>
                    <p:spPr>
                      <a:xfrm>
                        <a:off x="793750" y="2503488"/>
                        <a:ext cx="5534025" cy="776287"/>
                      </a:xfrm>
                      <a:prstGeom prst="rect">
                        <a:avLst/>
                      </a:prstGeom>
                      <a:noFill/>
                      <a:ln w="9525">
                        <a:noFill/>
                      </a:ln>
                    </p:spPr>
                  </p:pic>
                </p:oleObj>
              </mc:Fallback>
            </mc:AlternateContent>
          </a:graphicData>
        </a:graphic>
      </p:graphicFrame>
      <p:graphicFrame>
        <p:nvGraphicFramePr>
          <p:cNvPr id="117767" name="Object 7"/>
          <p:cNvGraphicFramePr/>
          <p:nvPr/>
        </p:nvGraphicFramePr>
        <p:xfrm>
          <a:off x="801688" y="3429000"/>
          <a:ext cx="3498850" cy="730250"/>
        </p:xfrm>
        <a:graphic>
          <a:graphicData uri="http://schemas.openxmlformats.org/presentationml/2006/ole">
            <mc:AlternateContent xmlns:mc="http://schemas.openxmlformats.org/markup-compatibility/2006">
              <mc:Choice xmlns:v="urn:schemas-microsoft-com:vml" Requires="v">
                <p:oleObj spid="_x0000_s61444" name="公式" r:id="rId5" imgW="46634400" imgH="9753600" progId="Equation.3">
                  <p:embed/>
                </p:oleObj>
              </mc:Choice>
              <mc:Fallback>
                <p:oleObj name="公式" r:id="rId5" imgW="46634400" imgH="9753600" progId="Equation.3">
                  <p:embed/>
                  <p:pic>
                    <p:nvPicPr>
                      <p:cNvPr id="0" name="Object 7"/>
                      <p:cNvPicPr/>
                      <p:nvPr/>
                    </p:nvPicPr>
                    <p:blipFill>
                      <a:blip r:embed="rId6"/>
                      <a:stretch>
                        <a:fillRect/>
                      </a:stretch>
                    </p:blipFill>
                    <p:spPr>
                      <a:xfrm>
                        <a:off x="801688" y="3429000"/>
                        <a:ext cx="3498850" cy="730250"/>
                      </a:xfrm>
                      <a:prstGeom prst="rect">
                        <a:avLst/>
                      </a:prstGeom>
                      <a:noFill/>
                      <a:ln w="9525">
                        <a:noFill/>
                      </a:ln>
                    </p:spPr>
                  </p:pic>
                </p:oleObj>
              </mc:Fallback>
            </mc:AlternateContent>
          </a:graphicData>
        </a:graphic>
      </p:graphicFrame>
      <p:graphicFrame>
        <p:nvGraphicFramePr>
          <p:cNvPr id="117768" name="Object 8"/>
          <p:cNvGraphicFramePr/>
          <p:nvPr/>
        </p:nvGraphicFramePr>
        <p:xfrm>
          <a:off x="728663" y="4267200"/>
          <a:ext cx="3843337" cy="752475"/>
        </p:xfrm>
        <a:graphic>
          <a:graphicData uri="http://schemas.openxmlformats.org/presentationml/2006/ole">
            <mc:AlternateContent xmlns:mc="http://schemas.openxmlformats.org/markup-compatibility/2006">
              <mc:Choice xmlns:v="urn:schemas-microsoft-com:vml" Requires="v">
                <p:oleObj spid="_x0000_s61445" name="公式" r:id="rId7" imgW="51206400" imgH="10058400" progId="Equation.3">
                  <p:embed/>
                </p:oleObj>
              </mc:Choice>
              <mc:Fallback>
                <p:oleObj name="公式" r:id="rId7" imgW="51206400" imgH="10058400" progId="Equation.3">
                  <p:embed/>
                  <p:pic>
                    <p:nvPicPr>
                      <p:cNvPr id="0" name="Object 8"/>
                      <p:cNvPicPr/>
                      <p:nvPr/>
                    </p:nvPicPr>
                    <p:blipFill>
                      <a:blip r:embed="rId8"/>
                      <a:stretch>
                        <a:fillRect/>
                      </a:stretch>
                    </p:blipFill>
                    <p:spPr>
                      <a:xfrm>
                        <a:off x="728663" y="4267200"/>
                        <a:ext cx="3843337" cy="752475"/>
                      </a:xfrm>
                      <a:prstGeom prst="rect">
                        <a:avLst/>
                      </a:prstGeom>
                      <a:noFill/>
                      <a:ln w="9525">
                        <a:noFill/>
                      </a:ln>
                    </p:spPr>
                  </p:pic>
                </p:oleObj>
              </mc:Fallback>
            </mc:AlternateContent>
          </a:graphicData>
        </a:graphic>
      </p:graphicFrame>
      <p:sp>
        <p:nvSpPr>
          <p:cNvPr id="117769" name="Text Box 9"/>
          <p:cNvSpPr txBox="1">
            <a:spLocks noChangeArrowheads="1"/>
          </p:cNvSpPr>
          <p:nvPr/>
        </p:nvSpPr>
        <p:spPr bwMode="auto">
          <a:xfrm>
            <a:off x="395288" y="5167313"/>
            <a:ext cx="8424862" cy="460375"/>
          </a:xfrm>
          <a:prstGeom prst="rect">
            <a:avLst/>
          </a:prstGeom>
          <a:noFill/>
          <a:ln w="9525">
            <a:noFill/>
            <a:miter lim="800000"/>
          </a:ln>
        </p:spPr>
        <p:txBody>
          <a:bodyPr>
            <a:spAutoFit/>
          </a:bodyPr>
          <a:lstStyle/>
          <a:p>
            <a:pPr>
              <a:lnSpc>
                <a:spcPct val="120000"/>
              </a:lnSpc>
              <a:defRPr/>
            </a:pPr>
            <a:r>
              <a:rPr kumimoji="1" lang="en-US" altLang="zh-CN" sz="2200" b="1">
                <a:ea typeface="+mn-ea"/>
                <a:cs typeface="Times New Roman" panose="02020603050405020304" pitchFamily="18" charset="0"/>
              </a:rPr>
              <a:t> </a:t>
            </a:r>
            <a:r>
              <a:rPr kumimoji="1" lang="zh-CN" altLang="en-US" sz="2200" b="1">
                <a:ea typeface="+mn-ea"/>
                <a:cs typeface="Times New Roman" panose="02020603050405020304" pitchFamily="18" charset="0"/>
              </a:rPr>
              <a:t>当 </a:t>
            </a:r>
            <a:r>
              <a:rPr kumimoji="1" lang="en-US" altLang="zh-CN" sz="2200" b="1" i="1">
                <a:solidFill>
                  <a:srgbClr val="FF6600"/>
                </a:solidFill>
                <a:ea typeface="+mn-ea"/>
                <a:cs typeface="Times New Roman" panose="02020603050405020304" pitchFamily="18" charset="0"/>
              </a:rPr>
              <a:t>T</a:t>
            </a:r>
            <a:r>
              <a:rPr kumimoji="1" lang="en-US" altLang="zh-CN" sz="2200" b="1" baseline="-25000">
                <a:solidFill>
                  <a:srgbClr val="FF6600"/>
                </a:solidFill>
                <a:ea typeface="+mn-ea"/>
                <a:cs typeface="Times New Roman" panose="02020603050405020304" pitchFamily="18" charset="0"/>
              </a:rPr>
              <a:t>2 </a:t>
            </a:r>
            <a:r>
              <a:rPr kumimoji="1" lang="zh-CN" altLang="en-US" sz="2200" b="1">
                <a:ea typeface="+mn-ea"/>
                <a:cs typeface="Times New Roman" panose="02020603050405020304" pitchFamily="18" charset="0"/>
              </a:rPr>
              <a:t>趋近于 </a:t>
            </a:r>
            <a:r>
              <a:rPr kumimoji="1" lang="en-US" altLang="zh-CN" sz="2200" b="1">
                <a:solidFill>
                  <a:srgbClr val="FF6600"/>
                </a:solidFill>
                <a:ea typeface="+mn-ea"/>
                <a:cs typeface="Times New Roman" panose="02020603050405020304" pitchFamily="18" charset="0"/>
              </a:rPr>
              <a:t>0K </a:t>
            </a:r>
            <a:r>
              <a:rPr kumimoji="1" lang="zh-CN" altLang="en-US" sz="2200" b="1">
                <a:ea typeface="+mn-ea"/>
                <a:cs typeface="Times New Roman" panose="02020603050405020304" pitchFamily="18" charset="0"/>
              </a:rPr>
              <a:t>时，只要 </a:t>
            </a:r>
            <a:r>
              <a:rPr kumimoji="1" lang="en-US" altLang="zh-CN" sz="2200" b="1" i="1">
                <a:solidFill>
                  <a:srgbClr val="FF6600"/>
                </a:solidFill>
                <a:ea typeface="+mn-ea"/>
                <a:cs typeface="Times New Roman" panose="02020603050405020304" pitchFamily="18" charset="0"/>
              </a:rPr>
              <a:t>Q</a:t>
            </a:r>
            <a:r>
              <a:rPr kumimoji="1" lang="en-US" altLang="zh-CN" sz="2200" b="1" baseline="-25000">
                <a:solidFill>
                  <a:srgbClr val="FF6600"/>
                </a:solidFill>
                <a:ea typeface="+mn-ea"/>
                <a:cs typeface="Times New Roman" panose="02020603050405020304" pitchFamily="18" charset="0"/>
              </a:rPr>
              <a:t>2 </a:t>
            </a:r>
            <a:r>
              <a:rPr kumimoji="1" lang="zh-CN" altLang="en-US" sz="2200" b="1">
                <a:ea typeface="+mn-ea"/>
                <a:cs typeface="Times New Roman" panose="02020603050405020304" pitchFamily="18" charset="0"/>
              </a:rPr>
              <a:t>不为零，则所需的功将接近无穷大！</a:t>
            </a:r>
            <a:endParaRPr kumimoji="1" lang="zh-CN" altLang="en-US" sz="2200" b="1">
              <a:ea typeface="+mn-ea"/>
              <a:cs typeface="Times New Roman" panose="02020603050405020304" pitchFamily="18" charset="0"/>
            </a:endParaRPr>
          </a:p>
        </p:txBody>
      </p:sp>
      <p:sp>
        <p:nvSpPr>
          <p:cNvPr id="117770" name="Text Box 10"/>
          <p:cNvSpPr txBox="1">
            <a:spLocks noChangeArrowheads="1"/>
          </p:cNvSpPr>
          <p:nvPr/>
        </p:nvSpPr>
        <p:spPr bwMode="auto">
          <a:xfrm>
            <a:off x="1000125" y="5857875"/>
            <a:ext cx="6346825" cy="457200"/>
          </a:xfrm>
          <a:prstGeom prst="rect">
            <a:avLst/>
          </a:prstGeom>
          <a:noFill/>
          <a:ln w="9525">
            <a:solidFill>
              <a:srgbClr val="0000FF"/>
            </a:solidFill>
            <a:miter lim="800000"/>
          </a:ln>
        </p:spPr>
        <p:txBody>
          <a:bodyPr>
            <a:spAutoFit/>
          </a:bodyPr>
          <a:lstStyle/>
          <a:p>
            <a:pPr>
              <a:defRPr/>
            </a:pPr>
            <a:r>
              <a:rPr kumimoji="1" lang="en-US" altLang="zh-CN" b="1" dirty="0">
                <a:solidFill>
                  <a:srgbClr val="FFFF00"/>
                </a:solidFill>
                <a:ea typeface="+mn-ea"/>
                <a:cs typeface="Times New Roman" panose="02020603050405020304" pitchFamily="18" charset="0"/>
              </a:rPr>
              <a:t> </a:t>
            </a:r>
            <a:r>
              <a:rPr kumimoji="1" lang="zh-CN" altLang="en-US" b="1" dirty="0">
                <a:solidFill>
                  <a:srgbClr val="FF0000"/>
                </a:solidFill>
                <a:ea typeface="+mn-ea"/>
                <a:cs typeface="Times New Roman" panose="02020603050405020304" pitchFamily="18" charset="0"/>
              </a:rPr>
              <a:t>热力学第三定律：</a:t>
            </a:r>
            <a:r>
              <a:rPr kumimoji="1" lang="zh-CN" altLang="en-US" b="1" dirty="0">
                <a:ea typeface="+mn-ea"/>
                <a:cs typeface="Times New Roman" panose="02020603050405020304" pitchFamily="18" charset="0"/>
              </a:rPr>
              <a:t>绝对零度不能达到。</a:t>
            </a:r>
            <a:endParaRPr kumimoji="1" lang="zh-CN" altLang="en-US" b="1" dirty="0">
              <a:ea typeface="+mn-ea"/>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wipe(left)">
                                      <p:cBhvr>
                                        <p:cTn id="7" dur="500"/>
                                        <p:tgtEl>
                                          <p:spTgt spid="604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23"/>
                                        </p:tgtEl>
                                        <p:attrNameLst>
                                          <p:attrName>style.visibility</p:attrName>
                                        </p:attrNameLst>
                                      </p:cBhvr>
                                      <p:to>
                                        <p:strVal val="visible"/>
                                      </p:to>
                                    </p:set>
                                    <p:animEffect transition="in" filter="wipe(left)">
                                      <p:cBhvr>
                                        <p:cTn id="12" dur="500"/>
                                        <p:tgtEl>
                                          <p:spTgt spid="604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7764"/>
                                        </p:tgtEl>
                                        <p:attrNameLst>
                                          <p:attrName>style.visibility</p:attrName>
                                        </p:attrNameLst>
                                      </p:cBhvr>
                                      <p:to>
                                        <p:strVal val="visible"/>
                                      </p:to>
                                    </p:set>
                                    <p:animEffect transition="in" filter="wipe(left)">
                                      <p:cBhvr>
                                        <p:cTn id="17" dur="500"/>
                                        <p:tgtEl>
                                          <p:spTgt spid="1177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7766"/>
                                        </p:tgtEl>
                                        <p:attrNameLst>
                                          <p:attrName>style.visibility</p:attrName>
                                        </p:attrNameLst>
                                      </p:cBhvr>
                                      <p:to>
                                        <p:strVal val="visible"/>
                                      </p:to>
                                    </p:set>
                                    <p:animEffect transition="in" filter="wipe(left)">
                                      <p:cBhvr>
                                        <p:cTn id="22" dur="500"/>
                                        <p:tgtEl>
                                          <p:spTgt spid="1177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7767"/>
                                        </p:tgtEl>
                                        <p:attrNameLst>
                                          <p:attrName>style.visibility</p:attrName>
                                        </p:attrNameLst>
                                      </p:cBhvr>
                                      <p:to>
                                        <p:strVal val="visible"/>
                                      </p:to>
                                    </p:set>
                                    <p:animEffect transition="in" filter="wipe(left)">
                                      <p:cBhvr>
                                        <p:cTn id="27" dur="500"/>
                                        <p:tgtEl>
                                          <p:spTgt spid="11776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7768"/>
                                        </p:tgtEl>
                                        <p:attrNameLst>
                                          <p:attrName>style.visibility</p:attrName>
                                        </p:attrNameLst>
                                      </p:cBhvr>
                                      <p:to>
                                        <p:strVal val="visible"/>
                                      </p:to>
                                    </p:set>
                                    <p:animEffect transition="in" filter="wipe(left)">
                                      <p:cBhvr>
                                        <p:cTn id="32" dur="500"/>
                                        <p:tgtEl>
                                          <p:spTgt spid="1177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7769"/>
                                        </p:tgtEl>
                                        <p:attrNameLst>
                                          <p:attrName>style.visibility</p:attrName>
                                        </p:attrNameLst>
                                      </p:cBhvr>
                                      <p:to>
                                        <p:strVal val="visible"/>
                                      </p:to>
                                    </p:set>
                                    <p:animEffect transition="in" filter="wipe(left)">
                                      <p:cBhvr>
                                        <p:cTn id="37" dur="500"/>
                                        <p:tgtEl>
                                          <p:spTgt spid="1177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7770"/>
                                        </p:tgtEl>
                                        <p:attrNameLst>
                                          <p:attrName>style.visibility</p:attrName>
                                        </p:attrNameLst>
                                      </p:cBhvr>
                                      <p:to>
                                        <p:strVal val="visible"/>
                                      </p:to>
                                    </p:set>
                                    <p:animEffect transition="in" filter="wipe(left)">
                                      <p:cBhvr>
                                        <p:cTn id="42" dur="500"/>
                                        <p:tgtEl>
                                          <p:spTgt spid="117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autoUpdateAnimBg="0"/>
      <p:bldP spid="60423" grpId="0"/>
      <p:bldP spid="117769" grpId="0" autoUpdateAnimBg="0"/>
      <p:bldP spid="117770"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206375" y="515938"/>
            <a:ext cx="8621713" cy="1516062"/>
          </a:xfrm>
          <a:prstGeom prst="rect">
            <a:avLst/>
          </a:prstGeom>
          <a:noFill/>
          <a:ln w="9525">
            <a:noFill/>
            <a:miter lim="800000"/>
          </a:ln>
        </p:spPr>
        <p:txBody>
          <a:bodyPr>
            <a:spAutoFit/>
          </a:bodyPr>
          <a:lstStyle/>
          <a:p>
            <a:pPr algn="just">
              <a:lnSpc>
                <a:spcPct val="130000"/>
              </a:lnSpc>
              <a:spcBef>
                <a:spcPct val="50000"/>
              </a:spcBef>
            </a:pPr>
            <a:r>
              <a:rPr kumimoji="1" lang="zh-CN" altLang="en-US" b="1">
                <a:solidFill>
                  <a:srgbClr val="FF0000"/>
                </a:solidFill>
                <a:cs typeface="Times New Roman" panose="02020603050405020304" pitchFamily="18" charset="0"/>
              </a:rPr>
              <a:t>例</a:t>
            </a:r>
            <a:r>
              <a:rPr kumimoji="1" lang="zh-CN" altLang="en-US" b="1">
                <a:cs typeface="Times New Roman" panose="02020603050405020304" pitchFamily="18" charset="0"/>
              </a:rPr>
              <a:t>  有一卡诺制冷机，低温热源的温度为 </a:t>
            </a:r>
            <a:r>
              <a:rPr kumimoji="1" lang="en-US" altLang="zh-CN" b="1">
                <a:solidFill>
                  <a:srgbClr val="FF6600"/>
                </a:solidFill>
                <a:cs typeface="Times New Roman" panose="02020603050405020304" pitchFamily="18" charset="0"/>
              </a:rPr>
              <a:t>280K </a:t>
            </a:r>
            <a:r>
              <a:rPr kumimoji="1" lang="zh-CN" altLang="en-US" b="1">
                <a:cs typeface="Times New Roman" panose="02020603050405020304" pitchFamily="18" charset="0"/>
              </a:rPr>
              <a:t>，高温热源的温度为 </a:t>
            </a:r>
            <a:r>
              <a:rPr kumimoji="1" lang="en-US" altLang="zh-CN" b="1">
                <a:solidFill>
                  <a:srgbClr val="FF6600"/>
                </a:solidFill>
                <a:cs typeface="Times New Roman" panose="02020603050405020304" pitchFamily="18" charset="0"/>
              </a:rPr>
              <a:t>300K </a:t>
            </a:r>
            <a:r>
              <a:rPr kumimoji="1" lang="zh-CN" altLang="en-US" b="1">
                <a:cs typeface="Times New Roman" panose="02020603050405020304" pitchFamily="18" charset="0"/>
              </a:rPr>
              <a:t>，当环境对工质做功为 </a:t>
            </a:r>
            <a:r>
              <a:rPr kumimoji="1" lang="en-US" altLang="zh-CN" b="1">
                <a:solidFill>
                  <a:srgbClr val="FF6600"/>
                </a:solidFill>
                <a:cs typeface="Times New Roman" panose="02020603050405020304" pitchFamily="18" charset="0"/>
              </a:rPr>
              <a:t>100J </a:t>
            </a:r>
            <a:r>
              <a:rPr kumimoji="1" lang="zh-CN" altLang="en-US" b="1">
                <a:cs typeface="Times New Roman" panose="02020603050405020304" pitchFamily="18" charset="0"/>
              </a:rPr>
              <a:t>时，那工质从低温热源（冷库）提取的热量是多少？</a:t>
            </a:r>
            <a:endParaRPr kumimoji="1" lang="zh-CN" altLang="en-US" b="1"/>
          </a:p>
        </p:txBody>
      </p:sp>
      <p:sp>
        <p:nvSpPr>
          <p:cNvPr id="243715" name="Text Box 3"/>
          <p:cNvSpPr txBox="1">
            <a:spLocks noChangeArrowheads="1"/>
          </p:cNvSpPr>
          <p:nvPr/>
        </p:nvSpPr>
        <p:spPr bwMode="auto">
          <a:xfrm>
            <a:off x="1042988" y="2324100"/>
            <a:ext cx="4114800" cy="457200"/>
          </a:xfrm>
          <a:prstGeom prst="rect">
            <a:avLst/>
          </a:prstGeom>
          <a:noFill/>
          <a:ln w="9525">
            <a:noFill/>
            <a:miter lim="800000"/>
          </a:ln>
        </p:spPr>
        <p:txBody>
          <a:bodyPr>
            <a:spAutoFit/>
          </a:bodyPr>
          <a:lstStyle/>
          <a:p>
            <a:pPr>
              <a:spcBef>
                <a:spcPct val="50000"/>
              </a:spcBef>
            </a:pPr>
            <a:r>
              <a:rPr kumimoji="1" lang="zh-CN" altLang="en-US" b="1"/>
              <a:t>因为是</a:t>
            </a:r>
            <a:r>
              <a:rPr kumimoji="1" lang="zh-CN" altLang="en-US" b="1">
                <a:solidFill>
                  <a:srgbClr val="FF6600"/>
                </a:solidFill>
              </a:rPr>
              <a:t>卡诺循环</a:t>
            </a:r>
            <a:r>
              <a:rPr kumimoji="1" lang="zh-CN" altLang="en-US" b="1"/>
              <a:t>，有</a:t>
            </a:r>
            <a:endParaRPr kumimoji="1" lang="zh-CN" altLang="en-US" b="1"/>
          </a:p>
        </p:txBody>
      </p:sp>
      <p:graphicFrame>
        <p:nvGraphicFramePr>
          <p:cNvPr id="243716" name="Object 4"/>
          <p:cNvGraphicFramePr>
            <a:graphicFrameLocks noChangeAspect="1"/>
          </p:cNvGraphicFramePr>
          <p:nvPr/>
        </p:nvGraphicFramePr>
        <p:xfrm>
          <a:off x="2468563" y="2935288"/>
          <a:ext cx="2317750" cy="781050"/>
        </p:xfrm>
        <a:graphic>
          <a:graphicData uri="http://schemas.openxmlformats.org/presentationml/2006/ole">
            <mc:AlternateContent xmlns:mc="http://schemas.openxmlformats.org/markup-compatibility/2006">
              <mc:Choice xmlns:v="urn:schemas-microsoft-com:vml" Requires="v">
                <p:oleObj spid="_x0000_s62465" name="Equation" r:id="rId1" imgW="24993600" imgH="10363200" progId="Equation.DSMT4">
                  <p:embed/>
                </p:oleObj>
              </mc:Choice>
              <mc:Fallback>
                <p:oleObj name="Equation" r:id="rId1" imgW="24993600" imgH="10363200" progId="Equation.DSMT4">
                  <p:embed/>
                  <p:pic>
                    <p:nvPicPr>
                      <p:cNvPr id="0" name="Object 4"/>
                      <p:cNvPicPr>
                        <a:picLocks noChangeAspect="1"/>
                      </p:cNvPicPr>
                      <p:nvPr/>
                    </p:nvPicPr>
                    <p:blipFill>
                      <a:blip r:embed="rId2"/>
                      <a:stretch>
                        <a:fillRect/>
                      </a:stretch>
                    </p:blipFill>
                    <p:spPr>
                      <a:xfrm>
                        <a:off x="2468563" y="2935288"/>
                        <a:ext cx="2317750" cy="781050"/>
                      </a:xfrm>
                      <a:prstGeom prst="rect">
                        <a:avLst/>
                      </a:prstGeom>
                      <a:noFill/>
                      <a:ln w="9525">
                        <a:noFill/>
                      </a:ln>
                    </p:spPr>
                  </p:pic>
                </p:oleObj>
              </mc:Fallback>
            </mc:AlternateContent>
          </a:graphicData>
        </a:graphic>
      </p:graphicFrame>
      <p:sp>
        <p:nvSpPr>
          <p:cNvPr id="243717" name="Text Box 5"/>
          <p:cNvSpPr txBox="1">
            <a:spLocks noChangeArrowheads="1"/>
          </p:cNvSpPr>
          <p:nvPr/>
        </p:nvSpPr>
        <p:spPr bwMode="auto">
          <a:xfrm>
            <a:off x="1028700" y="4389438"/>
            <a:ext cx="1042988" cy="457200"/>
          </a:xfrm>
          <a:prstGeom prst="rect">
            <a:avLst/>
          </a:prstGeom>
          <a:noFill/>
          <a:ln w="9525">
            <a:noFill/>
            <a:miter lim="800000"/>
          </a:ln>
        </p:spPr>
        <p:txBody>
          <a:bodyPr>
            <a:spAutoFit/>
          </a:bodyPr>
          <a:lstStyle/>
          <a:p>
            <a:pPr>
              <a:spcBef>
                <a:spcPct val="50000"/>
              </a:spcBef>
            </a:pPr>
            <a:r>
              <a:rPr kumimoji="1" lang="zh-CN" altLang="en-US" b="1"/>
              <a:t>得：</a:t>
            </a:r>
            <a:endParaRPr kumimoji="1" lang="zh-CN" altLang="en-US" b="1"/>
          </a:p>
        </p:txBody>
      </p:sp>
      <p:graphicFrame>
        <p:nvGraphicFramePr>
          <p:cNvPr id="243718" name="Object 6"/>
          <p:cNvGraphicFramePr>
            <a:graphicFrameLocks noChangeAspect="1"/>
          </p:cNvGraphicFramePr>
          <p:nvPr/>
        </p:nvGraphicFramePr>
        <p:xfrm>
          <a:off x="1878013" y="4214813"/>
          <a:ext cx="2030412" cy="798512"/>
        </p:xfrm>
        <a:graphic>
          <a:graphicData uri="http://schemas.openxmlformats.org/presentationml/2006/ole">
            <mc:AlternateContent xmlns:mc="http://schemas.openxmlformats.org/markup-compatibility/2006">
              <mc:Choice xmlns:v="urn:schemas-microsoft-com:vml" Requires="v">
                <p:oleObj spid="_x0000_s62467" name="公式" r:id="rId3" imgW="27127200" imgH="10668000" progId="Equation.3">
                  <p:embed/>
                </p:oleObj>
              </mc:Choice>
              <mc:Fallback>
                <p:oleObj name="公式" r:id="rId3" imgW="27127200" imgH="10668000" progId="Equation.3">
                  <p:embed/>
                  <p:pic>
                    <p:nvPicPr>
                      <p:cNvPr id="0" name="Object 6"/>
                      <p:cNvPicPr>
                        <a:picLocks noChangeAspect="1"/>
                      </p:cNvPicPr>
                      <p:nvPr/>
                    </p:nvPicPr>
                    <p:blipFill>
                      <a:blip r:embed="rId4"/>
                      <a:stretch>
                        <a:fillRect/>
                      </a:stretch>
                    </p:blipFill>
                    <p:spPr>
                      <a:xfrm>
                        <a:off x="1878013" y="4214813"/>
                        <a:ext cx="2030412" cy="798512"/>
                      </a:xfrm>
                      <a:prstGeom prst="rect">
                        <a:avLst/>
                      </a:prstGeom>
                      <a:noFill/>
                      <a:ln w="9525">
                        <a:noFill/>
                      </a:ln>
                    </p:spPr>
                  </p:pic>
                </p:oleObj>
              </mc:Fallback>
            </mc:AlternateContent>
          </a:graphicData>
        </a:graphic>
      </p:graphicFrame>
      <p:sp>
        <p:nvSpPr>
          <p:cNvPr id="243719" name="Rectangle 7"/>
          <p:cNvSpPr>
            <a:spLocks noChangeArrowheads="1"/>
          </p:cNvSpPr>
          <p:nvPr/>
        </p:nvSpPr>
        <p:spPr bwMode="auto">
          <a:xfrm>
            <a:off x="250825" y="2324100"/>
            <a:ext cx="490538" cy="457200"/>
          </a:xfrm>
          <a:prstGeom prst="rect">
            <a:avLst/>
          </a:prstGeom>
          <a:noFill/>
          <a:ln w="9525" algn="ctr">
            <a:noFill/>
            <a:miter lim="800000"/>
          </a:ln>
        </p:spPr>
        <p:txBody>
          <a:bodyPr wrap="none">
            <a:spAutoFit/>
          </a:bodyPr>
          <a:lstStyle/>
          <a:p>
            <a:r>
              <a:rPr kumimoji="1" lang="zh-CN" altLang="en-US" b="1">
                <a:solidFill>
                  <a:srgbClr val="FF0000"/>
                </a:solidFill>
              </a:rPr>
              <a:t>解</a:t>
            </a:r>
            <a:endParaRPr kumimoji="1" lang="zh-CN" altLang="en-US" b="1">
              <a:solidFill>
                <a:srgbClr val="FF0000"/>
              </a:solidFill>
            </a:endParaRPr>
          </a:p>
        </p:txBody>
      </p:sp>
      <p:graphicFrame>
        <p:nvGraphicFramePr>
          <p:cNvPr id="243720" name="Object 8"/>
          <p:cNvGraphicFramePr>
            <a:graphicFrameLocks noChangeAspect="1"/>
          </p:cNvGraphicFramePr>
          <p:nvPr/>
        </p:nvGraphicFramePr>
        <p:xfrm>
          <a:off x="4006850" y="4257675"/>
          <a:ext cx="3217863" cy="776288"/>
        </p:xfrm>
        <a:graphic>
          <a:graphicData uri="http://schemas.openxmlformats.org/presentationml/2006/ole">
            <mc:AlternateContent xmlns:mc="http://schemas.openxmlformats.org/markup-compatibility/2006">
              <mc:Choice xmlns:v="urn:schemas-microsoft-com:vml" Requires="v">
                <p:oleObj spid="_x0000_s62468" name="公式" r:id="rId5" imgW="42976800" imgH="10363200" progId="Equation.3">
                  <p:embed/>
                </p:oleObj>
              </mc:Choice>
              <mc:Fallback>
                <p:oleObj name="公式" r:id="rId5" imgW="42976800" imgH="10363200" progId="Equation.3">
                  <p:embed/>
                  <p:pic>
                    <p:nvPicPr>
                      <p:cNvPr id="0" name="Object 8"/>
                      <p:cNvPicPr>
                        <a:picLocks noChangeAspect="1"/>
                      </p:cNvPicPr>
                      <p:nvPr/>
                    </p:nvPicPr>
                    <p:blipFill>
                      <a:blip r:embed="rId6"/>
                      <a:stretch>
                        <a:fillRect/>
                      </a:stretch>
                    </p:blipFill>
                    <p:spPr>
                      <a:xfrm>
                        <a:off x="4006850" y="4257675"/>
                        <a:ext cx="3217863" cy="776288"/>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3714"/>
                                        </p:tgtEl>
                                        <p:attrNameLst>
                                          <p:attrName>style.visibility</p:attrName>
                                        </p:attrNameLst>
                                      </p:cBhvr>
                                      <p:to>
                                        <p:strVal val="visible"/>
                                      </p:to>
                                    </p:set>
                                    <p:animEffect transition="in" filter="dissolve">
                                      <p:cBhvr>
                                        <p:cTn id="7" dur="500"/>
                                        <p:tgtEl>
                                          <p:spTgt spid="2437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3719"/>
                                        </p:tgtEl>
                                        <p:attrNameLst>
                                          <p:attrName>style.visibility</p:attrName>
                                        </p:attrNameLst>
                                      </p:cBhvr>
                                      <p:to>
                                        <p:strVal val="visible"/>
                                      </p:to>
                                    </p:set>
                                    <p:animEffect transition="in" filter="wipe(left)">
                                      <p:cBhvr>
                                        <p:cTn id="12" dur="1000"/>
                                        <p:tgtEl>
                                          <p:spTgt spid="2437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3715"/>
                                        </p:tgtEl>
                                        <p:attrNameLst>
                                          <p:attrName>style.visibility</p:attrName>
                                        </p:attrNameLst>
                                      </p:cBhvr>
                                      <p:to>
                                        <p:strVal val="visible"/>
                                      </p:to>
                                    </p:set>
                                    <p:animEffect transition="in" filter="dissolve">
                                      <p:cBhvr>
                                        <p:cTn id="17" dur="500"/>
                                        <p:tgtEl>
                                          <p:spTgt spid="2437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43716"/>
                                        </p:tgtEl>
                                        <p:attrNameLst>
                                          <p:attrName>style.visibility</p:attrName>
                                        </p:attrNameLst>
                                      </p:cBhvr>
                                      <p:to>
                                        <p:strVal val="visible"/>
                                      </p:to>
                                    </p:set>
                                    <p:animEffect transition="in" filter="dissolve">
                                      <p:cBhvr>
                                        <p:cTn id="22" dur="500"/>
                                        <p:tgtEl>
                                          <p:spTgt spid="24371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43717"/>
                                        </p:tgtEl>
                                        <p:attrNameLst>
                                          <p:attrName>style.visibility</p:attrName>
                                        </p:attrNameLst>
                                      </p:cBhvr>
                                      <p:to>
                                        <p:strVal val="visible"/>
                                      </p:to>
                                    </p:set>
                                    <p:animEffect transition="in" filter="dissolve">
                                      <p:cBhvr>
                                        <p:cTn id="27" dur="500"/>
                                        <p:tgtEl>
                                          <p:spTgt spid="24371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43718"/>
                                        </p:tgtEl>
                                        <p:attrNameLst>
                                          <p:attrName>style.visibility</p:attrName>
                                        </p:attrNameLst>
                                      </p:cBhvr>
                                      <p:to>
                                        <p:strVal val="visible"/>
                                      </p:to>
                                    </p:set>
                                    <p:animEffect transition="in" filter="dissolve">
                                      <p:cBhvr>
                                        <p:cTn id="32" dur="500"/>
                                        <p:tgtEl>
                                          <p:spTgt spid="24371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3720"/>
                                        </p:tgtEl>
                                        <p:attrNameLst>
                                          <p:attrName>style.visibility</p:attrName>
                                        </p:attrNameLst>
                                      </p:cBhvr>
                                      <p:to>
                                        <p:strVal val="visible"/>
                                      </p:to>
                                    </p:set>
                                    <p:animEffect transition="in" filter="dissolve">
                                      <p:cBhvr>
                                        <p:cTn id="37" dur="500"/>
                                        <p:tgtEl>
                                          <p:spTgt spid="243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4" grpId="0" autoUpdateAnimBg="0"/>
      <p:bldP spid="243715" grpId="0" autoUpdateAnimBg="0"/>
      <p:bldP spid="243717" grpId="0" autoUpdateAnimBg="0"/>
      <p:bldP spid="24371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1049338" y="2049463"/>
            <a:ext cx="7237412" cy="1000125"/>
          </a:xfrm>
          <a:prstGeom prst="rect">
            <a:avLst/>
          </a:prstGeom>
          <a:noFill/>
          <a:ln w="9525">
            <a:noFill/>
            <a:miter lim="800000"/>
          </a:ln>
        </p:spPr>
        <p:txBody>
          <a:bodyPr>
            <a:spAutoFit/>
          </a:bodyPr>
          <a:lstStyle/>
          <a:p>
            <a:pPr>
              <a:lnSpc>
                <a:spcPct val="130000"/>
              </a:lnSpc>
              <a:spcBef>
                <a:spcPct val="50000"/>
              </a:spcBef>
            </a:pPr>
            <a:r>
              <a:rPr kumimoji="1" lang="zh-CN" altLang="en-US" b="1"/>
              <a:t>若致冷机功率最小，则该制冷机的循环模式为卡诺循环机。由卡诺循环的致冷系数</a:t>
            </a:r>
            <a:endParaRPr kumimoji="1" lang="zh-CN" altLang="en-US" b="1"/>
          </a:p>
        </p:txBody>
      </p:sp>
      <p:grpSp>
        <p:nvGrpSpPr>
          <p:cNvPr id="2" name="组合 16"/>
          <p:cNvGrpSpPr/>
          <p:nvPr/>
        </p:nvGrpSpPr>
        <p:grpSpPr bwMode="auto">
          <a:xfrm>
            <a:off x="857250" y="428625"/>
            <a:ext cx="7929563" cy="1016000"/>
            <a:chOff x="857250" y="428604"/>
            <a:chExt cx="7929592" cy="1015663"/>
          </a:xfrm>
        </p:grpSpPr>
        <p:sp>
          <p:nvSpPr>
            <p:cNvPr id="63506" name="Text Box 5"/>
            <p:cNvSpPr txBox="1">
              <a:spLocks noChangeArrowheads="1"/>
            </p:cNvSpPr>
            <p:nvPr/>
          </p:nvSpPr>
          <p:spPr bwMode="auto">
            <a:xfrm>
              <a:off x="857250" y="428604"/>
              <a:ext cx="7929592" cy="1015663"/>
            </a:xfrm>
            <a:prstGeom prst="rect">
              <a:avLst/>
            </a:prstGeom>
            <a:noFill/>
            <a:ln w="9525">
              <a:noFill/>
              <a:miter lim="800000"/>
            </a:ln>
          </p:spPr>
          <p:txBody>
            <a:bodyPr>
              <a:spAutoFit/>
            </a:bodyPr>
            <a:lstStyle/>
            <a:p>
              <a:pPr>
                <a:lnSpc>
                  <a:spcPct val="125000"/>
                </a:lnSpc>
                <a:spcBef>
                  <a:spcPct val="50000"/>
                </a:spcBef>
              </a:pPr>
              <a:r>
                <a:rPr kumimoji="1" lang="zh-CN" altLang="en-US" b="1">
                  <a:latin typeface="宋体" panose="02010600030101010101" pitchFamily="2" charset="-122"/>
                </a:rPr>
                <a:t>夏季的致冷空调须将室内热量排到室外，设排放速率为           ，若室内温度为      ，室外温度为     ，</a:t>
              </a:r>
              <a:endParaRPr kumimoji="1" lang="zh-CN" altLang="en-US" b="1">
                <a:latin typeface="宋体" panose="02010600030101010101" pitchFamily="2" charset="-122"/>
              </a:endParaRPr>
            </a:p>
          </p:txBody>
        </p:sp>
        <p:graphicFrame>
          <p:nvGraphicFramePr>
            <p:cNvPr id="63495" name="Object 6"/>
            <p:cNvGraphicFramePr>
              <a:graphicFrameLocks noChangeAspect="1"/>
            </p:cNvGraphicFramePr>
            <p:nvPr/>
          </p:nvGraphicFramePr>
          <p:xfrm>
            <a:off x="1285852" y="966241"/>
            <a:ext cx="1625600" cy="396875"/>
          </p:xfrm>
          <a:graphic>
            <a:graphicData uri="http://schemas.openxmlformats.org/presentationml/2006/ole">
              <mc:AlternateContent xmlns:mc="http://schemas.openxmlformats.org/markup-compatibility/2006">
                <mc:Choice xmlns:v="urn:schemas-microsoft-com:vml" Requires="v">
                  <p:oleObj spid="_x0000_s63489" name="公式" r:id="rId1" imgW="17983200" imgH="4876800" progId="Equation.3">
                    <p:embed/>
                  </p:oleObj>
                </mc:Choice>
                <mc:Fallback>
                  <p:oleObj name="公式" r:id="rId1" imgW="17983200" imgH="4876800" progId="Equation.3">
                    <p:embed/>
                    <p:pic>
                      <p:nvPicPr>
                        <p:cNvPr id="0" name="Object 6"/>
                        <p:cNvPicPr>
                          <a:picLocks noChangeAspect="1"/>
                        </p:cNvPicPr>
                        <p:nvPr/>
                      </p:nvPicPr>
                      <p:blipFill>
                        <a:blip r:embed="rId2"/>
                        <a:stretch>
                          <a:fillRect/>
                        </a:stretch>
                      </p:blipFill>
                      <p:spPr>
                        <a:xfrm>
                          <a:off x="1285852" y="966241"/>
                          <a:ext cx="1625600" cy="396875"/>
                        </a:xfrm>
                        <a:prstGeom prst="rect">
                          <a:avLst/>
                        </a:prstGeom>
                        <a:noFill/>
                        <a:ln w="9525">
                          <a:noFill/>
                        </a:ln>
                      </p:spPr>
                    </p:pic>
                  </p:oleObj>
                </mc:Fallback>
              </mc:AlternateContent>
            </a:graphicData>
          </a:graphic>
        </p:graphicFrame>
        <p:graphicFrame>
          <p:nvGraphicFramePr>
            <p:cNvPr id="63496" name="Object 7"/>
            <p:cNvGraphicFramePr>
              <a:graphicFrameLocks noChangeAspect="1"/>
            </p:cNvGraphicFramePr>
            <p:nvPr/>
          </p:nvGraphicFramePr>
          <p:xfrm>
            <a:off x="5139800" y="921085"/>
            <a:ext cx="841375" cy="449263"/>
          </p:xfrm>
          <a:graphic>
            <a:graphicData uri="http://schemas.openxmlformats.org/presentationml/2006/ole">
              <mc:AlternateContent xmlns:mc="http://schemas.openxmlformats.org/markup-compatibility/2006">
                <mc:Choice xmlns:v="urn:schemas-microsoft-com:vml" Requires="v">
                  <p:oleObj spid="_x0000_s63496" name="Equation" r:id="rId3" imgW="9448800" imgH="4876800" progId="Equation.3">
                    <p:embed/>
                  </p:oleObj>
                </mc:Choice>
                <mc:Fallback>
                  <p:oleObj name="Equation" r:id="rId3" imgW="9448800" imgH="4876800" progId="Equation.3">
                    <p:embed/>
                    <p:pic>
                      <p:nvPicPr>
                        <p:cNvPr id="0" name="Object 7"/>
                        <p:cNvPicPr>
                          <a:picLocks noChangeAspect="1"/>
                        </p:cNvPicPr>
                        <p:nvPr/>
                      </p:nvPicPr>
                      <p:blipFill>
                        <a:blip r:embed="rId4"/>
                        <a:stretch>
                          <a:fillRect/>
                        </a:stretch>
                      </p:blipFill>
                      <p:spPr>
                        <a:xfrm>
                          <a:off x="5139800" y="921085"/>
                          <a:ext cx="841375" cy="449263"/>
                        </a:xfrm>
                        <a:prstGeom prst="rect">
                          <a:avLst/>
                        </a:prstGeom>
                        <a:noFill/>
                        <a:ln w="9525">
                          <a:noFill/>
                        </a:ln>
                      </p:spPr>
                    </p:pic>
                  </p:oleObj>
                </mc:Fallback>
              </mc:AlternateContent>
            </a:graphicData>
          </a:graphic>
        </p:graphicFrame>
        <p:graphicFrame>
          <p:nvGraphicFramePr>
            <p:cNvPr id="63497" name="Object 8"/>
            <p:cNvGraphicFramePr>
              <a:graphicFrameLocks noChangeAspect="1"/>
            </p:cNvGraphicFramePr>
            <p:nvPr/>
          </p:nvGraphicFramePr>
          <p:xfrm>
            <a:off x="7858148" y="928670"/>
            <a:ext cx="835025" cy="446088"/>
          </p:xfrm>
          <a:graphic>
            <a:graphicData uri="http://schemas.openxmlformats.org/presentationml/2006/ole">
              <mc:AlternateContent xmlns:mc="http://schemas.openxmlformats.org/markup-compatibility/2006">
                <mc:Choice xmlns:v="urn:schemas-microsoft-com:vml" Requires="v">
                  <p:oleObj spid="_x0000_s63497" name="Equation" r:id="rId5" imgW="9448800" imgH="4876800" progId="Equation.3">
                    <p:embed/>
                  </p:oleObj>
                </mc:Choice>
                <mc:Fallback>
                  <p:oleObj name="Equation" r:id="rId5" imgW="9448800" imgH="4876800" progId="Equation.3">
                    <p:embed/>
                    <p:pic>
                      <p:nvPicPr>
                        <p:cNvPr id="0" name="Object 8"/>
                        <p:cNvPicPr>
                          <a:picLocks noChangeAspect="1"/>
                        </p:cNvPicPr>
                        <p:nvPr/>
                      </p:nvPicPr>
                      <p:blipFill>
                        <a:blip r:embed="rId6"/>
                        <a:stretch>
                          <a:fillRect/>
                        </a:stretch>
                      </p:blipFill>
                      <p:spPr>
                        <a:xfrm>
                          <a:off x="7858148" y="928670"/>
                          <a:ext cx="835025" cy="446088"/>
                        </a:xfrm>
                        <a:prstGeom prst="rect">
                          <a:avLst/>
                        </a:prstGeom>
                        <a:noFill/>
                        <a:ln w="9525">
                          <a:noFill/>
                        </a:ln>
                      </p:spPr>
                    </p:pic>
                  </p:oleObj>
                </mc:Fallback>
              </mc:AlternateContent>
            </a:graphicData>
          </a:graphic>
        </p:graphicFrame>
      </p:grpSp>
      <p:graphicFrame>
        <p:nvGraphicFramePr>
          <p:cNvPr id="101385" name="Object 9"/>
          <p:cNvGraphicFramePr>
            <a:graphicFrameLocks noChangeAspect="1"/>
          </p:cNvGraphicFramePr>
          <p:nvPr/>
        </p:nvGraphicFramePr>
        <p:xfrm>
          <a:off x="4143375" y="3143250"/>
          <a:ext cx="2428875" cy="949325"/>
        </p:xfrm>
        <a:graphic>
          <a:graphicData uri="http://schemas.openxmlformats.org/presentationml/2006/ole">
            <mc:AlternateContent xmlns:mc="http://schemas.openxmlformats.org/markup-compatibility/2006">
              <mc:Choice xmlns:v="urn:schemas-microsoft-com:vml" Requires="v">
                <p:oleObj spid="_x0000_s63490" name="Equation" r:id="rId7" imgW="28956000" imgH="10363200" progId="Equation.DSMT4">
                  <p:embed/>
                </p:oleObj>
              </mc:Choice>
              <mc:Fallback>
                <p:oleObj name="Equation" r:id="rId7" imgW="28956000" imgH="10363200" progId="Equation.DSMT4">
                  <p:embed/>
                  <p:pic>
                    <p:nvPicPr>
                      <p:cNvPr id="0" name="Object 9"/>
                      <p:cNvPicPr>
                        <a:picLocks noChangeAspect="1"/>
                      </p:cNvPicPr>
                      <p:nvPr/>
                    </p:nvPicPr>
                    <p:blipFill>
                      <a:blip r:embed="rId8"/>
                      <a:stretch>
                        <a:fillRect/>
                      </a:stretch>
                    </p:blipFill>
                    <p:spPr>
                      <a:xfrm>
                        <a:off x="4143375" y="3143250"/>
                        <a:ext cx="2428875" cy="949325"/>
                      </a:xfrm>
                      <a:prstGeom prst="rect">
                        <a:avLst/>
                      </a:prstGeom>
                      <a:noFill/>
                      <a:ln w="9525">
                        <a:noFill/>
                      </a:ln>
                    </p:spPr>
                  </p:pic>
                </p:oleObj>
              </mc:Fallback>
            </mc:AlternateContent>
          </a:graphicData>
        </a:graphic>
      </p:graphicFrame>
      <p:sp>
        <p:nvSpPr>
          <p:cNvPr id="101386" name="Text Box 10"/>
          <p:cNvSpPr txBox="1">
            <a:spLocks noChangeArrowheads="1"/>
          </p:cNvSpPr>
          <p:nvPr/>
        </p:nvSpPr>
        <p:spPr bwMode="auto">
          <a:xfrm>
            <a:off x="1071563" y="4857750"/>
            <a:ext cx="5181600" cy="457200"/>
          </a:xfrm>
          <a:prstGeom prst="rect">
            <a:avLst/>
          </a:prstGeom>
          <a:noFill/>
          <a:ln w="9525">
            <a:noFill/>
            <a:miter lim="800000"/>
          </a:ln>
        </p:spPr>
        <p:txBody>
          <a:bodyPr>
            <a:spAutoFit/>
          </a:bodyPr>
          <a:lstStyle/>
          <a:p>
            <a:r>
              <a:rPr kumimoji="1" lang="en-US" altLang="zh-CN" b="1">
                <a:latin typeface="宋体" panose="02010600030101010101" pitchFamily="2" charset="-122"/>
              </a:rPr>
              <a:t>1</a:t>
            </a:r>
            <a:r>
              <a:rPr kumimoji="1" lang="zh-CN" altLang="en-US" b="1">
                <a:latin typeface="宋体" panose="02010600030101010101" pitchFamily="2" charset="-122"/>
              </a:rPr>
              <a:t>秒钟作功（即功率）为 ：</a:t>
            </a:r>
            <a:endParaRPr kumimoji="1" lang="zh-CN" altLang="en-US" b="1"/>
          </a:p>
        </p:txBody>
      </p:sp>
      <p:graphicFrame>
        <p:nvGraphicFramePr>
          <p:cNvPr id="101387" name="Object 11"/>
          <p:cNvGraphicFramePr>
            <a:graphicFrameLocks noChangeAspect="1"/>
          </p:cNvGraphicFramePr>
          <p:nvPr/>
        </p:nvGraphicFramePr>
        <p:xfrm>
          <a:off x="1285875" y="4143375"/>
          <a:ext cx="2298700" cy="525463"/>
        </p:xfrm>
        <a:graphic>
          <a:graphicData uri="http://schemas.openxmlformats.org/presentationml/2006/ole">
            <mc:AlternateContent xmlns:mc="http://schemas.openxmlformats.org/markup-compatibility/2006">
              <mc:Choice xmlns:v="urn:schemas-microsoft-com:vml" Requires="v">
                <p:oleObj spid="_x0000_s63491" name="Equation" r:id="rId9" imgW="26212800" imgH="5486400" progId="Equation.3">
                  <p:embed/>
                </p:oleObj>
              </mc:Choice>
              <mc:Fallback>
                <p:oleObj name="Equation" r:id="rId9" imgW="26212800" imgH="5486400" progId="Equation.3">
                  <p:embed/>
                  <p:pic>
                    <p:nvPicPr>
                      <p:cNvPr id="0" name="Object 11"/>
                      <p:cNvPicPr>
                        <a:picLocks noChangeAspect="1"/>
                      </p:cNvPicPr>
                      <p:nvPr/>
                    </p:nvPicPr>
                    <p:blipFill>
                      <a:blip r:embed="rId10"/>
                      <a:stretch>
                        <a:fillRect/>
                      </a:stretch>
                    </p:blipFill>
                    <p:spPr>
                      <a:xfrm>
                        <a:off x="1285875" y="4143375"/>
                        <a:ext cx="2298700" cy="525463"/>
                      </a:xfrm>
                      <a:prstGeom prst="rect">
                        <a:avLst/>
                      </a:prstGeom>
                      <a:noFill/>
                      <a:ln w="9525">
                        <a:noFill/>
                      </a:ln>
                    </p:spPr>
                  </p:pic>
                </p:oleObj>
              </mc:Fallback>
            </mc:AlternateContent>
          </a:graphicData>
        </a:graphic>
      </p:graphicFrame>
      <p:graphicFrame>
        <p:nvGraphicFramePr>
          <p:cNvPr id="101388" name="Object 12"/>
          <p:cNvGraphicFramePr>
            <a:graphicFrameLocks noChangeAspect="1"/>
          </p:cNvGraphicFramePr>
          <p:nvPr/>
        </p:nvGraphicFramePr>
        <p:xfrm>
          <a:off x="3929063" y="4143375"/>
          <a:ext cx="4016375" cy="506413"/>
        </p:xfrm>
        <a:graphic>
          <a:graphicData uri="http://schemas.openxmlformats.org/presentationml/2006/ole">
            <mc:AlternateContent xmlns:mc="http://schemas.openxmlformats.org/markup-compatibility/2006">
              <mc:Choice xmlns:v="urn:schemas-microsoft-com:vml" Requires="v">
                <p:oleObj spid="_x0000_s63492" name="Equation" r:id="rId11" imgW="40843200" imgH="5181600" progId="Equation.3">
                  <p:embed/>
                </p:oleObj>
              </mc:Choice>
              <mc:Fallback>
                <p:oleObj name="Equation" r:id="rId11" imgW="40843200" imgH="5181600" progId="Equation.3">
                  <p:embed/>
                  <p:pic>
                    <p:nvPicPr>
                      <p:cNvPr id="0" name="Object 12"/>
                      <p:cNvPicPr>
                        <a:picLocks noChangeAspect="1"/>
                      </p:cNvPicPr>
                      <p:nvPr/>
                    </p:nvPicPr>
                    <p:blipFill>
                      <a:blip r:embed="rId12"/>
                      <a:stretch>
                        <a:fillRect/>
                      </a:stretch>
                    </p:blipFill>
                    <p:spPr>
                      <a:xfrm>
                        <a:off x="3929063" y="4143375"/>
                        <a:ext cx="4016375" cy="506413"/>
                      </a:xfrm>
                      <a:prstGeom prst="rect">
                        <a:avLst/>
                      </a:prstGeom>
                      <a:noFill/>
                      <a:ln w="9525">
                        <a:noFill/>
                      </a:ln>
                    </p:spPr>
                  </p:pic>
                </p:oleObj>
              </mc:Fallback>
            </mc:AlternateContent>
          </a:graphicData>
        </a:graphic>
      </p:graphicFrame>
      <p:graphicFrame>
        <p:nvGraphicFramePr>
          <p:cNvPr id="101389" name="Object 13"/>
          <p:cNvGraphicFramePr>
            <a:graphicFrameLocks noChangeAspect="1"/>
          </p:cNvGraphicFramePr>
          <p:nvPr/>
        </p:nvGraphicFramePr>
        <p:xfrm>
          <a:off x="4857750" y="4857750"/>
          <a:ext cx="1312863" cy="393700"/>
        </p:xfrm>
        <a:graphic>
          <a:graphicData uri="http://schemas.openxmlformats.org/presentationml/2006/ole">
            <mc:AlternateContent xmlns:mc="http://schemas.openxmlformats.org/markup-compatibility/2006">
              <mc:Choice xmlns:v="urn:schemas-microsoft-com:vml" Requires="v">
                <p:oleObj spid="_x0000_s63493" name="Equation" r:id="rId13" imgW="15544800" imgH="4267200" progId="Equation.DSMT4">
                  <p:embed/>
                </p:oleObj>
              </mc:Choice>
              <mc:Fallback>
                <p:oleObj name="Equation" r:id="rId13" imgW="15544800" imgH="4267200" progId="Equation.DSMT4">
                  <p:embed/>
                  <p:pic>
                    <p:nvPicPr>
                      <p:cNvPr id="0" name="Object 13"/>
                      <p:cNvPicPr>
                        <a:picLocks noChangeAspect="1"/>
                      </p:cNvPicPr>
                      <p:nvPr/>
                    </p:nvPicPr>
                    <p:blipFill>
                      <a:blip r:embed="rId14"/>
                      <a:stretch>
                        <a:fillRect/>
                      </a:stretch>
                    </p:blipFill>
                    <p:spPr>
                      <a:xfrm>
                        <a:off x="4857750" y="4857750"/>
                        <a:ext cx="1312863" cy="393700"/>
                      </a:xfrm>
                      <a:prstGeom prst="rect">
                        <a:avLst/>
                      </a:prstGeom>
                      <a:noFill/>
                      <a:ln w="9525">
                        <a:noFill/>
                      </a:ln>
                    </p:spPr>
                  </p:pic>
                </p:oleObj>
              </mc:Fallback>
            </mc:AlternateContent>
          </a:graphicData>
        </a:graphic>
      </p:graphicFrame>
      <p:sp>
        <p:nvSpPr>
          <p:cNvPr id="62477" name="矩形 13"/>
          <p:cNvSpPr>
            <a:spLocks noChangeArrowheads="1"/>
          </p:cNvSpPr>
          <p:nvPr/>
        </p:nvSpPr>
        <p:spPr bwMode="auto">
          <a:xfrm>
            <a:off x="357188" y="500063"/>
            <a:ext cx="493712" cy="461962"/>
          </a:xfrm>
          <a:prstGeom prst="rect">
            <a:avLst/>
          </a:prstGeom>
          <a:noFill/>
          <a:ln w="9525">
            <a:noFill/>
            <a:miter lim="800000"/>
          </a:ln>
        </p:spPr>
        <p:txBody>
          <a:bodyPr wrap="none">
            <a:spAutoFit/>
          </a:bodyPr>
          <a:lstStyle/>
          <a:p>
            <a:r>
              <a:rPr kumimoji="1" lang="zh-CN" altLang="en-US" b="1">
                <a:solidFill>
                  <a:srgbClr val="FF0000"/>
                </a:solidFill>
                <a:latin typeface="宋体" panose="02010600030101010101" pitchFamily="2" charset="-122"/>
              </a:rPr>
              <a:t>例</a:t>
            </a:r>
            <a:endParaRPr lang="zh-CN" altLang="en-US"/>
          </a:p>
        </p:txBody>
      </p:sp>
      <p:sp>
        <p:nvSpPr>
          <p:cNvPr id="62478" name="TextBox 14"/>
          <p:cNvSpPr txBox="1">
            <a:spLocks noChangeArrowheads="1"/>
          </p:cNvSpPr>
          <p:nvPr/>
        </p:nvSpPr>
        <p:spPr bwMode="auto">
          <a:xfrm>
            <a:off x="857250" y="1466850"/>
            <a:ext cx="3929063" cy="461963"/>
          </a:xfrm>
          <a:prstGeom prst="rect">
            <a:avLst/>
          </a:prstGeom>
          <a:noFill/>
          <a:ln w="9525">
            <a:noFill/>
            <a:miter lim="800000"/>
          </a:ln>
        </p:spPr>
        <p:txBody>
          <a:bodyPr>
            <a:spAutoFit/>
          </a:bodyPr>
          <a:lstStyle/>
          <a:p>
            <a:r>
              <a:rPr kumimoji="1" lang="zh-CN" altLang="en-US" b="1">
                <a:latin typeface="宋体" panose="02010600030101010101" pitchFamily="2" charset="-122"/>
              </a:rPr>
              <a:t>该致冷机所需的</a:t>
            </a:r>
            <a:r>
              <a:rPr kumimoji="1" lang="zh-CN" altLang="en-US" b="1">
                <a:solidFill>
                  <a:srgbClr val="0000FF"/>
                </a:solidFill>
                <a:latin typeface="宋体" panose="02010600030101010101" pitchFamily="2" charset="-122"/>
              </a:rPr>
              <a:t>最小功率</a:t>
            </a:r>
            <a:r>
              <a:rPr kumimoji="1" lang="zh-CN" altLang="en-US" b="1">
                <a:latin typeface="宋体" panose="02010600030101010101" pitchFamily="2" charset="-122"/>
              </a:rPr>
              <a:t>。</a:t>
            </a:r>
            <a:endParaRPr lang="zh-CN" altLang="en-US"/>
          </a:p>
        </p:txBody>
      </p:sp>
      <p:sp>
        <p:nvSpPr>
          <p:cNvPr id="62479" name="矩形 15"/>
          <p:cNvSpPr>
            <a:spLocks noChangeArrowheads="1"/>
          </p:cNvSpPr>
          <p:nvPr/>
        </p:nvSpPr>
        <p:spPr bwMode="auto">
          <a:xfrm>
            <a:off x="357188" y="1466850"/>
            <a:ext cx="493712" cy="461963"/>
          </a:xfrm>
          <a:prstGeom prst="rect">
            <a:avLst/>
          </a:prstGeom>
          <a:noFill/>
          <a:ln w="9525">
            <a:noFill/>
            <a:miter lim="800000"/>
          </a:ln>
        </p:spPr>
        <p:txBody>
          <a:bodyPr wrap="none">
            <a:spAutoFit/>
          </a:bodyPr>
          <a:lstStyle/>
          <a:p>
            <a:r>
              <a:rPr kumimoji="1" lang="zh-CN" altLang="en-US" b="1">
                <a:solidFill>
                  <a:srgbClr val="FF0000"/>
                </a:solidFill>
                <a:latin typeface="宋体" panose="02010600030101010101" pitchFamily="2" charset="-122"/>
              </a:rPr>
              <a:t>求</a:t>
            </a:r>
            <a:endParaRPr lang="zh-CN" altLang="en-US">
              <a:solidFill>
                <a:srgbClr val="FF0000"/>
              </a:solidFill>
            </a:endParaRPr>
          </a:p>
        </p:txBody>
      </p:sp>
      <p:sp>
        <p:nvSpPr>
          <p:cNvPr id="62480" name="矩形 17"/>
          <p:cNvSpPr>
            <a:spLocks noChangeArrowheads="1"/>
          </p:cNvSpPr>
          <p:nvPr/>
        </p:nvSpPr>
        <p:spPr bwMode="auto">
          <a:xfrm>
            <a:off x="428625" y="2071688"/>
            <a:ext cx="800100" cy="461962"/>
          </a:xfrm>
          <a:prstGeom prst="rect">
            <a:avLst/>
          </a:prstGeom>
          <a:noFill/>
          <a:ln w="9525">
            <a:noFill/>
            <a:miter lim="800000"/>
          </a:ln>
        </p:spPr>
        <p:txBody>
          <a:bodyPr wrap="none">
            <a:spAutoFit/>
          </a:bodyPr>
          <a:lstStyle/>
          <a:p>
            <a:r>
              <a:rPr kumimoji="1" lang="zh-CN" altLang="en-US" b="1">
                <a:solidFill>
                  <a:srgbClr val="FF0000"/>
                </a:solidFill>
              </a:rPr>
              <a:t>解：</a:t>
            </a:r>
            <a:endParaRPr lang="zh-CN" altLang="en-US" b="1"/>
          </a:p>
        </p:txBody>
      </p:sp>
      <p:graphicFrame>
        <p:nvGraphicFramePr>
          <p:cNvPr id="243716" name="Object 4"/>
          <p:cNvGraphicFramePr>
            <a:graphicFrameLocks noChangeAspect="1"/>
          </p:cNvGraphicFramePr>
          <p:nvPr/>
        </p:nvGraphicFramePr>
        <p:xfrm>
          <a:off x="1714500" y="3143250"/>
          <a:ext cx="2317750" cy="781050"/>
        </p:xfrm>
        <a:graphic>
          <a:graphicData uri="http://schemas.openxmlformats.org/presentationml/2006/ole">
            <mc:AlternateContent xmlns:mc="http://schemas.openxmlformats.org/markup-compatibility/2006">
              <mc:Choice xmlns:v="urn:schemas-microsoft-com:vml" Requires="v">
                <p:oleObj spid="_x0000_s63494" name="Equation" r:id="rId15" imgW="24993600" imgH="10363200" progId="Equation.DSMT4">
                  <p:embed/>
                </p:oleObj>
              </mc:Choice>
              <mc:Fallback>
                <p:oleObj name="Equation" r:id="rId15" imgW="24993600" imgH="10363200" progId="Equation.DSMT4">
                  <p:embed/>
                  <p:pic>
                    <p:nvPicPr>
                      <p:cNvPr id="0" name="Object 4"/>
                      <p:cNvPicPr>
                        <a:picLocks noChangeAspect="1"/>
                      </p:cNvPicPr>
                      <p:nvPr/>
                    </p:nvPicPr>
                    <p:blipFill>
                      <a:blip r:embed="rId16"/>
                      <a:stretch>
                        <a:fillRect/>
                      </a:stretch>
                    </p:blipFill>
                    <p:spPr>
                      <a:xfrm>
                        <a:off x="1714500" y="3143250"/>
                        <a:ext cx="2317750" cy="781050"/>
                      </a:xfrm>
                      <a:prstGeom prst="rect">
                        <a:avLst/>
                      </a:prstGeom>
                      <a:noFill/>
                      <a:ln w="9525">
                        <a:noFill/>
                      </a:ln>
                    </p:spPr>
                  </p:pic>
                </p:oleObj>
              </mc:Fallback>
            </mc:AlternateContent>
          </a:graphicData>
        </a:graphic>
      </p:graphicFrame>
      <p:sp>
        <p:nvSpPr>
          <p:cNvPr id="20" name="AutoShape 10">
            <a:hlinkClick r:id="rId17" action="ppaction://hlinksldjump" highlightClick="1"/>
          </p:cNvPr>
          <p:cNvSpPr>
            <a:spLocks noChangeArrowheads="1"/>
          </p:cNvSpPr>
          <p:nvPr/>
        </p:nvSpPr>
        <p:spPr bwMode="auto">
          <a:xfrm>
            <a:off x="8143875" y="5929313"/>
            <a:ext cx="287338" cy="287337"/>
          </a:xfrm>
          <a:prstGeom prst="actionButtonBeginning">
            <a:avLst/>
          </a:prstGeom>
          <a:solidFill>
            <a:srgbClr val="99CCFF"/>
          </a:solidFill>
          <a:ln w="9525">
            <a:noFill/>
            <a:miter lim="800000"/>
          </a:ln>
        </p:spPr>
        <p:txBody>
          <a:bodyPr wrap="none"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500"/>
                                        <p:tgtEl>
                                          <p:spTgt spid="6247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2479"/>
                                        </p:tgtEl>
                                        <p:attrNameLst>
                                          <p:attrName>style.visibility</p:attrName>
                                        </p:attrNameLst>
                                      </p:cBhvr>
                                      <p:to>
                                        <p:strVal val="visible"/>
                                      </p:to>
                                    </p:set>
                                    <p:animEffect transition="in" filter="wipe(left)">
                                      <p:cBhvr>
                                        <p:cTn id="15" dur="500"/>
                                        <p:tgtEl>
                                          <p:spTgt spid="62479"/>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2478"/>
                                        </p:tgtEl>
                                        <p:attrNameLst>
                                          <p:attrName>style.visibility</p:attrName>
                                        </p:attrNameLst>
                                      </p:cBhvr>
                                      <p:to>
                                        <p:strVal val="visible"/>
                                      </p:to>
                                    </p:set>
                                    <p:animEffect transition="in" filter="wipe(left)">
                                      <p:cBhvr>
                                        <p:cTn id="19" dur="500"/>
                                        <p:tgtEl>
                                          <p:spTgt spid="6247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2480"/>
                                        </p:tgtEl>
                                        <p:attrNameLst>
                                          <p:attrName>style.visibility</p:attrName>
                                        </p:attrNameLst>
                                      </p:cBhvr>
                                      <p:to>
                                        <p:strVal val="visible"/>
                                      </p:to>
                                    </p:set>
                                    <p:animEffect transition="in" filter="wipe(left)">
                                      <p:cBhvr>
                                        <p:cTn id="24" dur="1000"/>
                                        <p:tgtEl>
                                          <p:spTgt spid="6248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01378"/>
                                        </p:tgtEl>
                                        <p:attrNameLst>
                                          <p:attrName>style.visibility</p:attrName>
                                        </p:attrNameLst>
                                      </p:cBhvr>
                                      <p:to>
                                        <p:strVal val="visible"/>
                                      </p:to>
                                    </p:set>
                                    <p:animEffect transition="in" filter="wipe(up)">
                                      <p:cBhvr>
                                        <p:cTn id="29" dur="500"/>
                                        <p:tgtEl>
                                          <p:spTgt spid="10137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243716"/>
                                        </p:tgtEl>
                                        <p:attrNameLst>
                                          <p:attrName>style.visibility</p:attrName>
                                        </p:attrNameLst>
                                      </p:cBhvr>
                                      <p:to>
                                        <p:strVal val="visible"/>
                                      </p:to>
                                    </p:set>
                                    <p:animEffect transition="in" filter="dissolve">
                                      <p:cBhvr>
                                        <p:cTn id="34" dur="500"/>
                                        <p:tgtEl>
                                          <p:spTgt spid="2437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01385"/>
                                        </p:tgtEl>
                                        <p:attrNameLst>
                                          <p:attrName>style.visibility</p:attrName>
                                        </p:attrNameLst>
                                      </p:cBhvr>
                                      <p:to>
                                        <p:strVal val="visible"/>
                                      </p:to>
                                    </p:set>
                                    <p:animEffect transition="in" filter="wipe(up)">
                                      <p:cBhvr>
                                        <p:cTn id="39" dur="500"/>
                                        <p:tgtEl>
                                          <p:spTgt spid="10138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101387"/>
                                        </p:tgtEl>
                                        <p:attrNameLst>
                                          <p:attrName>style.visibility</p:attrName>
                                        </p:attrNameLst>
                                      </p:cBhvr>
                                      <p:to>
                                        <p:strVal val="visible"/>
                                      </p:to>
                                    </p:set>
                                    <p:animEffect transition="in" filter="wipe(up)">
                                      <p:cBhvr>
                                        <p:cTn id="44" dur="500"/>
                                        <p:tgtEl>
                                          <p:spTgt spid="10138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101388"/>
                                        </p:tgtEl>
                                        <p:attrNameLst>
                                          <p:attrName>style.visibility</p:attrName>
                                        </p:attrNameLst>
                                      </p:cBhvr>
                                      <p:to>
                                        <p:strVal val="visible"/>
                                      </p:to>
                                    </p:set>
                                    <p:animEffect transition="in" filter="wipe(up)">
                                      <p:cBhvr>
                                        <p:cTn id="49" dur="500"/>
                                        <p:tgtEl>
                                          <p:spTgt spid="10138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101386"/>
                                        </p:tgtEl>
                                        <p:attrNameLst>
                                          <p:attrName>style.visibility</p:attrName>
                                        </p:attrNameLst>
                                      </p:cBhvr>
                                      <p:to>
                                        <p:strVal val="visible"/>
                                      </p:to>
                                    </p:set>
                                    <p:animEffect transition="in" filter="wipe(up)">
                                      <p:cBhvr>
                                        <p:cTn id="54" dur="500"/>
                                        <p:tgtEl>
                                          <p:spTgt spid="101386"/>
                                        </p:tgtEl>
                                      </p:cBhvr>
                                    </p:animEffect>
                                  </p:childTnLst>
                                </p:cTn>
                              </p:par>
                            </p:childTnLst>
                          </p:cTn>
                        </p:par>
                        <p:par>
                          <p:cTn id="55" fill="hold">
                            <p:stCondLst>
                              <p:cond delay="500"/>
                            </p:stCondLst>
                            <p:childTnLst>
                              <p:par>
                                <p:cTn id="56" presetID="22" presetClass="entr" presetSubtype="1" fill="hold" nodeType="afterEffect">
                                  <p:stCondLst>
                                    <p:cond delay="0"/>
                                  </p:stCondLst>
                                  <p:childTnLst>
                                    <p:set>
                                      <p:cBhvr>
                                        <p:cTn id="57" dur="1" fill="hold">
                                          <p:stCondLst>
                                            <p:cond delay="0"/>
                                          </p:stCondLst>
                                        </p:cTn>
                                        <p:tgtEl>
                                          <p:spTgt spid="101389"/>
                                        </p:tgtEl>
                                        <p:attrNameLst>
                                          <p:attrName>style.visibility</p:attrName>
                                        </p:attrNameLst>
                                      </p:cBhvr>
                                      <p:to>
                                        <p:strVal val="visible"/>
                                      </p:to>
                                    </p:set>
                                    <p:animEffect transition="in" filter="wipe(up)">
                                      <p:cBhvr>
                                        <p:cTn id="58" dur="500"/>
                                        <p:tgtEl>
                                          <p:spTgt spid="10138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down)">
                                      <p:cBhvr>
                                        <p:cTn id="6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utoUpdateAnimBg="0"/>
      <p:bldP spid="101386" grpId="0" autoUpdateAnimBg="0"/>
      <p:bldP spid="62477" grpId="0"/>
      <p:bldP spid="62478" grpId="0"/>
      <p:bldP spid="62479" grpId="0"/>
      <p:bldP spid="62480" grpId="0"/>
      <p:bldP spid="2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ChangeArrowheads="1"/>
          </p:cNvSpPr>
          <p:nvPr/>
        </p:nvSpPr>
        <p:spPr bwMode="auto">
          <a:xfrm>
            <a:off x="1404938" y="3014663"/>
            <a:ext cx="5256212" cy="720725"/>
          </a:xfrm>
          <a:prstGeom prst="rect">
            <a:avLst/>
          </a:prstGeom>
          <a:solidFill>
            <a:schemeClr val="accent1">
              <a:alpha val="59999"/>
            </a:schemeClr>
          </a:solidFill>
          <a:ln w="9525">
            <a:solidFill>
              <a:schemeClr val="tx1"/>
            </a:solidFill>
            <a:miter lim="800000"/>
          </a:ln>
        </p:spPr>
        <p:txBody>
          <a:bodyPr wrap="none" anchor="ctr"/>
          <a:lstStyle/>
          <a:p>
            <a:pPr algn="ctr"/>
            <a:endParaRPr lang="zh-CN" altLang="en-US" b="1"/>
          </a:p>
        </p:txBody>
      </p:sp>
      <p:sp>
        <p:nvSpPr>
          <p:cNvPr id="64518" name="Rectangle 3"/>
          <p:cNvSpPr>
            <a:spLocks noGrp="1" noChangeArrowheads="1"/>
          </p:cNvSpPr>
          <p:nvPr>
            <p:ph type="title" idx="4294967295"/>
          </p:nvPr>
        </p:nvSpPr>
        <p:spPr>
          <a:xfrm>
            <a:off x="0" y="125413"/>
            <a:ext cx="8229600" cy="1143000"/>
          </a:xfrm>
        </p:spPr>
        <p:txBody>
          <a:bodyPr/>
          <a:lstStyle/>
          <a:p>
            <a:pPr eaLnBrk="1" hangingPunct="1"/>
            <a:r>
              <a:rPr kumimoji="1" lang="en-US" altLang="zh-CN" sz="2800" b="1"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§7.5  </a:t>
            </a:r>
            <a:r>
              <a:rPr kumimoji="1" lang="zh-CN" altLang="en-US" sz="2800" b="1" smtClean="0">
                <a:solidFill>
                  <a:srgbClr val="0000FF"/>
                </a:solidFill>
                <a:latin typeface="黑体" panose="02010609060101010101" pitchFamily="49" charset="-122"/>
                <a:ea typeface="黑体" panose="02010609060101010101" pitchFamily="49" charset="-122"/>
                <a:cs typeface="Times New Roman" panose="02020603050405020304" pitchFamily="18" charset="0"/>
              </a:rPr>
              <a:t>热力学第二定律</a:t>
            </a:r>
            <a:endParaRPr kumimoji="1" lang="zh-CN" altLang="en-US" sz="2800" b="1" smtClean="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03428" name="Text Box 4"/>
          <p:cNvSpPr txBox="1">
            <a:spLocks noChangeArrowheads="1"/>
          </p:cNvSpPr>
          <p:nvPr/>
        </p:nvSpPr>
        <p:spPr bwMode="auto">
          <a:xfrm>
            <a:off x="1044575" y="1125538"/>
            <a:ext cx="2663825" cy="457200"/>
          </a:xfrm>
          <a:prstGeom prst="rect">
            <a:avLst/>
          </a:prstGeom>
          <a:noFill/>
          <a:ln w="9525">
            <a:noFill/>
            <a:miter lim="800000"/>
          </a:ln>
        </p:spPr>
        <p:txBody>
          <a:bodyPr>
            <a:spAutoFit/>
          </a:bodyPr>
          <a:lstStyle/>
          <a:p>
            <a:r>
              <a:rPr lang="zh-CN" altLang="en-US" b="1"/>
              <a:t>热力学第一定律</a:t>
            </a:r>
            <a:endParaRPr lang="zh-CN" altLang="en-US" b="1"/>
          </a:p>
        </p:txBody>
      </p:sp>
      <p:sp>
        <p:nvSpPr>
          <p:cNvPr id="103429" name="AutoShape 5"/>
          <p:cNvSpPr>
            <a:spLocks noChangeArrowheads="1"/>
          </p:cNvSpPr>
          <p:nvPr/>
        </p:nvSpPr>
        <p:spPr bwMode="auto">
          <a:xfrm>
            <a:off x="3421063" y="1270000"/>
            <a:ext cx="1081087" cy="144463"/>
          </a:xfrm>
          <a:prstGeom prst="leftRightArrow">
            <a:avLst>
              <a:gd name="adj1" fmla="val 50000"/>
              <a:gd name="adj2" fmla="val 149670"/>
            </a:avLst>
          </a:prstGeom>
          <a:solidFill>
            <a:schemeClr val="accent1"/>
          </a:solidFill>
          <a:ln w="9525">
            <a:solidFill>
              <a:schemeClr val="tx1"/>
            </a:solidFill>
            <a:miter lim="800000"/>
          </a:ln>
        </p:spPr>
        <p:txBody>
          <a:bodyPr wrap="none" anchor="ctr"/>
          <a:lstStyle/>
          <a:p>
            <a:pPr algn="ctr"/>
            <a:endParaRPr lang="zh-CN" altLang="en-US" b="1"/>
          </a:p>
        </p:txBody>
      </p:sp>
      <p:sp>
        <p:nvSpPr>
          <p:cNvPr id="103430" name="Text Box 6"/>
          <p:cNvSpPr txBox="1">
            <a:spLocks noChangeArrowheads="1"/>
          </p:cNvSpPr>
          <p:nvPr/>
        </p:nvSpPr>
        <p:spPr bwMode="auto">
          <a:xfrm>
            <a:off x="4716463" y="1125538"/>
            <a:ext cx="2520950" cy="457200"/>
          </a:xfrm>
          <a:prstGeom prst="rect">
            <a:avLst/>
          </a:prstGeom>
          <a:noFill/>
          <a:ln w="9525">
            <a:noFill/>
            <a:miter lim="800000"/>
          </a:ln>
        </p:spPr>
        <p:txBody>
          <a:bodyPr>
            <a:spAutoFit/>
          </a:bodyPr>
          <a:lstStyle/>
          <a:p>
            <a:r>
              <a:rPr lang="zh-CN" altLang="en-US" b="1"/>
              <a:t>能量守恒定律</a:t>
            </a:r>
            <a:endParaRPr lang="zh-CN" altLang="en-US" b="1"/>
          </a:p>
        </p:txBody>
      </p:sp>
      <p:sp>
        <p:nvSpPr>
          <p:cNvPr id="103431" name="Text Box 7"/>
          <p:cNvSpPr txBox="1">
            <a:spLocks noChangeArrowheads="1"/>
          </p:cNvSpPr>
          <p:nvPr/>
        </p:nvSpPr>
        <p:spPr bwMode="auto">
          <a:xfrm>
            <a:off x="428625" y="1701800"/>
            <a:ext cx="1871663" cy="457200"/>
          </a:xfrm>
          <a:prstGeom prst="rect">
            <a:avLst/>
          </a:prstGeom>
          <a:noFill/>
          <a:ln w="9525">
            <a:noFill/>
            <a:miter lim="800000"/>
          </a:ln>
        </p:spPr>
        <p:txBody>
          <a:bodyPr>
            <a:spAutoFit/>
          </a:bodyPr>
          <a:lstStyle/>
          <a:p>
            <a:r>
              <a:rPr lang="zh-CN" altLang="en-US" b="1">
                <a:solidFill>
                  <a:srgbClr val="FF0000"/>
                </a:solidFill>
              </a:rPr>
              <a:t>问题</a:t>
            </a:r>
            <a:r>
              <a:rPr lang="zh-CN" altLang="en-US" b="1"/>
              <a:t>：</a:t>
            </a:r>
            <a:endParaRPr lang="zh-CN" altLang="en-US" b="1"/>
          </a:p>
        </p:txBody>
      </p:sp>
      <p:sp>
        <p:nvSpPr>
          <p:cNvPr id="103432" name="Text Box 8"/>
          <p:cNvSpPr txBox="1">
            <a:spLocks noChangeArrowheads="1"/>
          </p:cNvSpPr>
          <p:nvPr/>
        </p:nvSpPr>
        <p:spPr bwMode="auto">
          <a:xfrm>
            <a:off x="3848100" y="2268538"/>
            <a:ext cx="1804988" cy="457200"/>
          </a:xfrm>
          <a:prstGeom prst="rect">
            <a:avLst/>
          </a:prstGeom>
          <a:noFill/>
          <a:ln w="9525">
            <a:noFill/>
            <a:miter lim="800000"/>
          </a:ln>
        </p:spPr>
        <p:txBody>
          <a:bodyPr>
            <a:spAutoFit/>
          </a:bodyPr>
          <a:lstStyle/>
          <a:p>
            <a:r>
              <a:rPr lang="zh-CN" altLang="en-US" b="1"/>
              <a:t>热机效率</a:t>
            </a:r>
            <a:endParaRPr lang="zh-CN" altLang="en-US" b="1"/>
          </a:p>
        </p:txBody>
      </p:sp>
      <p:graphicFrame>
        <p:nvGraphicFramePr>
          <p:cNvPr id="103433" name="Object 9"/>
          <p:cNvGraphicFramePr>
            <a:graphicFrameLocks noChangeAspect="1"/>
          </p:cNvGraphicFramePr>
          <p:nvPr/>
        </p:nvGraphicFramePr>
        <p:xfrm>
          <a:off x="5380038" y="2062163"/>
          <a:ext cx="1008062" cy="952500"/>
        </p:xfrm>
        <a:graphic>
          <a:graphicData uri="http://schemas.openxmlformats.org/presentationml/2006/ole">
            <mc:AlternateContent xmlns:mc="http://schemas.openxmlformats.org/markup-compatibility/2006">
              <mc:Choice xmlns:v="urn:schemas-microsoft-com:vml" Requires="v">
                <p:oleObj spid="_x0000_s64513" name="公式" r:id="rId1" imgW="10972800" imgH="10363200" progId="Equation.3">
                  <p:embed/>
                </p:oleObj>
              </mc:Choice>
              <mc:Fallback>
                <p:oleObj name="公式" r:id="rId1" imgW="10972800" imgH="10363200" progId="Equation.3">
                  <p:embed/>
                  <p:pic>
                    <p:nvPicPr>
                      <p:cNvPr id="0" name="Object 9"/>
                      <p:cNvPicPr>
                        <a:picLocks noChangeAspect="1"/>
                      </p:cNvPicPr>
                      <p:nvPr/>
                    </p:nvPicPr>
                    <p:blipFill>
                      <a:blip r:embed="rId2"/>
                      <a:stretch>
                        <a:fillRect/>
                      </a:stretch>
                    </p:blipFill>
                    <p:spPr>
                      <a:xfrm>
                        <a:off x="5380038" y="2062163"/>
                        <a:ext cx="1008062" cy="952500"/>
                      </a:xfrm>
                      <a:prstGeom prst="rect">
                        <a:avLst/>
                      </a:prstGeom>
                      <a:noFill/>
                      <a:ln w="9525">
                        <a:noFill/>
                      </a:ln>
                    </p:spPr>
                  </p:pic>
                </p:oleObj>
              </mc:Fallback>
            </mc:AlternateContent>
          </a:graphicData>
        </a:graphic>
      </p:graphicFrame>
      <p:sp>
        <p:nvSpPr>
          <p:cNvPr id="103434" name="Text Box 10"/>
          <p:cNvSpPr txBox="1">
            <a:spLocks noChangeArrowheads="1"/>
          </p:cNvSpPr>
          <p:nvPr/>
        </p:nvSpPr>
        <p:spPr bwMode="auto">
          <a:xfrm>
            <a:off x="7740650" y="2212975"/>
            <a:ext cx="647700" cy="646113"/>
          </a:xfrm>
          <a:prstGeom prst="rect">
            <a:avLst/>
          </a:prstGeom>
          <a:noFill/>
          <a:ln w="9525">
            <a:noFill/>
            <a:miter lim="800000"/>
          </a:ln>
        </p:spPr>
        <p:txBody>
          <a:bodyPr wrap="none">
            <a:spAutoFit/>
          </a:bodyPr>
          <a:lstStyle/>
          <a:p>
            <a:r>
              <a:rPr lang="zh-CN" altLang="en-US" sz="3600" b="1">
                <a:solidFill>
                  <a:srgbClr val="FF0000"/>
                </a:solidFill>
              </a:rPr>
              <a:t>？</a:t>
            </a:r>
            <a:endParaRPr lang="zh-CN" altLang="en-US" sz="3600" b="1">
              <a:solidFill>
                <a:srgbClr val="FF0000"/>
              </a:solidFill>
            </a:endParaRPr>
          </a:p>
        </p:txBody>
      </p:sp>
      <p:sp>
        <p:nvSpPr>
          <p:cNvPr id="103435" name="AutoShape 11"/>
          <p:cNvSpPr>
            <a:spLocks noChangeArrowheads="1"/>
          </p:cNvSpPr>
          <p:nvPr/>
        </p:nvSpPr>
        <p:spPr bwMode="auto">
          <a:xfrm>
            <a:off x="2965450" y="2425700"/>
            <a:ext cx="719138" cy="144463"/>
          </a:xfrm>
          <a:prstGeom prst="rightArrow">
            <a:avLst>
              <a:gd name="adj1" fmla="val 50000"/>
              <a:gd name="adj2" fmla="val 124450"/>
            </a:avLst>
          </a:prstGeom>
          <a:solidFill>
            <a:schemeClr val="accent1"/>
          </a:solidFill>
          <a:ln w="9525">
            <a:solidFill>
              <a:schemeClr val="tx1"/>
            </a:solidFill>
            <a:miter lim="800000"/>
          </a:ln>
        </p:spPr>
        <p:txBody>
          <a:bodyPr wrap="none" anchor="ctr"/>
          <a:lstStyle/>
          <a:p>
            <a:pPr algn="ctr"/>
            <a:endParaRPr lang="zh-CN" altLang="en-US" b="1"/>
          </a:p>
        </p:txBody>
      </p:sp>
      <p:graphicFrame>
        <p:nvGraphicFramePr>
          <p:cNvPr id="103436" name="Object 12"/>
          <p:cNvGraphicFramePr>
            <a:graphicFrameLocks noChangeAspect="1"/>
          </p:cNvGraphicFramePr>
          <p:nvPr/>
        </p:nvGraphicFramePr>
        <p:xfrm>
          <a:off x="6477000" y="2312988"/>
          <a:ext cx="1120775" cy="392112"/>
        </p:xfrm>
        <a:graphic>
          <a:graphicData uri="http://schemas.openxmlformats.org/presentationml/2006/ole">
            <mc:AlternateContent xmlns:mc="http://schemas.openxmlformats.org/markup-compatibility/2006">
              <mc:Choice xmlns:v="urn:schemas-microsoft-com:vml" Requires="v">
                <p:oleObj spid="_x0000_s64515" name="公式" r:id="rId3" imgW="12192000" imgH="4267200" progId="Equation.3">
                  <p:embed/>
                </p:oleObj>
              </mc:Choice>
              <mc:Fallback>
                <p:oleObj name="公式" r:id="rId3" imgW="12192000" imgH="4267200" progId="Equation.3">
                  <p:embed/>
                  <p:pic>
                    <p:nvPicPr>
                      <p:cNvPr id="0" name="Object 12"/>
                      <p:cNvPicPr>
                        <a:picLocks noChangeAspect="1"/>
                      </p:cNvPicPr>
                      <p:nvPr/>
                    </p:nvPicPr>
                    <p:blipFill>
                      <a:blip r:embed="rId4"/>
                      <a:stretch>
                        <a:fillRect/>
                      </a:stretch>
                    </p:blipFill>
                    <p:spPr>
                      <a:xfrm>
                        <a:off x="6477000" y="2312988"/>
                        <a:ext cx="1120775" cy="392112"/>
                      </a:xfrm>
                      <a:prstGeom prst="rect">
                        <a:avLst/>
                      </a:prstGeom>
                      <a:noFill/>
                      <a:ln w="9525">
                        <a:noFill/>
                      </a:ln>
                    </p:spPr>
                  </p:pic>
                </p:oleObj>
              </mc:Fallback>
            </mc:AlternateContent>
          </a:graphicData>
        </a:graphic>
      </p:graphicFrame>
      <p:graphicFrame>
        <p:nvGraphicFramePr>
          <p:cNvPr id="103437" name="Object 13"/>
          <p:cNvGraphicFramePr>
            <a:graphicFrameLocks noChangeAspect="1"/>
          </p:cNvGraphicFramePr>
          <p:nvPr/>
        </p:nvGraphicFramePr>
        <p:xfrm>
          <a:off x="1700213" y="2259013"/>
          <a:ext cx="1065212" cy="476250"/>
        </p:xfrm>
        <a:graphic>
          <a:graphicData uri="http://schemas.openxmlformats.org/presentationml/2006/ole">
            <mc:AlternateContent xmlns:mc="http://schemas.openxmlformats.org/markup-compatibility/2006">
              <mc:Choice xmlns:v="urn:schemas-microsoft-com:vml" Requires="v">
                <p:oleObj spid="_x0000_s64516" name="公式" r:id="rId5" imgW="11582400" imgH="5181600" progId="Equation.3">
                  <p:embed/>
                </p:oleObj>
              </mc:Choice>
              <mc:Fallback>
                <p:oleObj name="公式" r:id="rId5" imgW="11582400" imgH="5181600" progId="Equation.3">
                  <p:embed/>
                  <p:pic>
                    <p:nvPicPr>
                      <p:cNvPr id="0" name="Object 13"/>
                      <p:cNvPicPr>
                        <a:picLocks noChangeAspect="1"/>
                      </p:cNvPicPr>
                      <p:nvPr/>
                    </p:nvPicPr>
                    <p:blipFill>
                      <a:blip r:embed="rId6"/>
                      <a:stretch>
                        <a:fillRect/>
                      </a:stretch>
                    </p:blipFill>
                    <p:spPr>
                      <a:xfrm>
                        <a:off x="1700213" y="2259013"/>
                        <a:ext cx="1065212" cy="476250"/>
                      </a:xfrm>
                      <a:prstGeom prst="rect">
                        <a:avLst/>
                      </a:prstGeom>
                      <a:noFill/>
                      <a:ln w="9525">
                        <a:noFill/>
                      </a:ln>
                    </p:spPr>
                  </p:pic>
                </p:oleObj>
              </mc:Fallback>
            </mc:AlternateContent>
          </a:graphicData>
        </a:graphic>
      </p:graphicFrame>
      <p:sp>
        <p:nvSpPr>
          <p:cNvPr id="103438" name="AutoShape 14"/>
          <p:cNvSpPr>
            <a:spLocks noChangeArrowheads="1"/>
          </p:cNvSpPr>
          <p:nvPr/>
        </p:nvSpPr>
        <p:spPr bwMode="auto">
          <a:xfrm>
            <a:off x="1116013" y="2222500"/>
            <a:ext cx="360362"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b="1"/>
          </a:p>
        </p:txBody>
      </p:sp>
      <p:sp>
        <p:nvSpPr>
          <p:cNvPr id="103439" name="AutoShape 15"/>
          <p:cNvSpPr>
            <a:spLocks noChangeArrowheads="1"/>
          </p:cNvSpPr>
          <p:nvPr/>
        </p:nvSpPr>
        <p:spPr bwMode="auto">
          <a:xfrm>
            <a:off x="1068388" y="3935413"/>
            <a:ext cx="360362"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b="1"/>
          </a:p>
        </p:txBody>
      </p:sp>
      <p:sp>
        <p:nvSpPr>
          <p:cNvPr id="103440" name="Rectangle 16"/>
          <p:cNvSpPr>
            <a:spLocks noChangeArrowheads="1"/>
          </p:cNvSpPr>
          <p:nvPr/>
        </p:nvSpPr>
        <p:spPr bwMode="auto">
          <a:xfrm>
            <a:off x="2124075" y="4006850"/>
            <a:ext cx="1225550" cy="647700"/>
          </a:xfrm>
          <a:prstGeom prst="rect">
            <a:avLst/>
          </a:prstGeom>
          <a:blipFill dpi="0" rotWithShape="1">
            <a:blip r:embed="rId7"/>
            <a:srcRect/>
            <a:tile tx="0" ty="0" sx="100000" sy="100000" flip="none" algn="tl"/>
          </a:blipFill>
          <a:ln w="9525">
            <a:solidFill>
              <a:schemeClr val="tx1"/>
            </a:solidFill>
            <a:miter lim="800000"/>
          </a:ln>
        </p:spPr>
        <p:txBody>
          <a:bodyPr wrap="none" anchor="ctr"/>
          <a:lstStyle/>
          <a:p>
            <a:pPr algn="ctr"/>
            <a:r>
              <a:rPr lang="en-US" altLang="zh-CN" b="1" i="1">
                <a:solidFill>
                  <a:srgbClr val="3333CC"/>
                </a:solidFill>
              </a:rPr>
              <a:t>T</a:t>
            </a:r>
            <a:r>
              <a:rPr lang="en-US" altLang="zh-CN" b="1" baseline="-25000">
                <a:solidFill>
                  <a:srgbClr val="3333CC"/>
                </a:solidFill>
              </a:rPr>
              <a:t>1</a:t>
            </a:r>
            <a:endParaRPr lang="en-US" altLang="zh-CN" b="1">
              <a:solidFill>
                <a:srgbClr val="3333CC"/>
              </a:solidFill>
            </a:endParaRPr>
          </a:p>
        </p:txBody>
      </p:sp>
      <p:sp>
        <p:nvSpPr>
          <p:cNvPr id="103441" name="Rectangle 17"/>
          <p:cNvSpPr>
            <a:spLocks noChangeArrowheads="1"/>
          </p:cNvSpPr>
          <p:nvPr/>
        </p:nvSpPr>
        <p:spPr bwMode="auto">
          <a:xfrm>
            <a:off x="3349625" y="4006850"/>
            <a:ext cx="1225550" cy="647700"/>
          </a:xfrm>
          <a:prstGeom prst="rect">
            <a:avLst/>
          </a:prstGeom>
          <a:blipFill dpi="0" rotWithShape="1">
            <a:blip r:embed="rId8"/>
            <a:srcRect/>
            <a:tile tx="0" ty="0" sx="100000" sy="100000" flip="none" algn="tl"/>
          </a:blipFill>
          <a:ln w="9525">
            <a:solidFill>
              <a:schemeClr val="tx1"/>
            </a:solidFill>
            <a:miter lim="800000"/>
          </a:ln>
        </p:spPr>
        <p:txBody>
          <a:bodyPr wrap="none" anchor="ctr"/>
          <a:lstStyle/>
          <a:p>
            <a:pPr algn="ctr"/>
            <a:r>
              <a:rPr lang="en-US" altLang="zh-CN" b="1" i="1">
                <a:solidFill>
                  <a:schemeClr val="bg1"/>
                </a:solidFill>
              </a:rPr>
              <a:t>T</a:t>
            </a:r>
            <a:r>
              <a:rPr lang="en-US" altLang="zh-CN" b="1" baseline="-25000">
                <a:solidFill>
                  <a:schemeClr val="bg1"/>
                </a:solidFill>
              </a:rPr>
              <a:t>2</a:t>
            </a:r>
            <a:endParaRPr lang="en-US" altLang="zh-CN" b="1">
              <a:solidFill>
                <a:schemeClr val="bg1"/>
              </a:solidFill>
            </a:endParaRPr>
          </a:p>
        </p:txBody>
      </p:sp>
      <p:sp>
        <p:nvSpPr>
          <p:cNvPr id="103442" name="Text Box 18"/>
          <p:cNvSpPr txBox="1">
            <a:spLocks noChangeArrowheads="1"/>
          </p:cNvSpPr>
          <p:nvPr/>
        </p:nvSpPr>
        <p:spPr bwMode="auto">
          <a:xfrm>
            <a:off x="4860925" y="4054475"/>
            <a:ext cx="1655763" cy="457200"/>
          </a:xfrm>
          <a:prstGeom prst="rect">
            <a:avLst/>
          </a:prstGeom>
          <a:noFill/>
          <a:ln w="9525">
            <a:noFill/>
            <a:miter lim="800000"/>
          </a:ln>
        </p:spPr>
        <p:txBody>
          <a:bodyPr>
            <a:spAutoFit/>
          </a:bodyPr>
          <a:lstStyle/>
          <a:p>
            <a:r>
              <a:rPr lang="en-US" altLang="zh-CN" b="1" i="1"/>
              <a:t>T</a:t>
            </a:r>
            <a:r>
              <a:rPr lang="en-US" altLang="zh-CN" b="1" baseline="-25000"/>
              <a:t>1</a:t>
            </a:r>
            <a:r>
              <a:rPr lang="en-US" altLang="zh-CN" b="1"/>
              <a:t> &gt; </a:t>
            </a:r>
            <a:r>
              <a:rPr lang="en-US" altLang="zh-CN" b="1" i="1"/>
              <a:t>T</a:t>
            </a:r>
            <a:r>
              <a:rPr lang="en-US" altLang="zh-CN" b="1" baseline="-25000"/>
              <a:t>2</a:t>
            </a:r>
            <a:endParaRPr lang="en-US" altLang="zh-CN" b="1"/>
          </a:p>
        </p:txBody>
      </p:sp>
      <p:sp>
        <p:nvSpPr>
          <p:cNvPr id="103443" name="AutoShape 19"/>
          <p:cNvSpPr>
            <a:spLocks noChangeArrowheads="1"/>
          </p:cNvSpPr>
          <p:nvPr/>
        </p:nvSpPr>
        <p:spPr bwMode="auto">
          <a:xfrm>
            <a:off x="2844800" y="4799013"/>
            <a:ext cx="1008063" cy="215900"/>
          </a:xfrm>
          <a:prstGeom prst="curvedUpArrow">
            <a:avLst>
              <a:gd name="adj1" fmla="val 93382"/>
              <a:gd name="adj2" fmla="val 186765"/>
              <a:gd name="adj3" fmla="val 33333"/>
            </a:avLst>
          </a:prstGeom>
          <a:solidFill>
            <a:schemeClr val="accent1"/>
          </a:solidFill>
          <a:ln w="9525">
            <a:solidFill>
              <a:schemeClr val="tx1"/>
            </a:solidFill>
            <a:miter lim="800000"/>
          </a:ln>
        </p:spPr>
        <p:txBody>
          <a:bodyPr wrap="none" anchor="ctr"/>
          <a:lstStyle/>
          <a:p>
            <a:pPr algn="ctr"/>
            <a:endParaRPr lang="zh-CN" altLang="en-US" b="1"/>
          </a:p>
        </p:txBody>
      </p:sp>
      <p:sp>
        <p:nvSpPr>
          <p:cNvPr id="103444" name="Text Box 20"/>
          <p:cNvSpPr txBox="1">
            <a:spLocks noChangeArrowheads="1"/>
          </p:cNvSpPr>
          <p:nvPr/>
        </p:nvSpPr>
        <p:spPr bwMode="auto">
          <a:xfrm>
            <a:off x="3852863" y="4654550"/>
            <a:ext cx="1655762" cy="457200"/>
          </a:xfrm>
          <a:prstGeom prst="rect">
            <a:avLst/>
          </a:prstGeom>
          <a:noFill/>
          <a:ln w="9525">
            <a:noFill/>
            <a:miter lim="800000"/>
          </a:ln>
        </p:spPr>
        <p:txBody>
          <a:bodyPr>
            <a:spAutoFit/>
          </a:bodyPr>
          <a:lstStyle/>
          <a:p>
            <a:r>
              <a:rPr lang="en-US" altLang="zh-CN" b="1" i="1">
                <a:solidFill>
                  <a:srgbClr val="0000FF"/>
                </a:solidFill>
              </a:rPr>
              <a:t>Q</a:t>
            </a:r>
            <a:endParaRPr lang="en-US" altLang="zh-CN" b="1">
              <a:solidFill>
                <a:srgbClr val="0000FF"/>
              </a:solidFill>
            </a:endParaRPr>
          </a:p>
        </p:txBody>
      </p:sp>
      <p:sp>
        <p:nvSpPr>
          <p:cNvPr id="103445" name="Text Box 21"/>
          <p:cNvSpPr txBox="1">
            <a:spLocks noChangeArrowheads="1"/>
          </p:cNvSpPr>
          <p:nvPr/>
        </p:nvSpPr>
        <p:spPr bwMode="auto">
          <a:xfrm>
            <a:off x="4068763" y="5016500"/>
            <a:ext cx="863600" cy="641350"/>
          </a:xfrm>
          <a:prstGeom prst="rect">
            <a:avLst/>
          </a:prstGeom>
          <a:noFill/>
          <a:ln w="9525">
            <a:noFill/>
            <a:miter lim="800000"/>
          </a:ln>
        </p:spPr>
        <p:txBody>
          <a:bodyPr>
            <a:spAutoFit/>
          </a:bodyPr>
          <a:lstStyle/>
          <a:p>
            <a:r>
              <a:rPr lang="en-US" altLang="zh-CN" sz="3600" b="1">
                <a:solidFill>
                  <a:srgbClr val="FF0000"/>
                </a:solidFill>
                <a:latin typeface="宋体" panose="02010600030101010101" pitchFamily="2" charset="-122"/>
              </a:rPr>
              <a:t>?</a:t>
            </a:r>
            <a:endParaRPr lang="en-US" altLang="zh-CN" sz="3600" b="1">
              <a:solidFill>
                <a:srgbClr val="FF0000"/>
              </a:solidFill>
              <a:latin typeface="宋体" panose="02010600030101010101" pitchFamily="2" charset="-122"/>
            </a:endParaRPr>
          </a:p>
        </p:txBody>
      </p:sp>
      <p:sp>
        <p:nvSpPr>
          <p:cNvPr id="103446" name="Text Box 22"/>
          <p:cNvSpPr txBox="1">
            <a:spLocks noChangeArrowheads="1"/>
          </p:cNvSpPr>
          <p:nvPr/>
        </p:nvSpPr>
        <p:spPr bwMode="auto">
          <a:xfrm>
            <a:off x="1476375" y="3138488"/>
            <a:ext cx="2663825" cy="457200"/>
          </a:xfrm>
          <a:prstGeom prst="rect">
            <a:avLst/>
          </a:prstGeom>
          <a:noFill/>
          <a:ln w="9525">
            <a:noFill/>
            <a:miter lim="800000"/>
          </a:ln>
        </p:spPr>
        <p:txBody>
          <a:bodyPr>
            <a:spAutoFit/>
          </a:bodyPr>
          <a:lstStyle/>
          <a:p>
            <a:r>
              <a:rPr kumimoji="1" lang="zh-CN" altLang="en-US" b="1">
                <a:solidFill>
                  <a:srgbClr val="FF0000"/>
                </a:solidFill>
              </a:rPr>
              <a:t>单热源热机</a:t>
            </a:r>
            <a:endParaRPr kumimoji="1" lang="zh-CN" altLang="en-US" b="1">
              <a:solidFill>
                <a:srgbClr val="FF0000"/>
              </a:solidFill>
            </a:endParaRPr>
          </a:p>
        </p:txBody>
      </p:sp>
      <p:sp>
        <p:nvSpPr>
          <p:cNvPr id="103447" name="Text Box 23"/>
          <p:cNvSpPr txBox="1">
            <a:spLocks noChangeArrowheads="1"/>
          </p:cNvSpPr>
          <p:nvPr/>
        </p:nvSpPr>
        <p:spPr bwMode="auto">
          <a:xfrm>
            <a:off x="4500563" y="3133725"/>
            <a:ext cx="2590800" cy="457200"/>
          </a:xfrm>
          <a:prstGeom prst="rect">
            <a:avLst/>
          </a:prstGeom>
          <a:noFill/>
          <a:ln w="9525">
            <a:noFill/>
            <a:miter lim="800000"/>
          </a:ln>
        </p:spPr>
        <p:txBody>
          <a:bodyPr>
            <a:spAutoFit/>
          </a:bodyPr>
          <a:lstStyle/>
          <a:p>
            <a:r>
              <a:rPr kumimoji="1" lang="zh-CN" altLang="en-US" b="1">
                <a:solidFill>
                  <a:srgbClr val="FF0000"/>
                </a:solidFill>
              </a:rPr>
              <a:t>第二类永动机</a:t>
            </a:r>
            <a:endParaRPr kumimoji="1" lang="zh-CN" altLang="en-US" b="1">
              <a:solidFill>
                <a:srgbClr val="FF0000"/>
              </a:solidFill>
            </a:endParaRPr>
          </a:p>
        </p:txBody>
      </p:sp>
      <p:sp>
        <p:nvSpPr>
          <p:cNvPr id="103448" name="AutoShape 24"/>
          <p:cNvSpPr>
            <a:spLocks noChangeArrowheads="1"/>
          </p:cNvSpPr>
          <p:nvPr/>
        </p:nvSpPr>
        <p:spPr bwMode="auto">
          <a:xfrm>
            <a:off x="3349625" y="3303588"/>
            <a:ext cx="1008063" cy="144462"/>
          </a:xfrm>
          <a:prstGeom prst="leftRightArrow">
            <a:avLst>
              <a:gd name="adj1" fmla="val 50000"/>
              <a:gd name="adj2" fmla="val 139561"/>
            </a:avLst>
          </a:prstGeom>
          <a:solidFill>
            <a:schemeClr val="accent2"/>
          </a:solidFill>
          <a:ln w="9525">
            <a:solidFill>
              <a:schemeClr val="tx1"/>
            </a:solidFill>
            <a:miter lim="800000"/>
          </a:ln>
        </p:spPr>
        <p:txBody>
          <a:bodyPr wrap="none" anchor="ctr"/>
          <a:lstStyle/>
          <a:p>
            <a:pPr algn="ctr"/>
            <a:endParaRPr lang="zh-CN" altLang="en-US" b="1"/>
          </a:p>
        </p:txBody>
      </p:sp>
      <p:sp>
        <p:nvSpPr>
          <p:cNvPr id="103449" name="AutoShape 25"/>
          <p:cNvSpPr>
            <a:spLocks noChangeArrowheads="1"/>
          </p:cNvSpPr>
          <p:nvPr/>
        </p:nvSpPr>
        <p:spPr bwMode="auto">
          <a:xfrm flipH="1">
            <a:off x="2844800" y="5303838"/>
            <a:ext cx="1008063" cy="215900"/>
          </a:xfrm>
          <a:prstGeom prst="curvedUpArrow">
            <a:avLst>
              <a:gd name="adj1" fmla="val 93382"/>
              <a:gd name="adj2" fmla="val 186765"/>
              <a:gd name="adj3" fmla="val 33333"/>
            </a:avLst>
          </a:prstGeom>
          <a:solidFill>
            <a:srgbClr val="FF6600"/>
          </a:solidFill>
          <a:ln w="9525">
            <a:solidFill>
              <a:schemeClr val="tx1"/>
            </a:solidFill>
            <a:miter lim="800000"/>
          </a:ln>
        </p:spPr>
        <p:txBody>
          <a:bodyPr wrap="none" anchor="ctr"/>
          <a:lstStyle/>
          <a:p>
            <a:pPr algn="ctr"/>
            <a:endParaRPr lang="zh-CN" altLang="en-US" b="1"/>
          </a:p>
        </p:txBody>
      </p:sp>
      <p:sp>
        <p:nvSpPr>
          <p:cNvPr id="103450" name="Text Box 26"/>
          <p:cNvSpPr txBox="1">
            <a:spLocks noChangeArrowheads="1"/>
          </p:cNvSpPr>
          <p:nvPr/>
        </p:nvSpPr>
        <p:spPr bwMode="auto">
          <a:xfrm>
            <a:off x="684213" y="5446713"/>
            <a:ext cx="7991475" cy="1006475"/>
          </a:xfrm>
          <a:prstGeom prst="rect">
            <a:avLst/>
          </a:prstGeom>
          <a:noFill/>
          <a:ln w="9525">
            <a:noFill/>
            <a:miter lim="800000"/>
          </a:ln>
        </p:spPr>
        <p:txBody>
          <a:bodyPr>
            <a:spAutoFit/>
          </a:bodyPr>
          <a:lstStyle/>
          <a:p>
            <a:pPr>
              <a:lnSpc>
                <a:spcPct val="125000"/>
              </a:lnSpc>
            </a:pPr>
            <a:r>
              <a:rPr lang="zh-CN" altLang="en-US" b="1">
                <a:solidFill>
                  <a:srgbClr val="0000FF"/>
                </a:solidFill>
                <a:latin typeface="楷体_GB2312" pitchFamily="49" charset="-122"/>
              </a:rPr>
              <a:t>若热机效率能达到</a:t>
            </a:r>
            <a:r>
              <a:rPr lang="en-US" altLang="zh-CN" b="1">
                <a:solidFill>
                  <a:srgbClr val="FF0000"/>
                </a:solidFill>
              </a:rPr>
              <a:t>100%,</a:t>
            </a:r>
            <a:r>
              <a:rPr lang="en-US" altLang="zh-CN" b="1">
                <a:solidFill>
                  <a:srgbClr val="0000FF"/>
                </a:solidFill>
                <a:latin typeface="楷体_GB2312" pitchFamily="49" charset="-122"/>
              </a:rPr>
              <a:t> </a:t>
            </a:r>
            <a:r>
              <a:rPr lang="zh-CN" altLang="en-US" b="1">
                <a:solidFill>
                  <a:srgbClr val="0000FF"/>
                </a:solidFill>
                <a:latin typeface="楷体_GB2312" pitchFamily="49" charset="-122"/>
              </a:rPr>
              <a:t>则仅地球上的</a:t>
            </a:r>
            <a:r>
              <a:rPr lang="zh-CN" altLang="en-US" b="1">
                <a:solidFill>
                  <a:srgbClr val="FF0000"/>
                </a:solidFill>
                <a:latin typeface="楷体_GB2312" pitchFamily="49" charset="-122"/>
              </a:rPr>
              <a:t>海水冷却</a:t>
            </a:r>
            <a:r>
              <a:rPr lang="en-US" altLang="zh-CN" b="1">
                <a:solidFill>
                  <a:srgbClr val="FF0000"/>
                </a:solidFill>
              </a:rPr>
              <a:t>1</a:t>
            </a:r>
            <a:r>
              <a:rPr lang="en-US" altLang="zh-CN" b="1">
                <a:solidFill>
                  <a:srgbClr val="FF0000"/>
                </a:solidFill>
                <a:cs typeface="Times New Roman" panose="02020603050405020304" pitchFamily="18" charset="0"/>
              </a:rPr>
              <a:t>℃</a:t>
            </a:r>
            <a:r>
              <a:rPr lang="en-US" altLang="zh-CN" b="1">
                <a:solidFill>
                  <a:srgbClr val="0000FF"/>
                </a:solidFill>
                <a:latin typeface="楷体_GB2312" pitchFamily="49" charset="-122"/>
              </a:rPr>
              <a:t> , </a:t>
            </a:r>
            <a:r>
              <a:rPr lang="zh-CN" altLang="en-US" b="1">
                <a:solidFill>
                  <a:srgbClr val="0000FF"/>
                </a:solidFill>
                <a:latin typeface="楷体_GB2312" pitchFamily="49" charset="-122"/>
              </a:rPr>
              <a:t>所获得的功就相当于</a:t>
            </a:r>
            <a:r>
              <a:rPr lang="en-US" altLang="zh-CN" b="1">
                <a:solidFill>
                  <a:srgbClr val="FF0000"/>
                </a:solidFill>
              </a:rPr>
              <a:t>10</a:t>
            </a:r>
            <a:r>
              <a:rPr lang="en-US" altLang="zh-CN" b="1" baseline="56000">
                <a:solidFill>
                  <a:srgbClr val="FF0000"/>
                </a:solidFill>
              </a:rPr>
              <a:t>14</a:t>
            </a:r>
            <a:r>
              <a:rPr lang="en-US" altLang="zh-CN" b="1">
                <a:solidFill>
                  <a:srgbClr val="FF0000"/>
                </a:solidFill>
              </a:rPr>
              <a:t>t</a:t>
            </a:r>
            <a:r>
              <a:rPr lang="en-US" altLang="zh-CN" b="1">
                <a:solidFill>
                  <a:srgbClr val="0000FF"/>
                </a:solidFill>
                <a:latin typeface="楷体_GB2312" pitchFamily="49" charset="-122"/>
              </a:rPr>
              <a:t> </a:t>
            </a:r>
            <a:r>
              <a:rPr lang="zh-CN" altLang="en-US" b="1">
                <a:solidFill>
                  <a:srgbClr val="0000FF"/>
                </a:solidFill>
                <a:latin typeface="楷体_GB2312" pitchFamily="49" charset="-122"/>
              </a:rPr>
              <a:t>煤燃烧后放出的热量。</a:t>
            </a:r>
            <a:endParaRPr lang="zh-CN" altLang="en-US" b="1">
              <a:solidFill>
                <a:srgbClr val="0000FF"/>
              </a:solidFill>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wipe(left)">
                                      <p:cBhvr>
                                        <p:cTn id="7" dur="500"/>
                                        <p:tgtEl>
                                          <p:spTgt spid="103428"/>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03429"/>
                                        </p:tgtEl>
                                        <p:attrNameLst>
                                          <p:attrName>style.visibility</p:attrName>
                                        </p:attrNameLst>
                                      </p:cBhvr>
                                      <p:to>
                                        <p:strVal val="visible"/>
                                      </p:to>
                                    </p:set>
                                    <p:anim calcmode="lin" valueType="num">
                                      <p:cBhvr>
                                        <p:cTn id="12" dur="500" fill="hold"/>
                                        <p:tgtEl>
                                          <p:spTgt spid="103429"/>
                                        </p:tgtEl>
                                        <p:attrNameLst>
                                          <p:attrName>ppt_w</p:attrName>
                                        </p:attrNameLst>
                                      </p:cBhvr>
                                      <p:tavLst>
                                        <p:tav tm="0">
                                          <p:val>
                                            <p:fltVal val="0"/>
                                          </p:val>
                                        </p:tav>
                                        <p:tav tm="100000">
                                          <p:val>
                                            <p:strVal val="#ppt_w"/>
                                          </p:val>
                                        </p:tav>
                                      </p:tavLst>
                                    </p:anim>
                                    <p:anim calcmode="lin" valueType="num">
                                      <p:cBhvr>
                                        <p:cTn id="13" dur="500" fill="hold"/>
                                        <p:tgtEl>
                                          <p:spTgt spid="103429"/>
                                        </p:tgtEl>
                                        <p:attrNameLst>
                                          <p:attrName>ppt_h</p:attrName>
                                        </p:attrNameLst>
                                      </p:cBhvr>
                                      <p:tavLst>
                                        <p:tav tm="0">
                                          <p:val>
                                            <p:strVal val="#ppt_h"/>
                                          </p:val>
                                        </p:tav>
                                        <p:tav tm="100000">
                                          <p:val>
                                            <p:strVal val="#ppt_h"/>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03430"/>
                                        </p:tgtEl>
                                        <p:attrNameLst>
                                          <p:attrName>style.visibility</p:attrName>
                                        </p:attrNameLst>
                                      </p:cBhvr>
                                      <p:to>
                                        <p:strVal val="visible"/>
                                      </p:to>
                                    </p:set>
                                    <p:animEffect transition="in" filter="wipe(left)">
                                      <p:cBhvr>
                                        <p:cTn id="17" dur="500"/>
                                        <p:tgtEl>
                                          <p:spTgt spid="1034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3431"/>
                                        </p:tgtEl>
                                        <p:attrNameLst>
                                          <p:attrName>style.visibility</p:attrName>
                                        </p:attrNameLst>
                                      </p:cBhvr>
                                      <p:to>
                                        <p:strVal val="visible"/>
                                      </p:to>
                                    </p:set>
                                    <p:animEffect transition="in" filter="wipe(left)">
                                      <p:cBhvr>
                                        <p:cTn id="22" dur="500"/>
                                        <p:tgtEl>
                                          <p:spTgt spid="103431"/>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32" fill="hold" grpId="0" nodeType="clickEffect">
                                  <p:stCondLst>
                                    <p:cond delay="0"/>
                                  </p:stCondLst>
                                  <p:childTnLst>
                                    <p:set>
                                      <p:cBhvr>
                                        <p:cTn id="26" dur="1" fill="hold">
                                          <p:stCondLst>
                                            <p:cond delay="0"/>
                                          </p:stCondLst>
                                        </p:cTn>
                                        <p:tgtEl>
                                          <p:spTgt spid="103438"/>
                                        </p:tgtEl>
                                        <p:attrNameLst>
                                          <p:attrName>style.visibility</p:attrName>
                                        </p:attrNameLst>
                                      </p:cBhvr>
                                      <p:to>
                                        <p:strVal val="visible"/>
                                      </p:to>
                                    </p:set>
                                    <p:anim calcmode="lin" valueType="num">
                                      <p:cBhvr>
                                        <p:cTn id="27" dur="500" fill="hold"/>
                                        <p:tgtEl>
                                          <p:spTgt spid="103438"/>
                                        </p:tgtEl>
                                        <p:attrNameLst>
                                          <p:attrName>ppt_w</p:attrName>
                                        </p:attrNameLst>
                                      </p:cBhvr>
                                      <p:tavLst>
                                        <p:tav tm="0">
                                          <p:val>
                                            <p:strVal val="4*#ppt_w"/>
                                          </p:val>
                                        </p:tav>
                                        <p:tav tm="100000">
                                          <p:val>
                                            <p:strVal val="#ppt_w"/>
                                          </p:val>
                                        </p:tav>
                                      </p:tavLst>
                                    </p:anim>
                                    <p:anim calcmode="lin" valueType="num">
                                      <p:cBhvr>
                                        <p:cTn id="28" dur="500" fill="hold"/>
                                        <p:tgtEl>
                                          <p:spTgt spid="103438"/>
                                        </p:tgtEl>
                                        <p:attrNameLst>
                                          <p:attrName>ppt_h</p:attrName>
                                        </p:attrNameLst>
                                      </p:cBhvr>
                                      <p:tavLst>
                                        <p:tav tm="0">
                                          <p:val>
                                            <p:strVal val="4*#ppt_h"/>
                                          </p:val>
                                        </p:tav>
                                        <p:tav tm="100000">
                                          <p:val>
                                            <p:strVal val="#ppt_h"/>
                                          </p:val>
                                        </p:tav>
                                      </p:tavLst>
                                    </p:anim>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103437"/>
                                        </p:tgtEl>
                                        <p:attrNameLst>
                                          <p:attrName>style.visibility</p:attrName>
                                        </p:attrNameLst>
                                      </p:cBhvr>
                                      <p:to>
                                        <p:strVal val="visible"/>
                                      </p:to>
                                    </p:set>
                                    <p:animEffect transition="in" filter="wipe(left)">
                                      <p:cBhvr>
                                        <p:cTn id="32" dur="500"/>
                                        <p:tgtEl>
                                          <p:spTgt spid="1034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3435"/>
                                        </p:tgtEl>
                                        <p:attrNameLst>
                                          <p:attrName>style.visibility</p:attrName>
                                        </p:attrNameLst>
                                      </p:cBhvr>
                                      <p:to>
                                        <p:strVal val="visible"/>
                                      </p:to>
                                    </p:set>
                                    <p:animEffect transition="in" filter="wipe(left)">
                                      <p:cBhvr>
                                        <p:cTn id="37" dur="500"/>
                                        <p:tgtEl>
                                          <p:spTgt spid="103435"/>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03432"/>
                                        </p:tgtEl>
                                        <p:attrNameLst>
                                          <p:attrName>style.visibility</p:attrName>
                                        </p:attrNameLst>
                                      </p:cBhvr>
                                      <p:to>
                                        <p:strVal val="visible"/>
                                      </p:to>
                                    </p:set>
                                    <p:animEffect transition="in" filter="wipe(left)">
                                      <p:cBhvr>
                                        <p:cTn id="41" dur="500"/>
                                        <p:tgtEl>
                                          <p:spTgt spid="103432"/>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103433"/>
                                        </p:tgtEl>
                                        <p:attrNameLst>
                                          <p:attrName>style.visibility</p:attrName>
                                        </p:attrNameLst>
                                      </p:cBhvr>
                                      <p:to>
                                        <p:strVal val="visible"/>
                                      </p:to>
                                    </p:set>
                                    <p:animEffect transition="in" filter="wipe(left)">
                                      <p:cBhvr>
                                        <p:cTn id="45" dur="500"/>
                                        <p:tgtEl>
                                          <p:spTgt spid="103433"/>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03436"/>
                                        </p:tgtEl>
                                        <p:attrNameLst>
                                          <p:attrName>style.visibility</p:attrName>
                                        </p:attrNameLst>
                                      </p:cBhvr>
                                      <p:to>
                                        <p:strVal val="visible"/>
                                      </p:to>
                                    </p:set>
                                    <p:animEffect transition="in" filter="wipe(left)">
                                      <p:cBhvr>
                                        <p:cTn id="49" dur="500"/>
                                        <p:tgtEl>
                                          <p:spTgt spid="103436"/>
                                        </p:tgtEl>
                                      </p:cBhvr>
                                    </p:animEffect>
                                  </p:childTnLst>
                                </p:cTn>
                              </p:par>
                            </p:childTnLst>
                          </p:cTn>
                        </p:par>
                        <p:par>
                          <p:cTn id="50" fill="hold">
                            <p:stCondLst>
                              <p:cond delay="2000"/>
                            </p:stCondLst>
                            <p:childTnLst>
                              <p:par>
                                <p:cTn id="51" presetID="35" presetClass="entr" presetSubtype="0" fill="hold" grpId="0" nodeType="afterEffect">
                                  <p:stCondLst>
                                    <p:cond delay="0"/>
                                  </p:stCondLst>
                                  <p:childTnLst>
                                    <p:set>
                                      <p:cBhvr>
                                        <p:cTn id="52" dur="1" fill="hold">
                                          <p:stCondLst>
                                            <p:cond delay="0"/>
                                          </p:stCondLst>
                                        </p:cTn>
                                        <p:tgtEl>
                                          <p:spTgt spid="103434"/>
                                        </p:tgtEl>
                                        <p:attrNameLst>
                                          <p:attrName>style.visibility</p:attrName>
                                        </p:attrNameLst>
                                      </p:cBhvr>
                                      <p:to>
                                        <p:strVal val="visible"/>
                                      </p:to>
                                    </p:set>
                                    <p:animEffect transition="in" filter="fade">
                                      <p:cBhvr>
                                        <p:cTn id="53" dur="2000"/>
                                        <p:tgtEl>
                                          <p:spTgt spid="103434"/>
                                        </p:tgtEl>
                                      </p:cBhvr>
                                    </p:animEffect>
                                    <p:anim calcmode="lin" valueType="num">
                                      <p:cBhvr>
                                        <p:cTn id="54" dur="2000" fill="hold"/>
                                        <p:tgtEl>
                                          <p:spTgt spid="103434"/>
                                        </p:tgtEl>
                                        <p:attrNameLst>
                                          <p:attrName>style.rotation</p:attrName>
                                        </p:attrNameLst>
                                      </p:cBhvr>
                                      <p:tavLst>
                                        <p:tav tm="0">
                                          <p:val>
                                            <p:fltVal val="720"/>
                                          </p:val>
                                        </p:tav>
                                        <p:tav tm="100000">
                                          <p:val>
                                            <p:fltVal val="0"/>
                                          </p:val>
                                        </p:tav>
                                      </p:tavLst>
                                    </p:anim>
                                    <p:anim calcmode="lin" valueType="num">
                                      <p:cBhvr>
                                        <p:cTn id="55" dur="2000" fill="hold"/>
                                        <p:tgtEl>
                                          <p:spTgt spid="103434"/>
                                        </p:tgtEl>
                                        <p:attrNameLst>
                                          <p:attrName>ppt_h</p:attrName>
                                        </p:attrNameLst>
                                      </p:cBhvr>
                                      <p:tavLst>
                                        <p:tav tm="0">
                                          <p:val>
                                            <p:fltVal val="0"/>
                                          </p:val>
                                        </p:tav>
                                        <p:tav tm="100000">
                                          <p:val>
                                            <p:strVal val="#ppt_h"/>
                                          </p:val>
                                        </p:tav>
                                      </p:tavLst>
                                    </p:anim>
                                    <p:anim calcmode="lin" valueType="num">
                                      <p:cBhvr>
                                        <p:cTn id="56" dur="2000" fill="hold"/>
                                        <p:tgtEl>
                                          <p:spTgt spid="103434"/>
                                        </p:tgtEl>
                                        <p:attrNameLst>
                                          <p:attrName>ppt_w</p:attrName>
                                        </p:attrNameLst>
                                      </p:cBhvr>
                                      <p:tavLst>
                                        <p:tav tm="0">
                                          <p:val>
                                            <p:fltVal val="0"/>
                                          </p:val>
                                        </p:tav>
                                        <p:tav tm="100000">
                                          <p:val>
                                            <p:strVal val="#ppt_w"/>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03446"/>
                                        </p:tgtEl>
                                        <p:attrNameLst>
                                          <p:attrName>style.visibility</p:attrName>
                                        </p:attrNameLst>
                                      </p:cBhvr>
                                      <p:to>
                                        <p:strVal val="visible"/>
                                      </p:to>
                                    </p:set>
                                    <p:animEffect transition="in" filter="wipe(left)">
                                      <p:cBhvr>
                                        <p:cTn id="61" dur="500"/>
                                        <p:tgtEl>
                                          <p:spTgt spid="103446"/>
                                        </p:tgtEl>
                                      </p:cBhvr>
                                    </p:animEffect>
                                  </p:childTnLst>
                                </p:cTn>
                              </p:par>
                            </p:childTnLst>
                          </p:cTn>
                        </p:par>
                      </p:childTnLst>
                    </p:cTn>
                  </p:par>
                  <p:par>
                    <p:cTn id="62" fill="hold">
                      <p:stCondLst>
                        <p:cond delay="indefinite"/>
                      </p:stCondLst>
                      <p:childTnLst>
                        <p:par>
                          <p:cTn id="63" fill="hold">
                            <p:stCondLst>
                              <p:cond delay="0"/>
                            </p:stCondLst>
                            <p:childTnLst>
                              <p:par>
                                <p:cTn id="64" presetID="17" presetClass="entr" presetSubtype="10" fill="hold" grpId="0" nodeType="clickEffect">
                                  <p:stCondLst>
                                    <p:cond delay="0"/>
                                  </p:stCondLst>
                                  <p:childTnLst>
                                    <p:set>
                                      <p:cBhvr>
                                        <p:cTn id="65" dur="1" fill="hold">
                                          <p:stCondLst>
                                            <p:cond delay="0"/>
                                          </p:stCondLst>
                                        </p:cTn>
                                        <p:tgtEl>
                                          <p:spTgt spid="103448"/>
                                        </p:tgtEl>
                                        <p:attrNameLst>
                                          <p:attrName>style.visibility</p:attrName>
                                        </p:attrNameLst>
                                      </p:cBhvr>
                                      <p:to>
                                        <p:strVal val="visible"/>
                                      </p:to>
                                    </p:set>
                                    <p:anim calcmode="lin" valueType="num">
                                      <p:cBhvr>
                                        <p:cTn id="66" dur="500" fill="hold"/>
                                        <p:tgtEl>
                                          <p:spTgt spid="103448"/>
                                        </p:tgtEl>
                                        <p:attrNameLst>
                                          <p:attrName>ppt_w</p:attrName>
                                        </p:attrNameLst>
                                      </p:cBhvr>
                                      <p:tavLst>
                                        <p:tav tm="0">
                                          <p:val>
                                            <p:fltVal val="0"/>
                                          </p:val>
                                        </p:tav>
                                        <p:tav tm="100000">
                                          <p:val>
                                            <p:strVal val="#ppt_w"/>
                                          </p:val>
                                        </p:tav>
                                      </p:tavLst>
                                    </p:anim>
                                    <p:anim calcmode="lin" valueType="num">
                                      <p:cBhvr>
                                        <p:cTn id="67" dur="500" fill="hold"/>
                                        <p:tgtEl>
                                          <p:spTgt spid="103448"/>
                                        </p:tgtEl>
                                        <p:attrNameLst>
                                          <p:attrName>ppt_h</p:attrName>
                                        </p:attrNameLst>
                                      </p:cBhvr>
                                      <p:tavLst>
                                        <p:tav tm="0">
                                          <p:val>
                                            <p:strVal val="#ppt_h"/>
                                          </p:val>
                                        </p:tav>
                                        <p:tav tm="100000">
                                          <p:val>
                                            <p:strVal val="#ppt_h"/>
                                          </p:val>
                                        </p:tav>
                                      </p:tavLst>
                                    </p:anim>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103447"/>
                                        </p:tgtEl>
                                        <p:attrNameLst>
                                          <p:attrName>style.visibility</p:attrName>
                                        </p:attrNameLst>
                                      </p:cBhvr>
                                      <p:to>
                                        <p:strVal val="visible"/>
                                      </p:to>
                                    </p:set>
                                    <p:animEffect transition="in" filter="wipe(left)">
                                      <p:cBhvr>
                                        <p:cTn id="71" dur="500"/>
                                        <p:tgtEl>
                                          <p:spTgt spid="103447"/>
                                        </p:tgtEl>
                                      </p:cBhvr>
                                    </p:animEffect>
                                  </p:childTnLst>
                                </p:cTn>
                              </p:par>
                            </p:childTnLst>
                          </p:cTn>
                        </p:par>
                        <p:par>
                          <p:cTn id="72" fill="hold">
                            <p:stCondLst>
                              <p:cond delay="1000"/>
                            </p:stCondLst>
                            <p:childTnLst>
                              <p:par>
                                <p:cTn id="73" presetID="4" presetClass="entr" presetSubtype="32" fill="hold" grpId="0" nodeType="afterEffect">
                                  <p:stCondLst>
                                    <p:cond delay="0"/>
                                  </p:stCondLst>
                                  <p:childTnLst>
                                    <p:set>
                                      <p:cBhvr>
                                        <p:cTn id="74" dur="1" fill="hold">
                                          <p:stCondLst>
                                            <p:cond delay="0"/>
                                          </p:stCondLst>
                                        </p:cTn>
                                        <p:tgtEl>
                                          <p:spTgt spid="103426"/>
                                        </p:tgtEl>
                                        <p:attrNameLst>
                                          <p:attrName>style.visibility</p:attrName>
                                        </p:attrNameLst>
                                      </p:cBhvr>
                                      <p:to>
                                        <p:strVal val="visible"/>
                                      </p:to>
                                    </p:set>
                                    <p:animEffect transition="in" filter="box(out)">
                                      <p:cBhvr>
                                        <p:cTn id="75" dur="500"/>
                                        <p:tgtEl>
                                          <p:spTgt spid="103426"/>
                                        </p:tgtEl>
                                      </p:cBhvr>
                                    </p:animEffect>
                                  </p:childTnLst>
                                </p:cTn>
                              </p:par>
                            </p:childTnLst>
                          </p:cTn>
                        </p:par>
                      </p:childTnLst>
                    </p:cTn>
                  </p:par>
                  <p:par>
                    <p:cTn id="76" fill="hold">
                      <p:stCondLst>
                        <p:cond delay="indefinite"/>
                      </p:stCondLst>
                      <p:childTnLst>
                        <p:par>
                          <p:cTn id="77" fill="hold">
                            <p:stCondLst>
                              <p:cond delay="0"/>
                            </p:stCondLst>
                            <p:childTnLst>
                              <p:par>
                                <p:cTn id="78" presetID="23" presetClass="entr" presetSubtype="32" fill="hold" grpId="0" nodeType="clickEffect">
                                  <p:stCondLst>
                                    <p:cond delay="0"/>
                                  </p:stCondLst>
                                  <p:childTnLst>
                                    <p:set>
                                      <p:cBhvr>
                                        <p:cTn id="79" dur="1" fill="hold">
                                          <p:stCondLst>
                                            <p:cond delay="0"/>
                                          </p:stCondLst>
                                        </p:cTn>
                                        <p:tgtEl>
                                          <p:spTgt spid="103439"/>
                                        </p:tgtEl>
                                        <p:attrNameLst>
                                          <p:attrName>style.visibility</p:attrName>
                                        </p:attrNameLst>
                                      </p:cBhvr>
                                      <p:to>
                                        <p:strVal val="visible"/>
                                      </p:to>
                                    </p:set>
                                    <p:anim calcmode="lin" valueType="num">
                                      <p:cBhvr>
                                        <p:cTn id="80" dur="500" fill="hold"/>
                                        <p:tgtEl>
                                          <p:spTgt spid="103439"/>
                                        </p:tgtEl>
                                        <p:attrNameLst>
                                          <p:attrName>ppt_w</p:attrName>
                                        </p:attrNameLst>
                                      </p:cBhvr>
                                      <p:tavLst>
                                        <p:tav tm="0">
                                          <p:val>
                                            <p:strVal val="4*#ppt_w"/>
                                          </p:val>
                                        </p:tav>
                                        <p:tav tm="100000">
                                          <p:val>
                                            <p:strVal val="#ppt_w"/>
                                          </p:val>
                                        </p:tav>
                                      </p:tavLst>
                                    </p:anim>
                                    <p:anim calcmode="lin" valueType="num">
                                      <p:cBhvr>
                                        <p:cTn id="81" dur="500" fill="hold"/>
                                        <p:tgtEl>
                                          <p:spTgt spid="103439"/>
                                        </p:tgtEl>
                                        <p:attrNameLst>
                                          <p:attrName>ppt_h</p:attrName>
                                        </p:attrNameLst>
                                      </p:cBhvr>
                                      <p:tavLst>
                                        <p:tav tm="0">
                                          <p:val>
                                            <p:strVal val="4*#ppt_h"/>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4" presetClass="entr" presetSubtype="32" fill="hold" grpId="0" nodeType="clickEffect">
                                  <p:stCondLst>
                                    <p:cond delay="0"/>
                                  </p:stCondLst>
                                  <p:childTnLst>
                                    <p:set>
                                      <p:cBhvr>
                                        <p:cTn id="85" dur="1" fill="hold">
                                          <p:stCondLst>
                                            <p:cond delay="0"/>
                                          </p:stCondLst>
                                        </p:cTn>
                                        <p:tgtEl>
                                          <p:spTgt spid="103440"/>
                                        </p:tgtEl>
                                        <p:attrNameLst>
                                          <p:attrName>style.visibility</p:attrName>
                                        </p:attrNameLst>
                                      </p:cBhvr>
                                      <p:to>
                                        <p:strVal val="visible"/>
                                      </p:to>
                                    </p:set>
                                    <p:animEffect transition="in" filter="box(out)">
                                      <p:cBhvr>
                                        <p:cTn id="86" dur="500"/>
                                        <p:tgtEl>
                                          <p:spTgt spid="103440"/>
                                        </p:tgtEl>
                                      </p:cBhvr>
                                    </p:animEffect>
                                  </p:childTnLst>
                                </p:cTn>
                              </p:par>
                              <p:par>
                                <p:cTn id="87" presetID="4" presetClass="entr" presetSubtype="32" fill="hold" grpId="0" nodeType="withEffect">
                                  <p:stCondLst>
                                    <p:cond delay="0"/>
                                  </p:stCondLst>
                                  <p:childTnLst>
                                    <p:set>
                                      <p:cBhvr>
                                        <p:cTn id="88" dur="1" fill="hold">
                                          <p:stCondLst>
                                            <p:cond delay="0"/>
                                          </p:stCondLst>
                                        </p:cTn>
                                        <p:tgtEl>
                                          <p:spTgt spid="103441"/>
                                        </p:tgtEl>
                                        <p:attrNameLst>
                                          <p:attrName>style.visibility</p:attrName>
                                        </p:attrNameLst>
                                      </p:cBhvr>
                                      <p:to>
                                        <p:strVal val="visible"/>
                                      </p:to>
                                    </p:set>
                                    <p:animEffect transition="in" filter="box(out)">
                                      <p:cBhvr>
                                        <p:cTn id="89" dur="500"/>
                                        <p:tgtEl>
                                          <p:spTgt spid="103441"/>
                                        </p:tgtEl>
                                      </p:cBhvr>
                                    </p:animEffect>
                                  </p:childTnLst>
                                </p:cTn>
                              </p:par>
                            </p:childTnLst>
                          </p:cTn>
                        </p:par>
                        <p:par>
                          <p:cTn id="90" fill="hold">
                            <p:stCondLst>
                              <p:cond delay="500"/>
                            </p:stCondLst>
                            <p:childTnLst>
                              <p:par>
                                <p:cTn id="91" presetID="22" presetClass="entr" presetSubtype="8" fill="hold" grpId="0" nodeType="afterEffect">
                                  <p:stCondLst>
                                    <p:cond delay="0"/>
                                  </p:stCondLst>
                                  <p:childTnLst>
                                    <p:set>
                                      <p:cBhvr>
                                        <p:cTn id="92" dur="1" fill="hold">
                                          <p:stCondLst>
                                            <p:cond delay="0"/>
                                          </p:stCondLst>
                                        </p:cTn>
                                        <p:tgtEl>
                                          <p:spTgt spid="103442"/>
                                        </p:tgtEl>
                                        <p:attrNameLst>
                                          <p:attrName>style.visibility</p:attrName>
                                        </p:attrNameLst>
                                      </p:cBhvr>
                                      <p:to>
                                        <p:strVal val="visible"/>
                                      </p:to>
                                    </p:set>
                                    <p:animEffect transition="in" filter="wipe(left)">
                                      <p:cBhvr>
                                        <p:cTn id="93" dur="500"/>
                                        <p:tgtEl>
                                          <p:spTgt spid="103442"/>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03443"/>
                                        </p:tgtEl>
                                        <p:attrNameLst>
                                          <p:attrName>style.visibility</p:attrName>
                                        </p:attrNameLst>
                                      </p:cBhvr>
                                      <p:to>
                                        <p:strVal val="visible"/>
                                      </p:to>
                                    </p:set>
                                    <p:animEffect transition="in" filter="wipe(left)">
                                      <p:cBhvr>
                                        <p:cTn id="98" dur="500"/>
                                        <p:tgtEl>
                                          <p:spTgt spid="103443"/>
                                        </p:tgtEl>
                                      </p:cBhvr>
                                    </p:animEffect>
                                  </p:childTnLst>
                                </p:cTn>
                              </p:par>
                            </p:childTnLst>
                          </p:cTn>
                        </p:par>
                        <p:par>
                          <p:cTn id="99" fill="hold">
                            <p:stCondLst>
                              <p:cond delay="500"/>
                            </p:stCondLst>
                            <p:childTnLst>
                              <p:par>
                                <p:cTn id="100" presetID="22" presetClass="entr" presetSubtype="8" fill="hold" grpId="0" nodeType="afterEffect">
                                  <p:stCondLst>
                                    <p:cond delay="0"/>
                                  </p:stCondLst>
                                  <p:childTnLst>
                                    <p:set>
                                      <p:cBhvr>
                                        <p:cTn id="101" dur="1" fill="hold">
                                          <p:stCondLst>
                                            <p:cond delay="0"/>
                                          </p:stCondLst>
                                        </p:cTn>
                                        <p:tgtEl>
                                          <p:spTgt spid="103444"/>
                                        </p:tgtEl>
                                        <p:attrNameLst>
                                          <p:attrName>style.visibility</p:attrName>
                                        </p:attrNameLst>
                                      </p:cBhvr>
                                      <p:to>
                                        <p:strVal val="visible"/>
                                      </p:to>
                                    </p:set>
                                    <p:animEffect transition="in" filter="wipe(left)">
                                      <p:cBhvr>
                                        <p:cTn id="102" dur="500"/>
                                        <p:tgtEl>
                                          <p:spTgt spid="10344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2" fill="hold" grpId="0" nodeType="clickEffect">
                                  <p:stCondLst>
                                    <p:cond delay="0"/>
                                  </p:stCondLst>
                                  <p:childTnLst>
                                    <p:set>
                                      <p:cBhvr>
                                        <p:cTn id="106" dur="1" fill="hold">
                                          <p:stCondLst>
                                            <p:cond delay="0"/>
                                          </p:stCondLst>
                                        </p:cTn>
                                        <p:tgtEl>
                                          <p:spTgt spid="103449"/>
                                        </p:tgtEl>
                                        <p:attrNameLst>
                                          <p:attrName>style.visibility</p:attrName>
                                        </p:attrNameLst>
                                      </p:cBhvr>
                                      <p:to>
                                        <p:strVal val="visible"/>
                                      </p:to>
                                    </p:set>
                                    <p:animEffect transition="in" filter="wipe(right)">
                                      <p:cBhvr>
                                        <p:cTn id="107" dur="500"/>
                                        <p:tgtEl>
                                          <p:spTgt spid="103449"/>
                                        </p:tgtEl>
                                      </p:cBhvr>
                                    </p:animEffect>
                                  </p:childTnLst>
                                </p:cTn>
                              </p:par>
                            </p:childTnLst>
                          </p:cTn>
                        </p:par>
                        <p:par>
                          <p:cTn id="108" fill="hold">
                            <p:stCondLst>
                              <p:cond delay="500"/>
                            </p:stCondLst>
                            <p:childTnLst>
                              <p:par>
                                <p:cTn id="109" presetID="35" presetClass="entr" presetSubtype="0" fill="hold" grpId="0" nodeType="afterEffect">
                                  <p:stCondLst>
                                    <p:cond delay="0"/>
                                  </p:stCondLst>
                                  <p:childTnLst>
                                    <p:set>
                                      <p:cBhvr>
                                        <p:cTn id="110" dur="1" fill="hold">
                                          <p:stCondLst>
                                            <p:cond delay="0"/>
                                          </p:stCondLst>
                                        </p:cTn>
                                        <p:tgtEl>
                                          <p:spTgt spid="103445"/>
                                        </p:tgtEl>
                                        <p:attrNameLst>
                                          <p:attrName>style.visibility</p:attrName>
                                        </p:attrNameLst>
                                      </p:cBhvr>
                                      <p:to>
                                        <p:strVal val="visible"/>
                                      </p:to>
                                    </p:set>
                                    <p:animEffect transition="in" filter="fade">
                                      <p:cBhvr>
                                        <p:cTn id="111" dur="2000"/>
                                        <p:tgtEl>
                                          <p:spTgt spid="103445"/>
                                        </p:tgtEl>
                                      </p:cBhvr>
                                    </p:animEffect>
                                    <p:anim calcmode="lin" valueType="num">
                                      <p:cBhvr>
                                        <p:cTn id="112" dur="2000" fill="hold"/>
                                        <p:tgtEl>
                                          <p:spTgt spid="103445"/>
                                        </p:tgtEl>
                                        <p:attrNameLst>
                                          <p:attrName>style.rotation</p:attrName>
                                        </p:attrNameLst>
                                      </p:cBhvr>
                                      <p:tavLst>
                                        <p:tav tm="0">
                                          <p:val>
                                            <p:fltVal val="720"/>
                                          </p:val>
                                        </p:tav>
                                        <p:tav tm="100000">
                                          <p:val>
                                            <p:fltVal val="0"/>
                                          </p:val>
                                        </p:tav>
                                      </p:tavLst>
                                    </p:anim>
                                    <p:anim calcmode="lin" valueType="num">
                                      <p:cBhvr>
                                        <p:cTn id="113" dur="2000" fill="hold"/>
                                        <p:tgtEl>
                                          <p:spTgt spid="103445"/>
                                        </p:tgtEl>
                                        <p:attrNameLst>
                                          <p:attrName>ppt_h</p:attrName>
                                        </p:attrNameLst>
                                      </p:cBhvr>
                                      <p:tavLst>
                                        <p:tav tm="0">
                                          <p:val>
                                            <p:fltVal val="0"/>
                                          </p:val>
                                        </p:tav>
                                        <p:tav tm="100000">
                                          <p:val>
                                            <p:strVal val="#ppt_h"/>
                                          </p:val>
                                        </p:tav>
                                      </p:tavLst>
                                    </p:anim>
                                    <p:anim calcmode="lin" valueType="num">
                                      <p:cBhvr>
                                        <p:cTn id="114" dur="2000" fill="hold"/>
                                        <p:tgtEl>
                                          <p:spTgt spid="103445"/>
                                        </p:tgtEl>
                                        <p:attrNameLst>
                                          <p:attrName>ppt_w</p:attrName>
                                        </p:attrNameLst>
                                      </p:cBhvr>
                                      <p:tavLst>
                                        <p:tav tm="0">
                                          <p:val>
                                            <p:fltVal val="0"/>
                                          </p:val>
                                        </p:tav>
                                        <p:tav tm="100000">
                                          <p:val>
                                            <p:strVal val="#ppt_w"/>
                                          </p:val>
                                        </p:tav>
                                      </p:tavLst>
                                    </p:anim>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03450"/>
                                        </p:tgtEl>
                                        <p:attrNameLst>
                                          <p:attrName>style.visibility</p:attrName>
                                        </p:attrNameLst>
                                      </p:cBhvr>
                                      <p:to>
                                        <p:strVal val="visible"/>
                                      </p:to>
                                    </p:set>
                                    <p:animEffect transition="in" filter="wipe(left)">
                                      <p:cBhvr>
                                        <p:cTn id="119" dur="500"/>
                                        <p:tgtEl>
                                          <p:spTgt spid="103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animBg="1"/>
      <p:bldP spid="103428" grpId="0"/>
      <p:bldP spid="103429" grpId="0" animBg="1"/>
      <p:bldP spid="103430" grpId="0"/>
      <p:bldP spid="103431" grpId="0"/>
      <p:bldP spid="103432" grpId="0"/>
      <p:bldP spid="103434" grpId="0"/>
      <p:bldP spid="103435" grpId="0" animBg="1"/>
      <p:bldP spid="103438" grpId="0" animBg="1"/>
      <p:bldP spid="103439" grpId="0" animBg="1"/>
      <p:bldP spid="103440" grpId="0" animBg="1"/>
      <p:bldP spid="103441" grpId="0" animBg="1"/>
      <p:bldP spid="103442" grpId="0"/>
      <p:bldP spid="103443" grpId="0" animBg="1"/>
      <p:bldP spid="103444" grpId="0"/>
      <p:bldP spid="103445" grpId="0"/>
      <p:bldP spid="103446" grpId="0"/>
      <p:bldP spid="103447" grpId="0"/>
      <p:bldP spid="103448" grpId="0" animBg="1"/>
      <p:bldP spid="103449" grpId="0" animBg="1"/>
      <p:bldP spid="10345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5" name="Text Box 3"/>
          <p:cNvSpPr txBox="1">
            <a:spLocks noChangeArrowheads="1"/>
          </p:cNvSpPr>
          <p:nvPr/>
        </p:nvSpPr>
        <p:spPr bwMode="auto">
          <a:xfrm>
            <a:off x="179388" y="571500"/>
            <a:ext cx="8064500" cy="457200"/>
          </a:xfrm>
          <a:prstGeom prst="rect">
            <a:avLst/>
          </a:prstGeom>
          <a:noFill/>
          <a:ln w="12700" cap="sq">
            <a:noFill/>
            <a:miter lim="800000"/>
            <a:headEnd type="none" w="sm" len="sm"/>
            <a:tailEnd type="none" w="sm" len="sm"/>
          </a:ln>
        </p:spPr>
        <p:txBody>
          <a:bodyPr>
            <a:spAutoFit/>
          </a:bodyPr>
          <a:lstStyle/>
          <a:p>
            <a:r>
              <a:rPr kumimoji="1" lang="en-US" altLang="zh-CN" b="1">
                <a:solidFill>
                  <a:srgbClr val="0000FF"/>
                </a:solidFill>
              </a:rPr>
              <a:t>7.5.1 </a:t>
            </a:r>
            <a:r>
              <a:rPr kumimoji="1" lang="zh-CN" altLang="en-US" b="1">
                <a:solidFill>
                  <a:srgbClr val="0000FF"/>
                </a:solidFill>
              </a:rPr>
              <a:t>自发过程的方向性  可逆过程与不可逆过程</a:t>
            </a:r>
            <a:r>
              <a:rPr kumimoji="1" lang="zh-CN" altLang="en-US"/>
              <a:t> </a:t>
            </a:r>
            <a:endParaRPr kumimoji="1" lang="zh-CN" altLang="en-US"/>
          </a:p>
        </p:txBody>
      </p:sp>
      <p:sp>
        <p:nvSpPr>
          <p:cNvPr id="248836" name="Rectangle 4"/>
          <p:cNvSpPr>
            <a:spLocks noChangeArrowheads="1"/>
          </p:cNvSpPr>
          <p:nvPr/>
        </p:nvSpPr>
        <p:spPr bwMode="auto">
          <a:xfrm>
            <a:off x="107950" y="1127125"/>
            <a:ext cx="4176713" cy="457200"/>
          </a:xfrm>
          <a:prstGeom prst="rect">
            <a:avLst/>
          </a:prstGeom>
          <a:noFill/>
          <a:ln w="9525">
            <a:noFill/>
            <a:miter lim="800000"/>
          </a:ln>
        </p:spPr>
        <p:txBody>
          <a:bodyPr>
            <a:spAutoFit/>
          </a:bodyPr>
          <a:lstStyle/>
          <a:p>
            <a:r>
              <a:rPr kumimoji="1" lang="en-US" altLang="zh-CN" b="1">
                <a:solidFill>
                  <a:srgbClr val="FF0000"/>
                </a:solidFill>
                <a:ea typeface="楷体_GB2312" pitchFamily="49" charset="-122"/>
              </a:rPr>
              <a:t>1</a:t>
            </a:r>
            <a:r>
              <a:rPr kumimoji="1" lang="zh-CN" altLang="en-US" b="1">
                <a:solidFill>
                  <a:srgbClr val="FF0000"/>
                </a:solidFill>
                <a:ea typeface="楷体_GB2312" pitchFamily="49" charset="-122"/>
              </a:rPr>
              <a:t>、</a:t>
            </a:r>
            <a:r>
              <a:rPr kumimoji="1" lang="zh-CN" altLang="en-US" b="1">
                <a:solidFill>
                  <a:srgbClr val="FF0000"/>
                </a:solidFill>
                <a:latin typeface="Arial" panose="020B0604020202020204" pitchFamily="34" charset="0"/>
              </a:rPr>
              <a:t>自发过程的方向性</a:t>
            </a:r>
            <a:r>
              <a:rPr kumimoji="1" lang="zh-CN" altLang="en-US" sz="1800">
                <a:latin typeface="Arial" panose="020B0604020202020204" pitchFamily="34" charset="0"/>
              </a:rPr>
              <a:t> </a:t>
            </a:r>
            <a:endParaRPr kumimoji="1" lang="zh-CN" altLang="en-US" sz="1800">
              <a:latin typeface="Arial" panose="020B0604020202020204" pitchFamily="34" charset="0"/>
            </a:endParaRPr>
          </a:p>
        </p:txBody>
      </p:sp>
      <p:sp>
        <p:nvSpPr>
          <p:cNvPr id="248837" name="Text Box 5"/>
          <p:cNvSpPr txBox="1">
            <a:spLocks noChangeArrowheads="1"/>
          </p:cNvSpPr>
          <p:nvPr/>
        </p:nvSpPr>
        <p:spPr bwMode="auto">
          <a:xfrm>
            <a:off x="539750" y="1636713"/>
            <a:ext cx="2160588" cy="457200"/>
          </a:xfrm>
          <a:prstGeom prst="rect">
            <a:avLst/>
          </a:prstGeom>
          <a:noFill/>
          <a:ln w="12700" cap="sq" algn="ctr">
            <a:noFill/>
            <a:miter lim="800000"/>
          </a:ln>
        </p:spPr>
        <p:txBody>
          <a:bodyPr>
            <a:spAutoFit/>
          </a:bodyPr>
          <a:lstStyle/>
          <a:p>
            <a:pPr>
              <a:buClr>
                <a:srgbClr val="CC0000"/>
              </a:buClr>
              <a:buFont typeface="Wingdings" panose="05000000000000000000" pitchFamily="2" charset="2"/>
              <a:buNone/>
            </a:pPr>
            <a:r>
              <a:rPr kumimoji="1" lang="zh-CN" altLang="en-US" b="1">
                <a:solidFill>
                  <a:srgbClr val="FF0000"/>
                </a:solidFill>
                <a:latin typeface="楷体_GB2312" pitchFamily="49" charset="-122"/>
                <a:ea typeface="楷体_GB2312" pitchFamily="49" charset="-122"/>
              </a:rPr>
              <a:t>自发过程</a:t>
            </a:r>
            <a:endParaRPr kumimoji="1" lang="zh-CN" altLang="en-US" b="1">
              <a:solidFill>
                <a:srgbClr val="FF0000"/>
              </a:solidFill>
              <a:latin typeface="楷体_GB2312" pitchFamily="49" charset="-122"/>
              <a:ea typeface="楷体_GB2312" pitchFamily="49" charset="-122"/>
            </a:endParaRPr>
          </a:p>
        </p:txBody>
      </p:sp>
      <p:sp>
        <p:nvSpPr>
          <p:cNvPr id="248838" name="Text Box 6"/>
          <p:cNvSpPr txBox="1">
            <a:spLocks noChangeArrowheads="1"/>
          </p:cNvSpPr>
          <p:nvPr/>
        </p:nvSpPr>
        <p:spPr bwMode="auto">
          <a:xfrm>
            <a:off x="1919288" y="1631950"/>
            <a:ext cx="6973887" cy="457200"/>
          </a:xfrm>
          <a:prstGeom prst="rect">
            <a:avLst/>
          </a:prstGeom>
          <a:noFill/>
          <a:ln w="12700" cap="sq" algn="ctr">
            <a:noFill/>
            <a:miter lim="800000"/>
          </a:ln>
        </p:spPr>
        <p:txBody>
          <a:bodyPr>
            <a:spAutoFit/>
          </a:bodyPr>
          <a:lstStyle/>
          <a:p>
            <a:pPr>
              <a:buClr>
                <a:srgbClr val="CC0000"/>
              </a:buClr>
              <a:buFont typeface="Wingdings" panose="05000000000000000000" pitchFamily="2" charset="2"/>
              <a:buNone/>
            </a:pPr>
            <a:r>
              <a:rPr kumimoji="1" lang="zh-CN" altLang="en-US" b="1">
                <a:latin typeface="楷体_GB2312" pitchFamily="49" charset="-122"/>
                <a:ea typeface="楷体_GB2312" pitchFamily="49" charset="-122"/>
              </a:rPr>
              <a:t>自然界中不受外界影响而能够自动进行的过程。</a:t>
            </a:r>
            <a:r>
              <a:rPr kumimoji="1" lang="zh-CN" altLang="en-US">
                <a:latin typeface="楷体_GB2312" pitchFamily="49" charset="-122"/>
                <a:ea typeface="楷体_GB2312" pitchFamily="49" charset="-122"/>
              </a:rPr>
              <a:t> </a:t>
            </a:r>
            <a:endParaRPr kumimoji="1" lang="zh-CN" altLang="en-US">
              <a:latin typeface="楷体_GB2312" pitchFamily="49" charset="-122"/>
              <a:ea typeface="楷体_GB2312" pitchFamily="49" charset="-122"/>
            </a:endParaRPr>
          </a:p>
        </p:txBody>
      </p:sp>
      <p:sp>
        <p:nvSpPr>
          <p:cNvPr id="248839" name="Text Box 7"/>
          <p:cNvSpPr txBox="1">
            <a:spLocks noChangeArrowheads="1"/>
          </p:cNvSpPr>
          <p:nvPr/>
        </p:nvSpPr>
        <p:spPr bwMode="auto">
          <a:xfrm>
            <a:off x="106363" y="2208213"/>
            <a:ext cx="1152525" cy="457200"/>
          </a:xfrm>
          <a:prstGeom prst="rect">
            <a:avLst/>
          </a:prstGeom>
          <a:noFill/>
          <a:ln w="12700" cap="sq" algn="ctr">
            <a:noFill/>
            <a:miter lim="800000"/>
          </a:ln>
        </p:spPr>
        <p:txBody>
          <a:bodyPr>
            <a:spAutoFit/>
          </a:bodyPr>
          <a:lstStyle/>
          <a:p>
            <a:pPr>
              <a:buClr>
                <a:srgbClr val="CC0000"/>
              </a:buClr>
              <a:buFont typeface="Wingdings" panose="05000000000000000000" pitchFamily="2" charset="2"/>
              <a:buNone/>
            </a:pPr>
            <a:r>
              <a:rPr kumimoji="1" lang="zh-CN" altLang="en-US" b="1">
                <a:solidFill>
                  <a:srgbClr val="008000"/>
                </a:solidFill>
                <a:latin typeface="楷体_GB2312" pitchFamily="49" charset="-122"/>
                <a:ea typeface="楷体_GB2312" pitchFamily="49" charset="-122"/>
              </a:rPr>
              <a:t>举例：</a:t>
            </a:r>
            <a:r>
              <a:rPr kumimoji="1" lang="zh-CN" altLang="en-US">
                <a:solidFill>
                  <a:srgbClr val="008000"/>
                </a:solidFill>
                <a:latin typeface="楷体_GB2312" pitchFamily="49" charset="-122"/>
                <a:ea typeface="楷体_GB2312" pitchFamily="49" charset="-122"/>
              </a:rPr>
              <a:t> </a:t>
            </a:r>
            <a:endParaRPr kumimoji="1" lang="zh-CN" altLang="en-US">
              <a:solidFill>
                <a:srgbClr val="008000"/>
              </a:solidFill>
              <a:latin typeface="楷体_GB2312" pitchFamily="49" charset="-122"/>
              <a:ea typeface="楷体_GB2312" pitchFamily="49" charset="-122"/>
            </a:endParaRPr>
          </a:p>
        </p:txBody>
      </p:sp>
      <p:sp>
        <p:nvSpPr>
          <p:cNvPr id="248840" name="Text Box 8"/>
          <p:cNvSpPr txBox="1">
            <a:spLocks noChangeArrowheads="1"/>
          </p:cNvSpPr>
          <p:nvPr/>
        </p:nvSpPr>
        <p:spPr bwMode="auto">
          <a:xfrm>
            <a:off x="107950" y="2711450"/>
            <a:ext cx="8424863" cy="427038"/>
          </a:xfrm>
          <a:prstGeom prst="rect">
            <a:avLst/>
          </a:prstGeom>
          <a:noFill/>
          <a:ln w="12700" cap="sq" algn="ctr">
            <a:noFill/>
            <a:miter lim="800000"/>
          </a:ln>
        </p:spPr>
        <p:txBody>
          <a:bodyPr>
            <a:spAutoFit/>
          </a:bodyPr>
          <a:lstStyle/>
          <a:p>
            <a:pPr>
              <a:buClr>
                <a:srgbClr val="CC0000"/>
              </a:buClr>
              <a:buFont typeface="Wingdings" panose="05000000000000000000" pitchFamily="2" charset="2"/>
              <a:buChar char="Ø"/>
            </a:pPr>
            <a:r>
              <a:rPr kumimoji="1" lang="en-US" altLang="zh-CN" sz="2200" b="1">
                <a:latin typeface="宋体" panose="02010600030101010101" pitchFamily="2" charset="-122"/>
              </a:rPr>
              <a:t> </a:t>
            </a:r>
            <a:r>
              <a:rPr kumimoji="1" lang="zh-CN" altLang="en-US" sz="2200" b="1">
                <a:latin typeface="宋体" panose="02010600030101010101" pitchFamily="2" charset="-122"/>
              </a:rPr>
              <a:t>转动着的飞轮 ，在撤除动力后，飞轮逐渐减速，直至静止。</a:t>
            </a:r>
            <a:endParaRPr kumimoji="1" lang="zh-CN" altLang="en-US" sz="2200" b="1">
              <a:latin typeface="宋体" panose="02010600030101010101" pitchFamily="2" charset="-122"/>
            </a:endParaRPr>
          </a:p>
        </p:txBody>
      </p:sp>
      <p:sp>
        <p:nvSpPr>
          <p:cNvPr id="248841" name="Text Box 9"/>
          <p:cNvSpPr txBox="1">
            <a:spLocks noChangeArrowheads="1"/>
          </p:cNvSpPr>
          <p:nvPr/>
        </p:nvSpPr>
        <p:spPr bwMode="auto">
          <a:xfrm>
            <a:off x="107950" y="3792538"/>
            <a:ext cx="8497888" cy="427037"/>
          </a:xfrm>
          <a:prstGeom prst="rect">
            <a:avLst/>
          </a:prstGeom>
          <a:noFill/>
          <a:ln w="12700" cap="sq" algn="ctr">
            <a:noFill/>
            <a:miter lim="800000"/>
          </a:ln>
        </p:spPr>
        <p:txBody>
          <a:bodyPr>
            <a:spAutoFit/>
          </a:bodyPr>
          <a:lstStyle/>
          <a:p>
            <a:pPr>
              <a:buClr>
                <a:srgbClr val="CC0000"/>
              </a:buClr>
              <a:buFont typeface="Wingdings" panose="05000000000000000000" pitchFamily="2" charset="2"/>
              <a:buChar char="Ø"/>
            </a:pPr>
            <a:r>
              <a:rPr kumimoji="1" lang="en-US" altLang="zh-CN" sz="2200" b="1">
                <a:latin typeface="Arial" panose="020B0604020202020204" pitchFamily="34" charset="0"/>
              </a:rPr>
              <a:t> </a:t>
            </a:r>
            <a:r>
              <a:rPr kumimoji="1" lang="zh-CN" altLang="en-US" sz="2200" b="1">
                <a:latin typeface="宋体" panose="02010600030101010101" pitchFamily="2" charset="-122"/>
              </a:rPr>
              <a:t>两个温度不同的物体相互接触 ，直至两物体温度一致 。</a:t>
            </a:r>
            <a:endParaRPr kumimoji="1" lang="zh-CN" altLang="en-US" sz="2200" b="1">
              <a:latin typeface="宋体" panose="02010600030101010101" pitchFamily="2" charset="-122"/>
            </a:endParaRPr>
          </a:p>
        </p:txBody>
      </p:sp>
      <p:sp>
        <p:nvSpPr>
          <p:cNvPr id="248842" name="Text Box 10"/>
          <p:cNvSpPr txBox="1">
            <a:spLocks noChangeArrowheads="1"/>
          </p:cNvSpPr>
          <p:nvPr/>
        </p:nvSpPr>
        <p:spPr bwMode="auto">
          <a:xfrm>
            <a:off x="107950" y="5092700"/>
            <a:ext cx="6408738" cy="427038"/>
          </a:xfrm>
          <a:prstGeom prst="rect">
            <a:avLst/>
          </a:prstGeom>
          <a:noFill/>
          <a:ln w="12700" cap="sq" algn="ctr">
            <a:noFill/>
            <a:miter lim="800000"/>
          </a:ln>
        </p:spPr>
        <p:txBody>
          <a:bodyPr>
            <a:spAutoFit/>
          </a:bodyPr>
          <a:lstStyle/>
          <a:p>
            <a:pPr>
              <a:buClr>
                <a:srgbClr val="CC0000"/>
              </a:buClr>
              <a:buFont typeface="Wingdings" panose="05000000000000000000" pitchFamily="2" charset="2"/>
              <a:buChar char="Ø"/>
            </a:pPr>
            <a:r>
              <a:rPr kumimoji="1" lang="en-US" altLang="zh-CN" sz="2200" b="1">
                <a:latin typeface="Arial" panose="020B0604020202020204" pitchFamily="34" charset="0"/>
              </a:rPr>
              <a:t> </a:t>
            </a:r>
            <a:r>
              <a:rPr kumimoji="1" lang="zh-CN" altLang="en-US" sz="2200" b="1">
                <a:latin typeface="宋体" panose="02010600030101010101" pitchFamily="2" charset="-122"/>
              </a:rPr>
              <a:t>气体向真空绝热自由膨胀的过程。 </a:t>
            </a:r>
            <a:endParaRPr kumimoji="1" lang="zh-CN" altLang="en-US" sz="2200" b="1">
              <a:latin typeface="宋体" panose="02010600030101010101" pitchFamily="2" charset="-122"/>
            </a:endParaRPr>
          </a:p>
        </p:txBody>
      </p:sp>
      <p:sp>
        <p:nvSpPr>
          <p:cNvPr id="248843" name="Text Box 11"/>
          <p:cNvSpPr txBox="1">
            <a:spLocks noChangeArrowheads="1"/>
          </p:cNvSpPr>
          <p:nvPr/>
        </p:nvSpPr>
        <p:spPr bwMode="auto">
          <a:xfrm>
            <a:off x="1187450" y="3268663"/>
            <a:ext cx="1296988" cy="400050"/>
          </a:xfrm>
          <a:prstGeom prst="rect">
            <a:avLst/>
          </a:prstGeom>
          <a:solidFill>
            <a:schemeClr val="accent2"/>
          </a:solidFill>
          <a:ln w="12700" cap="sq" algn="ctr">
            <a:solidFill>
              <a:srgbClr val="000080"/>
            </a:solidFill>
            <a:miter lim="800000"/>
          </a:ln>
          <a:effectLst/>
        </p:spPr>
        <p:txBody>
          <a:bodyPr>
            <a:spAutoFit/>
          </a:bodyPr>
          <a:lstStyle/>
          <a:p>
            <a:pPr>
              <a:buClr>
                <a:srgbClr val="CC0000"/>
              </a:buClr>
              <a:buFont typeface="Wingdings" panose="05000000000000000000" pitchFamily="2" charset="2"/>
              <a:buNone/>
              <a:defRPr/>
            </a:pPr>
            <a:r>
              <a:rPr kumimoji="1" lang="en-US" altLang="zh-CN" sz="2000" b="1" dirty="0">
                <a:effectLst>
                  <a:outerShdw blurRad="38100" dist="38100" dir="2700000" algn="tl">
                    <a:srgbClr val="FFFFFF"/>
                  </a:outerShdw>
                </a:effectLst>
                <a:latin typeface="Arial" panose="020B0604020202020204" pitchFamily="34" charset="0"/>
              </a:rPr>
              <a:t> </a:t>
            </a:r>
            <a:r>
              <a:rPr kumimoji="1" lang="zh-CN" altLang="en-US" sz="2000" b="1" dirty="0">
                <a:solidFill>
                  <a:schemeClr val="bg1"/>
                </a:solidFill>
                <a:effectLst>
                  <a:outerShdw blurRad="38100" dist="38100" dir="2700000" algn="tl">
                    <a:srgbClr val="000000"/>
                  </a:outerShdw>
                </a:effectLst>
                <a:latin typeface="宋体" panose="02010600030101010101" pitchFamily="2" charset="-122"/>
              </a:rPr>
              <a:t>转动状态</a:t>
            </a:r>
            <a:endParaRPr kumimoji="1" lang="zh-CN" altLang="en-US" sz="2000" b="1" dirty="0">
              <a:solidFill>
                <a:schemeClr val="bg1"/>
              </a:solidFill>
              <a:effectLst>
                <a:outerShdw blurRad="38100" dist="38100" dir="2700000" algn="tl">
                  <a:srgbClr val="000000"/>
                </a:outerShdw>
              </a:effectLst>
              <a:latin typeface="宋体" panose="02010600030101010101" pitchFamily="2" charset="-122"/>
            </a:endParaRPr>
          </a:p>
        </p:txBody>
      </p:sp>
      <p:sp>
        <p:nvSpPr>
          <p:cNvPr id="248844" name="Text Box 12"/>
          <p:cNvSpPr txBox="1">
            <a:spLocks noChangeArrowheads="1"/>
          </p:cNvSpPr>
          <p:nvPr/>
        </p:nvSpPr>
        <p:spPr bwMode="auto">
          <a:xfrm>
            <a:off x="3405188" y="3263900"/>
            <a:ext cx="1296987" cy="400050"/>
          </a:xfrm>
          <a:prstGeom prst="rect">
            <a:avLst/>
          </a:prstGeom>
          <a:solidFill>
            <a:schemeClr val="accent2"/>
          </a:solidFill>
          <a:ln w="12700" cap="sq" algn="ctr">
            <a:solidFill>
              <a:srgbClr val="000080"/>
            </a:solidFill>
            <a:miter lim="800000"/>
          </a:ln>
          <a:effectLst/>
        </p:spPr>
        <p:txBody>
          <a:bodyPr>
            <a:spAutoFit/>
          </a:bodyPr>
          <a:lstStyle/>
          <a:p>
            <a:pPr>
              <a:buClr>
                <a:srgbClr val="CC0000"/>
              </a:buClr>
              <a:buFont typeface="Wingdings" panose="05000000000000000000" pitchFamily="2" charset="2"/>
              <a:buNone/>
              <a:defRPr/>
            </a:pPr>
            <a:r>
              <a:rPr kumimoji="1" lang="en-US" altLang="zh-CN" sz="2000" b="1">
                <a:effectLst>
                  <a:outerShdw blurRad="38100" dist="38100" dir="2700000" algn="tl">
                    <a:srgbClr val="FFFFFF"/>
                  </a:outerShdw>
                </a:effectLst>
                <a:latin typeface="Arial" panose="020B0604020202020204" pitchFamily="34" charset="0"/>
              </a:rPr>
              <a:t> </a:t>
            </a:r>
            <a:r>
              <a:rPr kumimoji="1" lang="zh-CN" altLang="en-US" sz="2000" b="1">
                <a:solidFill>
                  <a:schemeClr val="bg1"/>
                </a:solidFill>
                <a:effectLst>
                  <a:outerShdw blurRad="38100" dist="38100" dir="2700000" algn="tl">
                    <a:srgbClr val="000000"/>
                  </a:outerShdw>
                </a:effectLst>
                <a:latin typeface="宋体" panose="02010600030101010101" pitchFamily="2" charset="-122"/>
              </a:rPr>
              <a:t>静止状态</a:t>
            </a:r>
            <a:endParaRPr kumimoji="1" lang="zh-CN" altLang="en-US" sz="2000" b="1">
              <a:solidFill>
                <a:schemeClr val="bg1"/>
              </a:solidFill>
              <a:effectLst>
                <a:outerShdw blurRad="38100" dist="38100" dir="2700000" algn="tl">
                  <a:srgbClr val="000000"/>
                </a:outerShdw>
              </a:effectLst>
              <a:latin typeface="宋体" panose="02010600030101010101" pitchFamily="2" charset="-122"/>
            </a:endParaRPr>
          </a:p>
        </p:txBody>
      </p:sp>
      <p:sp>
        <p:nvSpPr>
          <p:cNvPr id="248845" name="AutoShape 13"/>
          <p:cNvSpPr>
            <a:spLocks noChangeArrowheads="1"/>
          </p:cNvSpPr>
          <p:nvPr/>
        </p:nvSpPr>
        <p:spPr bwMode="auto">
          <a:xfrm>
            <a:off x="2643188" y="3384550"/>
            <a:ext cx="576262" cy="144463"/>
          </a:xfrm>
          <a:prstGeom prst="rightArrow">
            <a:avLst>
              <a:gd name="adj1" fmla="val 50000"/>
              <a:gd name="adj2" fmla="val 99725"/>
            </a:avLst>
          </a:prstGeom>
          <a:solidFill>
            <a:srgbClr val="FF0000"/>
          </a:solidFill>
          <a:ln w="19050" algn="ctr">
            <a:solidFill>
              <a:schemeClr val="tx1"/>
            </a:solidFill>
            <a:miter lim="800000"/>
          </a:ln>
        </p:spPr>
        <p:txBody>
          <a:bodyPr wrap="none" anchor="ctr"/>
          <a:lstStyle/>
          <a:p>
            <a:pPr algn="ctr"/>
            <a:endParaRPr lang="zh-CN" altLang="en-US"/>
          </a:p>
        </p:txBody>
      </p:sp>
      <p:sp>
        <p:nvSpPr>
          <p:cNvPr id="248846" name="Text Box 14"/>
          <p:cNvSpPr txBox="1">
            <a:spLocks noChangeArrowheads="1"/>
          </p:cNvSpPr>
          <p:nvPr/>
        </p:nvSpPr>
        <p:spPr bwMode="auto">
          <a:xfrm>
            <a:off x="1201738" y="4454525"/>
            <a:ext cx="1296987" cy="400050"/>
          </a:xfrm>
          <a:prstGeom prst="rect">
            <a:avLst/>
          </a:prstGeom>
          <a:solidFill>
            <a:schemeClr val="accent2"/>
          </a:solidFill>
          <a:ln w="12700" cap="sq" algn="ctr">
            <a:solidFill>
              <a:srgbClr val="000080"/>
            </a:solidFill>
            <a:miter lim="800000"/>
          </a:ln>
          <a:effectLst/>
        </p:spPr>
        <p:txBody>
          <a:bodyPr>
            <a:spAutoFit/>
          </a:bodyPr>
          <a:lstStyle/>
          <a:p>
            <a:pPr>
              <a:buClr>
                <a:srgbClr val="CC0000"/>
              </a:buClr>
              <a:buFont typeface="Wingdings" panose="05000000000000000000" pitchFamily="2" charset="2"/>
              <a:buNone/>
              <a:defRPr/>
            </a:pPr>
            <a:r>
              <a:rPr kumimoji="1" lang="zh-CN" altLang="en-US" sz="2000" b="1">
                <a:solidFill>
                  <a:schemeClr val="bg1"/>
                </a:solidFill>
                <a:effectLst>
                  <a:outerShdw blurRad="38100" dist="38100" dir="2700000" algn="tl">
                    <a:srgbClr val="000000"/>
                  </a:outerShdw>
                </a:effectLst>
                <a:latin typeface="Arial" panose="020B0604020202020204" pitchFamily="34" charset="0"/>
              </a:rPr>
              <a:t>温度不同</a:t>
            </a:r>
            <a:endParaRPr kumimoji="1" lang="zh-CN" altLang="en-US" sz="2000" b="1">
              <a:solidFill>
                <a:schemeClr val="bg1"/>
              </a:solidFill>
              <a:effectLst>
                <a:outerShdw blurRad="38100" dist="38100" dir="2700000" algn="tl">
                  <a:srgbClr val="000000"/>
                </a:outerShdw>
              </a:effectLst>
              <a:latin typeface="宋体" panose="02010600030101010101" pitchFamily="2" charset="-122"/>
            </a:endParaRPr>
          </a:p>
        </p:txBody>
      </p:sp>
      <p:sp>
        <p:nvSpPr>
          <p:cNvPr id="248847" name="Text Box 15"/>
          <p:cNvSpPr txBox="1">
            <a:spLocks noChangeArrowheads="1"/>
          </p:cNvSpPr>
          <p:nvPr/>
        </p:nvSpPr>
        <p:spPr bwMode="auto">
          <a:xfrm>
            <a:off x="3419475" y="4440238"/>
            <a:ext cx="1296988" cy="400050"/>
          </a:xfrm>
          <a:prstGeom prst="rect">
            <a:avLst/>
          </a:prstGeom>
          <a:solidFill>
            <a:schemeClr val="accent2"/>
          </a:solidFill>
          <a:ln w="12700" cap="sq" algn="ctr">
            <a:solidFill>
              <a:srgbClr val="000080"/>
            </a:solidFill>
            <a:miter lim="800000"/>
          </a:ln>
          <a:effectLst/>
        </p:spPr>
        <p:txBody>
          <a:bodyPr>
            <a:spAutoFit/>
          </a:bodyPr>
          <a:lstStyle/>
          <a:p>
            <a:pPr>
              <a:buClr>
                <a:srgbClr val="CC0000"/>
              </a:buClr>
              <a:buFont typeface="Wingdings" panose="05000000000000000000" pitchFamily="2" charset="2"/>
              <a:buNone/>
              <a:defRPr/>
            </a:pPr>
            <a:r>
              <a:rPr kumimoji="1" lang="en-US" altLang="zh-CN" sz="2000" b="1">
                <a:effectLst>
                  <a:outerShdw blurRad="38100" dist="38100" dir="2700000" algn="tl">
                    <a:srgbClr val="FFFFFF"/>
                  </a:outerShdw>
                </a:effectLst>
                <a:latin typeface="Arial" panose="020B0604020202020204" pitchFamily="34" charset="0"/>
              </a:rPr>
              <a:t> </a:t>
            </a:r>
            <a:r>
              <a:rPr kumimoji="1" lang="zh-CN" altLang="en-US" sz="2000" b="1">
                <a:solidFill>
                  <a:schemeClr val="bg1"/>
                </a:solidFill>
                <a:effectLst>
                  <a:outerShdw blurRad="38100" dist="38100" dir="2700000" algn="tl">
                    <a:srgbClr val="000000"/>
                  </a:outerShdw>
                </a:effectLst>
                <a:latin typeface="宋体" panose="02010600030101010101" pitchFamily="2" charset="-122"/>
              </a:rPr>
              <a:t>温度均一</a:t>
            </a:r>
            <a:endParaRPr kumimoji="1" lang="zh-CN" altLang="en-US" sz="2000" b="1">
              <a:solidFill>
                <a:schemeClr val="bg1"/>
              </a:solidFill>
              <a:effectLst>
                <a:outerShdw blurRad="38100" dist="38100" dir="2700000" algn="tl">
                  <a:srgbClr val="000000"/>
                </a:outerShdw>
              </a:effectLst>
              <a:latin typeface="宋体" panose="02010600030101010101" pitchFamily="2" charset="-122"/>
            </a:endParaRPr>
          </a:p>
        </p:txBody>
      </p:sp>
      <p:sp>
        <p:nvSpPr>
          <p:cNvPr id="248848" name="AutoShape 16"/>
          <p:cNvSpPr>
            <a:spLocks noChangeArrowheads="1"/>
          </p:cNvSpPr>
          <p:nvPr/>
        </p:nvSpPr>
        <p:spPr bwMode="auto">
          <a:xfrm>
            <a:off x="2641600" y="4556125"/>
            <a:ext cx="577850" cy="144463"/>
          </a:xfrm>
          <a:prstGeom prst="rightArrow">
            <a:avLst>
              <a:gd name="adj1" fmla="val 50000"/>
              <a:gd name="adj2" fmla="val 100000"/>
            </a:avLst>
          </a:prstGeom>
          <a:solidFill>
            <a:srgbClr val="FF0000"/>
          </a:solidFill>
          <a:ln w="19050" algn="ctr">
            <a:solidFill>
              <a:schemeClr val="tx1"/>
            </a:solidFill>
            <a:miter lim="800000"/>
          </a:ln>
        </p:spPr>
        <p:txBody>
          <a:bodyPr wrap="none" anchor="ctr"/>
          <a:lstStyle/>
          <a:p>
            <a:pPr algn="ctr"/>
            <a:endParaRPr lang="zh-CN" altLang="en-US"/>
          </a:p>
        </p:txBody>
      </p:sp>
      <p:sp>
        <p:nvSpPr>
          <p:cNvPr id="248849" name="Rectangle 17"/>
          <p:cNvSpPr>
            <a:spLocks noChangeArrowheads="1"/>
          </p:cNvSpPr>
          <p:nvPr/>
        </p:nvSpPr>
        <p:spPr bwMode="auto">
          <a:xfrm>
            <a:off x="5292725" y="4605338"/>
            <a:ext cx="1368425" cy="771525"/>
          </a:xfrm>
          <a:prstGeom prst="rect">
            <a:avLst/>
          </a:prstGeom>
          <a:solidFill>
            <a:srgbClr val="FFFFFF"/>
          </a:solidFill>
          <a:ln w="76200" cap="sq">
            <a:solidFill>
              <a:srgbClr val="B2B2B2"/>
            </a:solidFill>
            <a:miter lim="800000"/>
          </a:ln>
        </p:spPr>
        <p:txBody>
          <a:bodyPr wrap="none" anchor="ctr"/>
          <a:lstStyle/>
          <a:p>
            <a:pPr algn="ctr"/>
            <a:endParaRPr lang="zh-CN" altLang="en-US"/>
          </a:p>
        </p:txBody>
      </p:sp>
      <p:sp>
        <p:nvSpPr>
          <p:cNvPr id="248850" name="Rectangle 18" descr="5%"/>
          <p:cNvSpPr>
            <a:spLocks noChangeArrowheads="1"/>
          </p:cNvSpPr>
          <p:nvPr/>
        </p:nvSpPr>
        <p:spPr bwMode="auto">
          <a:xfrm>
            <a:off x="5294313" y="4605338"/>
            <a:ext cx="673100" cy="722312"/>
          </a:xfrm>
          <a:prstGeom prst="rect">
            <a:avLst/>
          </a:prstGeom>
          <a:pattFill prst="pct5">
            <a:fgClr>
              <a:srgbClr val="000000"/>
            </a:fgClr>
            <a:bgClr>
              <a:srgbClr val="DDDDDD"/>
            </a:bgClr>
          </a:pattFill>
          <a:ln w="12700" cap="sq">
            <a:solidFill>
              <a:schemeClr val="bg2"/>
            </a:solidFill>
            <a:miter lim="800000"/>
            <a:headEnd type="none" w="sm" len="sm"/>
            <a:tailEnd type="none" w="sm" len="sm"/>
          </a:ln>
        </p:spPr>
        <p:txBody>
          <a:bodyPr wrap="none" anchor="ctr"/>
          <a:lstStyle/>
          <a:p>
            <a:pPr algn="ctr"/>
            <a:endParaRPr lang="zh-CN" altLang="en-US"/>
          </a:p>
        </p:txBody>
      </p:sp>
      <p:sp>
        <p:nvSpPr>
          <p:cNvPr id="248851" name="Rectangle 19"/>
          <p:cNvSpPr>
            <a:spLocks noChangeArrowheads="1"/>
          </p:cNvSpPr>
          <p:nvPr/>
        </p:nvSpPr>
        <p:spPr bwMode="auto">
          <a:xfrm>
            <a:off x="5937250" y="4629150"/>
            <a:ext cx="125413" cy="685800"/>
          </a:xfrm>
          <a:prstGeom prst="rect">
            <a:avLst/>
          </a:prstGeom>
          <a:solidFill>
            <a:schemeClr val="bg2"/>
          </a:solidFill>
          <a:ln w="12700" cap="sq">
            <a:solidFill>
              <a:schemeClr val="tx2"/>
            </a:solidFill>
            <a:miter lim="800000"/>
            <a:headEnd type="none" w="sm" len="sm"/>
            <a:tailEnd type="none" w="sm" len="sm"/>
          </a:ln>
        </p:spPr>
        <p:txBody>
          <a:bodyPr wrap="none" anchor="ctr"/>
          <a:lstStyle/>
          <a:p>
            <a:pPr algn="ctr"/>
            <a:endParaRPr lang="zh-CN" altLang="en-US"/>
          </a:p>
        </p:txBody>
      </p:sp>
      <p:sp>
        <p:nvSpPr>
          <p:cNvPr id="248852" name="Rectangle 20" descr="5%"/>
          <p:cNvSpPr>
            <a:spLocks noChangeArrowheads="1"/>
          </p:cNvSpPr>
          <p:nvPr/>
        </p:nvSpPr>
        <p:spPr bwMode="auto">
          <a:xfrm>
            <a:off x="7439025" y="4591050"/>
            <a:ext cx="1306513" cy="771525"/>
          </a:xfrm>
          <a:prstGeom prst="rect">
            <a:avLst/>
          </a:prstGeom>
          <a:pattFill prst="pct5">
            <a:fgClr>
              <a:schemeClr val="tx1"/>
            </a:fgClr>
            <a:bgClr>
              <a:srgbClr val="DDDDDD"/>
            </a:bgClr>
          </a:pattFill>
          <a:ln w="76200" cap="sq">
            <a:solidFill>
              <a:srgbClr val="B2B2B2"/>
            </a:solidFill>
            <a:miter lim="800000"/>
          </a:ln>
        </p:spPr>
        <p:txBody>
          <a:bodyPr wrap="none" anchor="ctr"/>
          <a:lstStyle/>
          <a:p>
            <a:pPr algn="ctr"/>
            <a:endParaRPr lang="zh-CN" altLang="en-US"/>
          </a:p>
        </p:txBody>
      </p:sp>
      <p:sp>
        <p:nvSpPr>
          <p:cNvPr id="248853" name="AutoShape 21"/>
          <p:cNvSpPr>
            <a:spLocks noChangeArrowheads="1"/>
          </p:cNvSpPr>
          <p:nvPr/>
        </p:nvSpPr>
        <p:spPr bwMode="auto">
          <a:xfrm rot="-5400000">
            <a:off x="6956425" y="4783138"/>
            <a:ext cx="180975" cy="396875"/>
          </a:xfrm>
          <a:prstGeom prst="downArrow">
            <a:avLst>
              <a:gd name="adj1" fmla="val 50000"/>
              <a:gd name="adj2" fmla="val 54825"/>
            </a:avLst>
          </a:prstGeom>
          <a:solidFill>
            <a:srgbClr val="FF0000"/>
          </a:solidFill>
          <a:ln w="19050" algn="ctr">
            <a:solidFill>
              <a:schemeClr val="accent2"/>
            </a:solidFill>
            <a:miter lim="800000"/>
          </a:ln>
        </p:spPr>
        <p:txBody>
          <a:bodyPr wrap="none" anchor="ctr"/>
          <a:lstStyle/>
          <a:p>
            <a:pPr algn="ctr"/>
            <a:endParaRPr lang="zh-CN" altLang="en-US"/>
          </a:p>
        </p:txBody>
      </p:sp>
      <p:sp>
        <p:nvSpPr>
          <p:cNvPr id="248854" name="Text Box 22"/>
          <p:cNvSpPr txBox="1">
            <a:spLocks noChangeArrowheads="1"/>
          </p:cNvSpPr>
          <p:nvPr/>
        </p:nvSpPr>
        <p:spPr bwMode="auto">
          <a:xfrm>
            <a:off x="971550" y="5638800"/>
            <a:ext cx="6769100" cy="457200"/>
          </a:xfrm>
          <a:prstGeom prst="rect">
            <a:avLst/>
          </a:prstGeom>
          <a:noFill/>
          <a:ln w="12700" cap="sq" algn="ctr">
            <a:noFill/>
            <a:miter lim="800000"/>
          </a:ln>
        </p:spPr>
        <p:txBody>
          <a:bodyPr>
            <a:spAutoFit/>
          </a:bodyPr>
          <a:lstStyle/>
          <a:p>
            <a:pPr>
              <a:buClr>
                <a:srgbClr val="CC0000"/>
              </a:buClr>
              <a:buFont typeface="Wingdings" panose="05000000000000000000" pitchFamily="2" charset="2"/>
              <a:buNone/>
            </a:pPr>
            <a:r>
              <a:rPr kumimoji="1" lang="zh-CN" altLang="en-US" b="1">
                <a:solidFill>
                  <a:srgbClr val="0000FF"/>
                </a:solidFill>
                <a:latin typeface="宋体" panose="02010600030101010101" pitchFamily="2" charset="-122"/>
                <a:ea typeface="楷体_GB2312" pitchFamily="49" charset="-122"/>
              </a:rPr>
              <a:t>自然界的一切自发过程都是按确定方向进行的</a:t>
            </a:r>
            <a:r>
              <a:rPr kumimoji="1" lang="zh-CN" altLang="en-US" sz="1800" b="1">
                <a:solidFill>
                  <a:srgbClr val="0000FF"/>
                </a:solidFill>
                <a:latin typeface="宋体" panose="02010600030101010101" pitchFamily="2" charset="-122"/>
              </a:rPr>
              <a:t> 。</a:t>
            </a:r>
            <a:endParaRPr kumimoji="1" lang="zh-CN" altLang="en-US" sz="1800" b="1">
              <a:solidFill>
                <a:srgbClr val="0000FF"/>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8835"/>
                                        </p:tgtEl>
                                        <p:attrNameLst>
                                          <p:attrName>style.visibility</p:attrName>
                                        </p:attrNameLst>
                                      </p:cBhvr>
                                      <p:to>
                                        <p:strVal val="visible"/>
                                      </p:to>
                                    </p:set>
                                    <p:animEffect transition="in" filter="wipe(left)">
                                      <p:cBhvr>
                                        <p:cTn id="7" dur="500"/>
                                        <p:tgtEl>
                                          <p:spTgt spid="2488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8836"/>
                                        </p:tgtEl>
                                        <p:attrNameLst>
                                          <p:attrName>style.visibility</p:attrName>
                                        </p:attrNameLst>
                                      </p:cBhvr>
                                      <p:to>
                                        <p:strVal val="visible"/>
                                      </p:to>
                                    </p:set>
                                    <p:animEffect transition="in" filter="wipe(left)">
                                      <p:cBhvr>
                                        <p:cTn id="12" dur="500"/>
                                        <p:tgtEl>
                                          <p:spTgt spid="2488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8837"/>
                                        </p:tgtEl>
                                        <p:attrNameLst>
                                          <p:attrName>style.visibility</p:attrName>
                                        </p:attrNameLst>
                                      </p:cBhvr>
                                      <p:to>
                                        <p:strVal val="visible"/>
                                      </p:to>
                                    </p:set>
                                    <p:animEffect transition="in" filter="wipe(left)">
                                      <p:cBhvr>
                                        <p:cTn id="17" dur="500"/>
                                        <p:tgtEl>
                                          <p:spTgt spid="2488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8838"/>
                                        </p:tgtEl>
                                        <p:attrNameLst>
                                          <p:attrName>style.visibility</p:attrName>
                                        </p:attrNameLst>
                                      </p:cBhvr>
                                      <p:to>
                                        <p:strVal val="visible"/>
                                      </p:to>
                                    </p:set>
                                    <p:animEffect transition="in" filter="wipe(left)">
                                      <p:cBhvr>
                                        <p:cTn id="22" dur="500"/>
                                        <p:tgtEl>
                                          <p:spTgt spid="2488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8839"/>
                                        </p:tgtEl>
                                        <p:attrNameLst>
                                          <p:attrName>style.visibility</p:attrName>
                                        </p:attrNameLst>
                                      </p:cBhvr>
                                      <p:to>
                                        <p:strVal val="visible"/>
                                      </p:to>
                                    </p:set>
                                    <p:animEffect transition="in" filter="wipe(left)">
                                      <p:cBhvr>
                                        <p:cTn id="27" dur="500"/>
                                        <p:tgtEl>
                                          <p:spTgt spid="2488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8840"/>
                                        </p:tgtEl>
                                        <p:attrNameLst>
                                          <p:attrName>style.visibility</p:attrName>
                                        </p:attrNameLst>
                                      </p:cBhvr>
                                      <p:to>
                                        <p:strVal val="visible"/>
                                      </p:to>
                                    </p:set>
                                    <p:animEffect transition="in" filter="wipe(left)">
                                      <p:cBhvr>
                                        <p:cTn id="32" dur="500"/>
                                        <p:tgtEl>
                                          <p:spTgt spid="2488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8843"/>
                                        </p:tgtEl>
                                        <p:attrNameLst>
                                          <p:attrName>style.visibility</p:attrName>
                                        </p:attrNameLst>
                                      </p:cBhvr>
                                      <p:to>
                                        <p:strVal val="visible"/>
                                      </p:to>
                                    </p:set>
                                    <p:animEffect transition="in" filter="wipe(left)">
                                      <p:cBhvr>
                                        <p:cTn id="37" dur="500"/>
                                        <p:tgtEl>
                                          <p:spTgt spid="24884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8845"/>
                                        </p:tgtEl>
                                        <p:attrNameLst>
                                          <p:attrName>style.visibility</p:attrName>
                                        </p:attrNameLst>
                                      </p:cBhvr>
                                      <p:to>
                                        <p:strVal val="visible"/>
                                      </p:to>
                                    </p:set>
                                    <p:animEffect transition="in" filter="wipe(left)">
                                      <p:cBhvr>
                                        <p:cTn id="42" dur="500"/>
                                        <p:tgtEl>
                                          <p:spTgt spid="248845"/>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248844"/>
                                        </p:tgtEl>
                                        <p:attrNameLst>
                                          <p:attrName>style.visibility</p:attrName>
                                        </p:attrNameLst>
                                      </p:cBhvr>
                                      <p:to>
                                        <p:strVal val="visible"/>
                                      </p:to>
                                    </p:set>
                                    <p:animEffect transition="in" filter="wipe(left)">
                                      <p:cBhvr>
                                        <p:cTn id="46" dur="500"/>
                                        <p:tgtEl>
                                          <p:spTgt spid="24884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48841"/>
                                        </p:tgtEl>
                                        <p:attrNameLst>
                                          <p:attrName>style.visibility</p:attrName>
                                        </p:attrNameLst>
                                      </p:cBhvr>
                                      <p:to>
                                        <p:strVal val="visible"/>
                                      </p:to>
                                    </p:set>
                                    <p:animEffect transition="in" filter="wipe(left)">
                                      <p:cBhvr>
                                        <p:cTn id="51" dur="500"/>
                                        <p:tgtEl>
                                          <p:spTgt spid="24884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48846"/>
                                        </p:tgtEl>
                                        <p:attrNameLst>
                                          <p:attrName>style.visibility</p:attrName>
                                        </p:attrNameLst>
                                      </p:cBhvr>
                                      <p:to>
                                        <p:strVal val="visible"/>
                                      </p:to>
                                    </p:set>
                                    <p:animEffect transition="in" filter="wipe(left)">
                                      <p:cBhvr>
                                        <p:cTn id="56" dur="500"/>
                                        <p:tgtEl>
                                          <p:spTgt spid="248846"/>
                                        </p:tgtEl>
                                      </p:cBhvr>
                                    </p:animEffect>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248848"/>
                                        </p:tgtEl>
                                        <p:attrNameLst>
                                          <p:attrName>style.visibility</p:attrName>
                                        </p:attrNameLst>
                                      </p:cBhvr>
                                      <p:to>
                                        <p:strVal val="visible"/>
                                      </p:to>
                                    </p:set>
                                    <p:animEffect transition="in" filter="wipe(left)">
                                      <p:cBhvr>
                                        <p:cTn id="60" dur="500"/>
                                        <p:tgtEl>
                                          <p:spTgt spid="248848"/>
                                        </p:tgtEl>
                                      </p:cBhvr>
                                    </p:animEffect>
                                  </p:childTnLst>
                                </p:cTn>
                              </p:par>
                            </p:childTnLst>
                          </p:cTn>
                        </p:par>
                        <p:par>
                          <p:cTn id="61" fill="hold">
                            <p:stCondLst>
                              <p:cond delay="1000"/>
                            </p:stCondLst>
                            <p:childTnLst>
                              <p:par>
                                <p:cTn id="62" presetID="22" presetClass="entr" presetSubtype="8" fill="hold" grpId="0" nodeType="afterEffect">
                                  <p:stCondLst>
                                    <p:cond delay="0"/>
                                  </p:stCondLst>
                                  <p:childTnLst>
                                    <p:set>
                                      <p:cBhvr>
                                        <p:cTn id="63" dur="1" fill="hold">
                                          <p:stCondLst>
                                            <p:cond delay="0"/>
                                          </p:stCondLst>
                                        </p:cTn>
                                        <p:tgtEl>
                                          <p:spTgt spid="248847"/>
                                        </p:tgtEl>
                                        <p:attrNameLst>
                                          <p:attrName>style.visibility</p:attrName>
                                        </p:attrNameLst>
                                      </p:cBhvr>
                                      <p:to>
                                        <p:strVal val="visible"/>
                                      </p:to>
                                    </p:set>
                                    <p:animEffect transition="in" filter="wipe(left)">
                                      <p:cBhvr>
                                        <p:cTn id="64" dur="500"/>
                                        <p:tgtEl>
                                          <p:spTgt spid="24884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48842"/>
                                        </p:tgtEl>
                                        <p:attrNameLst>
                                          <p:attrName>style.visibility</p:attrName>
                                        </p:attrNameLst>
                                      </p:cBhvr>
                                      <p:to>
                                        <p:strVal val="visible"/>
                                      </p:to>
                                    </p:set>
                                    <p:animEffect transition="in" filter="wipe(left)">
                                      <p:cBhvr>
                                        <p:cTn id="69" dur="500"/>
                                        <p:tgtEl>
                                          <p:spTgt spid="24884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248849"/>
                                        </p:tgtEl>
                                        <p:attrNameLst>
                                          <p:attrName>style.visibility</p:attrName>
                                        </p:attrNameLst>
                                      </p:cBhvr>
                                      <p:to>
                                        <p:strVal val="visible"/>
                                      </p:to>
                                    </p:set>
                                    <p:animEffect transition="in" filter="wipe(up)">
                                      <p:cBhvr>
                                        <p:cTn id="74" dur="500"/>
                                        <p:tgtEl>
                                          <p:spTgt spid="248849"/>
                                        </p:tgtEl>
                                      </p:cBhvr>
                                    </p:animEffect>
                                  </p:childTnLst>
                                </p:cTn>
                              </p:par>
                            </p:childTnLst>
                          </p:cTn>
                        </p:par>
                        <p:par>
                          <p:cTn id="75" fill="hold">
                            <p:stCondLst>
                              <p:cond delay="500"/>
                            </p:stCondLst>
                            <p:childTnLst>
                              <p:par>
                                <p:cTn id="76" presetID="22" presetClass="entr" presetSubtype="1" fill="hold" grpId="0" nodeType="afterEffect">
                                  <p:stCondLst>
                                    <p:cond delay="0"/>
                                  </p:stCondLst>
                                  <p:childTnLst>
                                    <p:set>
                                      <p:cBhvr>
                                        <p:cTn id="77" dur="1" fill="hold">
                                          <p:stCondLst>
                                            <p:cond delay="0"/>
                                          </p:stCondLst>
                                        </p:cTn>
                                        <p:tgtEl>
                                          <p:spTgt spid="248851"/>
                                        </p:tgtEl>
                                        <p:attrNameLst>
                                          <p:attrName>style.visibility</p:attrName>
                                        </p:attrNameLst>
                                      </p:cBhvr>
                                      <p:to>
                                        <p:strVal val="visible"/>
                                      </p:to>
                                    </p:set>
                                    <p:animEffect transition="in" filter="wipe(up)">
                                      <p:cBhvr>
                                        <p:cTn id="78" dur="500"/>
                                        <p:tgtEl>
                                          <p:spTgt spid="248851"/>
                                        </p:tgtEl>
                                      </p:cBhvr>
                                    </p:animEffect>
                                  </p:childTnLst>
                                </p:cTn>
                              </p:par>
                            </p:childTnLst>
                          </p:cTn>
                        </p:par>
                        <p:par>
                          <p:cTn id="79" fill="hold">
                            <p:stCondLst>
                              <p:cond delay="1000"/>
                            </p:stCondLst>
                            <p:childTnLst>
                              <p:par>
                                <p:cTn id="80" presetID="22" presetClass="entr" presetSubtype="1" fill="hold" grpId="0" nodeType="afterEffect">
                                  <p:stCondLst>
                                    <p:cond delay="0"/>
                                  </p:stCondLst>
                                  <p:childTnLst>
                                    <p:set>
                                      <p:cBhvr>
                                        <p:cTn id="81" dur="1" fill="hold">
                                          <p:stCondLst>
                                            <p:cond delay="0"/>
                                          </p:stCondLst>
                                        </p:cTn>
                                        <p:tgtEl>
                                          <p:spTgt spid="248850"/>
                                        </p:tgtEl>
                                        <p:attrNameLst>
                                          <p:attrName>style.visibility</p:attrName>
                                        </p:attrNameLst>
                                      </p:cBhvr>
                                      <p:to>
                                        <p:strVal val="visible"/>
                                      </p:to>
                                    </p:set>
                                    <p:animEffect transition="in" filter="wipe(up)">
                                      <p:cBhvr>
                                        <p:cTn id="82" dur="500"/>
                                        <p:tgtEl>
                                          <p:spTgt spid="24885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248853"/>
                                        </p:tgtEl>
                                        <p:attrNameLst>
                                          <p:attrName>style.visibility</p:attrName>
                                        </p:attrNameLst>
                                      </p:cBhvr>
                                      <p:to>
                                        <p:strVal val="visible"/>
                                      </p:to>
                                    </p:set>
                                    <p:animEffect transition="in" filter="wipe(up)">
                                      <p:cBhvr>
                                        <p:cTn id="87" dur="500"/>
                                        <p:tgtEl>
                                          <p:spTgt spid="248853"/>
                                        </p:tgtEl>
                                      </p:cBhvr>
                                    </p:animEffect>
                                  </p:childTnLst>
                                </p:cTn>
                              </p:par>
                            </p:childTnLst>
                          </p:cTn>
                        </p:par>
                        <p:par>
                          <p:cTn id="88" fill="hold">
                            <p:stCondLst>
                              <p:cond delay="500"/>
                            </p:stCondLst>
                            <p:childTnLst>
                              <p:par>
                                <p:cTn id="89" presetID="22" presetClass="entr" presetSubtype="1" fill="hold" grpId="0" nodeType="afterEffect">
                                  <p:stCondLst>
                                    <p:cond delay="0"/>
                                  </p:stCondLst>
                                  <p:childTnLst>
                                    <p:set>
                                      <p:cBhvr>
                                        <p:cTn id="90" dur="1" fill="hold">
                                          <p:stCondLst>
                                            <p:cond delay="0"/>
                                          </p:stCondLst>
                                        </p:cTn>
                                        <p:tgtEl>
                                          <p:spTgt spid="248852"/>
                                        </p:tgtEl>
                                        <p:attrNameLst>
                                          <p:attrName>style.visibility</p:attrName>
                                        </p:attrNameLst>
                                      </p:cBhvr>
                                      <p:to>
                                        <p:strVal val="visible"/>
                                      </p:to>
                                    </p:set>
                                    <p:animEffect transition="in" filter="wipe(up)">
                                      <p:cBhvr>
                                        <p:cTn id="91" dur="500"/>
                                        <p:tgtEl>
                                          <p:spTgt spid="248852"/>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48854"/>
                                        </p:tgtEl>
                                        <p:attrNameLst>
                                          <p:attrName>style.visibility</p:attrName>
                                        </p:attrNameLst>
                                      </p:cBhvr>
                                      <p:to>
                                        <p:strVal val="visible"/>
                                      </p:to>
                                    </p:set>
                                    <p:animEffect transition="in" filter="wipe(left)">
                                      <p:cBhvr>
                                        <p:cTn id="96" dur="500"/>
                                        <p:tgtEl>
                                          <p:spTgt spid="248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p:bldP spid="248836" grpId="0"/>
      <p:bldP spid="248837" grpId="0" autoUpdateAnimBg="0"/>
      <p:bldP spid="248838" grpId="0" autoUpdateAnimBg="0"/>
      <p:bldP spid="248839" grpId="0" autoUpdateAnimBg="0"/>
      <p:bldP spid="248840" grpId="0" autoUpdateAnimBg="0"/>
      <p:bldP spid="248841" grpId="0" autoUpdateAnimBg="0"/>
      <p:bldP spid="248842" grpId="0" autoUpdateAnimBg="0"/>
      <p:bldP spid="248843" grpId="0" animBg="1" autoUpdateAnimBg="0"/>
      <p:bldP spid="248844" grpId="0" animBg="1" autoUpdateAnimBg="0"/>
      <p:bldP spid="248845" grpId="0" animBg="1"/>
      <p:bldP spid="248846" grpId="0" animBg="1" autoUpdateAnimBg="0"/>
      <p:bldP spid="248847" grpId="0" animBg="1" autoUpdateAnimBg="0"/>
      <p:bldP spid="248848" grpId="0" animBg="1"/>
      <p:bldP spid="248849" grpId="0" animBg="1"/>
      <p:bldP spid="248850" grpId="0" animBg="1"/>
      <p:bldP spid="248851" grpId="0" animBg="1"/>
      <p:bldP spid="248852" grpId="0" animBg="1"/>
      <p:bldP spid="248853" grpId="0" animBg="1"/>
      <p:bldP spid="248854"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107950" y="523875"/>
            <a:ext cx="4537075" cy="457200"/>
          </a:xfrm>
          <a:prstGeom prst="rect">
            <a:avLst/>
          </a:prstGeom>
          <a:noFill/>
          <a:ln w="9525">
            <a:noFill/>
            <a:miter lim="800000"/>
          </a:ln>
        </p:spPr>
        <p:txBody>
          <a:bodyPr>
            <a:spAutoFit/>
          </a:bodyPr>
          <a:lstStyle/>
          <a:p>
            <a:r>
              <a:rPr kumimoji="1" lang="en-US" altLang="zh-CN" b="1">
                <a:solidFill>
                  <a:srgbClr val="FF0000"/>
                </a:solidFill>
                <a:ea typeface="楷体_GB2312" pitchFamily="49" charset="-122"/>
              </a:rPr>
              <a:t>2</a:t>
            </a:r>
            <a:r>
              <a:rPr kumimoji="1" lang="zh-CN" altLang="en-US" b="1">
                <a:solidFill>
                  <a:srgbClr val="FF0000"/>
                </a:solidFill>
                <a:ea typeface="楷体_GB2312" pitchFamily="49" charset="-122"/>
              </a:rPr>
              <a:t>、</a:t>
            </a:r>
            <a:r>
              <a:rPr kumimoji="1" lang="zh-CN" altLang="en-US" b="1">
                <a:solidFill>
                  <a:srgbClr val="FF0000"/>
                </a:solidFill>
              </a:rPr>
              <a:t>可逆过程与不可逆过程</a:t>
            </a:r>
            <a:r>
              <a:rPr kumimoji="1" lang="zh-CN" altLang="en-US">
                <a:solidFill>
                  <a:srgbClr val="FF0000"/>
                </a:solidFill>
              </a:rPr>
              <a:t> </a:t>
            </a:r>
            <a:endParaRPr kumimoji="1" lang="zh-CN" altLang="en-US">
              <a:solidFill>
                <a:srgbClr val="FF0000"/>
              </a:solidFill>
            </a:endParaRPr>
          </a:p>
        </p:txBody>
      </p:sp>
      <p:sp>
        <p:nvSpPr>
          <p:cNvPr id="97285" name="Rectangle 5"/>
          <p:cNvSpPr>
            <a:spLocks noChangeArrowheads="1"/>
          </p:cNvSpPr>
          <p:nvPr/>
        </p:nvSpPr>
        <p:spPr bwMode="auto">
          <a:xfrm>
            <a:off x="2124075" y="1196975"/>
            <a:ext cx="6553200" cy="1406525"/>
          </a:xfrm>
          <a:prstGeom prst="rect">
            <a:avLst/>
          </a:prstGeom>
          <a:gradFill rotWithShape="1">
            <a:gsLst>
              <a:gs pos="0">
                <a:srgbClr val="66FFFF">
                  <a:gamma/>
                  <a:tint val="3137"/>
                  <a:invGamma/>
                </a:srgbClr>
              </a:gs>
              <a:gs pos="50000">
                <a:srgbClr val="66FFFF">
                  <a:alpha val="50000"/>
                </a:srgbClr>
              </a:gs>
              <a:gs pos="100000">
                <a:srgbClr val="66FFFF">
                  <a:gamma/>
                  <a:tint val="3137"/>
                  <a:invGamma/>
                </a:srgbClr>
              </a:gs>
            </a:gsLst>
            <a:lin ang="18900000" scaled="1"/>
          </a:gradFill>
          <a:ln w="9525">
            <a:noFill/>
            <a:miter lim="800000"/>
          </a:ln>
          <a:effectLst/>
        </p:spPr>
        <p:txBody>
          <a:bodyPr>
            <a:spAutoFit/>
          </a:bodyPr>
          <a:lstStyle/>
          <a:p>
            <a:pPr>
              <a:lnSpc>
                <a:spcPct val="120000"/>
              </a:lnSpc>
              <a:defRPr/>
            </a:pPr>
            <a:r>
              <a:rPr kumimoji="1" lang="zh-CN" altLang="en-US" b="1" dirty="0">
                <a:latin typeface="楷体_GB2312" pitchFamily="49" charset="-122"/>
                <a:ea typeface="楷体_GB2312" pitchFamily="49" charset="-122"/>
              </a:rPr>
              <a:t>若系统经历了一个过程，而过程的</a:t>
            </a:r>
            <a:r>
              <a:rPr kumimoji="1" lang="zh-CN" altLang="en-US" b="1" dirty="0">
                <a:solidFill>
                  <a:srgbClr val="FF0000"/>
                </a:solidFill>
                <a:latin typeface="楷体_GB2312" pitchFamily="49" charset="-122"/>
                <a:ea typeface="楷体_GB2312" pitchFamily="49" charset="-122"/>
              </a:rPr>
              <a:t>每一步</a:t>
            </a:r>
            <a:r>
              <a:rPr kumimoji="1" lang="zh-CN" altLang="en-US" b="1" dirty="0">
                <a:latin typeface="楷体_GB2312" pitchFamily="49" charset="-122"/>
                <a:ea typeface="楷体_GB2312" pitchFamily="49" charset="-122"/>
              </a:rPr>
              <a:t>都可沿相反的方向进行，同时不引起外界的任何变化，那么这个过程就称为</a:t>
            </a:r>
            <a:r>
              <a:rPr kumimoji="1" lang="zh-CN" altLang="en-US" b="1" dirty="0">
                <a:solidFill>
                  <a:srgbClr val="0000FF"/>
                </a:solidFill>
                <a:latin typeface="楷体_GB2312" pitchFamily="49" charset="-122"/>
                <a:ea typeface="楷体_GB2312" pitchFamily="49" charset="-122"/>
              </a:rPr>
              <a:t>可逆过程</a:t>
            </a:r>
            <a:r>
              <a:rPr kumimoji="1" lang="zh-CN" altLang="en-US" b="1" dirty="0">
                <a:latin typeface="楷体_GB2312" pitchFamily="49" charset="-122"/>
                <a:ea typeface="楷体_GB2312" pitchFamily="49" charset="-122"/>
              </a:rPr>
              <a:t>。</a:t>
            </a:r>
            <a:endParaRPr kumimoji="1" lang="zh-CN" altLang="en-US" b="1" dirty="0">
              <a:latin typeface="楷体_GB2312" pitchFamily="49" charset="-122"/>
              <a:ea typeface="楷体_GB2312" pitchFamily="49" charset="-122"/>
            </a:endParaRPr>
          </a:p>
        </p:txBody>
      </p:sp>
      <p:sp>
        <p:nvSpPr>
          <p:cNvPr id="97286" name="Rectangle 6"/>
          <p:cNvSpPr>
            <a:spLocks noChangeArrowheads="1"/>
          </p:cNvSpPr>
          <p:nvPr/>
        </p:nvSpPr>
        <p:spPr bwMode="auto">
          <a:xfrm>
            <a:off x="2195513" y="2892425"/>
            <a:ext cx="6553200" cy="919867"/>
          </a:xfrm>
          <a:prstGeom prst="rect">
            <a:avLst/>
          </a:prstGeom>
          <a:gradFill rotWithShape="1">
            <a:gsLst>
              <a:gs pos="0">
                <a:srgbClr val="66FFFF">
                  <a:gamma/>
                  <a:tint val="3137"/>
                  <a:invGamma/>
                </a:srgbClr>
              </a:gs>
              <a:gs pos="50000">
                <a:srgbClr val="66FFFF">
                  <a:alpha val="50000"/>
                </a:srgbClr>
              </a:gs>
              <a:gs pos="100000">
                <a:srgbClr val="66FFFF">
                  <a:gamma/>
                  <a:tint val="3137"/>
                  <a:invGamma/>
                </a:srgbClr>
              </a:gs>
            </a:gsLst>
            <a:lin ang="18900000" scaled="1"/>
          </a:gradFill>
          <a:ln w="9525">
            <a:noFill/>
            <a:miter lim="800000"/>
          </a:ln>
          <a:effectLst/>
        </p:spPr>
        <p:txBody>
          <a:bodyPr rIns="18000">
            <a:spAutoFit/>
          </a:bodyPr>
          <a:lstStyle/>
          <a:p>
            <a:pPr>
              <a:lnSpc>
                <a:spcPct val="120000"/>
              </a:lnSpc>
              <a:defRPr/>
            </a:pPr>
            <a:r>
              <a:rPr kumimoji="1" lang="zh-CN" altLang="en-US" b="1" dirty="0">
                <a:latin typeface="楷体_GB2312" pitchFamily="49" charset="-122"/>
                <a:ea typeface="楷体_GB2312" pitchFamily="49" charset="-122"/>
              </a:rPr>
              <a:t>如对于某一过程，用任何方法都不能使</a:t>
            </a:r>
            <a:r>
              <a:rPr kumimoji="1" lang="zh-CN" altLang="en-US" b="1" dirty="0">
                <a:solidFill>
                  <a:srgbClr val="FF0000"/>
                </a:solidFill>
                <a:latin typeface="楷体_GB2312" pitchFamily="49" charset="-122"/>
                <a:ea typeface="楷体_GB2312" pitchFamily="49" charset="-122"/>
              </a:rPr>
              <a:t>系统和外界</a:t>
            </a:r>
            <a:r>
              <a:rPr kumimoji="1" lang="zh-CN" altLang="en-US" b="1" dirty="0">
                <a:latin typeface="楷体_GB2312" pitchFamily="49" charset="-122"/>
                <a:ea typeface="楷体_GB2312" pitchFamily="49" charset="-122"/>
              </a:rPr>
              <a:t>恢复到原来状态，该过程就是不可逆过程。</a:t>
            </a:r>
            <a:r>
              <a:rPr kumimoji="1" lang="zh-CN" altLang="en-US" b="1" dirty="0">
                <a:solidFill>
                  <a:schemeClr val="bg1"/>
                </a:solidFill>
                <a:latin typeface="楷体_GB2312" pitchFamily="49" charset="-122"/>
                <a:ea typeface="楷体_GB2312" pitchFamily="49" charset="-122"/>
              </a:rPr>
              <a:t> </a:t>
            </a:r>
            <a:endParaRPr kumimoji="1" lang="zh-CN" altLang="en-US" b="1" dirty="0">
              <a:solidFill>
                <a:schemeClr val="bg1"/>
              </a:solidFill>
              <a:latin typeface="楷体_GB2312" pitchFamily="49" charset="-122"/>
              <a:ea typeface="楷体_GB2312" pitchFamily="49" charset="-122"/>
            </a:endParaRPr>
          </a:p>
        </p:txBody>
      </p:sp>
      <p:sp>
        <p:nvSpPr>
          <p:cNvPr id="97287" name="Rectangle 7"/>
          <p:cNvSpPr>
            <a:spLocks noChangeArrowheads="1"/>
          </p:cNvSpPr>
          <p:nvPr/>
        </p:nvSpPr>
        <p:spPr bwMode="auto">
          <a:xfrm>
            <a:off x="552450" y="1235075"/>
            <a:ext cx="2160588" cy="457200"/>
          </a:xfrm>
          <a:prstGeom prst="rect">
            <a:avLst/>
          </a:prstGeom>
          <a:noFill/>
          <a:ln w="9525">
            <a:noFill/>
            <a:miter lim="800000"/>
          </a:ln>
        </p:spPr>
        <p:txBody>
          <a:bodyPr>
            <a:spAutoFit/>
          </a:bodyPr>
          <a:lstStyle/>
          <a:p>
            <a:pPr>
              <a:buFont typeface="Wingdings" panose="05000000000000000000" pitchFamily="2" charset="2"/>
              <a:buNone/>
            </a:pPr>
            <a:r>
              <a:rPr kumimoji="1" lang="zh-CN" altLang="en-US" b="1">
                <a:solidFill>
                  <a:srgbClr val="FF0000"/>
                </a:solidFill>
                <a:latin typeface="宋体" panose="02010600030101010101" pitchFamily="2" charset="-122"/>
              </a:rPr>
              <a:t>可逆过程</a:t>
            </a:r>
            <a:r>
              <a:rPr kumimoji="1" lang="en-US" altLang="zh-CN" b="1">
                <a:solidFill>
                  <a:srgbClr val="FF0000"/>
                </a:solidFill>
                <a:latin typeface="宋体" panose="02010600030101010101" pitchFamily="2" charset="-122"/>
              </a:rPr>
              <a:t>:</a:t>
            </a:r>
            <a:endParaRPr kumimoji="1" lang="en-US" altLang="zh-CN" b="1">
              <a:solidFill>
                <a:srgbClr val="FF0000"/>
              </a:solidFill>
              <a:latin typeface="宋体" panose="02010600030101010101" pitchFamily="2" charset="-122"/>
            </a:endParaRPr>
          </a:p>
        </p:txBody>
      </p:sp>
      <p:sp>
        <p:nvSpPr>
          <p:cNvPr id="97288" name="Rectangle 8"/>
          <p:cNvSpPr>
            <a:spLocks noChangeArrowheads="1"/>
          </p:cNvSpPr>
          <p:nvPr/>
        </p:nvSpPr>
        <p:spPr bwMode="auto">
          <a:xfrm>
            <a:off x="250825" y="2963863"/>
            <a:ext cx="2305050" cy="457200"/>
          </a:xfrm>
          <a:prstGeom prst="rect">
            <a:avLst/>
          </a:prstGeom>
          <a:noFill/>
          <a:ln w="9525">
            <a:noFill/>
            <a:miter lim="800000"/>
          </a:ln>
        </p:spPr>
        <p:txBody>
          <a:bodyPr>
            <a:spAutoFit/>
          </a:bodyPr>
          <a:lstStyle/>
          <a:p>
            <a:pPr>
              <a:buFont typeface="Wingdings" panose="05000000000000000000" pitchFamily="2" charset="2"/>
              <a:buNone/>
            </a:pPr>
            <a:r>
              <a:rPr kumimoji="1" lang="zh-CN" altLang="en-US" b="1">
                <a:solidFill>
                  <a:srgbClr val="FF0000"/>
                </a:solidFill>
                <a:latin typeface="宋体" panose="02010600030101010101" pitchFamily="2" charset="-122"/>
              </a:rPr>
              <a:t>不可逆过程</a:t>
            </a:r>
            <a:r>
              <a:rPr kumimoji="1" lang="en-US" altLang="zh-CN" b="1">
                <a:solidFill>
                  <a:srgbClr val="FF0000"/>
                </a:solidFill>
                <a:latin typeface="宋体" panose="02010600030101010101" pitchFamily="2" charset="-122"/>
              </a:rPr>
              <a:t>:</a:t>
            </a:r>
            <a:endParaRPr kumimoji="1" lang="en-US" altLang="zh-CN" b="1">
              <a:solidFill>
                <a:srgbClr val="FF0000"/>
              </a:solidFill>
              <a:latin typeface="宋体" panose="02010600030101010101" pitchFamily="2" charset="-122"/>
            </a:endParaRPr>
          </a:p>
        </p:txBody>
      </p:sp>
      <p:sp>
        <p:nvSpPr>
          <p:cNvPr id="97291" name="Text Box 11"/>
          <p:cNvSpPr txBox="1">
            <a:spLocks noChangeArrowheads="1"/>
          </p:cNvSpPr>
          <p:nvPr/>
        </p:nvSpPr>
        <p:spPr bwMode="auto">
          <a:xfrm>
            <a:off x="179388" y="4195763"/>
            <a:ext cx="4464050" cy="457200"/>
          </a:xfrm>
          <a:prstGeom prst="rect">
            <a:avLst/>
          </a:prstGeom>
          <a:noFill/>
          <a:ln w="12700" cap="sq" algn="ctr">
            <a:noFill/>
            <a:miter lim="800000"/>
          </a:ln>
        </p:spPr>
        <p:txBody>
          <a:bodyPr>
            <a:spAutoFit/>
          </a:bodyPr>
          <a:lstStyle/>
          <a:p>
            <a:pPr>
              <a:buClr>
                <a:srgbClr val="CC0000"/>
              </a:buClr>
              <a:buFont typeface="Wingdings" panose="05000000000000000000" pitchFamily="2" charset="2"/>
              <a:buNone/>
              <a:defRPr/>
            </a:pPr>
            <a:r>
              <a:rPr kumimoji="1" lang="zh-CN" altLang="en-US" b="1" dirty="0">
                <a:solidFill>
                  <a:srgbClr val="0000FF"/>
                </a:solidFill>
                <a:latin typeface="+mn-ea"/>
                <a:ea typeface="+mn-ea"/>
              </a:rPr>
              <a:t>不可逆过程举例：</a:t>
            </a:r>
            <a:r>
              <a:rPr kumimoji="1" lang="zh-CN" altLang="en-US" dirty="0">
                <a:solidFill>
                  <a:srgbClr val="0000FF"/>
                </a:solidFill>
                <a:latin typeface="+mn-ea"/>
                <a:ea typeface="+mn-ea"/>
              </a:rPr>
              <a:t> </a:t>
            </a:r>
            <a:endParaRPr kumimoji="1" lang="zh-CN" altLang="en-US" dirty="0">
              <a:solidFill>
                <a:srgbClr val="0000FF"/>
              </a:solidFill>
              <a:latin typeface="+mn-ea"/>
              <a:ea typeface="+mn-ea"/>
            </a:endParaRPr>
          </a:p>
        </p:txBody>
      </p:sp>
      <p:sp>
        <p:nvSpPr>
          <p:cNvPr id="97292" name="Rectangle 12"/>
          <p:cNvSpPr>
            <a:spLocks noChangeArrowheads="1"/>
          </p:cNvSpPr>
          <p:nvPr/>
        </p:nvSpPr>
        <p:spPr bwMode="auto">
          <a:xfrm>
            <a:off x="107950" y="4914900"/>
            <a:ext cx="4751388" cy="457200"/>
          </a:xfrm>
          <a:prstGeom prst="rect">
            <a:avLst/>
          </a:prstGeom>
          <a:noFill/>
          <a:ln w="9525">
            <a:noFill/>
            <a:miter lim="800000"/>
          </a:ln>
        </p:spPr>
        <p:txBody>
          <a:bodyPr>
            <a:spAutoFit/>
          </a:bodyPr>
          <a:lstStyle/>
          <a:p>
            <a:pPr>
              <a:buClr>
                <a:srgbClr val="FF0000"/>
              </a:buClr>
              <a:buFont typeface="Wingdings" panose="05000000000000000000" pitchFamily="2" charset="2"/>
              <a:buChar char="Ø"/>
              <a:defRPr/>
            </a:pPr>
            <a:r>
              <a:rPr kumimoji="1" lang="en-US" altLang="zh-CN" b="1">
                <a:latin typeface="+mn-ea"/>
                <a:ea typeface="+mn-ea"/>
              </a:rPr>
              <a:t> </a:t>
            </a:r>
            <a:r>
              <a:rPr kumimoji="1" lang="zh-CN" altLang="en-US" b="1">
                <a:solidFill>
                  <a:srgbClr val="CC0000"/>
                </a:solidFill>
                <a:latin typeface="+mn-ea"/>
                <a:ea typeface="+mn-ea"/>
              </a:rPr>
              <a:t>弹簧振子</a:t>
            </a:r>
            <a:r>
              <a:rPr kumimoji="1" lang="zh-CN" altLang="en-US" b="1">
                <a:latin typeface="+mn-ea"/>
                <a:ea typeface="+mn-ea"/>
              </a:rPr>
              <a:t>（无摩擦）</a:t>
            </a:r>
            <a:endParaRPr kumimoji="1" lang="zh-CN" altLang="en-US" b="1">
              <a:latin typeface="+mn-ea"/>
              <a:ea typeface="+mn-ea"/>
            </a:endParaRPr>
          </a:p>
        </p:txBody>
      </p:sp>
      <p:grpSp>
        <p:nvGrpSpPr>
          <p:cNvPr id="2" name="Group 13"/>
          <p:cNvGrpSpPr/>
          <p:nvPr/>
        </p:nvGrpSpPr>
        <p:grpSpPr bwMode="auto">
          <a:xfrm>
            <a:off x="5111750" y="5356225"/>
            <a:ext cx="3511550" cy="1098550"/>
            <a:chOff x="3255" y="3385"/>
            <a:chExt cx="2212" cy="692"/>
          </a:xfrm>
        </p:grpSpPr>
        <p:sp>
          <p:nvSpPr>
            <p:cNvPr id="101459" name="Line 14"/>
            <p:cNvSpPr>
              <a:spLocks noChangeAspect="1" noChangeShapeType="1"/>
            </p:cNvSpPr>
            <p:nvPr/>
          </p:nvSpPr>
          <p:spPr bwMode="auto">
            <a:xfrm>
              <a:off x="3255" y="3385"/>
              <a:ext cx="2" cy="492"/>
            </a:xfrm>
            <a:prstGeom prst="line">
              <a:avLst/>
            </a:prstGeom>
            <a:noFill/>
            <a:ln w="38100">
              <a:solidFill>
                <a:srgbClr val="000099"/>
              </a:solidFill>
              <a:round/>
              <a:headEnd type="none" w="med" len="sm"/>
              <a:tailEnd type="none" w="med" len="sm"/>
            </a:ln>
          </p:spPr>
          <p:txBody>
            <a:bodyPr/>
            <a:lstStyle/>
            <a:p>
              <a:endParaRPr lang="zh-CN" altLang="en-US"/>
            </a:p>
          </p:txBody>
        </p:sp>
        <p:sp>
          <p:nvSpPr>
            <p:cNvPr id="101460" name="Line 15"/>
            <p:cNvSpPr>
              <a:spLocks noChangeAspect="1" noChangeShapeType="1"/>
            </p:cNvSpPr>
            <p:nvPr/>
          </p:nvSpPr>
          <p:spPr bwMode="auto">
            <a:xfrm>
              <a:off x="3256" y="3869"/>
              <a:ext cx="2159" cy="1"/>
            </a:xfrm>
            <a:prstGeom prst="line">
              <a:avLst/>
            </a:prstGeom>
            <a:noFill/>
            <a:ln w="38100">
              <a:solidFill>
                <a:srgbClr val="000099"/>
              </a:solidFill>
              <a:round/>
              <a:headEnd type="none" w="med" len="sm"/>
              <a:tailEnd type="triangle" w="med" len="med"/>
            </a:ln>
          </p:spPr>
          <p:txBody>
            <a:bodyPr/>
            <a:lstStyle/>
            <a:p>
              <a:endParaRPr lang="zh-CN" altLang="en-US"/>
            </a:p>
          </p:txBody>
        </p:sp>
        <p:sp>
          <p:nvSpPr>
            <p:cNvPr id="101461" name="Rectangle 16"/>
            <p:cNvSpPr>
              <a:spLocks noChangeAspect="1" noChangeArrowheads="1"/>
            </p:cNvSpPr>
            <p:nvPr/>
          </p:nvSpPr>
          <p:spPr bwMode="auto">
            <a:xfrm>
              <a:off x="5284" y="3838"/>
              <a:ext cx="183" cy="239"/>
            </a:xfrm>
            <a:prstGeom prst="rect">
              <a:avLst/>
            </a:prstGeom>
            <a:noFill/>
            <a:ln w="6350">
              <a:noFill/>
              <a:miter lim="800000"/>
            </a:ln>
          </p:spPr>
          <p:txBody>
            <a:bodyPr lIns="12700" tIns="12700" rIns="12700" bIns="12700"/>
            <a:lstStyle/>
            <a:p>
              <a:pPr algn="just"/>
              <a:r>
                <a:rPr kumimoji="1" lang="en-US" altLang="zh-CN" b="1" i="1"/>
                <a:t>x</a:t>
              </a:r>
              <a:endParaRPr kumimoji="1" lang="en-US" altLang="zh-CN"/>
            </a:p>
          </p:txBody>
        </p:sp>
      </p:grpSp>
      <p:sp>
        <p:nvSpPr>
          <p:cNvPr id="97297" name="Text Box 17"/>
          <p:cNvSpPr txBox="1">
            <a:spLocks noChangeArrowheads="1"/>
          </p:cNvSpPr>
          <p:nvPr/>
        </p:nvSpPr>
        <p:spPr bwMode="auto">
          <a:xfrm>
            <a:off x="3241675" y="4916488"/>
            <a:ext cx="2881313" cy="457200"/>
          </a:xfrm>
          <a:prstGeom prst="rect">
            <a:avLst/>
          </a:prstGeom>
          <a:noFill/>
          <a:ln w="9525">
            <a:noFill/>
            <a:miter lim="800000"/>
          </a:ln>
        </p:spPr>
        <p:txBody>
          <a:bodyPr>
            <a:spAutoFit/>
          </a:bodyPr>
          <a:lstStyle/>
          <a:p>
            <a:r>
              <a:rPr lang="zh-CN" altLang="en-US" b="1">
                <a:solidFill>
                  <a:srgbClr val="0000FF"/>
                </a:solidFill>
                <a:latin typeface="Arial" panose="020B0604020202020204" pitchFamily="34" charset="0"/>
                <a:ea typeface="楷体_GB2312" pitchFamily="49" charset="-122"/>
              </a:rPr>
              <a:t>可逆</a:t>
            </a:r>
            <a:endParaRPr lang="zh-CN" altLang="en-US" b="1">
              <a:solidFill>
                <a:srgbClr val="0000FF"/>
              </a:solidFill>
              <a:latin typeface="Arial" panose="020B0604020202020204" pitchFamily="34" charset="0"/>
              <a:ea typeface="楷体_GB2312" pitchFamily="49" charset="-122"/>
            </a:endParaRPr>
          </a:p>
        </p:txBody>
      </p:sp>
      <p:sp>
        <p:nvSpPr>
          <p:cNvPr id="97298" name="Rectangle 18"/>
          <p:cNvSpPr>
            <a:spLocks noChangeArrowheads="1"/>
          </p:cNvSpPr>
          <p:nvPr/>
        </p:nvSpPr>
        <p:spPr bwMode="auto">
          <a:xfrm>
            <a:off x="1692275" y="5419725"/>
            <a:ext cx="3168650" cy="457200"/>
          </a:xfrm>
          <a:prstGeom prst="rect">
            <a:avLst/>
          </a:prstGeom>
          <a:noFill/>
          <a:ln w="9525">
            <a:noFill/>
            <a:miter lim="800000"/>
          </a:ln>
        </p:spPr>
        <p:txBody>
          <a:bodyPr>
            <a:spAutoFit/>
          </a:bodyPr>
          <a:lstStyle/>
          <a:p>
            <a:pPr>
              <a:defRPr/>
            </a:pPr>
            <a:r>
              <a:rPr kumimoji="1" lang="zh-CN" altLang="en-US" b="1">
                <a:latin typeface="+mn-ea"/>
                <a:ea typeface="+mn-ea"/>
              </a:rPr>
              <a:t>（有摩擦）</a:t>
            </a:r>
            <a:endParaRPr kumimoji="1" lang="zh-CN" altLang="en-US" b="1">
              <a:latin typeface="+mn-ea"/>
              <a:ea typeface="+mn-ea"/>
            </a:endParaRPr>
          </a:p>
        </p:txBody>
      </p:sp>
      <p:sp>
        <p:nvSpPr>
          <p:cNvPr id="97299" name="Text Box 19"/>
          <p:cNvSpPr txBox="1">
            <a:spLocks noChangeArrowheads="1"/>
          </p:cNvSpPr>
          <p:nvPr/>
        </p:nvSpPr>
        <p:spPr bwMode="auto">
          <a:xfrm>
            <a:off x="3286125" y="5421313"/>
            <a:ext cx="2116138" cy="457200"/>
          </a:xfrm>
          <a:prstGeom prst="rect">
            <a:avLst/>
          </a:prstGeom>
          <a:noFill/>
          <a:ln w="9525">
            <a:noFill/>
            <a:miter lim="800000"/>
          </a:ln>
        </p:spPr>
        <p:txBody>
          <a:bodyPr>
            <a:spAutoFit/>
          </a:bodyPr>
          <a:lstStyle/>
          <a:p>
            <a:r>
              <a:rPr lang="zh-CN" altLang="en-US" b="1">
                <a:solidFill>
                  <a:srgbClr val="0000FF"/>
                </a:solidFill>
                <a:latin typeface="Arial" panose="020B0604020202020204" pitchFamily="34" charset="0"/>
                <a:ea typeface="楷体_GB2312" pitchFamily="49" charset="-122"/>
              </a:rPr>
              <a:t>不可逆</a:t>
            </a:r>
            <a:endParaRPr lang="zh-CN" altLang="en-US" b="1">
              <a:solidFill>
                <a:srgbClr val="0000FF"/>
              </a:solidFill>
              <a:latin typeface="Arial" panose="020B0604020202020204" pitchFamily="34" charset="0"/>
              <a:ea typeface="楷体_GB2312" pitchFamily="49" charset="-122"/>
            </a:endParaRPr>
          </a:p>
        </p:txBody>
      </p:sp>
      <p:grpSp>
        <p:nvGrpSpPr>
          <p:cNvPr id="3" name="Group 20"/>
          <p:cNvGrpSpPr/>
          <p:nvPr/>
        </p:nvGrpSpPr>
        <p:grpSpPr bwMode="auto">
          <a:xfrm>
            <a:off x="5111750" y="5354638"/>
            <a:ext cx="2795588" cy="746125"/>
            <a:chOff x="1973" y="845"/>
            <a:chExt cx="1761" cy="470"/>
          </a:xfrm>
        </p:grpSpPr>
        <p:sp>
          <p:nvSpPr>
            <p:cNvPr id="101394" name="Rectangle 21"/>
            <p:cNvSpPr>
              <a:spLocks noChangeAspect="1" noChangeArrowheads="1"/>
            </p:cNvSpPr>
            <p:nvPr/>
          </p:nvSpPr>
          <p:spPr bwMode="auto">
            <a:xfrm rot="-120000">
              <a:off x="3560" y="845"/>
              <a:ext cx="174" cy="242"/>
            </a:xfrm>
            <a:prstGeom prst="rect">
              <a:avLst/>
            </a:prstGeom>
            <a:noFill/>
            <a:ln w="6350">
              <a:noFill/>
              <a:miter lim="800000"/>
            </a:ln>
          </p:spPr>
          <p:txBody>
            <a:bodyPr lIns="12700" tIns="12700" rIns="12700" bIns="12700"/>
            <a:lstStyle/>
            <a:p>
              <a:pPr algn="just"/>
              <a:r>
                <a:rPr kumimoji="1" lang="en-US" altLang="zh-CN" b="1" i="1">
                  <a:solidFill>
                    <a:srgbClr val="FF6600"/>
                  </a:solidFill>
                </a:rPr>
                <a:t>m</a:t>
              </a:r>
              <a:endParaRPr kumimoji="1" lang="en-US" altLang="zh-CN" sz="1000" i="1">
                <a:solidFill>
                  <a:srgbClr val="FF6600"/>
                </a:solidFill>
              </a:endParaRPr>
            </a:p>
          </p:txBody>
        </p:sp>
        <p:grpSp>
          <p:nvGrpSpPr>
            <p:cNvPr id="101395" name="Group 22"/>
            <p:cNvGrpSpPr/>
            <p:nvPr/>
          </p:nvGrpSpPr>
          <p:grpSpPr bwMode="auto">
            <a:xfrm>
              <a:off x="1973" y="1071"/>
              <a:ext cx="1747" cy="244"/>
              <a:chOff x="1840" y="3583"/>
              <a:chExt cx="1747" cy="244"/>
            </a:xfrm>
          </p:grpSpPr>
          <p:grpSp>
            <p:nvGrpSpPr>
              <p:cNvPr id="101396" name="Group 23"/>
              <p:cNvGrpSpPr/>
              <p:nvPr/>
            </p:nvGrpSpPr>
            <p:grpSpPr bwMode="auto">
              <a:xfrm rot="60000">
                <a:off x="1840" y="3688"/>
                <a:ext cx="793" cy="91"/>
                <a:chOff x="1076" y="1473"/>
                <a:chExt cx="584" cy="120"/>
              </a:xfrm>
            </p:grpSpPr>
            <p:grpSp>
              <p:nvGrpSpPr>
                <p:cNvPr id="101429" name="Group 24"/>
                <p:cNvGrpSpPr/>
                <p:nvPr/>
              </p:nvGrpSpPr>
              <p:grpSpPr bwMode="auto">
                <a:xfrm>
                  <a:off x="1076" y="1480"/>
                  <a:ext cx="298" cy="113"/>
                  <a:chOff x="1076" y="1480"/>
                  <a:chExt cx="298" cy="113"/>
                </a:xfrm>
              </p:grpSpPr>
              <p:grpSp>
                <p:nvGrpSpPr>
                  <p:cNvPr id="101445" name="Group 25"/>
                  <p:cNvGrpSpPr/>
                  <p:nvPr/>
                </p:nvGrpSpPr>
                <p:grpSpPr bwMode="auto">
                  <a:xfrm>
                    <a:off x="1076" y="1480"/>
                    <a:ext cx="157" cy="113"/>
                    <a:chOff x="1076" y="1480"/>
                    <a:chExt cx="157" cy="113"/>
                  </a:xfrm>
                </p:grpSpPr>
                <p:grpSp>
                  <p:nvGrpSpPr>
                    <p:cNvPr id="101453" name="Group 26"/>
                    <p:cNvGrpSpPr>
                      <a:grpSpLocks noChangeAspect="1"/>
                    </p:cNvGrpSpPr>
                    <p:nvPr/>
                  </p:nvGrpSpPr>
                  <p:grpSpPr bwMode="auto">
                    <a:xfrm flipH="1">
                      <a:off x="1076" y="1480"/>
                      <a:ext cx="86" cy="68"/>
                      <a:chOff x="1076" y="1480"/>
                      <a:chExt cx="171" cy="136"/>
                    </a:xfrm>
                  </p:grpSpPr>
                  <p:sp>
                    <p:nvSpPr>
                      <p:cNvPr id="101457" name="Line 27"/>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58" name="Line 28"/>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nvGrpSpPr>
                    <p:cNvPr id="101454" name="Group 29"/>
                    <p:cNvGrpSpPr>
                      <a:grpSpLocks noChangeAspect="1"/>
                    </p:cNvGrpSpPr>
                    <p:nvPr/>
                  </p:nvGrpSpPr>
                  <p:grpSpPr bwMode="auto">
                    <a:xfrm flipV="1">
                      <a:off x="1147" y="1525"/>
                      <a:ext cx="86" cy="68"/>
                      <a:chOff x="1076" y="1480"/>
                      <a:chExt cx="171" cy="136"/>
                    </a:xfrm>
                  </p:grpSpPr>
                  <p:sp>
                    <p:nvSpPr>
                      <p:cNvPr id="101455" name="Line 30"/>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56" name="Line 31"/>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grpSp>
                <p:nvGrpSpPr>
                  <p:cNvPr id="101446" name="Group 32"/>
                  <p:cNvGrpSpPr/>
                  <p:nvPr/>
                </p:nvGrpSpPr>
                <p:grpSpPr bwMode="auto">
                  <a:xfrm>
                    <a:off x="1217" y="1480"/>
                    <a:ext cx="157" cy="113"/>
                    <a:chOff x="1076" y="1480"/>
                    <a:chExt cx="157" cy="113"/>
                  </a:xfrm>
                </p:grpSpPr>
                <p:grpSp>
                  <p:nvGrpSpPr>
                    <p:cNvPr id="101447" name="Group 33"/>
                    <p:cNvGrpSpPr>
                      <a:grpSpLocks noChangeAspect="1"/>
                    </p:cNvGrpSpPr>
                    <p:nvPr/>
                  </p:nvGrpSpPr>
                  <p:grpSpPr bwMode="auto">
                    <a:xfrm flipH="1">
                      <a:off x="1076" y="1480"/>
                      <a:ext cx="86" cy="68"/>
                      <a:chOff x="1076" y="1480"/>
                      <a:chExt cx="171" cy="136"/>
                    </a:xfrm>
                  </p:grpSpPr>
                  <p:sp>
                    <p:nvSpPr>
                      <p:cNvPr id="101451" name="Line 34"/>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52" name="Line 35"/>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nvGrpSpPr>
                    <p:cNvPr id="101448" name="Group 36"/>
                    <p:cNvGrpSpPr>
                      <a:grpSpLocks noChangeAspect="1"/>
                    </p:cNvGrpSpPr>
                    <p:nvPr/>
                  </p:nvGrpSpPr>
                  <p:grpSpPr bwMode="auto">
                    <a:xfrm flipV="1">
                      <a:off x="1147" y="1525"/>
                      <a:ext cx="86" cy="68"/>
                      <a:chOff x="1076" y="1480"/>
                      <a:chExt cx="171" cy="136"/>
                    </a:xfrm>
                  </p:grpSpPr>
                  <p:sp>
                    <p:nvSpPr>
                      <p:cNvPr id="101449" name="Line 37"/>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50" name="Line 38"/>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grpSp>
            <p:grpSp>
              <p:nvGrpSpPr>
                <p:cNvPr id="101430" name="Group 39"/>
                <p:cNvGrpSpPr/>
                <p:nvPr/>
              </p:nvGrpSpPr>
              <p:grpSpPr bwMode="auto">
                <a:xfrm>
                  <a:off x="1362" y="1473"/>
                  <a:ext cx="298" cy="113"/>
                  <a:chOff x="1076" y="1480"/>
                  <a:chExt cx="298" cy="113"/>
                </a:xfrm>
              </p:grpSpPr>
              <p:grpSp>
                <p:nvGrpSpPr>
                  <p:cNvPr id="101431" name="Group 40"/>
                  <p:cNvGrpSpPr/>
                  <p:nvPr/>
                </p:nvGrpSpPr>
                <p:grpSpPr bwMode="auto">
                  <a:xfrm>
                    <a:off x="1076" y="1480"/>
                    <a:ext cx="157" cy="113"/>
                    <a:chOff x="1076" y="1480"/>
                    <a:chExt cx="157" cy="113"/>
                  </a:xfrm>
                </p:grpSpPr>
                <p:grpSp>
                  <p:nvGrpSpPr>
                    <p:cNvPr id="101439" name="Group 41"/>
                    <p:cNvGrpSpPr>
                      <a:grpSpLocks noChangeAspect="1"/>
                    </p:cNvGrpSpPr>
                    <p:nvPr/>
                  </p:nvGrpSpPr>
                  <p:grpSpPr bwMode="auto">
                    <a:xfrm flipH="1">
                      <a:off x="1076" y="1480"/>
                      <a:ext cx="86" cy="68"/>
                      <a:chOff x="1076" y="1480"/>
                      <a:chExt cx="171" cy="136"/>
                    </a:xfrm>
                  </p:grpSpPr>
                  <p:sp>
                    <p:nvSpPr>
                      <p:cNvPr id="101443" name="Line 42"/>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44" name="Line 43"/>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nvGrpSpPr>
                    <p:cNvPr id="101440" name="Group 44"/>
                    <p:cNvGrpSpPr>
                      <a:grpSpLocks noChangeAspect="1"/>
                    </p:cNvGrpSpPr>
                    <p:nvPr/>
                  </p:nvGrpSpPr>
                  <p:grpSpPr bwMode="auto">
                    <a:xfrm flipV="1">
                      <a:off x="1147" y="1525"/>
                      <a:ext cx="86" cy="68"/>
                      <a:chOff x="1076" y="1480"/>
                      <a:chExt cx="171" cy="136"/>
                    </a:xfrm>
                  </p:grpSpPr>
                  <p:sp>
                    <p:nvSpPr>
                      <p:cNvPr id="101441" name="Line 45"/>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42" name="Line 46"/>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grpSp>
                <p:nvGrpSpPr>
                  <p:cNvPr id="101432" name="Group 47"/>
                  <p:cNvGrpSpPr/>
                  <p:nvPr/>
                </p:nvGrpSpPr>
                <p:grpSpPr bwMode="auto">
                  <a:xfrm>
                    <a:off x="1217" y="1480"/>
                    <a:ext cx="157" cy="113"/>
                    <a:chOff x="1076" y="1480"/>
                    <a:chExt cx="157" cy="113"/>
                  </a:xfrm>
                </p:grpSpPr>
                <p:grpSp>
                  <p:nvGrpSpPr>
                    <p:cNvPr id="101433" name="Group 48"/>
                    <p:cNvGrpSpPr>
                      <a:grpSpLocks noChangeAspect="1"/>
                    </p:cNvGrpSpPr>
                    <p:nvPr/>
                  </p:nvGrpSpPr>
                  <p:grpSpPr bwMode="auto">
                    <a:xfrm flipH="1">
                      <a:off x="1076" y="1480"/>
                      <a:ext cx="86" cy="68"/>
                      <a:chOff x="1076" y="1480"/>
                      <a:chExt cx="171" cy="136"/>
                    </a:xfrm>
                  </p:grpSpPr>
                  <p:sp>
                    <p:nvSpPr>
                      <p:cNvPr id="101437" name="Line 49"/>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38" name="Line 50"/>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nvGrpSpPr>
                    <p:cNvPr id="101434" name="Group 51"/>
                    <p:cNvGrpSpPr>
                      <a:grpSpLocks noChangeAspect="1"/>
                    </p:cNvGrpSpPr>
                    <p:nvPr/>
                  </p:nvGrpSpPr>
                  <p:grpSpPr bwMode="auto">
                    <a:xfrm flipV="1">
                      <a:off x="1147" y="1525"/>
                      <a:ext cx="86" cy="68"/>
                      <a:chOff x="1076" y="1480"/>
                      <a:chExt cx="171" cy="136"/>
                    </a:xfrm>
                  </p:grpSpPr>
                  <p:sp>
                    <p:nvSpPr>
                      <p:cNvPr id="101435" name="Line 52"/>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36" name="Line 53"/>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grpSp>
          </p:grpSp>
          <p:grpSp>
            <p:nvGrpSpPr>
              <p:cNvPr id="101397" name="Group 54"/>
              <p:cNvGrpSpPr/>
              <p:nvPr/>
            </p:nvGrpSpPr>
            <p:grpSpPr bwMode="auto">
              <a:xfrm rot="60000">
                <a:off x="2618" y="3691"/>
                <a:ext cx="793" cy="91"/>
                <a:chOff x="1076" y="1473"/>
                <a:chExt cx="584" cy="120"/>
              </a:xfrm>
            </p:grpSpPr>
            <p:grpSp>
              <p:nvGrpSpPr>
                <p:cNvPr id="101399" name="Group 55"/>
                <p:cNvGrpSpPr/>
                <p:nvPr/>
              </p:nvGrpSpPr>
              <p:grpSpPr bwMode="auto">
                <a:xfrm>
                  <a:off x="1076" y="1480"/>
                  <a:ext cx="298" cy="113"/>
                  <a:chOff x="1076" y="1480"/>
                  <a:chExt cx="298" cy="113"/>
                </a:xfrm>
              </p:grpSpPr>
              <p:grpSp>
                <p:nvGrpSpPr>
                  <p:cNvPr id="101415" name="Group 56"/>
                  <p:cNvGrpSpPr/>
                  <p:nvPr/>
                </p:nvGrpSpPr>
                <p:grpSpPr bwMode="auto">
                  <a:xfrm>
                    <a:off x="1076" y="1480"/>
                    <a:ext cx="157" cy="113"/>
                    <a:chOff x="1076" y="1480"/>
                    <a:chExt cx="157" cy="113"/>
                  </a:xfrm>
                </p:grpSpPr>
                <p:grpSp>
                  <p:nvGrpSpPr>
                    <p:cNvPr id="101423" name="Group 57"/>
                    <p:cNvGrpSpPr>
                      <a:grpSpLocks noChangeAspect="1"/>
                    </p:cNvGrpSpPr>
                    <p:nvPr/>
                  </p:nvGrpSpPr>
                  <p:grpSpPr bwMode="auto">
                    <a:xfrm flipH="1">
                      <a:off x="1076" y="1480"/>
                      <a:ext cx="86" cy="68"/>
                      <a:chOff x="1076" y="1480"/>
                      <a:chExt cx="171" cy="136"/>
                    </a:xfrm>
                  </p:grpSpPr>
                  <p:sp>
                    <p:nvSpPr>
                      <p:cNvPr id="101427" name="Line 58"/>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28" name="Line 59"/>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nvGrpSpPr>
                    <p:cNvPr id="101424" name="Group 60"/>
                    <p:cNvGrpSpPr>
                      <a:grpSpLocks noChangeAspect="1"/>
                    </p:cNvGrpSpPr>
                    <p:nvPr/>
                  </p:nvGrpSpPr>
                  <p:grpSpPr bwMode="auto">
                    <a:xfrm flipV="1">
                      <a:off x="1147" y="1525"/>
                      <a:ext cx="86" cy="68"/>
                      <a:chOff x="1076" y="1480"/>
                      <a:chExt cx="171" cy="136"/>
                    </a:xfrm>
                  </p:grpSpPr>
                  <p:sp>
                    <p:nvSpPr>
                      <p:cNvPr id="101425" name="Line 61"/>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26" name="Line 62"/>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grpSp>
                <p:nvGrpSpPr>
                  <p:cNvPr id="101416" name="Group 63"/>
                  <p:cNvGrpSpPr/>
                  <p:nvPr/>
                </p:nvGrpSpPr>
                <p:grpSpPr bwMode="auto">
                  <a:xfrm>
                    <a:off x="1217" y="1480"/>
                    <a:ext cx="157" cy="113"/>
                    <a:chOff x="1076" y="1480"/>
                    <a:chExt cx="157" cy="113"/>
                  </a:xfrm>
                </p:grpSpPr>
                <p:grpSp>
                  <p:nvGrpSpPr>
                    <p:cNvPr id="101417" name="Group 64"/>
                    <p:cNvGrpSpPr>
                      <a:grpSpLocks noChangeAspect="1"/>
                    </p:cNvGrpSpPr>
                    <p:nvPr/>
                  </p:nvGrpSpPr>
                  <p:grpSpPr bwMode="auto">
                    <a:xfrm flipH="1">
                      <a:off x="1076" y="1480"/>
                      <a:ext cx="86" cy="68"/>
                      <a:chOff x="1076" y="1480"/>
                      <a:chExt cx="171" cy="136"/>
                    </a:xfrm>
                  </p:grpSpPr>
                  <p:sp>
                    <p:nvSpPr>
                      <p:cNvPr id="101421" name="Line 65"/>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22" name="Line 66"/>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nvGrpSpPr>
                    <p:cNvPr id="101418" name="Group 67"/>
                    <p:cNvGrpSpPr>
                      <a:grpSpLocks noChangeAspect="1"/>
                    </p:cNvGrpSpPr>
                    <p:nvPr/>
                  </p:nvGrpSpPr>
                  <p:grpSpPr bwMode="auto">
                    <a:xfrm flipV="1">
                      <a:off x="1147" y="1525"/>
                      <a:ext cx="86" cy="68"/>
                      <a:chOff x="1076" y="1480"/>
                      <a:chExt cx="171" cy="136"/>
                    </a:xfrm>
                  </p:grpSpPr>
                  <p:sp>
                    <p:nvSpPr>
                      <p:cNvPr id="101419" name="Line 68"/>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20" name="Line 69"/>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grpSp>
            <p:grpSp>
              <p:nvGrpSpPr>
                <p:cNvPr id="101400" name="Group 70"/>
                <p:cNvGrpSpPr/>
                <p:nvPr/>
              </p:nvGrpSpPr>
              <p:grpSpPr bwMode="auto">
                <a:xfrm>
                  <a:off x="1362" y="1473"/>
                  <a:ext cx="298" cy="113"/>
                  <a:chOff x="1076" y="1480"/>
                  <a:chExt cx="298" cy="113"/>
                </a:xfrm>
              </p:grpSpPr>
              <p:grpSp>
                <p:nvGrpSpPr>
                  <p:cNvPr id="101401" name="Group 71"/>
                  <p:cNvGrpSpPr/>
                  <p:nvPr/>
                </p:nvGrpSpPr>
                <p:grpSpPr bwMode="auto">
                  <a:xfrm>
                    <a:off x="1076" y="1480"/>
                    <a:ext cx="157" cy="113"/>
                    <a:chOff x="1076" y="1480"/>
                    <a:chExt cx="157" cy="113"/>
                  </a:xfrm>
                </p:grpSpPr>
                <p:grpSp>
                  <p:nvGrpSpPr>
                    <p:cNvPr id="101409" name="Group 72"/>
                    <p:cNvGrpSpPr>
                      <a:grpSpLocks noChangeAspect="1"/>
                    </p:cNvGrpSpPr>
                    <p:nvPr/>
                  </p:nvGrpSpPr>
                  <p:grpSpPr bwMode="auto">
                    <a:xfrm flipH="1">
                      <a:off x="1076" y="1480"/>
                      <a:ext cx="86" cy="68"/>
                      <a:chOff x="1076" y="1480"/>
                      <a:chExt cx="171" cy="136"/>
                    </a:xfrm>
                  </p:grpSpPr>
                  <p:sp>
                    <p:nvSpPr>
                      <p:cNvPr id="101413" name="Line 73"/>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14" name="Line 74"/>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nvGrpSpPr>
                    <p:cNvPr id="101410" name="Group 75"/>
                    <p:cNvGrpSpPr>
                      <a:grpSpLocks noChangeAspect="1"/>
                    </p:cNvGrpSpPr>
                    <p:nvPr/>
                  </p:nvGrpSpPr>
                  <p:grpSpPr bwMode="auto">
                    <a:xfrm flipV="1">
                      <a:off x="1147" y="1525"/>
                      <a:ext cx="86" cy="68"/>
                      <a:chOff x="1076" y="1480"/>
                      <a:chExt cx="171" cy="136"/>
                    </a:xfrm>
                  </p:grpSpPr>
                  <p:sp>
                    <p:nvSpPr>
                      <p:cNvPr id="101411" name="Line 76"/>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12" name="Line 77"/>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grpSp>
                <p:nvGrpSpPr>
                  <p:cNvPr id="101402" name="Group 78"/>
                  <p:cNvGrpSpPr/>
                  <p:nvPr/>
                </p:nvGrpSpPr>
                <p:grpSpPr bwMode="auto">
                  <a:xfrm>
                    <a:off x="1217" y="1480"/>
                    <a:ext cx="157" cy="113"/>
                    <a:chOff x="1076" y="1480"/>
                    <a:chExt cx="157" cy="113"/>
                  </a:xfrm>
                </p:grpSpPr>
                <p:grpSp>
                  <p:nvGrpSpPr>
                    <p:cNvPr id="101403" name="Group 79"/>
                    <p:cNvGrpSpPr>
                      <a:grpSpLocks noChangeAspect="1"/>
                    </p:cNvGrpSpPr>
                    <p:nvPr/>
                  </p:nvGrpSpPr>
                  <p:grpSpPr bwMode="auto">
                    <a:xfrm flipH="1">
                      <a:off x="1076" y="1480"/>
                      <a:ext cx="86" cy="68"/>
                      <a:chOff x="1076" y="1480"/>
                      <a:chExt cx="171" cy="136"/>
                    </a:xfrm>
                  </p:grpSpPr>
                  <p:sp>
                    <p:nvSpPr>
                      <p:cNvPr id="101407" name="Line 80"/>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08" name="Line 81"/>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nvGrpSpPr>
                    <p:cNvPr id="101404" name="Group 82"/>
                    <p:cNvGrpSpPr>
                      <a:grpSpLocks noChangeAspect="1"/>
                    </p:cNvGrpSpPr>
                    <p:nvPr/>
                  </p:nvGrpSpPr>
                  <p:grpSpPr bwMode="auto">
                    <a:xfrm flipV="1">
                      <a:off x="1147" y="1525"/>
                      <a:ext cx="86" cy="68"/>
                      <a:chOff x="1076" y="1480"/>
                      <a:chExt cx="171" cy="136"/>
                    </a:xfrm>
                  </p:grpSpPr>
                  <p:sp>
                    <p:nvSpPr>
                      <p:cNvPr id="101405" name="Line 83"/>
                      <p:cNvSpPr>
                        <a:spLocks noChangeAspect="1" noChangeShapeType="1"/>
                      </p:cNvSpPr>
                      <p:nvPr/>
                    </p:nvSpPr>
                    <p:spPr bwMode="auto">
                      <a:xfrm flipH="1" flipV="1">
                        <a:off x="1156" y="1480"/>
                        <a:ext cx="91" cy="136"/>
                      </a:xfrm>
                      <a:prstGeom prst="line">
                        <a:avLst/>
                      </a:prstGeom>
                      <a:noFill/>
                      <a:ln w="38100">
                        <a:solidFill>
                          <a:srgbClr val="000099"/>
                        </a:solidFill>
                        <a:round/>
                      </a:ln>
                    </p:spPr>
                    <p:txBody>
                      <a:bodyPr/>
                      <a:lstStyle/>
                      <a:p>
                        <a:endParaRPr lang="zh-CN" altLang="en-US"/>
                      </a:p>
                    </p:txBody>
                  </p:sp>
                  <p:sp>
                    <p:nvSpPr>
                      <p:cNvPr id="101406" name="Line 84"/>
                      <p:cNvSpPr>
                        <a:spLocks noChangeAspect="1" noChangeShapeType="1"/>
                      </p:cNvSpPr>
                      <p:nvPr/>
                    </p:nvSpPr>
                    <p:spPr bwMode="auto">
                      <a:xfrm flipV="1">
                        <a:off x="1076" y="1480"/>
                        <a:ext cx="91" cy="136"/>
                      </a:xfrm>
                      <a:prstGeom prst="line">
                        <a:avLst/>
                      </a:prstGeom>
                      <a:noFill/>
                      <a:ln w="38100">
                        <a:solidFill>
                          <a:srgbClr val="000099"/>
                        </a:solidFill>
                        <a:round/>
                      </a:ln>
                    </p:spPr>
                    <p:txBody>
                      <a:bodyPr/>
                      <a:lstStyle/>
                      <a:p>
                        <a:endParaRPr lang="zh-CN" altLang="en-US"/>
                      </a:p>
                    </p:txBody>
                  </p:sp>
                </p:grpSp>
              </p:grpSp>
            </p:grpSp>
          </p:grpSp>
          <p:sp>
            <p:nvSpPr>
              <p:cNvPr id="101398" name="Oval 85"/>
              <p:cNvSpPr>
                <a:spLocks noChangeArrowheads="1"/>
              </p:cNvSpPr>
              <p:nvPr/>
            </p:nvSpPr>
            <p:spPr bwMode="auto">
              <a:xfrm rot="-120000">
                <a:off x="3400" y="3583"/>
                <a:ext cx="187" cy="244"/>
              </a:xfrm>
              <a:prstGeom prst="ellipse">
                <a:avLst/>
              </a:prstGeom>
              <a:solidFill>
                <a:srgbClr val="FFFF00"/>
              </a:solidFill>
              <a:ln w="19050">
                <a:solidFill>
                  <a:srgbClr val="000099"/>
                </a:solidFill>
                <a:round/>
              </a:ln>
            </p:spPr>
            <p:txBody>
              <a:bodyPr/>
              <a:lstStyle/>
              <a:p>
                <a:pPr algn="ctr"/>
                <a:endParaRPr kumimoji="1" lang="zh-CN" altLang="zh-CN">
                  <a:solidFill>
                    <a:schemeClr val="bg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4"/>
                                        </p:tgtEl>
                                        <p:attrNameLst>
                                          <p:attrName>style.visibility</p:attrName>
                                        </p:attrNameLst>
                                      </p:cBhvr>
                                      <p:to>
                                        <p:strVal val="visible"/>
                                      </p:to>
                                    </p:set>
                                    <p:animEffect transition="in" filter="wipe(left)">
                                      <p:cBhvr>
                                        <p:cTn id="7" dur="500"/>
                                        <p:tgtEl>
                                          <p:spTgt spid="972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287"/>
                                        </p:tgtEl>
                                        <p:attrNameLst>
                                          <p:attrName>style.visibility</p:attrName>
                                        </p:attrNameLst>
                                      </p:cBhvr>
                                      <p:to>
                                        <p:strVal val="visible"/>
                                      </p:to>
                                    </p:set>
                                    <p:animEffect transition="in" filter="wipe(left)">
                                      <p:cBhvr>
                                        <p:cTn id="12" dur="500"/>
                                        <p:tgtEl>
                                          <p:spTgt spid="972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7285"/>
                                        </p:tgtEl>
                                        <p:attrNameLst>
                                          <p:attrName>style.visibility</p:attrName>
                                        </p:attrNameLst>
                                      </p:cBhvr>
                                      <p:to>
                                        <p:strVal val="visible"/>
                                      </p:to>
                                    </p:set>
                                    <p:animEffect transition="in" filter="wipe(left)">
                                      <p:cBhvr>
                                        <p:cTn id="17" dur="500"/>
                                        <p:tgtEl>
                                          <p:spTgt spid="972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288"/>
                                        </p:tgtEl>
                                        <p:attrNameLst>
                                          <p:attrName>style.visibility</p:attrName>
                                        </p:attrNameLst>
                                      </p:cBhvr>
                                      <p:to>
                                        <p:strVal val="visible"/>
                                      </p:to>
                                    </p:set>
                                    <p:animEffect transition="in" filter="wipe(left)">
                                      <p:cBhvr>
                                        <p:cTn id="22" dur="500"/>
                                        <p:tgtEl>
                                          <p:spTgt spid="972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7286"/>
                                        </p:tgtEl>
                                        <p:attrNameLst>
                                          <p:attrName>style.visibility</p:attrName>
                                        </p:attrNameLst>
                                      </p:cBhvr>
                                      <p:to>
                                        <p:strVal val="visible"/>
                                      </p:to>
                                    </p:set>
                                    <p:animEffect transition="in" filter="wipe(left)">
                                      <p:cBhvr>
                                        <p:cTn id="27" dur="500"/>
                                        <p:tgtEl>
                                          <p:spTgt spid="9728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7291"/>
                                        </p:tgtEl>
                                        <p:attrNameLst>
                                          <p:attrName>style.visibility</p:attrName>
                                        </p:attrNameLst>
                                      </p:cBhvr>
                                      <p:to>
                                        <p:strVal val="visible"/>
                                      </p:to>
                                    </p:set>
                                    <p:animEffect transition="in" filter="wipe(left)">
                                      <p:cBhvr>
                                        <p:cTn id="32" dur="500"/>
                                        <p:tgtEl>
                                          <p:spTgt spid="9729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7292"/>
                                        </p:tgtEl>
                                        <p:attrNameLst>
                                          <p:attrName>style.visibility</p:attrName>
                                        </p:attrNameLst>
                                      </p:cBhvr>
                                      <p:to>
                                        <p:strVal val="visible"/>
                                      </p:to>
                                    </p:set>
                                    <p:animEffect transition="in" filter="wipe(left)">
                                      <p:cBhvr>
                                        <p:cTn id="37" dur="500"/>
                                        <p:tgtEl>
                                          <p:spTgt spid="9729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20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grpId="0" nodeType="clickEffect">
                                  <p:stCondLst>
                                    <p:cond delay="0"/>
                                  </p:stCondLst>
                                  <p:childTnLst>
                                    <p:set>
                                      <p:cBhvr>
                                        <p:cTn id="50" dur="1" fill="hold">
                                          <p:stCondLst>
                                            <p:cond delay="0"/>
                                          </p:stCondLst>
                                        </p:cTn>
                                        <p:tgtEl>
                                          <p:spTgt spid="97297"/>
                                        </p:tgtEl>
                                        <p:attrNameLst>
                                          <p:attrName>style.visibility</p:attrName>
                                        </p:attrNameLst>
                                      </p:cBhvr>
                                      <p:to>
                                        <p:strVal val="visible"/>
                                      </p:to>
                                    </p:set>
                                    <p:animEffect transition="in" filter="slide(fromLeft)">
                                      <p:cBhvr>
                                        <p:cTn id="51" dur="500"/>
                                        <p:tgtEl>
                                          <p:spTgt spid="9729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7298"/>
                                        </p:tgtEl>
                                        <p:attrNameLst>
                                          <p:attrName>style.visibility</p:attrName>
                                        </p:attrNameLst>
                                      </p:cBhvr>
                                      <p:to>
                                        <p:strVal val="visible"/>
                                      </p:to>
                                    </p:set>
                                    <p:animEffect transition="in" filter="wipe(left)">
                                      <p:cBhvr>
                                        <p:cTn id="56" dur="500"/>
                                        <p:tgtEl>
                                          <p:spTgt spid="97298"/>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97299"/>
                                        </p:tgtEl>
                                        <p:attrNameLst>
                                          <p:attrName>style.visibility</p:attrName>
                                        </p:attrNameLst>
                                      </p:cBhvr>
                                      <p:to>
                                        <p:strVal val="visible"/>
                                      </p:to>
                                    </p:set>
                                    <p:animEffect transition="in" filter="slide(fromLeft)">
                                      <p:cBhvr>
                                        <p:cTn id="61" dur="500"/>
                                        <p:tgtEl>
                                          <p:spTgt spid="97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4" grpId="0"/>
      <p:bldP spid="97287" grpId="0" autoUpdateAnimBg="0"/>
      <p:bldP spid="97288" grpId="0" autoUpdateAnimBg="0"/>
      <p:bldP spid="97291" grpId="0" autoUpdateAnimBg="0"/>
      <p:bldP spid="97292" grpId="0" autoUpdateAnimBg="0"/>
      <p:bldP spid="97297" grpId="0"/>
      <p:bldP spid="97298" grpId="0" autoUpdateAnimBg="0"/>
      <p:bldP spid="9729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7212013" y="3213100"/>
            <a:ext cx="1422400" cy="461963"/>
          </a:xfrm>
          <a:prstGeom prst="rect">
            <a:avLst/>
          </a:prstGeom>
          <a:noFill/>
          <a:ln w="9525">
            <a:noFill/>
            <a:miter lim="800000"/>
          </a:ln>
        </p:spPr>
        <p:txBody>
          <a:bodyPr wrap="none">
            <a:spAutoFit/>
          </a:bodyPr>
          <a:lstStyle/>
          <a:p>
            <a:pPr>
              <a:defRPr/>
            </a:pPr>
            <a:r>
              <a:rPr kumimoji="1" lang="zh-CN" altLang="en-US" b="1">
                <a:latin typeface="+mn-ea"/>
                <a:ea typeface="+mn-ea"/>
              </a:rPr>
              <a:t>（真空）</a:t>
            </a:r>
            <a:endParaRPr kumimoji="1" lang="zh-CN" altLang="en-US" b="1">
              <a:latin typeface="+mn-ea"/>
              <a:ea typeface="+mn-ea"/>
            </a:endParaRPr>
          </a:p>
        </p:txBody>
      </p:sp>
      <p:sp>
        <p:nvSpPr>
          <p:cNvPr id="98307" name="Rectangle 3"/>
          <p:cNvSpPr>
            <a:spLocks noChangeArrowheads="1"/>
          </p:cNvSpPr>
          <p:nvPr/>
        </p:nvSpPr>
        <p:spPr bwMode="auto">
          <a:xfrm>
            <a:off x="6686550" y="549275"/>
            <a:ext cx="2057400" cy="2611438"/>
          </a:xfrm>
          <a:prstGeom prst="rect">
            <a:avLst/>
          </a:prstGeom>
          <a:solidFill>
            <a:srgbClr val="006699"/>
          </a:solidFill>
          <a:ln w="38100">
            <a:solidFill>
              <a:schemeClr val="bg2"/>
            </a:solidFill>
            <a:miter lim="800000"/>
          </a:ln>
        </p:spPr>
        <p:txBody>
          <a:bodyPr wrap="none" anchor="ctr"/>
          <a:lstStyle/>
          <a:p>
            <a:pPr algn="ctr">
              <a:defRPr/>
            </a:pPr>
            <a:endParaRPr lang="zh-CN" altLang="en-US">
              <a:latin typeface="+mn-ea"/>
              <a:ea typeface="+mn-ea"/>
            </a:endParaRPr>
          </a:p>
        </p:txBody>
      </p:sp>
      <p:grpSp>
        <p:nvGrpSpPr>
          <p:cNvPr id="2" name="Group 4"/>
          <p:cNvGrpSpPr/>
          <p:nvPr/>
        </p:nvGrpSpPr>
        <p:grpSpPr bwMode="auto">
          <a:xfrm>
            <a:off x="7023100" y="688975"/>
            <a:ext cx="815975" cy="2381250"/>
            <a:chOff x="1962" y="1924"/>
            <a:chExt cx="514" cy="1500"/>
          </a:xfrm>
        </p:grpSpPr>
        <p:sp>
          <p:nvSpPr>
            <p:cNvPr id="102431" name="Line 5"/>
            <p:cNvSpPr>
              <a:spLocks noChangeShapeType="1"/>
            </p:cNvSpPr>
            <p:nvPr/>
          </p:nvSpPr>
          <p:spPr bwMode="auto">
            <a:xfrm flipH="1">
              <a:off x="2058" y="1958"/>
              <a:ext cx="384" cy="1104"/>
            </a:xfrm>
            <a:prstGeom prst="line">
              <a:avLst/>
            </a:prstGeom>
            <a:noFill/>
            <a:ln w="28575">
              <a:solidFill>
                <a:schemeClr val="folHlink"/>
              </a:solidFill>
              <a:round/>
            </a:ln>
          </p:spPr>
          <p:txBody>
            <a:bodyPr/>
            <a:lstStyle/>
            <a:p>
              <a:pPr>
                <a:defRPr/>
              </a:pPr>
              <a:endParaRPr lang="zh-CN" altLang="en-US">
                <a:latin typeface="+mn-ea"/>
                <a:ea typeface="+mn-ea"/>
              </a:endParaRPr>
            </a:p>
          </p:txBody>
        </p:sp>
        <p:sp>
          <p:nvSpPr>
            <p:cNvPr id="102432" name="Oval 6"/>
            <p:cNvSpPr>
              <a:spLocks noChangeArrowheads="1"/>
            </p:cNvSpPr>
            <p:nvPr/>
          </p:nvSpPr>
          <p:spPr bwMode="auto">
            <a:xfrm flipH="1">
              <a:off x="1962" y="2966"/>
              <a:ext cx="192" cy="192"/>
            </a:xfrm>
            <a:prstGeom prst="ellipse">
              <a:avLst/>
            </a:prstGeom>
            <a:gradFill rotWithShape="1">
              <a:gsLst>
                <a:gs pos="0">
                  <a:srgbClr val="006699"/>
                </a:gs>
                <a:gs pos="100000">
                  <a:srgbClr val="004B70"/>
                </a:gs>
              </a:gsLst>
              <a:path path="shape">
                <a:fillToRect l="50000" t="50000" r="50000" b="50000"/>
              </a:path>
            </a:gradFill>
            <a:ln w="9525">
              <a:solidFill>
                <a:schemeClr val="folHlink"/>
              </a:solidFill>
              <a:round/>
            </a:ln>
          </p:spPr>
          <p:txBody>
            <a:bodyPr wrap="none" anchor="ctr"/>
            <a:lstStyle/>
            <a:p>
              <a:pPr algn="ctr">
                <a:defRPr/>
              </a:pPr>
              <a:endParaRPr lang="zh-CN" altLang="en-US">
                <a:latin typeface="+mn-ea"/>
                <a:ea typeface="+mn-ea"/>
              </a:endParaRPr>
            </a:p>
          </p:txBody>
        </p:sp>
        <p:sp>
          <p:nvSpPr>
            <p:cNvPr id="102433" name="Line 7"/>
            <p:cNvSpPr>
              <a:spLocks noChangeShapeType="1"/>
            </p:cNvSpPr>
            <p:nvPr/>
          </p:nvSpPr>
          <p:spPr bwMode="auto">
            <a:xfrm>
              <a:off x="2428" y="1934"/>
              <a:ext cx="0" cy="1490"/>
            </a:xfrm>
            <a:prstGeom prst="line">
              <a:avLst/>
            </a:prstGeom>
            <a:noFill/>
            <a:ln w="12700">
              <a:solidFill>
                <a:srgbClr val="FFFF00"/>
              </a:solidFill>
              <a:prstDash val="dash"/>
              <a:round/>
            </a:ln>
          </p:spPr>
          <p:txBody>
            <a:bodyPr/>
            <a:lstStyle/>
            <a:p>
              <a:pPr>
                <a:defRPr/>
              </a:pPr>
              <a:endParaRPr lang="zh-CN" altLang="en-US">
                <a:latin typeface="+mn-ea"/>
                <a:ea typeface="+mn-ea"/>
              </a:endParaRPr>
            </a:p>
          </p:txBody>
        </p:sp>
        <p:sp>
          <p:nvSpPr>
            <p:cNvPr id="102434" name="Oval 8"/>
            <p:cNvSpPr>
              <a:spLocks noChangeArrowheads="1"/>
            </p:cNvSpPr>
            <p:nvPr/>
          </p:nvSpPr>
          <p:spPr bwMode="auto">
            <a:xfrm>
              <a:off x="2380" y="1924"/>
              <a:ext cx="96" cy="96"/>
            </a:xfrm>
            <a:prstGeom prst="ellipse">
              <a:avLst/>
            </a:prstGeom>
            <a:solidFill>
              <a:srgbClr val="FFFF00"/>
            </a:solidFill>
            <a:ln w="9525">
              <a:solidFill>
                <a:srgbClr val="FFFF00"/>
              </a:solidFill>
              <a:round/>
            </a:ln>
          </p:spPr>
          <p:txBody>
            <a:bodyPr wrap="none" anchor="ctr"/>
            <a:lstStyle/>
            <a:p>
              <a:pPr algn="ctr">
                <a:defRPr/>
              </a:pPr>
              <a:endParaRPr lang="zh-CN" altLang="en-US">
                <a:latin typeface="+mn-ea"/>
                <a:ea typeface="+mn-ea"/>
              </a:endParaRPr>
            </a:p>
          </p:txBody>
        </p:sp>
      </p:grpSp>
      <p:sp>
        <p:nvSpPr>
          <p:cNvPr id="98313" name="Rectangle 9"/>
          <p:cNvSpPr>
            <a:spLocks noChangeArrowheads="1"/>
          </p:cNvSpPr>
          <p:nvPr/>
        </p:nvSpPr>
        <p:spPr bwMode="auto">
          <a:xfrm>
            <a:off x="7088188" y="3213100"/>
            <a:ext cx="1731962" cy="461963"/>
          </a:xfrm>
          <a:prstGeom prst="rect">
            <a:avLst/>
          </a:prstGeom>
          <a:solidFill>
            <a:srgbClr val="FFFFFF"/>
          </a:solidFill>
          <a:ln w="9525">
            <a:noFill/>
            <a:miter lim="800000"/>
          </a:ln>
        </p:spPr>
        <p:txBody>
          <a:bodyPr wrap="none">
            <a:spAutoFit/>
          </a:bodyPr>
          <a:lstStyle/>
          <a:p>
            <a:pPr>
              <a:defRPr/>
            </a:pPr>
            <a:r>
              <a:rPr kumimoji="1" lang="zh-CN" altLang="en-US" b="1">
                <a:latin typeface="+mn-ea"/>
                <a:ea typeface="+mn-ea"/>
              </a:rPr>
              <a:t>（有气体）</a:t>
            </a:r>
            <a:endParaRPr kumimoji="1" lang="zh-CN" altLang="en-US" b="1">
              <a:latin typeface="+mn-ea"/>
              <a:ea typeface="+mn-ea"/>
            </a:endParaRPr>
          </a:p>
        </p:txBody>
      </p:sp>
      <p:sp>
        <p:nvSpPr>
          <p:cNvPr id="98314" name="Rectangle 10" descr="5%"/>
          <p:cNvSpPr>
            <a:spLocks noChangeArrowheads="1"/>
          </p:cNvSpPr>
          <p:nvPr/>
        </p:nvSpPr>
        <p:spPr bwMode="auto">
          <a:xfrm>
            <a:off x="6691313" y="549275"/>
            <a:ext cx="2057400" cy="2611438"/>
          </a:xfrm>
          <a:prstGeom prst="rect">
            <a:avLst/>
          </a:prstGeom>
          <a:pattFill prst="pct5">
            <a:fgClr>
              <a:schemeClr val="tx1"/>
            </a:fgClr>
            <a:bgClr>
              <a:srgbClr val="FFFFFF"/>
            </a:bgClr>
          </a:pattFill>
          <a:ln w="38100">
            <a:solidFill>
              <a:schemeClr val="bg2"/>
            </a:solidFill>
            <a:miter lim="800000"/>
          </a:ln>
        </p:spPr>
        <p:txBody>
          <a:bodyPr wrap="none" anchor="ctr"/>
          <a:lstStyle/>
          <a:p>
            <a:pPr algn="ctr">
              <a:defRPr/>
            </a:pPr>
            <a:endParaRPr lang="zh-CN" altLang="en-US">
              <a:latin typeface="+mn-ea"/>
              <a:ea typeface="+mn-ea"/>
            </a:endParaRPr>
          </a:p>
        </p:txBody>
      </p:sp>
      <p:grpSp>
        <p:nvGrpSpPr>
          <p:cNvPr id="3" name="Group 11"/>
          <p:cNvGrpSpPr/>
          <p:nvPr/>
        </p:nvGrpSpPr>
        <p:grpSpPr bwMode="auto">
          <a:xfrm>
            <a:off x="6935788" y="708025"/>
            <a:ext cx="815975" cy="2381250"/>
            <a:chOff x="3772" y="1839"/>
            <a:chExt cx="514" cy="1500"/>
          </a:xfrm>
        </p:grpSpPr>
        <p:sp>
          <p:nvSpPr>
            <p:cNvPr id="102427" name="Line 12"/>
            <p:cNvSpPr>
              <a:spLocks noChangeShapeType="1"/>
            </p:cNvSpPr>
            <p:nvPr/>
          </p:nvSpPr>
          <p:spPr bwMode="auto">
            <a:xfrm flipH="1">
              <a:off x="3868" y="1873"/>
              <a:ext cx="384" cy="1104"/>
            </a:xfrm>
            <a:prstGeom prst="line">
              <a:avLst/>
            </a:prstGeom>
            <a:noFill/>
            <a:ln w="28575">
              <a:solidFill>
                <a:schemeClr val="folHlink"/>
              </a:solidFill>
              <a:round/>
            </a:ln>
          </p:spPr>
          <p:txBody>
            <a:bodyPr/>
            <a:lstStyle/>
            <a:p>
              <a:pPr>
                <a:defRPr/>
              </a:pPr>
              <a:endParaRPr lang="zh-CN" altLang="en-US">
                <a:latin typeface="+mn-ea"/>
                <a:ea typeface="+mn-ea"/>
              </a:endParaRPr>
            </a:p>
          </p:txBody>
        </p:sp>
        <p:sp>
          <p:nvSpPr>
            <p:cNvPr id="102428" name="Oval 13"/>
            <p:cNvSpPr>
              <a:spLocks noChangeArrowheads="1"/>
            </p:cNvSpPr>
            <p:nvPr/>
          </p:nvSpPr>
          <p:spPr bwMode="auto">
            <a:xfrm flipH="1">
              <a:off x="3772" y="2881"/>
              <a:ext cx="192" cy="192"/>
            </a:xfrm>
            <a:prstGeom prst="ellipse">
              <a:avLst/>
            </a:prstGeom>
            <a:gradFill rotWithShape="1">
              <a:gsLst>
                <a:gs pos="0">
                  <a:srgbClr val="006699"/>
                </a:gs>
                <a:gs pos="100000">
                  <a:srgbClr val="004B70"/>
                </a:gs>
              </a:gsLst>
              <a:path path="shape">
                <a:fillToRect l="50000" t="50000" r="50000" b="50000"/>
              </a:path>
            </a:gradFill>
            <a:ln w="9525">
              <a:solidFill>
                <a:schemeClr val="folHlink"/>
              </a:solidFill>
              <a:round/>
            </a:ln>
          </p:spPr>
          <p:txBody>
            <a:bodyPr wrap="none" anchor="ctr"/>
            <a:lstStyle/>
            <a:p>
              <a:pPr algn="ctr">
                <a:defRPr/>
              </a:pPr>
              <a:endParaRPr lang="zh-CN" altLang="en-US">
                <a:latin typeface="+mn-ea"/>
                <a:ea typeface="+mn-ea"/>
              </a:endParaRPr>
            </a:p>
          </p:txBody>
        </p:sp>
        <p:sp>
          <p:nvSpPr>
            <p:cNvPr id="102429" name="Line 14"/>
            <p:cNvSpPr>
              <a:spLocks noChangeShapeType="1"/>
            </p:cNvSpPr>
            <p:nvPr/>
          </p:nvSpPr>
          <p:spPr bwMode="auto">
            <a:xfrm>
              <a:off x="4238" y="1849"/>
              <a:ext cx="0" cy="1490"/>
            </a:xfrm>
            <a:prstGeom prst="line">
              <a:avLst/>
            </a:prstGeom>
            <a:noFill/>
            <a:ln w="12700">
              <a:solidFill>
                <a:schemeClr val="tx1"/>
              </a:solidFill>
              <a:prstDash val="dash"/>
              <a:round/>
            </a:ln>
          </p:spPr>
          <p:txBody>
            <a:bodyPr/>
            <a:lstStyle/>
            <a:p>
              <a:pPr>
                <a:defRPr/>
              </a:pPr>
              <a:endParaRPr lang="zh-CN" altLang="en-US">
                <a:latin typeface="+mn-ea"/>
                <a:ea typeface="+mn-ea"/>
              </a:endParaRPr>
            </a:p>
          </p:txBody>
        </p:sp>
        <p:sp>
          <p:nvSpPr>
            <p:cNvPr id="102430" name="Oval 15"/>
            <p:cNvSpPr>
              <a:spLocks noChangeArrowheads="1"/>
            </p:cNvSpPr>
            <p:nvPr/>
          </p:nvSpPr>
          <p:spPr bwMode="auto">
            <a:xfrm>
              <a:off x="4190" y="1839"/>
              <a:ext cx="96" cy="96"/>
            </a:xfrm>
            <a:prstGeom prst="ellipse">
              <a:avLst/>
            </a:prstGeom>
            <a:solidFill>
              <a:srgbClr val="5F5F5F"/>
            </a:solidFill>
            <a:ln w="9525">
              <a:solidFill>
                <a:srgbClr val="5F5F5F"/>
              </a:solidFill>
              <a:round/>
            </a:ln>
          </p:spPr>
          <p:txBody>
            <a:bodyPr wrap="none" anchor="ctr"/>
            <a:lstStyle/>
            <a:p>
              <a:pPr algn="ctr">
                <a:defRPr/>
              </a:pPr>
              <a:endParaRPr lang="zh-CN" altLang="en-US">
                <a:latin typeface="+mn-ea"/>
                <a:ea typeface="+mn-ea"/>
              </a:endParaRPr>
            </a:p>
          </p:txBody>
        </p:sp>
      </p:grpSp>
      <p:sp>
        <p:nvSpPr>
          <p:cNvPr id="98320" name="Rectangle 16"/>
          <p:cNvSpPr>
            <a:spLocks noChangeArrowheads="1"/>
          </p:cNvSpPr>
          <p:nvPr/>
        </p:nvSpPr>
        <p:spPr bwMode="auto">
          <a:xfrm>
            <a:off x="153988" y="506413"/>
            <a:ext cx="4057650" cy="457200"/>
          </a:xfrm>
          <a:prstGeom prst="rect">
            <a:avLst/>
          </a:prstGeom>
          <a:noFill/>
          <a:ln w="9525">
            <a:noFill/>
            <a:miter lim="800000"/>
          </a:ln>
        </p:spPr>
        <p:txBody>
          <a:bodyPr>
            <a:spAutoFit/>
          </a:bodyPr>
          <a:lstStyle/>
          <a:p>
            <a:pPr>
              <a:buClr>
                <a:srgbClr val="FF0000"/>
              </a:buClr>
              <a:buFont typeface="Wingdings" panose="05000000000000000000" pitchFamily="2" charset="2"/>
              <a:buChar char="Ø"/>
              <a:defRPr/>
            </a:pPr>
            <a:r>
              <a:rPr kumimoji="1" lang="en-US" altLang="zh-CN" b="1">
                <a:latin typeface="+mn-ea"/>
                <a:ea typeface="+mn-ea"/>
              </a:rPr>
              <a:t> </a:t>
            </a:r>
            <a:r>
              <a:rPr kumimoji="1" lang="zh-CN" altLang="en-US" b="1">
                <a:solidFill>
                  <a:srgbClr val="0000FF"/>
                </a:solidFill>
                <a:latin typeface="+mn-ea"/>
                <a:ea typeface="+mn-ea"/>
              </a:rPr>
              <a:t>单摆</a:t>
            </a:r>
            <a:r>
              <a:rPr kumimoji="1" lang="zh-CN" altLang="en-US" b="1">
                <a:latin typeface="+mn-ea"/>
                <a:ea typeface="+mn-ea"/>
              </a:rPr>
              <a:t>（真空）  </a:t>
            </a:r>
            <a:endParaRPr kumimoji="1" lang="zh-CN" altLang="en-US" b="1">
              <a:latin typeface="+mn-ea"/>
              <a:ea typeface="+mn-ea"/>
            </a:endParaRPr>
          </a:p>
        </p:txBody>
      </p:sp>
      <p:sp>
        <p:nvSpPr>
          <p:cNvPr id="98321" name="Rectangle 17"/>
          <p:cNvSpPr>
            <a:spLocks noChangeArrowheads="1"/>
          </p:cNvSpPr>
          <p:nvPr/>
        </p:nvSpPr>
        <p:spPr bwMode="auto">
          <a:xfrm>
            <a:off x="1116013" y="1038225"/>
            <a:ext cx="2178050" cy="457200"/>
          </a:xfrm>
          <a:prstGeom prst="rect">
            <a:avLst/>
          </a:prstGeom>
          <a:noFill/>
          <a:ln w="9525">
            <a:noFill/>
            <a:miter lim="800000"/>
          </a:ln>
        </p:spPr>
        <p:txBody>
          <a:bodyPr wrap="none">
            <a:spAutoFit/>
          </a:bodyPr>
          <a:lstStyle/>
          <a:p>
            <a:pPr>
              <a:defRPr/>
            </a:pPr>
            <a:r>
              <a:rPr kumimoji="1" lang="zh-CN" altLang="en-US" b="1">
                <a:latin typeface="+mn-ea"/>
                <a:ea typeface="+mn-ea"/>
              </a:rPr>
              <a:t>（有气体）   </a:t>
            </a:r>
            <a:endParaRPr kumimoji="1" lang="zh-CN" altLang="en-US" b="1">
              <a:latin typeface="+mn-ea"/>
              <a:ea typeface="+mn-ea"/>
            </a:endParaRPr>
          </a:p>
        </p:txBody>
      </p:sp>
      <p:sp>
        <p:nvSpPr>
          <p:cNvPr id="98322" name="Text Box 18"/>
          <p:cNvSpPr txBox="1">
            <a:spLocks noChangeArrowheads="1"/>
          </p:cNvSpPr>
          <p:nvPr/>
        </p:nvSpPr>
        <p:spPr bwMode="auto">
          <a:xfrm>
            <a:off x="2841625" y="476250"/>
            <a:ext cx="1873250" cy="457200"/>
          </a:xfrm>
          <a:prstGeom prst="rect">
            <a:avLst/>
          </a:prstGeom>
          <a:noFill/>
          <a:ln w="9525">
            <a:noFill/>
            <a:miter lim="800000"/>
          </a:ln>
        </p:spPr>
        <p:txBody>
          <a:bodyPr>
            <a:spAutoFit/>
          </a:bodyPr>
          <a:lstStyle/>
          <a:p>
            <a:pPr>
              <a:defRPr/>
            </a:pPr>
            <a:r>
              <a:rPr lang="zh-CN" altLang="en-US" b="1">
                <a:solidFill>
                  <a:srgbClr val="FF6600"/>
                </a:solidFill>
                <a:latin typeface="+mn-ea"/>
                <a:ea typeface="+mn-ea"/>
              </a:rPr>
              <a:t>可逆</a:t>
            </a:r>
            <a:endParaRPr lang="zh-CN" altLang="en-US" b="1">
              <a:solidFill>
                <a:srgbClr val="FF6600"/>
              </a:solidFill>
              <a:latin typeface="+mn-ea"/>
              <a:ea typeface="+mn-ea"/>
            </a:endParaRPr>
          </a:p>
        </p:txBody>
      </p:sp>
      <p:sp>
        <p:nvSpPr>
          <p:cNvPr id="98323" name="Text Box 19"/>
          <p:cNvSpPr txBox="1">
            <a:spLocks noChangeArrowheads="1"/>
          </p:cNvSpPr>
          <p:nvPr/>
        </p:nvSpPr>
        <p:spPr bwMode="auto">
          <a:xfrm>
            <a:off x="2771775" y="1057275"/>
            <a:ext cx="2116138" cy="457200"/>
          </a:xfrm>
          <a:prstGeom prst="rect">
            <a:avLst/>
          </a:prstGeom>
          <a:noFill/>
          <a:ln w="9525">
            <a:noFill/>
            <a:miter lim="800000"/>
          </a:ln>
        </p:spPr>
        <p:txBody>
          <a:bodyPr>
            <a:spAutoFit/>
          </a:bodyPr>
          <a:lstStyle/>
          <a:p>
            <a:pPr>
              <a:defRPr/>
            </a:pPr>
            <a:r>
              <a:rPr lang="zh-CN" altLang="en-US" b="1">
                <a:solidFill>
                  <a:srgbClr val="FF6600"/>
                </a:solidFill>
                <a:latin typeface="+mn-ea"/>
                <a:ea typeface="+mn-ea"/>
              </a:rPr>
              <a:t>不可逆</a:t>
            </a:r>
            <a:endParaRPr lang="zh-CN" altLang="en-US" b="1">
              <a:solidFill>
                <a:srgbClr val="FF6600"/>
              </a:solidFill>
              <a:latin typeface="+mn-ea"/>
              <a:ea typeface="+mn-ea"/>
            </a:endParaRPr>
          </a:p>
        </p:txBody>
      </p:sp>
      <p:sp>
        <p:nvSpPr>
          <p:cNvPr id="98324" name="Rectangle 20"/>
          <p:cNvSpPr>
            <a:spLocks noChangeArrowheads="1"/>
          </p:cNvSpPr>
          <p:nvPr/>
        </p:nvSpPr>
        <p:spPr bwMode="auto">
          <a:xfrm>
            <a:off x="107950" y="1892300"/>
            <a:ext cx="6215063" cy="457200"/>
          </a:xfrm>
          <a:prstGeom prst="rect">
            <a:avLst/>
          </a:prstGeom>
          <a:noFill/>
          <a:ln w="9525">
            <a:noFill/>
            <a:miter lim="800000"/>
          </a:ln>
        </p:spPr>
        <p:txBody>
          <a:bodyPr>
            <a:spAutoFit/>
          </a:bodyPr>
          <a:lstStyle/>
          <a:p>
            <a:pPr>
              <a:buClr>
                <a:srgbClr val="FF0000"/>
              </a:buClr>
              <a:buFont typeface="Wingdings" panose="05000000000000000000" pitchFamily="2" charset="2"/>
              <a:buChar char="Ø"/>
              <a:defRPr/>
            </a:pPr>
            <a:r>
              <a:rPr kumimoji="1" lang="en-US" altLang="zh-CN" b="1">
                <a:latin typeface="+mn-ea"/>
                <a:ea typeface="+mn-ea"/>
              </a:rPr>
              <a:t> </a:t>
            </a:r>
            <a:r>
              <a:rPr kumimoji="1" lang="zh-CN" altLang="en-US" b="1">
                <a:solidFill>
                  <a:srgbClr val="0000FF"/>
                </a:solidFill>
                <a:latin typeface="+mn-ea"/>
                <a:ea typeface="+mn-ea"/>
              </a:rPr>
              <a:t>功热转换：</a:t>
            </a:r>
            <a:r>
              <a:rPr kumimoji="1" lang="zh-CN" altLang="en-US" b="1">
                <a:latin typeface="+mn-ea"/>
                <a:ea typeface="+mn-ea"/>
              </a:rPr>
              <a:t>功向热转化可自动进行   </a:t>
            </a:r>
            <a:endParaRPr kumimoji="1" lang="zh-CN" altLang="en-US" b="1">
              <a:latin typeface="+mn-ea"/>
              <a:ea typeface="+mn-ea"/>
            </a:endParaRPr>
          </a:p>
        </p:txBody>
      </p:sp>
      <p:sp>
        <p:nvSpPr>
          <p:cNvPr id="98325" name="Rectangle 21"/>
          <p:cNvSpPr>
            <a:spLocks noChangeArrowheads="1"/>
          </p:cNvSpPr>
          <p:nvPr/>
        </p:nvSpPr>
        <p:spPr bwMode="auto">
          <a:xfrm>
            <a:off x="107950" y="2566988"/>
            <a:ext cx="5759450" cy="979487"/>
          </a:xfrm>
          <a:prstGeom prst="rect">
            <a:avLst/>
          </a:prstGeom>
          <a:noFill/>
          <a:ln w="9525">
            <a:noFill/>
            <a:miter lim="800000"/>
          </a:ln>
        </p:spPr>
        <p:txBody>
          <a:bodyPr>
            <a:spAutoFit/>
          </a:bodyPr>
          <a:lstStyle/>
          <a:p>
            <a:pPr marL="274955" indent="-274955">
              <a:lnSpc>
                <a:spcPct val="120000"/>
              </a:lnSpc>
              <a:buClr>
                <a:srgbClr val="FF0000"/>
              </a:buClr>
              <a:buFont typeface="Wingdings" panose="05000000000000000000" pitchFamily="2" charset="2"/>
              <a:buChar char="Ø"/>
              <a:defRPr/>
            </a:pPr>
            <a:r>
              <a:rPr kumimoji="1" lang="en-US" altLang="zh-CN" b="1">
                <a:latin typeface="+mn-ea"/>
                <a:ea typeface="+mn-ea"/>
              </a:rPr>
              <a:t> </a:t>
            </a:r>
            <a:r>
              <a:rPr kumimoji="1" lang="zh-CN" altLang="en-US" b="1">
                <a:solidFill>
                  <a:srgbClr val="0000FF"/>
                </a:solidFill>
                <a:latin typeface="+mn-ea"/>
                <a:ea typeface="+mn-ea"/>
              </a:rPr>
              <a:t>热传导</a:t>
            </a:r>
            <a:r>
              <a:rPr kumimoji="1" lang="en-US" altLang="zh-CN" b="1">
                <a:solidFill>
                  <a:srgbClr val="0000FF"/>
                </a:solidFill>
                <a:latin typeface="+mn-ea"/>
                <a:ea typeface="+mn-ea"/>
              </a:rPr>
              <a:t>: </a:t>
            </a:r>
            <a:r>
              <a:rPr kumimoji="1" lang="zh-CN" altLang="en-US" b="1">
                <a:latin typeface="+mn-ea"/>
                <a:ea typeface="+mn-ea"/>
              </a:rPr>
              <a:t>热量从高温传到低温物体可</a:t>
            </a:r>
            <a:endParaRPr kumimoji="1" lang="zh-CN" altLang="en-US" b="1">
              <a:latin typeface="+mn-ea"/>
              <a:ea typeface="+mn-ea"/>
            </a:endParaRPr>
          </a:p>
          <a:p>
            <a:pPr marL="274955" indent="-274955">
              <a:lnSpc>
                <a:spcPct val="120000"/>
              </a:lnSpc>
              <a:buClr>
                <a:srgbClr val="FF0000"/>
              </a:buClr>
              <a:buFont typeface="Wingdings" panose="05000000000000000000" pitchFamily="2" charset="2"/>
              <a:buNone/>
              <a:defRPr/>
            </a:pPr>
            <a:r>
              <a:rPr kumimoji="1" lang="zh-CN" altLang="en-US" b="1">
                <a:latin typeface="+mn-ea"/>
                <a:ea typeface="+mn-ea"/>
              </a:rPr>
              <a:t>           自动进行 </a:t>
            </a:r>
            <a:endParaRPr kumimoji="1" lang="zh-CN" altLang="en-US" b="1">
              <a:latin typeface="+mn-ea"/>
              <a:ea typeface="+mn-ea"/>
            </a:endParaRPr>
          </a:p>
        </p:txBody>
      </p:sp>
      <p:sp>
        <p:nvSpPr>
          <p:cNvPr id="98326" name="Rectangle 22"/>
          <p:cNvSpPr>
            <a:spLocks noChangeArrowheads="1"/>
          </p:cNvSpPr>
          <p:nvPr/>
        </p:nvSpPr>
        <p:spPr bwMode="auto">
          <a:xfrm>
            <a:off x="107950" y="3779838"/>
            <a:ext cx="3044825" cy="457200"/>
          </a:xfrm>
          <a:prstGeom prst="rect">
            <a:avLst/>
          </a:prstGeom>
          <a:noFill/>
          <a:ln w="9525">
            <a:noFill/>
            <a:miter lim="800000"/>
          </a:ln>
        </p:spPr>
        <p:txBody>
          <a:bodyPr>
            <a:spAutoFit/>
          </a:bodyPr>
          <a:lstStyle/>
          <a:p>
            <a:pPr>
              <a:buClr>
                <a:srgbClr val="FF0000"/>
              </a:buClr>
              <a:buFont typeface="Wingdings" panose="05000000000000000000" pitchFamily="2" charset="2"/>
              <a:buChar char="Ø"/>
              <a:defRPr/>
            </a:pPr>
            <a:r>
              <a:rPr kumimoji="1" lang="en-US" altLang="zh-CN" b="1">
                <a:latin typeface="+mn-ea"/>
                <a:ea typeface="+mn-ea"/>
              </a:rPr>
              <a:t> </a:t>
            </a:r>
            <a:r>
              <a:rPr kumimoji="1" lang="zh-CN" altLang="en-US" b="1">
                <a:solidFill>
                  <a:srgbClr val="0000FF"/>
                </a:solidFill>
                <a:latin typeface="+mn-ea"/>
                <a:ea typeface="+mn-ea"/>
              </a:rPr>
              <a:t>自由膨胀：  </a:t>
            </a:r>
            <a:endParaRPr kumimoji="1" lang="zh-CN" altLang="en-US" b="1">
              <a:solidFill>
                <a:srgbClr val="0000FF"/>
              </a:solidFill>
              <a:latin typeface="+mn-ea"/>
              <a:ea typeface="+mn-ea"/>
            </a:endParaRPr>
          </a:p>
        </p:txBody>
      </p:sp>
      <p:sp>
        <p:nvSpPr>
          <p:cNvPr id="98327" name="Rectangle 23"/>
          <p:cNvSpPr>
            <a:spLocks noChangeArrowheads="1"/>
          </p:cNvSpPr>
          <p:nvPr/>
        </p:nvSpPr>
        <p:spPr bwMode="auto">
          <a:xfrm>
            <a:off x="2268538" y="3860800"/>
            <a:ext cx="2601912" cy="771525"/>
          </a:xfrm>
          <a:prstGeom prst="rect">
            <a:avLst/>
          </a:prstGeom>
          <a:solidFill>
            <a:srgbClr val="FFFFFF"/>
          </a:solidFill>
          <a:ln w="76200" cap="sq">
            <a:solidFill>
              <a:srgbClr val="B2B2B2"/>
            </a:solidFill>
            <a:miter lim="800000"/>
          </a:ln>
        </p:spPr>
        <p:txBody>
          <a:bodyPr wrap="none" anchor="ctr"/>
          <a:lstStyle/>
          <a:p>
            <a:pPr algn="ctr">
              <a:defRPr/>
            </a:pPr>
            <a:endParaRPr lang="zh-CN" altLang="en-US">
              <a:latin typeface="+mn-ea"/>
              <a:ea typeface="+mn-ea"/>
            </a:endParaRPr>
          </a:p>
        </p:txBody>
      </p:sp>
      <p:sp>
        <p:nvSpPr>
          <p:cNvPr id="98328" name="Rectangle 24" descr="5%"/>
          <p:cNvSpPr>
            <a:spLocks noChangeArrowheads="1"/>
          </p:cNvSpPr>
          <p:nvPr/>
        </p:nvSpPr>
        <p:spPr bwMode="auto">
          <a:xfrm>
            <a:off x="2297113" y="3879850"/>
            <a:ext cx="1190625" cy="722313"/>
          </a:xfrm>
          <a:prstGeom prst="rect">
            <a:avLst/>
          </a:prstGeom>
          <a:pattFill prst="pct5">
            <a:fgClr>
              <a:srgbClr val="000000"/>
            </a:fgClr>
            <a:bgClr>
              <a:srgbClr val="DDDDDD"/>
            </a:bgClr>
          </a:pattFill>
          <a:ln w="12700" cap="sq">
            <a:solidFill>
              <a:schemeClr val="bg2"/>
            </a:solidFill>
            <a:miter lim="800000"/>
            <a:headEnd type="none" w="sm" len="sm"/>
            <a:tailEnd type="none" w="sm" len="sm"/>
          </a:ln>
        </p:spPr>
        <p:txBody>
          <a:bodyPr wrap="none" anchor="ctr"/>
          <a:lstStyle/>
          <a:p>
            <a:pPr algn="ctr">
              <a:defRPr/>
            </a:pPr>
            <a:endParaRPr lang="zh-CN" altLang="en-US">
              <a:latin typeface="+mn-ea"/>
              <a:ea typeface="+mn-ea"/>
            </a:endParaRPr>
          </a:p>
        </p:txBody>
      </p:sp>
      <p:sp>
        <p:nvSpPr>
          <p:cNvPr id="98329" name="Rectangle 25"/>
          <p:cNvSpPr>
            <a:spLocks noChangeArrowheads="1"/>
          </p:cNvSpPr>
          <p:nvPr/>
        </p:nvSpPr>
        <p:spPr bwMode="auto">
          <a:xfrm>
            <a:off x="3487738" y="3898900"/>
            <a:ext cx="122237" cy="685800"/>
          </a:xfrm>
          <a:prstGeom prst="rect">
            <a:avLst/>
          </a:prstGeom>
          <a:solidFill>
            <a:schemeClr val="bg2"/>
          </a:solidFill>
          <a:ln w="12700" cap="sq">
            <a:solidFill>
              <a:schemeClr val="tx2"/>
            </a:solidFill>
            <a:miter lim="800000"/>
            <a:headEnd type="none" w="sm" len="sm"/>
            <a:tailEnd type="none" w="sm" len="sm"/>
          </a:ln>
        </p:spPr>
        <p:txBody>
          <a:bodyPr wrap="none" anchor="ctr"/>
          <a:lstStyle/>
          <a:p>
            <a:pPr algn="ctr">
              <a:defRPr/>
            </a:pPr>
            <a:endParaRPr lang="zh-CN" altLang="en-US">
              <a:latin typeface="+mn-ea"/>
              <a:ea typeface="+mn-ea"/>
            </a:endParaRPr>
          </a:p>
        </p:txBody>
      </p:sp>
      <p:sp>
        <p:nvSpPr>
          <p:cNvPr id="98330" name="Rectangle 26" descr="5%"/>
          <p:cNvSpPr>
            <a:spLocks noChangeArrowheads="1"/>
          </p:cNvSpPr>
          <p:nvPr/>
        </p:nvSpPr>
        <p:spPr bwMode="auto">
          <a:xfrm>
            <a:off x="5765800" y="3860800"/>
            <a:ext cx="2601913" cy="771525"/>
          </a:xfrm>
          <a:prstGeom prst="rect">
            <a:avLst/>
          </a:prstGeom>
          <a:pattFill prst="pct5">
            <a:fgClr>
              <a:schemeClr val="tx1"/>
            </a:fgClr>
            <a:bgClr>
              <a:srgbClr val="FFFFFF"/>
            </a:bgClr>
          </a:pattFill>
          <a:ln w="76200" cap="sq">
            <a:solidFill>
              <a:srgbClr val="B2B2B2"/>
            </a:solidFill>
            <a:miter lim="800000"/>
          </a:ln>
        </p:spPr>
        <p:txBody>
          <a:bodyPr wrap="none" anchor="ctr"/>
          <a:lstStyle/>
          <a:p>
            <a:pPr algn="ctr">
              <a:defRPr/>
            </a:pPr>
            <a:endParaRPr lang="zh-CN" altLang="en-US">
              <a:latin typeface="+mn-ea"/>
              <a:ea typeface="+mn-ea"/>
            </a:endParaRPr>
          </a:p>
        </p:txBody>
      </p:sp>
      <p:sp>
        <p:nvSpPr>
          <p:cNvPr id="98331" name="Line 27"/>
          <p:cNvSpPr>
            <a:spLocks noChangeShapeType="1"/>
          </p:cNvSpPr>
          <p:nvPr/>
        </p:nvSpPr>
        <p:spPr bwMode="auto">
          <a:xfrm>
            <a:off x="4973638" y="4241800"/>
            <a:ext cx="762000" cy="0"/>
          </a:xfrm>
          <a:prstGeom prst="line">
            <a:avLst/>
          </a:prstGeom>
          <a:noFill/>
          <a:ln w="76200">
            <a:solidFill>
              <a:srgbClr val="FF0000"/>
            </a:solidFill>
            <a:round/>
            <a:tailEnd type="triangle" w="med" len="med"/>
          </a:ln>
        </p:spPr>
        <p:txBody>
          <a:bodyPr/>
          <a:lstStyle/>
          <a:p>
            <a:pPr>
              <a:defRPr/>
            </a:pPr>
            <a:endParaRPr lang="zh-CN" altLang="en-US">
              <a:latin typeface="+mn-ea"/>
              <a:ea typeface="+mn-ea"/>
            </a:endParaRPr>
          </a:p>
        </p:txBody>
      </p:sp>
      <p:sp>
        <p:nvSpPr>
          <p:cNvPr id="98332" name="Rectangle 28" descr="5%"/>
          <p:cNvSpPr>
            <a:spLocks noChangeArrowheads="1"/>
          </p:cNvSpPr>
          <p:nvPr/>
        </p:nvSpPr>
        <p:spPr bwMode="auto">
          <a:xfrm>
            <a:off x="2268538" y="5045075"/>
            <a:ext cx="2601912" cy="771525"/>
          </a:xfrm>
          <a:prstGeom prst="rect">
            <a:avLst/>
          </a:prstGeom>
          <a:pattFill prst="pct5">
            <a:fgClr>
              <a:schemeClr val="tx1"/>
            </a:fgClr>
            <a:bgClr>
              <a:srgbClr val="FFFFFF"/>
            </a:bgClr>
          </a:pattFill>
          <a:ln w="76200" cap="sq">
            <a:solidFill>
              <a:srgbClr val="B2B2B2"/>
            </a:solidFill>
            <a:miter lim="800000"/>
          </a:ln>
        </p:spPr>
        <p:txBody>
          <a:bodyPr wrap="none" anchor="ctr"/>
          <a:lstStyle/>
          <a:p>
            <a:pPr algn="ctr">
              <a:defRPr/>
            </a:pPr>
            <a:endParaRPr lang="zh-CN" altLang="en-US">
              <a:latin typeface="+mn-ea"/>
              <a:ea typeface="+mn-ea"/>
            </a:endParaRPr>
          </a:p>
        </p:txBody>
      </p:sp>
      <p:sp>
        <p:nvSpPr>
          <p:cNvPr id="98333" name="Rectangle 29" descr="30%"/>
          <p:cNvSpPr>
            <a:spLocks noChangeArrowheads="1"/>
          </p:cNvSpPr>
          <p:nvPr/>
        </p:nvSpPr>
        <p:spPr bwMode="auto">
          <a:xfrm>
            <a:off x="2297113" y="5064125"/>
            <a:ext cx="1190625" cy="722313"/>
          </a:xfrm>
          <a:prstGeom prst="rect">
            <a:avLst/>
          </a:prstGeom>
          <a:pattFill prst="pct30">
            <a:fgClr>
              <a:srgbClr val="000000"/>
            </a:fgClr>
            <a:bgClr>
              <a:srgbClr val="DDDDDD"/>
            </a:bgClr>
          </a:pattFill>
          <a:ln w="12700" cap="sq">
            <a:solidFill>
              <a:schemeClr val="bg2"/>
            </a:solidFill>
            <a:miter lim="800000"/>
            <a:headEnd type="none" w="sm" len="sm"/>
            <a:tailEnd type="none" w="sm" len="sm"/>
          </a:ln>
        </p:spPr>
        <p:txBody>
          <a:bodyPr wrap="none" anchor="ctr"/>
          <a:lstStyle/>
          <a:p>
            <a:pPr algn="ctr">
              <a:defRPr/>
            </a:pPr>
            <a:endParaRPr lang="zh-CN" altLang="en-US">
              <a:latin typeface="+mn-ea"/>
              <a:ea typeface="+mn-ea"/>
            </a:endParaRPr>
          </a:p>
        </p:txBody>
      </p:sp>
      <p:sp>
        <p:nvSpPr>
          <p:cNvPr id="98334" name="Rectangle 30"/>
          <p:cNvSpPr>
            <a:spLocks noChangeArrowheads="1"/>
          </p:cNvSpPr>
          <p:nvPr/>
        </p:nvSpPr>
        <p:spPr bwMode="auto">
          <a:xfrm>
            <a:off x="3487738" y="5083175"/>
            <a:ext cx="122237" cy="685800"/>
          </a:xfrm>
          <a:prstGeom prst="rect">
            <a:avLst/>
          </a:prstGeom>
          <a:solidFill>
            <a:schemeClr val="bg2"/>
          </a:solidFill>
          <a:ln w="12700" cap="sq">
            <a:solidFill>
              <a:schemeClr val="tx2"/>
            </a:solidFill>
            <a:miter lim="800000"/>
            <a:headEnd type="none" w="sm" len="sm"/>
            <a:tailEnd type="none" w="sm" len="sm"/>
          </a:ln>
        </p:spPr>
        <p:txBody>
          <a:bodyPr wrap="none" anchor="ctr"/>
          <a:lstStyle/>
          <a:p>
            <a:pPr algn="ctr">
              <a:defRPr/>
            </a:pPr>
            <a:endParaRPr lang="zh-CN" altLang="en-US">
              <a:latin typeface="+mn-ea"/>
              <a:ea typeface="+mn-ea"/>
            </a:endParaRPr>
          </a:p>
        </p:txBody>
      </p:sp>
      <p:sp>
        <p:nvSpPr>
          <p:cNvPr id="98335" name="Rectangle 31" descr="大纸屑"/>
          <p:cNvSpPr>
            <a:spLocks noChangeArrowheads="1"/>
          </p:cNvSpPr>
          <p:nvPr/>
        </p:nvSpPr>
        <p:spPr bwMode="auto">
          <a:xfrm>
            <a:off x="5765800" y="5045075"/>
            <a:ext cx="2601913" cy="771525"/>
          </a:xfrm>
          <a:prstGeom prst="rect">
            <a:avLst/>
          </a:prstGeom>
          <a:pattFill prst="lgConfetti">
            <a:fgClr>
              <a:schemeClr val="tx1"/>
            </a:fgClr>
            <a:bgClr>
              <a:srgbClr val="DDDDDD"/>
            </a:bgClr>
          </a:pattFill>
          <a:ln w="76200" cap="sq">
            <a:solidFill>
              <a:srgbClr val="B2B2B2"/>
            </a:solidFill>
            <a:miter lim="800000"/>
          </a:ln>
        </p:spPr>
        <p:txBody>
          <a:bodyPr wrap="none" anchor="ctr"/>
          <a:lstStyle/>
          <a:p>
            <a:pPr algn="ctr">
              <a:defRPr/>
            </a:pPr>
            <a:endParaRPr lang="zh-CN" altLang="en-US">
              <a:latin typeface="+mn-ea"/>
              <a:ea typeface="+mn-ea"/>
            </a:endParaRPr>
          </a:p>
        </p:txBody>
      </p:sp>
      <p:sp>
        <p:nvSpPr>
          <p:cNvPr id="98336" name="Line 32"/>
          <p:cNvSpPr>
            <a:spLocks noChangeShapeType="1"/>
          </p:cNvSpPr>
          <p:nvPr/>
        </p:nvSpPr>
        <p:spPr bwMode="auto">
          <a:xfrm>
            <a:off x="4973638" y="5435600"/>
            <a:ext cx="762000" cy="0"/>
          </a:xfrm>
          <a:prstGeom prst="line">
            <a:avLst/>
          </a:prstGeom>
          <a:noFill/>
          <a:ln w="76200">
            <a:solidFill>
              <a:srgbClr val="FF0000"/>
            </a:solidFill>
            <a:round/>
            <a:tailEnd type="triangle" w="med" len="med"/>
          </a:ln>
        </p:spPr>
        <p:txBody>
          <a:bodyPr/>
          <a:lstStyle/>
          <a:p>
            <a:pPr>
              <a:defRPr/>
            </a:pPr>
            <a:endParaRPr lang="zh-CN" altLang="en-US">
              <a:latin typeface="+mn-ea"/>
              <a:ea typeface="+mn-ea"/>
            </a:endParaRPr>
          </a:p>
        </p:txBody>
      </p:sp>
      <p:sp>
        <p:nvSpPr>
          <p:cNvPr id="98339" name="Rectangle 35"/>
          <p:cNvSpPr>
            <a:spLocks noChangeArrowheads="1"/>
          </p:cNvSpPr>
          <p:nvPr/>
        </p:nvSpPr>
        <p:spPr bwMode="auto">
          <a:xfrm>
            <a:off x="180975" y="4887913"/>
            <a:ext cx="3022600" cy="457200"/>
          </a:xfrm>
          <a:prstGeom prst="rect">
            <a:avLst/>
          </a:prstGeom>
          <a:noFill/>
          <a:ln w="9525">
            <a:noFill/>
            <a:miter lim="800000"/>
          </a:ln>
        </p:spPr>
        <p:txBody>
          <a:bodyPr>
            <a:spAutoFit/>
          </a:bodyPr>
          <a:lstStyle/>
          <a:p>
            <a:pPr>
              <a:buClr>
                <a:srgbClr val="FF0000"/>
              </a:buClr>
              <a:buFont typeface="Wingdings" panose="05000000000000000000" pitchFamily="2" charset="2"/>
              <a:buChar char="Ø"/>
              <a:defRPr/>
            </a:pPr>
            <a:r>
              <a:rPr kumimoji="1" lang="en-US" altLang="zh-CN" b="1">
                <a:solidFill>
                  <a:srgbClr val="CC0000"/>
                </a:solidFill>
                <a:latin typeface="+mn-ea"/>
                <a:ea typeface="+mn-ea"/>
              </a:rPr>
              <a:t> </a:t>
            </a:r>
            <a:r>
              <a:rPr kumimoji="1" lang="zh-CN" altLang="en-US" b="1">
                <a:solidFill>
                  <a:srgbClr val="0000FF"/>
                </a:solidFill>
                <a:latin typeface="+mn-ea"/>
                <a:ea typeface="+mn-ea"/>
              </a:rPr>
              <a:t>扩散过程：  </a:t>
            </a:r>
            <a:endParaRPr kumimoji="1" lang="zh-CN" altLang="en-US" b="1">
              <a:solidFill>
                <a:srgbClr val="0000FF"/>
              </a:solidFill>
              <a:latin typeface="+mn-ea"/>
              <a:ea typeface="+mn-ea"/>
            </a:endParaRPr>
          </a:p>
        </p:txBody>
      </p:sp>
      <p:sp>
        <p:nvSpPr>
          <p:cNvPr id="98340" name="Rectangle 36"/>
          <p:cNvSpPr>
            <a:spLocks noChangeArrowheads="1"/>
          </p:cNvSpPr>
          <p:nvPr/>
        </p:nvSpPr>
        <p:spPr bwMode="auto">
          <a:xfrm>
            <a:off x="1331913" y="6002338"/>
            <a:ext cx="4535487" cy="512762"/>
          </a:xfrm>
          <a:prstGeom prst="rect">
            <a:avLst/>
          </a:prstGeom>
          <a:gradFill rotWithShape="1">
            <a:gsLst>
              <a:gs pos="0">
                <a:srgbClr val="CCFFCC"/>
              </a:gs>
              <a:gs pos="50000">
                <a:schemeClr val="hlink"/>
              </a:gs>
              <a:gs pos="100000">
                <a:srgbClr val="CCFFCC"/>
              </a:gs>
            </a:gsLst>
            <a:lin ang="18900000" scaled="1"/>
          </a:gradFill>
          <a:ln w="9525">
            <a:noFill/>
            <a:miter lim="800000"/>
          </a:ln>
          <a:effectLst/>
        </p:spPr>
        <p:txBody>
          <a:bodyPr>
            <a:spAutoFit/>
          </a:bodyPr>
          <a:lstStyle/>
          <a:p>
            <a:pPr>
              <a:lnSpc>
                <a:spcPct val="115000"/>
              </a:lnSpc>
              <a:defRPr/>
            </a:pPr>
            <a:r>
              <a:rPr kumimoji="1" lang="zh-CN" altLang="en-US" b="1">
                <a:solidFill>
                  <a:srgbClr val="800000"/>
                </a:solidFill>
                <a:latin typeface="+mn-ea"/>
                <a:ea typeface="+mn-ea"/>
              </a:rPr>
              <a:t>一切自发过程都是不可逆过程。</a:t>
            </a:r>
            <a:endParaRPr kumimoji="1" lang="zh-CN" altLang="en-US" b="1">
              <a:solidFill>
                <a:srgbClr val="80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8307"/>
                                        </p:tgtEl>
                                        <p:attrNameLst>
                                          <p:attrName>style.visibility</p:attrName>
                                        </p:attrNameLst>
                                      </p:cBhvr>
                                      <p:to>
                                        <p:strVal val="visible"/>
                                      </p:to>
                                    </p:set>
                                    <p:animEffect transition="in" filter="dissolve">
                                      <p:cBhvr>
                                        <p:cTn id="7" dur="500"/>
                                        <p:tgtEl>
                                          <p:spTgt spid="9830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8306"/>
                                        </p:tgtEl>
                                        <p:attrNameLst>
                                          <p:attrName>style.visibility</p:attrName>
                                        </p:attrNameLst>
                                      </p:cBhvr>
                                      <p:to>
                                        <p:strVal val="visible"/>
                                      </p:to>
                                    </p:set>
                                    <p:animEffect transition="in" filter="wipe(up)">
                                      <p:cBhvr>
                                        <p:cTn id="11" dur="500"/>
                                        <p:tgtEl>
                                          <p:spTgt spid="9830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8320"/>
                                        </p:tgtEl>
                                        <p:attrNameLst>
                                          <p:attrName>style.visibility</p:attrName>
                                        </p:attrNameLst>
                                      </p:cBhvr>
                                      <p:to>
                                        <p:strVal val="visible"/>
                                      </p:to>
                                    </p:set>
                                    <p:animEffect transition="in" filter="wipe(left)">
                                      <p:cBhvr>
                                        <p:cTn id="20" dur="500"/>
                                        <p:tgtEl>
                                          <p:spTgt spid="983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98322"/>
                                        </p:tgtEl>
                                        <p:attrNameLst>
                                          <p:attrName>style.visibility</p:attrName>
                                        </p:attrNameLst>
                                      </p:cBhvr>
                                      <p:to>
                                        <p:strVal val="visible"/>
                                      </p:to>
                                    </p:set>
                                    <p:animEffect transition="in" filter="slide(fromLeft)">
                                      <p:cBhvr>
                                        <p:cTn id="25" dur="500"/>
                                        <p:tgtEl>
                                          <p:spTgt spid="983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98314"/>
                                        </p:tgtEl>
                                        <p:attrNameLst>
                                          <p:attrName>style.visibility</p:attrName>
                                        </p:attrNameLst>
                                      </p:cBhvr>
                                      <p:to>
                                        <p:strVal val="visible"/>
                                      </p:to>
                                    </p:set>
                                    <p:animEffect transition="in" filter="dissolve">
                                      <p:cBhvr>
                                        <p:cTn id="30" dur="500"/>
                                        <p:tgtEl>
                                          <p:spTgt spid="98314"/>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98313"/>
                                        </p:tgtEl>
                                        <p:attrNameLst>
                                          <p:attrName>style.visibility</p:attrName>
                                        </p:attrNameLst>
                                      </p:cBhvr>
                                      <p:to>
                                        <p:strVal val="visible"/>
                                      </p:to>
                                    </p:set>
                                    <p:animEffect transition="in" filter="wipe(left)">
                                      <p:cBhvr>
                                        <p:cTn id="33" dur="500"/>
                                        <p:tgtEl>
                                          <p:spTgt spid="98313"/>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8321"/>
                                        </p:tgtEl>
                                        <p:attrNameLst>
                                          <p:attrName>style.visibility</p:attrName>
                                        </p:attrNameLst>
                                      </p:cBhvr>
                                      <p:to>
                                        <p:strVal val="visible"/>
                                      </p:to>
                                    </p:set>
                                    <p:animEffect transition="in" filter="wipe(left)">
                                      <p:cBhvr>
                                        <p:cTn id="42" dur="500"/>
                                        <p:tgtEl>
                                          <p:spTgt spid="98321"/>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98323"/>
                                        </p:tgtEl>
                                        <p:attrNameLst>
                                          <p:attrName>style.visibility</p:attrName>
                                        </p:attrNameLst>
                                      </p:cBhvr>
                                      <p:to>
                                        <p:strVal val="visible"/>
                                      </p:to>
                                    </p:set>
                                    <p:animEffect transition="in" filter="slide(fromLeft)">
                                      <p:cBhvr>
                                        <p:cTn id="47" dur="500"/>
                                        <p:tgtEl>
                                          <p:spTgt spid="9832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8324"/>
                                        </p:tgtEl>
                                        <p:attrNameLst>
                                          <p:attrName>style.visibility</p:attrName>
                                        </p:attrNameLst>
                                      </p:cBhvr>
                                      <p:to>
                                        <p:strVal val="visible"/>
                                      </p:to>
                                    </p:set>
                                    <p:animEffect transition="in" filter="wipe(left)">
                                      <p:cBhvr>
                                        <p:cTn id="52" dur="500"/>
                                        <p:tgtEl>
                                          <p:spTgt spid="9832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8325"/>
                                        </p:tgtEl>
                                        <p:attrNameLst>
                                          <p:attrName>style.visibility</p:attrName>
                                        </p:attrNameLst>
                                      </p:cBhvr>
                                      <p:to>
                                        <p:strVal val="visible"/>
                                      </p:to>
                                    </p:set>
                                    <p:animEffect transition="in" filter="wipe(left)">
                                      <p:cBhvr>
                                        <p:cTn id="57" dur="500"/>
                                        <p:tgtEl>
                                          <p:spTgt spid="983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98326"/>
                                        </p:tgtEl>
                                        <p:attrNameLst>
                                          <p:attrName>style.visibility</p:attrName>
                                        </p:attrNameLst>
                                      </p:cBhvr>
                                      <p:to>
                                        <p:strVal val="visible"/>
                                      </p:to>
                                    </p:set>
                                    <p:animEffect transition="in" filter="wipe(left)">
                                      <p:cBhvr>
                                        <p:cTn id="62" dur="500"/>
                                        <p:tgtEl>
                                          <p:spTgt spid="9832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98327"/>
                                        </p:tgtEl>
                                        <p:attrNameLst>
                                          <p:attrName>style.visibility</p:attrName>
                                        </p:attrNameLst>
                                      </p:cBhvr>
                                      <p:to>
                                        <p:strVal val="visible"/>
                                      </p:to>
                                    </p:set>
                                    <p:animEffect transition="in" filter="wipe(up)">
                                      <p:cBhvr>
                                        <p:cTn id="67" dur="500"/>
                                        <p:tgtEl>
                                          <p:spTgt spid="98327"/>
                                        </p:tgtEl>
                                      </p:cBhvr>
                                    </p:animEffect>
                                  </p:childTnLst>
                                </p:cTn>
                              </p:par>
                            </p:childTnLst>
                          </p:cTn>
                        </p:par>
                        <p:par>
                          <p:cTn id="68" fill="hold">
                            <p:stCondLst>
                              <p:cond delay="500"/>
                            </p:stCondLst>
                            <p:childTnLst>
                              <p:par>
                                <p:cTn id="69" presetID="22" presetClass="entr" presetSubtype="1" fill="hold" grpId="0" nodeType="afterEffect">
                                  <p:stCondLst>
                                    <p:cond delay="0"/>
                                  </p:stCondLst>
                                  <p:childTnLst>
                                    <p:set>
                                      <p:cBhvr>
                                        <p:cTn id="70" dur="1" fill="hold">
                                          <p:stCondLst>
                                            <p:cond delay="0"/>
                                          </p:stCondLst>
                                        </p:cTn>
                                        <p:tgtEl>
                                          <p:spTgt spid="98329"/>
                                        </p:tgtEl>
                                        <p:attrNameLst>
                                          <p:attrName>style.visibility</p:attrName>
                                        </p:attrNameLst>
                                      </p:cBhvr>
                                      <p:to>
                                        <p:strVal val="visible"/>
                                      </p:to>
                                    </p:set>
                                    <p:animEffect transition="in" filter="wipe(up)">
                                      <p:cBhvr>
                                        <p:cTn id="71" dur="500"/>
                                        <p:tgtEl>
                                          <p:spTgt spid="98329"/>
                                        </p:tgtEl>
                                      </p:cBhvr>
                                    </p:animEffect>
                                  </p:childTnLst>
                                </p:cTn>
                              </p:par>
                            </p:childTnLst>
                          </p:cTn>
                        </p:par>
                        <p:par>
                          <p:cTn id="72" fill="hold">
                            <p:stCondLst>
                              <p:cond delay="1000"/>
                            </p:stCondLst>
                            <p:childTnLst>
                              <p:par>
                                <p:cTn id="73" presetID="22" presetClass="entr" presetSubtype="1" fill="hold" grpId="0" nodeType="afterEffect">
                                  <p:stCondLst>
                                    <p:cond delay="0"/>
                                  </p:stCondLst>
                                  <p:childTnLst>
                                    <p:set>
                                      <p:cBhvr>
                                        <p:cTn id="74" dur="1" fill="hold">
                                          <p:stCondLst>
                                            <p:cond delay="0"/>
                                          </p:stCondLst>
                                        </p:cTn>
                                        <p:tgtEl>
                                          <p:spTgt spid="98328"/>
                                        </p:tgtEl>
                                        <p:attrNameLst>
                                          <p:attrName>style.visibility</p:attrName>
                                        </p:attrNameLst>
                                      </p:cBhvr>
                                      <p:to>
                                        <p:strVal val="visible"/>
                                      </p:to>
                                    </p:set>
                                    <p:animEffect transition="in" filter="wipe(up)">
                                      <p:cBhvr>
                                        <p:cTn id="75" dur="500"/>
                                        <p:tgtEl>
                                          <p:spTgt spid="9832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98331"/>
                                        </p:tgtEl>
                                        <p:attrNameLst>
                                          <p:attrName>style.visibility</p:attrName>
                                        </p:attrNameLst>
                                      </p:cBhvr>
                                      <p:to>
                                        <p:strVal val="visible"/>
                                      </p:to>
                                    </p:set>
                                    <p:animEffect transition="in" filter="wipe(up)">
                                      <p:cBhvr>
                                        <p:cTn id="80" dur="500"/>
                                        <p:tgtEl>
                                          <p:spTgt spid="9833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98330"/>
                                        </p:tgtEl>
                                        <p:attrNameLst>
                                          <p:attrName>style.visibility</p:attrName>
                                        </p:attrNameLst>
                                      </p:cBhvr>
                                      <p:to>
                                        <p:strVal val="visible"/>
                                      </p:to>
                                    </p:set>
                                    <p:animEffect transition="in" filter="wipe(up)">
                                      <p:cBhvr>
                                        <p:cTn id="85" dur="500"/>
                                        <p:tgtEl>
                                          <p:spTgt spid="9833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98339"/>
                                        </p:tgtEl>
                                        <p:attrNameLst>
                                          <p:attrName>style.visibility</p:attrName>
                                        </p:attrNameLst>
                                      </p:cBhvr>
                                      <p:to>
                                        <p:strVal val="visible"/>
                                      </p:to>
                                    </p:set>
                                    <p:animEffect transition="in" filter="wipe(left)">
                                      <p:cBhvr>
                                        <p:cTn id="90" dur="500"/>
                                        <p:tgtEl>
                                          <p:spTgt spid="98339"/>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98332"/>
                                        </p:tgtEl>
                                        <p:attrNameLst>
                                          <p:attrName>style.visibility</p:attrName>
                                        </p:attrNameLst>
                                      </p:cBhvr>
                                      <p:to>
                                        <p:strVal val="visible"/>
                                      </p:to>
                                    </p:set>
                                    <p:animEffect transition="in" filter="wipe(up)">
                                      <p:cBhvr>
                                        <p:cTn id="95" dur="500"/>
                                        <p:tgtEl>
                                          <p:spTgt spid="98332"/>
                                        </p:tgtEl>
                                      </p:cBhvr>
                                    </p:animEffect>
                                  </p:childTnLst>
                                </p:cTn>
                              </p:par>
                            </p:childTnLst>
                          </p:cTn>
                        </p:par>
                        <p:par>
                          <p:cTn id="96" fill="hold">
                            <p:stCondLst>
                              <p:cond delay="500"/>
                            </p:stCondLst>
                            <p:childTnLst>
                              <p:par>
                                <p:cTn id="97" presetID="22" presetClass="entr" presetSubtype="1" fill="hold" grpId="0" nodeType="afterEffect">
                                  <p:stCondLst>
                                    <p:cond delay="0"/>
                                  </p:stCondLst>
                                  <p:childTnLst>
                                    <p:set>
                                      <p:cBhvr>
                                        <p:cTn id="98" dur="1" fill="hold">
                                          <p:stCondLst>
                                            <p:cond delay="0"/>
                                          </p:stCondLst>
                                        </p:cTn>
                                        <p:tgtEl>
                                          <p:spTgt spid="98334"/>
                                        </p:tgtEl>
                                        <p:attrNameLst>
                                          <p:attrName>style.visibility</p:attrName>
                                        </p:attrNameLst>
                                      </p:cBhvr>
                                      <p:to>
                                        <p:strVal val="visible"/>
                                      </p:to>
                                    </p:set>
                                    <p:animEffect transition="in" filter="wipe(up)">
                                      <p:cBhvr>
                                        <p:cTn id="99" dur="500"/>
                                        <p:tgtEl>
                                          <p:spTgt spid="98334"/>
                                        </p:tgtEl>
                                      </p:cBhvr>
                                    </p:animEffect>
                                  </p:childTnLst>
                                </p:cTn>
                              </p:par>
                            </p:childTnLst>
                          </p:cTn>
                        </p:par>
                        <p:par>
                          <p:cTn id="100" fill="hold">
                            <p:stCondLst>
                              <p:cond delay="1000"/>
                            </p:stCondLst>
                            <p:childTnLst>
                              <p:par>
                                <p:cTn id="101" presetID="22" presetClass="entr" presetSubtype="1" fill="hold" grpId="0" nodeType="afterEffect">
                                  <p:stCondLst>
                                    <p:cond delay="0"/>
                                  </p:stCondLst>
                                  <p:childTnLst>
                                    <p:set>
                                      <p:cBhvr>
                                        <p:cTn id="102" dur="1" fill="hold">
                                          <p:stCondLst>
                                            <p:cond delay="0"/>
                                          </p:stCondLst>
                                        </p:cTn>
                                        <p:tgtEl>
                                          <p:spTgt spid="98333"/>
                                        </p:tgtEl>
                                        <p:attrNameLst>
                                          <p:attrName>style.visibility</p:attrName>
                                        </p:attrNameLst>
                                      </p:cBhvr>
                                      <p:to>
                                        <p:strVal val="visible"/>
                                      </p:to>
                                    </p:set>
                                    <p:animEffect transition="in" filter="wipe(up)">
                                      <p:cBhvr>
                                        <p:cTn id="103" dur="500"/>
                                        <p:tgtEl>
                                          <p:spTgt spid="98333"/>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98336"/>
                                        </p:tgtEl>
                                        <p:attrNameLst>
                                          <p:attrName>style.visibility</p:attrName>
                                        </p:attrNameLst>
                                      </p:cBhvr>
                                      <p:to>
                                        <p:strVal val="visible"/>
                                      </p:to>
                                    </p:set>
                                    <p:animEffect transition="in" filter="wipe(up)">
                                      <p:cBhvr>
                                        <p:cTn id="108" dur="500"/>
                                        <p:tgtEl>
                                          <p:spTgt spid="98336"/>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98335"/>
                                        </p:tgtEl>
                                        <p:attrNameLst>
                                          <p:attrName>style.visibility</p:attrName>
                                        </p:attrNameLst>
                                      </p:cBhvr>
                                      <p:to>
                                        <p:strVal val="visible"/>
                                      </p:to>
                                    </p:set>
                                    <p:animEffect transition="in" filter="wipe(up)">
                                      <p:cBhvr>
                                        <p:cTn id="113" dur="500"/>
                                        <p:tgtEl>
                                          <p:spTgt spid="98335"/>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98340"/>
                                        </p:tgtEl>
                                        <p:attrNameLst>
                                          <p:attrName>style.visibility</p:attrName>
                                        </p:attrNameLst>
                                      </p:cBhvr>
                                      <p:to>
                                        <p:strVal val="visible"/>
                                      </p:to>
                                    </p:set>
                                    <p:animEffect transition="in" filter="wipe(left)">
                                      <p:cBhvr>
                                        <p:cTn id="118" dur="500"/>
                                        <p:tgtEl>
                                          <p:spTgt spid="98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utoUpdateAnimBg="0"/>
      <p:bldP spid="98307" grpId="0" animBg="1"/>
      <p:bldP spid="98313" grpId="0" animBg="1"/>
      <p:bldP spid="98314" grpId="0" animBg="1"/>
      <p:bldP spid="98320" grpId="0" autoUpdateAnimBg="0"/>
      <p:bldP spid="98321" grpId="0" autoUpdateAnimBg="0"/>
      <p:bldP spid="98322" grpId="0"/>
      <p:bldP spid="98323" grpId="0"/>
      <p:bldP spid="98324" grpId="0" autoUpdateAnimBg="0"/>
      <p:bldP spid="98325" grpId="0" autoUpdateAnimBg="0"/>
      <p:bldP spid="98326" grpId="0" autoUpdateAnimBg="0"/>
      <p:bldP spid="98327" grpId="0" animBg="1"/>
      <p:bldP spid="98328" grpId="0" animBg="1"/>
      <p:bldP spid="98329" grpId="0" animBg="1"/>
      <p:bldP spid="98330" grpId="0" animBg="1"/>
      <p:bldP spid="98332" grpId="0" animBg="1"/>
      <p:bldP spid="98333" grpId="0" animBg="1"/>
      <p:bldP spid="98334" grpId="0" animBg="1"/>
      <p:bldP spid="98335" grpId="0" animBg="1"/>
      <p:bldP spid="98339" grpId="0" autoUpdateAnimBg="0"/>
      <p:bldP spid="98340"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8" name="Rectangle 4"/>
          <p:cNvSpPr>
            <a:spLocks noChangeArrowheads="1"/>
          </p:cNvSpPr>
          <p:nvPr/>
        </p:nvSpPr>
        <p:spPr bwMode="auto">
          <a:xfrm>
            <a:off x="179388" y="468313"/>
            <a:ext cx="2689225" cy="476250"/>
          </a:xfrm>
          <a:prstGeom prst="rect">
            <a:avLst/>
          </a:prstGeom>
          <a:noFill/>
          <a:ln w="9525" algn="ctr">
            <a:noFill/>
            <a:miter lim="800000"/>
          </a:ln>
        </p:spPr>
        <p:txBody>
          <a:bodyPr>
            <a:spAutoFit/>
          </a:bodyPr>
          <a:lstStyle/>
          <a:p>
            <a:pPr>
              <a:lnSpc>
                <a:spcPct val="120000"/>
              </a:lnSpc>
              <a:defRPr/>
            </a:pPr>
            <a:r>
              <a:rPr lang="zh-CN" altLang="en-US" b="1">
                <a:solidFill>
                  <a:srgbClr val="0000FF"/>
                </a:solidFill>
                <a:latin typeface="+mn-ea"/>
                <a:ea typeface="+mn-ea"/>
              </a:rPr>
              <a:t>通过分析可知：</a:t>
            </a:r>
            <a:endParaRPr lang="zh-CN" altLang="en-US" b="1">
              <a:solidFill>
                <a:srgbClr val="0000FF"/>
              </a:solidFill>
              <a:latin typeface="+mn-ea"/>
              <a:ea typeface="+mn-ea"/>
            </a:endParaRPr>
          </a:p>
        </p:txBody>
      </p:sp>
      <p:sp>
        <p:nvSpPr>
          <p:cNvPr id="251909" name="Text Box 5"/>
          <p:cNvSpPr txBox="1">
            <a:spLocks noChangeArrowheads="1"/>
          </p:cNvSpPr>
          <p:nvPr/>
        </p:nvSpPr>
        <p:spPr bwMode="auto">
          <a:xfrm>
            <a:off x="107950" y="1079500"/>
            <a:ext cx="8785225" cy="1406525"/>
          </a:xfrm>
          <a:prstGeom prst="rect">
            <a:avLst/>
          </a:prstGeom>
          <a:noFill/>
          <a:ln w="9525">
            <a:noFill/>
            <a:miter lim="800000"/>
          </a:ln>
        </p:spPr>
        <p:txBody>
          <a:bodyPr>
            <a:spAutoFit/>
          </a:bodyPr>
          <a:lstStyle/>
          <a:p>
            <a:pPr>
              <a:lnSpc>
                <a:spcPct val="120000"/>
              </a:lnSpc>
              <a:spcBef>
                <a:spcPct val="50000"/>
              </a:spcBef>
              <a:buClr>
                <a:schemeClr val="hlink"/>
              </a:buClr>
              <a:defRPr/>
            </a:pPr>
            <a:r>
              <a:rPr lang="en-US" altLang="zh-CN" b="1">
                <a:latin typeface="+mn-ea"/>
                <a:ea typeface="+mn-ea"/>
              </a:rPr>
              <a:t>    </a:t>
            </a:r>
            <a:r>
              <a:rPr lang="zh-CN" altLang="en-US" b="1">
                <a:latin typeface="+mn-ea"/>
                <a:ea typeface="+mn-ea"/>
              </a:rPr>
              <a:t>自然界中一切与热现象有关的实际宏观过程都涉及功热转化和热传导，而</a:t>
            </a:r>
            <a:r>
              <a:rPr lang="zh-CN" altLang="en-US" b="1">
                <a:solidFill>
                  <a:srgbClr val="FF0000"/>
                </a:solidFill>
                <a:latin typeface="+mn-ea"/>
                <a:ea typeface="+mn-ea"/>
              </a:rPr>
              <a:t>自发过程</a:t>
            </a:r>
            <a:r>
              <a:rPr lang="zh-CN" altLang="en-US" b="1">
                <a:latin typeface="+mn-ea"/>
                <a:ea typeface="+mn-ea"/>
              </a:rPr>
              <a:t>的功热转化和热传导都具有</a:t>
            </a:r>
            <a:r>
              <a:rPr lang="zh-CN" altLang="en-US" b="1">
                <a:solidFill>
                  <a:srgbClr val="CC3300"/>
                </a:solidFill>
                <a:latin typeface="+mn-ea"/>
                <a:ea typeface="+mn-ea"/>
              </a:rPr>
              <a:t>方向性</a:t>
            </a:r>
            <a:r>
              <a:rPr lang="zh-CN" altLang="en-US" b="1">
                <a:latin typeface="+mn-ea"/>
                <a:ea typeface="+mn-ea"/>
              </a:rPr>
              <a:t>，是不可逆的，都是由非平衡态向平衡态的转化。</a:t>
            </a:r>
            <a:endParaRPr lang="zh-CN" altLang="en-US" b="1">
              <a:solidFill>
                <a:srgbClr val="CC3300"/>
              </a:solidFill>
              <a:latin typeface="+mn-ea"/>
              <a:ea typeface="+mn-ea"/>
            </a:endParaRPr>
          </a:p>
        </p:txBody>
      </p:sp>
      <p:sp>
        <p:nvSpPr>
          <p:cNvPr id="251910" name="Text Box 6"/>
          <p:cNvSpPr txBox="1">
            <a:spLocks noChangeArrowheads="1"/>
          </p:cNvSpPr>
          <p:nvPr/>
        </p:nvSpPr>
        <p:spPr bwMode="auto">
          <a:xfrm>
            <a:off x="785813" y="2571750"/>
            <a:ext cx="7489825" cy="476250"/>
          </a:xfrm>
          <a:prstGeom prst="rect">
            <a:avLst/>
          </a:prstGeom>
          <a:solidFill>
            <a:srgbClr val="FFFFFF"/>
          </a:solidFill>
          <a:ln w="9525">
            <a:miter lim="800000"/>
          </a:ln>
          <a:effectLst/>
          <a:scene3d>
            <a:camera prst="legacyObliqueTopRight"/>
            <a:lightRig rig="legacyFlat2" dir="t"/>
          </a:scene3d>
          <a:sp3d extrusionH="36500" prstMaterial="legacyMatte">
            <a:bevelT w="13500" h="13500" prst="angle"/>
            <a:bevelB w="13500" h="13500" prst="angle"/>
            <a:extrusionClr>
              <a:srgbClr val="FFFFFF"/>
            </a:extrusionClr>
          </a:sp3d>
        </p:spPr>
        <p:txBody>
          <a:bodyPr>
            <a:spAutoFit/>
            <a:flatTx/>
          </a:bodyPr>
          <a:lstStyle/>
          <a:p>
            <a:pPr algn="ctr">
              <a:lnSpc>
                <a:spcPct val="120000"/>
              </a:lnSpc>
              <a:spcBef>
                <a:spcPct val="50000"/>
              </a:spcBef>
              <a:buClr>
                <a:schemeClr val="hlink"/>
              </a:buClr>
              <a:defRPr/>
            </a:pPr>
            <a:r>
              <a:rPr lang="zh-CN" altLang="en-US" b="1" dirty="0">
                <a:solidFill>
                  <a:srgbClr val="A50021"/>
                </a:solidFill>
                <a:effectLst>
                  <a:outerShdw blurRad="38100" dist="38100" dir="2700000" algn="tl">
                    <a:srgbClr val="C0C0C0"/>
                  </a:outerShdw>
                </a:effectLst>
                <a:latin typeface="+mn-ea"/>
                <a:ea typeface="+mn-ea"/>
              </a:rPr>
              <a:t>一切与热现象有关的实际宏观过程都是不可逆过程</a:t>
            </a:r>
            <a:r>
              <a:rPr lang="en-US" altLang="zh-CN" b="1" dirty="0">
                <a:solidFill>
                  <a:srgbClr val="A50021"/>
                </a:solidFill>
                <a:effectLst>
                  <a:outerShdw blurRad="38100" dist="38100" dir="2700000" algn="tl">
                    <a:srgbClr val="C0C0C0"/>
                  </a:outerShdw>
                </a:effectLst>
                <a:latin typeface="+mn-ea"/>
                <a:ea typeface="+mn-ea"/>
              </a:rPr>
              <a:t>.</a:t>
            </a:r>
            <a:endParaRPr lang="en-US" altLang="zh-CN" b="1" dirty="0">
              <a:solidFill>
                <a:srgbClr val="A50021"/>
              </a:solidFill>
              <a:effectLst>
                <a:outerShdw blurRad="38100" dist="38100" dir="2700000" algn="tl">
                  <a:srgbClr val="C0C0C0"/>
                </a:outerShdw>
              </a:effectLst>
              <a:latin typeface="+mn-ea"/>
              <a:ea typeface="+mn-ea"/>
            </a:endParaRPr>
          </a:p>
        </p:txBody>
      </p:sp>
      <p:sp>
        <p:nvSpPr>
          <p:cNvPr id="251912" name="Text Box 8"/>
          <p:cNvSpPr txBox="1">
            <a:spLocks noChangeArrowheads="1"/>
          </p:cNvSpPr>
          <p:nvPr/>
        </p:nvSpPr>
        <p:spPr bwMode="auto">
          <a:xfrm>
            <a:off x="107950" y="3476625"/>
            <a:ext cx="3743325" cy="457200"/>
          </a:xfrm>
          <a:prstGeom prst="rect">
            <a:avLst/>
          </a:prstGeom>
          <a:noFill/>
          <a:ln w="9525">
            <a:noFill/>
            <a:miter lim="800000"/>
          </a:ln>
        </p:spPr>
        <p:txBody>
          <a:bodyPr>
            <a:spAutoFit/>
          </a:bodyPr>
          <a:lstStyle/>
          <a:p>
            <a:pPr>
              <a:buFont typeface="Wingdings" panose="05000000000000000000" pitchFamily="2" charset="2"/>
              <a:buNone/>
              <a:defRPr/>
            </a:pPr>
            <a:r>
              <a:rPr kumimoji="1" lang="zh-CN" altLang="en-US" b="1">
                <a:solidFill>
                  <a:srgbClr val="0000FF"/>
                </a:solidFill>
                <a:latin typeface="+mn-ea"/>
                <a:ea typeface="+mn-ea"/>
              </a:rPr>
              <a:t>过程不可逆的原因</a:t>
            </a:r>
            <a:r>
              <a:rPr kumimoji="1" lang="en-US" altLang="zh-CN" b="1">
                <a:solidFill>
                  <a:srgbClr val="0000FF"/>
                </a:solidFill>
                <a:latin typeface="+mn-ea"/>
                <a:ea typeface="+mn-ea"/>
              </a:rPr>
              <a:t>:</a:t>
            </a:r>
            <a:endParaRPr kumimoji="1" lang="en-US" altLang="zh-CN" b="1">
              <a:solidFill>
                <a:srgbClr val="0000FF"/>
              </a:solidFill>
              <a:latin typeface="+mn-ea"/>
              <a:ea typeface="+mn-ea"/>
            </a:endParaRPr>
          </a:p>
        </p:txBody>
      </p:sp>
      <p:sp>
        <p:nvSpPr>
          <p:cNvPr id="251913" name="Text Box 9"/>
          <p:cNvSpPr txBox="1">
            <a:spLocks noChangeArrowheads="1"/>
          </p:cNvSpPr>
          <p:nvPr/>
        </p:nvSpPr>
        <p:spPr bwMode="auto">
          <a:xfrm>
            <a:off x="179388" y="3933825"/>
            <a:ext cx="7969250" cy="534988"/>
          </a:xfrm>
          <a:prstGeom prst="rect">
            <a:avLst/>
          </a:prstGeom>
          <a:noFill/>
          <a:ln w="9525">
            <a:noFill/>
            <a:miter lim="800000"/>
          </a:ln>
        </p:spPr>
        <p:txBody>
          <a:bodyPr>
            <a:spAutoFit/>
          </a:bodyPr>
          <a:lstStyle/>
          <a:p>
            <a:pPr>
              <a:lnSpc>
                <a:spcPct val="120000"/>
              </a:lnSpc>
              <a:buClr>
                <a:schemeClr val="hlink"/>
              </a:buClr>
              <a:defRPr/>
            </a:pPr>
            <a:r>
              <a:rPr lang="en-US" altLang="zh-CN" b="1">
                <a:latin typeface="+mn-ea"/>
                <a:ea typeface="+mn-ea"/>
              </a:rPr>
              <a:t>(1)  </a:t>
            </a:r>
            <a:r>
              <a:rPr lang="zh-CN" altLang="en-US" b="1">
                <a:latin typeface="+mn-ea"/>
                <a:ea typeface="+mn-ea"/>
              </a:rPr>
              <a:t>存在</a:t>
            </a:r>
            <a:r>
              <a:rPr lang="zh-CN" altLang="en-US" b="1">
                <a:solidFill>
                  <a:srgbClr val="FF6600"/>
                </a:solidFill>
                <a:latin typeface="+mn-ea"/>
                <a:ea typeface="+mn-ea"/>
              </a:rPr>
              <a:t>耗散因素</a:t>
            </a:r>
            <a:r>
              <a:rPr lang="zh-CN" altLang="en-US" b="1">
                <a:latin typeface="+mn-ea"/>
                <a:ea typeface="+mn-ea"/>
              </a:rPr>
              <a:t>，如摩擦、黏性力、电阻等。</a:t>
            </a:r>
            <a:endParaRPr lang="zh-CN" altLang="en-US" b="1">
              <a:solidFill>
                <a:srgbClr val="CC3300"/>
              </a:solidFill>
              <a:latin typeface="+mn-ea"/>
              <a:ea typeface="+mn-ea"/>
            </a:endParaRPr>
          </a:p>
        </p:txBody>
      </p:sp>
      <p:sp>
        <p:nvSpPr>
          <p:cNvPr id="251914" name="Text Box 10"/>
          <p:cNvSpPr txBox="1">
            <a:spLocks noChangeArrowheads="1"/>
          </p:cNvSpPr>
          <p:nvPr/>
        </p:nvSpPr>
        <p:spPr bwMode="auto">
          <a:xfrm>
            <a:off x="179388" y="4437063"/>
            <a:ext cx="8640762" cy="979487"/>
          </a:xfrm>
          <a:prstGeom prst="rect">
            <a:avLst/>
          </a:prstGeom>
          <a:noFill/>
          <a:ln w="9525">
            <a:noFill/>
            <a:miter lim="800000"/>
          </a:ln>
        </p:spPr>
        <p:txBody>
          <a:bodyPr>
            <a:spAutoFit/>
          </a:bodyPr>
          <a:lstStyle/>
          <a:p>
            <a:pPr marL="342900" indent="-342900">
              <a:lnSpc>
                <a:spcPct val="120000"/>
              </a:lnSpc>
              <a:buClr>
                <a:schemeClr val="hlink"/>
              </a:buClr>
              <a:defRPr/>
            </a:pPr>
            <a:r>
              <a:rPr lang="en-US" altLang="zh-CN" b="1">
                <a:latin typeface="+mn-ea"/>
                <a:ea typeface="+mn-ea"/>
              </a:rPr>
              <a:t>(2)  </a:t>
            </a:r>
            <a:r>
              <a:rPr lang="zh-CN" altLang="en-US" b="1">
                <a:latin typeface="+mn-ea"/>
                <a:ea typeface="+mn-ea"/>
              </a:rPr>
              <a:t>系统内部出现了</a:t>
            </a:r>
            <a:r>
              <a:rPr lang="zh-CN" altLang="en-US" b="1">
                <a:solidFill>
                  <a:srgbClr val="FF6600"/>
                </a:solidFill>
                <a:latin typeface="+mn-ea"/>
                <a:ea typeface="+mn-ea"/>
              </a:rPr>
              <a:t>非平衡因素</a:t>
            </a:r>
            <a:r>
              <a:rPr lang="zh-CN" altLang="en-US" b="1">
                <a:latin typeface="+mn-ea"/>
                <a:ea typeface="+mn-ea"/>
              </a:rPr>
              <a:t>，如有限的压强差、有限的温  </a:t>
            </a:r>
            <a:endParaRPr lang="zh-CN" altLang="en-US" b="1">
              <a:latin typeface="+mn-ea"/>
              <a:ea typeface="+mn-ea"/>
            </a:endParaRPr>
          </a:p>
          <a:p>
            <a:pPr marL="342900" indent="-342900">
              <a:lnSpc>
                <a:spcPct val="120000"/>
              </a:lnSpc>
              <a:buClr>
                <a:schemeClr val="hlink"/>
              </a:buClr>
              <a:defRPr/>
            </a:pPr>
            <a:r>
              <a:rPr lang="zh-CN" altLang="en-US" b="1">
                <a:latin typeface="+mn-ea"/>
                <a:ea typeface="+mn-ea"/>
              </a:rPr>
              <a:t>        度差、有限的密度差等。</a:t>
            </a:r>
            <a:endParaRPr lang="zh-CN" altLang="en-US" b="1">
              <a:latin typeface="+mn-ea"/>
              <a:ea typeface="+mn-ea"/>
            </a:endParaRPr>
          </a:p>
        </p:txBody>
      </p:sp>
      <p:sp>
        <p:nvSpPr>
          <p:cNvPr id="251915" name="Text Box 11"/>
          <p:cNvSpPr txBox="1">
            <a:spLocks noChangeArrowheads="1"/>
          </p:cNvSpPr>
          <p:nvPr/>
        </p:nvSpPr>
        <p:spPr bwMode="auto">
          <a:xfrm>
            <a:off x="712788" y="5510213"/>
            <a:ext cx="7729537" cy="942975"/>
          </a:xfrm>
          <a:prstGeom prst="rect">
            <a:avLst/>
          </a:prstGeom>
          <a:gradFill rotWithShape="1">
            <a:gsLst>
              <a:gs pos="0">
                <a:srgbClr val="FFCCFF"/>
              </a:gs>
              <a:gs pos="50000">
                <a:srgbClr val="FFFFFF"/>
              </a:gs>
              <a:gs pos="100000">
                <a:srgbClr val="FFCCFF"/>
              </a:gs>
            </a:gsLst>
            <a:lin ang="2700000" scaled="1"/>
          </a:gradFill>
          <a:ln w="9525">
            <a:solidFill>
              <a:srgbClr val="C0C0C0"/>
            </a:solidFill>
            <a:miter lim="800000"/>
          </a:ln>
        </p:spPr>
        <p:txBody>
          <a:bodyPr>
            <a:spAutoFit/>
          </a:bodyPr>
          <a:lstStyle/>
          <a:p>
            <a:pPr algn="ctr">
              <a:lnSpc>
                <a:spcPct val="115000"/>
              </a:lnSpc>
              <a:buClr>
                <a:schemeClr val="hlink"/>
              </a:buClr>
              <a:defRPr/>
            </a:pPr>
            <a:r>
              <a:rPr lang="zh-CN" altLang="en-US" b="1">
                <a:solidFill>
                  <a:srgbClr val="800000"/>
                </a:solidFill>
                <a:latin typeface="+mn-ea"/>
                <a:ea typeface="+mn-ea"/>
              </a:rPr>
              <a:t>判定可逆过程与不可逆过程的关键是看系统和环境是否恢复原状，若有一个不能复原即为不可逆过程。</a:t>
            </a:r>
            <a:endParaRPr lang="zh-CN" altLang="en-US" b="1">
              <a:solidFill>
                <a:srgbClr val="800000"/>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1908"/>
                                        </p:tgtEl>
                                        <p:attrNameLst>
                                          <p:attrName>style.visibility</p:attrName>
                                        </p:attrNameLst>
                                      </p:cBhvr>
                                      <p:to>
                                        <p:strVal val="visible"/>
                                      </p:to>
                                    </p:set>
                                    <p:animEffect transition="in" filter="wipe(left)">
                                      <p:cBhvr>
                                        <p:cTn id="7" dur="1000"/>
                                        <p:tgtEl>
                                          <p:spTgt spid="2519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1909"/>
                                        </p:tgtEl>
                                        <p:attrNameLst>
                                          <p:attrName>style.visibility</p:attrName>
                                        </p:attrNameLst>
                                      </p:cBhvr>
                                      <p:to>
                                        <p:strVal val="visible"/>
                                      </p:to>
                                    </p:set>
                                    <p:animEffect transition="in" filter="wipe(left)">
                                      <p:cBhvr>
                                        <p:cTn id="12" dur="1000"/>
                                        <p:tgtEl>
                                          <p:spTgt spid="25190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1910"/>
                                        </p:tgtEl>
                                        <p:attrNameLst>
                                          <p:attrName>style.visibility</p:attrName>
                                        </p:attrNameLst>
                                      </p:cBhvr>
                                      <p:to>
                                        <p:strVal val="visible"/>
                                      </p:to>
                                    </p:set>
                                    <p:animEffect transition="in" filter="wipe(left)">
                                      <p:cBhvr>
                                        <p:cTn id="17" dur="1000"/>
                                        <p:tgtEl>
                                          <p:spTgt spid="2519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1912"/>
                                        </p:tgtEl>
                                        <p:attrNameLst>
                                          <p:attrName>style.visibility</p:attrName>
                                        </p:attrNameLst>
                                      </p:cBhvr>
                                      <p:to>
                                        <p:strVal val="visible"/>
                                      </p:to>
                                    </p:set>
                                    <p:animEffect transition="in" filter="wipe(left)">
                                      <p:cBhvr>
                                        <p:cTn id="22" dur="1000"/>
                                        <p:tgtEl>
                                          <p:spTgt spid="2519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1913"/>
                                        </p:tgtEl>
                                        <p:attrNameLst>
                                          <p:attrName>style.visibility</p:attrName>
                                        </p:attrNameLst>
                                      </p:cBhvr>
                                      <p:to>
                                        <p:strVal val="visible"/>
                                      </p:to>
                                    </p:set>
                                    <p:animEffect transition="in" filter="wipe(left)">
                                      <p:cBhvr>
                                        <p:cTn id="27" dur="1000"/>
                                        <p:tgtEl>
                                          <p:spTgt spid="2519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1914"/>
                                        </p:tgtEl>
                                        <p:attrNameLst>
                                          <p:attrName>style.visibility</p:attrName>
                                        </p:attrNameLst>
                                      </p:cBhvr>
                                      <p:to>
                                        <p:strVal val="visible"/>
                                      </p:to>
                                    </p:set>
                                    <p:animEffect transition="in" filter="wipe(left)">
                                      <p:cBhvr>
                                        <p:cTn id="32" dur="1000"/>
                                        <p:tgtEl>
                                          <p:spTgt spid="2519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1915"/>
                                        </p:tgtEl>
                                        <p:attrNameLst>
                                          <p:attrName>style.visibility</p:attrName>
                                        </p:attrNameLst>
                                      </p:cBhvr>
                                      <p:to>
                                        <p:strVal val="visible"/>
                                      </p:to>
                                    </p:set>
                                    <p:animEffect transition="in" filter="wipe(left)">
                                      <p:cBhvr>
                                        <p:cTn id="37" dur="1000"/>
                                        <p:tgtEl>
                                          <p:spTgt spid="251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8" grpId="0"/>
      <p:bldP spid="251909" grpId="0"/>
      <p:bldP spid="251910" grpId="0" animBg="1"/>
      <p:bldP spid="251912" grpId="0"/>
      <p:bldP spid="251913" grpId="0"/>
      <p:bldP spid="251914" grpId="0"/>
      <p:bldP spid="25191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214313" y="1000125"/>
            <a:ext cx="4000500" cy="461963"/>
          </a:xfrm>
          <a:prstGeom prst="rect">
            <a:avLst/>
          </a:prstGeom>
          <a:noFill/>
          <a:ln w="9525">
            <a:noFill/>
            <a:miter lim="800000"/>
          </a:ln>
        </p:spPr>
        <p:txBody>
          <a:bodyPr>
            <a:spAutoFit/>
          </a:bodyPr>
          <a:lstStyle/>
          <a:p>
            <a:r>
              <a:rPr kumimoji="1" lang="en-US" altLang="zh-CN" b="1">
                <a:solidFill>
                  <a:srgbClr val="FF0000"/>
                </a:solidFill>
              </a:rPr>
              <a:t>1</a:t>
            </a:r>
            <a:r>
              <a:rPr kumimoji="1" lang="zh-CN" altLang="en-US" b="1">
                <a:solidFill>
                  <a:srgbClr val="FF0000"/>
                </a:solidFill>
              </a:rPr>
              <a:t>、克劳修斯表述（</a:t>
            </a:r>
            <a:r>
              <a:rPr kumimoji="1" lang="en-US" altLang="zh-CN" b="1">
                <a:solidFill>
                  <a:srgbClr val="FF0000"/>
                </a:solidFill>
              </a:rPr>
              <a:t>1850</a:t>
            </a:r>
            <a:r>
              <a:rPr kumimoji="1" lang="zh-CN" altLang="en-US" b="1">
                <a:solidFill>
                  <a:srgbClr val="FF0000"/>
                </a:solidFill>
              </a:rPr>
              <a:t>）</a:t>
            </a:r>
            <a:endParaRPr kumimoji="1" lang="zh-CN" altLang="en-US" b="1">
              <a:solidFill>
                <a:srgbClr val="FF0000"/>
              </a:solidFill>
            </a:endParaRPr>
          </a:p>
        </p:txBody>
      </p:sp>
      <p:sp>
        <p:nvSpPr>
          <p:cNvPr id="105475" name="Text Box 3"/>
          <p:cNvSpPr txBox="1">
            <a:spLocks noChangeArrowheads="1"/>
          </p:cNvSpPr>
          <p:nvPr/>
        </p:nvSpPr>
        <p:spPr bwMode="auto">
          <a:xfrm>
            <a:off x="571500" y="1500188"/>
            <a:ext cx="6192838" cy="457200"/>
          </a:xfrm>
          <a:prstGeom prst="rect">
            <a:avLst/>
          </a:prstGeom>
          <a:noFill/>
          <a:ln w="9525" algn="ctr">
            <a:noFill/>
            <a:miter lim="800000"/>
          </a:ln>
        </p:spPr>
        <p:txBody>
          <a:bodyPr>
            <a:spAutoFit/>
          </a:bodyPr>
          <a:lstStyle/>
          <a:p>
            <a:r>
              <a:rPr kumimoji="1" lang="zh-CN" altLang="en-US" b="1"/>
              <a:t>热量不能</a:t>
            </a:r>
            <a:r>
              <a:rPr kumimoji="1" lang="zh-CN" altLang="en-US" b="1">
                <a:solidFill>
                  <a:srgbClr val="FF0000"/>
                </a:solidFill>
              </a:rPr>
              <a:t>自动地</a:t>
            </a:r>
            <a:r>
              <a:rPr kumimoji="1" lang="zh-CN" altLang="en-US" b="1"/>
              <a:t>从低温物体传向高温物体 </a:t>
            </a:r>
            <a:endParaRPr kumimoji="1" lang="zh-CN" altLang="en-US" b="1"/>
          </a:p>
        </p:txBody>
      </p:sp>
      <p:graphicFrame>
        <p:nvGraphicFramePr>
          <p:cNvPr id="105476" name="Object 4"/>
          <p:cNvGraphicFramePr>
            <a:graphicFrameLocks noChangeAspect="1"/>
          </p:cNvGraphicFramePr>
          <p:nvPr/>
        </p:nvGraphicFramePr>
        <p:xfrm>
          <a:off x="2428875" y="2428875"/>
          <a:ext cx="2016125" cy="977900"/>
        </p:xfrm>
        <a:graphic>
          <a:graphicData uri="http://schemas.openxmlformats.org/presentationml/2006/ole">
            <mc:AlternateContent xmlns:mc="http://schemas.openxmlformats.org/markup-compatibility/2006">
              <mc:Choice xmlns:v="urn:schemas-microsoft-com:vml" Requires="v">
                <p:oleObj spid="_x0000_s65537" name="公式" r:id="rId1" imgW="19507200" imgH="9448800" progId="Equation.3">
                  <p:embed/>
                </p:oleObj>
              </mc:Choice>
              <mc:Fallback>
                <p:oleObj name="公式" r:id="rId1" imgW="19507200" imgH="9448800" progId="Equation.3">
                  <p:embed/>
                  <p:pic>
                    <p:nvPicPr>
                      <p:cNvPr id="0" name="Object 4"/>
                      <p:cNvPicPr>
                        <a:picLocks noChangeAspect="1"/>
                      </p:cNvPicPr>
                      <p:nvPr/>
                    </p:nvPicPr>
                    <p:blipFill>
                      <a:blip r:embed="rId2"/>
                      <a:stretch>
                        <a:fillRect/>
                      </a:stretch>
                    </p:blipFill>
                    <p:spPr>
                      <a:xfrm>
                        <a:off x="2428875" y="2428875"/>
                        <a:ext cx="2016125" cy="977900"/>
                      </a:xfrm>
                      <a:prstGeom prst="rect">
                        <a:avLst/>
                      </a:prstGeom>
                      <a:noFill/>
                      <a:ln w="9525">
                        <a:noFill/>
                      </a:ln>
                    </p:spPr>
                  </p:pic>
                </p:oleObj>
              </mc:Fallback>
            </mc:AlternateContent>
          </a:graphicData>
        </a:graphic>
      </p:graphicFrame>
      <p:sp>
        <p:nvSpPr>
          <p:cNvPr id="105477" name="Line 5"/>
          <p:cNvSpPr>
            <a:spLocks noChangeShapeType="1"/>
          </p:cNvSpPr>
          <p:nvPr/>
        </p:nvSpPr>
        <p:spPr bwMode="auto">
          <a:xfrm>
            <a:off x="3786188" y="2857500"/>
            <a:ext cx="130175" cy="193675"/>
          </a:xfrm>
          <a:prstGeom prst="line">
            <a:avLst/>
          </a:prstGeom>
          <a:noFill/>
          <a:ln w="38100">
            <a:solidFill>
              <a:srgbClr val="FF0000"/>
            </a:solidFill>
            <a:round/>
          </a:ln>
        </p:spPr>
        <p:txBody>
          <a:bodyPr/>
          <a:lstStyle/>
          <a:p>
            <a:endParaRPr lang="zh-CN" altLang="en-US"/>
          </a:p>
        </p:txBody>
      </p:sp>
      <p:sp>
        <p:nvSpPr>
          <p:cNvPr id="105478" name="Text Box 6"/>
          <p:cNvSpPr txBox="1">
            <a:spLocks noChangeArrowheads="1"/>
          </p:cNvSpPr>
          <p:nvPr/>
        </p:nvSpPr>
        <p:spPr bwMode="auto">
          <a:xfrm>
            <a:off x="1765300" y="2101850"/>
            <a:ext cx="3959225" cy="457200"/>
          </a:xfrm>
          <a:prstGeom prst="rect">
            <a:avLst/>
          </a:prstGeom>
          <a:noFill/>
          <a:ln w="9525">
            <a:noFill/>
            <a:miter lim="800000"/>
          </a:ln>
        </p:spPr>
        <p:txBody>
          <a:bodyPr>
            <a:spAutoFit/>
          </a:bodyPr>
          <a:lstStyle/>
          <a:p>
            <a:pPr marL="342900" indent="-342900"/>
            <a:r>
              <a:rPr kumimoji="1" lang="zh-CN" altLang="en-US" b="1">
                <a:solidFill>
                  <a:srgbClr val="FF6600"/>
                </a:solidFill>
              </a:rPr>
              <a:t>理想制冷机不可能制成</a:t>
            </a:r>
            <a:endParaRPr kumimoji="1" lang="zh-CN" altLang="en-US" b="1">
              <a:solidFill>
                <a:srgbClr val="FF6600"/>
              </a:solidFill>
            </a:endParaRPr>
          </a:p>
        </p:txBody>
      </p:sp>
      <p:sp>
        <p:nvSpPr>
          <p:cNvPr id="105479" name="AutoShape 7"/>
          <p:cNvSpPr>
            <a:spLocks noChangeArrowheads="1"/>
          </p:cNvSpPr>
          <p:nvPr/>
        </p:nvSpPr>
        <p:spPr bwMode="auto">
          <a:xfrm>
            <a:off x="757238" y="2246313"/>
            <a:ext cx="792162" cy="144462"/>
          </a:xfrm>
          <a:prstGeom prst="rightArrow">
            <a:avLst>
              <a:gd name="adj1" fmla="val 50000"/>
              <a:gd name="adj2" fmla="val 137088"/>
            </a:avLst>
          </a:prstGeom>
          <a:solidFill>
            <a:schemeClr val="accent1"/>
          </a:solidFill>
          <a:ln w="9525">
            <a:solidFill>
              <a:schemeClr val="tx1"/>
            </a:solidFill>
            <a:miter lim="800000"/>
          </a:ln>
        </p:spPr>
        <p:txBody>
          <a:bodyPr wrap="none" anchor="ctr"/>
          <a:lstStyle/>
          <a:p>
            <a:pPr algn="ctr"/>
            <a:endParaRPr lang="zh-CN" altLang="en-US" b="1"/>
          </a:p>
        </p:txBody>
      </p:sp>
      <p:sp>
        <p:nvSpPr>
          <p:cNvPr id="105480" name="AutoShape 8"/>
          <p:cNvSpPr>
            <a:spLocks noChangeArrowheads="1"/>
          </p:cNvSpPr>
          <p:nvPr/>
        </p:nvSpPr>
        <p:spPr bwMode="auto">
          <a:xfrm>
            <a:off x="817563" y="3717925"/>
            <a:ext cx="1150937" cy="144463"/>
          </a:xfrm>
          <a:prstGeom prst="rightArrow">
            <a:avLst>
              <a:gd name="adj1" fmla="val 50000"/>
              <a:gd name="adj2" fmla="val 199175"/>
            </a:avLst>
          </a:prstGeom>
          <a:solidFill>
            <a:srgbClr val="3333CC"/>
          </a:solidFill>
          <a:ln w="9525">
            <a:solidFill>
              <a:schemeClr val="tx1"/>
            </a:solidFill>
            <a:miter lim="800000"/>
          </a:ln>
        </p:spPr>
        <p:txBody>
          <a:bodyPr wrap="none" anchor="ctr"/>
          <a:lstStyle/>
          <a:p>
            <a:pPr algn="ctr"/>
            <a:endParaRPr lang="zh-CN" altLang="en-US" b="1"/>
          </a:p>
        </p:txBody>
      </p:sp>
      <p:sp>
        <p:nvSpPr>
          <p:cNvPr id="105481" name="Text Box 9"/>
          <p:cNvSpPr txBox="1">
            <a:spLocks noChangeArrowheads="1"/>
          </p:cNvSpPr>
          <p:nvPr/>
        </p:nvSpPr>
        <p:spPr bwMode="auto">
          <a:xfrm>
            <a:off x="2052638" y="3502025"/>
            <a:ext cx="2797175" cy="457200"/>
          </a:xfrm>
          <a:prstGeom prst="rect">
            <a:avLst/>
          </a:prstGeom>
          <a:noFill/>
          <a:ln w="9525">
            <a:noFill/>
            <a:miter lim="800000"/>
          </a:ln>
        </p:spPr>
        <p:txBody>
          <a:bodyPr>
            <a:spAutoFit/>
          </a:bodyPr>
          <a:lstStyle/>
          <a:p>
            <a:r>
              <a:rPr kumimoji="1" lang="zh-CN" altLang="en-US" b="1">
                <a:solidFill>
                  <a:srgbClr val="FF6600"/>
                </a:solidFill>
              </a:rPr>
              <a:t>热传递的方向性</a:t>
            </a:r>
            <a:endParaRPr kumimoji="1" lang="zh-CN" altLang="en-US" b="1">
              <a:solidFill>
                <a:srgbClr val="FF6600"/>
              </a:solidFill>
            </a:endParaRPr>
          </a:p>
        </p:txBody>
      </p:sp>
      <p:sp>
        <p:nvSpPr>
          <p:cNvPr id="105482" name="Text Box 10"/>
          <p:cNvSpPr txBox="1">
            <a:spLocks noChangeArrowheads="1"/>
          </p:cNvSpPr>
          <p:nvPr/>
        </p:nvSpPr>
        <p:spPr bwMode="auto">
          <a:xfrm>
            <a:off x="868363" y="3286125"/>
            <a:ext cx="796925" cy="457200"/>
          </a:xfrm>
          <a:prstGeom prst="rect">
            <a:avLst/>
          </a:prstGeom>
          <a:noFill/>
          <a:ln w="9525">
            <a:noFill/>
            <a:miter lim="800000"/>
          </a:ln>
        </p:spPr>
        <p:txBody>
          <a:bodyPr wrap="none">
            <a:spAutoFit/>
          </a:bodyPr>
          <a:lstStyle/>
          <a:p>
            <a:r>
              <a:rPr lang="zh-CN" altLang="en-US" b="1">
                <a:solidFill>
                  <a:srgbClr val="FF0000"/>
                </a:solidFill>
              </a:rPr>
              <a:t>实质</a:t>
            </a:r>
            <a:endParaRPr lang="zh-CN" altLang="en-US" b="1">
              <a:solidFill>
                <a:srgbClr val="FF0000"/>
              </a:solidFill>
            </a:endParaRPr>
          </a:p>
        </p:txBody>
      </p:sp>
      <p:grpSp>
        <p:nvGrpSpPr>
          <p:cNvPr id="2" name="Group 11"/>
          <p:cNvGrpSpPr/>
          <p:nvPr/>
        </p:nvGrpSpPr>
        <p:grpSpPr bwMode="auto">
          <a:xfrm>
            <a:off x="6429375" y="642938"/>
            <a:ext cx="2233613" cy="3306762"/>
            <a:chOff x="3923" y="1842"/>
            <a:chExt cx="1340" cy="2054"/>
          </a:xfrm>
        </p:grpSpPr>
        <p:pic>
          <p:nvPicPr>
            <p:cNvPr id="65554" name="Picture 12" descr="克劳修斯"/>
            <p:cNvPicPr>
              <a:picLocks noChangeAspect="1" noChangeArrowheads="1"/>
            </p:cNvPicPr>
            <p:nvPr/>
          </p:nvPicPr>
          <p:blipFill>
            <a:blip r:embed="rId3"/>
            <a:srcRect/>
            <a:stretch>
              <a:fillRect/>
            </a:stretch>
          </p:blipFill>
          <p:spPr bwMode="auto">
            <a:xfrm>
              <a:off x="4105" y="1842"/>
              <a:ext cx="1158" cy="1679"/>
            </a:xfrm>
            <a:prstGeom prst="rect">
              <a:avLst/>
            </a:prstGeom>
            <a:noFill/>
            <a:ln w="9525">
              <a:noFill/>
              <a:miter lim="800000"/>
              <a:headEnd/>
              <a:tailEnd/>
            </a:ln>
          </p:spPr>
        </p:pic>
        <p:sp>
          <p:nvSpPr>
            <p:cNvPr id="65555" name="Text Box 13"/>
            <p:cNvSpPr txBox="1">
              <a:spLocks noChangeArrowheads="1"/>
            </p:cNvSpPr>
            <p:nvPr/>
          </p:nvSpPr>
          <p:spPr bwMode="auto">
            <a:xfrm>
              <a:off x="3923" y="3612"/>
              <a:ext cx="1316" cy="284"/>
            </a:xfrm>
            <a:prstGeom prst="rect">
              <a:avLst/>
            </a:prstGeom>
            <a:noFill/>
            <a:ln w="9525">
              <a:noFill/>
              <a:miter lim="800000"/>
            </a:ln>
          </p:spPr>
          <p:txBody>
            <a:bodyPr>
              <a:spAutoFit/>
            </a:bodyPr>
            <a:lstStyle/>
            <a:p>
              <a:r>
                <a:rPr kumimoji="1" lang="en-US" altLang="zh-CN" b="1"/>
                <a:t>   </a:t>
              </a:r>
              <a:r>
                <a:rPr kumimoji="1" lang="zh-CN" altLang="en-US" b="1"/>
                <a:t>（</a:t>
              </a:r>
              <a:r>
                <a:rPr kumimoji="1" lang="en-US" altLang="zh-CN" b="1"/>
                <a:t>1822~1888</a:t>
              </a:r>
              <a:r>
                <a:rPr kumimoji="1" lang="zh-CN" altLang="en-US" b="1"/>
                <a:t>）</a:t>
              </a:r>
              <a:endParaRPr kumimoji="1" lang="zh-CN" altLang="en-US" b="1"/>
            </a:p>
          </p:txBody>
        </p:sp>
      </p:grpSp>
      <p:sp>
        <p:nvSpPr>
          <p:cNvPr id="64524" name="Text Box 4"/>
          <p:cNvSpPr txBox="1">
            <a:spLocks noChangeArrowheads="1"/>
          </p:cNvSpPr>
          <p:nvPr/>
        </p:nvSpPr>
        <p:spPr bwMode="auto">
          <a:xfrm>
            <a:off x="214313" y="500063"/>
            <a:ext cx="6769100" cy="457200"/>
          </a:xfrm>
          <a:prstGeom prst="rect">
            <a:avLst/>
          </a:prstGeom>
          <a:noFill/>
          <a:ln w="12700" cap="sq">
            <a:noFill/>
            <a:miter lim="800000"/>
            <a:headEnd type="none" w="sm" len="sm"/>
            <a:tailEnd type="none" w="sm" len="sm"/>
          </a:ln>
        </p:spPr>
        <p:txBody>
          <a:bodyPr>
            <a:spAutoFit/>
          </a:bodyPr>
          <a:lstStyle/>
          <a:p>
            <a:r>
              <a:rPr kumimoji="1" lang="en-US" altLang="zh-CN" b="1">
                <a:solidFill>
                  <a:srgbClr val="0000FF"/>
                </a:solidFill>
              </a:rPr>
              <a:t>7.5.2 </a:t>
            </a:r>
            <a:r>
              <a:rPr kumimoji="1" lang="zh-CN" altLang="en-US" b="1">
                <a:solidFill>
                  <a:srgbClr val="0000FF"/>
                </a:solidFill>
                <a:latin typeface="Arial" panose="020B0604020202020204" pitchFamily="34" charset="0"/>
              </a:rPr>
              <a:t>热力学第二定律的两种表述</a:t>
            </a:r>
            <a:r>
              <a:rPr kumimoji="1" lang="zh-CN" altLang="en-US">
                <a:solidFill>
                  <a:srgbClr val="0000FF"/>
                </a:solidFill>
                <a:latin typeface="Arial" panose="020B0604020202020204" pitchFamily="34" charset="0"/>
              </a:rPr>
              <a:t> </a:t>
            </a:r>
            <a:endParaRPr kumimoji="1" lang="zh-CN" altLang="en-US">
              <a:solidFill>
                <a:srgbClr val="0000FF"/>
              </a:solidFill>
              <a:latin typeface="Arial" panose="020B0604020202020204" pitchFamily="34" charset="0"/>
            </a:endParaRPr>
          </a:p>
        </p:txBody>
      </p:sp>
      <p:sp>
        <p:nvSpPr>
          <p:cNvPr id="18" name="Rectangle 18"/>
          <p:cNvSpPr>
            <a:spLocks noChangeArrowheads="1"/>
          </p:cNvSpPr>
          <p:nvPr/>
        </p:nvSpPr>
        <p:spPr bwMode="auto">
          <a:xfrm>
            <a:off x="757238" y="4037013"/>
            <a:ext cx="1800225" cy="512762"/>
          </a:xfrm>
          <a:prstGeom prst="rect">
            <a:avLst/>
          </a:prstGeom>
          <a:noFill/>
          <a:ln w="9525" algn="ctr">
            <a:noFill/>
            <a:miter lim="800000"/>
          </a:ln>
        </p:spPr>
        <p:txBody>
          <a:bodyPr>
            <a:spAutoFit/>
          </a:bodyPr>
          <a:lstStyle/>
          <a:p>
            <a:pPr>
              <a:lnSpc>
                <a:spcPct val="115000"/>
              </a:lnSpc>
              <a:buClr>
                <a:srgbClr val="CC0000"/>
              </a:buClr>
              <a:buFont typeface="Wingdings" panose="05000000000000000000" pitchFamily="2" charset="2"/>
              <a:buNone/>
            </a:pPr>
            <a:r>
              <a:rPr lang="zh-CN" altLang="en-US" b="1">
                <a:solidFill>
                  <a:srgbClr val="FF6600"/>
                </a:solidFill>
              </a:rPr>
              <a:t>说明</a:t>
            </a:r>
            <a:endParaRPr lang="zh-CN" altLang="en-US" b="1">
              <a:solidFill>
                <a:srgbClr val="FF6600"/>
              </a:solidFill>
            </a:endParaRPr>
          </a:p>
        </p:txBody>
      </p:sp>
      <p:sp>
        <p:nvSpPr>
          <p:cNvPr id="19" name="AutoShape 19"/>
          <p:cNvSpPr>
            <a:spLocks noChangeArrowheads="1"/>
          </p:cNvSpPr>
          <p:nvPr/>
        </p:nvSpPr>
        <p:spPr bwMode="auto">
          <a:xfrm>
            <a:off x="363538" y="4037013"/>
            <a:ext cx="360362"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sp>
        <p:nvSpPr>
          <p:cNvPr id="20" name="Rectangle 20"/>
          <p:cNvSpPr>
            <a:spLocks noChangeArrowheads="1"/>
          </p:cNvSpPr>
          <p:nvPr/>
        </p:nvSpPr>
        <p:spPr bwMode="auto">
          <a:xfrm>
            <a:off x="714375" y="4429125"/>
            <a:ext cx="7559675" cy="457200"/>
          </a:xfrm>
          <a:prstGeom prst="rect">
            <a:avLst/>
          </a:prstGeom>
          <a:noFill/>
          <a:ln w="9525">
            <a:noFill/>
            <a:miter lim="800000"/>
          </a:ln>
        </p:spPr>
        <p:txBody>
          <a:bodyPr>
            <a:spAutoFit/>
          </a:bodyPr>
          <a:lstStyle/>
          <a:p>
            <a:pPr>
              <a:defRPr/>
            </a:pPr>
            <a:r>
              <a:rPr kumimoji="1" lang="en-US" altLang="zh-CN" b="1" dirty="0">
                <a:ea typeface="楷体_GB2312" pitchFamily="49" charset="-122"/>
              </a:rPr>
              <a:t>(1) </a:t>
            </a:r>
            <a:r>
              <a:rPr kumimoji="1" lang="zh-CN" altLang="en-US" b="1" dirty="0">
                <a:latin typeface="+mn-ea"/>
                <a:ea typeface="+mn-ea"/>
              </a:rPr>
              <a:t>热量可以从低温物体传向高温物体 </a:t>
            </a:r>
            <a:r>
              <a:rPr kumimoji="1" lang="en-US" altLang="zh-CN" b="1" dirty="0">
                <a:latin typeface="+mn-ea"/>
                <a:ea typeface="+mn-ea"/>
              </a:rPr>
              <a:t>(</a:t>
            </a:r>
            <a:r>
              <a:rPr kumimoji="1" lang="zh-CN" altLang="en-US" b="1" dirty="0">
                <a:latin typeface="+mn-ea"/>
                <a:ea typeface="+mn-ea"/>
              </a:rPr>
              <a:t>致冷机</a:t>
            </a:r>
            <a:r>
              <a:rPr kumimoji="1" lang="en-US" altLang="zh-CN" b="1" dirty="0">
                <a:latin typeface="+mn-ea"/>
                <a:ea typeface="+mn-ea"/>
              </a:rPr>
              <a:t>)</a:t>
            </a:r>
            <a:r>
              <a:rPr kumimoji="1" lang="zh-CN" altLang="en-US" b="1" dirty="0">
                <a:latin typeface="+mn-ea"/>
                <a:ea typeface="+mn-ea"/>
              </a:rPr>
              <a:t>。</a:t>
            </a:r>
            <a:endParaRPr kumimoji="1" lang="zh-CN" altLang="en-US" b="1" dirty="0">
              <a:latin typeface="+mn-ea"/>
              <a:ea typeface="+mn-ea"/>
            </a:endParaRPr>
          </a:p>
        </p:txBody>
      </p:sp>
      <p:sp>
        <p:nvSpPr>
          <p:cNvPr id="21" name="Text Box 14">
            <a:hlinkClick r:id="rId4" action="ppaction://hlinksldjump"/>
          </p:cNvPr>
          <p:cNvSpPr txBox="1">
            <a:spLocks noChangeArrowheads="1"/>
          </p:cNvSpPr>
          <p:nvPr/>
        </p:nvSpPr>
        <p:spPr bwMode="auto">
          <a:xfrm>
            <a:off x="922338" y="5532438"/>
            <a:ext cx="7007225" cy="968375"/>
          </a:xfrm>
          <a:prstGeom prst="rect">
            <a:avLst/>
          </a:prstGeom>
          <a:noFill/>
          <a:ln w="9525">
            <a:noFill/>
            <a:miter lim="800000"/>
          </a:ln>
          <a:effectLst/>
        </p:spPr>
        <p:txBody>
          <a:bodyPr>
            <a:spAutoFit/>
          </a:bodyPr>
          <a:lstStyle/>
          <a:p>
            <a:pPr>
              <a:lnSpc>
                <a:spcPct val="120000"/>
              </a:lnSpc>
              <a:spcBef>
                <a:spcPct val="50000"/>
              </a:spcBef>
              <a:buClr>
                <a:schemeClr val="hlink"/>
              </a:buClr>
              <a:defRPr/>
            </a:pPr>
            <a:r>
              <a:rPr lang="zh-CN" altLang="en-US" b="1">
                <a:latin typeface="Garamond" panose="02020404030301010803" pitchFamily="18" charset="0"/>
              </a:rPr>
              <a:t>它对有限范围的宏观过程是成立的，但不适用于少量分子的微观体系，也不能把它推广到无限的宇宙</a:t>
            </a:r>
            <a:r>
              <a:rPr lang="zh-CN" altLang="en-US" b="1">
                <a:effectLst>
                  <a:outerShdw blurRad="38100" dist="38100" dir="2700000" algn="tl">
                    <a:srgbClr val="C0C0C0"/>
                  </a:outerShdw>
                </a:effectLst>
                <a:latin typeface="Garamond" panose="02020404030301010803" pitchFamily="18" charset="0"/>
              </a:rPr>
              <a:t>。</a:t>
            </a:r>
            <a:endParaRPr lang="zh-CN" altLang="en-US" b="1">
              <a:effectLst>
                <a:outerShdw blurRad="38100" dist="38100" dir="2700000" algn="tl">
                  <a:srgbClr val="C0C0C0"/>
                </a:outerShdw>
              </a:effectLst>
              <a:latin typeface="Garamond" panose="02020404030301010803" pitchFamily="18" charset="0"/>
            </a:endParaRPr>
          </a:p>
        </p:txBody>
      </p:sp>
      <p:sp>
        <p:nvSpPr>
          <p:cNvPr id="22" name="Text Box 16">
            <a:hlinkClick r:id="rId4" action="ppaction://hlinksldjump"/>
          </p:cNvPr>
          <p:cNvSpPr txBox="1">
            <a:spLocks noChangeArrowheads="1"/>
          </p:cNvSpPr>
          <p:nvPr/>
        </p:nvSpPr>
        <p:spPr bwMode="auto">
          <a:xfrm>
            <a:off x="730250" y="4956175"/>
            <a:ext cx="7056438" cy="534988"/>
          </a:xfrm>
          <a:prstGeom prst="rect">
            <a:avLst/>
          </a:prstGeom>
          <a:noFill/>
          <a:ln w="9525">
            <a:noFill/>
            <a:miter lim="800000"/>
          </a:ln>
        </p:spPr>
        <p:txBody>
          <a:bodyPr>
            <a:spAutoFit/>
          </a:bodyPr>
          <a:lstStyle/>
          <a:p>
            <a:pPr>
              <a:lnSpc>
                <a:spcPct val="120000"/>
              </a:lnSpc>
              <a:spcBef>
                <a:spcPct val="50000"/>
              </a:spcBef>
              <a:buClr>
                <a:schemeClr val="hlink"/>
              </a:buClr>
            </a:pPr>
            <a:r>
              <a:rPr kumimoji="1" lang="en-US" altLang="zh-CN" b="1">
                <a:ea typeface="楷体_GB2312" pitchFamily="49" charset="-122"/>
              </a:rPr>
              <a:t>(2)</a:t>
            </a:r>
            <a:r>
              <a:rPr lang="zh-CN" altLang="en-US" b="1">
                <a:latin typeface="Garamond" panose="02020404030301010803" pitchFamily="18" charset="0"/>
              </a:rPr>
              <a:t>热力学第二定律的适用范围和条件：</a:t>
            </a:r>
            <a:endParaRPr lang="zh-CN" altLang="en-US" b="1">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24"/>
                                        </p:tgtEl>
                                        <p:attrNameLst>
                                          <p:attrName>style.visibility</p:attrName>
                                        </p:attrNameLst>
                                      </p:cBhvr>
                                      <p:to>
                                        <p:strVal val="visible"/>
                                      </p:to>
                                    </p:set>
                                    <p:animEffect transition="in" filter="wipe(left)">
                                      <p:cBhvr>
                                        <p:cTn id="7" dur="500"/>
                                        <p:tgtEl>
                                          <p:spTgt spid="645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74"/>
                                        </p:tgtEl>
                                        <p:attrNameLst>
                                          <p:attrName>style.visibility</p:attrName>
                                        </p:attrNameLst>
                                      </p:cBhvr>
                                      <p:to>
                                        <p:strVal val="visible"/>
                                      </p:to>
                                    </p:set>
                                    <p:animEffect transition="in" filter="wipe(left)">
                                      <p:cBhvr>
                                        <p:cTn id="12" dur="500"/>
                                        <p:tgtEl>
                                          <p:spTgt spid="10547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5475"/>
                                        </p:tgtEl>
                                        <p:attrNameLst>
                                          <p:attrName>style.visibility</p:attrName>
                                        </p:attrNameLst>
                                      </p:cBhvr>
                                      <p:to>
                                        <p:strVal val="visible"/>
                                      </p:to>
                                    </p:set>
                                    <p:animEffect transition="in" filter="wipe(left)">
                                      <p:cBhvr>
                                        <p:cTn id="22" dur="500"/>
                                        <p:tgtEl>
                                          <p:spTgt spid="10547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5479"/>
                                        </p:tgtEl>
                                        <p:attrNameLst>
                                          <p:attrName>style.visibility</p:attrName>
                                        </p:attrNameLst>
                                      </p:cBhvr>
                                      <p:to>
                                        <p:strVal val="visible"/>
                                      </p:to>
                                    </p:set>
                                    <p:animEffect transition="in" filter="wipe(left)">
                                      <p:cBhvr>
                                        <p:cTn id="27" dur="500"/>
                                        <p:tgtEl>
                                          <p:spTgt spid="1054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5478"/>
                                        </p:tgtEl>
                                        <p:attrNameLst>
                                          <p:attrName>style.visibility</p:attrName>
                                        </p:attrNameLst>
                                      </p:cBhvr>
                                      <p:to>
                                        <p:strVal val="visible"/>
                                      </p:to>
                                    </p:set>
                                    <p:animEffect transition="in" filter="wipe(left)">
                                      <p:cBhvr>
                                        <p:cTn id="32" dur="500"/>
                                        <p:tgtEl>
                                          <p:spTgt spid="105478"/>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05476"/>
                                        </p:tgtEl>
                                        <p:attrNameLst>
                                          <p:attrName>style.visibility</p:attrName>
                                        </p:attrNameLst>
                                      </p:cBhvr>
                                      <p:to>
                                        <p:strVal val="visible"/>
                                      </p:to>
                                    </p:set>
                                    <p:animEffect transition="in" filter="wipe(left)">
                                      <p:cBhvr>
                                        <p:cTn id="36" dur="500"/>
                                        <p:tgtEl>
                                          <p:spTgt spid="105476"/>
                                        </p:tgtEl>
                                      </p:cBhvr>
                                    </p:animEffect>
                                  </p:childTnLst>
                                </p:cTn>
                              </p:par>
                            </p:childTnLst>
                          </p:cTn>
                        </p:par>
                        <p:par>
                          <p:cTn id="37" fill="hold">
                            <p:stCondLst>
                              <p:cond delay="1000"/>
                            </p:stCondLst>
                            <p:childTnLst>
                              <p:par>
                                <p:cTn id="38" presetID="22" presetClass="entr" presetSubtype="1" fill="hold" grpId="0" nodeType="afterEffect">
                                  <p:stCondLst>
                                    <p:cond delay="0"/>
                                  </p:stCondLst>
                                  <p:childTnLst>
                                    <p:set>
                                      <p:cBhvr>
                                        <p:cTn id="39" dur="1" fill="hold">
                                          <p:stCondLst>
                                            <p:cond delay="0"/>
                                          </p:stCondLst>
                                        </p:cTn>
                                        <p:tgtEl>
                                          <p:spTgt spid="105477"/>
                                        </p:tgtEl>
                                        <p:attrNameLst>
                                          <p:attrName>style.visibility</p:attrName>
                                        </p:attrNameLst>
                                      </p:cBhvr>
                                      <p:to>
                                        <p:strVal val="visible"/>
                                      </p:to>
                                    </p:set>
                                    <p:animEffect transition="in" filter="wipe(up)">
                                      <p:cBhvr>
                                        <p:cTn id="40" dur="500"/>
                                        <p:tgtEl>
                                          <p:spTgt spid="10547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5480"/>
                                        </p:tgtEl>
                                        <p:attrNameLst>
                                          <p:attrName>style.visibility</p:attrName>
                                        </p:attrNameLst>
                                      </p:cBhvr>
                                      <p:to>
                                        <p:strVal val="visible"/>
                                      </p:to>
                                    </p:set>
                                    <p:animEffect transition="in" filter="wipe(left)">
                                      <p:cBhvr>
                                        <p:cTn id="45" dur="500"/>
                                        <p:tgtEl>
                                          <p:spTgt spid="105480"/>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05482"/>
                                        </p:tgtEl>
                                        <p:attrNameLst>
                                          <p:attrName>style.visibility</p:attrName>
                                        </p:attrNameLst>
                                      </p:cBhvr>
                                      <p:to>
                                        <p:strVal val="visible"/>
                                      </p:to>
                                    </p:set>
                                    <p:animEffect transition="in" filter="wipe(left)">
                                      <p:cBhvr>
                                        <p:cTn id="48" dur="500"/>
                                        <p:tgtEl>
                                          <p:spTgt spid="10548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5481"/>
                                        </p:tgtEl>
                                        <p:attrNameLst>
                                          <p:attrName>style.visibility</p:attrName>
                                        </p:attrNameLst>
                                      </p:cBhvr>
                                      <p:to>
                                        <p:strVal val="visible"/>
                                      </p:to>
                                    </p:set>
                                    <p:animEffect transition="in" filter="wipe(left)">
                                      <p:cBhvr>
                                        <p:cTn id="53" dur="500"/>
                                        <p:tgtEl>
                                          <p:spTgt spid="105481"/>
                                        </p:tgtEl>
                                      </p:cBhvr>
                                    </p:animEffect>
                                  </p:childTnLst>
                                </p:cTn>
                              </p:par>
                            </p:childTnLst>
                          </p:cTn>
                        </p:par>
                      </p:childTnLst>
                    </p:cTn>
                  </p:par>
                  <p:par>
                    <p:cTn id="54" fill="hold">
                      <p:stCondLst>
                        <p:cond delay="indefinite"/>
                      </p:stCondLst>
                      <p:childTnLst>
                        <p:par>
                          <p:cTn id="55" fill="hold">
                            <p:stCondLst>
                              <p:cond delay="0"/>
                            </p:stCondLst>
                            <p:childTnLst>
                              <p:par>
                                <p:cTn id="56" presetID="23" presetClass="entr" presetSubtype="32"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 calcmode="lin" valueType="num">
                                      <p:cBhvr>
                                        <p:cTn id="58" dur="500" fill="hold"/>
                                        <p:tgtEl>
                                          <p:spTgt spid="19"/>
                                        </p:tgtEl>
                                        <p:attrNameLst>
                                          <p:attrName>ppt_w</p:attrName>
                                        </p:attrNameLst>
                                      </p:cBhvr>
                                      <p:tavLst>
                                        <p:tav tm="0">
                                          <p:val>
                                            <p:strVal val="4*#ppt_w"/>
                                          </p:val>
                                        </p:tav>
                                        <p:tav tm="100000">
                                          <p:val>
                                            <p:strVal val="#ppt_w"/>
                                          </p:val>
                                        </p:tav>
                                      </p:tavLst>
                                    </p:anim>
                                    <p:anim calcmode="lin" valueType="num">
                                      <p:cBhvr>
                                        <p:cTn id="59" dur="500" fill="hold"/>
                                        <p:tgtEl>
                                          <p:spTgt spid="19"/>
                                        </p:tgtEl>
                                        <p:attrNameLst>
                                          <p:attrName>ppt_h</p:attrName>
                                        </p:attrNameLst>
                                      </p:cBhvr>
                                      <p:tavLst>
                                        <p:tav tm="0">
                                          <p:val>
                                            <p:strVal val="4*#ppt_h"/>
                                          </p:val>
                                        </p:tav>
                                        <p:tav tm="100000">
                                          <p:val>
                                            <p:strVal val="#ppt_h"/>
                                          </p:val>
                                        </p:tav>
                                      </p:tavLst>
                                    </p:anim>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8" dur="500"/>
                                        <p:tgtEl>
                                          <p:spTgt spid="20"/>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dissolve">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dissolve">
                                      <p:cBhvr>
                                        <p:cTn id="7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utoUpdateAnimBg="0"/>
      <p:bldP spid="105475" grpId="0"/>
      <p:bldP spid="105477" grpId="0" animBg="1"/>
      <p:bldP spid="105478" grpId="0"/>
      <p:bldP spid="105479" grpId="0" animBg="1"/>
      <p:bldP spid="105480" grpId="0" animBg="1"/>
      <p:bldP spid="105481" grpId="0"/>
      <p:bldP spid="105482" grpId="0"/>
      <p:bldP spid="64524" grpId="0"/>
      <p:bldP spid="18" grpId="0" autoUpdateAnimBg="0"/>
      <p:bldP spid="19" grpId="0" animBg="1"/>
      <p:bldP spid="20" grpId="0" autoUpdateAnimBg="0"/>
      <p:bldP spid="21" grpId="0"/>
      <p:bldP spid="2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Text Box 3"/>
          <p:cNvSpPr txBox="1">
            <a:spLocks noChangeArrowheads="1"/>
          </p:cNvSpPr>
          <p:nvPr/>
        </p:nvSpPr>
        <p:spPr bwMode="auto">
          <a:xfrm>
            <a:off x="214313" y="428625"/>
            <a:ext cx="3960812" cy="457200"/>
          </a:xfrm>
          <a:prstGeom prst="rect">
            <a:avLst/>
          </a:prstGeom>
          <a:noFill/>
          <a:ln w="9525">
            <a:noFill/>
            <a:miter lim="800000"/>
          </a:ln>
        </p:spPr>
        <p:txBody>
          <a:bodyPr>
            <a:spAutoFit/>
          </a:bodyPr>
          <a:lstStyle/>
          <a:p>
            <a:r>
              <a:rPr kumimoji="1" lang="en-US" altLang="zh-CN" b="1">
                <a:solidFill>
                  <a:srgbClr val="FF0000"/>
                </a:solidFill>
              </a:rPr>
              <a:t>2</a:t>
            </a:r>
            <a:r>
              <a:rPr kumimoji="1" lang="zh-CN" altLang="en-US" b="1">
                <a:solidFill>
                  <a:srgbClr val="FF0000"/>
                </a:solidFill>
              </a:rPr>
              <a:t>、开尔文表述（</a:t>
            </a:r>
            <a:r>
              <a:rPr kumimoji="1" lang="en-US" altLang="zh-CN" b="1">
                <a:solidFill>
                  <a:srgbClr val="FF0000"/>
                </a:solidFill>
              </a:rPr>
              <a:t>1851</a:t>
            </a:r>
            <a:r>
              <a:rPr kumimoji="1" lang="zh-CN" altLang="en-US" b="1">
                <a:solidFill>
                  <a:srgbClr val="FF0000"/>
                </a:solidFill>
              </a:rPr>
              <a:t>）</a:t>
            </a:r>
            <a:endParaRPr kumimoji="1" lang="zh-CN" altLang="en-US" b="1">
              <a:solidFill>
                <a:srgbClr val="FF0000"/>
              </a:solidFill>
            </a:endParaRPr>
          </a:p>
        </p:txBody>
      </p:sp>
      <p:sp>
        <p:nvSpPr>
          <p:cNvPr id="104452" name="Text Box 4"/>
          <p:cNvSpPr txBox="1">
            <a:spLocks noChangeArrowheads="1"/>
          </p:cNvSpPr>
          <p:nvPr/>
        </p:nvSpPr>
        <p:spPr bwMode="auto">
          <a:xfrm>
            <a:off x="574675" y="885825"/>
            <a:ext cx="5211763" cy="1006475"/>
          </a:xfrm>
          <a:prstGeom prst="rect">
            <a:avLst/>
          </a:prstGeom>
          <a:noFill/>
          <a:ln w="9525">
            <a:noFill/>
            <a:miter lim="800000"/>
          </a:ln>
        </p:spPr>
        <p:txBody>
          <a:bodyPr>
            <a:spAutoFit/>
          </a:bodyPr>
          <a:lstStyle/>
          <a:p>
            <a:pPr>
              <a:lnSpc>
                <a:spcPct val="125000"/>
              </a:lnSpc>
            </a:pPr>
            <a:r>
              <a:rPr kumimoji="1" lang="zh-CN" altLang="en-US" b="1"/>
              <a:t>不可能只从单一热源吸收热量，使之完全转化为功而</a:t>
            </a:r>
            <a:r>
              <a:rPr kumimoji="1" lang="zh-CN" altLang="en-US" b="1">
                <a:solidFill>
                  <a:srgbClr val="FF0000"/>
                </a:solidFill>
              </a:rPr>
              <a:t>不引起其它变化</a:t>
            </a:r>
            <a:r>
              <a:rPr kumimoji="1" lang="zh-CN" altLang="en-US" b="1"/>
              <a:t>。</a:t>
            </a:r>
            <a:endParaRPr kumimoji="1" lang="zh-CN" altLang="en-US" b="1"/>
          </a:p>
        </p:txBody>
      </p:sp>
      <p:graphicFrame>
        <p:nvGraphicFramePr>
          <p:cNvPr id="104454" name="Object 6"/>
          <p:cNvGraphicFramePr>
            <a:graphicFrameLocks noChangeAspect="1"/>
          </p:cNvGraphicFramePr>
          <p:nvPr/>
        </p:nvGraphicFramePr>
        <p:xfrm>
          <a:off x="2143125" y="1785938"/>
          <a:ext cx="2257425" cy="823912"/>
        </p:xfrm>
        <a:graphic>
          <a:graphicData uri="http://schemas.openxmlformats.org/presentationml/2006/ole">
            <mc:AlternateContent xmlns:mc="http://schemas.openxmlformats.org/markup-compatibility/2006">
              <mc:Choice xmlns:v="urn:schemas-microsoft-com:vml" Requires="v">
                <p:oleObj spid="_x0000_s66561" name="公式" r:id="rId1" imgW="28346400" imgH="10363200" progId="Equation.3">
                  <p:embed/>
                </p:oleObj>
              </mc:Choice>
              <mc:Fallback>
                <p:oleObj name="公式" r:id="rId1" imgW="28346400" imgH="10363200" progId="Equation.3">
                  <p:embed/>
                  <p:pic>
                    <p:nvPicPr>
                      <p:cNvPr id="0" name="Object 6"/>
                      <p:cNvPicPr>
                        <a:picLocks noChangeAspect="1"/>
                      </p:cNvPicPr>
                      <p:nvPr/>
                    </p:nvPicPr>
                    <p:blipFill>
                      <a:blip r:embed="rId2"/>
                      <a:stretch>
                        <a:fillRect/>
                      </a:stretch>
                    </p:blipFill>
                    <p:spPr>
                      <a:xfrm>
                        <a:off x="2143125" y="1785938"/>
                        <a:ext cx="2257425" cy="823912"/>
                      </a:xfrm>
                      <a:prstGeom prst="rect">
                        <a:avLst/>
                      </a:prstGeom>
                      <a:noFill/>
                      <a:ln w="9525">
                        <a:noFill/>
                      </a:ln>
                    </p:spPr>
                  </p:pic>
                </p:oleObj>
              </mc:Fallback>
            </mc:AlternateContent>
          </a:graphicData>
        </a:graphic>
      </p:graphicFrame>
      <p:sp>
        <p:nvSpPr>
          <p:cNvPr id="104455" name="AutoShape 7"/>
          <p:cNvSpPr>
            <a:spLocks noChangeArrowheads="1"/>
          </p:cNvSpPr>
          <p:nvPr/>
        </p:nvSpPr>
        <p:spPr bwMode="auto">
          <a:xfrm>
            <a:off x="877888" y="2119313"/>
            <a:ext cx="792162" cy="144462"/>
          </a:xfrm>
          <a:prstGeom prst="rightArrow">
            <a:avLst>
              <a:gd name="adj1" fmla="val 50000"/>
              <a:gd name="adj2" fmla="val 137088"/>
            </a:avLst>
          </a:prstGeom>
          <a:solidFill>
            <a:schemeClr val="accent1"/>
          </a:solidFill>
          <a:ln w="9525">
            <a:solidFill>
              <a:schemeClr val="tx1"/>
            </a:solidFill>
            <a:miter lim="800000"/>
          </a:ln>
        </p:spPr>
        <p:txBody>
          <a:bodyPr wrap="none" anchor="ctr"/>
          <a:lstStyle/>
          <a:p>
            <a:pPr algn="ctr"/>
            <a:endParaRPr lang="zh-CN" altLang="en-US" b="1"/>
          </a:p>
        </p:txBody>
      </p:sp>
      <p:sp>
        <p:nvSpPr>
          <p:cNvPr id="104456" name="AutoShape 8"/>
          <p:cNvSpPr>
            <a:spLocks noChangeArrowheads="1"/>
          </p:cNvSpPr>
          <p:nvPr/>
        </p:nvSpPr>
        <p:spPr bwMode="auto">
          <a:xfrm>
            <a:off x="908050" y="2932113"/>
            <a:ext cx="1150938" cy="144462"/>
          </a:xfrm>
          <a:prstGeom prst="rightArrow">
            <a:avLst>
              <a:gd name="adj1" fmla="val 50000"/>
              <a:gd name="adj2" fmla="val 199177"/>
            </a:avLst>
          </a:prstGeom>
          <a:solidFill>
            <a:srgbClr val="3333CC"/>
          </a:solidFill>
          <a:ln w="9525">
            <a:solidFill>
              <a:schemeClr val="tx1"/>
            </a:solidFill>
            <a:miter lim="800000"/>
          </a:ln>
        </p:spPr>
        <p:txBody>
          <a:bodyPr wrap="none" anchor="ctr"/>
          <a:lstStyle/>
          <a:p>
            <a:pPr algn="ctr"/>
            <a:endParaRPr lang="zh-CN" altLang="en-US" b="1"/>
          </a:p>
        </p:txBody>
      </p:sp>
      <p:sp>
        <p:nvSpPr>
          <p:cNvPr id="104457" name="Text Box 9"/>
          <p:cNvSpPr txBox="1">
            <a:spLocks noChangeArrowheads="1"/>
          </p:cNvSpPr>
          <p:nvPr/>
        </p:nvSpPr>
        <p:spPr bwMode="auto">
          <a:xfrm>
            <a:off x="2143125" y="2716213"/>
            <a:ext cx="3157538" cy="457200"/>
          </a:xfrm>
          <a:prstGeom prst="rect">
            <a:avLst/>
          </a:prstGeom>
          <a:noFill/>
          <a:ln w="9525">
            <a:noFill/>
            <a:miter lim="800000"/>
          </a:ln>
        </p:spPr>
        <p:txBody>
          <a:bodyPr>
            <a:spAutoFit/>
          </a:bodyPr>
          <a:lstStyle/>
          <a:p>
            <a:r>
              <a:rPr kumimoji="1" lang="zh-CN" altLang="en-US" b="1">
                <a:solidFill>
                  <a:srgbClr val="FF6600"/>
                </a:solidFill>
              </a:rPr>
              <a:t>热功转化的方向性</a:t>
            </a:r>
            <a:endParaRPr kumimoji="1" lang="zh-CN" altLang="en-US" b="1">
              <a:solidFill>
                <a:srgbClr val="FF6600"/>
              </a:solidFill>
            </a:endParaRPr>
          </a:p>
        </p:txBody>
      </p:sp>
      <p:sp>
        <p:nvSpPr>
          <p:cNvPr id="104458" name="Text Box 10"/>
          <p:cNvSpPr txBox="1">
            <a:spLocks noChangeArrowheads="1"/>
          </p:cNvSpPr>
          <p:nvPr/>
        </p:nvSpPr>
        <p:spPr bwMode="auto">
          <a:xfrm>
            <a:off x="958850" y="2500313"/>
            <a:ext cx="1028700" cy="457200"/>
          </a:xfrm>
          <a:prstGeom prst="rect">
            <a:avLst/>
          </a:prstGeom>
          <a:noFill/>
          <a:ln w="9525">
            <a:noFill/>
            <a:miter lim="800000"/>
          </a:ln>
        </p:spPr>
        <p:txBody>
          <a:bodyPr>
            <a:spAutoFit/>
          </a:bodyPr>
          <a:lstStyle/>
          <a:p>
            <a:r>
              <a:rPr lang="zh-CN" altLang="en-US" b="1">
                <a:solidFill>
                  <a:srgbClr val="FF0000"/>
                </a:solidFill>
              </a:rPr>
              <a:t>实质</a:t>
            </a:r>
            <a:endParaRPr lang="zh-CN" altLang="en-US" b="1">
              <a:solidFill>
                <a:srgbClr val="FF0000"/>
              </a:solidFill>
            </a:endParaRPr>
          </a:p>
        </p:txBody>
      </p:sp>
      <p:grpSp>
        <p:nvGrpSpPr>
          <p:cNvPr id="2" name="Group 11"/>
          <p:cNvGrpSpPr/>
          <p:nvPr/>
        </p:nvGrpSpPr>
        <p:grpSpPr bwMode="auto">
          <a:xfrm>
            <a:off x="6357938" y="714375"/>
            <a:ext cx="2339975" cy="3270250"/>
            <a:chOff x="3878" y="1752"/>
            <a:chExt cx="1474" cy="2060"/>
          </a:xfrm>
        </p:grpSpPr>
        <p:pic>
          <p:nvPicPr>
            <p:cNvPr id="66575" name="Picture 12" descr="开尔文"/>
            <p:cNvPicPr>
              <a:picLocks noChangeAspect="1" noChangeArrowheads="1"/>
            </p:cNvPicPr>
            <p:nvPr/>
          </p:nvPicPr>
          <p:blipFill>
            <a:blip r:embed="rId3"/>
            <a:srcRect/>
            <a:stretch>
              <a:fillRect/>
            </a:stretch>
          </p:blipFill>
          <p:spPr bwMode="auto">
            <a:xfrm>
              <a:off x="3878" y="1752"/>
              <a:ext cx="1380" cy="1633"/>
            </a:xfrm>
            <a:prstGeom prst="rect">
              <a:avLst/>
            </a:prstGeom>
            <a:noFill/>
            <a:ln w="9525">
              <a:noFill/>
              <a:miter lim="800000"/>
              <a:headEnd/>
              <a:tailEnd/>
            </a:ln>
          </p:spPr>
        </p:pic>
        <p:sp>
          <p:nvSpPr>
            <p:cNvPr id="66576" name="Rectangle 13"/>
            <p:cNvSpPr>
              <a:spLocks noChangeArrowheads="1"/>
            </p:cNvSpPr>
            <p:nvPr/>
          </p:nvSpPr>
          <p:spPr bwMode="auto">
            <a:xfrm>
              <a:off x="3969" y="3521"/>
              <a:ext cx="1383" cy="291"/>
            </a:xfrm>
            <a:prstGeom prst="rect">
              <a:avLst/>
            </a:prstGeom>
            <a:noFill/>
            <a:ln w="9525">
              <a:noFill/>
              <a:miter lim="800000"/>
            </a:ln>
          </p:spPr>
          <p:txBody>
            <a:bodyPr wrap="none">
              <a:spAutoFit/>
            </a:bodyPr>
            <a:lstStyle/>
            <a:p>
              <a:r>
                <a:rPr kumimoji="1" lang="zh-CN" altLang="en-US" b="1"/>
                <a:t>（</a:t>
              </a:r>
              <a:r>
                <a:rPr kumimoji="1" lang="en-US" altLang="zh-CN" b="1"/>
                <a:t>1824~1907</a:t>
              </a:r>
              <a:r>
                <a:rPr kumimoji="1" lang="zh-CN" altLang="en-US" b="1"/>
                <a:t>）</a:t>
              </a:r>
              <a:endParaRPr kumimoji="1" lang="zh-CN" altLang="en-US" b="1"/>
            </a:p>
          </p:txBody>
        </p:sp>
      </p:grpSp>
      <p:sp>
        <p:nvSpPr>
          <p:cNvPr id="15" name="Rectangle 11"/>
          <p:cNvSpPr>
            <a:spLocks noChangeArrowheads="1"/>
          </p:cNvSpPr>
          <p:nvPr/>
        </p:nvSpPr>
        <p:spPr bwMode="auto">
          <a:xfrm>
            <a:off x="571500" y="3286125"/>
            <a:ext cx="1800225" cy="512763"/>
          </a:xfrm>
          <a:prstGeom prst="rect">
            <a:avLst/>
          </a:prstGeom>
          <a:noFill/>
          <a:ln w="9525" algn="ctr">
            <a:noFill/>
            <a:miter lim="800000"/>
          </a:ln>
        </p:spPr>
        <p:txBody>
          <a:bodyPr>
            <a:spAutoFit/>
          </a:bodyPr>
          <a:lstStyle/>
          <a:p>
            <a:pPr>
              <a:lnSpc>
                <a:spcPct val="115000"/>
              </a:lnSpc>
              <a:buClr>
                <a:srgbClr val="CC0000"/>
              </a:buClr>
              <a:buFont typeface="Wingdings" panose="05000000000000000000" pitchFamily="2" charset="2"/>
              <a:buNone/>
            </a:pPr>
            <a:r>
              <a:rPr lang="zh-CN" altLang="en-US" b="1">
                <a:solidFill>
                  <a:srgbClr val="FF6600"/>
                </a:solidFill>
              </a:rPr>
              <a:t>说明</a:t>
            </a:r>
            <a:endParaRPr lang="zh-CN" altLang="en-US" b="1">
              <a:solidFill>
                <a:srgbClr val="FF6600"/>
              </a:solidFill>
            </a:endParaRPr>
          </a:p>
        </p:txBody>
      </p:sp>
      <p:sp>
        <p:nvSpPr>
          <p:cNvPr id="16" name="AutoShape 12"/>
          <p:cNvSpPr>
            <a:spLocks noChangeArrowheads="1"/>
          </p:cNvSpPr>
          <p:nvPr/>
        </p:nvSpPr>
        <p:spPr bwMode="auto">
          <a:xfrm>
            <a:off x="177800" y="3286125"/>
            <a:ext cx="360363" cy="576263"/>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sp>
        <p:nvSpPr>
          <p:cNvPr id="17" name="Rectangle 13"/>
          <p:cNvSpPr>
            <a:spLocks noChangeArrowheads="1"/>
          </p:cNvSpPr>
          <p:nvPr/>
        </p:nvSpPr>
        <p:spPr bwMode="auto">
          <a:xfrm>
            <a:off x="184150" y="3933825"/>
            <a:ext cx="7705725" cy="534988"/>
          </a:xfrm>
          <a:prstGeom prst="rect">
            <a:avLst/>
          </a:prstGeom>
          <a:noFill/>
          <a:ln w="9525">
            <a:noFill/>
            <a:miter lim="800000"/>
          </a:ln>
        </p:spPr>
        <p:txBody>
          <a:bodyPr>
            <a:spAutoFit/>
          </a:bodyPr>
          <a:lstStyle/>
          <a:p>
            <a:pPr>
              <a:lnSpc>
                <a:spcPct val="120000"/>
              </a:lnSpc>
              <a:defRPr/>
            </a:pPr>
            <a:r>
              <a:rPr kumimoji="1" lang="en-US" altLang="zh-CN" b="1">
                <a:latin typeface="+mn-ea"/>
                <a:ea typeface="+mn-ea"/>
              </a:rPr>
              <a:t>(1) </a:t>
            </a:r>
            <a:r>
              <a:rPr kumimoji="1" lang="zh-CN" altLang="en-US" b="1">
                <a:latin typeface="+mn-ea"/>
                <a:ea typeface="+mn-ea"/>
              </a:rPr>
              <a:t>吸收的热量可以转化为功（热机）。</a:t>
            </a:r>
            <a:endParaRPr kumimoji="1" lang="zh-CN" altLang="en-US" b="1">
              <a:latin typeface="+mn-ea"/>
              <a:ea typeface="+mn-ea"/>
            </a:endParaRPr>
          </a:p>
        </p:txBody>
      </p:sp>
      <p:sp>
        <p:nvSpPr>
          <p:cNvPr id="18" name="Rectangle 14"/>
          <p:cNvSpPr>
            <a:spLocks noChangeArrowheads="1"/>
          </p:cNvSpPr>
          <p:nvPr/>
        </p:nvSpPr>
        <p:spPr bwMode="auto">
          <a:xfrm>
            <a:off x="184150" y="4556125"/>
            <a:ext cx="7896225" cy="534988"/>
          </a:xfrm>
          <a:prstGeom prst="rect">
            <a:avLst/>
          </a:prstGeom>
          <a:noFill/>
          <a:ln w="9525">
            <a:noFill/>
            <a:miter lim="800000"/>
          </a:ln>
        </p:spPr>
        <p:txBody>
          <a:bodyPr>
            <a:spAutoFit/>
          </a:bodyPr>
          <a:lstStyle/>
          <a:p>
            <a:pPr>
              <a:lnSpc>
                <a:spcPct val="120000"/>
              </a:lnSpc>
              <a:defRPr/>
            </a:pPr>
            <a:r>
              <a:rPr kumimoji="1" lang="en-US" altLang="zh-CN" b="1" dirty="0">
                <a:latin typeface="+mn-ea"/>
                <a:ea typeface="+mn-ea"/>
              </a:rPr>
              <a:t>(2) </a:t>
            </a:r>
            <a:r>
              <a:rPr kumimoji="1" lang="zh-CN" altLang="en-US" b="1" dirty="0">
                <a:latin typeface="+mn-ea"/>
                <a:ea typeface="+mn-ea"/>
              </a:rPr>
              <a:t>吸收的热量可以完全转化为功（等温膨胀）。</a:t>
            </a:r>
            <a:endParaRPr kumimoji="1" lang="zh-CN" altLang="en-US" b="1" dirty="0">
              <a:latin typeface="+mn-ea"/>
              <a:ea typeface="+mn-ea"/>
            </a:endParaRPr>
          </a:p>
        </p:txBody>
      </p:sp>
      <p:sp>
        <p:nvSpPr>
          <p:cNvPr id="19" name="Text Box 15"/>
          <p:cNvSpPr txBox="1">
            <a:spLocks noChangeArrowheads="1"/>
          </p:cNvSpPr>
          <p:nvPr/>
        </p:nvSpPr>
        <p:spPr bwMode="auto">
          <a:xfrm>
            <a:off x="184150" y="5126038"/>
            <a:ext cx="8388350" cy="979487"/>
          </a:xfrm>
          <a:prstGeom prst="rect">
            <a:avLst/>
          </a:prstGeom>
          <a:noFill/>
          <a:ln w="9525">
            <a:noFill/>
            <a:miter lim="800000"/>
          </a:ln>
        </p:spPr>
        <p:txBody>
          <a:bodyPr>
            <a:spAutoFit/>
          </a:bodyPr>
          <a:lstStyle/>
          <a:p>
            <a:pPr marL="535305" indent="-535305">
              <a:lnSpc>
                <a:spcPct val="120000"/>
              </a:lnSpc>
              <a:defRPr/>
            </a:pPr>
            <a:r>
              <a:rPr kumimoji="1" lang="en-US" altLang="zh-CN" b="1" dirty="0">
                <a:latin typeface="+mn-ea"/>
                <a:ea typeface="+mn-ea"/>
              </a:rPr>
              <a:t>(3) </a:t>
            </a:r>
            <a:r>
              <a:rPr kumimoji="1" lang="zh-CN" altLang="en-US" b="1" dirty="0">
                <a:latin typeface="+mn-ea"/>
                <a:ea typeface="+mn-ea"/>
              </a:rPr>
              <a:t>开尔文表述 的另一叙述形式：</a:t>
            </a:r>
            <a:r>
              <a:rPr kumimoji="1" lang="zh-CN" altLang="en-US" b="1" dirty="0">
                <a:solidFill>
                  <a:srgbClr val="FF6600"/>
                </a:solidFill>
                <a:latin typeface="+mn-ea"/>
                <a:ea typeface="+mn-ea"/>
              </a:rPr>
              <a:t>第二类永动机不可能制成</a:t>
            </a:r>
            <a:r>
              <a:rPr kumimoji="1" lang="zh-CN" altLang="en-US" b="1" dirty="0">
                <a:latin typeface="+mn-ea"/>
                <a:ea typeface="+mn-ea"/>
              </a:rPr>
              <a:t>。</a:t>
            </a:r>
            <a:endParaRPr kumimoji="1" lang="en-US" altLang="zh-CN" b="1" dirty="0">
              <a:latin typeface="+mn-ea"/>
              <a:ea typeface="+mn-ea"/>
            </a:endParaRPr>
          </a:p>
          <a:p>
            <a:pPr marL="535305" indent="-535305">
              <a:lnSpc>
                <a:spcPct val="120000"/>
              </a:lnSpc>
              <a:defRPr/>
            </a:pPr>
            <a:r>
              <a:rPr kumimoji="1" lang="en-US" altLang="zh-CN" b="1" dirty="0">
                <a:solidFill>
                  <a:srgbClr val="9900CC"/>
                </a:solidFill>
                <a:latin typeface="+mn-ea"/>
                <a:ea typeface="+mn-ea"/>
              </a:rPr>
              <a:t>     </a:t>
            </a:r>
            <a:endParaRPr kumimoji="1" lang="zh-CN" altLang="en-US"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Effect transition="in" filter="wipe(left)">
                                      <p:cBhvr>
                                        <p:cTn id="7" dur="500"/>
                                        <p:tgtEl>
                                          <p:spTgt spid="1044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4452"/>
                                        </p:tgtEl>
                                        <p:attrNameLst>
                                          <p:attrName>style.visibility</p:attrName>
                                        </p:attrNameLst>
                                      </p:cBhvr>
                                      <p:to>
                                        <p:strVal val="visible"/>
                                      </p:to>
                                    </p:set>
                                    <p:animEffect transition="in" filter="wipe(left)">
                                      <p:cBhvr>
                                        <p:cTn id="17" dur="500"/>
                                        <p:tgtEl>
                                          <p:spTgt spid="1044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4455"/>
                                        </p:tgtEl>
                                        <p:attrNameLst>
                                          <p:attrName>style.visibility</p:attrName>
                                        </p:attrNameLst>
                                      </p:cBhvr>
                                      <p:to>
                                        <p:strVal val="visible"/>
                                      </p:to>
                                    </p:set>
                                    <p:animEffect transition="in" filter="wipe(left)">
                                      <p:cBhvr>
                                        <p:cTn id="22" dur="500"/>
                                        <p:tgtEl>
                                          <p:spTgt spid="1044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4454"/>
                                        </p:tgtEl>
                                        <p:attrNameLst>
                                          <p:attrName>style.visibility</p:attrName>
                                        </p:attrNameLst>
                                      </p:cBhvr>
                                      <p:to>
                                        <p:strVal val="visible"/>
                                      </p:to>
                                    </p:set>
                                    <p:animEffect transition="in" filter="wipe(left)">
                                      <p:cBhvr>
                                        <p:cTn id="27" dur="500"/>
                                        <p:tgtEl>
                                          <p:spTgt spid="1044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4456"/>
                                        </p:tgtEl>
                                        <p:attrNameLst>
                                          <p:attrName>style.visibility</p:attrName>
                                        </p:attrNameLst>
                                      </p:cBhvr>
                                      <p:to>
                                        <p:strVal val="visible"/>
                                      </p:to>
                                    </p:set>
                                    <p:animEffect transition="in" filter="wipe(left)">
                                      <p:cBhvr>
                                        <p:cTn id="32" dur="500"/>
                                        <p:tgtEl>
                                          <p:spTgt spid="104456"/>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04458"/>
                                        </p:tgtEl>
                                        <p:attrNameLst>
                                          <p:attrName>style.visibility</p:attrName>
                                        </p:attrNameLst>
                                      </p:cBhvr>
                                      <p:to>
                                        <p:strVal val="visible"/>
                                      </p:to>
                                    </p:set>
                                    <p:animEffect transition="in" filter="wipe(left)">
                                      <p:cBhvr>
                                        <p:cTn id="35" dur="500"/>
                                        <p:tgtEl>
                                          <p:spTgt spid="10445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4457"/>
                                        </p:tgtEl>
                                        <p:attrNameLst>
                                          <p:attrName>style.visibility</p:attrName>
                                        </p:attrNameLst>
                                      </p:cBhvr>
                                      <p:to>
                                        <p:strVal val="visible"/>
                                      </p:to>
                                    </p:set>
                                    <p:animEffect transition="in" filter="wipe(left)">
                                      <p:cBhvr>
                                        <p:cTn id="40" dur="500"/>
                                        <p:tgtEl>
                                          <p:spTgt spid="104457"/>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32"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p:cTn id="45" dur="500" fill="hold"/>
                                        <p:tgtEl>
                                          <p:spTgt spid="16"/>
                                        </p:tgtEl>
                                        <p:attrNameLst>
                                          <p:attrName>ppt_w</p:attrName>
                                        </p:attrNameLst>
                                      </p:cBhvr>
                                      <p:tavLst>
                                        <p:tav tm="0">
                                          <p:val>
                                            <p:strVal val="4*#ppt_w"/>
                                          </p:val>
                                        </p:tav>
                                        <p:tav tm="100000">
                                          <p:val>
                                            <p:strVal val="#ppt_w"/>
                                          </p:val>
                                        </p:tav>
                                      </p:tavLst>
                                    </p:anim>
                                    <p:anim calcmode="lin" valueType="num">
                                      <p:cBhvr>
                                        <p:cTn id="46" dur="500" fill="hold"/>
                                        <p:tgtEl>
                                          <p:spTgt spid="16"/>
                                        </p:tgtEl>
                                        <p:attrNameLst>
                                          <p:attrName>ppt_h</p:attrName>
                                        </p:attrNameLst>
                                      </p:cBhvr>
                                      <p:tavLst>
                                        <p:tav tm="0">
                                          <p:val>
                                            <p:strVal val="4*#ppt_h"/>
                                          </p:val>
                                        </p:tav>
                                        <p:tav tm="100000">
                                          <p:val>
                                            <p:strVal val="#ppt_h"/>
                                          </p:val>
                                        </p:tav>
                                      </p:tavLst>
                                    </p:anim>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ipe(left)">
                                      <p:cBhvr>
                                        <p:cTn id="60" dur="500"/>
                                        <p:tgtEl>
                                          <p:spTgt spid="1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left)">
                                      <p:cBhvr>
                                        <p:cTn id="6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autoUpdateAnimBg="0"/>
      <p:bldP spid="104452" grpId="0" autoUpdateAnimBg="0"/>
      <p:bldP spid="104455" grpId="0" animBg="1"/>
      <p:bldP spid="104456" grpId="0" animBg="1"/>
      <p:bldP spid="104457" grpId="0"/>
      <p:bldP spid="104458" grpId="0"/>
      <p:bldP spid="15" grpId="0" autoUpdateAnimBg="0"/>
      <p:bldP spid="16" grpId="0" animBg="1"/>
      <p:bldP spid="17" grpId="0" autoUpdateAnimBg="0"/>
      <p:bldP spid="18" grpId="0" autoUpdateAnimBg="0"/>
      <p:bldP spid="19"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a:spLocks noChangeArrowheads="1"/>
          </p:cNvSpPr>
          <p:nvPr/>
        </p:nvSpPr>
        <p:spPr bwMode="auto">
          <a:xfrm>
            <a:off x="684213" y="1304925"/>
            <a:ext cx="4103687" cy="506413"/>
          </a:xfrm>
          <a:prstGeom prst="rect">
            <a:avLst/>
          </a:prstGeom>
          <a:noFill/>
          <a:ln w="9525">
            <a:noFill/>
            <a:miter lim="800000"/>
          </a:ln>
        </p:spPr>
        <p:txBody>
          <a:bodyPr>
            <a:spAutoFit/>
          </a:bodyPr>
          <a:lstStyle/>
          <a:p>
            <a:pPr>
              <a:lnSpc>
                <a:spcPct val="125000"/>
              </a:lnSpc>
            </a:pPr>
            <a:r>
              <a:rPr kumimoji="1" lang="en-US" altLang="zh-CN" b="1">
                <a:solidFill>
                  <a:srgbClr val="FF6600"/>
                </a:solidFill>
              </a:rPr>
              <a:t>(1)</a:t>
            </a:r>
            <a:r>
              <a:rPr kumimoji="1" lang="en-US" altLang="zh-CN" b="1"/>
              <a:t> </a:t>
            </a:r>
            <a:r>
              <a:rPr kumimoji="1" lang="zh-CN" altLang="en-US" b="1"/>
              <a:t>假设开尔文表述不成立           </a:t>
            </a:r>
            <a:endParaRPr kumimoji="1" lang="zh-CN" altLang="en-US" b="1"/>
          </a:p>
        </p:txBody>
      </p:sp>
      <p:sp>
        <p:nvSpPr>
          <p:cNvPr id="106499" name="Rectangle 3"/>
          <p:cNvSpPr>
            <a:spLocks noChangeArrowheads="1"/>
          </p:cNvSpPr>
          <p:nvPr/>
        </p:nvSpPr>
        <p:spPr bwMode="auto">
          <a:xfrm>
            <a:off x="5219700" y="1281113"/>
            <a:ext cx="3025775" cy="508000"/>
          </a:xfrm>
          <a:prstGeom prst="rect">
            <a:avLst/>
          </a:prstGeom>
          <a:noFill/>
          <a:ln w="9525">
            <a:noFill/>
            <a:miter lim="800000"/>
          </a:ln>
        </p:spPr>
        <p:txBody>
          <a:bodyPr>
            <a:spAutoFit/>
          </a:bodyPr>
          <a:lstStyle/>
          <a:p>
            <a:pPr>
              <a:lnSpc>
                <a:spcPct val="125000"/>
              </a:lnSpc>
            </a:pPr>
            <a:r>
              <a:rPr kumimoji="1" lang="zh-CN" altLang="en-US" b="1"/>
              <a:t>克劳修斯表述不成立</a:t>
            </a:r>
            <a:endParaRPr kumimoji="1" lang="zh-CN" altLang="en-US" b="1"/>
          </a:p>
        </p:txBody>
      </p:sp>
      <p:grpSp>
        <p:nvGrpSpPr>
          <p:cNvPr id="2" name="Group 4"/>
          <p:cNvGrpSpPr/>
          <p:nvPr/>
        </p:nvGrpSpPr>
        <p:grpSpPr bwMode="auto">
          <a:xfrm>
            <a:off x="1657350" y="3062288"/>
            <a:ext cx="2238375" cy="457200"/>
            <a:chOff x="912" y="912"/>
            <a:chExt cx="835" cy="384"/>
          </a:xfrm>
        </p:grpSpPr>
        <p:sp>
          <p:nvSpPr>
            <p:cNvPr id="67637" name="Rectangle 5"/>
            <p:cNvSpPr>
              <a:spLocks noChangeArrowheads="1"/>
            </p:cNvSpPr>
            <p:nvPr/>
          </p:nvSpPr>
          <p:spPr bwMode="auto">
            <a:xfrm>
              <a:off x="912" y="912"/>
              <a:ext cx="816" cy="384"/>
            </a:xfrm>
            <a:prstGeom prst="rect">
              <a:avLst/>
            </a:prstGeom>
            <a:solidFill>
              <a:srgbClr val="FFCC00"/>
            </a:solidFill>
            <a:ln w="9525">
              <a:noFill/>
              <a:miter lim="800000"/>
            </a:ln>
          </p:spPr>
          <p:txBody>
            <a:bodyPr wrap="none" anchor="ctr"/>
            <a:lstStyle/>
            <a:p>
              <a:pPr algn="ctr"/>
              <a:endParaRPr lang="zh-CN" altLang="en-US" b="1"/>
            </a:p>
          </p:txBody>
        </p:sp>
        <p:grpSp>
          <p:nvGrpSpPr>
            <p:cNvPr id="67638" name="Group 6"/>
            <p:cNvGrpSpPr/>
            <p:nvPr/>
          </p:nvGrpSpPr>
          <p:grpSpPr bwMode="auto">
            <a:xfrm>
              <a:off x="1296" y="951"/>
              <a:ext cx="451" cy="268"/>
              <a:chOff x="1296" y="951"/>
              <a:chExt cx="451" cy="268"/>
            </a:xfrm>
          </p:grpSpPr>
          <p:graphicFrame>
            <p:nvGraphicFramePr>
              <p:cNvPr id="67598" name="Object 7"/>
              <p:cNvGraphicFramePr>
                <a:graphicFrameLocks noChangeAspect="1"/>
              </p:cNvGraphicFramePr>
              <p:nvPr/>
            </p:nvGraphicFramePr>
            <p:xfrm>
              <a:off x="1479" y="951"/>
              <a:ext cx="268" cy="268"/>
            </p:xfrm>
            <a:graphic>
              <a:graphicData uri="http://schemas.openxmlformats.org/presentationml/2006/ole">
                <mc:AlternateContent xmlns:mc="http://schemas.openxmlformats.org/markup-compatibility/2006">
                  <mc:Choice xmlns:v="urn:schemas-microsoft-com:vml" Requires="v">
                    <p:oleObj spid="_x0000_s67585" name="Equation" r:id="rId1" imgW="4267200" imgH="4267200" progId="Equation.DSMT4">
                      <p:embed/>
                    </p:oleObj>
                  </mc:Choice>
                  <mc:Fallback>
                    <p:oleObj name="Equation" r:id="rId1" imgW="4267200" imgH="4267200" progId="Equation.DSMT4">
                      <p:embed/>
                      <p:pic>
                        <p:nvPicPr>
                          <p:cNvPr id="0" name="Object 7"/>
                          <p:cNvPicPr>
                            <a:picLocks noChangeAspect="1"/>
                          </p:cNvPicPr>
                          <p:nvPr/>
                        </p:nvPicPr>
                        <p:blipFill>
                          <a:blip r:embed="rId2"/>
                          <a:stretch>
                            <a:fillRect/>
                          </a:stretch>
                        </p:blipFill>
                        <p:spPr>
                          <a:xfrm>
                            <a:off x="1479" y="951"/>
                            <a:ext cx="268" cy="268"/>
                          </a:xfrm>
                          <a:prstGeom prst="rect">
                            <a:avLst/>
                          </a:prstGeom>
                          <a:noFill/>
                          <a:ln w="9525">
                            <a:noFill/>
                          </a:ln>
                        </p:spPr>
                      </p:pic>
                    </p:oleObj>
                  </mc:Fallback>
                </mc:AlternateContent>
              </a:graphicData>
            </a:graphic>
          </p:graphicFrame>
          <p:sp>
            <p:nvSpPr>
              <p:cNvPr id="67639" name="Line 8"/>
              <p:cNvSpPr>
                <a:spLocks noChangeShapeType="1"/>
              </p:cNvSpPr>
              <p:nvPr/>
            </p:nvSpPr>
            <p:spPr bwMode="auto">
              <a:xfrm>
                <a:off x="1296" y="1104"/>
                <a:ext cx="240" cy="0"/>
              </a:xfrm>
              <a:prstGeom prst="line">
                <a:avLst/>
              </a:prstGeom>
              <a:noFill/>
              <a:ln w="38100">
                <a:solidFill>
                  <a:srgbClr val="0000FF"/>
                </a:solidFill>
                <a:round/>
                <a:tailEnd type="triangle" w="med" len="med"/>
              </a:ln>
            </p:spPr>
            <p:txBody>
              <a:bodyPr/>
              <a:lstStyle/>
              <a:p>
                <a:endParaRPr lang="zh-CN" altLang="en-US"/>
              </a:p>
            </p:txBody>
          </p:sp>
        </p:grpSp>
      </p:grpSp>
      <p:grpSp>
        <p:nvGrpSpPr>
          <p:cNvPr id="4" name="Group 9"/>
          <p:cNvGrpSpPr/>
          <p:nvPr/>
        </p:nvGrpSpPr>
        <p:grpSpPr bwMode="auto">
          <a:xfrm>
            <a:off x="3402013" y="2506663"/>
            <a:ext cx="990600" cy="555625"/>
            <a:chOff x="2512" y="754"/>
            <a:chExt cx="624" cy="350"/>
          </a:xfrm>
        </p:grpSpPr>
        <p:sp>
          <p:nvSpPr>
            <p:cNvPr id="67635" name="Rectangle 10"/>
            <p:cNvSpPr>
              <a:spLocks noChangeArrowheads="1"/>
            </p:cNvSpPr>
            <p:nvPr/>
          </p:nvSpPr>
          <p:spPr bwMode="auto">
            <a:xfrm>
              <a:off x="2512" y="768"/>
              <a:ext cx="624" cy="336"/>
            </a:xfrm>
            <a:prstGeom prst="rect">
              <a:avLst/>
            </a:prstGeom>
            <a:solidFill>
              <a:srgbClr val="FFCC00"/>
            </a:solidFill>
            <a:ln w="9525">
              <a:noFill/>
              <a:miter lim="800000"/>
            </a:ln>
          </p:spPr>
          <p:txBody>
            <a:bodyPr wrap="none" anchor="ctr"/>
            <a:lstStyle/>
            <a:p>
              <a:pPr algn="ctr"/>
              <a:endParaRPr lang="zh-CN" altLang="en-US" b="1"/>
            </a:p>
          </p:txBody>
        </p:sp>
        <p:sp>
          <p:nvSpPr>
            <p:cNvPr id="67636" name="Line 11"/>
            <p:cNvSpPr>
              <a:spLocks noChangeShapeType="1"/>
            </p:cNvSpPr>
            <p:nvPr/>
          </p:nvSpPr>
          <p:spPr bwMode="auto">
            <a:xfrm>
              <a:off x="2637" y="768"/>
              <a:ext cx="0" cy="288"/>
            </a:xfrm>
            <a:prstGeom prst="line">
              <a:avLst/>
            </a:prstGeom>
            <a:noFill/>
            <a:ln w="38100">
              <a:solidFill>
                <a:schemeClr val="tx1"/>
              </a:solidFill>
              <a:round/>
              <a:headEnd type="triangle" w="med" len="med"/>
            </a:ln>
          </p:spPr>
          <p:txBody>
            <a:bodyPr/>
            <a:lstStyle/>
            <a:p>
              <a:endParaRPr lang="zh-CN" altLang="en-US"/>
            </a:p>
          </p:txBody>
        </p:sp>
        <p:graphicFrame>
          <p:nvGraphicFramePr>
            <p:cNvPr id="67597" name="Object 12"/>
            <p:cNvGraphicFramePr>
              <a:graphicFrameLocks noChangeAspect="1"/>
            </p:cNvGraphicFramePr>
            <p:nvPr/>
          </p:nvGraphicFramePr>
          <p:xfrm>
            <a:off x="2699" y="754"/>
            <a:ext cx="188" cy="264"/>
          </p:xfrm>
          <a:graphic>
            <a:graphicData uri="http://schemas.openxmlformats.org/presentationml/2006/ole">
              <mc:AlternateContent xmlns:mc="http://schemas.openxmlformats.org/markup-compatibility/2006">
                <mc:Choice xmlns:v="urn:schemas-microsoft-com:vml" Requires="v">
                  <p:oleObj spid="_x0000_s67597" name="公式" r:id="rId3" imgW="8229600" imgH="10058400" progId="Equation.3">
                    <p:embed/>
                  </p:oleObj>
                </mc:Choice>
                <mc:Fallback>
                  <p:oleObj name="公式" r:id="rId3" imgW="8229600" imgH="10058400" progId="Equation.3">
                    <p:embed/>
                    <p:pic>
                      <p:nvPicPr>
                        <p:cNvPr id="0" name="Object 12"/>
                        <p:cNvPicPr>
                          <a:picLocks noChangeAspect="1"/>
                        </p:cNvPicPr>
                        <p:nvPr/>
                      </p:nvPicPr>
                      <p:blipFill>
                        <a:blip r:embed="rId4"/>
                        <a:stretch>
                          <a:fillRect/>
                        </a:stretch>
                      </p:blipFill>
                      <p:spPr>
                        <a:xfrm>
                          <a:off x="2699" y="754"/>
                          <a:ext cx="188" cy="264"/>
                        </a:xfrm>
                        <a:prstGeom prst="rect">
                          <a:avLst/>
                        </a:prstGeom>
                        <a:noFill/>
                        <a:ln w="9525">
                          <a:noFill/>
                        </a:ln>
                      </p:spPr>
                    </p:pic>
                  </p:oleObj>
                </mc:Fallback>
              </mc:AlternateContent>
            </a:graphicData>
          </a:graphic>
        </p:graphicFrame>
      </p:grpSp>
      <p:graphicFrame>
        <p:nvGraphicFramePr>
          <p:cNvPr id="106509" name="Object 13"/>
          <p:cNvGraphicFramePr/>
          <p:nvPr/>
        </p:nvGraphicFramePr>
        <p:xfrm>
          <a:off x="447675" y="2506663"/>
          <a:ext cx="820738" cy="344487"/>
        </p:xfrm>
        <a:graphic>
          <a:graphicData uri="http://schemas.openxmlformats.org/presentationml/2006/ole">
            <mc:AlternateContent xmlns:mc="http://schemas.openxmlformats.org/markup-compatibility/2006">
              <mc:Choice xmlns:v="urn:schemas-microsoft-com:vml" Requires="v">
                <p:oleObj spid="_x0000_s67586" name="公式" r:id="rId5" imgW="23164800" imgH="9753600" progId="Equation.3">
                  <p:embed/>
                </p:oleObj>
              </mc:Choice>
              <mc:Fallback>
                <p:oleObj name="公式" r:id="rId5" imgW="23164800" imgH="9753600" progId="Equation.3">
                  <p:embed/>
                  <p:pic>
                    <p:nvPicPr>
                      <p:cNvPr id="0" name="Object 13"/>
                      <p:cNvPicPr/>
                      <p:nvPr/>
                    </p:nvPicPr>
                    <p:blipFill>
                      <a:blip r:embed="rId6"/>
                      <a:stretch>
                        <a:fillRect/>
                      </a:stretch>
                    </p:blipFill>
                    <p:spPr>
                      <a:xfrm>
                        <a:off x="447675" y="2506663"/>
                        <a:ext cx="820738" cy="344487"/>
                      </a:xfrm>
                      <a:prstGeom prst="rect">
                        <a:avLst/>
                      </a:prstGeom>
                      <a:noFill/>
                      <a:ln w="9525">
                        <a:noFill/>
                      </a:ln>
                    </p:spPr>
                  </p:pic>
                </p:oleObj>
              </mc:Fallback>
            </mc:AlternateContent>
          </a:graphicData>
        </a:graphic>
      </p:graphicFrame>
      <p:grpSp>
        <p:nvGrpSpPr>
          <p:cNvPr id="5" name="Group 14"/>
          <p:cNvGrpSpPr/>
          <p:nvPr/>
        </p:nvGrpSpPr>
        <p:grpSpPr bwMode="auto">
          <a:xfrm>
            <a:off x="3841750" y="3055938"/>
            <a:ext cx="552450" cy="747712"/>
            <a:chOff x="3651" y="1162"/>
            <a:chExt cx="348" cy="499"/>
          </a:xfrm>
        </p:grpSpPr>
        <p:sp>
          <p:nvSpPr>
            <p:cNvPr id="67633" name="Rectangle 15"/>
            <p:cNvSpPr>
              <a:spLocks noChangeArrowheads="1"/>
            </p:cNvSpPr>
            <p:nvPr/>
          </p:nvSpPr>
          <p:spPr bwMode="auto">
            <a:xfrm>
              <a:off x="3651" y="1162"/>
              <a:ext cx="348" cy="499"/>
            </a:xfrm>
            <a:prstGeom prst="rect">
              <a:avLst/>
            </a:prstGeom>
            <a:solidFill>
              <a:srgbClr val="FFCC00"/>
            </a:solidFill>
            <a:ln w="9525">
              <a:noFill/>
              <a:miter lim="800000"/>
            </a:ln>
          </p:spPr>
          <p:txBody>
            <a:bodyPr wrap="none" anchor="ctr"/>
            <a:lstStyle/>
            <a:p>
              <a:pPr algn="ctr"/>
              <a:endParaRPr lang="zh-CN" altLang="en-US" b="1"/>
            </a:p>
          </p:txBody>
        </p:sp>
        <p:sp>
          <p:nvSpPr>
            <p:cNvPr id="67634" name="Line 16"/>
            <p:cNvSpPr>
              <a:spLocks noChangeShapeType="1"/>
            </p:cNvSpPr>
            <p:nvPr/>
          </p:nvSpPr>
          <p:spPr bwMode="auto">
            <a:xfrm>
              <a:off x="3697" y="1407"/>
              <a:ext cx="0" cy="212"/>
            </a:xfrm>
            <a:prstGeom prst="line">
              <a:avLst/>
            </a:prstGeom>
            <a:noFill/>
            <a:ln w="38100">
              <a:solidFill>
                <a:schemeClr val="tx1"/>
              </a:solidFill>
              <a:round/>
              <a:headEnd type="triangle" w="med" len="med"/>
            </a:ln>
          </p:spPr>
          <p:txBody>
            <a:bodyPr/>
            <a:lstStyle/>
            <a:p>
              <a:endParaRPr lang="zh-CN" altLang="en-US"/>
            </a:p>
          </p:txBody>
        </p:sp>
        <p:graphicFrame>
          <p:nvGraphicFramePr>
            <p:cNvPr id="67596" name="Object 17"/>
            <p:cNvGraphicFramePr>
              <a:graphicFrameLocks noChangeAspect="1"/>
            </p:cNvGraphicFramePr>
            <p:nvPr/>
          </p:nvGraphicFramePr>
          <p:xfrm>
            <a:off x="3742" y="1362"/>
            <a:ext cx="236" cy="263"/>
          </p:xfrm>
          <a:graphic>
            <a:graphicData uri="http://schemas.openxmlformats.org/presentationml/2006/ole">
              <mc:AlternateContent xmlns:mc="http://schemas.openxmlformats.org/markup-compatibility/2006">
                <mc:Choice xmlns:v="urn:schemas-microsoft-com:vml" Requires="v">
                  <p:oleObj spid="_x0000_s67596" name="公式" r:id="rId7" imgW="9144000" imgH="10058400" progId="Equation.3">
                    <p:embed/>
                  </p:oleObj>
                </mc:Choice>
                <mc:Fallback>
                  <p:oleObj name="公式" r:id="rId7" imgW="9144000" imgH="10058400" progId="Equation.3">
                    <p:embed/>
                    <p:pic>
                      <p:nvPicPr>
                        <p:cNvPr id="0" name="Object 17"/>
                        <p:cNvPicPr>
                          <a:picLocks noChangeAspect="1"/>
                        </p:cNvPicPr>
                        <p:nvPr/>
                      </p:nvPicPr>
                      <p:blipFill>
                        <a:blip r:embed="rId8"/>
                        <a:stretch>
                          <a:fillRect/>
                        </a:stretch>
                      </p:blipFill>
                      <p:spPr>
                        <a:xfrm>
                          <a:off x="3742" y="1362"/>
                          <a:ext cx="236" cy="263"/>
                        </a:xfrm>
                        <a:prstGeom prst="rect">
                          <a:avLst/>
                        </a:prstGeom>
                        <a:noFill/>
                        <a:ln w="9525">
                          <a:noFill/>
                        </a:ln>
                      </p:spPr>
                    </p:pic>
                  </p:oleObj>
                </mc:Fallback>
              </mc:AlternateContent>
            </a:graphicData>
          </a:graphic>
        </p:graphicFrame>
      </p:grpSp>
      <p:grpSp>
        <p:nvGrpSpPr>
          <p:cNvPr id="6" name="Group 18"/>
          <p:cNvGrpSpPr/>
          <p:nvPr/>
        </p:nvGrpSpPr>
        <p:grpSpPr bwMode="auto">
          <a:xfrm>
            <a:off x="1116013" y="2074863"/>
            <a:ext cx="3657600" cy="468312"/>
            <a:chOff x="2415" y="799"/>
            <a:chExt cx="2304" cy="295"/>
          </a:xfrm>
        </p:grpSpPr>
        <p:sp>
          <p:nvSpPr>
            <p:cNvPr id="67631" name="Rectangle 19"/>
            <p:cNvSpPr>
              <a:spLocks noChangeArrowheads="1"/>
            </p:cNvSpPr>
            <p:nvPr/>
          </p:nvSpPr>
          <p:spPr bwMode="auto">
            <a:xfrm>
              <a:off x="2415" y="799"/>
              <a:ext cx="2304" cy="295"/>
            </a:xfrm>
            <a:prstGeom prst="rect">
              <a:avLst/>
            </a:prstGeom>
            <a:gradFill rotWithShape="1">
              <a:gsLst>
                <a:gs pos="0">
                  <a:srgbClr val="761847"/>
                </a:gs>
                <a:gs pos="50000">
                  <a:srgbClr val="FF3399"/>
                </a:gs>
                <a:gs pos="100000">
                  <a:srgbClr val="761847"/>
                </a:gs>
              </a:gsLst>
              <a:lin ang="5400000" scaled="1"/>
            </a:gradFill>
            <a:ln w="9525">
              <a:noFill/>
              <a:miter lim="800000"/>
            </a:ln>
          </p:spPr>
          <p:txBody>
            <a:bodyPr wrap="none" anchor="ctr"/>
            <a:lstStyle/>
            <a:p>
              <a:pPr algn="ctr"/>
              <a:endParaRPr lang="zh-CN" altLang="en-US" b="1"/>
            </a:p>
          </p:txBody>
        </p:sp>
        <p:graphicFrame>
          <p:nvGraphicFramePr>
            <p:cNvPr id="67595" name="Object 20"/>
            <p:cNvGraphicFramePr>
              <a:graphicFrameLocks noChangeAspect="1"/>
            </p:cNvGraphicFramePr>
            <p:nvPr/>
          </p:nvGraphicFramePr>
          <p:xfrm>
            <a:off x="3905" y="801"/>
            <a:ext cx="245" cy="266"/>
          </p:xfrm>
          <a:graphic>
            <a:graphicData uri="http://schemas.openxmlformats.org/presentationml/2006/ole">
              <mc:AlternateContent xmlns:mc="http://schemas.openxmlformats.org/markup-compatibility/2006">
                <mc:Choice xmlns:v="urn:schemas-microsoft-com:vml" Requires="v">
                  <p:oleObj spid="_x0000_s67595" name="公式" r:id="rId9" imgW="6400800" imgH="10058400" progId="Equation.3">
                    <p:embed/>
                  </p:oleObj>
                </mc:Choice>
                <mc:Fallback>
                  <p:oleObj name="公式" r:id="rId9" imgW="6400800" imgH="10058400" progId="Equation.3">
                    <p:embed/>
                    <p:pic>
                      <p:nvPicPr>
                        <p:cNvPr id="0" name="Object 20"/>
                        <p:cNvPicPr>
                          <a:picLocks noChangeAspect="1"/>
                        </p:cNvPicPr>
                        <p:nvPr/>
                      </p:nvPicPr>
                      <p:blipFill>
                        <a:blip r:embed="rId10"/>
                        <a:stretch>
                          <a:fillRect/>
                        </a:stretch>
                      </p:blipFill>
                      <p:spPr>
                        <a:xfrm>
                          <a:off x="3905" y="801"/>
                          <a:ext cx="245" cy="266"/>
                        </a:xfrm>
                        <a:prstGeom prst="rect">
                          <a:avLst/>
                        </a:prstGeom>
                        <a:noFill/>
                        <a:ln w="9525">
                          <a:noFill/>
                        </a:ln>
                      </p:spPr>
                    </p:pic>
                  </p:oleObj>
                </mc:Fallback>
              </mc:AlternateContent>
            </a:graphicData>
          </a:graphic>
        </p:graphicFrame>
        <p:sp>
          <p:nvSpPr>
            <p:cNvPr id="67632" name="Text Box 21"/>
            <p:cNvSpPr txBox="1">
              <a:spLocks noChangeArrowheads="1"/>
            </p:cNvSpPr>
            <p:nvPr/>
          </p:nvSpPr>
          <p:spPr bwMode="auto">
            <a:xfrm>
              <a:off x="2694" y="799"/>
              <a:ext cx="1166" cy="288"/>
            </a:xfrm>
            <a:prstGeom prst="rect">
              <a:avLst/>
            </a:prstGeom>
            <a:noFill/>
            <a:ln w="9525">
              <a:noFill/>
              <a:miter lim="800000"/>
            </a:ln>
          </p:spPr>
          <p:txBody>
            <a:bodyPr>
              <a:spAutoFit/>
            </a:bodyPr>
            <a:lstStyle/>
            <a:p>
              <a:r>
                <a:rPr kumimoji="1" lang="zh-CN" altLang="en-US" b="1">
                  <a:solidFill>
                    <a:schemeClr val="bg1"/>
                  </a:solidFill>
                </a:rPr>
                <a:t>高温热源</a:t>
              </a:r>
              <a:endParaRPr kumimoji="1" lang="zh-CN" altLang="en-US" b="1">
                <a:solidFill>
                  <a:schemeClr val="bg1"/>
                </a:solidFill>
              </a:endParaRPr>
            </a:p>
          </p:txBody>
        </p:sp>
      </p:grpSp>
      <p:grpSp>
        <p:nvGrpSpPr>
          <p:cNvPr id="7" name="Group 22"/>
          <p:cNvGrpSpPr/>
          <p:nvPr/>
        </p:nvGrpSpPr>
        <p:grpSpPr bwMode="auto">
          <a:xfrm>
            <a:off x="1116013" y="3803650"/>
            <a:ext cx="3733800" cy="461963"/>
            <a:chOff x="2415" y="1888"/>
            <a:chExt cx="2352" cy="291"/>
          </a:xfrm>
        </p:grpSpPr>
        <p:sp>
          <p:nvSpPr>
            <p:cNvPr id="67629" name="Rectangle 23"/>
            <p:cNvSpPr>
              <a:spLocks noChangeArrowheads="1"/>
            </p:cNvSpPr>
            <p:nvPr/>
          </p:nvSpPr>
          <p:spPr bwMode="auto">
            <a:xfrm>
              <a:off x="2415" y="1907"/>
              <a:ext cx="2352" cy="272"/>
            </a:xfrm>
            <a:prstGeom prst="rect">
              <a:avLst/>
            </a:prstGeom>
            <a:gradFill rotWithShape="1">
              <a:gsLst>
                <a:gs pos="0">
                  <a:srgbClr val="471800"/>
                </a:gs>
                <a:gs pos="50000">
                  <a:srgbClr val="993300"/>
                </a:gs>
                <a:gs pos="100000">
                  <a:srgbClr val="471800"/>
                </a:gs>
              </a:gsLst>
              <a:lin ang="5400000" scaled="1"/>
            </a:gradFill>
            <a:ln w="9525">
              <a:noFill/>
              <a:miter lim="800000"/>
            </a:ln>
          </p:spPr>
          <p:txBody>
            <a:bodyPr wrap="none" anchor="ctr"/>
            <a:lstStyle/>
            <a:p>
              <a:pPr algn="ctr"/>
              <a:endParaRPr lang="zh-CN" altLang="en-US" b="1"/>
            </a:p>
          </p:txBody>
        </p:sp>
        <p:graphicFrame>
          <p:nvGraphicFramePr>
            <p:cNvPr id="67594" name="Object 24"/>
            <p:cNvGraphicFramePr>
              <a:graphicFrameLocks noChangeAspect="1"/>
            </p:cNvGraphicFramePr>
            <p:nvPr/>
          </p:nvGraphicFramePr>
          <p:xfrm>
            <a:off x="3924" y="1917"/>
            <a:ext cx="283" cy="262"/>
          </p:xfrm>
          <a:graphic>
            <a:graphicData uri="http://schemas.openxmlformats.org/presentationml/2006/ole">
              <mc:AlternateContent xmlns:mc="http://schemas.openxmlformats.org/markup-compatibility/2006">
                <mc:Choice xmlns:v="urn:schemas-microsoft-com:vml" Requires="v">
                  <p:oleObj spid="_x0000_s67594" name="公式" r:id="rId11" imgW="7315200" imgH="10058400" progId="Equation.3">
                    <p:embed/>
                  </p:oleObj>
                </mc:Choice>
                <mc:Fallback>
                  <p:oleObj name="公式" r:id="rId11" imgW="7315200" imgH="10058400" progId="Equation.3">
                    <p:embed/>
                    <p:pic>
                      <p:nvPicPr>
                        <p:cNvPr id="0" name="Object 24"/>
                        <p:cNvPicPr>
                          <a:picLocks noChangeAspect="1"/>
                        </p:cNvPicPr>
                        <p:nvPr/>
                      </p:nvPicPr>
                      <p:blipFill>
                        <a:blip r:embed="rId12"/>
                        <a:stretch>
                          <a:fillRect/>
                        </a:stretch>
                      </p:blipFill>
                      <p:spPr>
                        <a:xfrm>
                          <a:off x="3924" y="1917"/>
                          <a:ext cx="283" cy="262"/>
                        </a:xfrm>
                        <a:prstGeom prst="rect">
                          <a:avLst/>
                        </a:prstGeom>
                        <a:noFill/>
                        <a:ln w="9525">
                          <a:noFill/>
                        </a:ln>
                      </p:spPr>
                    </p:pic>
                  </p:oleObj>
                </mc:Fallback>
              </mc:AlternateContent>
            </a:graphicData>
          </a:graphic>
        </p:graphicFrame>
        <p:sp>
          <p:nvSpPr>
            <p:cNvPr id="67630" name="Text Box 25"/>
            <p:cNvSpPr txBox="1">
              <a:spLocks noChangeArrowheads="1"/>
            </p:cNvSpPr>
            <p:nvPr/>
          </p:nvSpPr>
          <p:spPr bwMode="auto">
            <a:xfrm>
              <a:off x="2700" y="1888"/>
              <a:ext cx="1160" cy="288"/>
            </a:xfrm>
            <a:prstGeom prst="rect">
              <a:avLst/>
            </a:prstGeom>
            <a:noFill/>
            <a:ln w="9525">
              <a:noFill/>
              <a:miter lim="800000"/>
            </a:ln>
          </p:spPr>
          <p:txBody>
            <a:bodyPr>
              <a:spAutoFit/>
            </a:bodyPr>
            <a:lstStyle/>
            <a:p>
              <a:r>
                <a:rPr kumimoji="1" lang="zh-CN" altLang="en-US" b="1">
                  <a:solidFill>
                    <a:schemeClr val="bg1"/>
                  </a:solidFill>
                </a:rPr>
                <a:t>低温热源</a:t>
              </a:r>
              <a:endParaRPr kumimoji="1" lang="zh-CN" altLang="en-US" b="1">
                <a:solidFill>
                  <a:schemeClr val="bg1"/>
                </a:solidFill>
              </a:endParaRPr>
            </a:p>
          </p:txBody>
        </p:sp>
      </p:grpSp>
      <p:grpSp>
        <p:nvGrpSpPr>
          <p:cNvPr id="8" name="Group 26"/>
          <p:cNvGrpSpPr/>
          <p:nvPr/>
        </p:nvGrpSpPr>
        <p:grpSpPr bwMode="auto">
          <a:xfrm>
            <a:off x="1649413" y="2524125"/>
            <a:ext cx="608012" cy="541338"/>
            <a:chOff x="1408" y="765"/>
            <a:chExt cx="383" cy="341"/>
          </a:xfrm>
        </p:grpSpPr>
        <p:sp>
          <p:nvSpPr>
            <p:cNvPr id="67627" name="Rectangle 27"/>
            <p:cNvSpPr>
              <a:spLocks noChangeArrowheads="1"/>
            </p:cNvSpPr>
            <p:nvPr/>
          </p:nvSpPr>
          <p:spPr bwMode="auto">
            <a:xfrm>
              <a:off x="1408" y="770"/>
              <a:ext cx="383" cy="336"/>
            </a:xfrm>
            <a:prstGeom prst="rect">
              <a:avLst/>
            </a:prstGeom>
            <a:solidFill>
              <a:srgbClr val="FFCC00"/>
            </a:solidFill>
            <a:ln w="9525">
              <a:noFill/>
              <a:miter lim="800000"/>
            </a:ln>
          </p:spPr>
          <p:txBody>
            <a:bodyPr wrap="none" anchor="ctr"/>
            <a:lstStyle/>
            <a:p>
              <a:pPr algn="ctr"/>
              <a:endParaRPr lang="zh-CN" altLang="en-US" b="1"/>
            </a:p>
          </p:txBody>
        </p:sp>
        <p:graphicFrame>
          <p:nvGraphicFramePr>
            <p:cNvPr id="67593" name="Object 28"/>
            <p:cNvGraphicFramePr>
              <a:graphicFrameLocks noChangeAspect="1"/>
            </p:cNvGraphicFramePr>
            <p:nvPr/>
          </p:nvGraphicFramePr>
          <p:xfrm>
            <a:off x="1542" y="765"/>
            <a:ext cx="204" cy="254"/>
          </p:xfrm>
          <a:graphic>
            <a:graphicData uri="http://schemas.openxmlformats.org/presentationml/2006/ole">
              <mc:AlternateContent xmlns:mc="http://schemas.openxmlformats.org/markup-compatibility/2006">
                <mc:Choice xmlns:v="urn:schemas-microsoft-com:vml" Requires="v">
                  <p:oleObj spid="_x0000_s67593" name="公式" r:id="rId13" imgW="8839200" imgH="9753600" progId="Equation.3">
                    <p:embed/>
                  </p:oleObj>
                </mc:Choice>
                <mc:Fallback>
                  <p:oleObj name="公式" r:id="rId13" imgW="8839200" imgH="9753600" progId="Equation.3">
                    <p:embed/>
                    <p:pic>
                      <p:nvPicPr>
                        <p:cNvPr id="0" name="Object 28"/>
                        <p:cNvPicPr>
                          <a:picLocks noChangeAspect="1"/>
                        </p:cNvPicPr>
                        <p:nvPr/>
                      </p:nvPicPr>
                      <p:blipFill>
                        <a:blip r:embed="rId14"/>
                        <a:stretch>
                          <a:fillRect/>
                        </a:stretch>
                      </p:blipFill>
                      <p:spPr>
                        <a:xfrm>
                          <a:off x="1542" y="765"/>
                          <a:ext cx="204" cy="254"/>
                        </a:xfrm>
                        <a:prstGeom prst="rect">
                          <a:avLst/>
                        </a:prstGeom>
                        <a:noFill/>
                        <a:ln w="9525">
                          <a:noFill/>
                        </a:ln>
                      </p:spPr>
                    </p:pic>
                  </p:oleObj>
                </mc:Fallback>
              </mc:AlternateContent>
            </a:graphicData>
          </a:graphic>
        </p:graphicFrame>
        <p:sp>
          <p:nvSpPr>
            <p:cNvPr id="67628" name="Line 29"/>
            <p:cNvSpPr>
              <a:spLocks noChangeShapeType="1"/>
            </p:cNvSpPr>
            <p:nvPr/>
          </p:nvSpPr>
          <p:spPr bwMode="auto">
            <a:xfrm>
              <a:off x="1456" y="786"/>
              <a:ext cx="0" cy="240"/>
            </a:xfrm>
            <a:prstGeom prst="line">
              <a:avLst/>
            </a:prstGeom>
            <a:noFill/>
            <a:ln w="38100">
              <a:solidFill>
                <a:schemeClr val="tx2"/>
              </a:solidFill>
              <a:round/>
              <a:tailEnd type="triangle" w="med" len="med"/>
            </a:ln>
          </p:spPr>
          <p:txBody>
            <a:bodyPr/>
            <a:lstStyle/>
            <a:p>
              <a:endParaRPr lang="zh-CN" altLang="en-US"/>
            </a:p>
          </p:txBody>
        </p:sp>
      </p:grpSp>
      <p:sp>
        <p:nvSpPr>
          <p:cNvPr id="106526" name="AutoShape 30"/>
          <p:cNvSpPr>
            <a:spLocks noChangeArrowheads="1"/>
          </p:cNvSpPr>
          <p:nvPr/>
        </p:nvSpPr>
        <p:spPr bwMode="auto">
          <a:xfrm>
            <a:off x="1344613" y="2909888"/>
            <a:ext cx="1295400" cy="685800"/>
          </a:xfrm>
          <a:prstGeom prst="roundRect">
            <a:avLst>
              <a:gd name="adj" fmla="val 16667"/>
            </a:avLst>
          </a:prstGeom>
          <a:noFill/>
          <a:ln w="28575">
            <a:solidFill>
              <a:srgbClr val="3333CC"/>
            </a:solidFill>
            <a:prstDash val="dash"/>
            <a:round/>
          </a:ln>
        </p:spPr>
        <p:txBody>
          <a:bodyPr wrap="none" anchor="ctr"/>
          <a:lstStyle/>
          <a:p>
            <a:pPr algn="ctr"/>
            <a:endParaRPr lang="zh-CN" altLang="en-US" b="1"/>
          </a:p>
        </p:txBody>
      </p:sp>
      <p:graphicFrame>
        <p:nvGraphicFramePr>
          <p:cNvPr id="106527" name="Object 31"/>
          <p:cNvGraphicFramePr/>
          <p:nvPr/>
        </p:nvGraphicFramePr>
        <p:xfrm>
          <a:off x="4922838" y="2074863"/>
          <a:ext cx="323850" cy="355600"/>
        </p:xfrm>
        <a:graphic>
          <a:graphicData uri="http://schemas.openxmlformats.org/presentationml/2006/ole">
            <mc:AlternateContent xmlns:mc="http://schemas.openxmlformats.org/markup-compatibility/2006">
              <mc:Choice xmlns:v="urn:schemas-microsoft-com:vml" Requires="v">
                <p:oleObj spid="_x0000_s67587" name="公式" r:id="rId15" imgW="9144000" imgH="10058400" progId="Equation.3">
                  <p:embed/>
                </p:oleObj>
              </mc:Choice>
              <mc:Fallback>
                <p:oleObj name="公式" r:id="rId15" imgW="9144000" imgH="10058400" progId="Equation.3">
                  <p:embed/>
                  <p:pic>
                    <p:nvPicPr>
                      <p:cNvPr id="0" name="Object 31"/>
                      <p:cNvPicPr/>
                      <p:nvPr/>
                    </p:nvPicPr>
                    <p:blipFill>
                      <a:blip r:embed="rId16"/>
                      <a:stretch>
                        <a:fillRect/>
                      </a:stretch>
                    </p:blipFill>
                    <p:spPr>
                      <a:xfrm>
                        <a:off x="4922838" y="2074863"/>
                        <a:ext cx="323850" cy="355600"/>
                      </a:xfrm>
                      <a:prstGeom prst="rect">
                        <a:avLst/>
                      </a:prstGeom>
                      <a:noFill/>
                      <a:ln w="9525">
                        <a:noFill/>
                      </a:ln>
                    </p:spPr>
                  </p:pic>
                </p:oleObj>
              </mc:Fallback>
            </mc:AlternateContent>
          </a:graphicData>
        </a:graphic>
      </p:graphicFrame>
      <p:graphicFrame>
        <p:nvGraphicFramePr>
          <p:cNvPr id="106528" name="Object 32"/>
          <p:cNvGraphicFramePr/>
          <p:nvPr/>
        </p:nvGraphicFramePr>
        <p:xfrm>
          <a:off x="4429125" y="3016250"/>
          <a:ext cx="1214438" cy="357188"/>
        </p:xfrm>
        <a:graphic>
          <a:graphicData uri="http://schemas.openxmlformats.org/presentationml/2006/ole">
            <mc:AlternateContent xmlns:mc="http://schemas.openxmlformats.org/markup-compatibility/2006">
              <mc:Choice xmlns:v="urn:schemas-microsoft-com:vml" Requires="v">
                <p:oleObj spid="_x0000_s67588" name="公式" r:id="rId17" imgW="18288000" imgH="5181600" progId="Equation.3">
                  <p:embed/>
                </p:oleObj>
              </mc:Choice>
              <mc:Fallback>
                <p:oleObj name="公式" r:id="rId17" imgW="18288000" imgH="5181600" progId="Equation.3">
                  <p:embed/>
                  <p:pic>
                    <p:nvPicPr>
                      <p:cNvPr id="0" name="Object 32"/>
                      <p:cNvPicPr/>
                      <p:nvPr/>
                    </p:nvPicPr>
                    <p:blipFill>
                      <a:blip r:embed="rId18"/>
                      <a:stretch>
                        <a:fillRect/>
                      </a:stretch>
                    </p:blipFill>
                    <p:spPr>
                      <a:xfrm>
                        <a:off x="4429125" y="3016250"/>
                        <a:ext cx="1214438" cy="357188"/>
                      </a:xfrm>
                      <a:prstGeom prst="rect">
                        <a:avLst/>
                      </a:prstGeom>
                      <a:noFill/>
                      <a:ln w="9525">
                        <a:noFill/>
                      </a:ln>
                    </p:spPr>
                  </p:pic>
                </p:oleObj>
              </mc:Fallback>
            </mc:AlternateContent>
          </a:graphicData>
        </a:graphic>
      </p:graphicFrame>
      <p:sp>
        <p:nvSpPr>
          <p:cNvPr id="106529" name="AutoShape 33"/>
          <p:cNvSpPr>
            <a:spLocks noChangeArrowheads="1"/>
          </p:cNvSpPr>
          <p:nvPr/>
        </p:nvSpPr>
        <p:spPr bwMode="auto">
          <a:xfrm rot="-5400000">
            <a:off x="4643438" y="1320800"/>
            <a:ext cx="360362" cy="503238"/>
          </a:xfrm>
          <a:prstGeom prst="downArrow">
            <a:avLst>
              <a:gd name="adj1" fmla="val 50000"/>
              <a:gd name="adj2" fmla="val 34912"/>
            </a:avLst>
          </a:prstGeom>
          <a:solidFill>
            <a:srgbClr val="3333CC"/>
          </a:solidFill>
          <a:ln w="9525">
            <a:solidFill>
              <a:srgbClr val="FFCCFF"/>
            </a:solidFill>
            <a:miter lim="800000"/>
          </a:ln>
        </p:spPr>
        <p:txBody>
          <a:bodyPr vert="eaVert" wrap="none" anchor="ctr"/>
          <a:lstStyle/>
          <a:p>
            <a:pPr algn="ctr"/>
            <a:endParaRPr lang="zh-CN" altLang="en-US" b="1"/>
          </a:p>
        </p:txBody>
      </p:sp>
      <p:sp>
        <p:nvSpPr>
          <p:cNvPr id="106530" name="Text Box 34"/>
          <p:cNvSpPr txBox="1">
            <a:spLocks noChangeArrowheads="1"/>
          </p:cNvSpPr>
          <p:nvPr/>
        </p:nvSpPr>
        <p:spPr bwMode="auto">
          <a:xfrm>
            <a:off x="336550" y="4959350"/>
            <a:ext cx="990600" cy="457200"/>
          </a:xfrm>
          <a:prstGeom prst="rect">
            <a:avLst/>
          </a:prstGeom>
          <a:noFill/>
          <a:ln w="9525">
            <a:noFill/>
            <a:miter lim="800000"/>
          </a:ln>
        </p:spPr>
        <p:txBody>
          <a:bodyPr>
            <a:spAutoFit/>
          </a:bodyPr>
          <a:lstStyle/>
          <a:p>
            <a:pPr>
              <a:spcBef>
                <a:spcPct val="50000"/>
              </a:spcBef>
            </a:pPr>
            <a:r>
              <a:rPr lang="zh-CN" altLang="en-US" b="1">
                <a:solidFill>
                  <a:srgbClr val="FF0000"/>
                </a:solidFill>
              </a:rPr>
              <a:t>分析：</a:t>
            </a:r>
            <a:endParaRPr lang="zh-CN" altLang="en-US" b="1">
              <a:solidFill>
                <a:srgbClr val="FF0000"/>
              </a:solidFill>
            </a:endParaRPr>
          </a:p>
        </p:txBody>
      </p:sp>
      <p:sp>
        <p:nvSpPr>
          <p:cNvPr id="106531" name="Text Box 35"/>
          <p:cNvSpPr txBox="1">
            <a:spLocks noChangeArrowheads="1"/>
          </p:cNvSpPr>
          <p:nvPr/>
        </p:nvSpPr>
        <p:spPr bwMode="auto">
          <a:xfrm>
            <a:off x="1403350" y="4883150"/>
            <a:ext cx="6934200" cy="520700"/>
          </a:xfrm>
          <a:prstGeom prst="rect">
            <a:avLst/>
          </a:prstGeom>
          <a:noFill/>
          <a:ln w="9525">
            <a:noFill/>
            <a:miter lim="800000"/>
          </a:ln>
        </p:spPr>
        <p:txBody>
          <a:bodyPr>
            <a:spAutoFit/>
          </a:bodyPr>
          <a:lstStyle/>
          <a:p>
            <a:pPr>
              <a:lnSpc>
                <a:spcPct val="130000"/>
              </a:lnSpc>
              <a:spcBef>
                <a:spcPct val="50000"/>
              </a:spcBef>
            </a:pPr>
            <a:r>
              <a:rPr lang="zh-CN" altLang="en-US" b="1">
                <a:solidFill>
                  <a:srgbClr val="FF6600"/>
                </a:solidFill>
              </a:rPr>
              <a:t>假设</a:t>
            </a:r>
            <a:r>
              <a:rPr lang="zh-CN" altLang="en-US" b="1">
                <a:solidFill>
                  <a:srgbClr val="0000FF"/>
                </a:solidFill>
              </a:rPr>
              <a:t>“</a:t>
            </a:r>
            <a:r>
              <a:rPr kumimoji="1" lang="zh-CN" altLang="en-US" b="1">
                <a:solidFill>
                  <a:srgbClr val="0000FF"/>
                </a:solidFill>
              </a:rPr>
              <a:t>开尔文表述不成立，而克劳修斯表述成立”</a:t>
            </a:r>
            <a:r>
              <a:rPr kumimoji="1" lang="zh-CN" altLang="en-US" b="1"/>
              <a:t>。</a:t>
            </a:r>
            <a:endParaRPr kumimoji="1" lang="zh-CN" altLang="en-US" b="1"/>
          </a:p>
        </p:txBody>
      </p:sp>
      <p:grpSp>
        <p:nvGrpSpPr>
          <p:cNvPr id="9" name="Group 36"/>
          <p:cNvGrpSpPr/>
          <p:nvPr/>
        </p:nvGrpSpPr>
        <p:grpSpPr bwMode="auto">
          <a:xfrm>
            <a:off x="7092950" y="3011488"/>
            <a:ext cx="552450" cy="890587"/>
            <a:chOff x="3651" y="1162"/>
            <a:chExt cx="348" cy="499"/>
          </a:xfrm>
        </p:grpSpPr>
        <p:sp>
          <p:nvSpPr>
            <p:cNvPr id="67625" name="Rectangle 37"/>
            <p:cNvSpPr>
              <a:spLocks noChangeArrowheads="1"/>
            </p:cNvSpPr>
            <p:nvPr/>
          </p:nvSpPr>
          <p:spPr bwMode="auto">
            <a:xfrm>
              <a:off x="3651" y="1162"/>
              <a:ext cx="348" cy="499"/>
            </a:xfrm>
            <a:prstGeom prst="rect">
              <a:avLst/>
            </a:prstGeom>
            <a:solidFill>
              <a:srgbClr val="FFCC00"/>
            </a:solidFill>
            <a:ln w="9525">
              <a:noFill/>
              <a:miter lim="800000"/>
            </a:ln>
          </p:spPr>
          <p:txBody>
            <a:bodyPr wrap="none" anchor="ctr"/>
            <a:lstStyle/>
            <a:p>
              <a:pPr algn="ctr"/>
              <a:endParaRPr lang="zh-CN" altLang="en-US" b="1"/>
            </a:p>
          </p:txBody>
        </p:sp>
        <p:sp>
          <p:nvSpPr>
            <p:cNvPr id="67626" name="Line 38"/>
            <p:cNvSpPr>
              <a:spLocks noChangeShapeType="1"/>
            </p:cNvSpPr>
            <p:nvPr/>
          </p:nvSpPr>
          <p:spPr bwMode="auto">
            <a:xfrm>
              <a:off x="3697" y="1407"/>
              <a:ext cx="0" cy="212"/>
            </a:xfrm>
            <a:prstGeom prst="line">
              <a:avLst/>
            </a:prstGeom>
            <a:noFill/>
            <a:ln w="38100">
              <a:solidFill>
                <a:schemeClr val="tx1"/>
              </a:solidFill>
              <a:round/>
              <a:headEnd type="triangle" w="med" len="med"/>
            </a:ln>
          </p:spPr>
          <p:txBody>
            <a:bodyPr/>
            <a:lstStyle/>
            <a:p>
              <a:endParaRPr lang="zh-CN" altLang="en-US"/>
            </a:p>
          </p:txBody>
        </p:sp>
        <p:graphicFrame>
          <p:nvGraphicFramePr>
            <p:cNvPr id="67592" name="Object 39"/>
            <p:cNvGraphicFramePr>
              <a:graphicFrameLocks noChangeAspect="1"/>
            </p:cNvGraphicFramePr>
            <p:nvPr/>
          </p:nvGraphicFramePr>
          <p:xfrm>
            <a:off x="3742" y="1362"/>
            <a:ext cx="236" cy="263"/>
          </p:xfrm>
          <a:graphic>
            <a:graphicData uri="http://schemas.openxmlformats.org/presentationml/2006/ole">
              <mc:AlternateContent xmlns:mc="http://schemas.openxmlformats.org/markup-compatibility/2006">
                <mc:Choice xmlns:v="urn:schemas-microsoft-com:vml" Requires="v">
                  <p:oleObj spid="_x0000_s67592" name="公式" r:id="rId19" imgW="9144000" imgH="10058400" progId="Equation.3">
                    <p:embed/>
                  </p:oleObj>
                </mc:Choice>
                <mc:Fallback>
                  <p:oleObj name="公式" r:id="rId19" imgW="9144000" imgH="10058400" progId="Equation.3">
                    <p:embed/>
                    <p:pic>
                      <p:nvPicPr>
                        <p:cNvPr id="0" name="Object 39"/>
                        <p:cNvPicPr>
                          <a:picLocks noChangeAspect="1"/>
                        </p:cNvPicPr>
                        <p:nvPr/>
                      </p:nvPicPr>
                      <p:blipFill>
                        <a:blip r:embed="rId8"/>
                        <a:stretch>
                          <a:fillRect/>
                        </a:stretch>
                      </p:blipFill>
                      <p:spPr>
                        <a:xfrm>
                          <a:off x="3742" y="1362"/>
                          <a:ext cx="236" cy="263"/>
                        </a:xfrm>
                        <a:prstGeom prst="rect">
                          <a:avLst/>
                        </a:prstGeom>
                        <a:noFill/>
                        <a:ln w="9525">
                          <a:noFill/>
                        </a:ln>
                      </p:spPr>
                    </p:pic>
                  </p:oleObj>
                </mc:Fallback>
              </mc:AlternateContent>
            </a:graphicData>
          </a:graphic>
        </p:graphicFrame>
      </p:grpSp>
      <p:grpSp>
        <p:nvGrpSpPr>
          <p:cNvPr id="10" name="Group 40"/>
          <p:cNvGrpSpPr/>
          <p:nvPr/>
        </p:nvGrpSpPr>
        <p:grpSpPr bwMode="auto">
          <a:xfrm>
            <a:off x="6348413" y="3875088"/>
            <a:ext cx="1968500" cy="503237"/>
            <a:chOff x="6176" y="2523"/>
            <a:chExt cx="1240" cy="317"/>
          </a:xfrm>
        </p:grpSpPr>
        <p:sp>
          <p:nvSpPr>
            <p:cNvPr id="67623" name="Rectangle 41"/>
            <p:cNvSpPr>
              <a:spLocks noChangeArrowheads="1"/>
            </p:cNvSpPr>
            <p:nvPr/>
          </p:nvSpPr>
          <p:spPr bwMode="auto">
            <a:xfrm>
              <a:off x="6176" y="2542"/>
              <a:ext cx="1240" cy="298"/>
            </a:xfrm>
            <a:prstGeom prst="rect">
              <a:avLst/>
            </a:prstGeom>
            <a:gradFill rotWithShape="1">
              <a:gsLst>
                <a:gs pos="0">
                  <a:srgbClr val="471800"/>
                </a:gs>
                <a:gs pos="50000">
                  <a:srgbClr val="993300"/>
                </a:gs>
                <a:gs pos="100000">
                  <a:srgbClr val="471800"/>
                </a:gs>
              </a:gsLst>
              <a:lin ang="5400000" scaled="1"/>
            </a:gradFill>
            <a:ln w="9525">
              <a:noFill/>
              <a:miter lim="800000"/>
            </a:ln>
          </p:spPr>
          <p:txBody>
            <a:bodyPr wrap="none" anchor="ctr"/>
            <a:lstStyle/>
            <a:p>
              <a:pPr algn="ctr"/>
              <a:endParaRPr lang="zh-CN" altLang="en-US" b="1"/>
            </a:p>
          </p:txBody>
        </p:sp>
        <p:graphicFrame>
          <p:nvGraphicFramePr>
            <p:cNvPr id="67591" name="Object 42"/>
            <p:cNvGraphicFramePr>
              <a:graphicFrameLocks noChangeAspect="1"/>
            </p:cNvGraphicFramePr>
            <p:nvPr/>
          </p:nvGraphicFramePr>
          <p:xfrm>
            <a:off x="7053" y="2523"/>
            <a:ext cx="283" cy="262"/>
          </p:xfrm>
          <a:graphic>
            <a:graphicData uri="http://schemas.openxmlformats.org/presentationml/2006/ole">
              <mc:AlternateContent xmlns:mc="http://schemas.openxmlformats.org/markup-compatibility/2006">
                <mc:Choice xmlns:v="urn:schemas-microsoft-com:vml" Requires="v">
                  <p:oleObj spid="_x0000_s67591" name="公式" r:id="rId20" imgW="7315200" imgH="10058400" progId="Equation.3">
                    <p:embed/>
                  </p:oleObj>
                </mc:Choice>
                <mc:Fallback>
                  <p:oleObj name="公式" r:id="rId20" imgW="7315200" imgH="10058400" progId="Equation.3">
                    <p:embed/>
                    <p:pic>
                      <p:nvPicPr>
                        <p:cNvPr id="0" name="Object 42"/>
                        <p:cNvPicPr>
                          <a:picLocks noChangeAspect="1"/>
                        </p:cNvPicPr>
                        <p:nvPr/>
                      </p:nvPicPr>
                      <p:blipFill>
                        <a:blip r:embed="rId12"/>
                        <a:stretch>
                          <a:fillRect/>
                        </a:stretch>
                      </p:blipFill>
                      <p:spPr>
                        <a:xfrm>
                          <a:off x="7053" y="2523"/>
                          <a:ext cx="283" cy="262"/>
                        </a:xfrm>
                        <a:prstGeom prst="rect">
                          <a:avLst/>
                        </a:prstGeom>
                        <a:noFill/>
                        <a:ln w="9525">
                          <a:noFill/>
                        </a:ln>
                      </p:spPr>
                    </p:pic>
                  </p:oleObj>
                </mc:Fallback>
              </mc:AlternateContent>
            </a:graphicData>
          </a:graphic>
        </p:graphicFrame>
        <p:sp>
          <p:nvSpPr>
            <p:cNvPr id="67624" name="Text Box 43"/>
            <p:cNvSpPr txBox="1">
              <a:spLocks noChangeArrowheads="1"/>
            </p:cNvSpPr>
            <p:nvPr/>
          </p:nvSpPr>
          <p:spPr bwMode="auto">
            <a:xfrm>
              <a:off x="6191" y="2523"/>
              <a:ext cx="1160" cy="288"/>
            </a:xfrm>
            <a:prstGeom prst="rect">
              <a:avLst/>
            </a:prstGeom>
            <a:noFill/>
            <a:ln w="9525">
              <a:noFill/>
              <a:miter lim="800000"/>
            </a:ln>
          </p:spPr>
          <p:txBody>
            <a:bodyPr>
              <a:spAutoFit/>
            </a:bodyPr>
            <a:lstStyle/>
            <a:p>
              <a:r>
                <a:rPr kumimoji="1" lang="zh-CN" altLang="en-US" b="1">
                  <a:solidFill>
                    <a:schemeClr val="bg1"/>
                  </a:solidFill>
                </a:rPr>
                <a:t>低温热源</a:t>
              </a:r>
              <a:endParaRPr kumimoji="1" lang="zh-CN" altLang="en-US" b="1">
                <a:solidFill>
                  <a:schemeClr val="bg1"/>
                </a:solidFill>
              </a:endParaRPr>
            </a:p>
          </p:txBody>
        </p:sp>
      </p:grpSp>
      <p:grpSp>
        <p:nvGrpSpPr>
          <p:cNvPr id="11" name="Group 44"/>
          <p:cNvGrpSpPr/>
          <p:nvPr/>
        </p:nvGrpSpPr>
        <p:grpSpPr bwMode="auto">
          <a:xfrm>
            <a:off x="7092950" y="2435225"/>
            <a:ext cx="552450" cy="747713"/>
            <a:chOff x="3651" y="1162"/>
            <a:chExt cx="348" cy="499"/>
          </a:xfrm>
        </p:grpSpPr>
        <p:sp>
          <p:nvSpPr>
            <p:cNvPr id="67621" name="Rectangle 45"/>
            <p:cNvSpPr>
              <a:spLocks noChangeArrowheads="1"/>
            </p:cNvSpPr>
            <p:nvPr/>
          </p:nvSpPr>
          <p:spPr bwMode="auto">
            <a:xfrm>
              <a:off x="3651" y="1162"/>
              <a:ext cx="348" cy="499"/>
            </a:xfrm>
            <a:prstGeom prst="rect">
              <a:avLst/>
            </a:prstGeom>
            <a:solidFill>
              <a:srgbClr val="FFCC00"/>
            </a:solidFill>
            <a:ln w="9525">
              <a:noFill/>
              <a:miter lim="800000"/>
            </a:ln>
          </p:spPr>
          <p:txBody>
            <a:bodyPr wrap="none" anchor="ctr"/>
            <a:lstStyle/>
            <a:p>
              <a:pPr algn="ctr"/>
              <a:endParaRPr lang="zh-CN" altLang="en-US" b="1"/>
            </a:p>
          </p:txBody>
        </p:sp>
        <p:sp>
          <p:nvSpPr>
            <p:cNvPr id="67622" name="Line 46"/>
            <p:cNvSpPr>
              <a:spLocks noChangeShapeType="1"/>
            </p:cNvSpPr>
            <p:nvPr/>
          </p:nvSpPr>
          <p:spPr bwMode="auto">
            <a:xfrm>
              <a:off x="3697" y="1407"/>
              <a:ext cx="0" cy="212"/>
            </a:xfrm>
            <a:prstGeom prst="line">
              <a:avLst/>
            </a:prstGeom>
            <a:noFill/>
            <a:ln w="38100">
              <a:solidFill>
                <a:schemeClr val="tx1"/>
              </a:solidFill>
              <a:round/>
              <a:headEnd type="triangle" w="med" len="med"/>
            </a:ln>
          </p:spPr>
          <p:txBody>
            <a:bodyPr/>
            <a:lstStyle/>
            <a:p>
              <a:endParaRPr lang="zh-CN" altLang="en-US"/>
            </a:p>
          </p:txBody>
        </p:sp>
        <p:graphicFrame>
          <p:nvGraphicFramePr>
            <p:cNvPr id="67590" name="Object 47"/>
            <p:cNvGraphicFramePr>
              <a:graphicFrameLocks noChangeAspect="1"/>
            </p:cNvGraphicFramePr>
            <p:nvPr/>
          </p:nvGraphicFramePr>
          <p:xfrm>
            <a:off x="3742" y="1362"/>
            <a:ext cx="236" cy="263"/>
          </p:xfrm>
          <a:graphic>
            <a:graphicData uri="http://schemas.openxmlformats.org/presentationml/2006/ole">
              <mc:AlternateContent xmlns:mc="http://schemas.openxmlformats.org/markup-compatibility/2006">
                <mc:Choice xmlns:v="urn:schemas-microsoft-com:vml" Requires="v">
                  <p:oleObj spid="_x0000_s67590" name="公式" r:id="rId21" imgW="9144000" imgH="10058400" progId="Equation.3">
                    <p:embed/>
                  </p:oleObj>
                </mc:Choice>
                <mc:Fallback>
                  <p:oleObj name="公式" r:id="rId21" imgW="9144000" imgH="10058400" progId="Equation.3">
                    <p:embed/>
                    <p:pic>
                      <p:nvPicPr>
                        <p:cNvPr id="0" name="Object 47"/>
                        <p:cNvPicPr>
                          <a:picLocks noChangeAspect="1"/>
                        </p:cNvPicPr>
                        <p:nvPr/>
                      </p:nvPicPr>
                      <p:blipFill>
                        <a:blip r:embed="rId8"/>
                        <a:stretch>
                          <a:fillRect/>
                        </a:stretch>
                      </p:blipFill>
                      <p:spPr>
                        <a:xfrm>
                          <a:off x="3742" y="1362"/>
                          <a:ext cx="236" cy="263"/>
                        </a:xfrm>
                        <a:prstGeom prst="rect">
                          <a:avLst/>
                        </a:prstGeom>
                        <a:noFill/>
                        <a:ln w="9525">
                          <a:noFill/>
                        </a:ln>
                      </p:spPr>
                    </p:pic>
                  </p:oleObj>
                </mc:Fallback>
              </mc:AlternateContent>
            </a:graphicData>
          </a:graphic>
        </p:graphicFrame>
      </p:grpSp>
      <p:grpSp>
        <p:nvGrpSpPr>
          <p:cNvPr id="12" name="Group 48"/>
          <p:cNvGrpSpPr/>
          <p:nvPr/>
        </p:nvGrpSpPr>
        <p:grpSpPr bwMode="auto">
          <a:xfrm>
            <a:off x="6445250" y="2003425"/>
            <a:ext cx="1897063" cy="468313"/>
            <a:chOff x="6176" y="1434"/>
            <a:chExt cx="1195" cy="295"/>
          </a:xfrm>
        </p:grpSpPr>
        <p:sp>
          <p:nvSpPr>
            <p:cNvPr id="67619" name="Rectangle 49"/>
            <p:cNvSpPr>
              <a:spLocks noChangeArrowheads="1"/>
            </p:cNvSpPr>
            <p:nvPr/>
          </p:nvSpPr>
          <p:spPr bwMode="auto">
            <a:xfrm>
              <a:off x="6176" y="1434"/>
              <a:ext cx="1195" cy="295"/>
            </a:xfrm>
            <a:prstGeom prst="rect">
              <a:avLst/>
            </a:prstGeom>
            <a:gradFill rotWithShape="1">
              <a:gsLst>
                <a:gs pos="0">
                  <a:srgbClr val="761847"/>
                </a:gs>
                <a:gs pos="50000">
                  <a:srgbClr val="FF3399"/>
                </a:gs>
                <a:gs pos="100000">
                  <a:srgbClr val="761847"/>
                </a:gs>
              </a:gsLst>
              <a:lin ang="5400000" scaled="1"/>
            </a:gradFill>
            <a:ln w="9525">
              <a:noFill/>
              <a:miter lim="800000"/>
            </a:ln>
          </p:spPr>
          <p:txBody>
            <a:bodyPr wrap="none" anchor="ctr"/>
            <a:lstStyle/>
            <a:p>
              <a:pPr algn="ctr"/>
              <a:endParaRPr lang="zh-CN" altLang="en-US" b="1"/>
            </a:p>
          </p:txBody>
        </p:sp>
        <p:graphicFrame>
          <p:nvGraphicFramePr>
            <p:cNvPr id="67589" name="Object 50"/>
            <p:cNvGraphicFramePr>
              <a:graphicFrameLocks noChangeAspect="1"/>
            </p:cNvGraphicFramePr>
            <p:nvPr/>
          </p:nvGraphicFramePr>
          <p:xfrm>
            <a:off x="7053" y="1434"/>
            <a:ext cx="245" cy="266"/>
          </p:xfrm>
          <a:graphic>
            <a:graphicData uri="http://schemas.openxmlformats.org/presentationml/2006/ole">
              <mc:AlternateContent xmlns:mc="http://schemas.openxmlformats.org/markup-compatibility/2006">
                <mc:Choice xmlns:v="urn:schemas-microsoft-com:vml" Requires="v">
                  <p:oleObj spid="_x0000_s67589" name="公式" r:id="rId22" imgW="6400800" imgH="10058400" progId="Equation.3">
                    <p:embed/>
                  </p:oleObj>
                </mc:Choice>
                <mc:Fallback>
                  <p:oleObj name="公式" r:id="rId22" imgW="6400800" imgH="10058400" progId="Equation.3">
                    <p:embed/>
                    <p:pic>
                      <p:nvPicPr>
                        <p:cNvPr id="0" name="Object 50"/>
                        <p:cNvPicPr>
                          <a:picLocks noChangeAspect="1"/>
                        </p:cNvPicPr>
                        <p:nvPr/>
                      </p:nvPicPr>
                      <p:blipFill>
                        <a:blip r:embed="rId10"/>
                        <a:stretch>
                          <a:fillRect/>
                        </a:stretch>
                      </p:blipFill>
                      <p:spPr>
                        <a:xfrm>
                          <a:off x="7053" y="1434"/>
                          <a:ext cx="245" cy="266"/>
                        </a:xfrm>
                        <a:prstGeom prst="rect">
                          <a:avLst/>
                        </a:prstGeom>
                        <a:noFill/>
                        <a:ln w="9525">
                          <a:noFill/>
                        </a:ln>
                      </p:spPr>
                    </p:pic>
                  </p:oleObj>
                </mc:Fallback>
              </mc:AlternateContent>
            </a:graphicData>
          </a:graphic>
        </p:graphicFrame>
        <p:sp>
          <p:nvSpPr>
            <p:cNvPr id="67620" name="Text Box 51"/>
            <p:cNvSpPr txBox="1">
              <a:spLocks noChangeArrowheads="1"/>
            </p:cNvSpPr>
            <p:nvPr/>
          </p:nvSpPr>
          <p:spPr bwMode="auto">
            <a:xfrm>
              <a:off x="6191" y="1434"/>
              <a:ext cx="1166" cy="288"/>
            </a:xfrm>
            <a:prstGeom prst="rect">
              <a:avLst/>
            </a:prstGeom>
            <a:noFill/>
            <a:ln w="9525">
              <a:noFill/>
              <a:miter lim="800000"/>
            </a:ln>
          </p:spPr>
          <p:txBody>
            <a:bodyPr>
              <a:spAutoFit/>
            </a:bodyPr>
            <a:lstStyle/>
            <a:p>
              <a:r>
                <a:rPr kumimoji="1" lang="zh-CN" altLang="en-US" b="1">
                  <a:solidFill>
                    <a:schemeClr val="bg1"/>
                  </a:solidFill>
                </a:rPr>
                <a:t>高温热源</a:t>
              </a:r>
              <a:endParaRPr kumimoji="1" lang="zh-CN" altLang="en-US" b="1">
                <a:solidFill>
                  <a:schemeClr val="bg1"/>
                </a:solidFill>
              </a:endParaRPr>
            </a:p>
          </p:txBody>
        </p:sp>
      </p:grpSp>
      <p:sp>
        <p:nvSpPr>
          <p:cNvPr id="106548" name="AutoShape 52"/>
          <p:cNvSpPr>
            <a:spLocks noChangeArrowheads="1"/>
          </p:cNvSpPr>
          <p:nvPr/>
        </p:nvSpPr>
        <p:spPr bwMode="auto">
          <a:xfrm>
            <a:off x="5868988" y="2974975"/>
            <a:ext cx="576262" cy="360363"/>
          </a:xfrm>
          <a:prstGeom prst="notchedRightArrow">
            <a:avLst>
              <a:gd name="adj1" fmla="val 50000"/>
              <a:gd name="adj2" fmla="val 39978"/>
            </a:avLst>
          </a:prstGeom>
          <a:solidFill>
            <a:srgbClr val="0000FF"/>
          </a:solidFill>
          <a:ln w="9525">
            <a:noFill/>
            <a:miter lim="800000"/>
          </a:ln>
        </p:spPr>
        <p:txBody>
          <a:bodyPr wrap="none" anchor="ctr"/>
          <a:lstStyle/>
          <a:p>
            <a:pPr algn="ctr"/>
            <a:endParaRPr lang="zh-CN" altLang="en-US" b="1"/>
          </a:p>
        </p:txBody>
      </p:sp>
      <p:sp>
        <p:nvSpPr>
          <p:cNvPr id="106549" name="Text Box 53"/>
          <p:cNvSpPr txBox="1">
            <a:spLocks noChangeArrowheads="1"/>
          </p:cNvSpPr>
          <p:nvPr/>
        </p:nvSpPr>
        <p:spPr bwMode="auto">
          <a:xfrm>
            <a:off x="1403350" y="5459413"/>
            <a:ext cx="6934200" cy="1001712"/>
          </a:xfrm>
          <a:prstGeom prst="rect">
            <a:avLst/>
          </a:prstGeom>
          <a:noFill/>
          <a:ln w="9525">
            <a:noFill/>
            <a:miter lim="800000"/>
          </a:ln>
        </p:spPr>
        <p:txBody>
          <a:bodyPr>
            <a:spAutoFit/>
          </a:bodyPr>
          <a:lstStyle/>
          <a:p>
            <a:pPr>
              <a:lnSpc>
                <a:spcPct val="130000"/>
              </a:lnSpc>
              <a:spcBef>
                <a:spcPct val="50000"/>
              </a:spcBef>
            </a:pPr>
            <a:r>
              <a:rPr kumimoji="1" lang="zh-CN" altLang="en-US" b="1"/>
              <a:t>如图所示，会得出低温热源净放的热量自动地传给高温热源，与</a:t>
            </a:r>
            <a:r>
              <a:rPr kumimoji="1" lang="zh-CN" altLang="en-US" b="1">
                <a:solidFill>
                  <a:srgbClr val="0000FF"/>
                </a:solidFill>
              </a:rPr>
              <a:t>“克劳修斯表述成立”</a:t>
            </a:r>
            <a:r>
              <a:rPr kumimoji="1" lang="zh-CN" altLang="en-US" b="1"/>
              <a:t>的假设</a:t>
            </a:r>
            <a:r>
              <a:rPr kumimoji="1" lang="zh-CN" altLang="en-US" b="1">
                <a:solidFill>
                  <a:srgbClr val="FF6600"/>
                </a:solidFill>
              </a:rPr>
              <a:t>矛盾</a:t>
            </a:r>
            <a:r>
              <a:rPr kumimoji="1" lang="zh-CN" altLang="en-US" b="1"/>
              <a:t>。</a:t>
            </a:r>
            <a:endParaRPr kumimoji="1" lang="zh-CN" altLang="en-US" b="1"/>
          </a:p>
        </p:txBody>
      </p:sp>
      <p:sp>
        <p:nvSpPr>
          <p:cNvPr id="55" name="Text Box 96"/>
          <p:cNvSpPr txBox="1">
            <a:spLocks noChangeArrowheads="1"/>
          </p:cNvSpPr>
          <p:nvPr/>
        </p:nvSpPr>
        <p:spPr bwMode="auto">
          <a:xfrm>
            <a:off x="179388" y="476250"/>
            <a:ext cx="6769100" cy="457200"/>
          </a:xfrm>
          <a:prstGeom prst="rect">
            <a:avLst/>
          </a:prstGeom>
          <a:noFill/>
          <a:ln w="12700" cap="sq">
            <a:noFill/>
            <a:miter lim="800000"/>
            <a:headEnd type="none" w="sm" len="sm"/>
            <a:tailEnd type="none" w="sm" len="sm"/>
          </a:ln>
        </p:spPr>
        <p:txBody>
          <a:bodyPr>
            <a:spAutoFit/>
          </a:bodyPr>
          <a:lstStyle/>
          <a:p>
            <a:r>
              <a:rPr kumimoji="1" lang="en-US" altLang="zh-CN" b="1">
                <a:solidFill>
                  <a:srgbClr val="0000FF"/>
                </a:solidFill>
              </a:rPr>
              <a:t>7.5.3  </a:t>
            </a:r>
            <a:r>
              <a:rPr kumimoji="1" lang="zh-CN" altLang="en-US" b="1">
                <a:solidFill>
                  <a:srgbClr val="0000FF"/>
                </a:solidFill>
              </a:rPr>
              <a:t>热力学第二定律两种表述的等效性 </a:t>
            </a:r>
            <a:endParaRPr kumimoji="1" lang="zh-CN" altLang="en-US" b="1">
              <a:solidFill>
                <a:srgbClr val="0000FF"/>
              </a:solidFill>
            </a:endParaRPr>
          </a:p>
        </p:txBody>
      </p:sp>
      <p:sp>
        <p:nvSpPr>
          <p:cNvPr id="56" name="Text Box 94"/>
          <p:cNvSpPr txBox="1">
            <a:spLocks noChangeArrowheads="1"/>
          </p:cNvSpPr>
          <p:nvPr/>
        </p:nvSpPr>
        <p:spPr bwMode="auto">
          <a:xfrm>
            <a:off x="179388" y="928688"/>
            <a:ext cx="4633912" cy="457200"/>
          </a:xfrm>
          <a:prstGeom prst="rect">
            <a:avLst/>
          </a:prstGeom>
          <a:noFill/>
          <a:ln w="9525">
            <a:noFill/>
            <a:miter lim="800000"/>
          </a:ln>
        </p:spPr>
        <p:txBody>
          <a:bodyPr>
            <a:spAutoFit/>
          </a:bodyPr>
          <a:lstStyle/>
          <a:p>
            <a:pPr>
              <a:defRPr/>
            </a:pPr>
            <a:r>
              <a:rPr kumimoji="1" lang="zh-CN" altLang="en-US" b="1" dirty="0">
                <a:solidFill>
                  <a:srgbClr val="0000FF"/>
                </a:solidFill>
                <a:latin typeface="+mn-ea"/>
                <a:ea typeface="+mn-ea"/>
              </a:rPr>
              <a:t>证明 </a:t>
            </a:r>
            <a:r>
              <a:rPr kumimoji="1" lang="en-US" altLang="zh-CN" b="1" dirty="0">
                <a:solidFill>
                  <a:srgbClr val="0000FF"/>
                </a:solidFill>
                <a:latin typeface="+mn-ea"/>
                <a:ea typeface="+mn-ea"/>
              </a:rPr>
              <a:t>(</a:t>
            </a:r>
            <a:r>
              <a:rPr kumimoji="1" lang="zh-CN" altLang="en-US" b="1" dirty="0">
                <a:solidFill>
                  <a:srgbClr val="0000FF"/>
                </a:solidFill>
                <a:latin typeface="+mn-ea"/>
                <a:ea typeface="+mn-ea"/>
              </a:rPr>
              <a:t>用反证法</a:t>
            </a:r>
            <a:r>
              <a:rPr kumimoji="1" lang="en-US" altLang="zh-CN" b="1" dirty="0">
                <a:solidFill>
                  <a:srgbClr val="0000FF"/>
                </a:solidFill>
                <a:latin typeface="+mn-ea"/>
                <a:ea typeface="+mn-ea"/>
              </a:rPr>
              <a:t>):</a:t>
            </a:r>
            <a:endParaRPr kumimoji="1" lang="en-US" altLang="zh-CN" b="1" dirty="0">
              <a:solidFill>
                <a:srgbClr val="0000FF"/>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wipe(left)">
                                      <p:cBhvr>
                                        <p:cTn id="12" dur="500"/>
                                        <p:tgtEl>
                                          <p:spTgt spid="5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6498"/>
                                        </p:tgtEl>
                                        <p:attrNameLst>
                                          <p:attrName>style.visibility</p:attrName>
                                        </p:attrNameLst>
                                      </p:cBhvr>
                                      <p:to>
                                        <p:strVal val="visible"/>
                                      </p:to>
                                    </p:set>
                                    <p:animEffect transition="in" filter="wipe(left)">
                                      <p:cBhvr>
                                        <p:cTn id="16" dur="500"/>
                                        <p:tgtEl>
                                          <p:spTgt spid="10649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06529"/>
                                        </p:tgtEl>
                                        <p:attrNameLst>
                                          <p:attrName>style.visibility</p:attrName>
                                        </p:attrNameLst>
                                      </p:cBhvr>
                                      <p:to>
                                        <p:strVal val="visible"/>
                                      </p:to>
                                    </p:set>
                                    <p:animEffect transition="in" filter="wipe(up)">
                                      <p:cBhvr>
                                        <p:cTn id="21" dur="500"/>
                                        <p:tgtEl>
                                          <p:spTgt spid="106529"/>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06499"/>
                                        </p:tgtEl>
                                        <p:attrNameLst>
                                          <p:attrName>style.visibility</p:attrName>
                                        </p:attrNameLst>
                                      </p:cBhvr>
                                      <p:to>
                                        <p:strVal val="visible"/>
                                      </p:to>
                                    </p:set>
                                    <p:animEffect transition="in" filter="wipe(left)">
                                      <p:cBhvr>
                                        <p:cTn id="25" dur="500"/>
                                        <p:tgtEl>
                                          <p:spTgt spid="106499"/>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06530"/>
                                        </p:tgtEl>
                                        <p:attrNameLst>
                                          <p:attrName>style.visibility</p:attrName>
                                        </p:attrNameLst>
                                      </p:cBhvr>
                                      <p:to>
                                        <p:strVal val="visible"/>
                                      </p:to>
                                    </p:set>
                                    <p:anim calcmode="lin" valueType="num">
                                      <p:cBhvr additive="base">
                                        <p:cTn id="30" dur="500" fill="hold"/>
                                        <p:tgtEl>
                                          <p:spTgt spid="106530"/>
                                        </p:tgtEl>
                                        <p:attrNameLst>
                                          <p:attrName>ppt_x</p:attrName>
                                        </p:attrNameLst>
                                      </p:cBhvr>
                                      <p:tavLst>
                                        <p:tav tm="0">
                                          <p:val>
                                            <p:strVal val="0-#ppt_w/2"/>
                                          </p:val>
                                        </p:tav>
                                        <p:tav tm="100000">
                                          <p:val>
                                            <p:strVal val="#ppt_x"/>
                                          </p:val>
                                        </p:tav>
                                      </p:tavLst>
                                    </p:anim>
                                    <p:anim calcmode="lin" valueType="num">
                                      <p:cBhvr additive="base">
                                        <p:cTn id="31" dur="500" fill="hold"/>
                                        <p:tgtEl>
                                          <p:spTgt spid="106530"/>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06531"/>
                                        </p:tgtEl>
                                        <p:attrNameLst>
                                          <p:attrName>style.visibility</p:attrName>
                                        </p:attrNameLst>
                                      </p:cBhvr>
                                      <p:to>
                                        <p:strVal val="visible"/>
                                      </p:to>
                                    </p:set>
                                    <p:anim calcmode="lin" valueType="num">
                                      <p:cBhvr additive="base">
                                        <p:cTn id="36" dur="500" fill="hold"/>
                                        <p:tgtEl>
                                          <p:spTgt spid="106531"/>
                                        </p:tgtEl>
                                        <p:attrNameLst>
                                          <p:attrName>ppt_x</p:attrName>
                                        </p:attrNameLst>
                                      </p:cBhvr>
                                      <p:tavLst>
                                        <p:tav tm="0">
                                          <p:val>
                                            <p:strVal val="0-#ppt_w/2"/>
                                          </p:val>
                                        </p:tav>
                                        <p:tav tm="100000">
                                          <p:val>
                                            <p:strVal val="#ppt_x"/>
                                          </p:val>
                                        </p:tav>
                                      </p:tavLst>
                                    </p:anim>
                                    <p:anim calcmode="lin" valueType="num">
                                      <p:cBhvr additive="base">
                                        <p:cTn id="37" dur="500" fill="hold"/>
                                        <p:tgtEl>
                                          <p:spTgt spid="106531"/>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500" fill="hold"/>
                                        <p:tgtEl>
                                          <p:spTgt spid="6"/>
                                        </p:tgtEl>
                                        <p:attrNameLst>
                                          <p:attrName>ppt_w</p:attrName>
                                        </p:attrNameLst>
                                      </p:cBhvr>
                                      <p:tavLst>
                                        <p:tav tm="0">
                                          <p:val>
                                            <p:fltVal val="0"/>
                                          </p:val>
                                        </p:tav>
                                        <p:tav tm="100000">
                                          <p:val>
                                            <p:strVal val="#ppt_w"/>
                                          </p:val>
                                        </p:tav>
                                      </p:tavLst>
                                    </p:anim>
                                    <p:anim calcmode="lin" valueType="num">
                                      <p:cBhvr>
                                        <p:cTn id="43" dur="500" fill="hold"/>
                                        <p:tgtEl>
                                          <p:spTgt spid="6"/>
                                        </p:tgtEl>
                                        <p:attrNameLst>
                                          <p:attrName>ppt_h</p:attrName>
                                        </p:attrNameLst>
                                      </p:cBhvr>
                                      <p:tavLst>
                                        <p:tav tm="0">
                                          <p:val>
                                            <p:fltVal val="0"/>
                                          </p:val>
                                        </p:tav>
                                        <p:tav tm="100000">
                                          <p:val>
                                            <p:strVal val="#ppt_h"/>
                                          </p:val>
                                        </p:tav>
                                      </p:tavLst>
                                    </p:anim>
                                  </p:childTnLst>
                                </p:cTn>
                              </p:par>
                            </p:childTnLst>
                          </p:cTn>
                        </p:par>
                        <p:par>
                          <p:cTn id="44" fill="hold">
                            <p:stCondLst>
                              <p:cond delay="500"/>
                            </p:stCondLst>
                            <p:childTnLst>
                              <p:par>
                                <p:cTn id="45" presetID="23" presetClass="entr" presetSubtype="16" fill="hold" nodeType="after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500" fill="hold"/>
                                        <p:tgtEl>
                                          <p:spTgt spid="7"/>
                                        </p:tgtEl>
                                        <p:attrNameLst>
                                          <p:attrName>ppt_w</p:attrName>
                                        </p:attrNameLst>
                                      </p:cBhvr>
                                      <p:tavLst>
                                        <p:tav tm="0">
                                          <p:val>
                                            <p:fltVal val="0"/>
                                          </p:val>
                                        </p:tav>
                                        <p:tav tm="100000">
                                          <p:val>
                                            <p:strVal val="#ppt_w"/>
                                          </p:val>
                                        </p:tav>
                                      </p:tavLst>
                                    </p:anim>
                                    <p:anim calcmode="lin" valueType="num">
                                      <p:cBhvr>
                                        <p:cTn id="48"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up)">
                                      <p:cBhvr>
                                        <p:cTn id="53" dur="5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10652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5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06509"/>
                                        </p:tgtEl>
                                        <p:attrNameLst>
                                          <p:attrName>style.visibility</p:attrName>
                                        </p:attrNameLst>
                                      </p:cBhvr>
                                      <p:to>
                                        <p:strVal val="visible"/>
                                      </p:to>
                                    </p:set>
                                    <p:animEffect transition="in" filter="wipe(left)">
                                      <p:cBhvr>
                                        <p:cTn id="67" dur="500"/>
                                        <p:tgtEl>
                                          <p:spTgt spid="10650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ipe(down)">
                                      <p:cBhvr>
                                        <p:cTn id="72" dur="500"/>
                                        <p:tgtEl>
                                          <p:spTgt spid="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wipe(down)">
                                      <p:cBhvr>
                                        <p:cTn id="77" dur="500"/>
                                        <p:tgtEl>
                                          <p:spTgt spid="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06528"/>
                                        </p:tgtEl>
                                        <p:attrNameLst>
                                          <p:attrName>style.visibility</p:attrName>
                                        </p:attrNameLst>
                                      </p:cBhvr>
                                      <p:to>
                                        <p:strVal val="visible"/>
                                      </p:to>
                                    </p:set>
                                    <p:animEffect transition="in" filter="wipe(left)">
                                      <p:cBhvr>
                                        <p:cTn id="82" dur="500"/>
                                        <p:tgtEl>
                                          <p:spTgt spid="10652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06527"/>
                                        </p:tgtEl>
                                        <p:attrNameLst>
                                          <p:attrName>style.visibility</p:attrName>
                                        </p:attrNameLst>
                                      </p:cBhvr>
                                      <p:to>
                                        <p:strVal val="visible"/>
                                      </p:to>
                                    </p:set>
                                    <p:animEffect transition="in" filter="wipe(left)">
                                      <p:cBhvr>
                                        <p:cTn id="87" dur="500"/>
                                        <p:tgtEl>
                                          <p:spTgt spid="10652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06548"/>
                                        </p:tgtEl>
                                        <p:attrNameLst>
                                          <p:attrName>style.visibility</p:attrName>
                                        </p:attrNameLst>
                                      </p:cBhvr>
                                      <p:to>
                                        <p:strVal val="visible"/>
                                      </p:to>
                                    </p:set>
                                    <p:animEffect transition="in" filter="wipe(left)">
                                      <p:cBhvr>
                                        <p:cTn id="92" dur="500"/>
                                        <p:tgtEl>
                                          <p:spTgt spid="10654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2"/>
                                        </p:tgtEl>
                                        <p:attrNameLst>
                                          <p:attrName>style.visibility</p:attrName>
                                        </p:attrNameLst>
                                      </p:cBhvr>
                                      <p:to>
                                        <p:strVal val="visible"/>
                                      </p:to>
                                    </p:set>
                                    <p:animEffect transition="in" filter="wipe(left)">
                                      <p:cBhvr>
                                        <p:cTn id="97" dur="1000"/>
                                        <p:tgtEl>
                                          <p:spTgt spid="1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10"/>
                                        </p:tgtEl>
                                        <p:attrNameLst>
                                          <p:attrName>style.visibility</p:attrName>
                                        </p:attrNameLst>
                                      </p:cBhvr>
                                      <p:to>
                                        <p:strVal val="visible"/>
                                      </p:to>
                                    </p:set>
                                    <p:animEffect transition="in" filter="wipe(left)">
                                      <p:cBhvr>
                                        <p:cTn id="102" dur="1000"/>
                                        <p:tgtEl>
                                          <p:spTgt spid="1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9"/>
                                        </p:tgtEl>
                                        <p:attrNameLst>
                                          <p:attrName>style.visibility</p:attrName>
                                        </p:attrNameLst>
                                      </p:cBhvr>
                                      <p:to>
                                        <p:strVal val="visible"/>
                                      </p:to>
                                    </p:set>
                                    <p:animEffect transition="in" filter="wipe(down)">
                                      <p:cBhvr>
                                        <p:cTn id="107" dur="1000"/>
                                        <p:tgtEl>
                                          <p:spTgt spid="9"/>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11"/>
                                        </p:tgtEl>
                                        <p:attrNameLst>
                                          <p:attrName>style.visibility</p:attrName>
                                        </p:attrNameLst>
                                      </p:cBhvr>
                                      <p:to>
                                        <p:strVal val="visible"/>
                                      </p:to>
                                    </p:set>
                                    <p:animEffect transition="in" filter="wipe(down)">
                                      <p:cBhvr>
                                        <p:cTn id="112" dur="1000"/>
                                        <p:tgtEl>
                                          <p:spTgt spid="11"/>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8" fill="hold" grpId="0" nodeType="clickEffect">
                                  <p:stCondLst>
                                    <p:cond delay="0"/>
                                  </p:stCondLst>
                                  <p:childTnLst>
                                    <p:set>
                                      <p:cBhvr>
                                        <p:cTn id="116" dur="1" fill="hold">
                                          <p:stCondLst>
                                            <p:cond delay="0"/>
                                          </p:stCondLst>
                                        </p:cTn>
                                        <p:tgtEl>
                                          <p:spTgt spid="106549"/>
                                        </p:tgtEl>
                                        <p:attrNameLst>
                                          <p:attrName>style.visibility</p:attrName>
                                        </p:attrNameLst>
                                      </p:cBhvr>
                                      <p:to>
                                        <p:strVal val="visible"/>
                                      </p:to>
                                    </p:set>
                                    <p:anim calcmode="lin" valueType="num">
                                      <p:cBhvr additive="base">
                                        <p:cTn id="117" dur="500" fill="hold"/>
                                        <p:tgtEl>
                                          <p:spTgt spid="106549"/>
                                        </p:tgtEl>
                                        <p:attrNameLst>
                                          <p:attrName>ppt_x</p:attrName>
                                        </p:attrNameLst>
                                      </p:cBhvr>
                                      <p:tavLst>
                                        <p:tav tm="0">
                                          <p:val>
                                            <p:strVal val="0-#ppt_w/2"/>
                                          </p:val>
                                        </p:tav>
                                        <p:tav tm="100000">
                                          <p:val>
                                            <p:strVal val="#ppt_x"/>
                                          </p:val>
                                        </p:tav>
                                      </p:tavLst>
                                    </p:anim>
                                    <p:anim calcmode="lin" valueType="num">
                                      <p:cBhvr additive="base">
                                        <p:cTn id="118" dur="500" fill="hold"/>
                                        <p:tgtEl>
                                          <p:spTgt spid="1065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utoUpdateAnimBg="0"/>
      <p:bldP spid="106499" grpId="0" autoUpdateAnimBg="0"/>
      <p:bldP spid="106526" grpId="0" animBg="1"/>
      <p:bldP spid="106529" grpId="0" animBg="1"/>
      <p:bldP spid="106530" grpId="0" autoUpdateAnimBg="0"/>
      <p:bldP spid="106531" grpId="0" autoUpdateAnimBg="0"/>
      <p:bldP spid="106548" grpId="0" animBg="1"/>
      <p:bldP spid="106549" grpId="0" autoUpdateAnimBg="0"/>
      <p:bldP spid="55" grpId="0"/>
      <p:bldP spid="56"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711200" y="500063"/>
            <a:ext cx="4581525" cy="506412"/>
          </a:xfrm>
          <a:prstGeom prst="rect">
            <a:avLst/>
          </a:prstGeom>
          <a:noFill/>
          <a:ln w="9525">
            <a:noFill/>
            <a:miter lim="800000"/>
          </a:ln>
        </p:spPr>
        <p:txBody>
          <a:bodyPr>
            <a:spAutoFit/>
          </a:bodyPr>
          <a:lstStyle/>
          <a:p>
            <a:pPr>
              <a:lnSpc>
                <a:spcPct val="125000"/>
              </a:lnSpc>
            </a:pPr>
            <a:r>
              <a:rPr kumimoji="1" lang="en-US" altLang="zh-CN" b="1">
                <a:solidFill>
                  <a:srgbClr val="FF6600"/>
                </a:solidFill>
              </a:rPr>
              <a:t>(2)</a:t>
            </a:r>
            <a:r>
              <a:rPr kumimoji="1" lang="en-US" altLang="zh-CN" b="1"/>
              <a:t> </a:t>
            </a:r>
            <a:r>
              <a:rPr kumimoji="1" lang="zh-CN" altLang="en-US" b="1"/>
              <a:t>假设克劳修斯表述不成立            </a:t>
            </a:r>
            <a:endParaRPr kumimoji="1" lang="zh-CN" altLang="en-US" b="1"/>
          </a:p>
        </p:txBody>
      </p:sp>
      <p:sp>
        <p:nvSpPr>
          <p:cNvPr id="107523" name="Rectangle 3"/>
          <p:cNvSpPr>
            <a:spLocks noChangeArrowheads="1"/>
          </p:cNvSpPr>
          <p:nvPr/>
        </p:nvSpPr>
        <p:spPr bwMode="auto">
          <a:xfrm>
            <a:off x="5219700" y="511175"/>
            <a:ext cx="3240088" cy="506413"/>
          </a:xfrm>
          <a:prstGeom prst="rect">
            <a:avLst/>
          </a:prstGeom>
          <a:noFill/>
          <a:ln w="9525">
            <a:noFill/>
            <a:miter lim="800000"/>
          </a:ln>
        </p:spPr>
        <p:txBody>
          <a:bodyPr>
            <a:spAutoFit/>
          </a:bodyPr>
          <a:lstStyle/>
          <a:p>
            <a:pPr>
              <a:lnSpc>
                <a:spcPct val="125000"/>
              </a:lnSpc>
            </a:pPr>
            <a:r>
              <a:rPr kumimoji="1" lang="zh-CN" altLang="en-US" b="1"/>
              <a:t>开尔文表述不成立</a:t>
            </a:r>
            <a:endParaRPr kumimoji="1" lang="zh-CN" altLang="en-US" b="1"/>
          </a:p>
        </p:txBody>
      </p:sp>
      <p:grpSp>
        <p:nvGrpSpPr>
          <p:cNvPr id="2" name="Group 4"/>
          <p:cNvGrpSpPr/>
          <p:nvPr/>
        </p:nvGrpSpPr>
        <p:grpSpPr bwMode="auto">
          <a:xfrm>
            <a:off x="1150938" y="2617788"/>
            <a:ext cx="452437" cy="979487"/>
            <a:chOff x="691" y="2789"/>
            <a:chExt cx="285" cy="720"/>
          </a:xfrm>
        </p:grpSpPr>
        <p:sp>
          <p:nvSpPr>
            <p:cNvPr id="68674" name="Rectangle 5"/>
            <p:cNvSpPr>
              <a:spLocks noChangeArrowheads="1"/>
            </p:cNvSpPr>
            <p:nvPr/>
          </p:nvSpPr>
          <p:spPr bwMode="auto">
            <a:xfrm>
              <a:off x="691" y="2789"/>
              <a:ext cx="284" cy="720"/>
            </a:xfrm>
            <a:prstGeom prst="rect">
              <a:avLst/>
            </a:prstGeom>
            <a:solidFill>
              <a:srgbClr val="FFCC00"/>
            </a:solidFill>
            <a:ln w="9525">
              <a:noFill/>
              <a:miter lim="800000"/>
            </a:ln>
          </p:spPr>
          <p:txBody>
            <a:bodyPr wrap="none" anchor="ctr"/>
            <a:lstStyle/>
            <a:p>
              <a:pPr algn="ctr"/>
              <a:endParaRPr lang="zh-CN" altLang="en-US" b="1"/>
            </a:p>
          </p:txBody>
        </p:sp>
        <p:sp>
          <p:nvSpPr>
            <p:cNvPr id="68675" name="Line 6"/>
            <p:cNvSpPr>
              <a:spLocks noChangeShapeType="1"/>
            </p:cNvSpPr>
            <p:nvPr/>
          </p:nvSpPr>
          <p:spPr bwMode="auto">
            <a:xfrm>
              <a:off x="748" y="3249"/>
              <a:ext cx="0" cy="212"/>
            </a:xfrm>
            <a:prstGeom prst="line">
              <a:avLst/>
            </a:prstGeom>
            <a:noFill/>
            <a:ln w="38100">
              <a:solidFill>
                <a:schemeClr val="tx1"/>
              </a:solidFill>
              <a:round/>
              <a:headEnd type="triangle" w="med" len="med"/>
            </a:ln>
          </p:spPr>
          <p:txBody>
            <a:bodyPr/>
            <a:lstStyle/>
            <a:p>
              <a:endParaRPr lang="zh-CN" altLang="en-US"/>
            </a:p>
          </p:txBody>
        </p:sp>
        <p:graphicFrame>
          <p:nvGraphicFramePr>
            <p:cNvPr id="68623" name="Object 7"/>
            <p:cNvGraphicFramePr>
              <a:graphicFrameLocks noChangeAspect="1"/>
            </p:cNvGraphicFramePr>
            <p:nvPr/>
          </p:nvGraphicFramePr>
          <p:xfrm>
            <a:off x="770" y="3204"/>
            <a:ext cx="206" cy="262"/>
          </p:xfrm>
          <a:graphic>
            <a:graphicData uri="http://schemas.openxmlformats.org/presentationml/2006/ole">
              <mc:AlternateContent xmlns:mc="http://schemas.openxmlformats.org/markup-compatibility/2006">
                <mc:Choice xmlns:v="urn:schemas-microsoft-com:vml" Requires="v">
                  <p:oleObj spid="_x0000_s68609" name="公式" r:id="rId1" imgW="9144000" imgH="10058400" progId="Equation.3">
                    <p:embed/>
                  </p:oleObj>
                </mc:Choice>
                <mc:Fallback>
                  <p:oleObj name="公式" r:id="rId1" imgW="9144000" imgH="10058400" progId="Equation.3">
                    <p:embed/>
                    <p:pic>
                      <p:nvPicPr>
                        <p:cNvPr id="0" name="Object 7"/>
                        <p:cNvPicPr>
                          <a:picLocks noChangeAspect="1"/>
                        </p:cNvPicPr>
                        <p:nvPr/>
                      </p:nvPicPr>
                      <p:blipFill>
                        <a:blip r:embed="rId2"/>
                        <a:stretch>
                          <a:fillRect/>
                        </a:stretch>
                      </p:blipFill>
                      <p:spPr>
                        <a:xfrm>
                          <a:off x="770" y="3204"/>
                          <a:ext cx="206" cy="262"/>
                        </a:xfrm>
                        <a:prstGeom prst="rect">
                          <a:avLst/>
                        </a:prstGeom>
                        <a:noFill/>
                        <a:ln w="9525">
                          <a:noFill/>
                        </a:ln>
                      </p:spPr>
                    </p:pic>
                  </p:oleObj>
                </mc:Fallback>
              </mc:AlternateContent>
            </a:graphicData>
          </a:graphic>
        </p:graphicFrame>
      </p:grpSp>
      <p:grpSp>
        <p:nvGrpSpPr>
          <p:cNvPr id="3" name="Group 8"/>
          <p:cNvGrpSpPr/>
          <p:nvPr/>
        </p:nvGrpSpPr>
        <p:grpSpPr bwMode="auto">
          <a:xfrm>
            <a:off x="1150938" y="2012950"/>
            <a:ext cx="450850" cy="604838"/>
            <a:chOff x="691" y="2442"/>
            <a:chExt cx="284" cy="347"/>
          </a:xfrm>
        </p:grpSpPr>
        <p:sp>
          <p:nvSpPr>
            <p:cNvPr id="68672" name="Rectangle 9"/>
            <p:cNvSpPr>
              <a:spLocks noChangeArrowheads="1"/>
            </p:cNvSpPr>
            <p:nvPr/>
          </p:nvSpPr>
          <p:spPr bwMode="auto">
            <a:xfrm>
              <a:off x="691" y="2453"/>
              <a:ext cx="284" cy="336"/>
            </a:xfrm>
            <a:prstGeom prst="rect">
              <a:avLst/>
            </a:prstGeom>
            <a:solidFill>
              <a:srgbClr val="FFCC00"/>
            </a:solidFill>
            <a:ln w="9525">
              <a:noFill/>
              <a:miter lim="800000"/>
            </a:ln>
          </p:spPr>
          <p:txBody>
            <a:bodyPr wrap="none" anchor="ctr"/>
            <a:lstStyle/>
            <a:p>
              <a:pPr algn="ctr"/>
              <a:endParaRPr lang="zh-CN" altLang="en-US" b="1"/>
            </a:p>
          </p:txBody>
        </p:sp>
        <p:sp>
          <p:nvSpPr>
            <p:cNvPr id="68673" name="Line 10"/>
            <p:cNvSpPr>
              <a:spLocks noChangeShapeType="1"/>
            </p:cNvSpPr>
            <p:nvPr/>
          </p:nvSpPr>
          <p:spPr bwMode="auto">
            <a:xfrm flipH="1">
              <a:off x="748" y="2466"/>
              <a:ext cx="0" cy="238"/>
            </a:xfrm>
            <a:prstGeom prst="line">
              <a:avLst/>
            </a:prstGeom>
            <a:noFill/>
            <a:ln w="38100">
              <a:solidFill>
                <a:schemeClr val="tx1"/>
              </a:solidFill>
              <a:round/>
              <a:headEnd type="triangle" w="med" len="med"/>
            </a:ln>
          </p:spPr>
          <p:txBody>
            <a:bodyPr/>
            <a:lstStyle/>
            <a:p>
              <a:endParaRPr lang="zh-CN" altLang="en-US"/>
            </a:p>
          </p:txBody>
        </p:sp>
        <p:graphicFrame>
          <p:nvGraphicFramePr>
            <p:cNvPr id="68622" name="Object 11"/>
            <p:cNvGraphicFramePr>
              <a:graphicFrameLocks noChangeAspect="1"/>
            </p:cNvGraphicFramePr>
            <p:nvPr/>
          </p:nvGraphicFramePr>
          <p:xfrm>
            <a:off x="768" y="2442"/>
            <a:ext cx="207" cy="262"/>
          </p:xfrm>
          <a:graphic>
            <a:graphicData uri="http://schemas.openxmlformats.org/presentationml/2006/ole">
              <mc:AlternateContent xmlns:mc="http://schemas.openxmlformats.org/markup-compatibility/2006">
                <mc:Choice xmlns:v="urn:schemas-microsoft-com:vml" Requires="v">
                  <p:oleObj spid="_x0000_s68622" name="公式" r:id="rId3" imgW="9144000" imgH="10058400" progId="Equation.3">
                    <p:embed/>
                  </p:oleObj>
                </mc:Choice>
                <mc:Fallback>
                  <p:oleObj name="公式" r:id="rId3" imgW="9144000" imgH="10058400" progId="Equation.3">
                    <p:embed/>
                    <p:pic>
                      <p:nvPicPr>
                        <p:cNvPr id="0" name="Object 11"/>
                        <p:cNvPicPr>
                          <a:picLocks noChangeAspect="1"/>
                        </p:cNvPicPr>
                        <p:nvPr/>
                      </p:nvPicPr>
                      <p:blipFill>
                        <a:blip r:embed="rId2"/>
                        <a:stretch>
                          <a:fillRect/>
                        </a:stretch>
                      </p:blipFill>
                      <p:spPr>
                        <a:xfrm>
                          <a:off x="768" y="2442"/>
                          <a:ext cx="207" cy="262"/>
                        </a:xfrm>
                        <a:prstGeom prst="rect">
                          <a:avLst/>
                        </a:prstGeom>
                        <a:noFill/>
                        <a:ln w="9525">
                          <a:noFill/>
                        </a:ln>
                      </p:spPr>
                    </p:pic>
                  </p:oleObj>
                </mc:Fallback>
              </mc:AlternateContent>
            </a:graphicData>
          </a:graphic>
        </p:graphicFrame>
      </p:grpSp>
      <p:grpSp>
        <p:nvGrpSpPr>
          <p:cNvPr id="4" name="Group 12"/>
          <p:cNvGrpSpPr/>
          <p:nvPr/>
        </p:nvGrpSpPr>
        <p:grpSpPr bwMode="auto">
          <a:xfrm>
            <a:off x="936625" y="3508375"/>
            <a:ext cx="3384550" cy="457200"/>
            <a:chOff x="2472" y="3732"/>
            <a:chExt cx="2132" cy="288"/>
          </a:xfrm>
        </p:grpSpPr>
        <p:sp>
          <p:nvSpPr>
            <p:cNvPr id="68670" name="Rectangle 13"/>
            <p:cNvSpPr>
              <a:spLocks noChangeArrowheads="1"/>
            </p:cNvSpPr>
            <p:nvPr/>
          </p:nvSpPr>
          <p:spPr bwMode="auto">
            <a:xfrm>
              <a:off x="2472" y="3748"/>
              <a:ext cx="2132" cy="272"/>
            </a:xfrm>
            <a:prstGeom prst="rect">
              <a:avLst/>
            </a:prstGeom>
            <a:gradFill rotWithShape="1">
              <a:gsLst>
                <a:gs pos="0">
                  <a:srgbClr val="471800"/>
                </a:gs>
                <a:gs pos="50000">
                  <a:srgbClr val="993300"/>
                </a:gs>
                <a:gs pos="100000">
                  <a:srgbClr val="471800"/>
                </a:gs>
              </a:gsLst>
              <a:lin ang="5400000" scaled="1"/>
            </a:gradFill>
            <a:ln w="9525">
              <a:noFill/>
              <a:miter lim="800000"/>
            </a:ln>
          </p:spPr>
          <p:txBody>
            <a:bodyPr wrap="none" anchor="ctr"/>
            <a:lstStyle/>
            <a:p>
              <a:pPr algn="ctr"/>
              <a:endParaRPr lang="zh-CN" altLang="en-US" b="1"/>
            </a:p>
          </p:txBody>
        </p:sp>
        <p:graphicFrame>
          <p:nvGraphicFramePr>
            <p:cNvPr id="68621" name="Object 14"/>
            <p:cNvGraphicFramePr>
              <a:graphicFrameLocks noChangeAspect="1"/>
            </p:cNvGraphicFramePr>
            <p:nvPr/>
          </p:nvGraphicFramePr>
          <p:xfrm>
            <a:off x="3931" y="3753"/>
            <a:ext cx="283" cy="262"/>
          </p:xfrm>
          <a:graphic>
            <a:graphicData uri="http://schemas.openxmlformats.org/presentationml/2006/ole">
              <mc:AlternateContent xmlns:mc="http://schemas.openxmlformats.org/markup-compatibility/2006">
                <mc:Choice xmlns:v="urn:schemas-microsoft-com:vml" Requires="v">
                  <p:oleObj spid="_x0000_s68621" name="公式" r:id="rId4" imgW="7315200" imgH="10058400" progId="Equation.3">
                    <p:embed/>
                  </p:oleObj>
                </mc:Choice>
                <mc:Fallback>
                  <p:oleObj name="公式" r:id="rId4" imgW="7315200" imgH="10058400" progId="Equation.3">
                    <p:embed/>
                    <p:pic>
                      <p:nvPicPr>
                        <p:cNvPr id="0" name="Object 14"/>
                        <p:cNvPicPr>
                          <a:picLocks noChangeAspect="1"/>
                        </p:cNvPicPr>
                        <p:nvPr/>
                      </p:nvPicPr>
                      <p:blipFill>
                        <a:blip r:embed="rId5"/>
                        <a:stretch>
                          <a:fillRect/>
                        </a:stretch>
                      </p:blipFill>
                      <p:spPr>
                        <a:xfrm>
                          <a:off x="3931" y="3753"/>
                          <a:ext cx="283" cy="262"/>
                        </a:xfrm>
                        <a:prstGeom prst="rect">
                          <a:avLst/>
                        </a:prstGeom>
                        <a:noFill/>
                        <a:ln w="9525">
                          <a:noFill/>
                        </a:ln>
                      </p:spPr>
                    </p:pic>
                  </p:oleObj>
                </mc:Fallback>
              </mc:AlternateContent>
            </a:graphicData>
          </a:graphic>
        </p:graphicFrame>
        <p:sp>
          <p:nvSpPr>
            <p:cNvPr id="68671" name="Text Box 15"/>
            <p:cNvSpPr txBox="1">
              <a:spLocks noChangeArrowheads="1"/>
            </p:cNvSpPr>
            <p:nvPr/>
          </p:nvSpPr>
          <p:spPr bwMode="auto">
            <a:xfrm>
              <a:off x="2719" y="3732"/>
              <a:ext cx="1180" cy="288"/>
            </a:xfrm>
            <a:prstGeom prst="rect">
              <a:avLst/>
            </a:prstGeom>
            <a:noFill/>
            <a:ln w="9525">
              <a:noFill/>
              <a:miter lim="800000"/>
            </a:ln>
          </p:spPr>
          <p:txBody>
            <a:bodyPr>
              <a:spAutoFit/>
            </a:bodyPr>
            <a:lstStyle/>
            <a:p>
              <a:r>
                <a:rPr kumimoji="1" lang="zh-CN" altLang="en-US" b="1">
                  <a:solidFill>
                    <a:schemeClr val="bg1"/>
                  </a:solidFill>
                </a:rPr>
                <a:t>低温热源</a:t>
              </a:r>
              <a:endParaRPr kumimoji="1" lang="zh-CN" altLang="en-US" b="1">
                <a:solidFill>
                  <a:schemeClr val="bg1"/>
                </a:solidFill>
              </a:endParaRPr>
            </a:p>
          </p:txBody>
        </p:sp>
      </p:grpSp>
      <p:sp>
        <p:nvSpPr>
          <p:cNvPr id="107536" name="AutoShape 16"/>
          <p:cNvSpPr>
            <a:spLocks noChangeArrowheads="1"/>
          </p:cNvSpPr>
          <p:nvPr/>
        </p:nvSpPr>
        <p:spPr bwMode="auto">
          <a:xfrm>
            <a:off x="1014413" y="2535238"/>
            <a:ext cx="719137" cy="493712"/>
          </a:xfrm>
          <a:prstGeom prst="roundRect">
            <a:avLst>
              <a:gd name="adj" fmla="val 16667"/>
            </a:avLst>
          </a:prstGeom>
          <a:noFill/>
          <a:ln w="28575">
            <a:solidFill>
              <a:srgbClr val="3333CC"/>
            </a:solidFill>
            <a:prstDash val="dash"/>
            <a:round/>
          </a:ln>
        </p:spPr>
        <p:txBody>
          <a:bodyPr wrap="none" anchor="ctr"/>
          <a:lstStyle/>
          <a:p>
            <a:pPr algn="ctr"/>
            <a:endParaRPr lang="zh-CN" altLang="en-US" b="1"/>
          </a:p>
        </p:txBody>
      </p:sp>
      <p:grpSp>
        <p:nvGrpSpPr>
          <p:cNvPr id="5" name="Group 17"/>
          <p:cNvGrpSpPr/>
          <p:nvPr/>
        </p:nvGrpSpPr>
        <p:grpSpPr bwMode="auto">
          <a:xfrm>
            <a:off x="2238375" y="2525713"/>
            <a:ext cx="719138" cy="993775"/>
            <a:chOff x="3606" y="3067"/>
            <a:chExt cx="533" cy="737"/>
          </a:xfrm>
        </p:grpSpPr>
        <p:sp>
          <p:nvSpPr>
            <p:cNvPr id="68668" name="Rectangle 18"/>
            <p:cNvSpPr>
              <a:spLocks noChangeArrowheads="1"/>
            </p:cNvSpPr>
            <p:nvPr/>
          </p:nvSpPr>
          <p:spPr bwMode="auto">
            <a:xfrm>
              <a:off x="3851" y="3067"/>
              <a:ext cx="288" cy="737"/>
            </a:xfrm>
            <a:prstGeom prst="rect">
              <a:avLst/>
            </a:prstGeom>
            <a:solidFill>
              <a:srgbClr val="FFCC00"/>
            </a:solidFill>
            <a:ln w="9525">
              <a:noFill/>
              <a:miter lim="800000"/>
            </a:ln>
          </p:spPr>
          <p:txBody>
            <a:bodyPr wrap="none" anchor="ctr"/>
            <a:lstStyle/>
            <a:p>
              <a:pPr algn="ctr"/>
              <a:endParaRPr lang="zh-CN" altLang="en-US" b="1"/>
            </a:p>
          </p:txBody>
        </p:sp>
        <p:sp>
          <p:nvSpPr>
            <p:cNvPr id="68669" name="Line 19"/>
            <p:cNvSpPr>
              <a:spLocks noChangeShapeType="1"/>
            </p:cNvSpPr>
            <p:nvPr/>
          </p:nvSpPr>
          <p:spPr bwMode="auto">
            <a:xfrm>
              <a:off x="3995" y="3566"/>
              <a:ext cx="0" cy="215"/>
            </a:xfrm>
            <a:prstGeom prst="line">
              <a:avLst/>
            </a:prstGeom>
            <a:noFill/>
            <a:ln w="38100">
              <a:solidFill>
                <a:schemeClr val="tx1"/>
              </a:solidFill>
              <a:round/>
              <a:tailEnd type="triangle" w="med" len="med"/>
            </a:ln>
          </p:spPr>
          <p:txBody>
            <a:bodyPr/>
            <a:lstStyle/>
            <a:p>
              <a:endParaRPr lang="zh-CN" altLang="en-US"/>
            </a:p>
          </p:txBody>
        </p:sp>
        <p:graphicFrame>
          <p:nvGraphicFramePr>
            <p:cNvPr id="68620" name="Object 20"/>
            <p:cNvGraphicFramePr>
              <a:graphicFrameLocks noChangeAspect="1"/>
            </p:cNvGraphicFramePr>
            <p:nvPr/>
          </p:nvGraphicFramePr>
          <p:xfrm>
            <a:off x="3606" y="3521"/>
            <a:ext cx="240" cy="264"/>
          </p:xfrm>
          <a:graphic>
            <a:graphicData uri="http://schemas.openxmlformats.org/presentationml/2006/ole">
              <mc:AlternateContent xmlns:mc="http://schemas.openxmlformats.org/markup-compatibility/2006">
                <mc:Choice xmlns:v="urn:schemas-microsoft-com:vml" Requires="v">
                  <p:oleObj spid="_x0000_s68620" name="公式" r:id="rId6" imgW="9144000" imgH="10058400" progId="Equation.3">
                    <p:embed/>
                  </p:oleObj>
                </mc:Choice>
                <mc:Fallback>
                  <p:oleObj name="公式" r:id="rId6" imgW="9144000" imgH="10058400" progId="Equation.3">
                    <p:embed/>
                    <p:pic>
                      <p:nvPicPr>
                        <p:cNvPr id="0" name="Object 20"/>
                        <p:cNvPicPr>
                          <a:picLocks noChangeAspect="1"/>
                        </p:cNvPicPr>
                        <p:nvPr/>
                      </p:nvPicPr>
                      <p:blipFill>
                        <a:blip r:embed="rId2"/>
                        <a:stretch>
                          <a:fillRect/>
                        </a:stretch>
                      </p:blipFill>
                      <p:spPr>
                        <a:xfrm>
                          <a:off x="3606" y="3521"/>
                          <a:ext cx="240" cy="264"/>
                        </a:xfrm>
                        <a:prstGeom prst="rect">
                          <a:avLst/>
                        </a:prstGeom>
                        <a:noFill/>
                        <a:ln w="9525">
                          <a:noFill/>
                        </a:ln>
                      </p:spPr>
                    </p:pic>
                  </p:oleObj>
                </mc:Fallback>
              </mc:AlternateContent>
            </a:graphicData>
          </a:graphic>
        </p:graphicFrame>
      </p:grpSp>
      <p:grpSp>
        <p:nvGrpSpPr>
          <p:cNvPr id="6" name="Group 21"/>
          <p:cNvGrpSpPr/>
          <p:nvPr/>
        </p:nvGrpSpPr>
        <p:grpSpPr bwMode="auto">
          <a:xfrm>
            <a:off x="2322513" y="2120900"/>
            <a:ext cx="1905000" cy="1066800"/>
            <a:chOff x="3659" y="2903"/>
            <a:chExt cx="1200" cy="672"/>
          </a:xfrm>
        </p:grpSpPr>
        <p:grpSp>
          <p:nvGrpSpPr>
            <p:cNvPr id="68661" name="Group 22"/>
            <p:cNvGrpSpPr/>
            <p:nvPr/>
          </p:nvGrpSpPr>
          <p:grpSpPr bwMode="auto">
            <a:xfrm>
              <a:off x="4139" y="2903"/>
              <a:ext cx="720" cy="672"/>
              <a:chOff x="1775" y="1685"/>
              <a:chExt cx="720" cy="672"/>
            </a:xfrm>
          </p:grpSpPr>
          <p:sp>
            <p:nvSpPr>
              <p:cNvPr id="68663" name="Oval 23"/>
              <p:cNvSpPr>
                <a:spLocks noChangeArrowheads="1"/>
              </p:cNvSpPr>
              <p:nvPr/>
            </p:nvSpPr>
            <p:spPr bwMode="auto">
              <a:xfrm>
                <a:off x="1919" y="1781"/>
                <a:ext cx="336" cy="240"/>
              </a:xfrm>
              <a:prstGeom prst="ellipse">
                <a:avLst/>
              </a:prstGeom>
              <a:noFill/>
              <a:ln w="28575">
                <a:solidFill>
                  <a:srgbClr val="FFCC00"/>
                </a:solidFill>
                <a:prstDash val="sysDot"/>
                <a:round/>
              </a:ln>
            </p:spPr>
            <p:txBody>
              <a:bodyPr wrap="none" anchor="ctr"/>
              <a:lstStyle/>
              <a:p>
                <a:pPr algn="ctr"/>
                <a:endParaRPr lang="zh-CN" altLang="en-US" b="1"/>
              </a:p>
            </p:txBody>
          </p:sp>
          <p:grpSp>
            <p:nvGrpSpPr>
              <p:cNvPr id="68664" name="Group 24"/>
              <p:cNvGrpSpPr/>
              <p:nvPr/>
            </p:nvGrpSpPr>
            <p:grpSpPr bwMode="auto">
              <a:xfrm>
                <a:off x="1775" y="1685"/>
                <a:ext cx="720" cy="672"/>
                <a:chOff x="2603" y="1494"/>
                <a:chExt cx="720" cy="672"/>
              </a:xfrm>
            </p:grpSpPr>
            <p:sp>
              <p:nvSpPr>
                <p:cNvPr id="68665" name="Oval 25"/>
                <p:cNvSpPr>
                  <a:spLocks noChangeArrowheads="1"/>
                </p:cNvSpPr>
                <p:nvPr/>
              </p:nvSpPr>
              <p:spPr bwMode="auto">
                <a:xfrm rot="561456">
                  <a:off x="2603" y="1590"/>
                  <a:ext cx="528" cy="384"/>
                </a:xfrm>
                <a:prstGeom prst="ellipse">
                  <a:avLst/>
                </a:prstGeom>
                <a:noFill/>
                <a:ln w="28575">
                  <a:solidFill>
                    <a:srgbClr val="FFCC00"/>
                  </a:solidFill>
                  <a:prstDash val="sysDot"/>
                  <a:round/>
                </a:ln>
              </p:spPr>
              <p:txBody>
                <a:bodyPr wrap="none" anchor="ctr"/>
                <a:lstStyle/>
                <a:p>
                  <a:pPr algn="ctr"/>
                  <a:endParaRPr lang="zh-CN" altLang="en-US" b="1"/>
                </a:p>
              </p:txBody>
            </p:sp>
            <p:sp>
              <p:nvSpPr>
                <p:cNvPr id="68666" name="Rectangle 26"/>
                <p:cNvSpPr>
                  <a:spLocks noChangeArrowheads="1"/>
                </p:cNvSpPr>
                <p:nvPr/>
              </p:nvSpPr>
              <p:spPr bwMode="auto">
                <a:xfrm>
                  <a:off x="2747" y="1494"/>
                  <a:ext cx="576" cy="240"/>
                </a:xfrm>
                <a:prstGeom prst="rect">
                  <a:avLst/>
                </a:prstGeom>
                <a:solidFill>
                  <a:schemeClr val="bg1"/>
                </a:solidFill>
                <a:ln w="9525">
                  <a:solidFill>
                    <a:schemeClr val="bg1"/>
                  </a:solidFill>
                  <a:miter lim="800000"/>
                </a:ln>
              </p:spPr>
              <p:txBody>
                <a:bodyPr wrap="none" anchor="ctr"/>
                <a:lstStyle/>
                <a:p>
                  <a:pPr algn="ctr"/>
                  <a:endParaRPr lang="zh-CN" altLang="en-US" b="1"/>
                </a:p>
              </p:txBody>
            </p:sp>
            <p:sp>
              <p:nvSpPr>
                <p:cNvPr id="68667" name="Rectangle 27"/>
                <p:cNvSpPr>
                  <a:spLocks noChangeArrowheads="1"/>
                </p:cNvSpPr>
                <p:nvPr/>
              </p:nvSpPr>
              <p:spPr bwMode="auto">
                <a:xfrm>
                  <a:off x="2939" y="1734"/>
                  <a:ext cx="240" cy="432"/>
                </a:xfrm>
                <a:prstGeom prst="rect">
                  <a:avLst/>
                </a:prstGeom>
                <a:solidFill>
                  <a:schemeClr val="bg1"/>
                </a:solidFill>
                <a:ln w="9525">
                  <a:solidFill>
                    <a:schemeClr val="bg1"/>
                  </a:solidFill>
                  <a:miter lim="800000"/>
                </a:ln>
              </p:spPr>
              <p:txBody>
                <a:bodyPr wrap="none" anchor="ctr"/>
                <a:lstStyle/>
                <a:p>
                  <a:pPr algn="ctr"/>
                  <a:endParaRPr lang="zh-CN" altLang="en-US" b="1"/>
                </a:p>
              </p:txBody>
            </p:sp>
          </p:grpSp>
        </p:grpSp>
        <p:sp>
          <p:nvSpPr>
            <p:cNvPr id="68662" name="AutoShape 28"/>
            <p:cNvSpPr>
              <a:spLocks noChangeArrowheads="1"/>
            </p:cNvSpPr>
            <p:nvPr/>
          </p:nvSpPr>
          <p:spPr bwMode="auto">
            <a:xfrm>
              <a:off x="3659" y="3143"/>
              <a:ext cx="809" cy="423"/>
            </a:xfrm>
            <a:prstGeom prst="roundRect">
              <a:avLst>
                <a:gd name="adj" fmla="val 16667"/>
              </a:avLst>
            </a:prstGeom>
            <a:noFill/>
            <a:ln w="28575">
              <a:solidFill>
                <a:srgbClr val="3333CC"/>
              </a:solidFill>
              <a:prstDash val="dash"/>
              <a:round/>
            </a:ln>
          </p:spPr>
          <p:txBody>
            <a:bodyPr wrap="none" anchor="ctr"/>
            <a:lstStyle/>
            <a:p>
              <a:pPr algn="ctr"/>
              <a:endParaRPr lang="zh-CN" altLang="en-US" b="1"/>
            </a:p>
          </p:txBody>
        </p:sp>
      </p:grpSp>
      <p:grpSp>
        <p:nvGrpSpPr>
          <p:cNvPr id="9" name="Group 29"/>
          <p:cNvGrpSpPr/>
          <p:nvPr/>
        </p:nvGrpSpPr>
        <p:grpSpPr bwMode="auto">
          <a:xfrm>
            <a:off x="2627313" y="2024063"/>
            <a:ext cx="685800" cy="485775"/>
            <a:chOff x="2315" y="1395"/>
            <a:chExt cx="432" cy="339"/>
          </a:xfrm>
        </p:grpSpPr>
        <p:sp>
          <p:nvSpPr>
            <p:cNvPr id="68659" name="Rectangle 30"/>
            <p:cNvSpPr>
              <a:spLocks noChangeArrowheads="1"/>
            </p:cNvSpPr>
            <p:nvPr/>
          </p:nvSpPr>
          <p:spPr bwMode="auto">
            <a:xfrm>
              <a:off x="2315" y="1398"/>
              <a:ext cx="432" cy="336"/>
            </a:xfrm>
            <a:prstGeom prst="rect">
              <a:avLst/>
            </a:prstGeom>
            <a:solidFill>
              <a:srgbClr val="FFCC00"/>
            </a:solidFill>
            <a:ln w="9525">
              <a:noFill/>
              <a:miter lim="800000"/>
            </a:ln>
          </p:spPr>
          <p:txBody>
            <a:bodyPr wrap="none" anchor="ctr"/>
            <a:lstStyle/>
            <a:p>
              <a:pPr algn="ctr"/>
              <a:endParaRPr lang="zh-CN" altLang="en-US" b="1"/>
            </a:p>
          </p:txBody>
        </p:sp>
        <p:sp>
          <p:nvSpPr>
            <p:cNvPr id="68660" name="Line 31"/>
            <p:cNvSpPr>
              <a:spLocks noChangeShapeType="1"/>
            </p:cNvSpPr>
            <p:nvPr/>
          </p:nvSpPr>
          <p:spPr bwMode="auto">
            <a:xfrm>
              <a:off x="2411" y="1446"/>
              <a:ext cx="0" cy="192"/>
            </a:xfrm>
            <a:prstGeom prst="line">
              <a:avLst/>
            </a:prstGeom>
            <a:noFill/>
            <a:ln w="38100">
              <a:solidFill>
                <a:schemeClr val="tx1"/>
              </a:solidFill>
              <a:round/>
              <a:tailEnd type="triangle" w="med" len="med"/>
            </a:ln>
          </p:spPr>
          <p:txBody>
            <a:bodyPr/>
            <a:lstStyle/>
            <a:p>
              <a:endParaRPr lang="zh-CN" altLang="en-US"/>
            </a:p>
          </p:txBody>
        </p:sp>
        <p:graphicFrame>
          <p:nvGraphicFramePr>
            <p:cNvPr id="68619" name="Object 32"/>
            <p:cNvGraphicFramePr>
              <a:graphicFrameLocks noChangeAspect="1"/>
            </p:cNvGraphicFramePr>
            <p:nvPr/>
          </p:nvGraphicFramePr>
          <p:xfrm>
            <a:off x="2482" y="1395"/>
            <a:ext cx="217" cy="266"/>
          </p:xfrm>
          <a:graphic>
            <a:graphicData uri="http://schemas.openxmlformats.org/presentationml/2006/ole">
              <mc:AlternateContent xmlns:mc="http://schemas.openxmlformats.org/markup-compatibility/2006">
                <mc:Choice xmlns:v="urn:schemas-microsoft-com:vml" Requires="v">
                  <p:oleObj spid="_x0000_s68619" name="公式" r:id="rId7" imgW="8229600" imgH="10058400" progId="Equation.3">
                    <p:embed/>
                  </p:oleObj>
                </mc:Choice>
                <mc:Fallback>
                  <p:oleObj name="公式" r:id="rId7" imgW="8229600" imgH="10058400" progId="Equation.3">
                    <p:embed/>
                    <p:pic>
                      <p:nvPicPr>
                        <p:cNvPr id="0" name="Object 32"/>
                        <p:cNvPicPr>
                          <a:picLocks noChangeAspect="1"/>
                        </p:cNvPicPr>
                        <p:nvPr/>
                      </p:nvPicPr>
                      <p:blipFill>
                        <a:blip r:embed="rId8"/>
                        <a:stretch>
                          <a:fillRect/>
                        </a:stretch>
                      </p:blipFill>
                      <p:spPr>
                        <a:xfrm>
                          <a:off x="2482" y="1395"/>
                          <a:ext cx="217" cy="266"/>
                        </a:xfrm>
                        <a:prstGeom prst="rect">
                          <a:avLst/>
                        </a:prstGeom>
                        <a:noFill/>
                        <a:ln w="9525">
                          <a:noFill/>
                        </a:ln>
                      </p:spPr>
                    </p:pic>
                  </p:oleObj>
                </mc:Fallback>
              </mc:AlternateContent>
            </a:graphicData>
          </a:graphic>
        </p:graphicFrame>
      </p:grpSp>
      <p:grpSp>
        <p:nvGrpSpPr>
          <p:cNvPr id="10" name="Group 33"/>
          <p:cNvGrpSpPr/>
          <p:nvPr/>
        </p:nvGrpSpPr>
        <p:grpSpPr bwMode="auto">
          <a:xfrm>
            <a:off x="3595688" y="2627313"/>
            <a:ext cx="762000" cy="300037"/>
            <a:chOff x="4461" y="3222"/>
            <a:chExt cx="480" cy="189"/>
          </a:xfrm>
        </p:grpSpPr>
        <p:sp>
          <p:nvSpPr>
            <p:cNvPr id="68657" name="Rectangle 34"/>
            <p:cNvSpPr>
              <a:spLocks noChangeArrowheads="1"/>
            </p:cNvSpPr>
            <p:nvPr/>
          </p:nvSpPr>
          <p:spPr bwMode="auto">
            <a:xfrm>
              <a:off x="4475" y="3222"/>
              <a:ext cx="446" cy="163"/>
            </a:xfrm>
            <a:prstGeom prst="rect">
              <a:avLst/>
            </a:prstGeom>
            <a:solidFill>
              <a:srgbClr val="FFCC00"/>
            </a:solidFill>
            <a:ln w="9525">
              <a:solidFill>
                <a:srgbClr val="FFCC00"/>
              </a:solidFill>
              <a:miter lim="800000"/>
            </a:ln>
          </p:spPr>
          <p:txBody>
            <a:bodyPr wrap="none" anchor="ctr"/>
            <a:lstStyle/>
            <a:p>
              <a:pPr algn="ctr"/>
              <a:endParaRPr lang="zh-CN" altLang="en-US" b="1"/>
            </a:p>
          </p:txBody>
        </p:sp>
        <p:sp>
          <p:nvSpPr>
            <p:cNvPr id="68658" name="Line 35"/>
            <p:cNvSpPr>
              <a:spLocks noChangeShapeType="1"/>
            </p:cNvSpPr>
            <p:nvPr/>
          </p:nvSpPr>
          <p:spPr bwMode="auto">
            <a:xfrm>
              <a:off x="4461" y="3309"/>
              <a:ext cx="240" cy="0"/>
            </a:xfrm>
            <a:prstGeom prst="line">
              <a:avLst/>
            </a:prstGeom>
            <a:noFill/>
            <a:ln w="38100">
              <a:solidFill>
                <a:schemeClr val="tx1"/>
              </a:solidFill>
              <a:round/>
              <a:tailEnd type="triangle" w="med" len="med"/>
            </a:ln>
          </p:spPr>
          <p:txBody>
            <a:bodyPr/>
            <a:lstStyle/>
            <a:p>
              <a:endParaRPr lang="zh-CN" altLang="en-US"/>
            </a:p>
          </p:txBody>
        </p:sp>
        <p:graphicFrame>
          <p:nvGraphicFramePr>
            <p:cNvPr id="68618" name="Object 36"/>
            <p:cNvGraphicFramePr>
              <a:graphicFrameLocks noChangeAspect="1"/>
            </p:cNvGraphicFramePr>
            <p:nvPr/>
          </p:nvGraphicFramePr>
          <p:xfrm>
            <a:off x="4766" y="3236"/>
            <a:ext cx="175" cy="175"/>
          </p:xfrm>
          <a:graphic>
            <a:graphicData uri="http://schemas.openxmlformats.org/presentationml/2006/ole">
              <mc:AlternateContent xmlns:mc="http://schemas.openxmlformats.org/markup-compatibility/2006">
                <mc:Choice xmlns:v="urn:schemas-microsoft-com:vml" Requires="v">
                  <p:oleObj spid="_x0000_s68618" name="公式" r:id="rId9" imgW="4267200" imgH="4267200" progId="Equation.3">
                    <p:embed/>
                  </p:oleObj>
                </mc:Choice>
                <mc:Fallback>
                  <p:oleObj name="公式" r:id="rId9" imgW="4267200" imgH="4267200" progId="Equation.3">
                    <p:embed/>
                    <p:pic>
                      <p:nvPicPr>
                        <p:cNvPr id="0" name="Object 36"/>
                        <p:cNvPicPr>
                          <a:picLocks noChangeAspect="1"/>
                        </p:cNvPicPr>
                        <p:nvPr/>
                      </p:nvPicPr>
                      <p:blipFill>
                        <a:blip r:embed="rId10"/>
                        <a:stretch>
                          <a:fillRect/>
                        </a:stretch>
                      </p:blipFill>
                      <p:spPr>
                        <a:xfrm>
                          <a:off x="4766" y="3236"/>
                          <a:ext cx="175" cy="175"/>
                        </a:xfrm>
                        <a:prstGeom prst="rect">
                          <a:avLst/>
                        </a:prstGeom>
                        <a:noFill/>
                        <a:ln w="9525">
                          <a:noFill/>
                        </a:ln>
                      </p:spPr>
                    </p:pic>
                  </p:oleObj>
                </mc:Fallback>
              </mc:AlternateContent>
            </a:graphicData>
          </a:graphic>
        </p:graphicFrame>
      </p:grpSp>
      <p:graphicFrame>
        <p:nvGraphicFramePr>
          <p:cNvPr id="107557" name="Object 37"/>
          <p:cNvGraphicFramePr/>
          <p:nvPr/>
        </p:nvGraphicFramePr>
        <p:xfrm>
          <a:off x="3857625" y="3033713"/>
          <a:ext cx="1214438" cy="417512"/>
        </p:xfrm>
        <a:graphic>
          <a:graphicData uri="http://schemas.openxmlformats.org/presentationml/2006/ole">
            <mc:AlternateContent xmlns:mc="http://schemas.openxmlformats.org/markup-compatibility/2006">
              <mc:Choice xmlns:v="urn:schemas-microsoft-com:vml" Requires="v">
                <p:oleObj spid="_x0000_s68610" name="公式" r:id="rId11" imgW="18288000" imgH="5181600" progId="Equation.3">
                  <p:embed/>
                </p:oleObj>
              </mc:Choice>
              <mc:Fallback>
                <p:oleObj name="公式" r:id="rId11" imgW="18288000" imgH="5181600" progId="Equation.3">
                  <p:embed/>
                  <p:pic>
                    <p:nvPicPr>
                      <p:cNvPr id="0" name="Object 37"/>
                      <p:cNvPicPr/>
                      <p:nvPr/>
                    </p:nvPicPr>
                    <p:blipFill>
                      <a:blip r:embed="rId12"/>
                      <a:stretch>
                        <a:fillRect/>
                      </a:stretch>
                    </p:blipFill>
                    <p:spPr>
                      <a:xfrm>
                        <a:off x="3857625" y="3033713"/>
                        <a:ext cx="1214438" cy="417512"/>
                      </a:xfrm>
                      <a:prstGeom prst="rect">
                        <a:avLst/>
                      </a:prstGeom>
                      <a:noFill/>
                      <a:ln w="9525">
                        <a:noFill/>
                      </a:ln>
                    </p:spPr>
                  </p:pic>
                </p:oleObj>
              </mc:Fallback>
            </mc:AlternateContent>
          </a:graphicData>
        </a:graphic>
      </p:graphicFrame>
      <p:graphicFrame>
        <p:nvGraphicFramePr>
          <p:cNvPr id="107558" name="Object 38"/>
          <p:cNvGraphicFramePr/>
          <p:nvPr/>
        </p:nvGraphicFramePr>
        <p:xfrm>
          <a:off x="4398963" y="1589088"/>
          <a:ext cx="884237" cy="355600"/>
        </p:xfrm>
        <a:graphic>
          <a:graphicData uri="http://schemas.openxmlformats.org/presentationml/2006/ole">
            <mc:AlternateContent xmlns:mc="http://schemas.openxmlformats.org/markup-compatibility/2006">
              <mc:Choice xmlns:v="urn:schemas-microsoft-com:vml" Requires="v">
                <p:oleObj spid="_x0000_s68611" name="公式" r:id="rId13" imgW="24993600" imgH="10058400" progId="Equation.3">
                  <p:embed/>
                </p:oleObj>
              </mc:Choice>
              <mc:Fallback>
                <p:oleObj name="公式" r:id="rId13" imgW="24993600" imgH="10058400" progId="Equation.3">
                  <p:embed/>
                  <p:pic>
                    <p:nvPicPr>
                      <p:cNvPr id="0" name="Object 38"/>
                      <p:cNvPicPr/>
                      <p:nvPr/>
                    </p:nvPicPr>
                    <p:blipFill>
                      <a:blip r:embed="rId14"/>
                      <a:stretch>
                        <a:fillRect/>
                      </a:stretch>
                    </p:blipFill>
                    <p:spPr>
                      <a:xfrm>
                        <a:off x="4398963" y="1589088"/>
                        <a:ext cx="884237" cy="355600"/>
                      </a:xfrm>
                      <a:prstGeom prst="rect">
                        <a:avLst/>
                      </a:prstGeom>
                      <a:noFill/>
                      <a:ln w="9525">
                        <a:noFill/>
                      </a:ln>
                    </p:spPr>
                  </p:pic>
                </p:oleObj>
              </mc:Fallback>
            </mc:AlternateContent>
          </a:graphicData>
        </a:graphic>
      </p:graphicFrame>
      <p:grpSp>
        <p:nvGrpSpPr>
          <p:cNvPr id="11" name="Group 39"/>
          <p:cNvGrpSpPr/>
          <p:nvPr/>
        </p:nvGrpSpPr>
        <p:grpSpPr bwMode="auto">
          <a:xfrm>
            <a:off x="936625" y="1606550"/>
            <a:ext cx="3313113" cy="487363"/>
            <a:chOff x="2472" y="2534"/>
            <a:chExt cx="2087" cy="307"/>
          </a:xfrm>
        </p:grpSpPr>
        <p:sp>
          <p:nvSpPr>
            <p:cNvPr id="68655" name="Rectangle 40"/>
            <p:cNvSpPr>
              <a:spLocks noChangeArrowheads="1"/>
            </p:cNvSpPr>
            <p:nvPr/>
          </p:nvSpPr>
          <p:spPr bwMode="auto">
            <a:xfrm>
              <a:off x="2472" y="2548"/>
              <a:ext cx="2087" cy="293"/>
            </a:xfrm>
            <a:prstGeom prst="rect">
              <a:avLst/>
            </a:prstGeom>
            <a:gradFill rotWithShape="1">
              <a:gsLst>
                <a:gs pos="0">
                  <a:srgbClr val="761847"/>
                </a:gs>
                <a:gs pos="50000">
                  <a:srgbClr val="FF3399"/>
                </a:gs>
                <a:gs pos="100000">
                  <a:srgbClr val="761847"/>
                </a:gs>
              </a:gsLst>
              <a:lin ang="5400000" scaled="1"/>
            </a:gradFill>
            <a:ln w="9525">
              <a:noFill/>
              <a:miter lim="800000"/>
            </a:ln>
          </p:spPr>
          <p:txBody>
            <a:bodyPr wrap="none" anchor="ctr"/>
            <a:lstStyle/>
            <a:p>
              <a:pPr algn="ctr"/>
              <a:endParaRPr lang="zh-CN" altLang="en-US" b="1"/>
            </a:p>
          </p:txBody>
        </p:sp>
        <p:sp>
          <p:nvSpPr>
            <p:cNvPr id="68656" name="Text Box 41"/>
            <p:cNvSpPr txBox="1">
              <a:spLocks noChangeArrowheads="1"/>
            </p:cNvSpPr>
            <p:nvPr/>
          </p:nvSpPr>
          <p:spPr bwMode="auto">
            <a:xfrm>
              <a:off x="2708" y="2534"/>
              <a:ext cx="1277" cy="288"/>
            </a:xfrm>
            <a:prstGeom prst="rect">
              <a:avLst/>
            </a:prstGeom>
            <a:noFill/>
            <a:ln w="9525">
              <a:noFill/>
              <a:miter lim="800000"/>
            </a:ln>
          </p:spPr>
          <p:txBody>
            <a:bodyPr>
              <a:spAutoFit/>
            </a:bodyPr>
            <a:lstStyle/>
            <a:p>
              <a:r>
                <a:rPr kumimoji="1" lang="zh-CN" altLang="en-US" b="1">
                  <a:solidFill>
                    <a:schemeClr val="bg1"/>
                  </a:solidFill>
                </a:rPr>
                <a:t>高温热源</a:t>
              </a:r>
              <a:endParaRPr kumimoji="1" lang="zh-CN" altLang="en-US" b="1">
                <a:solidFill>
                  <a:schemeClr val="bg1"/>
                </a:solidFill>
              </a:endParaRPr>
            </a:p>
          </p:txBody>
        </p:sp>
        <p:graphicFrame>
          <p:nvGraphicFramePr>
            <p:cNvPr id="68617" name="Object 42"/>
            <p:cNvGraphicFramePr>
              <a:graphicFrameLocks noChangeAspect="1"/>
            </p:cNvGraphicFramePr>
            <p:nvPr/>
          </p:nvGraphicFramePr>
          <p:xfrm>
            <a:off x="3869" y="2548"/>
            <a:ext cx="245" cy="266"/>
          </p:xfrm>
          <a:graphic>
            <a:graphicData uri="http://schemas.openxmlformats.org/presentationml/2006/ole">
              <mc:AlternateContent xmlns:mc="http://schemas.openxmlformats.org/markup-compatibility/2006">
                <mc:Choice xmlns:v="urn:schemas-microsoft-com:vml" Requires="v">
                  <p:oleObj spid="_x0000_s68617" name="公式" r:id="rId15" imgW="6400800" imgH="10058400" progId="Equation.3">
                    <p:embed/>
                  </p:oleObj>
                </mc:Choice>
                <mc:Fallback>
                  <p:oleObj name="公式" r:id="rId15" imgW="6400800" imgH="10058400" progId="Equation.3">
                    <p:embed/>
                    <p:pic>
                      <p:nvPicPr>
                        <p:cNvPr id="0" name="Object 42"/>
                        <p:cNvPicPr>
                          <a:picLocks noChangeAspect="1"/>
                        </p:cNvPicPr>
                        <p:nvPr/>
                      </p:nvPicPr>
                      <p:blipFill>
                        <a:blip r:embed="rId16"/>
                        <a:stretch>
                          <a:fillRect/>
                        </a:stretch>
                      </p:blipFill>
                      <p:spPr>
                        <a:xfrm>
                          <a:off x="3869" y="2548"/>
                          <a:ext cx="245" cy="266"/>
                        </a:xfrm>
                        <a:prstGeom prst="rect">
                          <a:avLst/>
                        </a:prstGeom>
                        <a:noFill/>
                        <a:ln w="9525">
                          <a:noFill/>
                        </a:ln>
                      </p:spPr>
                    </p:pic>
                  </p:oleObj>
                </mc:Fallback>
              </mc:AlternateContent>
            </a:graphicData>
          </a:graphic>
        </p:graphicFrame>
      </p:grpSp>
      <p:sp>
        <p:nvSpPr>
          <p:cNvPr id="107563" name="AutoShape 43"/>
          <p:cNvSpPr>
            <a:spLocks noChangeArrowheads="1"/>
          </p:cNvSpPr>
          <p:nvPr/>
        </p:nvSpPr>
        <p:spPr bwMode="auto">
          <a:xfrm rot="-5400000">
            <a:off x="4819650" y="536575"/>
            <a:ext cx="287338" cy="503238"/>
          </a:xfrm>
          <a:prstGeom prst="downArrow">
            <a:avLst>
              <a:gd name="adj1" fmla="val 50000"/>
              <a:gd name="adj2" fmla="val 43784"/>
            </a:avLst>
          </a:prstGeom>
          <a:solidFill>
            <a:srgbClr val="3333CC"/>
          </a:solidFill>
          <a:ln w="9525">
            <a:solidFill>
              <a:srgbClr val="FFCCFF"/>
            </a:solidFill>
            <a:miter lim="800000"/>
          </a:ln>
        </p:spPr>
        <p:txBody>
          <a:bodyPr vert="eaVert" wrap="none" anchor="ctr"/>
          <a:lstStyle/>
          <a:p>
            <a:pPr algn="ctr"/>
            <a:endParaRPr lang="zh-CN" altLang="en-US" b="1"/>
          </a:p>
        </p:txBody>
      </p:sp>
      <p:sp>
        <p:nvSpPr>
          <p:cNvPr id="107564" name="Text Box 44"/>
          <p:cNvSpPr txBox="1">
            <a:spLocks noChangeArrowheads="1"/>
          </p:cNvSpPr>
          <p:nvPr/>
        </p:nvSpPr>
        <p:spPr bwMode="auto">
          <a:xfrm>
            <a:off x="409575" y="4259263"/>
            <a:ext cx="990600" cy="457200"/>
          </a:xfrm>
          <a:prstGeom prst="rect">
            <a:avLst/>
          </a:prstGeom>
          <a:noFill/>
          <a:ln w="9525">
            <a:noFill/>
            <a:miter lim="800000"/>
          </a:ln>
        </p:spPr>
        <p:txBody>
          <a:bodyPr>
            <a:spAutoFit/>
          </a:bodyPr>
          <a:lstStyle/>
          <a:p>
            <a:pPr>
              <a:spcBef>
                <a:spcPct val="50000"/>
              </a:spcBef>
            </a:pPr>
            <a:r>
              <a:rPr lang="zh-CN" altLang="en-US" b="1">
                <a:solidFill>
                  <a:srgbClr val="FF0000"/>
                </a:solidFill>
              </a:rPr>
              <a:t>分析：</a:t>
            </a:r>
            <a:endParaRPr lang="zh-CN" altLang="en-US" b="1">
              <a:solidFill>
                <a:srgbClr val="FF0000"/>
              </a:solidFill>
            </a:endParaRPr>
          </a:p>
        </p:txBody>
      </p:sp>
      <p:sp>
        <p:nvSpPr>
          <p:cNvPr id="107565" name="Text Box 45"/>
          <p:cNvSpPr txBox="1">
            <a:spLocks noChangeArrowheads="1"/>
          </p:cNvSpPr>
          <p:nvPr/>
        </p:nvSpPr>
        <p:spPr bwMode="auto">
          <a:xfrm>
            <a:off x="1476375" y="4183063"/>
            <a:ext cx="7667625" cy="520700"/>
          </a:xfrm>
          <a:prstGeom prst="rect">
            <a:avLst/>
          </a:prstGeom>
          <a:noFill/>
          <a:ln w="9525">
            <a:noFill/>
            <a:miter lim="800000"/>
          </a:ln>
        </p:spPr>
        <p:txBody>
          <a:bodyPr>
            <a:spAutoFit/>
          </a:bodyPr>
          <a:lstStyle/>
          <a:p>
            <a:pPr>
              <a:lnSpc>
                <a:spcPct val="130000"/>
              </a:lnSpc>
              <a:spcBef>
                <a:spcPct val="50000"/>
              </a:spcBef>
            </a:pPr>
            <a:r>
              <a:rPr lang="zh-CN" altLang="en-US" b="1">
                <a:solidFill>
                  <a:srgbClr val="FF6600"/>
                </a:solidFill>
              </a:rPr>
              <a:t>假设</a:t>
            </a:r>
            <a:r>
              <a:rPr lang="zh-CN" altLang="en-US" b="1">
                <a:solidFill>
                  <a:srgbClr val="0000FF"/>
                </a:solidFill>
              </a:rPr>
              <a:t>“</a:t>
            </a:r>
            <a:r>
              <a:rPr kumimoji="1" lang="zh-CN" altLang="en-US" b="1">
                <a:solidFill>
                  <a:srgbClr val="0000FF"/>
                </a:solidFill>
              </a:rPr>
              <a:t>克劳修斯表述不成立，而开尔文表述成立”</a:t>
            </a:r>
            <a:r>
              <a:rPr kumimoji="1" lang="zh-CN" altLang="en-US" b="1"/>
              <a:t>。</a:t>
            </a:r>
            <a:endParaRPr kumimoji="1" lang="zh-CN" altLang="en-US" b="1"/>
          </a:p>
        </p:txBody>
      </p:sp>
      <p:sp>
        <p:nvSpPr>
          <p:cNvPr id="107566" name="Text Box 46"/>
          <p:cNvSpPr txBox="1">
            <a:spLocks noChangeArrowheads="1"/>
          </p:cNvSpPr>
          <p:nvPr/>
        </p:nvSpPr>
        <p:spPr bwMode="auto">
          <a:xfrm>
            <a:off x="914400" y="5830888"/>
            <a:ext cx="7620000" cy="457200"/>
          </a:xfrm>
          <a:prstGeom prst="rect">
            <a:avLst/>
          </a:prstGeom>
          <a:noFill/>
          <a:ln w="9525">
            <a:noFill/>
            <a:miter lim="800000"/>
          </a:ln>
        </p:spPr>
        <p:txBody>
          <a:bodyPr>
            <a:spAutoFit/>
          </a:bodyPr>
          <a:lstStyle/>
          <a:p>
            <a:pPr>
              <a:spcBef>
                <a:spcPct val="50000"/>
              </a:spcBef>
            </a:pPr>
            <a:r>
              <a:rPr lang="zh-CN" altLang="en-US" b="1"/>
              <a:t>综合</a:t>
            </a:r>
            <a:r>
              <a:rPr lang="zh-CN" altLang="en-US" b="1">
                <a:cs typeface="Times New Roman" panose="02020603050405020304" pitchFamily="18" charset="0"/>
              </a:rPr>
              <a:t>（</a:t>
            </a:r>
            <a:r>
              <a:rPr lang="en-US" altLang="zh-CN" b="1">
                <a:cs typeface="Times New Roman" panose="02020603050405020304" pitchFamily="18" charset="0"/>
              </a:rPr>
              <a:t>1</a:t>
            </a:r>
            <a:r>
              <a:rPr lang="zh-CN" altLang="en-US" b="1">
                <a:cs typeface="Times New Roman" panose="02020603050405020304" pitchFamily="18" charset="0"/>
              </a:rPr>
              <a:t>）（</a:t>
            </a:r>
            <a:r>
              <a:rPr lang="en-US" altLang="zh-CN" b="1">
                <a:cs typeface="Times New Roman" panose="02020603050405020304" pitchFamily="18" charset="0"/>
              </a:rPr>
              <a:t>2</a:t>
            </a:r>
            <a:r>
              <a:rPr lang="zh-CN" altLang="en-US" b="1">
                <a:cs typeface="Times New Roman" panose="02020603050405020304" pitchFamily="18" charset="0"/>
              </a:rPr>
              <a:t>），</a:t>
            </a:r>
            <a:r>
              <a:rPr kumimoji="1" lang="zh-CN" altLang="en-US" b="1">
                <a:solidFill>
                  <a:srgbClr val="FF0000"/>
                </a:solidFill>
              </a:rPr>
              <a:t>两种表述等价。</a:t>
            </a:r>
            <a:endParaRPr kumimoji="1" lang="zh-CN" altLang="en-US" b="1">
              <a:solidFill>
                <a:srgbClr val="FF0000"/>
              </a:solidFill>
            </a:endParaRPr>
          </a:p>
        </p:txBody>
      </p:sp>
      <p:sp>
        <p:nvSpPr>
          <p:cNvPr id="107567" name="Text Box 47"/>
          <p:cNvSpPr txBox="1">
            <a:spLocks noChangeArrowheads="1"/>
          </p:cNvSpPr>
          <p:nvPr/>
        </p:nvSpPr>
        <p:spPr bwMode="auto">
          <a:xfrm>
            <a:off x="1417638" y="4678363"/>
            <a:ext cx="6705600" cy="1001712"/>
          </a:xfrm>
          <a:prstGeom prst="rect">
            <a:avLst/>
          </a:prstGeom>
          <a:noFill/>
          <a:ln w="9525">
            <a:noFill/>
            <a:miter lim="800000"/>
          </a:ln>
        </p:spPr>
        <p:txBody>
          <a:bodyPr>
            <a:spAutoFit/>
          </a:bodyPr>
          <a:lstStyle/>
          <a:p>
            <a:pPr>
              <a:lnSpc>
                <a:spcPct val="130000"/>
              </a:lnSpc>
              <a:spcBef>
                <a:spcPct val="50000"/>
              </a:spcBef>
            </a:pPr>
            <a:r>
              <a:rPr kumimoji="1" lang="zh-CN" altLang="en-US" b="1"/>
              <a:t>会得出系统从高温热源吸收的净热量全部用来对外做功了，这与</a:t>
            </a:r>
            <a:r>
              <a:rPr kumimoji="1" lang="zh-CN" altLang="en-US" b="1">
                <a:solidFill>
                  <a:srgbClr val="0000FF"/>
                </a:solidFill>
              </a:rPr>
              <a:t>“开尔文表述成立”</a:t>
            </a:r>
            <a:r>
              <a:rPr kumimoji="1" lang="zh-CN" altLang="en-US" b="1"/>
              <a:t>的假设</a:t>
            </a:r>
            <a:r>
              <a:rPr kumimoji="1" lang="zh-CN" altLang="en-US" b="1">
                <a:solidFill>
                  <a:srgbClr val="FF6600"/>
                </a:solidFill>
              </a:rPr>
              <a:t>矛盾</a:t>
            </a:r>
            <a:r>
              <a:rPr kumimoji="1" lang="zh-CN" altLang="en-US" b="1"/>
              <a:t>。</a:t>
            </a:r>
            <a:endParaRPr kumimoji="1" lang="zh-CN" altLang="en-US" b="1"/>
          </a:p>
        </p:txBody>
      </p:sp>
      <p:grpSp>
        <p:nvGrpSpPr>
          <p:cNvPr id="12" name="Group 48"/>
          <p:cNvGrpSpPr/>
          <p:nvPr/>
        </p:nvGrpSpPr>
        <p:grpSpPr bwMode="auto">
          <a:xfrm>
            <a:off x="6697663" y="2640013"/>
            <a:ext cx="1365250" cy="457200"/>
            <a:chOff x="912" y="912"/>
            <a:chExt cx="875" cy="384"/>
          </a:xfrm>
        </p:grpSpPr>
        <p:sp>
          <p:nvSpPr>
            <p:cNvPr id="68652" name="Rectangle 49"/>
            <p:cNvSpPr>
              <a:spLocks noChangeArrowheads="1"/>
            </p:cNvSpPr>
            <p:nvPr/>
          </p:nvSpPr>
          <p:spPr bwMode="auto">
            <a:xfrm>
              <a:off x="912" y="912"/>
              <a:ext cx="816" cy="384"/>
            </a:xfrm>
            <a:prstGeom prst="rect">
              <a:avLst/>
            </a:prstGeom>
            <a:solidFill>
              <a:srgbClr val="FFCC00"/>
            </a:solidFill>
            <a:ln w="9525">
              <a:noFill/>
              <a:miter lim="800000"/>
            </a:ln>
          </p:spPr>
          <p:txBody>
            <a:bodyPr wrap="none" anchor="ctr"/>
            <a:lstStyle/>
            <a:p>
              <a:pPr algn="ctr"/>
              <a:endParaRPr lang="zh-CN" altLang="en-US" b="1"/>
            </a:p>
          </p:txBody>
        </p:sp>
        <p:grpSp>
          <p:nvGrpSpPr>
            <p:cNvPr id="68653" name="Group 50"/>
            <p:cNvGrpSpPr/>
            <p:nvPr/>
          </p:nvGrpSpPr>
          <p:grpSpPr bwMode="auto">
            <a:xfrm>
              <a:off x="1296" y="943"/>
              <a:ext cx="491" cy="268"/>
              <a:chOff x="1296" y="943"/>
              <a:chExt cx="491" cy="268"/>
            </a:xfrm>
          </p:grpSpPr>
          <p:graphicFrame>
            <p:nvGraphicFramePr>
              <p:cNvPr id="68616" name="Object 51"/>
              <p:cNvGraphicFramePr>
                <a:graphicFrameLocks noChangeAspect="1"/>
              </p:cNvGraphicFramePr>
              <p:nvPr/>
            </p:nvGraphicFramePr>
            <p:xfrm>
              <a:off x="1518" y="943"/>
              <a:ext cx="269" cy="268"/>
            </p:xfrm>
            <a:graphic>
              <a:graphicData uri="http://schemas.openxmlformats.org/presentationml/2006/ole">
                <mc:AlternateContent xmlns:mc="http://schemas.openxmlformats.org/markup-compatibility/2006">
                  <mc:Choice xmlns:v="urn:schemas-microsoft-com:vml" Requires="v">
                    <p:oleObj spid="_x0000_s68616" name="公式" r:id="rId17" imgW="4267200" imgH="4267200" progId="Equation.3">
                      <p:embed/>
                    </p:oleObj>
                  </mc:Choice>
                  <mc:Fallback>
                    <p:oleObj name="公式" r:id="rId17" imgW="4267200" imgH="4267200" progId="Equation.3">
                      <p:embed/>
                      <p:pic>
                        <p:nvPicPr>
                          <p:cNvPr id="0" name="Object 51"/>
                          <p:cNvPicPr>
                            <a:picLocks noChangeAspect="1"/>
                          </p:cNvPicPr>
                          <p:nvPr/>
                        </p:nvPicPr>
                        <p:blipFill>
                          <a:blip r:embed="rId18"/>
                          <a:stretch>
                            <a:fillRect/>
                          </a:stretch>
                        </p:blipFill>
                        <p:spPr>
                          <a:xfrm>
                            <a:off x="1518" y="943"/>
                            <a:ext cx="269" cy="268"/>
                          </a:xfrm>
                          <a:prstGeom prst="rect">
                            <a:avLst/>
                          </a:prstGeom>
                          <a:noFill/>
                          <a:ln w="9525">
                            <a:noFill/>
                          </a:ln>
                        </p:spPr>
                      </p:pic>
                    </p:oleObj>
                  </mc:Fallback>
                </mc:AlternateContent>
              </a:graphicData>
            </a:graphic>
          </p:graphicFrame>
          <p:sp>
            <p:nvSpPr>
              <p:cNvPr id="68654" name="Line 52"/>
              <p:cNvSpPr>
                <a:spLocks noChangeShapeType="1"/>
              </p:cNvSpPr>
              <p:nvPr/>
            </p:nvSpPr>
            <p:spPr bwMode="auto">
              <a:xfrm>
                <a:off x="1296" y="1104"/>
                <a:ext cx="240" cy="0"/>
              </a:xfrm>
              <a:prstGeom prst="line">
                <a:avLst/>
              </a:prstGeom>
              <a:noFill/>
              <a:ln w="38100">
                <a:solidFill>
                  <a:srgbClr val="0FAB34"/>
                </a:solidFill>
                <a:round/>
                <a:tailEnd type="triangle" w="med" len="med"/>
              </a:ln>
            </p:spPr>
            <p:txBody>
              <a:bodyPr/>
              <a:lstStyle/>
              <a:p>
                <a:endParaRPr lang="zh-CN" altLang="en-US"/>
              </a:p>
            </p:txBody>
          </p:sp>
        </p:grpSp>
      </p:grpSp>
      <p:graphicFrame>
        <p:nvGraphicFramePr>
          <p:cNvPr id="107573" name="Object 53"/>
          <p:cNvGraphicFramePr/>
          <p:nvPr/>
        </p:nvGraphicFramePr>
        <p:xfrm>
          <a:off x="5643563" y="2247900"/>
          <a:ext cx="857250" cy="428625"/>
        </p:xfrm>
        <a:graphic>
          <a:graphicData uri="http://schemas.openxmlformats.org/presentationml/2006/ole">
            <mc:AlternateContent xmlns:mc="http://schemas.openxmlformats.org/markup-compatibility/2006">
              <mc:Choice xmlns:v="urn:schemas-microsoft-com:vml" Requires="v">
                <p:oleObj spid="_x0000_s68612" name="公式" r:id="rId19" imgW="11582400" imgH="4876800" progId="Equation.3">
                  <p:embed/>
                </p:oleObj>
              </mc:Choice>
              <mc:Fallback>
                <p:oleObj name="公式" r:id="rId19" imgW="11582400" imgH="4876800" progId="Equation.3">
                  <p:embed/>
                  <p:pic>
                    <p:nvPicPr>
                      <p:cNvPr id="0" name="Object 53"/>
                      <p:cNvPicPr/>
                      <p:nvPr/>
                    </p:nvPicPr>
                    <p:blipFill>
                      <a:blip r:embed="rId20"/>
                      <a:stretch>
                        <a:fillRect/>
                      </a:stretch>
                    </p:blipFill>
                    <p:spPr>
                      <a:xfrm>
                        <a:off x="5643563" y="2247900"/>
                        <a:ext cx="857250" cy="428625"/>
                      </a:xfrm>
                      <a:prstGeom prst="rect">
                        <a:avLst/>
                      </a:prstGeom>
                      <a:noFill/>
                      <a:ln w="9525">
                        <a:noFill/>
                      </a:ln>
                    </p:spPr>
                  </p:pic>
                </p:oleObj>
              </mc:Fallback>
            </mc:AlternateContent>
          </a:graphicData>
        </a:graphic>
      </p:graphicFrame>
      <p:grpSp>
        <p:nvGrpSpPr>
          <p:cNvPr id="14" name="Group 54"/>
          <p:cNvGrpSpPr/>
          <p:nvPr/>
        </p:nvGrpSpPr>
        <p:grpSpPr bwMode="auto">
          <a:xfrm>
            <a:off x="6126163" y="3509963"/>
            <a:ext cx="1973262" cy="457200"/>
            <a:chOff x="775" y="1888"/>
            <a:chExt cx="1334" cy="288"/>
          </a:xfrm>
        </p:grpSpPr>
        <p:sp>
          <p:nvSpPr>
            <p:cNvPr id="68650" name="Rectangle 55"/>
            <p:cNvSpPr>
              <a:spLocks noChangeArrowheads="1"/>
            </p:cNvSpPr>
            <p:nvPr/>
          </p:nvSpPr>
          <p:spPr bwMode="auto">
            <a:xfrm>
              <a:off x="775" y="1896"/>
              <a:ext cx="1334" cy="272"/>
            </a:xfrm>
            <a:prstGeom prst="rect">
              <a:avLst/>
            </a:prstGeom>
            <a:gradFill rotWithShape="1">
              <a:gsLst>
                <a:gs pos="0">
                  <a:srgbClr val="471800"/>
                </a:gs>
                <a:gs pos="50000">
                  <a:srgbClr val="993300"/>
                </a:gs>
                <a:gs pos="100000">
                  <a:srgbClr val="471800"/>
                </a:gs>
              </a:gsLst>
              <a:lin ang="5400000" scaled="1"/>
            </a:gradFill>
            <a:ln w="9525">
              <a:noFill/>
              <a:miter lim="800000"/>
            </a:ln>
          </p:spPr>
          <p:txBody>
            <a:bodyPr wrap="none" anchor="ctr"/>
            <a:lstStyle/>
            <a:p>
              <a:pPr algn="ctr"/>
              <a:endParaRPr lang="zh-CN" altLang="en-US" b="1"/>
            </a:p>
          </p:txBody>
        </p:sp>
        <p:graphicFrame>
          <p:nvGraphicFramePr>
            <p:cNvPr id="68615" name="Object 56"/>
            <p:cNvGraphicFramePr>
              <a:graphicFrameLocks noChangeAspect="1"/>
            </p:cNvGraphicFramePr>
            <p:nvPr/>
          </p:nvGraphicFramePr>
          <p:xfrm>
            <a:off x="1701" y="1888"/>
            <a:ext cx="283" cy="262"/>
          </p:xfrm>
          <a:graphic>
            <a:graphicData uri="http://schemas.openxmlformats.org/presentationml/2006/ole">
              <mc:AlternateContent xmlns:mc="http://schemas.openxmlformats.org/markup-compatibility/2006">
                <mc:Choice xmlns:v="urn:schemas-microsoft-com:vml" Requires="v">
                  <p:oleObj spid="_x0000_s68615" name="公式" r:id="rId21" imgW="7315200" imgH="10058400" progId="Equation.3">
                    <p:embed/>
                  </p:oleObj>
                </mc:Choice>
                <mc:Fallback>
                  <p:oleObj name="公式" r:id="rId21" imgW="7315200" imgH="10058400" progId="Equation.3">
                    <p:embed/>
                    <p:pic>
                      <p:nvPicPr>
                        <p:cNvPr id="0" name="Object 56"/>
                        <p:cNvPicPr>
                          <a:picLocks noChangeAspect="1"/>
                        </p:cNvPicPr>
                        <p:nvPr/>
                      </p:nvPicPr>
                      <p:blipFill>
                        <a:blip r:embed="rId5"/>
                        <a:stretch>
                          <a:fillRect/>
                        </a:stretch>
                      </p:blipFill>
                      <p:spPr>
                        <a:xfrm>
                          <a:off x="1701" y="1888"/>
                          <a:ext cx="283" cy="262"/>
                        </a:xfrm>
                        <a:prstGeom prst="rect">
                          <a:avLst/>
                        </a:prstGeom>
                        <a:noFill/>
                        <a:ln w="9525">
                          <a:noFill/>
                        </a:ln>
                      </p:spPr>
                    </p:pic>
                  </p:oleObj>
                </mc:Fallback>
              </mc:AlternateContent>
            </a:graphicData>
          </a:graphic>
        </p:graphicFrame>
        <p:sp>
          <p:nvSpPr>
            <p:cNvPr id="68651" name="Text Box 57"/>
            <p:cNvSpPr txBox="1">
              <a:spLocks noChangeArrowheads="1"/>
            </p:cNvSpPr>
            <p:nvPr/>
          </p:nvSpPr>
          <p:spPr bwMode="auto">
            <a:xfrm>
              <a:off x="793" y="1888"/>
              <a:ext cx="953" cy="288"/>
            </a:xfrm>
            <a:prstGeom prst="rect">
              <a:avLst/>
            </a:prstGeom>
            <a:noFill/>
            <a:ln w="9525">
              <a:noFill/>
              <a:miter lim="800000"/>
            </a:ln>
          </p:spPr>
          <p:txBody>
            <a:bodyPr>
              <a:spAutoFit/>
            </a:bodyPr>
            <a:lstStyle/>
            <a:p>
              <a:r>
                <a:rPr kumimoji="1" lang="zh-CN" altLang="en-US" b="1">
                  <a:solidFill>
                    <a:schemeClr val="bg1"/>
                  </a:solidFill>
                </a:rPr>
                <a:t>低温热源</a:t>
              </a:r>
              <a:endParaRPr kumimoji="1" lang="zh-CN" altLang="en-US" b="1">
                <a:solidFill>
                  <a:schemeClr val="bg1"/>
                </a:solidFill>
              </a:endParaRPr>
            </a:p>
          </p:txBody>
        </p:sp>
      </p:grpSp>
      <p:grpSp>
        <p:nvGrpSpPr>
          <p:cNvPr id="15" name="Group 58"/>
          <p:cNvGrpSpPr/>
          <p:nvPr/>
        </p:nvGrpSpPr>
        <p:grpSpPr bwMode="auto">
          <a:xfrm>
            <a:off x="6684963" y="2063750"/>
            <a:ext cx="647700" cy="603250"/>
            <a:chOff x="839" y="1298"/>
            <a:chExt cx="408" cy="380"/>
          </a:xfrm>
        </p:grpSpPr>
        <p:sp>
          <p:nvSpPr>
            <p:cNvPr id="68649" name="Rectangle 59"/>
            <p:cNvSpPr>
              <a:spLocks noChangeArrowheads="1"/>
            </p:cNvSpPr>
            <p:nvPr/>
          </p:nvSpPr>
          <p:spPr bwMode="auto">
            <a:xfrm>
              <a:off x="839" y="1298"/>
              <a:ext cx="383" cy="380"/>
            </a:xfrm>
            <a:prstGeom prst="rect">
              <a:avLst/>
            </a:prstGeom>
            <a:solidFill>
              <a:srgbClr val="FFCC00"/>
            </a:solidFill>
            <a:ln w="9525">
              <a:noFill/>
              <a:miter lim="800000"/>
            </a:ln>
          </p:spPr>
          <p:txBody>
            <a:bodyPr wrap="none" anchor="ctr"/>
            <a:lstStyle/>
            <a:p>
              <a:pPr algn="ctr"/>
              <a:endParaRPr lang="zh-CN" altLang="en-US" b="1"/>
            </a:p>
          </p:txBody>
        </p:sp>
        <p:graphicFrame>
          <p:nvGraphicFramePr>
            <p:cNvPr id="68614" name="Object 60"/>
            <p:cNvGraphicFramePr>
              <a:graphicFrameLocks noChangeAspect="1"/>
            </p:cNvGraphicFramePr>
            <p:nvPr/>
          </p:nvGraphicFramePr>
          <p:xfrm>
            <a:off x="931" y="1299"/>
            <a:ext cx="316" cy="317"/>
          </p:xfrm>
          <a:graphic>
            <a:graphicData uri="http://schemas.openxmlformats.org/presentationml/2006/ole">
              <mc:AlternateContent xmlns:mc="http://schemas.openxmlformats.org/markup-compatibility/2006">
                <mc:Choice xmlns:v="urn:schemas-microsoft-com:vml" Requires="v">
                  <p:oleObj spid="_x0000_s68614" name="公式" r:id="rId22" imgW="4572000" imgH="4876800" progId="Equation.3">
                    <p:embed/>
                  </p:oleObj>
                </mc:Choice>
                <mc:Fallback>
                  <p:oleObj name="公式" r:id="rId22" imgW="4572000" imgH="4876800" progId="Equation.3">
                    <p:embed/>
                    <p:pic>
                      <p:nvPicPr>
                        <p:cNvPr id="0" name="Object 60"/>
                        <p:cNvPicPr>
                          <a:picLocks noChangeAspect="1"/>
                        </p:cNvPicPr>
                        <p:nvPr/>
                      </p:nvPicPr>
                      <p:blipFill>
                        <a:blip r:embed="rId23"/>
                        <a:stretch>
                          <a:fillRect/>
                        </a:stretch>
                      </p:blipFill>
                      <p:spPr>
                        <a:xfrm>
                          <a:off x="931" y="1299"/>
                          <a:ext cx="316" cy="317"/>
                        </a:xfrm>
                        <a:prstGeom prst="rect">
                          <a:avLst/>
                        </a:prstGeom>
                        <a:noFill/>
                        <a:ln w="9525">
                          <a:noFill/>
                        </a:ln>
                      </p:spPr>
                    </p:pic>
                  </p:oleObj>
                </mc:Fallback>
              </mc:AlternateContent>
            </a:graphicData>
          </a:graphic>
        </p:graphicFrame>
      </p:grpSp>
      <p:sp>
        <p:nvSpPr>
          <p:cNvPr id="107581" name="Line 61"/>
          <p:cNvSpPr>
            <a:spLocks noChangeShapeType="1"/>
          </p:cNvSpPr>
          <p:nvPr/>
        </p:nvSpPr>
        <p:spPr bwMode="auto">
          <a:xfrm>
            <a:off x="6791325" y="2092325"/>
            <a:ext cx="0" cy="431800"/>
          </a:xfrm>
          <a:prstGeom prst="line">
            <a:avLst/>
          </a:prstGeom>
          <a:noFill/>
          <a:ln w="38100">
            <a:solidFill>
              <a:schemeClr val="tx2"/>
            </a:solidFill>
            <a:round/>
            <a:tailEnd type="triangle" w="med" len="med"/>
          </a:ln>
        </p:spPr>
        <p:txBody>
          <a:bodyPr/>
          <a:lstStyle/>
          <a:p>
            <a:endParaRPr lang="zh-CN" altLang="en-US"/>
          </a:p>
        </p:txBody>
      </p:sp>
      <p:sp>
        <p:nvSpPr>
          <p:cNvPr id="107582" name="AutoShape 62"/>
          <p:cNvSpPr>
            <a:spLocks noChangeArrowheads="1"/>
          </p:cNvSpPr>
          <p:nvPr/>
        </p:nvSpPr>
        <p:spPr bwMode="auto">
          <a:xfrm>
            <a:off x="6570663" y="2568575"/>
            <a:ext cx="809625" cy="638175"/>
          </a:xfrm>
          <a:prstGeom prst="roundRect">
            <a:avLst>
              <a:gd name="adj" fmla="val 16667"/>
            </a:avLst>
          </a:prstGeom>
          <a:noFill/>
          <a:ln w="28575">
            <a:solidFill>
              <a:srgbClr val="3333CC"/>
            </a:solidFill>
            <a:prstDash val="dash"/>
            <a:round/>
          </a:ln>
        </p:spPr>
        <p:txBody>
          <a:bodyPr wrap="none" anchor="ctr"/>
          <a:lstStyle/>
          <a:p>
            <a:pPr algn="ctr"/>
            <a:endParaRPr lang="zh-CN" altLang="en-US" b="1"/>
          </a:p>
        </p:txBody>
      </p:sp>
      <p:grpSp>
        <p:nvGrpSpPr>
          <p:cNvPr id="16" name="Group 63"/>
          <p:cNvGrpSpPr/>
          <p:nvPr/>
        </p:nvGrpSpPr>
        <p:grpSpPr bwMode="auto">
          <a:xfrm>
            <a:off x="6126163" y="1614488"/>
            <a:ext cx="2046287" cy="474662"/>
            <a:chOff x="775" y="788"/>
            <a:chExt cx="1289" cy="299"/>
          </a:xfrm>
        </p:grpSpPr>
        <p:sp>
          <p:nvSpPr>
            <p:cNvPr id="68647" name="Rectangle 64"/>
            <p:cNvSpPr>
              <a:spLocks noChangeArrowheads="1"/>
            </p:cNvSpPr>
            <p:nvPr/>
          </p:nvSpPr>
          <p:spPr bwMode="auto">
            <a:xfrm>
              <a:off x="775" y="788"/>
              <a:ext cx="1289" cy="295"/>
            </a:xfrm>
            <a:prstGeom prst="rect">
              <a:avLst/>
            </a:prstGeom>
            <a:gradFill rotWithShape="1">
              <a:gsLst>
                <a:gs pos="0">
                  <a:srgbClr val="761847"/>
                </a:gs>
                <a:gs pos="50000">
                  <a:srgbClr val="FF3399"/>
                </a:gs>
                <a:gs pos="100000">
                  <a:srgbClr val="761847"/>
                </a:gs>
              </a:gsLst>
              <a:lin ang="5400000" scaled="1"/>
            </a:gradFill>
            <a:ln w="9525">
              <a:noFill/>
              <a:miter lim="800000"/>
            </a:ln>
          </p:spPr>
          <p:txBody>
            <a:bodyPr wrap="none" anchor="ctr"/>
            <a:lstStyle/>
            <a:p>
              <a:pPr algn="ctr"/>
              <a:endParaRPr lang="zh-CN" altLang="en-US" b="1"/>
            </a:p>
          </p:txBody>
        </p:sp>
        <p:graphicFrame>
          <p:nvGraphicFramePr>
            <p:cNvPr id="68613" name="Object 65"/>
            <p:cNvGraphicFramePr>
              <a:graphicFrameLocks noChangeAspect="1"/>
            </p:cNvGraphicFramePr>
            <p:nvPr/>
          </p:nvGraphicFramePr>
          <p:xfrm>
            <a:off x="1655" y="799"/>
            <a:ext cx="245" cy="266"/>
          </p:xfrm>
          <a:graphic>
            <a:graphicData uri="http://schemas.openxmlformats.org/presentationml/2006/ole">
              <mc:AlternateContent xmlns:mc="http://schemas.openxmlformats.org/markup-compatibility/2006">
                <mc:Choice xmlns:v="urn:schemas-microsoft-com:vml" Requires="v">
                  <p:oleObj spid="_x0000_s68613" name="公式" r:id="rId24" imgW="6400800" imgH="10058400" progId="Equation.3">
                    <p:embed/>
                  </p:oleObj>
                </mc:Choice>
                <mc:Fallback>
                  <p:oleObj name="公式" r:id="rId24" imgW="6400800" imgH="10058400" progId="Equation.3">
                    <p:embed/>
                    <p:pic>
                      <p:nvPicPr>
                        <p:cNvPr id="0" name="Object 65"/>
                        <p:cNvPicPr>
                          <a:picLocks noChangeAspect="1"/>
                        </p:cNvPicPr>
                        <p:nvPr/>
                      </p:nvPicPr>
                      <p:blipFill>
                        <a:blip r:embed="rId16"/>
                        <a:stretch>
                          <a:fillRect/>
                        </a:stretch>
                      </p:blipFill>
                      <p:spPr>
                        <a:xfrm>
                          <a:off x="1655" y="799"/>
                          <a:ext cx="245" cy="266"/>
                        </a:xfrm>
                        <a:prstGeom prst="rect">
                          <a:avLst/>
                        </a:prstGeom>
                        <a:noFill/>
                        <a:ln w="9525">
                          <a:noFill/>
                        </a:ln>
                      </p:spPr>
                    </p:pic>
                  </p:oleObj>
                </mc:Fallback>
              </mc:AlternateContent>
            </a:graphicData>
          </a:graphic>
        </p:graphicFrame>
        <p:sp>
          <p:nvSpPr>
            <p:cNvPr id="68648" name="Text Box 66"/>
            <p:cNvSpPr txBox="1">
              <a:spLocks noChangeArrowheads="1"/>
            </p:cNvSpPr>
            <p:nvPr/>
          </p:nvSpPr>
          <p:spPr bwMode="auto">
            <a:xfrm>
              <a:off x="793" y="799"/>
              <a:ext cx="1166" cy="288"/>
            </a:xfrm>
            <a:prstGeom prst="rect">
              <a:avLst/>
            </a:prstGeom>
            <a:noFill/>
            <a:ln w="9525">
              <a:noFill/>
              <a:miter lim="800000"/>
            </a:ln>
          </p:spPr>
          <p:txBody>
            <a:bodyPr>
              <a:spAutoFit/>
            </a:bodyPr>
            <a:lstStyle/>
            <a:p>
              <a:r>
                <a:rPr kumimoji="1" lang="zh-CN" altLang="en-US" b="1">
                  <a:solidFill>
                    <a:schemeClr val="bg1"/>
                  </a:solidFill>
                </a:rPr>
                <a:t>高温热源</a:t>
              </a:r>
              <a:endParaRPr kumimoji="1" lang="zh-CN" altLang="en-US" b="1">
                <a:solidFill>
                  <a:schemeClr val="bg1"/>
                </a:solidFill>
              </a:endParaRPr>
            </a:p>
          </p:txBody>
        </p:sp>
      </p:grpSp>
      <p:sp>
        <p:nvSpPr>
          <p:cNvPr id="107587" name="AutoShape 67"/>
          <p:cNvSpPr>
            <a:spLocks noChangeArrowheads="1"/>
          </p:cNvSpPr>
          <p:nvPr/>
        </p:nvSpPr>
        <p:spPr bwMode="auto">
          <a:xfrm>
            <a:off x="5219700" y="2640013"/>
            <a:ext cx="863600" cy="360362"/>
          </a:xfrm>
          <a:prstGeom prst="notchedRightArrow">
            <a:avLst>
              <a:gd name="adj1" fmla="val 50000"/>
              <a:gd name="adj2" fmla="val 59912"/>
            </a:avLst>
          </a:prstGeom>
          <a:solidFill>
            <a:srgbClr val="0000FF"/>
          </a:solidFill>
          <a:ln w="9525">
            <a:noFill/>
            <a:miter lim="800000"/>
          </a:ln>
        </p:spPr>
        <p:txBody>
          <a:bodyPr wrap="none" anchor="ctr"/>
          <a:lstStyle/>
          <a:p>
            <a:pPr algn="ct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wipe(left)">
                                      <p:cBhvr>
                                        <p:cTn id="7" dur="500"/>
                                        <p:tgtEl>
                                          <p:spTgt spid="1075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7563"/>
                                        </p:tgtEl>
                                        <p:attrNameLst>
                                          <p:attrName>style.visibility</p:attrName>
                                        </p:attrNameLst>
                                      </p:cBhvr>
                                      <p:to>
                                        <p:strVal val="visible"/>
                                      </p:to>
                                    </p:set>
                                    <p:animEffect transition="in" filter="wipe(up)">
                                      <p:cBhvr>
                                        <p:cTn id="12" dur="500"/>
                                        <p:tgtEl>
                                          <p:spTgt spid="10756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7523"/>
                                        </p:tgtEl>
                                        <p:attrNameLst>
                                          <p:attrName>style.visibility</p:attrName>
                                        </p:attrNameLst>
                                      </p:cBhvr>
                                      <p:to>
                                        <p:strVal val="visible"/>
                                      </p:to>
                                    </p:set>
                                    <p:animEffect transition="in" filter="wipe(left)">
                                      <p:cBhvr>
                                        <p:cTn id="16" dur="500"/>
                                        <p:tgtEl>
                                          <p:spTgt spid="10752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07564"/>
                                        </p:tgtEl>
                                        <p:attrNameLst>
                                          <p:attrName>style.visibility</p:attrName>
                                        </p:attrNameLst>
                                      </p:cBhvr>
                                      <p:to>
                                        <p:strVal val="visible"/>
                                      </p:to>
                                    </p:set>
                                    <p:anim calcmode="lin" valueType="num">
                                      <p:cBhvr additive="base">
                                        <p:cTn id="21" dur="500" fill="hold"/>
                                        <p:tgtEl>
                                          <p:spTgt spid="107564"/>
                                        </p:tgtEl>
                                        <p:attrNameLst>
                                          <p:attrName>ppt_x</p:attrName>
                                        </p:attrNameLst>
                                      </p:cBhvr>
                                      <p:tavLst>
                                        <p:tav tm="0">
                                          <p:val>
                                            <p:strVal val="0-#ppt_w/2"/>
                                          </p:val>
                                        </p:tav>
                                        <p:tav tm="100000">
                                          <p:val>
                                            <p:strVal val="#ppt_x"/>
                                          </p:val>
                                        </p:tav>
                                      </p:tavLst>
                                    </p:anim>
                                    <p:anim calcmode="lin" valueType="num">
                                      <p:cBhvr additive="base">
                                        <p:cTn id="22" dur="500" fill="hold"/>
                                        <p:tgtEl>
                                          <p:spTgt spid="10756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07565"/>
                                        </p:tgtEl>
                                        <p:attrNameLst>
                                          <p:attrName>style.visibility</p:attrName>
                                        </p:attrNameLst>
                                      </p:cBhvr>
                                      <p:to>
                                        <p:strVal val="visible"/>
                                      </p:to>
                                    </p:set>
                                    <p:anim calcmode="lin" valueType="num">
                                      <p:cBhvr additive="base">
                                        <p:cTn id="27" dur="500" fill="hold"/>
                                        <p:tgtEl>
                                          <p:spTgt spid="107565"/>
                                        </p:tgtEl>
                                        <p:attrNameLst>
                                          <p:attrName>ppt_x</p:attrName>
                                        </p:attrNameLst>
                                      </p:cBhvr>
                                      <p:tavLst>
                                        <p:tav tm="0">
                                          <p:val>
                                            <p:strVal val="0-#ppt_w/2"/>
                                          </p:val>
                                        </p:tav>
                                        <p:tav tm="100000">
                                          <p:val>
                                            <p:strVal val="#ppt_x"/>
                                          </p:val>
                                        </p:tav>
                                      </p:tavLst>
                                    </p:anim>
                                    <p:anim calcmode="lin" valueType="num">
                                      <p:cBhvr additive="base">
                                        <p:cTn id="28" dur="500" fill="hold"/>
                                        <p:tgtEl>
                                          <p:spTgt spid="10756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childTnLst>
                                </p:cTn>
                              </p:par>
                            </p:childTnLst>
                          </p:cTn>
                        </p:par>
                        <p:par>
                          <p:cTn id="35" fill="hold">
                            <p:stCondLst>
                              <p:cond delay="500"/>
                            </p:stCondLst>
                            <p:childTnLst>
                              <p:par>
                                <p:cTn id="36" presetID="23" presetClass="entr" presetSubtype="16"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p:cTn id="38" dur="500" fill="hold"/>
                                        <p:tgtEl>
                                          <p:spTgt spid="4"/>
                                        </p:tgtEl>
                                        <p:attrNameLst>
                                          <p:attrName>ppt_w</p:attrName>
                                        </p:attrNameLst>
                                      </p:cBhvr>
                                      <p:tavLst>
                                        <p:tav tm="0">
                                          <p:val>
                                            <p:fltVal val="0"/>
                                          </p:val>
                                        </p:tav>
                                        <p:tav tm="100000">
                                          <p:val>
                                            <p:strVal val="#ppt_w"/>
                                          </p:val>
                                        </p:tav>
                                      </p:tavLst>
                                    </p:anim>
                                    <p:anim calcmode="lin" valueType="num">
                                      <p:cBhvr>
                                        <p:cTn id="3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wipe(down)">
                                      <p:cBhvr>
                                        <p:cTn id="44" dur="500"/>
                                        <p:tgtEl>
                                          <p:spTgt spid="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075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wipe(down)">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up)">
                                      <p:cBhvr>
                                        <p:cTn id="58" dur="500"/>
                                        <p:tgtEl>
                                          <p:spTgt spid="9"/>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wipe(up)">
                                      <p:cBhvr>
                                        <p:cTn id="67" dur="500"/>
                                        <p:tgtEl>
                                          <p:spTgt spid="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wipe(left)">
                                      <p:cBhvr>
                                        <p:cTn id="72" dur="500"/>
                                        <p:tgtEl>
                                          <p:spTgt spid="10"/>
                                        </p:tgtEl>
                                      </p:cBhvr>
                                    </p:animEffect>
                                  </p:childTnLst>
                                </p:cTn>
                              </p:par>
                            </p:childTnLst>
                          </p:cTn>
                        </p:par>
                        <p:par>
                          <p:cTn id="73" fill="hold">
                            <p:stCondLst>
                              <p:cond delay="500"/>
                            </p:stCondLst>
                            <p:childTnLst>
                              <p:par>
                                <p:cTn id="74" presetID="22" presetClass="entr" presetSubtype="8" fill="hold" nodeType="afterEffect">
                                  <p:stCondLst>
                                    <p:cond delay="0"/>
                                  </p:stCondLst>
                                  <p:childTnLst>
                                    <p:set>
                                      <p:cBhvr>
                                        <p:cTn id="75" dur="1" fill="hold">
                                          <p:stCondLst>
                                            <p:cond delay="0"/>
                                          </p:stCondLst>
                                        </p:cTn>
                                        <p:tgtEl>
                                          <p:spTgt spid="107557"/>
                                        </p:tgtEl>
                                        <p:attrNameLst>
                                          <p:attrName>style.visibility</p:attrName>
                                        </p:attrNameLst>
                                      </p:cBhvr>
                                      <p:to>
                                        <p:strVal val="visible"/>
                                      </p:to>
                                    </p:set>
                                    <p:animEffect transition="in" filter="wipe(left)">
                                      <p:cBhvr>
                                        <p:cTn id="76" dur="500"/>
                                        <p:tgtEl>
                                          <p:spTgt spid="10755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07558"/>
                                        </p:tgtEl>
                                        <p:attrNameLst>
                                          <p:attrName>style.visibility</p:attrName>
                                        </p:attrNameLst>
                                      </p:cBhvr>
                                      <p:to>
                                        <p:strVal val="visible"/>
                                      </p:to>
                                    </p:set>
                                    <p:animEffect transition="in" filter="wipe(left)">
                                      <p:cBhvr>
                                        <p:cTn id="81" dur="500"/>
                                        <p:tgtEl>
                                          <p:spTgt spid="10755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07587"/>
                                        </p:tgtEl>
                                        <p:attrNameLst>
                                          <p:attrName>style.visibility</p:attrName>
                                        </p:attrNameLst>
                                      </p:cBhvr>
                                      <p:to>
                                        <p:strVal val="visible"/>
                                      </p:to>
                                    </p:set>
                                    <p:animEffect transition="in" filter="wipe(left)">
                                      <p:cBhvr>
                                        <p:cTn id="86" dur="500"/>
                                        <p:tgtEl>
                                          <p:spTgt spid="107587"/>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wipe(left)">
                                      <p:cBhvr>
                                        <p:cTn id="91" dur="500"/>
                                        <p:tgtEl>
                                          <p:spTgt spid="1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14"/>
                                        </p:tgtEl>
                                        <p:attrNameLst>
                                          <p:attrName>style.visibility</p:attrName>
                                        </p:attrNameLst>
                                      </p:cBhvr>
                                      <p:to>
                                        <p:strVal val="visible"/>
                                      </p:to>
                                    </p:set>
                                    <p:animEffect transition="in" filter="wipe(left)">
                                      <p:cBhvr>
                                        <p:cTn id="96" dur="500"/>
                                        <p:tgtEl>
                                          <p:spTgt spid="14"/>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07573"/>
                                        </p:tgtEl>
                                        <p:attrNameLst>
                                          <p:attrName>style.visibility</p:attrName>
                                        </p:attrNameLst>
                                      </p:cBhvr>
                                      <p:to>
                                        <p:strVal val="visible"/>
                                      </p:to>
                                    </p:set>
                                    <p:animEffect transition="in" filter="wipe(left)">
                                      <p:cBhvr>
                                        <p:cTn id="101" dur="500"/>
                                        <p:tgtEl>
                                          <p:spTgt spid="107573"/>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nodeType="clickEffect">
                                  <p:stCondLst>
                                    <p:cond delay="0"/>
                                  </p:stCondLst>
                                  <p:childTnLst>
                                    <p:set>
                                      <p:cBhvr>
                                        <p:cTn id="105" dur="1" fill="hold">
                                          <p:stCondLst>
                                            <p:cond delay="0"/>
                                          </p:stCondLst>
                                        </p:cTn>
                                        <p:tgtEl>
                                          <p:spTgt spid="15"/>
                                        </p:tgtEl>
                                        <p:attrNameLst>
                                          <p:attrName>style.visibility</p:attrName>
                                        </p:attrNameLst>
                                      </p:cBhvr>
                                      <p:to>
                                        <p:strVal val="visible"/>
                                      </p:to>
                                    </p:set>
                                    <p:animEffect transition="in" filter="wipe(up)">
                                      <p:cBhvr>
                                        <p:cTn id="106" dur="500"/>
                                        <p:tgtEl>
                                          <p:spTgt spid="15"/>
                                        </p:tgtEl>
                                      </p:cBhvr>
                                    </p:animEffect>
                                  </p:childTnLst>
                                </p:cTn>
                              </p:par>
                              <p:par>
                                <p:cTn id="107" presetID="22" presetClass="entr" presetSubtype="1" fill="hold" grpId="0" nodeType="withEffect">
                                  <p:stCondLst>
                                    <p:cond delay="0"/>
                                  </p:stCondLst>
                                  <p:childTnLst>
                                    <p:set>
                                      <p:cBhvr>
                                        <p:cTn id="108" dur="1" fill="hold">
                                          <p:stCondLst>
                                            <p:cond delay="0"/>
                                          </p:stCondLst>
                                        </p:cTn>
                                        <p:tgtEl>
                                          <p:spTgt spid="107581"/>
                                        </p:tgtEl>
                                        <p:attrNameLst>
                                          <p:attrName>style.visibility</p:attrName>
                                        </p:attrNameLst>
                                      </p:cBhvr>
                                      <p:to>
                                        <p:strVal val="visible"/>
                                      </p:to>
                                    </p:set>
                                    <p:animEffect transition="in" filter="wipe(up)">
                                      <p:cBhvr>
                                        <p:cTn id="109" dur="500"/>
                                        <p:tgtEl>
                                          <p:spTgt spid="107581"/>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07582"/>
                                        </p:tgtEl>
                                        <p:attrNameLst>
                                          <p:attrName>style.visibility</p:attrName>
                                        </p:attrNameLst>
                                      </p:cBhvr>
                                      <p:to>
                                        <p:strVal val="visible"/>
                                      </p:to>
                                    </p:set>
                                    <p:animEffect transition="in" filter="wipe(left)">
                                      <p:cBhvr>
                                        <p:cTn id="114" dur="500"/>
                                        <p:tgtEl>
                                          <p:spTgt spid="107582"/>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12"/>
                                        </p:tgtEl>
                                        <p:attrNameLst>
                                          <p:attrName>style.visibility</p:attrName>
                                        </p:attrNameLst>
                                      </p:cBhvr>
                                      <p:to>
                                        <p:strVal val="visible"/>
                                      </p:to>
                                    </p:set>
                                    <p:animEffect transition="in" filter="wipe(left)">
                                      <p:cBhvr>
                                        <p:cTn id="119" dur="500"/>
                                        <p:tgtEl>
                                          <p:spTgt spid="12"/>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ntr" presetSubtype="8" fill="hold" grpId="0" nodeType="clickEffect">
                                  <p:stCondLst>
                                    <p:cond delay="0"/>
                                  </p:stCondLst>
                                  <p:childTnLst>
                                    <p:set>
                                      <p:cBhvr>
                                        <p:cTn id="123" dur="1" fill="hold">
                                          <p:stCondLst>
                                            <p:cond delay="0"/>
                                          </p:stCondLst>
                                        </p:cTn>
                                        <p:tgtEl>
                                          <p:spTgt spid="107567"/>
                                        </p:tgtEl>
                                        <p:attrNameLst>
                                          <p:attrName>style.visibility</p:attrName>
                                        </p:attrNameLst>
                                      </p:cBhvr>
                                      <p:to>
                                        <p:strVal val="visible"/>
                                      </p:to>
                                    </p:set>
                                    <p:anim calcmode="lin" valueType="num">
                                      <p:cBhvr additive="base">
                                        <p:cTn id="124" dur="500" fill="hold"/>
                                        <p:tgtEl>
                                          <p:spTgt spid="107567"/>
                                        </p:tgtEl>
                                        <p:attrNameLst>
                                          <p:attrName>ppt_x</p:attrName>
                                        </p:attrNameLst>
                                      </p:cBhvr>
                                      <p:tavLst>
                                        <p:tav tm="0">
                                          <p:val>
                                            <p:strVal val="0-#ppt_w/2"/>
                                          </p:val>
                                        </p:tav>
                                        <p:tav tm="100000">
                                          <p:val>
                                            <p:strVal val="#ppt_x"/>
                                          </p:val>
                                        </p:tav>
                                      </p:tavLst>
                                    </p:anim>
                                    <p:anim calcmode="lin" valueType="num">
                                      <p:cBhvr additive="base">
                                        <p:cTn id="125" dur="500" fill="hold"/>
                                        <p:tgtEl>
                                          <p:spTgt spid="107567"/>
                                        </p:tgtEl>
                                        <p:attrNameLst>
                                          <p:attrName>ppt_y</p:attrName>
                                        </p:attrNameLst>
                                      </p:cBhvr>
                                      <p:tavLst>
                                        <p:tav tm="0">
                                          <p:val>
                                            <p:strVal val="#ppt_y"/>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107566"/>
                                        </p:tgtEl>
                                        <p:attrNameLst>
                                          <p:attrName>style.visibility</p:attrName>
                                        </p:attrNameLst>
                                      </p:cBhvr>
                                      <p:to>
                                        <p:strVal val="visible"/>
                                      </p:to>
                                    </p:set>
                                    <p:animEffect transition="in" filter="wipe(left)">
                                      <p:cBhvr>
                                        <p:cTn id="130" dur="500"/>
                                        <p:tgtEl>
                                          <p:spTgt spid="107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utoUpdateAnimBg="0"/>
      <p:bldP spid="107523" grpId="0" autoUpdateAnimBg="0"/>
      <p:bldP spid="107536" grpId="0" animBg="1"/>
      <p:bldP spid="107563" grpId="0" animBg="1"/>
      <p:bldP spid="107564" grpId="0" autoUpdateAnimBg="0"/>
      <p:bldP spid="107565" grpId="0" autoUpdateAnimBg="0"/>
      <p:bldP spid="107566" grpId="0" autoUpdateAnimBg="0"/>
      <p:bldP spid="107567" grpId="0" autoUpdateAnimBg="0"/>
      <p:bldP spid="107581" grpId="0" animBg="1"/>
      <p:bldP spid="107582" grpId="0" animBg="1"/>
      <p:bldP spid="107587"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AutoShape 2"/>
          <p:cNvSpPr>
            <a:spLocks noChangeArrowheads="1"/>
          </p:cNvSpPr>
          <p:nvPr/>
        </p:nvSpPr>
        <p:spPr bwMode="auto">
          <a:xfrm>
            <a:off x="206375" y="458788"/>
            <a:ext cx="360363"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endParaRPr lang="zh-CN" altLang="en-US"/>
          </a:p>
        </p:txBody>
      </p:sp>
      <p:sp>
        <p:nvSpPr>
          <p:cNvPr id="259075" name="Text Box 3">
            <a:hlinkClick r:id="rId1" action="ppaction://hlinkfile"/>
          </p:cNvPr>
          <p:cNvSpPr txBox="1">
            <a:spLocks noChangeArrowheads="1"/>
          </p:cNvSpPr>
          <p:nvPr/>
        </p:nvSpPr>
        <p:spPr bwMode="auto">
          <a:xfrm>
            <a:off x="657225" y="458788"/>
            <a:ext cx="4364038" cy="530225"/>
          </a:xfrm>
          <a:prstGeom prst="rect">
            <a:avLst/>
          </a:prstGeom>
          <a:noFill/>
          <a:ln w="9525">
            <a:noFill/>
            <a:miter lim="800000"/>
          </a:ln>
        </p:spPr>
        <p:txBody>
          <a:bodyPr>
            <a:spAutoFit/>
          </a:bodyPr>
          <a:lstStyle/>
          <a:p>
            <a:pPr>
              <a:lnSpc>
                <a:spcPct val="120000"/>
              </a:lnSpc>
              <a:spcBef>
                <a:spcPct val="50000"/>
              </a:spcBef>
              <a:buClr>
                <a:schemeClr val="hlink"/>
              </a:buClr>
            </a:pPr>
            <a:r>
              <a:rPr kumimoji="1" lang="zh-CN" altLang="en-US" b="1">
                <a:solidFill>
                  <a:srgbClr val="FF0000"/>
                </a:solidFill>
              </a:rPr>
              <a:t>热力学第二定律的意义</a:t>
            </a:r>
            <a:endParaRPr lang="zh-CN" altLang="en-US" b="1">
              <a:solidFill>
                <a:srgbClr val="FF6600"/>
              </a:solidFill>
              <a:latin typeface="Garamond" panose="02020404030301010803" pitchFamily="18" charset="0"/>
            </a:endParaRPr>
          </a:p>
        </p:txBody>
      </p:sp>
      <p:sp>
        <p:nvSpPr>
          <p:cNvPr id="259076" name="Text Box 4">
            <a:hlinkClick r:id="rId1" action="ppaction://hlinkfile"/>
          </p:cNvPr>
          <p:cNvSpPr txBox="1">
            <a:spLocks noChangeArrowheads="1"/>
          </p:cNvSpPr>
          <p:nvPr/>
        </p:nvSpPr>
        <p:spPr bwMode="auto">
          <a:xfrm>
            <a:off x="204788" y="1125538"/>
            <a:ext cx="8597900" cy="968375"/>
          </a:xfrm>
          <a:prstGeom prst="rect">
            <a:avLst/>
          </a:prstGeom>
          <a:noFill/>
          <a:ln w="9525">
            <a:noFill/>
            <a:miter lim="800000"/>
          </a:ln>
        </p:spPr>
        <p:txBody>
          <a:bodyPr>
            <a:spAutoFit/>
          </a:bodyPr>
          <a:lstStyle/>
          <a:p>
            <a:pPr>
              <a:lnSpc>
                <a:spcPct val="120000"/>
              </a:lnSpc>
              <a:spcBef>
                <a:spcPct val="50000"/>
              </a:spcBef>
              <a:buClr>
                <a:schemeClr val="hlink"/>
              </a:buClr>
            </a:pPr>
            <a:r>
              <a:rPr lang="en-US" altLang="zh-CN" b="1">
                <a:ea typeface="楷体_GB2312" pitchFamily="49" charset="-122"/>
              </a:rPr>
              <a:t>(1)</a:t>
            </a:r>
            <a:r>
              <a:rPr lang="en-US" altLang="zh-CN" b="1">
                <a:latin typeface="Garamond" panose="02020404030301010803" pitchFamily="18" charset="0"/>
                <a:ea typeface="楷体_GB2312" pitchFamily="49" charset="-122"/>
              </a:rPr>
              <a:t> </a:t>
            </a:r>
            <a:r>
              <a:rPr lang="zh-CN" altLang="en-US" b="1">
                <a:latin typeface="Garamond" panose="02020404030301010803" pitchFamily="18" charset="0"/>
                <a:ea typeface="楷体_GB2312" pitchFamily="49" charset="-122"/>
              </a:rPr>
              <a:t>克劳修斯表述指出了</a:t>
            </a:r>
            <a:r>
              <a:rPr lang="zh-CN" altLang="en-US" b="1">
                <a:solidFill>
                  <a:srgbClr val="0000FF"/>
                </a:solidFill>
                <a:latin typeface="Garamond" panose="02020404030301010803" pitchFamily="18" charset="0"/>
                <a:ea typeface="楷体_GB2312" pitchFamily="49" charset="-122"/>
              </a:rPr>
              <a:t>热量传递的方向性</a:t>
            </a:r>
            <a:r>
              <a:rPr lang="zh-CN" altLang="en-US" b="1">
                <a:latin typeface="Garamond" panose="02020404030301010803" pitchFamily="18" charset="0"/>
                <a:ea typeface="楷体_GB2312" pitchFamily="49" charset="-122"/>
              </a:rPr>
              <a:t>；开尔文表述则指出了</a:t>
            </a:r>
            <a:r>
              <a:rPr lang="zh-CN" altLang="en-US" b="1">
                <a:solidFill>
                  <a:srgbClr val="0000FF"/>
                </a:solidFill>
                <a:latin typeface="Garamond" panose="02020404030301010803" pitchFamily="18" charset="0"/>
                <a:ea typeface="楷体_GB2312" pitchFamily="49" charset="-122"/>
              </a:rPr>
              <a:t>热与功转化的方向性</a:t>
            </a:r>
            <a:r>
              <a:rPr lang="zh-CN" altLang="en-US" b="1">
                <a:latin typeface="Garamond" panose="02020404030301010803" pitchFamily="18" charset="0"/>
                <a:ea typeface="楷体_GB2312" pitchFamily="49" charset="-122"/>
              </a:rPr>
              <a:t>。</a:t>
            </a:r>
            <a:endParaRPr lang="zh-CN" altLang="en-US" b="1">
              <a:solidFill>
                <a:srgbClr val="FF6600"/>
              </a:solidFill>
              <a:latin typeface="Garamond" panose="02020404030301010803" pitchFamily="18" charset="0"/>
              <a:ea typeface="楷体_GB2312" pitchFamily="49" charset="-122"/>
            </a:endParaRPr>
          </a:p>
        </p:txBody>
      </p:sp>
      <p:sp>
        <p:nvSpPr>
          <p:cNvPr id="259077" name="Text Box 5"/>
          <p:cNvSpPr txBox="1">
            <a:spLocks noChangeArrowheads="1"/>
          </p:cNvSpPr>
          <p:nvPr/>
        </p:nvSpPr>
        <p:spPr bwMode="auto">
          <a:xfrm>
            <a:off x="206375" y="2205038"/>
            <a:ext cx="8596313" cy="2282825"/>
          </a:xfrm>
          <a:prstGeom prst="rect">
            <a:avLst/>
          </a:prstGeom>
          <a:noFill/>
          <a:ln w="9525">
            <a:noFill/>
            <a:miter lim="800000"/>
          </a:ln>
        </p:spPr>
        <p:txBody>
          <a:bodyPr>
            <a:spAutoFit/>
          </a:bodyPr>
          <a:lstStyle/>
          <a:p>
            <a:pPr>
              <a:lnSpc>
                <a:spcPct val="120000"/>
              </a:lnSpc>
              <a:spcBef>
                <a:spcPct val="50000"/>
              </a:spcBef>
              <a:buClr>
                <a:schemeClr val="hlink"/>
              </a:buClr>
            </a:pPr>
            <a:r>
              <a:rPr lang="en-US" altLang="zh-CN" b="1">
                <a:ea typeface="楷体_GB2312" pitchFamily="49" charset="-122"/>
              </a:rPr>
              <a:t>(2)</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热力学第二定律与热力学第一定律都是对</a:t>
            </a:r>
            <a:r>
              <a:rPr lang="zh-CN" altLang="en-US" b="1">
                <a:solidFill>
                  <a:srgbClr val="FF6600"/>
                </a:solidFill>
                <a:latin typeface="楷体_GB2312" pitchFamily="49" charset="-122"/>
                <a:ea typeface="楷体_GB2312" pitchFamily="49" charset="-122"/>
              </a:rPr>
              <a:t>大量实验事实</a:t>
            </a:r>
            <a:r>
              <a:rPr lang="zh-CN" altLang="en-US" b="1">
                <a:latin typeface="楷体_GB2312" pitchFamily="49" charset="-122"/>
                <a:ea typeface="楷体_GB2312" pitchFamily="49" charset="-122"/>
              </a:rPr>
              <a:t>的总结和概括，不能从任何其它更基本的定律中推导出来。热力学第二定律表明，符合能量守恒的过程并非都能自动发生，它实质上</a:t>
            </a:r>
            <a:r>
              <a:rPr lang="zh-CN" altLang="en-US" b="1">
                <a:solidFill>
                  <a:srgbClr val="0000FF"/>
                </a:solidFill>
                <a:latin typeface="楷体_GB2312" pitchFamily="49" charset="-122"/>
                <a:ea typeface="楷体_GB2312" pitchFamily="49" charset="-122"/>
              </a:rPr>
              <a:t>反映了自然界中与热现象有关的一切自发的实际过程，都是沿一定方向进行的。</a:t>
            </a:r>
            <a:endParaRPr lang="zh-CN" altLang="en-US" b="1">
              <a:solidFill>
                <a:srgbClr val="0000FF"/>
              </a:solidFill>
              <a:latin typeface="楷体_GB2312" pitchFamily="49" charset="-122"/>
              <a:ea typeface="楷体_GB2312" pitchFamily="49" charset="-122"/>
            </a:endParaRPr>
          </a:p>
        </p:txBody>
      </p:sp>
      <p:sp>
        <p:nvSpPr>
          <p:cNvPr id="259078" name="Text Box 6">
            <a:hlinkClick r:id="rId2" action="ppaction://hlinksldjump"/>
          </p:cNvPr>
          <p:cNvSpPr txBox="1">
            <a:spLocks noChangeArrowheads="1"/>
          </p:cNvSpPr>
          <p:nvPr/>
        </p:nvSpPr>
        <p:spPr bwMode="auto">
          <a:xfrm>
            <a:off x="206375" y="4686300"/>
            <a:ext cx="8686800" cy="1406525"/>
          </a:xfrm>
          <a:prstGeom prst="rect">
            <a:avLst/>
          </a:prstGeom>
          <a:noFill/>
          <a:ln w="9525">
            <a:noFill/>
            <a:miter lim="800000"/>
          </a:ln>
        </p:spPr>
        <p:txBody>
          <a:bodyPr>
            <a:spAutoFit/>
          </a:bodyPr>
          <a:lstStyle/>
          <a:p>
            <a:pPr>
              <a:lnSpc>
                <a:spcPct val="120000"/>
              </a:lnSpc>
              <a:spcBef>
                <a:spcPct val="50000"/>
              </a:spcBef>
              <a:buClr>
                <a:schemeClr val="hlink"/>
              </a:buClr>
            </a:pPr>
            <a:r>
              <a:rPr lang="zh-CN" altLang="en-US" b="1">
                <a:solidFill>
                  <a:srgbClr val="CC0000"/>
                </a:solidFill>
                <a:latin typeface="楷体_GB2312" pitchFamily="49" charset="-122"/>
                <a:ea typeface="楷体_GB2312" pitchFamily="49" charset="-122"/>
              </a:rPr>
              <a:t>注意：</a:t>
            </a:r>
            <a:r>
              <a:rPr lang="zh-CN" altLang="en-US" b="1">
                <a:latin typeface="楷体_GB2312" pitchFamily="49" charset="-122"/>
                <a:ea typeface="楷体_GB2312" pitchFamily="49" charset="-122"/>
              </a:rPr>
              <a:t>热力学第二定律有它的适用范围和条件，它对有限范围的宏观过程是成立的，而不适用于少量分子的微观体系，也不能把它推广到无限的宇宙。</a:t>
            </a:r>
            <a:endParaRPr lang="zh-CN" altLang="en-US" b="1">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59074"/>
                                        </p:tgtEl>
                                        <p:attrNameLst>
                                          <p:attrName>style.visibility</p:attrName>
                                        </p:attrNameLst>
                                      </p:cBhvr>
                                      <p:to>
                                        <p:strVal val="visible"/>
                                      </p:to>
                                    </p:set>
                                    <p:anim calcmode="lin" valueType="num">
                                      <p:cBhvr>
                                        <p:cTn id="7" dur="500" fill="hold"/>
                                        <p:tgtEl>
                                          <p:spTgt spid="259074"/>
                                        </p:tgtEl>
                                        <p:attrNameLst>
                                          <p:attrName>ppt_w</p:attrName>
                                        </p:attrNameLst>
                                      </p:cBhvr>
                                      <p:tavLst>
                                        <p:tav tm="0">
                                          <p:val>
                                            <p:strVal val="4*#ppt_w"/>
                                          </p:val>
                                        </p:tav>
                                        <p:tav tm="100000">
                                          <p:val>
                                            <p:strVal val="#ppt_w"/>
                                          </p:val>
                                        </p:tav>
                                      </p:tavLst>
                                    </p:anim>
                                    <p:anim calcmode="lin" valueType="num">
                                      <p:cBhvr>
                                        <p:cTn id="8" dur="500" fill="hold"/>
                                        <p:tgtEl>
                                          <p:spTgt spid="259074"/>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59075"/>
                                        </p:tgtEl>
                                        <p:attrNameLst>
                                          <p:attrName>style.visibility</p:attrName>
                                        </p:attrNameLst>
                                      </p:cBhvr>
                                      <p:to>
                                        <p:strVal val="visible"/>
                                      </p:to>
                                    </p:set>
                                    <p:animEffect transition="in" filter="wipe(left)">
                                      <p:cBhvr>
                                        <p:cTn id="12" dur="500"/>
                                        <p:tgtEl>
                                          <p:spTgt spid="2590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9076"/>
                                        </p:tgtEl>
                                        <p:attrNameLst>
                                          <p:attrName>style.visibility</p:attrName>
                                        </p:attrNameLst>
                                      </p:cBhvr>
                                      <p:to>
                                        <p:strVal val="visible"/>
                                      </p:to>
                                    </p:set>
                                    <p:animEffect transition="in" filter="wipe(left)">
                                      <p:cBhvr>
                                        <p:cTn id="17" dur="500"/>
                                        <p:tgtEl>
                                          <p:spTgt spid="2590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9077"/>
                                        </p:tgtEl>
                                        <p:attrNameLst>
                                          <p:attrName>style.visibility</p:attrName>
                                        </p:attrNameLst>
                                      </p:cBhvr>
                                      <p:to>
                                        <p:strVal val="visible"/>
                                      </p:to>
                                    </p:set>
                                    <p:animEffect transition="in" filter="wipe(left)">
                                      <p:cBhvr>
                                        <p:cTn id="22" dur="500"/>
                                        <p:tgtEl>
                                          <p:spTgt spid="2590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9078"/>
                                        </p:tgtEl>
                                        <p:attrNameLst>
                                          <p:attrName>style.visibility</p:attrName>
                                        </p:attrNameLst>
                                      </p:cBhvr>
                                      <p:to>
                                        <p:strVal val="visible"/>
                                      </p:to>
                                    </p:set>
                                    <p:animEffect transition="in" filter="wipe(left)">
                                      <p:cBhvr>
                                        <p:cTn id="27" dur="500"/>
                                        <p:tgtEl>
                                          <p:spTgt spid="259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4" grpId="0" animBg="1"/>
      <p:bldP spid="259075" grpId="0"/>
      <p:bldP spid="259076" grpId="0"/>
      <p:bldP spid="259077" grpId="0"/>
      <p:bldP spid="259078"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Text Box 2"/>
          <p:cNvSpPr txBox="1">
            <a:spLocks noChangeArrowheads="1"/>
          </p:cNvSpPr>
          <p:nvPr/>
        </p:nvSpPr>
        <p:spPr bwMode="auto">
          <a:xfrm>
            <a:off x="611188" y="469900"/>
            <a:ext cx="8147050" cy="933450"/>
          </a:xfrm>
          <a:prstGeom prst="rect">
            <a:avLst/>
          </a:prstGeom>
          <a:noFill/>
          <a:ln w="9525">
            <a:noFill/>
            <a:miter lim="800000"/>
          </a:ln>
        </p:spPr>
        <p:txBody>
          <a:bodyPr>
            <a:spAutoFit/>
          </a:bodyPr>
          <a:lstStyle/>
          <a:p>
            <a:pPr>
              <a:lnSpc>
                <a:spcPct val="115000"/>
              </a:lnSpc>
            </a:pPr>
            <a:r>
              <a:rPr kumimoji="1" lang="zh-CN" altLang="en-US" b="1"/>
              <a:t>用热力学第二定律证明：在  </a:t>
            </a:r>
            <a:r>
              <a:rPr kumimoji="1" lang="en-US" altLang="zh-CN" b="1" i="1">
                <a:solidFill>
                  <a:srgbClr val="FF6600"/>
                </a:solidFill>
              </a:rPr>
              <a:t>p </a:t>
            </a:r>
            <a:r>
              <a:rPr kumimoji="1" lang="en-US" altLang="zh-CN" b="1" i="1">
                <a:solidFill>
                  <a:srgbClr val="FF6600"/>
                </a:solidFill>
                <a:sym typeface="Symbol" panose="05050102010706020507" pitchFamily="18" charset="2"/>
              </a:rPr>
              <a:t> </a:t>
            </a:r>
            <a:r>
              <a:rPr kumimoji="1" lang="en-US" altLang="zh-CN" b="1" i="1">
                <a:solidFill>
                  <a:srgbClr val="FF6600"/>
                </a:solidFill>
              </a:rPr>
              <a:t>V</a:t>
            </a:r>
            <a:r>
              <a:rPr kumimoji="1" lang="en-US" altLang="zh-CN" b="1"/>
              <a:t> </a:t>
            </a:r>
            <a:r>
              <a:rPr kumimoji="1" lang="zh-CN" altLang="en-US" b="1"/>
              <a:t>图上任意两条绝热线不可能相交。</a:t>
            </a:r>
            <a:endParaRPr kumimoji="1" lang="zh-CN" altLang="en-US" b="1"/>
          </a:p>
        </p:txBody>
      </p:sp>
      <p:sp>
        <p:nvSpPr>
          <p:cNvPr id="261123" name="Text Box 3"/>
          <p:cNvSpPr txBox="1">
            <a:spLocks noChangeArrowheads="1"/>
          </p:cNvSpPr>
          <p:nvPr/>
        </p:nvSpPr>
        <p:spPr bwMode="auto">
          <a:xfrm>
            <a:off x="228600" y="1484313"/>
            <a:ext cx="1606550" cy="512762"/>
          </a:xfrm>
          <a:prstGeom prst="rect">
            <a:avLst/>
          </a:prstGeom>
          <a:noFill/>
          <a:ln w="9525">
            <a:noFill/>
            <a:miter lim="800000"/>
          </a:ln>
        </p:spPr>
        <p:txBody>
          <a:bodyPr>
            <a:spAutoFit/>
          </a:bodyPr>
          <a:lstStyle/>
          <a:p>
            <a:pPr>
              <a:lnSpc>
                <a:spcPct val="115000"/>
              </a:lnSpc>
            </a:pPr>
            <a:r>
              <a:rPr kumimoji="1" lang="zh-CN" altLang="en-US" b="1">
                <a:solidFill>
                  <a:srgbClr val="FF0000"/>
                </a:solidFill>
              </a:rPr>
              <a:t>反证法</a:t>
            </a:r>
            <a:endParaRPr kumimoji="1" lang="zh-CN" altLang="en-US" b="1">
              <a:solidFill>
                <a:srgbClr val="FF0000"/>
              </a:solidFill>
            </a:endParaRPr>
          </a:p>
        </p:txBody>
      </p:sp>
      <p:sp>
        <p:nvSpPr>
          <p:cNvPr id="261124" name="Text Box 4"/>
          <p:cNvSpPr txBox="1">
            <a:spLocks noChangeArrowheads="1"/>
          </p:cNvSpPr>
          <p:nvPr/>
        </p:nvSpPr>
        <p:spPr bwMode="auto">
          <a:xfrm>
            <a:off x="107950" y="468313"/>
            <a:ext cx="490538" cy="512762"/>
          </a:xfrm>
          <a:prstGeom prst="rect">
            <a:avLst/>
          </a:prstGeom>
          <a:noFill/>
          <a:ln w="9525">
            <a:noFill/>
            <a:miter lim="800000"/>
          </a:ln>
        </p:spPr>
        <p:txBody>
          <a:bodyPr wrap="none">
            <a:spAutoFit/>
          </a:bodyPr>
          <a:lstStyle/>
          <a:p>
            <a:pPr>
              <a:lnSpc>
                <a:spcPct val="115000"/>
              </a:lnSpc>
            </a:pPr>
            <a:r>
              <a:rPr kumimoji="1" lang="zh-CN" altLang="en-US" b="1">
                <a:solidFill>
                  <a:srgbClr val="FF0000"/>
                </a:solidFill>
                <a:latin typeface="Arial" panose="020B0604020202020204" pitchFamily="34" charset="0"/>
              </a:rPr>
              <a:t>例</a:t>
            </a:r>
            <a:endParaRPr kumimoji="1" lang="zh-CN" altLang="en-US" b="1">
              <a:solidFill>
                <a:srgbClr val="FF0000"/>
              </a:solidFill>
              <a:latin typeface="Arial" panose="020B0604020202020204" pitchFamily="34" charset="0"/>
            </a:endParaRPr>
          </a:p>
        </p:txBody>
      </p:sp>
      <p:sp>
        <p:nvSpPr>
          <p:cNvPr id="261125" name="Arc 5"/>
          <p:cNvSpPr/>
          <p:nvPr/>
        </p:nvSpPr>
        <p:spPr bwMode="auto">
          <a:xfrm rot="-1356993">
            <a:off x="6845300" y="1754188"/>
            <a:ext cx="2119313" cy="1982787"/>
          </a:xfrm>
          <a:custGeom>
            <a:avLst/>
            <a:gdLst>
              <a:gd name="T0" fmla="*/ 2147483647 w 21600"/>
              <a:gd name="T1" fmla="*/ 2147483647 h 15357"/>
              <a:gd name="T2" fmla="*/ 0 w 21600"/>
              <a:gd name="T3" fmla="*/ 0 h 15357"/>
              <a:gd name="T4" fmla="*/ 2147483647 w 21600"/>
              <a:gd name="T5" fmla="*/ 2147483647 h 15357"/>
              <a:gd name="T6" fmla="*/ 0 60000 65536"/>
              <a:gd name="T7" fmla="*/ 0 60000 65536"/>
              <a:gd name="T8" fmla="*/ 0 60000 65536"/>
              <a:gd name="T9" fmla="*/ 0 w 21600"/>
              <a:gd name="T10" fmla="*/ 0 h 15357"/>
              <a:gd name="T11" fmla="*/ 21600 w 21600"/>
              <a:gd name="T12" fmla="*/ 15357 h 15357"/>
            </a:gdLst>
            <a:ahLst/>
            <a:cxnLst>
              <a:cxn ang="T6">
                <a:pos x="T0" y="T1"/>
              </a:cxn>
              <a:cxn ang="T7">
                <a:pos x="T2" y="T3"/>
              </a:cxn>
              <a:cxn ang="T8">
                <a:pos x="T4" y="T5"/>
              </a:cxn>
            </a:cxnLst>
            <a:rect l="T9" t="T10" r="T11" b="T12"/>
            <a:pathLst>
              <a:path w="21600" h="15357" fill="none" extrusionOk="0">
                <a:moveTo>
                  <a:pt x="6399" y="15357"/>
                </a:moveTo>
                <a:cubicBezTo>
                  <a:pt x="2304" y="11300"/>
                  <a:pt x="0" y="5775"/>
                  <a:pt x="0" y="11"/>
                </a:cubicBezTo>
                <a:cubicBezTo>
                  <a:pt x="-1" y="7"/>
                  <a:pt x="0" y="3"/>
                  <a:pt x="0" y="0"/>
                </a:cubicBezTo>
              </a:path>
              <a:path w="21600" h="15357" stroke="0" extrusionOk="0">
                <a:moveTo>
                  <a:pt x="6399" y="15357"/>
                </a:moveTo>
                <a:cubicBezTo>
                  <a:pt x="2304" y="11300"/>
                  <a:pt x="0" y="5775"/>
                  <a:pt x="0" y="11"/>
                </a:cubicBezTo>
                <a:cubicBezTo>
                  <a:pt x="-1" y="7"/>
                  <a:pt x="0" y="3"/>
                  <a:pt x="0" y="0"/>
                </a:cubicBezTo>
                <a:lnTo>
                  <a:pt x="21600" y="11"/>
                </a:lnTo>
                <a:close/>
              </a:path>
            </a:pathLst>
          </a:custGeom>
          <a:noFill/>
          <a:ln w="38100">
            <a:solidFill>
              <a:srgbClr val="3333CC"/>
            </a:solidFill>
            <a:round/>
            <a:headEnd type="none" w="sm" len="sm"/>
            <a:tailEnd type="none" w="sm" len="sm"/>
          </a:ln>
        </p:spPr>
        <p:txBody>
          <a:bodyPr wrap="none" anchor="ctr"/>
          <a:lstStyle/>
          <a:p>
            <a:pPr algn="ctr"/>
            <a:endParaRPr lang="zh-CN" altLang="en-US"/>
          </a:p>
        </p:txBody>
      </p:sp>
      <p:sp>
        <p:nvSpPr>
          <p:cNvPr id="261126" name="Arc 6"/>
          <p:cNvSpPr/>
          <p:nvPr/>
        </p:nvSpPr>
        <p:spPr bwMode="auto">
          <a:xfrm rot="-837198">
            <a:off x="6249988" y="1144588"/>
            <a:ext cx="2279650" cy="2657475"/>
          </a:xfrm>
          <a:custGeom>
            <a:avLst/>
            <a:gdLst>
              <a:gd name="T0" fmla="*/ 2147483647 w 20913"/>
              <a:gd name="T1" fmla="*/ 2147483647 h 20727"/>
              <a:gd name="T2" fmla="*/ 0 w 20913"/>
              <a:gd name="T3" fmla="*/ 2147483647 h 20727"/>
              <a:gd name="T4" fmla="*/ 2147483647 w 20913"/>
              <a:gd name="T5" fmla="*/ 0 h 20727"/>
              <a:gd name="T6" fmla="*/ 0 60000 65536"/>
              <a:gd name="T7" fmla="*/ 0 60000 65536"/>
              <a:gd name="T8" fmla="*/ 0 60000 65536"/>
              <a:gd name="T9" fmla="*/ 0 w 20913"/>
              <a:gd name="T10" fmla="*/ 0 h 20727"/>
              <a:gd name="T11" fmla="*/ 20913 w 20913"/>
              <a:gd name="T12" fmla="*/ 20727 h 20727"/>
            </a:gdLst>
            <a:ahLst/>
            <a:cxnLst>
              <a:cxn ang="T6">
                <a:pos x="T0" y="T1"/>
              </a:cxn>
              <a:cxn ang="T7">
                <a:pos x="T2" y="T3"/>
              </a:cxn>
              <a:cxn ang="T8">
                <a:pos x="T4" y="T5"/>
              </a:cxn>
            </a:cxnLst>
            <a:rect l="T9" t="T10" r="T11" b="T12"/>
            <a:pathLst>
              <a:path w="20913" h="20727" fill="none" extrusionOk="0">
                <a:moveTo>
                  <a:pt x="14834" y="20726"/>
                </a:moveTo>
                <a:cubicBezTo>
                  <a:pt x="7537" y="18586"/>
                  <a:pt x="1902" y="12767"/>
                  <a:pt x="0" y="5404"/>
                </a:cubicBezTo>
              </a:path>
              <a:path w="20913" h="20727" stroke="0" extrusionOk="0">
                <a:moveTo>
                  <a:pt x="14834" y="20726"/>
                </a:moveTo>
                <a:cubicBezTo>
                  <a:pt x="7537" y="18586"/>
                  <a:pt x="1902" y="12767"/>
                  <a:pt x="0" y="5404"/>
                </a:cubicBezTo>
                <a:lnTo>
                  <a:pt x="20913" y="0"/>
                </a:lnTo>
                <a:close/>
              </a:path>
            </a:pathLst>
          </a:custGeom>
          <a:noFill/>
          <a:ln w="38100">
            <a:solidFill>
              <a:srgbClr val="3333CC"/>
            </a:solidFill>
            <a:round/>
            <a:headEnd type="none" w="sm" len="sm"/>
            <a:tailEnd type="none" w="sm" len="sm"/>
          </a:ln>
        </p:spPr>
        <p:txBody>
          <a:bodyPr wrap="none" anchor="ctr"/>
          <a:lstStyle/>
          <a:p>
            <a:pPr algn="ctr"/>
            <a:endParaRPr lang="zh-CN" altLang="en-US"/>
          </a:p>
        </p:txBody>
      </p:sp>
      <p:sp>
        <p:nvSpPr>
          <p:cNvPr id="261127" name="Arc 7"/>
          <p:cNvSpPr/>
          <p:nvPr/>
        </p:nvSpPr>
        <p:spPr bwMode="auto">
          <a:xfrm rot="-1075569">
            <a:off x="5749925" y="117475"/>
            <a:ext cx="1889125" cy="2562225"/>
          </a:xfrm>
          <a:custGeom>
            <a:avLst/>
            <a:gdLst>
              <a:gd name="T0" fmla="*/ 2147483647 w 17337"/>
              <a:gd name="T1" fmla="*/ 2147483647 h 19986"/>
              <a:gd name="T2" fmla="*/ 0 w 17337"/>
              <a:gd name="T3" fmla="*/ 2147483647 h 19986"/>
              <a:gd name="T4" fmla="*/ 2147483647 w 17337"/>
              <a:gd name="T5" fmla="*/ 0 h 19986"/>
              <a:gd name="T6" fmla="*/ 0 60000 65536"/>
              <a:gd name="T7" fmla="*/ 0 60000 65536"/>
              <a:gd name="T8" fmla="*/ 0 60000 65536"/>
              <a:gd name="T9" fmla="*/ 0 w 17337"/>
              <a:gd name="T10" fmla="*/ 0 h 19986"/>
              <a:gd name="T11" fmla="*/ 17337 w 17337"/>
              <a:gd name="T12" fmla="*/ 19986 h 19986"/>
            </a:gdLst>
            <a:ahLst/>
            <a:cxnLst>
              <a:cxn ang="T6">
                <a:pos x="T0" y="T1"/>
              </a:cxn>
              <a:cxn ang="T7">
                <a:pos x="T2" y="T3"/>
              </a:cxn>
              <a:cxn ang="T8">
                <a:pos x="T4" y="T5"/>
              </a:cxn>
            </a:cxnLst>
            <a:rect l="T9" t="T10" r="T11" b="T12"/>
            <a:pathLst>
              <a:path w="17337" h="19986" fill="none" extrusionOk="0">
                <a:moveTo>
                  <a:pt x="9144" y="19985"/>
                </a:moveTo>
                <a:cubicBezTo>
                  <a:pt x="5506" y="18494"/>
                  <a:pt x="2345" y="16039"/>
                  <a:pt x="0" y="12883"/>
                </a:cubicBezTo>
              </a:path>
              <a:path w="17337" h="19986" stroke="0" extrusionOk="0">
                <a:moveTo>
                  <a:pt x="9144" y="19985"/>
                </a:moveTo>
                <a:cubicBezTo>
                  <a:pt x="5506" y="18494"/>
                  <a:pt x="2345" y="16039"/>
                  <a:pt x="0" y="12883"/>
                </a:cubicBezTo>
                <a:lnTo>
                  <a:pt x="17337" y="0"/>
                </a:lnTo>
                <a:close/>
              </a:path>
            </a:pathLst>
          </a:custGeom>
          <a:noFill/>
          <a:ln w="38100">
            <a:solidFill>
              <a:srgbClr val="FF0000"/>
            </a:solidFill>
            <a:round/>
            <a:headEnd type="none" w="sm" len="sm"/>
            <a:tailEnd type="none" w="sm" len="sm"/>
          </a:ln>
        </p:spPr>
        <p:txBody>
          <a:bodyPr wrap="none" anchor="ctr"/>
          <a:lstStyle/>
          <a:p>
            <a:pPr algn="ctr"/>
            <a:endParaRPr lang="zh-CN" altLang="en-US"/>
          </a:p>
        </p:txBody>
      </p:sp>
      <p:grpSp>
        <p:nvGrpSpPr>
          <p:cNvPr id="2" name="Group 8"/>
          <p:cNvGrpSpPr/>
          <p:nvPr/>
        </p:nvGrpSpPr>
        <p:grpSpPr bwMode="auto">
          <a:xfrm>
            <a:off x="5853113" y="2071688"/>
            <a:ext cx="446087" cy="512762"/>
            <a:chOff x="3969" y="1438"/>
            <a:chExt cx="281" cy="323"/>
          </a:xfrm>
        </p:grpSpPr>
        <p:sp>
          <p:nvSpPr>
            <p:cNvPr id="69664" name="Text Box 9"/>
            <p:cNvSpPr txBox="1">
              <a:spLocks noChangeArrowheads="1"/>
            </p:cNvSpPr>
            <p:nvPr/>
          </p:nvSpPr>
          <p:spPr bwMode="auto">
            <a:xfrm>
              <a:off x="3969" y="1438"/>
              <a:ext cx="212" cy="323"/>
            </a:xfrm>
            <a:prstGeom prst="rect">
              <a:avLst/>
            </a:prstGeom>
            <a:noFill/>
            <a:ln w="9525">
              <a:noFill/>
              <a:miter lim="800000"/>
            </a:ln>
          </p:spPr>
          <p:txBody>
            <a:bodyPr wrap="none">
              <a:spAutoFit/>
            </a:bodyPr>
            <a:lstStyle/>
            <a:p>
              <a:pPr>
                <a:lnSpc>
                  <a:spcPct val="115000"/>
                </a:lnSpc>
              </a:pPr>
              <a:r>
                <a:rPr kumimoji="1" lang="en-US" altLang="zh-CN" b="1" i="1"/>
                <a:t>a</a:t>
              </a:r>
              <a:endParaRPr kumimoji="1" lang="en-US" altLang="zh-CN" b="1" i="1"/>
            </a:p>
          </p:txBody>
        </p:sp>
        <p:graphicFrame>
          <p:nvGraphicFramePr>
            <p:cNvPr id="69637" name="Object 10"/>
            <p:cNvGraphicFramePr>
              <a:graphicFrameLocks noChangeAspect="1"/>
            </p:cNvGraphicFramePr>
            <p:nvPr/>
          </p:nvGraphicFramePr>
          <p:xfrm>
            <a:off x="4128" y="1480"/>
            <a:ext cx="122" cy="121"/>
          </p:xfrm>
          <a:graphic>
            <a:graphicData uri="http://schemas.openxmlformats.org/presentationml/2006/ole">
              <mc:AlternateContent xmlns:mc="http://schemas.openxmlformats.org/markup-compatibility/2006">
                <mc:Choice xmlns:v="urn:schemas-microsoft-com:vml" Requires="v">
                  <p:oleObj spid="_x0000_s69633" name="公式" r:id="rId1" imgW="4572000" imgH="4572000" progId="Equation.3">
                    <p:embed/>
                  </p:oleObj>
                </mc:Choice>
                <mc:Fallback>
                  <p:oleObj name="公式" r:id="rId1" imgW="4572000" imgH="4572000" progId="Equation.3">
                    <p:embed/>
                    <p:pic>
                      <p:nvPicPr>
                        <p:cNvPr id="0" name="Object 10"/>
                        <p:cNvPicPr>
                          <a:picLocks noChangeAspect="1"/>
                        </p:cNvPicPr>
                        <p:nvPr/>
                      </p:nvPicPr>
                      <p:blipFill>
                        <a:blip r:embed="rId2"/>
                        <a:stretch>
                          <a:fillRect/>
                        </a:stretch>
                      </p:blipFill>
                      <p:spPr>
                        <a:xfrm>
                          <a:off x="4128" y="1480"/>
                          <a:ext cx="122" cy="121"/>
                        </a:xfrm>
                        <a:prstGeom prst="rect">
                          <a:avLst/>
                        </a:prstGeom>
                        <a:noFill/>
                        <a:ln w="9525">
                          <a:noFill/>
                        </a:ln>
                      </p:spPr>
                    </p:pic>
                  </p:oleObj>
                </mc:Fallback>
              </mc:AlternateContent>
            </a:graphicData>
          </a:graphic>
        </p:graphicFrame>
      </p:grpSp>
      <p:grpSp>
        <p:nvGrpSpPr>
          <p:cNvPr id="3" name="Group 11"/>
          <p:cNvGrpSpPr/>
          <p:nvPr/>
        </p:nvGrpSpPr>
        <p:grpSpPr bwMode="auto">
          <a:xfrm>
            <a:off x="6581775" y="2095500"/>
            <a:ext cx="390525" cy="512763"/>
            <a:chOff x="4434" y="1438"/>
            <a:chExt cx="246" cy="323"/>
          </a:xfrm>
        </p:grpSpPr>
        <p:sp>
          <p:nvSpPr>
            <p:cNvPr id="69663" name="Text Box 12"/>
            <p:cNvSpPr txBox="1">
              <a:spLocks noChangeArrowheads="1"/>
            </p:cNvSpPr>
            <p:nvPr/>
          </p:nvSpPr>
          <p:spPr bwMode="auto">
            <a:xfrm>
              <a:off x="4468" y="1438"/>
              <a:ext cx="212" cy="323"/>
            </a:xfrm>
            <a:prstGeom prst="rect">
              <a:avLst/>
            </a:prstGeom>
            <a:noFill/>
            <a:ln w="9525">
              <a:noFill/>
              <a:miter lim="800000"/>
            </a:ln>
          </p:spPr>
          <p:txBody>
            <a:bodyPr wrap="none">
              <a:spAutoFit/>
            </a:bodyPr>
            <a:lstStyle/>
            <a:p>
              <a:pPr>
                <a:lnSpc>
                  <a:spcPct val="115000"/>
                </a:lnSpc>
              </a:pPr>
              <a:r>
                <a:rPr kumimoji="1" lang="en-US" altLang="zh-CN" b="1" i="1"/>
                <a:t>b</a:t>
              </a:r>
              <a:endParaRPr kumimoji="1" lang="en-US" altLang="zh-CN" b="1" i="1"/>
            </a:p>
          </p:txBody>
        </p:sp>
        <p:graphicFrame>
          <p:nvGraphicFramePr>
            <p:cNvPr id="69636" name="Object 13"/>
            <p:cNvGraphicFramePr>
              <a:graphicFrameLocks noChangeAspect="1"/>
            </p:cNvGraphicFramePr>
            <p:nvPr/>
          </p:nvGraphicFramePr>
          <p:xfrm>
            <a:off x="4434" y="1616"/>
            <a:ext cx="122" cy="121"/>
          </p:xfrm>
          <a:graphic>
            <a:graphicData uri="http://schemas.openxmlformats.org/presentationml/2006/ole">
              <mc:AlternateContent xmlns:mc="http://schemas.openxmlformats.org/markup-compatibility/2006">
                <mc:Choice xmlns:v="urn:schemas-microsoft-com:vml" Requires="v">
                  <p:oleObj spid="_x0000_s69636" name="公式" r:id="rId3" imgW="4572000" imgH="4572000" progId="Equation.3">
                    <p:embed/>
                  </p:oleObj>
                </mc:Choice>
                <mc:Fallback>
                  <p:oleObj name="公式" r:id="rId3" imgW="4572000" imgH="4572000" progId="Equation.3">
                    <p:embed/>
                    <p:pic>
                      <p:nvPicPr>
                        <p:cNvPr id="0" name="Object 13"/>
                        <p:cNvPicPr>
                          <a:picLocks noChangeAspect="1"/>
                        </p:cNvPicPr>
                        <p:nvPr/>
                      </p:nvPicPr>
                      <p:blipFill>
                        <a:blip r:embed="rId2"/>
                        <a:stretch>
                          <a:fillRect/>
                        </a:stretch>
                      </p:blipFill>
                      <p:spPr>
                        <a:xfrm>
                          <a:off x="4434" y="1616"/>
                          <a:ext cx="122" cy="121"/>
                        </a:xfrm>
                        <a:prstGeom prst="rect">
                          <a:avLst/>
                        </a:prstGeom>
                        <a:noFill/>
                        <a:ln w="9525">
                          <a:noFill/>
                        </a:ln>
                      </p:spPr>
                    </p:pic>
                  </p:oleObj>
                </mc:Fallback>
              </mc:AlternateContent>
            </a:graphicData>
          </a:graphic>
        </p:graphicFrame>
      </p:grpSp>
      <p:grpSp>
        <p:nvGrpSpPr>
          <p:cNvPr id="4" name="Group 14"/>
          <p:cNvGrpSpPr/>
          <p:nvPr/>
        </p:nvGrpSpPr>
        <p:grpSpPr bwMode="auto">
          <a:xfrm>
            <a:off x="6883400" y="3214688"/>
            <a:ext cx="533400" cy="512762"/>
            <a:chOff x="4422" y="2164"/>
            <a:chExt cx="336" cy="323"/>
          </a:xfrm>
        </p:grpSpPr>
        <p:sp>
          <p:nvSpPr>
            <p:cNvPr id="69662" name="Text Box 15"/>
            <p:cNvSpPr txBox="1">
              <a:spLocks noChangeArrowheads="1"/>
            </p:cNvSpPr>
            <p:nvPr/>
          </p:nvSpPr>
          <p:spPr bwMode="auto">
            <a:xfrm>
              <a:off x="4422" y="2164"/>
              <a:ext cx="201" cy="323"/>
            </a:xfrm>
            <a:prstGeom prst="rect">
              <a:avLst/>
            </a:prstGeom>
            <a:noFill/>
            <a:ln w="9525">
              <a:noFill/>
              <a:miter lim="800000"/>
            </a:ln>
          </p:spPr>
          <p:txBody>
            <a:bodyPr wrap="none">
              <a:spAutoFit/>
            </a:bodyPr>
            <a:lstStyle/>
            <a:p>
              <a:pPr>
                <a:lnSpc>
                  <a:spcPct val="115000"/>
                </a:lnSpc>
              </a:pPr>
              <a:r>
                <a:rPr kumimoji="1" lang="en-US" altLang="zh-CN" b="1" i="1"/>
                <a:t>c</a:t>
              </a:r>
              <a:endParaRPr kumimoji="1" lang="en-US" altLang="zh-CN" b="1" i="1"/>
            </a:p>
          </p:txBody>
        </p:sp>
        <p:graphicFrame>
          <p:nvGraphicFramePr>
            <p:cNvPr id="69635" name="Object 16"/>
            <p:cNvGraphicFramePr>
              <a:graphicFrameLocks noChangeAspect="1"/>
            </p:cNvGraphicFramePr>
            <p:nvPr/>
          </p:nvGraphicFramePr>
          <p:xfrm>
            <a:off x="4636" y="2206"/>
            <a:ext cx="122" cy="121"/>
          </p:xfrm>
          <a:graphic>
            <a:graphicData uri="http://schemas.openxmlformats.org/presentationml/2006/ole">
              <mc:AlternateContent xmlns:mc="http://schemas.openxmlformats.org/markup-compatibility/2006">
                <mc:Choice xmlns:v="urn:schemas-microsoft-com:vml" Requires="v">
                  <p:oleObj spid="_x0000_s69635" name="公式" r:id="rId4" imgW="4572000" imgH="4572000" progId="Equation.3">
                    <p:embed/>
                  </p:oleObj>
                </mc:Choice>
                <mc:Fallback>
                  <p:oleObj name="公式" r:id="rId4" imgW="4572000" imgH="4572000" progId="Equation.3">
                    <p:embed/>
                    <p:pic>
                      <p:nvPicPr>
                        <p:cNvPr id="0" name="Object 16"/>
                        <p:cNvPicPr>
                          <a:picLocks noChangeAspect="1"/>
                        </p:cNvPicPr>
                        <p:nvPr/>
                      </p:nvPicPr>
                      <p:blipFill>
                        <a:blip r:embed="rId2"/>
                        <a:stretch>
                          <a:fillRect/>
                        </a:stretch>
                      </p:blipFill>
                      <p:spPr>
                        <a:xfrm>
                          <a:off x="4636" y="2206"/>
                          <a:ext cx="122" cy="121"/>
                        </a:xfrm>
                        <a:prstGeom prst="rect">
                          <a:avLst/>
                        </a:prstGeom>
                        <a:noFill/>
                        <a:ln w="9525">
                          <a:noFill/>
                        </a:ln>
                      </p:spPr>
                    </p:pic>
                  </p:oleObj>
                </mc:Fallback>
              </mc:AlternateContent>
            </a:graphicData>
          </a:graphic>
        </p:graphicFrame>
      </p:grpSp>
      <p:sp>
        <p:nvSpPr>
          <p:cNvPr id="261137" name="Rectangle 17"/>
          <p:cNvSpPr>
            <a:spLocks noChangeArrowheads="1"/>
          </p:cNvSpPr>
          <p:nvPr/>
        </p:nvSpPr>
        <p:spPr bwMode="auto">
          <a:xfrm>
            <a:off x="7272338" y="1860550"/>
            <a:ext cx="950912" cy="442913"/>
          </a:xfrm>
          <a:prstGeom prst="rect">
            <a:avLst/>
          </a:prstGeom>
          <a:noFill/>
          <a:ln w="9525">
            <a:noFill/>
            <a:miter lim="800000"/>
          </a:ln>
        </p:spPr>
        <p:txBody>
          <a:bodyPr wrap="none">
            <a:spAutoFit/>
          </a:bodyPr>
          <a:lstStyle/>
          <a:p>
            <a:pPr>
              <a:lnSpc>
                <a:spcPct val="115000"/>
              </a:lnSpc>
            </a:pPr>
            <a:r>
              <a:rPr kumimoji="1" lang="zh-CN" altLang="en-US" sz="2000" b="1">
                <a:solidFill>
                  <a:srgbClr val="000099"/>
                </a:solidFill>
                <a:ea typeface="楷体_GB2312" pitchFamily="49" charset="-122"/>
              </a:rPr>
              <a:t>绝热线</a:t>
            </a:r>
            <a:endParaRPr kumimoji="1" lang="zh-CN" altLang="en-US" sz="2000" b="1">
              <a:solidFill>
                <a:srgbClr val="000099"/>
              </a:solidFill>
              <a:ea typeface="楷体_GB2312" pitchFamily="49" charset="-122"/>
            </a:endParaRPr>
          </a:p>
        </p:txBody>
      </p:sp>
      <p:sp>
        <p:nvSpPr>
          <p:cNvPr id="261138" name="Rectangle 18"/>
          <p:cNvSpPr>
            <a:spLocks noChangeArrowheads="1"/>
          </p:cNvSpPr>
          <p:nvPr/>
        </p:nvSpPr>
        <p:spPr bwMode="auto">
          <a:xfrm>
            <a:off x="7334250" y="2333625"/>
            <a:ext cx="950913" cy="442913"/>
          </a:xfrm>
          <a:prstGeom prst="rect">
            <a:avLst/>
          </a:prstGeom>
          <a:noFill/>
          <a:ln w="9525">
            <a:noFill/>
            <a:miter lim="800000"/>
          </a:ln>
        </p:spPr>
        <p:txBody>
          <a:bodyPr wrap="none">
            <a:spAutoFit/>
          </a:bodyPr>
          <a:lstStyle/>
          <a:p>
            <a:pPr>
              <a:lnSpc>
                <a:spcPct val="115000"/>
              </a:lnSpc>
            </a:pPr>
            <a:r>
              <a:rPr kumimoji="1" lang="zh-CN" altLang="en-US" sz="2000" b="1">
                <a:solidFill>
                  <a:srgbClr val="FF0000"/>
                </a:solidFill>
                <a:ea typeface="楷体_GB2312" pitchFamily="49" charset="-122"/>
              </a:rPr>
              <a:t>等温线</a:t>
            </a:r>
            <a:endParaRPr kumimoji="1" lang="zh-CN" altLang="en-US" sz="2000" b="1">
              <a:solidFill>
                <a:srgbClr val="FF0000"/>
              </a:solidFill>
              <a:ea typeface="楷体_GB2312" pitchFamily="49" charset="-122"/>
            </a:endParaRPr>
          </a:p>
        </p:txBody>
      </p:sp>
      <p:graphicFrame>
        <p:nvGraphicFramePr>
          <p:cNvPr id="261139" name="Object 19"/>
          <p:cNvGraphicFramePr>
            <a:graphicFrameLocks noChangeAspect="1"/>
          </p:cNvGraphicFramePr>
          <p:nvPr/>
        </p:nvGraphicFramePr>
        <p:xfrm>
          <a:off x="2063750" y="3662363"/>
          <a:ext cx="1017588" cy="414337"/>
        </p:xfrm>
        <a:graphic>
          <a:graphicData uri="http://schemas.openxmlformats.org/presentationml/2006/ole">
            <mc:AlternateContent xmlns:mc="http://schemas.openxmlformats.org/markup-compatibility/2006">
              <mc:Choice xmlns:v="urn:schemas-microsoft-com:vml" Requires="v">
                <p:oleObj spid="_x0000_s69634" name="公式" r:id="rId5" imgW="13716000" imgH="5486400" progId="Equation.3">
                  <p:embed/>
                </p:oleObj>
              </mc:Choice>
              <mc:Fallback>
                <p:oleObj name="公式" r:id="rId5" imgW="13716000" imgH="5486400" progId="Equation.3">
                  <p:embed/>
                  <p:pic>
                    <p:nvPicPr>
                      <p:cNvPr id="0" name="Object 19"/>
                      <p:cNvPicPr>
                        <a:picLocks noChangeAspect="1"/>
                      </p:cNvPicPr>
                      <p:nvPr/>
                    </p:nvPicPr>
                    <p:blipFill>
                      <a:blip r:embed="rId6"/>
                      <a:stretch>
                        <a:fillRect/>
                      </a:stretch>
                    </p:blipFill>
                    <p:spPr>
                      <a:xfrm>
                        <a:off x="2063750" y="3662363"/>
                        <a:ext cx="1017588" cy="414337"/>
                      </a:xfrm>
                      <a:prstGeom prst="rect">
                        <a:avLst/>
                      </a:prstGeom>
                      <a:noFill/>
                      <a:ln w="9525">
                        <a:noFill/>
                      </a:ln>
                    </p:spPr>
                  </p:pic>
                </p:oleObj>
              </mc:Fallback>
            </mc:AlternateContent>
          </a:graphicData>
        </a:graphic>
      </p:graphicFrame>
      <p:sp>
        <p:nvSpPr>
          <p:cNvPr id="261140" name="Line 20"/>
          <p:cNvSpPr>
            <a:spLocks noChangeShapeType="1"/>
          </p:cNvSpPr>
          <p:nvPr/>
        </p:nvSpPr>
        <p:spPr bwMode="auto">
          <a:xfrm rot="-180000">
            <a:off x="6751638" y="2651125"/>
            <a:ext cx="200025" cy="331788"/>
          </a:xfrm>
          <a:prstGeom prst="line">
            <a:avLst/>
          </a:prstGeom>
          <a:noFill/>
          <a:ln w="57150">
            <a:solidFill>
              <a:srgbClr val="3333CC"/>
            </a:solidFill>
            <a:round/>
            <a:tailEnd type="triangle" w="med" len="med"/>
          </a:ln>
        </p:spPr>
        <p:txBody>
          <a:bodyPr/>
          <a:lstStyle/>
          <a:p>
            <a:endParaRPr lang="zh-CN" altLang="en-US"/>
          </a:p>
        </p:txBody>
      </p:sp>
      <p:sp>
        <p:nvSpPr>
          <p:cNvPr id="261141" name="Text Box 21"/>
          <p:cNvSpPr txBox="1">
            <a:spLocks noChangeArrowheads="1"/>
          </p:cNvSpPr>
          <p:nvPr/>
        </p:nvSpPr>
        <p:spPr bwMode="auto">
          <a:xfrm>
            <a:off x="611188" y="2030413"/>
            <a:ext cx="4608512" cy="1354137"/>
          </a:xfrm>
          <a:prstGeom prst="rect">
            <a:avLst/>
          </a:prstGeom>
          <a:noFill/>
          <a:ln w="9525">
            <a:noFill/>
            <a:miter lim="800000"/>
          </a:ln>
        </p:spPr>
        <p:txBody>
          <a:bodyPr>
            <a:spAutoFit/>
          </a:bodyPr>
          <a:lstStyle/>
          <a:p>
            <a:pPr>
              <a:lnSpc>
                <a:spcPct val="115000"/>
              </a:lnSpc>
            </a:pPr>
            <a:r>
              <a:rPr lang="zh-CN" altLang="en-US" b="1">
                <a:ea typeface="楷体_GB2312" pitchFamily="49" charset="-122"/>
              </a:rPr>
              <a:t>设两</a:t>
            </a:r>
            <a:r>
              <a:rPr kumimoji="1" lang="zh-CN" altLang="en-US" b="1">
                <a:ea typeface="楷体_GB2312" pitchFamily="49" charset="-122"/>
              </a:rPr>
              <a:t>绝热线</a:t>
            </a:r>
            <a:r>
              <a:rPr lang="zh-CN" altLang="en-US" b="1">
                <a:ea typeface="楷体_GB2312" pitchFamily="49" charset="-122"/>
              </a:rPr>
              <a:t>相交于 </a:t>
            </a:r>
            <a:r>
              <a:rPr lang="en-US" altLang="zh-CN" b="1" i="1">
                <a:solidFill>
                  <a:srgbClr val="FF6600"/>
                </a:solidFill>
                <a:ea typeface="楷体_GB2312" pitchFamily="49" charset="-122"/>
              </a:rPr>
              <a:t>c</a:t>
            </a:r>
            <a:r>
              <a:rPr lang="en-US" altLang="zh-CN" b="1">
                <a:ea typeface="楷体_GB2312" pitchFamily="49" charset="-122"/>
              </a:rPr>
              <a:t> </a:t>
            </a:r>
            <a:r>
              <a:rPr lang="zh-CN" altLang="en-US" b="1">
                <a:ea typeface="楷体_GB2312" pitchFamily="49" charset="-122"/>
              </a:rPr>
              <a:t>点，</a:t>
            </a:r>
            <a:r>
              <a:rPr kumimoji="1" lang="zh-CN" altLang="en-US" b="1">
                <a:ea typeface="楷体_GB2312" pitchFamily="49" charset="-122"/>
              </a:rPr>
              <a:t>在两绝热线上寻找温度相同的两点 </a:t>
            </a:r>
            <a:r>
              <a:rPr kumimoji="1" lang="en-US" altLang="zh-CN" b="1" i="1">
                <a:solidFill>
                  <a:srgbClr val="FF6600"/>
                </a:solidFill>
                <a:ea typeface="楷体_GB2312" pitchFamily="49" charset="-122"/>
              </a:rPr>
              <a:t>a </a:t>
            </a:r>
            <a:r>
              <a:rPr kumimoji="1" lang="zh-CN" altLang="en-US" b="1">
                <a:ea typeface="楷体_GB2312" pitchFamily="49" charset="-122"/>
              </a:rPr>
              <a:t>、</a:t>
            </a:r>
            <a:r>
              <a:rPr kumimoji="1" lang="en-US" altLang="zh-CN" b="1" i="1">
                <a:solidFill>
                  <a:srgbClr val="FF6600"/>
                </a:solidFill>
                <a:ea typeface="楷体_GB2312" pitchFamily="49" charset="-122"/>
              </a:rPr>
              <a:t>b </a:t>
            </a:r>
            <a:r>
              <a:rPr kumimoji="1" lang="zh-CN" altLang="en-US" b="1">
                <a:ea typeface="楷体_GB2312" pitchFamily="49" charset="-122"/>
              </a:rPr>
              <a:t>。</a:t>
            </a:r>
            <a:r>
              <a:rPr lang="zh-CN" altLang="en-US" b="1">
                <a:ea typeface="楷体_GB2312" pitchFamily="49" charset="-122"/>
              </a:rPr>
              <a:t>在</a:t>
            </a:r>
            <a:r>
              <a:rPr kumimoji="1" lang="zh-CN" altLang="en-US" b="1">
                <a:ea typeface="楷体_GB2312" pitchFamily="49" charset="-122"/>
              </a:rPr>
              <a:t>循环过程</a:t>
            </a:r>
            <a:r>
              <a:rPr kumimoji="1" lang="zh-CN" altLang="en-US" b="1">
                <a:solidFill>
                  <a:srgbClr val="FF6600"/>
                </a:solidFill>
                <a:ea typeface="楷体_GB2312" pitchFamily="49" charset="-122"/>
              </a:rPr>
              <a:t> </a:t>
            </a:r>
            <a:r>
              <a:rPr kumimoji="1" lang="en-US" altLang="zh-CN" b="1" i="1">
                <a:solidFill>
                  <a:srgbClr val="FF6600"/>
                </a:solidFill>
                <a:ea typeface="楷体_GB2312" pitchFamily="49" charset="-122"/>
              </a:rPr>
              <a:t>abca</a:t>
            </a:r>
            <a:r>
              <a:rPr kumimoji="1" lang="en-US" altLang="zh-CN" b="1" i="1">
                <a:ea typeface="楷体_GB2312" pitchFamily="49" charset="-122"/>
              </a:rPr>
              <a:t> </a:t>
            </a:r>
            <a:r>
              <a:rPr lang="zh-CN" altLang="en-US" b="1">
                <a:ea typeface="楷体_GB2312" pitchFamily="49" charset="-122"/>
              </a:rPr>
              <a:t>中</a:t>
            </a:r>
            <a:endParaRPr lang="zh-CN" altLang="en-US" b="1">
              <a:ea typeface="楷体_GB2312" pitchFamily="49" charset="-122"/>
            </a:endParaRPr>
          </a:p>
        </p:txBody>
      </p:sp>
      <p:grpSp>
        <p:nvGrpSpPr>
          <p:cNvPr id="5" name="Group 22"/>
          <p:cNvGrpSpPr/>
          <p:nvPr/>
        </p:nvGrpSpPr>
        <p:grpSpPr bwMode="auto">
          <a:xfrm>
            <a:off x="5316538" y="1654175"/>
            <a:ext cx="3314700" cy="2957513"/>
            <a:chOff x="3423" y="2028"/>
            <a:chExt cx="2088" cy="1863"/>
          </a:xfrm>
        </p:grpSpPr>
        <p:sp>
          <p:nvSpPr>
            <p:cNvPr id="69657" name="Line 23"/>
            <p:cNvSpPr>
              <a:spLocks noChangeShapeType="1"/>
            </p:cNvSpPr>
            <p:nvPr/>
          </p:nvSpPr>
          <p:spPr bwMode="auto">
            <a:xfrm flipV="1">
              <a:off x="3651" y="3596"/>
              <a:ext cx="1791" cy="11"/>
            </a:xfrm>
            <a:prstGeom prst="line">
              <a:avLst/>
            </a:prstGeom>
            <a:noFill/>
            <a:ln w="28575">
              <a:solidFill>
                <a:srgbClr val="000099"/>
              </a:solidFill>
              <a:round/>
              <a:tailEnd type="triangle" w="med" len="lg"/>
            </a:ln>
          </p:spPr>
          <p:txBody>
            <a:bodyPr wrap="none" anchor="ctr"/>
            <a:lstStyle/>
            <a:p>
              <a:endParaRPr lang="zh-CN" altLang="en-US"/>
            </a:p>
          </p:txBody>
        </p:sp>
        <p:sp>
          <p:nvSpPr>
            <p:cNvPr id="69658" name="Line 24"/>
            <p:cNvSpPr>
              <a:spLocks noChangeShapeType="1"/>
            </p:cNvSpPr>
            <p:nvPr/>
          </p:nvSpPr>
          <p:spPr bwMode="auto">
            <a:xfrm flipH="1" flipV="1">
              <a:off x="3651" y="2160"/>
              <a:ext cx="11" cy="1458"/>
            </a:xfrm>
            <a:prstGeom prst="line">
              <a:avLst/>
            </a:prstGeom>
            <a:noFill/>
            <a:ln w="28575">
              <a:solidFill>
                <a:srgbClr val="000099"/>
              </a:solidFill>
              <a:round/>
              <a:tailEnd type="triangle" w="med" len="lg"/>
            </a:ln>
          </p:spPr>
          <p:txBody>
            <a:bodyPr wrap="none" anchor="ctr"/>
            <a:lstStyle/>
            <a:p>
              <a:endParaRPr lang="zh-CN" altLang="en-US"/>
            </a:p>
          </p:txBody>
        </p:sp>
        <p:sp>
          <p:nvSpPr>
            <p:cNvPr id="69659" name="Text Box 25"/>
            <p:cNvSpPr txBox="1">
              <a:spLocks noChangeArrowheads="1"/>
            </p:cNvSpPr>
            <p:nvPr/>
          </p:nvSpPr>
          <p:spPr bwMode="auto">
            <a:xfrm>
              <a:off x="5267" y="3568"/>
              <a:ext cx="244" cy="323"/>
            </a:xfrm>
            <a:prstGeom prst="rect">
              <a:avLst/>
            </a:prstGeom>
            <a:noFill/>
            <a:ln w="9525">
              <a:noFill/>
              <a:miter lim="800000"/>
            </a:ln>
          </p:spPr>
          <p:txBody>
            <a:bodyPr wrap="none">
              <a:spAutoFit/>
            </a:bodyPr>
            <a:lstStyle/>
            <a:p>
              <a:pPr>
                <a:lnSpc>
                  <a:spcPct val="115000"/>
                </a:lnSpc>
              </a:pPr>
              <a:r>
                <a:rPr lang="en-US" altLang="zh-CN" b="1" i="1">
                  <a:solidFill>
                    <a:srgbClr val="000099"/>
                  </a:solidFill>
                </a:rPr>
                <a:t>V</a:t>
              </a:r>
              <a:endParaRPr lang="en-US" altLang="zh-CN" b="1" i="1">
                <a:solidFill>
                  <a:srgbClr val="000099"/>
                </a:solidFill>
              </a:endParaRPr>
            </a:p>
          </p:txBody>
        </p:sp>
        <p:sp>
          <p:nvSpPr>
            <p:cNvPr id="69660" name="Text Box 26"/>
            <p:cNvSpPr txBox="1">
              <a:spLocks noChangeArrowheads="1"/>
            </p:cNvSpPr>
            <p:nvPr/>
          </p:nvSpPr>
          <p:spPr bwMode="auto">
            <a:xfrm>
              <a:off x="3423" y="2028"/>
              <a:ext cx="212" cy="323"/>
            </a:xfrm>
            <a:prstGeom prst="rect">
              <a:avLst/>
            </a:prstGeom>
            <a:noFill/>
            <a:ln w="9525">
              <a:noFill/>
              <a:miter lim="800000"/>
            </a:ln>
          </p:spPr>
          <p:txBody>
            <a:bodyPr wrap="none">
              <a:spAutoFit/>
            </a:bodyPr>
            <a:lstStyle/>
            <a:p>
              <a:pPr>
                <a:lnSpc>
                  <a:spcPct val="115000"/>
                </a:lnSpc>
              </a:pPr>
              <a:r>
                <a:rPr lang="en-US" altLang="zh-CN" b="1" i="1">
                  <a:solidFill>
                    <a:srgbClr val="000099"/>
                  </a:solidFill>
                </a:rPr>
                <a:t>p</a:t>
              </a:r>
              <a:endParaRPr lang="en-US" altLang="zh-CN" b="1" i="1">
                <a:solidFill>
                  <a:srgbClr val="000099"/>
                </a:solidFill>
              </a:endParaRPr>
            </a:p>
          </p:txBody>
        </p:sp>
        <p:sp>
          <p:nvSpPr>
            <p:cNvPr id="69661" name="Text Box 27"/>
            <p:cNvSpPr txBox="1">
              <a:spLocks noChangeArrowheads="1"/>
            </p:cNvSpPr>
            <p:nvPr/>
          </p:nvSpPr>
          <p:spPr bwMode="auto">
            <a:xfrm>
              <a:off x="3425" y="3523"/>
              <a:ext cx="255" cy="323"/>
            </a:xfrm>
            <a:prstGeom prst="rect">
              <a:avLst/>
            </a:prstGeom>
            <a:noFill/>
            <a:ln w="9525">
              <a:noFill/>
              <a:miter lim="800000"/>
            </a:ln>
          </p:spPr>
          <p:txBody>
            <a:bodyPr wrap="none">
              <a:spAutoFit/>
            </a:bodyPr>
            <a:lstStyle/>
            <a:p>
              <a:pPr>
                <a:lnSpc>
                  <a:spcPct val="115000"/>
                </a:lnSpc>
              </a:pPr>
              <a:r>
                <a:rPr lang="en-US" altLang="zh-CN" b="1" i="1">
                  <a:solidFill>
                    <a:srgbClr val="000099"/>
                  </a:solidFill>
                </a:rPr>
                <a:t>O</a:t>
              </a:r>
              <a:endParaRPr lang="en-US" altLang="zh-CN" b="1" i="1">
                <a:solidFill>
                  <a:srgbClr val="000099"/>
                </a:solidFill>
              </a:endParaRPr>
            </a:p>
          </p:txBody>
        </p:sp>
      </p:grpSp>
      <p:sp>
        <p:nvSpPr>
          <p:cNvPr id="261148" name="Text Box 28"/>
          <p:cNvSpPr txBox="1">
            <a:spLocks noChangeArrowheads="1"/>
          </p:cNvSpPr>
          <p:nvPr/>
        </p:nvSpPr>
        <p:spPr bwMode="auto">
          <a:xfrm>
            <a:off x="1106488" y="5167313"/>
            <a:ext cx="3311525" cy="512762"/>
          </a:xfrm>
          <a:prstGeom prst="rect">
            <a:avLst/>
          </a:prstGeom>
          <a:noFill/>
          <a:ln w="9525">
            <a:noFill/>
            <a:miter lim="800000"/>
          </a:ln>
        </p:spPr>
        <p:txBody>
          <a:bodyPr>
            <a:spAutoFit/>
          </a:bodyPr>
          <a:lstStyle/>
          <a:p>
            <a:pPr>
              <a:lnSpc>
                <a:spcPct val="115000"/>
              </a:lnSpc>
            </a:pPr>
            <a:r>
              <a:rPr kumimoji="1" lang="zh-CN" altLang="en-US" b="1">
                <a:ea typeface="楷体_GB2312" pitchFamily="49" charset="-122"/>
              </a:rPr>
              <a:t>违背开尔文表述</a:t>
            </a:r>
            <a:endParaRPr kumimoji="1" lang="zh-CN" altLang="en-US" b="1">
              <a:ea typeface="楷体_GB2312" pitchFamily="49" charset="-122"/>
            </a:endParaRPr>
          </a:p>
        </p:txBody>
      </p:sp>
      <p:sp>
        <p:nvSpPr>
          <p:cNvPr id="261149" name="Text Box 29"/>
          <p:cNvSpPr txBox="1">
            <a:spLocks noChangeArrowheads="1"/>
          </p:cNvSpPr>
          <p:nvPr/>
        </p:nvSpPr>
        <p:spPr bwMode="auto">
          <a:xfrm>
            <a:off x="682625" y="4151313"/>
            <a:ext cx="4681538" cy="933450"/>
          </a:xfrm>
          <a:prstGeom prst="rect">
            <a:avLst/>
          </a:prstGeom>
          <a:noFill/>
          <a:ln w="9525">
            <a:noFill/>
            <a:miter lim="800000"/>
          </a:ln>
        </p:spPr>
        <p:txBody>
          <a:bodyPr>
            <a:spAutoFit/>
          </a:bodyPr>
          <a:lstStyle/>
          <a:p>
            <a:pPr>
              <a:lnSpc>
                <a:spcPct val="115000"/>
              </a:lnSpc>
            </a:pPr>
            <a:r>
              <a:rPr kumimoji="1" lang="zh-CN" altLang="en-US" b="1">
                <a:ea typeface="楷体_GB2312" pitchFamily="49" charset="-122"/>
              </a:rPr>
              <a:t>这就构成了</a:t>
            </a:r>
            <a:r>
              <a:rPr kumimoji="1" lang="zh-CN" altLang="en-US" b="1">
                <a:solidFill>
                  <a:srgbClr val="FF6600"/>
                </a:solidFill>
                <a:ea typeface="楷体_GB2312" pitchFamily="49" charset="-122"/>
              </a:rPr>
              <a:t>从单一热源吸收热量的热机</a:t>
            </a:r>
            <a:r>
              <a:rPr kumimoji="1" lang="zh-CN" altLang="en-US" b="1">
                <a:ea typeface="楷体_GB2312" pitchFamily="49" charset="-122"/>
              </a:rPr>
              <a:t>。</a:t>
            </a:r>
            <a:endParaRPr kumimoji="1" lang="zh-CN" altLang="en-US" b="1">
              <a:ea typeface="楷体_GB2312" pitchFamily="49" charset="-122"/>
            </a:endParaRPr>
          </a:p>
        </p:txBody>
      </p:sp>
      <p:sp>
        <p:nvSpPr>
          <p:cNvPr id="261150" name="AutoShape 30"/>
          <p:cNvSpPr>
            <a:spLocks noChangeArrowheads="1"/>
          </p:cNvSpPr>
          <p:nvPr/>
        </p:nvSpPr>
        <p:spPr bwMode="auto">
          <a:xfrm>
            <a:off x="611188" y="5410200"/>
            <a:ext cx="504825" cy="142875"/>
          </a:xfrm>
          <a:prstGeom prst="rightArrow">
            <a:avLst>
              <a:gd name="adj1" fmla="val 50000"/>
              <a:gd name="adj2" fmla="val 88333"/>
            </a:avLst>
          </a:prstGeom>
          <a:solidFill>
            <a:srgbClr val="0000FF"/>
          </a:solidFill>
          <a:ln w="9525">
            <a:solidFill>
              <a:schemeClr val="tx1"/>
            </a:solidFill>
            <a:miter lim="800000"/>
          </a:ln>
        </p:spPr>
        <p:txBody>
          <a:bodyPr wrap="none" anchor="ctr"/>
          <a:lstStyle/>
          <a:p>
            <a:pPr algn="ctr"/>
            <a:endParaRPr lang="zh-CN" altLang="en-US"/>
          </a:p>
        </p:txBody>
      </p:sp>
      <p:sp>
        <p:nvSpPr>
          <p:cNvPr id="261151" name="AutoShape 31"/>
          <p:cNvSpPr>
            <a:spLocks noChangeArrowheads="1"/>
          </p:cNvSpPr>
          <p:nvPr/>
        </p:nvSpPr>
        <p:spPr bwMode="auto">
          <a:xfrm>
            <a:off x="611188" y="6013450"/>
            <a:ext cx="504825" cy="142875"/>
          </a:xfrm>
          <a:prstGeom prst="rightArrow">
            <a:avLst>
              <a:gd name="adj1" fmla="val 50000"/>
              <a:gd name="adj2" fmla="val 88333"/>
            </a:avLst>
          </a:prstGeom>
          <a:solidFill>
            <a:srgbClr val="0000FF"/>
          </a:solidFill>
          <a:ln w="9525">
            <a:solidFill>
              <a:schemeClr val="tx1"/>
            </a:solidFill>
            <a:miter lim="800000"/>
          </a:ln>
        </p:spPr>
        <p:txBody>
          <a:bodyPr wrap="none" anchor="ctr"/>
          <a:lstStyle/>
          <a:p>
            <a:pPr algn="ctr"/>
            <a:endParaRPr lang="zh-CN" altLang="en-US"/>
          </a:p>
        </p:txBody>
      </p:sp>
      <p:sp>
        <p:nvSpPr>
          <p:cNvPr id="261152" name="Text Box 32"/>
          <p:cNvSpPr txBox="1">
            <a:spLocks noChangeArrowheads="1"/>
          </p:cNvSpPr>
          <p:nvPr/>
        </p:nvSpPr>
        <p:spPr bwMode="auto">
          <a:xfrm>
            <a:off x="1106488" y="5795963"/>
            <a:ext cx="4681537" cy="512762"/>
          </a:xfrm>
          <a:prstGeom prst="rect">
            <a:avLst/>
          </a:prstGeom>
          <a:noFill/>
          <a:ln w="9525">
            <a:noFill/>
            <a:miter lim="800000"/>
          </a:ln>
        </p:spPr>
        <p:txBody>
          <a:bodyPr>
            <a:spAutoFit/>
          </a:bodyPr>
          <a:lstStyle/>
          <a:p>
            <a:pPr>
              <a:lnSpc>
                <a:spcPct val="115000"/>
              </a:lnSpc>
            </a:pPr>
            <a:r>
              <a:rPr kumimoji="1" lang="zh-CN" altLang="en-US" b="1">
                <a:ea typeface="楷体_GB2312" pitchFamily="49" charset="-122"/>
              </a:rPr>
              <a:t>任意两条绝热线不可能相交。</a:t>
            </a:r>
            <a:endParaRPr kumimoji="1" lang="zh-CN" altLang="en-US" b="1">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1124"/>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61122"/>
                                        </p:tgtEl>
                                        <p:attrNameLst>
                                          <p:attrName>style.visibility</p:attrName>
                                        </p:attrNameLst>
                                      </p:cBhvr>
                                      <p:to>
                                        <p:strVal val="visible"/>
                                      </p:to>
                                    </p:set>
                                    <p:animEffect transition="in" filter="wipe(left)">
                                      <p:cBhvr>
                                        <p:cTn id="10" dur="500"/>
                                        <p:tgtEl>
                                          <p:spTgt spid="26112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61123"/>
                                        </p:tgtEl>
                                        <p:attrNameLst>
                                          <p:attrName>style.visibility</p:attrName>
                                        </p:attrNameLst>
                                      </p:cBhvr>
                                      <p:to>
                                        <p:strVal val="visible"/>
                                      </p:to>
                                    </p:set>
                                    <p:animEffect transition="in" filter="wipe(left)">
                                      <p:cBhvr>
                                        <p:cTn id="15" dur="500"/>
                                        <p:tgtEl>
                                          <p:spTgt spid="26112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61141"/>
                                        </p:tgtEl>
                                        <p:attrNameLst>
                                          <p:attrName>style.visibility</p:attrName>
                                        </p:attrNameLst>
                                      </p:cBhvr>
                                      <p:to>
                                        <p:strVal val="visible"/>
                                      </p:to>
                                    </p:set>
                                    <p:animEffect transition="in" filter="wipe(left)">
                                      <p:cBhvr>
                                        <p:cTn id="20" dur="500"/>
                                        <p:tgtEl>
                                          <p:spTgt spid="261141"/>
                                        </p:tgtEl>
                                      </p:cBhvr>
                                    </p:animEffect>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261126"/>
                                        </p:tgtEl>
                                        <p:attrNameLst>
                                          <p:attrName>style.visibility</p:attrName>
                                        </p:attrNameLst>
                                      </p:cBhvr>
                                      <p:to>
                                        <p:strVal val="visible"/>
                                      </p:to>
                                    </p:set>
                                    <p:animEffect transition="in" filter="wipe(up)">
                                      <p:cBhvr>
                                        <p:cTn id="30" dur="500"/>
                                        <p:tgtEl>
                                          <p:spTgt spid="261126"/>
                                        </p:tgtEl>
                                      </p:cBhvr>
                                    </p:animEffect>
                                  </p:childTnLst>
                                </p:cTn>
                              </p:par>
                            </p:childTnLst>
                          </p:cTn>
                        </p:par>
                        <p:par>
                          <p:cTn id="31" fill="hold">
                            <p:stCondLst>
                              <p:cond delay="1000"/>
                            </p:stCondLst>
                            <p:childTnLst>
                              <p:par>
                                <p:cTn id="32" presetID="22" presetClass="entr" presetSubtype="1" fill="hold" grpId="0" nodeType="afterEffect">
                                  <p:stCondLst>
                                    <p:cond delay="0"/>
                                  </p:stCondLst>
                                  <p:childTnLst>
                                    <p:set>
                                      <p:cBhvr>
                                        <p:cTn id="33" dur="1" fill="hold">
                                          <p:stCondLst>
                                            <p:cond delay="0"/>
                                          </p:stCondLst>
                                        </p:cTn>
                                        <p:tgtEl>
                                          <p:spTgt spid="261125"/>
                                        </p:tgtEl>
                                        <p:attrNameLst>
                                          <p:attrName>style.visibility</p:attrName>
                                        </p:attrNameLst>
                                      </p:cBhvr>
                                      <p:to>
                                        <p:strVal val="visible"/>
                                      </p:to>
                                    </p:set>
                                    <p:animEffect transition="in" filter="wipe(up)">
                                      <p:cBhvr>
                                        <p:cTn id="34" dur="500"/>
                                        <p:tgtEl>
                                          <p:spTgt spid="261125"/>
                                        </p:tgtEl>
                                      </p:cBhvr>
                                    </p:animEffect>
                                  </p:childTnLst>
                                </p:cTn>
                              </p:par>
                            </p:childTnLst>
                          </p:cTn>
                        </p:par>
                        <p:par>
                          <p:cTn id="35" fill="hold">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261137"/>
                                        </p:tgtEl>
                                        <p:attrNameLst>
                                          <p:attrName>style.visibility</p:attrName>
                                        </p:attrNameLst>
                                      </p:cBhvr>
                                      <p:to>
                                        <p:strVal val="visible"/>
                                      </p:to>
                                    </p:set>
                                    <p:animEffect transition="in" filter="wipe(left)">
                                      <p:cBhvr>
                                        <p:cTn id="38" dur="500"/>
                                        <p:tgtEl>
                                          <p:spTgt spid="261137"/>
                                        </p:tgtEl>
                                      </p:cBhvr>
                                    </p:animEffect>
                                  </p:childTnLst>
                                </p:cTn>
                              </p:par>
                            </p:childTnLst>
                          </p:cTn>
                        </p:par>
                        <p:par>
                          <p:cTn id="39" fill="hold">
                            <p:stCondLst>
                              <p:cond delay="2000"/>
                            </p:stCondLst>
                            <p:childTnLst>
                              <p:par>
                                <p:cTn id="40" presetID="1" presetClass="entr" presetSubtype="0" fill="hold" nodeType="afterEffect">
                                  <p:stCondLst>
                                    <p:cond delay="0"/>
                                  </p:stCondLst>
                                  <p:childTnLst>
                                    <p:set>
                                      <p:cBhvr>
                                        <p:cTn id="41" dur="1" fill="hold">
                                          <p:stCondLst>
                                            <p:cond delay="0"/>
                                          </p:stCondLst>
                                        </p:cTn>
                                        <p:tgtEl>
                                          <p:spTgt spid="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nodeType="afterEffect">
                                  <p:stCondLst>
                                    <p:cond delay="0"/>
                                  </p:stCondLst>
                                  <p:childTnLst>
                                    <p:set>
                                      <p:cBhvr>
                                        <p:cTn id="48" dur="1" fill="hold">
                                          <p:stCondLst>
                                            <p:cond delay="0"/>
                                          </p:stCondLst>
                                        </p:cTn>
                                        <p:tgtEl>
                                          <p:spTgt spid="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61127"/>
                                        </p:tgtEl>
                                        <p:attrNameLst>
                                          <p:attrName>style.visibility</p:attrName>
                                        </p:attrNameLst>
                                      </p:cBhvr>
                                      <p:to>
                                        <p:strVal val="visible"/>
                                      </p:to>
                                    </p:set>
                                    <p:animEffect transition="in" filter="wipe(left)">
                                      <p:cBhvr>
                                        <p:cTn id="53" dur="500"/>
                                        <p:tgtEl>
                                          <p:spTgt spid="261127"/>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261138">
                                            <p:txEl>
                                              <p:pRg st="0" end="0"/>
                                            </p:txEl>
                                          </p:spTgt>
                                        </p:tgtEl>
                                        <p:attrNameLst>
                                          <p:attrName>style.visibility</p:attrName>
                                        </p:attrNameLst>
                                      </p:cBhvr>
                                      <p:to>
                                        <p:strVal val="visible"/>
                                      </p:to>
                                    </p:set>
                                    <p:animEffect transition="in" filter="wipe(left)">
                                      <p:cBhvr>
                                        <p:cTn id="57" dur="500"/>
                                        <p:tgtEl>
                                          <p:spTgt spid="261138">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61140"/>
                                        </p:tgtEl>
                                        <p:attrNameLst>
                                          <p:attrName>style.visibility</p:attrName>
                                        </p:attrNameLst>
                                      </p:cBhvr>
                                      <p:to>
                                        <p:strVal val="visible"/>
                                      </p:to>
                                    </p:set>
                                    <p:animEffect transition="in" filter="wipe(up)">
                                      <p:cBhvr>
                                        <p:cTn id="62" dur="500"/>
                                        <p:tgtEl>
                                          <p:spTgt spid="26114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61139"/>
                                        </p:tgtEl>
                                        <p:attrNameLst>
                                          <p:attrName>style.visibility</p:attrName>
                                        </p:attrNameLst>
                                      </p:cBhvr>
                                      <p:to>
                                        <p:strVal val="visible"/>
                                      </p:to>
                                    </p:set>
                                    <p:animEffect transition="in" filter="wipe(left)">
                                      <p:cBhvr>
                                        <p:cTn id="67" dur="500"/>
                                        <p:tgtEl>
                                          <p:spTgt spid="26113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61149"/>
                                        </p:tgtEl>
                                        <p:attrNameLst>
                                          <p:attrName>style.visibility</p:attrName>
                                        </p:attrNameLst>
                                      </p:cBhvr>
                                      <p:to>
                                        <p:strVal val="visible"/>
                                      </p:to>
                                    </p:set>
                                    <p:animEffect transition="in" filter="wipe(left)">
                                      <p:cBhvr>
                                        <p:cTn id="72" dur="500"/>
                                        <p:tgtEl>
                                          <p:spTgt spid="26114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61150"/>
                                        </p:tgtEl>
                                        <p:attrNameLst>
                                          <p:attrName>style.visibility</p:attrName>
                                        </p:attrNameLst>
                                      </p:cBhvr>
                                      <p:to>
                                        <p:strVal val="visible"/>
                                      </p:to>
                                    </p:set>
                                    <p:animEffect transition="in" filter="wipe(left)">
                                      <p:cBhvr>
                                        <p:cTn id="77" dur="500"/>
                                        <p:tgtEl>
                                          <p:spTgt spid="261150"/>
                                        </p:tgtEl>
                                      </p:cBhvr>
                                    </p:animEffect>
                                  </p:childTnLst>
                                </p:cTn>
                              </p:par>
                            </p:childTnLst>
                          </p:cTn>
                        </p:par>
                        <p:par>
                          <p:cTn id="78" fill="hold">
                            <p:stCondLst>
                              <p:cond delay="500"/>
                            </p:stCondLst>
                            <p:childTnLst>
                              <p:par>
                                <p:cTn id="79" presetID="22" presetClass="entr" presetSubtype="8" fill="hold" grpId="0" nodeType="afterEffect">
                                  <p:stCondLst>
                                    <p:cond delay="0"/>
                                  </p:stCondLst>
                                  <p:childTnLst>
                                    <p:set>
                                      <p:cBhvr>
                                        <p:cTn id="80" dur="1" fill="hold">
                                          <p:stCondLst>
                                            <p:cond delay="0"/>
                                          </p:stCondLst>
                                        </p:cTn>
                                        <p:tgtEl>
                                          <p:spTgt spid="261148"/>
                                        </p:tgtEl>
                                        <p:attrNameLst>
                                          <p:attrName>style.visibility</p:attrName>
                                        </p:attrNameLst>
                                      </p:cBhvr>
                                      <p:to>
                                        <p:strVal val="visible"/>
                                      </p:to>
                                    </p:set>
                                    <p:animEffect transition="in" filter="wipe(left)">
                                      <p:cBhvr>
                                        <p:cTn id="81" dur="500"/>
                                        <p:tgtEl>
                                          <p:spTgt spid="26114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1151"/>
                                        </p:tgtEl>
                                        <p:attrNameLst>
                                          <p:attrName>style.visibility</p:attrName>
                                        </p:attrNameLst>
                                      </p:cBhvr>
                                      <p:to>
                                        <p:strVal val="visible"/>
                                      </p:to>
                                    </p:set>
                                    <p:animEffect transition="in" filter="wipe(left)">
                                      <p:cBhvr>
                                        <p:cTn id="86" dur="500"/>
                                        <p:tgtEl>
                                          <p:spTgt spid="261151"/>
                                        </p:tgtEl>
                                      </p:cBhvr>
                                    </p:animEffect>
                                  </p:childTnLst>
                                </p:cTn>
                              </p:par>
                            </p:childTnLst>
                          </p:cTn>
                        </p:par>
                        <p:par>
                          <p:cTn id="87" fill="hold">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261152"/>
                                        </p:tgtEl>
                                        <p:attrNameLst>
                                          <p:attrName>style.visibility</p:attrName>
                                        </p:attrNameLst>
                                      </p:cBhvr>
                                      <p:to>
                                        <p:strVal val="visible"/>
                                      </p:to>
                                    </p:set>
                                    <p:animEffect transition="in" filter="wipe(left)">
                                      <p:cBhvr>
                                        <p:cTn id="90" dur="500"/>
                                        <p:tgtEl>
                                          <p:spTgt spid="261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2" grpId="0"/>
      <p:bldP spid="261123" grpId="0" autoUpdateAnimBg="0"/>
      <p:bldP spid="261124" grpId="0"/>
      <p:bldP spid="261125" grpId="0" animBg="1"/>
      <p:bldP spid="261126" grpId="0" animBg="1"/>
      <p:bldP spid="261127" grpId="0" animBg="1"/>
      <p:bldP spid="261137" grpId="0"/>
      <p:bldP spid="261140" grpId="0" animBg="1"/>
      <p:bldP spid="261141" grpId="0"/>
      <p:bldP spid="261148" grpId="0"/>
      <p:bldP spid="261149" grpId="0"/>
      <p:bldP spid="261150" grpId="0" animBg="1"/>
      <p:bldP spid="261151" grpId="0" animBg="1"/>
      <p:bldP spid="26115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5" name="Text Box 35"/>
          <p:cNvSpPr txBox="1">
            <a:spLocks noChangeArrowheads="1"/>
          </p:cNvSpPr>
          <p:nvPr/>
        </p:nvSpPr>
        <p:spPr bwMode="auto">
          <a:xfrm>
            <a:off x="107950" y="476250"/>
            <a:ext cx="3743325" cy="457200"/>
          </a:xfrm>
          <a:prstGeom prst="rect">
            <a:avLst/>
          </a:prstGeom>
          <a:noFill/>
          <a:ln w="12700" cap="sq">
            <a:noFill/>
            <a:miter lim="800000"/>
            <a:headEnd type="none" w="sm" len="sm"/>
            <a:tailEnd type="none" w="sm" len="sm"/>
          </a:ln>
        </p:spPr>
        <p:txBody>
          <a:bodyPr>
            <a:spAutoFit/>
          </a:bodyPr>
          <a:lstStyle/>
          <a:p>
            <a:pPr>
              <a:defRPr/>
            </a:pPr>
            <a:r>
              <a:rPr kumimoji="1" lang="en-US" altLang="zh-CN" b="1" dirty="0">
                <a:solidFill>
                  <a:srgbClr val="0000FF"/>
                </a:solidFill>
                <a:latin typeface="+mn-ea"/>
                <a:ea typeface="+mn-ea"/>
              </a:rPr>
              <a:t>7.5.4  </a:t>
            </a:r>
            <a:r>
              <a:rPr kumimoji="1" lang="zh-CN" altLang="en-US" b="1" dirty="0">
                <a:solidFill>
                  <a:srgbClr val="0000FF"/>
                </a:solidFill>
                <a:latin typeface="+mn-ea"/>
                <a:ea typeface="+mn-ea"/>
              </a:rPr>
              <a:t>卡诺定理</a:t>
            </a:r>
            <a:r>
              <a:rPr kumimoji="1" lang="zh-CN" altLang="en-US" dirty="0">
                <a:solidFill>
                  <a:srgbClr val="0000FF"/>
                </a:solidFill>
                <a:latin typeface="+mn-ea"/>
                <a:ea typeface="+mn-ea"/>
              </a:rPr>
              <a:t> </a:t>
            </a:r>
            <a:endParaRPr kumimoji="1" lang="zh-CN" altLang="en-US" dirty="0">
              <a:solidFill>
                <a:srgbClr val="0000FF"/>
              </a:solidFill>
              <a:latin typeface="+mn-ea"/>
              <a:ea typeface="+mn-ea"/>
            </a:endParaRPr>
          </a:p>
        </p:txBody>
      </p:sp>
      <p:grpSp>
        <p:nvGrpSpPr>
          <p:cNvPr id="2" name="Group 36"/>
          <p:cNvGrpSpPr/>
          <p:nvPr/>
        </p:nvGrpSpPr>
        <p:grpSpPr bwMode="auto">
          <a:xfrm>
            <a:off x="6280150" y="692150"/>
            <a:ext cx="2514600" cy="2943225"/>
            <a:chOff x="3742" y="258"/>
            <a:chExt cx="1584" cy="1854"/>
          </a:xfrm>
        </p:grpSpPr>
        <p:grpSp>
          <p:nvGrpSpPr>
            <p:cNvPr id="70683" name="Group 37"/>
            <p:cNvGrpSpPr/>
            <p:nvPr/>
          </p:nvGrpSpPr>
          <p:grpSpPr bwMode="auto">
            <a:xfrm>
              <a:off x="3742" y="258"/>
              <a:ext cx="1584" cy="366"/>
              <a:chOff x="3742" y="258"/>
              <a:chExt cx="1584" cy="366"/>
            </a:xfrm>
          </p:grpSpPr>
          <p:sp>
            <p:nvSpPr>
              <p:cNvPr id="67615" name="Rectangle 38"/>
              <p:cNvSpPr>
                <a:spLocks noChangeArrowheads="1"/>
              </p:cNvSpPr>
              <p:nvPr/>
            </p:nvSpPr>
            <p:spPr bwMode="auto">
              <a:xfrm>
                <a:off x="3742" y="288"/>
                <a:ext cx="1584" cy="336"/>
              </a:xfrm>
              <a:prstGeom prst="rect">
                <a:avLst/>
              </a:prstGeom>
              <a:gradFill rotWithShape="1">
                <a:gsLst>
                  <a:gs pos="0">
                    <a:srgbClr val="FF0000"/>
                  </a:gs>
                  <a:gs pos="50000">
                    <a:srgbClr val="FFB6B6"/>
                  </a:gs>
                  <a:gs pos="100000">
                    <a:srgbClr val="FF0000"/>
                  </a:gs>
                </a:gsLst>
                <a:lin ang="5400000" scaled="1"/>
              </a:gradFill>
              <a:ln w="19050">
                <a:noFill/>
                <a:miter lim="800000"/>
              </a:ln>
            </p:spPr>
            <p:txBody>
              <a:bodyPr wrap="none" anchor="ctr"/>
              <a:lstStyle/>
              <a:p>
                <a:pPr algn="ctr">
                  <a:defRPr/>
                </a:pPr>
                <a:endParaRPr lang="zh-CN" altLang="en-US">
                  <a:latin typeface="+mn-ea"/>
                  <a:ea typeface="+mn-ea"/>
                </a:endParaRPr>
              </a:p>
            </p:txBody>
          </p:sp>
          <p:graphicFrame>
            <p:nvGraphicFramePr>
              <p:cNvPr id="70666" name="Object 39"/>
              <p:cNvGraphicFramePr/>
              <p:nvPr/>
            </p:nvGraphicFramePr>
            <p:xfrm>
              <a:off x="4762" y="317"/>
              <a:ext cx="168" cy="263"/>
            </p:xfrm>
            <a:graphic>
              <a:graphicData uri="http://schemas.openxmlformats.org/presentationml/2006/ole">
                <mc:AlternateContent xmlns:mc="http://schemas.openxmlformats.org/markup-compatibility/2006">
                  <mc:Choice xmlns:v="urn:schemas-microsoft-com:vml" Requires="v">
                    <p:oleObj spid="_x0000_s70657" name="公式" r:id="rId1" imgW="6400800" imgH="10058400" progId="Equation.3">
                      <p:embed/>
                    </p:oleObj>
                  </mc:Choice>
                  <mc:Fallback>
                    <p:oleObj name="公式" r:id="rId1" imgW="6400800" imgH="10058400" progId="Equation.3">
                      <p:embed/>
                      <p:pic>
                        <p:nvPicPr>
                          <p:cNvPr id="0" name="Object 39"/>
                          <p:cNvPicPr/>
                          <p:nvPr/>
                        </p:nvPicPr>
                        <p:blipFill>
                          <a:blip r:embed="rId2"/>
                          <a:stretch>
                            <a:fillRect/>
                          </a:stretch>
                        </p:blipFill>
                        <p:spPr>
                          <a:xfrm>
                            <a:off x="4762" y="317"/>
                            <a:ext cx="168" cy="263"/>
                          </a:xfrm>
                          <a:prstGeom prst="rect">
                            <a:avLst/>
                          </a:prstGeom>
                          <a:noFill/>
                          <a:ln w="38100">
                            <a:noFill/>
                          </a:ln>
                        </p:spPr>
                      </p:pic>
                    </p:oleObj>
                  </mc:Fallback>
                </mc:AlternateContent>
              </a:graphicData>
            </a:graphic>
          </p:graphicFrame>
          <p:sp>
            <p:nvSpPr>
              <p:cNvPr id="67616" name="Text Box 40"/>
              <p:cNvSpPr txBox="1">
                <a:spLocks noChangeArrowheads="1"/>
              </p:cNvSpPr>
              <p:nvPr/>
            </p:nvSpPr>
            <p:spPr bwMode="auto">
              <a:xfrm>
                <a:off x="3934" y="258"/>
                <a:ext cx="888" cy="323"/>
              </a:xfrm>
              <a:prstGeom prst="rect">
                <a:avLst/>
              </a:prstGeom>
              <a:noFill/>
              <a:ln w="38100">
                <a:noFill/>
                <a:miter lim="800000"/>
              </a:ln>
            </p:spPr>
            <p:txBody>
              <a:bodyPr wrap="none">
                <a:spAutoFit/>
              </a:bodyPr>
              <a:lstStyle/>
              <a:p>
                <a:pPr>
                  <a:lnSpc>
                    <a:spcPct val="115000"/>
                  </a:lnSpc>
                  <a:defRPr/>
                </a:pPr>
                <a:r>
                  <a:rPr kumimoji="1" lang="zh-CN" altLang="en-US" b="1">
                    <a:latin typeface="+mn-ea"/>
                    <a:ea typeface="+mn-ea"/>
                  </a:rPr>
                  <a:t>高温热源</a:t>
                </a:r>
                <a:endParaRPr kumimoji="1" lang="zh-CN" altLang="en-US" b="1">
                  <a:latin typeface="+mn-ea"/>
                  <a:ea typeface="+mn-ea"/>
                </a:endParaRPr>
              </a:p>
            </p:txBody>
          </p:sp>
        </p:grpSp>
        <p:grpSp>
          <p:nvGrpSpPr>
            <p:cNvPr id="70684" name="Group 41"/>
            <p:cNvGrpSpPr/>
            <p:nvPr/>
          </p:nvGrpSpPr>
          <p:grpSpPr bwMode="auto">
            <a:xfrm>
              <a:off x="3742" y="1746"/>
              <a:ext cx="1584" cy="366"/>
              <a:chOff x="3742" y="1746"/>
              <a:chExt cx="1584" cy="366"/>
            </a:xfrm>
          </p:grpSpPr>
          <p:sp>
            <p:nvSpPr>
              <p:cNvPr id="67613" name="Rectangle 42"/>
              <p:cNvSpPr>
                <a:spLocks noChangeArrowheads="1"/>
              </p:cNvSpPr>
              <p:nvPr/>
            </p:nvSpPr>
            <p:spPr bwMode="auto">
              <a:xfrm>
                <a:off x="3742" y="1776"/>
                <a:ext cx="1584" cy="336"/>
              </a:xfrm>
              <a:prstGeom prst="rect">
                <a:avLst/>
              </a:prstGeom>
              <a:gradFill rotWithShape="1">
                <a:gsLst>
                  <a:gs pos="0">
                    <a:srgbClr val="FF0000"/>
                  </a:gs>
                  <a:gs pos="50000">
                    <a:srgbClr val="FFB6B6"/>
                  </a:gs>
                  <a:gs pos="100000">
                    <a:srgbClr val="FF0000"/>
                  </a:gs>
                </a:gsLst>
                <a:lin ang="5400000" scaled="1"/>
              </a:gradFill>
              <a:ln w="19050">
                <a:noFill/>
                <a:miter lim="800000"/>
              </a:ln>
            </p:spPr>
            <p:txBody>
              <a:bodyPr wrap="none" anchor="ctr"/>
              <a:lstStyle/>
              <a:p>
                <a:pPr algn="ctr">
                  <a:defRPr/>
                </a:pPr>
                <a:endParaRPr lang="zh-CN" altLang="en-US">
                  <a:latin typeface="+mn-ea"/>
                  <a:ea typeface="+mn-ea"/>
                </a:endParaRPr>
              </a:p>
            </p:txBody>
          </p:sp>
          <p:graphicFrame>
            <p:nvGraphicFramePr>
              <p:cNvPr id="70665" name="Object 43"/>
              <p:cNvGraphicFramePr/>
              <p:nvPr/>
            </p:nvGraphicFramePr>
            <p:xfrm>
              <a:off x="4790" y="1814"/>
              <a:ext cx="193" cy="263"/>
            </p:xfrm>
            <a:graphic>
              <a:graphicData uri="http://schemas.openxmlformats.org/presentationml/2006/ole">
                <mc:AlternateContent xmlns:mc="http://schemas.openxmlformats.org/markup-compatibility/2006">
                  <mc:Choice xmlns:v="urn:schemas-microsoft-com:vml" Requires="v">
                    <p:oleObj spid="_x0000_s70665" name="公式" r:id="rId3" imgW="7315200" imgH="10058400" progId="Equation.3">
                      <p:embed/>
                    </p:oleObj>
                  </mc:Choice>
                  <mc:Fallback>
                    <p:oleObj name="公式" r:id="rId3" imgW="7315200" imgH="10058400" progId="Equation.3">
                      <p:embed/>
                      <p:pic>
                        <p:nvPicPr>
                          <p:cNvPr id="0" name="Object 43"/>
                          <p:cNvPicPr/>
                          <p:nvPr/>
                        </p:nvPicPr>
                        <p:blipFill>
                          <a:blip r:embed="rId4"/>
                          <a:stretch>
                            <a:fillRect/>
                          </a:stretch>
                        </p:blipFill>
                        <p:spPr>
                          <a:xfrm>
                            <a:off x="4790" y="1814"/>
                            <a:ext cx="193" cy="263"/>
                          </a:xfrm>
                          <a:prstGeom prst="rect">
                            <a:avLst/>
                          </a:prstGeom>
                          <a:noFill/>
                          <a:ln w="9525">
                            <a:noFill/>
                          </a:ln>
                        </p:spPr>
                      </p:pic>
                    </p:oleObj>
                  </mc:Fallback>
                </mc:AlternateContent>
              </a:graphicData>
            </a:graphic>
          </p:graphicFrame>
          <p:sp>
            <p:nvSpPr>
              <p:cNvPr id="67614" name="Text Box 44"/>
              <p:cNvSpPr txBox="1">
                <a:spLocks noChangeArrowheads="1"/>
              </p:cNvSpPr>
              <p:nvPr/>
            </p:nvSpPr>
            <p:spPr bwMode="auto">
              <a:xfrm>
                <a:off x="3934" y="1746"/>
                <a:ext cx="888" cy="323"/>
              </a:xfrm>
              <a:prstGeom prst="rect">
                <a:avLst/>
              </a:prstGeom>
              <a:noFill/>
              <a:ln w="9525">
                <a:noFill/>
                <a:miter lim="800000"/>
              </a:ln>
            </p:spPr>
            <p:txBody>
              <a:bodyPr wrap="none">
                <a:spAutoFit/>
              </a:bodyPr>
              <a:lstStyle/>
              <a:p>
                <a:pPr>
                  <a:lnSpc>
                    <a:spcPct val="115000"/>
                  </a:lnSpc>
                  <a:defRPr/>
                </a:pPr>
                <a:r>
                  <a:rPr kumimoji="1" lang="zh-CN" altLang="en-US" b="1">
                    <a:latin typeface="+mn-ea"/>
                    <a:ea typeface="+mn-ea"/>
                  </a:rPr>
                  <a:t>低温热源</a:t>
                </a:r>
                <a:endParaRPr kumimoji="1" lang="zh-CN" altLang="en-US" b="1">
                  <a:latin typeface="+mn-ea"/>
                  <a:ea typeface="+mn-ea"/>
                </a:endParaRPr>
              </a:p>
            </p:txBody>
          </p:sp>
        </p:grpSp>
      </p:grpSp>
      <p:sp>
        <p:nvSpPr>
          <p:cNvPr id="104493" name="Oval 45"/>
          <p:cNvSpPr>
            <a:spLocks noChangeArrowheads="1"/>
          </p:cNvSpPr>
          <p:nvPr/>
        </p:nvSpPr>
        <p:spPr bwMode="auto">
          <a:xfrm>
            <a:off x="6889750" y="1577975"/>
            <a:ext cx="1219200" cy="1143000"/>
          </a:xfrm>
          <a:prstGeom prst="ellipse">
            <a:avLst/>
          </a:prstGeom>
          <a:gradFill rotWithShape="1">
            <a:gsLst>
              <a:gs pos="0">
                <a:srgbClr val="FF9933"/>
              </a:gs>
              <a:gs pos="100000">
                <a:srgbClr val="92581D"/>
              </a:gs>
            </a:gsLst>
            <a:path path="shape">
              <a:fillToRect l="50000" t="50000" r="50000" b="50000"/>
            </a:path>
          </a:gradFill>
          <a:ln w="9525">
            <a:noFill/>
            <a:round/>
          </a:ln>
        </p:spPr>
        <p:txBody>
          <a:bodyPr wrap="none" anchor="ctr"/>
          <a:lstStyle/>
          <a:p>
            <a:pPr algn="ctr">
              <a:defRPr/>
            </a:pPr>
            <a:endParaRPr lang="zh-CN" altLang="en-US">
              <a:latin typeface="+mn-ea"/>
              <a:ea typeface="+mn-ea"/>
            </a:endParaRPr>
          </a:p>
        </p:txBody>
      </p:sp>
      <p:grpSp>
        <p:nvGrpSpPr>
          <p:cNvPr id="5" name="Group 46"/>
          <p:cNvGrpSpPr/>
          <p:nvPr/>
        </p:nvGrpSpPr>
        <p:grpSpPr bwMode="auto">
          <a:xfrm>
            <a:off x="7499350" y="1196975"/>
            <a:ext cx="715963" cy="685800"/>
            <a:chOff x="1008" y="2784"/>
            <a:chExt cx="451" cy="432"/>
          </a:xfrm>
        </p:grpSpPr>
        <p:graphicFrame>
          <p:nvGraphicFramePr>
            <p:cNvPr id="70664" name="Object 47"/>
            <p:cNvGraphicFramePr>
              <a:graphicFrameLocks noChangeAspect="1"/>
            </p:cNvGraphicFramePr>
            <p:nvPr/>
          </p:nvGraphicFramePr>
          <p:xfrm>
            <a:off x="1152" y="2784"/>
            <a:ext cx="307" cy="326"/>
          </p:xfrm>
          <a:graphic>
            <a:graphicData uri="http://schemas.openxmlformats.org/presentationml/2006/ole">
              <mc:AlternateContent xmlns:mc="http://schemas.openxmlformats.org/markup-compatibility/2006">
                <mc:Choice xmlns:v="urn:schemas-microsoft-com:vml" Requires="v">
                  <p:oleObj spid="_x0000_s70664" name="Equation" r:id="rId5" imgW="4876800" imgH="5181600" progId="Equation.3">
                    <p:embed/>
                  </p:oleObj>
                </mc:Choice>
                <mc:Fallback>
                  <p:oleObj name="Equation" r:id="rId5" imgW="4876800" imgH="5181600" progId="Equation.3">
                    <p:embed/>
                    <p:pic>
                      <p:nvPicPr>
                        <p:cNvPr id="0" name="Object 47"/>
                        <p:cNvPicPr>
                          <a:picLocks noChangeAspect="1"/>
                        </p:cNvPicPr>
                        <p:nvPr/>
                      </p:nvPicPr>
                      <p:blipFill>
                        <a:blip r:embed="rId6"/>
                        <a:stretch>
                          <a:fillRect/>
                        </a:stretch>
                      </p:blipFill>
                      <p:spPr>
                        <a:xfrm>
                          <a:off x="1152" y="2784"/>
                          <a:ext cx="307" cy="326"/>
                        </a:xfrm>
                        <a:prstGeom prst="rect">
                          <a:avLst/>
                        </a:prstGeom>
                        <a:noFill/>
                        <a:ln w="9525">
                          <a:noFill/>
                        </a:ln>
                      </p:spPr>
                    </p:pic>
                  </p:oleObj>
                </mc:Fallback>
              </mc:AlternateContent>
            </a:graphicData>
          </a:graphic>
        </p:graphicFrame>
        <p:sp>
          <p:nvSpPr>
            <p:cNvPr id="67610" name="Line 48"/>
            <p:cNvSpPr>
              <a:spLocks noChangeShapeType="1"/>
            </p:cNvSpPr>
            <p:nvPr/>
          </p:nvSpPr>
          <p:spPr bwMode="auto">
            <a:xfrm>
              <a:off x="1008" y="2832"/>
              <a:ext cx="0" cy="384"/>
            </a:xfrm>
            <a:prstGeom prst="line">
              <a:avLst/>
            </a:prstGeom>
            <a:noFill/>
            <a:ln w="76200">
              <a:solidFill>
                <a:srgbClr val="FF0000"/>
              </a:solidFill>
              <a:round/>
              <a:tailEnd type="triangle" w="med" len="med"/>
            </a:ln>
          </p:spPr>
          <p:txBody>
            <a:bodyPr/>
            <a:lstStyle/>
            <a:p>
              <a:pPr>
                <a:defRPr/>
              </a:pPr>
              <a:endParaRPr lang="zh-CN" altLang="en-US">
                <a:latin typeface="+mn-ea"/>
                <a:ea typeface="+mn-ea"/>
              </a:endParaRPr>
            </a:p>
          </p:txBody>
        </p:sp>
      </p:grpSp>
      <p:grpSp>
        <p:nvGrpSpPr>
          <p:cNvPr id="6" name="Group 49"/>
          <p:cNvGrpSpPr/>
          <p:nvPr/>
        </p:nvGrpSpPr>
        <p:grpSpPr bwMode="auto">
          <a:xfrm>
            <a:off x="7499350" y="1944688"/>
            <a:ext cx="1431925" cy="425450"/>
            <a:chOff x="1008" y="3255"/>
            <a:chExt cx="902" cy="268"/>
          </a:xfrm>
        </p:grpSpPr>
        <p:graphicFrame>
          <p:nvGraphicFramePr>
            <p:cNvPr id="70663" name="Object 50"/>
            <p:cNvGraphicFramePr>
              <a:graphicFrameLocks noChangeAspect="1"/>
            </p:cNvGraphicFramePr>
            <p:nvPr/>
          </p:nvGraphicFramePr>
          <p:xfrm>
            <a:off x="1604" y="3255"/>
            <a:ext cx="306" cy="268"/>
          </p:xfrm>
          <a:graphic>
            <a:graphicData uri="http://schemas.openxmlformats.org/presentationml/2006/ole">
              <mc:AlternateContent xmlns:mc="http://schemas.openxmlformats.org/markup-compatibility/2006">
                <mc:Choice xmlns:v="urn:schemas-microsoft-com:vml" Requires="v">
                  <p:oleObj spid="_x0000_s70663" name="公式" r:id="rId7" imgW="4876800" imgH="4267200" progId="Equation.3">
                    <p:embed/>
                  </p:oleObj>
                </mc:Choice>
                <mc:Fallback>
                  <p:oleObj name="公式" r:id="rId7" imgW="4876800" imgH="4267200" progId="Equation.3">
                    <p:embed/>
                    <p:pic>
                      <p:nvPicPr>
                        <p:cNvPr id="0" name="Object 50"/>
                        <p:cNvPicPr>
                          <a:picLocks noChangeAspect="1"/>
                        </p:cNvPicPr>
                        <p:nvPr/>
                      </p:nvPicPr>
                      <p:blipFill>
                        <a:blip r:embed="rId8"/>
                        <a:stretch>
                          <a:fillRect/>
                        </a:stretch>
                      </p:blipFill>
                      <p:spPr>
                        <a:xfrm>
                          <a:off x="1604" y="3255"/>
                          <a:ext cx="306" cy="268"/>
                        </a:xfrm>
                        <a:prstGeom prst="rect">
                          <a:avLst/>
                        </a:prstGeom>
                        <a:noFill/>
                        <a:ln w="9525">
                          <a:noFill/>
                        </a:ln>
                      </p:spPr>
                    </p:pic>
                  </p:oleObj>
                </mc:Fallback>
              </mc:AlternateContent>
            </a:graphicData>
          </a:graphic>
        </p:graphicFrame>
        <p:sp>
          <p:nvSpPr>
            <p:cNvPr id="67609" name="Line 51"/>
            <p:cNvSpPr>
              <a:spLocks noChangeShapeType="1"/>
            </p:cNvSpPr>
            <p:nvPr/>
          </p:nvSpPr>
          <p:spPr bwMode="auto">
            <a:xfrm>
              <a:off x="1008" y="3360"/>
              <a:ext cx="624" cy="0"/>
            </a:xfrm>
            <a:prstGeom prst="line">
              <a:avLst/>
            </a:prstGeom>
            <a:noFill/>
            <a:ln w="76200">
              <a:solidFill>
                <a:srgbClr val="FF0000"/>
              </a:solidFill>
              <a:round/>
              <a:tailEnd type="triangle" w="med" len="med"/>
            </a:ln>
          </p:spPr>
          <p:txBody>
            <a:bodyPr/>
            <a:lstStyle/>
            <a:p>
              <a:pPr>
                <a:defRPr/>
              </a:pPr>
              <a:endParaRPr lang="zh-CN" altLang="en-US">
                <a:latin typeface="+mn-ea"/>
                <a:ea typeface="+mn-ea"/>
              </a:endParaRPr>
            </a:p>
          </p:txBody>
        </p:sp>
      </p:grpSp>
      <p:grpSp>
        <p:nvGrpSpPr>
          <p:cNvPr id="7" name="Group 52"/>
          <p:cNvGrpSpPr/>
          <p:nvPr/>
        </p:nvGrpSpPr>
        <p:grpSpPr bwMode="auto">
          <a:xfrm>
            <a:off x="7499350" y="2416175"/>
            <a:ext cx="715963" cy="685800"/>
            <a:chOff x="1008" y="3552"/>
            <a:chExt cx="451" cy="432"/>
          </a:xfrm>
        </p:grpSpPr>
        <p:graphicFrame>
          <p:nvGraphicFramePr>
            <p:cNvPr id="70662" name="Object 53"/>
            <p:cNvGraphicFramePr>
              <a:graphicFrameLocks noChangeAspect="1"/>
            </p:cNvGraphicFramePr>
            <p:nvPr/>
          </p:nvGraphicFramePr>
          <p:xfrm>
            <a:off x="1152" y="3648"/>
            <a:ext cx="307" cy="326"/>
          </p:xfrm>
          <a:graphic>
            <a:graphicData uri="http://schemas.openxmlformats.org/presentationml/2006/ole">
              <mc:AlternateContent xmlns:mc="http://schemas.openxmlformats.org/markup-compatibility/2006">
                <mc:Choice xmlns:v="urn:schemas-microsoft-com:vml" Requires="v">
                  <p:oleObj spid="_x0000_s70662" name="Equation" r:id="rId9" imgW="4876800" imgH="5181600" progId="Equation.3">
                    <p:embed/>
                  </p:oleObj>
                </mc:Choice>
                <mc:Fallback>
                  <p:oleObj name="Equation" r:id="rId9" imgW="4876800" imgH="5181600" progId="Equation.3">
                    <p:embed/>
                    <p:pic>
                      <p:nvPicPr>
                        <p:cNvPr id="0" name="Object 53"/>
                        <p:cNvPicPr>
                          <a:picLocks noChangeAspect="1"/>
                        </p:cNvPicPr>
                        <p:nvPr/>
                      </p:nvPicPr>
                      <p:blipFill>
                        <a:blip r:embed="rId10"/>
                        <a:stretch>
                          <a:fillRect/>
                        </a:stretch>
                      </p:blipFill>
                      <p:spPr>
                        <a:xfrm>
                          <a:off x="1152" y="3648"/>
                          <a:ext cx="307" cy="326"/>
                        </a:xfrm>
                        <a:prstGeom prst="rect">
                          <a:avLst/>
                        </a:prstGeom>
                        <a:noFill/>
                        <a:ln w="9525">
                          <a:noFill/>
                        </a:ln>
                      </p:spPr>
                    </p:pic>
                  </p:oleObj>
                </mc:Fallback>
              </mc:AlternateContent>
            </a:graphicData>
          </a:graphic>
        </p:graphicFrame>
        <p:sp>
          <p:nvSpPr>
            <p:cNvPr id="67608" name="Line 54"/>
            <p:cNvSpPr>
              <a:spLocks noChangeShapeType="1"/>
            </p:cNvSpPr>
            <p:nvPr/>
          </p:nvSpPr>
          <p:spPr bwMode="auto">
            <a:xfrm>
              <a:off x="1008" y="3552"/>
              <a:ext cx="0" cy="432"/>
            </a:xfrm>
            <a:prstGeom prst="line">
              <a:avLst/>
            </a:prstGeom>
            <a:noFill/>
            <a:ln w="76200">
              <a:solidFill>
                <a:srgbClr val="FF0000"/>
              </a:solidFill>
              <a:round/>
              <a:tailEnd type="triangle" w="med" len="med"/>
            </a:ln>
          </p:spPr>
          <p:txBody>
            <a:bodyPr/>
            <a:lstStyle/>
            <a:p>
              <a:pPr>
                <a:defRPr/>
              </a:pPr>
              <a:endParaRPr lang="zh-CN" altLang="en-US">
                <a:latin typeface="+mn-ea"/>
                <a:ea typeface="+mn-ea"/>
              </a:endParaRPr>
            </a:p>
          </p:txBody>
        </p:sp>
      </p:grpSp>
      <p:graphicFrame>
        <p:nvGraphicFramePr>
          <p:cNvPr id="104503" name="Object 55"/>
          <p:cNvGraphicFramePr>
            <a:graphicFrameLocks noChangeAspect="1"/>
          </p:cNvGraphicFramePr>
          <p:nvPr/>
        </p:nvGraphicFramePr>
        <p:xfrm>
          <a:off x="1714500" y="2428875"/>
          <a:ext cx="2173288" cy="798513"/>
        </p:xfrm>
        <a:graphic>
          <a:graphicData uri="http://schemas.openxmlformats.org/presentationml/2006/ole">
            <mc:AlternateContent xmlns:mc="http://schemas.openxmlformats.org/markup-compatibility/2006">
              <mc:Choice xmlns:v="urn:schemas-microsoft-com:vml" Requires="v">
                <p:oleObj spid="_x0000_s70658" name="公式" r:id="rId11" imgW="28956000" imgH="10668000" progId="Equation.3">
                  <p:embed/>
                </p:oleObj>
              </mc:Choice>
              <mc:Fallback>
                <p:oleObj name="公式" r:id="rId11" imgW="28956000" imgH="10668000" progId="Equation.3">
                  <p:embed/>
                  <p:pic>
                    <p:nvPicPr>
                      <p:cNvPr id="0" name="Object 55"/>
                      <p:cNvPicPr>
                        <a:picLocks noChangeAspect="1"/>
                      </p:cNvPicPr>
                      <p:nvPr/>
                    </p:nvPicPr>
                    <p:blipFill>
                      <a:blip r:embed="rId12"/>
                      <a:stretch>
                        <a:fillRect/>
                      </a:stretch>
                    </p:blipFill>
                    <p:spPr>
                      <a:xfrm>
                        <a:off x="1714500" y="2428875"/>
                        <a:ext cx="2173288" cy="798513"/>
                      </a:xfrm>
                      <a:prstGeom prst="rect">
                        <a:avLst/>
                      </a:prstGeom>
                      <a:noFill/>
                      <a:ln w="9525">
                        <a:noFill/>
                      </a:ln>
                    </p:spPr>
                  </p:pic>
                </p:oleObj>
              </mc:Fallback>
            </mc:AlternateContent>
          </a:graphicData>
        </a:graphic>
      </p:graphicFrame>
      <p:sp>
        <p:nvSpPr>
          <p:cNvPr id="104504" name="Rectangle 56"/>
          <p:cNvSpPr>
            <a:spLocks noChangeArrowheads="1"/>
          </p:cNvSpPr>
          <p:nvPr/>
        </p:nvSpPr>
        <p:spPr bwMode="auto">
          <a:xfrm>
            <a:off x="107950" y="987425"/>
            <a:ext cx="6121400" cy="1354138"/>
          </a:xfrm>
          <a:prstGeom prst="rect">
            <a:avLst/>
          </a:prstGeom>
          <a:noFill/>
          <a:ln w="9525">
            <a:noFill/>
            <a:miter lim="800000"/>
          </a:ln>
        </p:spPr>
        <p:txBody>
          <a:bodyPr>
            <a:spAutoFit/>
          </a:bodyPr>
          <a:lstStyle/>
          <a:p>
            <a:pPr marL="352425" indent="-352425">
              <a:lnSpc>
                <a:spcPct val="115000"/>
              </a:lnSpc>
              <a:defRPr/>
            </a:pPr>
            <a:r>
              <a:rPr kumimoji="1" lang="en-US" altLang="zh-CN" b="1">
                <a:latin typeface="+mn-ea"/>
                <a:ea typeface="+mn-ea"/>
              </a:rPr>
              <a:t>1. </a:t>
            </a:r>
            <a:r>
              <a:rPr kumimoji="1" lang="zh-CN" altLang="en-US" b="1">
                <a:latin typeface="+mn-ea"/>
                <a:ea typeface="+mn-ea"/>
              </a:rPr>
              <a:t>在温度分别为 </a:t>
            </a:r>
            <a:r>
              <a:rPr kumimoji="1" lang="en-US" altLang="zh-CN" b="1" i="1">
                <a:solidFill>
                  <a:srgbClr val="FF6600"/>
                </a:solidFill>
                <a:latin typeface="+mn-ea"/>
                <a:ea typeface="+mn-ea"/>
              </a:rPr>
              <a:t>T</a:t>
            </a:r>
            <a:r>
              <a:rPr kumimoji="1" lang="en-US" altLang="zh-CN" b="1" baseline="-25000">
                <a:solidFill>
                  <a:srgbClr val="FF6600"/>
                </a:solidFill>
                <a:latin typeface="+mn-ea"/>
                <a:ea typeface="+mn-ea"/>
              </a:rPr>
              <a:t>1</a:t>
            </a:r>
            <a:r>
              <a:rPr kumimoji="1" lang="en-US" altLang="zh-CN" b="1" baseline="-25000">
                <a:latin typeface="+mn-ea"/>
                <a:ea typeface="+mn-ea"/>
              </a:rPr>
              <a:t> </a:t>
            </a:r>
            <a:r>
              <a:rPr kumimoji="1" lang="zh-CN" altLang="en-US" b="1">
                <a:latin typeface="+mn-ea"/>
                <a:ea typeface="+mn-ea"/>
              </a:rPr>
              <a:t>与 </a:t>
            </a:r>
            <a:r>
              <a:rPr kumimoji="1" lang="en-US" altLang="zh-CN" b="1" i="1">
                <a:solidFill>
                  <a:srgbClr val="FF6600"/>
                </a:solidFill>
                <a:latin typeface="+mn-ea"/>
                <a:ea typeface="+mn-ea"/>
              </a:rPr>
              <a:t>T</a:t>
            </a:r>
            <a:r>
              <a:rPr kumimoji="1" lang="en-US" altLang="zh-CN" b="1" baseline="-25000">
                <a:solidFill>
                  <a:srgbClr val="FF6600"/>
                </a:solidFill>
                <a:latin typeface="+mn-ea"/>
                <a:ea typeface="+mn-ea"/>
              </a:rPr>
              <a:t>2 </a:t>
            </a:r>
            <a:r>
              <a:rPr kumimoji="1" lang="zh-CN" altLang="en-US" b="1">
                <a:latin typeface="+mn-ea"/>
                <a:ea typeface="+mn-ea"/>
              </a:rPr>
              <a:t>的两个给定热源 之间工作的</a:t>
            </a:r>
            <a:r>
              <a:rPr kumimoji="1" lang="zh-CN" altLang="en-US" b="1">
                <a:solidFill>
                  <a:srgbClr val="009900"/>
                </a:solidFill>
                <a:latin typeface="+mn-ea"/>
                <a:ea typeface="+mn-ea"/>
              </a:rPr>
              <a:t>一切可逆热机</a:t>
            </a:r>
            <a:r>
              <a:rPr kumimoji="1" lang="zh-CN" altLang="en-US" b="1">
                <a:latin typeface="+mn-ea"/>
                <a:ea typeface="+mn-ea"/>
              </a:rPr>
              <a:t>，其效率相同，都</a:t>
            </a:r>
            <a:r>
              <a:rPr kumimoji="1" lang="zh-CN" altLang="en-US" b="1">
                <a:solidFill>
                  <a:srgbClr val="FF6600"/>
                </a:solidFill>
                <a:latin typeface="+mn-ea"/>
                <a:ea typeface="+mn-ea"/>
              </a:rPr>
              <a:t>等于</a:t>
            </a:r>
            <a:r>
              <a:rPr kumimoji="1" lang="zh-CN" altLang="en-US" b="1">
                <a:latin typeface="+mn-ea"/>
                <a:ea typeface="+mn-ea"/>
              </a:rPr>
              <a:t>理想气体可逆卡诺热机的效率，即  </a:t>
            </a:r>
            <a:endParaRPr kumimoji="1" lang="zh-CN" altLang="en-US" b="1">
              <a:latin typeface="+mn-ea"/>
              <a:ea typeface="+mn-ea"/>
            </a:endParaRPr>
          </a:p>
        </p:txBody>
      </p:sp>
      <p:sp>
        <p:nvSpPr>
          <p:cNvPr id="104510" name="Rectangle 62"/>
          <p:cNvSpPr>
            <a:spLocks noChangeArrowheads="1"/>
          </p:cNvSpPr>
          <p:nvPr/>
        </p:nvSpPr>
        <p:spPr bwMode="auto">
          <a:xfrm>
            <a:off x="1547813" y="3536950"/>
            <a:ext cx="2376487" cy="396875"/>
          </a:xfrm>
          <a:prstGeom prst="rect">
            <a:avLst/>
          </a:prstGeom>
          <a:solidFill>
            <a:srgbClr val="CCFFCC"/>
          </a:solidFill>
          <a:ln w="9525">
            <a:noFill/>
            <a:miter lim="800000"/>
          </a:ln>
        </p:spPr>
        <p:txBody>
          <a:bodyPr>
            <a:spAutoFit/>
          </a:bodyPr>
          <a:lstStyle/>
          <a:p>
            <a:pPr algn="ctr">
              <a:spcBef>
                <a:spcPct val="50000"/>
              </a:spcBef>
              <a:defRPr/>
            </a:pPr>
            <a:r>
              <a:rPr kumimoji="1" lang="zh-CN" altLang="en-US" sz="2000" b="1" dirty="0">
                <a:solidFill>
                  <a:srgbClr val="800000"/>
                </a:solidFill>
                <a:latin typeface="+mn-ea"/>
                <a:ea typeface="+mn-ea"/>
              </a:rPr>
              <a:t>要增大热源的温差 </a:t>
            </a:r>
            <a:endParaRPr kumimoji="1" lang="zh-CN" altLang="en-US" sz="2000" b="1" dirty="0">
              <a:solidFill>
                <a:srgbClr val="800000"/>
              </a:solidFill>
              <a:latin typeface="+mn-ea"/>
              <a:ea typeface="+mn-ea"/>
            </a:endParaRPr>
          </a:p>
        </p:txBody>
      </p:sp>
      <p:grpSp>
        <p:nvGrpSpPr>
          <p:cNvPr id="8" name="Group 64"/>
          <p:cNvGrpSpPr/>
          <p:nvPr/>
        </p:nvGrpSpPr>
        <p:grpSpPr bwMode="auto">
          <a:xfrm>
            <a:off x="1720850" y="5664200"/>
            <a:ext cx="1698625" cy="436563"/>
            <a:chOff x="1151" y="3748"/>
            <a:chExt cx="1070" cy="275"/>
          </a:xfrm>
        </p:grpSpPr>
        <p:graphicFrame>
          <p:nvGraphicFramePr>
            <p:cNvPr id="70660" name="Object 65"/>
            <p:cNvGraphicFramePr>
              <a:graphicFrameLocks noChangeAspect="1"/>
            </p:cNvGraphicFramePr>
            <p:nvPr/>
          </p:nvGraphicFramePr>
          <p:xfrm>
            <a:off x="1151" y="3748"/>
            <a:ext cx="1070" cy="275"/>
          </p:xfrm>
          <a:graphic>
            <a:graphicData uri="http://schemas.openxmlformats.org/presentationml/2006/ole">
              <mc:AlternateContent xmlns:mc="http://schemas.openxmlformats.org/markup-compatibility/2006">
                <mc:Choice xmlns:v="urn:schemas-microsoft-com:vml" Requires="v">
                  <p:oleObj spid="_x0000_s70660" name="公式" r:id="rId13" imgW="21336000" imgH="5486400" progId="Equation.3">
                    <p:embed/>
                  </p:oleObj>
                </mc:Choice>
                <mc:Fallback>
                  <p:oleObj name="公式" r:id="rId13" imgW="21336000" imgH="5486400" progId="Equation.3">
                    <p:embed/>
                    <p:pic>
                      <p:nvPicPr>
                        <p:cNvPr id="0" name="Object 65"/>
                        <p:cNvPicPr>
                          <a:picLocks noChangeAspect="1"/>
                        </p:cNvPicPr>
                        <p:nvPr/>
                      </p:nvPicPr>
                      <p:blipFill>
                        <a:blip r:embed="rId14"/>
                        <a:stretch>
                          <a:fillRect/>
                        </a:stretch>
                      </p:blipFill>
                      <p:spPr>
                        <a:xfrm>
                          <a:off x="1151" y="3748"/>
                          <a:ext cx="1070" cy="275"/>
                        </a:xfrm>
                        <a:prstGeom prst="rect">
                          <a:avLst/>
                        </a:prstGeom>
                        <a:noFill/>
                        <a:ln w="9525">
                          <a:noFill/>
                        </a:ln>
                      </p:spPr>
                    </p:pic>
                  </p:oleObj>
                </mc:Fallback>
              </mc:AlternateContent>
            </a:graphicData>
          </a:graphic>
        </p:graphicFrame>
        <p:graphicFrame>
          <p:nvGraphicFramePr>
            <p:cNvPr id="70661" name="Object 66"/>
            <p:cNvGraphicFramePr/>
            <p:nvPr/>
          </p:nvGraphicFramePr>
          <p:xfrm>
            <a:off x="1670" y="3799"/>
            <a:ext cx="145" cy="145"/>
          </p:xfrm>
          <a:graphic>
            <a:graphicData uri="http://schemas.openxmlformats.org/presentationml/2006/ole">
              <mc:AlternateContent xmlns:mc="http://schemas.openxmlformats.org/markup-compatibility/2006">
                <mc:Choice xmlns:v="urn:schemas-microsoft-com:vml" Requires="v">
                  <p:oleObj spid="_x0000_s70661" name="公式" r:id="rId15" imgW="5486400" imgH="5486400" progId="Equation.3">
                    <p:embed/>
                  </p:oleObj>
                </mc:Choice>
                <mc:Fallback>
                  <p:oleObj name="公式" r:id="rId15" imgW="5486400" imgH="5486400" progId="Equation.3">
                    <p:embed/>
                    <p:pic>
                      <p:nvPicPr>
                        <p:cNvPr id="0" name="Object 66"/>
                        <p:cNvPicPr/>
                        <p:nvPr/>
                      </p:nvPicPr>
                      <p:blipFill>
                        <a:blip r:embed="rId16"/>
                        <a:stretch>
                          <a:fillRect/>
                        </a:stretch>
                      </p:blipFill>
                      <p:spPr>
                        <a:xfrm>
                          <a:off x="1670" y="3799"/>
                          <a:ext cx="145" cy="145"/>
                        </a:xfrm>
                        <a:prstGeom prst="rect">
                          <a:avLst/>
                        </a:prstGeom>
                        <a:noFill/>
                        <a:ln w="9525">
                          <a:noFill/>
                        </a:ln>
                      </p:spPr>
                    </p:pic>
                  </p:oleObj>
                </mc:Fallback>
              </mc:AlternateContent>
            </a:graphicData>
          </a:graphic>
        </p:graphicFrame>
        <p:sp>
          <p:nvSpPr>
            <p:cNvPr id="67607" name="Line 67"/>
            <p:cNvSpPr>
              <a:spLocks noChangeShapeType="1"/>
            </p:cNvSpPr>
            <p:nvPr/>
          </p:nvSpPr>
          <p:spPr bwMode="auto">
            <a:xfrm flipH="1">
              <a:off x="1707" y="3775"/>
              <a:ext cx="48" cy="195"/>
            </a:xfrm>
            <a:prstGeom prst="line">
              <a:avLst/>
            </a:prstGeom>
            <a:noFill/>
            <a:ln w="28575">
              <a:solidFill>
                <a:srgbClr val="000099"/>
              </a:solidFill>
              <a:round/>
            </a:ln>
          </p:spPr>
          <p:txBody>
            <a:bodyPr/>
            <a:lstStyle/>
            <a:p>
              <a:pPr>
                <a:defRPr/>
              </a:pPr>
              <a:endParaRPr lang="zh-CN" altLang="en-US">
                <a:latin typeface="+mn-ea"/>
                <a:ea typeface="+mn-ea"/>
              </a:endParaRPr>
            </a:p>
          </p:txBody>
        </p:sp>
      </p:grpSp>
      <p:sp>
        <p:nvSpPr>
          <p:cNvPr id="104516" name="Rectangle 68"/>
          <p:cNvSpPr>
            <a:spLocks noChangeArrowheads="1"/>
          </p:cNvSpPr>
          <p:nvPr/>
        </p:nvSpPr>
        <p:spPr bwMode="auto">
          <a:xfrm>
            <a:off x="179388" y="4076700"/>
            <a:ext cx="5106987" cy="1366838"/>
          </a:xfrm>
          <a:prstGeom prst="rect">
            <a:avLst/>
          </a:prstGeom>
          <a:noFill/>
          <a:ln w="9525">
            <a:noFill/>
            <a:miter lim="800000"/>
          </a:ln>
        </p:spPr>
        <p:txBody>
          <a:bodyPr>
            <a:spAutoFit/>
          </a:bodyPr>
          <a:lstStyle/>
          <a:p>
            <a:pPr marL="274955" indent="-274955">
              <a:lnSpc>
                <a:spcPct val="115000"/>
              </a:lnSpc>
              <a:defRPr/>
            </a:pPr>
            <a:r>
              <a:rPr kumimoji="1" lang="en-US" altLang="zh-CN" b="1" dirty="0">
                <a:latin typeface="+mn-ea"/>
                <a:ea typeface="+mn-ea"/>
              </a:rPr>
              <a:t>2.  </a:t>
            </a:r>
            <a:r>
              <a:rPr kumimoji="1" lang="zh-CN" altLang="en-US" b="1" dirty="0">
                <a:latin typeface="+mn-ea"/>
                <a:ea typeface="+mn-ea"/>
              </a:rPr>
              <a:t>在相同的高、低温热源之间工作的</a:t>
            </a:r>
            <a:r>
              <a:rPr kumimoji="1" lang="zh-CN" altLang="en-US" b="1" dirty="0">
                <a:solidFill>
                  <a:srgbClr val="009900"/>
                </a:solidFill>
                <a:latin typeface="+mn-ea"/>
                <a:ea typeface="+mn-ea"/>
              </a:rPr>
              <a:t>一切不可逆热机</a:t>
            </a:r>
            <a:r>
              <a:rPr kumimoji="1" lang="zh-CN" altLang="en-US" b="1" dirty="0">
                <a:latin typeface="+mn-ea"/>
                <a:ea typeface="+mn-ea"/>
              </a:rPr>
              <a:t>，其效率都</a:t>
            </a:r>
            <a:r>
              <a:rPr kumimoji="1" lang="zh-CN" altLang="en-US" b="1" dirty="0">
                <a:solidFill>
                  <a:srgbClr val="FF6600"/>
                </a:solidFill>
                <a:latin typeface="+mn-ea"/>
                <a:ea typeface="+mn-ea"/>
              </a:rPr>
              <a:t>不可能大于</a:t>
            </a:r>
            <a:r>
              <a:rPr kumimoji="1" lang="zh-CN" altLang="en-US" b="1" dirty="0">
                <a:latin typeface="+mn-ea"/>
                <a:ea typeface="+mn-ea"/>
              </a:rPr>
              <a:t>可逆热机的效率，即</a:t>
            </a:r>
            <a:endParaRPr kumimoji="1" lang="zh-CN" altLang="en-US" b="1" dirty="0">
              <a:latin typeface="+mn-ea"/>
              <a:ea typeface="+mn-ea"/>
            </a:endParaRPr>
          </a:p>
        </p:txBody>
      </p:sp>
      <p:sp>
        <p:nvSpPr>
          <p:cNvPr id="104517" name="Rectangle 69"/>
          <p:cNvSpPr>
            <a:spLocks noChangeArrowheads="1"/>
          </p:cNvSpPr>
          <p:nvPr/>
        </p:nvSpPr>
        <p:spPr bwMode="auto">
          <a:xfrm>
            <a:off x="5624513" y="4146550"/>
            <a:ext cx="3095625" cy="1144588"/>
          </a:xfrm>
          <a:prstGeom prst="rect">
            <a:avLst/>
          </a:prstGeom>
          <a:solidFill>
            <a:srgbClr val="CCFFFF"/>
          </a:solidFill>
          <a:ln w="9525">
            <a:noFill/>
            <a:miter lim="800000"/>
          </a:ln>
        </p:spPr>
        <p:txBody>
          <a:bodyPr>
            <a:spAutoFit/>
          </a:bodyPr>
          <a:lstStyle/>
          <a:p>
            <a:pPr algn="ctr">
              <a:lnSpc>
                <a:spcPct val="115000"/>
              </a:lnSpc>
              <a:defRPr/>
            </a:pPr>
            <a:r>
              <a:rPr kumimoji="1" lang="zh-CN" altLang="en-US" sz="2000" b="1">
                <a:solidFill>
                  <a:srgbClr val="800000"/>
                </a:solidFill>
                <a:latin typeface="+mn-ea"/>
                <a:ea typeface="+mn-ea"/>
              </a:rPr>
              <a:t>减少热机循环的不可逆性，（减少摩擦、漏气、散热耗散因素）</a:t>
            </a:r>
            <a:endParaRPr kumimoji="1" lang="zh-CN" altLang="en-US" sz="2000" b="1">
              <a:solidFill>
                <a:srgbClr val="800000"/>
              </a:solidFill>
              <a:latin typeface="+mn-ea"/>
              <a:ea typeface="+mn-ea"/>
            </a:endParaRPr>
          </a:p>
        </p:txBody>
      </p:sp>
      <p:sp>
        <p:nvSpPr>
          <p:cNvPr id="104518" name="Rectangle 70"/>
          <p:cNvSpPr>
            <a:spLocks noChangeArrowheads="1"/>
          </p:cNvSpPr>
          <p:nvPr/>
        </p:nvSpPr>
        <p:spPr bwMode="auto">
          <a:xfrm>
            <a:off x="6119813" y="5597525"/>
            <a:ext cx="1890712" cy="793750"/>
          </a:xfrm>
          <a:prstGeom prst="rect">
            <a:avLst/>
          </a:prstGeom>
          <a:solidFill>
            <a:srgbClr val="969696">
              <a:alpha val="50195"/>
            </a:srgbClr>
          </a:solidFill>
          <a:ln w="9525">
            <a:noFill/>
            <a:miter lim="800000"/>
          </a:ln>
        </p:spPr>
        <p:txBody>
          <a:bodyPr>
            <a:spAutoFit/>
          </a:bodyPr>
          <a:lstStyle/>
          <a:p>
            <a:pPr>
              <a:lnSpc>
                <a:spcPct val="115000"/>
              </a:lnSpc>
              <a:defRPr/>
            </a:pPr>
            <a:r>
              <a:rPr kumimoji="1" lang="zh-CN" altLang="en-US" sz="2000" b="1">
                <a:latin typeface="+mn-ea"/>
                <a:ea typeface="+mn-ea"/>
              </a:rPr>
              <a:t>是任何热机效率的最高极限 </a:t>
            </a:r>
            <a:endParaRPr kumimoji="1" lang="zh-CN" altLang="en-US" sz="2000" b="1">
              <a:latin typeface="+mn-ea"/>
              <a:ea typeface="+mn-ea"/>
            </a:endParaRPr>
          </a:p>
        </p:txBody>
      </p:sp>
      <p:graphicFrame>
        <p:nvGraphicFramePr>
          <p:cNvPr id="104519" name="Object 71"/>
          <p:cNvGraphicFramePr/>
          <p:nvPr/>
        </p:nvGraphicFramePr>
        <p:xfrm>
          <a:off x="4319588" y="5572125"/>
          <a:ext cx="1184275" cy="798513"/>
        </p:xfrm>
        <a:graphic>
          <a:graphicData uri="http://schemas.openxmlformats.org/presentationml/2006/ole">
            <mc:AlternateContent xmlns:mc="http://schemas.openxmlformats.org/markup-compatibility/2006">
              <mc:Choice xmlns:v="urn:schemas-microsoft-com:vml" Requires="v">
                <p:oleObj spid="_x0000_s70659" name="公式" r:id="rId17" imgW="15849600" imgH="10668000" progId="Equation.3">
                  <p:embed/>
                </p:oleObj>
              </mc:Choice>
              <mc:Fallback>
                <p:oleObj name="公式" r:id="rId17" imgW="15849600" imgH="10668000" progId="Equation.3">
                  <p:embed/>
                  <p:pic>
                    <p:nvPicPr>
                      <p:cNvPr id="0" name="Object 71"/>
                      <p:cNvPicPr/>
                      <p:nvPr/>
                    </p:nvPicPr>
                    <p:blipFill>
                      <a:blip r:embed="rId18"/>
                      <a:stretch>
                        <a:fillRect/>
                      </a:stretch>
                    </p:blipFill>
                    <p:spPr>
                      <a:xfrm>
                        <a:off x="4319588" y="5572125"/>
                        <a:ext cx="1184275" cy="798513"/>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504"/>
                                        </p:tgtEl>
                                        <p:attrNameLst>
                                          <p:attrName>style.visibility</p:attrName>
                                        </p:attrNameLst>
                                      </p:cBhvr>
                                      <p:to>
                                        <p:strVal val="visible"/>
                                      </p:to>
                                    </p:set>
                                    <p:animEffect transition="in" filter="wipe(left)">
                                      <p:cBhvr>
                                        <p:cTn id="7" dur="500"/>
                                        <p:tgtEl>
                                          <p:spTgt spid="1045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4503"/>
                                        </p:tgtEl>
                                        <p:attrNameLst>
                                          <p:attrName>style.visibility</p:attrName>
                                        </p:attrNameLst>
                                      </p:cBhvr>
                                      <p:to>
                                        <p:strVal val="visible"/>
                                      </p:to>
                                    </p:set>
                                    <p:animEffect transition="in" filter="wipe(left)">
                                      <p:cBhvr>
                                        <p:cTn id="12" dur="500"/>
                                        <p:tgtEl>
                                          <p:spTgt spid="1045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4493"/>
                                        </p:tgtEl>
                                        <p:attrNameLst>
                                          <p:attrName>style.visibility</p:attrName>
                                        </p:attrNameLst>
                                      </p:cBhvr>
                                      <p:to>
                                        <p:strVal val="visible"/>
                                      </p:to>
                                    </p:set>
                                    <p:animEffect transition="in" filter="wipe(up)">
                                      <p:cBhvr>
                                        <p:cTn id="27" dur="500"/>
                                        <p:tgtEl>
                                          <p:spTgt spid="10449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04510"/>
                                        </p:tgtEl>
                                        <p:attrNameLst>
                                          <p:attrName>style.visibility</p:attrName>
                                        </p:attrNameLst>
                                      </p:cBhvr>
                                      <p:to>
                                        <p:strVal val="visible"/>
                                      </p:to>
                                    </p:set>
                                    <p:animEffect transition="in" filter="wipe(up)">
                                      <p:cBhvr>
                                        <p:cTn id="42" dur="500"/>
                                        <p:tgtEl>
                                          <p:spTgt spid="1045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4516"/>
                                        </p:tgtEl>
                                        <p:attrNameLst>
                                          <p:attrName>style.visibility</p:attrName>
                                        </p:attrNameLst>
                                      </p:cBhvr>
                                      <p:to>
                                        <p:strVal val="visible"/>
                                      </p:to>
                                    </p:set>
                                    <p:animEffect transition="in" filter="wipe(left)">
                                      <p:cBhvr>
                                        <p:cTn id="47" dur="500"/>
                                        <p:tgtEl>
                                          <p:spTgt spid="1045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4517"/>
                                        </p:tgtEl>
                                        <p:attrNameLst>
                                          <p:attrName>style.visibility</p:attrName>
                                        </p:attrNameLst>
                                      </p:cBhvr>
                                      <p:to>
                                        <p:strVal val="visible"/>
                                      </p:to>
                                    </p:set>
                                    <p:animEffect transition="in" filter="wipe(left)">
                                      <p:cBhvr>
                                        <p:cTn id="52" dur="500"/>
                                        <p:tgtEl>
                                          <p:spTgt spid="1045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left)">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04519"/>
                                        </p:tgtEl>
                                        <p:attrNameLst>
                                          <p:attrName>style.visibility</p:attrName>
                                        </p:attrNameLst>
                                      </p:cBhvr>
                                      <p:to>
                                        <p:strVal val="visible"/>
                                      </p:to>
                                    </p:set>
                                    <p:animEffect transition="in" filter="wipe(left)">
                                      <p:cBhvr>
                                        <p:cTn id="62" dur="500"/>
                                        <p:tgtEl>
                                          <p:spTgt spid="10451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04518"/>
                                        </p:tgtEl>
                                        <p:attrNameLst>
                                          <p:attrName>style.visibility</p:attrName>
                                        </p:attrNameLst>
                                      </p:cBhvr>
                                      <p:to>
                                        <p:strVal val="visible"/>
                                      </p:to>
                                    </p:set>
                                    <p:animEffect transition="in" filter="wipe(left)">
                                      <p:cBhvr>
                                        <p:cTn id="67" dur="500"/>
                                        <p:tgtEl>
                                          <p:spTgt spid="104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93" grpId="0" animBg="1"/>
      <p:bldP spid="104504" grpId="0" autoUpdateAnimBg="0"/>
      <p:bldP spid="104510" grpId="0" animBg="1"/>
      <p:bldP spid="104516" grpId="0" autoUpdateAnimBg="0"/>
      <p:bldP spid="104517" grpId="0" animBg="1"/>
      <p:bldP spid="104518" grpId="0" animBg="1"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ext Box 2"/>
          <p:cNvSpPr txBox="1">
            <a:spLocks noChangeArrowheads="1"/>
          </p:cNvSpPr>
          <p:nvPr/>
        </p:nvSpPr>
        <p:spPr bwMode="auto">
          <a:xfrm>
            <a:off x="249238" y="458788"/>
            <a:ext cx="1892300" cy="512762"/>
          </a:xfrm>
          <a:prstGeom prst="rect">
            <a:avLst/>
          </a:prstGeom>
          <a:noFill/>
          <a:ln w="9525">
            <a:noFill/>
            <a:miter lim="800000"/>
          </a:ln>
        </p:spPr>
        <p:txBody>
          <a:bodyPr>
            <a:spAutoFit/>
          </a:bodyPr>
          <a:lstStyle/>
          <a:p>
            <a:pPr>
              <a:lnSpc>
                <a:spcPct val="115000"/>
              </a:lnSpc>
              <a:defRPr/>
            </a:pPr>
            <a:r>
              <a:rPr lang="zh-CN" altLang="en-US" b="1">
                <a:solidFill>
                  <a:srgbClr val="0000FF"/>
                </a:solidFill>
                <a:latin typeface="+mn-ea"/>
                <a:ea typeface="+mn-ea"/>
              </a:rPr>
              <a:t>卡诺定理</a:t>
            </a:r>
            <a:endParaRPr lang="zh-CN" altLang="en-US" b="1">
              <a:solidFill>
                <a:srgbClr val="0000FF"/>
              </a:solidFill>
              <a:latin typeface="+mn-ea"/>
              <a:ea typeface="+mn-ea"/>
            </a:endParaRPr>
          </a:p>
        </p:txBody>
      </p:sp>
      <p:sp>
        <p:nvSpPr>
          <p:cNvPr id="266243" name="Text Box 3"/>
          <p:cNvSpPr txBox="1">
            <a:spLocks noChangeArrowheads="1"/>
          </p:cNvSpPr>
          <p:nvPr/>
        </p:nvSpPr>
        <p:spPr bwMode="auto">
          <a:xfrm>
            <a:off x="608013" y="1168400"/>
            <a:ext cx="5329237" cy="512763"/>
          </a:xfrm>
          <a:prstGeom prst="rect">
            <a:avLst/>
          </a:prstGeom>
          <a:noFill/>
          <a:ln w="9525" algn="ctr">
            <a:noFill/>
            <a:miter lim="800000"/>
          </a:ln>
        </p:spPr>
        <p:txBody>
          <a:bodyPr>
            <a:spAutoFit/>
          </a:bodyPr>
          <a:lstStyle/>
          <a:p>
            <a:pPr>
              <a:lnSpc>
                <a:spcPct val="115000"/>
              </a:lnSpc>
              <a:defRPr/>
            </a:pPr>
            <a:r>
              <a:rPr kumimoji="1" lang="zh-CN" altLang="en-US" b="1">
                <a:latin typeface="+mn-ea"/>
                <a:ea typeface="+mn-ea"/>
              </a:rPr>
              <a:t>所有工作在两个给定热源下的热机</a:t>
            </a:r>
            <a:endParaRPr kumimoji="1" lang="zh-CN" altLang="en-US" b="1">
              <a:latin typeface="+mn-ea"/>
              <a:ea typeface="+mn-ea"/>
            </a:endParaRPr>
          </a:p>
        </p:txBody>
      </p:sp>
      <p:graphicFrame>
        <p:nvGraphicFramePr>
          <p:cNvPr id="266244" name="Object 4"/>
          <p:cNvGraphicFramePr>
            <a:graphicFrameLocks noChangeAspect="1"/>
          </p:cNvGraphicFramePr>
          <p:nvPr/>
        </p:nvGraphicFramePr>
        <p:xfrm>
          <a:off x="5764213" y="593725"/>
          <a:ext cx="2519362" cy="801688"/>
        </p:xfrm>
        <a:graphic>
          <a:graphicData uri="http://schemas.openxmlformats.org/presentationml/2006/ole">
            <mc:AlternateContent xmlns:mc="http://schemas.openxmlformats.org/markup-compatibility/2006">
              <mc:Choice xmlns:v="urn:schemas-microsoft-com:vml" Requires="v">
                <p:oleObj spid="_x0000_s71681" name="公式" r:id="rId1" imgW="33528000" imgH="10668000" progId="Equation.3">
                  <p:embed/>
                </p:oleObj>
              </mc:Choice>
              <mc:Fallback>
                <p:oleObj name="公式" r:id="rId1" imgW="33528000" imgH="10668000" progId="Equation.3">
                  <p:embed/>
                  <p:pic>
                    <p:nvPicPr>
                      <p:cNvPr id="0" name="Object 4"/>
                      <p:cNvPicPr>
                        <a:picLocks noChangeAspect="1"/>
                      </p:cNvPicPr>
                      <p:nvPr/>
                    </p:nvPicPr>
                    <p:blipFill>
                      <a:blip r:embed="rId2"/>
                      <a:stretch>
                        <a:fillRect/>
                      </a:stretch>
                    </p:blipFill>
                    <p:spPr>
                      <a:xfrm>
                        <a:off x="5764213" y="593725"/>
                        <a:ext cx="2519362" cy="801688"/>
                      </a:xfrm>
                      <a:prstGeom prst="rect">
                        <a:avLst/>
                      </a:prstGeom>
                      <a:noFill/>
                      <a:ln w="9525">
                        <a:noFill/>
                      </a:ln>
                    </p:spPr>
                  </p:pic>
                </p:oleObj>
              </mc:Fallback>
            </mc:AlternateContent>
          </a:graphicData>
        </a:graphic>
      </p:graphicFrame>
      <p:graphicFrame>
        <p:nvGraphicFramePr>
          <p:cNvPr id="266245" name="Object 5"/>
          <p:cNvGraphicFramePr>
            <a:graphicFrameLocks noChangeAspect="1"/>
          </p:cNvGraphicFramePr>
          <p:nvPr/>
        </p:nvGraphicFramePr>
        <p:xfrm>
          <a:off x="5781675" y="1582738"/>
          <a:ext cx="2678113" cy="803275"/>
        </p:xfrm>
        <a:graphic>
          <a:graphicData uri="http://schemas.openxmlformats.org/presentationml/2006/ole">
            <mc:AlternateContent xmlns:mc="http://schemas.openxmlformats.org/markup-compatibility/2006">
              <mc:Choice xmlns:v="urn:schemas-microsoft-com:vml" Requires="v">
                <p:oleObj spid="_x0000_s71683" name="公式" r:id="rId3" imgW="35661600" imgH="10668000" progId="Equation.3">
                  <p:embed/>
                </p:oleObj>
              </mc:Choice>
              <mc:Fallback>
                <p:oleObj name="公式" r:id="rId3" imgW="35661600" imgH="10668000" progId="Equation.3">
                  <p:embed/>
                  <p:pic>
                    <p:nvPicPr>
                      <p:cNvPr id="0" name="Object 5"/>
                      <p:cNvPicPr>
                        <a:picLocks noChangeAspect="1"/>
                      </p:cNvPicPr>
                      <p:nvPr/>
                    </p:nvPicPr>
                    <p:blipFill>
                      <a:blip r:embed="rId4"/>
                      <a:stretch>
                        <a:fillRect/>
                      </a:stretch>
                    </p:blipFill>
                    <p:spPr>
                      <a:xfrm>
                        <a:off x="5781675" y="1582738"/>
                        <a:ext cx="2678113" cy="803275"/>
                      </a:xfrm>
                      <a:prstGeom prst="rect">
                        <a:avLst/>
                      </a:prstGeom>
                      <a:noFill/>
                      <a:ln w="9525">
                        <a:noFill/>
                      </a:ln>
                    </p:spPr>
                  </p:pic>
                </p:oleObj>
              </mc:Fallback>
            </mc:AlternateContent>
          </a:graphicData>
        </a:graphic>
      </p:graphicFrame>
      <p:sp>
        <p:nvSpPr>
          <p:cNvPr id="266246" name="AutoShape 6"/>
          <p:cNvSpPr/>
          <p:nvPr/>
        </p:nvSpPr>
        <p:spPr bwMode="auto">
          <a:xfrm>
            <a:off x="5476875" y="871538"/>
            <a:ext cx="214313" cy="1162050"/>
          </a:xfrm>
          <a:prstGeom prst="leftBrace">
            <a:avLst>
              <a:gd name="adj1" fmla="val 45185"/>
              <a:gd name="adj2" fmla="val 50000"/>
            </a:avLst>
          </a:prstGeom>
          <a:noFill/>
          <a:ln w="25400">
            <a:solidFill>
              <a:schemeClr val="tx1"/>
            </a:solidFill>
            <a:round/>
          </a:ln>
        </p:spPr>
        <p:txBody>
          <a:bodyPr wrap="none" anchor="ctr"/>
          <a:lstStyle/>
          <a:p>
            <a:pPr algn="ctr">
              <a:defRPr/>
            </a:pPr>
            <a:endParaRPr lang="zh-CN" altLang="en-US">
              <a:latin typeface="+mn-ea"/>
              <a:ea typeface="+mn-ea"/>
            </a:endParaRPr>
          </a:p>
        </p:txBody>
      </p:sp>
      <p:sp>
        <p:nvSpPr>
          <p:cNvPr id="266247" name="AutoShape 7"/>
          <p:cNvSpPr>
            <a:spLocks noChangeArrowheads="1"/>
          </p:cNvSpPr>
          <p:nvPr/>
        </p:nvSpPr>
        <p:spPr bwMode="auto">
          <a:xfrm>
            <a:off x="566738" y="2303463"/>
            <a:ext cx="593725" cy="133350"/>
          </a:xfrm>
          <a:prstGeom prst="rightArrow">
            <a:avLst>
              <a:gd name="adj1" fmla="val 50000"/>
              <a:gd name="adj2" fmla="val 111310"/>
            </a:avLst>
          </a:prstGeom>
          <a:solidFill>
            <a:srgbClr val="0000FF"/>
          </a:solidFill>
          <a:ln w="9525">
            <a:solidFill>
              <a:schemeClr val="tx1"/>
            </a:solidFill>
            <a:miter lim="800000"/>
          </a:ln>
        </p:spPr>
        <p:txBody>
          <a:bodyPr wrap="none" anchor="ctr"/>
          <a:lstStyle/>
          <a:p>
            <a:pPr algn="ctr">
              <a:defRPr/>
            </a:pPr>
            <a:endParaRPr lang="zh-CN" altLang="en-US">
              <a:latin typeface="+mn-ea"/>
              <a:ea typeface="+mn-ea"/>
            </a:endParaRPr>
          </a:p>
        </p:txBody>
      </p:sp>
      <p:graphicFrame>
        <p:nvGraphicFramePr>
          <p:cNvPr id="266248" name="Object 8"/>
          <p:cNvGraphicFramePr>
            <a:graphicFrameLocks noChangeAspect="1"/>
          </p:cNvGraphicFramePr>
          <p:nvPr/>
        </p:nvGraphicFramePr>
        <p:xfrm>
          <a:off x="1404938" y="1989138"/>
          <a:ext cx="1187450" cy="800100"/>
        </p:xfrm>
        <a:graphic>
          <a:graphicData uri="http://schemas.openxmlformats.org/presentationml/2006/ole">
            <mc:AlternateContent xmlns:mc="http://schemas.openxmlformats.org/markup-compatibility/2006">
              <mc:Choice xmlns:v="urn:schemas-microsoft-com:vml" Requires="v">
                <p:oleObj spid="_x0000_s71684" name="公式" r:id="rId5" imgW="15849600" imgH="10668000" progId="Equation.3">
                  <p:embed/>
                </p:oleObj>
              </mc:Choice>
              <mc:Fallback>
                <p:oleObj name="公式" r:id="rId5" imgW="15849600" imgH="10668000" progId="Equation.3">
                  <p:embed/>
                  <p:pic>
                    <p:nvPicPr>
                      <p:cNvPr id="0" name="Object 8"/>
                      <p:cNvPicPr>
                        <a:picLocks noChangeAspect="1"/>
                      </p:cNvPicPr>
                      <p:nvPr/>
                    </p:nvPicPr>
                    <p:blipFill>
                      <a:blip r:embed="rId6"/>
                      <a:stretch>
                        <a:fillRect/>
                      </a:stretch>
                    </p:blipFill>
                    <p:spPr>
                      <a:xfrm>
                        <a:off x="1404938" y="1989138"/>
                        <a:ext cx="1187450" cy="800100"/>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sp>
        <p:nvSpPr>
          <p:cNvPr id="266249" name="Text Box 9"/>
          <p:cNvSpPr txBox="1">
            <a:spLocks noChangeArrowheads="1"/>
          </p:cNvSpPr>
          <p:nvPr/>
        </p:nvSpPr>
        <p:spPr bwMode="auto">
          <a:xfrm>
            <a:off x="558800" y="2933700"/>
            <a:ext cx="4508500" cy="512763"/>
          </a:xfrm>
          <a:prstGeom prst="rect">
            <a:avLst/>
          </a:prstGeom>
          <a:noFill/>
          <a:ln w="9525" algn="ctr">
            <a:noFill/>
            <a:miter lim="800000"/>
          </a:ln>
        </p:spPr>
        <p:txBody>
          <a:bodyPr>
            <a:spAutoFit/>
          </a:bodyPr>
          <a:lstStyle/>
          <a:p>
            <a:pPr>
              <a:lnSpc>
                <a:spcPct val="115000"/>
              </a:lnSpc>
              <a:defRPr/>
            </a:pPr>
            <a:r>
              <a:rPr lang="zh-CN" altLang="en-US" b="1">
                <a:solidFill>
                  <a:srgbClr val="FF6600"/>
                </a:solidFill>
                <a:latin typeface="+mn-ea"/>
                <a:ea typeface="+mn-ea"/>
              </a:rPr>
              <a:t>卡诺定理对热机的指导意义</a:t>
            </a:r>
            <a:endParaRPr lang="zh-CN" altLang="en-US" b="1">
              <a:latin typeface="+mn-ea"/>
              <a:ea typeface="+mn-ea"/>
            </a:endParaRPr>
          </a:p>
        </p:txBody>
      </p:sp>
      <p:sp>
        <p:nvSpPr>
          <p:cNvPr id="266250" name="AutoShape 10"/>
          <p:cNvSpPr>
            <a:spLocks noChangeArrowheads="1"/>
          </p:cNvSpPr>
          <p:nvPr/>
        </p:nvSpPr>
        <p:spPr bwMode="auto">
          <a:xfrm>
            <a:off x="206375" y="2933700"/>
            <a:ext cx="360363" cy="576263"/>
          </a:xfrm>
          <a:prstGeom prst="star4">
            <a:avLst>
              <a:gd name="adj" fmla="val 18722"/>
            </a:avLst>
          </a:prstGeom>
          <a:gradFill rotWithShape="1">
            <a:gsLst>
              <a:gs pos="0">
                <a:srgbClr val="FF9933"/>
              </a:gs>
              <a:gs pos="100000">
                <a:srgbClr val="764718"/>
              </a:gs>
            </a:gsLst>
            <a:path path="shape">
              <a:fillToRect l="50000" t="50000" r="50000" b="50000"/>
            </a:path>
          </a:gradFill>
          <a:ln w="9525">
            <a:noFill/>
            <a:miter lim="800000"/>
          </a:ln>
        </p:spPr>
        <p:txBody>
          <a:bodyPr wrap="none" anchor="ctr"/>
          <a:lstStyle/>
          <a:p>
            <a:pPr algn="ctr">
              <a:defRPr/>
            </a:pPr>
            <a:endParaRPr lang="zh-CN" altLang="en-US">
              <a:latin typeface="+mn-ea"/>
              <a:ea typeface="+mn-ea"/>
            </a:endParaRPr>
          </a:p>
        </p:txBody>
      </p:sp>
      <p:sp>
        <p:nvSpPr>
          <p:cNvPr id="266251" name="Text Box 11"/>
          <p:cNvSpPr txBox="1">
            <a:spLocks noChangeArrowheads="1"/>
          </p:cNvSpPr>
          <p:nvPr/>
        </p:nvSpPr>
        <p:spPr bwMode="auto">
          <a:xfrm>
            <a:off x="198438" y="3502025"/>
            <a:ext cx="4103687" cy="512763"/>
          </a:xfrm>
          <a:prstGeom prst="rect">
            <a:avLst/>
          </a:prstGeom>
          <a:noFill/>
          <a:ln w="9525" algn="ctr">
            <a:noFill/>
            <a:miter lim="800000"/>
          </a:ln>
        </p:spPr>
        <p:txBody>
          <a:bodyPr>
            <a:spAutoFit/>
          </a:bodyPr>
          <a:lstStyle/>
          <a:p>
            <a:pPr>
              <a:lnSpc>
                <a:spcPct val="115000"/>
              </a:lnSpc>
              <a:defRPr/>
            </a:pPr>
            <a:r>
              <a:rPr lang="en-US" altLang="zh-CN" b="1" dirty="0">
                <a:ea typeface="+mn-ea"/>
                <a:cs typeface="Times New Roman" panose="02020603050405020304" pitchFamily="18" charset="0"/>
                <a:sym typeface="Wingdings 2" panose="05020102010507070707" pitchFamily="18" charset="2"/>
              </a:rPr>
              <a:t>(1)</a:t>
            </a:r>
            <a:r>
              <a:rPr lang="en-US" altLang="zh-CN" b="1" dirty="0">
                <a:solidFill>
                  <a:srgbClr val="FF6600"/>
                </a:solidFill>
                <a:ea typeface="+mn-ea"/>
                <a:cs typeface="Times New Roman" panose="02020603050405020304" pitchFamily="18" charset="0"/>
                <a:sym typeface="Wingdings 2" panose="05020102010507070707" pitchFamily="18" charset="2"/>
              </a:rPr>
              <a:t> </a:t>
            </a:r>
            <a:r>
              <a:rPr lang="zh-CN" altLang="en-US" b="1" dirty="0">
                <a:latin typeface="+mn-ea"/>
                <a:ea typeface="+mn-ea"/>
                <a:sym typeface="Wingdings 2" panose="05020102010507070707" pitchFamily="18" charset="2"/>
              </a:rPr>
              <a:t>热机必须有两个热源；</a:t>
            </a:r>
            <a:endParaRPr lang="zh-CN" altLang="en-US" b="1" dirty="0">
              <a:latin typeface="+mn-ea"/>
              <a:ea typeface="+mn-ea"/>
            </a:endParaRPr>
          </a:p>
        </p:txBody>
      </p:sp>
      <p:sp>
        <p:nvSpPr>
          <p:cNvPr id="266252" name="Text Box 12"/>
          <p:cNvSpPr txBox="1">
            <a:spLocks noChangeArrowheads="1"/>
          </p:cNvSpPr>
          <p:nvPr/>
        </p:nvSpPr>
        <p:spPr bwMode="auto">
          <a:xfrm>
            <a:off x="206375" y="3995738"/>
            <a:ext cx="7740650" cy="512762"/>
          </a:xfrm>
          <a:prstGeom prst="rect">
            <a:avLst/>
          </a:prstGeom>
          <a:noFill/>
          <a:ln w="9525" algn="ctr">
            <a:noFill/>
            <a:miter lim="800000"/>
          </a:ln>
        </p:spPr>
        <p:txBody>
          <a:bodyPr>
            <a:spAutoFit/>
          </a:bodyPr>
          <a:lstStyle/>
          <a:p>
            <a:pPr>
              <a:lnSpc>
                <a:spcPct val="115000"/>
              </a:lnSpc>
              <a:defRPr/>
            </a:pPr>
            <a:r>
              <a:rPr lang="en-US" altLang="zh-CN" b="1" dirty="0">
                <a:ea typeface="+mn-ea"/>
                <a:cs typeface="Times New Roman" panose="02020603050405020304" pitchFamily="18" charset="0"/>
                <a:sym typeface="Wingdings 2" panose="05020102010507070707" pitchFamily="18" charset="2"/>
              </a:rPr>
              <a:t>(2)</a:t>
            </a:r>
            <a:r>
              <a:rPr lang="en-US" altLang="zh-CN" b="1" dirty="0">
                <a:solidFill>
                  <a:srgbClr val="FF6600"/>
                </a:solidFill>
                <a:ea typeface="+mn-ea"/>
                <a:cs typeface="Times New Roman" panose="02020603050405020304" pitchFamily="18" charset="0"/>
                <a:sym typeface="Wingdings 2" panose="05020102010507070707" pitchFamily="18" charset="2"/>
              </a:rPr>
              <a:t> </a:t>
            </a:r>
            <a:r>
              <a:rPr lang="zh-CN" altLang="en-US" b="1" dirty="0">
                <a:latin typeface="+mn-ea"/>
                <a:ea typeface="+mn-ea"/>
                <a:sym typeface="Wingdings 2" panose="05020102010507070707" pitchFamily="18" charset="2"/>
              </a:rPr>
              <a:t>热机的效率不可能大于、</a:t>
            </a:r>
            <a:r>
              <a:rPr lang="zh-CN" altLang="en-US" b="1" dirty="0">
                <a:ea typeface="+mn-ea"/>
                <a:cs typeface="Times New Roman" panose="02020603050405020304" pitchFamily="18" charset="0"/>
                <a:sym typeface="Wingdings 2" panose="05020102010507070707" pitchFamily="18" charset="2"/>
              </a:rPr>
              <a:t>等于</a:t>
            </a:r>
            <a:r>
              <a:rPr lang="zh-CN" altLang="en-US" b="1" dirty="0">
                <a:solidFill>
                  <a:srgbClr val="FF6600"/>
                </a:solidFill>
                <a:ea typeface="+mn-ea"/>
                <a:cs typeface="Times New Roman" panose="02020603050405020304" pitchFamily="18" charset="0"/>
                <a:sym typeface="Wingdings 2" panose="05020102010507070707" pitchFamily="18" charset="2"/>
              </a:rPr>
              <a:t> </a:t>
            </a:r>
            <a:r>
              <a:rPr lang="en-US" altLang="zh-CN" b="1" dirty="0">
                <a:solidFill>
                  <a:srgbClr val="FF6600"/>
                </a:solidFill>
                <a:ea typeface="+mn-ea"/>
                <a:cs typeface="Times New Roman" panose="02020603050405020304" pitchFamily="18" charset="0"/>
                <a:sym typeface="Wingdings 2" panose="05020102010507070707" pitchFamily="18" charset="2"/>
              </a:rPr>
              <a:t>1</a:t>
            </a:r>
            <a:r>
              <a:rPr lang="zh-CN" altLang="en-US" b="1" dirty="0">
                <a:ea typeface="+mn-ea"/>
                <a:cs typeface="Times New Roman" panose="02020603050405020304" pitchFamily="18" charset="0"/>
                <a:sym typeface="Wingdings 2" panose="05020102010507070707" pitchFamily="18" charset="2"/>
              </a:rPr>
              <a:t>，只能小于 </a:t>
            </a:r>
            <a:r>
              <a:rPr lang="en-US" altLang="zh-CN" b="1" dirty="0">
                <a:solidFill>
                  <a:srgbClr val="FF6600"/>
                </a:solidFill>
                <a:ea typeface="+mn-ea"/>
                <a:cs typeface="Times New Roman" panose="02020603050405020304" pitchFamily="18" charset="0"/>
                <a:sym typeface="Wingdings 2" panose="05020102010507070707" pitchFamily="18" charset="2"/>
              </a:rPr>
              <a:t>1</a:t>
            </a:r>
            <a:r>
              <a:rPr lang="zh-CN" altLang="en-US" b="1" dirty="0">
                <a:latin typeface="+mn-ea"/>
                <a:ea typeface="+mn-ea"/>
                <a:sym typeface="Wingdings 2" panose="05020102010507070707" pitchFamily="18" charset="2"/>
              </a:rPr>
              <a:t>；</a:t>
            </a:r>
            <a:endParaRPr lang="zh-CN" altLang="en-US" b="1" dirty="0">
              <a:latin typeface="+mn-ea"/>
              <a:ea typeface="+mn-ea"/>
            </a:endParaRPr>
          </a:p>
        </p:txBody>
      </p:sp>
      <p:sp>
        <p:nvSpPr>
          <p:cNvPr id="266253" name="Text Box 13"/>
          <p:cNvSpPr txBox="1">
            <a:spLocks noChangeArrowheads="1"/>
          </p:cNvSpPr>
          <p:nvPr/>
        </p:nvSpPr>
        <p:spPr bwMode="auto">
          <a:xfrm>
            <a:off x="223838" y="4505325"/>
            <a:ext cx="8397875" cy="1354138"/>
          </a:xfrm>
          <a:prstGeom prst="rect">
            <a:avLst/>
          </a:prstGeom>
          <a:noFill/>
          <a:ln w="9525" algn="ctr">
            <a:noFill/>
            <a:miter lim="800000"/>
          </a:ln>
        </p:spPr>
        <p:txBody>
          <a:bodyPr>
            <a:spAutoFit/>
          </a:bodyPr>
          <a:lstStyle/>
          <a:p>
            <a:pPr>
              <a:lnSpc>
                <a:spcPct val="115000"/>
              </a:lnSpc>
              <a:defRPr/>
            </a:pPr>
            <a:r>
              <a:rPr lang="en-US" altLang="zh-CN" b="1" dirty="0">
                <a:ea typeface="+mn-ea"/>
                <a:cs typeface="Times New Roman" panose="02020603050405020304" pitchFamily="18" charset="0"/>
                <a:sym typeface="Wingdings 2" panose="05020102010507070707" pitchFamily="18" charset="2"/>
              </a:rPr>
              <a:t>(3)</a:t>
            </a:r>
            <a:r>
              <a:rPr lang="en-US" altLang="zh-CN" b="1" dirty="0">
                <a:solidFill>
                  <a:srgbClr val="FF6600"/>
                </a:solidFill>
                <a:ea typeface="+mn-ea"/>
                <a:cs typeface="Times New Roman" panose="02020603050405020304" pitchFamily="18" charset="0"/>
                <a:sym typeface="Wingdings 2" panose="05020102010507070707" pitchFamily="18" charset="2"/>
              </a:rPr>
              <a:t> </a:t>
            </a:r>
            <a:r>
              <a:rPr lang="zh-CN" altLang="en-US" b="1" dirty="0">
                <a:latin typeface="+mn-ea"/>
                <a:ea typeface="+mn-ea"/>
                <a:sym typeface="Wingdings 2" panose="05020102010507070707" pitchFamily="18" charset="2"/>
              </a:rPr>
              <a:t>提高热机的效率，就要使 </a:t>
            </a:r>
            <a:r>
              <a:rPr lang="en-US" altLang="zh-CN" b="1" i="1" dirty="0">
                <a:solidFill>
                  <a:srgbClr val="FF6600"/>
                </a:solidFill>
                <a:ea typeface="+mn-ea"/>
                <a:cs typeface="Times New Roman" panose="02020603050405020304" pitchFamily="18" charset="0"/>
                <a:sym typeface="Wingdings 2" panose="05020102010507070707" pitchFamily="18" charset="2"/>
              </a:rPr>
              <a:t>T</a:t>
            </a:r>
            <a:r>
              <a:rPr lang="en-US" altLang="zh-CN" b="1" baseline="-25000" dirty="0">
                <a:solidFill>
                  <a:srgbClr val="FF6600"/>
                </a:solidFill>
                <a:ea typeface="+mn-ea"/>
                <a:cs typeface="Times New Roman" panose="02020603050405020304" pitchFamily="18" charset="0"/>
                <a:sym typeface="Wingdings 2" panose="05020102010507070707" pitchFamily="18" charset="2"/>
              </a:rPr>
              <a:t>2</a:t>
            </a:r>
            <a:r>
              <a:rPr lang="en-US" altLang="zh-CN" b="1" i="1" dirty="0">
                <a:solidFill>
                  <a:srgbClr val="FF6600"/>
                </a:solidFill>
                <a:ea typeface="+mn-ea"/>
                <a:cs typeface="Times New Roman" panose="02020603050405020304" pitchFamily="18" charset="0"/>
                <a:sym typeface="Wingdings 2" panose="05020102010507070707" pitchFamily="18" charset="2"/>
              </a:rPr>
              <a:t> / T</a:t>
            </a:r>
            <a:r>
              <a:rPr lang="en-US" altLang="zh-CN" i="1" dirty="0">
                <a:solidFill>
                  <a:srgbClr val="FF6600"/>
                </a:solidFill>
                <a:ea typeface="+mn-ea"/>
                <a:cs typeface="Times New Roman" panose="02020603050405020304" pitchFamily="18" charset="0"/>
                <a:sym typeface="Wingdings 2" panose="05020102010507070707" pitchFamily="18" charset="2"/>
              </a:rPr>
              <a:t> </a:t>
            </a:r>
            <a:r>
              <a:rPr lang="en-US" altLang="zh-CN" b="1" baseline="-25000" dirty="0">
                <a:solidFill>
                  <a:srgbClr val="FF6600"/>
                </a:solidFill>
                <a:ea typeface="+mn-ea"/>
                <a:cs typeface="Times New Roman" panose="02020603050405020304" pitchFamily="18" charset="0"/>
                <a:sym typeface="Wingdings 2" panose="05020102010507070707" pitchFamily="18" charset="2"/>
              </a:rPr>
              <a:t>1</a:t>
            </a:r>
            <a:r>
              <a:rPr lang="en-US" altLang="zh-CN" b="1" baseline="-25000" dirty="0">
                <a:ea typeface="+mn-ea"/>
                <a:cs typeface="Times New Roman" panose="02020603050405020304" pitchFamily="18" charset="0"/>
                <a:sym typeface="Wingdings 2" panose="05020102010507070707" pitchFamily="18" charset="2"/>
              </a:rPr>
              <a:t> </a:t>
            </a:r>
            <a:r>
              <a:rPr lang="zh-CN" altLang="en-US" b="1" dirty="0">
                <a:latin typeface="+mn-ea"/>
                <a:ea typeface="+mn-ea"/>
                <a:sym typeface="Wingdings 2" panose="05020102010507070707" pitchFamily="18" charset="2"/>
              </a:rPr>
              <a:t>越小越好。由于低温热源的温度一般为大气温度，所以提高高温热源的温度是提高热机效率的途径；</a:t>
            </a:r>
            <a:endParaRPr lang="zh-CN" altLang="en-US" b="1" dirty="0">
              <a:latin typeface="+mn-ea"/>
              <a:ea typeface="+mn-ea"/>
            </a:endParaRPr>
          </a:p>
        </p:txBody>
      </p:sp>
      <p:sp>
        <p:nvSpPr>
          <p:cNvPr id="266254" name="Text Box 14"/>
          <p:cNvSpPr txBox="1">
            <a:spLocks noChangeArrowheads="1"/>
          </p:cNvSpPr>
          <p:nvPr/>
        </p:nvSpPr>
        <p:spPr bwMode="auto">
          <a:xfrm>
            <a:off x="206375" y="5786438"/>
            <a:ext cx="8397875" cy="512762"/>
          </a:xfrm>
          <a:prstGeom prst="rect">
            <a:avLst/>
          </a:prstGeom>
          <a:noFill/>
          <a:ln w="9525" algn="ctr">
            <a:noFill/>
            <a:miter lim="800000"/>
          </a:ln>
        </p:spPr>
        <p:txBody>
          <a:bodyPr>
            <a:spAutoFit/>
          </a:bodyPr>
          <a:lstStyle/>
          <a:p>
            <a:pPr>
              <a:lnSpc>
                <a:spcPct val="115000"/>
              </a:lnSpc>
              <a:defRPr/>
            </a:pPr>
            <a:r>
              <a:rPr lang="en-US" altLang="zh-CN" b="1" dirty="0">
                <a:ea typeface="+mn-ea"/>
                <a:cs typeface="Times New Roman" panose="02020603050405020304" pitchFamily="18" charset="0"/>
                <a:sym typeface="Wingdings 2" panose="05020102010507070707" pitchFamily="18" charset="2"/>
              </a:rPr>
              <a:t>(4)</a:t>
            </a:r>
            <a:r>
              <a:rPr lang="en-US" altLang="zh-CN" b="1" dirty="0">
                <a:solidFill>
                  <a:srgbClr val="FF6600"/>
                </a:solidFill>
                <a:ea typeface="+mn-ea"/>
                <a:cs typeface="Times New Roman" panose="02020603050405020304" pitchFamily="18" charset="0"/>
                <a:sym typeface="Wingdings 2" panose="05020102010507070707" pitchFamily="18" charset="2"/>
              </a:rPr>
              <a:t> </a:t>
            </a:r>
            <a:r>
              <a:rPr lang="zh-CN" altLang="en-US" b="1" dirty="0">
                <a:latin typeface="+mn-ea"/>
                <a:ea typeface="+mn-ea"/>
                <a:sym typeface="Wingdings 2" panose="05020102010507070707" pitchFamily="18" charset="2"/>
              </a:rPr>
              <a:t>使热机的循环尽量接近卡诺可逆循环。</a:t>
            </a:r>
            <a:endParaRPr lang="zh-CN" altLang="en-US" b="1" dirty="0">
              <a:latin typeface="+mn-ea"/>
              <a:ea typeface="+mn-ea"/>
            </a:endParaRPr>
          </a:p>
        </p:txBody>
      </p:sp>
      <p:sp>
        <p:nvSpPr>
          <p:cNvPr id="266256" name="AutoShape 16">
            <a:hlinkClick r:id="rId7" action="ppaction://hlinksldjump" highlightClick="1"/>
          </p:cNvPr>
          <p:cNvSpPr>
            <a:spLocks noChangeArrowheads="1"/>
          </p:cNvSpPr>
          <p:nvPr/>
        </p:nvSpPr>
        <p:spPr bwMode="auto">
          <a:xfrm>
            <a:off x="8286750" y="6072188"/>
            <a:ext cx="287338" cy="287337"/>
          </a:xfrm>
          <a:prstGeom prst="actionButtonBeginning">
            <a:avLst/>
          </a:prstGeom>
          <a:solidFill>
            <a:srgbClr val="99CCFF"/>
          </a:solidFill>
          <a:ln w="9525">
            <a:noFill/>
            <a:miter lim="800000"/>
          </a:ln>
        </p:spPr>
        <p:txBody>
          <a:bodyPr wrap="none" anchor="ctr"/>
          <a:lstStyle/>
          <a:p>
            <a:pPr algn="ctr">
              <a:defRPr/>
            </a:pPr>
            <a:endParaRPr lang="zh-CN" altLang="en-US">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42"/>
                                        </p:tgtEl>
                                        <p:attrNameLst>
                                          <p:attrName>style.visibility</p:attrName>
                                        </p:attrNameLst>
                                      </p:cBhvr>
                                      <p:to>
                                        <p:strVal val="visible"/>
                                      </p:to>
                                    </p:set>
                                    <p:animEffect transition="in" filter="wipe(left)">
                                      <p:cBhvr>
                                        <p:cTn id="7" dur="500"/>
                                        <p:tgtEl>
                                          <p:spTgt spid="2662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43"/>
                                        </p:tgtEl>
                                        <p:attrNameLst>
                                          <p:attrName>style.visibility</p:attrName>
                                        </p:attrNameLst>
                                      </p:cBhvr>
                                      <p:to>
                                        <p:strVal val="visible"/>
                                      </p:to>
                                    </p:set>
                                    <p:animEffect transition="in" filter="wipe(left)">
                                      <p:cBhvr>
                                        <p:cTn id="12" dur="500"/>
                                        <p:tgtEl>
                                          <p:spTgt spid="2662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6244"/>
                                        </p:tgtEl>
                                        <p:attrNameLst>
                                          <p:attrName>style.visibility</p:attrName>
                                        </p:attrNameLst>
                                      </p:cBhvr>
                                      <p:to>
                                        <p:strVal val="visible"/>
                                      </p:to>
                                    </p:set>
                                    <p:animEffect transition="in" filter="wipe(left)">
                                      <p:cBhvr>
                                        <p:cTn id="17" dur="500"/>
                                        <p:tgtEl>
                                          <p:spTgt spid="2662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6245"/>
                                        </p:tgtEl>
                                        <p:attrNameLst>
                                          <p:attrName>style.visibility</p:attrName>
                                        </p:attrNameLst>
                                      </p:cBhvr>
                                      <p:to>
                                        <p:strVal val="visible"/>
                                      </p:to>
                                    </p:set>
                                    <p:animEffect transition="in" filter="wipe(left)">
                                      <p:cBhvr>
                                        <p:cTn id="22" dur="500"/>
                                        <p:tgtEl>
                                          <p:spTgt spid="26624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246"/>
                                        </p:tgtEl>
                                        <p:attrNameLst>
                                          <p:attrName>style.visibility</p:attrName>
                                        </p:attrNameLst>
                                      </p:cBhvr>
                                      <p:to>
                                        <p:strVal val="visible"/>
                                      </p:to>
                                    </p:set>
                                    <p:animEffect transition="in" filter="blinds(horizontal)">
                                      <p:cBhvr>
                                        <p:cTn id="27" dur="500"/>
                                        <p:tgtEl>
                                          <p:spTgt spid="2662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6247"/>
                                        </p:tgtEl>
                                        <p:attrNameLst>
                                          <p:attrName>style.visibility</p:attrName>
                                        </p:attrNameLst>
                                      </p:cBhvr>
                                      <p:to>
                                        <p:strVal val="visible"/>
                                      </p:to>
                                    </p:set>
                                    <p:animEffect transition="in" filter="wipe(left)">
                                      <p:cBhvr>
                                        <p:cTn id="32" dur="500"/>
                                        <p:tgtEl>
                                          <p:spTgt spid="266247"/>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266248"/>
                                        </p:tgtEl>
                                        <p:attrNameLst>
                                          <p:attrName>style.visibility</p:attrName>
                                        </p:attrNameLst>
                                      </p:cBhvr>
                                      <p:to>
                                        <p:strVal val="visible"/>
                                      </p:to>
                                    </p:set>
                                    <p:animEffect transition="in" filter="wipe(left)">
                                      <p:cBhvr>
                                        <p:cTn id="36" dur="500"/>
                                        <p:tgtEl>
                                          <p:spTgt spid="266248"/>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32" fill="hold" grpId="0" nodeType="clickEffect">
                                  <p:stCondLst>
                                    <p:cond delay="0"/>
                                  </p:stCondLst>
                                  <p:childTnLst>
                                    <p:set>
                                      <p:cBhvr>
                                        <p:cTn id="40" dur="1" fill="hold">
                                          <p:stCondLst>
                                            <p:cond delay="0"/>
                                          </p:stCondLst>
                                        </p:cTn>
                                        <p:tgtEl>
                                          <p:spTgt spid="266250"/>
                                        </p:tgtEl>
                                        <p:attrNameLst>
                                          <p:attrName>style.visibility</p:attrName>
                                        </p:attrNameLst>
                                      </p:cBhvr>
                                      <p:to>
                                        <p:strVal val="visible"/>
                                      </p:to>
                                    </p:set>
                                    <p:anim calcmode="lin" valueType="num">
                                      <p:cBhvr>
                                        <p:cTn id="41" dur="500" fill="hold"/>
                                        <p:tgtEl>
                                          <p:spTgt spid="266250"/>
                                        </p:tgtEl>
                                        <p:attrNameLst>
                                          <p:attrName>ppt_w</p:attrName>
                                        </p:attrNameLst>
                                      </p:cBhvr>
                                      <p:tavLst>
                                        <p:tav tm="0">
                                          <p:val>
                                            <p:strVal val="4*#ppt_w"/>
                                          </p:val>
                                        </p:tav>
                                        <p:tav tm="100000">
                                          <p:val>
                                            <p:strVal val="#ppt_w"/>
                                          </p:val>
                                        </p:tav>
                                      </p:tavLst>
                                    </p:anim>
                                    <p:anim calcmode="lin" valueType="num">
                                      <p:cBhvr>
                                        <p:cTn id="42" dur="500" fill="hold"/>
                                        <p:tgtEl>
                                          <p:spTgt spid="266250"/>
                                        </p:tgtEl>
                                        <p:attrNameLst>
                                          <p:attrName>ppt_h</p:attrName>
                                        </p:attrNameLst>
                                      </p:cBhvr>
                                      <p:tavLst>
                                        <p:tav tm="0">
                                          <p:val>
                                            <p:strVal val="4*#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6249"/>
                                        </p:tgtEl>
                                        <p:attrNameLst>
                                          <p:attrName>style.visibility</p:attrName>
                                        </p:attrNameLst>
                                      </p:cBhvr>
                                      <p:to>
                                        <p:strVal val="visible"/>
                                      </p:to>
                                    </p:set>
                                    <p:animEffect transition="in" filter="wipe(left)">
                                      <p:cBhvr>
                                        <p:cTn id="47" dur="500"/>
                                        <p:tgtEl>
                                          <p:spTgt spid="26624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6251"/>
                                        </p:tgtEl>
                                        <p:attrNameLst>
                                          <p:attrName>style.visibility</p:attrName>
                                        </p:attrNameLst>
                                      </p:cBhvr>
                                      <p:to>
                                        <p:strVal val="visible"/>
                                      </p:to>
                                    </p:set>
                                    <p:animEffect transition="in" filter="wipe(left)">
                                      <p:cBhvr>
                                        <p:cTn id="52" dur="500"/>
                                        <p:tgtEl>
                                          <p:spTgt spid="26625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6252"/>
                                        </p:tgtEl>
                                        <p:attrNameLst>
                                          <p:attrName>style.visibility</p:attrName>
                                        </p:attrNameLst>
                                      </p:cBhvr>
                                      <p:to>
                                        <p:strVal val="visible"/>
                                      </p:to>
                                    </p:set>
                                    <p:animEffect transition="in" filter="wipe(left)">
                                      <p:cBhvr>
                                        <p:cTn id="57" dur="500"/>
                                        <p:tgtEl>
                                          <p:spTgt spid="26625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66253"/>
                                        </p:tgtEl>
                                        <p:attrNameLst>
                                          <p:attrName>style.visibility</p:attrName>
                                        </p:attrNameLst>
                                      </p:cBhvr>
                                      <p:to>
                                        <p:strVal val="visible"/>
                                      </p:to>
                                    </p:set>
                                    <p:animEffect transition="in" filter="wipe(left)">
                                      <p:cBhvr>
                                        <p:cTn id="62" dur="500"/>
                                        <p:tgtEl>
                                          <p:spTgt spid="26625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6254"/>
                                        </p:tgtEl>
                                        <p:attrNameLst>
                                          <p:attrName>style.visibility</p:attrName>
                                        </p:attrNameLst>
                                      </p:cBhvr>
                                      <p:to>
                                        <p:strVal val="visible"/>
                                      </p:to>
                                    </p:set>
                                    <p:animEffect transition="in" filter="wipe(left)">
                                      <p:cBhvr>
                                        <p:cTn id="67" dur="500"/>
                                        <p:tgtEl>
                                          <p:spTgt spid="26625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266256"/>
                                        </p:tgtEl>
                                        <p:attrNameLst>
                                          <p:attrName>style.visibility</p:attrName>
                                        </p:attrNameLst>
                                      </p:cBhvr>
                                      <p:to>
                                        <p:strVal val="visible"/>
                                      </p:to>
                                    </p:set>
                                    <p:animEffect transition="in" filter="wipe(down)">
                                      <p:cBhvr>
                                        <p:cTn id="72" dur="500"/>
                                        <p:tgtEl>
                                          <p:spTgt spid="266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p:bldP spid="266243" grpId="0"/>
      <p:bldP spid="266246" grpId="0" animBg="1"/>
      <p:bldP spid="266247" grpId="0" animBg="1"/>
      <p:bldP spid="266249" grpId="0"/>
      <p:bldP spid="266250" grpId="0" animBg="1"/>
      <p:bldP spid="266251" grpId="0"/>
      <p:bldP spid="266252" grpId="0"/>
      <p:bldP spid="266253" grpId="0"/>
      <p:bldP spid="266254" grpId="0"/>
      <p:bldP spid="266256"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12045</Words>
  <Application>WPS 演示</Application>
  <PresentationFormat>全屏显示(4:3)</PresentationFormat>
  <Paragraphs>2093</Paragraphs>
  <Slides>101</Slides>
  <Notes>11</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484</vt:i4>
      </vt:variant>
      <vt:variant>
        <vt:lpstr>幻灯片标题</vt:lpstr>
      </vt:variant>
      <vt:variant>
        <vt:i4>101</vt:i4>
      </vt:variant>
    </vt:vector>
  </HeadingPairs>
  <TitlesOfParts>
    <vt:vector size="607" baseType="lpstr">
      <vt:lpstr>Arial</vt:lpstr>
      <vt:lpstr>宋体</vt:lpstr>
      <vt:lpstr>Wingdings</vt:lpstr>
      <vt:lpstr>Times New Roman</vt:lpstr>
      <vt:lpstr>楷体</vt:lpstr>
      <vt:lpstr>黑体</vt:lpstr>
      <vt:lpstr>楷体_GB2312</vt:lpstr>
      <vt:lpstr>新宋体</vt:lpstr>
      <vt:lpstr>隶书</vt:lpstr>
      <vt:lpstr>Garamond</vt:lpstr>
      <vt:lpstr>微软雅黑</vt:lpstr>
      <vt:lpstr>Arial Unicode MS</vt:lpstr>
      <vt:lpstr>仿宋_GB2312</vt:lpstr>
      <vt:lpstr>Symbol</vt:lpstr>
      <vt:lpstr>Wingdings 2</vt:lpstr>
      <vt:lpstr>仿宋</vt:lpstr>
      <vt:lpstr>Symbol</vt:lpstr>
      <vt:lpstr>Wingdings</vt:lpstr>
      <vt:lpstr>Wingdings 2</vt:lpstr>
      <vt:lpstr>仿宋_GB2312</vt:lpstr>
      <vt:lpstr>楷体_GB2312</vt:lpstr>
      <vt:lpstr>默认设计模板</vt:lpstr>
      <vt:lpstr>Equation.DSMT4</vt:lpstr>
      <vt:lpstr>Equation.3</vt:lpstr>
      <vt:lpstr>Equation.DSMT4</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Equation.DSMT4</vt:lpstr>
      <vt:lpstr>Equation.3</vt:lpstr>
      <vt:lpstr>Equation.3</vt:lpstr>
      <vt:lpstr>Equation.DSMT4</vt:lpstr>
      <vt:lpstr>Equation.3</vt:lpstr>
      <vt:lpstr>Equation.3</vt:lpstr>
      <vt:lpstr>Equation.DSMT4</vt:lpstr>
      <vt:lpstr>Equation.DSMT4</vt:lpstr>
      <vt:lpstr>Equation.DSMT4</vt:lpstr>
      <vt:lpstr>Equation.3</vt:lpstr>
      <vt:lpstr>Equation.3</vt:lpstr>
      <vt:lpstr>Equation.3</vt:lpstr>
      <vt:lpstr>Equation.3</vt:lpstr>
      <vt:lpstr>Equation.DSMT4</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Equation.3</vt:lpstr>
      <vt:lpstr>Equation.3</vt:lpstr>
      <vt:lpstr>Equation.3</vt:lpstr>
      <vt:lpstr>Equation.DSMT4</vt:lpstr>
      <vt:lpstr>Equation.DSMT4</vt:lpstr>
      <vt:lpstr>Equation.DSMT4</vt:lpstr>
      <vt:lpstr>Equation.DSMT4</vt:lpstr>
      <vt:lpstr>Equation.DSMT4</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Equation.3</vt:lpstr>
      <vt:lpstr>Equation.3</vt:lpstr>
      <vt:lpstr>Equation.3</vt:lpstr>
      <vt:lpstr>Equation.DSMT4</vt:lpstr>
      <vt:lpstr>Equation.DSMT4</vt:lpstr>
      <vt:lpstr>Equation.DSMT4</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Equation.DSMT4</vt:lpstr>
      <vt:lpstr>Equation.DSMT4</vt:lpstr>
      <vt:lpstr>Equation.DSMT4</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Equation.DSMT4</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§7.4  循环过程与卡诺循环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  热力学第二定律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小熔工作室</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热力学基础</dc:title>
  <dc:creator>冯秀绒</dc:creator>
  <cp:lastModifiedBy>王文伟</cp:lastModifiedBy>
  <cp:revision>259</cp:revision>
  <dcterms:created xsi:type="dcterms:W3CDTF">2005-07-01T07:52:00Z</dcterms:created>
  <dcterms:modified xsi:type="dcterms:W3CDTF">2020-03-17T00:59:48Z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2052-11.1.0.9305</vt:lpwstr>
  </property>
</Properties>
</file>