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theme/theme4.xml" ContentType="application/vnd.openxmlformats-officedocument.theme+xml"/>
  <Default Extension="bin" ContentType="application/vnd.openxmlformats-officedocument.oleObject"/>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Default Extension="wav" ContentType="audio/wav"/>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Default Extension="wmf" ContentType="image/x-wmf"/>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 id="2147483660" r:id="rId3"/>
  </p:sldMasterIdLst>
  <p:notesMasterIdLst>
    <p:notesMasterId r:id="rId66"/>
  </p:notesMasterIdLst>
  <p:sldIdLst>
    <p:sldId id="300" r:id="rId4"/>
    <p:sldId id="348" r:id="rId5"/>
    <p:sldId id="347" r:id="rId6"/>
    <p:sldId id="259" r:id="rId7"/>
    <p:sldId id="349" r:id="rId8"/>
    <p:sldId id="351" r:id="rId9"/>
    <p:sldId id="285" r:id="rId10"/>
    <p:sldId id="286" r:id="rId11"/>
    <p:sldId id="309" r:id="rId12"/>
    <p:sldId id="310" r:id="rId13"/>
    <p:sldId id="262" r:id="rId14"/>
    <p:sldId id="263" r:id="rId15"/>
    <p:sldId id="311" r:id="rId16"/>
    <p:sldId id="355" r:id="rId17"/>
    <p:sldId id="291" r:id="rId18"/>
    <p:sldId id="265" r:id="rId19"/>
    <p:sldId id="266" r:id="rId20"/>
    <p:sldId id="356" r:id="rId21"/>
    <p:sldId id="287" r:id="rId22"/>
    <p:sldId id="362" r:id="rId23"/>
    <p:sldId id="359" r:id="rId24"/>
    <p:sldId id="363" r:id="rId25"/>
    <p:sldId id="364" r:id="rId26"/>
    <p:sldId id="365" r:id="rId27"/>
    <p:sldId id="307" r:id="rId28"/>
    <p:sldId id="366" r:id="rId29"/>
    <p:sldId id="367" r:id="rId30"/>
    <p:sldId id="368" r:id="rId31"/>
    <p:sldId id="369" r:id="rId32"/>
    <p:sldId id="305" r:id="rId33"/>
    <p:sldId id="374" r:id="rId34"/>
    <p:sldId id="315" r:id="rId35"/>
    <p:sldId id="316" r:id="rId36"/>
    <p:sldId id="319" r:id="rId37"/>
    <p:sldId id="381" r:id="rId38"/>
    <p:sldId id="322" r:id="rId39"/>
    <p:sldId id="323" r:id="rId40"/>
    <p:sldId id="383" r:id="rId41"/>
    <p:sldId id="294" r:id="rId42"/>
    <p:sldId id="295" r:id="rId43"/>
    <p:sldId id="385" r:id="rId44"/>
    <p:sldId id="388" r:id="rId45"/>
    <p:sldId id="389" r:id="rId46"/>
    <p:sldId id="390" r:id="rId47"/>
    <p:sldId id="393" r:id="rId48"/>
    <p:sldId id="391" r:id="rId49"/>
    <p:sldId id="392" r:id="rId50"/>
    <p:sldId id="337" r:id="rId51"/>
    <p:sldId id="346" r:id="rId52"/>
    <p:sldId id="325" r:id="rId53"/>
    <p:sldId id="339" r:id="rId54"/>
    <p:sldId id="396" r:id="rId55"/>
    <p:sldId id="394" r:id="rId56"/>
    <p:sldId id="341" r:id="rId57"/>
    <p:sldId id="397" r:id="rId58"/>
    <p:sldId id="342" r:id="rId59"/>
    <p:sldId id="343" r:id="rId60"/>
    <p:sldId id="333" r:id="rId61"/>
    <p:sldId id="334" r:id="rId62"/>
    <p:sldId id="335" r:id="rId63"/>
    <p:sldId id="345" r:id="rId64"/>
    <p:sldId id="336" r:id="rId65"/>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80"/>
    <a:srgbClr val="996633"/>
    <a:srgbClr val="669900"/>
    <a:srgbClr val="9900CC"/>
    <a:srgbClr val="FF3300"/>
    <a:srgbClr val="FF6600"/>
    <a:srgbClr val="008000"/>
    <a:srgbClr val="0000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46" autoAdjust="0"/>
    <p:restoredTop sz="89331" autoAdjust="0"/>
  </p:normalViewPr>
  <p:slideViewPr>
    <p:cSldViewPr>
      <p:cViewPr varScale="1">
        <p:scale>
          <a:sx n="114" d="100"/>
          <a:sy n="114" d="100"/>
        </p:scale>
        <p:origin x="-154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4"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6" Type="http://schemas.openxmlformats.org/officeDocument/2006/relationships/image" Target="../media/image23.wmf"/><Relationship Id="rId5" Type="http://schemas.openxmlformats.org/officeDocument/2006/relationships/image" Target="../media/image22.wmf"/><Relationship Id="rId4"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image" Target="../media/image28.wmf"/><Relationship Id="rId7" Type="http://schemas.openxmlformats.org/officeDocument/2006/relationships/image" Target="../media/image32.wmf"/><Relationship Id="rId2" Type="http://schemas.openxmlformats.org/officeDocument/2006/relationships/image" Target="../media/image27.wmf"/><Relationship Id="rId1" Type="http://schemas.openxmlformats.org/officeDocument/2006/relationships/image" Target="../media/image26.wmf"/><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image" Target="../media/image29.wmf"/><Relationship Id="rId9" Type="http://schemas.openxmlformats.org/officeDocument/2006/relationships/image" Target="../media/image34.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image" Target="../media/image37.wmf"/><Relationship Id="rId7" Type="http://schemas.openxmlformats.org/officeDocument/2006/relationships/image" Target="../media/image41.wmf"/><Relationship Id="rId2" Type="http://schemas.openxmlformats.org/officeDocument/2006/relationships/image" Target="../media/image36.wmf"/><Relationship Id="rId1" Type="http://schemas.openxmlformats.org/officeDocument/2006/relationships/image" Target="../media/image35.wmf"/><Relationship Id="rId6" Type="http://schemas.openxmlformats.org/officeDocument/2006/relationships/image" Target="../media/image40.wmf"/><Relationship Id="rId5" Type="http://schemas.openxmlformats.org/officeDocument/2006/relationships/image" Target="../media/image39.wmf"/><Relationship Id="rId4" Type="http://schemas.openxmlformats.org/officeDocument/2006/relationships/image" Target="../media/image38.wmf"/><Relationship Id="rId9" Type="http://schemas.openxmlformats.org/officeDocument/2006/relationships/image" Target="../media/image4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 Id="rId6" Type="http://schemas.openxmlformats.org/officeDocument/2006/relationships/image" Target="../media/image52.wmf"/><Relationship Id="rId5" Type="http://schemas.openxmlformats.org/officeDocument/2006/relationships/image" Target="../media/image51.wmf"/><Relationship Id="rId4" Type="http://schemas.openxmlformats.org/officeDocument/2006/relationships/image" Target="../media/image50.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 Id="rId5" Type="http://schemas.openxmlformats.org/officeDocument/2006/relationships/image" Target="../media/image52.wmf"/><Relationship Id="rId4" Type="http://schemas.openxmlformats.org/officeDocument/2006/relationships/image" Target="../media/image56.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8.wmf"/><Relationship Id="rId1" Type="http://schemas.openxmlformats.org/officeDocument/2006/relationships/image" Target="../media/image57.wmf"/><Relationship Id="rId5" Type="http://schemas.openxmlformats.org/officeDocument/2006/relationships/image" Target="../media/image60.wmf"/><Relationship Id="rId4" Type="http://schemas.openxmlformats.org/officeDocument/2006/relationships/image" Target="../media/image59.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 Id="rId6" Type="http://schemas.openxmlformats.org/officeDocument/2006/relationships/image" Target="../media/image66.wmf"/><Relationship Id="rId5" Type="http://schemas.openxmlformats.org/officeDocument/2006/relationships/image" Target="../media/image65.wmf"/><Relationship Id="rId4" Type="http://schemas.openxmlformats.org/officeDocument/2006/relationships/image" Target="../media/image64.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 Id="rId6" Type="http://schemas.openxmlformats.org/officeDocument/2006/relationships/image" Target="../media/image72.wmf"/><Relationship Id="rId5" Type="http://schemas.openxmlformats.org/officeDocument/2006/relationships/image" Target="../media/image71.wmf"/><Relationship Id="rId4" Type="http://schemas.openxmlformats.org/officeDocument/2006/relationships/image" Target="../media/image70.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75.wmf"/><Relationship Id="rId7" Type="http://schemas.openxmlformats.org/officeDocument/2006/relationships/image" Target="../media/image79.wmf"/><Relationship Id="rId2" Type="http://schemas.openxmlformats.org/officeDocument/2006/relationships/image" Target="../media/image74.wmf"/><Relationship Id="rId1" Type="http://schemas.openxmlformats.org/officeDocument/2006/relationships/image" Target="../media/image73.wmf"/><Relationship Id="rId6" Type="http://schemas.openxmlformats.org/officeDocument/2006/relationships/image" Target="../media/image78.wmf"/><Relationship Id="rId5" Type="http://schemas.openxmlformats.org/officeDocument/2006/relationships/image" Target="../media/image77.wmf"/><Relationship Id="rId4" Type="http://schemas.openxmlformats.org/officeDocument/2006/relationships/image" Target="../media/image76.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87.wmf"/><Relationship Id="rId3" Type="http://schemas.openxmlformats.org/officeDocument/2006/relationships/image" Target="../media/image82.wmf"/><Relationship Id="rId7" Type="http://schemas.openxmlformats.org/officeDocument/2006/relationships/image" Target="../media/image86.wmf"/><Relationship Id="rId2" Type="http://schemas.openxmlformats.org/officeDocument/2006/relationships/image" Target="../media/image81.wmf"/><Relationship Id="rId1" Type="http://schemas.openxmlformats.org/officeDocument/2006/relationships/image" Target="../media/image80.wmf"/><Relationship Id="rId6" Type="http://schemas.openxmlformats.org/officeDocument/2006/relationships/image" Target="../media/image85.wmf"/><Relationship Id="rId11" Type="http://schemas.openxmlformats.org/officeDocument/2006/relationships/image" Target="../media/image73.wmf"/><Relationship Id="rId5" Type="http://schemas.openxmlformats.org/officeDocument/2006/relationships/image" Target="../media/image84.wmf"/><Relationship Id="rId10" Type="http://schemas.openxmlformats.org/officeDocument/2006/relationships/image" Target="../media/image89.wmf"/><Relationship Id="rId4" Type="http://schemas.openxmlformats.org/officeDocument/2006/relationships/image" Target="../media/image83.wmf"/><Relationship Id="rId9" Type="http://schemas.openxmlformats.org/officeDocument/2006/relationships/image" Target="../media/image8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image" Target="../media/image91.wmf"/><Relationship Id="rId1" Type="http://schemas.openxmlformats.org/officeDocument/2006/relationships/image" Target="../media/image90.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93.wmf"/><Relationship Id="rId6" Type="http://schemas.openxmlformats.org/officeDocument/2006/relationships/image" Target="../media/image98.wmf"/><Relationship Id="rId5" Type="http://schemas.openxmlformats.org/officeDocument/2006/relationships/image" Target="../media/image97.wmf"/><Relationship Id="rId4" Type="http://schemas.openxmlformats.org/officeDocument/2006/relationships/image" Target="../media/image96.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01.wmf"/><Relationship Id="rId7" Type="http://schemas.openxmlformats.org/officeDocument/2006/relationships/image" Target="../media/image105.wmf"/><Relationship Id="rId2" Type="http://schemas.openxmlformats.org/officeDocument/2006/relationships/image" Target="../media/image100.wmf"/><Relationship Id="rId1" Type="http://schemas.openxmlformats.org/officeDocument/2006/relationships/image" Target="../media/image99.wmf"/><Relationship Id="rId6" Type="http://schemas.openxmlformats.org/officeDocument/2006/relationships/image" Target="../media/image104.wmf"/><Relationship Id="rId5" Type="http://schemas.openxmlformats.org/officeDocument/2006/relationships/image" Target="../media/image103.wmf"/><Relationship Id="rId4" Type="http://schemas.openxmlformats.org/officeDocument/2006/relationships/image" Target="../media/image102.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6.wmf"/><Relationship Id="rId6" Type="http://schemas.openxmlformats.org/officeDocument/2006/relationships/image" Target="../media/image111.wmf"/><Relationship Id="rId5" Type="http://schemas.openxmlformats.org/officeDocument/2006/relationships/image" Target="../media/image110.wmf"/><Relationship Id="rId4" Type="http://schemas.openxmlformats.org/officeDocument/2006/relationships/image" Target="../media/image109.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19.wmf"/><Relationship Id="rId3" Type="http://schemas.openxmlformats.org/officeDocument/2006/relationships/image" Target="../media/image114.wmf"/><Relationship Id="rId7" Type="http://schemas.openxmlformats.org/officeDocument/2006/relationships/image" Target="../media/image118.wmf"/><Relationship Id="rId2" Type="http://schemas.openxmlformats.org/officeDocument/2006/relationships/image" Target="../media/image113.wmf"/><Relationship Id="rId1" Type="http://schemas.openxmlformats.org/officeDocument/2006/relationships/image" Target="../media/image112.wmf"/><Relationship Id="rId6" Type="http://schemas.openxmlformats.org/officeDocument/2006/relationships/image" Target="../media/image117.wmf"/><Relationship Id="rId5" Type="http://schemas.openxmlformats.org/officeDocument/2006/relationships/image" Target="../media/image116.wmf"/><Relationship Id="rId4" Type="http://schemas.openxmlformats.org/officeDocument/2006/relationships/image" Target="../media/image115.wmf"/><Relationship Id="rId9" Type="http://schemas.openxmlformats.org/officeDocument/2006/relationships/image" Target="../media/image120.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20.wmf"/><Relationship Id="rId3" Type="http://schemas.openxmlformats.org/officeDocument/2006/relationships/image" Target="../media/image123.wmf"/><Relationship Id="rId7" Type="http://schemas.openxmlformats.org/officeDocument/2006/relationships/image" Target="../media/image119.wmf"/><Relationship Id="rId2" Type="http://schemas.openxmlformats.org/officeDocument/2006/relationships/image" Target="../media/image122.wmf"/><Relationship Id="rId1" Type="http://schemas.openxmlformats.org/officeDocument/2006/relationships/image" Target="../media/image121.wmf"/><Relationship Id="rId6" Type="http://schemas.openxmlformats.org/officeDocument/2006/relationships/image" Target="../media/image126.wmf"/><Relationship Id="rId5" Type="http://schemas.openxmlformats.org/officeDocument/2006/relationships/image" Target="../media/image125.wmf"/><Relationship Id="rId4" Type="http://schemas.openxmlformats.org/officeDocument/2006/relationships/image" Target="../media/image124.wmf"/><Relationship Id="rId9" Type="http://schemas.openxmlformats.org/officeDocument/2006/relationships/image" Target="../media/image127.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 Id="rId5" Type="http://schemas.openxmlformats.org/officeDocument/2006/relationships/image" Target="../media/image132.wmf"/><Relationship Id="rId4" Type="http://schemas.openxmlformats.org/officeDocument/2006/relationships/image" Target="../media/image131.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41.wmf"/><Relationship Id="rId3" Type="http://schemas.openxmlformats.org/officeDocument/2006/relationships/image" Target="../media/image136.wmf"/><Relationship Id="rId7" Type="http://schemas.openxmlformats.org/officeDocument/2006/relationships/image" Target="../media/image140.wmf"/><Relationship Id="rId12" Type="http://schemas.openxmlformats.org/officeDocument/2006/relationships/image" Target="../media/image145.wmf"/><Relationship Id="rId2" Type="http://schemas.openxmlformats.org/officeDocument/2006/relationships/image" Target="../media/image135.wmf"/><Relationship Id="rId1" Type="http://schemas.openxmlformats.org/officeDocument/2006/relationships/image" Target="../media/image134.wmf"/><Relationship Id="rId6" Type="http://schemas.openxmlformats.org/officeDocument/2006/relationships/image" Target="../media/image139.wmf"/><Relationship Id="rId11" Type="http://schemas.openxmlformats.org/officeDocument/2006/relationships/image" Target="../media/image144.wmf"/><Relationship Id="rId5" Type="http://schemas.openxmlformats.org/officeDocument/2006/relationships/image" Target="../media/image138.wmf"/><Relationship Id="rId10" Type="http://schemas.openxmlformats.org/officeDocument/2006/relationships/image" Target="../media/image143.wmf"/><Relationship Id="rId4" Type="http://schemas.openxmlformats.org/officeDocument/2006/relationships/image" Target="../media/image137.wmf"/><Relationship Id="rId9" Type="http://schemas.openxmlformats.org/officeDocument/2006/relationships/image" Target="../media/image142.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48.wmf"/><Relationship Id="rId7" Type="http://schemas.openxmlformats.org/officeDocument/2006/relationships/image" Target="../media/image152.wmf"/><Relationship Id="rId2" Type="http://schemas.openxmlformats.org/officeDocument/2006/relationships/image" Target="../media/image147.wmf"/><Relationship Id="rId1" Type="http://schemas.openxmlformats.org/officeDocument/2006/relationships/image" Target="../media/image146.wmf"/><Relationship Id="rId6" Type="http://schemas.openxmlformats.org/officeDocument/2006/relationships/image" Target="../media/image151.wmf"/><Relationship Id="rId5" Type="http://schemas.openxmlformats.org/officeDocument/2006/relationships/image" Target="../media/image150.wmf"/><Relationship Id="rId4" Type="http://schemas.openxmlformats.org/officeDocument/2006/relationships/image" Target="../media/image149.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60.wmf"/><Relationship Id="rId3" Type="http://schemas.openxmlformats.org/officeDocument/2006/relationships/image" Target="../media/image155.wmf"/><Relationship Id="rId7" Type="http://schemas.openxmlformats.org/officeDocument/2006/relationships/image" Target="../media/image159.wmf"/><Relationship Id="rId2" Type="http://schemas.openxmlformats.org/officeDocument/2006/relationships/image" Target="../media/image154.wmf"/><Relationship Id="rId1" Type="http://schemas.openxmlformats.org/officeDocument/2006/relationships/image" Target="../media/image153.wmf"/><Relationship Id="rId6" Type="http://schemas.openxmlformats.org/officeDocument/2006/relationships/image" Target="../media/image158.wmf"/><Relationship Id="rId5" Type="http://schemas.openxmlformats.org/officeDocument/2006/relationships/image" Target="../media/image157.wmf"/><Relationship Id="rId4" Type="http://schemas.openxmlformats.org/officeDocument/2006/relationships/image" Target="../media/image156.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70.wmf"/><Relationship Id="rId3" Type="http://schemas.openxmlformats.org/officeDocument/2006/relationships/image" Target="../media/image165.wmf"/><Relationship Id="rId7" Type="http://schemas.openxmlformats.org/officeDocument/2006/relationships/image" Target="../media/image169.wmf"/><Relationship Id="rId2" Type="http://schemas.openxmlformats.org/officeDocument/2006/relationships/image" Target="../media/image164.wmf"/><Relationship Id="rId1" Type="http://schemas.openxmlformats.org/officeDocument/2006/relationships/image" Target="../media/image163.wmf"/><Relationship Id="rId6" Type="http://schemas.openxmlformats.org/officeDocument/2006/relationships/image" Target="../media/image168.wmf"/><Relationship Id="rId5" Type="http://schemas.openxmlformats.org/officeDocument/2006/relationships/image" Target="../media/image167.wmf"/><Relationship Id="rId10" Type="http://schemas.openxmlformats.org/officeDocument/2006/relationships/image" Target="../media/image172.wmf"/><Relationship Id="rId4" Type="http://schemas.openxmlformats.org/officeDocument/2006/relationships/image" Target="../media/image166.wmf"/><Relationship Id="rId9" Type="http://schemas.openxmlformats.org/officeDocument/2006/relationships/image" Target="../media/image171.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81.wmf"/><Relationship Id="rId3" Type="http://schemas.openxmlformats.org/officeDocument/2006/relationships/image" Target="../media/image176.wmf"/><Relationship Id="rId7" Type="http://schemas.openxmlformats.org/officeDocument/2006/relationships/image" Target="../media/image180.wmf"/><Relationship Id="rId12" Type="http://schemas.openxmlformats.org/officeDocument/2006/relationships/image" Target="../media/image185.wmf"/><Relationship Id="rId2" Type="http://schemas.openxmlformats.org/officeDocument/2006/relationships/image" Target="../media/image175.wmf"/><Relationship Id="rId1" Type="http://schemas.openxmlformats.org/officeDocument/2006/relationships/image" Target="../media/image174.wmf"/><Relationship Id="rId6" Type="http://schemas.openxmlformats.org/officeDocument/2006/relationships/image" Target="../media/image179.wmf"/><Relationship Id="rId11" Type="http://schemas.openxmlformats.org/officeDocument/2006/relationships/image" Target="../media/image184.wmf"/><Relationship Id="rId5" Type="http://schemas.openxmlformats.org/officeDocument/2006/relationships/image" Target="../media/image178.wmf"/><Relationship Id="rId10" Type="http://schemas.openxmlformats.org/officeDocument/2006/relationships/image" Target="../media/image183.wmf"/><Relationship Id="rId4" Type="http://schemas.openxmlformats.org/officeDocument/2006/relationships/image" Target="../media/image177.wmf"/><Relationship Id="rId9" Type="http://schemas.openxmlformats.org/officeDocument/2006/relationships/image" Target="../media/image182.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88.wmf"/><Relationship Id="rId2" Type="http://schemas.openxmlformats.org/officeDocument/2006/relationships/image" Target="../media/image187.wmf"/><Relationship Id="rId1" Type="http://schemas.openxmlformats.org/officeDocument/2006/relationships/image" Target="../media/image186.wmf"/><Relationship Id="rId5" Type="http://schemas.openxmlformats.org/officeDocument/2006/relationships/image" Target="../media/image190.wmf"/><Relationship Id="rId4" Type="http://schemas.openxmlformats.org/officeDocument/2006/relationships/image" Target="../media/image189.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92.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93.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201.wmf"/><Relationship Id="rId3" Type="http://schemas.openxmlformats.org/officeDocument/2006/relationships/image" Target="../media/image196.wmf"/><Relationship Id="rId7" Type="http://schemas.openxmlformats.org/officeDocument/2006/relationships/image" Target="../media/image200.wmf"/><Relationship Id="rId2" Type="http://schemas.openxmlformats.org/officeDocument/2006/relationships/image" Target="../media/image195.wmf"/><Relationship Id="rId1" Type="http://schemas.openxmlformats.org/officeDocument/2006/relationships/image" Target="../media/image194.wmf"/><Relationship Id="rId6" Type="http://schemas.openxmlformats.org/officeDocument/2006/relationships/image" Target="../media/image199.wmf"/><Relationship Id="rId5" Type="http://schemas.openxmlformats.org/officeDocument/2006/relationships/image" Target="../media/image198.wmf"/><Relationship Id="rId4" Type="http://schemas.openxmlformats.org/officeDocument/2006/relationships/image" Target="../media/image197.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209.wmf"/><Relationship Id="rId3" Type="http://schemas.openxmlformats.org/officeDocument/2006/relationships/image" Target="../media/image204.wmf"/><Relationship Id="rId7" Type="http://schemas.openxmlformats.org/officeDocument/2006/relationships/image" Target="../media/image208.wmf"/><Relationship Id="rId2" Type="http://schemas.openxmlformats.org/officeDocument/2006/relationships/image" Target="../media/image203.wmf"/><Relationship Id="rId1" Type="http://schemas.openxmlformats.org/officeDocument/2006/relationships/image" Target="../media/image202.wmf"/><Relationship Id="rId6" Type="http://schemas.openxmlformats.org/officeDocument/2006/relationships/image" Target="../media/image207.wmf"/><Relationship Id="rId11" Type="http://schemas.openxmlformats.org/officeDocument/2006/relationships/image" Target="../media/image212.wmf"/><Relationship Id="rId5" Type="http://schemas.openxmlformats.org/officeDocument/2006/relationships/image" Target="../media/image206.wmf"/><Relationship Id="rId10" Type="http://schemas.openxmlformats.org/officeDocument/2006/relationships/image" Target="../media/image211.wmf"/><Relationship Id="rId4" Type="http://schemas.openxmlformats.org/officeDocument/2006/relationships/image" Target="../media/image205.wmf"/><Relationship Id="rId9" Type="http://schemas.openxmlformats.org/officeDocument/2006/relationships/image" Target="../media/image210.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220.wmf"/><Relationship Id="rId3" Type="http://schemas.openxmlformats.org/officeDocument/2006/relationships/image" Target="../media/image215.wmf"/><Relationship Id="rId7" Type="http://schemas.openxmlformats.org/officeDocument/2006/relationships/image" Target="../media/image219.wmf"/><Relationship Id="rId2" Type="http://schemas.openxmlformats.org/officeDocument/2006/relationships/image" Target="../media/image214.wmf"/><Relationship Id="rId1" Type="http://schemas.openxmlformats.org/officeDocument/2006/relationships/image" Target="../media/image213.wmf"/><Relationship Id="rId6" Type="http://schemas.openxmlformats.org/officeDocument/2006/relationships/image" Target="../media/image218.wmf"/><Relationship Id="rId5" Type="http://schemas.openxmlformats.org/officeDocument/2006/relationships/image" Target="../media/image217.wmf"/><Relationship Id="rId4" Type="http://schemas.openxmlformats.org/officeDocument/2006/relationships/image" Target="../media/image216.wmf"/><Relationship Id="rId9" Type="http://schemas.openxmlformats.org/officeDocument/2006/relationships/image" Target="../media/image221.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224.wmf"/><Relationship Id="rId2" Type="http://schemas.openxmlformats.org/officeDocument/2006/relationships/image" Target="../media/image223.wmf"/><Relationship Id="rId1" Type="http://schemas.openxmlformats.org/officeDocument/2006/relationships/image" Target="../media/image222.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227.wmf"/><Relationship Id="rId2" Type="http://schemas.openxmlformats.org/officeDocument/2006/relationships/image" Target="../media/image226.wmf"/><Relationship Id="rId1" Type="http://schemas.openxmlformats.org/officeDocument/2006/relationships/image" Target="../media/image225.wmf"/><Relationship Id="rId6" Type="http://schemas.openxmlformats.org/officeDocument/2006/relationships/image" Target="../media/image230.wmf"/><Relationship Id="rId5" Type="http://schemas.openxmlformats.org/officeDocument/2006/relationships/image" Target="../media/image229.wmf"/><Relationship Id="rId4" Type="http://schemas.openxmlformats.org/officeDocument/2006/relationships/image" Target="../media/image228.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33.wmf"/><Relationship Id="rId2" Type="http://schemas.openxmlformats.org/officeDocument/2006/relationships/image" Target="../media/image232.wmf"/><Relationship Id="rId1" Type="http://schemas.openxmlformats.org/officeDocument/2006/relationships/image" Target="../media/image231.wmf"/><Relationship Id="rId5" Type="http://schemas.openxmlformats.org/officeDocument/2006/relationships/image" Target="../media/image235.wmf"/><Relationship Id="rId4" Type="http://schemas.openxmlformats.org/officeDocument/2006/relationships/image" Target="../media/image234.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243.wmf"/><Relationship Id="rId3" Type="http://schemas.openxmlformats.org/officeDocument/2006/relationships/image" Target="../media/image238.wmf"/><Relationship Id="rId7" Type="http://schemas.openxmlformats.org/officeDocument/2006/relationships/image" Target="../media/image242.wmf"/><Relationship Id="rId2" Type="http://schemas.openxmlformats.org/officeDocument/2006/relationships/image" Target="../media/image237.wmf"/><Relationship Id="rId1" Type="http://schemas.openxmlformats.org/officeDocument/2006/relationships/image" Target="../media/image236.wmf"/><Relationship Id="rId6" Type="http://schemas.openxmlformats.org/officeDocument/2006/relationships/image" Target="../media/image241.wmf"/><Relationship Id="rId5" Type="http://schemas.openxmlformats.org/officeDocument/2006/relationships/image" Target="../media/image240.wmf"/><Relationship Id="rId4" Type="http://schemas.openxmlformats.org/officeDocument/2006/relationships/image" Target="../media/image239.wmf"/><Relationship Id="rId9" Type="http://schemas.openxmlformats.org/officeDocument/2006/relationships/image" Target="../media/image244.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245.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249.wmf"/><Relationship Id="rId2" Type="http://schemas.openxmlformats.org/officeDocument/2006/relationships/image" Target="../media/image248.wmf"/><Relationship Id="rId1" Type="http://schemas.openxmlformats.org/officeDocument/2006/relationships/image" Target="../media/image247.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52.wmf"/><Relationship Id="rId2" Type="http://schemas.openxmlformats.org/officeDocument/2006/relationships/image" Target="../media/image251.wmf"/><Relationship Id="rId1" Type="http://schemas.openxmlformats.org/officeDocument/2006/relationships/image" Target="../media/image250.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56.wmf"/><Relationship Id="rId2" Type="http://schemas.openxmlformats.org/officeDocument/2006/relationships/image" Target="../media/image255.wmf"/><Relationship Id="rId1" Type="http://schemas.openxmlformats.org/officeDocument/2006/relationships/image" Target="../media/image254.wmf"/><Relationship Id="rId5" Type="http://schemas.openxmlformats.org/officeDocument/2006/relationships/image" Target="../media/image258.wmf"/><Relationship Id="rId4" Type="http://schemas.openxmlformats.org/officeDocument/2006/relationships/image" Target="../media/image257.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261.wmf"/><Relationship Id="rId7" Type="http://schemas.openxmlformats.org/officeDocument/2006/relationships/image" Target="../media/image265.wmf"/><Relationship Id="rId2" Type="http://schemas.openxmlformats.org/officeDocument/2006/relationships/image" Target="../media/image260.wmf"/><Relationship Id="rId1" Type="http://schemas.openxmlformats.org/officeDocument/2006/relationships/image" Target="../media/image259.wmf"/><Relationship Id="rId6" Type="http://schemas.openxmlformats.org/officeDocument/2006/relationships/image" Target="../media/image264.wmf"/><Relationship Id="rId5" Type="http://schemas.openxmlformats.org/officeDocument/2006/relationships/image" Target="../media/image263.wmf"/><Relationship Id="rId4" Type="http://schemas.openxmlformats.org/officeDocument/2006/relationships/image" Target="../media/image262.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268.wmf"/><Relationship Id="rId2" Type="http://schemas.openxmlformats.org/officeDocument/2006/relationships/image" Target="../media/image267.wmf"/><Relationship Id="rId1" Type="http://schemas.openxmlformats.org/officeDocument/2006/relationships/image" Target="../media/image266.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71.wmf"/><Relationship Id="rId2" Type="http://schemas.openxmlformats.org/officeDocument/2006/relationships/image" Target="../media/image270.wmf"/><Relationship Id="rId1" Type="http://schemas.openxmlformats.org/officeDocument/2006/relationships/image" Target="../media/image269.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274.wmf"/><Relationship Id="rId7" Type="http://schemas.openxmlformats.org/officeDocument/2006/relationships/image" Target="../media/image278.wmf"/><Relationship Id="rId2" Type="http://schemas.openxmlformats.org/officeDocument/2006/relationships/image" Target="../media/image273.wmf"/><Relationship Id="rId1" Type="http://schemas.openxmlformats.org/officeDocument/2006/relationships/image" Target="../media/image272.wmf"/><Relationship Id="rId6" Type="http://schemas.openxmlformats.org/officeDocument/2006/relationships/image" Target="../media/image277.wmf"/><Relationship Id="rId5" Type="http://schemas.openxmlformats.org/officeDocument/2006/relationships/image" Target="../media/image276.wmf"/><Relationship Id="rId4" Type="http://schemas.openxmlformats.org/officeDocument/2006/relationships/image" Target="../media/image275.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81.wmf"/><Relationship Id="rId2" Type="http://schemas.openxmlformats.org/officeDocument/2006/relationships/image" Target="../media/image280.wmf"/><Relationship Id="rId1" Type="http://schemas.openxmlformats.org/officeDocument/2006/relationships/image" Target="../media/image279.wmf"/><Relationship Id="rId4" Type="http://schemas.openxmlformats.org/officeDocument/2006/relationships/image" Target="../media/image282.wmf"/></Relationships>
</file>

<file path=ppt/drawings/_rels/vmlDrawing47.vml.rels><?xml version="1.0" encoding="UTF-8" standalone="yes"?>
<Relationships xmlns="http://schemas.openxmlformats.org/package/2006/relationships"><Relationship Id="rId8" Type="http://schemas.openxmlformats.org/officeDocument/2006/relationships/image" Target="../media/image291.wmf"/><Relationship Id="rId3" Type="http://schemas.openxmlformats.org/officeDocument/2006/relationships/image" Target="../media/image286.wmf"/><Relationship Id="rId7" Type="http://schemas.openxmlformats.org/officeDocument/2006/relationships/image" Target="../media/image290.wmf"/><Relationship Id="rId2" Type="http://schemas.openxmlformats.org/officeDocument/2006/relationships/image" Target="../media/image285.wmf"/><Relationship Id="rId1" Type="http://schemas.openxmlformats.org/officeDocument/2006/relationships/image" Target="../media/image284.wmf"/><Relationship Id="rId6" Type="http://schemas.openxmlformats.org/officeDocument/2006/relationships/image" Target="../media/image289.wmf"/><Relationship Id="rId11" Type="http://schemas.openxmlformats.org/officeDocument/2006/relationships/image" Target="../media/image294.wmf"/><Relationship Id="rId5" Type="http://schemas.openxmlformats.org/officeDocument/2006/relationships/image" Target="../media/image288.wmf"/><Relationship Id="rId10" Type="http://schemas.openxmlformats.org/officeDocument/2006/relationships/image" Target="../media/image293.wmf"/><Relationship Id="rId4" Type="http://schemas.openxmlformats.org/officeDocument/2006/relationships/image" Target="../media/image287.wmf"/><Relationship Id="rId9" Type="http://schemas.openxmlformats.org/officeDocument/2006/relationships/image" Target="../media/image292.wmf"/></Relationships>
</file>

<file path=ppt/drawings/_rels/vmlDrawing48.vml.rels><?xml version="1.0" encoding="UTF-8" standalone="yes"?>
<Relationships xmlns="http://schemas.openxmlformats.org/package/2006/relationships"><Relationship Id="rId8" Type="http://schemas.openxmlformats.org/officeDocument/2006/relationships/image" Target="../media/image304.wmf"/><Relationship Id="rId13" Type="http://schemas.openxmlformats.org/officeDocument/2006/relationships/image" Target="../media/image309.wmf"/><Relationship Id="rId3" Type="http://schemas.openxmlformats.org/officeDocument/2006/relationships/image" Target="../media/image300.wmf"/><Relationship Id="rId7" Type="http://schemas.openxmlformats.org/officeDocument/2006/relationships/image" Target="../media/image303.wmf"/><Relationship Id="rId12" Type="http://schemas.openxmlformats.org/officeDocument/2006/relationships/image" Target="../media/image308.wmf"/><Relationship Id="rId2" Type="http://schemas.openxmlformats.org/officeDocument/2006/relationships/image" Target="../media/image299.wmf"/><Relationship Id="rId1" Type="http://schemas.openxmlformats.org/officeDocument/2006/relationships/image" Target="../media/image298.wmf"/><Relationship Id="rId6" Type="http://schemas.openxmlformats.org/officeDocument/2006/relationships/image" Target="../media/image193.wmf"/><Relationship Id="rId11" Type="http://schemas.openxmlformats.org/officeDocument/2006/relationships/image" Target="../media/image307.wmf"/><Relationship Id="rId5" Type="http://schemas.openxmlformats.org/officeDocument/2006/relationships/image" Target="../media/image302.wmf"/><Relationship Id="rId10" Type="http://schemas.openxmlformats.org/officeDocument/2006/relationships/image" Target="../media/image306.wmf"/><Relationship Id="rId4" Type="http://schemas.openxmlformats.org/officeDocument/2006/relationships/image" Target="../media/image301.wmf"/><Relationship Id="rId9" Type="http://schemas.openxmlformats.org/officeDocument/2006/relationships/image" Target="../media/image305.wmf"/><Relationship Id="rId14" Type="http://schemas.openxmlformats.org/officeDocument/2006/relationships/image" Target="../media/image310.wmf"/></Relationships>
</file>

<file path=ppt/drawings/_rels/vmlDrawing49.vml.rels><?xml version="1.0" encoding="UTF-8" standalone="yes"?>
<Relationships xmlns="http://schemas.openxmlformats.org/package/2006/relationships"><Relationship Id="rId8" Type="http://schemas.openxmlformats.org/officeDocument/2006/relationships/image" Target="../media/image321.wmf"/><Relationship Id="rId3" Type="http://schemas.openxmlformats.org/officeDocument/2006/relationships/image" Target="../media/image316.wmf"/><Relationship Id="rId7" Type="http://schemas.openxmlformats.org/officeDocument/2006/relationships/image" Target="../media/image320.wmf"/><Relationship Id="rId2" Type="http://schemas.openxmlformats.org/officeDocument/2006/relationships/image" Target="../media/image315.wmf"/><Relationship Id="rId1" Type="http://schemas.openxmlformats.org/officeDocument/2006/relationships/image" Target="../media/image314.wmf"/><Relationship Id="rId6" Type="http://schemas.openxmlformats.org/officeDocument/2006/relationships/image" Target="../media/image319.wmf"/><Relationship Id="rId5" Type="http://schemas.openxmlformats.org/officeDocument/2006/relationships/image" Target="../media/image318.wmf"/><Relationship Id="rId4" Type="http://schemas.openxmlformats.org/officeDocument/2006/relationships/image" Target="../media/image317.wmf"/><Relationship Id="rId9" Type="http://schemas.openxmlformats.org/officeDocument/2006/relationships/image" Target="../media/image322.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327.wmf"/><Relationship Id="rId2" Type="http://schemas.openxmlformats.org/officeDocument/2006/relationships/image" Target="../media/image326.wmf"/><Relationship Id="rId1" Type="http://schemas.openxmlformats.org/officeDocument/2006/relationships/image" Target="../media/image325.wmf"/><Relationship Id="rId4" Type="http://schemas.openxmlformats.org/officeDocument/2006/relationships/image" Target="../media/image32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00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13005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67588"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3005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3005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3005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85069F0F-305D-4777-B94E-EE50D539C0D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BE8ACC3F-C7FA-4827-854C-D7B0B950990C}" type="slidenum">
              <a:rPr lang="en-US" altLang="zh-CN" smtClean="0"/>
              <a:pPr/>
              <a:t>32</a:t>
            </a:fld>
            <a:endParaRPr lang="en-US" altLang="zh-CN" smtClean="0"/>
          </a:p>
        </p:txBody>
      </p:sp>
      <p:sp>
        <p:nvSpPr>
          <p:cNvPr id="68611" name="Rectangle 2"/>
          <p:cNvSpPr>
            <a:spLocks noRo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r>
              <a:rPr lang="zh-CN" altLang="en-US" b="1" smtClean="0"/>
              <a:t>在孤立的谐振动系统中，机械能守恒而且动能和势能在不断地相互转化；在波动中，介质中的每个质元总能量不守恒， 且同一质元内的动能和势能是同步变化的，即动能为最大时势能也为最大，反之亦然。</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B236DFED-7723-47EE-9B7C-1B599AD1A44D}" type="slidenum">
              <a:rPr lang="en-US" altLang="zh-CN" smtClean="0"/>
              <a:pPr/>
              <a:t>52</a:t>
            </a:fld>
            <a:endParaRPr lang="en-US" altLang="zh-CN" smtClean="0"/>
          </a:p>
        </p:txBody>
      </p:sp>
      <p:sp>
        <p:nvSpPr>
          <p:cNvPr id="69635" name="Rectangle 2"/>
          <p:cNvSpPr>
            <a:spLocks noRo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r>
              <a:rPr lang="en-US" altLang="zh-CN" b="1" smtClean="0"/>
              <a:t>1.</a:t>
            </a:r>
            <a:r>
              <a:rPr lang="zh-CN" altLang="en-US" b="1" smtClean="0"/>
              <a:t>波腹、波节的坐标位置公式是特殊情况下的结论（即两相干波初相为零时所得），不具普遍性。</a:t>
            </a:r>
          </a:p>
          <a:p>
            <a:pPr eaLnBrk="1" hangingPunct="1"/>
            <a:r>
              <a:rPr lang="en-US" altLang="zh-CN" b="1" smtClean="0"/>
              <a:t>2.</a:t>
            </a:r>
            <a:r>
              <a:rPr lang="zh-CN" altLang="en-US" b="1" smtClean="0"/>
              <a:t>两相邻波腹，两相邻波节间距为 </a:t>
            </a:r>
            <a:r>
              <a:rPr lang="zh-CN" altLang="en-US" b="1" smtClean="0">
                <a:sym typeface="Symbol" pitchFamily="18" charset="2"/>
              </a:rPr>
              <a:t></a:t>
            </a:r>
            <a:r>
              <a:rPr lang="zh-CN" altLang="en-US" b="1" smtClean="0"/>
              <a:t> 的结论具有普遍性，求波节、波腹的方法，思路具有普遍性。</a:t>
            </a:r>
          </a:p>
          <a:p>
            <a:pPr eaLnBrk="1" hangingPunct="1"/>
            <a:endParaRPr lang="en-US" altLang="zh-CN" b="1"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154BFC76-474A-47AB-939E-E91DD1C15132}" type="slidenum">
              <a:rPr lang="en-US" altLang="zh-CN" smtClean="0"/>
              <a:pPr/>
              <a:t>54</a:t>
            </a:fld>
            <a:endParaRPr lang="en-US" altLang="zh-CN" smtClean="0"/>
          </a:p>
        </p:txBody>
      </p:sp>
      <p:sp>
        <p:nvSpPr>
          <p:cNvPr id="70659" name="Rectangle 2"/>
          <p:cNvSpPr>
            <a:spLocks noRo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lnSpc>
                <a:spcPct val="115000"/>
              </a:lnSpc>
              <a:spcBef>
                <a:spcPct val="0"/>
              </a:spcBef>
            </a:pPr>
            <a:r>
              <a:rPr lang="zh-CN" altLang="en-US" b="1" smtClean="0">
                <a:solidFill>
                  <a:srgbClr val="008000"/>
                </a:solidFill>
              </a:rPr>
              <a:t>没有能量的定向传播。</a:t>
            </a:r>
            <a:r>
              <a:rPr lang="zh-CN" altLang="en-US" b="1" smtClean="0">
                <a:solidFill>
                  <a:schemeClr val="bg1"/>
                </a:solidFill>
              </a:rPr>
              <a:t>能量只是在波节和波腹之间，进行动能和势能的转化。</a:t>
            </a:r>
            <a:r>
              <a:rPr lang="zh-CN" altLang="en-US" b="1" smtClean="0"/>
              <a:t>故谓之驻波，这也是驻波和行波的一个重要区别。</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522F73E-B420-444F-B690-4BB9464776E6}"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4402317-120B-490C-BB9D-3879CCA9ADAE}"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B660789-9C22-45F9-BE59-2D5F059F6D9C}"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EA29D1AF-8802-4214-BD6B-D7465C223200}"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BA900CF9-AF1B-44B1-B8B6-7F9E54084EC7}"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1B442B27-AE7A-4CFB-9579-AFD77A8F81BB}"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0FB89074-9D0E-484F-9D5B-55C9DA3EAA71}"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D59F10F-8EE7-4BE0-A8B9-8B70A06056ED}"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1665173-EEF7-4E06-B01E-EF0FA7DD1FAE}"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E203BDA8-DFCF-4EBA-BF7D-115B92C3E1AC}"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8F0F404-642F-4674-889B-FC8060366824}"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2900ADB6-247F-4CA0-8D48-E880C641A318}" type="datetimeFigureOut">
              <a:rPr lang="zh-CN" altLang="en-US"/>
              <a:pPr>
                <a:defRPr/>
              </a:pPr>
              <a:t>2015/12/4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71C0A68-C7D6-4AE0-B51A-8CC0C4CB64A3}" type="slidenum">
              <a:rPr lang="zh-CN" altLang="en-US"/>
              <a:pPr>
                <a:defRPr/>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F074A6E1-4131-4DBA-8E84-34011E1831CC}" type="datetimeFigureOut">
              <a:rPr lang="zh-CN" altLang="en-US"/>
              <a:pPr>
                <a:defRPr/>
              </a:pPr>
              <a:t>2015/12/4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856A8DE-37BE-48D3-88A6-1E4D52B5374D}" type="slidenum">
              <a:rPr lang="zh-CN" altLang="en-US"/>
              <a:pPr>
                <a:defRPr/>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722BAA38-1CF2-4ECD-AEA0-0AB8CCE2026A}" type="datetimeFigureOut">
              <a:rPr lang="zh-CN" altLang="en-US"/>
              <a:pPr>
                <a:defRPr/>
              </a:pPr>
              <a:t>2015/12/4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4538438-B742-45C2-AC3C-3837850FF6E1}" type="slidenum">
              <a:rPr lang="zh-CN" altLang="en-US"/>
              <a:pPr>
                <a:defRPr/>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B4E623F4-7888-4B61-B7CD-9073E49BA809}" type="datetimeFigureOut">
              <a:rPr lang="zh-CN" altLang="en-US"/>
              <a:pPr>
                <a:defRPr/>
              </a:pPr>
              <a:t>2015/12/4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1471C954-3775-49CB-93CE-1DD19D643468}" type="slidenum">
              <a:rPr lang="zh-CN" altLang="en-US"/>
              <a:pPr>
                <a:defRPr/>
              </a:pPr>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EEC7FF64-3CD2-45D6-B1CC-8751A9EE89C6}" type="datetimeFigureOut">
              <a:rPr lang="zh-CN" altLang="en-US"/>
              <a:pPr>
                <a:defRPr/>
              </a:pPr>
              <a:t>2015/12/4</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8BF44671-0884-4144-95B1-9A813E4AE02C}" type="slidenum">
              <a:rPr lang="zh-CN" altLang="en-US"/>
              <a:pPr>
                <a:defRPr/>
              </a:pPr>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AEE9DF62-F2BA-4200-AF44-A585F82222B1}" type="datetimeFigureOut">
              <a:rPr lang="zh-CN" altLang="en-US"/>
              <a:pPr>
                <a:defRPr/>
              </a:pPr>
              <a:t>2015/12/4</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6BCC9BC4-E674-4034-8BB3-96A6ED8341FB}" type="slidenum">
              <a:rPr lang="zh-CN" altLang="en-US"/>
              <a:pPr>
                <a:defRPr/>
              </a:pPr>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046FD4E0-69EF-4421-A5EB-BB9DB16F3963}" type="datetimeFigureOut">
              <a:rPr lang="zh-CN" altLang="en-US"/>
              <a:pPr>
                <a:defRPr/>
              </a:pPr>
              <a:t>2015/12/4</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367F955B-58EF-46FF-BBC0-1C236BEFF5E4}" type="slidenum">
              <a:rPr lang="zh-CN" altLang="en-US"/>
              <a:pPr>
                <a:defRPr/>
              </a:pPr>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9E44A4CA-EA9C-4690-A064-102000FFF92F}" type="datetimeFigureOut">
              <a:rPr lang="zh-CN" altLang="en-US"/>
              <a:pPr>
                <a:defRPr/>
              </a:pPr>
              <a:t>2015/12/4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8110378-0FD2-4BFF-B8A3-D1D26C5B17A1}" type="slidenum">
              <a:rPr lang="zh-CN" altLang="en-US"/>
              <a:pPr>
                <a:defRPr/>
              </a:pPr>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E70BD474-FE19-481F-9DDD-6E14E20D9217}" type="datetimeFigureOut">
              <a:rPr lang="zh-CN" altLang="en-US"/>
              <a:pPr>
                <a:defRPr/>
              </a:pPr>
              <a:t>2015/12/4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38BCAC2-F97A-4295-ADA1-EB4579AC14F1}" type="slidenum">
              <a:rPr lang="zh-CN" altLang="en-US"/>
              <a:pPr>
                <a:defRPr/>
              </a:pPr>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57F3F5A6-A5D8-40D8-960E-E5AC081B88F8}" type="datetimeFigureOut">
              <a:rPr lang="zh-CN" altLang="en-US"/>
              <a:pPr>
                <a:defRPr/>
              </a:pPr>
              <a:t>2015/12/4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63854C6-6820-49F6-84F3-9B1E0D9A7063}" type="slidenum">
              <a:rPr lang="zh-CN" altLang="en-US"/>
              <a:pPr>
                <a:defRPr/>
              </a:pPr>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D1CB7F3A-D838-49BC-AEE8-5A0904C17CC2}" type="datetimeFigureOut">
              <a:rPr lang="zh-CN" altLang="en-US"/>
              <a:pPr>
                <a:defRPr/>
              </a:pPr>
              <a:t>2015/12/4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27E3781-2955-4945-B58A-06D6C021A188}" type="slidenum">
              <a:rPr lang="zh-CN" altLang="en-US"/>
              <a:pPr>
                <a:defRPr/>
              </a:pPr>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9F85C085-08A1-462C-A307-0B834C2031B9}" type="datetimeFigureOut">
              <a:rPr lang="zh-CN" altLang="en-US"/>
              <a:pPr>
                <a:defRPr/>
              </a:pPr>
              <a:t>2015/12/4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8F961C0-B460-4DAD-86CE-E25808014FCA}" type="slidenum">
              <a:rPr lang="zh-CN" altLang="en-US"/>
              <a:pPr>
                <a:defRPr/>
              </a:pPr>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597F222E-A172-4C6F-9980-D4CB9602ACE5}" type="datetimeFigureOut">
              <a:rPr lang="zh-CN" altLang="en-US"/>
              <a:pPr>
                <a:defRPr/>
              </a:pPr>
              <a:t>2015/12/4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3DC00A3-669E-40B8-AE00-A2EC7DB5C931}" type="slidenum">
              <a:rPr lang="zh-CN" altLang="en-US"/>
              <a:pPr>
                <a:defRPr/>
              </a:pPr>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3F5ECC4B-F205-40AB-8E3E-641273D2F84D}" type="datetimeFigureOut">
              <a:rPr lang="zh-CN" altLang="en-US"/>
              <a:pPr>
                <a:defRPr/>
              </a:pPr>
              <a:t>2015/12/4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7F38CF6-030F-4C73-BAF2-160D303F6731}" type="slidenum">
              <a:rPr lang="zh-CN" altLang="en-US"/>
              <a:pPr>
                <a:defRPr/>
              </a:pPr>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4658D9E6-B799-4512-8801-5C775C67175A}" type="datetimeFigureOut">
              <a:rPr lang="zh-CN" altLang="en-US"/>
              <a:pPr>
                <a:defRPr/>
              </a:pPr>
              <a:t>2015/12/4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35A5913-3BFF-4EA1-9F71-23A5CD6B6BB3}" type="slidenum">
              <a:rPr lang="zh-CN" altLang="en-US"/>
              <a:pPr>
                <a:defRPr/>
              </a:pPr>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5A3C309B-E768-4683-8406-0EF47F317B37}" type="datetimeFigureOut">
              <a:rPr lang="zh-CN" altLang="en-US"/>
              <a:pPr>
                <a:defRPr/>
              </a:pPr>
              <a:t>2015/12/4</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3E9CECB1-3788-4FE5-8D18-6B5708B6D6B3}" type="slidenum">
              <a:rPr lang="zh-CN" altLang="en-US"/>
              <a:pPr>
                <a:defRPr/>
              </a:pPr>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BEAD3EE1-400F-4714-B279-7F3B0894B168}" type="datetimeFigureOut">
              <a:rPr lang="zh-CN" altLang="en-US"/>
              <a:pPr>
                <a:defRPr/>
              </a:pPr>
              <a:t>2015/12/4</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36BE6762-D666-4A84-9C54-307D0AB6EA1C}" type="slidenum">
              <a:rPr lang="zh-CN" altLang="en-US"/>
              <a:pPr>
                <a:defRPr/>
              </a:pPr>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4C229543-3DD9-4AB9-9CB7-B56F5BC81BD4}" type="datetimeFigureOut">
              <a:rPr lang="zh-CN" altLang="en-US"/>
              <a:pPr>
                <a:defRPr/>
              </a:pPr>
              <a:t>2015/12/4</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8A6BC476-1927-4FD9-B253-EE3F13F3EBC7}" type="slidenum">
              <a:rPr lang="zh-CN" altLang="en-US"/>
              <a:pPr>
                <a:defRPr/>
              </a:pPr>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7E74F0DC-06D0-42EF-801D-19C4ABBB1733}" type="datetimeFigureOut">
              <a:rPr lang="zh-CN" altLang="en-US"/>
              <a:pPr>
                <a:defRPr/>
              </a:pPr>
              <a:t>2015/12/4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B6CDE035-CEA5-48CD-ABA1-F38A9FFBF9A4}" type="slidenum">
              <a:rPr lang="zh-CN" altLang="en-US"/>
              <a:pPr>
                <a:defRPr/>
              </a:pPr>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15A2168-0DB3-4723-93B7-5497E7F52CA5}" type="datetimeFigureOut">
              <a:rPr lang="zh-CN" altLang="en-US"/>
              <a:pPr>
                <a:defRPr/>
              </a:pPr>
              <a:t>2015/12/4</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93B7F05-040B-46EB-8185-CC7A9FB27E32}" type="slidenum">
              <a:rPr lang="zh-CN" altLang="en-US"/>
              <a:pPr>
                <a:defRPr/>
              </a:pPr>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190F3148-EED9-40A8-A13D-32600F1D17C7}" type="datetimeFigureOut">
              <a:rPr lang="zh-CN" altLang="en-US"/>
              <a:pPr>
                <a:defRPr/>
              </a:pPr>
              <a:t>2015/12/4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9B7FD35-F1B2-4084-8D35-40E2C2DE07EE}" type="slidenum">
              <a:rPr lang="zh-CN" altLang="en-US"/>
              <a:pPr>
                <a:defRPr/>
              </a:pPr>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F748898A-4A03-4DF5-913F-7AD00C1C4E7A}" type="datetimeFigureOut">
              <a:rPr lang="zh-CN" altLang="en-US"/>
              <a:pPr>
                <a:defRPr/>
              </a:pPr>
              <a:t>2015/12/4</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F1EACFC-800E-4FF0-AC62-471485DC81E4}"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w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w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522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1EB323BD-2DAB-4552-84CD-DC7AEF771173}" type="slidenum">
              <a:rPr lang="en-US" altLang="zh-CN"/>
              <a:pPr>
                <a:defRPr/>
              </a:pPr>
              <a:t>‹#›</a:t>
            </a:fld>
            <a:endParaRPr lang="en-US" altLang="zh-CN"/>
          </a:p>
        </p:txBody>
      </p:sp>
      <p:pic>
        <p:nvPicPr>
          <p:cNvPr id="52231" name="Picture 7" descr="backgond1"/>
          <p:cNvPicPr>
            <a:picLocks noChangeAspect="1" noChangeArrowheads="1"/>
          </p:cNvPicPr>
          <p:nvPr/>
        </p:nvPicPr>
        <p:blipFill>
          <a:blip r:embed="rId14"/>
          <a:srcRect/>
          <a:stretch>
            <a:fillRect/>
          </a:stretch>
        </p:blipFill>
        <p:spPr bwMode="auto">
          <a:xfrm>
            <a:off x="6350" y="6350"/>
            <a:ext cx="9131300" cy="6845300"/>
          </a:xfrm>
          <a:prstGeom prst="rect">
            <a:avLst/>
          </a:prstGeom>
          <a:noFill/>
          <a:ln w="9525">
            <a:noFill/>
            <a:miter lim="800000"/>
            <a:headEnd/>
            <a:tailEnd/>
          </a:ln>
        </p:spPr>
      </p:pic>
      <p:sp>
        <p:nvSpPr>
          <p:cNvPr id="1032" name="Rectangle 8">
            <a:hlinkClick r:id="" action="ppaction://hlinkshowjump?jump=previousslide"/>
          </p:cNvPr>
          <p:cNvSpPr>
            <a:spLocks noChangeArrowheads="1"/>
          </p:cNvSpPr>
          <p:nvPr/>
        </p:nvSpPr>
        <p:spPr bwMode="auto">
          <a:xfrm>
            <a:off x="7308850" y="6669088"/>
            <a:ext cx="431800" cy="73025"/>
          </a:xfrm>
          <a:prstGeom prst="rect">
            <a:avLst/>
          </a:prstGeom>
          <a:noFill/>
          <a:ln w="9525">
            <a:noFill/>
            <a:miter lim="800000"/>
            <a:headEnd/>
            <a:tailEnd/>
          </a:ln>
          <a:effectLst/>
        </p:spPr>
        <p:txBody>
          <a:bodyPr wrap="none" anchor="ctr"/>
          <a:lstStyle/>
          <a:p>
            <a:pPr>
              <a:defRPr/>
            </a:pPr>
            <a:endParaRPr lang="zh-CN" altLang="en-US"/>
          </a:p>
        </p:txBody>
      </p:sp>
      <p:sp>
        <p:nvSpPr>
          <p:cNvPr id="1033" name="Rectangle 9"/>
          <p:cNvSpPr>
            <a:spLocks noChangeArrowheads="1"/>
          </p:cNvSpPr>
          <p:nvPr/>
        </p:nvSpPr>
        <p:spPr bwMode="auto">
          <a:xfrm>
            <a:off x="7773988" y="6669088"/>
            <a:ext cx="431800" cy="73025"/>
          </a:xfrm>
          <a:prstGeom prst="rect">
            <a:avLst/>
          </a:prstGeom>
          <a:noFill/>
          <a:ln w="9525">
            <a:noFill/>
            <a:miter lim="800000"/>
            <a:headEnd/>
            <a:tailEnd/>
          </a:ln>
          <a:effectLst/>
        </p:spPr>
        <p:txBody>
          <a:bodyPr wrap="none" anchor="ctr"/>
          <a:lstStyle/>
          <a:p>
            <a:pPr>
              <a:defRPr/>
            </a:pPr>
            <a:endParaRPr lang="zh-CN" altLang="en-US"/>
          </a:p>
        </p:txBody>
      </p:sp>
      <p:sp>
        <p:nvSpPr>
          <p:cNvPr id="1034" name="Rectangle 10">
            <a:hlinkClick r:id="" action="ppaction://hlinkshowjump?jump=nextslide"/>
          </p:cNvPr>
          <p:cNvSpPr>
            <a:spLocks noChangeArrowheads="1"/>
          </p:cNvSpPr>
          <p:nvPr/>
        </p:nvSpPr>
        <p:spPr bwMode="auto">
          <a:xfrm>
            <a:off x="8243888" y="6669088"/>
            <a:ext cx="431800" cy="73025"/>
          </a:xfrm>
          <a:prstGeom prst="rect">
            <a:avLst/>
          </a:prstGeom>
          <a:noFill/>
          <a:ln w="9525">
            <a:noFill/>
            <a:miter lim="800000"/>
            <a:headEnd/>
            <a:tailEnd/>
          </a:ln>
          <a:effectLst/>
        </p:spPr>
        <p:txBody>
          <a:bodyPr wrap="none" anchor="ct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53250" name="标题占位符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53251" name="文本占位符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DE50E646-F74E-43BD-B211-CC5998FA7123}" type="datetimeFigureOut">
              <a:rPr lang="zh-CN" altLang="en-US"/>
              <a:pPr>
                <a:defRPr/>
              </a:pPr>
              <a:t>2015/12/4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1439425-CE72-4E94-A8A0-D26AB4C74222}" type="slidenum">
              <a:rPr lang="zh-CN" altLang="en-US"/>
              <a:pPr>
                <a:defRPr/>
              </a:pPr>
              <a:t>‹#›</a:t>
            </a:fld>
            <a:endParaRPr lang="zh-CN" altLang="en-US"/>
          </a:p>
        </p:txBody>
      </p:sp>
      <p:pic>
        <p:nvPicPr>
          <p:cNvPr id="53255" name="Picture 7" descr="backgond1"/>
          <p:cNvPicPr>
            <a:picLocks noChangeAspect="1" noChangeArrowheads="1"/>
          </p:cNvPicPr>
          <p:nvPr userDrawn="1"/>
        </p:nvPicPr>
        <p:blipFill>
          <a:blip r:embed="rId14"/>
          <a:srcRect/>
          <a:stretch>
            <a:fillRect/>
          </a:stretch>
        </p:blipFill>
        <p:spPr bwMode="auto">
          <a:xfrm>
            <a:off x="6350" y="6350"/>
            <a:ext cx="9131300" cy="68453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54274" name="标题占位符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54275" name="文本占位符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D47906A6-16F6-4383-886D-D63356806B6B}" type="datetimeFigureOut">
              <a:rPr lang="zh-CN" altLang="en-US"/>
              <a:pPr>
                <a:defRPr/>
              </a:pPr>
              <a:t>2015/12/4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6B2A170-1B4D-4757-988E-251A622BBE38}"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images.google.com.hk/imgres?imgurl=http://pica.nipic.com/2008-01-17/20081171800946_2.jpg&amp;imgrefurl=http://www.nipic.com/show/3/78/bf1448a4df4174dc.html&amp;usg=__VpyK39UhamqA4g0Tj-cu5KLr70c=&amp;h=750&amp;w=1000&amp;sz=254&amp;hl=zh-CN&amp;start=1&amp;zoom=1&amp;tbnid=B7OYFEe7WMqB1M:&amp;tbnh=112&amp;tbnw=149&amp;ei=HEWLTef9G4bfcY_m5KQK&amp;prev=/images%3Fq%3D%25E5%25A3%25B0%25E6%25B3%25A2%25E5%259B%25BE%25E7%2589%2587%26hl%3Dzh-CN%26newwindow%3D1%26safe%3Dstrict%26gbv%3D2%26tbm%3Disch&amp;itbs=1" TargetMode="Externa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hyperlink" Target="http://image.baidu.com/i?ct=503316480&amp;z=&amp;tn=baiduimagedetail&amp;word=%BB%FA%D0%B5%B2%A8%CD%BC%C6%AC&amp;in=13064&amp;cl=2&amp;lm=-1&amp;pn=3&amp;rn=1&amp;di=42691985340&amp;ln=2000&amp;fr=&amp;fmq=&amp;ic=0&amp;s=0&amp;se=1&amp;sme=0&amp;tab=&amp;width=&amp;height=&amp;face=0&amp;is=&amp;istype=2" TargetMode="External"/></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 Target="slide16.xml"/><Relationship Id="rId7" Type="http://schemas.openxmlformats.org/officeDocument/2006/relationships/slide" Target="slide57.xml"/><Relationship Id="rId2" Type="http://schemas.openxmlformats.org/officeDocument/2006/relationships/slide" Target="slide4.xml"/><Relationship Id="rId1" Type="http://schemas.openxmlformats.org/officeDocument/2006/relationships/slideLayout" Target="../slideLayouts/slideLayout7.xml"/><Relationship Id="rId6" Type="http://schemas.openxmlformats.org/officeDocument/2006/relationships/slide" Target="slide50.xml"/><Relationship Id="rId5" Type="http://schemas.openxmlformats.org/officeDocument/2006/relationships/slide" Target="slide37.xml"/><Relationship Id="rId4" Type="http://schemas.openxmlformats.org/officeDocument/2006/relationships/slide" Target="slide30.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8.bin"/><Relationship Id="rId5" Type="http://schemas.openxmlformats.org/officeDocument/2006/relationships/oleObject" Target="../embeddings/oleObject7.bin"/><Relationship Id="rId4"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oleObject" Target="../embeddings/oleObject10.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oleObject" Target="../embeddings/oleObject11.bin"/><Relationship Id="rId7"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14.bin"/><Relationship Id="rId5" Type="http://schemas.openxmlformats.org/officeDocument/2006/relationships/oleObject" Target="../embeddings/oleObject13.bin"/><Relationship Id="rId4" Type="http://schemas.openxmlformats.org/officeDocument/2006/relationships/oleObject" Target="../embeddings/oleObject12.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oleObject" Target="../embeddings/oleObject18.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audio" Target="../media/audio2.wav"/><Relationship Id="rId7" Type="http://schemas.openxmlformats.org/officeDocument/2006/relationships/oleObject" Target="../embeddings/oleObject22.bin"/><Relationship Id="rId12"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21.bin"/><Relationship Id="rId11" Type="http://schemas.openxmlformats.org/officeDocument/2006/relationships/oleObject" Target="../embeddings/oleObject26.bin"/><Relationship Id="rId5" Type="http://schemas.openxmlformats.org/officeDocument/2006/relationships/oleObject" Target="../embeddings/oleObject20.bin"/><Relationship Id="rId10" Type="http://schemas.openxmlformats.org/officeDocument/2006/relationships/oleObject" Target="../embeddings/oleObject25.bin"/><Relationship Id="rId4" Type="http://schemas.openxmlformats.org/officeDocument/2006/relationships/oleObject" Target="../embeddings/oleObject19.bin"/><Relationship Id="rId9" Type="http://schemas.openxmlformats.org/officeDocument/2006/relationships/oleObject" Target="../embeddings/oleObject24.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oleObject" Target="../embeddings/oleObject28.bin"/><Relationship Id="rId7"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31.bin"/><Relationship Id="rId11" Type="http://schemas.openxmlformats.org/officeDocument/2006/relationships/oleObject" Target="../embeddings/oleObject36.bin"/><Relationship Id="rId5" Type="http://schemas.openxmlformats.org/officeDocument/2006/relationships/oleObject" Target="../embeddings/oleObject30.bin"/><Relationship Id="rId10" Type="http://schemas.openxmlformats.org/officeDocument/2006/relationships/oleObject" Target="../embeddings/oleObject35.bin"/><Relationship Id="rId4" Type="http://schemas.openxmlformats.org/officeDocument/2006/relationships/oleObject" Target="../embeddings/oleObject29.bin"/><Relationship Id="rId9" Type="http://schemas.openxmlformats.org/officeDocument/2006/relationships/oleObject" Target="../embeddings/oleObject34.bin"/></Relationships>
</file>

<file path=ppt/slides/_rels/slide1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oleObject" Target="../embeddings/oleObject37.bin"/><Relationship Id="rId4" Type="http://schemas.openxmlformats.org/officeDocument/2006/relationships/image" Target="../media/image46.jpeg"/></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oleObject" Target="../embeddings/oleObject38.bin"/><Relationship Id="rId7" Type="http://schemas.openxmlformats.org/officeDocument/2006/relationships/oleObject" Target="../embeddings/oleObject42.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41.bin"/><Relationship Id="rId5" Type="http://schemas.openxmlformats.org/officeDocument/2006/relationships/oleObject" Target="../embeddings/oleObject40.bin"/><Relationship Id="rId4" Type="http://schemas.openxmlformats.org/officeDocument/2006/relationships/oleObject" Target="../embeddings/oleObject39.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4.bin"/><Relationship Id="rId7" Type="http://schemas.openxmlformats.org/officeDocument/2006/relationships/oleObject" Target="../embeddings/oleObject48.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47.bin"/><Relationship Id="rId5" Type="http://schemas.openxmlformats.org/officeDocument/2006/relationships/oleObject" Target="../embeddings/oleObject46.bin"/><Relationship Id="rId4" Type="http://schemas.openxmlformats.org/officeDocument/2006/relationships/oleObject" Target="../embeddings/oleObject45.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9.bin"/><Relationship Id="rId7"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52.bin"/><Relationship Id="rId5" Type="http://schemas.openxmlformats.org/officeDocument/2006/relationships/oleObject" Target="../embeddings/oleObject51.bin"/><Relationship Id="rId4" Type="http://schemas.openxmlformats.org/officeDocument/2006/relationships/oleObject" Target="../embeddings/oleObject50.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59.bin"/><Relationship Id="rId3" Type="http://schemas.openxmlformats.org/officeDocument/2006/relationships/oleObject" Target="../embeddings/oleObject54.bin"/><Relationship Id="rId7" Type="http://schemas.openxmlformats.org/officeDocument/2006/relationships/oleObject" Target="../embeddings/oleObject58.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57.bin"/><Relationship Id="rId5" Type="http://schemas.openxmlformats.org/officeDocument/2006/relationships/oleObject" Target="../embeddings/oleObject56.bin"/><Relationship Id="rId4" Type="http://schemas.openxmlformats.org/officeDocument/2006/relationships/oleObject" Target="../embeddings/oleObject55.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65.bin"/><Relationship Id="rId3" Type="http://schemas.openxmlformats.org/officeDocument/2006/relationships/oleObject" Target="../embeddings/oleObject60.bin"/><Relationship Id="rId7" Type="http://schemas.openxmlformats.org/officeDocument/2006/relationships/oleObject" Target="../embeddings/oleObject64.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63.bin"/><Relationship Id="rId5" Type="http://schemas.openxmlformats.org/officeDocument/2006/relationships/oleObject" Target="../embeddings/oleObject62.bin"/><Relationship Id="rId4" Type="http://schemas.openxmlformats.org/officeDocument/2006/relationships/oleObject" Target="../embeddings/oleObject61.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71.bin"/><Relationship Id="rId3" Type="http://schemas.openxmlformats.org/officeDocument/2006/relationships/oleObject" Target="../embeddings/oleObject66.bin"/><Relationship Id="rId7" Type="http://schemas.openxmlformats.org/officeDocument/2006/relationships/oleObject" Target="../embeddings/oleObject70.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69.bin"/><Relationship Id="rId5" Type="http://schemas.openxmlformats.org/officeDocument/2006/relationships/oleObject" Target="../embeddings/oleObject68.bin"/><Relationship Id="rId4" Type="http://schemas.openxmlformats.org/officeDocument/2006/relationships/oleObject" Target="../embeddings/oleObject67.bin"/><Relationship Id="rId9" Type="http://schemas.openxmlformats.org/officeDocument/2006/relationships/oleObject" Target="../embeddings/oleObject72.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78.bin"/><Relationship Id="rId13" Type="http://schemas.openxmlformats.org/officeDocument/2006/relationships/oleObject" Target="../embeddings/oleObject83.bin"/><Relationship Id="rId3" Type="http://schemas.openxmlformats.org/officeDocument/2006/relationships/oleObject" Target="../embeddings/oleObject73.bin"/><Relationship Id="rId7" Type="http://schemas.openxmlformats.org/officeDocument/2006/relationships/oleObject" Target="../embeddings/oleObject77.bin"/><Relationship Id="rId12" Type="http://schemas.openxmlformats.org/officeDocument/2006/relationships/oleObject" Target="../embeddings/oleObject82.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76.bin"/><Relationship Id="rId11" Type="http://schemas.openxmlformats.org/officeDocument/2006/relationships/oleObject" Target="../embeddings/oleObject81.bin"/><Relationship Id="rId5" Type="http://schemas.openxmlformats.org/officeDocument/2006/relationships/oleObject" Target="../embeddings/oleObject75.bin"/><Relationship Id="rId10" Type="http://schemas.openxmlformats.org/officeDocument/2006/relationships/oleObject" Target="../embeddings/oleObject80.bin"/><Relationship Id="rId4" Type="http://schemas.openxmlformats.org/officeDocument/2006/relationships/oleObject" Target="../embeddings/oleObject74.bin"/><Relationship Id="rId9" Type="http://schemas.openxmlformats.org/officeDocument/2006/relationships/oleObject" Target="../embeddings/oleObject79.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Layout" Target="../slideLayouts/slideLayout7.xml"/><Relationship Id="rId1" Type="http://schemas.openxmlformats.org/officeDocument/2006/relationships/vmlDrawing" Target="../drawings/vmlDrawing16.vml"/><Relationship Id="rId5" Type="http://schemas.openxmlformats.org/officeDocument/2006/relationships/oleObject" Target="../embeddings/oleObject86.bin"/><Relationship Id="rId4" Type="http://schemas.openxmlformats.org/officeDocument/2006/relationships/oleObject" Target="../embeddings/oleObject85.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91.bin"/><Relationship Id="rId3" Type="http://schemas.openxmlformats.org/officeDocument/2006/relationships/audio" Target="../media/audio3.wav"/><Relationship Id="rId7" Type="http://schemas.openxmlformats.org/officeDocument/2006/relationships/oleObject" Target="../embeddings/oleObject90.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89.bin"/><Relationship Id="rId5" Type="http://schemas.openxmlformats.org/officeDocument/2006/relationships/oleObject" Target="../embeddings/oleObject88.bin"/><Relationship Id="rId4" Type="http://schemas.openxmlformats.org/officeDocument/2006/relationships/oleObject" Target="../embeddings/oleObject87.bin"/><Relationship Id="rId9" Type="http://schemas.openxmlformats.org/officeDocument/2006/relationships/oleObject" Target="../embeddings/oleObject92.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98.bin"/><Relationship Id="rId3" Type="http://schemas.openxmlformats.org/officeDocument/2006/relationships/oleObject" Target="../embeddings/oleObject93.bin"/><Relationship Id="rId7" Type="http://schemas.openxmlformats.org/officeDocument/2006/relationships/oleObject" Target="../embeddings/oleObject97.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96.bin"/><Relationship Id="rId11" Type="http://schemas.openxmlformats.org/officeDocument/2006/relationships/oleObject" Target="../embeddings/oleObject101.bin"/><Relationship Id="rId5" Type="http://schemas.openxmlformats.org/officeDocument/2006/relationships/oleObject" Target="../embeddings/oleObject95.bin"/><Relationship Id="rId10" Type="http://schemas.openxmlformats.org/officeDocument/2006/relationships/oleObject" Target="../embeddings/oleObject100.bin"/><Relationship Id="rId4" Type="http://schemas.openxmlformats.org/officeDocument/2006/relationships/oleObject" Target="../embeddings/oleObject94.bin"/><Relationship Id="rId9" Type="http://schemas.openxmlformats.org/officeDocument/2006/relationships/oleObject" Target="../embeddings/oleObject99.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07.bin"/><Relationship Id="rId3" Type="http://schemas.openxmlformats.org/officeDocument/2006/relationships/oleObject" Target="../embeddings/oleObject102.bin"/><Relationship Id="rId7" Type="http://schemas.openxmlformats.org/officeDocument/2006/relationships/oleObject" Target="../embeddings/oleObject106.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105.bin"/><Relationship Id="rId5" Type="http://schemas.openxmlformats.org/officeDocument/2006/relationships/oleObject" Target="../embeddings/oleObject104.bin"/><Relationship Id="rId4" Type="http://schemas.openxmlformats.org/officeDocument/2006/relationships/oleObject" Target="../embeddings/oleObject103.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13.bin"/><Relationship Id="rId3" Type="http://schemas.openxmlformats.org/officeDocument/2006/relationships/oleObject" Target="../embeddings/oleObject108.bin"/><Relationship Id="rId7" Type="http://schemas.openxmlformats.org/officeDocument/2006/relationships/oleObject" Target="../embeddings/oleObject112.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111.bin"/><Relationship Id="rId11" Type="http://schemas.openxmlformats.org/officeDocument/2006/relationships/oleObject" Target="../embeddings/oleObject116.bin"/><Relationship Id="rId5" Type="http://schemas.openxmlformats.org/officeDocument/2006/relationships/oleObject" Target="../embeddings/oleObject110.bin"/><Relationship Id="rId10" Type="http://schemas.openxmlformats.org/officeDocument/2006/relationships/oleObject" Target="../embeddings/oleObject115.bin"/><Relationship Id="rId4" Type="http://schemas.openxmlformats.org/officeDocument/2006/relationships/oleObject" Target="../embeddings/oleObject109.bin"/><Relationship Id="rId9" Type="http://schemas.openxmlformats.org/officeDocument/2006/relationships/oleObject" Target="../embeddings/oleObject114.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22.bin"/><Relationship Id="rId3" Type="http://schemas.openxmlformats.org/officeDocument/2006/relationships/oleObject" Target="../embeddings/oleObject117.bin"/><Relationship Id="rId7" Type="http://schemas.openxmlformats.org/officeDocument/2006/relationships/oleObject" Target="../embeddings/oleObject121.bin"/><Relationship Id="rId12" Type="http://schemas.openxmlformats.org/officeDocument/2006/relationships/slide" Target="slide3.xml"/><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120.bin"/><Relationship Id="rId11" Type="http://schemas.openxmlformats.org/officeDocument/2006/relationships/oleObject" Target="../embeddings/oleObject125.bin"/><Relationship Id="rId5" Type="http://schemas.openxmlformats.org/officeDocument/2006/relationships/oleObject" Target="../embeddings/oleObject119.bin"/><Relationship Id="rId10" Type="http://schemas.openxmlformats.org/officeDocument/2006/relationships/oleObject" Target="../embeddings/oleObject124.bin"/><Relationship Id="rId4" Type="http://schemas.openxmlformats.org/officeDocument/2006/relationships/oleObject" Target="../embeddings/oleObject118.bin"/><Relationship Id="rId9" Type="http://schemas.openxmlformats.org/officeDocument/2006/relationships/oleObject" Target="../embeddings/oleObject123.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30.bin"/><Relationship Id="rId3" Type="http://schemas.openxmlformats.org/officeDocument/2006/relationships/oleObject" Target="../embeddings/oleObject126.bin"/><Relationship Id="rId7" Type="http://schemas.openxmlformats.org/officeDocument/2006/relationships/image" Target="../media/image133.jpeg"/><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oleObject" Target="../embeddings/oleObject129.bin"/><Relationship Id="rId5" Type="http://schemas.openxmlformats.org/officeDocument/2006/relationships/oleObject" Target="../embeddings/oleObject128.bin"/><Relationship Id="rId4" Type="http://schemas.openxmlformats.org/officeDocument/2006/relationships/oleObject" Target="../embeddings/oleObject127.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36.bin"/><Relationship Id="rId13" Type="http://schemas.openxmlformats.org/officeDocument/2006/relationships/oleObject" Target="../embeddings/oleObject141.bin"/><Relationship Id="rId3" Type="http://schemas.openxmlformats.org/officeDocument/2006/relationships/oleObject" Target="../embeddings/oleObject131.bin"/><Relationship Id="rId7" Type="http://schemas.openxmlformats.org/officeDocument/2006/relationships/oleObject" Target="../embeddings/oleObject135.bin"/><Relationship Id="rId12" Type="http://schemas.openxmlformats.org/officeDocument/2006/relationships/oleObject" Target="../embeddings/oleObject140.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134.bin"/><Relationship Id="rId11" Type="http://schemas.openxmlformats.org/officeDocument/2006/relationships/oleObject" Target="../embeddings/oleObject139.bin"/><Relationship Id="rId5" Type="http://schemas.openxmlformats.org/officeDocument/2006/relationships/oleObject" Target="../embeddings/oleObject133.bin"/><Relationship Id="rId10" Type="http://schemas.openxmlformats.org/officeDocument/2006/relationships/oleObject" Target="../embeddings/oleObject138.bin"/><Relationship Id="rId4" Type="http://schemas.openxmlformats.org/officeDocument/2006/relationships/oleObject" Target="../embeddings/oleObject132.bin"/><Relationship Id="rId9" Type="http://schemas.openxmlformats.org/officeDocument/2006/relationships/oleObject" Target="../embeddings/oleObject137.bin"/><Relationship Id="rId14" Type="http://schemas.openxmlformats.org/officeDocument/2006/relationships/oleObject" Target="../embeddings/oleObject142.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48.bin"/><Relationship Id="rId3" Type="http://schemas.openxmlformats.org/officeDocument/2006/relationships/oleObject" Target="../embeddings/oleObject143.bin"/><Relationship Id="rId7" Type="http://schemas.openxmlformats.org/officeDocument/2006/relationships/oleObject" Target="../embeddings/oleObject147.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oleObject" Target="../embeddings/oleObject146.bin"/><Relationship Id="rId5" Type="http://schemas.openxmlformats.org/officeDocument/2006/relationships/oleObject" Target="../embeddings/oleObject145.bin"/><Relationship Id="rId4" Type="http://schemas.openxmlformats.org/officeDocument/2006/relationships/oleObject" Target="../embeddings/oleObject144.bin"/><Relationship Id="rId9" Type="http://schemas.openxmlformats.org/officeDocument/2006/relationships/oleObject" Target="../embeddings/oleObject149.bin"/></Relationships>
</file>

<file path=ppt/slides/_rels/slide34.xml.rels><?xml version="1.0" encoding="UTF-8" standalone="yes"?>
<Relationships xmlns="http://schemas.openxmlformats.org/package/2006/relationships"><Relationship Id="rId8" Type="http://schemas.openxmlformats.org/officeDocument/2006/relationships/image" Target="../media/image162.png"/><Relationship Id="rId3" Type="http://schemas.openxmlformats.org/officeDocument/2006/relationships/image" Target="../media/image161.jpeg"/><Relationship Id="rId7" Type="http://schemas.openxmlformats.org/officeDocument/2006/relationships/oleObject" Target="../embeddings/oleObject153.bin"/><Relationship Id="rId12" Type="http://schemas.openxmlformats.org/officeDocument/2006/relationships/oleObject" Target="../embeddings/oleObject157.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152.bin"/><Relationship Id="rId11" Type="http://schemas.openxmlformats.org/officeDocument/2006/relationships/oleObject" Target="../embeddings/oleObject156.bin"/><Relationship Id="rId5" Type="http://schemas.openxmlformats.org/officeDocument/2006/relationships/oleObject" Target="../embeddings/oleObject151.bin"/><Relationship Id="rId10" Type="http://schemas.openxmlformats.org/officeDocument/2006/relationships/oleObject" Target="../embeddings/oleObject155.bin"/><Relationship Id="rId4" Type="http://schemas.openxmlformats.org/officeDocument/2006/relationships/oleObject" Target="../embeddings/oleObject150.bin"/><Relationship Id="rId9" Type="http://schemas.openxmlformats.org/officeDocument/2006/relationships/oleObject" Target="../embeddings/oleObject154.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62.bin"/><Relationship Id="rId13" Type="http://schemas.openxmlformats.org/officeDocument/2006/relationships/oleObject" Target="../embeddings/oleObject167.bin"/><Relationship Id="rId3" Type="http://schemas.openxmlformats.org/officeDocument/2006/relationships/oleObject" Target="../embeddings/oleObject158.bin"/><Relationship Id="rId7" Type="http://schemas.openxmlformats.org/officeDocument/2006/relationships/oleObject" Target="../embeddings/oleObject161.bin"/><Relationship Id="rId12" Type="http://schemas.openxmlformats.org/officeDocument/2006/relationships/oleObject" Target="../embeddings/oleObject166.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173.jpeg"/><Relationship Id="rId11" Type="http://schemas.openxmlformats.org/officeDocument/2006/relationships/oleObject" Target="../embeddings/oleObject165.bin"/><Relationship Id="rId5" Type="http://schemas.openxmlformats.org/officeDocument/2006/relationships/oleObject" Target="../embeddings/oleObject160.bin"/><Relationship Id="rId10" Type="http://schemas.openxmlformats.org/officeDocument/2006/relationships/oleObject" Target="../embeddings/oleObject164.bin"/><Relationship Id="rId4" Type="http://schemas.openxmlformats.org/officeDocument/2006/relationships/oleObject" Target="../embeddings/oleObject159.bin"/><Relationship Id="rId9" Type="http://schemas.openxmlformats.org/officeDocument/2006/relationships/oleObject" Target="../embeddings/oleObject163.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73.bin"/><Relationship Id="rId13" Type="http://schemas.openxmlformats.org/officeDocument/2006/relationships/oleObject" Target="../embeddings/oleObject178.bin"/><Relationship Id="rId3" Type="http://schemas.openxmlformats.org/officeDocument/2006/relationships/oleObject" Target="../embeddings/oleObject168.bin"/><Relationship Id="rId7" Type="http://schemas.openxmlformats.org/officeDocument/2006/relationships/oleObject" Target="../embeddings/oleObject172.bin"/><Relationship Id="rId12" Type="http://schemas.openxmlformats.org/officeDocument/2006/relationships/oleObject" Target="../embeddings/oleObject177.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oleObject" Target="../embeddings/oleObject171.bin"/><Relationship Id="rId11" Type="http://schemas.openxmlformats.org/officeDocument/2006/relationships/oleObject" Target="../embeddings/oleObject176.bin"/><Relationship Id="rId5" Type="http://schemas.openxmlformats.org/officeDocument/2006/relationships/oleObject" Target="../embeddings/oleObject170.bin"/><Relationship Id="rId15" Type="http://schemas.openxmlformats.org/officeDocument/2006/relationships/slide" Target="slide3.xml"/><Relationship Id="rId10" Type="http://schemas.openxmlformats.org/officeDocument/2006/relationships/oleObject" Target="../embeddings/oleObject175.bin"/><Relationship Id="rId4" Type="http://schemas.openxmlformats.org/officeDocument/2006/relationships/oleObject" Target="../embeddings/oleObject169.bin"/><Relationship Id="rId9" Type="http://schemas.openxmlformats.org/officeDocument/2006/relationships/oleObject" Target="../embeddings/oleObject174.bin"/><Relationship Id="rId14" Type="http://schemas.openxmlformats.org/officeDocument/2006/relationships/oleObject" Target="../embeddings/oleObject179.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84.bin"/><Relationship Id="rId3" Type="http://schemas.openxmlformats.org/officeDocument/2006/relationships/image" Target="../media/image191.jpeg"/><Relationship Id="rId7" Type="http://schemas.openxmlformats.org/officeDocument/2006/relationships/oleObject" Target="../embeddings/oleObject183.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oleObject" Target="../embeddings/oleObject182.bin"/><Relationship Id="rId5" Type="http://schemas.openxmlformats.org/officeDocument/2006/relationships/oleObject" Target="../embeddings/oleObject181.bin"/><Relationship Id="rId4" Type="http://schemas.openxmlformats.org/officeDocument/2006/relationships/oleObject" Target="../embeddings/oleObject180.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85.bin"/><Relationship Id="rId2" Type="http://schemas.openxmlformats.org/officeDocument/2006/relationships/slideLayout" Target="../slideLayouts/slideLayout7.xml"/><Relationship Id="rId1" Type="http://schemas.openxmlformats.org/officeDocument/2006/relationships/vmlDrawing" Target="../drawings/vmlDrawing29.v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86.bin"/><Relationship Id="rId2" Type="http://schemas.openxmlformats.org/officeDocument/2006/relationships/slideLayout" Target="../slideLayouts/slideLayout7.xml"/><Relationship Id="rId1" Type="http://schemas.openxmlformats.org/officeDocument/2006/relationships/vmlDrawing" Target="../drawings/vmlDrawing30.v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92.bin"/><Relationship Id="rId3" Type="http://schemas.openxmlformats.org/officeDocument/2006/relationships/oleObject" Target="../embeddings/oleObject187.bin"/><Relationship Id="rId7" Type="http://schemas.openxmlformats.org/officeDocument/2006/relationships/oleObject" Target="../embeddings/oleObject191.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190.bin"/><Relationship Id="rId5" Type="http://schemas.openxmlformats.org/officeDocument/2006/relationships/oleObject" Target="../embeddings/oleObject189.bin"/><Relationship Id="rId10" Type="http://schemas.openxmlformats.org/officeDocument/2006/relationships/oleObject" Target="../embeddings/oleObject194.bin"/><Relationship Id="rId4" Type="http://schemas.openxmlformats.org/officeDocument/2006/relationships/oleObject" Target="../embeddings/oleObject188.bin"/><Relationship Id="rId9" Type="http://schemas.openxmlformats.org/officeDocument/2006/relationships/oleObject" Target="../embeddings/oleObject193.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200.bin"/><Relationship Id="rId13" Type="http://schemas.openxmlformats.org/officeDocument/2006/relationships/oleObject" Target="../embeddings/oleObject205.bin"/><Relationship Id="rId3" Type="http://schemas.openxmlformats.org/officeDocument/2006/relationships/oleObject" Target="../embeddings/oleObject195.bin"/><Relationship Id="rId7" Type="http://schemas.openxmlformats.org/officeDocument/2006/relationships/oleObject" Target="../embeddings/oleObject199.bin"/><Relationship Id="rId12" Type="http://schemas.openxmlformats.org/officeDocument/2006/relationships/oleObject" Target="../embeddings/oleObject204.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oleObject" Target="../embeddings/oleObject198.bin"/><Relationship Id="rId11" Type="http://schemas.openxmlformats.org/officeDocument/2006/relationships/oleObject" Target="../embeddings/oleObject203.bin"/><Relationship Id="rId5" Type="http://schemas.openxmlformats.org/officeDocument/2006/relationships/oleObject" Target="../embeddings/oleObject197.bin"/><Relationship Id="rId10" Type="http://schemas.openxmlformats.org/officeDocument/2006/relationships/oleObject" Target="../embeddings/oleObject202.bin"/><Relationship Id="rId4" Type="http://schemas.openxmlformats.org/officeDocument/2006/relationships/oleObject" Target="../embeddings/oleObject196.bin"/><Relationship Id="rId9" Type="http://schemas.openxmlformats.org/officeDocument/2006/relationships/oleObject" Target="../embeddings/oleObject201.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211.bin"/><Relationship Id="rId3" Type="http://schemas.openxmlformats.org/officeDocument/2006/relationships/oleObject" Target="../embeddings/oleObject206.bin"/><Relationship Id="rId7" Type="http://schemas.openxmlformats.org/officeDocument/2006/relationships/oleObject" Target="../embeddings/oleObject210.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oleObject" Target="../embeddings/oleObject209.bin"/><Relationship Id="rId11" Type="http://schemas.openxmlformats.org/officeDocument/2006/relationships/oleObject" Target="../embeddings/oleObject214.bin"/><Relationship Id="rId5" Type="http://schemas.openxmlformats.org/officeDocument/2006/relationships/oleObject" Target="../embeddings/oleObject208.bin"/><Relationship Id="rId10" Type="http://schemas.openxmlformats.org/officeDocument/2006/relationships/oleObject" Target="../embeddings/oleObject213.bin"/><Relationship Id="rId4" Type="http://schemas.openxmlformats.org/officeDocument/2006/relationships/oleObject" Target="../embeddings/oleObject207.bin"/><Relationship Id="rId9" Type="http://schemas.openxmlformats.org/officeDocument/2006/relationships/oleObject" Target="../embeddings/oleObject212.bin"/></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15.bin"/><Relationship Id="rId2" Type="http://schemas.openxmlformats.org/officeDocument/2006/relationships/slideLayout" Target="../slideLayouts/slideLayout7.xml"/><Relationship Id="rId1" Type="http://schemas.openxmlformats.org/officeDocument/2006/relationships/vmlDrawing" Target="../drawings/vmlDrawing34.vml"/><Relationship Id="rId5" Type="http://schemas.openxmlformats.org/officeDocument/2006/relationships/oleObject" Target="../embeddings/oleObject217.bin"/><Relationship Id="rId4" Type="http://schemas.openxmlformats.org/officeDocument/2006/relationships/oleObject" Target="../embeddings/oleObject216.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223.bin"/><Relationship Id="rId3" Type="http://schemas.openxmlformats.org/officeDocument/2006/relationships/oleObject" Target="../embeddings/oleObject218.bin"/><Relationship Id="rId7" Type="http://schemas.openxmlformats.org/officeDocument/2006/relationships/oleObject" Target="../embeddings/oleObject222.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oleObject" Target="../embeddings/oleObject221.bin"/><Relationship Id="rId5" Type="http://schemas.openxmlformats.org/officeDocument/2006/relationships/oleObject" Target="../embeddings/oleObject220.bin"/><Relationship Id="rId4" Type="http://schemas.openxmlformats.org/officeDocument/2006/relationships/oleObject" Target="../embeddings/oleObject219.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229.bin"/><Relationship Id="rId3" Type="http://schemas.openxmlformats.org/officeDocument/2006/relationships/oleObject" Target="../embeddings/oleObject224.bin"/><Relationship Id="rId7" Type="http://schemas.openxmlformats.org/officeDocument/2006/relationships/oleObject" Target="../embeddings/oleObject228.bin"/><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oleObject" Target="../embeddings/oleObject227.bin"/><Relationship Id="rId5" Type="http://schemas.openxmlformats.org/officeDocument/2006/relationships/oleObject" Target="../embeddings/oleObject226.bin"/><Relationship Id="rId4" Type="http://schemas.openxmlformats.org/officeDocument/2006/relationships/oleObject" Target="../embeddings/oleObject225.bin"/></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235.bin"/><Relationship Id="rId3" Type="http://schemas.openxmlformats.org/officeDocument/2006/relationships/oleObject" Target="../embeddings/oleObject230.bin"/><Relationship Id="rId7" Type="http://schemas.openxmlformats.org/officeDocument/2006/relationships/oleObject" Target="../embeddings/oleObject234.bin"/><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oleObject" Target="../embeddings/oleObject233.bin"/><Relationship Id="rId11" Type="http://schemas.openxmlformats.org/officeDocument/2006/relationships/oleObject" Target="../embeddings/oleObject238.bin"/><Relationship Id="rId5" Type="http://schemas.openxmlformats.org/officeDocument/2006/relationships/oleObject" Target="../embeddings/oleObject232.bin"/><Relationship Id="rId10" Type="http://schemas.openxmlformats.org/officeDocument/2006/relationships/oleObject" Target="../embeddings/oleObject237.bin"/><Relationship Id="rId4" Type="http://schemas.openxmlformats.org/officeDocument/2006/relationships/oleObject" Target="../embeddings/oleObject231.bin"/><Relationship Id="rId9" Type="http://schemas.openxmlformats.org/officeDocument/2006/relationships/oleObject" Target="../embeddings/oleObject236.bin"/></Relationships>
</file>

<file path=ppt/slides/_rels/slide48.xml.rels><?xml version="1.0" encoding="UTF-8" standalone="yes"?>
<Relationships xmlns="http://schemas.openxmlformats.org/package/2006/relationships"><Relationship Id="rId3" Type="http://schemas.openxmlformats.org/officeDocument/2006/relationships/image" Target="../media/image246.png"/><Relationship Id="rId2" Type="http://schemas.openxmlformats.org/officeDocument/2006/relationships/slideLayout" Target="../slideLayouts/slideLayout7.xml"/><Relationship Id="rId1" Type="http://schemas.openxmlformats.org/officeDocument/2006/relationships/vmlDrawing" Target="../drawings/vmlDrawing38.vml"/><Relationship Id="rId5" Type="http://schemas.openxmlformats.org/officeDocument/2006/relationships/oleObject" Target="../embeddings/oleObject239.bin"/><Relationship Id="rId4" Type="http://schemas.openxmlformats.org/officeDocument/2006/relationships/image" Target="file:///E:\&#26041;&#27491;&#36716;word&#35838;&#31243;\&#22823;&#23398;&#29289;&#29702;%5b&#31532;&#20108;&#29256;%5d&#65288;&#36213;&#36817;&#33459;&#65289;\&#19978;&#20876;\&#20070;&#29256;\0523.tif" TargetMode="Externa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40.bin"/><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slide" Target="slide3.xml"/><Relationship Id="rId5" Type="http://schemas.openxmlformats.org/officeDocument/2006/relationships/oleObject" Target="../embeddings/oleObject242.bin"/><Relationship Id="rId4" Type="http://schemas.openxmlformats.org/officeDocument/2006/relationships/oleObject" Target="../embeddings/oleObject241.bin"/></Relationships>
</file>

<file path=ppt/slides/_rels/slide50.xml.rels><?xml version="1.0" encoding="UTF-8" standalone="yes"?>
<Relationships xmlns="http://schemas.openxmlformats.org/package/2006/relationships"><Relationship Id="rId3" Type="http://schemas.openxmlformats.org/officeDocument/2006/relationships/image" Target="../media/image253.jpeg"/><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oleObject" Target="../embeddings/oleObject245.bin"/><Relationship Id="rId5" Type="http://schemas.openxmlformats.org/officeDocument/2006/relationships/oleObject" Target="../embeddings/oleObject244.bin"/><Relationship Id="rId4" Type="http://schemas.openxmlformats.org/officeDocument/2006/relationships/oleObject" Target="../embeddings/oleObject243.bin"/></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46.bin"/><Relationship Id="rId7" Type="http://schemas.openxmlformats.org/officeDocument/2006/relationships/oleObject" Target="../embeddings/oleObject250.bin"/><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oleObject" Target="../embeddings/oleObject249.bin"/><Relationship Id="rId5" Type="http://schemas.openxmlformats.org/officeDocument/2006/relationships/oleObject" Target="../embeddings/oleObject248.bin"/><Relationship Id="rId4" Type="http://schemas.openxmlformats.org/officeDocument/2006/relationships/oleObject" Target="../embeddings/oleObject247.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254.bin"/><Relationship Id="rId3" Type="http://schemas.openxmlformats.org/officeDocument/2006/relationships/notesSlide" Target="../notesSlides/notesSlide2.xml"/><Relationship Id="rId7" Type="http://schemas.openxmlformats.org/officeDocument/2006/relationships/oleObject" Target="../embeddings/oleObject253.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oleObject" Target="../embeddings/oleObject252.bin"/><Relationship Id="rId11" Type="http://schemas.openxmlformats.org/officeDocument/2006/relationships/oleObject" Target="../embeddings/oleObject257.bin"/><Relationship Id="rId5" Type="http://schemas.openxmlformats.org/officeDocument/2006/relationships/oleObject" Target="../embeddings/oleObject251.bin"/><Relationship Id="rId10" Type="http://schemas.openxmlformats.org/officeDocument/2006/relationships/oleObject" Target="../embeddings/oleObject256.bin"/><Relationship Id="rId4" Type="http://schemas.openxmlformats.org/officeDocument/2006/relationships/audio" Target="../media/audio2.wav"/><Relationship Id="rId9" Type="http://schemas.openxmlformats.org/officeDocument/2006/relationships/oleObject" Target="../embeddings/oleObject255.bin"/></Relationships>
</file>

<file path=ppt/slides/_rels/slide5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Layout" Target="../slideLayouts/slideLayout7.xml"/><Relationship Id="rId1" Type="http://schemas.openxmlformats.org/officeDocument/2006/relationships/vmlDrawing" Target="../drawings/vmlDrawing43.vml"/><Relationship Id="rId6" Type="http://schemas.openxmlformats.org/officeDocument/2006/relationships/oleObject" Target="../embeddings/oleObject260.bin"/><Relationship Id="rId5" Type="http://schemas.openxmlformats.org/officeDocument/2006/relationships/oleObject" Target="../embeddings/oleObject259.bin"/><Relationship Id="rId4" Type="http://schemas.openxmlformats.org/officeDocument/2006/relationships/oleObject" Target="../embeddings/oleObject258.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oleObject" Target="../embeddings/oleObject263.bin"/><Relationship Id="rId5" Type="http://schemas.openxmlformats.org/officeDocument/2006/relationships/oleObject" Target="../embeddings/oleObject262.bin"/><Relationship Id="rId4" Type="http://schemas.openxmlformats.org/officeDocument/2006/relationships/oleObject" Target="../embeddings/oleObject261.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269.bin"/><Relationship Id="rId3" Type="http://schemas.openxmlformats.org/officeDocument/2006/relationships/oleObject" Target="../embeddings/oleObject264.bin"/><Relationship Id="rId7" Type="http://schemas.openxmlformats.org/officeDocument/2006/relationships/oleObject" Target="../embeddings/oleObject268.bin"/><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oleObject" Target="../embeddings/oleObject267.bin"/><Relationship Id="rId5" Type="http://schemas.openxmlformats.org/officeDocument/2006/relationships/oleObject" Target="../embeddings/oleObject266.bin"/><Relationship Id="rId4" Type="http://schemas.openxmlformats.org/officeDocument/2006/relationships/oleObject" Target="../embeddings/oleObject265.bin"/><Relationship Id="rId9" Type="http://schemas.openxmlformats.org/officeDocument/2006/relationships/oleObject" Target="../embeddings/oleObject270.bin"/></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271.bin"/><Relationship Id="rId7" Type="http://schemas.openxmlformats.org/officeDocument/2006/relationships/slide" Target="slide3.xml"/><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oleObject" Target="../embeddings/oleObject274.bin"/><Relationship Id="rId5" Type="http://schemas.openxmlformats.org/officeDocument/2006/relationships/oleObject" Target="../embeddings/oleObject273.bin"/><Relationship Id="rId4" Type="http://schemas.openxmlformats.org/officeDocument/2006/relationships/oleObject" Target="../embeddings/oleObject272.bin"/></Relationships>
</file>

<file path=ppt/slides/_rels/slide57.xml.rels><?xml version="1.0" encoding="UTF-8" standalone="yes"?>
<Relationships xmlns="http://schemas.openxmlformats.org/package/2006/relationships"><Relationship Id="rId3" Type="http://schemas.openxmlformats.org/officeDocument/2006/relationships/image" Target="../media/image283.jpeg"/><Relationship Id="rId2" Type="http://schemas.openxmlformats.org/officeDocument/2006/relationships/hyperlink" Target="http://zh.wikipedia.org/zh-cn/File:Cdoppler.jpg" TargetMode="Externa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280.bin"/><Relationship Id="rId13" Type="http://schemas.openxmlformats.org/officeDocument/2006/relationships/oleObject" Target="../embeddings/oleObject284.bin"/><Relationship Id="rId18" Type="http://schemas.openxmlformats.org/officeDocument/2006/relationships/oleObject" Target="../embeddings/oleObject287.bin"/><Relationship Id="rId3" Type="http://schemas.openxmlformats.org/officeDocument/2006/relationships/oleObject" Target="../embeddings/oleObject275.bin"/><Relationship Id="rId7" Type="http://schemas.openxmlformats.org/officeDocument/2006/relationships/oleObject" Target="../embeddings/oleObject279.bin"/><Relationship Id="rId12" Type="http://schemas.openxmlformats.org/officeDocument/2006/relationships/oleObject" Target="../embeddings/oleObject283.bin"/><Relationship Id="rId17" Type="http://schemas.openxmlformats.org/officeDocument/2006/relationships/oleObject" Target="../embeddings/oleObject286.bin"/><Relationship Id="rId2" Type="http://schemas.openxmlformats.org/officeDocument/2006/relationships/slideLayout" Target="../slideLayouts/slideLayout7.xml"/><Relationship Id="rId16" Type="http://schemas.openxmlformats.org/officeDocument/2006/relationships/image" Target="../media/image297.png"/><Relationship Id="rId1" Type="http://schemas.openxmlformats.org/officeDocument/2006/relationships/vmlDrawing" Target="../drawings/vmlDrawing47.vml"/><Relationship Id="rId6" Type="http://schemas.openxmlformats.org/officeDocument/2006/relationships/oleObject" Target="../embeddings/oleObject278.bin"/><Relationship Id="rId11" Type="http://schemas.openxmlformats.org/officeDocument/2006/relationships/oleObject" Target="../embeddings/oleObject282.bin"/><Relationship Id="rId5" Type="http://schemas.openxmlformats.org/officeDocument/2006/relationships/oleObject" Target="../embeddings/oleObject277.bin"/><Relationship Id="rId15" Type="http://schemas.openxmlformats.org/officeDocument/2006/relationships/oleObject" Target="../embeddings/oleObject285.bin"/><Relationship Id="rId10" Type="http://schemas.openxmlformats.org/officeDocument/2006/relationships/image" Target="../media/image295.png"/><Relationship Id="rId4" Type="http://schemas.openxmlformats.org/officeDocument/2006/relationships/oleObject" Target="../embeddings/oleObject276.bin"/><Relationship Id="rId9" Type="http://schemas.openxmlformats.org/officeDocument/2006/relationships/oleObject" Target="../embeddings/oleObject281.bin"/><Relationship Id="rId14" Type="http://schemas.openxmlformats.org/officeDocument/2006/relationships/image" Target="../media/image296.png"/></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293.bin"/><Relationship Id="rId13" Type="http://schemas.openxmlformats.org/officeDocument/2006/relationships/oleObject" Target="../embeddings/oleObject297.bin"/><Relationship Id="rId18" Type="http://schemas.openxmlformats.org/officeDocument/2006/relationships/oleObject" Target="../embeddings/oleObject301.bin"/><Relationship Id="rId3" Type="http://schemas.openxmlformats.org/officeDocument/2006/relationships/oleObject" Target="../embeddings/oleObject288.bin"/><Relationship Id="rId7" Type="http://schemas.openxmlformats.org/officeDocument/2006/relationships/oleObject" Target="../embeddings/oleObject292.bin"/><Relationship Id="rId12" Type="http://schemas.openxmlformats.org/officeDocument/2006/relationships/oleObject" Target="../embeddings/oleObject296.bin"/><Relationship Id="rId17" Type="http://schemas.openxmlformats.org/officeDocument/2006/relationships/oleObject" Target="../embeddings/oleObject300.bin"/><Relationship Id="rId2" Type="http://schemas.openxmlformats.org/officeDocument/2006/relationships/slideLayout" Target="../slideLayouts/slideLayout7.xml"/><Relationship Id="rId16" Type="http://schemas.openxmlformats.org/officeDocument/2006/relationships/image" Target="../media/image312.png"/><Relationship Id="rId20" Type="http://schemas.openxmlformats.org/officeDocument/2006/relationships/image" Target="../media/image313.png"/><Relationship Id="rId1" Type="http://schemas.openxmlformats.org/officeDocument/2006/relationships/vmlDrawing" Target="../drawings/vmlDrawing48.vml"/><Relationship Id="rId6" Type="http://schemas.openxmlformats.org/officeDocument/2006/relationships/oleObject" Target="../embeddings/oleObject291.bin"/><Relationship Id="rId11" Type="http://schemas.openxmlformats.org/officeDocument/2006/relationships/image" Target="../media/image311.png"/><Relationship Id="rId5" Type="http://schemas.openxmlformats.org/officeDocument/2006/relationships/oleObject" Target="../embeddings/oleObject290.bin"/><Relationship Id="rId15" Type="http://schemas.openxmlformats.org/officeDocument/2006/relationships/oleObject" Target="../embeddings/oleObject299.bin"/><Relationship Id="rId10" Type="http://schemas.openxmlformats.org/officeDocument/2006/relationships/oleObject" Target="../embeddings/oleObject295.bin"/><Relationship Id="rId19" Type="http://schemas.openxmlformats.org/officeDocument/2006/relationships/oleObject" Target="../embeddings/oleObject302.bin"/><Relationship Id="rId4" Type="http://schemas.openxmlformats.org/officeDocument/2006/relationships/oleObject" Target="../embeddings/oleObject289.bin"/><Relationship Id="rId9" Type="http://schemas.openxmlformats.org/officeDocument/2006/relationships/oleObject" Target="../embeddings/oleObject294.bin"/><Relationship Id="rId14" Type="http://schemas.openxmlformats.org/officeDocument/2006/relationships/oleObject" Target="../embeddings/oleObject298.bin"/></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308.bin"/><Relationship Id="rId13" Type="http://schemas.openxmlformats.org/officeDocument/2006/relationships/oleObject" Target="../embeddings/oleObject313.bin"/><Relationship Id="rId3" Type="http://schemas.openxmlformats.org/officeDocument/2006/relationships/oleObject" Target="../embeddings/oleObject303.bin"/><Relationship Id="rId7" Type="http://schemas.openxmlformats.org/officeDocument/2006/relationships/oleObject" Target="../embeddings/oleObject307.bin"/><Relationship Id="rId12" Type="http://schemas.openxmlformats.org/officeDocument/2006/relationships/oleObject" Target="../embeddings/oleObject312.bin"/><Relationship Id="rId2" Type="http://schemas.openxmlformats.org/officeDocument/2006/relationships/slideLayout" Target="../slideLayouts/slideLayout7.xml"/><Relationship Id="rId1" Type="http://schemas.openxmlformats.org/officeDocument/2006/relationships/vmlDrawing" Target="../drawings/vmlDrawing49.vml"/><Relationship Id="rId6" Type="http://schemas.openxmlformats.org/officeDocument/2006/relationships/oleObject" Target="../embeddings/oleObject306.bin"/><Relationship Id="rId11" Type="http://schemas.openxmlformats.org/officeDocument/2006/relationships/oleObject" Target="../embeddings/oleObject311.bin"/><Relationship Id="rId5" Type="http://schemas.openxmlformats.org/officeDocument/2006/relationships/oleObject" Target="../embeddings/oleObject305.bin"/><Relationship Id="rId15" Type="http://schemas.openxmlformats.org/officeDocument/2006/relationships/oleObject" Target="../embeddings/oleObject315.bin"/><Relationship Id="rId10" Type="http://schemas.openxmlformats.org/officeDocument/2006/relationships/oleObject" Target="../embeddings/oleObject310.bin"/><Relationship Id="rId4" Type="http://schemas.openxmlformats.org/officeDocument/2006/relationships/oleObject" Target="../embeddings/oleObject304.bin"/><Relationship Id="rId9" Type="http://schemas.openxmlformats.org/officeDocument/2006/relationships/oleObject" Target="../embeddings/oleObject309.bin"/><Relationship Id="rId14" Type="http://schemas.openxmlformats.org/officeDocument/2006/relationships/oleObject" Target="../embeddings/oleObject314.bin"/></Relationships>
</file>

<file path=ppt/slides/_rels/slide61.xml.rels><?xml version="1.0" encoding="UTF-8" standalone="yes"?>
<Relationships xmlns="http://schemas.openxmlformats.org/package/2006/relationships"><Relationship Id="rId3" Type="http://schemas.openxmlformats.org/officeDocument/2006/relationships/image" Target="../media/image323.jpeg"/><Relationship Id="rId2" Type="http://schemas.openxmlformats.org/officeDocument/2006/relationships/hyperlink" Target="http://imgsrc.baidu.com/baike/pic/item/f677b1c34e5da74ab319a8a9.jpg" TargetMode="External"/><Relationship Id="rId1" Type="http://schemas.openxmlformats.org/officeDocument/2006/relationships/slideLayout" Target="../slideLayouts/slideLayout7.xml"/><Relationship Id="rId4" Type="http://schemas.openxmlformats.org/officeDocument/2006/relationships/image" Target="../media/image324.jpeg"/></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316.bin"/><Relationship Id="rId7" Type="http://schemas.openxmlformats.org/officeDocument/2006/relationships/slide" Target="slide3.xml"/><Relationship Id="rId2" Type="http://schemas.openxmlformats.org/officeDocument/2006/relationships/slideLayout" Target="../slideLayouts/slideLayout7.xml"/><Relationship Id="rId1" Type="http://schemas.openxmlformats.org/officeDocument/2006/relationships/vmlDrawing" Target="../drawings/vmlDrawing50.vml"/><Relationship Id="rId6" Type="http://schemas.openxmlformats.org/officeDocument/2006/relationships/oleObject" Target="../embeddings/oleObject319.bin"/><Relationship Id="rId5" Type="http://schemas.openxmlformats.org/officeDocument/2006/relationships/oleObject" Target="../embeddings/oleObject318.bin"/><Relationship Id="rId4" Type="http://schemas.openxmlformats.org/officeDocument/2006/relationships/oleObject" Target="../embeddings/oleObject31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4"/>
          <p:cNvSpPr>
            <a:spLocks noChangeArrowheads="1"/>
          </p:cNvSpPr>
          <p:nvPr/>
        </p:nvSpPr>
        <p:spPr bwMode="auto">
          <a:xfrm>
            <a:off x="684213" y="404813"/>
            <a:ext cx="7561262" cy="898525"/>
          </a:xfrm>
          <a:prstGeom prst="rect">
            <a:avLst/>
          </a:prstGeom>
          <a:noFill/>
          <a:ln w="9525">
            <a:noFill/>
            <a:miter lim="800000"/>
            <a:headEnd/>
            <a:tailEnd/>
          </a:ln>
          <a:effectLst/>
        </p:spPr>
        <p:txBody>
          <a:bodyPr/>
          <a:lstStyle/>
          <a:p>
            <a:pPr algn="ctr">
              <a:defRPr/>
            </a:pPr>
            <a:r>
              <a:rPr lang="zh-CN" altLang="en-US" sz="5400" b="1" dirty="0">
                <a:solidFill>
                  <a:srgbClr val="FF0000"/>
                </a:solidFill>
                <a:effectLst>
                  <a:outerShdw blurRad="38100" dist="38100" dir="2700000" algn="tl">
                    <a:srgbClr val="C0C0C0"/>
                  </a:outerShdw>
                </a:effectLst>
                <a:ea typeface="隶书" pitchFamily="49" charset="-122"/>
              </a:rPr>
              <a:t>第</a:t>
            </a:r>
            <a:r>
              <a:rPr lang="en-US" altLang="zh-CN" sz="5400" b="1" dirty="0">
                <a:solidFill>
                  <a:srgbClr val="FF0000"/>
                </a:solidFill>
                <a:effectLst>
                  <a:outerShdw blurRad="38100" dist="38100" dir="2700000" algn="tl">
                    <a:srgbClr val="C0C0C0"/>
                  </a:outerShdw>
                </a:effectLst>
                <a:ea typeface="隶书" pitchFamily="49" charset="-122"/>
              </a:rPr>
              <a:t>6</a:t>
            </a:r>
            <a:r>
              <a:rPr lang="zh-CN" altLang="en-US" sz="5400" b="1" dirty="0">
                <a:solidFill>
                  <a:srgbClr val="FF0000"/>
                </a:solidFill>
                <a:effectLst>
                  <a:outerShdw blurRad="38100" dist="38100" dir="2700000" algn="tl">
                    <a:srgbClr val="C0C0C0"/>
                  </a:outerShdw>
                </a:effectLst>
                <a:ea typeface="隶书" pitchFamily="49" charset="-122"/>
              </a:rPr>
              <a:t>章  机械波</a:t>
            </a:r>
            <a:endParaRPr lang="zh-CN" altLang="en-US" sz="5400" b="1" dirty="0">
              <a:effectLst>
                <a:outerShdw blurRad="38100" dist="38100" dir="2700000" algn="tl">
                  <a:srgbClr val="C0C0C0"/>
                </a:outerShdw>
              </a:effectLst>
              <a:ea typeface="隶书" pitchFamily="49" charset="-122"/>
            </a:endParaRPr>
          </a:p>
        </p:txBody>
      </p:sp>
      <p:pic>
        <p:nvPicPr>
          <p:cNvPr id="78859" name="Picture 11" descr="ANd9GcQfwC4TKTuwomc4bvlRRaYXy1syu2vbbpoTqMmF7LhoTRdc5l3T2vCOdo8">
            <a:hlinkClick r:id="rId2"/>
          </p:cNvPr>
          <p:cNvPicPr>
            <a:picLocks noChangeArrowheads="1"/>
          </p:cNvPicPr>
          <p:nvPr/>
        </p:nvPicPr>
        <p:blipFill>
          <a:blip r:embed="rId3"/>
          <a:srcRect/>
          <a:stretch>
            <a:fillRect/>
          </a:stretch>
        </p:blipFill>
        <p:spPr bwMode="auto">
          <a:xfrm>
            <a:off x="1214438" y="1298575"/>
            <a:ext cx="6772275" cy="5059363"/>
          </a:xfrm>
          <a:prstGeom prst="rect">
            <a:avLst/>
          </a:prstGeom>
          <a:noFill/>
          <a:ln w="9525">
            <a:noFill/>
            <a:miter lim="800000"/>
            <a:headEnd/>
            <a:tailEnd/>
          </a:ln>
        </p:spPr>
      </p:pic>
      <p:pic>
        <p:nvPicPr>
          <p:cNvPr id="78860" name="Picture 12" descr="u=3596069467,2962671800&amp;fm=0&amp;gp=0">
            <a:hlinkClick r:id="rId4"/>
          </p:cNvPr>
          <p:cNvPicPr>
            <a:picLocks noChangeArrowheads="1"/>
          </p:cNvPicPr>
          <p:nvPr/>
        </p:nvPicPr>
        <p:blipFill>
          <a:blip r:embed="rId5"/>
          <a:srcRect/>
          <a:stretch>
            <a:fillRect/>
          </a:stretch>
        </p:blipFill>
        <p:spPr bwMode="auto">
          <a:xfrm>
            <a:off x="1214438" y="1290638"/>
            <a:ext cx="6788150" cy="50673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8852"/>
                                        </p:tgtEl>
                                        <p:attrNameLst>
                                          <p:attrName>style.visibility</p:attrName>
                                        </p:attrNameLst>
                                      </p:cBhvr>
                                      <p:to>
                                        <p:strVal val="visible"/>
                                      </p:to>
                                    </p:set>
                                    <p:animEffect transition="in" filter="wipe(up)">
                                      <p:cBhvr>
                                        <p:cTn id="7" dur="1000"/>
                                        <p:tgtEl>
                                          <p:spTgt spid="78852"/>
                                        </p:tgtEl>
                                      </p:cBhvr>
                                    </p:animEffect>
                                  </p:childTnLst>
                                </p:cTn>
                              </p:par>
                              <p:par>
                                <p:cTn id="8" presetID="4" presetClass="entr" presetSubtype="32" fill="hold" nodeType="withEffect">
                                  <p:stCondLst>
                                    <p:cond delay="0"/>
                                  </p:stCondLst>
                                  <p:childTnLst>
                                    <p:set>
                                      <p:cBhvr>
                                        <p:cTn id="9" dur="1" fill="hold">
                                          <p:stCondLst>
                                            <p:cond delay="0"/>
                                          </p:stCondLst>
                                        </p:cTn>
                                        <p:tgtEl>
                                          <p:spTgt spid="78859"/>
                                        </p:tgtEl>
                                        <p:attrNameLst>
                                          <p:attrName>style.visibility</p:attrName>
                                        </p:attrNameLst>
                                      </p:cBhvr>
                                      <p:to>
                                        <p:strVal val="visible"/>
                                      </p:to>
                                    </p:set>
                                    <p:animEffect transition="in" filter="box(out)">
                                      <p:cBhvr>
                                        <p:cTn id="10" dur="1000"/>
                                        <p:tgtEl>
                                          <p:spTgt spid="78859"/>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78859"/>
                                        </p:tgtEl>
                                        <p:attrNameLst>
                                          <p:attrName>style.visibility</p:attrName>
                                        </p:attrNameLst>
                                      </p:cBhvr>
                                      <p:to>
                                        <p:strVal val="hidden"/>
                                      </p:to>
                                    </p:set>
                                  </p:childTnLst>
                                </p:cTn>
                              </p:par>
                              <p:par>
                                <p:cTn id="15" presetID="4" presetClass="entr" presetSubtype="32" fill="hold" nodeType="withEffect">
                                  <p:stCondLst>
                                    <p:cond delay="0"/>
                                  </p:stCondLst>
                                  <p:childTnLst>
                                    <p:set>
                                      <p:cBhvr>
                                        <p:cTn id="16" dur="1" fill="hold">
                                          <p:stCondLst>
                                            <p:cond delay="0"/>
                                          </p:stCondLst>
                                        </p:cTn>
                                        <p:tgtEl>
                                          <p:spTgt spid="78860"/>
                                        </p:tgtEl>
                                        <p:attrNameLst>
                                          <p:attrName>style.visibility</p:attrName>
                                        </p:attrNameLst>
                                      </p:cBhvr>
                                      <p:to>
                                        <p:strVal val="visible"/>
                                      </p:to>
                                    </p:set>
                                    <p:animEffect transition="in" filter="box(out)">
                                      <p:cBhvr>
                                        <p:cTn id="17" dur="1000"/>
                                        <p:tgtEl>
                                          <p:spTgt spid="78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8" name="AutoShape 4"/>
          <p:cNvSpPr>
            <a:spLocks noChangeArrowheads="1"/>
          </p:cNvSpPr>
          <p:nvPr/>
        </p:nvSpPr>
        <p:spPr bwMode="auto">
          <a:xfrm>
            <a:off x="250825" y="560388"/>
            <a:ext cx="360363" cy="576262"/>
          </a:xfrm>
          <a:prstGeom prst="star4">
            <a:avLst>
              <a:gd name="adj" fmla="val 18519"/>
            </a:avLst>
          </a:prstGeom>
          <a:gradFill rotWithShape="1">
            <a:gsLst>
              <a:gs pos="0">
                <a:srgbClr val="FF3300"/>
              </a:gs>
              <a:gs pos="100000">
                <a:srgbClr val="761800"/>
              </a:gs>
            </a:gsLst>
            <a:path path="shape">
              <a:fillToRect l="50000" t="50000" r="50000" b="50000"/>
            </a:path>
          </a:gradFill>
          <a:ln w="9525">
            <a:noFill/>
            <a:miter lim="800000"/>
            <a:headEnd/>
            <a:tailEnd/>
          </a:ln>
        </p:spPr>
        <p:txBody>
          <a:bodyPr wrap="none" anchor="ctr"/>
          <a:lstStyle/>
          <a:p>
            <a:endParaRPr lang="zh-CN" altLang="en-US"/>
          </a:p>
        </p:txBody>
      </p:sp>
      <p:sp>
        <p:nvSpPr>
          <p:cNvPr id="144389" name="Text Box 5"/>
          <p:cNvSpPr txBox="1">
            <a:spLocks noChangeArrowheads="1"/>
          </p:cNvSpPr>
          <p:nvPr/>
        </p:nvSpPr>
        <p:spPr bwMode="auto">
          <a:xfrm>
            <a:off x="611188" y="571500"/>
            <a:ext cx="1368425" cy="493713"/>
          </a:xfrm>
          <a:prstGeom prst="rect">
            <a:avLst/>
          </a:prstGeom>
          <a:noFill/>
          <a:ln w="9525">
            <a:noFill/>
            <a:miter lim="800000"/>
            <a:headEnd/>
            <a:tailEnd/>
          </a:ln>
        </p:spPr>
        <p:txBody>
          <a:bodyPr>
            <a:spAutoFit/>
          </a:bodyPr>
          <a:lstStyle/>
          <a:p>
            <a:pPr>
              <a:lnSpc>
                <a:spcPct val="110000"/>
              </a:lnSpc>
            </a:pPr>
            <a:r>
              <a:rPr lang="zh-CN" altLang="en-US" b="1">
                <a:solidFill>
                  <a:srgbClr val="FF3300"/>
                </a:solidFill>
              </a:rPr>
              <a:t>波动</a:t>
            </a:r>
          </a:p>
        </p:txBody>
      </p:sp>
      <p:sp>
        <p:nvSpPr>
          <p:cNvPr id="144390" name="Rectangle 6"/>
          <p:cNvSpPr>
            <a:spLocks noChangeArrowheads="1"/>
          </p:cNvSpPr>
          <p:nvPr/>
        </p:nvSpPr>
        <p:spPr bwMode="auto">
          <a:xfrm>
            <a:off x="684213" y="1136650"/>
            <a:ext cx="6924675" cy="493713"/>
          </a:xfrm>
          <a:prstGeom prst="rect">
            <a:avLst/>
          </a:prstGeom>
          <a:noFill/>
          <a:ln w="9525">
            <a:noFill/>
            <a:miter lim="800000"/>
            <a:headEnd/>
            <a:tailEnd/>
          </a:ln>
        </p:spPr>
        <p:txBody>
          <a:bodyPr wrap="none">
            <a:spAutoFit/>
          </a:bodyPr>
          <a:lstStyle/>
          <a:p>
            <a:pPr>
              <a:lnSpc>
                <a:spcPct val="110000"/>
              </a:lnSpc>
            </a:pPr>
            <a:r>
              <a:rPr lang="zh-CN" altLang="en-US" b="1">
                <a:latin typeface="宋体" pitchFamily="2" charset="-122"/>
              </a:rPr>
              <a:t>振动的传播过程叫波动，波动也是一种运动形式。</a:t>
            </a:r>
          </a:p>
        </p:txBody>
      </p:sp>
      <p:sp>
        <p:nvSpPr>
          <p:cNvPr id="144391" name="Text Box 7"/>
          <p:cNvSpPr txBox="1">
            <a:spLocks noChangeArrowheads="1"/>
          </p:cNvSpPr>
          <p:nvPr/>
        </p:nvSpPr>
        <p:spPr bwMode="auto">
          <a:xfrm>
            <a:off x="762000" y="1712913"/>
            <a:ext cx="4779963" cy="493712"/>
          </a:xfrm>
          <a:prstGeom prst="rect">
            <a:avLst/>
          </a:prstGeom>
          <a:noFill/>
          <a:ln w="9525">
            <a:noFill/>
            <a:miter lim="800000"/>
            <a:headEnd/>
            <a:tailEnd/>
          </a:ln>
        </p:spPr>
        <p:txBody>
          <a:bodyPr wrap="none">
            <a:spAutoFit/>
          </a:bodyPr>
          <a:lstStyle/>
          <a:p>
            <a:pPr>
              <a:lnSpc>
                <a:spcPct val="110000"/>
              </a:lnSpc>
            </a:pPr>
            <a:r>
              <a:rPr lang="zh-CN" altLang="en-US" b="1">
                <a:latin typeface="楷体_GB2312" pitchFamily="49" charset="-122"/>
                <a:ea typeface="楷体_GB2312" pitchFamily="49" charset="-122"/>
              </a:rPr>
              <a:t>波动有</a:t>
            </a:r>
            <a:r>
              <a:rPr lang="zh-CN" altLang="en-US" b="1">
                <a:solidFill>
                  <a:srgbClr val="669900"/>
                </a:solidFill>
                <a:latin typeface="楷体_GB2312" pitchFamily="49" charset="-122"/>
                <a:ea typeface="楷体_GB2312" pitchFamily="49" charset="-122"/>
              </a:rPr>
              <a:t>机械波</a:t>
            </a:r>
            <a:r>
              <a:rPr lang="zh-CN" altLang="en-US" b="1">
                <a:latin typeface="楷体_GB2312" pitchFamily="49" charset="-122"/>
                <a:ea typeface="楷体_GB2312" pitchFamily="49" charset="-122"/>
              </a:rPr>
              <a:t>，</a:t>
            </a:r>
            <a:r>
              <a:rPr lang="zh-CN" altLang="en-US" b="1">
                <a:solidFill>
                  <a:srgbClr val="669900"/>
                </a:solidFill>
                <a:latin typeface="楷体_GB2312" pitchFamily="49" charset="-122"/>
                <a:ea typeface="楷体_GB2312" pitchFamily="49" charset="-122"/>
              </a:rPr>
              <a:t>电磁波</a:t>
            </a:r>
            <a:r>
              <a:rPr lang="zh-CN" altLang="en-US" b="1">
                <a:latin typeface="楷体_GB2312" pitchFamily="49" charset="-122"/>
                <a:ea typeface="楷体_GB2312" pitchFamily="49" charset="-122"/>
              </a:rPr>
              <a:t>，</a:t>
            </a:r>
            <a:r>
              <a:rPr lang="zh-CN" altLang="en-US" b="1">
                <a:solidFill>
                  <a:srgbClr val="669900"/>
                </a:solidFill>
                <a:latin typeface="楷体_GB2312" pitchFamily="49" charset="-122"/>
                <a:ea typeface="楷体_GB2312" pitchFamily="49" charset="-122"/>
              </a:rPr>
              <a:t>物质波</a:t>
            </a:r>
            <a:r>
              <a:rPr lang="zh-CN" altLang="en-US" b="1">
                <a:latin typeface="楷体_GB2312" pitchFamily="49" charset="-122"/>
                <a:ea typeface="楷体_GB2312" pitchFamily="49" charset="-122"/>
              </a:rPr>
              <a:t>。</a:t>
            </a:r>
          </a:p>
        </p:txBody>
      </p:sp>
      <p:sp>
        <p:nvSpPr>
          <p:cNvPr id="144392" name="AutoShape 8"/>
          <p:cNvSpPr>
            <a:spLocks noChangeArrowheads="1"/>
          </p:cNvSpPr>
          <p:nvPr/>
        </p:nvSpPr>
        <p:spPr bwMode="auto">
          <a:xfrm>
            <a:off x="250825" y="2505075"/>
            <a:ext cx="360363" cy="576263"/>
          </a:xfrm>
          <a:prstGeom prst="star4">
            <a:avLst>
              <a:gd name="adj" fmla="val 18519"/>
            </a:avLst>
          </a:prstGeom>
          <a:gradFill rotWithShape="1">
            <a:gsLst>
              <a:gs pos="0">
                <a:srgbClr val="FF3300"/>
              </a:gs>
              <a:gs pos="100000">
                <a:srgbClr val="761800"/>
              </a:gs>
            </a:gsLst>
            <a:path path="shape">
              <a:fillToRect l="50000" t="50000" r="50000" b="50000"/>
            </a:path>
          </a:gradFill>
          <a:ln w="9525">
            <a:noFill/>
            <a:miter lim="800000"/>
            <a:headEnd/>
            <a:tailEnd/>
          </a:ln>
        </p:spPr>
        <p:txBody>
          <a:bodyPr wrap="none" anchor="ctr"/>
          <a:lstStyle/>
          <a:p>
            <a:endParaRPr lang="zh-CN" altLang="en-US"/>
          </a:p>
        </p:txBody>
      </p:sp>
      <p:sp>
        <p:nvSpPr>
          <p:cNvPr id="144393" name="Text Box 9"/>
          <p:cNvSpPr txBox="1">
            <a:spLocks noChangeArrowheads="1"/>
          </p:cNvSpPr>
          <p:nvPr/>
        </p:nvSpPr>
        <p:spPr bwMode="auto">
          <a:xfrm>
            <a:off x="684213" y="2514600"/>
            <a:ext cx="2941637" cy="493713"/>
          </a:xfrm>
          <a:prstGeom prst="rect">
            <a:avLst/>
          </a:prstGeom>
          <a:noFill/>
          <a:ln w="9525">
            <a:noFill/>
            <a:miter lim="800000"/>
            <a:headEnd/>
            <a:tailEnd/>
          </a:ln>
        </p:spPr>
        <p:txBody>
          <a:bodyPr wrap="none">
            <a:spAutoFit/>
          </a:bodyPr>
          <a:lstStyle/>
          <a:p>
            <a:pPr eaLnBrk="0" hangingPunct="0">
              <a:lnSpc>
                <a:spcPct val="110000"/>
              </a:lnSpc>
            </a:pPr>
            <a:r>
              <a:rPr kumimoji="0" lang="zh-CN" altLang="en-US" b="1">
                <a:solidFill>
                  <a:srgbClr val="FF3300"/>
                </a:solidFill>
              </a:rPr>
              <a:t>波动具有的显著特点</a:t>
            </a:r>
          </a:p>
        </p:txBody>
      </p:sp>
      <p:sp>
        <p:nvSpPr>
          <p:cNvPr id="144394" name="Text Box 10"/>
          <p:cNvSpPr txBox="1">
            <a:spLocks noChangeArrowheads="1"/>
          </p:cNvSpPr>
          <p:nvPr/>
        </p:nvSpPr>
        <p:spPr bwMode="auto">
          <a:xfrm>
            <a:off x="762000" y="3152775"/>
            <a:ext cx="4779963" cy="493713"/>
          </a:xfrm>
          <a:prstGeom prst="rect">
            <a:avLst/>
          </a:prstGeom>
          <a:noFill/>
          <a:ln w="9525">
            <a:noFill/>
            <a:miter lim="800000"/>
            <a:headEnd/>
            <a:tailEnd/>
          </a:ln>
        </p:spPr>
        <p:txBody>
          <a:bodyPr wrap="none">
            <a:spAutoFit/>
          </a:bodyPr>
          <a:lstStyle/>
          <a:p>
            <a:pPr eaLnBrk="0" hangingPunct="0">
              <a:lnSpc>
                <a:spcPct val="110000"/>
              </a:lnSpc>
            </a:pPr>
            <a:r>
              <a:rPr kumimoji="0" lang="zh-CN" altLang="en-US" b="1">
                <a:latin typeface="宋体" pitchFamily="2" charset="-122"/>
              </a:rPr>
              <a:t>具有时间和空间上的某种</a:t>
            </a:r>
            <a:r>
              <a:rPr kumimoji="0" lang="zh-CN" altLang="en-US" b="1">
                <a:solidFill>
                  <a:srgbClr val="669900"/>
                </a:solidFill>
                <a:latin typeface="宋体" pitchFamily="2" charset="-122"/>
              </a:rPr>
              <a:t>重复性</a:t>
            </a:r>
            <a:r>
              <a:rPr kumimoji="0" lang="zh-CN" altLang="en-US" b="1">
                <a:latin typeface="宋体" pitchFamily="2" charset="-122"/>
              </a:rPr>
              <a:t>。</a:t>
            </a:r>
          </a:p>
        </p:txBody>
      </p:sp>
      <p:sp>
        <p:nvSpPr>
          <p:cNvPr id="144395" name="AutoShape 11"/>
          <p:cNvSpPr>
            <a:spLocks noChangeArrowheads="1"/>
          </p:cNvSpPr>
          <p:nvPr/>
        </p:nvSpPr>
        <p:spPr bwMode="auto">
          <a:xfrm>
            <a:off x="250825" y="3871913"/>
            <a:ext cx="360363" cy="576262"/>
          </a:xfrm>
          <a:prstGeom prst="star4">
            <a:avLst>
              <a:gd name="adj" fmla="val 18519"/>
            </a:avLst>
          </a:prstGeom>
          <a:gradFill rotWithShape="1">
            <a:gsLst>
              <a:gs pos="0">
                <a:srgbClr val="FF3300"/>
              </a:gs>
              <a:gs pos="100000">
                <a:srgbClr val="761800"/>
              </a:gs>
            </a:gsLst>
            <a:path path="shape">
              <a:fillToRect l="50000" t="50000" r="50000" b="50000"/>
            </a:path>
          </a:gradFill>
          <a:ln w="9525">
            <a:noFill/>
            <a:miter lim="800000"/>
            <a:headEnd/>
            <a:tailEnd/>
          </a:ln>
        </p:spPr>
        <p:txBody>
          <a:bodyPr wrap="none" anchor="ctr"/>
          <a:lstStyle/>
          <a:p>
            <a:endParaRPr lang="zh-CN" altLang="en-US"/>
          </a:p>
        </p:txBody>
      </p:sp>
      <p:sp>
        <p:nvSpPr>
          <p:cNvPr id="144396" name="Text Box 12"/>
          <p:cNvSpPr txBox="1">
            <a:spLocks noChangeArrowheads="1"/>
          </p:cNvSpPr>
          <p:nvPr/>
        </p:nvSpPr>
        <p:spPr bwMode="auto">
          <a:xfrm>
            <a:off x="730250" y="3883025"/>
            <a:ext cx="4202113" cy="493713"/>
          </a:xfrm>
          <a:prstGeom prst="rect">
            <a:avLst/>
          </a:prstGeom>
          <a:noFill/>
          <a:ln w="9525">
            <a:noFill/>
            <a:miter lim="800000"/>
            <a:headEnd/>
            <a:tailEnd/>
          </a:ln>
        </p:spPr>
        <p:txBody>
          <a:bodyPr>
            <a:spAutoFit/>
          </a:bodyPr>
          <a:lstStyle/>
          <a:p>
            <a:pPr eaLnBrk="0" hangingPunct="0">
              <a:lnSpc>
                <a:spcPct val="110000"/>
              </a:lnSpc>
            </a:pPr>
            <a:r>
              <a:rPr kumimoji="0" lang="zh-CN" altLang="en-US" b="1">
                <a:solidFill>
                  <a:srgbClr val="FF3300"/>
                </a:solidFill>
              </a:rPr>
              <a:t>各种形式波具有的共性</a:t>
            </a:r>
          </a:p>
        </p:txBody>
      </p:sp>
      <p:sp>
        <p:nvSpPr>
          <p:cNvPr id="144397" name="Text Box 13"/>
          <p:cNvSpPr txBox="1">
            <a:spLocks noChangeArrowheads="1"/>
          </p:cNvSpPr>
          <p:nvPr/>
        </p:nvSpPr>
        <p:spPr bwMode="auto">
          <a:xfrm>
            <a:off x="755650" y="5097463"/>
            <a:ext cx="4248150" cy="493712"/>
          </a:xfrm>
          <a:prstGeom prst="rect">
            <a:avLst/>
          </a:prstGeom>
          <a:noFill/>
          <a:ln w="9525">
            <a:noFill/>
            <a:miter lim="800000"/>
            <a:headEnd/>
            <a:tailEnd/>
          </a:ln>
        </p:spPr>
        <p:txBody>
          <a:bodyPr>
            <a:spAutoFit/>
          </a:bodyPr>
          <a:lstStyle/>
          <a:p>
            <a:pPr eaLnBrk="0" hangingPunct="0">
              <a:lnSpc>
                <a:spcPct val="110000"/>
              </a:lnSpc>
            </a:pPr>
            <a:r>
              <a:rPr kumimoji="0" lang="en-US" altLang="zh-CN" b="1">
                <a:ea typeface="楷体_GB2312" pitchFamily="49" charset="-122"/>
              </a:rPr>
              <a:t>(2) </a:t>
            </a:r>
            <a:r>
              <a:rPr kumimoji="0" lang="zh-CN" altLang="en-US" b="1">
                <a:ea typeface="楷体_GB2312" pitchFamily="49" charset="-122"/>
              </a:rPr>
              <a:t>有类似的波动方程；</a:t>
            </a:r>
          </a:p>
        </p:txBody>
      </p:sp>
      <p:sp>
        <p:nvSpPr>
          <p:cNvPr id="144398" name="Text Box 14"/>
          <p:cNvSpPr txBox="1">
            <a:spLocks noChangeArrowheads="1"/>
          </p:cNvSpPr>
          <p:nvPr/>
        </p:nvSpPr>
        <p:spPr bwMode="auto">
          <a:xfrm>
            <a:off x="755650" y="5672138"/>
            <a:ext cx="7632700" cy="493712"/>
          </a:xfrm>
          <a:prstGeom prst="rect">
            <a:avLst/>
          </a:prstGeom>
          <a:noFill/>
          <a:ln w="9525">
            <a:noFill/>
            <a:miter lim="800000"/>
            <a:headEnd/>
            <a:tailEnd/>
          </a:ln>
        </p:spPr>
        <p:txBody>
          <a:bodyPr>
            <a:spAutoFit/>
          </a:bodyPr>
          <a:lstStyle/>
          <a:p>
            <a:pPr eaLnBrk="0" hangingPunct="0">
              <a:lnSpc>
                <a:spcPct val="110000"/>
              </a:lnSpc>
            </a:pPr>
            <a:r>
              <a:rPr kumimoji="0" lang="en-US" altLang="zh-CN" b="1">
                <a:ea typeface="楷体_GB2312" pitchFamily="49" charset="-122"/>
              </a:rPr>
              <a:t>(3) </a:t>
            </a:r>
            <a:r>
              <a:rPr kumimoji="0" lang="zh-CN" altLang="en-US" b="1">
                <a:ea typeface="楷体_GB2312" pitchFamily="49" charset="-122"/>
              </a:rPr>
              <a:t>能产生反射、折射、干涉、衍射等波动现象；</a:t>
            </a:r>
          </a:p>
        </p:txBody>
      </p:sp>
      <p:sp>
        <p:nvSpPr>
          <p:cNvPr id="144399" name="Text Box 15"/>
          <p:cNvSpPr txBox="1">
            <a:spLocks noChangeArrowheads="1"/>
          </p:cNvSpPr>
          <p:nvPr/>
        </p:nvSpPr>
        <p:spPr bwMode="auto">
          <a:xfrm>
            <a:off x="755650" y="4521200"/>
            <a:ext cx="3816350" cy="457200"/>
          </a:xfrm>
          <a:prstGeom prst="rect">
            <a:avLst/>
          </a:prstGeom>
          <a:noFill/>
          <a:ln w="9525">
            <a:noFill/>
            <a:miter lim="800000"/>
            <a:headEnd/>
            <a:tailEnd/>
          </a:ln>
        </p:spPr>
        <p:txBody>
          <a:bodyPr>
            <a:spAutoFit/>
          </a:bodyPr>
          <a:lstStyle/>
          <a:p>
            <a:pPr>
              <a:spcBef>
                <a:spcPct val="50000"/>
              </a:spcBef>
            </a:pPr>
            <a:r>
              <a:rPr lang="en-US" altLang="zh-CN" b="1">
                <a:ea typeface="楷体_GB2312" pitchFamily="49" charset="-122"/>
              </a:rPr>
              <a:t>(1) </a:t>
            </a:r>
            <a:r>
              <a:rPr lang="zh-CN" altLang="en-US" b="1">
                <a:ea typeface="楷体_GB2312" pitchFamily="49" charset="-122"/>
              </a:rPr>
              <a:t>伴随着能量的传播；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4388"/>
                                        </p:tgtEl>
                                        <p:attrNameLst>
                                          <p:attrName>style.visibility</p:attrName>
                                        </p:attrNameLst>
                                      </p:cBhvr>
                                      <p:to>
                                        <p:strVal val="visible"/>
                                      </p:to>
                                    </p:set>
                                    <p:animEffect transition="in" filter="dissolve">
                                      <p:cBhvr>
                                        <p:cTn id="7" dur="1000"/>
                                        <p:tgtEl>
                                          <p:spTgt spid="144388"/>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44389"/>
                                        </p:tgtEl>
                                        <p:attrNameLst>
                                          <p:attrName>style.visibility</p:attrName>
                                        </p:attrNameLst>
                                      </p:cBhvr>
                                      <p:to>
                                        <p:strVal val="visible"/>
                                      </p:to>
                                    </p:set>
                                    <p:animEffect transition="in" filter="wipe(left)">
                                      <p:cBhvr>
                                        <p:cTn id="11" dur="500"/>
                                        <p:tgtEl>
                                          <p:spTgt spid="144389"/>
                                        </p:tgtEl>
                                      </p:cBhvr>
                                    </p:animEffect>
                                  </p:childTnLst>
                                  <p:subTnLst>
                                    <p:audio>
                                      <p:cMediaNode mute="1">
                                        <p:cTn display="0" masterRel="sameClick">
                                          <p:stCondLst>
                                            <p:cond evt="begin" delay="0">
                                              <p:tn val="9"/>
                                            </p:cond>
                                          </p:stCondLst>
                                          <p:endCondLst>
                                            <p:cond evt="onStopAudio" delay="0">
                                              <p:tgtEl>
                                                <p:sldTgt/>
                                              </p:tgtEl>
                                            </p:cond>
                                          </p:endCondLst>
                                        </p:cTn>
                                        <p:tgtEl>
                                          <p:sndTgt r:embed="rId2" name="CAMERA.WAV" builtIn="1"/>
                                        </p:tgtEl>
                                      </p:cMediaNode>
                                    </p:audio>
                                  </p:sub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4390"/>
                                        </p:tgtEl>
                                        <p:attrNameLst>
                                          <p:attrName>style.visibility</p:attrName>
                                        </p:attrNameLst>
                                      </p:cBhvr>
                                      <p:to>
                                        <p:strVal val="visible"/>
                                      </p:to>
                                    </p:set>
                                    <p:animEffect transition="in" filter="wipe(left)">
                                      <p:cBhvr>
                                        <p:cTn id="16" dur="500"/>
                                        <p:tgtEl>
                                          <p:spTgt spid="144390"/>
                                        </p:tgtEl>
                                      </p:cBhvr>
                                    </p:animEffect>
                                  </p:childTnLst>
                                  <p:subTnLst>
                                    <p:audio>
                                      <p:cMediaNode mute="1">
                                        <p:cTn display="0" masterRel="sameClick">
                                          <p:stCondLst>
                                            <p:cond evt="begin" delay="0">
                                              <p:tn val="14"/>
                                            </p:cond>
                                          </p:stCondLst>
                                          <p:endCondLst>
                                            <p:cond evt="onStopAudio" delay="0">
                                              <p:tgtEl>
                                                <p:sldTgt/>
                                              </p:tgtEl>
                                            </p:cond>
                                          </p:endCondLst>
                                        </p:cTn>
                                        <p:tgtEl>
                                          <p:sndTgt r:embed="rId2" name="CAMERA.WAV" builtIn="1"/>
                                        </p:tgtEl>
                                      </p:cMediaNode>
                                    </p:audio>
                                  </p:sub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4391"/>
                                        </p:tgtEl>
                                        <p:attrNameLst>
                                          <p:attrName>style.visibility</p:attrName>
                                        </p:attrNameLst>
                                      </p:cBhvr>
                                      <p:to>
                                        <p:strVal val="visible"/>
                                      </p:to>
                                    </p:set>
                                    <p:animEffect transition="in" filter="wipe(left)">
                                      <p:cBhvr>
                                        <p:cTn id="21" dur="500"/>
                                        <p:tgtEl>
                                          <p:spTgt spid="144391"/>
                                        </p:tgtEl>
                                      </p:cBhvr>
                                    </p:animEffect>
                                  </p:childTnLst>
                                  <p:subTnLst>
                                    <p:audio>
                                      <p:cMediaNode mute="1">
                                        <p:cTn display="0" masterRel="sameClick">
                                          <p:stCondLst>
                                            <p:cond evt="begin" delay="0">
                                              <p:tn val="19"/>
                                            </p:cond>
                                          </p:stCondLst>
                                          <p:endCondLst>
                                            <p:cond evt="onStopAudio" delay="0">
                                              <p:tgtEl>
                                                <p:sldTgt/>
                                              </p:tgtEl>
                                            </p:cond>
                                          </p:endCondLst>
                                        </p:cTn>
                                        <p:tgtEl>
                                          <p:sndTgt r:embed="rId2" name="CAMERA.WAV" builtIn="1"/>
                                        </p:tgtEl>
                                      </p:cMediaNode>
                                    </p:audio>
                                  </p:sub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44392"/>
                                        </p:tgtEl>
                                        <p:attrNameLst>
                                          <p:attrName>style.visibility</p:attrName>
                                        </p:attrNameLst>
                                      </p:cBhvr>
                                      <p:to>
                                        <p:strVal val="visible"/>
                                      </p:to>
                                    </p:set>
                                    <p:animEffect transition="in" filter="dissolve">
                                      <p:cBhvr>
                                        <p:cTn id="26" dur="1000"/>
                                        <p:tgtEl>
                                          <p:spTgt spid="144392"/>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144393"/>
                                        </p:tgtEl>
                                        <p:attrNameLst>
                                          <p:attrName>style.visibility</p:attrName>
                                        </p:attrNameLst>
                                      </p:cBhvr>
                                      <p:to>
                                        <p:strVal val="visible"/>
                                      </p:to>
                                    </p:set>
                                    <p:animEffect transition="in" filter="wipe(left)">
                                      <p:cBhvr>
                                        <p:cTn id="30" dur="500"/>
                                        <p:tgtEl>
                                          <p:spTgt spid="14439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44394"/>
                                        </p:tgtEl>
                                        <p:attrNameLst>
                                          <p:attrName>style.visibility</p:attrName>
                                        </p:attrNameLst>
                                      </p:cBhvr>
                                      <p:to>
                                        <p:strVal val="visible"/>
                                      </p:to>
                                    </p:set>
                                    <p:animEffect transition="in" filter="wipe(left)">
                                      <p:cBhvr>
                                        <p:cTn id="35" dur="500"/>
                                        <p:tgtEl>
                                          <p:spTgt spid="144394"/>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44395"/>
                                        </p:tgtEl>
                                        <p:attrNameLst>
                                          <p:attrName>style.visibility</p:attrName>
                                        </p:attrNameLst>
                                      </p:cBhvr>
                                      <p:to>
                                        <p:strVal val="visible"/>
                                      </p:to>
                                    </p:set>
                                    <p:animEffect transition="in" filter="dissolve">
                                      <p:cBhvr>
                                        <p:cTn id="40" dur="1000"/>
                                        <p:tgtEl>
                                          <p:spTgt spid="144395"/>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144396"/>
                                        </p:tgtEl>
                                        <p:attrNameLst>
                                          <p:attrName>style.visibility</p:attrName>
                                        </p:attrNameLst>
                                      </p:cBhvr>
                                      <p:to>
                                        <p:strVal val="visible"/>
                                      </p:to>
                                    </p:set>
                                    <p:animEffect transition="in" filter="wipe(left)">
                                      <p:cBhvr>
                                        <p:cTn id="44" dur="500"/>
                                        <p:tgtEl>
                                          <p:spTgt spid="14439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44399"/>
                                        </p:tgtEl>
                                        <p:attrNameLst>
                                          <p:attrName>style.visibility</p:attrName>
                                        </p:attrNameLst>
                                      </p:cBhvr>
                                      <p:to>
                                        <p:strVal val="visible"/>
                                      </p:to>
                                    </p:set>
                                    <p:animEffect transition="in" filter="wipe(left)">
                                      <p:cBhvr>
                                        <p:cTn id="49" dur="500"/>
                                        <p:tgtEl>
                                          <p:spTgt spid="14439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44397"/>
                                        </p:tgtEl>
                                        <p:attrNameLst>
                                          <p:attrName>style.visibility</p:attrName>
                                        </p:attrNameLst>
                                      </p:cBhvr>
                                      <p:to>
                                        <p:strVal val="visible"/>
                                      </p:to>
                                    </p:set>
                                    <p:animEffect transition="in" filter="wipe(left)">
                                      <p:cBhvr>
                                        <p:cTn id="54" dur="500"/>
                                        <p:tgtEl>
                                          <p:spTgt spid="144397"/>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44398"/>
                                        </p:tgtEl>
                                        <p:attrNameLst>
                                          <p:attrName>style.visibility</p:attrName>
                                        </p:attrNameLst>
                                      </p:cBhvr>
                                      <p:to>
                                        <p:strVal val="visible"/>
                                      </p:to>
                                    </p:set>
                                    <p:animEffect transition="in" filter="wipe(left)">
                                      <p:cBhvr>
                                        <p:cTn id="59" dur="500"/>
                                        <p:tgtEl>
                                          <p:spTgt spid="144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8" grpId="0" animBg="1"/>
      <p:bldP spid="144389" grpId="0" autoUpdateAnimBg="0"/>
      <p:bldP spid="144390" grpId="0" autoUpdateAnimBg="0"/>
      <p:bldP spid="144391" grpId="0" autoUpdateAnimBg="0"/>
      <p:bldP spid="144392" grpId="0" animBg="1"/>
      <p:bldP spid="144393" grpId="0" autoUpdateAnimBg="0"/>
      <p:bldP spid="144394" grpId="0" autoUpdateAnimBg="0"/>
      <p:bldP spid="144395" grpId="0" animBg="1"/>
      <p:bldP spid="144396" grpId="0" autoUpdateAnimBg="0"/>
      <p:bldP spid="144397" grpId="0" autoUpdateAnimBg="0"/>
      <p:bldP spid="144398" grpId="0" autoUpdateAnimBg="0"/>
      <p:bldP spid="14439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2" name="Line 4"/>
          <p:cNvSpPr>
            <a:spLocks noChangeShapeType="1"/>
          </p:cNvSpPr>
          <p:nvPr/>
        </p:nvSpPr>
        <p:spPr bwMode="auto">
          <a:xfrm>
            <a:off x="55563" y="1268413"/>
            <a:ext cx="9043987" cy="0"/>
          </a:xfrm>
          <a:prstGeom prst="line">
            <a:avLst/>
          </a:prstGeom>
          <a:noFill/>
          <a:ln w="28575">
            <a:solidFill>
              <a:srgbClr val="0062E1">
                <a:alpha val="70195"/>
              </a:srgbClr>
            </a:solidFill>
            <a:round/>
            <a:headEnd/>
            <a:tailEnd/>
          </a:ln>
        </p:spPr>
        <p:txBody>
          <a:bodyPr/>
          <a:lstStyle/>
          <a:p>
            <a:endParaRPr lang="zh-CN" altLang="en-US"/>
          </a:p>
        </p:txBody>
      </p:sp>
      <p:sp>
        <p:nvSpPr>
          <p:cNvPr id="140294" name="Text Box 6"/>
          <p:cNvSpPr txBox="1">
            <a:spLocks noChangeArrowheads="1"/>
          </p:cNvSpPr>
          <p:nvPr/>
        </p:nvSpPr>
        <p:spPr bwMode="auto">
          <a:xfrm>
            <a:off x="736600" y="1736725"/>
            <a:ext cx="5105400" cy="519113"/>
          </a:xfrm>
          <a:prstGeom prst="rect">
            <a:avLst/>
          </a:prstGeom>
          <a:noFill/>
          <a:ln w="9525">
            <a:noFill/>
            <a:miter lim="800000"/>
            <a:headEnd/>
            <a:tailEnd/>
          </a:ln>
        </p:spPr>
        <p:txBody>
          <a:bodyPr>
            <a:spAutoFit/>
          </a:bodyPr>
          <a:lstStyle/>
          <a:p>
            <a:pPr>
              <a:spcBef>
                <a:spcPct val="50000"/>
              </a:spcBef>
            </a:pPr>
            <a:r>
              <a:rPr lang="zh-CN" altLang="en-US" sz="2800" b="1">
                <a:solidFill>
                  <a:srgbClr val="0033CC"/>
                </a:solidFill>
              </a:rPr>
              <a:t>本章内容：</a:t>
            </a:r>
          </a:p>
        </p:txBody>
      </p:sp>
      <p:sp>
        <p:nvSpPr>
          <p:cNvPr id="140295" name="Rectangle 7">
            <a:hlinkClick r:id="rId2" action="ppaction://hlinksldjump"/>
          </p:cNvPr>
          <p:cNvSpPr>
            <a:spLocks noChangeArrowheads="1"/>
          </p:cNvSpPr>
          <p:nvPr/>
        </p:nvSpPr>
        <p:spPr bwMode="auto">
          <a:xfrm>
            <a:off x="2627313" y="2212975"/>
            <a:ext cx="3781425" cy="568325"/>
          </a:xfrm>
          <a:prstGeom prst="rect">
            <a:avLst/>
          </a:prstGeom>
          <a:noFill/>
          <a:ln w="9525">
            <a:noFill/>
            <a:miter lim="800000"/>
            <a:headEnd/>
            <a:tailEnd/>
          </a:ln>
        </p:spPr>
        <p:txBody>
          <a:bodyPr wrap="none" tIns="101568" bIns="101568" anchor="ctr">
            <a:spAutoFit/>
          </a:bodyPr>
          <a:lstStyle/>
          <a:p>
            <a:r>
              <a:rPr lang="en-US" altLang="zh-CN" b="1">
                <a:solidFill>
                  <a:srgbClr val="0033CC"/>
                </a:solidFill>
              </a:rPr>
              <a:t>§6.1  </a:t>
            </a:r>
            <a:r>
              <a:rPr lang="zh-CN" altLang="en-US" b="1">
                <a:solidFill>
                  <a:srgbClr val="0033CC"/>
                </a:solidFill>
              </a:rPr>
              <a:t>机械波的产生与传播</a:t>
            </a:r>
            <a:endParaRPr lang="zh-CN" altLang="en-US">
              <a:solidFill>
                <a:srgbClr val="0033CC"/>
              </a:solidFill>
            </a:endParaRPr>
          </a:p>
        </p:txBody>
      </p:sp>
      <p:sp>
        <p:nvSpPr>
          <p:cNvPr id="140296" name="Rectangle 8">
            <a:hlinkClick r:id="rId3" action="ppaction://hlinksldjump"/>
          </p:cNvPr>
          <p:cNvSpPr>
            <a:spLocks noChangeArrowheads="1"/>
          </p:cNvSpPr>
          <p:nvPr/>
        </p:nvSpPr>
        <p:spPr bwMode="auto">
          <a:xfrm>
            <a:off x="2627313" y="2717800"/>
            <a:ext cx="2555875" cy="568325"/>
          </a:xfrm>
          <a:prstGeom prst="rect">
            <a:avLst/>
          </a:prstGeom>
          <a:noFill/>
          <a:ln w="9525">
            <a:noFill/>
            <a:miter lim="800000"/>
            <a:headEnd/>
            <a:tailEnd/>
          </a:ln>
        </p:spPr>
        <p:txBody>
          <a:bodyPr wrap="none" tIns="101568" bIns="101568" anchor="ctr">
            <a:spAutoFit/>
          </a:bodyPr>
          <a:lstStyle/>
          <a:p>
            <a:r>
              <a:rPr lang="en-US" altLang="zh-CN" b="1">
                <a:solidFill>
                  <a:srgbClr val="0033CC"/>
                </a:solidFill>
              </a:rPr>
              <a:t>§6.2  </a:t>
            </a:r>
            <a:r>
              <a:rPr lang="zh-CN" altLang="en-US" b="1">
                <a:solidFill>
                  <a:srgbClr val="0033CC"/>
                </a:solidFill>
              </a:rPr>
              <a:t>平面简谐波</a:t>
            </a:r>
            <a:endParaRPr lang="zh-CN" altLang="en-US">
              <a:solidFill>
                <a:srgbClr val="0033CC"/>
              </a:solidFill>
            </a:endParaRPr>
          </a:p>
        </p:txBody>
      </p:sp>
      <p:sp>
        <p:nvSpPr>
          <p:cNvPr id="140297" name="Rectangle 9">
            <a:hlinkClick r:id="rId4" action="ppaction://hlinksldjump"/>
          </p:cNvPr>
          <p:cNvSpPr>
            <a:spLocks noChangeArrowheads="1"/>
          </p:cNvSpPr>
          <p:nvPr/>
        </p:nvSpPr>
        <p:spPr bwMode="auto">
          <a:xfrm>
            <a:off x="2627313" y="3284538"/>
            <a:ext cx="2249487" cy="568325"/>
          </a:xfrm>
          <a:prstGeom prst="rect">
            <a:avLst/>
          </a:prstGeom>
          <a:noFill/>
          <a:ln w="9525">
            <a:noFill/>
            <a:miter lim="800000"/>
            <a:headEnd/>
            <a:tailEnd/>
          </a:ln>
        </p:spPr>
        <p:txBody>
          <a:bodyPr wrap="none" tIns="101568" bIns="101568" anchor="ctr">
            <a:spAutoFit/>
          </a:bodyPr>
          <a:lstStyle/>
          <a:p>
            <a:r>
              <a:rPr lang="en-US" altLang="zh-CN" b="1">
                <a:solidFill>
                  <a:srgbClr val="0033CC"/>
                </a:solidFill>
              </a:rPr>
              <a:t>§6.3  </a:t>
            </a:r>
            <a:r>
              <a:rPr lang="zh-CN" altLang="en-US" b="1">
                <a:solidFill>
                  <a:srgbClr val="0033CC"/>
                </a:solidFill>
              </a:rPr>
              <a:t>波的能量</a:t>
            </a:r>
            <a:endParaRPr lang="zh-CN" altLang="en-US">
              <a:solidFill>
                <a:srgbClr val="0033CC"/>
              </a:solidFill>
            </a:endParaRPr>
          </a:p>
        </p:txBody>
      </p:sp>
      <p:sp>
        <p:nvSpPr>
          <p:cNvPr id="140298" name="Rectangle 10">
            <a:hlinkClick r:id="rId5" action="ppaction://hlinksldjump"/>
          </p:cNvPr>
          <p:cNvSpPr>
            <a:spLocks noChangeArrowheads="1"/>
          </p:cNvSpPr>
          <p:nvPr/>
        </p:nvSpPr>
        <p:spPr bwMode="auto">
          <a:xfrm>
            <a:off x="2644775" y="3797300"/>
            <a:ext cx="4232275" cy="568325"/>
          </a:xfrm>
          <a:prstGeom prst="rect">
            <a:avLst/>
          </a:prstGeom>
          <a:noFill/>
          <a:ln w="9525">
            <a:noFill/>
            <a:miter lim="800000"/>
            <a:headEnd/>
            <a:tailEnd/>
          </a:ln>
        </p:spPr>
        <p:txBody>
          <a:bodyPr tIns="101568" bIns="101568" anchor="ctr">
            <a:spAutoFit/>
          </a:bodyPr>
          <a:lstStyle/>
          <a:p>
            <a:r>
              <a:rPr lang="en-US" altLang="zh-CN" b="1">
                <a:solidFill>
                  <a:srgbClr val="0033CC"/>
                </a:solidFill>
              </a:rPr>
              <a:t>§6.4  </a:t>
            </a:r>
            <a:r>
              <a:rPr lang="zh-CN" altLang="en-US" b="1">
                <a:solidFill>
                  <a:srgbClr val="0033CC"/>
                </a:solidFill>
              </a:rPr>
              <a:t>惠更斯原理   波的干涉</a:t>
            </a:r>
            <a:endParaRPr lang="zh-CN" altLang="en-US">
              <a:solidFill>
                <a:srgbClr val="0033CC"/>
              </a:solidFill>
            </a:endParaRPr>
          </a:p>
        </p:txBody>
      </p:sp>
      <p:sp>
        <p:nvSpPr>
          <p:cNvPr id="140299" name="Rectangle 11">
            <a:hlinkClick r:id="rId6" action="ppaction://hlinksldjump"/>
          </p:cNvPr>
          <p:cNvSpPr>
            <a:spLocks noChangeArrowheads="1"/>
          </p:cNvSpPr>
          <p:nvPr/>
        </p:nvSpPr>
        <p:spPr bwMode="auto">
          <a:xfrm>
            <a:off x="2627313" y="4302125"/>
            <a:ext cx="1944687" cy="568325"/>
          </a:xfrm>
          <a:prstGeom prst="rect">
            <a:avLst/>
          </a:prstGeom>
          <a:noFill/>
          <a:ln w="9525">
            <a:noFill/>
            <a:miter lim="800000"/>
            <a:headEnd/>
            <a:tailEnd/>
          </a:ln>
        </p:spPr>
        <p:txBody>
          <a:bodyPr tIns="101568" bIns="101568" anchor="ctr">
            <a:spAutoFit/>
          </a:bodyPr>
          <a:lstStyle/>
          <a:p>
            <a:r>
              <a:rPr lang="en-US" altLang="zh-CN" b="1">
                <a:solidFill>
                  <a:srgbClr val="0033CC"/>
                </a:solidFill>
              </a:rPr>
              <a:t>§6.5  </a:t>
            </a:r>
            <a:r>
              <a:rPr lang="zh-CN" altLang="en-US" b="1">
                <a:solidFill>
                  <a:srgbClr val="0033CC"/>
                </a:solidFill>
              </a:rPr>
              <a:t>驻波</a:t>
            </a:r>
            <a:endParaRPr lang="zh-CN" altLang="en-US">
              <a:solidFill>
                <a:srgbClr val="0033CC"/>
              </a:solidFill>
            </a:endParaRPr>
          </a:p>
        </p:txBody>
      </p:sp>
      <p:sp>
        <p:nvSpPr>
          <p:cNvPr id="140300" name="Rectangle 12">
            <a:hlinkClick r:id="rId7" action="ppaction://hlinksldjump"/>
          </p:cNvPr>
          <p:cNvSpPr>
            <a:spLocks noChangeArrowheads="1"/>
          </p:cNvSpPr>
          <p:nvPr/>
        </p:nvSpPr>
        <p:spPr bwMode="auto">
          <a:xfrm>
            <a:off x="2627313" y="4805363"/>
            <a:ext cx="2555875" cy="568325"/>
          </a:xfrm>
          <a:prstGeom prst="rect">
            <a:avLst/>
          </a:prstGeom>
          <a:noFill/>
          <a:ln w="9525">
            <a:noFill/>
            <a:miter lim="800000"/>
            <a:headEnd/>
            <a:tailEnd/>
          </a:ln>
        </p:spPr>
        <p:txBody>
          <a:bodyPr wrap="none" tIns="101568" bIns="101568" anchor="ctr">
            <a:spAutoFit/>
          </a:bodyPr>
          <a:lstStyle/>
          <a:p>
            <a:r>
              <a:rPr lang="en-US" altLang="zh-CN" b="1">
                <a:solidFill>
                  <a:srgbClr val="0033CC"/>
                </a:solidFill>
              </a:rPr>
              <a:t>§6.6  </a:t>
            </a:r>
            <a:r>
              <a:rPr lang="zh-CN" altLang="en-US" b="1">
                <a:solidFill>
                  <a:srgbClr val="0033CC"/>
                </a:solidFill>
              </a:rPr>
              <a:t>多普勒效应</a:t>
            </a:r>
            <a:endParaRPr lang="zh-CN" altLang="en-US">
              <a:solidFill>
                <a:srgbClr val="0033CC"/>
              </a:solidFill>
            </a:endParaRPr>
          </a:p>
        </p:txBody>
      </p:sp>
      <p:sp>
        <p:nvSpPr>
          <p:cNvPr id="140301" name="Rectangle 13"/>
          <p:cNvSpPr>
            <a:spLocks noChangeArrowheads="1"/>
          </p:cNvSpPr>
          <p:nvPr/>
        </p:nvSpPr>
        <p:spPr bwMode="auto">
          <a:xfrm>
            <a:off x="684213" y="423863"/>
            <a:ext cx="7561262" cy="576262"/>
          </a:xfrm>
          <a:prstGeom prst="rect">
            <a:avLst/>
          </a:prstGeom>
          <a:noFill/>
          <a:ln w="9525">
            <a:noFill/>
            <a:miter lim="800000"/>
            <a:headEnd/>
            <a:tailEnd/>
          </a:ln>
          <a:effectLst/>
        </p:spPr>
        <p:txBody>
          <a:bodyPr/>
          <a:lstStyle/>
          <a:p>
            <a:pPr algn="ctr">
              <a:defRPr/>
            </a:pPr>
            <a:r>
              <a:rPr lang="zh-CN" altLang="en-US" sz="4400" b="1" dirty="0">
                <a:solidFill>
                  <a:srgbClr val="FF0000"/>
                </a:solidFill>
                <a:effectLst>
                  <a:outerShdw blurRad="38100" dist="38100" dir="2700000" algn="tl">
                    <a:srgbClr val="C0C0C0"/>
                  </a:outerShdw>
                </a:effectLst>
                <a:latin typeface="隶书" pitchFamily="49" charset="-122"/>
                <a:ea typeface="隶书" pitchFamily="49" charset="-122"/>
              </a:rPr>
              <a:t>第</a:t>
            </a:r>
            <a:r>
              <a:rPr lang="en-US" altLang="zh-CN" sz="4400" b="1" dirty="0">
                <a:solidFill>
                  <a:srgbClr val="FF0000"/>
                </a:solidFill>
                <a:effectLst>
                  <a:outerShdw blurRad="38100" dist="38100" dir="2700000" algn="tl">
                    <a:srgbClr val="C0C0C0"/>
                  </a:outerShdw>
                </a:effectLst>
                <a:latin typeface="隶书" pitchFamily="49" charset="-122"/>
                <a:ea typeface="隶书" pitchFamily="49" charset="-122"/>
              </a:rPr>
              <a:t>6</a:t>
            </a:r>
            <a:r>
              <a:rPr lang="zh-CN" altLang="en-US" sz="4400" b="1" dirty="0">
                <a:solidFill>
                  <a:srgbClr val="FF0000"/>
                </a:solidFill>
                <a:effectLst>
                  <a:outerShdw blurRad="38100" dist="38100" dir="2700000" algn="tl">
                    <a:srgbClr val="C0C0C0"/>
                  </a:outerShdw>
                </a:effectLst>
                <a:latin typeface="隶书" pitchFamily="49" charset="-122"/>
                <a:ea typeface="隶书" pitchFamily="49" charset="-122"/>
              </a:rPr>
              <a:t>章  机械波</a:t>
            </a:r>
            <a:endParaRPr lang="zh-CN" altLang="en-US" sz="4400" dirty="0">
              <a:effectLst>
                <a:outerShdw blurRad="38100" dist="38100" dir="2700000" algn="tl">
                  <a:srgbClr val="C0C0C0"/>
                </a:outerShdw>
              </a:effectLst>
              <a:latin typeface="隶书" pitchFamily="49" charset="-122"/>
              <a:ea typeface="隶书" pitchFamily="49" charset="-122"/>
            </a:endParaRPr>
          </a:p>
        </p:txBody>
      </p:sp>
      <p:sp>
        <p:nvSpPr>
          <p:cNvPr id="12" name="Line 4"/>
          <p:cNvSpPr>
            <a:spLocks noChangeShapeType="1"/>
          </p:cNvSpPr>
          <p:nvPr/>
        </p:nvSpPr>
        <p:spPr bwMode="auto">
          <a:xfrm>
            <a:off x="0" y="5929313"/>
            <a:ext cx="9043988" cy="0"/>
          </a:xfrm>
          <a:prstGeom prst="line">
            <a:avLst/>
          </a:prstGeom>
          <a:noFill/>
          <a:ln w="28575">
            <a:solidFill>
              <a:srgbClr val="0062E1">
                <a:alpha val="70195"/>
              </a:srgbClr>
            </a:solidFill>
            <a:round/>
            <a:headEnd/>
            <a:tailEn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0292"/>
                                        </p:tgtEl>
                                        <p:attrNameLst>
                                          <p:attrName>style.visibility</p:attrName>
                                        </p:attrNameLst>
                                      </p:cBhvr>
                                      <p:to>
                                        <p:strVal val="visible"/>
                                      </p:to>
                                    </p:set>
                                    <p:animEffect transition="in" filter="wipe(left)">
                                      <p:cBhvr>
                                        <p:cTn id="7" dur="500"/>
                                        <p:tgtEl>
                                          <p:spTgt spid="1402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0294"/>
                                        </p:tgtEl>
                                        <p:attrNameLst>
                                          <p:attrName>style.visibility</p:attrName>
                                        </p:attrNameLst>
                                      </p:cBhvr>
                                      <p:to>
                                        <p:strVal val="visible"/>
                                      </p:to>
                                    </p:set>
                                    <p:animEffect transition="in" filter="wipe(left)">
                                      <p:cBhvr>
                                        <p:cTn id="12" dur="500"/>
                                        <p:tgtEl>
                                          <p:spTgt spid="140294"/>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40295"/>
                                        </p:tgtEl>
                                        <p:attrNameLst>
                                          <p:attrName>style.visibility</p:attrName>
                                        </p:attrNameLst>
                                      </p:cBhvr>
                                      <p:to>
                                        <p:strVal val="visible"/>
                                      </p:to>
                                    </p:set>
                                    <p:animEffect transition="in" filter="wipe(left)">
                                      <p:cBhvr>
                                        <p:cTn id="16" dur="500"/>
                                        <p:tgtEl>
                                          <p:spTgt spid="140295"/>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40296"/>
                                        </p:tgtEl>
                                        <p:attrNameLst>
                                          <p:attrName>style.visibility</p:attrName>
                                        </p:attrNameLst>
                                      </p:cBhvr>
                                      <p:to>
                                        <p:strVal val="visible"/>
                                      </p:to>
                                    </p:set>
                                    <p:animEffect transition="in" filter="wipe(left)">
                                      <p:cBhvr>
                                        <p:cTn id="20" dur="500"/>
                                        <p:tgtEl>
                                          <p:spTgt spid="140296"/>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140297"/>
                                        </p:tgtEl>
                                        <p:attrNameLst>
                                          <p:attrName>style.visibility</p:attrName>
                                        </p:attrNameLst>
                                      </p:cBhvr>
                                      <p:to>
                                        <p:strVal val="visible"/>
                                      </p:to>
                                    </p:set>
                                    <p:animEffect transition="in" filter="wipe(left)">
                                      <p:cBhvr>
                                        <p:cTn id="24" dur="500"/>
                                        <p:tgtEl>
                                          <p:spTgt spid="140297"/>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140298"/>
                                        </p:tgtEl>
                                        <p:attrNameLst>
                                          <p:attrName>style.visibility</p:attrName>
                                        </p:attrNameLst>
                                      </p:cBhvr>
                                      <p:to>
                                        <p:strVal val="visible"/>
                                      </p:to>
                                    </p:set>
                                    <p:animEffect transition="in" filter="wipe(left)">
                                      <p:cBhvr>
                                        <p:cTn id="28" dur="500"/>
                                        <p:tgtEl>
                                          <p:spTgt spid="140298"/>
                                        </p:tgtEl>
                                      </p:cBhvr>
                                    </p:animEffect>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140299"/>
                                        </p:tgtEl>
                                        <p:attrNameLst>
                                          <p:attrName>style.visibility</p:attrName>
                                        </p:attrNameLst>
                                      </p:cBhvr>
                                      <p:to>
                                        <p:strVal val="visible"/>
                                      </p:to>
                                    </p:set>
                                    <p:animEffect transition="in" filter="wipe(left)">
                                      <p:cBhvr>
                                        <p:cTn id="32" dur="500"/>
                                        <p:tgtEl>
                                          <p:spTgt spid="140299"/>
                                        </p:tgtEl>
                                      </p:cBhvr>
                                    </p:animEffect>
                                  </p:childTnLst>
                                </p:cTn>
                              </p:par>
                            </p:childTnLst>
                          </p:cTn>
                        </p:par>
                        <p:par>
                          <p:cTn id="33" fill="hold">
                            <p:stCondLst>
                              <p:cond delay="3000"/>
                            </p:stCondLst>
                            <p:childTnLst>
                              <p:par>
                                <p:cTn id="34" presetID="22" presetClass="entr" presetSubtype="8" fill="hold" grpId="0" nodeType="afterEffect">
                                  <p:stCondLst>
                                    <p:cond delay="0"/>
                                  </p:stCondLst>
                                  <p:childTnLst>
                                    <p:set>
                                      <p:cBhvr>
                                        <p:cTn id="35" dur="1" fill="hold">
                                          <p:stCondLst>
                                            <p:cond delay="0"/>
                                          </p:stCondLst>
                                        </p:cTn>
                                        <p:tgtEl>
                                          <p:spTgt spid="140300"/>
                                        </p:tgtEl>
                                        <p:attrNameLst>
                                          <p:attrName>style.visibility</p:attrName>
                                        </p:attrNameLst>
                                      </p:cBhvr>
                                      <p:to>
                                        <p:strVal val="visible"/>
                                      </p:to>
                                    </p:set>
                                    <p:animEffect transition="in" filter="wipe(left)">
                                      <p:cBhvr>
                                        <p:cTn id="36" dur="500"/>
                                        <p:tgtEl>
                                          <p:spTgt spid="14030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left)">
                                      <p:cBhvr>
                                        <p:cTn id="4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2" grpId="0" animBg="1"/>
      <p:bldP spid="140294" grpId="0"/>
      <p:bldP spid="140295" grpId="0"/>
      <p:bldP spid="140296" grpId="0"/>
      <p:bldP spid="140297" grpId="0"/>
      <p:bldP spid="140298" grpId="0"/>
      <p:bldP spid="140299" grpId="0"/>
      <p:bldP spid="140300" grpId="0"/>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Text Box 4"/>
          <p:cNvSpPr txBox="1">
            <a:spLocks noChangeArrowheads="1"/>
          </p:cNvSpPr>
          <p:nvPr/>
        </p:nvSpPr>
        <p:spPr bwMode="auto">
          <a:xfrm>
            <a:off x="395288" y="3086100"/>
            <a:ext cx="1295400" cy="457200"/>
          </a:xfrm>
          <a:prstGeom prst="rect">
            <a:avLst/>
          </a:prstGeom>
          <a:noFill/>
          <a:ln w="9525">
            <a:noFill/>
            <a:miter lim="800000"/>
            <a:headEnd/>
            <a:tailEnd/>
          </a:ln>
        </p:spPr>
        <p:txBody>
          <a:bodyPr>
            <a:spAutoFit/>
          </a:bodyPr>
          <a:lstStyle/>
          <a:p>
            <a:r>
              <a:rPr kumimoji="0" lang="en-US" altLang="zh-CN" b="1">
                <a:latin typeface="宋体" pitchFamily="2" charset="-122"/>
              </a:rPr>
              <a:t> </a:t>
            </a:r>
            <a:r>
              <a:rPr kumimoji="0" lang="zh-CN" altLang="en-US" b="1">
                <a:solidFill>
                  <a:srgbClr val="FF3300"/>
                </a:solidFill>
                <a:latin typeface="宋体" pitchFamily="2" charset="-122"/>
              </a:rPr>
              <a:t>条件</a:t>
            </a:r>
            <a:endParaRPr kumimoji="0" lang="zh-CN" altLang="en-US" b="1">
              <a:solidFill>
                <a:srgbClr val="FF3300"/>
              </a:solidFill>
              <a:latin typeface="Arial" pitchFamily="34" charset="0"/>
            </a:endParaRPr>
          </a:p>
        </p:txBody>
      </p:sp>
      <p:sp>
        <p:nvSpPr>
          <p:cNvPr id="27653" name="Text Box 5"/>
          <p:cNvSpPr txBox="1">
            <a:spLocks noChangeArrowheads="1"/>
          </p:cNvSpPr>
          <p:nvPr/>
        </p:nvSpPr>
        <p:spPr bwMode="auto">
          <a:xfrm>
            <a:off x="2725738" y="401638"/>
            <a:ext cx="4078287" cy="519112"/>
          </a:xfrm>
          <a:prstGeom prst="rect">
            <a:avLst/>
          </a:prstGeom>
          <a:noFill/>
          <a:ln w="9525">
            <a:noFill/>
            <a:miter lim="800000"/>
            <a:headEnd/>
            <a:tailEnd/>
          </a:ln>
        </p:spPr>
        <p:txBody>
          <a:bodyPr>
            <a:spAutoFit/>
          </a:bodyPr>
          <a:lstStyle/>
          <a:p>
            <a:r>
              <a:rPr kumimoji="0" lang="en-US" altLang="zh-CN" sz="2800" b="1">
                <a:solidFill>
                  <a:srgbClr val="333399"/>
                </a:solidFill>
              </a:rPr>
              <a:t>§6.1</a:t>
            </a:r>
            <a:r>
              <a:rPr kumimoji="0" lang="en-US" altLang="zh-CN" sz="2800" b="1">
                <a:solidFill>
                  <a:srgbClr val="333399"/>
                </a:solidFill>
                <a:latin typeface="宋体" pitchFamily="2" charset="-122"/>
              </a:rPr>
              <a:t>  </a:t>
            </a:r>
            <a:r>
              <a:rPr kumimoji="0" lang="zh-CN" altLang="en-US" sz="2800" b="1">
                <a:solidFill>
                  <a:srgbClr val="333399"/>
                </a:solidFill>
                <a:latin typeface="黑体" pitchFamily="49" charset="-122"/>
                <a:ea typeface="黑体" pitchFamily="49" charset="-122"/>
              </a:rPr>
              <a:t>机械波</a:t>
            </a:r>
            <a:endParaRPr kumimoji="0" lang="zh-CN" altLang="en-US" sz="2800" b="1">
              <a:solidFill>
                <a:srgbClr val="333399"/>
              </a:solidFill>
              <a:latin typeface="Arial" pitchFamily="34" charset="0"/>
            </a:endParaRPr>
          </a:p>
        </p:txBody>
      </p:sp>
      <p:sp>
        <p:nvSpPr>
          <p:cNvPr id="27654" name="Rectangle 6"/>
          <p:cNvSpPr>
            <a:spLocks noChangeArrowheads="1"/>
          </p:cNvSpPr>
          <p:nvPr/>
        </p:nvSpPr>
        <p:spPr bwMode="auto">
          <a:xfrm>
            <a:off x="168275" y="984250"/>
            <a:ext cx="4619625" cy="457200"/>
          </a:xfrm>
          <a:prstGeom prst="rect">
            <a:avLst/>
          </a:prstGeom>
          <a:noFill/>
          <a:ln w="9525">
            <a:noFill/>
            <a:miter lim="800000"/>
            <a:headEnd/>
            <a:tailEnd/>
          </a:ln>
        </p:spPr>
        <p:txBody>
          <a:bodyPr>
            <a:spAutoFit/>
          </a:bodyPr>
          <a:lstStyle/>
          <a:p>
            <a:r>
              <a:rPr kumimoji="0" lang="zh-CN" altLang="en-US" b="1">
                <a:solidFill>
                  <a:schemeClr val="accent2"/>
                </a:solidFill>
                <a:latin typeface="宋体" pitchFamily="2" charset="-122"/>
              </a:rPr>
              <a:t>一、</a:t>
            </a:r>
            <a:r>
              <a:rPr kumimoji="0" lang="zh-CN" altLang="en-US" b="1">
                <a:solidFill>
                  <a:schemeClr val="accent2"/>
                </a:solidFill>
              </a:rPr>
              <a:t> 机械</a:t>
            </a:r>
            <a:r>
              <a:rPr kumimoji="0" lang="zh-CN" altLang="en-US" b="1">
                <a:solidFill>
                  <a:schemeClr val="accent2"/>
                </a:solidFill>
                <a:latin typeface="宋体" pitchFamily="2" charset="-122"/>
              </a:rPr>
              <a:t>波产生的条件</a:t>
            </a:r>
          </a:p>
        </p:txBody>
      </p:sp>
      <p:sp>
        <p:nvSpPr>
          <p:cNvPr id="27655" name="Text Box 7"/>
          <p:cNvSpPr txBox="1">
            <a:spLocks noChangeArrowheads="1"/>
          </p:cNvSpPr>
          <p:nvPr/>
        </p:nvSpPr>
        <p:spPr bwMode="auto">
          <a:xfrm>
            <a:off x="179388" y="3979863"/>
            <a:ext cx="3657600" cy="457200"/>
          </a:xfrm>
          <a:prstGeom prst="rect">
            <a:avLst/>
          </a:prstGeom>
          <a:noFill/>
          <a:ln w="9525">
            <a:noFill/>
            <a:miter lim="800000"/>
            <a:headEnd/>
            <a:tailEnd/>
          </a:ln>
        </p:spPr>
        <p:txBody>
          <a:bodyPr>
            <a:spAutoFit/>
          </a:bodyPr>
          <a:lstStyle/>
          <a:p>
            <a:r>
              <a:rPr kumimoji="0" lang="zh-CN" altLang="en-US" b="1">
                <a:solidFill>
                  <a:schemeClr val="accent2"/>
                </a:solidFill>
                <a:latin typeface="宋体" pitchFamily="2" charset="-122"/>
              </a:rPr>
              <a:t>二、横波和纵波</a:t>
            </a:r>
            <a:endParaRPr kumimoji="0" lang="zh-CN" altLang="en-US" b="1">
              <a:solidFill>
                <a:schemeClr val="accent2"/>
              </a:solidFill>
              <a:latin typeface="Arial" pitchFamily="34" charset="0"/>
            </a:endParaRPr>
          </a:p>
        </p:txBody>
      </p:sp>
      <p:sp>
        <p:nvSpPr>
          <p:cNvPr id="27658" name="Text Box 10"/>
          <p:cNvSpPr txBox="1">
            <a:spLocks noChangeArrowheads="1"/>
          </p:cNvSpPr>
          <p:nvPr/>
        </p:nvSpPr>
        <p:spPr bwMode="auto">
          <a:xfrm>
            <a:off x="1701800" y="2765425"/>
            <a:ext cx="6089650" cy="457200"/>
          </a:xfrm>
          <a:prstGeom prst="rect">
            <a:avLst/>
          </a:prstGeom>
          <a:noFill/>
          <a:ln w="9525">
            <a:noFill/>
            <a:miter lim="800000"/>
            <a:headEnd/>
            <a:tailEnd/>
          </a:ln>
        </p:spPr>
        <p:txBody>
          <a:bodyPr>
            <a:spAutoFit/>
          </a:bodyPr>
          <a:lstStyle/>
          <a:p>
            <a:r>
              <a:rPr kumimoji="0" lang="zh-CN" altLang="en-US" b="1">
                <a:solidFill>
                  <a:srgbClr val="FF6600"/>
                </a:solidFill>
                <a:latin typeface="宋体" pitchFamily="2" charset="-122"/>
              </a:rPr>
              <a:t>波源：</a:t>
            </a:r>
            <a:r>
              <a:rPr kumimoji="0" lang="zh-CN" altLang="en-US" b="1">
                <a:latin typeface="宋体" pitchFamily="2" charset="-122"/>
                <a:ea typeface="楷体_GB2312" pitchFamily="49" charset="-122"/>
              </a:rPr>
              <a:t>作机械振动的物体</a:t>
            </a:r>
            <a:endParaRPr kumimoji="0" lang="zh-CN" altLang="en-US" b="1">
              <a:latin typeface="Arial" pitchFamily="34" charset="0"/>
              <a:ea typeface="楷体_GB2312" pitchFamily="49" charset="-122"/>
            </a:endParaRPr>
          </a:p>
        </p:txBody>
      </p:sp>
      <p:sp>
        <p:nvSpPr>
          <p:cNvPr id="27659" name="Text Box 11"/>
          <p:cNvSpPr txBox="1">
            <a:spLocks noChangeArrowheads="1"/>
          </p:cNvSpPr>
          <p:nvPr/>
        </p:nvSpPr>
        <p:spPr bwMode="auto">
          <a:xfrm>
            <a:off x="836613" y="2765425"/>
            <a:ext cx="946150" cy="1006475"/>
          </a:xfrm>
          <a:prstGeom prst="rect">
            <a:avLst/>
          </a:prstGeom>
          <a:noFill/>
          <a:ln w="9525">
            <a:noFill/>
            <a:miter lim="800000"/>
            <a:headEnd/>
            <a:tailEnd/>
          </a:ln>
        </p:spPr>
        <p:txBody>
          <a:bodyPr wrap="none">
            <a:spAutoFit/>
          </a:bodyPr>
          <a:lstStyle/>
          <a:p>
            <a:r>
              <a:rPr kumimoji="0" lang="zh-CN" altLang="en-US" sz="6000">
                <a:solidFill>
                  <a:srgbClr val="9900CC"/>
                </a:solidFill>
                <a:latin typeface="宋体" pitchFamily="2" charset="-122"/>
              </a:rPr>
              <a:t>｛</a:t>
            </a:r>
            <a:endParaRPr kumimoji="0" lang="zh-CN" altLang="en-US" b="1">
              <a:solidFill>
                <a:srgbClr val="9900CC"/>
              </a:solidFill>
              <a:latin typeface="Arial" pitchFamily="34" charset="0"/>
            </a:endParaRPr>
          </a:p>
        </p:txBody>
      </p:sp>
      <p:sp>
        <p:nvSpPr>
          <p:cNvPr id="27662" name="Rectangle 14"/>
          <p:cNvSpPr>
            <a:spLocks noChangeArrowheads="1"/>
          </p:cNvSpPr>
          <p:nvPr/>
        </p:nvSpPr>
        <p:spPr bwMode="auto">
          <a:xfrm>
            <a:off x="468313" y="1593850"/>
            <a:ext cx="1385887" cy="457200"/>
          </a:xfrm>
          <a:prstGeom prst="rect">
            <a:avLst/>
          </a:prstGeom>
          <a:noFill/>
          <a:ln w="9525">
            <a:noFill/>
            <a:miter lim="800000"/>
            <a:headEnd/>
            <a:tailEnd/>
          </a:ln>
        </p:spPr>
        <p:txBody>
          <a:bodyPr>
            <a:spAutoFit/>
          </a:bodyPr>
          <a:lstStyle/>
          <a:p>
            <a:pPr algn="ctr"/>
            <a:r>
              <a:rPr kumimoji="0" lang="zh-CN" altLang="en-US" b="1">
                <a:solidFill>
                  <a:srgbClr val="FF0000"/>
                </a:solidFill>
                <a:latin typeface="宋体" pitchFamily="2" charset="-122"/>
              </a:rPr>
              <a:t>机械波</a:t>
            </a:r>
            <a:r>
              <a:rPr kumimoji="0" lang="en-US" altLang="zh-CN" b="1">
                <a:solidFill>
                  <a:srgbClr val="FF0000"/>
                </a:solidFill>
                <a:latin typeface="宋体" pitchFamily="2" charset="-122"/>
              </a:rPr>
              <a:t>:</a:t>
            </a:r>
            <a:endParaRPr kumimoji="0" lang="en-US" altLang="zh-CN" b="1">
              <a:solidFill>
                <a:srgbClr val="FF0000"/>
              </a:solidFill>
              <a:latin typeface="Arial" pitchFamily="34" charset="0"/>
            </a:endParaRPr>
          </a:p>
        </p:txBody>
      </p:sp>
      <p:sp>
        <p:nvSpPr>
          <p:cNvPr id="27663" name="Rectangle 15"/>
          <p:cNvSpPr>
            <a:spLocks noChangeArrowheads="1"/>
          </p:cNvSpPr>
          <p:nvPr/>
        </p:nvSpPr>
        <p:spPr bwMode="auto">
          <a:xfrm>
            <a:off x="1647825" y="1524000"/>
            <a:ext cx="7245350" cy="968375"/>
          </a:xfrm>
          <a:prstGeom prst="rect">
            <a:avLst/>
          </a:prstGeom>
          <a:noFill/>
          <a:ln w="9525">
            <a:noFill/>
            <a:miter lim="800000"/>
            <a:headEnd/>
            <a:tailEnd/>
          </a:ln>
        </p:spPr>
        <p:txBody>
          <a:bodyPr>
            <a:spAutoFit/>
          </a:bodyPr>
          <a:lstStyle/>
          <a:p>
            <a:pPr>
              <a:lnSpc>
                <a:spcPct val="120000"/>
              </a:lnSpc>
            </a:pPr>
            <a:r>
              <a:rPr kumimoji="0" lang="zh-CN" altLang="en-US" b="1">
                <a:latin typeface="宋体" pitchFamily="2" charset="-122"/>
              </a:rPr>
              <a:t>机械振动以一定速度在</a:t>
            </a:r>
            <a:r>
              <a:rPr kumimoji="0" lang="zh-CN" altLang="en-US" b="1">
                <a:solidFill>
                  <a:srgbClr val="9900CC"/>
                </a:solidFill>
                <a:latin typeface="宋体" pitchFamily="2" charset="-122"/>
              </a:rPr>
              <a:t>弹性介质</a:t>
            </a:r>
            <a:r>
              <a:rPr kumimoji="0" lang="zh-CN" altLang="en-US" b="1">
                <a:latin typeface="宋体" pitchFamily="2" charset="-122"/>
              </a:rPr>
              <a:t>中由近及远地传播出去，就形成机械波。</a:t>
            </a:r>
            <a:endParaRPr kumimoji="0" lang="zh-CN" altLang="en-US" b="1">
              <a:latin typeface="Arial" pitchFamily="34" charset="0"/>
            </a:endParaRPr>
          </a:p>
        </p:txBody>
      </p:sp>
      <p:sp>
        <p:nvSpPr>
          <p:cNvPr id="27664" name="Text Box 16"/>
          <p:cNvSpPr txBox="1">
            <a:spLocks noChangeArrowheads="1"/>
          </p:cNvSpPr>
          <p:nvPr/>
        </p:nvSpPr>
        <p:spPr bwMode="auto">
          <a:xfrm>
            <a:off x="1714500" y="3332163"/>
            <a:ext cx="6089650" cy="457200"/>
          </a:xfrm>
          <a:prstGeom prst="rect">
            <a:avLst/>
          </a:prstGeom>
          <a:noFill/>
          <a:ln w="9525">
            <a:noFill/>
            <a:miter lim="800000"/>
            <a:headEnd/>
            <a:tailEnd/>
          </a:ln>
        </p:spPr>
        <p:txBody>
          <a:bodyPr>
            <a:spAutoFit/>
          </a:bodyPr>
          <a:lstStyle/>
          <a:p>
            <a:r>
              <a:rPr kumimoji="0" lang="zh-CN" altLang="en-US" b="1">
                <a:solidFill>
                  <a:srgbClr val="FF6600"/>
                </a:solidFill>
                <a:latin typeface="宋体" pitchFamily="2" charset="-122"/>
              </a:rPr>
              <a:t>弹性介质：</a:t>
            </a:r>
            <a:r>
              <a:rPr kumimoji="0" lang="zh-CN" altLang="en-US" b="1">
                <a:latin typeface="宋体" pitchFamily="2" charset="-122"/>
                <a:ea typeface="楷体_GB2312" pitchFamily="49" charset="-122"/>
              </a:rPr>
              <a:t>承担传播振动的物质</a:t>
            </a:r>
            <a:endParaRPr kumimoji="0" lang="zh-CN" altLang="en-US" b="1">
              <a:latin typeface="Arial" pitchFamily="34" charset="0"/>
              <a:ea typeface="楷体_GB2312" pitchFamily="49" charset="-122"/>
            </a:endParaRPr>
          </a:p>
        </p:txBody>
      </p:sp>
      <p:pic>
        <p:nvPicPr>
          <p:cNvPr id="27666" name="Picture 18" descr="01300000046969120031475244267"/>
          <p:cNvPicPr>
            <a:picLocks noChangeAspect="1" noChangeArrowheads="1"/>
          </p:cNvPicPr>
          <p:nvPr/>
        </p:nvPicPr>
        <p:blipFill>
          <a:blip r:embed="rId2"/>
          <a:srcRect/>
          <a:stretch>
            <a:fillRect/>
          </a:stretch>
        </p:blipFill>
        <p:spPr bwMode="auto">
          <a:xfrm>
            <a:off x="6443663" y="2406650"/>
            <a:ext cx="2305050" cy="1958975"/>
          </a:xfrm>
          <a:prstGeom prst="rect">
            <a:avLst/>
          </a:prstGeom>
          <a:noFill/>
          <a:ln w="9525">
            <a:noFill/>
            <a:miter lim="800000"/>
            <a:headEnd/>
            <a:tailEnd/>
          </a:ln>
        </p:spPr>
      </p:pic>
      <p:sp>
        <p:nvSpPr>
          <p:cNvPr id="27667" name="Text Box 19"/>
          <p:cNvSpPr txBox="1">
            <a:spLocks noChangeArrowheads="1"/>
          </p:cNvSpPr>
          <p:nvPr/>
        </p:nvSpPr>
        <p:spPr bwMode="auto">
          <a:xfrm>
            <a:off x="1258888" y="4581525"/>
            <a:ext cx="7496175" cy="968375"/>
          </a:xfrm>
          <a:prstGeom prst="rect">
            <a:avLst/>
          </a:prstGeom>
          <a:noFill/>
          <a:ln w="9525">
            <a:noFill/>
            <a:miter lim="800000"/>
            <a:headEnd/>
            <a:tailEnd/>
          </a:ln>
        </p:spPr>
        <p:txBody>
          <a:bodyPr>
            <a:spAutoFit/>
          </a:bodyPr>
          <a:lstStyle/>
          <a:p>
            <a:pPr>
              <a:lnSpc>
                <a:spcPct val="120000"/>
              </a:lnSpc>
            </a:pPr>
            <a:r>
              <a:rPr kumimoji="0" lang="zh-CN" altLang="en-US" b="1">
                <a:latin typeface="宋体" pitchFamily="2" charset="-122"/>
              </a:rPr>
              <a:t>介质质点的振动方向与波传播方向相互</a:t>
            </a:r>
            <a:r>
              <a:rPr kumimoji="0" lang="zh-CN" altLang="en-US" b="1">
                <a:solidFill>
                  <a:srgbClr val="FF6600"/>
                </a:solidFill>
                <a:latin typeface="宋体" pitchFamily="2" charset="-122"/>
              </a:rPr>
              <a:t>垂直</a:t>
            </a:r>
            <a:r>
              <a:rPr kumimoji="0" lang="zh-CN" altLang="en-US" b="1">
                <a:latin typeface="宋体" pitchFamily="2" charset="-122"/>
              </a:rPr>
              <a:t>的波；</a:t>
            </a:r>
            <a:r>
              <a:rPr kumimoji="0" lang="zh-CN" altLang="en-US" b="1">
                <a:latin typeface="宋体" pitchFamily="2" charset="-122"/>
                <a:ea typeface="楷体_GB2312" pitchFamily="49" charset="-122"/>
              </a:rPr>
              <a:t>如</a:t>
            </a:r>
            <a:r>
              <a:rPr kumimoji="0" lang="zh-CN" altLang="en-US" b="1">
                <a:solidFill>
                  <a:srgbClr val="008000"/>
                </a:solidFill>
                <a:latin typeface="宋体" pitchFamily="2" charset="-122"/>
                <a:ea typeface="楷体_GB2312" pitchFamily="49" charset="-122"/>
              </a:rPr>
              <a:t>柔绳上传播的波</a:t>
            </a:r>
            <a:r>
              <a:rPr kumimoji="0" lang="zh-CN" altLang="en-US" b="1">
                <a:latin typeface="宋体" pitchFamily="2" charset="-122"/>
                <a:ea typeface="楷体_GB2312" pitchFamily="49" charset="-122"/>
              </a:rPr>
              <a:t>。</a:t>
            </a:r>
            <a:endParaRPr kumimoji="0" lang="zh-CN" altLang="en-US" b="1">
              <a:latin typeface="Arial" pitchFamily="34" charset="0"/>
              <a:ea typeface="楷体_GB2312" pitchFamily="49" charset="-122"/>
            </a:endParaRPr>
          </a:p>
        </p:txBody>
      </p:sp>
      <p:sp>
        <p:nvSpPr>
          <p:cNvPr id="27668" name="Text Box 20"/>
          <p:cNvSpPr txBox="1">
            <a:spLocks noChangeArrowheads="1"/>
          </p:cNvSpPr>
          <p:nvPr/>
        </p:nvSpPr>
        <p:spPr bwMode="auto">
          <a:xfrm>
            <a:off x="1187450" y="5516563"/>
            <a:ext cx="7777163" cy="968375"/>
          </a:xfrm>
          <a:prstGeom prst="rect">
            <a:avLst/>
          </a:prstGeom>
          <a:noFill/>
          <a:ln w="9525">
            <a:noFill/>
            <a:miter lim="800000"/>
            <a:headEnd/>
            <a:tailEnd/>
          </a:ln>
        </p:spPr>
        <p:txBody>
          <a:bodyPr>
            <a:spAutoFit/>
          </a:bodyPr>
          <a:lstStyle/>
          <a:p>
            <a:pPr>
              <a:lnSpc>
                <a:spcPct val="120000"/>
              </a:lnSpc>
            </a:pPr>
            <a:r>
              <a:rPr kumimoji="0" lang="zh-CN" altLang="en-US" b="1">
                <a:latin typeface="Arial" pitchFamily="34" charset="0"/>
              </a:rPr>
              <a:t>介质质点的</a:t>
            </a:r>
            <a:r>
              <a:rPr kumimoji="0" lang="zh-CN" altLang="en-US" b="1">
                <a:latin typeface="宋体" pitchFamily="2" charset="-122"/>
              </a:rPr>
              <a:t>振动方向和波传播方向相互</a:t>
            </a:r>
            <a:r>
              <a:rPr kumimoji="0" lang="zh-CN" altLang="en-US" b="1">
                <a:solidFill>
                  <a:srgbClr val="FF6600"/>
                </a:solidFill>
                <a:latin typeface="宋体" pitchFamily="2" charset="-122"/>
              </a:rPr>
              <a:t>平行</a:t>
            </a:r>
            <a:r>
              <a:rPr kumimoji="0" lang="zh-CN" altLang="en-US" b="1">
                <a:latin typeface="宋体" pitchFamily="2" charset="-122"/>
              </a:rPr>
              <a:t>的波；</a:t>
            </a:r>
            <a:r>
              <a:rPr kumimoji="0" lang="zh-CN" altLang="en-US" b="1">
                <a:latin typeface="宋体" pitchFamily="2" charset="-122"/>
                <a:ea typeface="楷体_GB2312" pitchFamily="49" charset="-122"/>
              </a:rPr>
              <a:t>如</a:t>
            </a:r>
            <a:r>
              <a:rPr kumimoji="0" lang="zh-CN" altLang="en-US" b="1">
                <a:solidFill>
                  <a:srgbClr val="008000"/>
                </a:solidFill>
                <a:latin typeface="宋体" pitchFamily="2" charset="-122"/>
                <a:ea typeface="楷体_GB2312" pitchFamily="49" charset="-122"/>
              </a:rPr>
              <a:t>空气中传播的声波</a:t>
            </a:r>
            <a:r>
              <a:rPr kumimoji="0" lang="zh-CN" altLang="en-US" b="1">
                <a:latin typeface="宋体" pitchFamily="2" charset="-122"/>
                <a:ea typeface="楷体_GB2312" pitchFamily="49" charset="-122"/>
              </a:rPr>
              <a:t>。</a:t>
            </a:r>
            <a:endParaRPr kumimoji="0" lang="zh-CN" altLang="en-US" b="1">
              <a:latin typeface="Arial" pitchFamily="34" charset="0"/>
              <a:ea typeface="楷体_GB2312" pitchFamily="49" charset="-122"/>
            </a:endParaRPr>
          </a:p>
        </p:txBody>
      </p:sp>
      <p:sp>
        <p:nvSpPr>
          <p:cNvPr id="27669" name="Rectangle 21"/>
          <p:cNvSpPr>
            <a:spLocks noChangeArrowheads="1"/>
          </p:cNvSpPr>
          <p:nvPr/>
        </p:nvSpPr>
        <p:spPr bwMode="auto">
          <a:xfrm>
            <a:off x="230188" y="4554538"/>
            <a:ext cx="1317625" cy="530225"/>
          </a:xfrm>
          <a:prstGeom prst="rect">
            <a:avLst/>
          </a:prstGeom>
          <a:noFill/>
          <a:ln w="9525">
            <a:noFill/>
            <a:miter lim="800000"/>
            <a:headEnd/>
            <a:tailEnd/>
          </a:ln>
        </p:spPr>
        <p:txBody>
          <a:bodyPr>
            <a:spAutoFit/>
          </a:bodyPr>
          <a:lstStyle/>
          <a:p>
            <a:pPr>
              <a:lnSpc>
                <a:spcPct val="120000"/>
              </a:lnSpc>
            </a:pPr>
            <a:r>
              <a:rPr kumimoji="0" lang="zh-CN" altLang="en-US" b="1">
                <a:solidFill>
                  <a:srgbClr val="FF0000"/>
                </a:solidFill>
                <a:latin typeface="宋体" pitchFamily="2" charset="-122"/>
              </a:rPr>
              <a:t>横波：</a:t>
            </a:r>
            <a:endParaRPr kumimoji="0" lang="zh-CN" altLang="en-US" b="1">
              <a:solidFill>
                <a:srgbClr val="FF0000"/>
              </a:solidFill>
              <a:latin typeface="Arial" pitchFamily="34" charset="0"/>
            </a:endParaRPr>
          </a:p>
        </p:txBody>
      </p:sp>
      <p:sp>
        <p:nvSpPr>
          <p:cNvPr id="27670" name="Rectangle 22"/>
          <p:cNvSpPr>
            <a:spLocks noChangeArrowheads="1"/>
          </p:cNvSpPr>
          <p:nvPr/>
        </p:nvSpPr>
        <p:spPr bwMode="auto">
          <a:xfrm>
            <a:off x="250825" y="5562600"/>
            <a:ext cx="1103313" cy="530225"/>
          </a:xfrm>
          <a:prstGeom prst="rect">
            <a:avLst/>
          </a:prstGeom>
          <a:noFill/>
          <a:ln w="9525">
            <a:noFill/>
            <a:miter lim="800000"/>
            <a:headEnd/>
            <a:tailEnd/>
          </a:ln>
        </p:spPr>
        <p:txBody>
          <a:bodyPr wrap="none">
            <a:spAutoFit/>
          </a:bodyPr>
          <a:lstStyle/>
          <a:p>
            <a:pPr algn="ctr">
              <a:lnSpc>
                <a:spcPct val="120000"/>
              </a:lnSpc>
            </a:pPr>
            <a:r>
              <a:rPr kumimoji="0" lang="zh-CN" altLang="en-US" b="1">
                <a:solidFill>
                  <a:srgbClr val="FF0000"/>
                </a:solidFill>
                <a:latin typeface="宋体" pitchFamily="2" charset="-122"/>
              </a:rPr>
              <a:t>纵波：</a:t>
            </a:r>
            <a:endParaRPr kumimoji="0" lang="zh-CN" altLang="en-US" b="1">
              <a:solidFill>
                <a:srgbClr val="FF0000"/>
              </a:solidFill>
              <a:latin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wipe(left)">
                                      <p:cBhvr>
                                        <p:cTn id="7" dur="500"/>
                                        <p:tgtEl>
                                          <p:spTgt spid="276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54"/>
                                        </p:tgtEl>
                                        <p:attrNameLst>
                                          <p:attrName>style.visibility</p:attrName>
                                        </p:attrNameLst>
                                      </p:cBhvr>
                                      <p:to>
                                        <p:strVal val="visible"/>
                                      </p:to>
                                    </p:set>
                                    <p:animEffect transition="in" filter="wipe(left)">
                                      <p:cBhvr>
                                        <p:cTn id="12" dur="500"/>
                                        <p:tgtEl>
                                          <p:spTgt spid="2765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662"/>
                                        </p:tgtEl>
                                        <p:attrNameLst>
                                          <p:attrName>style.visibility</p:attrName>
                                        </p:attrNameLst>
                                      </p:cBhvr>
                                      <p:to>
                                        <p:strVal val="visible"/>
                                      </p:to>
                                    </p:set>
                                    <p:animEffect transition="in" filter="wipe(left)">
                                      <p:cBhvr>
                                        <p:cTn id="17" dur="500"/>
                                        <p:tgtEl>
                                          <p:spTgt spid="2766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7666"/>
                                        </p:tgtEl>
                                        <p:attrNameLst>
                                          <p:attrName>style.visibility</p:attrName>
                                        </p:attrNameLst>
                                      </p:cBhvr>
                                      <p:to>
                                        <p:strVal val="visible"/>
                                      </p:to>
                                    </p:set>
                                    <p:animEffect transition="in" filter="box(out)">
                                      <p:cBhvr>
                                        <p:cTn id="22" dur="500"/>
                                        <p:tgtEl>
                                          <p:spTgt spid="2766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7663"/>
                                        </p:tgtEl>
                                        <p:attrNameLst>
                                          <p:attrName>style.visibility</p:attrName>
                                        </p:attrNameLst>
                                      </p:cBhvr>
                                      <p:to>
                                        <p:strVal val="visible"/>
                                      </p:to>
                                    </p:set>
                                    <p:animEffect transition="in" filter="wipe(left)">
                                      <p:cBhvr>
                                        <p:cTn id="27" dur="500"/>
                                        <p:tgtEl>
                                          <p:spTgt spid="2766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7652"/>
                                        </p:tgtEl>
                                        <p:attrNameLst>
                                          <p:attrName>style.visibility</p:attrName>
                                        </p:attrNameLst>
                                      </p:cBhvr>
                                      <p:to>
                                        <p:strVal val="visible"/>
                                      </p:to>
                                    </p:set>
                                    <p:animEffect transition="in" filter="wipe(left)">
                                      <p:cBhvr>
                                        <p:cTn id="32" dur="500"/>
                                        <p:tgtEl>
                                          <p:spTgt spid="2765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7659"/>
                                        </p:tgtEl>
                                        <p:attrNameLst>
                                          <p:attrName>style.visibility</p:attrName>
                                        </p:attrNameLst>
                                      </p:cBhvr>
                                      <p:to>
                                        <p:strVal val="visible"/>
                                      </p:to>
                                    </p:set>
                                    <p:animEffect transition="in" filter="wipe(up)">
                                      <p:cBhvr>
                                        <p:cTn id="37" dur="500"/>
                                        <p:tgtEl>
                                          <p:spTgt spid="2765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7658"/>
                                        </p:tgtEl>
                                        <p:attrNameLst>
                                          <p:attrName>style.visibility</p:attrName>
                                        </p:attrNameLst>
                                      </p:cBhvr>
                                      <p:to>
                                        <p:strVal val="visible"/>
                                      </p:to>
                                    </p:set>
                                    <p:animEffect transition="in" filter="wipe(left)">
                                      <p:cBhvr>
                                        <p:cTn id="42" dur="500"/>
                                        <p:tgtEl>
                                          <p:spTgt spid="2765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7664"/>
                                        </p:tgtEl>
                                        <p:attrNameLst>
                                          <p:attrName>style.visibility</p:attrName>
                                        </p:attrNameLst>
                                      </p:cBhvr>
                                      <p:to>
                                        <p:strVal val="visible"/>
                                      </p:to>
                                    </p:set>
                                    <p:animEffect transition="in" filter="wipe(left)">
                                      <p:cBhvr>
                                        <p:cTn id="47" dur="500"/>
                                        <p:tgtEl>
                                          <p:spTgt spid="2766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7655"/>
                                        </p:tgtEl>
                                        <p:attrNameLst>
                                          <p:attrName>style.visibility</p:attrName>
                                        </p:attrNameLst>
                                      </p:cBhvr>
                                      <p:to>
                                        <p:strVal val="visible"/>
                                      </p:to>
                                    </p:set>
                                    <p:animEffect transition="in" filter="wipe(left)">
                                      <p:cBhvr>
                                        <p:cTn id="52" dur="500"/>
                                        <p:tgtEl>
                                          <p:spTgt spid="2765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7669"/>
                                        </p:tgtEl>
                                        <p:attrNameLst>
                                          <p:attrName>style.visibility</p:attrName>
                                        </p:attrNameLst>
                                      </p:cBhvr>
                                      <p:to>
                                        <p:strVal val="visible"/>
                                      </p:to>
                                    </p:set>
                                    <p:animEffect transition="in" filter="wipe(left)">
                                      <p:cBhvr>
                                        <p:cTn id="57" dur="500"/>
                                        <p:tgtEl>
                                          <p:spTgt spid="2766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7667"/>
                                        </p:tgtEl>
                                        <p:attrNameLst>
                                          <p:attrName>style.visibility</p:attrName>
                                        </p:attrNameLst>
                                      </p:cBhvr>
                                      <p:to>
                                        <p:strVal val="visible"/>
                                      </p:to>
                                    </p:set>
                                    <p:animEffect transition="in" filter="wipe(left)">
                                      <p:cBhvr>
                                        <p:cTn id="62" dur="500"/>
                                        <p:tgtEl>
                                          <p:spTgt spid="2766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7670"/>
                                        </p:tgtEl>
                                        <p:attrNameLst>
                                          <p:attrName>style.visibility</p:attrName>
                                        </p:attrNameLst>
                                      </p:cBhvr>
                                      <p:to>
                                        <p:strVal val="visible"/>
                                      </p:to>
                                    </p:set>
                                    <p:animEffect transition="in" filter="wipe(left)">
                                      <p:cBhvr>
                                        <p:cTn id="67" dur="500"/>
                                        <p:tgtEl>
                                          <p:spTgt spid="2767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7668"/>
                                        </p:tgtEl>
                                        <p:attrNameLst>
                                          <p:attrName>style.visibility</p:attrName>
                                        </p:attrNameLst>
                                      </p:cBhvr>
                                      <p:to>
                                        <p:strVal val="visible"/>
                                      </p:to>
                                    </p:set>
                                    <p:animEffect transition="in" filter="wipe(left)">
                                      <p:cBhvr>
                                        <p:cTn id="72" dur="500"/>
                                        <p:tgtEl>
                                          <p:spTgt spid="27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autoUpdateAnimBg="0"/>
      <p:bldP spid="27653" grpId="0" autoUpdateAnimBg="0"/>
      <p:bldP spid="27654" grpId="0" autoUpdateAnimBg="0"/>
      <p:bldP spid="27655" grpId="0" autoUpdateAnimBg="0"/>
      <p:bldP spid="27658" grpId="0" autoUpdateAnimBg="0"/>
      <p:bldP spid="27659" grpId="0" autoUpdateAnimBg="0"/>
      <p:bldP spid="27662" grpId="0" autoUpdateAnimBg="0"/>
      <p:bldP spid="27663" grpId="0" autoUpdateAnimBg="0"/>
      <p:bldP spid="27664" grpId="0" autoUpdateAnimBg="0"/>
      <p:bldP spid="27667" grpId="0" autoUpdateAnimBg="0"/>
      <p:bldP spid="27668" grpId="0" autoUpdateAnimBg="0"/>
      <p:bldP spid="27669" grpId="0" autoUpdateAnimBg="0"/>
      <p:bldP spid="27670"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ext Box 2"/>
          <p:cNvSpPr txBox="1">
            <a:spLocks noChangeArrowheads="1"/>
          </p:cNvSpPr>
          <p:nvPr/>
        </p:nvSpPr>
        <p:spPr bwMode="auto">
          <a:xfrm>
            <a:off x="317500" y="1406525"/>
            <a:ext cx="2022475" cy="457200"/>
          </a:xfrm>
          <a:prstGeom prst="rect">
            <a:avLst/>
          </a:prstGeom>
          <a:noFill/>
          <a:ln w="25400" cap="rnd">
            <a:noFill/>
            <a:miter lim="800000"/>
            <a:headEnd type="none" w="sm" len="sm"/>
            <a:tailEnd type="none" w="sm" len="sm"/>
          </a:ln>
        </p:spPr>
        <p:txBody>
          <a:bodyPr wrap="none">
            <a:spAutoFit/>
          </a:bodyPr>
          <a:lstStyle/>
          <a:p>
            <a:pPr algn="ctr"/>
            <a:r>
              <a:rPr lang="zh-CN" altLang="en-US" b="1">
                <a:solidFill>
                  <a:schemeClr val="accent2"/>
                </a:solidFill>
                <a:latin typeface="Bookman Old Style" pitchFamily="18" charset="0"/>
                <a:ea typeface="楷体_GB2312" pitchFamily="49" charset="-122"/>
              </a:rPr>
              <a:t>波的传播方向</a:t>
            </a:r>
            <a:endParaRPr lang="zh-CN" altLang="en-US">
              <a:solidFill>
                <a:schemeClr val="accent2"/>
              </a:solidFill>
              <a:ea typeface="楷体_GB2312" pitchFamily="49" charset="-122"/>
            </a:endParaRPr>
          </a:p>
        </p:txBody>
      </p:sp>
      <p:sp>
        <p:nvSpPr>
          <p:cNvPr id="146435" name="Text Box 3"/>
          <p:cNvSpPr txBox="1">
            <a:spLocks noChangeArrowheads="1"/>
          </p:cNvSpPr>
          <p:nvPr/>
        </p:nvSpPr>
        <p:spPr bwMode="auto">
          <a:xfrm>
            <a:off x="2185988" y="757238"/>
            <a:ext cx="3644900" cy="457200"/>
          </a:xfrm>
          <a:prstGeom prst="rect">
            <a:avLst/>
          </a:prstGeom>
          <a:noFill/>
          <a:ln w="9525">
            <a:noFill/>
            <a:miter lim="800000"/>
            <a:headEnd/>
            <a:tailEnd/>
          </a:ln>
        </p:spPr>
        <p:txBody>
          <a:bodyPr>
            <a:spAutoFit/>
          </a:bodyPr>
          <a:lstStyle/>
          <a:p>
            <a:r>
              <a:rPr lang="zh-CN" altLang="en-US" b="1">
                <a:solidFill>
                  <a:srgbClr val="FF6600"/>
                </a:solidFill>
                <a:ea typeface="楷体_GB2312" pitchFamily="49" charset="-122"/>
              </a:rPr>
              <a:t>特点：</a:t>
            </a:r>
            <a:r>
              <a:rPr lang="zh-CN" altLang="en-US" b="1">
                <a:ea typeface="楷体_GB2312" pitchFamily="49" charset="-122"/>
              </a:rPr>
              <a:t>具有波峰和波谷</a:t>
            </a:r>
            <a:endParaRPr lang="zh-CN" altLang="en-US">
              <a:ea typeface="楷体_GB2312" pitchFamily="49" charset="-122"/>
            </a:endParaRPr>
          </a:p>
        </p:txBody>
      </p:sp>
      <p:sp>
        <p:nvSpPr>
          <p:cNvPr id="146436" name="Text Box 4"/>
          <p:cNvSpPr txBox="1">
            <a:spLocks noChangeArrowheads="1"/>
          </p:cNvSpPr>
          <p:nvPr/>
        </p:nvSpPr>
        <p:spPr bwMode="auto">
          <a:xfrm>
            <a:off x="250825" y="730250"/>
            <a:ext cx="1008063" cy="457200"/>
          </a:xfrm>
          <a:prstGeom prst="rect">
            <a:avLst/>
          </a:prstGeom>
          <a:noFill/>
          <a:ln w="9525">
            <a:noFill/>
            <a:miter lim="800000"/>
            <a:headEnd/>
            <a:tailEnd/>
          </a:ln>
        </p:spPr>
        <p:txBody>
          <a:bodyPr>
            <a:spAutoFit/>
          </a:bodyPr>
          <a:lstStyle/>
          <a:p>
            <a:r>
              <a:rPr lang="zh-CN" altLang="en-US" b="1">
                <a:solidFill>
                  <a:srgbClr val="FF0000"/>
                </a:solidFill>
              </a:rPr>
              <a:t>横波</a:t>
            </a:r>
          </a:p>
        </p:txBody>
      </p:sp>
      <p:sp>
        <p:nvSpPr>
          <p:cNvPr id="146437" name="Text Box 5"/>
          <p:cNvSpPr txBox="1">
            <a:spLocks noChangeArrowheads="1"/>
          </p:cNvSpPr>
          <p:nvPr/>
        </p:nvSpPr>
        <p:spPr bwMode="auto">
          <a:xfrm>
            <a:off x="4211638" y="1397000"/>
            <a:ext cx="2328862" cy="457200"/>
          </a:xfrm>
          <a:prstGeom prst="rect">
            <a:avLst/>
          </a:prstGeom>
          <a:noFill/>
          <a:ln w="25400" cap="rnd">
            <a:noFill/>
            <a:miter lim="800000"/>
            <a:headEnd type="none" w="sm" len="sm"/>
            <a:tailEnd type="none" w="sm" len="sm"/>
          </a:ln>
        </p:spPr>
        <p:txBody>
          <a:bodyPr wrap="none">
            <a:spAutoFit/>
          </a:bodyPr>
          <a:lstStyle/>
          <a:p>
            <a:r>
              <a:rPr lang="zh-CN" altLang="en-US" b="1">
                <a:solidFill>
                  <a:srgbClr val="FF6600"/>
                </a:solidFill>
                <a:latin typeface="Bookman Old Style" pitchFamily="18" charset="0"/>
                <a:ea typeface="楷体_GB2312" pitchFamily="49" charset="-122"/>
              </a:rPr>
              <a:t>质点的振动方向</a:t>
            </a:r>
            <a:endParaRPr lang="zh-CN" altLang="en-US">
              <a:solidFill>
                <a:srgbClr val="FF6600"/>
              </a:solidFill>
              <a:ea typeface="楷体_GB2312" pitchFamily="49" charset="-122"/>
            </a:endParaRPr>
          </a:p>
        </p:txBody>
      </p:sp>
      <p:sp>
        <p:nvSpPr>
          <p:cNvPr id="146438" name="Text Box 6"/>
          <p:cNvSpPr txBox="1">
            <a:spLocks noChangeArrowheads="1"/>
          </p:cNvSpPr>
          <p:nvPr/>
        </p:nvSpPr>
        <p:spPr bwMode="auto">
          <a:xfrm>
            <a:off x="206375" y="2271713"/>
            <a:ext cx="1008063" cy="457200"/>
          </a:xfrm>
          <a:prstGeom prst="rect">
            <a:avLst/>
          </a:prstGeom>
          <a:noFill/>
          <a:ln w="25400">
            <a:noFill/>
            <a:miter lim="800000"/>
            <a:headEnd/>
            <a:tailEnd/>
          </a:ln>
        </p:spPr>
        <p:txBody>
          <a:bodyPr anchor="ctr">
            <a:spAutoFit/>
          </a:bodyPr>
          <a:lstStyle/>
          <a:p>
            <a:pPr algn="ctr"/>
            <a:r>
              <a:rPr lang="zh-CN" altLang="en-US" b="1">
                <a:solidFill>
                  <a:srgbClr val="FF0000"/>
                </a:solidFill>
                <a:latin typeface="Bookman Old Style" pitchFamily="18" charset="0"/>
              </a:rPr>
              <a:t>纵波</a:t>
            </a:r>
            <a:endParaRPr lang="zh-CN" altLang="en-US">
              <a:solidFill>
                <a:srgbClr val="FF0000"/>
              </a:solidFill>
            </a:endParaRPr>
          </a:p>
        </p:txBody>
      </p:sp>
      <p:sp>
        <p:nvSpPr>
          <p:cNvPr id="146439" name="Text Box 7"/>
          <p:cNvSpPr txBox="1">
            <a:spLocks noChangeArrowheads="1"/>
          </p:cNvSpPr>
          <p:nvPr/>
        </p:nvSpPr>
        <p:spPr bwMode="auto">
          <a:xfrm>
            <a:off x="341313" y="3008313"/>
            <a:ext cx="2022475" cy="457200"/>
          </a:xfrm>
          <a:prstGeom prst="rect">
            <a:avLst/>
          </a:prstGeom>
          <a:noFill/>
          <a:ln w="25400">
            <a:noFill/>
            <a:miter lim="800000"/>
            <a:headEnd/>
            <a:tailEnd/>
          </a:ln>
        </p:spPr>
        <p:txBody>
          <a:bodyPr wrap="none" anchor="ctr">
            <a:spAutoFit/>
          </a:bodyPr>
          <a:lstStyle/>
          <a:p>
            <a:pPr algn="ctr"/>
            <a:r>
              <a:rPr lang="zh-CN" altLang="en-US" b="1">
                <a:solidFill>
                  <a:schemeClr val="accent2"/>
                </a:solidFill>
                <a:latin typeface="Bookman Old Style" pitchFamily="18" charset="0"/>
                <a:ea typeface="楷体_GB2312" pitchFamily="49" charset="-122"/>
              </a:rPr>
              <a:t>波的传播方向</a:t>
            </a:r>
            <a:endParaRPr lang="zh-CN" altLang="en-US">
              <a:solidFill>
                <a:schemeClr val="accent2"/>
              </a:solidFill>
              <a:ea typeface="楷体_GB2312" pitchFamily="49" charset="-122"/>
            </a:endParaRPr>
          </a:p>
        </p:txBody>
      </p:sp>
      <p:sp>
        <p:nvSpPr>
          <p:cNvPr id="146440" name="AutoShape 8"/>
          <p:cNvSpPr>
            <a:spLocks noChangeArrowheads="1"/>
          </p:cNvSpPr>
          <p:nvPr/>
        </p:nvSpPr>
        <p:spPr bwMode="auto">
          <a:xfrm>
            <a:off x="2411413" y="3189288"/>
            <a:ext cx="503237" cy="90487"/>
          </a:xfrm>
          <a:prstGeom prst="rightArrow">
            <a:avLst>
              <a:gd name="adj1" fmla="val 50000"/>
              <a:gd name="adj2" fmla="val 139036"/>
            </a:avLst>
          </a:prstGeom>
          <a:solidFill>
            <a:srgbClr val="0000FF"/>
          </a:solidFill>
          <a:ln w="25400">
            <a:solidFill>
              <a:srgbClr val="000080"/>
            </a:solidFill>
            <a:miter lim="800000"/>
            <a:headEnd/>
            <a:tailEnd/>
          </a:ln>
        </p:spPr>
        <p:txBody>
          <a:bodyPr wrap="none" anchor="ctr"/>
          <a:lstStyle/>
          <a:p>
            <a:endParaRPr lang="zh-CN" altLang="en-US"/>
          </a:p>
        </p:txBody>
      </p:sp>
      <p:sp>
        <p:nvSpPr>
          <p:cNvPr id="146441" name="Text Box 9"/>
          <p:cNvSpPr txBox="1">
            <a:spLocks noChangeArrowheads="1"/>
          </p:cNvSpPr>
          <p:nvPr/>
        </p:nvSpPr>
        <p:spPr bwMode="auto">
          <a:xfrm>
            <a:off x="4167188" y="3000375"/>
            <a:ext cx="2022475" cy="457200"/>
          </a:xfrm>
          <a:prstGeom prst="rect">
            <a:avLst/>
          </a:prstGeom>
          <a:noFill/>
          <a:ln w="25400">
            <a:noFill/>
            <a:miter lim="800000"/>
            <a:headEnd/>
            <a:tailEnd/>
          </a:ln>
        </p:spPr>
        <p:txBody>
          <a:bodyPr wrap="none" anchor="ctr">
            <a:spAutoFit/>
          </a:bodyPr>
          <a:lstStyle/>
          <a:p>
            <a:pPr algn="ctr"/>
            <a:r>
              <a:rPr lang="zh-CN" altLang="en-US" b="1">
                <a:solidFill>
                  <a:srgbClr val="FF6600"/>
                </a:solidFill>
                <a:latin typeface="Bookman Old Style" pitchFamily="18" charset="0"/>
                <a:ea typeface="楷体_GB2312" pitchFamily="49" charset="-122"/>
              </a:rPr>
              <a:t>质点振动方向</a:t>
            </a:r>
            <a:endParaRPr lang="zh-CN" altLang="en-US">
              <a:solidFill>
                <a:srgbClr val="FF6600"/>
              </a:solidFill>
              <a:ea typeface="楷体_GB2312" pitchFamily="49" charset="-122"/>
            </a:endParaRPr>
          </a:p>
        </p:txBody>
      </p:sp>
      <p:sp>
        <p:nvSpPr>
          <p:cNvPr id="146442" name="AutoShape 10"/>
          <p:cNvSpPr>
            <a:spLocks noChangeArrowheads="1"/>
          </p:cNvSpPr>
          <p:nvPr/>
        </p:nvSpPr>
        <p:spPr bwMode="auto">
          <a:xfrm>
            <a:off x="6237288" y="3181350"/>
            <a:ext cx="503237" cy="90488"/>
          </a:xfrm>
          <a:prstGeom prst="leftRightArrow">
            <a:avLst>
              <a:gd name="adj1" fmla="val 50000"/>
              <a:gd name="adj2" fmla="val 111227"/>
            </a:avLst>
          </a:prstGeom>
          <a:solidFill>
            <a:srgbClr val="FFCC00"/>
          </a:solidFill>
          <a:ln w="25400">
            <a:solidFill>
              <a:srgbClr val="FF6600"/>
            </a:solidFill>
            <a:miter lim="800000"/>
            <a:headEnd/>
            <a:tailEnd/>
          </a:ln>
        </p:spPr>
        <p:txBody>
          <a:bodyPr wrap="none" anchor="ctr"/>
          <a:lstStyle/>
          <a:p>
            <a:endParaRPr lang="zh-CN" altLang="en-US"/>
          </a:p>
        </p:txBody>
      </p:sp>
      <p:sp>
        <p:nvSpPr>
          <p:cNvPr id="146443" name="AutoShape 11"/>
          <p:cNvSpPr>
            <a:spLocks noChangeArrowheads="1"/>
          </p:cNvSpPr>
          <p:nvPr/>
        </p:nvSpPr>
        <p:spPr bwMode="auto">
          <a:xfrm>
            <a:off x="2413000" y="1604963"/>
            <a:ext cx="503238" cy="90487"/>
          </a:xfrm>
          <a:prstGeom prst="rightArrow">
            <a:avLst>
              <a:gd name="adj1" fmla="val 50000"/>
              <a:gd name="adj2" fmla="val 139036"/>
            </a:avLst>
          </a:prstGeom>
          <a:solidFill>
            <a:srgbClr val="0000FF"/>
          </a:solidFill>
          <a:ln w="25400">
            <a:solidFill>
              <a:srgbClr val="000080"/>
            </a:solidFill>
            <a:miter lim="800000"/>
            <a:headEnd/>
            <a:tailEnd/>
          </a:ln>
        </p:spPr>
        <p:txBody>
          <a:bodyPr wrap="none" anchor="ctr"/>
          <a:lstStyle/>
          <a:p>
            <a:endParaRPr lang="zh-CN" altLang="en-US"/>
          </a:p>
        </p:txBody>
      </p:sp>
      <p:sp>
        <p:nvSpPr>
          <p:cNvPr id="146444" name="AutoShape 12"/>
          <p:cNvSpPr>
            <a:spLocks noChangeArrowheads="1"/>
          </p:cNvSpPr>
          <p:nvPr/>
        </p:nvSpPr>
        <p:spPr bwMode="auto">
          <a:xfrm rot="16200000" flipH="1">
            <a:off x="6391275" y="1558925"/>
            <a:ext cx="503238" cy="90488"/>
          </a:xfrm>
          <a:prstGeom prst="leftRightArrow">
            <a:avLst>
              <a:gd name="adj1" fmla="val 50000"/>
              <a:gd name="adj2" fmla="val 111228"/>
            </a:avLst>
          </a:prstGeom>
          <a:solidFill>
            <a:srgbClr val="FFCC00"/>
          </a:solidFill>
          <a:ln w="25400">
            <a:solidFill>
              <a:srgbClr val="FF6600"/>
            </a:solidFill>
            <a:miter lim="800000"/>
            <a:headEnd/>
            <a:tailEnd/>
          </a:ln>
        </p:spPr>
        <p:txBody>
          <a:bodyPr wrap="none" anchor="ctr"/>
          <a:lstStyle/>
          <a:p>
            <a:endParaRPr lang="zh-CN" altLang="en-US"/>
          </a:p>
        </p:txBody>
      </p:sp>
      <p:sp>
        <p:nvSpPr>
          <p:cNvPr id="146445" name="Text Box 13"/>
          <p:cNvSpPr txBox="1">
            <a:spLocks noChangeArrowheads="1"/>
          </p:cNvSpPr>
          <p:nvPr/>
        </p:nvSpPr>
        <p:spPr bwMode="auto">
          <a:xfrm>
            <a:off x="2139950" y="2271713"/>
            <a:ext cx="4141788" cy="457200"/>
          </a:xfrm>
          <a:prstGeom prst="rect">
            <a:avLst/>
          </a:prstGeom>
          <a:noFill/>
          <a:ln w="9525">
            <a:noFill/>
            <a:miter lim="800000"/>
            <a:headEnd/>
            <a:tailEnd/>
          </a:ln>
        </p:spPr>
        <p:txBody>
          <a:bodyPr>
            <a:spAutoFit/>
          </a:bodyPr>
          <a:lstStyle/>
          <a:p>
            <a:r>
              <a:rPr lang="zh-CN" altLang="en-US" b="1">
                <a:solidFill>
                  <a:srgbClr val="FF6600"/>
                </a:solidFill>
                <a:ea typeface="楷体_GB2312" pitchFamily="49" charset="-122"/>
              </a:rPr>
              <a:t>特点：</a:t>
            </a:r>
            <a:r>
              <a:rPr lang="zh-CN" altLang="en-US" b="1">
                <a:solidFill>
                  <a:schemeClr val="tx2"/>
                </a:solidFill>
                <a:ea typeface="楷体_GB2312" pitchFamily="49" charset="-122"/>
              </a:rPr>
              <a:t>具有疏密相间的区域</a:t>
            </a:r>
            <a:endParaRPr lang="zh-CN" altLang="en-US">
              <a:solidFill>
                <a:schemeClr val="tx2"/>
              </a:solidFill>
              <a:ea typeface="楷体_GB2312" pitchFamily="49" charset="-122"/>
            </a:endParaRPr>
          </a:p>
        </p:txBody>
      </p:sp>
      <p:sp>
        <p:nvSpPr>
          <p:cNvPr id="146447" name="Text Box 15"/>
          <p:cNvSpPr txBox="1">
            <a:spLocks noChangeArrowheads="1"/>
          </p:cNvSpPr>
          <p:nvPr/>
        </p:nvSpPr>
        <p:spPr bwMode="auto">
          <a:xfrm>
            <a:off x="3419475" y="1406525"/>
            <a:ext cx="504825" cy="466725"/>
          </a:xfrm>
          <a:prstGeom prst="rect">
            <a:avLst/>
          </a:prstGeom>
          <a:solidFill>
            <a:srgbClr val="CCFFCC">
              <a:alpha val="50195"/>
            </a:srgbClr>
          </a:solidFill>
          <a:ln w="9525">
            <a:solidFill>
              <a:srgbClr val="00FF00"/>
            </a:solidFill>
            <a:miter lim="800000"/>
            <a:headEnd/>
            <a:tailEnd/>
          </a:ln>
        </p:spPr>
        <p:txBody>
          <a:bodyPr>
            <a:spAutoFit/>
          </a:bodyPr>
          <a:lstStyle/>
          <a:p>
            <a:pPr>
              <a:spcBef>
                <a:spcPct val="50000"/>
              </a:spcBef>
            </a:pPr>
            <a:r>
              <a:rPr lang="en-US" altLang="zh-CN" b="1">
                <a:solidFill>
                  <a:srgbClr val="9900CC"/>
                </a:solidFill>
                <a:ea typeface="楷体_GB2312" pitchFamily="49" charset="-122"/>
              </a:rPr>
              <a:t>⊥</a:t>
            </a:r>
          </a:p>
        </p:txBody>
      </p:sp>
      <p:sp>
        <p:nvSpPr>
          <p:cNvPr id="146450" name="Text Box 18"/>
          <p:cNvSpPr txBox="1">
            <a:spLocks noChangeArrowheads="1"/>
          </p:cNvSpPr>
          <p:nvPr/>
        </p:nvSpPr>
        <p:spPr bwMode="auto">
          <a:xfrm>
            <a:off x="3311525" y="3008313"/>
            <a:ext cx="504825" cy="466725"/>
          </a:xfrm>
          <a:prstGeom prst="rect">
            <a:avLst/>
          </a:prstGeom>
          <a:solidFill>
            <a:srgbClr val="CCFFCC">
              <a:alpha val="50195"/>
            </a:srgbClr>
          </a:solidFill>
          <a:ln w="9525">
            <a:solidFill>
              <a:srgbClr val="00FF00"/>
            </a:solidFill>
            <a:miter lim="800000"/>
            <a:headEnd/>
            <a:tailEnd/>
          </a:ln>
        </p:spPr>
        <p:txBody>
          <a:bodyPr>
            <a:spAutoFit/>
          </a:bodyPr>
          <a:lstStyle/>
          <a:p>
            <a:pPr>
              <a:spcBef>
                <a:spcPct val="50000"/>
              </a:spcBef>
            </a:pPr>
            <a:r>
              <a:rPr lang="en-US" altLang="zh-CN" b="1">
                <a:solidFill>
                  <a:srgbClr val="9900CC"/>
                </a:solidFill>
                <a:ea typeface="楷体_GB2312" pitchFamily="49" charset="-122"/>
              </a:rPr>
              <a:t>∥</a:t>
            </a:r>
          </a:p>
        </p:txBody>
      </p:sp>
      <p:sp>
        <p:nvSpPr>
          <p:cNvPr id="146517" name="Text Box 85"/>
          <p:cNvSpPr txBox="1">
            <a:spLocks noChangeArrowheads="1"/>
          </p:cNvSpPr>
          <p:nvPr/>
        </p:nvSpPr>
        <p:spPr bwMode="auto">
          <a:xfrm>
            <a:off x="179388" y="3754438"/>
            <a:ext cx="8686800" cy="968375"/>
          </a:xfrm>
          <a:prstGeom prst="rect">
            <a:avLst/>
          </a:prstGeom>
          <a:noFill/>
          <a:ln w="9525">
            <a:noFill/>
            <a:miter lim="800000"/>
            <a:headEnd/>
            <a:tailEnd/>
          </a:ln>
        </p:spPr>
        <p:txBody>
          <a:bodyPr>
            <a:spAutoFit/>
          </a:bodyPr>
          <a:lstStyle/>
          <a:p>
            <a:pPr>
              <a:lnSpc>
                <a:spcPct val="120000"/>
              </a:lnSpc>
            </a:pPr>
            <a:r>
              <a:rPr lang="en-US" altLang="zh-CN" b="1">
                <a:latin typeface="楷体_GB2312" pitchFamily="49" charset="-122"/>
                <a:ea typeface="楷体_GB2312" pitchFamily="49" charset="-122"/>
              </a:rPr>
              <a:t>    </a:t>
            </a:r>
            <a:r>
              <a:rPr lang="zh-CN" altLang="en-US" b="1">
                <a:solidFill>
                  <a:srgbClr val="FF6600"/>
                </a:solidFill>
                <a:latin typeface="楷体_GB2312" pitchFamily="49" charset="-122"/>
                <a:ea typeface="楷体_GB2312" pitchFamily="49" charset="-122"/>
              </a:rPr>
              <a:t>振动方向</a:t>
            </a:r>
            <a:r>
              <a:rPr lang="zh-CN" altLang="en-US" b="1">
                <a:latin typeface="楷体_GB2312" pitchFamily="49" charset="-122"/>
                <a:ea typeface="楷体_GB2312" pitchFamily="49" charset="-122"/>
              </a:rPr>
              <a:t>和</a:t>
            </a:r>
            <a:r>
              <a:rPr lang="zh-CN" altLang="en-US" b="1">
                <a:solidFill>
                  <a:srgbClr val="FF6600"/>
                </a:solidFill>
                <a:latin typeface="楷体_GB2312" pitchFamily="49" charset="-122"/>
                <a:ea typeface="楷体_GB2312" pitchFamily="49" charset="-122"/>
              </a:rPr>
              <a:t>波的传播方向</a:t>
            </a:r>
            <a:r>
              <a:rPr lang="zh-CN" altLang="en-US" b="1">
                <a:latin typeface="楷体_GB2312" pitchFamily="49" charset="-122"/>
                <a:ea typeface="楷体_GB2312" pitchFamily="49" charset="-122"/>
              </a:rPr>
              <a:t>是平行还是垂直，与介质本身的性质有关，即与介质本身的弹性（抵抗形变的能力）有关。</a:t>
            </a:r>
          </a:p>
        </p:txBody>
      </p:sp>
      <p:sp>
        <p:nvSpPr>
          <p:cNvPr id="146518" name="Text Box 86"/>
          <p:cNvSpPr txBox="1">
            <a:spLocks noChangeArrowheads="1"/>
          </p:cNvSpPr>
          <p:nvPr/>
        </p:nvSpPr>
        <p:spPr bwMode="auto">
          <a:xfrm>
            <a:off x="350838" y="4908550"/>
            <a:ext cx="1628775" cy="530225"/>
          </a:xfrm>
          <a:prstGeom prst="rect">
            <a:avLst/>
          </a:prstGeom>
          <a:noFill/>
          <a:ln w="9525">
            <a:noFill/>
            <a:miter lim="800000"/>
            <a:headEnd/>
            <a:tailEnd/>
          </a:ln>
        </p:spPr>
        <p:txBody>
          <a:bodyPr>
            <a:spAutoFit/>
          </a:bodyPr>
          <a:lstStyle/>
          <a:p>
            <a:pPr>
              <a:lnSpc>
                <a:spcPct val="120000"/>
              </a:lnSpc>
            </a:pPr>
            <a:r>
              <a:rPr lang="zh-CN" altLang="en-US" b="1">
                <a:solidFill>
                  <a:srgbClr val="FF3300"/>
                </a:solidFill>
                <a:latin typeface="宋体" pitchFamily="2" charset="-122"/>
              </a:rPr>
              <a:t>形变</a:t>
            </a:r>
            <a:r>
              <a:rPr lang="en-US" altLang="zh-CN" b="1">
                <a:solidFill>
                  <a:srgbClr val="FF3300"/>
                </a:solidFill>
                <a:latin typeface="宋体" pitchFamily="2" charset="-122"/>
              </a:rPr>
              <a:t>:</a:t>
            </a:r>
          </a:p>
        </p:txBody>
      </p:sp>
      <p:sp>
        <p:nvSpPr>
          <p:cNvPr id="146519" name="Text Box 87"/>
          <p:cNvSpPr txBox="1">
            <a:spLocks noChangeArrowheads="1"/>
          </p:cNvSpPr>
          <p:nvPr/>
        </p:nvSpPr>
        <p:spPr bwMode="auto">
          <a:xfrm>
            <a:off x="1403350" y="4908550"/>
            <a:ext cx="6840538" cy="968375"/>
          </a:xfrm>
          <a:prstGeom prst="rect">
            <a:avLst/>
          </a:prstGeom>
          <a:noFill/>
          <a:ln w="9525">
            <a:noFill/>
            <a:miter lim="800000"/>
            <a:headEnd/>
            <a:tailEnd/>
          </a:ln>
        </p:spPr>
        <p:txBody>
          <a:bodyPr>
            <a:spAutoFit/>
          </a:bodyPr>
          <a:lstStyle/>
          <a:p>
            <a:pPr>
              <a:lnSpc>
                <a:spcPct val="120000"/>
              </a:lnSpc>
            </a:pPr>
            <a:r>
              <a:rPr lang="zh-CN" altLang="en-US" b="1">
                <a:latin typeface="楷体_GB2312" pitchFamily="49" charset="-122"/>
                <a:ea typeface="楷体_GB2312" pitchFamily="49" charset="-122"/>
              </a:rPr>
              <a:t>一切物体在外力的作用下，所发生的形状大小的改变。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6436"/>
                                        </p:tgtEl>
                                        <p:attrNameLst>
                                          <p:attrName>style.visibility</p:attrName>
                                        </p:attrNameLst>
                                      </p:cBhvr>
                                      <p:to>
                                        <p:strVal val="visible"/>
                                      </p:to>
                                    </p:set>
                                    <p:animEffect transition="in" filter="wipe(left)">
                                      <p:cBhvr>
                                        <p:cTn id="7" dur="1000"/>
                                        <p:tgtEl>
                                          <p:spTgt spid="1464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6434"/>
                                        </p:tgtEl>
                                        <p:attrNameLst>
                                          <p:attrName>style.visibility</p:attrName>
                                        </p:attrNameLst>
                                      </p:cBhvr>
                                      <p:to>
                                        <p:strVal val="visible"/>
                                      </p:to>
                                    </p:set>
                                    <p:animEffect transition="in" filter="wipe(left)">
                                      <p:cBhvr>
                                        <p:cTn id="12" dur="1000"/>
                                        <p:tgtEl>
                                          <p:spTgt spid="146434"/>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146443"/>
                                        </p:tgtEl>
                                        <p:attrNameLst>
                                          <p:attrName>style.visibility</p:attrName>
                                        </p:attrNameLst>
                                      </p:cBhvr>
                                      <p:to>
                                        <p:strVal val="visible"/>
                                      </p:to>
                                    </p:set>
                                    <p:animEffect transition="in" filter="wipe(left)">
                                      <p:cBhvr>
                                        <p:cTn id="16" dur="1000"/>
                                        <p:tgtEl>
                                          <p:spTgt spid="14644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6437"/>
                                        </p:tgtEl>
                                        <p:attrNameLst>
                                          <p:attrName>style.visibility</p:attrName>
                                        </p:attrNameLst>
                                      </p:cBhvr>
                                      <p:to>
                                        <p:strVal val="visible"/>
                                      </p:to>
                                    </p:set>
                                    <p:animEffect transition="in" filter="wipe(left)">
                                      <p:cBhvr>
                                        <p:cTn id="21" dur="1000"/>
                                        <p:tgtEl>
                                          <p:spTgt spid="146437"/>
                                        </p:tgtEl>
                                      </p:cBhvr>
                                    </p:animEffect>
                                  </p:childTnLst>
                                </p:cTn>
                              </p:par>
                            </p:childTnLst>
                          </p:cTn>
                        </p:par>
                        <p:par>
                          <p:cTn id="22" fill="hold">
                            <p:stCondLst>
                              <p:cond delay="1000"/>
                            </p:stCondLst>
                            <p:childTnLst>
                              <p:par>
                                <p:cTn id="23" presetID="4" presetClass="entr" presetSubtype="32" fill="hold" grpId="0" nodeType="afterEffect">
                                  <p:stCondLst>
                                    <p:cond delay="0"/>
                                  </p:stCondLst>
                                  <p:childTnLst>
                                    <p:set>
                                      <p:cBhvr>
                                        <p:cTn id="24" dur="1" fill="hold">
                                          <p:stCondLst>
                                            <p:cond delay="0"/>
                                          </p:stCondLst>
                                        </p:cTn>
                                        <p:tgtEl>
                                          <p:spTgt spid="146444"/>
                                        </p:tgtEl>
                                        <p:attrNameLst>
                                          <p:attrName>style.visibility</p:attrName>
                                        </p:attrNameLst>
                                      </p:cBhvr>
                                      <p:to>
                                        <p:strVal val="visible"/>
                                      </p:to>
                                    </p:set>
                                    <p:animEffect transition="in" filter="box(out)">
                                      <p:cBhvr>
                                        <p:cTn id="25" dur="1000"/>
                                        <p:tgtEl>
                                          <p:spTgt spid="146444"/>
                                        </p:tgtEl>
                                      </p:cBhvr>
                                    </p:animEffect>
                                  </p:childTnLst>
                                </p:cTn>
                              </p:par>
                            </p:childTnLst>
                          </p:cTn>
                        </p:par>
                      </p:childTnLst>
                    </p:cTn>
                  </p:par>
                  <p:par>
                    <p:cTn id="26" fill="hold">
                      <p:stCondLst>
                        <p:cond delay="indefinite"/>
                      </p:stCondLst>
                      <p:childTnLst>
                        <p:par>
                          <p:cTn id="27" fill="hold">
                            <p:stCondLst>
                              <p:cond delay="0"/>
                            </p:stCondLst>
                            <p:childTnLst>
                              <p:par>
                                <p:cTn id="28" presetID="17" presetClass="entr" presetSubtype="10" fill="hold" grpId="0" nodeType="clickEffect">
                                  <p:stCondLst>
                                    <p:cond delay="0"/>
                                  </p:stCondLst>
                                  <p:childTnLst>
                                    <p:set>
                                      <p:cBhvr>
                                        <p:cTn id="29" dur="1" fill="hold">
                                          <p:stCondLst>
                                            <p:cond delay="0"/>
                                          </p:stCondLst>
                                        </p:cTn>
                                        <p:tgtEl>
                                          <p:spTgt spid="146447"/>
                                        </p:tgtEl>
                                        <p:attrNameLst>
                                          <p:attrName>style.visibility</p:attrName>
                                        </p:attrNameLst>
                                      </p:cBhvr>
                                      <p:to>
                                        <p:strVal val="visible"/>
                                      </p:to>
                                    </p:set>
                                    <p:anim calcmode="lin" valueType="num">
                                      <p:cBhvr>
                                        <p:cTn id="30" dur="1000" fill="hold"/>
                                        <p:tgtEl>
                                          <p:spTgt spid="146447"/>
                                        </p:tgtEl>
                                        <p:attrNameLst>
                                          <p:attrName>ppt_w</p:attrName>
                                        </p:attrNameLst>
                                      </p:cBhvr>
                                      <p:tavLst>
                                        <p:tav tm="0">
                                          <p:val>
                                            <p:fltVal val="0"/>
                                          </p:val>
                                        </p:tav>
                                        <p:tav tm="100000">
                                          <p:val>
                                            <p:strVal val="#ppt_w"/>
                                          </p:val>
                                        </p:tav>
                                      </p:tavLst>
                                    </p:anim>
                                    <p:anim calcmode="lin" valueType="num">
                                      <p:cBhvr>
                                        <p:cTn id="31" dur="1000" fill="hold"/>
                                        <p:tgtEl>
                                          <p:spTgt spid="146447"/>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6435"/>
                                        </p:tgtEl>
                                        <p:attrNameLst>
                                          <p:attrName>style.visibility</p:attrName>
                                        </p:attrNameLst>
                                      </p:cBhvr>
                                      <p:to>
                                        <p:strVal val="visible"/>
                                      </p:to>
                                    </p:set>
                                    <p:animEffect transition="in" filter="wipe(left)">
                                      <p:cBhvr>
                                        <p:cTn id="36" dur="1000"/>
                                        <p:tgtEl>
                                          <p:spTgt spid="14643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46438"/>
                                        </p:tgtEl>
                                        <p:attrNameLst>
                                          <p:attrName>style.visibility</p:attrName>
                                        </p:attrNameLst>
                                      </p:cBhvr>
                                      <p:to>
                                        <p:strVal val="visible"/>
                                      </p:to>
                                    </p:set>
                                    <p:animEffect transition="in" filter="wipe(left)">
                                      <p:cBhvr>
                                        <p:cTn id="41" dur="1000"/>
                                        <p:tgtEl>
                                          <p:spTgt spid="14643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46439"/>
                                        </p:tgtEl>
                                        <p:attrNameLst>
                                          <p:attrName>style.visibility</p:attrName>
                                        </p:attrNameLst>
                                      </p:cBhvr>
                                      <p:to>
                                        <p:strVal val="visible"/>
                                      </p:to>
                                    </p:set>
                                    <p:animEffect transition="in" filter="wipe(left)">
                                      <p:cBhvr>
                                        <p:cTn id="46" dur="1000"/>
                                        <p:tgtEl>
                                          <p:spTgt spid="146439"/>
                                        </p:tgtEl>
                                      </p:cBhvr>
                                    </p:animEffect>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146440"/>
                                        </p:tgtEl>
                                        <p:attrNameLst>
                                          <p:attrName>style.visibility</p:attrName>
                                        </p:attrNameLst>
                                      </p:cBhvr>
                                      <p:to>
                                        <p:strVal val="visible"/>
                                      </p:to>
                                    </p:set>
                                    <p:animEffect transition="in" filter="wipe(left)">
                                      <p:cBhvr>
                                        <p:cTn id="50" dur="1000"/>
                                        <p:tgtEl>
                                          <p:spTgt spid="14644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46441"/>
                                        </p:tgtEl>
                                        <p:attrNameLst>
                                          <p:attrName>style.visibility</p:attrName>
                                        </p:attrNameLst>
                                      </p:cBhvr>
                                      <p:to>
                                        <p:strVal val="visible"/>
                                      </p:to>
                                    </p:set>
                                    <p:animEffect transition="in" filter="wipe(left)">
                                      <p:cBhvr>
                                        <p:cTn id="55" dur="1000"/>
                                        <p:tgtEl>
                                          <p:spTgt spid="146441"/>
                                        </p:tgtEl>
                                      </p:cBhvr>
                                    </p:animEffect>
                                  </p:childTnLst>
                                </p:cTn>
                              </p:par>
                            </p:childTnLst>
                          </p:cTn>
                        </p:par>
                        <p:par>
                          <p:cTn id="56" fill="hold">
                            <p:stCondLst>
                              <p:cond delay="1000"/>
                            </p:stCondLst>
                            <p:childTnLst>
                              <p:par>
                                <p:cTn id="57" presetID="4" presetClass="entr" presetSubtype="32" fill="hold" grpId="0" nodeType="afterEffect">
                                  <p:stCondLst>
                                    <p:cond delay="0"/>
                                  </p:stCondLst>
                                  <p:childTnLst>
                                    <p:set>
                                      <p:cBhvr>
                                        <p:cTn id="58" dur="1" fill="hold">
                                          <p:stCondLst>
                                            <p:cond delay="0"/>
                                          </p:stCondLst>
                                        </p:cTn>
                                        <p:tgtEl>
                                          <p:spTgt spid="146442"/>
                                        </p:tgtEl>
                                        <p:attrNameLst>
                                          <p:attrName>style.visibility</p:attrName>
                                        </p:attrNameLst>
                                      </p:cBhvr>
                                      <p:to>
                                        <p:strVal val="visible"/>
                                      </p:to>
                                    </p:set>
                                    <p:animEffect transition="in" filter="box(out)">
                                      <p:cBhvr>
                                        <p:cTn id="59" dur="1000"/>
                                        <p:tgtEl>
                                          <p:spTgt spid="146442"/>
                                        </p:tgtEl>
                                      </p:cBhvr>
                                    </p:animEffect>
                                  </p:childTnLst>
                                </p:cTn>
                              </p:par>
                            </p:childTnLst>
                          </p:cTn>
                        </p:par>
                      </p:childTnLst>
                    </p:cTn>
                  </p:par>
                  <p:par>
                    <p:cTn id="60" fill="hold">
                      <p:stCondLst>
                        <p:cond delay="indefinite"/>
                      </p:stCondLst>
                      <p:childTnLst>
                        <p:par>
                          <p:cTn id="61" fill="hold">
                            <p:stCondLst>
                              <p:cond delay="0"/>
                            </p:stCondLst>
                            <p:childTnLst>
                              <p:par>
                                <p:cTn id="62" presetID="17" presetClass="entr" presetSubtype="10" fill="hold" grpId="0" nodeType="clickEffect">
                                  <p:stCondLst>
                                    <p:cond delay="0"/>
                                  </p:stCondLst>
                                  <p:childTnLst>
                                    <p:set>
                                      <p:cBhvr>
                                        <p:cTn id="63" dur="1" fill="hold">
                                          <p:stCondLst>
                                            <p:cond delay="0"/>
                                          </p:stCondLst>
                                        </p:cTn>
                                        <p:tgtEl>
                                          <p:spTgt spid="146450"/>
                                        </p:tgtEl>
                                        <p:attrNameLst>
                                          <p:attrName>style.visibility</p:attrName>
                                        </p:attrNameLst>
                                      </p:cBhvr>
                                      <p:to>
                                        <p:strVal val="visible"/>
                                      </p:to>
                                    </p:set>
                                    <p:anim calcmode="lin" valueType="num">
                                      <p:cBhvr>
                                        <p:cTn id="64" dur="1000" fill="hold"/>
                                        <p:tgtEl>
                                          <p:spTgt spid="146450"/>
                                        </p:tgtEl>
                                        <p:attrNameLst>
                                          <p:attrName>ppt_w</p:attrName>
                                        </p:attrNameLst>
                                      </p:cBhvr>
                                      <p:tavLst>
                                        <p:tav tm="0">
                                          <p:val>
                                            <p:fltVal val="0"/>
                                          </p:val>
                                        </p:tav>
                                        <p:tav tm="100000">
                                          <p:val>
                                            <p:strVal val="#ppt_w"/>
                                          </p:val>
                                        </p:tav>
                                      </p:tavLst>
                                    </p:anim>
                                    <p:anim calcmode="lin" valueType="num">
                                      <p:cBhvr>
                                        <p:cTn id="65" dur="1000" fill="hold"/>
                                        <p:tgtEl>
                                          <p:spTgt spid="146450"/>
                                        </p:tgtEl>
                                        <p:attrNameLst>
                                          <p:attrName>ppt_h</p:attrName>
                                        </p:attrNameLst>
                                      </p:cBhvr>
                                      <p:tavLst>
                                        <p:tav tm="0">
                                          <p:val>
                                            <p:strVal val="#ppt_h"/>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46445"/>
                                        </p:tgtEl>
                                        <p:attrNameLst>
                                          <p:attrName>style.visibility</p:attrName>
                                        </p:attrNameLst>
                                      </p:cBhvr>
                                      <p:to>
                                        <p:strVal val="visible"/>
                                      </p:to>
                                    </p:set>
                                    <p:animEffect transition="in" filter="wipe(left)">
                                      <p:cBhvr>
                                        <p:cTn id="70" dur="1000"/>
                                        <p:tgtEl>
                                          <p:spTgt spid="146445"/>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46517"/>
                                        </p:tgtEl>
                                        <p:attrNameLst>
                                          <p:attrName>style.visibility</p:attrName>
                                        </p:attrNameLst>
                                      </p:cBhvr>
                                      <p:to>
                                        <p:strVal val="visible"/>
                                      </p:to>
                                    </p:set>
                                    <p:animEffect transition="in" filter="wipe(left)">
                                      <p:cBhvr>
                                        <p:cTn id="75" dur="1000"/>
                                        <p:tgtEl>
                                          <p:spTgt spid="146517"/>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46518"/>
                                        </p:tgtEl>
                                        <p:attrNameLst>
                                          <p:attrName>style.visibility</p:attrName>
                                        </p:attrNameLst>
                                      </p:cBhvr>
                                      <p:to>
                                        <p:strVal val="visible"/>
                                      </p:to>
                                    </p:set>
                                    <p:animEffect transition="in" filter="wipe(left)">
                                      <p:cBhvr>
                                        <p:cTn id="80" dur="1000"/>
                                        <p:tgtEl>
                                          <p:spTgt spid="146518"/>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46519"/>
                                        </p:tgtEl>
                                        <p:attrNameLst>
                                          <p:attrName>style.visibility</p:attrName>
                                        </p:attrNameLst>
                                      </p:cBhvr>
                                      <p:to>
                                        <p:strVal val="visible"/>
                                      </p:to>
                                    </p:set>
                                    <p:animEffect transition="in" filter="wipe(left)">
                                      <p:cBhvr>
                                        <p:cTn id="85" dur="1000"/>
                                        <p:tgtEl>
                                          <p:spTgt spid="146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4" grpId="0"/>
      <p:bldP spid="146435" grpId="0"/>
      <p:bldP spid="146436" grpId="0"/>
      <p:bldP spid="146437" grpId="0"/>
      <p:bldP spid="146438" grpId="0"/>
      <p:bldP spid="146439" grpId="0"/>
      <p:bldP spid="146440" grpId="0" animBg="1"/>
      <p:bldP spid="146441" grpId="0"/>
      <p:bldP spid="146442" grpId="0" animBg="1"/>
      <p:bldP spid="146443" grpId="0" animBg="1"/>
      <p:bldP spid="146444" grpId="0" animBg="1"/>
      <p:bldP spid="146445" grpId="0"/>
      <p:bldP spid="146447" grpId="0" animBg="1"/>
      <p:bldP spid="146450" grpId="0" animBg="1"/>
      <p:bldP spid="146517" grpId="0"/>
      <p:bldP spid="146518" grpId="0"/>
      <p:bldP spid="1465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5" name="Text Box 5"/>
          <p:cNvSpPr txBox="1">
            <a:spLocks noChangeArrowheads="1"/>
          </p:cNvSpPr>
          <p:nvPr/>
        </p:nvSpPr>
        <p:spPr bwMode="auto">
          <a:xfrm>
            <a:off x="250825" y="804863"/>
            <a:ext cx="2484438" cy="530225"/>
          </a:xfrm>
          <a:prstGeom prst="rect">
            <a:avLst/>
          </a:prstGeom>
          <a:noFill/>
          <a:ln w="9525">
            <a:noFill/>
            <a:miter lim="800000"/>
            <a:headEnd/>
            <a:tailEnd/>
          </a:ln>
        </p:spPr>
        <p:txBody>
          <a:bodyPr>
            <a:spAutoFit/>
          </a:bodyPr>
          <a:lstStyle/>
          <a:p>
            <a:pPr>
              <a:lnSpc>
                <a:spcPct val="120000"/>
              </a:lnSpc>
            </a:pPr>
            <a:r>
              <a:rPr lang="zh-CN" altLang="en-US" b="1">
                <a:solidFill>
                  <a:srgbClr val="FF3300"/>
                </a:solidFill>
                <a:latin typeface="宋体" pitchFamily="2" charset="-122"/>
              </a:rPr>
              <a:t>弹性形变</a:t>
            </a:r>
            <a:r>
              <a:rPr lang="en-US" altLang="zh-CN" b="1">
                <a:solidFill>
                  <a:srgbClr val="FF3300"/>
                </a:solidFill>
                <a:latin typeface="宋体" pitchFamily="2" charset="-122"/>
              </a:rPr>
              <a:t>:</a:t>
            </a:r>
          </a:p>
        </p:txBody>
      </p:sp>
      <p:sp>
        <p:nvSpPr>
          <p:cNvPr id="148486" name="Text Box 6"/>
          <p:cNvSpPr txBox="1">
            <a:spLocks noChangeArrowheads="1"/>
          </p:cNvSpPr>
          <p:nvPr/>
        </p:nvSpPr>
        <p:spPr bwMode="auto">
          <a:xfrm>
            <a:off x="1835150" y="804863"/>
            <a:ext cx="6697663" cy="968375"/>
          </a:xfrm>
          <a:prstGeom prst="rect">
            <a:avLst/>
          </a:prstGeom>
          <a:noFill/>
          <a:ln w="9525">
            <a:noFill/>
            <a:miter lim="800000"/>
            <a:headEnd/>
            <a:tailEnd/>
          </a:ln>
        </p:spPr>
        <p:txBody>
          <a:bodyPr>
            <a:spAutoFit/>
          </a:bodyPr>
          <a:lstStyle/>
          <a:p>
            <a:pPr>
              <a:lnSpc>
                <a:spcPct val="120000"/>
              </a:lnSpc>
            </a:pPr>
            <a:r>
              <a:rPr lang="zh-CN" altLang="en-US" b="1">
                <a:latin typeface="楷体_GB2312" pitchFamily="49" charset="-122"/>
                <a:ea typeface="楷体_GB2312" pitchFamily="49" charset="-122"/>
              </a:rPr>
              <a:t>若形变不超过一定限度，外力撤去后，物体能完全恢复原状，就称为</a:t>
            </a:r>
            <a:r>
              <a:rPr lang="zh-CN" altLang="en-US" b="1">
                <a:solidFill>
                  <a:srgbClr val="FF6600"/>
                </a:solidFill>
                <a:latin typeface="楷体_GB2312" pitchFamily="49" charset="-122"/>
                <a:ea typeface="楷体_GB2312" pitchFamily="49" charset="-122"/>
              </a:rPr>
              <a:t>弹性形变</a:t>
            </a:r>
            <a:r>
              <a:rPr lang="zh-CN" altLang="en-US" b="1">
                <a:latin typeface="楷体_GB2312" pitchFamily="49" charset="-122"/>
                <a:ea typeface="楷体_GB2312" pitchFamily="49" charset="-122"/>
              </a:rPr>
              <a:t>。</a:t>
            </a:r>
          </a:p>
        </p:txBody>
      </p:sp>
      <p:sp>
        <p:nvSpPr>
          <p:cNvPr id="148487" name="Text Box 7"/>
          <p:cNvSpPr txBox="1">
            <a:spLocks noChangeArrowheads="1"/>
          </p:cNvSpPr>
          <p:nvPr/>
        </p:nvSpPr>
        <p:spPr bwMode="auto">
          <a:xfrm>
            <a:off x="323850" y="2251075"/>
            <a:ext cx="3311525" cy="530225"/>
          </a:xfrm>
          <a:prstGeom prst="rect">
            <a:avLst/>
          </a:prstGeom>
          <a:noFill/>
          <a:ln w="9525">
            <a:noFill/>
            <a:miter lim="800000"/>
            <a:headEnd/>
            <a:tailEnd/>
          </a:ln>
        </p:spPr>
        <p:txBody>
          <a:bodyPr>
            <a:spAutoFit/>
          </a:bodyPr>
          <a:lstStyle/>
          <a:p>
            <a:pPr>
              <a:lnSpc>
                <a:spcPct val="120000"/>
              </a:lnSpc>
            </a:pPr>
            <a:r>
              <a:rPr lang="zh-CN" altLang="en-US" b="1">
                <a:solidFill>
                  <a:srgbClr val="FF3300"/>
                </a:solidFill>
                <a:latin typeface="宋体" pitchFamily="2" charset="-122"/>
              </a:rPr>
              <a:t>应变：</a:t>
            </a:r>
            <a:r>
              <a:rPr lang="en-US" altLang="zh-CN" b="1">
                <a:solidFill>
                  <a:srgbClr val="9900CC"/>
                </a:solidFill>
                <a:latin typeface="楷体_GB2312" pitchFamily="49" charset="-122"/>
                <a:ea typeface="楷体_GB2312" pitchFamily="49" charset="-122"/>
              </a:rPr>
              <a:t>(</a:t>
            </a:r>
            <a:r>
              <a:rPr lang="zh-CN" altLang="en-US" b="1">
                <a:solidFill>
                  <a:srgbClr val="9900CC"/>
                </a:solidFill>
                <a:latin typeface="楷体_GB2312" pitchFamily="49" charset="-122"/>
                <a:ea typeface="楷体_GB2312" pitchFamily="49" charset="-122"/>
              </a:rPr>
              <a:t>相对形变</a:t>
            </a:r>
            <a:r>
              <a:rPr lang="en-US" altLang="zh-CN" b="1">
                <a:solidFill>
                  <a:srgbClr val="9900CC"/>
                </a:solidFill>
                <a:latin typeface="楷体_GB2312" pitchFamily="49" charset="-122"/>
                <a:ea typeface="楷体_GB2312" pitchFamily="49" charset="-122"/>
              </a:rPr>
              <a:t>)</a:t>
            </a:r>
          </a:p>
        </p:txBody>
      </p:sp>
      <p:sp>
        <p:nvSpPr>
          <p:cNvPr id="148488" name="Text Box 8"/>
          <p:cNvSpPr txBox="1">
            <a:spLocks noChangeArrowheads="1"/>
          </p:cNvSpPr>
          <p:nvPr/>
        </p:nvSpPr>
        <p:spPr bwMode="auto">
          <a:xfrm>
            <a:off x="1116013" y="3132138"/>
            <a:ext cx="4064000" cy="530225"/>
          </a:xfrm>
          <a:prstGeom prst="rect">
            <a:avLst/>
          </a:prstGeom>
          <a:noFill/>
          <a:ln w="9525">
            <a:noFill/>
            <a:miter lim="800000"/>
            <a:headEnd/>
            <a:tailEnd/>
          </a:ln>
        </p:spPr>
        <p:txBody>
          <a:bodyPr>
            <a:spAutoFit/>
          </a:bodyPr>
          <a:lstStyle/>
          <a:p>
            <a:pPr>
              <a:lnSpc>
                <a:spcPct val="120000"/>
              </a:lnSpc>
            </a:pPr>
            <a:r>
              <a:rPr lang="zh-CN" altLang="en-US" b="1">
                <a:solidFill>
                  <a:srgbClr val="008000"/>
                </a:solidFill>
                <a:latin typeface="楷体_GB2312" pitchFamily="49" charset="-122"/>
                <a:ea typeface="楷体_GB2312" pitchFamily="49" charset="-122"/>
              </a:rPr>
              <a:t>长应变</a:t>
            </a:r>
            <a:r>
              <a:rPr lang="zh-CN" altLang="en-US" b="1">
                <a:latin typeface="楷体_GB2312" pitchFamily="49" charset="-122"/>
                <a:ea typeface="楷体_GB2312" pitchFamily="49" charset="-122"/>
              </a:rPr>
              <a:t>：单位长度的伸长量</a:t>
            </a:r>
          </a:p>
        </p:txBody>
      </p:sp>
      <p:graphicFrame>
        <p:nvGraphicFramePr>
          <p:cNvPr id="148489" name="Object 9"/>
          <p:cNvGraphicFramePr>
            <a:graphicFrameLocks noChangeAspect="1"/>
          </p:cNvGraphicFramePr>
          <p:nvPr/>
        </p:nvGraphicFramePr>
        <p:xfrm>
          <a:off x="5137150" y="3100388"/>
          <a:ext cx="514350" cy="620712"/>
        </p:xfrm>
        <a:graphic>
          <a:graphicData uri="http://schemas.openxmlformats.org/presentationml/2006/ole">
            <p:oleObj spid="_x0000_s1026" name="公式" r:id="rId3" imgW="368280" imgH="444240" progId="Equation.3">
              <p:embed/>
            </p:oleObj>
          </a:graphicData>
        </a:graphic>
      </p:graphicFrame>
      <p:sp>
        <p:nvSpPr>
          <p:cNvPr id="148490" name="Text Box 10"/>
          <p:cNvSpPr txBox="1">
            <a:spLocks noChangeArrowheads="1"/>
          </p:cNvSpPr>
          <p:nvPr/>
        </p:nvSpPr>
        <p:spPr bwMode="auto">
          <a:xfrm>
            <a:off x="1258888" y="4932363"/>
            <a:ext cx="5221287" cy="530225"/>
          </a:xfrm>
          <a:prstGeom prst="rect">
            <a:avLst/>
          </a:prstGeom>
          <a:noFill/>
          <a:ln w="9525">
            <a:noFill/>
            <a:miter lim="800000"/>
            <a:headEnd/>
            <a:tailEnd/>
          </a:ln>
        </p:spPr>
        <p:txBody>
          <a:bodyPr>
            <a:spAutoFit/>
          </a:bodyPr>
          <a:lstStyle/>
          <a:p>
            <a:pPr>
              <a:lnSpc>
                <a:spcPct val="120000"/>
              </a:lnSpc>
            </a:pPr>
            <a:r>
              <a:rPr lang="zh-CN" altLang="en-US" b="1">
                <a:solidFill>
                  <a:srgbClr val="008000"/>
                </a:solidFill>
                <a:latin typeface="楷体_GB2312" pitchFamily="49" charset="-122"/>
                <a:ea typeface="楷体_GB2312" pitchFamily="49" charset="-122"/>
              </a:rPr>
              <a:t>切应变</a:t>
            </a:r>
            <a:r>
              <a:rPr lang="zh-CN" altLang="en-US" b="1">
                <a:latin typeface="楷体_GB2312" pitchFamily="49" charset="-122"/>
                <a:ea typeface="楷体_GB2312" pitchFamily="49" charset="-122"/>
              </a:rPr>
              <a:t>：垂直于底面的直线所转的角</a:t>
            </a:r>
          </a:p>
        </p:txBody>
      </p:sp>
      <p:graphicFrame>
        <p:nvGraphicFramePr>
          <p:cNvPr id="148491" name="Object 11"/>
          <p:cNvGraphicFramePr>
            <a:graphicFrameLocks/>
          </p:cNvGraphicFramePr>
          <p:nvPr/>
        </p:nvGraphicFramePr>
        <p:xfrm>
          <a:off x="6405563" y="4894263"/>
          <a:ext cx="1119187" cy="622300"/>
        </p:xfrm>
        <a:graphic>
          <a:graphicData uri="http://schemas.openxmlformats.org/presentationml/2006/ole">
            <p:oleObj spid="_x0000_s1027" name="公式" r:id="rId4" imgW="799920" imgH="444240" progId="Equation.3">
              <p:embed/>
            </p:oleObj>
          </a:graphicData>
        </a:graphic>
      </p:graphicFrame>
      <p:sp>
        <p:nvSpPr>
          <p:cNvPr id="148492" name="Text Box 12"/>
          <p:cNvSpPr txBox="1">
            <a:spLocks noChangeArrowheads="1"/>
          </p:cNvSpPr>
          <p:nvPr/>
        </p:nvSpPr>
        <p:spPr bwMode="auto">
          <a:xfrm>
            <a:off x="1187450" y="4068763"/>
            <a:ext cx="3975100" cy="530225"/>
          </a:xfrm>
          <a:prstGeom prst="rect">
            <a:avLst/>
          </a:prstGeom>
          <a:noFill/>
          <a:ln w="9525">
            <a:noFill/>
            <a:miter lim="800000"/>
            <a:headEnd/>
            <a:tailEnd/>
          </a:ln>
        </p:spPr>
        <p:txBody>
          <a:bodyPr>
            <a:spAutoFit/>
          </a:bodyPr>
          <a:lstStyle/>
          <a:p>
            <a:pPr>
              <a:lnSpc>
                <a:spcPct val="120000"/>
              </a:lnSpc>
            </a:pPr>
            <a:r>
              <a:rPr lang="zh-CN" altLang="en-US" b="1">
                <a:solidFill>
                  <a:srgbClr val="008000"/>
                </a:solidFill>
                <a:latin typeface="楷体_GB2312" pitchFamily="49" charset="-122"/>
                <a:ea typeface="楷体_GB2312" pitchFamily="49" charset="-122"/>
              </a:rPr>
              <a:t>体应变</a:t>
            </a:r>
            <a:r>
              <a:rPr lang="zh-CN" altLang="en-US" b="1">
                <a:latin typeface="楷体_GB2312" pitchFamily="49" charset="-122"/>
                <a:ea typeface="楷体_GB2312" pitchFamily="49" charset="-122"/>
              </a:rPr>
              <a:t>：单位体积的变化量</a:t>
            </a:r>
          </a:p>
        </p:txBody>
      </p:sp>
      <p:graphicFrame>
        <p:nvGraphicFramePr>
          <p:cNvPr id="148493" name="Object 13"/>
          <p:cNvGraphicFramePr>
            <a:graphicFrameLocks noChangeAspect="1"/>
          </p:cNvGraphicFramePr>
          <p:nvPr/>
        </p:nvGraphicFramePr>
        <p:xfrm>
          <a:off x="5148263" y="4051300"/>
          <a:ext cx="622300" cy="622300"/>
        </p:xfrm>
        <a:graphic>
          <a:graphicData uri="http://schemas.openxmlformats.org/presentationml/2006/ole">
            <p:oleObj spid="_x0000_s1028" name="公式" r:id="rId5" imgW="444240" imgH="444240" progId="Equation.3">
              <p:embed/>
            </p:oleObj>
          </a:graphicData>
        </a:graphic>
      </p:graphicFrame>
      <p:grpSp>
        <p:nvGrpSpPr>
          <p:cNvPr id="2" name="Group 14"/>
          <p:cNvGrpSpPr>
            <a:grpSpLocks/>
          </p:cNvGrpSpPr>
          <p:nvPr/>
        </p:nvGrpSpPr>
        <p:grpSpPr bwMode="auto">
          <a:xfrm>
            <a:off x="6516688" y="3203575"/>
            <a:ext cx="1968500" cy="1262063"/>
            <a:chOff x="414" y="3162"/>
            <a:chExt cx="1240" cy="795"/>
          </a:xfrm>
        </p:grpSpPr>
        <p:sp>
          <p:nvSpPr>
            <p:cNvPr id="1037" name="AutoShape 15"/>
            <p:cNvSpPr>
              <a:spLocks noChangeAspect="1" noChangeArrowheads="1"/>
            </p:cNvSpPr>
            <p:nvPr/>
          </p:nvSpPr>
          <p:spPr bwMode="auto">
            <a:xfrm>
              <a:off x="669" y="3294"/>
              <a:ext cx="758" cy="625"/>
            </a:xfrm>
            <a:prstGeom prst="cube">
              <a:avLst>
                <a:gd name="adj" fmla="val 25000"/>
              </a:avLst>
            </a:prstGeom>
            <a:noFill/>
            <a:ln w="9525">
              <a:solidFill>
                <a:srgbClr val="FF0000"/>
              </a:solidFill>
              <a:miter lim="800000"/>
              <a:headEnd/>
              <a:tailEnd/>
            </a:ln>
          </p:spPr>
          <p:txBody>
            <a:bodyPr wrap="none" anchor="ctr"/>
            <a:lstStyle/>
            <a:p>
              <a:endParaRPr lang="zh-CN" altLang="en-US"/>
            </a:p>
          </p:txBody>
        </p:sp>
        <p:sp>
          <p:nvSpPr>
            <p:cNvPr id="1038" name="AutoShape 16"/>
            <p:cNvSpPr>
              <a:spLocks noChangeAspect="1" noChangeArrowheads="1"/>
            </p:cNvSpPr>
            <p:nvPr/>
          </p:nvSpPr>
          <p:spPr bwMode="auto">
            <a:xfrm>
              <a:off x="669" y="3436"/>
              <a:ext cx="771" cy="499"/>
            </a:xfrm>
            <a:prstGeom prst="parallelogram">
              <a:avLst>
                <a:gd name="adj" fmla="val 38627"/>
              </a:avLst>
            </a:prstGeom>
            <a:solidFill>
              <a:srgbClr val="00FFFF"/>
            </a:solidFill>
            <a:ln w="9525">
              <a:solidFill>
                <a:srgbClr val="0000FF"/>
              </a:solidFill>
              <a:prstDash val="dash"/>
              <a:miter lim="800000"/>
              <a:headEnd/>
              <a:tailEnd/>
            </a:ln>
          </p:spPr>
          <p:txBody>
            <a:bodyPr wrap="none" anchor="ctr"/>
            <a:lstStyle/>
            <a:p>
              <a:endParaRPr lang="zh-CN" altLang="en-US"/>
            </a:p>
          </p:txBody>
        </p:sp>
        <p:sp>
          <p:nvSpPr>
            <p:cNvPr id="1039" name="AutoShape 17"/>
            <p:cNvSpPr>
              <a:spLocks noChangeAspect="1" noChangeArrowheads="1"/>
            </p:cNvSpPr>
            <p:nvPr/>
          </p:nvSpPr>
          <p:spPr bwMode="auto">
            <a:xfrm>
              <a:off x="867" y="3282"/>
              <a:ext cx="728" cy="154"/>
            </a:xfrm>
            <a:prstGeom prst="parallelogram">
              <a:avLst>
                <a:gd name="adj" fmla="val 118182"/>
              </a:avLst>
            </a:prstGeom>
            <a:solidFill>
              <a:srgbClr val="00FFFF"/>
            </a:solidFill>
            <a:ln w="9525">
              <a:solidFill>
                <a:srgbClr val="0000FF"/>
              </a:solidFill>
              <a:prstDash val="dash"/>
              <a:miter lim="800000"/>
              <a:headEnd/>
              <a:tailEnd/>
            </a:ln>
          </p:spPr>
          <p:txBody>
            <a:bodyPr wrap="none" anchor="ctr"/>
            <a:lstStyle/>
            <a:p>
              <a:endParaRPr lang="zh-CN" altLang="en-US"/>
            </a:p>
          </p:txBody>
        </p:sp>
        <p:sp>
          <p:nvSpPr>
            <p:cNvPr id="1040" name="AutoShape 18"/>
            <p:cNvSpPr>
              <a:spLocks noChangeAspect="1" noChangeArrowheads="1"/>
            </p:cNvSpPr>
            <p:nvPr/>
          </p:nvSpPr>
          <p:spPr bwMode="auto">
            <a:xfrm rot="6236272" flipV="1">
              <a:off x="1061" y="3526"/>
              <a:ext cx="691" cy="171"/>
            </a:xfrm>
            <a:prstGeom prst="parallelogram">
              <a:avLst>
                <a:gd name="adj" fmla="val 101023"/>
              </a:avLst>
            </a:prstGeom>
            <a:solidFill>
              <a:srgbClr val="00FFFF"/>
            </a:solidFill>
            <a:ln w="9525">
              <a:solidFill>
                <a:srgbClr val="0000FF"/>
              </a:solidFill>
              <a:prstDash val="dash"/>
              <a:miter lim="800000"/>
              <a:headEnd/>
              <a:tailEnd/>
            </a:ln>
          </p:spPr>
          <p:txBody>
            <a:bodyPr wrap="none" anchor="ctr"/>
            <a:lstStyle/>
            <a:p>
              <a:endParaRPr lang="zh-CN" altLang="en-US"/>
            </a:p>
          </p:txBody>
        </p:sp>
        <p:sp>
          <p:nvSpPr>
            <p:cNvPr id="1041" name="Line 19"/>
            <p:cNvSpPr>
              <a:spLocks noChangeAspect="1" noChangeShapeType="1"/>
            </p:cNvSpPr>
            <p:nvPr/>
          </p:nvSpPr>
          <p:spPr bwMode="auto">
            <a:xfrm>
              <a:off x="1292" y="3351"/>
              <a:ext cx="362" cy="1"/>
            </a:xfrm>
            <a:prstGeom prst="line">
              <a:avLst/>
            </a:prstGeom>
            <a:noFill/>
            <a:ln w="34925">
              <a:solidFill>
                <a:srgbClr val="FF0000"/>
              </a:solidFill>
              <a:round/>
              <a:headEnd/>
              <a:tailEnd type="triangle" w="med" len="lg"/>
            </a:ln>
          </p:spPr>
          <p:txBody>
            <a:bodyPr wrap="none" anchor="ctr"/>
            <a:lstStyle/>
            <a:p>
              <a:endParaRPr lang="zh-CN" altLang="en-US"/>
            </a:p>
          </p:txBody>
        </p:sp>
        <p:sp>
          <p:nvSpPr>
            <p:cNvPr id="1042" name="Line 20"/>
            <p:cNvSpPr>
              <a:spLocks noChangeAspect="1" noChangeShapeType="1"/>
            </p:cNvSpPr>
            <p:nvPr/>
          </p:nvSpPr>
          <p:spPr bwMode="auto">
            <a:xfrm flipV="1">
              <a:off x="669" y="3195"/>
              <a:ext cx="1" cy="263"/>
            </a:xfrm>
            <a:prstGeom prst="line">
              <a:avLst/>
            </a:prstGeom>
            <a:noFill/>
            <a:ln w="9525">
              <a:solidFill>
                <a:schemeClr val="tx1"/>
              </a:solidFill>
              <a:prstDash val="dash"/>
              <a:round/>
              <a:headEnd/>
              <a:tailEnd/>
            </a:ln>
          </p:spPr>
          <p:txBody>
            <a:bodyPr wrap="none" anchor="ctr"/>
            <a:lstStyle/>
            <a:p>
              <a:endParaRPr lang="zh-CN" altLang="en-US"/>
            </a:p>
          </p:txBody>
        </p:sp>
        <p:sp>
          <p:nvSpPr>
            <p:cNvPr id="1043" name="Line 21"/>
            <p:cNvSpPr>
              <a:spLocks noChangeAspect="1" noChangeShapeType="1"/>
            </p:cNvSpPr>
            <p:nvPr/>
          </p:nvSpPr>
          <p:spPr bwMode="auto">
            <a:xfrm flipV="1">
              <a:off x="867" y="3162"/>
              <a:ext cx="2" cy="313"/>
            </a:xfrm>
            <a:prstGeom prst="line">
              <a:avLst/>
            </a:prstGeom>
            <a:noFill/>
            <a:ln w="9525">
              <a:solidFill>
                <a:schemeClr val="tx1"/>
              </a:solidFill>
              <a:prstDash val="dash"/>
              <a:round/>
              <a:headEnd/>
              <a:tailEnd/>
            </a:ln>
          </p:spPr>
          <p:txBody>
            <a:bodyPr wrap="none" anchor="ctr"/>
            <a:lstStyle/>
            <a:p>
              <a:endParaRPr lang="zh-CN" altLang="en-US"/>
            </a:p>
          </p:txBody>
        </p:sp>
        <p:sp>
          <p:nvSpPr>
            <p:cNvPr id="1044" name="Line 22"/>
            <p:cNvSpPr>
              <a:spLocks noChangeAspect="1" noChangeShapeType="1"/>
            </p:cNvSpPr>
            <p:nvPr/>
          </p:nvSpPr>
          <p:spPr bwMode="auto">
            <a:xfrm flipH="1">
              <a:off x="470" y="3436"/>
              <a:ext cx="192" cy="1"/>
            </a:xfrm>
            <a:prstGeom prst="line">
              <a:avLst/>
            </a:prstGeom>
            <a:noFill/>
            <a:ln w="9525">
              <a:solidFill>
                <a:schemeClr val="tx1"/>
              </a:solidFill>
              <a:prstDash val="dash"/>
              <a:round/>
              <a:headEnd/>
              <a:tailEnd/>
            </a:ln>
          </p:spPr>
          <p:txBody>
            <a:bodyPr wrap="none" anchor="ctr"/>
            <a:lstStyle/>
            <a:p>
              <a:endParaRPr lang="zh-CN" altLang="en-US"/>
            </a:p>
          </p:txBody>
        </p:sp>
        <p:sp>
          <p:nvSpPr>
            <p:cNvPr id="1045" name="Line 23"/>
            <p:cNvSpPr>
              <a:spLocks noChangeAspect="1" noChangeShapeType="1"/>
            </p:cNvSpPr>
            <p:nvPr/>
          </p:nvSpPr>
          <p:spPr bwMode="auto">
            <a:xfrm flipH="1">
              <a:off x="484" y="3946"/>
              <a:ext cx="192" cy="1"/>
            </a:xfrm>
            <a:prstGeom prst="line">
              <a:avLst/>
            </a:prstGeom>
            <a:noFill/>
            <a:ln w="9525">
              <a:solidFill>
                <a:schemeClr val="tx1"/>
              </a:solidFill>
              <a:prstDash val="dash"/>
              <a:round/>
              <a:headEnd/>
              <a:tailEnd/>
            </a:ln>
          </p:spPr>
          <p:txBody>
            <a:bodyPr wrap="none" anchor="ctr"/>
            <a:lstStyle/>
            <a:p>
              <a:endParaRPr lang="zh-CN" altLang="en-US"/>
            </a:p>
          </p:txBody>
        </p:sp>
        <p:sp>
          <p:nvSpPr>
            <p:cNvPr id="1046" name="Line 24"/>
            <p:cNvSpPr>
              <a:spLocks noChangeAspect="1" noChangeShapeType="1"/>
            </p:cNvSpPr>
            <p:nvPr/>
          </p:nvSpPr>
          <p:spPr bwMode="auto">
            <a:xfrm>
              <a:off x="580" y="3438"/>
              <a:ext cx="1" cy="499"/>
            </a:xfrm>
            <a:prstGeom prst="line">
              <a:avLst/>
            </a:prstGeom>
            <a:noFill/>
            <a:ln w="9525">
              <a:solidFill>
                <a:schemeClr val="tx1"/>
              </a:solidFill>
              <a:prstDash val="dash"/>
              <a:round/>
              <a:headEnd type="triangle" w="med" len="med"/>
              <a:tailEnd type="triangle" w="med" len="med"/>
            </a:ln>
          </p:spPr>
          <p:txBody>
            <a:bodyPr wrap="none" anchor="ctr"/>
            <a:lstStyle/>
            <a:p>
              <a:endParaRPr lang="zh-CN" altLang="en-US"/>
            </a:p>
          </p:txBody>
        </p:sp>
        <p:sp>
          <p:nvSpPr>
            <p:cNvPr id="1047" name="Line 25"/>
            <p:cNvSpPr>
              <a:spLocks noChangeAspect="1" noChangeShapeType="1"/>
            </p:cNvSpPr>
            <p:nvPr/>
          </p:nvSpPr>
          <p:spPr bwMode="auto">
            <a:xfrm>
              <a:off x="669" y="3265"/>
              <a:ext cx="192" cy="1"/>
            </a:xfrm>
            <a:prstGeom prst="line">
              <a:avLst/>
            </a:prstGeom>
            <a:noFill/>
            <a:ln w="9525">
              <a:solidFill>
                <a:schemeClr val="tx1"/>
              </a:solidFill>
              <a:prstDash val="dash"/>
              <a:round/>
              <a:headEnd type="triangle" w="med" len="med"/>
              <a:tailEnd type="triangle" w="med" len="med"/>
            </a:ln>
          </p:spPr>
          <p:txBody>
            <a:bodyPr wrap="none" anchor="ctr"/>
            <a:lstStyle/>
            <a:p>
              <a:endParaRPr lang="zh-CN" altLang="en-US"/>
            </a:p>
          </p:txBody>
        </p:sp>
        <p:sp>
          <p:nvSpPr>
            <p:cNvPr id="1048" name="Arc 26"/>
            <p:cNvSpPr>
              <a:spLocks noChangeAspect="1"/>
            </p:cNvSpPr>
            <p:nvPr/>
          </p:nvSpPr>
          <p:spPr bwMode="auto">
            <a:xfrm>
              <a:off x="669" y="3710"/>
              <a:ext cx="87" cy="38"/>
            </a:xfrm>
            <a:custGeom>
              <a:avLst/>
              <a:gdLst>
                <a:gd name="T0" fmla="*/ 0 w 16394"/>
                <a:gd name="T1" fmla="*/ 0 h 21600"/>
                <a:gd name="T2" fmla="*/ 0 w 16394"/>
                <a:gd name="T3" fmla="*/ 0 h 21600"/>
                <a:gd name="T4" fmla="*/ 0 w 16394"/>
                <a:gd name="T5" fmla="*/ 0 h 21600"/>
                <a:gd name="T6" fmla="*/ 0 60000 65536"/>
                <a:gd name="T7" fmla="*/ 0 60000 65536"/>
                <a:gd name="T8" fmla="*/ 0 60000 65536"/>
                <a:gd name="T9" fmla="*/ 0 w 16394"/>
                <a:gd name="T10" fmla="*/ 0 h 21600"/>
                <a:gd name="T11" fmla="*/ 16394 w 16394"/>
                <a:gd name="T12" fmla="*/ 21600 h 21600"/>
              </a:gdLst>
              <a:ahLst/>
              <a:cxnLst>
                <a:cxn ang="T6">
                  <a:pos x="T0" y="T1"/>
                </a:cxn>
                <a:cxn ang="T7">
                  <a:pos x="T2" y="T3"/>
                </a:cxn>
                <a:cxn ang="T8">
                  <a:pos x="T4" y="T5"/>
                </a:cxn>
              </a:cxnLst>
              <a:rect l="T9" t="T10" r="T11" b="T12"/>
              <a:pathLst>
                <a:path w="16394" h="21600" fill="none" extrusionOk="0">
                  <a:moveTo>
                    <a:pt x="-1" y="0"/>
                  </a:moveTo>
                  <a:cubicBezTo>
                    <a:pt x="6302" y="0"/>
                    <a:pt x="12290" y="2752"/>
                    <a:pt x="16394" y="7535"/>
                  </a:cubicBezTo>
                </a:path>
                <a:path w="16394" h="21600" stroke="0" extrusionOk="0">
                  <a:moveTo>
                    <a:pt x="-1" y="0"/>
                  </a:moveTo>
                  <a:cubicBezTo>
                    <a:pt x="6302" y="0"/>
                    <a:pt x="12290" y="2752"/>
                    <a:pt x="16394" y="7535"/>
                  </a:cubicBezTo>
                  <a:lnTo>
                    <a:pt x="0" y="21600"/>
                  </a:lnTo>
                  <a:close/>
                </a:path>
              </a:pathLst>
            </a:custGeom>
            <a:noFill/>
            <a:ln w="9525">
              <a:solidFill>
                <a:schemeClr val="tx1"/>
              </a:solidFill>
              <a:round/>
              <a:headEnd/>
              <a:tailEnd/>
            </a:ln>
          </p:spPr>
          <p:txBody>
            <a:bodyPr wrap="none" anchor="ctr"/>
            <a:lstStyle/>
            <a:p>
              <a:endParaRPr lang="zh-CN" altLang="en-US"/>
            </a:p>
          </p:txBody>
        </p:sp>
        <p:sp>
          <p:nvSpPr>
            <p:cNvPr id="1049" name="Text Box 27"/>
            <p:cNvSpPr txBox="1">
              <a:spLocks noChangeAspect="1" noChangeArrowheads="1"/>
            </p:cNvSpPr>
            <p:nvPr/>
          </p:nvSpPr>
          <p:spPr bwMode="auto">
            <a:xfrm>
              <a:off x="669" y="3181"/>
              <a:ext cx="236" cy="283"/>
            </a:xfrm>
            <a:prstGeom prst="rect">
              <a:avLst/>
            </a:prstGeom>
            <a:noFill/>
            <a:ln w="9525">
              <a:noFill/>
              <a:prstDash val="dash"/>
              <a:miter lim="800000"/>
              <a:headEnd/>
              <a:tailEnd/>
            </a:ln>
          </p:spPr>
          <p:txBody>
            <a:bodyPr/>
            <a:lstStyle/>
            <a:p>
              <a:pPr>
                <a:lnSpc>
                  <a:spcPct val="120000"/>
                </a:lnSpc>
              </a:pPr>
              <a:r>
                <a:rPr lang="en-US" altLang="zh-CN" b="1" i="1"/>
                <a:t>x</a:t>
              </a:r>
            </a:p>
          </p:txBody>
        </p:sp>
        <p:sp>
          <p:nvSpPr>
            <p:cNvPr id="1050" name="Text Box 28"/>
            <p:cNvSpPr txBox="1">
              <a:spLocks noChangeAspect="1" noChangeArrowheads="1"/>
            </p:cNvSpPr>
            <p:nvPr/>
          </p:nvSpPr>
          <p:spPr bwMode="auto">
            <a:xfrm>
              <a:off x="414" y="3549"/>
              <a:ext cx="255" cy="284"/>
            </a:xfrm>
            <a:prstGeom prst="rect">
              <a:avLst/>
            </a:prstGeom>
            <a:noFill/>
            <a:ln w="9525">
              <a:noFill/>
              <a:prstDash val="dash"/>
              <a:miter lim="800000"/>
              <a:headEnd/>
              <a:tailEnd/>
            </a:ln>
          </p:spPr>
          <p:txBody>
            <a:bodyPr/>
            <a:lstStyle/>
            <a:p>
              <a:pPr>
                <a:lnSpc>
                  <a:spcPct val="120000"/>
                </a:lnSpc>
              </a:pPr>
              <a:r>
                <a:rPr lang="en-US" altLang="zh-CN" b="1" i="1"/>
                <a:t>d</a:t>
              </a:r>
            </a:p>
          </p:txBody>
        </p:sp>
        <p:graphicFrame>
          <p:nvGraphicFramePr>
            <p:cNvPr id="1029" name="Object 29"/>
            <p:cNvGraphicFramePr>
              <a:graphicFrameLocks noChangeAspect="1"/>
            </p:cNvGraphicFramePr>
            <p:nvPr/>
          </p:nvGraphicFramePr>
          <p:xfrm>
            <a:off x="669" y="3549"/>
            <a:ext cx="120" cy="142"/>
          </p:xfrm>
          <a:graphic>
            <a:graphicData uri="http://schemas.openxmlformats.org/presentationml/2006/ole">
              <p:oleObj spid="_x0000_s1029" name="公式" r:id="rId6" imgW="139680" imgH="16488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8485"/>
                                        </p:tgtEl>
                                        <p:attrNameLst>
                                          <p:attrName>style.visibility</p:attrName>
                                        </p:attrNameLst>
                                      </p:cBhvr>
                                      <p:to>
                                        <p:strVal val="visible"/>
                                      </p:to>
                                    </p:set>
                                    <p:animEffect transition="in" filter="wipe(left)">
                                      <p:cBhvr>
                                        <p:cTn id="7" dur="1000"/>
                                        <p:tgtEl>
                                          <p:spTgt spid="14848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8486"/>
                                        </p:tgtEl>
                                        <p:attrNameLst>
                                          <p:attrName>style.visibility</p:attrName>
                                        </p:attrNameLst>
                                      </p:cBhvr>
                                      <p:to>
                                        <p:strVal val="visible"/>
                                      </p:to>
                                    </p:set>
                                    <p:animEffect transition="in" filter="wipe(left)">
                                      <p:cBhvr>
                                        <p:cTn id="12" dur="1000"/>
                                        <p:tgtEl>
                                          <p:spTgt spid="1484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8487"/>
                                        </p:tgtEl>
                                        <p:attrNameLst>
                                          <p:attrName>style.visibility</p:attrName>
                                        </p:attrNameLst>
                                      </p:cBhvr>
                                      <p:to>
                                        <p:strVal val="visible"/>
                                      </p:to>
                                    </p:set>
                                    <p:animEffect transition="in" filter="wipe(left)">
                                      <p:cBhvr>
                                        <p:cTn id="17" dur="1000"/>
                                        <p:tgtEl>
                                          <p:spTgt spid="1484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8488"/>
                                        </p:tgtEl>
                                        <p:attrNameLst>
                                          <p:attrName>style.visibility</p:attrName>
                                        </p:attrNameLst>
                                      </p:cBhvr>
                                      <p:to>
                                        <p:strVal val="visible"/>
                                      </p:to>
                                    </p:set>
                                    <p:animEffect transition="in" filter="wipe(left)">
                                      <p:cBhvr>
                                        <p:cTn id="22" dur="1000"/>
                                        <p:tgtEl>
                                          <p:spTgt spid="148488"/>
                                        </p:tgtEl>
                                      </p:cBhvr>
                                    </p:animEffect>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148489"/>
                                        </p:tgtEl>
                                        <p:attrNameLst>
                                          <p:attrName>style.visibility</p:attrName>
                                        </p:attrNameLst>
                                      </p:cBhvr>
                                      <p:to>
                                        <p:strVal val="visible"/>
                                      </p:to>
                                    </p:set>
                                    <p:animEffect transition="in" filter="wipe(left)">
                                      <p:cBhvr>
                                        <p:cTn id="26" dur="1000"/>
                                        <p:tgtEl>
                                          <p:spTgt spid="14848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8492"/>
                                        </p:tgtEl>
                                        <p:attrNameLst>
                                          <p:attrName>style.visibility</p:attrName>
                                        </p:attrNameLst>
                                      </p:cBhvr>
                                      <p:to>
                                        <p:strVal val="visible"/>
                                      </p:to>
                                    </p:set>
                                    <p:animEffect transition="in" filter="wipe(left)">
                                      <p:cBhvr>
                                        <p:cTn id="31" dur="1000"/>
                                        <p:tgtEl>
                                          <p:spTgt spid="148492"/>
                                        </p:tgtEl>
                                      </p:cBhvr>
                                    </p:animEffect>
                                  </p:childTnLst>
                                </p:cTn>
                              </p:par>
                            </p:childTnLst>
                          </p:cTn>
                        </p:par>
                        <p:par>
                          <p:cTn id="32" fill="hold">
                            <p:stCondLst>
                              <p:cond delay="1000"/>
                            </p:stCondLst>
                            <p:childTnLst>
                              <p:par>
                                <p:cTn id="33" presetID="22" presetClass="entr" presetSubtype="8" fill="hold" nodeType="afterEffect">
                                  <p:stCondLst>
                                    <p:cond delay="0"/>
                                  </p:stCondLst>
                                  <p:childTnLst>
                                    <p:set>
                                      <p:cBhvr>
                                        <p:cTn id="34" dur="1" fill="hold">
                                          <p:stCondLst>
                                            <p:cond delay="0"/>
                                          </p:stCondLst>
                                        </p:cTn>
                                        <p:tgtEl>
                                          <p:spTgt spid="148493"/>
                                        </p:tgtEl>
                                        <p:attrNameLst>
                                          <p:attrName>style.visibility</p:attrName>
                                        </p:attrNameLst>
                                      </p:cBhvr>
                                      <p:to>
                                        <p:strVal val="visible"/>
                                      </p:to>
                                    </p:set>
                                    <p:animEffect transition="in" filter="wipe(left)">
                                      <p:cBhvr>
                                        <p:cTn id="35" dur="1000"/>
                                        <p:tgtEl>
                                          <p:spTgt spid="14849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48490"/>
                                        </p:tgtEl>
                                        <p:attrNameLst>
                                          <p:attrName>style.visibility</p:attrName>
                                        </p:attrNameLst>
                                      </p:cBhvr>
                                      <p:to>
                                        <p:strVal val="visible"/>
                                      </p:to>
                                    </p:set>
                                    <p:animEffect transition="in" filter="wipe(left)">
                                      <p:cBhvr>
                                        <p:cTn id="40" dur="1000"/>
                                        <p:tgtEl>
                                          <p:spTgt spid="14849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wipe(left)">
                                      <p:cBhvr>
                                        <p:cTn id="45" dur="1000"/>
                                        <p:tgtEl>
                                          <p:spTgt spid="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48491"/>
                                        </p:tgtEl>
                                        <p:attrNameLst>
                                          <p:attrName>style.visibility</p:attrName>
                                        </p:attrNameLst>
                                      </p:cBhvr>
                                      <p:to>
                                        <p:strVal val="visible"/>
                                      </p:to>
                                    </p:set>
                                    <p:animEffect transition="in" filter="wipe(left)">
                                      <p:cBhvr>
                                        <p:cTn id="50" dur="1000"/>
                                        <p:tgtEl>
                                          <p:spTgt spid="1484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5" grpId="0"/>
      <p:bldP spid="148486" grpId="0"/>
      <p:bldP spid="148487" grpId="0"/>
      <p:bldP spid="148488" grpId="0"/>
      <p:bldP spid="148490" grpId="0"/>
      <p:bldP spid="14849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492" name="Object 4"/>
          <p:cNvGraphicFramePr>
            <a:graphicFrameLocks noChangeAspect="1"/>
          </p:cNvGraphicFramePr>
          <p:nvPr/>
        </p:nvGraphicFramePr>
        <p:xfrm>
          <a:off x="608013" y="981075"/>
          <a:ext cx="596900" cy="320675"/>
        </p:xfrm>
        <a:graphic>
          <a:graphicData uri="http://schemas.openxmlformats.org/presentationml/2006/ole">
            <p:oleObj spid="_x0000_s2050" name="公式" r:id="rId3" imgW="330120" imgH="177480" progId="Equation.3">
              <p:embed/>
            </p:oleObj>
          </a:graphicData>
        </a:graphic>
      </p:graphicFrame>
      <p:sp>
        <p:nvSpPr>
          <p:cNvPr id="63493" name="Rectangle 5"/>
          <p:cNvSpPr>
            <a:spLocks noChangeArrowheads="1"/>
          </p:cNvSpPr>
          <p:nvPr/>
        </p:nvSpPr>
        <p:spPr bwMode="auto">
          <a:xfrm>
            <a:off x="7423150" y="1052513"/>
            <a:ext cx="796925" cy="457200"/>
          </a:xfrm>
          <a:prstGeom prst="rect">
            <a:avLst/>
          </a:prstGeom>
          <a:noFill/>
          <a:ln w="9525">
            <a:noFill/>
            <a:miter lim="800000"/>
            <a:headEnd/>
            <a:tailEnd/>
          </a:ln>
        </p:spPr>
        <p:txBody>
          <a:bodyPr wrap="none">
            <a:spAutoFit/>
          </a:bodyPr>
          <a:lstStyle/>
          <a:p>
            <a:r>
              <a:rPr lang="zh-CN" altLang="en-US" b="1">
                <a:solidFill>
                  <a:schemeClr val="accent2"/>
                </a:solidFill>
                <a:latin typeface="楷体_GB2312" pitchFamily="49" charset="-122"/>
                <a:ea typeface="楷体_GB2312" pitchFamily="49" charset="-122"/>
              </a:rPr>
              <a:t>静止</a:t>
            </a:r>
            <a:endParaRPr lang="zh-CN" altLang="en-US">
              <a:solidFill>
                <a:schemeClr val="accent2"/>
              </a:solidFill>
              <a:latin typeface="楷体_GB2312" pitchFamily="49" charset="-122"/>
              <a:ea typeface="楷体_GB2312" pitchFamily="49" charset="-122"/>
            </a:endParaRPr>
          </a:p>
        </p:txBody>
      </p:sp>
      <p:grpSp>
        <p:nvGrpSpPr>
          <p:cNvPr id="2" name="Group 6"/>
          <p:cNvGrpSpPr>
            <a:grpSpLocks/>
          </p:cNvGrpSpPr>
          <p:nvPr/>
        </p:nvGrpSpPr>
        <p:grpSpPr bwMode="auto">
          <a:xfrm>
            <a:off x="1403350" y="1052513"/>
            <a:ext cx="5943600" cy="625475"/>
            <a:chOff x="864" y="1824"/>
            <a:chExt cx="3744" cy="460"/>
          </a:xfrm>
        </p:grpSpPr>
        <p:sp>
          <p:nvSpPr>
            <p:cNvPr id="2126" name="Line 7"/>
            <p:cNvSpPr>
              <a:spLocks noChangeShapeType="1"/>
            </p:cNvSpPr>
            <p:nvPr/>
          </p:nvSpPr>
          <p:spPr bwMode="auto">
            <a:xfrm>
              <a:off x="960" y="1896"/>
              <a:ext cx="3504" cy="24"/>
            </a:xfrm>
            <a:prstGeom prst="line">
              <a:avLst/>
            </a:prstGeom>
            <a:noFill/>
            <a:ln w="9525">
              <a:solidFill>
                <a:schemeClr val="tx2"/>
              </a:solidFill>
              <a:round/>
              <a:headEnd/>
              <a:tailEnd/>
            </a:ln>
          </p:spPr>
          <p:txBody>
            <a:bodyPr wrap="none" anchor="ctr"/>
            <a:lstStyle/>
            <a:p>
              <a:endParaRPr lang="zh-CN" altLang="en-US"/>
            </a:p>
          </p:txBody>
        </p:sp>
        <p:sp>
          <p:nvSpPr>
            <p:cNvPr id="2127" name="Rectangle 8"/>
            <p:cNvSpPr>
              <a:spLocks noChangeArrowheads="1"/>
            </p:cNvSpPr>
            <p:nvPr/>
          </p:nvSpPr>
          <p:spPr bwMode="auto">
            <a:xfrm>
              <a:off x="864" y="1992"/>
              <a:ext cx="3744" cy="292"/>
            </a:xfrm>
            <a:prstGeom prst="rect">
              <a:avLst/>
            </a:prstGeom>
            <a:noFill/>
            <a:ln w="9525">
              <a:noFill/>
              <a:miter lim="800000"/>
              <a:headEnd/>
              <a:tailEnd/>
            </a:ln>
          </p:spPr>
          <p:txBody>
            <a:bodyPr>
              <a:spAutoFit/>
            </a:bodyPr>
            <a:lstStyle/>
            <a:p>
              <a:r>
                <a:rPr lang="en-US" altLang="zh-CN" sz="2000">
                  <a:latin typeface="Bookman Old Style" pitchFamily="18" charset="0"/>
                  <a:ea typeface="魏碑体" charset="-122"/>
                </a:rPr>
                <a:t> </a:t>
              </a:r>
              <a:r>
                <a:rPr lang="en-US" altLang="zh-CN" sz="2000">
                  <a:ea typeface="魏碑体" charset="-122"/>
                </a:rPr>
                <a:t>1    2      3      4      5     6    7      8     9   10   11   12   13</a:t>
              </a:r>
              <a:endParaRPr lang="en-US" altLang="zh-CN"/>
            </a:p>
          </p:txBody>
        </p:sp>
        <p:sp>
          <p:nvSpPr>
            <p:cNvPr id="2128" name="Oval 9"/>
            <p:cNvSpPr>
              <a:spLocks noChangeArrowheads="1"/>
            </p:cNvSpPr>
            <p:nvPr/>
          </p:nvSpPr>
          <p:spPr bwMode="auto">
            <a:xfrm>
              <a:off x="1248" y="1824"/>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29" name="Oval 10"/>
            <p:cNvSpPr>
              <a:spLocks noChangeArrowheads="1"/>
            </p:cNvSpPr>
            <p:nvPr/>
          </p:nvSpPr>
          <p:spPr bwMode="auto">
            <a:xfrm>
              <a:off x="960" y="1824"/>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30" name="Oval 11"/>
            <p:cNvSpPr>
              <a:spLocks noChangeArrowheads="1"/>
            </p:cNvSpPr>
            <p:nvPr/>
          </p:nvSpPr>
          <p:spPr bwMode="auto">
            <a:xfrm>
              <a:off x="1536" y="1824"/>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31" name="Oval 12"/>
            <p:cNvSpPr>
              <a:spLocks noChangeArrowheads="1"/>
            </p:cNvSpPr>
            <p:nvPr/>
          </p:nvSpPr>
          <p:spPr bwMode="auto">
            <a:xfrm>
              <a:off x="1848" y="1824"/>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32" name="Oval 13"/>
            <p:cNvSpPr>
              <a:spLocks noChangeArrowheads="1"/>
            </p:cNvSpPr>
            <p:nvPr/>
          </p:nvSpPr>
          <p:spPr bwMode="auto">
            <a:xfrm>
              <a:off x="2124" y="1836"/>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33" name="Oval 14"/>
            <p:cNvSpPr>
              <a:spLocks noChangeArrowheads="1"/>
            </p:cNvSpPr>
            <p:nvPr/>
          </p:nvSpPr>
          <p:spPr bwMode="auto">
            <a:xfrm>
              <a:off x="2424" y="1824"/>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34" name="Oval 15"/>
            <p:cNvSpPr>
              <a:spLocks noChangeArrowheads="1"/>
            </p:cNvSpPr>
            <p:nvPr/>
          </p:nvSpPr>
          <p:spPr bwMode="auto">
            <a:xfrm>
              <a:off x="2700" y="1824"/>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35" name="Oval 16"/>
            <p:cNvSpPr>
              <a:spLocks noChangeArrowheads="1"/>
            </p:cNvSpPr>
            <p:nvPr/>
          </p:nvSpPr>
          <p:spPr bwMode="auto">
            <a:xfrm>
              <a:off x="3000" y="1836"/>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36" name="Oval 17"/>
            <p:cNvSpPr>
              <a:spLocks noChangeArrowheads="1"/>
            </p:cNvSpPr>
            <p:nvPr/>
          </p:nvSpPr>
          <p:spPr bwMode="auto">
            <a:xfrm>
              <a:off x="3264" y="1836"/>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37" name="Oval 18"/>
            <p:cNvSpPr>
              <a:spLocks noChangeArrowheads="1"/>
            </p:cNvSpPr>
            <p:nvPr/>
          </p:nvSpPr>
          <p:spPr bwMode="auto">
            <a:xfrm>
              <a:off x="3540" y="1836"/>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38" name="Oval 19"/>
            <p:cNvSpPr>
              <a:spLocks noChangeArrowheads="1"/>
            </p:cNvSpPr>
            <p:nvPr/>
          </p:nvSpPr>
          <p:spPr bwMode="auto">
            <a:xfrm>
              <a:off x="3804" y="1848"/>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39" name="Oval 20"/>
            <p:cNvSpPr>
              <a:spLocks noChangeArrowheads="1"/>
            </p:cNvSpPr>
            <p:nvPr/>
          </p:nvSpPr>
          <p:spPr bwMode="auto">
            <a:xfrm>
              <a:off x="4344" y="1848"/>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40" name="Oval 21"/>
            <p:cNvSpPr>
              <a:spLocks noChangeArrowheads="1"/>
            </p:cNvSpPr>
            <p:nvPr/>
          </p:nvSpPr>
          <p:spPr bwMode="auto">
            <a:xfrm>
              <a:off x="4092" y="1848"/>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grpSp>
      <p:sp>
        <p:nvSpPr>
          <p:cNvPr id="63510" name="Line 22"/>
          <p:cNvSpPr>
            <a:spLocks noChangeShapeType="1"/>
          </p:cNvSpPr>
          <p:nvPr/>
        </p:nvSpPr>
        <p:spPr bwMode="auto">
          <a:xfrm flipV="1">
            <a:off x="1631950" y="900113"/>
            <a:ext cx="0" cy="247650"/>
          </a:xfrm>
          <a:prstGeom prst="line">
            <a:avLst/>
          </a:prstGeom>
          <a:noFill/>
          <a:ln w="9525">
            <a:solidFill>
              <a:srgbClr val="FF3300"/>
            </a:solidFill>
            <a:round/>
            <a:headEnd/>
            <a:tailEnd type="triangle" w="med" len="med"/>
          </a:ln>
        </p:spPr>
        <p:txBody>
          <a:bodyPr wrap="none" anchor="ctr"/>
          <a:lstStyle/>
          <a:p>
            <a:endParaRPr lang="zh-CN" altLang="en-US"/>
          </a:p>
        </p:txBody>
      </p:sp>
      <p:graphicFrame>
        <p:nvGraphicFramePr>
          <p:cNvPr id="63511" name="Object 23"/>
          <p:cNvGraphicFramePr>
            <a:graphicFrameLocks noChangeAspect="1"/>
          </p:cNvGraphicFramePr>
          <p:nvPr/>
        </p:nvGraphicFramePr>
        <p:xfrm>
          <a:off x="536575" y="2205038"/>
          <a:ext cx="687388" cy="733425"/>
        </p:xfrm>
        <a:graphic>
          <a:graphicData uri="http://schemas.openxmlformats.org/presentationml/2006/ole">
            <p:oleObj spid="_x0000_s2051" name="公式" r:id="rId4" imgW="380880" imgH="406080" progId="Equation.3">
              <p:embed/>
            </p:oleObj>
          </a:graphicData>
        </a:graphic>
      </p:graphicFrame>
      <p:grpSp>
        <p:nvGrpSpPr>
          <p:cNvPr id="3" name="Group 24"/>
          <p:cNvGrpSpPr>
            <a:grpSpLocks/>
          </p:cNvGrpSpPr>
          <p:nvPr/>
        </p:nvGrpSpPr>
        <p:grpSpPr bwMode="auto">
          <a:xfrm>
            <a:off x="1258888" y="1771650"/>
            <a:ext cx="5943600" cy="1320800"/>
            <a:chOff x="816" y="2304"/>
            <a:chExt cx="3744" cy="840"/>
          </a:xfrm>
        </p:grpSpPr>
        <p:sp>
          <p:nvSpPr>
            <p:cNvPr id="2111" name="Line 25"/>
            <p:cNvSpPr>
              <a:spLocks noChangeShapeType="1"/>
            </p:cNvSpPr>
            <p:nvPr/>
          </p:nvSpPr>
          <p:spPr bwMode="auto">
            <a:xfrm>
              <a:off x="876" y="2820"/>
              <a:ext cx="3504" cy="24"/>
            </a:xfrm>
            <a:prstGeom prst="line">
              <a:avLst/>
            </a:prstGeom>
            <a:noFill/>
            <a:ln w="9525">
              <a:solidFill>
                <a:schemeClr val="tx2"/>
              </a:solidFill>
              <a:round/>
              <a:headEnd/>
              <a:tailEnd/>
            </a:ln>
          </p:spPr>
          <p:txBody>
            <a:bodyPr wrap="none" anchor="ctr"/>
            <a:lstStyle/>
            <a:p>
              <a:endParaRPr lang="zh-CN" altLang="en-US"/>
            </a:p>
          </p:txBody>
        </p:sp>
        <p:sp>
          <p:nvSpPr>
            <p:cNvPr id="2112" name="Rectangle 26"/>
            <p:cNvSpPr>
              <a:spLocks noChangeArrowheads="1"/>
            </p:cNvSpPr>
            <p:nvPr/>
          </p:nvSpPr>
          <p:spPr bwMode="auto">
            <a:xfrm>
              <a:off x="816" y="2892"/>
              <a:ext cx="3744" cy="252"/>
            </a:xfrm>
            <a:prstGeom prst="rect">
              <a:avLst/>
            </a:prstGeom>
            <a:noFill/>
            <a:ln w="9525">
              <a:noFill/>
              <a:miter lim="800000"/>
              <a:headEnd/>
              <a:tailEnd/>
            </a:ln>
          </p:spPr>
          <p:txBody>
            <a:bodyPr>
              <a:spAutoFit/>
            </a:bodyPr>
            <a:lstStyle/>
            <a:p>
              <a:r>
                <a:rPr lang="en-US" altLang="zh-CN" sz="2000">
                  <a:latin typeface="Bookman Old Style" pitchFamily="18" charset="0"/>
                  <a:ea typeface="魏碑体" charset="-122"/>
                </a:rPr>
                <a:t> </a:t>
              </a:r>
              <a:r>
                <a:rPr lang="en-US" altLang="zh-CN" sz="2000">
                  <a:ea typeface="魏碑体" charset="-122"/>
                </a:rPr>
                <a:t>1    2      3      4     5     6     7      8     9   10   11   12   13</a:t>
              </a:r>
              <a:endParaRPr lang="en-US" altLang="zh-CN"/>
            </a:p>
          </p:txBody>
        </p:sp>
        <p:sp>
          <p:nvSpPr>
            <p:cNvPr id="2113" name="Oval 27"/>
            <p:cNvSpPr>
              <a:spLocks noChangeArrowheads="1"/>
            </p:cNvSpPr>
            <p:nvPr/>
          </p:nvSpPr>
          <p:spPr bwMode="auto">
            <a:xfrm>
              <a:off x="1188" y="2424"/>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14" name="Oval 28"/>
            <p:cNvSpPr>
              <a:spLocks noChangeArrowheads="1"/>
            </p:cNvSpPr>
            <p:nvPr/>
          </p:nvSpPr>
          <p:spPr bwMode="auto">
            <a:xfrm>
              <a:off x="936" y="2304"/>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15" name="Oval 29"/>
            <p:cNvSpPr>
              <a:spLocks noChangeArrowheads="1"/>
            </p:cNvSpPr>
            <p:nvPr/>
          </p:nvSpPr>
          <p:spPr bwMode="auto">
            <a:xfrm>
              <a:off x="1500" y="2532"/>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16" name="Oval 30"/>
            <p:cNvSpPr>
              <a:spLocks noChangeArrowheads="1"/>
            </p:cNvSpPr>
            <p:nvPr/>
          </p:nvSpPr>
          <p:spPr bwMode="auto">
            <a:xfrm>
              <a:off x="1800" y="2724"/>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17" name="Oval 31"/>
            <p:cNvSpPr>
              <a:spLocks noChangeArrowheads="1"/>
            </p:cNvSpPr>
            <p:nvPr/>
          </p:nvSpPr>
          <p:spPr bwMode="auto">
            <a:xfrm>
              <a:off x="2076" y="2736"/>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18" name="Oval 32"/>
            <p:cNvSpPr>
              <a:spLocks noChangeArrowheads="1"/>
            </p:cNvSpPr>
            <p:nvPr/>
          </p:nvSpPr>
          <p:spPr bwMode="auto">
            <a:xfrm>
              <a:off x="2376" y="2724"/>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19" name="Oval 33"/>
            <p:cNvSpPr>
              <a:spLocks noChangeArrowheads="1"/>
            </p:cNvSpPr>
            <p:nvPr/>
          </p:nvSpPr>
          <p:spPr bwMode="auto">
            <a:xfrm>
              <a:off x="2652" y="2724"/>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20" name="Oval 34"/>
            <p:cNvSpPr>
              <a:spLocks noChangeArrowheads="1"/>
            </p:cNvSpPr>
            <p:nvPr/>
          </p:nvSpPr>
          <p:spPr bwMode="auto">
            <a:xfrm>
              <a:off x="2952" y="2736"/>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21" name="Oval 35"/>
            <p:cNvSpPr>
              <a:spLocks noChangeArrowheads="1"/>
            </p:cNvSpPr>
            <p:nvPr/>
          </p:nvSpPr>
          <p:spPr bwMode="auto">
            <a:xfrm>
              <a:off x="3216" y="2736"/>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22" name="Oval 36"/>
            <p:cNvSpPr>
              <a:spLocks noChangeArrowheads="1"/>
            </p:cNvSpPr>
            <p:nvPr/>
          </p:nvSpPr>
          <p:spPr bwMode="auto">
            <a:xfrm>
              <a:off x="3492" y="2736"/>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23" name="Oval 37"/>
            <p:cNvSpPr>
              <a:spLocks noChangeArrowheads="1"/>
            </p:cNvSpPr>
            <p:nvPr/>
          </p:nvSpPr>
          <p:spPr bwMode="auto">
            <a:xfrm>
              <a:off x="3756" y="2748"/>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24" name="Oval 38"/>
            <p:cNvSpPr>
              <a:spLocks noChangeArrowheads="1"/>
            </p:cNvSpPr>
            <p:nvPr/>
          </p:nvSpPr>
          <p:spPr bwMode="auto">
            <a:xfrm>
              <a:off x="4296" y="2748"/>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25" name="Oval 39"/>
            <p:cNvSpPr>
              <a:spLocks noChangeArrowheads="1"/>
            </p:cNvSpPr>
            <p:nvPr/>
          </p:nvSpPr>
          <p:spPr bwMode="auto">
            <a:xfrm>
              <a:off x="4044" y="2748"/>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grpSp>
      <p:sp>
        <p:nvSpPr>
          <p:cNvPr id="63528" name="Line 40"/>
          <p:cNvSpPr>
            <a:spLocks noChangeShapeType="1"/>
          </p:cNvSpPr>
          <p:nvPr/>
        </p:nvSpPr>
        <p:spPr bwMode="auto">
          <a:xfrm flipV="1">
            <a:off x="2887663" y="2271713"/>
            <a:ext cx="0" cy="247650"/>
          </a:xfrm>
          <a:prstGeom prst="line">
            <a:avLst/>
          </a:prstGeom>
          <a:noFill/>
          <a:ln w="9525">
            <a:solidFill>
              <a:srgbClr val="FF3300"/>
            </a:solidFill>
            <a:round/>
            <a:headEnd/>
            <a:tailEnd type="triangle" w="med" len="med"/>
          </a:ln>
        </p:spPr>
        <p:txBody>
          <a:bodyPr wrap="none" anchor="ctr"/>
          <a:lstStyle/>
          <a:p>
            <a:endParaRPr lang="zh-CN" altLang="en-US"/>
          </a:p>
        </p:txBody>
      </p:sp>
      <p:sp>
        <p:nvSpPr>
          <p:cNvPr id="63529" name="Line 41"/>
          <p:cNvSpPr>
            <a:spLocks noChangeShapeType="1"/>
          </p:cNvSpPr>
          <p:nvPr/>
        </p:nvSpPr>
        <p:spPr bwMode="auto">
          <a:xfrm flipV="1">
            <a:off x="2416175" y="1981200"/>
            <a:ext cx="0" cy="247650"/>
          </a:xfrm>
          <a:prstGeom prst="line">
            <a:avLst/>
          </a:prstGeom>
          <a:noFill/>
          <a:ln w="9525">
            <a:solidFill>
              <a:srgbClr val="FF3300"/>
            </a:solidFill>
            <a:round/>
            <a:headEnd/>
            <a:tailEnd type="triangle" w="med" len="med"/>
          </a:ln>
        </p:spPr>
        <p:txBody>
          <a:bodyPr wrap="none" anchor="ctr"/>
          <a:lstStyle/>
          <a:p>
            <a:endParaRPr lang="zh-CN" altLang="en-US"/>
          </a:p>
        </p:txBody>
      </p:sp>
      <p:sp>
        <p:nvSpPr>
          <p:cNvPr id="63530" name="Line 42"/>
          <p:cNvSpPr>
            <a:spLocks noChangeShapeType="1"/>
          </p:cNvSpPr>
          <p:nvPr/>
        </p:nvSpPr>
        <p:spPr bwMode="auto">
          <a:xfrm flipV="1">
            <a:off x="1930400" y="1814513"/>
            <a:ext cx="0" cy="247650"/>
          </a:xfrm>
          <a:prstGeom prst="line">
            <a:avLst/>
          </a:prstGeom>
          <a:noFill/>
          <a:ln w="9525">
            <a:solidFill>
              <a:srgbClr val="FF3300"/>
            </a:solidFill>
            <a:round/>
            <a:headEnd/>
            <a:tailEnd type="triangle" w="med" len="med"/>
          </a:ln>
        </p:spPr>
        <p:txBody>
          <a:bodyPr wrap="none" anchor="ctr"/>
          <a:lstStyle/>
          <a:p>
            <a:endParaRPr lang="zh-CN" altLang="en-US"/>
          </a:p>
        </p:txBody>
      </p:sp>
      <p:sp>
        <p:nvSpPr>
          <p:cNvPr id="63531" name="Rectangle 43"/>
          <p:cNvSpPr>
            <a:spLocks noChangeArrowheads="1"/>
          </p:cNvSpPr>
          <p:nvPr/>
        </p:nvSpPr>
        <p:spPr bwMode="auto">
          <a:xfrm>
            <a:off x="7272338" y="2228850"/>
            <a:ext cx="1584325" cy="822325"/>
          </a:xfrm>
          <a:prstGeom prst="rect">
            <a:avLst/>
          </a:prstGeom>
          <a:noFill/>
          <a:ln w="9525">
            <a:noFill/>
            <a:miter lim="800000"/>
            <a:headEnd/>
            <a:tailEnd/>
          </a:ln>
        </p:spPr>
        <p:txBody>
          <a:bodyPr>
            <a:spAutoFit/>
          </a:bodyPr>
          <a:lstStyle/>
          <a:p>
            <a:r>
              <a:rPr lang="zh-CN" altLang="en-US" b="1">
                <a:solidFill>
                  <a:schemeClr val="accent2"/>
                </a:solidFill>
                <a:ea typeface="楷体_GB2312" pitchFamily="49" charset="-122"/>
              </a:rPr>
              <a:t>振动状态传至</a:t>
            </a:r>
            <a:r>
              <a:rPr lang="en-US" altLang="zh-CN" b="1">
                <a:solidFill>
                  <a:schemeClr val="accent2"/>
                </a:solidFill>
                <a:ea typeface="楷体_GB2312" pitchFamily="49" charset="-122"/>
              </a:rPr>
              <a:t>4</a:t>
            </a:r>
            <a:endParaRPr lang="en-US" altLang="zh-CN">
              <a:solidFill>
                <a:schemeClr val="accent2"/>
              </a:solidFill>
              <a:ea typeface="楷体_GB2312" pitchFamily="49" charset="-122"/>
            </a:endParaRPr>
          </a:p>
        </p:txBody>
      </p:sp>
      <p:graphicFrame>
        <p:nvGraphicFramePr>
          <p:cNvPr id="63532" name="Object 44"/>
          <p:cNvGraphicFramePr>
            <a:graphicFrameLocks noChangeAspect="1"/>
          </p:cNvGraphicFramePr>
          <p:nvPr/>
        </p:nvGraphicFramePr>
        <p:xfrm>
          <a:off x="468313" y="3573463"/>
          <a:ext cx="687387" cy="728662"/>
        </p:xfrm>
        <a:graphic>
          <a:graphicData uri="http://schemas.openxmlformats.org/presentationml/2006/ole">
            <p:oleObj spid="_x0000_s2052" name="公式" r:id="rId5" imgW="380880" imgH="406080" progId="Equation.3">
              <p:embed/>
            </p:oleObj>
          </a:graphicData>
        </a:graphic>
      </p:graphicFrame>
      <p:grpSp>
        <p:nvGrpSpPr>
          <p:cNvPr id="4" name="Group 45"/>
          <p:cNvGrpSpPr>
            <a:grpSpLocks/>
          </p:cNvGrpSpPr>
          <p:nvPr/>
        </p:nvGrpSpPr>
        <p:grpSpPr bwMode="auto">
          <a:xfrm>
            <a:off x="1258888" y="3213100"/>
            <a:ext cx="5943600" cy="1271588"/>
            <a:chOff x="816" y="3120"/>
            <a:chExt cx="3744" cy="873"/>
          </a:xfrm>
        </p:grpSpPr>
        <p:sp>
          <p:nvSpPr>
            <p:cNvPr id="2096" name="Line 46"/>
            <p:cNvSpPr>
              <a:spLocks noChangeShapeType="1"/>
            </p:cNvSpPr>
            <p:nvPr/>
          </p:nvSpPr>
          <p:spPr bwMode="auto">
            <a:xfrm>
              <a:off x="876" y="3660"/>
              <a:ext cx="3504" cy="12"/>
            </a:xfrm>
            <a:prstGeom prst="line">
              <a:avLst/>
            </a:prstGeom>
            <a:noFill/>
            <a:ln w="9525">
              <a:solidFill>
                <a:schemeClr val="tx2"/>
              </a:solidFill>
              <a:round/>
              <a:headEnd/>
              <a:tailEnd/>
            </a:ln>
          </p:spPr>
          <p:txBody>
            <a:bodyPr wrap="none" anchor="ctr"/>
            <a:lstStyle/>
            <a:p>
              <a:endParaRPr lang="zh-CN" altLang="en-US"/>
            </a:p>
          </p:txBody>
        </p:sp>
        <p:sp>
          <p:nvSpPr>
            <p:cNvPr id="2097" name="Rectangle 47"/>
            <p:cNvSpPr>
              <a:spLocks noChangeArrowheads="1"/>
            </p:cNvSpPr>
            <p:nvPr/>
          </p:nvSpPr>
          <p:spPr bwMode="auto">
            <a:xfrm>
              <a:off x="816" y="3720"/>
              <a:ext cx="3744" cy="273"/>
            </a:xfrm>
            <a:prstGeom prst="rect">
              <a:avLst/>
            </a:prstGeom>
            <a:noFill/>
            <a:ln w="9525">
              <a:noFill/>
              <a:miter lim="800000"/>
              <a:headEnd/>
              <a:tailEnd/>
            </a:ln>
          </p:spPr>
          <p:txBody>
            <a:bodyPr>
              <a:spAutoFit/>
            </a:bodyPr>
            <a:lstStyle/>
            <a:p>
              <a:r>
                <a:rPr lang="en-US" altLang="zh-CN" sz="2000">
                  <a:latin typeface="Bookman Old Style" pitchFamily="18" charset="0"/>
                  <a:ea typeface="魏碑体" charset="-122"/>
                </a:rPr>
                <a:t> </a:t>
              </a:r>
              <a:r>
                <a:rPr lang="en-US" altLang="zh-CN" sz="2000">
                  <a:ea typeface="魏碑体" charset="-122"/>
                </a:rPr>
                <a:t>1    2      3      4      5     6    7      8     9   10   11   12   13</a:t>
              </a:r>
              <a:endParaRPr lang="en-US" altLang="zh-CN"/>
            </a:p>
          </p:txBody>
        </p:sp>
        <p:sp>
          <p:nvSpPr>
            <p:cNvPr id="2098" name="Oval 48"/>
            <p:cNvSpPr>
              <a:spLocks noChangeArrowheads="1"/>
            </p:cNvSpPr>
            <p:nvPr/>
          </p:nvSpPr>
          <p:spPr bwMode="auto">
            <a:xfrm>
              <a:off x="1176" y="3396"/>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099" name="Oval 49"/>
            <p:cNvSpPr>
              <a:spLocks noChangeArrowheads="1"/>
            </p:cNvSpPr>
            <p:nvPr/>
          </p:nvSpPr>
          <p:spPr bwMode="auto">
            <a:xfrm>
              <a:off x="888" y="3540"/>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00" name="Oval 50"/>
            <p:cNvSpPr>
              <a:spLocks noChangeArrowheads="1"/>
            </p:cNvSpPr>
            <p:nvPr/>
          </p:nvSpPr>
          <p:spPr bwMode="auto">
            <a:xfrm>
              <a:off x="1476" y="3228"/>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01" name="Oval 51"/>
            <p:cNvSpPr>
              <a:spLocks noChangeArrowheads="1"/>
            </p:cNvSpPr>
            <p:nvPr/>
          </p:nvSpPr>
          <p:spPr bwMode="auto">
            <a:xfrm>
              <a:off x="1800" y="3120"/>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02" name="Oval 52"/>
            <p:cNvSpPr>
              <a:spLocks noChangeArrowheads="1"/>
            </p:cNvSpPr>
            <p:nvPr/>
          </p:nvSpPr>
          <p:spPr bwMode="auto">
            <a:xfrm>
              <a:off x="2136" y="3228"/>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03" name="Oval 53"/>
            <p:cNvSpPr>
              <a:spLocks noChangeArrowheads="1"/>
            </p:cNvSpPr>
            <p:nvPr/>
          </p:nvSpPr>
          <p:spPr bwMode="auto">
            <a:xfrm>
              <a:off x="2400" y="3384"/>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04" name="Oval 54"/>
            <p:cNvSpPr>
              <a:spLocks noChangeArrowheads="1"/>
            </p:cNvSpPr>
            <p:nvPr/>
          </p:nvSpPr>
          <p:spPr bwMode="auto">
            <a:xfrm>
              <a:off x="2652" y="3552"/>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05" name="Oval 55"/>
            <p:cNvSpPr>
              <a:spLocks noChangeArrowheads="1"/>
            </p:cNvSpPr>
            <p:nvPr/>
          </p:nvSpPr>
          <p:spPr bwMode="auto">
            <a:xfrm>
              <a:off x="2952" y="3564"/>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06" name="Oval 56"/>
            <p:cNvSpPr>
              <a:spLocks noChangeArrowheads="1"/>
            </p:cNvSpPr>
            <p:nvPr/>
          </p:nvSpPr>
          <p:spPr bwMode="auto">
            <a:xfrm>
              <a:off x="3216" y="3564"/>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07" name="Oval 57"/>
            <p:cNvSpPr>
              <a:spLocks noChangeArrowheads="1"/>
            </p:cNvSpPr>
            <p:nvPr/>
          </p:nvSpPr>
          <p:spPr bwMode="auto">
            <a:xfrm>
              <a:off x="3492" y="3564"/>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08" name="Oval 58"/>
            <p:cNvSpPr>
              <a:spLocks noChangeArrowheads="1"/>
            </p:cNvSpPr>
            <p:nvPr/>
          </p:nvSpPr>
          <p:spPr bwMode="auto">
            <a:xfrm>
              <a:off x="3756" y="3576"/>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09" name="Oval 59"/>
            <p:cNvSpPr>
              <a:spLocks noChangeArrowheads="1"/>
            </p:cNvSpPr>
            <p:nvPr/>
          </p:nvSpPr>
          <p:spPr bwMode="auto">
            <a:xfrm>
              <a:off x="4296" y="3576"/>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110" name="Oval 60"/>
            <p:cNvSpPr>
              <a:spLocks noChangeArrowheads="1"/>
            </p:cNvSpPr>
            <p:nvPr/>
          </p:nvSpPr>
          <p:spPr bwMode="auto">
            <a:xfrm>
              <a:off x="4044" y="3576"/>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grpSp>
      <p:sp>
        <p:nvSpPr>
          <p:cNvPr id="63549" name="Line 61"/>
          <p:cNvSpPr>
            <a:spLocks noChangeShapeType="1"/>
          </p:cNvSpPr>
          <p:nvPr/>
        </p:nvSpPr>
        <p:spPr bwMode="auto">
          <a:xfrm flipV="1">
            <a:off x="4259263" y="3775075"/>
            <a:ext cx="0" cy="247650"/>
          </a:xfrm>
          <a:prstGeom prst="line">
            <a:avLst/>
          </a:prstGeom>
          <a:noFill/>
          <a:ln w="9525">
            <a:solidFill>
              <a:srgbClr val="FF3300"/>
            </a:solidFill>
            <a:round/>
            <a:headEnd/>
            <a:tailEnd type="triangle" w="med" len="med"/>
          </a:ln>
        </p:spPr>
        <p:txBody>
          <a:bodyPr wrap="none" anchor="ctr"/>
          <a:lstStyle/>
          <a:p>
            <a:endParaRPr lang="zh-CN" altLang="en-US"/>
          </a:p>
        </p:txBody>
      </p:sp>
      <p:sp>
        <p:nvSpPr>
          <p:cNvPr id="63550" name="Line 62"/>
          <p:cNvSpPr>
            <a:spLocks noChangeShapeType="1"/>
          </p:cNvSpPr>
          <p:nvPr/>
        </p:nvSpPr>
        <p:spPr bwMode="auto">
          <a:xfrm flipV="1">
            <a:off x="3849688" y="3484563"/>
            <a:ext cx="0" cy="247650"/>
          </a:xfrm>
          <a:prstGeom prst="line">
            <a:avLst/>
          </a:prstGeom>
          <a:noFill/>
          <a:ln w="9525">
            <a:solidFill>
              <a:srgbClr val="FF3300"/>
            </a:solidFill>
            <a:round/>
            <a:headEnd/>
            <a:tailEnd type="triangle" w="med" len="med"/>
          </a:ln>
        </p:spPr>
        <p:txBody>
          <a:bodyPr wrap="none" anchor="ctr"/>
          <a:lstStyle/>
          <a:p>
            <a:endParaRPr lang="zh-CN" altLang="en-US"/>
          </a:p>
        </p:txBody>
      </p:sp>
      <p:sp>
        <p:nvSpPr>
          <p:cNvPr id="63551" name="Line 63"/>
          <p:cNvSpPr>
            <a:spLocks noChangeShapeType="1"/>
          </p:cNvSpPr>
          <p:nvPr/>
        </p:nvSpPr>
        <p:spPr bwMode="auto">
          <a:xfrm flipV="1">
            <a:off x="3421063" y="3236913"/>
            <a:ext cx="0" cy="247650"/>
          </a:xfrm>
          <a:prstGeom prst="line">
            <a:avLst/>
          </a:prstGeom>
          <a:noFill/>
          <a:ln w="9525">
            <a:solidFill>
              <a:srgbClr val="FF3300"/>
            </a:solidFill>
            <a:round/>
            <a:headEnd/>
            <a:tailEnd type="triangle" w="med" len="med"/>
          </a:ln>
        </p:spPr>
        <p:txBody>
          <a:bodyPr wrap="none" anchor="ctr"/>
          <a:lstStyle/>
          <a:p>
            <a:endParaRPr lang="zh-CN" altLang="en-US"/>
          </a:p>
        </p:txBody>
      </p:sp>
      <p:sp>
        <p:nvSpPr>
          <p:cNvPr id="63552" name="Line 64"/>
          <p:cNvSpPr>
            <a:spLocks noChangeShapeType="1"/>
          </p:cNvSpPr>
          <p:nvPr/>
        </p:nvSpPr>
        <p:spPr bwMode="auto">
          <a:xfrm>
            <a:off x="2387600" y="3489325"/>
            <a:ext cx="0" cy="266700"/>
          </a:xfrm>
          <a:prstGeom prst="line">
            <a:avLst/>
          </a:prstGeom>
          <a:noFill/>
          <a:ln w="9525">
            <a:solidFill>
              <a:srgbClr val="FF3300"/>
            </a:solidFill>
            <a:round/>
            <a:headEnd/>
            <a:tailEnd type="triangle" w="med" len="med"/>
          </a:ln>
        </p:spPr>
        <p:txBody>
          <a:bodyPr wrap="none" anchor="ctr"/>
          <a:lstStyle/>
          <a:p>
            <a:endParaRPr lang="zh-CN" altLang="en-US"/>
          </a:p>
        </p:txBody>
      </p:sp>
      <p:sp>
        <p:nvSpPr>
          <p:cNvPr id="63553" name="Line 65"/>
          <p:cNvSpPr>
            <a:spLocks noChangeShapeType="1"/>
          </p:cNvSpPr>
          <p:nvPr/>
        </p:nvSpPr>
        <p:spPr bwMode="auto">
          <a:xfrm>
            <a:off x="1916113" y="3746500"/>
            <a:ext cx="0" cy="266700"/>
          </a:xfrm>
          <a:prstGeom prst="line">
            <a:avLst/>
          </a:prstGeom>
          <a:noFill/>
          <a:ln w="9525">
            <a:solidFill>
              <a:srgbClr val="FF3300"/>
            </a:solidFill>
            <a:round/>
            <a:headEnd/>
            <a:tailEnd type="triangle" w="med" len="med"/>
          </a:ln>
        </p:spPr>
        <p:txBody>
          <a:bodyPr wrap="none" anchor="ctr"/>
          <a:lstStyle/>
          <a:p>
            <a:endParaRPr lang="zh-CN" altLang="en-US"/>
          </a:p>
        </p:txBody>
      </p:sp>
      <p:sp>
        <p:nvSpPr>
          <p:cNvPr id="63554" name="Line 66"/>
          <p:cNvSpPr>
            <a:spLocks noChangeShapeType="1"/>
          </p:cNvSpPr>
          <p:nvPr/>
        </p:nvSpPr>
        <p:spPr bwMode="auto">
          <a:xfrm>
            <a:off x="1439863" y="3975100"/>
            <a:ext cx="0" cy="266700"/>
          </a:xfrm>
          <a:prstGeom prst="line">
            <a:avLst/>
          </a:prstGeom>
          <a:noFill/>
          <a:ln w="9525">
            <a:solidFill>
              <a:srgbClr val="FF3300"/>
            </a:solidFill>
            <a:round/>
            <a:headEnd/>
            <a:tailEnd type="triangle" w="med" len="med"/>
          </a:ln>
        </p:spPr>
        <p:txBody>
          <a:bodyPr wrap="none" anchor="ctr"/>
          <a:lstStyle/>
          <a:p>
            <a:endParaRPr lang="zh-CN" altLang="en-US"/>
          </a:p>
        </p:txBody>
      </p:sp>
      <p:sp>
        <p:nvSpPr>
          <p:cNvPr id="63555" name="Rectangle 67"/>
          <p:cNvSpPr>
            <a:spLocks noChangeArrowheads="1"/>
          </p:cNvSpPr>
          <p:nvPr/>
        </p:nvSpPr>
        <p:spPr bwMode="auto">
          <a:xfrm>
            <a:off x="7272338" y="3746500"/>
            <a:ext cx="1584325" cy="822325"/>
          </a:xfrm>
          <a:prstGeom prst="rect">
            <a:avLst/>
          </a:prstGeom>
          <a:noFill/>
          <a:ln w="9525">
            <a:noFill/>
            <a:miter lim="800000"/>
            <a:headEnd/>
            <a:tailEnd/>
          </a:ln>
        </p:spPr>
        <p:txBody>
          <a:bodyPr>
            <a:spAutoFit/>
          </a:bodyPr>
          <a:lstStyle/>
          <a:p>
            <a:r>
              <a:rPr lang="zh-CN" altLang="en-US" b="1">
                <a:solidFill>
                  <a:schemeClr val="accent2"/>
                </a:solidFill>
                <a:ea typeface="楷体_GB2312" pitchFamily="49" charset="-122"/>
              </a:rPr>
              <a:t>振动状态传至</a:t>
            </a:r>
            <a:r>
              <a:rPr lang="en-US" altLang="zh-CN" b="1">
                <a:solidFill>
                  <a:schemeClr val="accent2"/>
                </a:solidFill>
                <a:ea typeface="楷体_GB2312" pitchFamily="49" charset="-122"/>
              </a:rPr>
              <a:t>7</a:t>
            </a:r>
            <a:endParaRPr lang="en-US" altLang="zh-CN">
              <a:solidFill>
                <a:schemeClr val="accent2"/>
              </a:solidFill>
              <a:ea typeface="楷体_GB2312" pitchFamily="49" charset="-122"/>
            </a:endParaRPr>
          </a:p>
        </p:txBody>
      </p:sp>
      <p:graphicFrame>
        <p:nvGraphicFramePr>
          <p:cNvPr id="63556" name="Object 68"/>
          <p:cNvGraphicFramePr>
            <a:graphicFrameLocks noChangeAspect="1"/>
          </p:cNvGraphicFramePr>
          <p:nvPr/>
        </p:nvGraphicFramePr>
        <p:xfrm>
          <a:off x="395288" y="5157788"/>
          <a:ext cx="846137" cy="731837"/>
        </p:xfrm>
        <a:graphic>
          <a:graphicData uri="http://schemas.openxmlformats.org/presentationml/2006/ole">
            <p:oleObj spid="_x0000_s2053" name="公式" r:id="rId6" imgW="469800" imgH="406080" progId="Equation.3">
              <p:embed/>
            </p:oleObj>
          </a:graphicData>
        </a:graphic>
      </p:graphicFrame>
      <p:sp>
        <p:nvSpPr>
          <p:cNvPr id="63557" name="Rectangle 69"/>
          <p:cNvSpPr>
            <a:spLocks noChangeArrowheads="1"/>
          </p:cNvSpPr>
          <p:nvPr/>
        </p:nvSpPr>
        <p:spPr bwMode="auto">
          <a:xfrm>
            <a:off x="7308850" y="5186363"/>
            <a:ext cx="1524000" cy="822325"/>
          </a:xfrm>
          <a:prstGeom prst="rect">
            <a:avLst/>
          </a:prstGeom>
          <a:noFill/>
          <a:ln w="9525">
            <a:noFill/>
            <a:miter lim="800000"/>
            <a:headEnd/>
            <a:tailEnd/>
          </a:ln>
        </p:spPr>
        <p:txBody>
          <a:bodyPr>
            <a:spAutoFit/>
          </a:bodyPr>
          <a:lstStyle/>
          <a:p>
            <a:pPr eaLnBrk="0" hangingPunct="0"/>
            <a:r>
              <a:rPr lang="zh-CN" altLang="en-US" b="1">
                <a:solidFill>
                  <a:schemeClr val="accent2"/>
                </a:solidFill>
                <a:ea typeface="楷体_GB2312" pitchFamily="49" charset="-122"/>
              </a:rPr>
              <a:t>振动状态传至</a:t>
            </a:r>
            <a:r>
              <a:rPr lang="en-US" altLang="zh-CN" b="1">
                <a:solidFill>
                  <a:schemeClr val="accent2"/>
                </a:solidFill>
                <a:ea typeface="楷体_GB2312" pitchFamily="49" charset="-122"/>
              </a:rPr>
              <a:t>10 </a:t>
            </a:r>
          </a:p>
        </p:txBody>
      </p:sp>
      <p:grpSp>
        <p:nvGrpSpPr>
          <p:cNvPr id="5" name="Group 73"/>
          <p:cNvGrpSpPr>
            <a:grpSpLocks/>
          </p:cNvGrpSpPr>
          <p:nvPr/>
        </p:nvGrpSpPr>
        <p:grpSpPr bwMode="auto">
          <a:xfrm>
            <a:off x="1295400" y="4729163"/>
            <a:ext cx="5943600" cy="1795462"/>
            <a:chOff x="816" y="240"/>
            <a:chExt cx="3744" cy="1176"/>
          </a:xfrm>
        </p:grpSpPr>
        <p:sp>
          <p:nvSpPr>
            <p:cNvPr id="2076" name="Line 74"/>
            <p:cNvSpPr>
              <a:spLocks noChangeShapeType="1"/>
            </p:cNvSpPr>
            <p:nvPr/>
          </p:nvSpPr>
          <p:spPr bwMode="auto">
            <a:xfrm>
              <a:off x="876" y="792"/>
              <a:ext cx="3504" cy="12"/>
            </a:xfrm>
            <a:prstGeom prst="line">
              <a:avLst/>
            </a:prstGeom>
            <a:noFill/>
            <a:ln w="9525">
              <a:solidFill>
                <a:schemeClr val="tx2"/>
              </a:solidFill>
              <a:round/>
              <a:headEnd/>
              <a:tailEnd/>
            </a:ln>
          </p:spPr>
          <p:txBody>
            <a:bodyPr wrap="none" anchor="ctr"/>
            <a:lstStyle/>
            <a:p>
              <a:endParaRPr lang="zh-CN" altLang="en-US"/>
            </a:p>
          </p:txBody>
        </p:sp>
        <p:sp>
          <p:nvSpPr>
            <p:cNvPr id="2077" name="Rectangle 75"/>
            <p:cNvSpPr>
              <a:spLocks noChangeArrowheads="1"/>
            </p:cNvSpPr>
            <p:nvPr/>
          </p:nvSpPr>
          <p:spPr bwMode="auto">
            <a:xfrm>
              <a:off x="816" y="816"/>
              <a:ext cx="3744" cy="260"/>
            </a:xfrm>
            <a:prstGeom prst="rect">
              <a:avLst/>
            </a:prstGeom>
            <a:noFill/>
            <a:ln w="9525">
              <a:noFill/>
              <a:miter lim="800000"/>
              <a:headEnd/>
              <a:tailEnd/>
            </a:ln>
          </p:spPr>
          <p:txBody>
            <a:bodyPr>
              <a:spAutoFit/>
            </a:bodyPr>
            <a:lstStyle/>
            <a:p>
              <a:pPr eaLnBrk="0" hangingPunct="0"/>
              <a:r>
                <a:rPr lang="en-US" altLang="zh-CN" sz="2000">
                  <a:latin typeface="Bookman Old Style" pitchFamily="18" charset="0"/>
                  <a:ea typeface="魏碑体" charset="-122"/>
                </a:rPr>
                <a:t> </a:t>
              </a:r>
              <a:r>
                <a:rPr lang="en-US" altLang="zh-CN" sz="2000">
                  <a:ea typeface="魏碑体" charset="-122"/>
                </a:rPr>
                <a:t>1    2      3     4      5      6    7     8      9   10   11   12  13</a:t>
              </a:r>
            </a:p>
          </p:txBody>
        </p:sp>
        <p:sp>
          <p:nvSpPr>
            <p:cNvPr id="2078" name="Oval 76"/>
            <p:cNvSpPr>
              <a:spLocks noChangeArrowheads="1"/>
            </p:cNvSpPr>
            <p:nvPr/>
          </p:nvSpPr>
          <p:spPr bwMode="auto">
            <a:xfrm>
              <a:off x="1188" y="1164"/>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079" name="Oval 77"/>
            <p:cNvSpPr>
              <a:spLocks noChangeArrowheads="1"/>
            </p:cNvSpPr>
            <p:nvPr/>
          </p:nvSpPr>
          <p:spPr bwMode="auto">
            <a:xfrm>
              <a:off x="912" y="1272"/>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080" name="Oval 78"/>
            <p:cNvSpPr>
              <a:spLocks noChangeArrowheads="1"/>
            </p:cNvSpPr>
            <p:nvPr/>
          </p:nvSpPr>
          <p:spPr bwMode="auto">
            <a:xfrm>
              <a:off x="1488" y="1008"/>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081" name="Oval 79"/>
            <p:cNvSpPr>
              <a:spLocks noChangeArrowheads="1"/>
            </p:cNvSpPr>
            <p:nvPr/>
          </p:nvSpPr>
          <p:spPr bwMode="auto">
            <a:xfrm>
              <a:off x="1800" y="696"/>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082" name="Oval 80"/>
            <p:cNvSpPr>
              <a:spLocks noChangeArrowheads="1"/>
            </p:cNvSpPr>
            <p:nvPr/>
          </p:nvSpPr>
          <p:spPr bwMode="auto">
            <a:xfrm>
              <a:off x="2076" y="480"/>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083" name="Oval 81"/>
            <p:cNvSpPr>
              <a:spLocks noChangeArrowheads="1"/>
            </p:cNvSpPr>
            <p:nvPr/>
          </p:nvSpPr>
          <p:spPr bwMode="auto">
            <a:xfrm>
              <a:off x="2388" y="336"/>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084" name="Oval 82"/>
            <p:cNvSpPr>
              <a:spLocks noChangeArrowheads="1"/>
            </p:cNvSpPr>
            <p:nvPr/>
          </p:nvSpPr>
          <p:spPr bwMode="auto">
            <a:xfrm>
              <a:off x="2664" y="240"/>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085" name="Oval 83"/>
            <p:cNvSpPr>
              <a:spLocks noChangeArrowheads="1"/>
            </p:cNvSpPr>
            <p:nvPr/>
          </p:nvSpPr>
          <p:spPr bwMode="auto">
            <a:xfrm>
              <a:off x="2952" y="348"/>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086" name="Oval 84"/>
            <p:cNvSpPr>
              <a:spLocks noChangeArrowheads="1"/>
            </p:cNvSpPr>
            <p:nvPr/>
          </p:nvSpPr>
          <p:spPr bwMode="auto">
            <a:xfrm>
              <a:off x="3240" y="468"/>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087" name="Oval 85"/>
            <p:cNvSpPr>
              <a:spLocks noChangeArrowheads="1"/>
            </p:cNvSpPr>
            <p:nvPr/>
          </p:nvSpPr>
          <p:spPr bwMode="auto">
            <a:xfrm>
              <a:off x="3492" y="696"/>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088" name="Oval 86"/>
            <p:cNvSpPr>
              <a:spLocks noChangeArrowheads="1"/>
            </p:cNvSpPr>
            <p:nvPr/>
          </p:nvSpPr>
          <p:spPr bwMode="auto">
            <a:xfrm>
              <a:off x="3756" y="708"/>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089" name="Oval 87"/>
            <p:cNvSpPr>
              <a:spLocks noChangeArrowheads="1"/>
            </p:cNvSpPr>
            <p:nvPr/>
          </p:nvSpPr>
          <p:spPr bwMode="auto">
            <a:xfrm>
              <a:off x="4296" y="708"/>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090" name="Oval 88"/>
            <p:cNvSpPr>
              <a:spLocks noChangeArrowheads="1"/>
            </p:cNvSpPr>
            <p:nvPr/>
          </p:nvSpPr>
          <p:spPr bwMode="auto">
            <a:xfrm>
              <a:off x="4044" y="708"/>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2091" name="Line 89"/>
            <p:cNvSpPr>
              <a:spLocks noChangeShapeType="1"/>
            </p:cNvSpPr>
            <p:nvPr/>
          </p:nvSpPr>
          <p:spPr bwMode="auto">
            <a:xfrm>
              <a:off x="2436" y="444"/>
              <a:ext cx="0" cy="168"/>
            </a:xfrm>
            <a:prstGeom prst="line">
              <a:avLst/>
            </a:prstGeom>
            <a:noFill/>
            <a:ln w="9525">
              <a:solidFill>
                <a:srgbClr val="FF3300"/>
              </a:solidFill>
              <a:round/>
              <a:headEnd/>
              <a:tailEnd type="triangle" w="med" len="med"/>
            </a:ln>
          </p:spPr>
          <p:txBody>
            <a:bodyPr wrap="none" anchor="ctr"/>
            <a:lstStyle/>
            <a:p>
              <a:endParaRPr lang="zh-CN" altLang="en-US"/>
            </a:p>
          </p:txBody>
        </p:sp>
        <p:sp>
          <p:nvSpPr>
            <p:cNvPr id="2092" name="Line 90"/>
            <p:cNvSpPr>
              <a:spLocks noChangeShapeType="1"/>
            </p:cNvSpPr>
            <p:nvPr/>
          </p:nvSpPr>
          <p:spPr bwMode="auto">
            <a:xfrm>
              <a:off x="2100" y="552"/>
              <a:ext cx="0" cy="168"/>
            </a:xfrm>
            <a:prstGeom prst="line">
              <a:avLst/>
            </a:prstGeom>
            <a:noFill/>
            <a:ln w="9525">
              <a:solidFill>
                <a:srgbClr val="FF3300"/>
              </a:solidFill>
              <a:round/>
              <a:headEnd/>
              <a:tailEnd type="triangle" w="med" len="med"/>
            </a:ln>
          </p:spPr>
          <p:txBody>
            <a:bodyPr wrap="none" anchor="ctr"/>
            <a:lstStyle/>
            <a:p>
              <a:endParaRPr lang="zh-CN" altLang="en-US"/>
            </a:p>
          </p:txBody>
        </p:sp>
        <p:sp>
          <p:nvSpPr>
            <p:cNvPr id="2093" name="Line 91"/>
            <p:cNvSpPr>
              <a:spLocks noChangeShapeType="1"/>
            </p:cNvSpPr>
            <p:nvPr/>
          </p:nvSpPr>
          <p:spPr bwMode="auto">
            <a:xfrm>
              <a:off x="1824" y="768"/>
              <a:ext cx="0" cy="168"/>
            </a:xfrm>
            <a:prstGeom prst="line">
              <a:avLst/>
            </a:prstGeom>
            <a:noFill/>
            <a:ln w="9525">
              <a:solidFill>
                <a:srgbClr val="FF3300"/>
              </a:solidFill>
              <a:round/>
              <a:headEnd/>
              <a:tailEnd type="triangle" w="med" len="med"/>
            </a:ln>
          </p:spPr>
          <p:txBody>
            <a:bodyPr wrap="none" anchor="ctr"/>
            <a:lstStyle/>
            <a:p>
              <a:endParaRPr lang="zh-CN" altLang="en-US"/>
            </a:p>
          </p:txBody>
        </p:sp>
        <p:sp>
          <p:nvSpPr>
            <p:cNvPr id="2094" name="Line 92"/>
            <p:cNvSpPr>
              <a:spLocks noChangeShapeType="1"/>
            </p:cNvSpPr>
            <p:nvPr/>
          </p:nvSpPr>
          <p:spPr bwMode="auto">
            <a:xfrm>
              <a:off x="1236" y="1200"/>
              <a:ext cx="0" cy="192"/>
            </a:xfrm>
            <a:prstGeom prst="line">
              <a:avLst/>
            </a:prstGeom>
            <a:noFill/>
            <a:ln w="9525">
              <a:solidFill>
                <a:srgbClr val="FF3300"/>
              </a:solidFill>
              <a:round/>
              <a:headEnd/>
              <a:tailEnd type="triangle" w="med" len="med"/>
            </a:ln>
          </p:spPr>
          <p:txBody>
            <a:bodyPr wrap="none" anchor="ctr"/>
            <a:lstStyle/>
            <a:p>
              <a:endParaRPr lang="zh-CN" altLang="en-US"/>
            </a:p>
          </p:txBody>
        </p:sp>
        <p:sp>
          <p:nvSpPr>
            <p:cNvPr id="2095" name="Line 93"/>
            <p:cNvSpPr>
              <a:spLocks noChangeShapeType="1"/>
            </p:cNvSpPr>
            <p:nvPr/>
          </p:nvSpPr>
          <p:spPr bwMode="auto">
            <a:xfrm>
              <a:off x="1536" y="1104"/>
              <a:ext cx="0" cy="168"/>
            </a:xfrm>
            <a:prstGeom prst="line">
              <a:avLst/>
            </a:prstGeom>
            <a:noFill/>
            <a:ln w="9525">
              <a:solidFill>
                <a:srgbClr val="FF3300"/>
              </a:solidFill>
              <a:round/>
              <a:headEnd/>
              <a:tailEnd type="triangle" w="med" len="med"/>
            </a:ln>
          </p:spPr>
          <p:txBody>
            <a:bodyPr wrap="none" anchor="ctr"/>
            <a:lstStyle/>
            <a:p>
              <a:endParaRPr lang="zh-CN" altLang="en-US"/>
            </a:p>
          </p:txBody>
        </p:sp>
      </p:grpSp>
      <p:sp>
        <p:nvSpPr>
          <p:cNvPr id="63560" name="Line 72"/>
          <p:cNvSpPr>
            <a:spLocks noChangeShapeType="1"/>
          </p:cNvSpPr>
          <p:nvPr/>
        </p:nvSpPr>
        <p:spPr bwMode="auto">
          <a:xfrm flipV="1">
            <a:off x="4772025" y="4714875"/>
            <a:ext cx="0" cy="323850"/>
          </a:xfrm>
          <a:prstGeom prst="line">
            <a:avLst/>
          </a:prstGeom>
          <a:noFill/>
          <a:ln w="9525">
            <a:solidFill>
              <a:srgbClr val="FF3300"/>
            </a:solidFill>
            <a:round/>
            <a:headEnd/>
            <a:tailEnd type="triangle" w="med" len="med"/>
          </a:ln>
        </p:spPr>
        <p:txBody>
          <a:bodyPr wrap="none" anchor="ctr"/>
          <a:lstStyle/>
          <a:p>
            <a:endParaRPr lang="zh-CN" altLang="en-US"/>
          </a:p>
        </p:txBody>
      </p:sp>
      <p:sp>
        <p:nvSpPr>
          <p:cNvPr id="63559" name="Line 71"/>
          <p:cNvSpPr>
            <a:spLocks noChangeShapeType="1"/>
          </p:cNvSpPr>
          <p:nvPr/>
        </p:nvSpPr>
        <p:spPr bwMode="auto">
          <a:xfrm flipV="1">
            <a:off x="5229225" y="4924425"/>
            <a:ext cx="0" cy="247650"/>
          </a:xfrm>
          <a:prstGeom prst="line">
            <a:avLst/>
          </a:prstGeom>
          <a:noFill/>
          <a:ln w="9525">
            <a:solidFill>
              <a:srgbClr val="FF3300"/>
            </a:solidFill>
            <a:round/>
            <a:headEnd/>
            <a:tailEnd type="triangle" w="med" len="med"/>
          </a:ln>
        </p:spPr>
        <p:txBody>
          <a:bodyPr wrap="none" anchor="ctr"/>
          <a:lstStyle/>
          <a:p>
            <a:endParaRPr lang="zh-CN" altLang="en-US"/>
          </a:p>
        </p:txBody>
      </p:sp>
      <p:sp>
        <p:nvSpPr>
          <p:cNvPr id="63558" name="Line 70"/>
          <p:cNvSpPr>
            <a:spLocks noChangeShapeType="1"/>
          </p:cNvSpPr>
          <p:nvPr/>
        </p:nvSpPr>
        <p:spPr bwMode="auto">
          <a:xfrm flipV="1">
            <a:off x="5624513" y="5310188"/>
            <a:ext cx="0" cy="247650"/>
          </a:xfrm>
          <a:prstGeom prst="line">
            <a:avLst/>
          </a:prstGeom>
          <a:noFill/>
          <a:ln w="9525">
            <a:solidFill>
              <a:srgbClr val="FF3300"/>
            </a:solidFill>
            <a:round/>
            <a:headEnd/>
            <a:tailEnd type="triangle" w="med" len="med"/>
          </a:ln>
        </p:spPr>
        <p:txBody>
          <a:bodyPr wrap="none" anchor="ctr"/>
          <a:lstStyle/>
          <a:p>
            <a:endParaRPr lang="zh-CN" altLang="en-US"/>
          </a:p>
        </p:txBody>
      </p:sp>
      <p:sp>
        <p:nvSpPr>
          <p:cNvPr id="63582" name="Rectangle 94"/>
          <p:cNvSpPr>
            <a:spLocks noChangeArrowheads="1"/>
          </p:cNvSpPr>
          <p:nvPr/>
        </p:nvSpPr>
        <p:spPr bwMode="auto">
          <a:xfrm>
            <a:off x="250825" y="450850"/>
            <a:ext cx="5832475" cy="457200"/>
          </a:xfrm>
          <a:prstGeom prst="rect">
            <a:avLst/>
          </a:prstGeom>
          <a:noFill/>
          <a:ln w="9525">
            <a:noFill/>
            <a:miter lim="800000"/>
            <a:headEnd/>
            <a:tailEnd/>
          </a:ln>
        </p:spPr>
        <p:txBody>
          <a:bodyPr>
            <a:spAutoFit/>
          </a:bodyPr>
          <a:lstStyle/>
          <a:p>
            <a:r>
              <a:rPr lang="en-US" altLang="zh-CN" b="1">
                <a:solidFill>
                  <a:srgbClr val="FF0000"/>
                </a:solidFill>
              </a:rPr>
              <a:t>1</a:t>
            </a:r>
            <a:r>
              <a:rPr lang="zh-CN" altLang="en-US" b="1">
                <a:solidFill>
                  <a:srgbClr val="FF0000"/>
                </a:solidFill>
              </a:rPr>
              <a:t>、波的形成过程</a:t>
            </a:r>
            <a:r>
              <a:rPr lang="zh-CN" altLang="en-US" sz="2000" b="1"/>
              <a:t>（以横波为例）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582"/>
                                        </p:tgtEl>
                                        <p:attrNameLst>
                                          <p:attrName>style.visibility</p:attrName>
                                        </p:attrNameLst>
                                      </p:cBhvr>
                                      <p:to>
                                        <p:strVal val="visible"/>
                                      </p:to>
                                    </p:set>
                                    <p:animEffect transition="in" filter="wipe(left)">
                                      <p:cBhvr>
                                        <p:cTn id="7" dur="500"/>
                                        <p:tgtEl>
                                          <p:spTgt spid="6358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63492"/>
                                        </p:tgtEl>
                                        <p:attrNameLst>
                                          <p:attrName>style.visibility</p:attrName>
                                        </p:attrNameLst>
                                      </p:cBhvr>
                                      <p:to>
                                        <p:strVal val="visible"/>
                                      </p:to>
                                    </p:set>
                                    <p:animEffect transition="in" filter="box(out)">
                                      <p:cBhvr>
                                        <p:cTn id="12" dur="500"/>
                                        <p:tgtEl>
                                          <p:spTgt spid="6349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out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63510"/>
                                        </p:tgtEl>
                                        <p:attrNameLst>
                                          <p:attrName>style.visibility</p:attrName>
                                        </p:attrNameLst>
                                      </p:cBhvr>
                                      <p:to>
                                        <p:strVal val="visible"/>
                                      </p:to>
                                    </p:set>
                                    <p:animEffect transition="in" filter="box(out)">
                                      <p:cBhvr>
                                        <p:cTn id="22" dur="500"/>
                                        <p:tgtEl>
                                          <p:spTgt spid="635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iterate type="lt">
                                    <p:tmPct val="100000"/>
                                  </p:iterate>
                                  <p:childTnLst>
                                    <p:set>
                                      <p:cBhvr>
                                        <p:cTn id="26" dur="1" fill="hold">
                                          <p:stCondLst>
                                            <p:cond delay="0"/>
                                          </p:stCondLst>
                                        </p:cTn>
                                        <p:tgtEl>
                                          <p:spTgt spid="63493">
                                            <p:txEl>
                                              <p:pRg st="0" end="0"/>
                                            </p:txEl>
                                          </p:spTgt>
                                        </p:tgtEl>
                                        <p:attrNameLst>
                                          <p:attrName>style.visibility</p:attrName>
                                        </p:attrNameLst>
                                      </p:cBhvr>
                                      <p:to>
                                        <p:strVal val="visible"/>
                                      </p:to>
                                    </p:set>
                                    <p:animEffect transition="in" filter="wipe(up)">
                                      <p:cBhvr>
                                        <p:cTn id="27" dur="75"/>
                                        <p:tgtEl>
                                          <p:spTgt spid="6349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63511"/>
                                        </p:tgtEl>
                                        <p:attrNameLst>
                                          <p:attrName>style.visibility</p:attrName>
                                        </p:attrNameLst>
                                      </p:cBhvr>
                                      <p:to>
                                        <p:strVal val="visible"/>
                                      </p:to>
                                    </p:set>
                                    <p:animEffect transition="in" filter="box(out)">
                                      <p:cBhvr>
                                        <p:cTn id="32" dur="500"/>
                                        <p:tgtEl>
                                          <p:spTgt spid="63511"/>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arn(outHorizontal)">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63530"/>
                                        </p:tgtEl>
                                        <p:attrNameLst>
                                          <p:attrName>style.visibility</p:attrName>
                                        </p:attrNameLst>
                                      </p:cBhvr>
                                      <p:to>
                                        <p:strVal val="visible"/>
                                      </p:to>
                                    </p:set>
                                    <p:animEffect transition="in" filter="box(out)">
                                      <p:cBhvr>
                                        <p:cTn id="42" dur="500"/>
                                        <p:tgtEl>
                                          <p:spTgt spid="63530"/>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63529"/>
                                        </p:tgtEl>
                                        <p:attrNameLst>
                                          <p:attrName>style.visibility</p:attrName>
                                        </p:attrNameLst>
                                      </p:cBhvr>
                                      <p:to>
                                        <p:strVal val="visible"/>
                                      </p:to>
                                    </p:set>
                                    <p:animEffect transition="in" filter="box(out)">
                                      <p:cBhvr>
                                        <p:cTn id="47" dur="500"/>
                                        <p:tgtEl>
                                          <p:spTgt spid="63529"/>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63528"/>
                                        </p:tgtEl>
                                        <p:attrNameLst>
                                          <p:attrName>style.visibility</p:attrName>
                                        </p:attrNameLst>
                                      </p:cBhvr>
                                      <p:to>
                                        <p:strVal val="visible"/>
                                      </p:to>
                                    </p:set>
                                    <p:animEffect transition="in" filter="box(out)">
                                      <p:cBhvr>
                                        <p:cTn id="52" dur="500"/>
                                        <p:tgtEl>
                                          <p:spTgt spid="6352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iterate type="lt">
                                    <p:tmPct val="100000"/>
                                  </p:iterate>
                                  <p:childTnLst>
                                    <p:set>
                                      <p:cBhvr>
                                        <p:cTn id="56" dur="1" fill="hold">
                                          <p:stCondLst>
                                            <p:cond delay="0"/>
                                          </p:stCondLst>
                                        </p:cTn>
                                        <p:tgtEl>
                                          <p:spTgt spid="63531">
                                            <p:txEl>
                                              <p:pRg st="0" end="0"/>
                                            </p:txEl>
                                          </p:spTgt>
                                        </p:tgtEl>
                                        <p:attrNameLst>
                                          <p:attrName>style.visibility</p:attrName>
                                        </p:attrNameLst>
                                      </p:cBhvr>
                                      <p:to>
                                        <p:strVal val="visible"/>
                                      </p:to>
                                    </p:set>
                                    <p:animEffect transition="in" filter="wipe(up)">
                                      <p:cBhvr>
                                        <p:cTn id="57" dur="75"/>
                                        <p:tgtEl>
                                          <p:spTgt spid="63531">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32" fill="hold" nodeType="clickEffect">
                                  <p:stCondLst>
                                    <p:cond delay="0"/>
                                  </p:stCondLst>
                                  <p:childTnLst>
                                    <p:set>
                                      <p:cBhvr>
                                        <p:cTn id="61" dur="1" fill="hold">
                                          <p:stCondLst>
                                            <p:cond delay="0"/>
                                          </p:stCondLst>
                                        </p:cTn>
                                        <p:tgtEl>
                                          <p:spTgt spid="63532"/>
                                        </p:tgtEl>
                                        <p:attrNameLst>
                                          <p:attrName>style.visibility</p:attrName>
                                        </p:attrNameLst>
                                      </p:cBhvr>
                                      <p:to>
                                        <p:strVal val="visible"/>
                                      </p:to>
                                    </p:set>
                                    <p:animEffect transition="in" filter="box(out)">
                                      <p:cBhvr>
                                        <p:cTn id="62" dur="500"/>
                                        <p:tgtEl>
                                          <p:spTgt spid="63532"/>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42" fill="hold" nodeType="click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barn(outHorizontal)">
                                      <p:cBhvr>
                                        <p:cTn id="67" dur="500"/>
                                        <p:tgtEl>
                                          <p:spTgt spid="4"/>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63554"/>
                                        </p:tgtEl>
                                        <p:attrNameLst>
                                          <p:attrName>style.visibility</p:attrName>
                                        </p:attrNameLst>
                                      </p:cBhvr>
                                      <p:to>
                                        <p:strVal val="visible"/>
                                      </p:to>
                                    </p:set>
                                    <p:animEffect transition="in" filter="box(out)">
                                      <p:cBhvr>
                                        <p:cTn id="72" dur="500"/>
                                        <p:tgtEl>
                                          <p:spTgt spid="63554"/>
                                        </p:tgtEl>
                                      </p:cBhvr>
                                    </p:animEffect>
                                  </p:childTnLst>
                                </p:cTn>
                              </p:par>
                            </p:childTnLst>
                          </p:cTn>
                        </p:par>
                      </p:childTnLst>
                    </p:cTn>
                  </p:par>
                  <p:par>
                    <p:cTn id="73" fill="hold">
                      <p:stCondLst>
                        <p:cond delay="indefinite"/>
                      </p:stCondLst>
                      <p:childTnLst>
                        <p:par>
                          <p:cTn id="74" fill="hold">
                            <p:stCondLst>
                              <p:cond delay="0"/>
                            </p:stCondLst>
                            <p:childTnLst>
                              <p:par>
                                <p:cTn id="75" presetID="4" presetClass="entr" presetSubtype="32" fill="hold" grpId="0" nodeType="clickEffect">
                                  <p:stCondLst>
                                    <p:cond delay="0"/>
                                  </p:stCondLst>
                                  <p:childTnLst>
                                    <p:set>
                                      <p:cBhvr>
                                        <p:cTn id="76" dur="1" fill="hold">
                                          <p:stCondLst>
                                            <p:cond delay="0"/>
                                          </p:stCondLst>
                                        </p:cTn>
                                        <p:tgtEl>
                                          <p:spTgt spid="63553"/>
                                        </p:tgtEl>
                                        <p:attrNameLst>
                                          <p:attrName>style.visibility</p:attrName>
                                        </p:attrNameLst>
                                      </p:cBhvr>
                                      <p:to>
                                        <p:strVal val="visible"/>
                                      </p:to>
                                    </p:set>
                                    <p:animEffect transition="in" filter="box(out)">
                                      <p:cBhvr>
                                        <p:cTn id="77" dur="500"/>
                                        <p:tgtEl>
                                          <p:spTgt spid="63553"/>
                                        </p:tgtEl>
                                      </p:cBhvr>
                                    </p:animEffect>
                                  </p:childTnLst>
                                </p:cTn>
                              </p:par>
                            </p:childTnLst>
                          </p:cTn>
                        </p:par>
                      </p:childTnLst>
                    </p:cTn>
                  </p:par>
                  <p:par>
                    <p:cTn id="78" fill="hold">
                      <p:stCondLst>
                        <p:cond delay="indefinite"/>
                      </p:stCondLst>
                      <p:childTnLst>
                        <p:par>
                          <p:cTn id="79" fill="hold">
                            <p:stCondLst>
                              <p:cond delay="0"/>
                            </p:stCondLst>
                            <p:childTnLst>
                              <p:par>
                                <p:cTn id="80" presetID="4" presetClass="entr" presetSubtype="32" fill="hold" grpId="0" nodeType="clickEffect">
                                  <p:stCondLst>
                                    <p:cond delay="0"/>
                                  </p:stCondLst>
                                  <p:childTnLst>
                                    <p:set>
                                      <p:cBhvr>
                                        <p:cTn id="81" dur="1" fill="hold">
                                          <p:stCondLst>
                                            <p:cond delay="0"/>
                                          </p:stCondLst>
                                        </p:cTn>
                                        <p:tgtEl>
                                          <p:spTgt spid="63552"/>
                                        </p:tgtEl>
                                        <p:attrNameLst>
                                          <p:attrName>style.visibility</p:attrName>
                                        </p:attrNameLst>
                                      </p:cBhvr>
                                      <p:to>
                                        <p:strVal val="visible"/>
                                      </p:to>
                                    </p:set>
                                    <p:animEffect transition="in" filter="box(out)">
                                      <p:cBhvr>
                                        <p:cTn id="82" dur="500"/>
                                        <p:tgtEl>
                                          <p:spTgt spid="63552"/>
                                        </p:tgtEl>
                                      </p:cBhvr>
                                    </p:animEffect>
                                  </p:childTnLst>
                                </p:cTn>
                              </p:par>
                            </p:childTnLst>
                          </p:cTn>
                        </p:par>
                      </p:childTnLst>
                    </p:cTn>
                  </p:par>
                  <p:par>
                    <p:cTn id="83" fill="hold">
                      <p:stCondLst>
                        <p:cond delay="indefinite"/>
                      </p:stCondLst>
                      <p:childTnLst>
                        <p:par>
                          <p:cTn id="84" fill="hold">
                            <p:stCondLst>
                              <p:cond delay="0"/>
                            </p:stCondLst>
                            <p:childTnLst>
                              <p:par>
                                <p:cTn id="85" presetID="4" presetClass="entr" presetSubtype="32" fill="hold" grpId="0" nodeType="clickEffect">
                                  <p:stCondLst>
                                    <p:cond delay="0"/>
                                  </p:stCondLst>
                                  <p:childTnLst>
                                    <p:set>
                                      <p:cBhvr>
                                        <p:cTn id="86" dur="1" fill="hold">
                                          <p:stCondLst>
                                            <p:cond delay="0"/>
                                          </p:stCondLst>
                                        </p:cTn>
                                        <p:tgtEl>
                                          <p:spTgt spid="63551"/>
                                        </p:tgtEl>
                                        <p:attrNameLst>
                                          <p:attrName>style.visibility</p:attrName>
                                        </p:attrNameLst>
                                      </p:cBhvr>
                                      <p:to>
                                        <p:strVal val="visible"/>
                                      </p:to>
                                    </p:set>
                                    <p:animEffect transition="in" filter="box(out)">
                                      <p:cBhvr>
                                        <p:cTn id="87" dur="500"/>
                                        <p:tgtEl>
                                          <p:spTgt spid="63551"/>
                                        </p:tgtEl>
                                      </p:cBhvr>
                                    </p:animEffect>
                                  </p:childTnLst>
                                </p:cTn>
                              </p:par>
                            </p:childTnLst>
                          </p:cTn>
                        </p:par>
                      </p:childTnLst>
                    </p:cTn>
                  </p:par>
                  <p:par>
                    <p:cTn id="88" fill="hold">
                      <p:stCondLst>
                        <p:cond delay="indefinite"/>
                      </p:stCondLst>
                      <p:childTnLst>
                        <p:par>
                          <p:cTn id="89" fill="hold">
                            <p:stCondLst>
                              <p:cond delay="0"/>
                            </p:stCondLst>
                            <p:childTnLst>
                              <p:par>
                                <p:cTn id="90" presetID="4" presetClass="entr" presetSubtype="32" fill="hold" grpId="0" nodeType="clickEffect">
                                  <p:stCondLst>
                                    <p:cond delay="0"/>
                                  </p:stCondLst>
                                  <p:childTnLst>
                                    <p:set>
                                      <p:cBhvr>
                                        <p:cTn id="91" dur="1" fill="hold">
                                          <p:stCondLst>
                                            <p:cond delay="0"/>
                                          </p:stCondLst>
                                        </p:cTn>
                                        <p:tgtEl>
                                          <p:spTgt spid="63550"/>
                                        </p:tgtEl>
                                        <p:attrNameLst>
                                          <p:attrName>style.visibility</p:attrName>
                                        </p:attrNameLst>
                                      </p:cBhvr>
                                      <p:to>
                                        <p:strVal val="visible"/>
                                      </p:to>
                                    </p:set>
                                    <p:animEffect transition="in" filter="box(out)">
                                      <p:cBhvr>
                                        <p:cTn id="92" dur="500"/>
                                        <p:tgtEl>
                                          <p:spTgt spid="63550"/>
                                        </p:tgtEl>
                                      </p:cBhvr>
                                    </p:animEffect>
                                  </p:childTnLst>
                                </p:cTn>
                              </p:par>
                            </p:childTnLst>
                          </p:cTn>
                        </p:par>
                      </p:childTnLst>
                    </p:cTn>
                  </p:par>
                  <p:par>
                    <p:cTn id="93" fill="hold">
                      <p:stCondLst>
                        <p:cond delay="indefinite"/>
                      </p:stCondLst>
                      <p:childTnLst>
                        <p:par>
                          <p:cTn id="94" fill="hold">
                            <p:stCondLst>
                              <p:cond delay="0"/>
                            </p:stCondLst>
                            <p:childTnLst>
                              <p:par>
                                <p:cTn id="95" presetID="4" presetClass="entr" presetSubtype="32" fill="hold" grpId="0" nodeType="clickEffect">
                                  <p:stCondLst>
                                    <p:cond delay="0"/>
                                  </p:stCondLst>
                                  <p:childTnLst>
                                    <p:set>
                                      <p:cBhvr>
                                        <p:cTn id="96" dur="1" fill="hold">
                                          <p:stCondLst>
                                            <p:cond delay="0"/>
                                          </p:stCondLst>
                                        </p:cTn>
                                        <p:tgtEl>
                                          <p:spTgt spid="63549"/>
                                        </p:tgtEl>
                                        <p:attrNameLst>
                                          <p:attrName>style.visibility</p:attrName>
                                        </p:attrNameLst>
                                      </p:cBhvr>
                                      <p:to>
                                        <p:strVal val="visible"/>
                                      </p:to>
                                    </p:set>
                                    <p:animEffect transition="in" filter="box(out)">
                                      <p:cBhvr>
                                        <p:cTn id="97" dur="500"/>
                                        <p:tgtEl>
                                          <p:spTgt spid="63549"/>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grpId="0" nodeType="clickEffect">
                                  <p:stCondLst>
                                    <p:cond delay="0"/>
                                  </p:stCondLst>
                                  <p:iterate type="lt">
                                    <p:tmPct val="100000"/>
                                  </p:iterate>
                                  <p:childTnLst>
                                    <p:set>
                                      <p:cBhvr>
                                        <p:cTn id="101" dur="1" fill="hold">
                                          <p:stCondLst>
                                            <p:cond delay="0"/>
                                          </p:stCondLst>
                                        </p:cTn>
                                        <p:tgtEl>
                                          <p:spTgt spid="63555">
                                            <p:txEl>
                                              <p:pRg st="0" end="0"/>
                                            </p:txEl>
                                          </p:spTgt>
                                        </p:tgtEl>
                                        <p:attrNameLst>
                                          <p:attrName>style.visibility</p:attrName>
                                        </p:attrNameLst>
                                      </p:cBhvr>
                                      <p:to>
                                        <p:strVal val="visible"/>
                                      </p:to>
                                    </p:set>
                                    <p:animEffect transition="in" filter="wipe(up)">
                                      <p:cBhvr>
                                        <p:cTn id="102" dur="75"/>
                                        <p:tgtEl>
                                          <p:spTgt spid="63555">
                                            <p:txEl>
                                              <p:pRg st="0" end="0"/>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4" presetClass="entr" presetSubtype="32" fill="hold" nodeType="clickEffect">
                                  <p:stCondLst>
                                    <p:cond delay="0"/>
                                  </p:stCondLst>
                                  <p:childTnLst>
                                    <p:set>
                                      <p:cBhvr>
                                        <p:cTn id="106" dur="1" fill="hold">
                                          <p:stCondLst>
                                            <p:cond delay="0"/>
                                          </p:stCondLst>
                                        </p:cTn>
                                        <p:tgtEl>
                                          <p:spTgt spid="63556"/>
                                        </p:tgtEl>
                                        <p:attrNameLst>
                                          <p:attrName>style.visibility</p:attrName>
                                        </p:attrNameLst>
                                      </p:cBhvr>
                                      <p:to>
                                        <p:strVal val="visible"/>
                                      </p:to>
                                    </p:set>
                                    <p:animEffect transition="in" filter="box(out)">
                                      <p:cBhvr>
                                        <p:cTn id="107" dur="500"/>
                                        <p:tgtEl>
                                          <p:spTgt spid="63556"/>
                                        </p:tgtEl>
                                      </p:cBhvr>
                                    </p:animEffect>
                                  </p:childTnLst>
                                </p:cTn>
                              </p:par>
                            </p:childTnLst>
                          </p:cTn>
                        </p:par>
                      </p:childTnLst>
                    </p:cTn>
                  </p:par>
                  <p:par>
                    <p:cTn id="108" fill="hold">
                      <p:stCondLst>
                        <p:cond delay="indefinite"/>
                      </p:stCondLst>
                      <p:childTnLst>
                        <p:par>
                          <p:cTn id="109" fill="hold">
                            <p:stCondLst>
                              <p:cond delay="0"/>
                            </p:stCondLst>
                            <p:childTnLst>
                              <p:par>
                                <p:cTn id="110" presetID="16" presetClass="entr" presetSubtype="42" fill="hold" nodeType="clickEffect">
                                  <p:stCondLst>
                                    <p:cond delay="0"/>
                                  </p:stCondLst>
                                  <p:childTnLst>
                                    <p:set>
                                      <p:cBhvr>
                                        <p:cTn id="111" dur="1" fill="hold">
                                          <p:stCondLst>
                                            <p:cond delay="0"/>
                                          </p:stCondLst>
                                        </p:cTn>
                                        <p:tgtEl>
                                          <p:spTgt spid="5"/>
                                        </p:tgtEl>
                                        <p:attrNameLst>
                                          <p:attrName>style.visibility</p:attrName>
                                        </p:attrNameLst>
                                      </p:cBhvr>
                                      <p:to>
                                        <p:strVal val="visible"/>
                                      </p:to>
                                    </p:set>
                                    <p:animEffect transition="in" filter="barn(outHorizontal)">
                                      <p:cBhvr>
                                        <p:cTn id="112" dur="500"/>
                                        <p:tgtEl>
                                          <p:spTgt spid="5"/>
                                        </p:tgtEl>
                                      </p:cBhvr>
                                    </p:animEffect>
                                  </p:childTnLst>
                                </p:cTn>
                              </p:par>
                            </p:childTnLst>
                          </p:cTn>
                        </p:par>
                      </p:childTnLst>
                    </p:cTn>
                  </p:par>
                  <p:par>
                    <p:cTn id="113" fill="hold">
                      <p:stCondLst>
                        <p:cond delay="indefinite"/>
                      </p:stCondLst>
                      <p:childTnLst>
                        <p:par>
                          <p:cTn id="114" fill="hold">
                            <p:stCondLst>
                              <p:cond delay="0"/>
                            </p:stCondLst>
                            <p:childTnLst>
                              <p:par>
                                <p:cTn id="115" presetID="4" presetClass="entr" presetSubtype="32" fill="hold" grpId="0" nodeType="clickEffect">
                                  <p:stCondLst>
                                    <p:cond delay="0"/>
                                  </p:stCondLst>
                                  <p:childTnLst>
                                    <p:set>
                                      <p:cBhvr>
                                        <p:cTn id="116" dur="1" fill="hold">
                                          <p:stCondLst>
                                            <p:cond delay="0"/>
                                          </p:stCondLst>
                                        </p:cTn>
                                        <p:tgtEl>
                                          <p:spTgt spid="63560"/>
                                        </p:tgtEl>
                                        <p:attrNameLst>
                                          <p:attrName>style.visibility</p:attrName>
                                        </p:attrNameLst>
                                      </p:cBhvr>
                                      <p:to>
                                        <p:strVal val="visible"/>
                                      </p:to>
                                    </p:set>
                                    <p:animEffect transition="in" filter="box(out)">
                                      <p:cBhvr>
                                        <p:cTn id="117" dur="500"/>
                                        <p:tgtEl>
                                          <p:spTgt spid="63560"/>
                                        </p:tgtEl>
                                      </p:cBhvr>
                                    </p:animEffect>
                                  </p:childTnLst>
                                </p:cTn>
                              </p:par>
                            </p:childTnLst>
                          </p:cTn>
                        </p:par>
                      </p:childTnLst>
                    </p:cTn>
                  </p:par>
                  <p:par>
                    <p:cTn id="118" fill="hold">
                      <p:stCondLst>
                        <p:cond delay="indefinite"/>
                      </p:stCondLst>
                      <p:childTnLst>
                        <p:par>
                          <p:cTn id="119" fill="hold">
                            <p:stCondLst>
                              <p:cond delay="0"/>
                            </p:stCondLst>
                            <p:childTnLst>
                              <p:par>
                                <p:cTn id="120" presetID="4" presetClass="entr" presetSubtype="32" fill="hold" grpId="0" nodeType="clickEffect">
                                  <p:stCondLst>
                                    <p:cond delay="0"/>
                                  </p:stCondLst>
                                  <p:childTnLst>
                                    <p:set>
                                      <p:cBhvr>
                                        <p:cTn id="121" dur="1" fill="hold">
                                          <p:stCondLst>
                                            <p:cond delay="0"/>
                                          </p:stCondLst>
                                        </p:cTn>
                                        <p:tgtEl>
                                          <p:spTgt spid="63559"/>
                                        </p:tgtEl>
                                        <p:attrNameLst>
                                          <p:attrName>style.visibility</p:attrName>
                                        </p:attrNameLst>
                                      </p:cBhvr>
                                      <p:to>
                                        <p:strVal val="visible"/>
                                      </p:to>
                                    </p:set>
                                    <p:animEffect transition="in" filter="box(out)">
                                      <p:cBhvr>
                                        <p:cTn id="122" dur="500"/>
                                        <p:tgtEl>
                                          <p:spTgt spid="63559"/>
                                        </p:tgtEl>
                                      </p:cBhvr>
                                    </p:animEffect>
                                  </p:childTnLst>
                                </p:cTn>
                              </p:par>
                            </p:childTnLst>
                          </p:cTn>
                        </p:par>
                      </p:childTnLst>
                    </p:cTn>
                  </p:par>
                  <p:par>
                    <p:cTn id="123" fill="hold">
                      <p:stCondLst>
                        <p:cond delay="indefinite"/>
                      </p:stCondLst>
                      <p:childTnLst>
                        <p:par>
                          <p:cTn id="124" fill="hold">
                            <p:stCondLst>
                              <p:cond delay="0"/>
                            </p:stCondLst>
                            <p:childTnLst>
                              <p:par>
                                <p:cTn id="125" presetID="4" presetClass="entr" presetSubtype="32" fill="hold" grpId="0" nodeType="clickEffect">
                                  <p:stCondLst>
                                    <p:cond delay="0"/>
                                  </p:stCondLst>
                                  <p:childTnLst>
                                    <p:set>
                                      <p:cBhvr>
                                        <p:cTn id="126" dur="1" fill="hold">
                                          <p:stCondLst>
                                            <p:cond delay="0"/>
                                          </p:stCondLst>
                                        </p:cTn>
                                        <p:tgtEl>
                                          <p:spTgt spid="63558"/>
                                        </p:tgtEl>
                                        <p:attrNameLst>
                                          <p:attrName>style.visibility</p:attrName>
                                        </p:attrNameLst>
                                      </p:cBhvr>
                                      <p:to>
                                        <p:strVal val="visible"/>
                                      </p:to>
                                    </p:set>
                                    <p:animEffect transition="in" filter="box(out)">
                                      <p:cBhvr>
                                        <p:cTn id="127" dur="500"/>
                                        <p:tgtEl>
                                          <p:spTgt spid="63558"/>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1" fill="hold" grpId="0" nodeType="clickEffect">
                                  <p:stCondLst>
                                    <p:cond delay="0"/>
                                  </p:stCondLst>
                                  <p:iterate type="lt">
                                    <p:tmPct val="100000"/>
                                  </p:iterate>
                                  <p:childTnLst>
                                    <p:set>
                                      <p:cBhvr>
                                        <p:cTn id="131" dur="1" fill="hold">
                                          <p:stCondLst>
                                            <p:cond delay="0"/>
                                          </p:stCondLst>
                                        </p:cTn>
                                        <p:tgtEl>
                                          <p:spTgt spid="63557">
                                            <p:txEl>
                                              <p:pRg st="0" end="0"/>
                                            </p:txEl>
                                          </p:spTgt>
                                        </p:tgtEl>
                                        <p:attrNameLst>
                                          <p:attrName>style.visibility</p:attrName>
                                        </p:attrNameLst>
                                      </p:cBhvr>
                                      <p:to>
                                        <p:strVal val="visible"/>
                                      </p:to>
                                    </p:set>
                                    <p:animEffect transition="in" filter="wipe(up)">
                                      <p:cBhvr>
                                        <p:cTn id="132" dur="75"/>
                                        <p:tgtEl>
                                          <p:spTgt spid="6355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3" grpId="0" build="p" autoUpdateAnimBg="0"/>
      <p:bldP spid="63510" grpId="0" animBg="1"/>
      <p:bldP spid="63528" grpId="0" animBg="1"/>
      <p:bldP spid="63529" grpId="0" animBg="1"/>
      <p:bldP spid="63530" grpId="0" animBg="1"/>
      <p:bldP spid="63531" grpId="0" build="p" autoUpdateAnimBg="0"/>
      <p:bldP spid="63549" grpId="0" animBg="1"/>
      <p:bldP spid="63550" grpId="0" animBg="1"/>
      <p:bldP spid="63551" grpId="0" animBg="1"/>
      <p:bldP spid="63552" grpId="0" animBg="1"/>
      <p:bldP spid="63553" grpId="0" animBg="1"/>
      <p:bldP spid="63554" grpId="0" animBg="1"/>
      <p:bldP spid="63555" grpId="0" build="p" autoUpdateAnimBg="0"/>
      <p:bldP spid="63557" grpId="0" build="p" autoUpdateAnimBg="0"/>
      <p:bldP spid="63560" grpId="0" animBg="1"/>
      <p:bldP spid="63559" grpId="0" animBg="1"/>
      <p:bldP spid="63558" grpId="0" animBg="1"/>
      <p:bldP spid="6358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516" name="Object 4"/>
          <p:cNvGraphicFramePr>
            <a:graphicFrameLocks/>
          </p:cNvGraphicFramePr>
          <p:nvPr/>
        </p:nvGraphicFramePr>
        <p:xfrm>
          <a:off x="576263" y="1196975"/>
          <a:ext cx="636587" cy="320675"/>
        </p:xfrm>
        <a:graphic>
          <a:graphicData uri="http://schemas.openxmlformats.org/presentationml/2006/ole">
            <p:oleObj spid="_x0000_s3074" name="公式" r:id="rId3" imgW="355320" imgH="177480" progId="Equation.3">
              <p:embed/>
            </p:oleObj>
          </a:graphicData>
        </a:graphic>
      </p:graphicFrame>
      <p:sp>
        <p:nvSpPr>
          <p:cNvPr id="64517" name="Rectangle 5"/>
          <p:cNvSpPr>
            <a:spLocks noChangeArrowheads="1"/>
          </p:cNvSpPr>
          <p:nvPr/>
        </p:nvSpPr>
        <p:spPr bwMode="auto">
          <a:xfrm>
            <a:off x="7308850" y="963613"/>
            <a:ext cx="1593850" cy="822325"/>
          </a:xfrm>
          <a:prstGeom prst="rect">
            <a:avLst/>
          </a:prstGeom>
          <a:noFill/>
          <a:ln w="9525">
            <a:noFill/>
            <a:miter lim="800000"/>
            <a:headEnd/>
            <a:tailEnd/>
          </a:ln>
        </p:spPr>
        <p:txBody>
          <a:bodyPr>
            <a:spAutoFit/>
          </a:bodyPr>
          <a:lstStyle/>
          <a:p>
            <a:pPr eaLnBrk="0" hangingPunct="0"/>
            <a:r>
              <a:rPr lang="zh-CN" altLang="en-US" b="1">
                <a:solidFill>
                  <a:schemeClr val="accent2"/>
                </a:solidFill>
                <a:ea typeface="楷体_GB2312" pitchFamily="49" charset="-122"/>
              </a:rPr>
              <a:t>振动状态 传至</a:t>
            </a:r>
            <a:r>
              <a:rPr lang="en-US" altLang="zh-CN" b="1">
                <a:solidFill>
                  <a:schemeClr val="accent2"/>
                </a:solidFill>
                <a:ea typeface="楷体_GB2312" pitchFamily="49" charset="-122"/>
              </a:rPr>
              <a:t>13</a:t>
            </a:r>
          </a:p>
        </p:txBody>
      </p:sp>
      <p:grpSp>
        <p:nvGrpSpPr>
          <p:cNvPr id="2" name="Group 7"/>
          <p:cNvGrpSpPr>
            <a:grpSpLocks/>
          </p:cNvGrpSpPr>
          <p:nvPr/>
        </p:nvGrpSpPr>
        <p:grpSpPr bwMode="auto">
          <a:xfrm>
            <a:off x="1409700" y="525463"/>
            <a:ext cx="5943600" cy="1943100"/>
            <a:chOff x="888" y="1452"/>
            <a:chExt cx="3744" cy="1224"/>
          </a:xfrm>
        </p:grpSpPr>
        <p:sp>
          <p:nvSpPr>
            <p:cNvPr id="3110" name="Line 8"/>
            <p:cNvSpPr>
              <a:spLocks noChangeShapeType="1"/>
            </p:cNvSpPr>
            <p:nvPr/>
          </p:nvSpPr>
          <p:spPr bwMode="auto">
            <a:xfrm>
              <a:off x="2736" y="2016"/>
              <a:ext cx="0" cy="168"/>
            </a:xfrm>
            <a:prstGeom prst="line">
              <a:avLst/>
            </a:prstGeom>
            <a:noFill/>
            <a:ln w="9525">
              <a:solidFill>
                <a:srgbClr val="FF3300"/>
              </a:solidFill>
              <a:round/>
              <a:headEnd/>
              <a:tailEnd type="triangle" w="med" len="med"/>
            </a:ln>
          </p:spPr>
          <p:txBody>
            <a:bodyPr wrap="none" anchor="ctr"/>
            <a:lstStyle/>
            <a:p>
              <a:endParaRPr lang="zh-CN" altLang="en-US"/>
            </a:p>
          </p:txBody>
        </p:sp>
        <p:sp>
          <p:nvSpPr>
            <p:cNvPr id="3111" name="Line 9"/>
            <p:cNvSpPr>
              <a:spLocks noChangeShapeType="1"/>
            </p:cNvSpPr>
            <p:nvPr/>
          </p:nvSpPr>
          <p:spPr bwMode="auto">
            <a:xfrm>
              <a:off x="948" y="2016"/>
              <a:ext cx="3504" cy="12"/>
            </a:xfrm>
            <a:prstGeom prst="line">
              <a:avLst/>
            </a:prstGeom>
            <a:noFill/>
            <a:ln w="9525">
              <a:solidFill>
                <a:srgbClr val="FF66FF"/>
              </a:solidFill>
              <a:round/>
              <a:headEnd/>
              <a:tailEnd/>
            </a:ln>
          </p:spPr>
          <p:txBody>
            <a:bodyPr wrap="none" anchor="ctr"/>
            <a:lstStyle/>
            <a:p>
              <a:endParaRPr lang="zh-CN" altLang="en-US"/>
            </a:p>
          </p:txBody>
        </p:sp>
        <p:sp>
          <p:nvSpPr>
            <p:cNvPr id="3112" name="Rectangle 10"/>
            <p:cNvSpPr>
              <a:spLocks noChangeArrowheads="1"/>
            </p:cNvSpPr>
            <p:nvPr/>
          </p:nvSpPr>
          <p:spPr bwMode="auto">
            <a:xfrm>
              <a:off x="888" y="2040"/>
              <a:ext cx="3744" cy="250"/>
            </a:xfrm>
            <a:prstGeom prst="rect">
              <a:avLst/>
            </a:prstGeom>
            <a:noFill/>
            <a:ln w="9525">
              <a:noFill/>
              <a:miter lim="800000"/>
              <a:headEnd/>
              <a:tailEnd/>
            </a:ln>
          </p:spPr>
          <p:txBody>
            <a:bodyPr>
              <a:spAutoFit/>
            </a:bodyPr>
            <a:lstStyle/>
            <a:p>
              <a:pPr eaLnBrk="0" hangingPunct="0"/>
              <a:r>
                <a:rPr lang="en-US" altLang="zh-CN" sz="2000">
                  <a:latin typeface="Bookman Old Style" pitchFamily="18" charset="0"/>
                  <a:ea typeface="魏碑体" charset="-122"/>
                </a:rPr>
                <a:t> </a:t>
              </a:r>
              <a:r>
                <a:rPr lang="en-US" altLang="zh-CN" sz="2000">
                  <a:ea typeface="魏碑体" charset="-122"/>
                </a:rPr>
                <a:t>1    2      3     4      5     6    7       8     9    10   11  12  13</a:t>
              </a:r>
            </a:p>
          </p:txBody>
        </p:sp>
        <p:sp>
          <p:nvSpPr>
            <p:cNvPr id="3113" name="Oval 11"/>
            <p:cNvSpPr>
              <a:spLocks noChangeArrowheads="1"/>
            </p:cNvSpPr>
            <p:nvPr/>
          </p:nvSpPr>
          <p:spPr bwMode="auto">
            <a:xfrm>
              <a:off x="1248" y="2220"/>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3114" name="Oval 12"/>
            <p:cNvSpPr>
              <a:spLocks noChangeArrowheads="1"/>
            </p:cNvSpPr>
            <p:nvPr/>
          </p:nvSpPr>
          <p:spPr bwMode="auto">
            <a:xfrm>
              <a:off x="948" y="1944"/>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3115" name="Oval 13"/>
            <p:cNvSpPr>
              <a:spLocks noChangeArrowheads="1"/>
            </p:cNvSpPr>
            <p:nvPr/>
          </p:nvSpPr>
          <p:spPr bwMode="auto">
            <a:xfrm>
              <a:off x="1536" y="2400"/>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3116" name="Oval 14"/>
            <p:cNvSpPr>
              <a:spLocks noChangeArrowheads="1"/>
            </p:cNvSpPr>
            <p:nvPr/>
          </p:nvSpPr>
          <p:spPr bwMode="auto">
            <a:xfrm>
              <a:off x="1860" y="2520"/>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3117" name="Oval 15"/>
            <p:cNvSpPr>
              <a:spLocks noChangeArrowheads="1"/>
            </p:cNvSpPr>
            <p:nvPr/>
          </p:nvSpPr>
          <p:spPr bwMode="auto">
            <a:xfrm>
              <a:off x="2160" y="2388"/>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3118" name="Oval 16"/>
            <p:cNvSpPr>
              <a:spLocks noChangeArrowheads="1"/>
            </p:cNvSpPr>
            <p:nvPr/>
          </p:nvSpPr>
          <p:spPr bwMode="auto">
            <a:xfrm>
              <a:off x="2448" y="2232"/>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3119" name="Oval 17"/>
            <p:cNvSpPr>
              <a:spLocks noChangeArrowheads="1"/>
            </p:cNvSpPr>
            <p:nvPr/>
          </p:nvSpPr>
          <p:spPr bwMode="auto">
            <a:xfrm>
              <a:off x="2700" y="1932"/>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3120" name="Oval 18"/>
            <p:cNvSpPr>
              <a:spLocks noChangeArrowheads="1"/>
            </p:cNvSpPr>
            <p:nvPr/>
          </p:nvSpPr>
          <p:spPr bwMode="auto">
            <a:xfrm>
              <a:off x="3024" y="1764"/>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3121" name="Oval 19"/>
            <p:cNvSpPr>
              <a:spLocks noChangeArrowheads="1"/>
            </p:cNvSpPr>
            <p:nvPr/>
          </p:nvSpPr>
          <p:spPr bwMode="auto">
            <a:xfrm>
              <a:off x="3276" y="1560"/>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3122" name="Oval 20"/>
            <p:cNvSpPr>
              <a:spLocks noChangeArrowheads="1"/>
            </p:cNvSpPr>
            <p:nvPr/>
          </p:nvSpPr>
          <p:spPr bwMode="auto">
            <a:xfrm>
              <a:off x="3564" y="1452"/>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3123" name="Oval 21"/>
            <p:cNvSpPr>
              <a:spLocks noChangeArrowheads="1"/>
            </p:cNvSpPr>
            <p:nvPr/>
          </p:nvSpPr>
          <p:spPr bwMode="auto">
            <a:xfrm>
              <a:off x="3828" y="1548"/>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3124" name="Oval 22"/>
            <p:cNvSpPr>
              <a:spLocks noChangeArrowheads="1"/>
            </p:cNvSpPr>
            <p:nvPr/>
          </p:nvSpPr>
          <p:spPr bwMode="auto">
            <a:xfrm>
              <a:off x="4368" y="1932"/>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3125" name="Oval 23"/>
            <p:cNvSpPr>
              <a:spLocks noChangeArrowheads="1"/>
            </p:cNvSpPr>
            <p:nvPr/>
          </p:nvSpPr>
          <p:spPr bwMode="auto">
            <a:xfrm>
              <a:off x="4116" y="1728"/>
              <a:ext cx="96" cy="144"/>
            </a:xfrm>
            <a:prstGeom prst="ellipse">
              <a:avLst/>
            </a:prstGeom>
            <a:solidFill>
              <a:srgbClr val="00CC00"/>
            </a:solidFill>
            <a:ln w="9525">
              <a:noFill/>
              <a:round/>
              <a:headEnd/>
              <a:tailEnd/>
            </a:ln>
          </p:spPr>
          <p:txBody>
            <a:bodyPr lIns="92075" tIns="46038" rIns="92075" bIns="46038" anchor="ctr">
              <a:spAutoFit/>
            </a:bodyPr>
            <a:lstStyle/>
            <a:p>
              <a:endParaRPr lang="zh-CN" altLang="en-US"/>
            </a:p>
          </p:txBody>
        </p:sp>
        <p:sp>
          <p:nvSpPr>
            <p:cNvPr id="3126" name="Line 24"/>
            <p:cNvSpPr>
              <a:spLocks noChangeShapeType="1"/>
            </p:cNvSpPr>
            <p:nvPr/>
          </p:nvSpPr>
          <p:spPr bwMode="auto">
            <a:xfrm>
              <a:off x="2508" y="2280"/>
              <a:ext cx="0" cy="168"/>
            </a:xfrm>
            <a:prstGeom prst="line">
              <a:avLst/>
            </a:prstGeom>
            <a:noFill/>
            <a:ln w="9525">
              <a:solidFill>
                <a:srgbClr val="FF3300"/>
              </a:solidFill>
              <a:round/>
              <a:headEnd/>
              <a:tailEnd type="triangle" w="med" len="med"/>
            </a:ln>
          </p:spPr>
          <p:txBody>
            <a:bodyPr wrap="none" anchor="ctr"/>
            <a:lstStyle/>
            <a:p>
              <a:endParaRPr lang="zh-CN" altLang="en-US"/>
            </a:p>
          </p:txBody>
        </p:sp>
        <p:sp>
          <p:nvSpPr>
            <p:cNvPr id="3127" name="Line 25"/>
            <p:cNvSpPr>
              <a:spLocks noChangeShapeType="1"/>
            </p:cNvSpPr>
            <p:nvPr/>
          </p:nvSpPr>
          <p:spPr bwMode="auto">
            <a:xfrm>
              <a:off x="3324" y="1656"/>
              <a:ext cx="0" cy="168"/>
            </a:xfrm>
            <a:prstGeom prst="line">
              <a:avLst/>
            </a:prstGeom>
            <a:noFill/>
            <a:ln w="9525">
              <a:solidFill>
                <a:srgbClr val="FF3300"/>
              </a:solidFill>
              <a:round/>
              <a:headEnd/>
              <a:tailEnd type="triangle" w="med" len="med"/>
            </a:ln>
          </p:spPr>
          <p:txBody>
            <a:bodyPr wrap="none" anchor="ctr"/>
            <a:lstStyle/>
            <a:p>
              <a:endParaRPr lang="zh-CN" altLang="en-US"/>
            </a:p>
          </p:txBody>
        </p:sp>
        <p:sp>
          <p:nvSpPr>
            <p:cNvPr id="3128" name="Line 26"/>
            <p:cNvSpPr>
              <a:spLocks noChangeShapeType="1"/>
            </p:cNvSpPr>
            <p:nvPr/>
          </p:nvSpPr>
          <p:spPr bwMode="auto">
            <a:xfrm>
              <a:off x="2208" y="2508"/>
              <a:ext cx="0" cy="168"/>
            </a:xfrm>
            <a:prstGeom prst="line">
              <a:avLst/>
            </a:prstGeom>
            <a:noFill/>
            <a:ln w="9525">
              <a:solidFill>
                <a:srgbClr val="FF3300"/>
              </a:solidFill>
              <a:round/>
              <a:headEnd/>
              <a:tailEnd type="triangle" w="med" len="med"/>
            </a:ln>
          </p:spPr>
          <p:txBody>
            <a:bodyPr wrap="none" anchor="ctr"/>
            <a:lstStyle/>
            <a:p>
              <a:endParaRPr lang="zh-CN" altLang="en-US"/>
            </a:p>
          </p:txBody>
        </p:sp>
        <p:sp>
          <p:nvSpPr>
            <p:cNvPr id="3129" name="Line 27"/>
            <p:cNvSpPr>
              <a:spLocks noChangeShapeType="1"/>
            </p:cNvSpPr>
            <p:nvPr/>
          </p:nvSpPr>
          <p:spPr bwMode="auto">
            <a:xfrm>
              <a:off x="3072" y="1836"/>
              <a:ext cx="0" cy="168"/>
            </a:xfrm>
            <a:prstGeom prst="line">
              <a:avLst/>
            </a:prstGeom>
            <a:noFill/>
            <a:ln w="9525">
              <a:solidFill>
                <a:srgbClr val="FF3300"/>
              </a:solidFill>
              <a:round/>
              <a:headEnd/>
              <a:tailEnd type="triangle" w="med" len="med"/>
            </a:ln>
          </p:spPr>
          <p:txBody>
            <a:bodyPr wrap="none" anchor="ctr"/>
            <a:lstStyle/>
            <a:p>
              <a:endParaRPr lang="zh-CN" altLang="en-US"/>
            </a:p>
          </p:txBody>
        </p:sp>
        <p:sp>
          <p:nvSpPr>
            <p:cNvPr id="3130" name="Line 28"/>
            <p:cNvSpPr>
              <a:spLocks noChangeShapeType="1"/>
            </p:cNvSpPr>
            <p:nvPr/>
          </p:nvSpPr>
          <p:spPr bwMode="auto">
            <a:xfrm flipV="1">
              <a:off x="1272" y="2052"/>
              <a:ext cx="0" cy="156"/>
            </a:xfrm>
            <a:prstGeom prst="line">
              <a:avLst/>
            </a:prstGeom>
            <a:noFill/>
            <a:ln w="9525">
              <a:solidFill>
                <a:srgbClr val="FF3300"/>
              </a:solidFill>
              <a:round/>
              <a:headEnd/>
              <a:tailEnd type="triangle" w="med" len="med"/>
            </a:ln>
          </p:spPr>
          <p:txBody>
            <a:bodyPr wrap="none" anchor="ctr"/>
            <a:lstStyle/>
            <a:p>
              <a:endParaRPr lang="zh-CN" altLang="en-US"/>
            </a:p>
          </p:txBody>
        </p:sp>
        <p:sp>
          <p:nvSpPr>
            <p:cNvPr id="3131" name="Line 29"/>
            <p:cNvSpPr>
              <a:spLocks noChangeShapeType="1"/>
            </p:cNvSpPr>
            <p:nvPr/>
          </p:nvSpPr>
          <p:spPr bwMode="auto">
            <a:xfrm flipV="1">
              <a:off x="1548" y="2256"/>
              <a:ext cx="0" cy="156"/>
            </a:xfrm>
            <a:prstGeom prst="line">
              <a:avLst/>
            </a:prstGeom>
            <a:noFill/>
            <a:ln w="9525">
              <a:solidFill>
                <a:srgbClr val="FF3300"/>
              </a:solidFill>
              <a:round/>
              <a:headEnd/>
              <a:tailEnd type="triangle" w="med" len="med"/>
            </a:ln>
          </p:spPr>
          <p:txBody>
            <a:bodyPr wrap="none" anchor="ctr"/>
            <a:lstStyle/>
            <a:p>
              <a:endParaRPr lang="zh-CN" altLang="en-US"/>
            </a:p>
          </p:txBody>
        </p:sp>
        <p:sp>
          <p:nvSpPr>
            <p:cNvPr id="3132" name="Line 30"/>
            <p:cNvSpPr>
              <a:spLocks noChangeShapeType="1"/>
            </p:cNvSpPr>
            <p:nvPr/>
          </p:nvSpPr>
          <p:spPr bwMode="auto">
            <a:xfrm flipV="1">
              <a:off x="1896" y="2400"/>
              <a:ext cx="0" cy="156"/>
            </a:xfrm>
            <a:prstGeom prst="line">
              <a:avLst/>
            </a:prstGeom>
            <a:noFill/>
            <a:ln w="9525">
              <a:solidFill>
                <a:srgbClr val="FF3300"/>
              </a:solidFill>
              <a:round/>
              <a:headEnd/>
              <a:tailEnd type="triangle" w="med" len="med"/>
            </a:ln>
          </p:spPr>
          <p:txBody>
            <a:bodyPr wrap="none" anchor="ctr"/>
            <a:lstStyle/>
            <a:p>
              <a:endParaRPr lang="zh-CN" altLang="en-US"/>
            </a:p>
          </p:txBody>
        </p:sp>
      </p:grpSp>
      <p:sp>
        <p:nvSpPr>
          <p:cNvPr id="64543" name="Line 31"/>
          <p:cNvSpPr>
            <a:spLocks noChangeShapeType="1"/>
          </p:cNvSpPr>
          <p:nvPr/>
        </p:nvSpPr>
        <p:spPr bwMode="auto">
          <a:xfrm flipV="1">
            <a:off x="7010400" y="1130300"/>
            <a:ext cx="0" cy="247650"/>
          </a:xfrm>
          <a:prstGeom prst="line">
            <a:avLst/>
          </a:prstGeom>
          <a:noFill/>
          <a:ln w="9525">
            <a:solidFill>
              <a:srgbClr val="FF3300"/>
            </a:solidFill>
            <a:round/>
            <a:headEnd/>
            <a:tailEnd type="triangle" w="med" len="med"/>
          </a:ln>
        </p:spPr>
        <p:txBody>
          <a:bodyPr wrap="none" anchor="ctr"/>
          <a:lstStyle/>
          <a:p>
            <a:endParaRPr lang="zh-CN" altLang="en-US"/>
          </a:p>
        </p:txBody>
      </p:sp>
      <p:sp>
        <p:nvSpPr>
          <p:cNvPr id="64544" name="Line 32"/>
          <p:cNvSpPr>
            <a:spLocks noChangeShapeType="1"/>
          </p:cNvSpPr>
          <p:nvPr/>
        </p:nvSpPr>
        <p:spPr bwMode="auto">
          <a:xfrm flipV="1">
            <a:off x="6600825" y="811213"/>
            <a:ext cx="0" cy="247650"/>
          </a:xfrm>
          <a:prstGeom prst="line">
            <a:avLst/>
          </a:prstGeom>
          <a:noFill/>
          <a:ln w="9525">
            <a:solidFill>
              <a:srgbClr val="FF3300"/>
            </a:solidFill>
            <a:round/>
            <a:headEnd/>
            <a:tailEnd type="triangle" w="med" len="med"/>
          </a:ln>
        </p:spPr>
        <p:txBody>
          <a:bodyPr wrap="none" anchor="ctr"/>
          <a:lstStyle/>
          <a:p>
            <a:endParaRPr lang="zh-CN" altLang="en-US"/>
          </a:p>
        </p:txBody>
      </p:sp>
      <p:sp>
        <p:nvSpPr>
          <p:cNvPr id="64518" name="Line 6"/>
          <p:cNvSpPr>
            <a:spLocks noChangeShapeType="1"/>
          </p:cNvSpPr>
          <p:nvPr/>
        </p:nvSpPr>
        <p:spPr bwMode="auto">
          <a:xfrm flipV="1">
            <a:off x="6148388" y="476250"/>
            <a:ext cx="0" cy="304800"/>
          </a:xfrm>
          <a:prstGeom prst="line">
            <a:avLst/>
          </a:prstGeom>
          <a:noFill/>
          <a:ln w="9525">
            <a:solidFill>
              <a:srgbClr val="FF3300"/>
            </a:solidFill>
            <a:round/>
            <a:headEnd/>
            <a:tailEnd type="triangle" w="med" len="med"/>
          </a:ln>
        </p:spPr>
        <p:txBody>
          <a:bodyPr wrap="none" anchor="ctr"/>
          <a:lstStyle/>
          <a:p>
            <a:endParaRPr lang="zh-CN" altLang="en-US"/>
          </a:p>
        </p:txBody>
      </p:sp>
      <p:sp>
        <p:nvSpPr>
          <p:cNvPr id="64548" name="AutoShape 36"/>
          <p:cNvSpPr>
            <a:spLocks noChangeArrowheads="1"/>
          </p:cNvSpPr>
          <p:nvPr/>
        </p:nvSpPr>
        <p:spPr bwMode="auto">
          <a:xfrm>
            <a:off x="250825" y="2276475"/>
            <a:ext cx="360363" cy="576263"/>
          </a:xfrm>
          <a:prstGeom prst="star4">
            <a:avLst>
              <a:gd name="adj" fmla="val 18519"/>
            </a:avLst>
          </a:prstGeom>
          <a:gradFill rotWithShape="1">
            <a:gsLst>
              <a:gs pos="0">
                <a:srgbClr val="FF3300"/>
              </a:gs>
              <a:gs pos="100000">
                <a:srgbClr val="761800"/>
              </a:gs>
            </a:gsLst>
            <a:path path="shape">
              <a:fillToRect l="50000" t="50000" r="50000" b="50000"/>
            </a:path>
          </a:gradFill>
          <a:ln w="9525">
            <a:noFill/>
            <a:miter lim="800000"/>
            <a:headEnd/>
            <a:tailEnd/>
          </a:ln>
        </p:spPr>
        <p:txBody>
          <a:bodyPr wrap="none" anchor="ctr"/>
          <a:lstStyle/>
          <a:p>
            <a:endParaRPr lang="zh-CN" altLang="en-US"/>
          </a:p>
        </p:txBody>
      </p:sp>
      <p:sp>
        <p:nvSpPr>
          <p:cNvPr id="64549" name="Text Box 37"/>
          <p:cNvSpPr txBox="1">
            <a:spLocks noChangeArrowheads="1"/>
          </p:cNvSpPr>
          <p:nvPr/>
        </p:nvSpPr>
        <p:spPr bwMode="auto">
          <a:xfrm>
            <a:off x="612775" y="2352675"/>
            <a:ext cx="1295400" cy="457200"/>
          </a:xfrm>
          <a:prstGeom prst="rect">
            <a:avLst/>
          </a:prstGeom>
          <a:noFill/>
          <a:ln w="9525">
            <a:noFill/>
            <a:miter lim="800000"/>
            <a:headEnd/>
            <a:tailEnd/>
          </a:ln>
        </p:spPr>
        <p:txBody>
          <a:bodyPr>
            <a:spAutoFit/>
          </a:bodyPr>
          <a:lstStyle/>
          <a:p>
            <a:r>
              <a:rPr lang="zh-CN" altLang="en-US" b="1">
                <a:solidFill>
                  <a:srgbClr val="FF0000"/>
                </a:solidFill>
                <a:latin typeface="宋体" pitchFamily="2" charset="-122"/>
              </a:rPr>
              <a:t>结论</a:t>
            </a:r>
            <a:endParaRPr lang="zh-CN" altLang="en-US">
              <a:solidFill>
                <a:srgbClr val="FF0000"/>
              </a:solidFill>
            </a:endParaRPr>
          </a:p>
        </p:txBody>
      </p:sp>
      <p:sp>
        <p:nvSpPr>
          <p:cNvPr id="64550" name="Rectangle 38"/>
          <p:cNvSpPr>
            <a:spLocks noChangeArrowheads="1"/>
          </p:cNvSpPr>
          <p:nvPr/>
        </p:nvSpPr>
        <p:spPr bwMode="auto">
          <a:xfrm>
            <a:off x="735013" y="2827338"/>
            <a:ext cx="4845050" cy="457200"/>
          </a:xfrm>
          <a:prstGeom prst="rect">
            <a:avLst/>
          </a:prstGeom>
          <a:noFill/>
          <a:ln w="9525">
            <a:noFill/>
            <a:miter lim="800000"/>
            <a:headEnd/>
            <a:tailEnd/>
          </a:ln>
        </p:spPr>
        <p:txBody>
          <a:bodyPr>
            <a:spAutoFit/>
          </a:bodyPr>
          <a:lstStyle/>
          <a:p>
            <a:r>
              <a:rPr lang="en-US" altLang="zh-CN" b="1"/>
              <a:t>(1) </a:t>
            </a:r>
            <a:r>
              <a:rPr lang="zh-CN" altLang="en-US" b="1"/>
              <a:t>波动中各质点并不随波前进；</a:t>
            </a:r>
            <a:endParaRPr lang="zh-CN" altLang="en-US"/>
          </a:p>
        </p:txBody>
      </p:sp>
      <p:sp>
        <p:nvSpPr>
          <p:cNvPr id="64551" name="Rectangle 39"/>
          <p:cNvSpPr>
            <a:spLocks noChangeArrowheads="1"/>
          </p:cNvSpPr>
          <p:nvPr/>
        </p:nvSpPr>
        <p:spPr bwMode="auto">
          <a:xfrm>
            <a:off x="735013" y="3406775"/>
            <a:ext cx="7724775" cy="457200"/>
          </a:xfrm>
          <a:prstGeom prst="rect">
            <a:avLst/>
          </a:prstGeom>
          <a:noFill/>
          <a:ln w="9525">
            <a:noFill/>
            <a:miter lim="800000"/>
            <a:headEnd/>
            <a:tailEnd/>
          </a:ln>
        </p:spPr>
        <p:txBody>
          <a:bodyPr>
            <a:spAutoFit/>
          </a:bodyPr>
          <a:lstStyle/>
          <a:p>
            <a:r>
              <a:rPr lang="en-US" altLang="zh-CN" b="1"/>
              <a:t>(2) </a:t>
            </a:r>
            <a:r>
              <a:rPr lang="zh-CN" altLang="en-US" b="1"/>
              <a:t>各个质点的相位依次落后，</a:t>
            </a:r>
            <a:r>
              <a:rPr lang="zh-CN" altLang="en-US" b="1">
                <a:solidFill>
                  <a:srgbClr val="FF6600"/>
                </a:solidFill>
              </a:rPr>
              <a:t>波动是相位的传播；</a:t>
            </a:r>
            <a:endParaRPr lang="zh-CN" altLang="en-US">
              <a:solidFill>
                <a:srgbClr val="FF6600"/>
              </a:solidFill>
            </a:endParaRPr>
          </a:p>
        </p:txBody>
      </p:sp>
      <p:sp>
        <p:nvSpPr>
          <p:cNvPr id="64552" name="Rectangle 40"/>
          <p:cNvSpPr>
            <a:spLocks noChangeArrowheads="1"/>
          </p:cNvSpPr>
          <p:nvPr/>
        </p:nvSpPr>
        <p:spPr bwMode="auto">
          <a:xfrm>
            <a:off x="735013" y="4010025"/>
            <a:ext cx="4629150" cy="457200"/>
          </a:xfrm>
          <a:prstGeom prst="rect">
            <a:avLst/>
          </a:prstGeom>
          <a:noFill/>
          <a:ln w="9525">
            <a:noFill/>
            <a:miter lim="800000"/>
            <a:headEnd/>
            <a:tailEnd/>
          </a:ln>
        </p:spPr>
        <p:txBody>
          <a:bodyPr>
            <a:spAutoFit/>
          </a:bodyPr>
          <a:lstStyle/>
          <a:p>
            <a:r>
              <a:rPr lang="en-US" altLang="zh-CN" b="1"/>
              <a:t>(3) </a:t>
            </a:r>
            <a:r>
              <a:rPr lang="zh-CN" altLang="en-US" b="1"/>
              <a:t>波动曲线与振动曲线不同。</a:t>
            </a:r>
            <a:endParaRPr lang="zh-CN" altLang="en-US"/>
          </a:p>
        </p:txBody>
      </p:sp>
      <p:grpSp>
        <p:nvGrpSpPr>
          <p:cNvPr id="3" name="Group 60"/>
          <p:cNvGrpSpPr>
            <a:grpSpLocks/>
          </p:cNvGrpSpPr>
          <p:nvPr/>
        </p:nvGrpSpPr>
        <p:grpSpPr bwMode="auto">
          <a:xfrm>
            <a:off x="1331913" y="4451350"/>
            <a:ext cx="2951162" cy="1677988"/>
            <a:chOff x="3606" y="624"/>
            <a:chExt cx="2020" cy="1057"/>
          </a:xfrm>
        </p:grpSpPr>
        <p:sp>
          <p:nvSpPr>
            <p:cNvPr id="3105" name="Line 61"/>
            <p:cNvSpPr>
              <a:spLocks noChangeShapeType="1"/>
            </p:cNvSpPr>
            <p:nvPr/>
          </p:nvSpPr>
          <p:spPr bwMode="auto">
            <a:xfrm>
              <a:off x="3850" y="1249"/>
              <a:ext cx="1776" cy="0"/>
            </a:xfrm>
            <a:prstGeom prst="line">
              <a:avLst/>
            </a:prstGeom>
            <a:noFill/>
            <a:ln w="12700">
              <a:solidFill>
                <a:srgbClr val="0000FF"/>
              </a:solidFill>
              <a:round/>
              <a:headEnd type="none" w="sm" len="sm"/>
              <a:tailEnd type="stealth" w="med" len="lg"/>
            </a:ln>
          </p:spPr>
          <p:txBody>
            <a:bodyPr wrap="none" anchor="ctr"/>
            <a:lstStyle/>
            <a:p>
              <a:endParaRPr lang="zh-CN" altLang="en-US"/>
            </a:p>
          </p:txBody>
        </p:sp>
        <p:sp>
          <p:nvSpPr>
            <p:cNvPr id="3106" name="Line 62"/>
            <p:cNvSpPr>
              <a:spLocks noChangeShapeType="1"/>
            </p:cNvSpPr>
            <p:nvPr/>
          </p:nvSpPr>
          <p:spPr bwMode="auto">
            <a:xfrm>
              <a:off x="3850" y="817"/>
              <a:ext cx="0" cy="864"/>
            </a:xfrm>
            <a:prstGeom prst="line">
              <a:avLst/>
            </a:prstGeom>
            <a:noFill/>
            <a:ln w="12700">
              <a:solidFill>
                <a:srgbClr val="0000FF"/>
              </a:solidFill>
              <a:round/>
              <a:headEnd type="stealth" w="med" len="lg"/>
              <a:tailEnd type="none" w="sm" len="sm"/>
            </a:ln>
          </p:spPr>
          <p:txBody>
            <a:bodyPr wrap="none" anchor="ctr"/>
            <a:lstStyle/>
            <a:p>
              <a:endParaRPr lang="zh-CN" altLang="en-US"/>
            </a:p>
          </p:txBody>
        </p:sp>
        <p:sp>
          <p:nvSpPr>
            <p:cNvPr id="3107" name="Rectangle 63"/>
            <p:cNvSpPr>
              <a:spLocks noChangeArrowheads="1"/>
            </p:cNvSpPr>
            <p:nvPr/>
          </p:nvSpPr>
          <p:spPr bwMode="auto">
            <a:xfrm>
              <a:off x="3840" y="624"/>
              <a:ext cx="233" cy="327"/>
            </a:xfrm>
            <a:prstGeom prst="rect">
              <a:avLst/>
            </a:prstGeom>
            <a:noFill/>
            <a:ln w="9525">
              <a:noFill/>
              <a:miter lim="800000"/>
              <a:headEnd/>
              <a:tailEnd/>
            </a:ln>
          </p:spPr>
          <p:txBody>
            <a:bodyPr wrap="none" lIns="92075" tIns="46038" rIns="92075" bIns="46038">
              <a:spAutoFit/>
            </a:bodyPr>
            <a:lstStyle/>
            <a:p>
              <a:r>
                <a:rPr lang="en-US" altLang="zh-CN" sz="2800" i="1">
                  <a:solidFill>
                    <a:srgbClr val="0000FF"/>
                  </a:solidFill>
                </a:rPr>
                <a:t>y</a:t>
              </a:r>
              <a:endParaRPr lang="en-US" altLang="zh-CN">
                <a:solidFill>
                  <a:srgbClr val="0000FF"/>
                </a:solidFill>
              </a:endParaRPr>
            </a:p>
          </p:txBody>
        </p:sp>
        <p:sp>
          <p:nvSpPr>
            <p:cNvPr id="3108" name="Rectangle 64"/>
            <p:cNvSpPr>
              <a:spLocks noChangeArrowheads="1"/>
            </p:cNvSpPr>
            <p:nvPr/>
          </p:nvSpPr>
          <p:spPr bwMode="auto">
            <a:xfrm>
              <a:off x="5424" y="1248"/>
              <a:ext cx="193" cy="327"/>
            </a:xfrm>
            <a:prstGeom prst="rect">
              <a:avLst/>
            </a:prstGeom>
            <a:noFill/>
            <a:ln w="9525">
              <a:noFill/>
              <a:miter lim="800000"/>
              <a:headEnd/>
              <a:tailEnd/>
            </a:ln>
          </p:spPr>
          <p:txBody>
            <a:bodyPr wrap="none" lIns="92075" tIns="46038" rIns="92075" bIns="46038">
              <a:spAutoFit/>
            </a:bodyPr>
            <a:lstStyle/>
            <a:p>
              <a:r>
                <a:rPr lang="en-US" altLang="zh-CN" sz="2800" i="1">
                  <a:solidFill>
                    <a:srgbClr val="0000FF"/>
                  </a:solidFill>
                </a:rPr>
                <a:t>t</a:t>
              </a:r>
              <a:endParaRPr lang="en-US" altLang="zh-CN">
                <a:solidFill>
                  <a:srgbClr val="0000FF"/>
                </a:solidFill>
              </a:endParaRPr>
            </a:p>
          </p:txBody>
        </p:sp>
        <p:sp>
          <p:nvSpPr>
            <p:cNvPr id="3109" name="Rectangle 65"/>
            <p:cNvSpPr>
              <a:spLocks noChangeArrowheads="1"/>
            </p:cNvSpPr>
            <p:nvPr/>
          </p:nvSpPr>
          <p:spPr bwMode="auto">
            <a:xfrm>
              <a:off x="3606" y="1071"/>
              <a:ext cx="248" cy="327"/>
            </a:xfrm>
            <a:prstGeom prst="rect">
              <a:avLst/>
            </a:prstGeom>
            <a:noFill/>
            <a:ln w="9525">
              <a:noFill/>
              <a:miter lim="800000"/>
              <a:headEnd/>
              <a:tailEnd/>
            </a:ln>
          </p:spPr>
          <p:txBody>
            <a:bodyPr wrap="none" lIns="92075" tIns="46038" rIns="92075" bIns="46038">
              <a:spAutoFit/>
            </a:bodyPr>
            <a:lstStyle/>
            <a:p>
              <a:r>
                <a:rPr lang="en-US" altLang="zh-CN" sz="2800" i="1">
                  <a:solidFill>
                    <a:srgbClr val="9900CC"/>
                  </a:solidFill>
                </a:rPr>
                <a:t>o</a:t>
              </a:r>
              <a:endParaRPr lang="en-US" altLang="zh-CN">
                <a:solidFill>
                  <a:srgbClr val="9900CC"/>
                </a:solidFill>
              </a:endParaRPr>
            </a:p>
          </p:txBody>
        </p:sp>
      </p:grpSp>
      <p:grpSp>
        <p:nvGrpSpPr>
          <p:cNvPr id="4" name="Group 66"/>
          <p:cNvGrpSpPr>
            <a:grpSpLocks/>
          </p:cNvGrpSpPr>
          <p:nvPr/>
        </p:nvGrpSpPr>
        <p:grpSpPr bwMode="auto">
          <a:xfrm>
            <a:off x="1692275" y="4873625"/>
            <a:ext cx="2232025" cy="1108075"/>
            <a:chOff x="3990" y="1599"/>
            <a:chExt cx="1770" cy="456"/>
          </a:xfrm>
        </p:grpSpPr>
        <p:sp>
          <p:nvSpPr>
            <p:cNvPr id="3103" name="Freeform 67"/>
            <p:cNvSpPr>
              <a:spLocks/>
            </p:cNvSpPr>
            <p:nvPr/>
          </p:nvSpPr>
          <p:spPr bwMode="auto">
            <a:xfrm>
              <a:off x="3990" y="1599"/>
              <a:ext cx="863" cy="23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2 w 20000"/>
                <a:gd name="T87" fmla="*/ 0 h 20000"/>
                <a:gd name="T88" fmla="*/ 2 w 20000"/>
                <a:gd name="T89" fmla="*/ 0 h 20000"/>
                <a:gd name="T90" fmla="*/ 2 w 20000"/>
                <a:gd name="T91" fmla="*/ 0 h 20000"/>
                <a:gd name="T92" fmla="*/ 2 w 20000"/>
                <a:gd name="T93" fmla="*/ 0 h 20000"/>
                <a:gd name="T94" fmla="*/ 2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86"/>
                  </a:moveTo>
                  <a:lnTo>
                    <a:pt x="225" y="18477"/>
                  </a:lnTo>
                  <a:lnTo>
                    <a:pt x="437" y="17868"/>
                  </a:lnTo>
                  <a:lnTo>
                    <a:pt x="662" y="17259"/>
                  </a:lnTo>
                  <a:lnTo>
                    <a:pt x="887" y="16684"/>
                  </a:lnTo>
                  <a:lnTo>
                    <a:pt x="1099" y="16074"/>
                  </a:lnTo>
                  <a:lnTo>
                    <a:pt x="1325" y="15465"/>
                  </a:lnTo>
                  <a:lnTo>
                    <a:pt x="1550" y="14890"/>
                  </a:lnTo>
                  <a:lnTo>
                    <a:pt x="1762" y="14281"/>
                  </a:lnTo>
                  <a:lnTo>
                    <a:pt x="1987" y="13706"/>
                  </a:lnTo>
                  <a:lnTo>
                    <a:pt x="2225" y="13164"/>
                  </a:lnTo>
                  <a:lnTo>
                    <a:pt x="2450" y="12589"/>
                  </a:lnTo>
                  <a:lnTo>
                    <a:pt x="2675" y="12014"/>
                  </a:lnTo>
                  <a:lnTo>
                    <a:pt x="2887" y="11472"/>
                  </a:lnTo>
                  <a:lnTo>
                    <a:pt x="3113" y="10863"/>
                  </a:lnTo>
                  <a:lnTo>
                    <a:pt x="3338" y="10355"/>
                  </a:lnTo>
                  <a:lnTo>
                    <a:pt x="3550" y="9780"/>
                  </a:lnTo>
                  <a:lnTo>
                    <a:pt x="3775" y="9272"/>
                  </a:lnTo>
                  <a:lnTo>
                    <a:pt x="4000" y="8731"/>
                  </a:lnTo>
                  <a:lnTo>
                    <a:pt x="4225" y="8223"/>
                  </a:lnTo>
                  <a:lnTo>
                    <a:pt x="4437" y="7716"/>
                  </a:lnTo>
                  <a:lnTo>
                    <a:pt x="4662" y="7242"/>
                  </a:lnTo>
                  <a:lnTo>
                    <a:pt x="4887" y="6802"/>
                  </a:lnTo>
                  <a:lnTo>
                    <a:pt x="5113" y="6328"/>
                  </a:lnTo>
                  <a:lnTo>
                    <a:pt x="5338" y="5888"/>
                  </a:lnTo>
                  <a:lnTo>
                    <a:pt x="5550" y="5415"/>
                  </a:lnTo>
                  <a:lnTo>
                    <a:pt x="5762" y="4975"/>
                  </a:lnTo>
                  <a:lnTo>
                    <a:pt x="5974" y="4569"/>
                  </a:lnTo>
                  <a:lnTo>
                    <a:pt x="6199" y="4162"/>
                  </a:lnTo>
                  <a:lnTo>
                    <a:pt x="6424" y="3756"/>
                  </a:lnTo>
                  <a:lnTo>
                    <a:pt x="6636" y="3418"/>
                  </a:lnTo>
                  <a:lnTo>
                    <a:pt x="6861" y="3046"/>
                  </a:lnTo>
                  <a:lnTo>
                    <a:pt x="7086" y="2707"/>
                  </a:lnTo>
                  <a:lnTo>
                    <a:pt x="7285" y="2437"/>
                  </a:lnTo>
                  <a:lnTo>
                    <a:pt x="7510" y="2098"/>
                  </a:lnTo>
                  <a:lnTo>
                    <a:pt x="7735" y="1794"/>
                  </a:lnTo>
                  <a:lnTo>
                    <a:pt x="7960" y="1591"/>
                  </a:lnTo>
                  <a:lnTo>
                    <a:pt x="8159" y="1320"/>
                  </a:lnTo>
                  <a:lnTo>
                    <a:pt x="8371" y="1083"/>
                  </a:lnTo>
                  <a:lnTo>
                    <a:pt x="8583" y="846"/>
                  </a:lnTo>
                  <a:lnTo>
                    <a:pt x="8808" y="677"/>
                  </a:lnTo>
                  <a:lnTo>
                    <a:pt x="9020" y="508"/>
                  </a:lnTo>
                  <a:lnTo>
                    <a:pt x="9232" y="372"/>
                  </a:lnTo>
                  <a:lnTo>
                    <a:pt x="9444" y="271"/>
                  </a:lnTo>
                  <a:lnTo>
                    <a:pt x="9642" y="135"/>
                  </a:lnTo>
                  <a:lnTo>
                    <a:pt x="9854" y="102"/>
                  </a:lnTo>
                  <a:lnTo>
                    <a:pt x="10079" y="34"/>
                  </a:lnTo>
                  <a:lnTo>
                    <a:pt x="10291" y="0"/>
                  </a:lnTo>
                  <a:lnTo>
                    <a:pt x="10503" y="34"/>
                  </a:lnTo>
                  <a:lnTo>
                    <a:pt x="10702" y="34"/>
                  </a:lnTo>
                  <a:lnTo>
                    <a:pt x="10914" y="102"/>
                  </a:lnTo>
                  <a:lnTo>
                    <a:pt x="11126" y="203"/>
                  </a:lnTo>
                  <a:lnTo>
                    <a:pt x="11338" y="305"/>
                  </a:lnTo>
                  <a:lnTo>
                    <a:pt x="11563" y="541"/>
                  </a:lnTo>
                  <a:lnTo>
                    <a:pt x="11788" y="745"/>
                  </a:lnTo>
                  <a:lnTo>
                    <a:pt x="12000" y="981"/>
                  </a:lnTo>
                  <a:lnTo>
                    <a:pt x="12225" y="1252"/>
                  </a:lnTo>
                  <a:lnTo>
                    <a:pt x="12450" y="1591"/>
                  </a:lnTo>
                  <a:lnTo>
                    <a:pt x="12689" y="1895"/>
                  </a:lnTo>
                  <a:lnTo>
                    <a:pt x="12914" y="2267"/>
                  </a:lnTo>
                  <a:lnTo>
                    <a:pt x="13152" y="2707"/>
                  </a:lnTo>
                  <a:lnTo>
                    <a:pt x="13377" y="3080"/>
                  </a:lnTo>
                  <a:lnTo>
                    <a:pt x="13616" y="3519"/>
                  </a:lnTo>
                  <a:lnTo>
                    <a:pt x="13841" y="3959"/>
                  </a:lnTo>
                  <a:lnTo>
                    <a:pt x="14066" y="4433"/>
                  </a:lnTo>
                  <a:lnTo>
                    <a:pt x="14291" y="4941"/>
                  </a:lnTo>
                  <a:lnTo>
                    <a:pt x="14530" y="5448"/>
                  </a:lnTo>
                  <a:lnTo>
                    <a:pt x="14755" y="5990"/>
                  </a:lnTo>
                  <a:lnTo>
                    <a:pt x="14993" y="6497"/>
                  </a:lnTo>
                  <a:lnTo>
                    <a:pt x="15219" y="7039"/>
                  </a:lnTo>
                  <a:lnTo>
                    <a:pt x="15444" y="7614"/>
                  </a:lnTo>
                  <a:lnTo>
                    <a:pt x="15682" y="8190"/>
                  </a:lnTo>
                  <a:lnTo>
                    <a:pt x="15894" y="8765"/>
                  </a:lnTo>
                  <a:lnTo>
                    <a:pt x="16106" y="9340"/>
                  </a:lnTo>
                  <a:lnTo>
                    <a:pt x="16318" y="9915"/>
                  </a:lnTo>
                  <a:lnTo>
                    <a:pt x="16530" y="10457"/>
                  </a:lnTo>
                  <a:lnTo>
                    <a:pt x="16742" y="11032"/>
                  </a:lnTo>
                  <a:lnTo>
                    <a:pt x="16954" y="11641"/>
                  </a:lnTo>
                  <a:lnTo>
                    <a:pt x="17152" y="12183"/>
                  </a:lnTo>
                  <a:lnTo>
                    <a:pt x="17351" y="12724"/>
                  </a:lnTo>
                  <a:lnTo>
                    <a:pt x="17550" y="13299"/>
                  </a:lnTo>
                  <a:lnTo>
                    <a:pt x="17735" y="13841"/>
                  </a:lnTo>
                  <a:lnTo>
                    <a:pt x="17934" y="14382"/>
                  </a:lnTo>
                  <a:lnTo>
                    <a:pt x="18119" y="14924"/>
                  </a:lnTo>
                  <a:lnTo>
                    <a:pt x="18291" y="15431"/>
                  </a:lnTo>
                  <a:lnTo>
                    <a:pt x="18464" y="15905"/>
                  </a:lnTo>
                  <a:lnTo>
                    <a:pt x="18636" y="16413"/>
                  </a:lnTo>
                  <a:lnTo>
                    <a:pt x="18795" y="16853"/>
                  </a:lnTo>
                  <a:lnTo>
                    <a:pt x="18954" y="17327"/>
                  </a:lnTo>
                  <a:lnTo>
                    <a:pt x="19099" y="17733"/>
                  </a:lnTo>
                  <a:lnTo>
                    <a:pt x="19258" y="18139"/>
                  </a:lnTo>
                  <a:lnTo>
                    <a:pt x="19391" y="18511"/>
                  </a:lnTo>
                  <a:lnTo>
                    <a:pt x="19523" y="18883"/>
                  </a:lnTo>
                  <a:lnTo>
                    <a:pt x="19642" y="19188"/>
                  </a:lnTo>
                  <a:lnTo>
                    <a:pt x="19775" y="19459"/>
                  </a:lnTo>
                  <a:lnTo>
                    <a:pt x="19881" y="19763"/>
                  </a:lnTo>
                  <a:lnTo>
                    <a:pt x="19987" y="19966"/>
                  </a:lnTo>
                </a:path>
              </a:pathLst>
            </a:custGeom>
            <a:noFill/>
            <a:ln w="38100">
              <a:solidFill>
                <a:srgbClr val="FF3300"/>
              </a:solidFill>
              <a:round/>
              <a:headEnd/>
              <a:tailEnd/>
            </a:ln>
          </p:spPr>
          <p:txBody>
            <a:bodyPr/>
            <a:lstStyle/>
            <a:p>
              <a:endParaRPr lang="zh-CN" altLang="en-US"/>
            </a:p>
          </p:txBody>
        </p:sp>
        <p:sp>
          <p:nvSpPr>
            <p:cNvPr id="3104" name="Freeform 68"/>
            <p:cNvSpPr>
              <a:spLocks/>
            </p:cNvSpPr>
            <p:nvPr/>
          </p:nvSpPr>
          <p:spPr bwMode="auto">
            <a:xfrm>
              <a:off x="4843" y="1827"/>
              <a:ext cx="917"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1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2 w 20000"/>
                <a:gd name="T73" fmla="*/ 0 h 20000"/>
                <a:gd name="T74" fmla="*/ 2 w 20000"/>
                <a:gd name="T75" fmla="*/ 0 h 20000"/>
                <a:gd name="T76" fmla="*/ 2 w 20000"/>
                <a:gd name="T77" fmla="*/ 0 h 20000"/>
                <a:gd name="T78" fmla="*/ 2 w 20000"/>
                <a:gd name="T79" fmla="*/ 0 h 20000"/>
                <a:gd name="T80" fmla="*/ 2 w 20000"/>
                <a:gd name="T81" fmla="*/ 0 h 20000"/>
                <a:gd name="T82" fmla="*/ 2 w 20000"/>
                <a:gd name="T83" fmla="*/ 0 h 20000"/>
                <a:gd name="T84" fmla="*/ 2 w 20000"/>
                <a:gd name="T85" fmla="*/ 0 h 20000"/>
                <a:gd name="T86" fmla="*/ 2 w 20000"/>
                <a:gd name="T87" fmla="*/ 0 h 20000"/>
                <a:gd name="T88" fmla="*/ 2 w 20000"/>
                <a:gd name="T89" fmla="*/ 0 h 20000"/>
                <a:gd name="T90" fmla="*/ 2 w 20000"/>
                <a:gd name="T91" fmla="*/ 0 h 20000"/>
                <a:gd name="T92" fmla="*/ 2 w 20000"/>
                <a:gd name="T93" fmla="*/ 0 h 20000"/>
                <a:gd name="T94" fmla="*/ 2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99" y="630"/>
                  </a:lnTo>
                  <a:lnTo>
                    <a:pt x="399" y="1261"/>
                  </a:lnTo>
                  <a:lnTo>
                    <a:pt x="598" y="1856"/>
                  </a:lnTo>
                  <a:lnTo>
                    <a:pt x="798" y="2487"/>
                  </a:lnTo>
                  <a:lnTo>
                    <a:pt x="984" y="3152"/>
                  </a:lnTo>
                  <a:lnTo>
                    <a:pt x="1184" y="3748"/>
                  </a:lnTo>
                  <a:lnTo>
                    <a:pt x="1383" y="4343"/>
                  </a:lnTo>
                  <a:lnTo>
                    <a:pt x="1583" y="4939"/>
                  </a:lnTo>
                  <a:lnTo>
                    <a:pt x="1782" y="5569"/>
                  </a:lnTo>
                  <a:lnTo>
                    <a:pt x="1981" y="6165"/>
                  </a:lnTo>
                  <a:lnTo>
                    <a:pt x="2181" y="6725"/>
                  </a:lnTo>
                  <a:lnTo>
                    <a:pt x="2380" y="7285"/>
                  </a:lnTo>
                  <a:lnTo>
                    <a:pt x="2567" y="7881"/>
                  </a:lnTo>
                  <a:lnTo>
                    <a:pt x="2766" y="8476"/>
                  </a:lnTo>
                  <a:lnTo>
                    <a:pt x="2966" y="9037"/>
                  </a:lnTo>
                  <a:lnTo>
                    <a:pt x="3165" y="9597"/>
                  </a:lnTo>
                  <a:lnTo>
                    <a:pt x="3364" y="10123"/>
                  </a:lnTo>
                  <a:lnTo>
                    <a:pt x="3564" y="10648"/>
                  </a:lnTo>
                  <a:lnTo>
                    <a:pt x="3763" y="11208"/>
                  </a:lnTo>
                  <a:lnTo>
                    <a:pt x="3963" y="11734"/>
                  </a:lnTo>
                  <a:lnTo>
                    <a:pt x="4162" y="12224"/>
                  </a:lnTo>
                  <a:lnTo>
                    <a:pt x="4361" y="12715"/>
                  </a:lnTo>
                  <a:lnTo>
                    <a:pt x="4573" y="13170"/>
                  </a:lnTo>
                  <a:lnTo>
                    <a:pt x="4785" y="13660"/>
                  </a:lnTo>
                  <a:lnTo>
                    <a:pt x="4972" y="14116"/>
                  </a:lnTo>
                  <a:lnTo>
                    <a:pt x="5171" y="14571"/>
                  </a:lnTo>
                  <a:lnTo>
                    <a:pt x="5371" y="15026"/>
                  </a:lnTo>
                  <a:lnTo>
                    <a:pt x="5570" y="15412"/>
                  </a:lnTo>
                  <a:lnTo>
                    <a:pt x="5782" y="15832"/>
                  </a:lnTo>
                  <a:lnTo>
                    <a:pt x="5981" y="16182"/>
                  </a:lnTo>
                  <a:lnTo>
                    <a:pt x="6181" y="16602"/>
                  </a:lnTo>
                  <a:lnTo>
                    <a:pt x="6380" y="16953"/>
                  </a:lnTo>
                  <a:lnTo>
                    <a:pt x="6579" y="17268"/>
                  </a:lnTo>
                  <a:lnTo>
                    <a:pt x="6791" y="17618"/>
                  </a:lnTo>
                  <a:lnTo>
                    <a:pt x="6991" y="17933"/>
                  </a:lnTo>
                  <a:lnTo>
                    <a:pt x="7202" y="18179"/>
                  </a:lnTo>
                  <a:lnTo>
                    <a:pt x="7402" y="18459"/>
                  </a:lnTo>
                  <a:lnTo>
                    <a:pt x="7614" y="18739"/>
                  </a:lnTo>
                  <a:lnTo>
                    <a:pt x="7813" y="18949"/>
                  </a:lnTo>
                  <a:lnTo>
                    <a:pt x="8025" y="19159"/>
                  </a:lnTo>
                  <a:lnTo>
                    <a:pt x="8237" y="19335"/>
                  </a:lnTo>
                  <a:lnTo>
                    <a:pt x="8436" y="19475"/>
                  </a:lnTo>
                  <a:lnTo>
                    <a:pt x="8648" y="19650"/>
                  </a:lnTo>
                  <a:lnTo>
                    <a:pt x="8860" y="19755"/>
                  </a:lnTo>
                  <a:lnTo>
                    <a:pt x="9059" y="19860"/>
                  </a:lnTo>
                  <a:lnTo>
                    <a:pt x="9271" y="19895"/>
                  </a:lnTo>
                  <a:lnTo>
                    <a:pt x="9483" y="19965"/>
                  </a:lnTo>
                  <a:lnTo>
                    <a:pt x="9695" y="19965"/>
                  </a:lnTo>
                  <a:lnTo>
                    <a:pt x="9907" y="19965"/>
                  </a:lnTo>
                  <a:lnTo>
                    <a:pt x="10118" y="19930"/>
                  </a:lnTo>
                  <a:lnTo>
                    <a:pt x="10330" y="19825"/>
                  </a:lnTo>
                  <a:lnTo>
                    <a:pt x="10555" y="19720"/>
                  </a:lnTo>
                  <a:lnTo>
                    <a:pt x="10791" y="19545"/>
                  </a:lnTo>
                  <a:lnTo>
                    <a:pt x="11016" y="19335"/>
                  </a:lnTo>
                  <a:lnTo>
                    <a:pt x="11240" y="19124"/>
                  </a:lnTo>
                  <a:lnTo>
                    <a:pt x="11477" y="18844"/>
                  </a:lnTo>
                  <a:lnTo>
                    <a:pt x="11713" y="18564"/>
                  </a:lnTo>
                  <a:lnTo>
                    <a:pt x="11963" y="18249"/>
                  </a:lnTo>
                  <a:lnTo>
                    <a:pt x="12212" y="17898"/>
                  </a:lnTo>
                  <a:lnTo>
                    <a:pt x="12461" y="17513"/>
                  </a:lnTo>
                  <a:lnTo>
                    <a:pt x="12710" y="17128"/>
                  </a:lnTo>
                  <a:lnTo>
                    <a:pt x="12960" y="16743"/>
                  </a:lnTo>
                  <a:lnTo>
                    <a:pt x="13196" y="16252"/>
                  </a:lnTo>
                  <a:lnTo>
                    <a:pt x="13445" y="15797"/>
                  </a:lnTo>
                  <a:lnTo>
                    <a:pt x="13707" y="15342"/>
                  </a:lnTo>
                  <a:lnTo>
                    <a:pt x="13956" y="14851"/>
                  </a:lnTo>
                  <a:lnTo>
                    <a:pt x="14206" y="14361"/>
                  </a:lnTo>
                  <a:lnTo>
                    <a:pt x="14442" y="13800"/>
                  </a:lnTo>
                  <a:lnTo>
                    <a:pt x="14692" y="13310"/>
                  </a:lnTo>
                  <a:lnTo>
                    <a:pt x="14953" y="12750"/>
                  </a:lnTo>
                  <a:lnTo>
                    <a:pt x="15202" y="12224"/>
                  </a:lnTo>
                  <a:lnTo>
                    <a:pt x="15452" y="11629"/>
                  </a:lnTo>
                  <a:lnTo>
                    <a:pt x="15688" y="11103"/>
                  </a:lnTo>
                  <a:lnTo>
                    <a:pt x="15925" y="10578"/>
                  </a:lnTo>
                  <a:lnTo>
                    <a:pt x="16150" y="10053"/>
                  </a:lnTo>
                  <a:lnTo>
                    <a:pt x="16386" y="9457"/>
                  </a:lnTo>
                  <a:lnTo>
                    <a:pt x="16611" y="8897"/>
                  </a:lnTo>
                  <a:lnTo>
                    <a:pt x="16847" y="8371"/>
                  </a:lnTo>
                  <a:lnTo>
                    <a:pt x="17072" y="7811"/>
                  </a:lnTo>
                  <a:lnTo>
                    <a:pt x="17283" y="7285"/>
                  </a:lnTo>
                  <a:lnTo>
                    <a:pt x="17495" y="6760"/>
                  </a:lnTo>
                  <a:lnTo>
                    <a:pt x="17720" y="6235"/>
                  </a:lnTo>
                  <a:lnTo>
                    <a:pt x="17919" y="5744"/>
                  </a:lnTo>
                  <a:lnTo>
                    <a:pt x="18118" y="5219"/>
                  </a:lnTo>
                  <a:lnTo>
                    <a:pt x="18305" y="4729"/>
                  </a:lnTo>
                  <a:lnTo>
                    <a:pt x="18492" y="4273"/>
                  </a:lnTo>
                  <a:lnTo>
                    <a:pt x="18679" y="3853"/>
                  </a:lnTo>
                  <a:lnTo>
                    <a:pt x="18854" y="3398"/>
                  </a:lnTo>
                  <a:lnTo>
                    <a:pt x="19016" y="2977"/>
                  </a:lnTo>
                  <a:lnTo>
                    <a:pt x="19178" y="2627"/>
                  </a:lnTo>
                  <a:lnTo>
                    <a:pt x="19340" y="2277"/>
                  </a:lnTo>
                  <a:lnTo>
                    <a:pt x="19489" y="1891"/>
                  </a:lnTo>
                  <a:lnTo>
                    <a:pt x="19614" y="1646"/>
                  </a:lnTo>
                  <a:lnTo>
                    <a:pt x="19751" y="1331"/>
                  </a:lnTo>
                  <a:lnTo>
                    <a:pt x="19875" y="1051"/>
                  </a:lnTo>
                  <a:lnTo>
                    <a:pt x="19988" y="841"/>
                  </a:lnTo>
                </a:path>
              </a:pathLst>
            </a:custGeom>
            <a:noFill/>
            <a:ln w="38100">
              <a:solidFill>
                <a:srgbClr val="FF3300"/>
              </a:solidFill>
              <a:round/>
              <a:headEnd/>
              <a:tailEnd/>
            </a:ln>
          </p:spPr>
          <p:txBody>
            <a:bodyPr/>
            <a:lstStyle/>
            <a:p>
              <a:endParaRPr lang="zh-CN" altLang="en-US"/>
            </a:p>
          </p:txBody>
        </p:sp>
      </p:grpSp>
      <p:grpSp>
        <p:nvGrpSpPr>
          <p:cNvPr id="5" name="Group 69"/>
          <p:cNvGrpSpPr>
            <a:grpSpLocks/>
          </p:cNvGrpSpPr>
          <p:nvPr/>
        </p:nvGrpSpPr>
        <p:grpSpPr bwMode="auto">
          <a:xfrm>
            <a:off x="5364163" y="4294188"/>
            <a:ext cx="2862262" cy="1906587"/>
            <a:chOff x="3600" y="1920"/>
            <a:chExt cx="2071" cy="1201"/>
          </a:xfrm>
        </p:grpSpPr>
        <p:sp>
          <p:nvSpPr>
            <p:cNvPr id="3098" name="Rectangle 70"/>
            <p:cNvSpPr>
              <a:spLocks noChangeArrowheads="1"/>
            </p:cNvSpPr>
            <p:nvPr/>
          </p:nvSpPr>
          <p:spPr bwMode="auto">
            <a:xfrm>
              <a:off x="3888" y="1920"/>
              <a:ext cx="247" cy="327"/>
            </a:xfrm>
            <a:prstGeom prst="rect">
              <a:avLst/>
            </a:prstGeom>
            <a:noFill/>
            <a:ln w="9525">
              <a:noFill/>
              <a:miter lim="800000"/>
              <a:headEnd/>
              <a:tailEnd/>
            </a:ln>
          </p:spPr>
          <p:txBody>
            <a:bodyPr wrap="none" lIns="92075" tIns="46038" rIns="92075" bIns="46038">
              <a:spAutoFit/>
            </a:bodyPr>
            <a:lstStyle/>
            <a:p>
              <a:r>
                <a:rPr lang="en-US" altLang="zh-CN" sz="2800" i="1">
                  <a:solidFill>
                    <a:srgbClr val="0000FF"/>
                  </a:solidFill>
                </a:rPr>
                <a:t>y</a:t>
              </a:r>
              <a:endParaRPr lang="en-US" altLang="zh-CN">
                <a:solidFill>
                  <a:srgbClr val="0000FF"/>
                </a:solidFill>
              </a:endParaRPr>
            </a:p>
          </p:txBody>
        </p:sp>
        <p:sp>
          <p:nvSpPr>
            <p:cNvPr id="3099" name="Line 71"/>
            <p:cNvSpPr>
              <a:spLocks noChangeShapeType="1"/>
            </p:cNvSpPr>
            <p:nvPr/>
          </p:nvSpPr>
          <p:spPr bwMode="auto">
            <a:xfrm>
              <a:off x="3850" y="2641"/>
              <a:ext cx="1776" cy="0"/>
            </a:xfrm>
            <a:prstGeom prst="line">
              <a:avLst/>
            </a:prstGeom>
            <a:noFill/>
            <a:ln w="12700">
              <a:solidFill>
                <a:srgbClr val="0000FF"/>
              </a:solidFill>
              <a:round/>
              <a:headEnd type="none" w="sm" len="sm"/>
              <a:tailEnd type="stealth" w="med" len="lg"/>
            </a:ln>
          </p:spPr>
          <p:txBody>
            <a:bodyPr wrap="none" anchor="ctr"/>
            <a:lstStyle/>
            <a:p>
              <a:endParaRPr lang="zh-CN" altLang="en-US"/>
            </a:p>
          </p:txBody>
        </p:sp>
        <p:sp>
          <p:nvSpPr>
            <p:cNvPr id="3100" name="Line 72"/>
            <p:cNvSpPr>
              <a:spLocks noChangeShapeType="1"/>
            </p:cNvSpPr>
            <p:nvPr/>
          </p:nvSpPr>
          <p:spPr bwMode="auto">
            <a:xfrm>
              <a:off x="3850" y="2209"/>
              <a:ext cx="0" cy="912"/>
            </a:xfrm>
            <a:prstGeom prst="line">
              <a:avLst/>
            </a:prstGeom>
            <a:noFill/>
            <a:ln w="12700">
              <a:solidFill>
                <a:srgbClr val="0000FF"/>
              </a:solidFill>
              <a:round/>
              <a:headEnd type="stealth" w="med" len="lg"/>
              <a:tailEnd type="none" w="sm" len="sm"/>
            </a:ln>
          </p:spPr>
          <p:txBody>
            <a:bodyPr wrap="none" anchor="ctr"/>
            <a:lstStyle/>
            <a:p>
              <a:endParaRPr lang="zh-CN" altLang="en-US"/>
            </a:p>
          </p:txBody>
        </p:sp>
        <p:sp>
          <p:nvSpPr>
            <p:cNvPr id="3101" name="Rectangle 73"/>
            <p:cNvSpPr>
              <a:spLocks noChangeArrowheads="1"/>
            </p:cNvSpPr>
            <p:nvPr/>
          </p:nvSpPr>
          <p:spPr bwMode="auto">
            <a:xfrm>
              <a:off x="5424" y="2592"/>
              <a:ext cx="247" cy="327"/>
            </a:xfrm>
            <a:prstGeom prst="rect">
              <a:avLst/>
            </a:prstGeom>
            <a:noFill/>
            <a:ln w="9525">
              <a:noFill/>
              <a:miter lim="800000"/>
              <a:headEnd/>
              <a:tailEnd/>
            </a:ln>
          </p:spPr>
          <p:txBody>
            <a:bodyPr wrap="none" lIns="92075" tIns="46038" rIns="92075" bIns="46038">
              <a:spAutoFit/>
            </a:bodyPr>
            <a:lstStyle/>
            <a:p>
              <a:r>
                <a:rPr lang="en-US" altLang="zh-CN" sz="2800" i="1">
                  <a:solidFill>
                    <a:srgbClr val="0000FF"/>
                  </a:solidFill>
                </a:rPr>
                <a:t>x</a:t>
              </a:r>
              <a:endParaRPr lang="en-US" altLang="zh-CN">
                <a:solidFill>
                  <a:srgbClr val="0000FF"/>
                </a:solidFill>
              </a:endParaRPr>
            </a:p>
          </p:txBody>
        </p:sp>
        <p:sp>
          <p:nvSpPr>
            <p:cNvPr id="3102" name="Rectangle 74"/>
            <p:cNvSpPr>
              <a:spLocks noChangeArrowheads="1"/>
            </p:cNvSpPr>
            <p:nvPr/>
          </p:nvSpPr>
          <p:spPr bwMode="auto">
            <a:xfrm>
              <a:off x="3600" y="2496"/>
              <a:ext cx="262" cy="327"/>
            </a:xfrm>
            <a:prstGeom prst="rect">
              <a:avLst/>
            </a:prstGeom>
            <a:noFill/>
            <a:ln w="9525">
              <a:noFill/>
              <a:miter lim="800000"/>
              <a:headEnd/>
              <a:tailEnd/>
            </a:ln>
          </p:spPr>
          <p:txBody>
            <a:bodyPr wrap="none" lIns="92075" tIns="46038" rIns="92075" bIns="46038">
              <a:spAutoFit/>
            </a:bodyPr>
            <a:lstStyle/>
            <a:p>
              <a:r>
                <a:rPr lang="en-US" altLang="zh-CN" sz="2800" i="1">
                  <a:solidFill>
                    <a:srgbClr val="9900CC"/>
                  </a:solidFill>
                </a:rPr>
                <a:t>o</a:t>
              </a:r>
              <a:endParaRPr lang="en-US" altLang="zh-CN">
                <a:solidFill>
                  <a:srgbClr val="9900CC"/>
                </a:solidFill>
              </a:endParaRPr>
            </a:p>
          </p:txBody>
        </p:sp>
      </p:grpSp>
      <p:grpSp>
        <p:nvGrpSpPr>
          <p:cNvPr id="6" name="Group 75"/>
          <p:cNvGrpSpPr>
            <a:grpSpLocks/>
          </p:cNvGrpSpPr>
          <p:nvPr/>
        </p:nvGrpSpPr>
        <p:grpSpPr bwMode="auto">
          <a:xfrm>
            <a:off x="5724525" y="4870450"/>
            <a:ext cx="2232025" cy="1108075"/>
            <a:chOff x="3990" y="1599"/>
            <a:chExt cx="1770" cy="456"/>
          </a:xfrm>
        </p:grpSpPr>
        <p:sp>
          <p:nvSpPr>
            <p:cNvPr id="3096" name="Freeform 76"/>
            <p:cNvSpPr>
              <a:spLocks/>
            </p:cNvSpPr>
            <p:nvPr/>
          </p:nvSpPr>
          <p:spPr bwMode="auto">
            <a:xfrm>
              <a:off x="3990" y="1599"/>
              <a:ext cx="863" cy="23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2 w 20000"/>
                <a:gd name="T87" fmla="*/ 0 h 20000"/>
                <a:gd name="T88" fmla="*/ 2 w 20000"/>
                <a:gd name="T89" fmla="*/ 0 h 20000"/>
                <a:gd name="T90" fmla="*/ 2 w 20000"/>
                <a:gd name="T91" fmla="*/ 0 h 20000"/>
                <a:gd name="T92" fmla="*/ 2 w 20000"/>
                <a:gd name="T93" fmla="*/ 0 h 20000"/>
                <a:gd name="T94" fmla="*/ 2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86"/>
                  </a:moveTo>
                  <a:lnTo>
                    <a:pt x="225" y="18477"/>
                  </a:lnTo>
                  <a:lnTo>
                    <a:pt x="437" y="17868"/>
                  </a:lnTo>
                  <a:lnTo>
                    <a:pt x="662" y="17259"/>
                  </a:lnTo>
                  <a:lnTo>
                    <a:pt x="887" y="16684"/>
                  </a:lnTo>
                  <a:lnTo>
                    <a:pt x="1099" y="16074"/>
                  </a:lnTo>
                  <a:lnTo>
                    <a:pt x="1325" y="15465"/>
                  </a:lnTo>
                  <a:lnTo>
                    <a:pt x="1550" y="14890"/>
                  </a:lnTo>
                  <a:lnTo>
                    <a:pt x="1762" y="14281"/>
                  </a:lnTo>
                  <a:lnTo>
                    <a:pt x="1987" y="13706"/>
                  </a:lnTo>
                  <a:lnTo>
                    <a:pt x="2225" y="13164"/>
                  </a:lnTo>
                  <a:lnTo>
                    <a:pt x="2450" y="12589"/>
                  </a:lnTo>
                  <a:lnTo>
                    <a:pt x="2675" y="12014"/>
                  </a:lnTo>
                  <a:lnTo>
                    <a:pt x="2887" y="11472"/>
                  </a:lnTo>
                  <a:lnTo>
                    <a:pt x="3113" y="10863"/>
                  </a:lnTo>
                  <a:lnTo>
                    <a:pt x="3338" y="10355"/>
                  </a:lnTo>
                  <a:lnTo>
                    <a:pt x="3550" y="9780"/>
                  </a:lnTo>
                  <a:lnTo>
                    <a:pt x="3775" y="9272"/>
                  </a:lnTo>
                  <a:lnTo>
                    <a:pt x="4000" y="8731"/>
                  </a:lnTo>
                  <a:lnTo>
                    <a:pt x="4225" y="8223"/>
                  </a:lnTo>
                  <a:lnTo>
                    <a:pt x="4437" y="7716"/>
                  </a:lnTo>
                  <a:lnTo>
                    <a:pt x="4662" y="7242"/>
                  </a:lnTo>
                  <a:lnTo>
                    <a:pt x="4887" y="6802"/>
                  </a:lnTo>
                  <a:lnTo>
                    <a:pt x="5113" y="6328"/>
                  </a:lnTo>
                  <a:lnTo>
                    <a:pt x="5338" y="5888"/>
                  </a:lnTo>
                  <a:lnTo>
                    <a:pt x="5550" y="5415"/>
                  </a:lnTo>
                  <a:lnTo>
                    <a:pt x="5762" y="4975"/>
                  </a:lnTo>
                  <a:lnTo>
                    <a:pt x="5974" y="4569"/>
                  </a:lnTo>
                  <a:lnTo>
                    <a:pt x="6199" y="4162"/>
                  </a:lnTo>
                  <a:lnTo>
                    <a:pt x="6424" y="3756"/>
                  </a:lnTo>
                  <a:lnTo>
                    <a:pt x="6636" y="3418"/>
                  </a:lnTo>
                  <a:lnTo>
                    <a:pt x="6861" y="3046"/>
                  </a:lnTo>
                  <a:lnTo>
                    <a:pt x="7086" y="2707"/>
                  </a:lnTo>
                  <a:lnTo>
                    <a:pt x="7285" y="2437"/>
                  </a:lnTo>
                  <a:lnTo>
                    <a:pt x="7510" y="2098"/>
                  </a:lnTo>
                  <a:lnTo>
                    <a:pt x="7735" y="1794"/>
                  </a:lnTo>
                  <a:lnTo>
                    <a:pt x="7960" y="1591"/>
                  </a:lnTo>
                  <a:lnTo>
                    <a:pt x="8159" y="1320"/>
                  </a:lnTo>
                  <a:lnTo>
                    <a:pt x="8371" y="1083"/>
                  </a:lnTo>
                  <a:lnTo>
                    <a:pt x="8583" y="846"/>
                  </a:lnTo>
                  <a:lnTo>
                    <a:pt x="8808" y="677"/>
                  </a:lnTo>
                  <a:lnTo>
                    <a:pt x="9020" y="508"/>
                  </a:lnTo>
                  <a:lnTo>
                    <a:pt x="9232" y="372"/>
                  </a:lnTo>
                  <a:lnTo>
                    <a:pt x="9444" y="271"/>
                  </a:lnTo>
                  <a:lnTo>
                    <a:pt x="9642" y="135"/>
                  </a:lnTo>
                  <a:lnTo>
                    <a:pt x="9854" y="102"/>
                  </a:lnTo>
                  <a:lnTo>
                    <a:pt x="10079" y="34"/>
                  </a:lnTo>
                  <a:lnTo>
                    <a:pt x="10291" y="0"/>
                  </a:lnTo>
                  <a:lnTo>
                    <a:pt x="10503" y="34"/>
                  </a:lnTo>
                  <a:lnTo>
                    <a:pt x="10702" y="34"/>
                  </a:lnTo>
                  <a:lnTo>
                    <a:pt x="10914" y="102"/>
                  </a:lnTo>
                  <a:lnTo>
                    <a:pt x="11126" y="203"/>
                  </a:lnTo>
                  <a:lnTo>
                    <a:pt x="11338" y="305"/>
                  </a:lnTo>
                  <a:lnTo>
                    <a:pt x="11563" y="541"/>
                  </a:lnTo>
                  <a:lnTo>
                    <a:pt x="11788" y="745"/>
                  </a:lnTo>
                  <a:lnTo>
                    <a:pt x="12000" y="981"/>
                  </a:lnTo>
                  <a:lnTo>
                    <a:pt x="12225" y="1252"/>
                  </a:lnTo>
                  <a:lnTo>
                    <a:pt x="12450" y="1591"/>
                  </a:lnTo>
                  <a:lnTo>
                    <a:pt x="12689" y="1895"/>
                  </a:lnTo>
                  <a:lnTo>
                    <a:pt x="12914" y="2267"/>
                  </a:lnTo>
                  <a:lnTo>
                    <a:pt x="13152" y="2707"/>
                  </a:lnTo>
                  <a:lnTo>
                    <a:pt x="13377" y="3080"/>
                  </a:lnTo>
                  <a:lnTo>
                    <a:pt x="13616" y="3519"/>
                  </a:lnTo>
                  <a:lnTo>
                    <a:pt x="13841" y="3959"/>
                  </a:lnTo>
                  <a:lnTo>
                    <a:pt x="14066" y="4433"/>
                  </a:lnTo>
                  <a:lnTo>
                    <a:pt x="14291" y="4941"/>
                  </a:lnTo>
                  <a:lnTo>
                    <a:pt x="14530" y="5448"/>
                  </a:lnTo>
                  <a:lnTo>
                    <a:pt x="14755" y="5990"/>
                  </a:lnTo>
                  <a:lnTo>
                    <a:pt x="14993" y="6497"/>
                  </a:lnTo>
                  <a:lnTo>
                    <a:pt x="15219" y="7039"/>
                  </a:lnTo>
                  <a:lnTo>
                    <a:pt x="15444" y="7614"/>
                  </a:lnTo>
                  <a:lnTo>
                    <a:pt x="15682" y="8190"/>
                  </a:lnTo>
                  <a:lnTo>
                    <a:pt x="15894" y="8765"/>
                  </a:lnTo>
                  <a:lnTo>
                    <a:pt x="16106" y="9340"/>
                  </a:lnTo>
                  <a:lnTo>
                    <a:pt x="16318" y="9915"/>
                  </a:lnTo>
                  <a:lnTo>
                    <a:pt x="16530" y="10457"/>
                  </a:lnTo>
                  <a:lnTo>
                    <a:pt x="16742" y="11032"/>
                  </a:lnTo>
                  <a:lnTo>
                    <a:pt x="16954" y="11641"/>
                  </a:lnTo>
                  <a:lnTo>
                    <a:pt x="17152" y="12183"/>
                  </a:lnTo>
                  <a:lnTo>
                    <a:pt x="17351" y="12724"/>
                  </a:lnTo>
                  <a:lnTo>
                    <a:pt x="17550" y="13299"/>
                  </a:lnTo>
                  <a:lnTo>
                    <a:pt x="17735" y="13841"/>
                  </a:lnTo>
                  <a:lnTo>
                    <a:pt x="17934" y="14382"/>
                  </a:lnTo>
                  <a:lnTo>
                    <a:pt x="18119" y="14924"/>
                  </a:lnTo>
                  <a:lnTo>
                    <a:pt x="18291" y="15431"/>
                  </a:lnTo>
                  <a:lnTo>
                    <a:pt x="18464" y="15905"/>
                  </a:lnTo>
                  <a:lnTo>
                    <a:pt x="18636" y="16413"/>
                  </a:lnTo>
                  <a:lnTo>
                    <a:pt x="18795" y="16853"/>
                  </a:lnTo>
                  <a:lnTo>
                    <a:pt x="18954" y="17327"/>
                  </a:lnTo>
                  <a:lnTo>
                    <a:pt x="19099" y="17733"/>
                  </a:lnTo>
                  <a:lnTo>
                    <a:pt x="19258" y="18139"/>
                  </a:lnTo>
                  <a:lnTo>
                    <a:pt x="19391" y="18511"/>
                  </a:lnTo>
                  <a:lnTo>
                    <a:pt x="19523" y="18883"/>
                  </a:lnTo>
                  <a:lnTo>
                    <a:pt x="19642" y="19188"/>
                  </a:lnTo>
                  <a:lnTo>
                    <a:pt x="19775" y="19459"/>
                  </a:lnTo>
                  <a:lnTo>
                    <a:pt x="19881" y="19763"/>
                  </a:lnTo>
                  <a:lnTo>
                    <a:pt x="19987" y="19966"/>
                  </a:lnTo>
                </a:path>
              </a:pathLst>
            </a:custGeom>
            <a:noFill/>
            <a:ln w="38100">
              <a:solidFill>
                <a:srgbClr val="FF3300"/>
              </a:solidFill>
              <a:round/>
              <a:headEnd/>
              <a:tailEnd/>
            </a:ln>
          </p:spPr>
          <p:txBody>
            <a:bodyPr/>
            <a:lstStyle/>
            <a:p>
              <a:endParaRPr lang="zh-CN" altLang="en-US"/>
            </a:p>
          </p:txBody>
        </p:sp>
        <p:sp>
          <p:nvSpPr>
            <p:cNvPr id="3097" name="Freeform 77"/>
            <p:cNvSpPr>
              <a:spLocks/>
            </p:cNvSpPr>
            <p:nvPr/>
          </p:nvSpPr>
          <p:spPr bwMode="auto">
            <a:xfrm>
              <a:off x="4843" y="1827"/>
              <a:ext cx="917"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1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2 w 20000"/>
                <a:gd name="T73" fmla="*/ 0 h 20000"/>
                <a:gd name="T74" fmla="*/ 2 w 20000"/>
                <a:gd name="T75" fmla="*/ 0 h 20000"/>
                <a:gd name="T76" fmla="*/ 2 w 20000"/>
                <a:gd name="T77" fmla="*/ 0 h 20000"/>
                <a:gd name="T78" fmla="*/ 2 w 20000"/>
                <a:gd name="T79" fmla="*/ 0 h 20000"/>
                <a:gd name="T80" fmla="*/ 2 w 20000"/>
                <a:gd name="T81" fmla="*/ 0 h 20000"/>
                <a:gd name="T82" fmla="*/ 2 w 20000"/>
                <a:gd name="T83" fmla="*/ 0 h 20000"/>
                <a:gd name="T84" fmla="*/ 2 w 20000"/>
                <a:gd name="T85" fmla="*/ 0 h 20000"/>
                <a:gd name="T86" fmla="*/ 2 w 20000"/>
                <a:gd name="T87" fmla="*/ 0 h 20000"/>
                <a:gd name="T88" fmla="*/ 2 w 20000"/>
                <a:gd name="T89" fmla="*/ 0 h 20000"/>
                <a:gd name="T90" fmla="*/ 2 w 20000"/>
                <a:gd name="T91" fmla="*/ 0 h 20000"/>
                <a:gd name="T92" fmla="*/ 2 w 20000"/>
                <a:gd name="T93" fmla="*/ 0 h 20000"/>
                <a:gd name="T94" fmla="*/ 2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99" y="630"/>
                  </a:lnTo>
                  <a:lnTo>
                    <a:pt x="399" y="1261"/>
                  </a:lnTo>
                  <a:lnTo>
                    <a:pt x="598" y="1856"/>
                  </a:lnTo>
                  <a:lnTo>
                    <a:pt x="798" y="2487"/>
                  </a:lnTo>
                  <a:lnTo>
                    <a:pt x="984" y="3152"/>
                  </a:lnTo>
                  <a:lnTo>
                    <a:pt x="1184" y="3748"/>
                  </a:lnTo>
                  <a:lnTo>
                    <a:pt x="1383" y="4343"/>
                  </a:lnTo>
                  <a:lnTo>
                    <a:pt x="1583" y="4939"/>
                  </a:lnTo>
                  <a:lnTo>
                    <a:pt x="1782" y="5569"/>
                  </a:lnTo>
                  <a:lnTo>
                    <a:pt x="1981" y="6165"/>
                  </a:lnTo>
                  <a:lnTo>
                    <a:pt x="2181" y="6725"/>
                  </a:lnTo>
                  <a:lnTo>
                    <a:pt x="2380" y="7285"/>
                  </a:lnTo>
                  <a:lnTo>
                    <a:pt x="2567" y="7881"/>
                  </a:lnTo>
                  <a:lnTo>
                    <a:pt x="2766" y="8476"/>
                  </a:lnTo>
                  <a:lnTo>
                    <a:pt x="2966" y="9037"/>
                  </a:lnTo>
                  <a:lnTo>
                    <a:pt x="3165" y="9597"/>
                  </a:lnTo>
                  <a:lnTo>
                    <a:pt x="3364" y="10123"/>
                  </a:lnTo>
                  <a:lnTo>
                    <a:pt x="3564" y="10648"/>
                  </a:lnTo>
                  <a:lnTo>
                    <a:pt x="3763" y="11208"/>
                  </a:lnTo>
                  <a:lnTo>
                    <a:pt x="3963" y="11734"/>
                  </a:lnTo>
                  <a:lnTo>
                    <a:pt x="4162" y="12224"/>
                  </a:lnTo>
                  <a:lnTo>
                    <a:pt x="4361" y="12715"/>
                  </a:lnTo>
                  <a:lnTo>
                    <a:pt x="4573" y="13170"/>
                  </a:lnTo>
                  <a:lnTo>
                    <a:pt x="4785" y="13660"/>
                  </a:lnTo>
                  <a:lnTo>
                    <a:pt x="4972" y="14116"/>
                  </a:lnTo>
                  <a:lnTo>
                    <a:pt x="5171" y="14571"/>
                  </a:lnTo>
                  <a:lnTo>
                    <a:pt x="5371" y="15026"/>
                  </a:lnTo>
                  <a:lnTo>
                    <a:pt x="5570" y="15412"/>
                  </a:lnTo>
                  <a:lnTo>
                    <a:pt x="5782" y="15832"/>
                  </a:lnTo>
                  <a:lnTo>
                    <a:pt x="5981" y="16182"/>
                  </a:lnTo>
                  <a:lnTo>
                    <a:pt x="6181" y="16602"/>
                  </a:lnTo>
                  <a:lnTo>
                    <a:pt x="6380" y="16953"/>
                  </a:lnTo>
                  <a:lnTo>
                    <a:pt x="6579" y="17268"/>
                  </a:lnTo>
                  <a:lnTo>
                    <a:pt x="6791" y="17618"/>
                  </a:lnTo>
                  <a:lnTo>
                    <a:pt x="6991" y="17933"/>
                  </a:lnTo>
                  <a:lnTo>
                    <a:pt x="7202" y="18179"/>
                  </a:lnTo>
                  <a:lnTo>
                    <a:pt x="7402" y="18459"/>
                  </a:lnTo>
                  <a:lnTo>
                    <a:pt x="7614" y="18739"/>
                  </a:lnTo>
                  <a:lnTo>
                    <a:pt x="7813" y="18949"/>
                  </a:lnTo>
                  <a:lnTo>
                    <a:pt x="8025" y="19159"/>
                  </a:lnTo>
                  <a:lnTo>
                    <a:pt x="8237" y="19335"/>
                  </a:lnTo>
                  <a:lnTo>
                    <a:pt x="8436" y="19475"/>
                  </a:lnTo>
                  <a:lnTo>
                    <a:pt x="8648" y="19650"/>
                  </a:lnTo>
                  <a:lnTo>
                    <a:pt x="8860" y="19755"/>
                  </a:lnTo>
                  <a:lnTo>
                    <a:pt x="9059" y="19860"/>
                  </a:lnTo>
                  <a:lnTo>
                    <a:pt x="9271" y="19895"/>
                  </a:lnTo>
                  <a:lnTo>
                    <a:pt x="9483" y="19965"/>
                  </a:lnTo>
                  <a:lnTo>
                    <a:pt x="9695" y="19965"/>
                  </a:lnTo>
                  <a:lnTo>
                    <a:pt x="9907" y="19965"/>
                  </a:lnTo>
                  <a:lnTo>
                    <a:pt x="10118" y="19930"/>
                  </a:lnTo>
                  <a:lnTo>
                    <a:pt x="10330" y="19825"/>
                  </a:lnTo>
                  <a:lnTo>
                    <a:pt x="10555" y="19720"/>
                  </a:lnTo>
                  <a:lnTo>
                    <a:pt x="10791" y="19545"/>
                  </a:lnTo>
                  <a:lnTo>
                    <a:pt x="11016" y="19335"/>
                  </a:lnTo>
                  <a:lnTo>
                    <a:pt x="11240" y="19124"/>
                  </a:lnTo>
                  <a:lnTo>
                    <a:pt x="11477" y="18844"/>
                  </a:lnTo>
                  <a:lnTo>
                    <a:pt x="11713" y="18564"/>
                  </a:lnTo>
                  <a:lnTo>
                    <a:pt x="11963" y="18249"/>
                  </a:lnTo>
                  <a:lnTo>
                    <a:pt x="12212" y="17898"/>
                  </a:lnTo>
                  <a:lnTo>
                    <a:pt x="12461" y="17513"/>
                  </a:lnTo>
                  <a:lnTo>
                    <a:pt x="12710" y="17128"/>
                  </a:lnTo>
                  <a:lnTo>
                    <a:pt x="12960" y="16743"/>
                  </a:lnTo>
                  <a:lnTo>
                    <a:pt x="13196" y="16252"/>
                  </a:lnTo>
                  <a:lnTo>
                    <a:pt x="13445" y="15797"/>
                  </a:lnTo>
                  <a:lnTo>
                    <a:pt x="13707" y="15342"/>
                  </a:lnTo>
                  <a:lnTo>
                    <a:pt x="13956" y="14851"/>
                  </a:lnTo>
                  <a:lnTo>
                    <a:pt x="14206" y="14361"/>
                  </a:lnTo>
                  <a:lnTo>
                    <a:pt x="14442" y="13800"/>
                  </a:lnTo>
                  <a:lnTo>
                    <a:pt x="14692" y="13310"/>
                  </a:lnTo>
                  <a:lnTo>
                    <a:pt x="14953" y="12750"/>
                  </a:lnTo>
                  <a:lnTo>
                    <a:pt x="15202" y="12224"/>
                  </a:lnTo>
                  <a:lnTo>
                    <a:pt x="15452" y="11629"/>
                  </a:lnTo>
                  <a:lnTo>
                    <a:pt x="15688" y="11103"/>
                  </a:lnTo>
                  <a:lnTo>
                    <a:pt x="15925" y="10578"/>
                  </a:lnTo>
                  <a:lnTo>
                    <a:pt x="16150" y="10053"/>
                  </a:lnTo>
                  <a:lnTo>
                    <a:pt x="16386" y="9457"/>
                  </a:lnTo>
                  <a:lnTo>
                    <a:pt x="16611" y="8897"/>
                  </a:lnTo>
                  <a:lnTo>
                    <a:pt x="16847" y="8371"/>
                  </a:lnTo>
                  <a:lnTo>
                    <a:pt x="17072" y="7811"/>
                  </a:lnTo>
                  <a:lnTo>
                    <a:pt x="17283" y="7285"/>
                  </a:lnTo>
                  <a:lnTo>
                    <a:pt x="17495" y="6760"/>
                  </a:lnTo>
                  <a:lnTo>
                    <a:pt x="17720" y="6235"/>
                  </a:lnTo>
                  <a:lnTo>
                    <a:pt x="17919" y="5744"/>
                  </a:lnTo>
                  <a:lnTo>
                    <a:pt x="18118" y="5219"/>
                  </a:lnTo>
                  <a:lnTo>
                    <a:pt x="18305" y="4729"/>
                  </a:lnTo>
                  <a:lnTo>
                    <a:pt x="18492" y="4273"/>
                  </a:lnTo>
                  <a:lnTo>
                    <a:pt x="18679" y="3853"/>
                  </a:lnTo>
                  <a:lnTo>
                    <a:pt x="18854" y="3398"/>
                  </a:lnTo>
                  <a:lnTo>
                    <a:pt x="19016" y="2977"/>
                  </a:lnTo>
                  <a:lnTo>
                    <a:pt x="19178" y="2627"/>
                  </a:lnTo>
                  <a:lnTo>
                    <a:pt x="19340" y="2277"/>
                  </a:lnTo>
                  <a:lnTo>
                    <a:pt x="19489" y="1891"/>
                  </a:lnTo>
                  <a:lnTo>
                    <a:pt x="19614" y="1646"/>
                  </a:lnTo>
                  <a:lnTo>
                    <a:pt x="19751" y="1331"/>
                  </a:lnTo>
                  <a:lnTo>
                    <a:pt x="19875" y="1051"/>
                  </a:lnTo>
                  <a:lnTo>
                    <a:pt x="19988" y="841"/>
                  </a:lnTo>
                </a:path>
              </a:pathLst>
            </a:custGeom>
            <a:noFill/>
            <a:ln w="38100">
              <a:solidFill>
                <a:srgbClr val="FF3300"/>
              </a:solidFill>
              <a:round/>
              <a:headEnd/>
              <a:tailEnd/>
            </a:ln>
          </p:spPr>
          <p:txBody>
            <a:bodyPr/>
            <a:lstStyle/>
            <a:p>
              <a:endParaRPr lang="zh-CN" altLang="en-US"/>
            </a:p>
          </p:txBody>
        </p:sp>
      </p:grpSp>
      <p:sp>
        <p:nvSpPr>
          <p:cNvPr id="64590" name="Text Box 78"/>
          <p:cNvSpPr txBox="1">
            <a:spLocks noChangeArrowheads="1"/>
          </p:cNvSpPr>
          <p:nvPr/>
        </p:nvSpPr>
        <p:spPr bwMode="auto">
          <a:xfrm>
            <a:off x="6084888" y="6056313"/>
            <a:ext cx="1627187" cy="396875"/>
          </a:xfrm>
          <a:prstGeom prst="rect">
            <a:avLst/>
          </a:prstGeom>
          <a:noFill/>
          <a:ln w="28575">
            <a:noFill/>
            <a:miter lim="800000"/>
            <a:headEnd/>
            <a:tailEnd/>
          </a:ln>
        </p:spPr>
        <p:txBody>
          <a:bodyPr>
            <a:spAutoFit/>
          </a:bodyPr>
          <a:lstStyle/>
          <a:p>
            <a:pPr eaLnBrk="0" hangingPunct="0">
              <a:spcBef>
                <a:spcPct val="50000"/>
              </a:spcBef>
            </a:pPr>
            <a:r>
              <a:rPr lang="zh-CN" altLang="en-US" sz="2000" b="1">
                <a:latin typeface="楷体_GB2312" pitchFamily="49" charset="-122"/>
                <a:ea typeface="楷体_GB2312" pitchFamily="49" charset="-122"/>
              </a:rPr>
              <a:t>波动曲线</a:t>
            </a:r>
          </a:p>
        </p:txBody>
      </p:sp>
      <p:sp>
        <p:nvSpPr>
          <p:cNvPr id="64591" name="Text Box 79"/>
          <p:cNvSpPr txBox="1">
            <a:spLocks noChangeArrowheads="1"/>
          </p:cNvSpPr>
          <p:nvPr/>
        </p:nvSpPr>
        <p:spPr bwMode="auto">
          <a:xfrm>
            <a:off x="1979613" y="6056313"/>
            <a:ext cx="1627187" cy="396875"/>
          </a:xfrm>
          <a:prstGeom prst="rect">
            <a:avLst/>
          </a:prstGeom>
          <a:noFill/>
          <a:ln w="28575">
            <a:noFill/>
            <a:miter lim="800000"/>
            <a:headEnd/>
            <a:tailEnd/>
          </a:ln>
        </p:spPr>
        <p:txBody>
          <a:bodyPr>
            <a:spAutoFit/>
          </a:bodyPr>
          <a:lstStyle/>
          <a:p>
            <a:pPr eaLnBrk="0" hangingPunct="0">
              <a:spcBef>
                <a:spcPct val="50000"/>
              </a:spcBef>
            </a:pPr>
            <a:r>
              <a:rPr lang="zh-CN" altLang="en-US" sz="2000" b="1">
                <a:latin typeface="楷体_GB2312" pitchFamily="49" charset="-122"/>
                <a:ea typeface="楷体_GB2312" pitchFamily="49" charset="-122"/>
              </a:rPr>
              <a:t>振动曲线</a:t>
            </a:r>
          </a:p>
        </p:txBody>
      </p:sp>
      <p:sp>
        <p:nvSpPr>
          <p:cNvPr id="64592" name="Line 80"/>
          <p:cNvSpPr>
            <a:spLocks noChangeShapeType="1"/>
          </p:cNvSpPr>
          <p:nvPr/>
        </p:nvSpPr>
        <p:spPr bwMode="auto">
          <a:xfrm>
            <a:off x="7956550" y="5032375"/>
            <a:ext cx="0" cy="838200"/>
          </a:xfrm>
          <a:prstGeom prst="line">
            <a:avLst/>
          </a:prstGeom>
          <a:noFill/>
          <a:ln w="28575">
            <a:solidFill>
              <a:srgbClr val="0000FF"/>
            </a:solidFill>
            <a:round/>
            <a:headEnd type="triangle" w="sm" len="lg"/>
            <a:tailEnd type="triangle" w="sm" len="lg"/>
          </a:ln>
        </p:spPr>
        <p:txBody>
          <a:bodyPr/>
          <a:lstStyle/>
          <a:p>
            <a:endParaRPr lang="zh-CN" altLang="en-US"/>
          </a:p>
        </p:txBody>
      </p:sp>
      <p:sp>
        <p:nvSpPr>
          <p:cNvPr id="64593" name="Line 81"/>
          <p:cNvSpPr>
            <a:spLocks noChangeShapeType="1"/>
          </p:cNvSpPr>
          <p:nvPr/>
        </p:nvSpPr>
        <p:spPr bwMode="auto">
          <a:xfrm>
            <a:off x="3924300" y="5048250"/>
            <a:ext cx="0" cy="838200"/>
          </a:xfrm>
          <a:prstGeom prst="line">
            <a:avLst/>
          </a:prstGeom>
          <a:noFill/>
          <a:ln w="28575">
            <a:solidFill>
              <a:srgbClr val="0000FF"/>
            </a:solidFill>
            <a:round/>
            <a:headEnd type="triangle" w="sm" len="lg"/>
            <a:tailEnd type="triangle" w="sm" len="lg"/>
          </a:ln>
        </p:spPr>
        <p:txBody>
          <a:bodyPr/>
          <a:lstStyle/>
          <a:p>
            <a:endParaRPr lang="zh-CN" altLang="en-US"/>
          </a:p>
        </p:txBody>
      </p:sp>
      <p:grpSp>
        <p:nvGrpSpPr>
          <p:cNvPr id="7" name="Group 85"/>
          <p:cNvGrpSpPr>
            <a:grpSpLocks/>
          </p:cNvGrpSpPr>
          <p:nvPr/>
        </p:nvGrpSpPr>
        <p:grpSpPr bwMode="auto">
          <a:xfrm>
            <a:off x="6629400" y="4524375"/>
            <a:ext cx="423863" cy="384175"/>
            <a:chOff x="4176" y="2828"/>
            <a:chExt cx="267" cy="242"/>
          </a:xfrm>
        </p:grpSpPr>
        <p:sp>
          <p:nvSpPr>
            <p:cNvPr id="3095" name="Line 83"/>
            <p:cNvSpPr>
              <a:spLocks noChangeShapeType="1"/>
            </p:cNvSpPr>
            <p:nvPr/>
          </p:nvSpPr>
          <p:spPr bwMode="auto">
            <a:xfrm>
              <a:off x="4176" y="3069"/>
              <a:ext cx="267" cy="0"/>
            </a:xfrm>
            <a:prstGeom prst="line">
              <a:avLst/>
            </a:prstGeom>
            <a:noFill/>
            <a:ln w="15875">
              <a:solidFill>
                <a:srgbClr val="FF3300"/>
              </a:solidFill>
              <a:round/>
              <a:headEnd/>
              <a:tailEnd type="triangle" w="med" len="med"/>
            </a:ln>
          </p:spPr>
          <p:txBody>
            <a:bodyPr/>
            <a:lstStyle/>
            <a:p>
              <a:endParaRPr lang="zh-CN" altLang="en-US"/>
            </a:p>
          </p:txBody>
        </p:sp>
        <p:graphicFrame>
          <p:nvGraphicFramePr>
            <p:cNvPr id="3075" name="Object 84"/>
            <p:cNvGraphicFramePr>
              <a:graphicFrameLocks noChangeAspect="1"/>
            </p:cNvGraphicFramePr>
            <p:nvPr/>
          </p:nvGraphicFramePr>
          <p:xfrm>
            <a:off x="4227" y="2828"/>
            <a:ext cx="195" cy="242"/>
          </p:xfrm>
          <a:graphic>
            <a:graphicData uri="http://schemas.openxmlformats.org/presentationml/2006/ole">
              <p:oleObj spid="_x0000_s3075" name="公式" r:id="rId4" imgW="164880" imgH="17748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64516"/>
                                        </p:tgtEl>
                                        <p:attrNameLst>
                                          <p:attrName>style.visibility</p:attrName>
                                        </p:attrNameLst>
                                      </p:cBhvr>
                                      <p:to>
                                        <p:strVal val="visible"/>
                                      </p:to>
                                    </p:set>
                                    <p:animEffect transition="in" filter="box(out)">
                                      <p:cBhvr>
                                        <p:cTn id="7" dur="500"/>
                                        <p:tgtEl>
                                          <p:spTgt spid="6451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out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64518"/>
                                        </p:tgtEl>
                                        <p:attrNameLst>
                                          <p:attrName>style.visibility</p:attrName>
                                        </p:attrNameLst>
                                      </p:cBhvr>
                                      <p:to>
                                        <p:strVal val="visible"/>
                                      </p:to>
                                    </p:set>
                                    <p:animEffect transition="in" filter="box(out)">
                                      <p:cBhvr>
                                        <p:cTn id="17" dur="500"/>
                                        <p:tgtEl>
                                          <p:spTgt spid="6451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64544"/>
                                        </p:tgtEl>
                                        <p:attrNameLst>
                                          <p:attrName>style.visibility</p:attrName>
                                        </p:attrNameLst>
                                      </p:cBhvr>
                                      <p:to>
                                        <p:strVal val="visible"/>
                                      </p:to>
                                    </p:set>
                                    <p:animEffect transition="in" filter="box(out)">
                                      <p:cBhvr>
                                        <p:cTn id="22" dur="500"/>
                                        <p:tgtEl>
                                          <p:spTgt spid="6454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64543"/>
                                        </p:tgtEl>
                                        <p:attrNameLst>
                                          <p:attrName>style.visibility</p:attrName>
                                        </p:attrNameLst>
                                      </p:cBhvr>
                                      <p:to>
                                        <p:strVal val="visible"/>
                                      </p:to>
                                    </p:set>
                                    <p:animEffect transition="in" filter="box(out)">
                                      <p:cBhvr>
                                        <p:cTn id="27" dur="500"/>
                                        <p:tgtEl>
                                          <p:spTgt spid="6454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64517">
                                            <p:txEl>
                                              <p:pRg st="0" end="0"/>
                                            </p:txEl>
                                          </p:spTgt>
                                        </p:tgtEl>
                                        <p:attrNameLst>
                                          <p:attrName>style.visibility</p:attrName>
                                        </p:attrNameLst>
                                      </p:cBhvr>
                                      <p:to>
                                        <p:strVal val="visible"/>
                                      </p:to>
                                    </p:set>
                                    <p:animEffect transition="in" filter="wipe(up)">
                                      <p:cBhvr>
                                        <p:cTn id="32" dur="75"/>
                                        <p:tgtEl>
                                          <p:spTgt spid="6451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32" fill="hold" grpId="0" nodeType="clickEffect">
                                  <p:stCondLst>
                                    <p:cond delay="0"/>
                                  </p:stCondLst>
                                  <p:childTnLst>
                                    <p:set>
                                      <p:cBhvr>
                                        <p:cTn id="36" dur="1" fill="hold">
                                          <p:stCondLst>
                                            <p:cond delay="0"/>
                                          </p:stCondLst>
                                        </p:cTn>
                                        <p:tgtEl>
                                          <p:spTgt spid="64548"/>
                                        </p:tgtEl>
                                        <p:attrNameLst>
                                          <p:attrName>style.visibility</p:attrName>
                                        </p:attrNameLst>
                                      </p:cBhvr>
                                      <p:to>
                                        <p:strVal val="visible"/>
                                      </p:to>
                                    </p:set>
                                    <p:anim calcmode="lin" valueType="num">
                                      <p:cBhvr>
                                        <p:cTn id="37" dur="500" fill="hold"/>
                                        <p:tgtEl>
                                          <p:spTgt spid="64548"/>
                                        </p:tgtEl>
                                        <p:attrNameLst>
                                          <p:attrName>ppt_w</p:attrName>
                                        </p:attrNameLst>
                                      </p:cBhvr>
                                      <p:tavLst>
                                        <p:tav tm="0">
                                          <p:val>
                                            <p:strVal val="4*#ppt_w"/>
                                          </p:val>
                                        </p:tav>
                                        <p:tav tm="100000">
                                          <p:val>
                                            <p:strVal val="#ppt_w"/>
                                          </p:val>
                                        </p:tav>
                                      </p:tavLst>
                                    </p:anim>
                                    <p:anim calcmode="lin" valueType="num">
                                      <p:cBhvr>
                                        <p:cTn id="38" dur="500" fill="hold"/>
                                        <p:tgtEl>
                                          <p:spTgt spid="64548"/>
                                        </p:tgtEl>
                                        <p:attrNameLst>
                                          <p:attrName>ppt_h</p:attrName>
                                        </p:attrNameLst>
                                      </p:cBhvr>
                                      <p:tavLst>
                                        <p:tav tm="0">
                                          <p:val>
                                            <p:strVal val="4*#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6454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4550"/>
                                        </p:tgtEl>
                                        <p:attrNameLst>
                                          <p:attrName>style.visibility</p:attrName>
                                        </p:attrNameLst>
                                      </p:cBhvr>
                                      <p:to>
                                        <p:strVal val="visible"/>
                                      </p:to>
                                    </p:set>
                                    <p:animEffect transition="in" filter="wipe(left)">
                                      <p:cBhvr>
                                        <p:cTn id="47" dur="500"/>
                                        <p:tgtEl>
                                          <p:spTgt spid="6455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4551"/>
                                        </p:tgtEl>
                                        <p:attrNameLst>
                                          <p:attrName>style.visibility</p:attrName>
                                        </p:attrNameLst>
                                      </p:cBhvr>
                                      <p:to>
                                        <p:strVal val="visible"/>
                                      </p:to>
                                    </p:set>
                                    <p:animEffect transition="in" filter="wipe(left)">
                                      <p:cBhvr>
                                        <p:cTn id="52" dur="500"/>
                                        <p:tgtEl>
                                          <p:spTgt spid="6455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4552"/>
                                        </p:tgtEl>
                                        <p:attrNameLst>
                                          <p:attrName>style.visibility</p:attrName>
                                        </p:attrNameLst>
                                      </p:cBhvr>
                                      <p:to>
                                        <p:strVal val="visible"/>
                                      </p:to>
                                    </p:set>
                                    <p:animEffect transition="in" filter="wipe(left)">
                                      <p:cBhvr>
                                        <p:cTn id="57" dur="500"/>
                                        <p:tgtEl>
                                          <p:spTgt spid="6455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wipe(left)">
                                      <p:cBhvr>
                                        <p:cTn id="62" dur="500"/>
                                        <p:tgtEl>
                                          <p:spTgt spid="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wipe(left)">
                                      <p:cBhvr>
                                        <p:cTn id="67" dur="500"/>
                                        <p:tgtEl>
                                          <p:spTgt spid="4"/>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499"/>
                                          </p:stCondLst>
                                        </p:cTn>
                                        <p:tgtEl>
                                          <p:spTgt spid="64593"/>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64591"/>
                                        </p:tgtEl>
                                        <p:attrNameLst>
                                          <p:attrName>style.visibility</p:attrName>
                                        </p:attrNameLst>
                                      </p:cBhvr>
                                      <p:to>
                                        <p:strVal val="visible"/>
                                      </p:to>
                                    </p:set>
                                    <p:animEffect transition="in" filter="wipe(left)">
                                      <p:cBhvr>
                                        <p:cTn id="76" dur="500"/>
                                        <p:tgtEl>
                                          <p:spTgt spid="64591"/>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5"/>
                                        </p:tgtEl>
                                        <p:attrNameLst>
                                          <p:attrName>style.visibility</p:attrName>
                                        </p:attrNameLst>
                                      </p:cBhvr>
                                      <p:to>
                                        <p:strVal val="visible"/>
                                      </p:to>
                                    </p:set>
                                    <p:animEffect transition="in" filter="wipe(left)">
                                      <p:cBhvr>
                                        <p:cTn id="81" dur="500"/>
                                        <p:tgtEl>
                                          <p:spTgt spid="5"/>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6"/>
                                        </p:tgtEl>
                                        <p:attrNameLst>
                                          <p:attrName>style.visibility</p:attrName>
                                        </p:attrNameLst>
                                      </p:cBhvr>
                                      <p:to>
                                        <p:strVal val="visible"/>
                                      </p:to>
                                    </p:set>
                                    <p:animEffect transition="in" filter="wipe(left)">
                                      <p:cBhvr>
                                        <p:cTn id="86" dur="500"/>
                                        <p:tgtEl>
                                          <p:spTgt spid="6"/>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nodeType="clickEffect">
                                  <p:stCondLst>
                                    <p:cond delay="0"/>
                                  </p:stCondLst>
                                  <p:childTnLst>
                                    <p:set>
                                      <p:cBhvr>
                                        <p:cTn id="90" dur="1" fill="hold">
                                          <p:stCondLst>
                                            <p:cond delay="0"/>
                                          </p:stCondLst>
                                        </p:cTn>
                                        <p:tgtEl>
                                          <p:spTgt spid="7"/>
                                        </p:tgtEl>
                                        <p:attrNameLst>
                                          <p:attrName>style.visibility</p:attrName>
                                        </p:attrNameLst>
                                      </p:cBhvr>
                                      <p:to>
                                        <p:strVal val="visible"/>
                                      </p:to>
                                    </p:set>
                                    <p:animEffect transition="in" filter="wipe(down)">
                                      <p:cBhvr>
                                        <p:cTn id="91" dur="500"/>
                                        <p:tgtEl>
                                          <p:spTgt spid="7"/>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499"/>
                                          </p:stCondLst>
                                        </p:cTn>
                                        <p:tgtEl>
                                          <p:spTgt spid="64592"/>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64590"/>
                                        </p:tgtEl>
                                        <p:attrNameLst>
                                          <p:attrName>style.visibility</p:attrName>
                                        </p:attrNameLst>
                                      </p:cBhvr>
                                      <p:to>
                                        <p:strVal val="visible"/>
                                      </p:to>
                                    </p:set>
                                    <p:animEffect transition="in" filter="wipe(left)">
                                      <p:cBhvr>
                                        <p:cTn id="100" dur="500"/>
                                        <p:tgtEl>
                                          <p:spTgt spid="64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7" grpId="0" build="p" autoUpdateAnimBg="0"/>
      <p:bldP spid="64543" grpId="0" animBg="1"/>
      <p:bldP spid="64544" grpId="0" animBg="1"/>
      <p:bldP spid="64518" grpId="0" animBg="1"/>
      <p:bldP spid="64548" grpId="0" animBg="1"/>
      <p:bldP spid="64549" grpId="0" autoUpdateAnimBg="0"/>
      <p:bldP spid="64550" grpId="0" autoUpdateAnimBg="0"/>
      <p:bldP spid="64551" grpId="0" autoUpdateAnimBg="0"/>
      <p:bldP spid="64552" grpId="0" autoUpdateAnimBg="0"/>
      <p:bldP spid="64590" grpId="0" autoUpdateAnimBg="0"/>
      <p:bldP spid="64591" grpId="0" autoUpdateAnimBg="0"/>
      <p:bldP spid="64592" grpId="0" animBg="1"/>
      <p:bldP spid="6459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Text Box 4"/>
          <p:cNvSpPr txBox="1">
            <a:spLocks noChangeArrowheads="1"/>
          </p:cNvSpPr>
          <p:nvPr/>
        </p:nvSpPr>
        <p:spPr bwMode="auto">
          <a:xfrm>
            <a:off x="179388" y="558800"/>
            <a:ext cx="3311525" cy="493713"/>
          </a:xfrm>
          <a:prstGeom prst="rect">
            <a:avLst/>
          </a:prstGeom>
          <a:noFill/>
          <a:ln w="9525">
            <a:noFill/>
            <a:miter lim="800000"/>
            <a:headEnd/>
            <a:tailEnd/>
          </a:ln>
        </p:spPr>
        <p:txBody>
          <a:bodyPr>
            <a:spAutoFit/>
          </a:bodyPr>
          <a:lstStyle/>
          <a:p>
            <a:pPr>
              <a:lnSpc>
                <a:spcPct val="110000"/>
              </a:lnSpc>
            </a:pPr>
            <a:r>
              <a:rPr lang="en-US" altLang="zh-CN" b="1">
                <a:solidFill>
                  <a:srgbClr val="FF0000"/>
                </a:solidFill>
              </a:rPr>
              <a:t>2</a:t>
            </a:r>
            <a:r>
              <a:rPr lang="zh-CN" altLang="en-US" b="1">
                <a:solidFill>
                  <a:srgbClr val="FF0000"/>
                </a:solidFill>
              </a:rPr>
              <a:t>、波传播的特点</a:t>
            </a:r>
          </a:p>
        </p:txBody>
      </p:sp>
      <p:sp>
        <p:nvSpPr>
          <p:cNvPr id="89093" name="Text Box 5"/>
          <p:cNvSpPr txBox="1">
            <a:spLocks noChangeArrowheads="1"/>
          </p:cNvSpPr>
          <p:nvPr/>
        </p:nvSpPr>
        <p:spPr bwMode="auto">
          <a:xfrm>
            <a:off x="323850" y="1239838"/>
            <a:ext cx="8351838" cy="460375"/>
          </a:xfrm>
          <a:prstGeom prst="rect">
            <a:avLst/>
          </a:prstGeom>
          <a:noFill/>
          <a:ln w="9525">
            <a:noFill/>
            <a:miter lim="800000"/>
            <a:headEnd/>
            <a:tailEnd/>
          </a:ln>
        </p:spPr>
        <p:txBody>
          <a:bodyPr>
            <a:spAutoFit/>
          </a:bodyPr>
          <a:lstStyle/>
          <a:p>
            <a:pPr marL="457200" indent="-457200">
              <a:lnSpc>
                <a:spcPct val="110000"/>
              </a:lnSpc>
              <a:buFont typeface="宋体" pitchFamily="2" charset="-122"/>
              <a:buNone/>
            </a:pPr>
            <a:r>
              <a:rPr lang="en-US" altLang="zh-CN" sz="2200" b="1"/>
              <a:t>(1)  </a:t>
            </a:r>
            <a:r>
              <a:rPr lang="zh-CN" altLang="en-US" sz="2200" b="1"/>
              <a:t>点波源完成一个周期的振动，就有一个完整的波形发送出去。</a:t>
            </a:r>
          </a:p>
        </p:txBody>
      </p:sp>
      <p:sp>
        <p:nvSpPr>
          <p:cNvPr id="89094" name="Text Box 6"/>
          <p:cNvSpPr txBox="1">
            <a:spLocks noChangeArrowheads="1"/>
          </p:cNvSpPr>
          <p:nvPr/>
        </p:nvSpPr>
        <p:spPr bwMode="auto">
          <a:xfrm>
            <a:off x="323850" y="2168525"/>
            <a:ext cx="8351838" cy="828675"/>
          </a:xfrm>
          <a:prstGeom prst="rect">
            <a:avLst/>
          </a:prstGeom>
          <a:noFill/>
          <a:ln w="9525">
            <a:noFill/>
            <a:miter lim="800000"/>
            <a:headEnd/>
            <a:tailEnd/>
          </a:ln>
        </p:spPr>
        <p:txBody>
          <a:bodyPr>
            <a:spAutoFit/>
          </a:bodyPr>
          <a:lstStyle/>
          <a:p>
            <a:pPr marL="457200" indent="-457200">
              <a:lnSpc>
                <a:spcPct val="110000"/>
              </a:lnSpc>
              <a:buFontTx/>
              <a:buAutoNum type="arabicParenBoth" startAt="2"/>
            </a:pPr>
            <a:r>
              <a:rPr lang="zh-CN" altLang="en-US" sz="2200" b="1"/>
              <a:t>沿着波的传播方向向前看去，前面各质元都要重复波源的振动</a:t>
            </a:r>
          </a:p>
          <a:p>
            <a:pPr marL="457200" indent="-457200">
              <a:lnSpc>
                <a:spcPct val="110000"/>
              </a:lnSpc>
            </a:pPr>
            <a:r>
              <a:rPr lang="zh-CN" altLang="en-US" sz="2200" b="1"/>
              <a:t>       状态，</a:t>
            </a:r>
            <a:r>
              <a:rPr lang="zh-CN" altLang="en-US" sz="2200" b="1">
                <a:solidFill>
                  <a:srgbClr val="FF6600"/>
                </a:solidFill>
              </a:rPr>
              <a:t>振动相位也相继落后于波源的相位</a:t>
            </a:r>
            <a:r>
              <a:rPr lang="zh-CN" altLang="en-US" sz="2200" b="1"/>
              <a:t>。</a:t>
            </a:r>
          </a:p>
        </p:txBody>
      </p:sp>
      <p:sp>
        <p:nvSpPr>
          <p:cNvPr id="89096" name="Text Box 8"/>
          <p:cNvSpPr txBox="1">
            <a:spLocks noChangeArrowheads="1"/>
          </p:cNvSpPr>
          <p:nvPr/>
        </p:nvSpPr>
        <p:spPr bwMode="auto">
          <a:xfrm>
            <a:off x="323850" y="3397250"/>
            <a:ext cx="8496300" cy="828675"/>
          </a:xfrm>
          <a:prstGeom prst="rect">
            <a:avLst/>
          </a:prstGeom>
          <a:noFill/>
          <a:ln w="9525">
            <a:noFill/>
            <a:miter lim="800000"/>
            <a:headEnd/>
            <a:tailEnd/>
          </a:ln>
        </p:spPr>
        <p:txBody>
          <a:bodyPr>
            <a:spAutoFit/>
          </a:bodyPr>
          <a:lstStyle/>
          <a:p>
            <a:pPr marL="457200" indent="-457200">
              <a:lnSpc>
                <a:spcPct val="110000"/>
              </a:lnSpc>
            </a:pPr>
            <a:r>
              <a:rPr lang="en-US" altLang="zh-CN" sz="2200" b="1"/>
              <a:t>(3)  </a:t>
            </a:r>
            <a:r>
              <a:rPr lang="zh-CN" altLang="en-US" sz="2200" b="1"/>
              <a:t>横波使介质产生</a:t>
            </a:r>
            <a:r>
              <a:rPr lang="zh-CN" altLang="en-US" sz="2200" b="1">
                <a:solidFill>
                  <a:srgbClr val="9900CC"/>
                </a:solidFill>
              </a:rPr>
              <a:t>切变</a:t>
            </a:r>
            <a:r>
              <a:rPr lang="zh-CN" altLang="en-US" sz="2200" b="1"/>
              <a:t>，只有能承受切变的物体（</a:t>
            </a:r>
            <a:r>
              <a:rPr lang="zh-CN" altLang="en-US" sz="2200" b="1">
                <a:solidFill>
                  <a:srgbClr val="0000FF"/>
                </a:solidFill>
              </a:rPr>
              <a:t>固体</a:t>
            </a:r>
            <a:r>
              <a:rPr lang="zh-CN" altLang="en-US" sz="2200" b="1"/>
              <a:t>）才能传</a:t>
            </a:r>
          </a:p>
          <a:p>
            <a:pPr marL="457200" indent="-457200">
              <a:lnSpc>
                <a:spcPct val="110000"/>
              </a:lnSpc>
            </a:pPr>
            <a:r>
              <a:rPr lang="zh-CN" altLang="en-US" sz="2200" b="1"/>
              <a:t>      递横波。</a:t>
            </a:r>
          </a:p>
        </p:txBody>
      </p:sp>
      <p:sp>
        <p:nvSpPr>
          <p:cNvPr id="89097" name="Text Box 9"/>
          <p:cNvSpPr txBox="1">
            <a:spLocks noChangeArrowheads="1"/>
          </p:cNvSpPr>
          <p:nvPr/>
        </p:nvSpPr>
        <p:spPr bwMode="auto">
          <a:xfrm>
            <a:off x="395288" y="4579938"/>
            <a:ext cx="8424862" cy="1196975"/>
          </a:xfrm>
          <a:prstGeom prst="rect">
            <a:avLst/>
          </a:prstGeom>
          <a:noFill/>
          <a:ln w="9525">
            <a:noFill/>
            <a:miter lim="800000"/>
            <a:headEnd/>
            <a:tailEnd/>
          </a:ln>
        </p:spPr>
        <p:txBody>
          <a:bodyPr>
            <a:spAutoFit/>
          </a:bodyPr>
          <a:lstStyle/>
          <a:p>
            <a:pPr marL="457200" indent="-457200">
              <a:lnSpc>
                <a:spcPct val="110000"/>
              </a:lnSpc>
              <a:buFontTx/>
              <a:buAutoNum type="arabicParenBoth" startAt="4"/>
            </a:pPr>
            <a:r>
              <a:rPr lang="zh-CN" altLang="en-US" sz="2200" b="1"/>
              <a:t>纵波在介质中引起</a:t>
            </a:r>
            <a:r>
              <a:rPr lang="zh-CN" altLang="en-US" sz="2200" b="1">
                <a:solidFill>
                  <a:srgbClr val="9900CC"/>
                </a:solidFill>
              </a:rPr>
              <a:t>长变</a:t>
            </a:r>
            <a:r>
              <a:rPr lang="zh-CN" altLang="en-US" sz="2200" b="1"/>
              <a:t>或</a:t>
            </a:r>
            <a:r>
              <a:rPr lang="zh-CN" altLang="en-US" sz="2200" b="1">
                <a:solidFill>
                  <a:srgbClr val="9900CC"/>
                </a:solidFill>
              </a:rPr>
              <a:t>体变</a:t>
            </a:r>
            <a:r>
              <a:rPr lang="zh-CN" altLang="en-US" sz="2200" b="1"/>
              <a:t>，所有物质都能承受长变和体变（</a:t>
            </a:r>
            <a:r>
              <a:rPr lang="zh-CN" altLang="en-US" sz="2200" b="1">
                <a:solidFill>
                  <a:srgbClr val="0000FF"/>
                </a:solidFill>
              </a:rPr>
              <a:t>固、液、气体</a:t>
            </a:r>
            <a:r>
              <a:rPr lang="zh-CN" altLang="en-US" sz="2200" b="1"/>
              <a:t>）。在固体中纵波、横波均可传递，但</a:t>
            </a:r>
            <a:r>
              <a:rPr lang="zh-CN" altLang="en-US" sz="2200" b="1">
                <a:solidFill>
                  <a:schemeClr val="accent2"/>
                </a:solidFill>
              </a:rPr>
              <a:t>两种波速各不相同。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092"/>
                                        </p:tgtEl>
                                        <p:attrNameLst>
                                          <p:attrName>style.visibility</p:attrName>
                                        </p:attrNameLst>
                                      </p:cBhvr>
                                      <p:to>
                                        <p:strVal val="visible"/>
                                      </p:to>
                                    </p:set>
                                    <p:animEffect transition="in" filter="wipe(left)">
                                      <p:cBhvr>
                                        <p:cTn id="7" dur="500"/>
                                        <p:tgtEl>
                                          <p:spTgt spid="890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093"/>
                                        </p:tgtEl>
                                        <p:attrNameLst>
                                          <p:attrName>style.visibility</p:attrName>
                                        </p:attrNameLst>
                                      </p:cBhvr>
                                      <p:to>
                                        <p:strVal val="visible"/>
                                      </p:to>
                                    </p:set>
                                    <p:animEffect transition="in" filter="wipe(left)">
                                      <p:cBhvr>
                                        <p:cTn id="12" dur="500"/>
                                        <p:tgtEl>
                                          <p:spTgt spid="8909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9094"/>
                                        </p:tgtEl>
                                        <p:attrNameLst>
                                          <p:attrName>style.visibility</p:attrName>
                                        </p:attrNameLst>
                                      </p:cBhvr>
                                      <p:to>
                                        <p:strVal val="visible"/>
                                      </p:to>
                                    </p:set>
                                    <p:animEffect transition="in" filter="wipe(left)">
                                      <p:cBhvr>
                                        <p:cTn id="17" dur="500"/>
                                        <p:tgtEl>
                                          <p:spTgt spid="8909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9096"/>
                                        </p:tgtEl>
                                        <p:attrNameLst>
                                          <p:attrName>style.visibility</p:attrName>
                                        </p:attrNameLst>
                                      </p:cBhvr>
                                      <p:to>
                                        <p:strVal val="visible"/>
                                      </p:to>
                                    </p:set>
                                    <p:animEffect transition="in" filter="wipe(left)">
                                      <p:cBhvr>
                                        <p:cTn id="22" dur="500"/>
                                        <p:tgtEl>
                                          <p:spTgt spid="8909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9097"/>
                                        </p:tgtEl>
                                        <p:attrNameLst>
                                          <p:attrName>style.visibility</p:attrName>
                                        </p:attrNameLst>
                                      </p:cBhvr>
                                      <p:to>
                                        <p:strVal val="visible"/>
                                      </p:to>
                                    </p:set>
                                    <p:animEffect transition="in" filter="wipe(left)">
                                      <p:cBhvr>
                                        <p:cTn id="27" dur="500"/>
                                        <p:tgtEl>
                                          <p:spTgt spid="890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p:bldP spid="89093" grpId="0"/>
      <p:bldP spid="89094" grpId="0"/>
      <p:bldP spid="89096" grpId="0"/>
      <p:bldP spid="8909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Text Box 4"/>
          <p:cNvSpPr txBox="1">
            <a:spLocks noChangeArrowheads="1"/>
          </p:cNvSpPr>
          <p:nvPr/>
        </p:nvSpPr>
        <p:spPr bwMode="auto">
          <a:xfrm>
            <a:off x="179388" y="487363"/>
            <a:ext cx="2322512" cy="493712"/>
          </a:xfrm>
          <a:prstGeom prst="rect">
            <a:avLst/>
          </a:prstGeom>
          <a:noFill/>
          <a:ln w="9525">
            <a:noFill/>
            <a:miter lim="800000"/>
            <a:headEnd/>
            <a:tailEnd/>
          </a:ln>
        </p:spPr>
        <p:txBody>
          <a:bodyPr>
            <a:spAutoFit/>
          </a:bodyPr>
          <a:lstStyle/>
          <a:p>
            <a:pPr>
              <a:lnSpc>
                <a:spcPct val="110000"/>
              </a:lnSpc>
            </a:pPr>
            <a:r>
              <a:rPr lang="en-US" altLang="zh-CN" b="1">
                <a:solidFill>
                  <a:srgbClr val="FF3300"/>
                </a:solidFill>
              </a:rPr>
              <a:t>3</a:t>
            </a:r>
            <a:r>
              <a:rPr lang="zh-CN" altLang="en-US" b="1">
                <a:solidFill>
                  <a:srgbClr val="FF3300"/>
                </a:solidFill>
              </a:rPr>
              <a:t>、表面波</a:t>
            </a:r>
          </a:p>
        </p:txBody>
      </p:sp>
      <p:sp>
        <p:nvSpPr>
          <p:cNvPr id="90117" name="Text Box 5"/>
          <p:cNvSpPr txBox="1">
            <a:spLocks noChangeArrowheads="1"/>
          </p:cNvSpPr>
          <p:nvPr/>
        </p:nvSpPr>
        <p:spPr bwMode="auto">
          <a:xfrm>
            <a:off x="684213" y="990600"/>
            <a:ext cx="7426325" cy="460375"/>
          </a:xfrm>
          <a:prstGeom prst="rect">
            <a:avLst/>
          </a:prstGeom>
          <a:noFill/>
          <a:ln w="9525">
            <a:noFill/>
            <a:miter lim="800000"/>
            <a:headEnd/>
            <a:tailEnd/>
          </a:ln>
        </p:spPr>
        <p:txBody>
          <a:bodyPr>
            <a:spAutoFit/>
          </a:bodyPr>
          <a:lstStyle/>
          <a:p>
            <a:pPr>
              <a:lnSpc>
                <a:spcPct val="110000"/>
              </a:lnSpc>
            </a:pPr>
            <a:r>
              <a:rPr lang="zh-CN" altLang="en-US" sz="2200" b="1">
                <a:latin typeface="楷体_GB2312" pitchFamily="49" charset="-122"/>
                <a:ea typeface="楷体_GB2312" pitchFamily="49" charset="-122"/>
              </a:rPr>
              <a:t>因液面有</a:t>
            </a:r>
            <a:r>
              <a:rPr lang="zh-CN" altLang="en-US" sz="2200" b="1">
                <a:solidFill>
                  <a:srgbClr val="9900CC"/>
                </a:solidFill>
                <a:latin typeface="楷体_GB2312" pitchFamily="49" charset="-122"/>
                <a:ea typeface="楷体_GB2312" pitchFamily="49" charset="-122"/>
              </a:rPr>
              <a:t>表面张力</a:t>
            </a:r>
            <a:r>
              <a:rPr lang="zh-CN" altLang="en-US" sz="2200" b="1">
                <a:latin typeface="楷体_GB2312" pitchFamily="49" charset="-122"/>
                <a:ea typeface="楷体_GB2312" pitchFamily="49" charset="-122"/>
              </a:rPr>
              <a:t>，在液面纵波、横波均可传递。</a:t>
            </a:r>
          </a:p>
        </p:txBody>
      </p:sp>
      <p:grpSp>
        <p:nvGrpSpPr>
          <p:cNvPr id="2" name="Group 8"/>
          <p:cNvGrpSpPr>
            <a:grpSpLocks/>
          </p:cNvGrpSpPr>
          <p:nvPr/>
        </p:nvGrpSpPr>
        <p:grpSpPr bwMode="auto">
          <a:xfrm>
            <a:off x="1258888" y="2205038"/>
            <a:ext cx="6096000" cy="1524000"/>
            <a:chOff x="776" y="2957"/>
            <a:chExt cx="3995" cy="1252"/>
          </a:xfrm>
        </p:grpSpPr>
        <p:sp>
          <p:nvSpPr>
            <p:cNvPr id="61454" name="Rectangle 9"/>
            <p:cNvSpPr>
              <a:spLocks noChangeArrowheads="1"/>
            </p:cNvSpPr>
            <p:nvPr/>
          </p:nvSpPr>
          <p:spPr bwMode="auto">
            <a:xfrm>
              <a:off x="776" y="2957"/>
              <a:ext cx="3995" cy="1252"/>
            </a:xfrm>
            <a:prstGeom prst="rect">
              <a:avLst/>
            </a:prstGeom>
            <a:noFill/>
            <a:ln w="9525">
              <a:noFill/>
              <a:miter lim="800000"/>
              <a:headEnd/>
              <a:tailEnd/>
            </a:ln>
          </p:spPr>
          <p:txBody>
            <a:bodyPr wrap="none" anchor="ctr"/>
            <a:lstStyle/>
            <a:p>
              <a:endParaRPr lang="zh-CN" altLang="en-US"/>
            </a:p>
          </p:txBody>
        </p:sp>
        <p:grpSp>
          <p:nvGrpSpPr>
            <p:cNvPr id="61455" name="Group 10"/>
            <p:cNvGrpSpPr>
              <a:grpSpLocks/>
            </p:cNvGrpSpPr>
            <p:nvPr/>
          </p:nvGrpSpPr>
          <p:grpSpPr bwMode="auto">
            <a:xfrm>
              <a:off x="1575" y="3057"/>
              <a:ext cx="2568" cy="1061"/>
              <a:chOff x="733" y="2435"/>
              <a:chExt cx="4245" cy="1412"/>
            </a:xfrm>
          </p:grpSpPr>
          <p:grpSp>
            <p:nvGrpSpPr>
              <p:cNvPr id="61456" name="Group 11"/>
              <p:cNvGrpSpPr>
                <a:grpSpLocks/>
              </p:cNvGrpSpPr>
              <p:nvPr/>
            </p:nvGrpSpPr>
            <p:grpSpPr bwMode="auto">
              <a:xfrm>
                <a:off x="1801" y="2579"/>
                <a:ext cx="2995" cy="581"/>
                <a:chOff x="1801" y="2551"/>
                <a:chExt cx="2995" cy="581"/>
              </a:xfrm>
            </p:grpSpPr>
            <p:grpSp>
              <p:nvGrpSpPr>
                <p:cNvPr id="61467" name="Group 12"/>
                <p:cNvGrpSpPr>
                  <a:grpSpLocks/>
                </p:cNvGrpSpPr>
                <p:nvPr/>
              </p:nvGrpSpPr>
              <p:grpSpPr bwMode="auto">
                <a:xfrm>
                  <a:off x="4218" y="2572"/>
                  <a:ext cx="578" cy="556"/>
                  <a:chOff x="4218" y="2572"/>
                  <a:chExt cx="578" cy="556"/>
                </a:xfrm>
              </p:grpSpPr>
              <p:sp>
                <p:nvSpPr>
                  <p:cNvPr id="90125" name="Oval 13"/>
                  <p:cNvSpPr>
                    <a:spLocks noChangeArrowheads="1"/>
                  </p:cNvSpPr>
                  <p:nvPr/>
                </p:nvSpPr>
                <p:spPr bwMode="auto">
                  <a:xfrm>
                    <a:off x="4216" y="2572"/>
                    <a:ext cx="578" cy="554"/>
                  </a:xfrm>
                  <a:prstGeom prst="ellipse">
                    <a:avLst/>
                  </a:prstGeom>
                  <a:gradFill rotWithShape="0">
                    <a:gsLst>
                      <a:gs pos="0">
                        <a:schemeClr val="hlink">
                          <a:gamma/>
                          <a:tint val="0"/>
                          <a:invGamma/>
                        </a:schemeClr>
                      </a:gs>
                      <a:gs pos="100000">
                        <a:schemeClr val="hlink"/>
                      </a:gs>
                    </a:gsLst>
                    <a:lin ang="5400000" scaled="1"/>
                  </a:gradFill>
                  <a:ln w="9525">
                    <a:solidFill>
                      <a:schemeClr val="tx1"/>
                    </a:solidFill>
                    <a:round/>
                    <a:headEnd/>
                    <a:tailEnd/>
                  </a:ln>
                  <a:effectLst/>
                </p:spPr>
                <p:txBody>
                  <a:bodyPr wrap="none" anchor="ctr"/>
                  <a:lstStyle/>
                  <a:p>
                    <a:pPr>
                      <a:defRPr/>
                    </a:pPr>
                    <a:endParaRPr lang="zh-CN" altLang="en-US"/>
                  </a:p>
                </p:txBody>
              </p:sp>
              <p:sp>
                <p:nvSpPr>
                  <p:cNvPr id="61478" name="Line 14"/>
                  <p:cNvSpPr>
                    <a:spLocks noChangeShapeType="1"/>
                  </p:cNvSpPr>
                  <p:nvPr/>
                </p:nvSpPr>
                <p:spPr bwMode="auto">
                  <a:xfrm>
                    <a:off x="4526" y="2851"/>
                    <a:ext cx="0" cy="277"/>
                  </a:xfrm>
                  <a:prstGeom prst="line">
                    <a:avLst/>
                  </a:prstGeom>
                  <a:noFill/>
                  <a:ln w="38100">
                    <a:solidFill>
                      <a:schemeClr val="tx1"/>
                    </a:solidFill>
                    <a:round/>
                    <a:headEnd/>
                    <a:tailEnd type="triangle" w="med" len="med"/>
                  </a:ln>
                </p:spPr>
                <p:txBody>
                  <a:bodyPr wrap="none" anchor="ctr"/>
                  <a:lstStyle/>
                  <a:p>
                    <a:endParaRPr lang="zh-CN" altLang="en-US"/>
                  </a:p>
                </p:txBody>
              </p:sp>
            </p:grpSp>
            <p:grpSp>
              <p:nvGrpSpPr>
                <p:cNvPr id="61468" name="Group 15"/>
                <p:cNvGrpSpPr>
                  <a:grpSpLocks/>
                </p:cNvGrpSpPr>
                <p:nvPr/>
              </p:nvGrpSpPr>
              <p:grpSpPr bwMode="auto">
                <a:xfrm>
                  <a:off x="2638" y="2568"/>
                  <a:ext cx="578" cy="556"/>
                  <a:chOff x="2638" y="2568"/>
                  <a:chExt cx="578" cy="556"/>
                </a:xfrm>
              </p:grpSpPr>
              <p:sp>
                <p:nvSpPr>
                  <p:cNvPr id="90128" name="Oval 16"/>
                  <p:cNvSpPr>
                    <a:spLocks noChangeArrowheads="1"/>
                  </p:cNvSpPr>
                  <p:nvPr/>
                </p:nvSpPr>
                <p:spPr bwMode="auto">
                  <a:xfrm>
                    <a:off x="2638" y="2572"/>
                    <a:ext cx="578" cy="545"/>
                  </a:xfrm>
                  <a:prstGeom prst="ellipse">
                    <a:avLst/>
                  </a:prstGeom>
                  <a:gradFill rotWithShape="0">
                    <a:gsLst>
                      <a:gs pos="0">
                        <a:schemeClr val="hlink">
                          <a:gamma/>
                          <a:tint val="0"/>
                          <a:invGamma/>
                        </a:schemeClr>
                      </a:gs>
                      <a:gs pos="100000">
                        <a:schemeClr val="hlink"/>
                      </a:gs>
                    </a:gsLst>
                    <a:lin ang="5400000" scaled="1"/>
                  </a:gradFill>
                  <a:ln w="9525">
                    <a:solidFill>
                      <a:schemeClr val="tx1"/>
                    </a:solidFill>
                    <a:round/>
                    <a:headEnd/>
                    <a:tailEnd/>
                  </a:ln>
                  <a:effectLst/>
                </p:spPr>
                <p:txBody>
                  <a:bodyPr wrap="none" anchor="ctr"/>
                  <a:lstStyle/>
                  <a:p>
                    <a:pPr>
                      <a:defRPr/>
                    </a:pPr>
                    <a:endParaRPr lang="zh-CN" altLang="en-US"/>
                  </a:p>
                </p:txBody>
              </p:sp>
              <p:sp>
                <p:nvSpPr>
                  <p:cNvPr id="61476" name="Line 17"/>
                  <p:cNvSpPr>
                    <a:spLocks noChangeShapeType="1"/>
                  </p:cNvSpPr>
                  <p:nvPr/>
                </p:nvSpPr>
                <p:spPr bwMode="auto">
                  <a:xfrm>
                    <a:off x="2922" y="2580"/>
                    <a:ext cx="0" cy="277"/>
                  </a:xfrm>
                  <a:prstGeom prst="line">
                    <a:avLst/>
                  </a:prstGeom>
                  <a:noFill/>
                  <a:ln w="38100">
                    <a:solidFill>
                      <a:schemeClr val="tx1"/>
                    </a:solidFill>
                    <a:round/>
                    <a:headEnd type="triangle" w="med" len="med"/>
                    <a:tailEnd/>
                  </a:ln>
                </p:spPr>
                <p:txBody>
                  <a:bodyPr wrap="none" anchor="ctr"/>
                  <a:lstStyle/>
                  <a:p>
                    <a:endParaRPr lang="zh-CN" altLang="en-US"/>
                  </a:p>
                </p:txBody>
              </p:sp>
            </p:grpSp>
            <p:grpSp>
              <p:nvGrpSpPr>
                <p:cNvPr id="61469" name="Group 18"/>
                <p:cNvGrpSpPr>
                  <a:grpSpLocks/>
                </p:cNvGrpSpPr>
                <p:nvPr/>
              </p:nvGrpSpPr>
              <p:grpSpPr bwMode="auto">
                <a:xfrm>
                  <a:off x="1801" y="2551"/>
                  <a:ext cx="578" cy="556"/>
                  <a:chOff x="1801" y="2551"/>
                  <a:chExt cx="578" cy="556"/>
                </a:xfrm>
              </p:grpSpPr>
              <p:sp>
                <p:nvSpPr>
                  <p:cNvPr id="90131" name="Oval 19"/>
                  <p:cNvSpPr>
                    <a:spLocks noChangeArrowheads="1"/>
                  </p:cNvSpPr>
                  <p:nvPr/>
                </p:nvSpPr>
                <p:spPr bwMode="auto">
                  <a:xfrm>
                    <a:off x="1801" y="2553"/>
                    <a:ext cx="578" cy="554"/>
                  </a:xfrm>
                  <a:prstGeom prst="ellipse">
                    <a:avLst/>
                  </a:prstGeom>
                  <a:gradFill rotWithShape="0">
                    <a:gsLst>
                      <a:gs pos="0">
                        <a:schemeClr val="hlink">
                          <a:gamma/>
                          <a:tint val="0"/>
                          <a:invGamma/>
                        </a:schemeClr>
                      </a:gs>
                      <a:gs pos="100000">
                        <a:schemeClr val="hlink"/>
                      </a:gs>
                    </a:gsLst>
                    <a:lin ang="5400000" scaled="1"/>
                  </a:gradFill>
                  <a:ln w="9525">
                    <a:solidFill>
                      <a:schemeClr val="tx1"/>
                    </a:solidFill>
                    <a:round/>
                    <a:headEnd/>
                    <a:tailEnd/>
                  </a:ln>
                  <a:effectLst/>
                </p:spPr>
                <p:txBody>
                  <a:bodyPr wrap="none" anchor="ctr"/>
                  <a:lstStyle/>
                  <a:p>
                    <a:pPr>
                      <a:defRPr/>
                    </a:pPr>
                    <a:endParaRPr lang="zh-CN" altLang="en-US"/>
                  </a:p>
                </p:txBody>
              </p:sp>
              <p:sp>
                <p:nvSpPr>
                  <p:cNvPr id="61474" name="Line 20"/>
                  <p:cNvSpPr>
                    <a:spLocks noChangeShapeType="1"/>
                  </p:cNvSpPr>
                  <p:nvPr/>
                </p:nvSpPr>
                <p:spPr bwMode="auto">
                  <a:xfrm>
                    <a:off x="2100" y="2844"/>
                    <a:ext cx="278" cy="0"/>
                  </a:xfrm>
                  <a:prstGeom prst="line">
                    <a:avLst/>
                  </a:prstGeom>
                  <a:noFill/>
                  <a:ln w="38100">
                    <a:solidFill>
                      <a:schemeClr val="tx1"/>
                    </a:solidFill>
                    <a:round/>
                    <a:headEnd/>
                    <a:tailEnd type="triangle" w="med" len="med"/>
                  </a:ln>
                </p:spPr>
                <p:txBody>
                  <a:bodyPr wrap="none" anchor="ctr"/>
                  <a:lstStyle/>
                  <a:p>
                    <a:endParaRPr lang="zh-CN" altLang="en-US"/>
                  </a:p>
                </p:txBody>
              </p:sp>
            </p:grpSp>
            <p:grpSp>
              <p:nvGrpSpPr>
                <p:cNvPr id="61470" name="Group 21"/>
                <p:cNvGrpSpPr>
                  <a:grpSpLocks/>
                </p:cNvGrpSpPr>
                <p:nvPr/>
              </p:nvGrpSpPr>
              <p:grpSpPr bwMode="auto">
                <a:xfrm>
                  <a:off x="3461" y="2576"/>
                  <a:ext cx="578" cy="556"/>
                  <a:chOff x="3461" y="2576"/>
                  <a:chExt cx="578" cy="556"/>
                </a:xfrm>
              </p:grpSpPr>
              <p:sp>
                <p:nvSpPr>
                  <p:cNvPr id="90134" name="Oval 22"/>
                  <p:cNvSpPr>
                    <a:spLocks noChangeArrowheads="1"/>
                  </p:cNvSpPr>
                  <p:nvPr/>
                </p:nvSpPr>
                <p:spPr bwMode="auto">
                  <a:xfrm>
                    <a:off x="3461" y="2576"/>
                    <a:ext cx="578" cy="554"/>
                  </a:xfrm>
                  <a:prstGeom prst="ellipse">
                    <a:avLst/>
                  </a:prstGeom>
                  <a:gradFill rotWithShape="0">
                    <a:gsLst>
                      <a:gs pos="0">
                        <a:schemeClr val="hlink">
                          <a:gamma/>
                          <a:tint val="0"/>
                          <a:invGamma/>
                        </a:schemeClr>
                      </a:gs>
                      <a:gs pos="100000">
                        <a:schemeClr val="hlink"/>
                      </a:gs>
                    </a:gsLst>
                    <a:lin ang="5400000" scaled="1"/>
                  </a:gradFill>
                  <a:ln w="9525">
                    <a:solidFill>
                      <a:schemeClr val="tx1"/>
                    </a:solidFill>
                    <a:round/>
                    <a:headEnd/>
                    <a:tailEnd/>
                  </a:ln>
                  <a:effectLst/>
                </p:spPr>
                <p:txBody>
                  <a:bodyPr wrap="none" anchor="ctr"/>
                  <a:lstStyle/>
                  <a:p>
                    <a:pPr>
                      <a:defRPr/>
                    </a:pPr>
                    <a:endParaRPr lang="zh-CN" altLang="en-US"/>
                  </a:p>
                </p:txBody>
              </p:sp>
              <p:sp>
                <p:nvSpPr>
                  <p:cNvPr id="61472" name="Line 23"/>
                  <p:cNvSpPr>
                    <a:spLocks noChangeShapeType="1"/>
                  </p:cNvSpPr>
                  <p:nvPr/>
                </p:nvSpPr>
                <p:spPr bwMode="auto">
                  <a:xfrm>
                    <a:off x="3463" y="2851"/>
                    <a:ext cx="278" cy="0"/>
                  </a:xfrm>
                  <a:prstGeom prst="line">
                    <a:avLst/>
                  </a:prstGeom>
                  <a:noFill/>
                  <a:ln w="38100">
                    <a:solidFill>
                      <a:schemeClr val="tx1"/>
                    </a:solidFill>
                    <a:round/>
                    <a:headEnd type="triangle" w="med" len="med"/>
                    <a:tailEnd/>
                  </a:ln>
                </p:spPr>
                <p:txBody>
                  <a:bodyPr wrap="none" anchor="ctr"/>
                  <a:lstStyle/>
                  <a:p>
                    <a:endParaRPr lang="zh-CN" altLang="en-US"/>
                  </a:p>
                </p:txBody>
              </p:sp>
            </p:grpSp>
          </p:grpSp>
          <p:grpSp>
            <p:nvGrpSpPr>
              <p:cNvPr id="61457" name="Group 24"/>
              <p:cNvGrpSpPr>
                <a:grpSpLocks/>
              </p:cNvGrpSpPr>
              <p:nvPr/>
            </p:nvGrpSpPr>
            <p:grpSpPr bwMode="auto">
              <a:xfrm>
                <a:off x="733" y="2435"/>
                <a:ext cx="4245" cy="1412"/>
                <a:chOff x="733" y="2421"/>
                <a:chExt cx="4245" cy="1412"/>
              </a:xfrm>
            </p:grpSpPr>
            <p:grpSp>
              <p:nvGrpSpPr>
                <p:cNvPr id="61458" name="Group 25"/>
                <p:cNvGrpSpPr>
                  <a:grpSpLocks/>
                </p:cNvGrpSpPr>
                <p:nvPr/>
              </p:nvGrpSpPr>
              <p:grpSpPr bwMode="auto">
                <a:xfrm>
                  <a:off x="733" y="2554"/>
                  <a:ext cx="4245" cy="1279"/>
                  <a:chOff x="733" y="2554"/>
                  <a:chExt cx="4245" cy="1279"/>
                </a:xfrm>
              </p:grpSpPr>
              <p:sp>
                <p:nvSpPr>
                  <p:cNvPr id="90138" name="Oval 26"/>
                  <p:cNvSpPr>
                    <a:spLocks noChangeArrowheads="1"/>
                  </p:cNvSpPr>
                  <p:nvPr/>
                </p:nvSpPr>
                <p:spPr bwMode="auto">
                  <a:xfrm>
                    <a:off x="967" y="3390"/>
                    <a:ext cx="588" cy="154"/>
                  </a:xfrm>
                  <a:prstGeom prst="ellipse">
                    <a:avLst/>
                  </a:prstGeom>
                  <a:gradFill rotWithShape="0">
                    <a:gsLst>
                      <a:gs pos="0">
                        <a:schemeClr val="hlink">
                          <a:gamma/>
                          <a:tint val="0"/>
                          <a:invGamma/>
                        </a:schemeClr>
                      </a:gs>
                      <a:gs pos="100000">
                        <a:schemeClr val="hlink"/>
                      </a:gs>
                    </a:gsLst>
                    <a:lin ang="5400000" scaled="1"/>
                  </a:gradFill>
                  <a:ln w="9525">
                    <a:solidFill>
                      <a:schemeClr val="tx1"/>
                    </a:solidFill>
                    <a:round/>
                    <a:headEnd/>
                    <a:tailEnd/>
                  </a:ln>
                  <a:effectLst/>
                </p:spPr>
                <p:txBody>
                  <a:bodyPr wrap="none" anchor="ctr"/>
                  <a:lstStyle/>
                  <a:p>
                    <a:pPr>
                      <a:defRPr/>
                    </a:pPr>
                    <a:endParaRPr lang="zh-CN" altLang="en-US"/>
                  </a:p>
                </p:txBody>
              </p:sp>
              <p:grpSp>
                <p:nvGrpSpPr>
                  <p:cNvPr id="61461" name="Group 27"/>
                  <p:cNvGrpSpPr>
                    <a:grpSpLocks/>
                  </p:cNvGrpSpPr>
                  <p:nvPr/>
                </p:nvGrpSpPr>
                <p:grpSpPr bwMode="auto">
                  <a:xfrm>
                    <a:off x="733" y="2554"/>
                    <a:ext cx="4245" cy="1279"/>
                    <a:chOff x="733" y="2554"/>
                    <a:chExt cx="4245" cy="1279"/>
                  </a:xfrm>
                </p:grpSpPr>
                <p:grpSp>
                  <p:nvGrpSpPr>
                    <p:cNvPr id="61462" name="Group 28"/>
                    <p:cNvGrpSpPr>
                      <a:grpSpLocks/>
                    </p:cNvGrpSpPr>
                    <p:nvPr/>
                  </p:nvGrpSpPr>
                  <p:grpSpPr bwMode="auto">
                    <a:xfrm>
                      <a:off x="979" y="2554"/>
                      <a:ext cx="578" cy="567"/>
                      <a:chOff x="979" y="2554"/>
                      <a:chExt cx="578" cy="567"/>
                    </a:xfrm>
                  </p:grpSpPr>
                  <p:sp>
                    <p:nvSpPr>
                      <p:cNvPr id="90141" name="Oval 29"/>
                      <p:cNvSpPr>
                        <a:spLocks noChangeArrowheads="1"/>
                      </p:cNvSpPr>
                      <p:nvPr/>
                    </p:nvSpPr>
                    <p:spPr bwMode="auto">
                      <a:xfrm>
                        <a:off x="979" y="2560"/>
                        <a:ext cx="578" cy="550"/>
                      </a:xfrm>
                      <a:prstGeom prst="ellipse">
                        <a:avLst/>
                      </a:prstGeom>
                      <a:gradFill rotWithShape="0">
                        <a:gsLst>
                          <a:gs pos="0">
                            <a:schemeClr val="hlink">
                              <a:gamma/>
                              <a:tint val="0"/>
                              <a:invGamma/>
                            </a:schemeClr>
                          </a:gs>
                          <a:gs pos="100000">
                            <a:schemeClr val="hlink"/>
                          </a:gs>
                        </a:gsLst>
                        <a:lin ang="5400000" scaled="1"/>
                      </a:gradFill>
                      <a:ln w="9525">
                        <a:solidFill>
                          <a:schemeClr val="tx1"/>
                        </a:solidFill>
                        <a:round/>
                        <a:headEnd/>
                        <a:tailEnd/>
                      </a:ln>
                      <a:effectLst/>
                    </p:spPr>
                    <p:txBody>
                      <a:bodyPr wrap="none" anchor="ctr"/>
                      <a:lstStyle/>
                      <a:p>
                        <a:pPr>
                          <a:defRPr/>
                        </a:pPr>
                        <a:endParaRPr lang="zh-CN" altLang="en-US"/>
                      </a:p>
                    </p:txBody>
                  </p:sp>
                  <p:sp>
                    <p:nvSpPr>
                      <p:cNvPr id="61466" name="Line 30"/>
                      <p:cNvSpPr>
                        <a:spLocks noChangeShapeType="1"/>
                      </p:cNvSpPr>
                      <p:nvPr/>
                    </p:nvSpPr>
                    <p:spPr bwMode="auto">
                      <a:xfrm>
                        <a:off x="1263" y="2844"/>
                        <a:ext cx="0" cy="277"/>
                      </a:xfrm>
                      <a:prstGeom prst="line">
                        <a:avLst/>
                      </a:prstGeom>
                      <a:noFill/>
                      <a:ln w="38100">
                        <a:solidFill>
                          <a:schemeClr val="tx1"/>
                        </a:solidFill>
                        <a:round/>
                        <a:headEnd/>
                        <a:tailEnd type="triangle" w="med" len="med"/>
                      </a:ln>
                    </p:spPr>
                    <p:txBody>
                      <a:bodyPr wrap="none" anchor="ctr"/>
                      <a:lstStyle/>
                      <a:p>
                        <a:endParaRPr lang="zh-CN" altLang="en-US"/>
                      </a:p>
                    </p:txBody>
                  </p:sp>
                </p:grpSp>
                <p:sp>
                  <p:nvSpPr>
                    <p:cNvPr id="61463" name="Line 31"/>
                    <p:cNvSpPr>
                      <a:spLocks noChangeShapeType="1"/>
                    </p:cNvSpPr>
                    <p:nvPr/>
                  </p:nvSpPr>
                  <p:spPr bwMode="auto">
                    <a:xfrm flipH="1">
                      <a:off x="745" y="2833"/>
                      <a:ext cx="0" cy="1000"/>
                    </a:xfrm>
                    <a:prstGeom prst="line">
                      <a:avLst/>
                    </a:prstGeom>
                    <a:noFill/>
                    <a:ln w="15875">
                      <a:solidFill>
                        <a:schemeClr val="tx1"/>
                      </a:solidFill>
                      <a:round/>
                      <a:headEnd/>
                      <a:tailEnd type="triangle" w="med" len="med"/>
                    </a:ln>
                  </p:spPr>
                  <p:txBody>
                    <a:bodyPr wrap="none" anchor="ctr"/>
                    <a:lstStyle/>
                    <a:p>
                      <a:endParaRPr lang="zh-CN" altLang="en-US"/>
                    </a:p>
                  </p:txBody>
                </p:sp>
                <p:sp>
                  <p:nvSpPr>
                    <p:cNvPr id="61464" name="Line 32"/>
                    <p:cNvSpPr>
                      <a:spLocks noChangeShapeType="1"/>
                    </p:cNvSpPr>
                    <p:nvPr/>
                  </p:nvSpPr>
                  <p:spPr bwMode="auto">
                    <a:xfrm>
                      <a:off x="733" y="2842"/>
                      <a:ext cx="4245" cy="0"/>
                    </a:xfrm>
                    <a:prstGeom prst="line">
                      <a:avLst/>
                    </a:prstGeom>
                    <a:noFill/>
                    <a:ln w="9525">
                      <a:solidFill>
                        <a:schemeClr val="tx1"/>
                      </a:solidFill>
                      <a:prstDash val="dash"/>
                      <a:round/>
                      <a:headEnd/>
                      <a:tailEnd/>
                    </a:ln>
                  </p:spPr>
                  <p:txBody>
                    <a:bodyPr wrap="none" anchor="ctr"/>
                    <a:lstStyle/>
                    <a:p>
                      <a:endParaRPr lang="zh-CN" altLang="en-US"/>
                    </a:p>
                  </p:txBody>
                </p:sp>
              </p:grpSp>
            </p:grpSp>
            <p:sp>
              <p:nvSpPr>
                <p:cNvPr id="61459" name="Line 33"/>
                <p:cNvSpPr>
                  <a:spLocks noChangeShapeType="1"/>
                </p:cNvSpPr>
                <p:nvPr/>
              </p:nvSpPr>
              <p:spPr bwMode="auto">
                <a:xfrm>
                  <a:off x="1267" y="2421"/>
                  <a:ext cx="0" cy="1367"/>
                </a:xfrm>
                <a:prstGeom prst="line">
                  <a:avLst/>
                </a:prstGeom>
                <a:noFill/>
                <a:ln w="9525">
                  <a:solidFill>
                    <a:schemeClr val="tx1"/>
                  </a:solidFill>
                  <a:prstDash val="dash"/>
                  <a:round/>
                  <a:headEnd/>
                  <a:tailEnd/>
                </a:ln>
              </p:spPr>
              <p:txBody>
                <a:bodyPr wrap="none" anchor="ctr"/>
                <a:lstStyle/>
                <a:p>
                  <a:endParaRPr lang="zh-CN" altLang="en-US"/>
                </a:p>
              </p:txBody>
            </p:sp>
          </p:grpSp>
        </p:grpSp>
      </p:grpSp>
      <p:sp>
        <p:nvSpPr>
          <p:cNvPr id="90147" name="Text Box 35"/>
          <p:cNvSpPr txBox="1">
            <a:spLocks noChangeArrowheads="1"/>
          </p:cNvSpPr>
          <p:nvPr/>
        </p:nvSpPr>
        <p:spPr bwMode="auto">
          <a:xfrm>
            <a:off x="179388" y="1454150"/>
            <a:ext cx="8540750" cy="828675"/>
          </a:xfrm>
          <a:prstGeom prst="rect">
            <a:avLst/>
          </a:prstGeom>
          <a:noFill/>
          <a:ln w="9525">
            <a:noFill/>
            <a:miter lim="800000"/>
            <a:headEnd/>
            <a:tailEnd/>
          </a:ln>
        </p:spPr>
        <p:txBody>
          <a:bodyPr>
            <a:spAutoFit/>
          </a:bodyPr>
          <a:lstStyle/>
          <a:p>
            <a:pPr>
              <a:lnSpc>
                <a:spcPct val="110000"/>
              </a:lnSpc>
            </a:pPr>
            <a:r>
              <a:rPr lang="en-US" altLang="zh-CN" sz="2200" b="1">
                <a:latin typeface="楷体_GB2312" pitchFamily="49" charset="-122"/>
                <a:ea typeface="楷体_GB2312" pitchFamily="49" charset="-122"/>
              </a:rPr>
              <a:t>   </a:t>
            </a:r>
            <a:r>
              <a:rPr lang="zh-CN" altLang="en-US" sz="2200" b="1">
                <a:latin typeface="楷体_GB2312" pitchFamily="49" charset="-122"/>
                <a:ea typeface="楷体_GB2312" pitchFamily="49" charset="-122"/>
              </a:rPr>
              <a:t>有液面波传播时，液面的流体微元会在平衡位置附近作椭圆振动。</a:t>
            </a:r>
            <a:r>
              <a:rPr lang="zh-CN" altLang="en-US" sz="2200" b="1">
                <a:solidFill>
                  <a:srgbClr val="0000FF"/>
                </a:solidFill>
                <a:latin typeface="楷体_GB2312" pitchFamily="49" charset="-122"/>
                <a:ea typeface="楷体_GB2312" pitchFamily="49" charset="-122"/>
              </a:rPr>
              <a:t>液面波不是简谐波。</a:t>
            </a:r>
          </a:p>
        </p:txBody>
      </p:sp>
      <p:sp>
        <p:nvSpPr>
          <p:cNvPr id="90152" name="Text Box 40"/>
          <p:cNvSpPr txBox="1">
            <a:spLocks noChangeArrowheads="1"/>
          </p:cNvSpPr>
          <p:nvPr/>
        </p:nvSpPr>
        <p:spPr bwMode="auto">
          <a:xfrm>
            <a:off x="250825" y="3644900"/>
            <a:ext cx="2322513" cy="493713"/>
          </a:xfrm>
          <a:prstGeom prst="rect">
            <a:avLst/>
          </a:prstGeom>
          <a:noFill/>
          <a:ln w="9525">
            <a:noFill/>
            <a:miter lim="800000"/>
            <a:headEnd/>
            <a:tailEnd/>
          </a:ln>
        </p:spPr>
        <p:txBody>
          <a:bodyPr>
            <a:spAutoFit/>
          </a:bodyPr>
          <a:lstStyle/>
          <a:p>
            <a:pPr>
              <a:lnSpc>
                <a:spcPct val="110000"/>
              </a:lnSpc>
            </a:pPr>
            <a:r>
              <a:rPr lang="en-US" altLang="zh-CN" b="1">
                <a:solidFill>
                  <a:srgbClr val="FF3300"/>
                </a:solidFill>
              </a:rPr>
              <a:t>4</a:t>
            </a:r>
            <a:r>
              <a:rPr lang="zh-CN" altLang="en-US" b="1">
                <a:solidFill>
                  <a:srgbClr val="FF3300"/>
                </a:solidFill>
              </a:rPr>
              <a:t>、地震波</a:t>
            </a:r>
          </a:p>
        </p:txBody>
      </p:sp>
      <p:sp>
        <p:nvSpPr>
          <p:cNvPr id="90153" name="Text Box 41"/>
          <p:cNvSpPr txBox="1">
            <a:spLocks noChangeArrowheads="1"/>
          </p:cNvSpPr>
          <p:nvPr/>
        </p:nvSpPr>
        <p:spPr bwMode="auto">
          <a:xfrm>
            <a:off x="1908175" y="3692525"/>
            <a:ext cx="2879725" cy="427038"/>
          </a:xfrm>
          <a:prstGeom prst="rect">
            <a:avLst/>
          </a:prstGeom>
          <a:noFill/>
          <a:ln w="9525">
            <a:noFill/>
            <a:miter lim="800000"/>
            <a:headEnd/>
            <a:tailEnd/>
          </a:ln>
        </p:spPr>
        <p:txBody>
          <a:bodyPr>
            <a:spAutoFit/>
          </a:bodyPr>
          <a:lstStyle/>
          <a:p>
            <a:pPr>
              <a:spcBef>
                <a:spcPct val="50000"/>
              </a:spcBef>
            </a:pPr>
            <a:r>
              <a:rPr kumimoji="0" lang="zh-CN" altLang="en-US" sz="2200" b="1">
                <a:latin typeface="楷体_GB2312" pitchFamily="49" charset="-122"/>
                <a:ea typeface="楷体_GB2312" pitchFamily="49" charset="-122"/>
              </a:rPr>
              <a:t>先有纵波后有横波</a:t>
            </a:r>
          </a:p>
        </p:txBody>
      </p:sp>
      <p:grpSp>
        <p:nvGrpSpPr>
          <p:cNvPr id="13" name="Group 45"/>
          <p:cNvGrpSpPr>
            <a:grpSpLocks/>
          </p:cNvGrpSpPr>
          <p:nvPr/>
        </p:nvGrpSpPr>
        <p:grpSpPr bwMode="auto">
          <a:xfrm>
            <a:off x="900113" y="4149725"/>
            <a:ext cx="3168650" cy="2298700"/>
            <a:chOff x="3016" y="2614"/>
            <a:chExt cx="1996" cy="1448"/>
          </a:xfrm>
        </p:grpSpPr>
        <p:pic>
          <p:nvPicPr>
            <p:cNvPr id="61452" name="Picture 39" descr="20060710155323a790c"/>
            <p:cNvPicPr>
              <a:picLocks noChangeAspect="1" noChangeArrowheads="1"/>
            </p:cNvPicPr>
            <p:nvPr/>
          </p:nvPicPr>
          <p:blipFill>
            <a:blip r:embed="rId2"/>
            <a:srcRect/>
            <a:stretch>
              <a:fillRect/>
            </a:stretch>
          </p:blipFill>
          <p:spPr bwMode="auto">
            <a:xfrm>
              <a:off x="3379" y="2614"/>
              <a:ext cx="1633" cy="1448"/>
            </a:xfrm>
            <a:prstGeom prst="rect">
              <a:avLst/>
            </a:prstGeom>
            <a:noFill/>
            <a:ln w="9525">
              <a:noFill/>
              <a:miter lim="800000"/>
              <a:headEnd/>
              <a:tailEnd/>
            </a:ln>
          </p:spPr>
        </p:pic>
        <p:sp>
          <p:nvSpPr>
            <p:cNvPr id="61453" name="Text Box 42"/>
            <p:cNvSpPr txBox="1">
              <a:spLocks noChangeArrowheads="1"/>
            </p:cNvSpPr>
            <p:nvPr/>
          </p:nvSpPr>
          <p:spPr bwMode="auto">
            <a:xfrm>
              <a:off x="3016" y="3022"/>
              <a:ext cx="318" cy="691"/>
            </a:xfrm>
            <a:prstGeom prst="rect">
              <a:avLst/>
            </a:prstGeom>
            <a:noFill/>
            <a:ln w="9525">
              <a:noFill/>
              <a:miter lim="800000"/>
              <a:headEnd/>
              <a:tailEnd/>
            </a:ln>
          </p:spPr>
          <p:txBody>
            <a:bodyPr>
              <a:spAutoFit/>
            </a:bodyPr>
            <a:lstStyle/>
            <a:p>
              <a:pPr>
                <a:spcBef>
                  <a:spcPct val="50000"/>
                </a:spcBef>
              </a:pPr>
              <a:r>
                <a:rPr kumimoji="0" lang="zh-CN" altLang="en-US" sz="2200" b="1">
                  <a:latin typeface="Arial" pitchFamily="34" charset="0"/>
                  <a:ea typeface="楷体_GB2312" pitchFamily="49" charset="-122"/>
                </a:rPr>
                <a:t>地震波</a:t>
              </a:r>
            </a:p>
          </p:txBody>
        </p:sp>
      </p:grpSp>
      <p:grpSp>
        <p:nvGrpSpPr>
          <p:cNvPr id="14" name="Group 44"/>
          <p:cNvGrpSpPr>
            <a:grpSpLocks/>
          </p:cNvGrpSpPr>
          <p:nvPr/>
        </p:nvGrpSpPr>
        <p:grpSpPr bwMode="auto">
          <a:xfrm>
            <a:off x="4572000" y="4149725"/>
            <a:ext cx="3529013" cy="2232025"/>
            <a:chOff x="567" y="2659"/>
            <a:chExt cx="2223" cy="1406"/>
          </a:xfrm>
        </p:grpSpPr>
        <p:pic>
          <p:nvPicPr>
            <p:cNvPr id="61450" name="Picture 38" descr="0942023442978571"/>
            <p:cNvPicPr>
              <a:picLocks noChangeAspect="1" noChangeArrowheads="1"/>
            </p:cNvPicPr>
            <p:nvPr/>
          </p:nvPicPr>
          <p:blipFill>
            <a:blip r:embed="rId3"/>
            <a:srcRect l="9442" t="10603" r="7529" b="7030"/>
            <a:stretch>
              <a:fillRect/>
            </a:stretch>
          </p:blipFill>
          <p:spPr bwMode="auto">
            <a:xfrm>
              <a:off x="930" y="2659"/>
              <a:ext cx="1860" cy="1406"/>
            </a:xfrm>
            <a:prstGeom prst="rect">
              <a:avLst/>
            </a:prstGeom>
            <a:noFill/>
            <a:ln w="9525">
              <a:noFill/>
              <a:miter lim="800000"/>
              <a:headEnd/>
              <a:tailEnd/>
            </a:ln>
          </p:spPr>
        </p:pic>
        <p:sp>
          <p:nvSpPr>
            <p:cNvPr id="61451" name="Text Box 43"/>
            <p:cNvSpPr txBox="1">
              <a:spLocks noChangeArrowheads="1"/>
            </p:cNvSpPr>
            <p:nvPr/>
          </p:nvSpPr>
          <p:spPr bwMode="auto">
            <a:xfrm>
              <a:off x="567" y="3000"/>
              <a:ext cx="318" cy="691"/>
            </a:xfrm>
            <a:prstGeom prst="rect">
              <a:avLst/>
            </a:prstGeom>
            <a:noFill/>
            <a:ln w="9525">
              <a:noFill/>
              <a:miter lim="800000"/>
              <a:headEnd/>
              <a:tailEnd/>
            </a:ln>
          </p:spPr>
          <p:txBody>
            <a:bodyPr>
              <a:spAutoFit/>
            </a:bodyPr>
            <a:lstStyle/>
            <a:p>
              <a:pPr>
                <a:spcBef>
                  <a:spcPct val="50000"/>
                </a:spcBef>
              </a:pPr>
              <a:r>
                <a:rPr kumimoji="0" lang="zh-CN" altLang="en-US" sz="2200" b="1">
                  <a:latin typeface="Arial" pitchFamily="34" charset="0"/>
                  <a:ea typeface="楷体_GB2312" pitchFamily="49" charset="-122"/>
                </a:rPr>
                <a:t>水面波</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116"/>
                                        </p:tgtEl>
                                        <p:attrNameLst>
                                          <p:attrName>style.visibility</p:attrName>
                                        </p:attrNameLst>
                                      </p:cBhvr>
                                      <p:to>
                                        <p:strVal val="visible"/>
                                      </p:to>
                                    </p:set>
                                    <p:animEffect transition="in" filter="wipe(left)">
                                      <p:cBhvr>
                                        <p:cTn id="7" dur="500"/>
                                        <p:tgtEl>
                                          <p:spTgt spid="901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0117"/>
                                        </p:tgtEl>
                                        <p:attrNameLst>
                                          <p:attrName>style.visibility</p:attrName>
                                        </p:attrNameLst>
                                      </p:cBhvr>
                                      <p:to>
                                        <p:strVal val="visible"/>
                                      </p:to>
                                    </p:set>
                                    <p:animEffect transition="in" filter="wipe(left)">
                                      <p:cBhvr>
                                        <p:cTn id="12" dur="500"/>
                                        <p:tgtEl>
                                          <p:spTgt spid="901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0147"/>
                                        </p:tgtEl>
                                        <p:attrNameLst>
                                          <p:attrName>style.visibility</p:attrName>
                                        </p:attrNameLst>
                                      </p:cBhvr>
                                      <p:to>
                                        <p:strVal val="visible"/>
                                      </p:to>
                                    </p:set>
                                    <p:animEffect transition="in" filter="wipe(left)">
                                      <p:cBhvr>
                                        <p:cTn id="17" dur="500"/>
                                        <p:tgtEl>
                                          <p:spTgt spid="901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0152"/>
                                        </p:tgtEl>
                                        <p:attrNameLst>
                                          <p:attrName>style.visibility</p:attrName>
                                        </p:attrNameLst>
                                      </p:cBhvr>
                                      <p:to>
                                        <p:strVal val="visible"/>
                                      </p:to>
                                    </p:set>
                                    <p:animEffect transition="in" filter="wipe(left)">
                                      <p:cBhvr>
                                        <p:cTn id="32" dur="500"/>
                                        <p:tgtEl>
                                          <p:spTgt spid="9015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0153"/>
                                        </p:tgtEl>
                                        <p:attrNameLst>
                                          <p:attrName>style.visibility</p:attrName>
                                        </p:attrNameLst>
                                      </p:cBhvr>
                                      <p:to>
                                        <p:strVal val="visible"/>
                                      </p:to>
                                    </p:set>
                                    <p:animEffect transition="in" filter="wipe(left)">
                                      <p:cBhvr>
                                        <p:cTn id="37" dur="500"/>
                                        <p:tgtEl>
                                          <p:spTgt spid="9015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6" grpId="0"/>
      <p:bldP spid="90117" grpId="0"/>
      <p:bldP spid="90147" grpId="0"/>
      <p:bldP spid="90152" grpId="0"/>
      <p:bldP spid="9015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5"/>
          <p:cNvSpPr>
            <a:spLocks noChangeArrowheads="1"/>
          </p:cNvSpPr>
          <p:nvPr/>
        </p:nvSpPr>
        <p:spPr bwMode="auto">
          <a:xfrm>
            <a:off x="174625" y="476250"/>
            <a:ext cx="5334000" cy="457200"/>
          </a:xfrm>
          <a:prstGeom prst="rect">
            <a:avLst/>
          </a:prstGeom>
          <a:noFill/>
          <a:ln w="9525">
            <a:noFill/>
            <a:miter lim="800000"/>
            <a:headEnd/>
            <a:tailEnd/>
          </a:ln>
        </p:spPr>
        <p:txBody>
          <a:bodyPr>
            <a:spAutoFit/>
          </a:bodyPr>
          <a:lstStyle/>
          <a:p>
            <a:pPr eaLnBrk="0" hangingPunct="0"/>
            <a:r>
              <a:rPr lang="zh-CN" altLang="en-US" b="1">
                <a:solidFill>
                  <a:schemeClr val="accent2"/>
                </a:solidFill>
                <a:latin typeface="宋体" pitchFamily="2" charset="-122"/>
              </a:rPr>
              <a:t>三、波长  周期  频率和波速</a:t>
            </a:r>
          </a:p>
        </p:txBody>
      </p:sp>
      <p:sp>
        <p:nvSpPr>
          <p:cNvPr id="30741" name="Rectangle 21"/>
          <p:cNvSpPr>
            <a:spLocks noChangeArrowheads="1"/>
          </p:cNvSpPr>
          <p:nvPr/>
        </p:nvSpPr>
        <p:spPr bwMode="auto">
          <a:xfrm>
            <a:off x="2141538" y="1125538"/>
            <a:ext cx="6751637" cy="1354137"/>
          </a:xfrm>
          <a:prstGeom prst="rect">
            <a:avLst/>
          </a:prstGeom>
          <a:noFill/>
          <a:ln w="9525">
            <a:noFill/>
            <a:miter lim="800000"/>
            <a:headEnd/>
            <a:tailEnd/>
          </a:ln>
        </p:spPr>
        <p:txBody>
          <a:bodyPr>
            <a:spAutoFit/>
          </a:bodyPr>
          <a:lstStyle/>
          <a:p>
            <a:pPr eaLnBrk="0" hangingPunct="0">
              <a:lnSpc>
                <a:spcPct val="115000"/>
              </a:lnSpc>
            </a:pPr>
            <a:r>
              <a:rPr lang="zh-CN" altLang="en-US" b="1">
                <a:latin typeface="宋体" pitchFamily="2" charset="-122"/>
              </a:rPr>
              <a:t>同一波线上相邻两个相位差为 </a:t>
            </a:r>
            <a:r>
              <a:rPr lang="en-US" altLang="zh-CN" b="1">
                <a:solidFill>
                  <a:srgbClr val="FF6600"/>
                </a:solidFill>
              </a:rPr>
              <a:t>2</a:t>
            </a:r>
            <a:r>
              <a:rPr lang="en-US" altLang="zh-CN" b="1" i="1">
                <a:solidFill>
                  <a:srgbClr val="FF6600"/>
                </a:solidFill>
                <a:latin typeface="宋体" pitchFamily="2" charset="-122"/>
                <a:sym typeface="Symbol" pitchFamily="18" charset="2"/>
              </a:rPr>
              <a:t></a:t>
            </a:r>
            <a:r>
              <a:rPr lang="en-US" altLang="zh-CN" b="1">
                <a:latin typeface="宋体" pitchFamily="2" charset="-122"/>
                <a:sym typeface="Symbol" pitchFamily="18" charset="2"/>
              </a:rPr>
              <a:t> </a:t>
            </a:r>
            <a:r>
              <a:rPr lang="zh-CN" altLang="en-US" b="1">
                <a:latin typeface="宋体" pitchFamily="2" charset="-122"/>
                <a:sym typeface="Symbol" pitchFamily="18" charset="2"/>
              </a:rPr>
              <a:t>的质点</a:t>
            </a:r>
            <a:r>
              <a:rPr lang="zh-CN" altLang="en-US" b="1">
                <a:latin typeface="宋体" pitchFamily="2" charset="-122"/>
              </a:rPr>
              <a:t>之间的距离；即波源作一次完全振动，波前进的距离。</a:t>
            </a:r>
            <a:r>
              <a:rPr lang="zh-CN" altLang="en-US" b="1"/>
              <a:t>波长反映了波的</a:t>
            </a:r>
            <a:r>
              <a:rPr lang="zh-CN" altLang="en-US" b="1">
                <a:solidFill>
                  <a:srgbClr val="FF6600"/>
                </a:solidFill>
              </a:rPr>
              <a:t>空间周期性</a:t>
            </a:r>
            <a:r>
              <a:rPr lang="zh-CN" altLang="en-US" b="1"/>
              <a:t>。</a:t>
            </a:r>
            <a:endParaRPr lang="zh-CN" altLang="en-US" b="1">
              <a:latin typeface="宋体" pitchFamily="2" charset="-122"/>
            </a:endParaRPr>
          </a:p>
        </p:txBody>
      </p:sp>
      <p:sp>
        <p:nvSpPr>
          <p:cNvPr id="4106" name="Text Box 22"/>
          <p:cNvSpPr txBox="1">
            <a:spLocks noChangeArrowheads="1"/>
          </p:cNvSpPr>
          <p:nvPr/>
        </p:nvSpPr>
        <p:spPr bwMode="auto">
          <a:xfrm>
            <a:off x="2819400" y="2566988"/>
            <a:ext cx="5562600" cy="512762"/>
          </a:xfrm>
          <a:prstGeom prst="rect">
            <a:avLst/>
          </a:prstGeom>
          <a:noFill/>
          <a:ln w="9525">
            <a:noFill/>
            <a:miter lim="800000"/>
            <a:headEnd/>
            <a:tailEnd/>
          </a:ln>
        </p:spPr>
        <p:txBody>
          <a:bodyPr>
            <a:spAutoFit/>
          </a:bodyPr>
          <a:lstStyle/>
          <a:p>
            <a:pPr eaLnBrk="0" hangingPunct="0">
              <a:lnSpc>
                <a:spcPct val="115000"/>
              </a:lnSpc>
            </a:pPr>
            <a:endParaRPr lang="zh-CN" altLang="zh-CN" b="1">
              <a:latin typeface="宋体" pitchFamily="2" charset="-122"/>
            </a:endParaRPr>
          </a:p>
        </p:txBody>
      </p:sp>
      <p:sp>
        <p:nvSpPr>
          <p:cNvPr id="30743" name="Rectangle 23"/>
          <p:cNvSpPr>
            <a:spLocks noChangeArrowheads="1"/>
          </p:cNvSpPr>
          <p:nvPr/>
        </p:nvSpPr>
        <p:spPr bwMode="auto">
          <a:xfrm>
            <a:off x="2051050" y="2625725"/>
            <a:ext cx="6635750" cy="933450"/>
          </a:xfrm>
          <a:prstGeom prst="rect">
            <a:avLst/>
          </a:prstGeom>
          <a:noFill/>
          <a:ln w="9525">
            <a:noFill/>
            <a:miter lim="800000"/>
            <a:headEnd/>
            <a:tailEnd/>
          </a:ln>
        </p:spPr>
        <p:txBody>
          <a:bodyPr>
            <a:spAutoFit/>
          </a:bodyPr>
          <a:lstStyle/>
          <a:p>
            <a:pPr eaLnBrk="0" hangingPunct="0">
              <a:lnSpc>
                <a:spcPct val="115000"/>
              </a:lnSpc>
            </a:pPr>
            <a:r>
              <a:rPr lang="zh-CN" altLang="en-US" b="1">
                <a:latin typeface="宋体" pitchFamily="2" charset="-122"/>
              </a:rPr>
              <a:t>波前进一个波长距离所需的时间。周期表征了波的</a:t>
            </a:r>
            <a:r>
              <a:rPr lang="zh-CN" altLang="en-US" b="1">
                <a:solidFill>
                  <a:srgbClr val="FF6600"/>
                </a:solidFill>
                <a:latin typeface="宋体" pitchFamily="2" charset="-122"/>
              </a:rPr>
              <a:t>时间周期性</a:t>
            </a:r>
            <a:r>
              <a:rPr lang="zh-CN" altLang="en-US" b="1">
                <a:latin typeface="宋体" pitchFamily="2" charset="-122"/>
              </a:rPr>
              <a:t>。</a:t>
            </a:r>
          </a:p>
        </p:txBody>
      </p:sp>
      <p:sp>
        <p:nvSpPr>
          <p:cNvPr id="30744" name="Rectangle 24"/>
          <p:cNvSpPr>
            <a:spLocks noChangeArrowheads="1"/>
          </p:cNvSpPr>
          <p:nvPr/>
        </p:nvSpPr>
        <p:spPr bwMode="auto">
          <a:xfrm>
            <a:off x="2097088" y="3795713"/>
            <a:ext cx="6705600" cy="933450"/>
          </a:xfrm>
          <a:prstGeom prst="rect">
            <a:avLst/>
          </a:prstGeom>
          <a:noFill/>
          <a:ln w="9525">
            <a:noFill/>
            <a:miter lim="800000"/>
            <a:headEnd/>
            <a:tailEnd/>
          </a:ln>
        </p:spPr>
        <p:txBody>
          <a:bodyPr>
            <a:spAutoFit/>
          </a:bodyPr>
          <a:lstStyle/>
          <a:p>
            <a:pPr eaLnBrk="0" hangingPunct="0">
              <a:lnSpc>
                <a:spcPct val="115000"/>
              </a:lnSpc>
            </a:pPr>
            <a:r>
              <a:rPr lang="zh-CN" altLang="en-US" b="1">
                <a:latin typeface="宋体" pitchFamily="2" charset="-122"/>
              </a:rPr>
              <a:t>单位时间内，波前进距离中完整波的数目。频率与周期的关系为：</a:t>
            </a:r>
          </a:p>
        </p:txBody>
      </p:sp>
      <p:graphicFrame>
        <p:nvGraphicFramePr>
          <p:cNvPr id="30745" name="Object 25"/>
          <p:cNvGraphicFramePr>
            <a:graphicFrameLocks noChangeAspect="1"/>
          </p:cNvGraphicFramePr>
          <p:nvPr/>
        </p:nvGraphicFramePr>
        <p:xfrm>
          <a:off x="5440363" y="4357688"/>
          <a:ext cx="752475" cy="731837"/>
        </p:xfrm>
        <a:graphic>
          <a:graphicData uri="http://schemas.openxmlformats.org/presentationml/2006/ole">
            <p:oleObj spid="_x0000_s4098" name="公式" r:id="rId3" imgW="419040" imgH="406080" progId="Equation.3">
              <p:embed/>
            </p:oleObj>
          </a:graphicData>
        </a:graphic>
      </p:graphicFrame>
      <p:sp>
        <p:nvSpPr>
          <p:cNvPr id="30746" name="Rectangle 26"/>
          <p:cNvSpPr>
            <a:spLocks noChangeArrowheads="1"/>
          </p:cNvSpPr>
          <p:nvPr/>
        </p:nvSpPr>
        <p:spPr bwMode="auto">
          <a:xfrm>
            <a:off x="2051050" y="5045075"/>
            <a:ext cx="6842125" cy="933450"/>
          </a:xfrm>
          <a:prstGeom prst="rect">
            <a:avLst/>
          </a:prstGeom>
          <a:noFill/>
          <a:ln w="9525">
            <a:noFill/>
            <a:miter lim="800000"/>
            <a:headEnd/>
            <a:tailEnd/>
          </a:ln>
        </p:spPr>
        <p:txBody>
          <a:bodyPr>
            <a:spAutoFit/>
          </a:bodyPr>
          <a:lstStyle/>
          <a:p>
            <a:pPr eaLnBrk="0" hangingPunct="0">
              <a:lnSpc>
                <a:spcPct val="115000"/>
              </a:lnSpc>
            </a:pPr>
            <a:r>
              <a:rPr lang="zh-CN" altLang="en-US" b="1">
                <a:solidFill>
                  <a:srgbClr val="FF6600"/>
                </a:solidFill>
                <a:latin typeface="宋体" pitchFamily="2" charset="-122"/>
              </a:rPr>
              <a:t>振动状态</a:t>
            </a:r>
            <a:r>
              <a:rPr lang="zh-CN" altLang="en-US" b="1">
                <a:latin typeface="宋体" pitchFamily="2" charset="-122"/>
              </a:rPr>
              <a:t>在介质中的传播速度。波速与波长、周期和频率的关系为：</a:t>
            </a:r>
          </a:p>
        </p:txBody>
      </p:sp>
      <p:graphicFrame>
        <p:nvGraphicFramePr>
          <p:cNvPr id="30747" name="Object 27"/>
          <p:cNvGraphicFramePr>
            <a:graphicFrameLocks noChangeAspect="1"/>
          </p:cNvGraphicFramePr>
          <p:nvPr/>
        </p:nvGraphicFramePr>
        <p:xfrm>
          <a:off x="5157788" y="5629275"/>
          <a:ext cx="1312862" cy="727075"/>
        </p:xfrm>
        <a:graphic>
          <a:graphicData uri="http://schemas.openxmlformats.org/presentationml/2006/ole">
            <p:oleObj spid="_x0000_s4099" name="公式" r:id="rId4" imgW="736560" imgH="406080" progId="Equation.3">
              <p:embed/>
            </p:oleObj>
          </a:graphicData>
        </a:graphic>
      </p:graphicFrame>
      <p:graphicFrame>
        <p:nvGraphicFramePr>
          <p:cNvPr id="30748" name="Object 28"/>
          <p:cNvGraphicFramePr>
            <a:graphicFrameLocks noChangeAspect="1"/>
          </p:cNvGraphicFramePr>
          <p:nvPr/>
        </p:nvGraphicFramePr>
        <p:xfrm>
          <a:off x="209550" y="1263650"/>
          <a:ext cx="1482725" cy="354013"/>
        </p:xfrm>
        <a:graphic>
          <a:graphicData uri="http://schemas.openxmlformats.org/presentationml/2006/ole">
            <p:oleObj spid="_x0000_s4100" name="Equation" r:id="rId5" imgW="1650960" imgH="393480" progId="Equation.3">
              <p:embed/>
            </p:oleObj>
          </a:graphicData>
        </a:graphic>
      </p:graphicFrame>
      <p:graphicFrame>
        <p:nvGraphicFramePr>
          <p:cNvPr id="30749" name="Object 29"/>
          <p:cNvGraphicFramePr>
            <a:graphicFrameLocks noChangeAspect="1"/>
          </p:cNvGraphicFramePr>
          <p:nvPr/>
        </p:nvGraphicFramePr>
        <p:xfrm>
          <a:off x="209550" y="2755900"/>
          <a:ext cx="1482725" cy="354013"/>
        </p:xfrm>
        <a:graphic>
          <a:graphicData uri="http://schemas.openxmlformats.org/presentationml/2006/ole">
            <p:oleObj spid="_x0000_s4101" name="Equation" r:id="rId6" imgW="1650960" imgH="393480" progId="Equation.3">
              <p:embed/>
            </p:oleObj>
          </a:graphicData>
        </a:graphic>
      </p:graphicFrame>
      <p:graphicFrame>
        <p:nvGraphicFramePr>
          <p:cNvPr id="30750" name="Object 30"/>
          <p:cNvGraphicFramePr>
            <a:graphicFrameLocks noChangeAspect="1"/>
          </p:cNvGraphicFramePr>
          <p:nvPr/>
        </p:nvGraphicFramePr>
        <p:xfrm>
          <a:off x="220663" y="3925888"/>
          <a:ext cx="1471612" cy="354012"/>
        </p:xfrm>
        <a:graphic>
          <a:graphicData uri="http://schemas.openxmlformats.org/presentationml/2006/ole">
            <p:oleObj spid="_x0000_s4102" name="Equation" r:id="rId7" imgW="1638000" imgH="393480" progId="Equation.3">
              <p:embed/>
            </p:oleObj>
          </a:graphicData>
        </a:graphic>
      </p:graphicFrame>
      <p:graphicFrame>
        <p:nvGraphicFramePr>
          <p:cNvPr id="30751" name="Object 31"/>
          <p:cNvGraphicFramePr>
            <a:graphicFrameLocks noChangeAspect="1"/>
          </p:cNvGraphicFramePr>
          <p:nvPr/>
        </p:nvGraphicFramePr>
        <p:xfrm>
          <a:off x="250825" y="5180013"/>
          <a:ext cx="1482725" cy="354012"/>
        </p:xfrm>
        <a:graphic>
          <a:graphicData uri="http://schemas.openxmlformats.org/presentationml/2006/ole">
            <p:oleObj spid="_x0000_s4103" name="Equation" r:id="rId8" imgW="1650960" imgH="3934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5"/>
                                        </p:tgtEl>
                                        <p:attrNameLst>
                                          <p:attrName>style.visibility</p:attrName>
                                        </p:attrNameLst>
                                      </p:cBhvr>
                                      <p:to>
                                        <p:strVal val="visible"/>
                                      </p:to>
                                    </p:set>
                                    <p:animEffect transition="in" filter="wipe(left)">
                                      <p:cBhvr>
                                        <p:cTn id="7" dur="500"/>
                                        <p:tgtEl>
                                          <p:spTgt spid="307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748"/>
                                        </p:tgtEl>
                                        <p:attrNameLst>
                                          <p:attrName>style.visibility</p:attrName>
                                        </p:attrNameLst>
                                      </p:cBhvr>
                                      <p:to>
                                        <p:strVal val="visible"/>
                                      </p:to>
                                    </p:set>
                                    <p:animEffect transition="in" filter="wipe(left)">
                                      <p:cBhvr>
                                        <p:cTn id="12" dur="1000"/>
                                        <p:tgtEl>
                                          <p:spTgt spid="307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741"/>
                                        </p:tgtEl>
                                        <p:attrNameLst>
                                          <p:attrName>style.visibility</p:attrName>
                                        </p:attrNameLst>
                                      </p:cBhvr>
                                      <p:to>
                                        <p:strVal val="visible"/>
                                      </p:to>
                                    </p:set>
                                    <p:animEffect transition="in" filter="wipe(left)">
                                      <p:cBhvr>
                                        <p:cTn id="17" dur="1000"/>
                                        <p:tgtEl>
                                          <p:spTgt spid="307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0749"/>
                                        </p:tgtEl>
                                        <p:attrNameLst>
                                          <p:attrName>style.visibility</p:attrName>
                                        </p:attrNameLst>
                                      </p:cBhvr>
                                      <p:to>
                                        <p:strVal val="visible"/>
                                      </p:to>
                                    </p:set>
                                    <p:animEffect transition="in" filter="wipe(left)">
                                      <p:cBhvr>
                                        <p:cTn id="22" dur="1000"/>
                                        <p:tgtEl>
                                          <p:spTgt spid="3074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743"/>
                                        </p:tgtEl>
                                        <p:attrNameLst>
                                          <p:attrName>style.visibility</p:attrName>
                                        </p:attrNameLst>
                                      </p:cBhvr>
                                      <p:to>
                                        <p:strVal val="visible"/>
                                      </p:to>
                                    </p:set>
                                    <p:animEffect transition="in" filter="wipe(left)">
                                      <p:cBhvr>
                                        <p:cTn id="27" dur="1000"/>
                                        <p:tgtEl>
                                          <p:spTgt spid="3074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0750"/>
                                        </p:tgtEl>
                                        <p:attrNameLst>
                                          <p:attrName>style.visibility</p:attrName>
                                        </p:attrNameLst>
                                      </p:cBhvr>
                                      <p:to>
                                        <p:strVal val="visible"/>
                                      </p:to>
                                    </p:set>
                                    <p:animEffect transition="in" filter="wipe(left)">
                                      <p:cBhvr>
                                        <p:cTn id="32" dur="1000"/>
                                        <p:tgtEl>
                                          <p:spTgt spid="3075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0744"/>
                                        </p:tgtEl>
                                        <p:attrNameLst>
                                          <p:attrName>style.visibility</p:attrName>
                                        </p:attrNameLst>
                                      </p:cBhvr>
                                      <p:to>
                                        <p:strVal val="visible"/>
                                      </p:to>
                                    </p:set>
                                    <p:animEffect transition="in" filter="wipe(left)">
                                      <p:cBhvr>
                                        <p:cTn id="37" dur="1000"/>
                                        <p:tgtEl>
                                          <p:spTgt spid="3074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0745"/>
                                        </p:tgtEl>
                                        <p:attrNameLst>
                                          <p:attrName>style.visibility</p:attrName>
                                        </p:attrNameLst>
                                      </p:cBhvr>
                                      <p:to>
                                        <p:strVal val="visible"/>
                                      </p:to>
                                    </p:set>
                                    <p:animEffect transition="in" filter="wipe(left)">
                                      <p:cBhvr>
                                        <p:cTn id="42" dur="1000"/>
                                        <p:tgtEl>
                                          <p:spTgt spid="3074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0751"/>
                                        </p:tgtEl>
                                        <p:attrNameLst>
                                          <p:attrName>style.visibility</p:attrName>
                                        </p:attrNameLst>
                                      </p:cBhvr>
                                      <p:to>
                                        <p:strVal val="visible"/>
                                      </p:to>
                                    </p:set>
                                    <p:animEffect transition="in" filter="wipe(left)">
                                      <p:cBhvr>
                                        <p:cTn id="47" dur="1000"/>
                                        <p:tgtEl>
                                          <p:spTgt spid="3075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0746"/>
                                        </p:tgtEl>
                                        <p:attrNameLst>
                                          <p:attrName>style.visibility</p:attrName>
                                        </p:attrNameLst>
                                      </p:cBhvr>
                                      <p:to>
                                        <p:strVal val="visible"/>
                                      </p:to>
                                    </p:set>
                                    <p:animEffect transition="in" filter="wipe(left)">
                                      <p:cBhvr>
                                        <p:cTn id="52" dur="1000"/>
                                        <p:tgtEl>
                                          <p:spTgt spid="3074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0747"/>
                                        </p:tgtEl>
                                        <p:attrNameLst>
                                          <p:attrName>style.visibility</p:attrName>
                                        </p:attrNameLst>
                                      </p:cBhvr>
                                      <p:to>
                                        <p:strVal val="visible"/>
                                      </p:to>
                                    </p:set>
                                    <p:animEffect transition="in" filter="wipe(left)">
                                      <p:cBhvr>
                                        <p:cTn id="57" dur="1000"/>
                                        <p:tgtEl>
                                          <p:spTgt spid="30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autoUpdateAnimBg="0"/>
      <p:bldP spid="30741" grpId="0" autoUpdateAnimBg="0"/>
      <p:bldP spid="30743" grpId="0" autoUpdateAnimBg="0"/>
      <p:bldP spid="30744" grpId="0" autoUpdateAnimBg="0"/>
      <p:bldP spid="30746"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4"/>
          <p:cNvSpPr>
            <a:spLocks noChangeArrowheads="1"/>
          </p:cNvSpPr>
          <p:nvPr/>
        </p:nvSpPr>
        <p:spPr bwMode="auto">
          <a:xfrm>
            <a:off x="539750" y="1412875"/>
            <a:ext cx="7920038" cy="1006475"/>
          </a:xfrm>
          <a:prstGeom prst="rect">
            <a:avLst/>
          </a:prstGeom>
          <a:noFill/>
          <a:ln w="9525">
            <a:noFill/>
            <a:miter lim="800000"/>
            <a:headEnd/>
            <a:tailEnd/>
          </a:ln>
        </p:spPr>
        <p:txBody>
          <a:bodyPr>
            <a:spAutoFit/>
          </a:bodyPr>
          <a:lstStyle/>
          <a:p>
            <a:pPr marL="539750" indent="-539750">
              <a:lnSpc>
                <a:spcPct val="125000"/>
              </a:lnSpc>
            </a:pPr>
            <a:r>
              <a:rPr lang="en-US" altLang="zh-CN" b="1"/>
              <a:t>(1)</a:t>
            </a:r>
            <a:r>
              <a:rPr lang="en-US" altLang="zh-CN" b="1">
                <a:latin typeface="宋体" pitchFamily="2" charset="-122"/>
              </a:rPr>
              <a:t> </a:t>
            </a:r>
            <a:r>
              <a:rPr lang="zh-CN" altLang="en-US" b="1">
                <a:latin typeface="宋体" pitchFamily="2" charset="-122"/>
              </a:rPr>
              <a:t>波的</a:t>
            </a:r>
            <a:r>
              <a:rPr lang="zh-CN" altLang="en-US" b="1">
                <a:solidFill>
                  <a:srgbClr val="FF6600"/>
                </a:solidFill>
                <a:latin typeface="宋体" pitchFamily="2" charset="-122"/>
              </a:rPr>
              <a:t>周期和频率</a:t>
            </a:r>
            <a:r>
              <a:rPr lang="zh-CN" altLang="en-US" b="1">
                <a:latin typeface="宋体" pitchFamily="2" charset="-122"/>
              </a:rPr>
              <a:t>与介质的性质无关；一般情况下，与    波源振动的周期和频率相同。</a:t>
            </a:r>
          </a:p>
        </p:txBody>
      </p:sp>
      <p:sp>
        <p:nvSpPr>
          <p:cNvPr id="31753" name="Rectangle 9"/>
          <p:cNvSpPr>
            <a:spLocks noChangeArrowheads="1"/>
          </p:cNvSpPr>
          <p:nvPr/>
        </p:nvSpPr>
        <p:spPr bwMode="auto">
          <a:xfrm>
            <a:off x="539750" y="2540000"/>
            <a:ext cx="7935913" cy="1463675"/>
          </a:xfrm>
          <a:prstGeom prst="rect">
            <a:avLst/>
          </a:prstGeom>
          <a:noFill/>
          <a:ln w="9525">
            <a:noFill/>
            <a:miter lim="800000"/>
            <a:headEnd/>
            <a:tailEnd/>
          </a:ln>
        </p:spPr>
        <p:txBody>
          <a:bodyPr>
            <a:spAutoFit/>
          </a:bodyPr>
          <a:lstStyle/>
          <a:p>
            <a:pPr marL="628650" indent="-628650">
              <a:lnSpc>
                <a:spcPct val="125000"/>
              </a:lnSpc>
              <a:spcBef>
                <a:spcPct val="50000"/>
              </a:spcBef>
            </a:pPr>
            <a:r>
              <a:rPr lang="en-US" altLang="zh-CN" b="1">
                <a:ea typeface="楷体_GB2312" pitchFamily="49" charset="-122"/>
              </a:rPr>
              <a:t>(2)</a:t>
            </a:r>
            <a:r>
              <a:rPr lang="en-US" altLang="zh-CN" b="1">
                <a:latin typeface="楷体_GB2312" pitchFamily="49" charset="-122"/>
                <a:ea typeface="楷体_GB2312" pitchFamily="49" charset="-122"/>
              </a:rPr>
              <a:t> </a:t>
            </a:r>
            <a:r>
              <a:rPr lang="zh-CN" altLang="en-US" b="1">
                <a:solidFill>
                  <a:srgbClr val="FF6600"/>
                </a:solidFill>
                <a:latin typeface="宋体" pitchFamily="2" charset="-122"/>
              </a:rPr>
              <a:t>波速</a:t>
            </a:r>
            <a:r>
              <a:rPr lang="zh-CN" altLang="en-US" b="1">
                <a:latin typeface="宋体" pitchFamily="2" charset="-122"/>
              </a:rPr>
              <a:t>实质上是相位传播的速度，故称为</a:t>
            </a:r>
            <a:r>
              <a:rPr lang="zh-CN" altLang="en-US" b="1">
                <a:solidFill>
                  <a:srgbClr val="FF6600"/>
                </a:solidFill>
                <a:latin typeface="宋体" pitchFamily="2" charset="-122"/>
              </a:rPr>
              <a:t>相速度</a:t>
            </a:r>
            <a:r>
              <a:rPr lang="zh-CN" altLang="en-US" b="1">
                <a:latin typeface="宋体" pitchFamily="2" charset="-122"/>
              </a:rPr>
              <a:t>；其大小主要决定于介质的</a:t>
            </a:r>
            <a:r>
              <a:rPr lang="zh-CN" altLang="en-US" b="1"/>
              <a:t>力学性质：</a:t>
            </a:r>
            <a:r>
              <a:rPr lang="zh-CN" altLang="en-US" b="1">
                <a:solidFill>
                  <a:srgbClr val="9900CC"/>
                </a:solidFill>
              </a:rPr>
              <a:t>弹性</a:t>
            </a:r>
            <a:r>
              <a:rPr lang="zh-CN" altLang="en-US" b="1"/>
              <a:t>和</a:t>
            </a:r>
            <a:r>
              <a:rPr lang="zh-CN" altLang="en-US" b="1">
                <a:solidFill>
                  <a:srgbClr val="9900CC"/>
                </a:solidFill>
              </a:rPr>
              <a:t>惯性</a:t>
            </a:r>
            <a:r>
              <a:rPr lang="zh-CN" altLang="en-US" b="1">
                <a:latin typeface="宋体" pitchFamily="2" charset="-122"/>
              </a:rPr>
              <a:t>；与波源及波的频率无关。</a:t>
            </a:r>
          </a:p>
        </p:txBody>
      </p:sp>
      <p:sp>
        <p:nvSpPr>
          <p:cNvPr id="31754" name="Text Box 10"/>
          <p:cNvSpPr txBox="1">
            <a:spLocks noChangeArrowheads="1"/>
          </p:cNvSpPr>
          <p:nvPr/>
        </p:nvSpPr>
        <p:spPr bwMode="auto">
          <a:xfrm>
            <a:off x="581025" y="661988"/>
            <a:ext cx="1160463" cy="549275"/>
          </a:xfrm>
          <a:prstGeom prst="rect">
            <a:avLst/>
          </a:prstGeom>
          <a:noFill/>
          <a:ln w="9525">
            <a:noFill/>
            <a:miter lim="800000"/>
            <a:headEnd/>
            <a:tailEnd/>
          </a:ln>
        </p:spPr>
        <p:txBody>
          <a:bodyPr>
            <a:spAutoFit/>
          </a:bodyPr>
          <a:lstStyle/>
          <a:p>
            <a:pPr algn="ctr">
              <a:lnSpc>
                <a:spcPct val="125000"/>
              </a:lnSpc>
            </a:pPr>
            <a:r>
              <a:rPr lang="zh-CN" altLang="en-US" b="1">
                <a:solidFill>
                  <a:srgbClr val="FF3300"/>
                </a:solidFill>
                <a:latin typeface="宋体" pitchFamily="2" charset="-122"/>
              </a:rPr>
              <a:t>说明</a:t>
            </a:r>
          </a:p>
        </p:txBody>
      </p:sp>
      <p:sp>
        <p:nvSpPr>
          <p:cNvPr id="31769" name="AutoShape 25"/>
          <p:cNvSpPr>
            <a:spLocks noChangeArrowheads="1"/>
          </p:cNvSpPr>
          <p:nvPr/>
        </p:nvSpPr>
        <p:spPr bwMode="auto">
          <a:xfrm>
            <a:off x="323850" y="704850"/>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
        <p:nvSpPr>
          <p:cNvPr id="31778" name="Rectangle 34"/>
          <p:cNvSpPr>
            <a:spLocks noChangeArrowheads="1"/>
          </p:cNvSpPr>
          <p:nvPr/>
        </p:nvSpPr>
        <p:spPr bwMode="auto">
          <a:xfrm>
            <a:off x="539750" y="4116388"/>
            <a:ext cx="8281988" cy="1006475"/>
          </a:xfrm>
          <a:prstGeom prst="rect">
            <a:avLst/>
          </a:prstGeom>
          <a:noFill/>
          <a:ln w="9525">
            <a:noFill/>
            <a:miter lim="800000"/>
            <a:headEnd/>
            <a:tailEnd/>
          </a:ln>
        </p:spPr>
        <p:txBody>
          <a:bodyPr>
            <a:spAutoFit/>
          </a:bodyPr>
          <a:lstStyle/>
          <a:p>
            <a:pPr eaLnBrk="0" hangingPunct="0">
              <a:lnSpc>
                <a:spcPct val="125000"/>
              </a:lnSpc>
            </a:pPr>
            <a:r>
              <a:rPr kumimoji="0" lang="en-US" altLang="zh-CN" b="1"/>
              <a:t>(3)   </a:t>
            </a:r>
            <a:r>
              <a:rPr kumimoji="0" lang="zh-CN" altLang="en-US" b="1">
                <a:solidFill>
                  <a:srgbClr val="FF6600"/>
                </a:solidFill>
              </a:rPr>
              <a:t>波速</a:t>
            </a:r>
            <a:r>
              <a:rPr kumimoji="0" lang="zh-CN" altLang="en-US" b="1"/>
              <a:t>与</a:t>
            </a:r>
            <a:r>
              <a:rPr kumimoji="0" lang="zh-CN" altLang="en-US" b="1">
                <a:solidFill>
                  <a:srgbClr val="FF6600"/>
                </a:solidFill>
              </a:rPr>
              <a:t>振动速度</a:t>
            </a:r>
            <a:r>
              <a:rPr kumimoji="0" lang="zh-CN" altLang="en-US" b="1"/>
              <a:t>的区别：</a:t>
            </a:r>
            <a:r>
              <a:rPr lang="zh-CN" altLang="en-US" b="1"/>
              <a:t>波速是指振动形式传播的速</a:t>
            </a:r>
          </a:p>
          <a:p>
            <a:pPr eaLnBrk="0" hangingPunct="0">
              <a:lnSpc>
                <a:spcPct val="125000"/>
              </a:lnSpc>
            </a:pPr>
            <a:r>
              <a:rPr lang="zh-CN" altLang="en-US" b="1"/>
              <a:t>        度，质点振动的速度由波动方程对时间求偏导数计算。</a:t>
            </a:r>
            <a:endParaRPr kumimoji="0" lang="zh-CN" altLang="en-US" b="1"/>
          </a:p>
        </p:txBody>
      </p:sp>
      <p:graphicFrame>
        <p:nvGraphicFramePr>
          <p:cNvPr id="31780" name="Object 36"/>
          <p:cNvGraphicFramePr>
            <a:graphicFrameLocks noChangeAspect="1"/>
          </p:cNvGraphicFramePr>
          <p:nvPr/>
        </p:nvGraphicFramePr>
        <p:xfrm>
          <a:off x="2087563" y="5278438"/>
          <a:ext cx="1042987" cy="814387"/>
        </p:xfrm>
        <a:graphic>
          <a:graphicData uri="http://schemas.openxmlformats.org/presentationml/2006/ole">
            <p:oleObj spid="_x0000_s5122" name="公式" r:id="rId3" imgW="520560" imgH="406080" progId="Equation.3">
              <p:embed/>
            </p:oleObj>
          </a:graphicData>
        </a:graphic>
      </p:graphicFrame>
      <p:graphicFrame>
        <p:nvGraphicFramePr>
          <p:cNvPr id="31781" name="Object 37"/>
          <p:cNvGraphicFramePr>
            <a:graphicFrameLocks noChangeAspect="1"/>
          </p:cNvGraphicFramePr>
          <p:nvPr/>
        </p:nvGraphicFramePr>
        <p:xfrm>
          <a:off x="4130675" y="5367338"/>
          <a:ext cx="3635375" cy="865187"/>
        </p:xfrm>
        <a:graphic>
          <a:graphicData uri="http://schemas.openxmlformats.org/presentationml/2006/ole">
            <p:oleObj spid="_x0000_s5123" name="公式" r:id="rId4" imgW="1815840" imgH="4316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69"/>
                                        </p:tgtEl>
                                        <p:attrNameLst>
                                          <p:attrName>style.visibility</p:attrName>
                                        </p:attrNameLst>
                                      </p:cBhvr>
                                      <p:to>
                                        <p:strVal val="visible"/>
                                      </p:to>
                                    </p:set>
                                    <p:animEffect transition="in" filter="wipe(left)">
                                      <p:cBhvr>
                                        <p:cTn id="7" dur="500"/>
                                        <p:tgtEl>
                                          <p:spTgt spid="3176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754"/>
                                        </p:tgtEl>
                                        <p:attrNameLst>
                                          <p:attrName>style.visibility</p:attrName>
                                        </p:attrNameLst>
                                      </p:cBhvr>
                                      <p:to>
                                        <p:strVal val="visible"/>
                                      </p:to>
                                    </p:set>
                                    <p:animEffect transition="in" filter="wipe(left)">
                                      <p:cBhvr>
                                        <p:cTn id="11" dur="500"/>
                                        <p:tgtEl>
                                          <p:spTgt spid="3175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1748"/>
                                        </p:tgtEl>
                                        <p:attrNameLst>
                                          <p:attrName>style.visibility</p:attrName>
                                        </p:attrNameLst>
                                      </p:cBhvr>
                                      <p:to>
                                        <p:strVal val="visible"/>
                                      </p:to>
                                    </p:set>
                                    <p:animEffect transition="in" filter="wipe(left)">
                                      <p:cBhvr>
                                        <p:cTn id="16" dur="500"/>
                                        <p:tgtEl>
                                          <p:spTgt spid="3174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1753"/>
                                        </p:tgtEl>
                                        <p:attrNameLst>
                                          <p:attrName>style.visibility</p:attrName>
                                        </p:attrNameLst>
                                      </p:cBhvr>
                                      <p:to>
                                        <p:strVal val="visible"/>
                                      </p:to>
                                    </p:set>
                                    <p:animEffect transition="in" filter="wipe(left)">
                                      <p:cBhvr>
                                        <p:cTn id="21" dur="500"/>
                                        <p:tgtEl>
                                          <p:spTgt spid="3175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1778"/>
                                        </p:tgtEl>
                                        <p:attrNameLst>
                                          <p:attrName>style.visibility</p:attrName>
                                        </p:attrNameLst>
                                      </p:cBhvr>
                                      <p:to>
                                        <p:strVal val="visible"/>
                                      </p:to>
                                    </p:set>
                                    <p:animEffect transition="in" filter="wipe(left)">
                                      <p:cBhvr>
                                        <p:cTn id="26" dur="500"/>
                                        <p:tgtEl>
                                          <p:spTgt spid="3177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1780"/>
                                        </p:tgtEl>
                                        <p:attrNameLst>
                                          <p:attrName>style.visibility</p:attrName>
                                        </p:attrNameLst>
                                      </p:cBhvr>
                                      <p:to>
                                        <p:strVal val="visible"/>
                                      </p:to>
                                    </p:set>
                                    <p:animEffect transition="in" filter="wipe(left)">
                                      <p:cBhvr>
                                        <p:cTn id="31" dur="500"/>
                                        <p:tgtEl>
                                          <p:spTgt spid="3178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1781"/>
                                        </p:tgtEl>
                                        <p:attrNameLst>
                                          <p:attrName>style.visibility</p:attrName>
                                        </p:attrNameLst>
                                      </p:cBhvr>
                                      <p:to>
                                        <p:strVal val="visible"/>
                                      </p:to>
                                    </p:set>
                                    <p:animEffect transition="in" filter="wipe(left)">
                                      <p:cBhvr>
                                        <p:cTn id="36" dur="500"/>
                                        <p:tgtEl>
                                          <p:spTgt spid="31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p:bldP spid="31753" grpId="0"/>
      <p:bldP spid="31754" grpId="0"/>
      <p:bldP spid="31769" grpId="0" animBg="1"/>
      <p:bldP spid="3177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2"/>
          <p:cNvSpPr txBox="1">
            <a:spLocks noChangeArrowheads="1"/>
          </p:cNvSpPr>
          <p:nvPr/>
        </p:nvSpPr>
        <p:spPr bwMode="auto">
          <a:xfrm>
            <a:off x="252413" y="404813"/>
            <a:ext cx="5256212" cy="457200"/>
          </a:xfrm>
          <a:prstGeom prst="rect">
            <a:avLst/>
          </a:prstGeom>
          <a:noFill/>
          <a:ln w="9525">
            <a:noFill/>
            <a:miter lim="800000"/>
            <a:headEnd/>
            <a:tailEnd/>
          </a:ln>
        </p:spPr>
        <p:txBody>
          <a:bodyPr>
            <a:spAutoFit/>
          </a:bodyPr>
          <a:lstStyle/>
          <a:p>
            <a:pPr>
              <a:spcBef>
                <a:spcPct val="50000"/>
              </a:spcBef>
            </a:pPr>
            <a:r>
              <a:rPr kumimoji="0" lang="en-US" altLang="zh-CN" b="1">
                <a:solidFill>
                  <a:srgbClr val="FF3300"/>
                </a:solidFill>
              </a:rPr>
              <a:t>*</a:t>
            </a:r>
            <a:r>
              <a:rPr kumimoji="0" lang="zh-CN" altLang="en-US" b="1">
                <a:solidFill>
                  <a:srgbClr val="FF3300"/>
                </a:solidFill>
              </a:rPr>
              <a:t>附：波速与介质的关系</a:t>
            </a:r>
          </a:p>
        </p:txBody>
      </p:sp>
      <p:sp>
        <p:nvSpPr>
          <p:cNvPr id="98307" name="Rectangle 3"/>
          <p:cNvSpPr>
            <a:spLocks noChangeArrowheads="1"/>
          </p:cNvSpPr>
          <p:nvPr/>
        </p:nvSpPr>
        <p:spPr bwMode="auto">
          <a:xfrm>
            <a:off x="539750" y="908050"/>
            <a:ext cx="7993063" cy="473075"/>
          </a:xfrm>
          <a:prstGeom prst="rect">
            <a:avLst/>
          </a:prstGeom>
          <a:noFill/>
          <a:ln w="9525">
            <a:noFill/>
            <a:miter lim="800000"/>
            <a:headEnd/>
            <a:tailEnd/>
          </a:ln>
        </p:spPr>
        <p:txBody>
          <a:bodyPr>
            <a:spAutoFit/>
          </a:bodyPr>
          <a:lstStyle/>
          <a:p>
            <a:pPr algn="just">
              <a:lnSpc>
                <a:spcPct val="125000"/>
              </a:lnSpc>
            </a:pPr>
            <a:r>
              <a:rPr lang="zh-CN" altLang="en-US" sz="2000" b="1">
                <a:ea typeface="楷体_GB2312" pitchFamily="49" charset="-122"/>
              </a:rPr>
              <a:t>波速决定于介质的力学性质：</a:t>
            </a:r>
            <a:r>
              <a:rPr lang="zh-CN" altLang="en-US" sz="2000" b="1">
                <a:solidFill>
                  <a:srgbClr val="9900CC"/>
                </a:solidFill>
                <a:ea typeface="楷体_GB2312" pitchFamily="49" charset="-122"/>
              </a:rPr>
              <a:t>弹性</a:t>
            </a:r>
            <a:r>
              <a:rPr lang="zh-CN" altLang="en-US" sz="2000" b="1">
                <a:ea typeface="楷体_GB2312" pitchFamily="49" charset="-122"/>
              </a:rPr>
              <a:t>和</a:t>
            </a:r>
            <a:r>
              <a:rPr lang="zh-CN" altLang="en-US" sz="2000" b="1">
                <a:solidFill>
                  <a:srgbClr val="9900CC"/>
                </a:solidFill>
                <a:ea typeface="楷体_GB2312" pitchFamily="49" charset="-122"/>
              </a:rPr>
              <a:t>惯性</a:t>
            </a:r>
            <a:r>
              <a:rPr lang="en-US" altLang="zh-CN" sz="2000" b="1">
                <a:ea typeface="楷体_GB2312" pitchFamily="49" charset="-122"/>
              </a:rPr>
              <a:t>(</a:t>
            </a:r>
            <a:r>
              <a:rPr lang="zh-CN" altLang="en-US" sz="2000" b="1">
                <a:ea typeface="楷体_GB2312" pitchFamily="49" charset="-122"/>
              </a:rPr>
              <a:t>介质的弹性模量和密度</a:t>
            </a:r>
            <a:r>
              <a:rPr lang="en-US" altLang="zh-CN" sz="2000" b="1">
                <a:ea typeface="楷体_GB2312" pitchFamily="49" charset="-122"/>
              </a:rPr>
              <a:t>)</a:t>
            </a:r>
            <a:r>
              <a:rPr lang="zh-CN" altLang="en-US" sz="2000" b="1">
                <a:ea typeface="楷体_GB2312" pitchFamily="49" charset="-122"/>
              </a:rPr>
              <a:t>。</a:t>
            </a:r>
          </a:p>
        </p:txBody>
      </p:sp>
      <p:graphicFrame>
        <p:nvGraphicFramePr>
          <p:cNvPr id="98330" name="Object 26"/>
          <p:cNvGraphicFramePr>
            <a:graphicFrameLocks noChangeAspect="1"/>
          </p:cNvGraphicFramePr>
          <p:nvPr/>
        </p:nvGraphicFramePr>
        <p:xfrm>
          <a:off x="898525" y="2135188"/>
          <a:ext cx="1047750" cy="844550"/>
        </p:xfrm>
        <a:graphic>
          <a:graphicData uri="http://schemas.openxmlformats.org/presentationml/2006/ole">
            <p:oleObj spid="_x0000_s6146" name="公式" r:id="rId4" imgW="583920" imgH="469800" progId="Equation.3">
              <p:embed/>
            </p:oleObj>
          </a:graphicData>
        </a:graphic>
      </p:graphicFrame>
      <p:sp>
        <p:nvSpPr>
          <p:cNvPr id="98331" name="Rectangle 27"/>
          <p:cNvSpPr>
            <a:spLocks noChangeArrowheads="1"/>
          </p:cNvSpPr>
          <p:nvPr/>
        </p:nvSpPr>
        <p:spPr bwMode="auto">
          <a:xfrm>
            <a:off x="179388" y="1484313"/>
            <a:ext cx="4905375" cy="512762"/>
          </a:xfrm>
          <a:prstGeom prst="rect">
            <a:avLst/>
          </a:prstGeom>
          <a:noFill/>
          <a:ln w="9525">
            <a:noFill/>
            <a:miter lim="800000"/>
            <a:headEnd/>
            <a:tailEnd/>
          </a:ln>
        </p:spPr>
        <p:txBody>
          <a:bodyPr wrap="none">
            <a:spAutoFit/>
          </a:bodyPr>
          <a:lstStyle/>
          <a:p>
            <a:pPr eaLnBrk="0" hangingPunct="0">
              <a:lnSpc>
                <a:spcPct val="115000"/>
              </a:lnSpc>
            </a:pPr>
            <a:r>
              <a:rPr lang="en-US" altLang="zh-CN" b="1"/>
              <a:t>(1) </a:t>
            </a:r>
            <a:r>
              <a:rPr lang="zh-CN" altLang="en-US" b="1"/>
              <a:t>固体媒质中传播的</a:t>
            </a:r>
            <a:r>
              <a:rPr lang="zh-CN" altLang="en-US" b="1">
                <a:solidFill>
                  <a:srgbClr val="FF6600"/>
                </a:solidFill>
              </a:rPr>
              <a:t>纵波波速</a:t>
            </a:r>
            <a:r>
              <a:rPr lang="zh-CN" altLang="en-US" b="1"/>
              <a:t>为：</a:t>
            </a:r>
          </a:p>
        </p:txBody>
      </p:sp>
      <p:graphicFrame>
        <p:nvGraphicFramePr>
          <p:cNvPr id="98332" name="Object 28"/>
          <p:cNvGraphicFramePr>
            <a:graphicFrameLocks/>
          </p:cNvGraphicFramePr>
          <p:nvPr/>
        </p:nvGraphicFramePr>
        <p:xfrm>
          <a:off x="2474913" y="2090738"/>
          <a:ext cx="273050" cy="295275"/>
        </p:xfrm>
        <a:graphic>
          <a:graphicData uri="http://schemas.openxmlformats.org/presentationml/2006/ole">
            <p:oleObj spid="_x0000_s6147" name="公式" r:id="rId5" imgW="152280" imgH="164880" progId="Equation.3">
              <p:embed/>
            </p:oleObj>
          </a:graphicData>
        </a:graphic>
      </p:graphicFrame>
      <p:sp>
        <p:nvSpPr>
          <p:cNvPr id="98333" name="Rectangle 29"/>
          <p:cNvSpPr>
            <a:spLocks noChangeArrowheads="1"/>
          </p:cNvSpPr>
          <p:nvPr/>
        </p:nvSpPr>
        <p:spPr bwMode="auto">
          <a:xfrm>
            <a:off x="2744788" y="1955800"/>
            <a:ext cx="3505200" cy="512763"/>
          </a:xfrm>
          <a:prstGeom prst="rect">
            <a:avLst/>
          </a:prstGeom>
          <a:noFill/>
          <a:ln w="9525">
            <a:noFill/>
            <a:miter lim="800000"/>
            <a:headEnd/>
            <a:tailEnd/>
          </a:ln>
        </p:spPr>
        <p:txBody>
          <a:bodyPr>
            <a:spAutoFit/>
          </a:bodyPr>
          <a:lstStyle/>
          <a:p>
            <a:pPr>
              <a:lnSpc>
                <a:spcPct val="115000"/>
              </a:lnSpc>
            </a:pPr>
            <a:r>
              <a:rPr lang="en-US" altLang="zh-CN" b="1">
                <a:ea typeface="楷体_GB2312" pitchFamily="49" charset="-122"/>
              </a:rPr>
              <a:t>—</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固体棒的杨氏模量</a:t>
            </a:r>
          </a:p>
        </p:txBody>
      </p:sp>
      <p:graphicFrame>
        <p:nvGraphicFramePr>
          <p:cNvPr id="98334" name="Object 30"/>
          <p:cNvGraphicFramePr>
            <a:graphicFrameLocks/>
          </p:cNvGraphicFramePr>
          <p:nvPr/>
        </p:nvGraphicFramePr>
        <p:xfrm>
          <a:off x="2519363" y="2740025"/>
          <a:ext cx="273050" cy="295275"/>
        </p:xfrm>
        <a:graphic>
          <a:graphicData uri="http://schemas.openxmlformats.org/presentationml/2006/ole">
            <p:oleObj spid="_x0000_s6148" name="公式" r:id="rId6" imgW="152280" imgH="164880" progId="Equation.3">
              <p:embed/>
            </p:oleObj>
          </a:graphicData>
        </a:graphic>
      </p:graphicFrame>
      <p:sp>
        <p:nvSpPr>
          <p:cNvPr id="98335" name="Rectangle 31"/>
          <p:cNvSpPr>
            <a:spLocks noChangeArrowheads="1"/>
          </p:cNvSpPr>
          <p:nvPr/>
        </p:nvSpPr>
        <p:spPr bwMode="auto">
          <a:xfrm>
            <a:off x="2833688" y="2541588"/>
            <a:ext cx="3505200" cy="512762"/>
          </a:xfrm>
          <a:prstGeom prst="rect">
            <a:avLst/>
          </a:prstGeom>
          <a:noFill/>
          <a:ln w="9525">
            <a:noFill/>
            <a:miter lim="800000"/>
            <a:headEnd/>
            <a:tailEnd/>
          </a:ln>
        </p:spPr>
        <p:txBody>
          <a:bodyPr>
            <a:spAutoFit/>
          </a:bodyPr>
          <a:lstStyle/>
          <a:p>
            <a:pPr>
              <a:lnSpc>
                <a:spcPct val="115000"/>
              </a:lnSpc>
            </a:pPr>
            <a:r>
              <a:rPr lang="en-US" altLang="zh-CN" b="1">
                <a:ea typeface="楷体_GB2312" pitchFamily="49" charset="-122"/>
              </a:rPr>
              <a:t>—</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固体棒的密度</a:t>
            </a:r>
          </a:p>
        </p:txBody>
      </p:sp>
      <p:sp>
        <p:nvSpPr>
          <p:cNvPr id="98336" name="AutoShape 32"/>
          <p:cNvSpPr>
            <a:spLocks/>
          </p:cNvSpPr>
          <p:nvPr/>
        </p:nvSpPr>
        <p:spPr bwMode="auto">
          <a:xfrm>
            <a:off x="2168525" y="2171700"/>
            <a:ext cx="215900" cy="774700"/>
          </a:xfrm>
          <a:prstGeom prst="leftBrace">
            <a:avLst>
              <a:gd name="adj1" fmla="val 29902"/>
              <a:gd name="adj2" fmla="val 50000"/>
            </a:avLst>
          </a:prstGeom>
          <a:noFill/>
          <a:ln w="28575">
            <a:solidFill>
              <a:srgbClr val="9900CC"/>
            </a:solidFill>
            <a:round/>
            <a:headEnd/>
            <a:tailEnd/>
          </a:ln>
        </p:spPr>
        <p:txBody>
          <a:bodyPr wrap="none" anchor="ctr"/>
          <a:lstStyle/>
          <a:p>
            <a:endParaRPr lang="zh-CN" altLang="en-US"/>
          </a:p>
        </p:txBody>
      </p:sp>
      <p:sp>
        <p:nvSpPr>
          <p:cNvPr id="98337" name="Rectangle 33"/>
          <p:cNvSpPr>
            <a:spLocks noChangeArrowheads="1"/>
          </p:cNvSpPr>
          <p:nvPr/>
        </p:nvSpPr>
        <p:spPr bwMode="auto">
          <a:xfrm>
            <a:off x="179388" y="3125788"/>
            <a:ext cx="7434262" cy="512762"/>
          </a:xfrm>
          <a:prstGeom prst="rect">
            <a:avLst/>
          </a:prstGeom>
          <a:noFill/>
          <a:ln w="9525">
            <a:noFill/>
            <a:miter lim="800000"/>
            <a:headEnd/>
            <a:tailEnd/>
          </a:ln>
        </p:spPr>
        <p:txBody>
          <a:bodyPr>
            <a:spAutoFit/>
          </a:bodyPr>
          <a:lstStyle/>
          <a:p>
            <a:pPr>
              <a:lnSpc>
                <a:spcPct val="115000"/>
              </a:lnSpc>
            </a:pPr>
            <a:r>
              <a:rPr lang="en-US" altLang="zh-CN" b="1"/>
              <a:t>(2) </a:t>
            </a:r>
            <a:r>
              <a:rPr lang="zh-CN" altLang="en-US" b="1"/>
              <a:t>固体媒质中传播的</a:t>
            </a:r>
            <a:r>
              <a:rPr lang="zh-CN" altLang="en-US" b="1">
                <a:solidFill>
                  <a:srgbClr val="FF6600"/>
                </a:solidFill>
              </a:rPr>
              <a:t>横波波速</a:t>
            </a:r>
            <a:r>
              <a:rPr lang="zh-CN" altLang="en-US" b="1"/>
              <a:t>由下式给出：</a:t>
            </a:r>
          </a:p>
        </p:txBody>
      </p:sp>
      <p:graphicFrame>
        <p:nvGraphicFramePr>
          <p:cNvPr id="98338" name="Object 34"/>
          <p:cNvGraphicFramePr>
            <a:graphicFrameLocks/>
          </p:cNvGraphicFramePr>
          <p:nvPr/>
        </p:nvGraphicFramePr>
        <p:xfrm>
          <a:off x="944563" y="3763963"/>
          <a:ext cx="1076325" cy="841375"/>
        </p:xfrm>
        <a:graphic>
          <a:graphicData uri="http://schemas.openxmlformats.org/presentationml/2006/ole">
            <p:oleObj spid="_x0000_s6149" name="公式" r:id="rId7" imgW="596880" imgH="469800" progId="Equation.3">
              <p:embed/>
            </p:oleObj>
          </a:graphicData>
        </a:graphic>
      </p:graphicFrame>
      <p:sp>
        <p:nvSpPr>
          <p:cNvPr id="98339" name="AutoShape 35"/>
          <p:cNvSpPr>
            <a:spLocks/>
          </p:cNvSpPr>
          <p:nvPr/>
        </p:nvSpPr>
        <p:spPr bwMode="auto">
          <a:xfrm>
            <a:off x="2114550" y="3798888"/>
            <a:ext cx="215900" cy="774700"/>
          </a:xfrm>
          <a:prstGeom prst="leftBrace">
            <a:avLst>
              <a:gd name="adj1" fmla="val 29902"/>
              <a:gd name="adj2" fmla="val 50000"/>
            </a:avLst>
          </a:prstGeom>
          <a:noFill/>
          <a:ln w="28575">
            <a:solidFill>
              <a:srgbClr val="9900CC"/>
            </a:solidFill>
            <a:round/>
            <a:headEnd/>
            <a:tailEnd/>
          </a:ln>
        </p:spPr>
        <p:txBody>
          <a:bodyPr wrap="none" anchor="ctr"/>
          <a:lstStyle/>
          <a:p>
            <a:endParaRPr lang="zh-CN" altLang="en-US"/>
          </a:p>
        </p:txBody>
      </p:sp>
      <p:sp>
        <p:nvSpPr>
          <p:cNvPr id="98340" name="Rectangle 36"/>
          <p:cNvSpPr>
            <a:spLocks noChangeArrowheads="1"/>
          </p:cNvSpPr>
          <p:nvPr/>
        </p:nvSpPr>
        <p:spPr bwMode="auto">
          <a:xfrm>
            <a:off x="2749550" y="3611563"/>
            <a:ext cx="3505200" cy="512762"/>
          </a:xfrm>
          <a:prstGeom prst="rect">
            <a:avLst/>
          </a:prstGeom>
          <a:noFill/>
          <a:ln w="9525">
            <a:noFill/>
            <a:miter lim="800000"/>
            <a:headEnd/>
            <a:tailEnd/>
          </a:ln>
        </p:spPr>
        <p:txBody>
          <a:bodyPr>
            <a:spAutoFit/>
          </a:bodyPr>
          <a:lstStyle/>
          <a:p>
            <a:pPr>
              <a:lnSpc>
                <a:spcPct val="115000"/>
              </a:lnSpc>
            </a:pPr>
            <a:r>
              <a:rPr lang="en-US" altLang="zh-CN" b="1">
                <a:latin typeface="宋体" pitchFamily="2" charset="-122"/>
                <a:ea typeface="楷体_GB2312" pitchFamily="49" charset="-122"/>
              </a:rPr>
              <a:t>—</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固体的切变弹性模量</a:t>
            </a:r>
          </a:p>
        </p:txBody>
      </p:sp>
      <p:graphicFrame>
        <p:nvGraphicFramePr>
          <p:cNvPr id="98341" name="Object 37"/>
          <p:cNvGraphicFramePr>
            <a:graphicFrameLocks/>
          </p:cNvGraphicFramePr>
          <p:nvPr/>
        </p:nvGraphicFramePr>
        <p:xfrm>
          <a:off x="2465388" y="3746500"/>
          <a:ext cx="298450" cy="320675"/>
        </p:xfrm>
        <a:graphic>
          <a:graphicData uri="http://schemas.openxmlformats.org/presentationml/2006/ole">
            <p:oleObj spid="_x0000_s6150" name="公式" r:id="rId8" imgW="164880" imgH="177480" progId="Equation.3">
              <p:embed/>
            </p:oleObj>
          </a:graphicData>
        </a:graphic>
      </p:graphicFrame>
      <p:sp>
        <p:nvSpPr>
          <p:cNvPr id="98342" name="Rectangle 38"/>
          <p:cNvSpPr>
            <a:spLocks noChangeArrowheads="1"/>
          </p:cNvSpPr>
          <p:nvPr/>
        </p:nvSpPr>
        <p:spPr bwMode="auto">
          <a:xfrm>
            <a:off x="2828925" y="4168775"/>
            <a:ext cx="2209800" cy="512763"/>
          </a:xfrm>
          <a:prstGeom prst="rect">
            <a:avLst/>
          </a:prstGeom>
          <a:noFill/>
          <a:ln w="9525">
            <a:noFill/>
            <a:miter lim="800000"/>
            <a:headEnd/>
            <a:tailEnd/>
          </a:ln>
        </p:spPr>
        <p:txBody>
          <a:bodyPr>
            <a:spAutoFit/>
          </a:bodyPr>
          <a:lstStyle/>
          <a:p>
            <a:pPr>
              <a:lnSpc>
                <a:spcPct val="115000"/>
              </a:lnSpc>
            </a:pPr>
            <a:r>
              <a:rPr lang="en-US" altLang="zh-CN" b="1">
                <a:latin typeface="宋体" pitchFamily="2" charset="-122"/>
                <a:ea typeface="楷体_GB2312" pitchFamily="49" charset="-122"/>
              </a:rPr>
              <a:t>—</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固体密度</a:t>
            </a:r>
          </a:p>
        </p:txBody>
      </p:sp>
      <p:graphicFrame>
        <p:nvGraphicFramePr>
          <p:cNvPr id="98343" name="Object 39"/>
          <p:cNvGraphicFramePr>
            <a:graphicFrameLocks/>
          </p:cNvGraphicFramePr>
          <p:nvPr/>
        </p:nvGraphicFramePr>
        <p:xfrm>
          <a:off x="2500313" y="4297363"/>
          <a:ext cx="273050" cy="295275"/>
        </p:xfrm>
        <a:graphic>
          <a:graphicData uri="http://schemas.openxmlformats.org/presentationml/2006/ole">
            <p:oleObj spid="_x0000_s6151" name="公式" r:id="rId9" imgW="152280" imgH="164880" progId="Equation.3">
              <p:embed/>
            </p:oleObj>
          </a:graphicData>
        </a:graphic>
      </p:graphicFrame>
      <p:sp>
        <p:nvSpPr>
          <p:cNvPr id="98344" name="Rectangle 40"/>
          <p:cNvSpPr>
            <a:spLocks noChangeArrowheads="1"/>
          </p:cNvSpPr>
          <p:nvPr/>
        </p:nvSpPr>
        <p:spPr bwMode="auto">
          <a:xfrm>
            <a:off x="188913" y="4760913"/>
            <a:ext cx="7696200" cy="512762"/>
          </a:xfrm>
          <a:prstGeom prst="rect">
            <a:avLst/>
          </a:prstGeom>
          <a:noFill/>
          <a:ln w="9525">
            <a:noFill/>
            <a:miter lim="800000"/>
            <a:headEnd/>
            <a:tailEnd/>
          </a:ln>
        </p:spPr>
        <p:txBody>
          <a:bodyPr>
            <a:spAutoFit/>
          </a:bodyPr>
          <a:lstStyle/>
          <a:p>
            <a:pPr eaLnBrk="0" hangingPunct="0">
              <a:lnSpc>
                <a:spcPct val="115000"/>
              </a:lnSpc>
            </a:pPr>
            <a:r>
              <a:rPr lang="en-US" altLang="zh-CN" b="1"/>
              <a:t>(3) </a:t>
            </a:r>
            <a:r>
              <a:rPr lang="zh-CN" altLang="en-US" b="1"/>
              <a:t>液体和气体只能传播</a:t>
            </a:r>
            <a:r>
              <a:rPr lang="zh-CN" altLang="en-US" b="1">
                <a:solidFill>
                  <a:srgbClr val="FF6600"/>
                </a:solidFill>
              </a:rPr>
              <a:t>纵波</a:t>
            </a:r>
            <a:r>
              <a:rPr lang="zh-CN" altLang="en-US" b="1"/>
              <a:t>，其</a:t>
            </a:r>
            <a:r>
              <a:rPr lang="zh-CN" altLang="en-US" b="1">
                <a:solidFill>
                  <a:srgbClr val="FF6600"/>
                </a:solidFill>
              </a:rPr>
              <a:t>波速</a:t>
            </a:r>
            <a:r>
              <a:rPr lang="zh-CN" altLang="en-US" b="1"/>
              <a:t>由下式给出：</a:t>
            </a:r>
          </a:p>
        </p:txBody>
      </p:sp>
      <p:graphicFrame>
        <p:nvGraphicFramePr>
          <p:cNvPr id="98345" name="Object 41"/>
          <p:cNvGraphicFramePr>
            <a:graphicFrameLocks noChangeAspect="1"/>
          </p:cNvGraphicFramePr>
          <p:nvPr/>
        </p:nvGraphicFramePr>
        <p:xfrm>
          <a:off x="881063" y="5405438"/>
          <a:ext cx="1065212" cy="841375"/>
        </p:xfrm>
        <a:graphic>
          <a:graphicData uri="http://schemas.openxmlformats.org/presentationml/2006/ole">
            <p:oleObj spid="_x0000_s6152" name="公式" r:id="rId10" imgW="596880" imgH="469800" progId="Equation.3">
              <p:embed/>
            </p:oleObj>
          </a:graphicData>
        </a:graphic>
      </p:graphicFrame>
      <p:sp>
        <p:nvSpPr>
          <p:cNvPr id="98346" name="AutoShape 42"/>
          <p:cNvSpPr>
            <a:spLocks/>
          </p:cNvSpPr>
          <p:nvPr/>
        </p:nvSpPr>
        <p:spPr bwMode="auto">
          <a:xfrm>
            <a:off x="2105025" y="5472113"/>
            <a:ext cx="215900" cy="774700"/>
          </a:xfrm>
          <a:prstGeom prst="leftBrace">
            <a:avLst>
              <a:gd name="adj1" fmla="val 29902"/>
              <a:gd name="adj2" fmla="val 50000"/>
            </a:avLst>
          </a:prstGeom>
          <a:noFill/>
          <a:ln w="28575">
            <a:solidFill>
              <a:srgbClr val="9900CC"/>
            </a:solidFill>
            <a:round/>
            <a:headEnd/>
            <a:tailEnd/>
          </a:ln>
        </p:spPr>
        <p:txBody>
          <a:bodyPr wrap="none" anchor="ctr"/>
          <a:lstStyle/>
          <a:p>
            <a:endParaRPr lang="zh-CN" altLang="en-US"/>
          </a:p>
        </p:txBody>
      </p:sp>
      <p:sp>
        <p:nvSpPr>
          <p:cNvPr id="98347" name="Rectangle 43"/>
          <p:cNvSpPr>
            <a:spLocks noChangeArrowheads="1"/>
          </p:cNvSpPr>
          <p:nvPr/>
        </p:nvSpPr>
        <p:spPr bwMode="auto">
          <a:xfrm>
            <a:off x="2767013" y="5256213"/>
            <a:ext cx="3733800" cy="512762"/>
          </a:xfrm>
          <a:prstGeom prst="rect">
            <a:avLst/>
          </a:prstGeom>
          <a:noFill/>
          <a:ln w="9525">
            <a:noFill/>
            <a:miter lim="800000"/>
            <a:headEnd/>
            <a:tailEnd/>
          </a:ln>
        </p:spPr>
        <p:txBody>
          <a:bodyPr>
            <a:spAutoFit/>
          </a:bodyPr>
          <a:lstStyle/>
          <a:p>
            <a:pPr>
              <a:lnSpc>
                <a:spcPct val="115000"/>
              </a:lnSpc>
            </a:pPr>
            <a:r>
              <a:rPr lang="en-US" altLang="zh-CN" b="1">
                <a:latin typeface="宋体" pitchFamily="2" charset="-122"/>
                <a:ea typeface="楷体_GB2312" pitchFamily="49" charset="-122"/>
              </a:rPr>
              <a:t>—</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流体的容变弹性模量</a:t>
            </a:r>
          </a:p>
        </p:txBody>
      </p:sp>
      <p:graphicFrame>
        <p:nvGraphicFramePr>
          <p:cNvPr id="98348" name="Object 44"/>
          <p:cNvGraphicFramePr>
            <a:graphicFrameLocks/>
          </p:cNvGraphicFramePr>
          <p:nvPr/>
        </p:nvGraphicFramePr>
        <p:xfrm>
          <a:off x="2411413" y="5378450"/>
          <a:ext cx="295275" cy="295275"/>
        </p:xfrm>
        <a:graphic>
          <a:graphicData uri="http://schemas.openxmlformats.org/presentationml/2006/ole">
            <p:oleObj spid="_x0000_s6153" name="公式" r:id="rId11" imgW="164880" imgH="164880" progId="Equation.3">
              <p:embed/>
            </p:oleObj>
          </a:graphicData>
        </a:graphic>
      </p:graphicFrame>
      <p:sp>
        <p:nvSpPr>
          <p:cNvPr id="98349" name="Rectangle 45"/>
          <p:cNvSpPr>
            <a:spLocks noChangeArrowheads="1"/>
          </p:cNvSpPr>
          <p:nvPr/>
        </p:nvSpPr>
        <p:spPr bwMode="auto">
          <a:xfrm>
            <a:off x="2835275" y="5868988"/>
            <a:ext cx="2546350" cy="512762"/>
          </a:xfrm>
          <a:prstGeom prst="rect">
            <a:avLst/>
          </a:prstGeom>
          <a:noFill/>
          <a:ln w="9525">
            <a:noFill/>
            <a:miter lim="800000"/>
            <a:headEnd/>
            <a:tailEnd/>
          </a:ln>
        </p:spPr>
        <p:txBody>
          <a:bodyPr>
            <a:spAutoFit/>
          </a:bodyPr>
          <a:lstStyle/>
          <a:p>
            <a:pPr>
              <a:lnSpc>
                <a:spcPct val="115000"/>
              </a:lnSpc>
            </a:pPr>
            <a:r>
              <a:rPr lang="en-US" altLang="zh-CN" b="1">
                <a:latin typeface="宋体" pitchFamily="2" charset="-122"/>
                <a:ea typeface="楷体_GB2312" pitchFamily="49" charset="-122"/>
              </a:rPr>
              <a:t>—</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流体的密度</a:t>
            </a:r>
          </a:p>
        </p:txBody>
      </p:sp>
      <p:graphicFrame>
        <p:nvGraphicFramePr>
          <p:cNvPr id="98350" name="Object 46"/>
          <p:cNvGraphicFramePr>
            <a:graphicFrameLocks/>
          </p:cNvGraphicFramePr>
          <p:nvPr/>
        </p:nvGraphicFramePr>
        <p:xfrm>
          <a:off x="2430463" y="6003925"/>
          <a:ext cx="273050" cy="295275"/>
        </p:xfrm>
        <a:graphic>
          <a:graphicData uri="http://schemas.openxmlformats.org/presentationml/2006/ole">
            <p:oleObj spid="_x0000_s6154" name="公式" r:id="rId12" imgW="152280" imgH="1648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8306"/>
                                        </p:tgtEl>
                                        <p:attrNameLst>
                                          <p:attrName>style.visibility</p:attrName>
                                        </p:attrNameLst>
                                      </p:cBhvr>
                                      <p:to>
                                        <p:strVal val="visible"/>
                                      </p:to>
                                    </p:set>
                                    <p:animEffect transition="in" filter="wipe(left)">
                                      <p:cBhvr>
                                        <p:cTn id="7" dur="500"/>
                                        <p:tgtEl>
                                          <p:spTgt spid="98306"/>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272" fill="hold" grpId="0" nodeType="clickEffect">
                                  <p:stCondLst>
                                    <p:cond delay="0"/>
                                  </p:stCondLst>
                                  <p:childTnLst>
                                    <p:set>
                                      <p:cBhvr>
                                        <p:cTn id="11" dur="1" fill="hold">
                                          <p:stCondLst>
                                            <p:cond delay="0"/>
                                          </p:stCondLst>
                                        </p:cTn>
                                        <p:tgtEl>
                                          <p:spTgt spid="98307"/>
                                        </p:tgtEl>
                                        <p:attrNameLst>
                                          <p:attrName>style.visibility</p:attrName>
                                        </p:attrNameLst>
                                      </p:cBhvr>
                                      <p:to>
                                        <p:strVal val="visible"/>
                                      </p:to>
                                    </p:set>
                                    <p:anim calcmode="lin" valueType="num">
                                      <p:cBhvr>
                                        <p:cTn id="12" dur="500" fill="hold"/>
                                        <p:tgtEl>
                                          <p:spTgt spid="98307"/>
                                        </p:tgtEl>
                                        <p:attrNameLst>
                                          <p:attrName>ppt_w</p:attrName>
                                        </p:attrNameLst>
                                      </p:cBhvr>
                                      <p:tavLst>
                                        <p:tav tm="0">
                                          <p:val>
                                            <p:strVal val="2/3*#ppt_w"/>
                                          </p:val>
                                        </p:tav>
                                        <p:tav tm="100000">
                                          <p:val>
                                            <p:strVal val="#ppt_w"/>
                                          </p:val>
                                        </p:tav>
                                      </p:tavLst>
                                    </p:anim>
                                    <p:anim calcmode="lin" valueType="num">
                                      <p:cBhvr>
                                        <p:cTn id="13" dur="500" fill="hold"/>
                                        <p:tgtEl>
                                          <p:spTgt spid="98307"/>
                                        </p:tgtEl>
                                        <p:attrNameLst>
                                          <p:attrName>ppt_h</p:attrName>
                                        </p:attrNameLst>
                                      </p:cBhvr>
                                      <p:tavLst>
                                        <p:tav tm="0">
                                          <p:val>
                                            <p:strVal val="2/3*#ppt_h"/>
                                          </p:val>
                                        </p:tav>
                                        <p:tav tm="100000">
                                          <p:val>
                                            <p:strVal val="#ppt_h"/>
                                          </p:val>
                                        </p:tav>
                                      </p:tavLst>
                                    </p:anim>
                                  </p:childTnLst>
                                  <p:subTnLst>
                                    <p:audio>
                                      <p:cMediaNode mute="1">
                                        <p:cTn display="0" masterRel="sameClick">
                                          <p:stCondLst>
                                            <p:cond evt="begin" delay="0">
                                              <p:tn val="10"/>
                                            </p:cond>
                                          </p:stCondLst>
                                          <p:endCondLst>
                                            <p:cond evt="onStopAudio" delay="0">
                                              <p:tgtEl>
                                                <p:sldTgt/>
                                              </p:tgtEl>
                                            </p:cond>
                                          </p:endCondLst>
                                        </p:cTn>
                                        <p:tgtEl>
                                          <p:sndTgt r:embed="rId3" name="TYPE.WAV" builtIn="1"/>
                                        </p:tgtEl>
                                      </p:cMediaNode>
                                    </p:audio>
                                  </p:sub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98331"/>
                                        </p:tgtEl>
                                        <p:attrNameLst>
                                          <p:attrName>style.visibility</p:attrName>
                                        </p:attrNameLst>
                                      </p:cBhvr>
                                      <p:to>
                                        <p:strVal val="visible"/>
                                      </p:to>
                                    </p:set>
                                    <p:animEffect transition="in" filter="wipe(left)">
                                      <p:cBhvr>
                                        <p:cTn id="18" dur="500"/>
                                        <p:tgtEl>
                                          <p:spTgt spid="9833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98330"/>
                                        </p:tgtEl>
                                        <p:attrNameLst>
                                          <p:attrName>style.visibility</p:attrName>
                                        </p:attrNameLst>
                                      </p:cBhvr>
                                      <p:to>
                                        <p:strVal val="visible"/>
                                      </p:to>
                                    </p:set>
                                    <p:animEffect transition="in" filter="wipe(left)">
                                      <p:cBhvr>
                                        <p:cTn id="23" dur="1000"/>
                                        <p:tgtEl>
                                          <p:spTgt spid="9833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98336"/>
                                        </p:tgtEl>
                                        <p:attrNameLst>
                                          <p:attrName>style.visibility</p:attrName>
                                        </p:attrNameLst>
                                      </p:cBhvr>
                                      <p:to>
                                        <p:strVal val="visible"/>
                                      </p:to>
                                    </p:set>
                                    <p:animEffect transition="in" filter="wipe(left)">
                                      <p:cBhvr>
                                        <p:cTn id="28" dur="500"/>
                                        <p:tgtEl>
                                          <p:spTgt spid="9833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98332"/>
                                        </p:tgtEl>
                                        <p:attrNameLst>
                                          <p:attrName>style.visibility</p:attrName>
                                        </p:attrNameLst>
                                      </p:cBhvr>
                                      <p:to>
                                        <p:strVal val="visible"/>
                                      </p:to>
                                    </p:set>
                                    <p:animEffect transition="in" filter="wipe(left)">
                                      <p:cBhvr>
                                        <p:cTn id="33" dur="500"/>
                                        <p:tgtEl>
                                          <p:spTgt spid="98332"/>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98333"/>
                                        </p:tgtEl>
                                        <p:attrNameLst>
                                          <p:attrName>style.visibility</p:attrName>
                                        </p:attrNameLst>
                                      </p:cBhvr>
                                      <p:to>
                                        <p:strVal val="visible"/>
                                      </p:to>
                                    </p:set>
                                    <p:animEffect transition="in" filter="wipe(left)">
                                      <p:cBhvr>
                                        <p:cTn id="37" dur="500"/>
                                        <p:tgtEl>
                                          <p:spTgt spid="9833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8334"/>
                                        </p:tgtEl>
                                        <p:attrNameLst>
                                          <p:attrName>style.visibility</p:attrName>
                                        </p:attrNameLst>
                                      </p:cBhvr>
                                      <p:to>
                                        <p:strVal val="visible"/>
                                      </p:to>
                                    </p:set>
                                    <p:animEffect transition="in" filter="wipe(left)">
                                      <p:cBhvr>
                                        <p:cTn id="42" dur="500"/>
                                        <p:tgtEl>
                                          <p:spTgt spid="98334"/>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98335"/>
                                        </p:tgtEl>
                                        <p:attrNameLst>
                                          <p:attrName>style.visibility</p:attrName>
                                        </p:attrNameLst>
                                      </p:cBhvr>
                                      <p:to>
                                        <p:strVal val="visible"/>
                                      </p:to>
                                    </p:set>
                                    <p:animEffect transition="in" filter="wipe(left)">
                                      <p:cBhvr>
                                        <p:cTn id="46" dur="500"/>
                                        <p:tgtEl>
                                          <p:spTgt spid="9833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98337"/>
                                        </p:tgtEl>
                                        <p:attrNameLst>
                                          <p:attrName>style.visibility</p:attrName>
                                        </p:attrNameLst>
                                      </p:cBhvr>
                                      <p:to>
                                        <p:strVal val="visible"/>
                                      </p:to>
                                    </p:set>
                                    <p:animEffect transition="in" filter="wipe(left)">
                                      <p:cBhvr>
                                        <p:cTn id="51" dur="500"/>
                                        <p:tgtEl>
                                          <p:spTgt spid="9833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98338"/>
                                        </p:tgtEl>
                                        <p:attrNameLst>
                                          <p:attrName>style.visibility</p:attrName>
                                        </p:attrNameLst>
                                      </p:cBhvr>
                                      <p:to>
                                        <p:strVal val="visible"/>
                                      </p:to>
                                    </p:set>
                                    <p:animEffect transition="in" filter="wipe(left)">
                                      <p:cBhvr>
                                        <p:cTn id="56" dur="500"/>
                                        <p:tgtEl>
                                          <p:spTgt spid="9833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98339"/>
                                        </p:tgtEl>
                                        <p:attrNameLst>
                                          <p:attrName>style.visibility</p:attrName>
                                        </p:attrNameLst>
                                      </p:cBhvr>
                                      <p:to>
                                        <p:strVal val="visible"/>
                                      </p:to>
                                    </p:set>
                                    <p:animEffect transition="in" filter="wipe(left)">
                                      <p:cBhvr>
                                        <p:cTn id="61" dur="500"/>
                                        <p:tgtEl>
                                          <p:spTgt spid="98339"/>
                                        </p:tgtEl>
                                      </p:cBhvr>
                                    </p:animEffect>
                                  </p:childTnLst>
                                </p:cTn>
                              </p:par>
                            </p:childTnLst>
                          </p:cTn>
                        </p:par>
                        <p:par>
                          <p:cTn id="62" fill="hold">
                            <p:stCondLst>
                              <p:cond delay="500"/>
                            </p:stCondLst>
                            <p:childTnLst>
                              <p:par>
                                <p:cTn id="63" presetID="22" presetClass="entr" presetSubtype="8" fill="hold" nodeType="afterEffect">
                                  <p:stCondLst>
                                    <p:cond delay="0"/>
                                  </p:stCondLst>
                                  <p:childTnLst>
                                    <p:set>
                                      <p:cBhvr>
                                        <p:cTn id="64" dur="1" fill="hold">
                                          <p:stCondLst>
                                            <p:cond delay="0"/>
                                          </p:stCondLst>
                                        </p:cTn>
                                        <p:tgtEl>
                                          <p:spTgt spid="98341"/>
                                        </p:tgtEl>
                                        <p:attrNameLst>
                                          <p:attrName>style.visibility</p:attrName>
                                        </p:attrNameLst>
                                      </p:cBhvr>
                                      <p:to>
                                        <p:strVal val="visible"/>
                                      </p:to>
                                    </p:set>
                                    <p:animEffect transition="in" filter="wipe(left)">
                                      <p:cBhvr>
                                        <p:cTn id="65" dur="500"/>
                                        <p:tgtEl>
                                          <p:spTgt spid="98341"/>
                                        </p:tgtEl>
                                      </p:cBhvr>
                                    </p:animEffect>
                                  </p:childTnLst>
                                </p:cTn>
                              </p:par>
                            </p:childTnLst>
                          </p:cTn>
                        </p:par>
                        <p:par>
                          <p:cTn id="66" fill="hold">
                            <p:stCondLst>
                              <p:cond delay="1000"/>
                            </p:stCondLst>
                            <p:childTnLst>
                              <p:par>
                                <p:cTn id="67" presetID="22" presetClass="entr" presetSubtype="8" fill="hold" grpId="0" nodeType="afterEffect">
                                  <p:stCondLst>
                                    <p:cond delay="0"/>
                                  </p:stCondLst>
                                  <p:childTnLst>
                                    <p:set>
                                      <p:cBhvr>
                                        <p:cTn id="68" dur="1" fill="hold">
                                          <p:stCondLst>
                                            <p:cond delay="0"/>
                                          </p:stCondLst>
                                        </p:cTn>
                                        <p:tgtEl>
                                          <p:spTgt spid="98340"/>
                                        </p:tgtEl>
                                        <p:attrNameLst>
                                          <p:attrName>style.visibility</p:attrName>
                                        </p:attrNameLst>
                                      </p:cBhvr>
                                      <p:to>
                                        <p:strVal val="visible"/>
                                      </p:to>
                                    </p:set>
                                    <p:animEffect transition="in" filter="wipe(left)">
                                      <p:cBhvr>
                                        <p:cTn id="69" dur="500"/>
                                        <p:tgtEl>
                                          <p:spTgt spid="98340"/>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98343"/>
                                        </p:tgtEl>
                                        <p:attrNameLst>
                                          <p:attrName>style.visibility</p:attrName>
                                        </p:attrNameLst>
                                      </p:cBhvr>
                                      <p:to>
                                        <p:strVal val="visible"/>
                                      </p:to>
                                    </p:set>
                                    <p:animEffect transition="in" filter="wipe(left)">
                                      <p:cBhvr>
                                        <p:cTn id="74" dur="500"/>
                                        <p:tgtEl>
                                          <p:spTgt spid="98343"/>
                                        </p:tgtEl>
                                      </p:cBhvr>
                                    </p:animEffect>
                                  </p:childTnLst>
                                </p:cTn>
                              </p:par>
                            </p:childTnLst>
                          </p:cTn>
                        </p:par>
                        <p:par>
                          <p:cTn id="75" fill="hold">
                            <p:stCondLst>
                              <p:cond delay="500"/>
                            </p:stCondLst>
                            <p:childTnLst>
                              <p:par>
                                <p:cTn id="76" presetID="22" presetClass="entr" presetSubtype="8" fill="hold" grpId="0" nodeType="afterEffect">
                                  <p:stCondLst>
                                    <p:cond delay="0"/>
                                  </p:stCondLst>
                                  <p:childTnLst>
                                    <p:set>
                                      <p:cBhvr>
                                        <p:cTn id="77" dur="1" fill="hold">
                                          <p:stCondLst>
                                            <p:cond delay="0"/>
                                          </p:stCondLst>
                                        </p:cTn>
                                        <p:tgtEl>
                                          <p:spTgt spid="98342"/>
                                        </p:tgtEl>
                                        <p:attrNameLst>
                                          <p:attrName>style.visibility</p:attrName>
                                        </p:attrNameLst>
                                      </p:cBhvr>
                                      <p:to>
                                        <p:strVal val="visible"/>
                                      </p:to>
                                    </p:set>
                                    <p:animEffect transition="in" filter="wipe(left)">
                                      <p:cBhvr>
                                        <p:cTn id="78" dur="500"/>
                                        <p:tgtEl>
                                          <p:spTgt spid="98342"/>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98344"/>
                                        </p:tgtEl>
                                        <p:attrNameLst>
                                          <p:attrName>style.visibility</p:attrName>
                                        </p:attrNameLst>
                                      </p:cBhvr>
                                      <p:to>
                                        <p:strVal val="visible"/>
                                      </p:to>
                                    </p:set>
                                    <p:animEffect transition="in" filter="wipe(left)">
                                      <p:cBhvr>
                                        <p:cTn id="83" dur="500"/>
                                        <p:tgtEl>
                                          <p:spTgt spid="98344"/>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98345"/>
                                        </p:tgtEl>
                                        <p:attrNameLst>
                                          <p:attrName>style.visibility</p:attrName>
                                        </p:attrNameLst>
                                      </p:cBhvr>
                                      <p:to>
                                        <p:strVal val="visible"/>
                                      </p:to>
                                    </p:set>
                                    <p:animEffect transition="in" filter="wipe(left)">
                                      <p:cBhvr>
                                        <p:cTn id="88" dur="500"/>
                                        <p:tgtEl>
                                          <p:spTgt spid="98345"/>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98346"/>
                                        </p:tgtEl>
                                        <p:attrNameLst>
                                          <p:attrName>style.visibility</p:attrName>
                                        </p:attrNameLst>
                                      </p:cBhvr>
                                      <p:to>
                                        <p:strVal val="visible"/>
                                      </p:to>
                                    </p:set>
                                    <p:animEffect transition="in" filter="wipe(left)">
                                      <p:cBhvr>
                                        <p:cTn id="93" dur="500"/>
                                        <p:tgtEl>
                                          <p:spTgt spid="98346"/>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98348"/>
                                        </p:tgtEl>
                                        <p:attrNameLst>
                                          <p:attrName>style.visibility</p:attrName>
                                        </p:attrNameLst>
                                      </p:cBhvr>
                                      <p:to>
                                        <p:strVal val="visible"/>
                                      </p:to>
                                    </p:set>
                                    <p:animEffect transition="in" filter="wipe(left)">
                                      <p:cBhvr>
                                        <p:cTn id="98" dur="1000"/>
                                        <p:tgtEl>
                                          <p:spTgt spid="98348"/>
                                        </p:tgtEl>
                                      </p:cBhvr>
                                    </p:animEffect>
                                  </p:childTnLst>
                                </p:cTn>
                              </p:par>
                            </p:childTnLst>
                          </p:cTn>
                        </p:par>
                        <p:par>
                          <p:cTn id="99" fill="hold">
                            <p:stCondLst>
                              <p:cond delay="1000"/>
                            </p:stCondLst>
                            <p:childTnLst>
                              <p:par>
                                <p:cTn id="100" presetID="22" presetClass="entr" presetSubtype="8" fill="hold" grpId="0" nodeType="afterEffect">
                                  <p:stCondLst>
                                    <p:cond delay="0"/>
                                  </p:stCondLst>
                                  <p:childTnLst>
                                    <p:set>
                                      <p:cBhvr>
                                        <p:cTn id="101" dur="1" fill="hold">
                                          <p:stCondLst>
                                            <p:cond delay="0"/>
                                          </p:stCondLst>
                                        </p:cTn>
                                        <p:tgtEl>
                                          <p:spTgt spid="98347"/>
                                        </p:tgtEl>
                                        <p:attrNameLst>
                                          <p:attrName>style.visibility</p:attrName>
                                        </p:attrNameLst>
                                      </p:cBhvr>
                                      <p:to>
                                        <p:strVal val="visible"/>
                                      </p:to>
                                    </p:set>
                                    <p:animEffect transition="in" filter="wipe(left)">
                                      <p:cBhvr>
                                        <p:cTn id="102" dur="1000"/>
                                        <p:tgtEl>
                                          <p:spTgt spid="98347"/>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98350"/>
                                        </p:tgtEl>
                                        <p:attrNameLst>
                                          <p:attrName>style.visibility</p:attrName>
                                        </p:attrNameLst>
                                      </p:cBhvr>
                                      <p:to>
                                        <p:strVal val="visible"/>
                                      </p:to>
                                    </p:set>
                                    <p:animEffect transition="in" filter="wipe(left)">
                                      <p:cBhvr>
                                        <p:cTn id="107" dur="1000"/>
                                        <p:tgtEl>
                                          <p:spTgt spid="98350"/>
                                        </p:tgtEl>
                                      </p:cBhvr>
                                    </p:animEffect>
                                  </p:childTnLst>
                                </p:cTn>
                              </p:par>
                            </p:childTnLst>
                          </p:cTn>
                        </p:par>
                        <p:par>
                          <p:cTn id="108" fill="hold">
                            <p:stCondLst>
                              <p:cond delay="1000"/>
                            </p:stCondLst>
                            <p:childTnLst>
                              <p:par>
                                <p:cTn id="109" presetID="22" presetClass="entr" presetSubtype="8" fill="hold" grpId="0" nodeType="afterEffect">
                                  <p:stCondLst>
                                    <p:cond delay="0"/>
                                  </p:stCondLst>
                                  <p:childTnLst>
                                    <p:set>
                                      <p:cBhvr>
                                        <p:cTn id="110" dur="1" fill="hold">
                                          <p:stCondLst>
                                            <p:cond delay="0"/>
                                          </p:stCondLst>
                                        </p:cTn>
                                        <p:tgtEl>
                                          <p:spTgt spid="98349"/>
                                        </p:tgtEl>
                                        <p:attrNameLst>
                                          <p:attrName>style.visibility</p:attrName>
                                        </p:attrNameLst>
                                      </p:cBhvr>
                                      <p:to>
                                        <p:strVal val="visible"/>
                                      </p:to>
                                    </p:set>
                                    <p:animEffect transition="in" filter="wipe(left)">
                                      <p:cBhvr>
                                        <p:cTn id="111" dur="1000"/>
                                        <p:tgtEl>
                                          <p:spTgt spid="98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p:bldP spid="98307" grpId="0" autoUpdateAnimBg="0"/>
      <p:bldP spid="98331" grpId="0" autoUpdateAnimBg="0"/>
      <p:bldP spid="98333" grpId="0" autoUpdateAnimBg="0"/>
      <p:bldP spid="98335" grpId="0" autoUpdateAnimBg="0"/>
      <p:bldP spid="98336" grpId="0" animBg="1"/>
      <p:bldP spid="98337" grpId="0" autoUpdateAnimBg="0"/>
      <p:bldP spid="98339" grpId="0" animBg="1"/>
      <p:bldP spid="98340" grpId="0" autoUpdateAnimBg="0"/>
      <p:bldP spid="98342" grpId="0" autoUpdateAnimBg="0"/>
      <p:bldP spid="98344" grpId="0" autoUpdateAnimBg="0"/>
      <p:bldP spid="98346" grpId="0" animBg="1"/>
      <p:bldP spid="98347" grpId="0"/>
      <p:bldP spid="9834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33" name="Rectangle 9"/>
          <p:cNvSpPr>
            <a:spLocks noChangeArrowheads="1"/>
          </p:cNvSpPr>
          <p:nvPr/>
        </p:nvSpPr>
        <p:spPr bwMode="auto">
          <a:xfrm>
            <a:off x="179388" y="2466975"/>
            <a:ext cx="4829175" cy="512763"/>
          </a:xfrm>
          <a:prstGeom prst="rect">
            <a:avLst/>
          </a:prstGeom>
          <a:noFill/>
          <a:ln w="9525">
            <a:noFill/>
            <a:miter lim="800000"/>
            <a:headEnd/>
            <a:tailEnd/>
          </a:ln>
        </p:spPr>
        <p:txBody>
          <a:bodyPr>
            <a:spAutoFit/>
          </a:bodyPr>
          <a:lstStyle/>
          <a:p>
            <a:pPr>
              <a:lnSpc>
                <a:spcPct val="115000"/>
              </a:lnSpc>
            </a:pPr>
            <a:r>
              <a:rPr lang="en-US" altLang="zh-CN" b="1"/>
              <a:t>(5) </a:t>
            </a:r>
            <a:r>
              <a:rPr lang="zh-CN" altLang="en-US" b="1"/>
              <a:t>稀薄大气中的</a:t>
            </a:r>
            <a:r>
              <a:rPr lang="zh-CN" altLang="en-US" b="1">
                <a:solidFill>
                  <a:srgbClr val="FF6600"/>
                </a:solidFill>
              </a:rPr>
              <a:t>纵波波速</a:t>
            </a:r>
            <a:r>
              <a:rPr lang="zh-CN" altLang="en-US" b="1"/>
              <a:t>为：</a:t>
            </a:r>
          </a:p>
        </p:txBody>
      </p:sp>
      <p:graphicFrame>
        <p:nvGraphicFramePr>
          <p:cNvPr id="154634" name="Object 10"/>
          <p:cNvGraphicFramePr>
            <a:graphicFrameLocks/>
          </p:cNvGraphicFramePr>
          <p:nvPr/>
        </p:nvGraphicFramePr>
        <p:xfrm>
          <a:off x="838200" y="3395663"/>
          <a:ext cx="2428875" cy="889000"/>
        </p:xfrm>
        <a:graphic>
          <a:graphicData uri="http://schemas.openxmlformats.org/presentationml/2006/ole">
            <p:oleObj spid="_x0000_s7170" name="公式" r:id="rId3" imgW="1358640" imgH="495000" progId="Equation.3">
              <p:embed/>
            </p:oleObj>
          </a:graphicData>
        </a:graphic>
      </p:graphicFrame>
      <p:sp>
        <p:nvSpPr>
          <p:cNvPr id="154635" name="AutoShape 11"/>
          <p:cNvSpPr>
            <a:spLocks/>
          </p:cNvSpPr>
          <p:nvPr/>
        </p:nvSpPr>
        <p:spPr bwMode="auto">
          <a:xfrm>
            <a:off x="3357563" y="3348038"/>
            <a:ext cx="304800" cy="1066800"/>
          </a:xfrm>
          <a:prstGeom prst="leftBrace">
            <a:avLst>
              <a:gd name="adj1" fmla="val 29167"/>
              <a:gd name="adj2" fmla="val 50000"/>
            </a:avLst>
          </a:prstGeom>
          <a:noFill/>
          <a:ln w="28575">
            <a:solidFill>
              <a:srgbClr val="9900CC"/>
            </a:solidFill>
            <a:round/>
            <a:headEnd/>
            <a:tailEnd/>
          </a:ln>
        </p:spPr>
        <p:txBody>
          <a:bodyPr wrap="none" anchor="ctr"/>
          <a:lstStyle/>
          <a:p>
            <a:endParaRPr lang="zh-CN" altLang="en-US"/>
          </a:p>
        </p:txBody>
      </p:sp>
      <p:sp>
        <p:nvSpPr>
          <p:cNvPr id="154636" name="Rectangle 12"/>
          <p:cNvSpPr>
            <a:spLocks noChangeArrowheads="1"/>
          </p:cNvSpPr>
          <p:nvPr/>
        </p:nvSpPr>
        <p:spPr bwMode="auto">
          <a:xfrm>
            <a:off x="4230688" y="3114675"/>
            <a:ext cx="2819400" cy="512763"/>
          </a:xfrm>
          <a:prstGeom prst="rect">
            <a:avLst/>
          </a:prstGeom>
          <a:noFill/>
          <a:ln w="9525">
            <a:noFill/>
            <a:miter lim="800000"/>
            <a:headEnd/>
            <a:tailEnd/>
          </a:ln>
        </p:spPr>
        <p:txBody>
          <a:bodyPr>
            <a:spAutoFit/>
          </a:bodyPr>
          <a:lstStyle/>
          <a:p>
            <a:pPr>
              <a:lnSpc>
                <a:spcPct val="115000"/>
              </a:lnSpc>
            </a:pPr>
            <a:r>
              <a:rPr lang="en-US" altLang="zh-CN" b="1">
                <a:latin typeface="宋体" pitchFamily="2" charset="-122"/>
                <a:ea typeface="楷体_GB2312" pitchFamily="49" charset="-122"/>
              </a:rPr>
              <a:t>—</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气体摩尔热容比</a:t>
            </a:r>
          </a:p>
        </p:txBody>
      </p:sp>
      <p:graphicFrame>
        <p:nvGraphicFramePr>
          <p:cNvPr id="154637" name="Object 13"/>
          <p:cNvGraphicFramePr>
            <a:graphicFrameLocks/>
          </p:cNvGraphicFramePr>
          <p:nvPr/>
        </p:nvGraphicFramePr>
        <p:xfrm>
          <a:off x="3825875" y="3235325"/>
          <a:ext cx="252413" cy="295275"/>
        </p:xfrm>
        <a:graphic>
          <a:graphicData uri="http://schemas.openxmlformats.org/presentationml/2006/ole">
            <p:oleObj spid="_x0000_s7171" name="公式" r:id="rId4" imgW="139680" imgH="164880" progId="Equation.3">
              <p:embed/>
            </p:oleObj>
          </a:graphicData>
        </a:graphic>
      </p:graphicFrame>
      <p:graphicFrame>
        <p:nvGraphicFramePr>
          <p:cNvPr id="154638" name="Object 14"/>
          <p:cNvGraphicFramePr>
            <a:graphicFrameLocks/>
          </p:cNvGraphicFramePr>
          <p:nvPr/>
        </p:nvGraphicFramePr>
        <p:xfrm>
          <a:off x="3756025" y="3752850"/>
          <a:ext cx="366713" cy="295275"/>
        </p:xfrm>
        <a:graphic>
          <a:graphicData uri="http://schemas.openxmlformats.org/presentationml/2006/ole">
            <p:oleObj spid="_x0000_s7172" name="公式" r:id="rId5" imgW="203040" imgH="164880" progId="Equation.3">
              <p:embed/>
            </p:oleObj>
          </a:graphicData>
        </a:graphic>
      </p:graphicFrame>
      <p:sp>
        <p:nvSpPr>
          <p:cNvPr id="154639" name="Rectangle 15"/>
          <p:cNvSpPr>
            <a:spLocks noChangeArrowheads="1"/>
          </p:cNvSpPr>
          <p:nvPr/>
        </p:nvSpPr>
        <p:spPr bwMode="auto">
          <a:xfrm>
            <a:off x="4230688" y="3646488"/>
            <a:ext cx="2819400" cy="512762"/>
          </a:xfrm>
          <a:prstGeom prst="rect">
            <a:avLst/>
          </a:prstGeom>
          <a:noFill/>
          <a:ln w="9525">
            <a:noFill/>
            <a:miter lim="800000"/>
            <a:headEnd/>
            <a:tailEnd/>
          </a:ln>
        </p:spPr>
        <p:txBody>
          <a:bodyPr>
            <a:spAutoFit/>
          </a:bodyPr>
          <a:lstStyle/>
          <a:p>
            <a:pPr>
              <a:lnSpc>
                <a:spcPct val="115000"/>
              </a:lnSpc>
            </a:pPr>
            <a:r>
              <a:rPr lang="en-US" altLang="zh-CN" b="1">
                <a:latin typeface="宋体" pitchFamily="2" charset="-122"/>
                <a:ea typeface="楷体_GB2312" pitchFamily="49" charset="-122"/>
              </a:rPr>
              <a:t>—</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气体摩尔质量</a:t>
            </a:r>
          </a:p>
        </p:txBody>
      </p:sp>
      <p:graphicFrame>
        <p:nvGraphicFramePr>
          <p:cNvPr id="154640" name="Object 16"/>
          <p:cNvGraphicFramePr>
            <a:graphicFrameLocks/>
          </p:cNvGraphicFramePr>
          <p:nvPr/>
        </p:nvGraphicFramePr>
        <p:xfrm>
          <a:off x="3778250" y="4222750"/>
          <a:ext cx="298450" cy="295275"/>
        </p:xfrm>
        <a:graphic>
          <a:graphicData uri="http://schemas.openxmlformats.org/presentationml/2006/ole">
            <p:oleObj spid="_x0000_s7173" name="公式" r:id="rId6" imgW="164880" imgH="164880" progId="Equation.3">
              <p:embed/>
            </p:oleObj>
          </a:graphicData>
        </a:graphic>
      </p:graphicFrame>
      <p:sp>
        <p:nvSpPr>
          <p:cNvPr id="154641" name="Rectangle 17"/>
          <p:cNvSpPr>
            <a:spLocks noChangeArrowheads="1"/>
          </p:cNvSpPr>
          <p:nvPr/>
        </p:nvSpPr>
        <p:spPr bwMode="auto">
          <a:xfrm>
            <a:off x="4211638" y="4087813"/>
            <a:ext cx="2819400" cy="512762"/>
          </a:xfrm>
          <a:prstGeom prst="rect">
            <a:avLst/>
          </a:prstGeom>
          <a:noFill/>
          <a:ln w="9525">
            <a:noFill/>
            <a:miter lim="800000"/>
            <a:headEnd/>
            <a:tailEnd/>
          </a:ln>
        </p:spPr>
        <p:txBody>
          <a:bodyPr>
            <a:spAutoFit/>
          </a:bodyPr>
          <a:lstStyle/>
          <a:p>
            <a:pPr>
              <a:lnSpc>
                <a:spcPct val="115000"/>
              </a:lnSpc>
            </a:pPr>
            <a:r>
              <a:rPr lang="en-US" altLang="zh-CN" b="1">
                <a:latin typeface="宋体" pitchFamily="2" charset="-122"/>
                <a:ea typeface="楷体_GB2312" pitchFamily="49" charset="-122"/>
              </a:rPr>
              <a:t>—</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气体摩尔常数</a:t>
            </a:r>
          </a:p>
        </p:txBody>
      </p:sp>
      <p:sp>
        <p:nvSpPr>
          <p:cNvPr id="154643" name="Rectangle 19"/>
          <p:cNvSpPr>
            <a:spLocks noChangeArrowheads="1"/>
          </p:cNvSpPr>
          <p:nvPr/>
        </p:nvSpPr>
        <p:spPr bwMode="auto">
          <a:xfrm>
            <a:off x="125413" y="476250"/>
            <a:ext cx="3600450" cy="512763"/>
          </a:xfrm>
          <a:prstGeom prst="rect">
            <a:avLst/>
          </a:prstGeom>
          <a:noFill/>
          <a:ln w="9525">
            <a:noFill/>
            <a:miter lim="800000"/>
            <a:headEnd/>
            <a:tailEnd/>
          </a:ln>
        </p:spPr>
        <p:txBody>
          <a:bodyPr>
            <a:spAutoFit/>
          </a:bodyPr>
          <a:lstStyle/>
          <a:p>
            <a:pPr algn="just">
              <a:lnSpc>
                <a:spcPct val="115000"/>
              </a:lnSpc>
            </a:pPr>
            <a:r>
              <a:rPr lang="en-US" altLang="zh-CN" b="1"/>
              <a:t>(4) </a:t>
            </a:r>
            <a:r>
              <a:rPr lang="zh-CN" altLang="en-US" b="1"/>
              <a:t>弦线中的</a:t>
            </a:r>
            <a:r>
              <a:rPr lang="zh-CN" altLang="en-US" b="1">
                <a:solidFill>
                  <a:srgbClr val="FF6600"/>
                </a:solidFill>
              </a:rPr>
              <a:t>横波波速</a:t>
            </a:r>
            <a:r>
              <a:rPr kumimoji="0" lang="zh-CN" altLang="en-US" b="1">
                <a:ea typeface="楷体_GB2312" pitchFamily="49" charset="-122"/>
              </a:rPr>
              <a:t>：</a:t>
            </a:r>
            <a:r>
              <a:rPr kumimoji="0" lang="zh-CN" altLang="en-US" b="1">
                <a:solidFill>
                  <a:schemeClr val="bg1"/>
                </a:solidFill>
                <a:ea typeface="楷体_GB2312" pitchFamily="49" charset="-122"/>
              </a:rPr>
              <a:t> </a:t>
            </a:r>
          </a:p>
        </p:txBody>
      </p:sp>
      <p:graphicFrame>
        <p:nvGraphicFramePr>
          <p:cNvPr id="154644" name="Object 20"/>
          <p:cNvGraphicFramePr>
            <a:graphicFrameLocks noChangeAspect="1"/>
          </p:cNvGraphicFramePr>
          <p:nvPr/>
        </p:nvGraphicFramePr>
        <p:xfrm>
          <a:off x="979488" y="1347788"/>
          <a:ext cx="1050925" cy="844550"/>
        </p:xfrm>
        <a:graphic>
          <a:graphicData uri="http://schemas.openxmlformats.org/presentationml/2006/ole">
            <p:oleObj spid="_x0000_s7174" name="公式" r:id="rId7" imgW="583920" imgH="469800" progId="Equation.3">
              <p:embed/>
            </p:oleObj>
          </a:graphicData>
        </a:graphic>
      </p:graphicFrame>
      <p:sp>
        <p:nvSpPr>
          <p:cNvPr id="154645" name="AutoShape 21"/>
          <p:cNvSpPr>
            <a:spLocks/>
          </p:cNvSpPr>
          <p:nvPr/>
        </p:nvSpPr>
        <p:spPr bwMode="auto">
          <a:xfrm>
            <a:off x="2195513" y="1384300"/>
            <a:ext cx="215900" cy="774700"/>
          </a:xfrm>
          <a:prstGeom prst="leftBrace">
            <a:avLst>
              <a:gd name="adj1" fmla="val 29902"/>
              <a:gd name="adj2" fmla="val 50000"/>
            </a:avLst>
          </a:prstGeom>
          <a:noFill/>
          <a:ln w="28575">
            <a:solidFill>
              <a:srgbClr val="9900CC"/>
            </a:solidFill>
            <a:round/>
            <a:headEnd/>
            <a:tailEnd/>
          </a:ln>
        </p:spPr>
        <p:txBody>
          <a:bodyPr wrap="none" anchor="ctr"/>
          <a:lstStyle/>
          <a:p>
            <a:endParaRPr lang="zh-CN" altLang="en-US"/>
          </a:p>
        </p:txBody>
      </p:sp>
      <p:sp>
        <p:nvSpPr>
          <p:cNvPr id="154646" name="Rectangle 22"/>
          <p:cNvSpPr>
            <a:spLocks noChangeArrowheads="1"/>
          </p:cNvSpPr>
          <p:nvPr/>
        </p:nvSpPr>
        <p:spPr bwMode="auto">
          <a:xfrm>
            <a:off x="3006725" y="1106488"/>
            <a:ext cx="4949825" cy="512762"/>
          </a:xfrm>
          <a:prstGeom prst="rect">
            <a:avLst/>
          </a:prstGeom>
          <a:noFill/>
          <a:ln w="9525">
            <a:noFill/>
            <a:miter lim="800000"/>
            <a:headEnd/>
            <a:tailEnd/>
          </a:ln>
        </p:spPr>
        <p:txBody>
          <a:bodyPr>
            <a:spAutoFit/>
          </a:bodyPr>
          <a:lstStyle/>
          <a:p>
            <a:pPr>
              <a:lnSpc>
                <a:spcPct val="115000"/>
              </a:lnSpc>
            </a:pPr>
            <a:r>
              <a:rPr lang="en-US" altLang="zh-CN" b="1">
                <a:latin typeface="宋体" pitchFamily="2" charset="-122"/>
                <a:ea typeface="楷体_GB2312" pitchFamily="49" charset="-122"/>
              </a:rPr>
              <a:t>—</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绳子或弦线中的张力</a:t>
            </a:r>
          </a:p>
        </p:txBody>
      </p:sp>
      <p:graphicFrame>
        <p:nvGraphicFramePr>
          <p:cNvPr id="154647" name="Object 23"/>
          <p:cNvGraphicFramePr>
            <a:graphicFrameLocks/>
          </p:cNvGraphicFramePr>
          <p:nvPr/>
        </p:nvGraphicFramePr>
        <p:xfrm>
          <a:off x="2555875" y="1258888"/>
          <a:ext cx="273050" cy="295275"/>
        </p:xfrm>
        <a:graphic>
          <a:graphicData uri="http://schemas.openxmlformats.org/presentationml/2006/ole">
            <p:oleObj spid="_x0000_s7175" name="公式" r:id="rId8" imgW="152280" imgH="164880" progId="Equation.3">
              <p:embed/>
            </p:oleObj>
          </a:graphicData>
        </a:graphic>
      </p:graphicFrame>
      <p:sp>
        <p:nvSpPr>
          <p:cNvPr id="154648" name="Rectangle 24"/>
          <p:cNvSpPr>
            <a:spLocks noChangeArrowheads="1"/>
          </p:cNvSpPr>
          <p:nvPr/>
        </p:nvSpPr>
        <p:spPr bwMode="auto">
          <a:xfrm>
            <a:off x="3005138" y="1781175"/>
            <a:ext cx="4025900" cy="512763"/>
          </a:xfrm>
          <a:prstGeom prst="rect">
            <a:avLst/>
          </a:prstGeom>
          <a:noFill/>
          <a:ln w="9525">
            <a:noFill/>
            <a:miter lim="800000"/>
            <a:headEnd/>
            <a:tailEnd/>
          </a:ln>
        </p:spPr>
        <p:txBody>
          <a:bodyPr>
            <a:spAutoFit/>
          </a:bodyPr>
          <a:lstStyle/>
          <a:p>
            <a:pPr>
              <a:lnSpc>
                <a:spcPct val="115000"/>
              </a:lnSpc>
            </a:pPr>
            <a:r>
              <a:rPr lang="en-US" altLang="zh-CN" b="1">
                <a:latin typeface="宋体" pitchFamily="2" charset="-122"/>
                <a:ea typeface="楷体_GB2312" pitchFamily="49" charset="-122"/>
              </a:rPr>
              <a:t>—</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质量线密度</a:t>
            </a:r>
          </a:p>
        </p:txBody>
      </p:sp>
      <p:graphicFrame>
        <p:nvGraphicFramePr>
          <p:cNvPr id="154649" name="Object 25"/>
          <p:cNvGraphicFramePr>
            <a:graphicFrameLocks/>
          </p:cNvGraphicFramePr>
          <p:nvPr/>
        </p:nvGraphicFramePr>
        <p:xfrm>
          <a:off x="2509838" y="1933575"/>
          <a:ext cx="273050" cy="295275"/>
        </p:xfrm>
        <a:graphic>
          <a:graphicData uri="http://schemas.openxmlformats.org/presentationml/2006/ole">
            <p:oleObj spid="_x0000_s7176" name="公式" r:id="rId9" imgW="152280" imgH="164880" progId="Equation.3">
              <p:embed/>
            </p:oleObj>
          </a:graphicData>
        </a:graphic>
      </p:graphicFrame>
      <p:sp>
        <p:nvSpPr>
          <p:cNvPr id="154650" name="Rectangle 26"/>
          <p:cNvSpPr>
            <a:spLocks noChangeArrowheads="1"/>
          </p:cNvSpPr>
          <p:nvPr/>
        </p:nvSpPr>
        <p:spPr bwMode="auto">
          <a:xfrm>
            <a:off x="323850" y="4699000"/>
            <a:ext cx="8135938" cy="504825"/>
          </a:xfrm>
          <a:prstGeom prst="rect">
            <a:avLst/>
          </a:prstGeom>
          <a:noFill/>
          <a:ln w="9525">
            <a:noFill/>
            <a:miter lim="800000"/>
            <a:headEnd/>
            <a:tailEnd/>
          </a:ln>
        </p:spPr>
        <p:txBody>
          <a:bodyPr wrap="none"/>
          <a:lstStyle/>
          <a:p>
            <a:pPr>
              <a:lnSpc>
                <a:spcPct val="110000"/>
              </a:lnSpc>
            </a:pPr>
            <a:r>
              <a:rPr lang="zh-CN" altLang="en-US" b="1">
                <a:solidFill>
                  <a:srgbClr val="FF3300"/>
                </a:solidFill>
                <a:latin typeface="宋体" pitchFamily="2" charset="-122"/>
              </a:rPr>
              <a:t>例：</a:t>
            </a:r>
            <a:r>
              <a:rPr lang="zh-CN" altLang="en-US" b="1">
                <a:latin typeface="宋体" pitchFamily="2" charset="-122"/>
              </a:rPr>
              <a:t>若声波在空气中的传播为绝热过程，由于空气的</a:t>
            </a:r>
          </a:p>
          <a:p>
            <a:pPr>
              <a:lnSpc>
                <a:spcPct val="110000"/>
              </a:lnSpc>
            </a:pPr>
            <a:endParaRPr lang="zh-CN" altLang="en-US" b="1"/>
          </a:p>
          <a:p>
            <a:pPr>
              <a:lnSpc>
                <a:spcPct val="110000"/>
              </a:lnSpc>
            </a:pPr>
            <a:endParaRPr lang="en-US" altLang="zh-CN" b="1">
              <a:latin typeface="宋体" pitchFamily="2" charset="-122"/>
              <a:cs typeface="Times New Roman" pitchFamily="18" charset="0"/>
            </a:endParaRPr>
          </a:p>
        </p:txBody>
      </p:sp>
      <p:graphicFrame>
        <p:nvGraphicFramePr>
          <p:cNvPr id="154651" name="Object 27"/>
          <p:cNvGraphicFramePr>
            <a:graphicFrameLocks noChangeAspect="1"/>
          </p:cNvGraphicFramePr>
          <p:nvPr/>
        </p:nvGraphicFramePr>
        <p:xfrm>
          <a:off x="1123950" y="5340350"/>
          <a:ext cx="914400" cy="366713"/>
        </p:xfrm>
        <a:graphic>
          <a:graphicData uri="http://schemas.openxmlformats.org/presentationml/2006/ole">
            <p:oleObj spid="_x0000_s7177" name="公式" r:id="rId10" imgW="507960" imgH="203040" progId="Equation.3">
              <p:embed/>
            </p:oleObj>
          </a:graphicData>
        </a:graphic>
      </p:graphicFrame>
      <p:graphicFrame>
        <p:nvGraphicFramePr>
          <p:cNvPr id="154652" name="Object 28"/>
          <p:cNvGraphicFramePr>
            <a:graphicFrameLocks noChangeAspect="1"/>
          </p:cNvGraphicFramePr>
          <p:nvPr/>
        </p:nvGraphicFramePr>
        <p:xfrm>
          <a:off x="2290763" y="5316538"/>
          <a:ext cx="2425700" cy="434975"/>
        </p:xfrm>
        <a:graphic>
          <a:graphicData uri="http://schemas.openxmlformats.org/presentationml/2006/ole">
            <p:oleObj spid="_x0000_s7178" name="公式" r:id="rId11" imgW="1346040" imgH="241200" progId="Equation.3">
              <p:embed/>
            </p:oleObj>
          </a:graphicData>
        </a:graphic>
      </p:graphicFrame>
      <p:sp>
        <p:nvSpPr>
          <p:cNvPr id="154653" name="Text Box 29"/>
          <p:cNvSpPr txBox="1">
            <a:spLocks noChangeArrowheads="1"/>
          </p:cNvSpPr>
          <p:nvPr/>
        </p:nvSpPr>
        <p:spPr bwMode="auto">
          <a:xfrm>
            <a:off x="827088" y="5924550"/>
            <a:ext cx="6911975" cy="457200"/>
          </a:xfrm>
          <a:prstGeom prst="rect">
            <a:avLst/>
          </a:prstGeom>
          <a:noFill/>
          <a:ln w="9525">
            <a:noFill/>
            <a:miter lim="800000"/>
            <a:headEnd/>
            <a:tailEnd/>
          </a:ln>
        </p:spPr>
        <p:txBody>
          <a:bodyPr>
            <a:spAutoFit/>
          </a:bodyPr>
          <a:lstStyle/>
          <a:p>
            <a:pPr>
              <a:spcBef>
                <a:spcPct val="50000"/>
              </a:spcBef>
            </a:pPr>
            <a:r>
              <a:rPr lang="en-US" altLang="zh-CN" b="1">
                <a:ea typeface="楷体_GB2312" pitchFamily="49" charset="-122"/>
              </a:rPr>
              <a:t>0℃</a:t>
            </a:r>
            <a:r>
              <a:rPr lang="zh-CN" altLang="en-US" b="1">
                <a:ea typeface="楷体_GB2312" pitchFamily="49" charset="-122"/>
              </a:rPr>
              <a:t>时： </a:t>
            </a:r>
            <a:r>
              <a:rPr lang="en-US" altLang="zh-CN" b="1" i="1">
                <a:solidFill>
                  <a:srgbClr val="0033CC"/>
                </a:solidFill>
                <a:ea typeface="楷体_GB2312" pitchFamily="49" charset="-122"/>
              </a:rPr>
              <a:t>u =</a:t>
            </a:r>
            <a:r>
              <a:rPr lang="en-US" altLang="zh-CN" b="1">
                <a:solidFill>
                  <a:srgbClr val="0033CC"/>
                </a:solidFill>
                <a:ea typeface="楷体_GB2312" pitchFamily="49" charset="-122"/>
              </a:rPr>
              <a:t>331 m·s</a:t>
            </a:r>
            <a:r>
              <a:rPr lang="en-US" altLang="zh-CN" b="1" baseline="30000">
                <a:solidFill>
                  <a:srgbClr val="0033CC"/>
                </a:solidFill>
                <a:ea typeface="楷体_GB2312" pitchFamily="49" charset="-122"/>
              </a:rPr>
              <a:t>-1</a:t>
            </a:r>
            <a:r>
              <a:rPr lang="zh-CN" altLang="en-US" b="1">
                <a:ea typeface="楷体_GB2312" pitchFamily="49" charset="-122"/>
              </a:rPr>
              <a:t>； </a:t>
            </a:r>
            <a:r>
              <a:rPr lang="en-US" altLang="zh-CN" b="1">
                <a:ea typeface="楷体_GB2312" pitchFamily="49" charset="-122"/>
              </a:rPr>
              <a:t>20℃</a:t>
            </a:r>
            <a:r>
              <a:rPr lang="zh-CN" altLang="en-US" b="1">
                <a:ea typeface="楷体_GB2312" pitchFamily="49" charset="-122"/>
              </a:rPr>
              <a:t>时：</a:t>
            </a:r>
            <a:r>
              <a:rPr lang="en-US" altLang="zh-CN" b="1" i="1">
                <a:solidFill>
                  <a:srgbClr val="0033CC"/>
                </a:solidFill>
                <a:ea typeface="楷体_GB2312" pitchFamily="49" charset="-122"/>
              </a:rPr>
              <a:t>u = </a:t>
            </a:r>
            <a:r>
              <a:rPr lang="en-US" altLang="zh-CN" b="1">
                <a:solidFill>
                  <a:srgbClr val="0033CC"/>
                </a:solidFill>
                <a:ea typeface="楷体_GB2312" pitchFamily="49" charset="-122"/>
              </a:rPr>
              <a:t>343 m·s</a:t>
            </a:r>
            <a:r>
              <a:rPr lang="en-US" altLang="zh-CN" b="1" baseline="30000">
                <a:solidFill>
                  <a:srgbClr val="0033CC"/>
                </a:solidFill>
                <a:ea typeface="楷体_GB2312" pitchFamily="49" charset="-122"/>
              </a:rPr>
              <a:t>-1</a:t>
            </a:r>
          </a:p>
        </p:txBody>
      </p:sp>
      <p:sp>
        <p:nvSpPr>
          <p:cNvPr id="154654" name="Text Box 30"/>
          <p:cNvSpPr txBox="1">
            <a:spLocks noChangeArrowheads="1"/>
          </p:cNvSpPr>
          <p:nvPr/>
        </p:nvSpPr>
        <p:spPr bwMode="auto">
          <a:xfrm>
            <a:off x="4859338" y="5275263"/>
            <a:ext cx="2447925" cy="457200"/>
          </a:xfrm>
          <a:prstGeom prst="rect">
            <a:avLst/>
          </a:prstGeom>
          <a:noFill/>
          <a:ln w="9525">
            <a:noFill/>
            <a:miter lim="800000"/>
            <a:headEnd/>
            <a:tailEnd/>
          </a:ln>
        </p:spPr>
        <p:txBody>
          <a:bodyPr>
            <a:spAutoFit/>
          </a:bodyPr>
          <a:lstStyle/>
          <a:p>
            <a:pPr>
              <a:spcBef>
                <a:spcPct val="50000"/>
              </a:spcBef>
            </a:pPr>
            <a:r>
              <a:rPr lang="zh-CN" altLang="en-US" b="1"/>
              <a:t>可计算得：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4643"/>
                                        </p:tgtEl>
                                        <p:attrNameLst>
                                          <p:attrName>style.visibility</p:attrName>
                                        </p:attrNameLst>
                                      </p:cBhvr>
                                      <p:to>
                                        <p:strVal val="visible"/>
                                      </p:to>
                                    </p:set>
                                    <p:animEffect transition="in" filter="wipe(left)">
                                      <p:cBhvr>
                                        <p:cTn id="7" dur="500"/>
                                        <p:tgtEl>
                                          <p:spTgt spid="15464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15464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54645"/>
                                        </p:tgtEl>
                                        <p:attrNameLst>
                                          <p:attrName>style.visibility</p:attrName>
                                        </p:attrNameLst>
                                      </p:cBhvr>
                                      <p:to>
                                        <p:strVal val="visible"/>
                                      </p:to>
                                    </p:set>
                                    <p:animEffect transition="in" filter="wipe(left)">
                                      <p:cBhvr>
                                        <p:cTn id="16" dur="500"/>
                                        <p:tgtEl>
                                          <p:spTgt spid="15464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54647"/>
                                        </p:tgtEl>
                                        <p:attrNameLst>
                                          <p:attrName>style.visibility</p:attrName>
                                        </p:attrNameLst>
                                      </p:cBhvr>
                                      <p:to>
                                        <p:strVal val="visible"/>
                                      </p:to>
                                    </p:set>
                                    <p:animEffect transition="in" filter="wipe(left)">
                                      <p:cBhvr>
                                        <p:cTn id="21" dur="1000"/>
                                        <p:tgtEl>
                                          <p:spTgt spid="154647"/>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154646"/>
                                        </p:tgtEl>
                                        <p:attrNameLst>
                                          <p:attrName>style.visibility</p:attrName>
                                        </p:attrNameLst>
                                      </p:cBhvr>
                                      <p:to>
                                        <p:strVal val="visible"/>
                                      </p:to>
                                    </p:set>
                                    <p:animEffect transition="in" filter="wipe(left)">
                                      <p:cBhvr>
                                        <p:cTn id="25" dur="1000"/>
                                        <p:tgtEl>
                                          <p:spTgt spid="15464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54649"/>
                                        </p:tgtEl>
                                        <p:attrNameLst>
                                          <p:attrName>style.visibility</p:attrName>
                                        </p:attrNameLst>
                                      </p:cBhvr>
                                      <p:to>
                                        <p:strVal val="visible"/>
                                      </p:to>
                                    </p:set>
                                    <p:animEffect transition="in" filter="wipe(left)">
                                      <p:cBhvr>
                                        <p:cTn id="30" dur="1000"/>
                                        <p:tgtEl>
                                          <p:spTgt spid="154649"/>
                                        </p:tgtEl>
                                      </p:cBhvr>
                                    </p:animEffect>
                                  </p:childTnLst>
                                </p:cTn>
                              </p:par>
                            </p:childTnLst>
                          </p:cTn>
                        </p:par>
                        <p:par>
                          <p:cTn id="31" fill="hold">
                            <p:stCondLst>
                              <p:cond delay="1000"/>
                            </p:stCondLst>
                            <p:childTnLst>
                              <p:par>
                                <p:cTn id="32" presetID="22" presetClass="entr" presetSubtype="8" fill="hold" grpId="0" nodeType="afterEffect">
                                  <p:stCondLst>
                                    <p:cond delay="0"/>
                                  </p:stCondLst>
                                  <p:childTnLst>
                                    <p:set>
                                      <p:cBhvr>
                                        <p:cTn id="33" dur="1" fill="hold">
                                          <p:stCondLst>
                                            <p:cond delay="0"/>
                                          </p:stCondLst>
                                        </p:cTn>
                                        <p:tgtEl>
                                          <p:spTgt spid="154648"/>
                                        </p:tgtEl>
                                        <p:attrNameLst>
                                          <p:attrName>style.visibility</p:attrName>
                                        </p:attrNameLst>
                                      </p:cBhvr>
                                      <p:to>
                                        <p:strVal val="visible"/>
                                      </p:to>
                                    </p:set>
                                    <p:animEffect transition="in" filter="wipe(left)">
                                      <p:cBhvr>
                                        <p:cTn id="34" dur="1000"/>
                                        <p:tgtEl>
                                          <p:spTgt spid="15464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54633"/>
                                        </p:tgtEl>
                                        <p:attrNameLst>
                                          <p:attrName>style.visibility</p:attrName>
                                        </p:attrNameLst>
                                      </p:cBhvr>
                                      <p:to>
                                        <p:strVal val="visible"/>
                                      </p:to>
                                    </p:set>
                                    <p:animEffect transition="in" filter="wipe(left)">
                                      <p:cBhvr>
                                        <p:cTn id="39" dur="500"/>
                                        <p:tgtEl>
                                          <p:spTgt spid="15463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54634"/>
                                        </p:tgtEl>
                                        <p:attrNameLst>
                                          <p:attrName>style.visibility</p:attrName>
                                        </p:attrNameLst>
                                      </p:cBhvr>
                                      <p:to>
                                        <p:strVal val="visible"/>
                                      </p:to>
                                    </p:set>
                                    <p:animEffect transition="in" filter="wipe(left)">
                                      <p:cBhvr>
                                        <p:cTn id="44" dur="500"/>
                                        <p:tgtEl>
                                          <p:spTgt spid="15463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54635"/>
                                        </p:tgtEl>
                                        <p:attrNameLst>
                                          <p:attrName>style.visibility</p:attrName>
                                        </p:attrNameLst>
                                      </p:cBhvr>
                                      <p:to>
                                        <p:strVal val="visible"/>
                                      </p:to>
                                    </p:set>
                                    <p:animEffect transition="in" filter="wipe(left)">
                                      <p:cBhvr>
                                        <p:cTn id="49" dur="1000"/>
                                        <p:tgtEl>
                                          <p:spTgt spid="15463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54637"/>
                                        </p:tgtEl>
                                        <p:attrNameLst>
                                          <p:attrName>style.visibility</p:attrName>
                                        </p:attrNameLst>
                                      </p:cBhvr>
                                      <p:to>
                                        <p:strVal val="visible"/>
                                      </p:to>
                                    </p:set>
                                    <p:animEffect transition="in" filter="wipe(left)">
                                      <p:cBhvr>
                                        <p:cTn id="54" dur="1000"/>
                                        <p:tgtEl>
                                          <p:spTgt spid="154637"/>
                                        </p:tgtEl>
                                      </p:cBhvr>
                                    </p:animEffect>
                                  </p:childTnLst>
                                </p:cTn>
                              </p:par>
                            </p:childTnLst>
                          </p:cTn>
                        </p:par>
                        <p:par>
                          <p:cTn id="55" fill="hold">
                            <p:stCondLst>
                              <p:cond delay="1000"/>
                            </p:stCondLst>
                            <p:childTnLst>
                              <p:par>
                                <p:cTn id="56" presetID="22" presetClass="entr" presetSubtype="8" fill="hold" grpId="0" nodeType="afterEffect">
                                  <p:stCondLst>
                                    <p:cond delay="0"/>
                                  </p:stCondLst>
                                  <p:childTnLst>
                                    <p:set>
                                      <p:cBhvr>
                                        <p:cTn id="57" dur="1" fill="hold">
                                          <p:stCondLst>
                                            <p:cond delay="0"/>
                                          </p:stCondLst>
                                        </p:cTn>
                                        <p:tgtEl>
                                          <p:spTgt spid="154636"/>
                                        </p:tgtEl>
                                        <p:attrNameLst>
                                          <p:attrName>style.visibility</p:attrName>
                                        </p:attrNameLst>
                                      </p:cBhvr>
                                      <p:to>
                                        <p:strVal val="visible"/>
                                      </p:to>
                                    </p:set>
                                    <p:animEffect transition="in" filter="wipe(left)">
                                      <p:cBhvr>
                                        <p:cTn id="58" dur="1000"/>
                                        <p:tgtEl>
                                          <p:spTgt spid="15463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154638"/>
                                        </p:tgtEl>
                                        <p:attrNameLst>
                                          <p:attrName>style.visibility</p:attrName>
                                        </p:attrNameLst>
                                      </p:cBhvr>
                                      <p:to>
                                        <p:strVal val="visible"/>
                                      </p:to>
                                    </p:set>
                                    <p:animEffect transition="in" filter="wipe(left)">
                                      <p:cBhvr>
                                        <p:cTn id="63" dur="1000"/>
                                        <p:tgtEl>
                                          <p:spTgt spid="154638"/>
                                        </p:tgtEl>
                                      </p:cBhvr>
                                    </p:animEffect>
                                  </p:childTnLst>
                                </p:cTn>
                              </p:par>
                            </p:childTnLst>
                          </p:cTn>
                        </p:par>
                        <p:par>
                          <p:cTn id="64" fill="hold">
                            <p:stCondLst>
                              <p:cond delay="1000"/>
                            </p:stCondLst>
                            <p:childTnLst>
                              <p:par>
                                <p:cTn id="65" presetID="22" presetClass="entr" presetSubtype="8" fill="hold" grpId="0" nodeType="afterEffect">
                                  <p:stCondLst>
                                    <p:cond delay="0"/>
                                  </p:stCondLst>
                                  <p:childTnLst>
                                    <p:set>
                                      <p:cBhvr>
                                        <p:cTn id="66" dur="1" fill="hold">
                                          <p:stCondLst>
                                            <p:cond delay="0"/>
                                          </p:stCondLst>
                                        </p:cTn>
                                        <p:tgtEl>
                                          <p:spTgt spid="154639"/>
                                        </p:tgtEl>
                                        <p:attrNameLst>
                                          <p:attrName>style.visibility</p:attrName>
                                        </p:attrNameLst>
                                      </p:cBhvr>
                                      <p:to>
                                        <p:strVal val="visible"/>
                                      </p:to>
                                    </p:set>
                                    <p:animEffect transition="in" filter="wipe(left)">
                                      <p:cBhvr>
                                        <p:cTn id="67" dur="1000"/>
                                        <p:tgtEl>
                                          <p:spTgt spid="15463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54640"/>
                                        </p:tgtEl>
                                        <p:attrNameLst>
                                          <p:attrName>style.visibility</p:attrName>
                                        </p:attrNameLst>
                                      </p:cBhvr>
                                      <p:to>
                                        <p:strVal val="visible"/>
                                      </p:to>
                                    </p:set>
                                    <p:animEffect transition="in" filter="wipe(left)">
                                      <p:cBhvr>
                                        <p:cTn id="72" dur="1000"/>
                                        <p:tgtEl>
                                          <p:spTgt spid="154640"/>
                                        </p:tgtEl>
                                      </p:cBhvr>
                                    </p:animEffect>
                                  </p:childTnLst>
                                </p:cTn>
                              </p:par>
                            </p:childTnLst>
                          </p:cTn>
                        </p:par>
                        <p:par>
                          <p:cTn id="73" fill="hold">
                            <p:stCondLst>
                              <p:cond delay="1000"/>
                            </p:stCondLst>
                            <p:childTnLst>
                              <p:par>
                                <p:cTn id="74" presetID="22" presetClass="entr" presetSubtype="8" fill="hold" grpId="0" nodeType="afterEffect">
                                  <p:stCondLst>
                                    <p:cond delay="0"/>
                                  </p:stCondLst>
                                  <p:childTnLst>
                                    <p:set>
                                      <p:cBhvr>
                                        <p:cTn id="75" dur="1" fill="hold">
                                          <p:stCondLst>
                                            <p:cond delay="0"/>
                                          </p:stCondLst>
                                        </p:cTn>
                                        <p:tgtEl>
                                          <p:spTgt spid="154641"/>
                                        </p:tgtEl>
                                        <p:attrNameLst>
                                          <p:attrName>style.visibility</p:attrName>
                                        </p:attrNameLst>
                                      </p:cBhvr>
                                      <p:to>
                                        <p:strVal val="visible"/>
                                      </p:to>
                                    </p:set>
                                    <p:animEffect transition="in" filter="wipe(left)">
                                      <p:cBhvr>
                                        <p:cTn id="76" dur="1000"/>
                                        <p:tgtEl>
                                          <p:spTgt spid="154641"/>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54650"/>
                                        </p:tgtEl>
                                        <p:attrNameLst>
                                          <p:attrName>style.visibility</p:attrName>
                                        </p:attrNameLst>
                                      </p:cBhvr>
                                      <p:to>
                                        <p:strVal val="visible"/>
                                      </p:to>
                                    </p:set>
                                    <p:animEffect transition="in" filter="wipe(left)">
                                      <p:cBhvr>
                                        <p:cTn id="81" dur="500"/>
                                        <p:tgtEl>
                                          <p:spTgt spid="154650"/>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154651"/>
                                        </p:tgtEl>
                                        <p:attrNameLst>
                                          <p:attrName>style.visibility</p:attrName>
                                        </p:attrNameLst>
                                      </p:cBhvr>
                                      <p:to>
                                        <p:strVal val="visible"/>
                                      </p:to>
                                    </p:set>
                                    <p:animEffect transition="in" filter="wipe(left)">
                                      <p:cBhvr>
                                        <p:cTn id="86" dur="500"/>
                                        <p:tgtEl>
                                          <p:spTgt spid="154651"/>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154652"/>
                                        </p:tgtEl>
                                        <p:attrNameLst>
                                          <p:attrName>style.visibility</p:attrName>
                                        </p:attrNameLst>
                                      </p:cBhvr>
                                      <p:to>
                                        <p:strVal val="visible"/>
                                      </p:to>
                                    </p:set>
                                    <p:animEffect transition="in" filter="wipe(left)">
                                      <p:cBhvr>
                                        <p:cTn id="91" dur="500"/>
                                        <p:tgtEl>
                                          <p:spTgt spid="154652"/>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154654"/>
                                        </p:tgtEl>
                                        <p:attrNameLst>
                                          <p:attrName>style.visibility</p:attrName>
                                        </p:attrNameLst>
                                      </p:cBhvr>
                                      <p:to>
                                        <p:strVal val="visible"/>
                                      </p:to>
                                    </p:set>
                                    <p:animEffect transition="in" filter="wipe(left)">
                                      <p:cBhvr>
                                        <p:cTn id="96" dur="500"/>
                                        <p:tgtEl>
                                          <p:spTgt spid="154654"/>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154653"/>
                                        </p:tgtEl>
                                        <p:attrNameLst>
                                          <p:attrName>style.visibility</p:attrName>
                                        </p:attrNameLst>
                                      </p:cBhvr>
                                      <p:to>
                                        <p:strVal val="visible"/>
                                      </p:to>
                                    </p:set>
                                    <p:animEffect transition="in" filter="wipe(left)">
                                      <p:cBhvr>
                                        <p:cTn id="101" dur="500"/>
                                        <p:tgtEl>
                                          <p:spTgt spid="154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33" grpId="0" autoUpdateAnimBg="0"/>
      <p:bldP spid="154635" grpId="0" animBg="1"/>
      <p:bldP spid="154636" grpId="0"/>
      <p:bldP spid="154639" grpId="0"/>
      <p:bldP spid="154641" grpId="0"/>
      <p:bldP spid="154643" grpId="0" autoUpdateAnimBg="0"/>
      <p:bldP spid="154645" grpId="0" animBg="1"/>
      <p:bldP spid="154646" grpId="0"/>
      <p:bldP spid="154648" grpId="0"/>
      <p:bldP spid="154650" grpId="0"/>
      <p:bldP spid="154653" grpId="0"/>
      <p:bldP spid="15465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1042988" y="981075"/>
            <a:ext cx="4781550" cy="457200"/>
          </a:xfrm>
          <a:prstGeom prst="rect">
            <a:avLst/>
          </a:prstGeom>
          <a:noFill/>
          <a:ln w="9525">
            <a:noFill/>
            <a:miter lim="800000"/>
            <a:headEnd/>
            <a:tailEnd/>
          </a:ln>
        </p:spPr>
        <p:txBody>
          <a:bodyPr>
            <a:spAutoFit/>
          </a:bodyPr>
          <a:lstStyle/>
          <a:p>
            <a:pPr eaLnBrk="0" hangingPunct="0">
              <a:spcBef>
                <a:spcPct val="50000"/>
              </a:spcBef>
            </a:pPr>
            <a:r>
              <a:rPr lang="zh-CN" altLang="en-US" b="1"/>
              <a:t>沿波的传播方向作的有方向的线。</a:t>
            </a:r>
          </a:p>
        </p:txBody>
      </p:sp>
      <p:sp>
        <p:nvSpPr>
          <p:cNvPr id="69635" name="Text Box 3"/>
          <p:cNvSpPr txBox="1">
            <a:spLocks noChangeArrowheads="1"/>
          </p:cNvSpPr>
          <p:nvPr/>
        </p:nvSpPr>
        <p:spPr bwMode="auto">
          <a:xfrm>
            <a:off x="5651500" y="5549900"/>
            <a:ext cx="1447800" cy="457200"/>
          </a:xfrm>
          <a:prstGeom prst="rect">
            <a:avLst/>
          </a:prstGeom>
          <a:noFill/>
          <a:ln w="9525">
            <a:noFill/>
            <a:miter lim="800000"/>
            <a:headEnd/>
            <a:tailEnd/>
          </a:ln>
        </p:spPr>
        <p:txBody>
          <a:bodyPr>
            <a:spAutoFit/>
          </a:bodyPr>
          <a:lstStyle/>
          <a:p>
            <a:pPr eaLnBrk="0" hangingPunct="0">
              <a:spcBef>
                <a:spcPct val="50000"/>
              </a:spcBef>
            </a:pPr>
            <a:r>
              <a:rPr lang="zh-CN" altLang="en-US" b="1">
                <a:solidFill>
                  <a:srgbClr val="9900CC"/>
                </a:solidFill>
                <a:latin typeface="Bookman Old Style" pitchFamily="18" charset="0"/>
                <a:ea typeface="楷体_GB2312" pitchFamily="49" charset="-122"/>
              </a:rPr>
              <a:t>柱面波</a:t>
            </a:r>
          </a:p>
        </p:txBody>
      </p:sp>
      <p:sp>
        <p:nvSpPr>
          <p:cNvPr id="69636" name="Text Box 4"/>
          <p:cNvSpPr txBox="1">
            <a:spLocks noChangeArrowheads="1"/>
          </p:cNvSpPr>
          <p:nvPr/>
        </p:nvSpPr>
        <p:spPr bwMode="auto">
          <a:xfrm>
            <a:off x="1606550" y="6118225"/>
            <a:ext cx="5486400" cy="457200"/>
          </a:xfrm>
          <a:prstGeom prst="rect">
            <a:avLst/>
          </a:prstGeom>
          <a:noFill/>
          <a:ln w="9525">
            <a:noFill/>
            <a:miter lim="800000"/>
            <a:headEnd/>
            <a:tailEnd/>
          </a:ln>
        </p:spPr>
        <p:txBody>
          <a:bodyPr>
            <a:spAutoFit/>
          </a:bodyPr>
          <a:lstStyle/>
          <a:p>
            <a:pPr eaLnBrk="0" hangingPunct="0">
              <a:spcBef>
                <a:spcPct val="50000"/>
              </a:spcBef>
            </a:pPr>
            <a:r>
              <a:rPr lang="zh-CN" altLang="en-US" b="1">
                <a:ea typeface="楷体_GB2312" pitchFamily="49" charset="-122"/>
              </a:rPr>
              <a:t>在各向同性均匀介质中，波线</a:t>
            </a:r>
            <a:r>
              <a:rPr lang="zh-CN" altLang="en-US" b="1">
                <a:solidFill>
                  <a:srgbClr val="FF3300"/>
                </a:solidFill>
                <a:ea typeface="楷体_GB2312" pitchFamily="49" charset="-122"/>
              </a:rPr>
              <a:t>⊥</a:t>
            </a:r>
            <a:r>
              <a:rPr lang="zh-CN" altLang="en-US" b="1">
                <a:ea typeface="楷体_GB2312" pitchFamily="49" charset="-122"/>
              </a:rPr>
              <a:t>波面。</a:t>
            </a:r>
          </a:p>
        </p:txBody>
      </p:sp>
      <p:sp>
        <p:nvSpPr>
          <p:cNvPr id="69637" name="Rectangle 5"/>
          <p:cNvSpPr>
            <a:spLocks noChangeArrowheads="1"/>
          </p:cNvSpPr>
          <p:nvPr/>
        </p:nvSpPr>
        <p:spPr bwMode="auto">
          <a:xfrm>
            <a:off x="107950" y="984250"/>
            <a:ext cx="944563" cy="457200"/>
          </a:xfrm>
          <a:prstGeom prst="rect">
            <a:avLst/>
          </a:prstGeom>
          <a:noFill/>
          <a:ln w="9525">
            <a:noFill/>
            <a:miter lim="800000"/>
            <a:headEnd/>
            <a:tailEnd/>
          </a:ln>
        </p:spPr>
        <p:txBody>
          <a:bodyPr>
            <a:spAutoFit/>
          </a:bodyPr>
          <a:lstStyle/>
          <a:p>
            <a:r>
              <a:rPr lang="zh-CN" altLang="en-US" b="1">
                <a:solidFill>
                  <a:srgbClr val="FF0000"/>
                </a:solidFill>
                <a:latin typeface="仿宋_GB2312" pitchFamily="49" charset="-122"/>
              </a:rPr>
              <a:t>波线</a:t>
            </a:r>
            <a:r>
              <a:rPr lang="en-US" altLang="zh-CN" b="1">
                <a:solidFill>
                  <a:srgbClr val="FF0000"/>
                </a:solidFill>
                <a:latin typeface="仿宋_GB2312" pitchFamily="49" charset="-122"/>
              </a:rPr>
              <a:t>:</a:t>
            </a:r>
          </a:p>
        </p:txBody>
      </p:sp>
      <p:sp>
        <p:nvSpPr>
          <p:cNvPr id="69638" name="Rectangle 6"/>
          <p:cNvSpPr>
            <a:spLocks noChangeArrowheads="1"/>
          </p:cNvSpPr>
          <p:nvPr/>
        </p:nvSpPr>
        <p:spPr bwMode="auto">
          <a:xfrm>
            <a:off x="107950" y="2684463"/>
            <a:ext cx="1477963" cy="457200"/>
          </a:xfrm>
          <a:prstGeom prst="rect">
            <a:avLst/>
          </a:prstGeom>
          <a:noFill/>
          <a:ln w="9525">
            <a:noFill/>
            <a:miter lim="800000"/>
            <a:headEnd/>
            <a:tailEnd/>
          </a:ln>
        </p:spPr>
        <p:txBody>
          <a:bodyPr>
            <a:spAutoFit/>
          </a:bodyPr>
          <a:lstStyle/>
          <a:p>
            <a:r>
              <a:rPr lang="zh-CN" altLang="en-US" b="1">
                <a:solidFill>
                  <a:srgbClr val="FF0000"/>
                </a:solidFill>
                <a:latin typeface="仿宋_GB2312" pitchFamily="49" charset="-122"/>
              </a:rPr>
              <a:t>波前</a:t>
            </a:r>
            <a:r>
              <a:rPr lang="en-US" altLang="zh-CN" b="1">
                <a:solidFill>
                  <a:srgbClr val="FF0000"/>
                </a:solidFill>
                <a:latin typeface="仿宋_GB2312" pitchFamily="49" charset="-122"/>
              </a:rPr>
              <a:t>:</a:t>
            </a:r>
          </a:p>
        </p:txBody>
      </p:sp>
      <p:sp>
        <p:nvSpPr>
          <p:cNvPr id="69639" name="Text Box 7"/>
          <p:cNvSpPr txBox="1">
            <a:spLocks noChangeArrowheads="1"/>
          </p:cNvSpPr>
          <p:nvPr/>
        </p:nvSpPr>
        <p:spPr bwMode="auto">
          <a:xfrm>
            <a:off x="1042988" y="2708275"/>
            <a:ext cx="5759450" cy="457200"/>
          </a:xfrm>
          <a:prstGeom prst="rect">
            <a:avLst/>
          </a:prstGeom>
          <a:noFill/>
          <a:ln w="9525">
            <a:noFill/>
            <a:miter lim="800000"/>
            <a:headEnd/>
            <a:tailEnd/>
          </a:ln>
        </p:spPr>
        <p:txBody>
          <a:bodyPr>
            <a:spAutoFit/>
          </a:bodyPr>
          <a:lstStyle/>
          <a:p>
            <a:pPr eaLnBrk="0" hangingPunct="0">
              <a:spcBef>
                <a:spcPct val="50000"/>
              </a:spcBef>
            </a:pPr>
            <a:r>
              <a:rPr lang="zh-CN" altLang="en-US" b="1"/>
              <a:t>在某一时刻，波传播到的最前面的波面。</a:t>
            </a:r>
          </a:p>
        </p:txBody>
      </p:sp>
      <p:sp>
        <p:nvSpPr>
          <p:cNvPr id="69640" name="Text Box 8"/>
          <p:cNvSpPr txBox="1">
            <a:spLocks noChangeArrowheads="1"/>
          </p:cNvSpPr>
          <p:nvPr/>
        </p:nvSpPr>
        <p:spPr bwMode="auto">
          <a:xfrm>
            <a:off x="611188" y="6021388"/>
            <a:ext cx="1160462" cy="549275"/>
          </a:xfrm>
          <a:prstGeom prst="rect">
            <a:avLst/>
          </a:prstGeom>
          <a:noFill/>
          <a:ln w="9525">
            <a:noFill/>
            <a:miter lim="800000"/>
            <a:headEnd/>
            <a:tailEnd/>
          </a:ln>
        </p:spPr>
        <p:txBody>
          <a:bodyPr>
            <a:spAutoFit/>
          </a:bodyPr>
          <a:lstStyle/>
          <a:p>
            <a:pPr algn="ctr">
              <a:lnSpc>
                <a:spcPct val="125000"/>
              </a:lnSpc>
            </a:pPr>
            <a:r>
              <a:rPr lang="zh-CN" altLang="en-US" b="1">
                <a:solidFill>
                  <a:srgbClr val="FF6600"/>
                </a:solidFill>
                <a:latin typeface="宋体" pitchFamily="2" charset="-122"/>
              </a:rPr>
              <a:t>注意：</a:t>
            </a:r>
          </a:p>
        </p:txBody>
      </p:sp>
      <p:sp>
        <p:nvSpPr>
          <p:cNvPr id="69641" name="Line 9"/>
          <p:cNvSpPr>
            <a:spLocks noChangeShapeType="1"/>
          </p:cNvSpPr>
          <p:nvPr/>
        </p:nvSpPr>
        <p:spPr bwMode="auto">
          <a:xfrm flipV="1">
            <a:off x="6167438" y="3276600"/>
            <a:ext cx="0" cy="1905000"/>
          </a:xfrm>
          <a:prstGeom prst="line">
            <a:avLst/>
          </a:prstGeom>
          <a:noFill/>
          <a:ln w="28575">
            <a:solidFill>
              <a:schemeClr val="accent2"/>
            </a:solidFill>
            <a:round/>
            <a:headEnd type="none" w="sm" len="lg"/>
            <a:tailEnd type="triangle" w="sm" len="lg"/>
          </a:ln>
        </p:spPr>
        <p:txBody>
          <a:bodyPr/>
          <a:lstStyle/>
          <a:p>
            <a:endParaRPr lang="zh-CN" altLang="en-US"/>
          </a:p>
        </p:txBody>
      </p:sp>
      <p:sp>
        <p:nvSpPr>
          <p:cNvPr id="69642" name="Line 10"/>
          <p:cNvSpPr>
            <a:spLocks noChangeShapeType="1"/>
          </p:cNvSpPr>
          <p:nvPr/>
        </p:nvSpPr>
        <p:spPr bwMode="auto">
          <a:xfrm>
            <a:off x="6156325" y="4437063"/>
            <a:ext cx="803275" cy="369887"/>
          </a:xfrm>
          <a:prstGeom prst="line">
            <a:avLst/>
          </a:prstGeom>
          <a:noFill/>
          <a:ln w="28575">
            <a:solidFill>
              <a:schemeClr val="accent2"/>
            </a:solidFill>
            <a:round/>
            <a:headEnd type="none" w="sm" len="lg"/>
            <a:tailEnd type="triangle" w="sm" len="lg"/>
          </a:ln>
        </p:spPr>
        <p:txBody>
          <a:bodyPr/>
          <a:lstStyle/>
          <a:p>
            <a:endParaRPr lang="zh-CN" altLang="en-US"/>
          </a:p>
        </p:txBody>
      </p:sp>
      <p:sp>
        <p:nvSpPr>
          <p:cNvPr id="69643" name="Text Box 11"/>
          <p:cNvSpPr txBox="1">
            <a:spLocks noChangeArrowheads="1"/>
          </p:cNvSpPr>
          <p:nvPr/>
        </p:nvSpPr>
        <p:spPr bwMode="auto">
          <a:xfrm>
            <a:off x="5024438" y="4530725"/>
            <a:ext cx="685800" cy="457200"/>
          </a:xfrm>
          <a:prstGeom prst="rect">
            <a:avLst/>
          </a:prstGeom>
          <a:noFill/>
          <a:ln w="28575">
            <a:noFill/>
            <a:miter lim="800000"/>
            <a:headEnd/>
            <a:tailEnd/>
          </a:ln>
        </p:spPr>
        <p:txBody>
          <a:bodyPr>
            <a:spAutoFit/>
          </a:bodyPr>
          <a:lstStyle/>
          <a:p>
            <a:pPr algn="ctr">
              <a:spcBef>
                <a:spcPct val="50000"/>
              </a:spcBef>
            </a:pPr>
            <a:r>
              <a:rPr lang="en-US" altLang="zh-CN" b="1" i="1"/>
              <a:t>x</a:t>
            </a:r>
          </a:p>
        </p:txBody>
      </p:sp>
      <p:sp>
        <p:nvSpPr>
          <p:cNvPr id="69644" name="Text Box 12"/>
          <p:cNvSpPr txBox="1">
            <a:spLocks noChangeArrowheads="1"/>
          </p:cNvSpPr>
          <p:nvPr/>
        </p:nvSpPr>
        <p:spPr bwMode="auto">
          <a:xfrm>
            <a:off x="6700838" y="4454525"/>
            <a:ext cx="685800" cy="457200"/>
          </a:xfrm>
          <a:prstGeom prst="rect">
            <a:avLst/>
          </a:prstGeom>
          <a:noFill/>
          <a:ln w="28575">
            <a:noFill/>
            <a:miter lim="800000"/>
            <a:headEnd/>
            <a:tailEnd/>
          </a:ln>
        </p:spPr>
        <p:txBody>
          <a:bodyPr>
            <a:spAutoFit/>
          </a:bodyPr>
          <a:lstStyle/>
          <a:p>
            <a:pPr algn="ctr">
              <a:spcBef>
                <a:spcPct val="50000"/>
              </a:spcBef>
            </a:pPr>
            <a:r>
              <a:rPr lang="en-US" altLang="zh-CN" b="1" i="1"/>
              <a:t>y</a:t>
            </a:r>
          </a:p>
        </p:txBody>
      </p:sp>
      <p:sp>
        <p:nvSpPr>
          <p:cNvPr id="69645" name="Text Box 13"/>
          <p:cNvSpPr txBox="1">
            <a:spLocks noChangeArrowheads="1"/>
          </p:cNvSpPr>
          <p:nvPr/>
        </p:nvSpPr>
        <p:spPr bwMode="auto">
          <a:xfrm>
            <a:off x="5938838" y="3049588"/>
            <a:ext cx="685800" cy="457200"/>
          </a:xfrm>
          <a:prstGeom prst="rect">
            <a:avLst/>
          </a:prstGeom>
          <a:noFill/>
          <a:ln w="28575">
            <a:noFill/>
            <a:miter lim="800000"/>
            <a:headEnd/>
            <a:tailEnd/>
          </a:ln>
        </p:spPr>
        <p:txBody>
          <a:bodyPr>
            <a:spAutoFit/>
          </a:bodyPr>
          <a:lstStyle/>
          <a:p>
            <a:pPr algn="ctr">
              <a:spcBef>
                <a:spcPct val="50000"/>
              </a:spcBef>
            </a:pPr>
            <a:r>
              <a:rPr lang="en-US" altLang="zh-CN" b="1" i="1"/>
              <a:t>z</a:t>
            </a:r>
          </a:p>
        </p:txBody>
      </p:sp>
      <p:grpSp>
        <p:nvGrpSpPr>
          <p:cNvPr id="2" name="Group 14"/>
          <p:cNvGrpSpPr>
            <a:grpSpLocks/>
          </p:cNvGrpSpPr>
          <p:nvPr/>
        </p:nvGrpSpPr>
        <p:grpSpPr bwMode="auto">
          <a:xfrm>
            <a:off x="5176838" y="3236913"/>
            <a:ext cx="2133600" cy="2517775"/>
            <a:chOff x="3072" y="1681"/>
            <a:chExt cx="1344" cy="1586"/>
          </a:xfrm>
        </p:grpSpPr>
        <p:sp>
          <p:nvSpPr>
            <p:cNvPr id="62593" name="Line 15"/>
            <p:cNvSpPr>
              <a:spLocks noChangeShapeType="1"/>
            </p:cNvSpPr>
            <p:nvPr/>
          </p:nvSpPr>
          <p:spPr bwMode="auto">
            <a:xfrm rot="1047542" flipH="1">
              <a:off x="3369" y="1681"/>
              <a:ext cx="735" cy="766"/>
            </a:xfrm>
            <a:prstGeom prst="line">
              <a:avLst/>
            </a:prstGeom>
            <a:noFill/>
            <a:ln w="19050">
              <a:solidFill>
                <a:schemeClr val="tx2"/>
              </a:solidFill>
              <a:round/>
              <a:headEnd type="triangle" w="sm" len="lg"/>
              <a:tailEnd type="triangle" w="sm" len="lg"/>
            </a:ln>
          </p:spPr>
          <p:txBody>
            <a:bodyPr/>
            <a:lstStyle/>
            <a:p>
              <a:endParaRPr lang="zh-CN" altLang="en-US"/>
            </a:p>
          </p:txBody>
        </p:sp>
        <p:sp>
          <p:nvSpPr>
            <p:cNvPr id="62594" name="Line 16"/>
            <p:cNvSpPr>
              <a:spLocks noChangeShapeType="1"/>
            </p:cNvSpPr>
            <p:nvPr/>
          </p:nvSpPr>
          <p:spPr bwMode="auto">
            <a:xfrm rot="15049811" flipH="1">
              <a:off x="3363" y="1724"/>
              <a:ext cx="703" cy="733"/>
            </a:xfrm>
            <a:prstGeom prst="line">
              <a:avLst/>
            </a:prstGeom>
            <a:noFill/>
            <a:ln w="19050">
              <a:solidFill>
                <a:schemeClr val="tx2"/>
              </a:solidFill>
              <a:round/>
              <a:headEnd type="triangle" w="sm" len="lg"/>
              <a:tailEnd type="triangle" w="sm" len="lg"/>
            </a:ln>
          </p:spPr>
          <p:txBody>
            <a:bodyPr/>
            <a:lstStyle/>
            <a:p>
              <a:endParaRPr lang="zh-CN" altLang="en-US"/>
            </a:p>
          </p:txBody>
        </p:sp>
        <p:sp>
          <p:nvSpPr>
            <p:cNvPr id="62595" name="Line 17"/>
            <p:cNvSpPr>
              <a:spLocks noChangeShapeType="1"/>
            </p:cNvSpPr>
            <p:nvPr/>
          </p:nvSpPr>
          <p:spPr bwMode="auto">
            <a:xfrm rot="1047542" flipH="1">
              <a:off x="3378" y="2529"/>
              <a:ext cx="700" cy="730"/>
            </a:xfrm>
            <a:prstGeom prst="line">
              <a:avLst/>
            </a:prstGeom>
            <a:noFill/>
            <a:ln w="19050">
              <a:solidFill>
                <a:schemeClr val="tx2"/>
              </a:solidFill>
              <a:round/>
              <a:headEnd type="triangle" w="sm" len="lg"/>
              <a:tailEnd type="triangle" w="sm" len="lg"/>
            </a:ln>
          </p:spPr>
          <p:txBody>
            <a:bodyPr/>
            <a:lstStyle/>
            <a:p>
              <a:endParaRPr lang="zh-CN" altLang="en-US"/>
            </a:p>
          </p:txBody>
        </p:sp>
        <p:sp>
          <p:nvSpPr>
            <p:cNvPr id="62596" name="Line 18"/>
            <p:cNvSpPr>
              <a:spLocks noChangeShapeType="1"/>
            </p:cNvSpPr>
            <p:nvPr/>
          </p:nvSpPr>
          <p:spPr bwMode="auto">
            <a:xfrm rot="15049811" flipH="1">
              <a:off x="3353" y="2549"/>
              <a:ext cx="703" cy="733"/>
            </a:xfrm>
            <a:prstGeom prst="line">
              <a:avLst/>
            </a:prstGeom>
            <a:noFill/>
            <a:ln w="19050">
              <a:solidFill>
                <a:schemeClr val="tx2"/>
              </a:solidFill>
              <a:round/>
              <a:headEnd type="triangle" w="sm" len="lg"/>
              <a:tailEnd type="triangle" w="sm" len="lg"/>
            </a:ln>
          </p:spPr>
          <p:txBody>
            <a:bodyPr/>
            <a:lstStyle/>
            <a:p>
              <a:endParaRPr lang="zh-CN" altLang="en-US"/>
            </a:p>
          </p:txBody>
        </p:sp>
        <p:sp>
          <p:nvSpPr>
            <p:cNvPr id="62597" name="Line 19"/>
            <p:cNvSpPr>
              <a:spLocks noChangeShapeType="1"/>
            </p:cNvSpPr>
            <p:nvPr/>
          </p:nvSpPr>
          <p:spPr bwMode="auto">
            <a:xfrm>
              <a:off x="3096" y="2916"/>
              <a:ext cx="1320" cy="0"/>
            </a:xfrm>
            <a:prstGeom prst="line">
              <a:avLst/>
            </a:prstGeom>
            <a:noFill/>
            <a:ln w="19050">
              <a:solidFill>
                <a:schemeClr val="tx2"/>
              </a:solidFill>
              <a:round/>
              <a:headEnd type="triangle" w="sm" len="lg"/>
              <a:tailEnd type="triangle" w="sm" len="lg"/>
            </a:ln>
          </p:spPr>
          <p:txBody>
            <a:bodyPr/>
            <a:lstStyle/>
            <a:p>
              <a:endParaRPr lang="zh-CN" altLang="en-US"/>
            </a:p>
          </p:txBody>
        </p:sp>
        <p:sp>
          <p:nvSpPr>
            <p:cNvPr id="62598" name="Line 20"/>
            <p:cNvSpPr>
              <a:spLocks noChangeShapeType="1"/>
            </p:cNvSpPr>
            <p:nvPr/>
          </p:nvSpPr>
          <p:spPr bwMode="auto">
            <a:xfrm>
              <a:off x="3072" y="2088"/>
              <a:ext cx="1296" cy="0"/>
            </a:xfrm>
            <a:prstGeom prst="line">
              <a:avLst/>
            </a:prstGeom>
            <a:noFill/>
            <a:ln w="19050">
              <a:solidFill>
                <a:schemeClr val="tx2"/>
              </a:solidFill>
              <a:round/>
              <a:headEnd type="triangle" w="sm" len="lg"/>
              <a:tailEnd type="triangle" w="sm" len="lg"/>
            </a:ln>
          </p:spPr>
          <p:txBody>
            <a:bodyPr/>
            <a:lstStyle/>
            <a:p>
              <a:endParaRPr lang="zh-CN" altLang="en-US"/>
            </a:p>
          </p:txBody>
        </p:sp>
      </p:grpSp>
      <p:grpSp>
        <p:nvGrpSpPr>
          <p:cNvPr id="3" name="Group 21"/>
          <p:cNvGrpSpPr>
            <a:grpSpLocks/>
          </p:cNvGrpSpPr>
          <p:nvPr/>
        </p:nvGrpSpPr>
        <p:grpSpPr bwMode="auto">
          <a:xfrm>
            <a:off x="5580063" y="3500438"/>
            <a:ext cx="1144587" cy="1960562"/>
            <a:chOff x="3353" y="1959"/>
            <a:chExt cx="721" cy="1235"/>
          </a:xfrm>
        </p:grpSpPr>
        <p:sp>
          <p:nvSpPr>
            <p:cNvPr id="62585" name="Oval 22"/>
            <p:cNvSpPr>
              <a:spLocks noChangeArrowheads="1"/>
            </p:cNvSpPr>
            <p:nvPr/>
          </p:nvSpPr>
          <p:spPr bwMode="auto">
            <a:xfrm>
              <a:off x="3353" y="2781"/>
              <a:ext cx="721" cy="413"/>
            </a:xfrm>
            <a:prstGeom prst="ellipse">
              <a:avLst/>
            </a:prstGeom>
            <a:noFill/>
            <a:ln w="28575" algn="ctr">
              <a:solidFill>
                <a:srgbClr val="FF3300"/>
              </a:solidFill>
              <a:round/>
              <a:headEnd type="none" w="sm" len="lg"/>
              <a:tailEnd type="none" w="sm" len="lg"/>
            </a:ln>
          </p:spPr>
          <p:txBody>
            <a:bodyPr wrap="none" anchor="ctr"/>
            <a:lstStyle/>
            <a:p>
              <a:endParaRPr lang="zh-CN" altLang="en-US"/>
            </a:p>
          </p:txBody>
        </p:sp>
        <p:sp>
          <p:nvSpPr>
            <p:cNvPr id="62586" name="Line 23"/>
            <p:cNvSpPr>
              <a:spLocks noChangeShapeType="1"/>
            </p:cNvSpPr>
            <p:nvPr/>
          </p:nvSpPr>
          <p:spPr bwMode="auto">
            <a:xfrm>
              <a:off x="3555" y="2154"/>
              <a:ext cx="0" cy="862"/>
            </a:xfrm>
            <a:prstGeom prst="line">
              <a:avLst/>
            </a:prstGeom>
            <a:noFill/>
            <a:ln w="28575">
              <a:solidFill>
                <a:srgbClr val="FF3300"/>
              </a:solidFill>
              <a:prstDash val="dash"/>
              <a:round/>
              <a:headEnd type="none" w="sm" len="lg"/>
              <a:tailEnd type="none" w="sm" len="lg"/>
            </a:ln>
          </p:spPr>
          <p:txBody>
            <a:bodyPr/>
            <a:lstStyle/>
            <a:p>
              <a:endParaRPr lang="zh-CN" altLang="en-US"/>
            </a:p>
          </p:txBody>
        </p:sp>
        <p:sp>
          <p:nvSpPr>
            <p:cNvPr id="62587" name="Oval 24"/>
            <p:cNvSpPr>
              <a:spLocks noChangeArrowheads="1"/>
            </p:cNvSpPr>
            <p:nvPr/>
          </p:nvSpPr>
          <p:spPr bwMode="auto">
            <a:xfrm>
              <a:off x="3557" y="2905"/>
              <a:ext cx="320" cy="181"/>
            </a:xfrm>
            <a:prstGeom prst="ellipse">
              <a:avLst/>
            </a:prstGeom>
            <a:noFill/>
            <a:ln w="28575" algn="ctr">
              <a:solidFill>
                <a:srgbClr val="FF3300"/>
              </a:solidFill>
              <a:prstDash val="dash"/>
              <a:round/>
              <a:headEnd type="none" w="sm" len="lg"/>
              <a:tailEnd type="none" w="sm" len="lg"/>
            </a:ln>
          </p:spPr>
          <p:txBody>
            <a:bodyPr wrap="none" anchor="ctr"/>
            <a:lstStyle/>
            <a:p>
              <a:endParaRPr lang="zh-CN" altLang="en-US"/>
            </a:p>
          </p:txBody>
        </p:sp>
        <p:sp>
          <p:nvSpPr>
            <p:cNvPr id="62588" name="Line 25"/>
            <p:cNvSpPr>
              <a:spLocks noChangeShapeType="1"/>
            </p:cNvSpPr>
            <p:nvPr/>
          </p:nvSpPr>
          <p:spPr bwMode="auto">
            <a:xfrm>
              <a:off x="4073" y="2202"/>
              <a:ext cx="0" cy="824"/>
            </a:xfrm>
            <a:prstGeom prst="line">
              <a:avLst/>
            </a:prstGeom>
            <a:noFill/>
            <a:ln w="28575">
              <a:solidFill>
                <a:srgbClr val="FF3300"/>
              </a:solidFill>
              <a:round/>
              <a:headEnd type="none" w="sm" len="lg"/>
              <a:tailEnd type="none" w="sm" len="lg"/>
            </a:ln>
          </p:spPr>
          <p:txBody>
            <a:bodyPr/>
            <a:lstStyle/>
            <a:p>
              <a:endParaRPr lang="zh-CN" altLang="en-US"/>
            </a:p>
          </p:txBody>
        </p:sp>
        <p:sp>
          <p:nvSpPr>
            <p:cNvPr id="62589" name="Line 26"/>
            <p:cNvSpPr>
              <a:spLocks noChangeShapeType="1"/>
            </p:cNvSpPr>
            <p:nvPr/>
          </p:nvSpPr>
          <p:spPr bwMode="auto">
            <a:xfrm>
              <a:off x="3879" y="2176"/>
              <a:ext cx="0" cy="848"/>
            </a:xfrm>
            <a:prstGeom prst="line">
              <a:avLst/>
            </a:prstGeom>
            <a:noFill/>
            <a:ln w="28575">
              <a:solidFill>
                <a:srgbClr val="FF3300"/>
              </a:solidFill>
              <a:prstDash val="dash"/>
              <a:round/>
              <a:headEnd type="none" w="sm" len="lg"/>
              <a:tailEnd type="none" w="sm" len="lg"/>
            </a:ln>
          </p:spPr>
          <p:txBody>
            <a:bodyPr/>
            <a:lstStyle/>
            <a:p>
              <a:endParaRPr lang="zh-CN" altLang="en-US"/>
            </a:p>
          </p:txBody>
        </p:sp>
        <p:sp>
          <p:nvSpPr>
            <p:cNvPr id="62590" name="Line 27"/>
            <p:cNvSpPr>
              <a:spLocks noChangeShapeType="1"/>
            </p:cNvSpPr>
            <p:nvPr/>
          </p:nvSpPr>
          <p:spPr bwMode="auto">
            <a:xfrm>
              <a:off x="3358" y="2174"/>
              <a:ext cx="0" cy="848"/>
            </a:xfrm>
            <a:prstGeom prst="line">
              <a:avLst/>
            </a:prstGeom>
            <a:noFill/>
            <a:ln w="28575">
              <a:solidFill>
                <a:srgbClr val="FF3300"/>
              </a:solidFill>
              <a:round/>
              <a:headEnd type="none" w="sm" len="lg"/>
              <a:tailEnd type="none" w="sm" len="lg"/>
            </a:ln>
          </p:spPr>
          <p:txBody>
            <a:bodyPr/>
            <a:lstStyle/>
            <a:p>
              <a:endParaRPr lang="zh-CN" altLang="en-US"/>
            </a:p>
          </p:txBody>
        </p:sp>
        <p:sp>
          <p:nvSpPr>
            <p:cNvPr id="62591" name="Oval 28"/>
            <p:cNvSpPr>
              <a:spLocks noChangeArrowheads="1"/>
            </p:cNvSpPr>
            <p:nvPr/>
          </p:nvSpPr>
          <p:spPr bwMode="auto">
            <a:xfrm>
              <a:off x="3353" y="1959"/>
              <a:ext cx="721" cy="407"/>
            </a:xfrm>
            <a:prstGeom prst="ellipse">
              <a:avLst/>
            </a:prstGeom>
            <a:noFill/>
            <a:ln w="28575" algn="ctr">
              <a:solidFill>
                <a:srgbClr val="FF3300"/>
              </a:solidFill>
              <a:round/>
              <a:headEnd type="none" w="sm" len="lg"/>
              <a:tailEnd type="none" w="sm" len="lg"/>
            </a:ln>
          </p:spPr>
          <p:txBody>
            <a:bodyPr wrap="none" anchor="ctr"/>
            <a:lstStyle/>
            <a:p>
              <a:endParaRPr lang="zh-CN" altLang="en-US"/>
            </a:p>
          </p:txBody>
        </p:sp>
        <p:sp>
          <p:nvSpPr>
            <p:cNvPr id="62592" name="Oval 29"/>
            <p:cNvSpPr>
              <a:spLocks noChangeArrowheads="1"/>
            </p:cNvSpPr>
            <p:nvPr/>
          </p:nvSpPr>
          <p:spPr bwMode="auto">
            <a:xfrm>
              <a:off x="3557" y="2083"/>
              <a:ext cx="320" cy="181"/>
            </a:xfrm>
            <a:prstGeom prst="ellipse">
              <a:avLst/>
            </a:prstGeom>
            <a:noFill/>
            <a:ln w="28575" algn="ctr">
              <a:solidFill>
                <a:srgbClr val="FF3300"/>
              </a:solidFill>
              <a:round/>
              <a:headEnd type="none" w="sm" len="lg"/>
              <a:tailEnd type="none" w="sm" len="lg"/>
            </a:ln>
          </p:spPr>
          <p:txBody>
            <a:bodyPr wrap="none" anchor="ctr"/>
            <a:lstStyle/>
            <a:p>
              <a:endParaRPr lang="zh-CN" altLang="en-US"/>
            </a:p>
          </p:txBody>
        </p:sp>
      </p:grpSp>
      <p:sp>
        <p:nvSpPr>
          <p:cNvPr id="69662" name="AutoShape 30"/>
          <p:cNvSpPr>
            <a:spLocks noChangeArrowheads="1"/>
          </p:cNvSpPr>
          <p:nvPr/>
        </p:nvSpPr>
        <p:spPr bwMode="auto">
          <a:xfrm>
            <a:off x="7451725" y="3787775"/>
            <a:ext cx="1038225" cy="649288"/>
          </a:xfrm>
          <a:prstGeom prst="wedgeEllipseCallout">
            <a:avLst>
              <a:gd name="adj1" fmla="val -114528"/>
              <a:gd name="adj2" fmla="val 48778"/>
            </a:avLst>
          </a:prstGeom>
          <a:solidFill>
            <a:schemeClr val="bg1"/>
          </a:solidFill>
          <a:ln w="15875">
            <a:solidFill>
              <a:srgbClr val="00FF00"/>
            </a:solidFill>
            <a:miter lim="800000"/>
            <a:headEnd/>
            <a:tailEnd/>
          </a:ln>
        </p:spPr>
        <p:txBody>
          <a:bodyPr/>
          <a:lstStyle/>
          <a:p>
            <a:pPr eaLnBrk="0" hangingPunct="0">
              <a:spcBef>
                <a:spcPct val="50000"/>
              </a:spcBef>
            </a:pPr>
            <a:r>
              <a:rPr lang="zh-CN" altLang="en-US" sz="2000" b="1">
                <a:solidFill>
                  <a:schemeClr val="accent2"/>
                </a:solidFill>
              </a:rPr>
              <a:t>波面</a:t>
            </a:r>
          </a:p>
          <a:p>
            <a:pPr algn="ctr"/>
            <a:endParaRPr lang="en-US" altLang="zh-CN" sz="2000">
              <a:solidFill>
                <a:schemeClr val="accent2"/>
              </a:solidFill>
            </a:endParaRPr>
          </a:p>
        </p:txBody>
      </p:sp>
      <p:sp>
        <p:nvSpPr>
          <p:cNvPr id="69663" name="AutoShape 31"/>
          <p:cNvSpPr>
            <a:spLocks noChangeArrowheads="1"/>
          </p:cNvSpPr>
          <p:nvPr/>
        </p:nvSpPr>
        <p:spPr bwMode="auto">
          <a:xfrm>
            <a:off x="7451725" y="5013325"/>
            <a:ext cx="936625" cy="503238"/>
          </a:xfrm>
          <a:prstGeom prst="wedgeRoundRectCallout">
            <a:avLst>
              <a:gd name="adj1" fmla="val -116273"/>
              <a:gd name="adj2" fmla="val 33282"/>
              <a:gd name="adj3" fmla="val 16667"/>
            </a:avLst>
          </a:prstGeom>
          <a:solidFill>
            <a:schemeClr val="bg1"/>
          </a:solidFill>
          <a:ln w="15875">
            <a:solidFill>
              <a:srgbClr val="00FF00"/>
            </a:solidFill>
            <a:miter lim="800000"/>
            <a:headEnd/>
            <a:tailEnd/>
          </a:ln>
        </p:spPr>
        <p:txBody>
          <a:bodyPr/>
          <a:lstStyle/>
          <a:p>
            <a:pPr algn="ctr"/>
            <a:r>
              <a:rPr lang="zh-CN" altLang="en-US" sz="2000" b="1">
                <a:solidFill>
                  <a:schemeClr val="accent2"/>
                </a:solidFill>
              </a:rPr>
              <a:t>波线</a:t>
            </a:r>
          </a:p>
        </p:txBody>
      </p:sp>
      <p:grpSp>
        <p:nvGrpSpPr>
          <p:cNvPr id="4" name="Group 32"/>
          <p:cNvGrpSpPr>
            <a:grpSpLocks/>
          </p:cNvGrpSpPr>
          <p:nvPr/>
        </p:nvGrpSpPr>
        <p:grpSpPr bwMode="auto">
          <a:xfrm>
            <a:off x="1604963" y="3359150"/>
            <a:ext cx="2257425" cy="2087563"/>
            <a:chOff x="1156" y="2659"/>
            <a:chExt cx="1270" cy="1315"/>
          </a:xfrm>
        </p:grpSpPr>
        <p:grpSp>
          <p:nvGrpSpPr>
            <p:cNvPr id="62564" name="Group 33"/>
            <p:cNvGrpSpPr>
              <a:grpSpLocks/>
            </p:cNvGrpSpPr>
            <p:nvPr/>
          </p:nvGrpSpPr>
          <p:grpSpPr bwMode="auto">
            <a:xfrm>
              <a:off x="1156" y="2659"/>
              <a:ext cx="454" cy="1315"/>
              <a:chOff x="3497" y="2659"/>
              <a:chExt cx="454" cy="1315"/>
            </a:xfrm>
          </p:grpSpPr>
          <p:pic>
            <p:nvPicPr>
              <p:cNvPr id="62579" name="Picture 34" descr="平行四边形"/>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514" y="2659"/>
                <a:ext cx="434" cy="1302"/>
              </a:xfrm>
              <a:prstGeom prst="rect">
                <a:avLst/>
              </a:prstGeom>
              <a:noFill/>
              <a:ln w="9525">
                <a:noFill/>
                <a:miter lim="800000"/>
                <a:headEnd/>
                <a:tailEnd/>
              </a:ln>
            </p:spPr>
          </p:pic>
          <p:grpSp>
            <p:nvGrpSpPr>
              <p:cNvPr id="62580" name="Group 35"/>
              <p:cNvGrpSpPr>
                <a:grpSpLocks/>
              </p:cNvGrpSpPr>
              <p:nvPr/>
            </p:nvGrpSpPr>
            <p:grpSpPr bwMode="auto">
              <a:xfrm>
                <a:off x="3497" y="2668"/>
                <a:ext cx="454" cy="1306"/>
                <a:chOff x="3497" y="2668"/>
                <a:chExt cx="454" cy="1306"/>
              </a:xfrm>
            </p:grpSpPr>
            <p:sp>
              <p:nvSpPr>
                <p:cNvPr id="62581" name="Line 36"/>
                <p:cNvSpPr>
                  <a:spLocks noChangeShapeType="1"/>
                </p:cNvSpPr>
                <p:nvPr/>
              </p:nvSpPr>
              <p:spPr bwMode="auto">
                <a:xfrm flipH="1">
                  <a:off x="3497" y="3566"/>
                  <a:ext cx="454" cy="408"/>
                </a:xfrm>
                <a:prstGeom prst="line">
                  <a:avLst/>
                </a:prstGeom>
                <a:noFill/>
                <a:ln w="28575">
                  <a:solidFill>
                    <a:srgbClr val="9900CC"/>
                  </a:solidFill>
                  <a:round/>
                  <a:headEnd/>
                  <a:tailEnd/>
                </a:ln>
              </p:spPr>
              <p:txBody>
                <a:bodyPr/>
                <a:lstStyle/>
                <a:p>
                  <a:endParaRPr lang="zh-CN" altLang="en-US"/>
                </a:p>
              </p:txBody>
            </p:sp>
            <p:sp>
              <p:nvSpPr>
                <p:cNvPr id="62582" name="Line 37"/>
                <p:cNvSpPr>
                  <a:spLocks noChangeShapeType="1"/>
                </p:cNvSpPr>
                <p:nvPr/>
              </p:nvSpPr>
              <p:spPr bwMode="auto">
                <a:xfrm>
                  <a:off x="3515" y="3067"/>
                  <a:ext cx="0" cy="907"/>
                </a:xfrm>
                <a:prstGeom prst="line">
                  <a:avLst/>
                </a:prstGeom>
                <a:noFill/>
                <a:ln w="28575">
                  <a:solidFill>
                    <a:srgbClr val="9900CC"/>
                  </a:solidFill>
                  <a:round/>
                  <a:headEnd/>
                  <a:tailEnd/>
                </a:ln>
              </p:spPr>
              <p:txBody>
                <a:bodyPr/>
                <a:lstStyle/>
                <a:p>
                  <a:endParaRPr lang="zh-CN" altLang="en-US"/>
                </a:p>
              </p:txBody>
            </p:sp>
            <p:sp>
              <p:nvSpPr>
                <p:cNvPr id="62583" name="Line 38"/>
                <p:cNvSpPr>
                  <a:spLocks noChangeShapeType="1"/>
                </p:cNvSpPr>
                <p:nvPr/>
              </p:nvSpPr>
              <p:spPr bwMode="auto">
                <a:xfrm>
                  <a:off x="3941" y="2677"/>
                  <a:ext cx="0" cy="907"/>
                </a:xfrm>
                <a:prstGeom prst="line">
                  <a:avLst/>
                </a:prstGeom>
                <a:noFill/>
                <a:ln w="28575">
                  <a:solidFill>
                    <a:srgbClr val="9900CC"/>
                  </a:solidFill>
                  <a:round/>
                  <a:headEnd/>
                  <a:tailEnd/>
                </a:ln>
              </p:spPr>
              <p:txBody>
                <a:bodyPr/>
                <a:lstStyle/>
                <a:p>
                  <a:endParaRPr lang="zh-CN" altLang="en-US"/>
                </a:p>
              </p:txBody>
            </p:sp>
            <p:sp>
              <p:nvSpPr>
                <p:cNvPr id="62584" name="Line 39"/>
                <p:cNvSpPr>
                  <a:spLocks noChangeShapeType="1"/>
                </p:cNvSpPr>
                <p:nvPr/>
              </p:nvSpPr>
              <p:spPr bwMode="auto">
                <a:xfrm flipH="1">
                  <a:off x="3497" y="2668"/>
                  <a:ext cx="454" cy="408"/>
                </a:xfrm>
                <a:prstGeom prst="line">
                  <a:avLst/>
                </a:prstGeom>
                <a:noFill/>
                <a:ln w="28575">
                  <a:solidFill>
                    <a:srgbClr val="9900CC"/>
                  </a:solidFill>
                  <a:round/>
                  <a:headEnd/>
                  <a:tailEnd/>
                </a:ln>
              </p:spPr>
              <p:txBody>
                <a:bodyPr/>
                <a:lstStyle/>
                <a:p>
                  <a:endParaRPr lang="zh-CN" altLang="en-US"/>
                </a:p>
              </p:txBody>
            </p:sp>
          </p:grpSp>
        </p:grpSp>
        <p:grpSp>
          <p:nvGrpSpPr>
            <p:cNvPr id="62565" name="Group 40"/>
            <p:cNvGrpSpPr>
              <a:grpSpLocks/>
            </p:cNvGrpSpPr>
            <p:nvPr/>
          </p:nvGrpSpPr>
          <p:grpSpPr bwMode="auto">
            <a:xfrm>
              <a:off x="1564" y="2659"/>
              <a:ext cx="454" cy="1315"/>
              <a:chOff x="3497" y="2659"/>
              <a:chExt cx="454" cy="1315"/>
            </a:xfrm>
          </p:grpSpPr>
          <p:pic>
            <p:nvPicPr>
              <p:cNvPr id="62573" name="Picture 41" descr="平行四边形"/>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514" y="2659"/>
                <a:ext cx="434" cy="1302"/>
              </a:xfrm>
              <a:prstGeom prst="rect">
                <a:avLst/>
              </a:prstGeom>
              <a:noFill/>
              <a:ln w="9525">
                <a:noFill/>
                <a:miter lim="800000"/>
                <a:headEnd/>
                <a:tailEnd/>
              </a:ln>
            </p:spPr>
          </p:pic>
          <p:grpSp>
            <p:nvGrpSpPr>
              <p:cNvPr id="62574" name="Group 42"/>
              <p:cNvGrpSpPr>
                <a:grpSpLocks/>
              </p:cNvGrpSpPr>
              <p:nvPr/>
            </p:nvGrpSpPr>
            <p:grpSpPr bwMode="auto">
              <a:xfrm>
                <a:off x="3497" y="2668"/>
                <a:ext cx="454" cy="1306"/>
                <a:chOff x="3497" y="2668"/>
                <a:chExt cx="454" cy="1306"/>
              </a:xfrm>
            </p:grpSpPr>
            <p:sp>
              <p:nvSpPr>
                <p:cNvPr id="62575" name="Line 43"/>
                <p:cNvSpPr>
                  <a:spLocks noChangeShapeType="1"/>
                </p:cNvSpPr>
                <p:nvPr/>
              </p:nvSpPr>
              <p:spPr bwMode="auto">
                <a:xfrm flipH="1">
                  <a:off x="3497" y="3566"/>
                  <a:ext cx="454" cy="408"/>
                </a:xfrm>
                <a:prstGeom prst="line">
                  <a:avLst/>
                </a:prstGeom>
                <a:noFill/>
                <a:ln w="28575">
                  <a:solidFill>
                    <a:srgbClr val="9900CC"/>
                  </a:solidFill>
                  <a:round/>
                  <a:headEnd/>
                  <a:tailEnd/>
                </a:ln>
              </p:spPr>
              <p:txBody>
                <a:bodyPr/>
                <a:lstStyle/>
                <a:p>
                  <a:endParaRPr lang="zh-CN" altLang="en-US"/>
                </a:p>
              </p:txBody>
            </p:sp>
            <p:sp>
              <p:nvSpPr>
                <p:cNvPr id="62576" name="Line 44"/>
                <p:cNvSpPr>
                  <a:spLocks noChangeShapeType="1"/>
                </p:cNvSpPr>
                <p:nvPr/>
              </p:nvSpPr>
              <p:spPr bwMode="auto">
                <a:xfrm>
                  <a:off x="3515" y="3067"/>
                  <a:ext cx="0" cy="907"/>
                </a:xfrm>
                <a:prstGeom prst="line">
                  <a:avLst/>
                </a:prstGeom>
                <a:noFill/>
                <a:ln w="28575">
                  <a:solidFill>
                    <a:srgbClr val="9900CC"/>
                  </a:solidFill>
                  <a:round/>
                  <a:headEnd/>
                  <a:tailEnd/>
                </a:ln>
              </p:spPr>
              <p:txBody>
                <a:bodyPr/>
                <a:lstStyle/>
                <a:p>
                  <a:endParaRPr lang="zh-CN" altLang="en-US"/>
                </a:p>
              </p:txBody>
            </p:sp>
            <p:sp>
              <p:nvSpPr>
                <p:cNvPr id="62577" name="Line 45"/>
                <p:cNvSpPr>
                  <a:spLocks noChangeShapeType="1"/>
                </p:cNvSpPr>
                <p:nvPr/>
              </p:nvSpPr>
              <p:spPr bwMode="auto">
                <a:xfrm>
                  <a:off x="3941" y="2677"/>
                  <a:ext cx="0" cy="907"/>
                </a:xfrm>
                <a:prstGeom prst="line">
                  <a:avLst/>
                </a:prstGeom>
                <a:noFill/>
                <a:ln w="28575">
                  <a:solidFill>
                    <a:srgbClr val="9900CC"/>
                  </a:solidFill>
                  <a:round/>
                  <a:headEnd/>
                  <a:tailEnd/>
                </a:ln>
              </p:spPr>
              <p:txBody>
                <a:bodyPr/>
                <a:lstStyle/>
                <a:p>
                  <a:endParaRPr lang="zh-CN" altLang="en-US"/>
                </a:p>
              </p:txBody>
            </p:sp>
            <p:sp>
              <p:nvSpPr>
                <p:cNvPr id="62578" name="Line 46"/>
                <p:cNvSpPr>
                  <a:spLocks noChangeShapeType="1"/>
                </p:cNvSpPr>
                <p:nvPr/>
              </p:nvSpPr>
              <p:spPr bwMode="auto">
                <a:xfrm flipH="1">
                  <a:off x="3497" y="2668"/>
                  <a:ext cx="454" cy="408"/>
                </a:xfrm>
                <a:prstGeom prst="line">
                  <a:avLst/>
                </a:prstGeom>
                <a:noFill/>
                <a:ln w="28575">
                  <a:solidFill>
                    <a:srgbClr val="9900CC"/>
                  </a:solidFill>
                  <a:round/>
                  <a:headEnd/>
                  <a:tailEnd/>
                </a:ln>
              </p:spPr>
              <p:txBody>
                <a:bodyPr/>
                <a:lstStyle/>
                <a:p>
                  <a:endParaRPr lang="zh-CN" altLang="en-US"/>
                </a:p>
              </p:txBody>
            </p:sp>
          </p:grpSp>
        </p:grpSp>
        <p:grpSp>
          <p:nvGrpSpPr>
            <p:cNvPr id="62566" name="Group 47"/>
            <p:cNvGrpSpPr>
              <a:grpSpLocks/>
            </p:cNvGrpSpPr>
            <p:nvPr/>
          </p:nvGrpSpPr>
          <p:grpSpPr bwMode="auto">
            <a:xfrm>
              <a:off x="1972" y="2659"/>
              <a:ext cx="454" cy="1315"/>
              <a:chOff x="3497" y="2659"/>
              <a:chExt cx="454" cy="1315"/>
            </a:xfrm>
          </p:grpSpPr>
          <p:pic>
            <p:nvPicPr>
              <p:cNvPr id="62567" name="Picture 48" descr="平行四边形"/>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514" y="2659"/>
                <a:ext cx="434" cy="1302"/>
              </a:xfrm>
              <a:prstGeom prst="rect">
                <a:avLst/>
              </a:prstGeom>
              <a:noFill/>
              <a:ln w="9525">
                <a:noFill/>
                <a:miter lim="800000"/>
                <a:headEnd/>
                <a:tailEnd/>
              </a:ln>
            </p:spPr>
          </p:pic>
          <p:grpSp>
            <p:nvGrpSpPr>
              <p:cNvPr id="62568" name="Group 49"/>
              <p:cNvGrpSpPr>
                <a:grpSpLocks/>
              </p:cNvGrpSpPr>
              <p:nvPr/>
            </p:nvGrpSpPr>
            <p:grpSpPr bwMode="auto">
              <a:xfrm>
                <a:off x="3497" y="2668"/>
                <a:ext cx="454" cy="1306"/>
                <a:chOff x="3497" y="2668"/>
                <a:chExt cx="454" cy="1306"/>
              </a:xfrm>
            </p:grpSpPr>
            <p:sp>
              <p:nvSpPr>
                <p:cNvPr id="62569" name="Line 50"/>
                <p:cNvSpPr>
                  <a:spLocks noChangeShapeType="1"/>
                </p:cNvSpPr>
                <p:nvPr/>
              </p:nvSpPr>
              <p:spPr bwMode="auto">
                <a:xfrm flipH="1">
                  <a:off x="3497" y="3566"/>
                  <a:ext cx="454" cy="408"/>
                </a:xfrm>
                <a:prstGeom prst="line">
                  <a:avLst/>
                </a:prstGeom>
                <a:noFill/>
                <a:ln w="28575">
                  <a:solidFill>
                    <a:srgbClr val="9900CC"/>
                  </a:solidFill>
                  <a:round/>
                  <a:headEnd/>
                  <a:tailEnd/>
                </a:ln>
              </p:spPr>
              <p:txBody>
                <a:bodyPr/>
                <a:lstStyle/>
                <a:p>
                  <a:endParaRPr lang="zh-CN" altLang="en-US"/>
                </a:p>
              </p:txBody>
            </p:sp>
            <p:sp>
              <p:nvSpPr>
                <p:cNvPr id="62570" name="Line 51"/>
                <p:cNvSpPr>
                  <a:spLocks noChangeShapeType="1"/>
                </p:cNvSpPr>
                <p:nvPr/>
              </p:nvSpPr>
              <p:spPr bwMode="auto">
                <a:xfrm>
                  <a:off x="3515" y="3067"/>
                  <a:ext cx="0" cy="907"/>
                </a:xfrm>
                <a:prstGeom prst="line">
                  <a:avLst/>
                </a:prstGeom>
                <a:noFill/>
                <a:ln w="28575">
                  <a:solidFill>
                    <a:srgbClr val="9900CC"/>
                  </a:solidFill>
                  <a:round/>
                  <a:headEnd/>
                  <a:tailEnd/>
                </a:ln>
              </p:spPr>
              <p:txBody>
                <a:bodyPr/>
                <a:lstStyle/>
                <a:p>
                  <a:endParaRPr lang="zh-CN" altLang="en-US"/>
                </a:p>
              </p:txBody>
            </p:sp>
            <p:sp>
              <p:nvSpPr>
                <p:cNvPr id="62571" name="Line 52"/>
                <p:cNvSpPr>
                  <a:spLocks noChangeShapeType="1"/>
                </p:cNvSpPr>
                <p:nvPr/>
              </p:nvSpPr>
              <p:spPr bwMode="auto">
                <a:xfrm>
                  <a:off x="3941" y="2677"/>
                  <a:ext cx="0" cy="907"/>
                </a:xfrm>
                <a:prstGeom prst="line">
                  <a:avLst/>
                </a:prstGeom>
                <a:noFill/>
                <a:ln w="28575">
                  <a:solidFill>
                    <a:srgbClr val="9900CC"/>
                  </a:solidFill>
                  <a:round/>
                  <a:headEnd/>
                  <a:tailEnd/>
                </a:ln>
              </p:spPr>
              <p:txBody>
                <a:bodyPr/>
                <a:lstStyle/>
                <a:p>
                  <a:endParaRPr lang="zh-CN" altLang="en-US"/>
                </a:p>
              </p:txBody>
            </p:sp>
            <p:sp>
              <p:nvSpPr>
                <p:cNvPr id="62572" name="Line 53"/>
                <p:cNvSpPr>
                  <a:spLocks noChangeShapeType="1"/>
                </p:cNvSpPr>
                <p:nvPr/>
              </p:nvSpPr>
              <p:spPr bwMode="auto">
                <a:xfrm flipH="1">
                  <a:off x="3497" y="2668"/>
                  <a:ext cx="454" cy="408"/>
                </a:xfrm>
                <a:prstGeom prst="line">
                  <a:avLst/>
                </a:prstGeom>
                <a:noFill/>
                <a:ln w="28575">
                  <a:solidFill>
                    <a:srgbClr val="9900CC"/>
                  </a:solidFill>
                  <a:round/>
                  <a:headEnd/>
                  <a:tailEnd/>
                </a:ln>
              </p:spPr>
              <p:txBody>
                <a:bodyPr/>
                <a:lstStyle/>
                <a:p>
                  <a:endParaRPr lang="zh-CN" altLang="en-US"/>
                </a:p>
              </p:txBody>
            </p:sp>
          </p:grpSp>
        </p:grpSp>
      </p:grpSp>
      <p:grpSp>
        <p:nvGrpSpPr>
          <p:cNvPr id="11" name="Group 54"/>
          <p:cNvGrpSpPr>
            <a:grpSpLocks/>
          </p:cNvGrpSpPr>
          <p:nvPr/>
        </p:nvGrpSpPr>
        <p:grpSpPr bwMode="auto">
          <a:xfrm>
            <a:off x="1116013" y="3646488"/>
            <a:ext cx="3384550" cy="1411287"/>
            <a:chOff x="884" y="2840"/>
            <a:chExt cx="1905" cy="889"/>
          </a:xfrm>
        </p:grpSpPr>
        <p:grpSp>
          <p:nvGrpSpPr>
            <p:cNvPr id="62504" name="Group 55"/>
            <p:cNvGrpSpPr>
              <a:grpSpLocks/>
            </p:cNvGrpSpPr>
            <p:nvPr/>
          </p:nvGrpSpPr>
          <p:grpSpPr bwMode="auto">
            <a:xfrm>
              <a:off x="1156" y="2840"/>
              <a:ext cx="1633" cy="0"/>
              <a:chOff x="1156" y="2840"/>
              <a:chExt cx="1633" cy="0"/>
            </a:xfrm>
          </p:grpSpPr>
          <p:sp>
            <p:nvSpPr>
              <p:cNvPr id="62560" name="Line 56"/>
              <p:cNvSpPr>
                <a:spLocks noChangeShapeType="1"/>
              </p:cNvSpPr>
              <p:nvPr/>
            </p:nvSpPr>
            <p:spPr bwMode="auto">
              <a:xfrm>
                <a:off x="1156" y="2840"/>
                <a:ext cx="273" cy="0"/>
              </a:xfrm>
              <a:prstGeom prst="line">
                <a:avLst/>
              </a:prstGeom>
              <a:noFill/>
              <a:ln w="28575">
                <a:solidFill>
                  <a:srgbClr val="CC0000"/>
                </a:solidFill>
                <a:round/>
                <a:headEnd/>
                <a:tailEnd/>
              </a:ln>
            </p:spPr>
            <p:txBody>
              <a:bodyPr/>
              <a:lstStyle/>
              <a:p>
                <a:endParaRPr lang="zh-CN" altLang="en-US"/>
              </a:p>
            </p:txBody>
          </p:sp>
          <p:sp>
            <p:nvSpPr>
              <p:cNvPr id="62561" name="Line 57"/>
              <p:cNvSpPr>
                <a:spLocks noChangeShapeType="1"/>
              </p:cNvSpPr>
              <p:nvPr/>
            </p:nvSpPr>
            <p:spPr bwMode="auto">
              <a:xfrm>
                <a:off x="1519" y="2840"/>
                <a:ext cx="318" cy="0"/>
              </a:xfrm>
              <a:prstGeom prst="line">
                <a:avLst/>
              </a:prstGeom>
              <a:noFill/>
              <a:ln w="28575">
                <a:solidFill>
                  <a:srgbClr val="CC0000"/>
                </a:solidFill>
                <a:round/>
                <a:headEnd/>
                <a:tailEnd/>
              </a:ln>
            </p:spPr>
            <p:txBody>
              <a:bodyPr/>
              <a:lstStyle/>
              <a:p>
                <a:endParaRPr lang="zh-CN" altLang="en-US"/>
              </a:p>
            </p:txBody>
          </p:sp>
          <p:sp>
            <p:nvSpPr>
              <p:cNvPr id="62562" name="Line 58"/>
              <p:cNvSpPr>
                <a:spLocks noChangeShapeType="1"/>
              </p:cNvSpPr>
              <p:nvPr/>
            </p:nvSpPr>
            <p:spPr bwMode="auto">
              <a:xfrm>
                <a:off x="1971" y="2840"/>
                <a:ext cx="274" cy="0"/>
              </a:xfrm>
              <a:prstGeom prst="line">
                <a:avLst/>
              </a:prstGeom>
              <a:noFill/>
              <a:ln w="28575">
                <a:solidFill>
                  <a:srgbClr val="CC0000"/>
                </a:solidFill>
                <a:round/>
                <a:headEnd/>
                <a:tailEnd/>
              </a:ln>
            </p:spPr>
            <p:txBody>
              <a:bodyPr/>
              <a:lstStyle/>
              <a:p>
                <a:endParaRPr lang="zh-CN" altLang="en-US"/>
              </a:p>
            </p:txBody>
          </p:sp>
          <p:sp>
            <p:nvSpPr>
              <p:cNvPr id="62563" name="Line 59"/>
              <p:cNvSpPr>
                <a:spLocks noChangeShapeType="1"/>
              </p:cNvSpPr>
              <p:nvPr/>
            </p:nvSpPr>
            <p:spPr bwMode="auto">
              <a:xfrm>
                <a:off x="2381" y="2840"/>
                <a:ext cx="408" cy="0"/>
              </a:xfrm>
              <a:prstGeom prst="line">
                <a:avLst/>
              </a:prstGeom>
              <a:noFill/>
              <a:ln w="28575">
                <a:solidFill>
                  <a:srgbClr val="CC0000"/>
                </a:solidFill>
                <a:round/>
                <a:headEnd/>
                <a:tailEnd type="triangle" w="med" len="med"/>
              </a:ln>
            </p:spPr>
            <p:txBody>
              <a:bodyPr/>
              <a:lstStyle/>
              <a:p>
                <a:endParaRPr lang="zh-CN" altLang="en-US"/>
              </a:p>
            </p:txBody>
          </p:sp>
        </p:grpSp>
        <p:grpSp>
          <p:nvGrpSpPr>
            <p:cNvPr id="62505" name="Group 60"/>
            <p:cNvGrpSpPr>
              <a:grpSpLocks/>
            </p:cNvGrpSpPr>
            <p:nvPr/>
          </p:nvGrpSpPr>
          <p:grpSpPr bwMode="auto">
            <a:xfrm>
              <a:off x="975" y="2976"/>
              <a:ext cx="1633" cy="0"/>
              <a:chOff x="1156" y="2840"/>
              <a:chExt cx="1633" cy="0"/>
            </a:xfrm>
          </p:grpSpPr>
          <p:sp>
            <p:nvSpPr>
              <p:cNvPr id="62556" name="Line 61"/>
              <p:cNvSpPr>
                <a:spLocks noChangeShapeType="1"/>
              </p:cNvSpPr>
              <p:nvPr/>
            </p:nvSpPr>
            <p:spPr bwMode="auto">
              <a:xfrm>
                <a:off x="1156" y="2840"/>
                <a:ext cx="273" cy="0"/>
              </a:xfrm>
              <a:prstGeom prst="line">
                <a:avLst/>
              </a:prstGeom>
              <a:noFill/>
              <a:ln w="28575">
                <a:solidFill>
                  <a:srgbClr val="CC0000"/>
                </a:solidFill>
                <a:round/>
                <a:headEnd/>
                <a:tailEnd/>
              </a:ln>
            </p:spPr>
            <p:txBody>
              <a:bodyPr/>
              <a:lstStyle/>
              <a:p>
                <a:endParaRPr lang="zh-CN" altLang="en-US"/>
              </a:p>
            </p:txBody>
          </p:sp>
          <p:sp>
            <p:nvSpPr>
              <p:cNvPr id="62557" name="Line 62"/>
              <p:cNvSpPr>
                <a:spLocks noChangeShapeType="1"/>
              </p:cNvSpPr>
              <p:nvPr/>
            </p:nvSpPr>
            <p:spPr bwMode="auto">
              <a:xfrm>
                <a:off x="1519" y="2840"/>
                <a:ext cx="318" cy="0"/>
              </a:xfrm>
              <a:prstGeom prst="line">
                <a:avLst/>
              </a:prstGeom>
              <a:noFill/>
              <a:ln w="28575">
                <a:solidFill>
                  <a:srgbClr val="CC0000"/>
                </a:solidFill>
                <a:round/>
                <a:headEnd/>
                <a:tailEnd/>
              </a:ln>
            </p:spPr>
            <p:txBody>
              <a:bodyPr/>
              <a:lstStyle/>
              <a:p>
                <a:endParaRPr lang="zh-CN" altLang="en-US"/>
              </a:p>
            </p:txBody>
          </p:sp>
          <p:sp>
            <p:nvSpPr>
              <p:cNvPr id="62558" name="Line 63"/>
              <p:cNvSpPr>
                <a:spLocks noChangeShapeType="1"/>
              </p:cNvSpPr>
              <p:nvPr/>
            </p:nvSpPr>
            <p:spPr bwMode="auto">
              <a:xfrm>
                <a:off x="1971" y="2840"/>
                <a:ext cx="274" cy="0"/>
              </a:xfrm>
              <a:prstGeom prst="line">
                <a:avLst/>
              </a:prstGeom>
              <a:noFill/>
              <a:ln w="28575">
                <a:solidFill>
                  <a:srgbClr val="CC0000"/>
                </a:solidFill>
                <a:round/>
                <a:headEnd/>
                <a:tailEnd/>
              </a:ln>
            </p:spPr>
            <p:txBody>
              <a:bodyPr/>
              <a:lstStyle/>
              <a:p>
                <a:endParaRPr lang="zh-CN" altLang="en-US"/>
              </a:p>
            </p:txBody>
          </p:sp>
          <p:sp>
            <p:nvSpPr>
              <p:cNvPr id="62559" name="Line 64"/>
              <p:cNvSpPr>
                <a:spLocks noChangeShapeType="1"/>
              </p:cNvSpPr>
              <p:nvPr/>
            </p:nvSpPr>
            <p:spPr bwMode="auto">
              <a:xfrm>
                <a:off x="2381" y="2840"/>
                <a:ext cx="408" cy="0"/>
              </a:xfrm>
              <a:prstGeom prst="line">
                <a:avLst/>
              </a:prstGeom>
              <a:noFill/>
              <a:ln w="28575">
                <a:solidFill>
                  <a:srgbClr val="CC0000"/>
                </a:solidFill>
                <a:round/>
                <a:headEnd/>
                <a:tailEnd type="triangle" w="med" len="med"/>
              </a:ln>
            </p:spPr>
            <p:txBody>
              <a:bodyPr/>
              <a:lstStyle/>
              <a:p>
                <a:endParaRPr lang="zh-CN" altLang="en-US"/>
              </a:p>
            </p:txBody>
          </p:sp>
        </p:grpSp>
        <p:grpSp>
          <p:nvGrpSpPr>
            <p:cNvPr id="62506" name="Group 65"/>
            <p:cNvGrpSpPr>
              <a:grpSpLocks/>
            </p:cNvGrpSpPr>
            <p:nvPr/>
          </p:nvGrpSpPr>
          <p:grpSpPr bwMode="auto">
            <a:xfrm>
              <a:off x="884" y="3113"/>
              <a:ext cx="1633" cy="0"/>
              <a:chOff x="1156" y="2840"/>
              <a:chExt cx="1633" cy="0"/>
            </a:xfrm>
          </p:grpSpPr>
          <p:sp>
            <p:nvSpPr>
              <p:cNvPr id="62552" name="Line 66"/>
              <p:cNvSpPr>
                <a:spLocks noChangeShapeType="1"/>
              </p:cNvSpPr>
              <p:nvPr/>
            </p:nvSpPr>
            <p:spPr bwMode="auto">
              <a:xfrm>
                <a:off x="1156" y="2840"/>
                <a:ext cx="273" cy="0"/>
              </a:xfrm>
              <a:prstGeom prst="line">
                <a:avLst/>
              </a:prstGeom>
              <a:noFill/>
              <a:ln w="28575">
                <a:solidFill>
                  <a:srgbClr val="CC0000"/>
                </a:solidFill>
                <a:round/>
                <a:headEnd/>
                <a:tailEnd/>
              </a:ln>
            </p:spPr>
            <p:txBody>
              <a:bodyPr/>
              <a:lstStyle/>
              <a:p>
                <a:endParaRPr lang="zh-CN" altLang="en-US"/>
              </a:p>
            </p:txBody>
          </p:sp>
          <p:sp>
            <p:nvSpPr>
              <p:cNvPr id="62553" name="Line 67"/>
              <p:cNvSpPr>
                <a:spLocks noChangeShapeType="1"/>
              </p:cNvSpPr>
              <p:nvPr/>
            </p:nvSpPr>
            <p:spPr bwMode="auto">
              <a:xfrm>
                <a:off x="1519" y="2840"/>
                <a:ext cx="318" cy="0"/>
              </a:xfrm>
              <a:prstGeom prst="line">
                <a:avLst/>
              </a:prstGeom>
              <a:noFill/>
              <a:ln w="28575">
                <a:solidFill>
                  <a:srgbClr val="CC0000"/>
                </a:solidFill>
                <a:round/>
                <a:headEnd/>
                <a:tailEnd/>
              </a:ln>
            </p:spPr>
            <p:txBody>
              <a:bodyPr/>
              <a:lstStyle/>
              <a:p>
                <a:endParaRPr lang="zh-CN" altLang="en-US"/>
              </a:p>
            </p:txBody>
          </p:sp>
          <p:sp>
            <p:nvSpPr>
              <p:cNvPr id="62554" name="Line 68"/>
              <p:cNvSpPr>
                <a:spLocks noChangeShapeType="1"/>
              </p:cNvSpPr>
              <p:nvPr/>
            </p:nvSpPr>
            <p:spPr bwMode="auto">
              <a:xfrm>
                <a:off x="1971" y="2840"/>
                <a:ext cx="274" cy="0"/>
              </a:xfrm>
              <a:prstGeom prst="line">
                <a:avLst/>
              </a:prstGeom>
              <a:noFill/>
              <a:ln w="28575">
                <a:solidFill>
                  <a:srgbClr val="CC0000"/>
                </a:solidFill>
                <a:round/>
                <a:headEnd/>
                <a:tailEnd/>
              </a:ln>
            </p:spPr>
            <p:txBody>
              <a:bodyPr/>
              <a:lstStyle/>
              <a:p>
                <a:endParaRPr lang="zh-CN" altLang="en-US"/>
              </a:p>
            </p:txBody>
          </p:sp>
          <p:sp>
            <p:nvSpPr>
              <p:cNvPr id="62555" name="Line 69"/>
              <p:cNvSpPr>
                <a:spLocks noChangeShapeType="1"/>
              </p:cNvSpPr>
              <p:nvPr/>
            </p:nvSpPr>
            <p:spPr bwMode="auto">
              <a:xfrm>
                <a:off x="2381" y="2840"/>
                <a:ext cx="408" cy="0"/>
              </a:xfrm>
              <a:prstGeom prst="line">
                <a:avLst/>
              </a:prstGeom>
              <a:noFill/>
              <a:ln w="28575">
                <a:solidFill>
                  <a:srgbClr val="CC0000"/>
                </a:solidFill>
                <a:round/>
                <a:headEnd/>
                <a:tailEnd type="triangle" w="med" len="med"/>
              </a:ln>
            </p:spPr>
            <p:txBody>
              <a:bodyPr/>
              <a:lstStyle/>
              <a:p>
                <a:endParaRPr lang="zh-CN" altLang="en-US"/>
              </a:p>
            </p:txBody>
          </p:sp>
        </p:grpSp>
        <p:grpSp>
          <p:nvGrpSpPr>
            <p:cNvPr id="62507" name="Group 70"/>
            <p:cNvGrpSpPr>
              <a:grpSpLocks/>
            </p:cNvGrpSpPr>
            <p:nvPr/>
          </p:nvGrpSpPr>
          <p:grpSpPr bwMode="auto">
            <a:xfrm>
              <a:off x="1066" y="3022"/>
              <a:ext cx="1633" cy="0"/>
              <a:chOff x="1066" y="3022"/>
              <a:chExt cx="1633" cy="0"/>
            </a:xfrm>
          </p:grpSpPr>
          <p:sp>
            <p:nvSpPr>
              <p:cNvPr id="62548" name="Line 71"/>
              <p:cNvSpPr>
                <a:spLocks noChangeShapeType="1"/>
              </p:cNvSpPr>
              <p:nvPr/>
            </p:nvSpPr>
            <p:spPr bwMode="auto">
              <a:xfrm>
                <a:off x="1066" y="3022"/>
                <a:ext cx="136" cy="0"/>
              </a:xfrm>
              <a:prstGeom prst="line">
                <a:avLst/>
              </a:prstGeom>
              <a:noFill/>
              <a:ln w="28575">
                <a:solidFill>
                  <a:srgbClr val="CC0000"/>
                </a:solidFill>
                <a:round/>
                <a:headEnd/>
                <a:tailEnd/>
              </a:ln>
            </p:spPr>
            <p:txBody>
              <a:bodyPr/>
              <a:lstStyle/>
              <a:p>
                <a:endParaRPr lang="zh-CN" altLang="en-US"/>
              </a:p>
            </p:txBody>
          </p:sp>
          <p:sp>
            <p:nvSpPr>
              <p:cNvPr id="62549" name="Line 72"/>
              <p:cNvSpPr>
                <a:spLocks noChangeShapeType="1"/>
              </p:cNvSpPr>
              <p:nvPr/>
            </p:nvSpPr>
            <p:spPr bwMode="auto">
              <a:xfrm>
                <a:off x="1429" y="3022"/>
                <a:ext cx="136" cy="0"/>
              </a:xfrm>
              <a:prstGeom prst="line">
                <a:avLst/>
              </a:prstGeom>
              <a:noFill/>
              <a:ln w="28575">
                <a:solidFill>
                  <a:srgbClr val="CC0000"/>
                </a:solidFill>
                <a:round/>
                <a:headEnd/>
                <a:tailEnd/>
              </a:ln>
            </p:spPr>
            <p:txBody>
              <a:bodyPr/>
              <a:lstStyle/>
              <a:p>
                <a:endParaRPr lang="zh-CN" altLang="en-US"/>
              </a:p>
            </p:txBody>
          </p:sp>
          <p:sp>
            <p:nvSpPr>
              <p:cNvPr id="62550" name="Line 73"/>
              <p:cNvSpPr>
                <a:spLocks noChangeShapeType="1"/>
              </p:cNvSpPr>
              <p:nvPr/>
            </p:nvSpPr>
            <p:spPr bwMode="auto">
              <a:xfrm>
                <a:off x="1926" y="3022"/>
                <a:ext cx="92" cy="0"/>
              </a:xfrm>
              <a:prstGeom prst="line">
                <a:avLst/>
              </a:prstGeom>
              <a:noFill/>
              <a:ln w="28575">
                <a:solidFill>
                  <a:srgbClr val="CC0000"/>
                </a:solidFill>
                <a:round/>
                <a:headEnd/>
                <a:tailEnd/>
              </a:ln>
            </p:spPr>
            <p:txBody>
              <a:bodyPr/>
              <a:lstStyle/>
              <a:p>
                <a:endParaRPr lang="zh-CN" altLang="en-US"/>
              </a:p>
            </p:txBody>
          </p:sp>
          <p:sp>
            <p:nvSpPr>
              <p:cNvPr id="62551" name="Line 74"/>
              <p:cNvSpPr>
                <a:spLocks noChangeShapeType="1"/>
              </p:cNvSpPr>
              <p:nvPr/>
            </p:nvSpPr>
            <p:spPr bwMode="auto">
              <a:xfrm>
                <a:off x="2336" y="3022"/>
                <a:ext cx="363" cy="0"/>
              </a:xfrm>
              <a:prstGeom prst="line">
                <a:avLst/>
              </a:prstGeom>
              <a:noFill/>
              <a:ln w="28575">
                <a:solidFill>
                  <a:srgbClr val="CC0000"/>
                </a:solidFill>
                <a:round/>
                <a:headEnd/>
                <a:tailEnd type="triangle" w="med" len="med"/>
              </a:ln>
            </p:spPr>
            <p:txBody>
              <a:bodyPr/>
              <a:lstStyle/>
              <a:p>
                <a:endParaRPr lang="zh-CN" altLang="en-US"/>
              </a:p>
            </p:txBody>
          </p:sp>
        </p:grpSp>
        <p:grpSp>
          <p:nvGrpSpPr>
            <p:cNvPr id="62508" name="Group 75"/>
            <p:cNvGrpSpPr>
              <a:grpSpLocks/>
            </p:cNvGrpSpPr>
            <p:nvPr/>
          </p:nvGrpSpPr>
          <p:grpSpPr bwMode="auto">
            <a:xfrm>
              <a:off x="884" y="3729"/>
              <a:ext cx="1633" cy="0"/>
              <a:chOff x="1156" y="2840"/>
              <a:chExt cx="1633" cy="0"/>
            </a:xfrm>
          </p:grpSpPr>
          <p:sp>
            <p:nvSpPr>
              <p:cNvPr id="62544" name="Line 76"/>
              <p:cNvSpPr>
                <a:spLocks noChangeShapeType="1"/>
              </p:cNvSpPr>
              <p:nvPr/>
            </p:nvSpPr>
            <p:spPr bwMode="auto">
              <a:xfrm>
                <a:off x="1156" y="2840"/>
                <a:ext cx="273" cy="0"/>
              </a:xfrm>
              <a:prstGeom prst="line">
                <a:avLst/>
              </a:prstGeom>
              <a:noFill/>
              <a:ln w="28575">
                <a:solidFill>
                  <a:srgbClr val="CC0000"/>
                </a:solidFill>
                <a:round/>
                <a:headEnd/>
                <a:tailEnd/>
              </a:ln>
            </p:spPr>
            <p:txBody>
              <a:bodyPr/>
              <a:lstStyle/>
              <a:p>
                <a:endParaRPr lang="zh-CN" altLang="en-US"/>
              </a:p>
            </p:txBody>
          </p:sp>
          <p:sp>
            <p:nvSpPr>
              <p:cNvPr id="62545" name="Line 77"/>
              <p:cNvSpPr>
                <a:spLocks noChangeShapeType="1"/>
              </p:cNvSpPr>
              <p:nvPr/>
            </p:nvSpPr>
            <p:spPr bwMode="auto">
              <a:xfrm>
                <a:off x="1519" y="2840"/>
                <a:ext cx="318" cy="0"/>
              </a:xfrm>
              <a:prstGeom prst="line">
                <a:avLst/>
              </a:prstGeom>
              <a:noFill/>
              <a:ln w="28575">
                <a:solidFill>
                  <a:srgbClr val="CC0000"/>
                </a:solidFill>
                <a:round/>
                <a:headEnd/>
                <a:tailEnd/>
              </a:ln>
            </p:spPr>
            <p:txBody>
              <a:bodyPr/>
              <a:lstStyle/>
              <a:p>
                <a:endParaRPr lang="zh-CN" altLang="en-US"/>
              </a:p>
            </p:txBody>
          </p:sp>
          <p:sp>
            <p:nvSpPr>
              <p:cNvPr id="62546" name="Line 78"/>
              <p:cNvSpPr>
                <a:spLocks noChangeShapeType="1"/>
              </p:cNvSpPr>
              <p:nvPr/>
            </p:nvSpPr>
            <p:spPr bwMode="auto">
              <a:xfrm>
                <a:off x="1971" y="2840"/>
                <a:ext cx="274" cy="0"/>
              </a:xfrm>
              <a:prstGeom prst="line">
                <a:avLst/>
              </a:prstGeom>
              <a:noFill/>
              <a:ln w="28575">
                <a:solidFill>
                  <a:srgbClr val="CC0000"/>
                </a:solidFill>
                <a:round/>
                <a:headEnd/>
                <a:tailEnd/>
              </a:ln>
            </p:spPr>
            <p:txBody>
              <a:bodyPr/>
              <a:lstStyle/>
              <a:p>
                <a:endParaRPr lang="zh-CN" altLang="en-US"/>
              </a:p>
            </p:txBody>
          </p:sp>
          <p:sp>
            <p:nvSpPr>
              <p:cNvPr id="62547" name="Line 79"/>
              <p:cNvSpPr>
                <a:spLocks noChangeShapeType="1"/>
              </p:cNvSpPr>
              <p:nvPr/>
            </p:nvSpPr>
            <p:spPr bwMode="auto">
              <a:xfrm>
                <a:off x="2381" y="2840"/>
                <a:ext cx="408" cy="0"/>
              </a:xfrm>
              <a:prstGeom prst="line">
                <a:avLst/>
              </a:prstGeom>
              <a:noFill/>
              <a:ln w="28575">
                <a:solidFill>
                  <a:srgbClr val="CC0000"/>
                </a:solidFill>
                <a:round/>
                <a:headEnd/>
                <a:tailEnd type="triangle" w="med" len="med"/>
              </a:ln>
            </p:spPr>
            <p:txBody>
              <a:bodyPr/>
              <a:lstStyle/>
              <a:p>
                <a:endParaRPr lang="zh-CN" altLang="en-US"/>
              </a:p>
            </p:txBody>
          </p:sp>
        </p:grpSp>
        <p:grpSp>
          <p:nvGrpSpPr>
            <p:cNvPr id="62509" name="Group 80"/>
            <p:cNvGrpSpPr>
              <a:grpSpLocks/>
            </p:cNvGrpSpPr>
            <p:nvPr/>
          </p:nvGrpSpPr>
          <p:grpSpPr bwMode="auto">
            <a:xfrm>
              <a:off x="884" y="3266"/>
              <a:ext cx="1633" cy="0"/>
              <a:chOff x="1156" y="2840"/>
              <a:chExt cx="1633" cy="0"/>
            </a:xfrm>
          </p:grpSpPr>
          <p:sp>
            <p:nvSpPr>
              <p:cNvPr id="62540" name="Line 81"/>
              <p:cNvSpPr>
                <a:spLocks noChangeShapeType="1"/>
              </p:cNvSpPr>
              <p:nvPr/>
            </p:nvSpPr>
            <p:spPr bwMode="auto">
              <a:xfrm>
                <a:off x="1156" y="2840"/>
                <a:ext cx="273" cy="0"/>
              </a:xfrm>
              <a:prstGeom prst="line">
                <a:avLst/>
              </a:prstGeom>
              <a:noFill/>
              <a:ln w="28575">
                <a:solidFill>
                  <a:srgbClr val="CC0000"/>
                </a:solidFill>
                <a:round/>
                <a:headEnd/>
                <a:tailEnd/>
              </a:ln>
            </p:spPr>
            <p:txBody>
              <a:bodyPr/>
              <a:lstStyle/>
              <a:p>
                <a:endParaRPr lang="zh-CN" altLang="en-US"/>
              </a:p>
            </p:txBody>
          </p:sp>
          <p:sp>
            <p:nvSpPr>
              <p:cNvPr id="62541" name="Line 82"/>
              <p:cNvSpPr>
                <a:spLocks noChangeShapeType="1"/>
              </p:cNvSpPr>
              <p:nvPr/>
            </p:nvSpPr>
            <p:spPr bwMode="auto">
              <a:xfrm>
                <a:off x="1519" y="2840"/>
                <a:ext cx="318" cy="0"/>
              </a:xfrm>
              <a:prstGeom prst="line">
                <a:avLst/>
              </a:prstGeom>
              <a:noFill/>
              <a:ln w="28575">
                <a:solidFill>
                  <a:srgbClr val="CC0000"/>
                </a:solidFill>
                <a:round/>
                <a:headEnd/>
                <a:tailEnd/>
              </a:ln>
            </p:spPr>
            <p:txBody>
              <a:bodyPr/>
              <a:lstStyle/>
              <a:p>
                <a:endParaRPr lang="zh-CN" altLang="en-US"/>
              </a:p>
            </p:txBody>
          </p:sp>
          <p:sp>
            <p:nvSpPr>
              <p:cNvPr id="62542" name="Line 83"/>
              <p:cNvSpPr>
                <a:spLocks noChangeShapeType="1"/>
              </p:cNvSpPr>
              <p:nvPr/>
            </p:nvSpPr>
            <p:spPr bwMode="auto">
              <a:xfrm>
                <a:off x="1971" y="2840"/>
                <a:ext cx="274" cy="0"/>
              </a:xfrm>
              <a:prstGeom prst="line">
                <a:avLst/>
              </a:prstGeom>
              <a:noFill/>
              <a:ln w="28575">
                <a:solidFill>
                  <a:srgbClr val="CC0000"/>
                </a:solidFill>
                <a:round/>
                <a:headEnd/>
                <a:tailEnd/>
              </a:ln>
            </p:spPr>
            <p:txBody>
              <a:bodyPr/>
              <a:lstStyle/>
              <a:p>
                <a:endParaRPr lang="zh-CN" altLang="en-US"/>
              </a:p>
            </p:txBody>
          </p:sp>
          <p:sp>
            <p:nvSpPr>
              <p:cNvPr id="62543" name="Line 84"/>
              <p:cNvSpPr>
                <a:spLocks noChangeShapeType="1"/>
              </p:cNvSpPr>
              <p:nvPr/>
            </p:nvSpPr>
            <p:spPr bwMode="auto">
              <a:xfrm>
                <a:off x="2381" y="2840"/>
                <a:ext cx="408" cy="0"/>
              </a:xfrm>
              <a:prstGeom prst="line">
                <a:avLst/>
              </a:prstGeom>
              <a:noFill/>
              <a:ln w="28575">
                <a:solidFill>
                  <a:srgbClr val="CC0000"/>
                </a:solidFill>
                <a:round/>
                <a:headEnd/>
                <a:tailEnd type="triangle" w="med" len="med"/>
              </a:ln>
            </p:spPr>
            <p:txBody>
              <a:bodyPr/>
              <a:lstStyle/>
              <a:p>
                <a:endParaRPr lang="zh-CN" altLang="en-US"/>
              </a:p>
            </p:txBody>
          </p:sp>
        </p:grpSp>
        <p:grpSp>
          <p:nvGrpSpPr>
            <p:cNvPr id="62510" name="Group 85"/>
            <p:cNvGrpSpPr>
              <a:grpSpLocks/>
            </p:cNvGrpSpPr>
            <p:nvPr/>
          </p:nvGrpSpPr>
          <p:grpSpPr bwMode="auto">
            <a:xfrm>
              <a:off x="884" y="3420"/>
              <a:ext cx="1633" cy="0"/>
              <a:chOff x="1156" y="2840"/>
              <a:chExt cx="1633" cy="0"/>
            </a:xfrm>
          </p:grpSpPr>
          <p:sp>
            <p:nvSpPr>
              <p:cNvPr id="62536" name="Line 86"/>
              <p:cNvSpPr>
                <a:spLocks noChangeShapeType="1"/>
              </p:cNvSpPr>
              <p:nvPr/>
            </p:nvSpPr>
            <p:spPr bwMode="auto">
              <a:xfrm>
                <a:off x="1156" y="2840"/>
                <a:ext cx="273" cy="0"/>
              </a:xfrm>
              <a:prstGeom prst="line">
                <a:avLst/>
              </a:prstGeom>
              <a:noFill/>
              <a:ln w="28575">
                <a:solidFill>
                  <a:srgbClr val="CC0000"/>
                </a:solidFill>
                <a:round/>
                <a:headEnd/>
                <a:tailEnd/>
              </a:ln>
            </p:spPr>
            <p:txBody>
              <a:bodyPr/>
              <a:lstStyle/>
              <a:p>
                <a:endParaRPr lang="zh-CN" altLang="en-US"/>
              </a:p>
            </p:txBody>
          </p:sp>
          <p:sp>
            <p:nvSpPr>
              <p:cNvPr id="62537" name="Line 87"/>
              <p:cNvSpPr>
                <a:spLocks noChangeShapeType="1"/>
              </p:cNvSpPr>
              <p:nvPr/>
            </p:nvSpPr>
            <p:spPr bwMode="auto">
              <a:xfrm>
                <a:off x="1519" y="2840"/>
                <a:ext cx="318" cy="0"/>
              </a:xfrm>
              <a:prstGeom prst="line">
                <a:avLst/>
              </a:prstGeom>
              <a:noFill/>
              <a:ln w="28575">
                <a:solidFill>
                  <a:srgbClr val="CC0000"/>
                </a:solidFill>
                <a:round/>
                <a:headEnd/>
                <a:tailEnd/>
              </a:ln>
            </p:spPr>
            <p:txBody>
              <a:bodyPr/>
              <a:lstStyle/>
              <a:p>
                <a:endParaRPr lang="zh-CN" altLang="en-US"/>
              </a:p>
            </p:txBody>
          </p:sp>
          <p:sp>
            <p:nvSpPr>
              <p:cNvPr id="62538" name="Line 88"/>
              <p:cNvSpPr>
                <a:spLocks noChangeShapeType="1"/>
              </p:cNvSpPr>
              <p:nvPr/>
            </p:nvSpPr>
            <p:spPr bwMode="auto">
              <a:xfrm>
                <a:off x="1971" y="2840"/>
                <a:ext cx="274" cy="0"/>
              </a:xfrm>
              <a:prstGeom prst="line">
                <a:avLst/>
              </a:prstGeom>
              <a:noFill/>
              <a:ln w="28575">
                <a:solidFill>
                  <a:srgbClr val="CC0000"/>
                </a:solidFill>
                <a:round/>
                <a:headEnd/>
                <a:tailEnd/>
              </a:ln>
            </p:spPr>
            <p:txBody>
              <a:bodyPr/>
              <a:lstStyle/>
              <a:p>
                <a:endParaRPr lang="zh-CN" altLang="en-US"/>
              </a:p>
            </p:txBody>
          </p:sp>
          <p:sp>
            <p:nvSpPr>
              <p:cNvPr id="62539" name="Line 89"/>
              <p:cNvSpPr>
                <a:spLocks noChangeShapeType="1"/>
              </p:cNvSpPr>
              <p:nvPr/>
            </p:nvSpPr>
            <p:spPr bwMode="auto">
              <a:xfrm>
                <a:off x="2381" y="2840"/>
                <a:ext cx="408" cy="0"/>
              </a:xfrm>
              <a:prstGeom prst="line">
                <a:avLst/>
              </a:prstGeom>
              <a:noFill/>
              <a:ln w="28575">
                <a:solidFill>
                  <a:srgbClr val="CC0000"/>
                </a:solidFill>
                <a:round/>
                <a:headEnd/>
                <a:tailEnd type="triangle" w="med" len="med"/>
              </a:ln>
            </p:spPr>
            <p:txBody>
              <a:bodyPr/>
              <a:lstStyle/>
              <a:p>
                <a:endParaRPr lang="zh-CN" altLang="en-US"/>
              </a:p>
            </p:txBody>
          </p:sp>
        </p:grpSp>
        <p:grpSp>
          <p:nvGrpSpPr>
            <p:cNvPr id="62511" name="Group 90"/>
            <p:cNvGrpSpPr>
              <a:grpSpLocks/>
            </p:cNvGrpSpPr>
            <p:nvPr/>
          </p:nvGrpSpPr>
          <p:grpSpPr bwMode="auto">
            <a:xfrm>
              <a:off x="884" y="3574"/>
              <a:ext cx="1633" cy="0"/>
              <a:chOff x="1156" y="2840"/>
              <a:chExt cx="1633" cy="0"/>
            </a:xfrm>
          </p:grpSpPr>
          <p:sp>
            <p:nvSpPr>
              <p:cNvPr id="62532" name="Line 91"/>
              <p:cNvSpPr>
                <a:spLocks noChangeShapeType="1"/>
              </p:cNvSpPr>
              <p:nvPr/>
            </p:nvSpPr>
            <p:spPr bwMode="auto">
              <a:xfrm>
                <a:off x="1156" y="2840"/>
                <a:ext cx="273" cy="0"/>
              </a:xfrm>
              <a:prstGeom prst="line">
                <a:avLst/>
              </a:prstGeom>
              <a:noFill/>
              <a:ln w="28575">
                <a:solidFill>
                  <a:srgbClr val="CC0000"/>
                </a:solidFill>
                <a:round/>
                <a:headEnd/>
                <a:tailEnd/>
              </a:ln>
            </p:spPr>
            <p:txBody>
              <a:bodyPr/>
              <a:lstStyle/>
              <a:p>
                <a:endParaRPr lang="zh-CN" altLang="en-US"/>
              </a:p>
            </p:txBody>
          </p:sp>
          <p:sp>
            <p:nvSpPr>
              <p:cNvPr id="62533" name="Line 92"/>
              <p:cNvSpPr>
                <a:spLocks noChangeShapeType="1"/>
              </p:cNvSpPr>
              <p:nvPr/>
            </p:nvSpPr>
            <p:spPr bwMode="auto">
              <a:xfrm>
                <a:off x="1519" y="2840"/>
                <a:ext cx="318" cy="0"/>
              </a:xfrm>
              <a:prstGeom prst="line">
                <a:avLst/>
              </a:prstGeom>
              <a:noFill/>
              <a:ln w="28575">
                <a:solidFill>
                  <a:srgbClr val="CC0000"/>
                </a:solidFill>
                <a:round/>
                <a:headEnd/>
                <a:tailEnd/>
              </a:ln>
            </p:spPr>
            <p:txBody>
              <a:bodyPr/>
              <a:lstStyle/>
              <a:p>
                <a:endParaRPr lang="zh-CN" altLang="en-US"/>
              </a:p>
            </p:txBody>
          </p:sp>
          <p:sp>
            <p:nvSpPr>
              <p:cNvPr id="62534" name="Line 93"/>
              <p:cNvSpPr>
                <a:spLocks noChangeShapeType="1"/>
              </p:cNvSpPr>
              <p:nvPr/>
            </p:nvSpPr>
            <p:spPr bwMode="auto">
              <a:xfrm>
                <a:off x="1971" y="2840"/>
                <a:ext cx="274" cy="0"/>
              </a:xfrm>
              <a:prstGeom prst="line">
                <a:avLst/>
              </a:prstGeom>
              <a:noFill/>
              <a:ln w="28575">
                <a:solidFill>
                  <a:srgbClr val="CC0000"/>
                </a:solidFill>
                <a:round/>
                <a:headEnd/>
                <a:tailEnd/>
              </a:ln>
            </p:spPr>
            <p:txBody>
              <a:bodyPr/>
              <a:lstStyle/>
              <a:p>
                <a:endParaRPr lang="zh-CN" altLang="en-US"/>
              </a:p>
            </p:txBody>
          </p:sp>
          <p:sp>
            <p:nvSpPr>
              <p:cNvPr id="62535" name="Line 94"/>
              <p:cNvSpPr>
                <a:spLocks noChangeShapeType="1"/>
              </p:cNvSpPr>
              <p:nvPr/>
            </p:nvSpPr>
            <p:spPr bwMode="auto">
              <a:xfrm>
                <a:off x="2381" y="2840"/>
                <a:ext cx="408" cy="0"/>
              </a:xfrm>
              <a:prstGeom prst="line">
                <a:avLst/>
              </a:prstGeom>
              <a:noFill/>
              <a:ln w="28575">
                <a:solidFill>
                  <a:srgbClr val="CC0000"/>
                </a:solidFill>
                <a:round/>
                <a:headEnd/>
                <a:tailEnd type="triangle" w="med" len="med"/>
              </a:ln>
            </p:spPr>
            <p:txBody>
              <a:bodyPr/>
              <a:lstStyle/>
              <a:p>
                <a:endParaRPr lang="zh-CN" altLang="en-US"/>
              </a:p>
            </p:txBody>
          </p:sp>
        </p:grpSp>
        <p:grpSp>
          <p:nvGrpSpPr>
            <p:cNvPr id="62512" name="Group 95"/>
            <p:cNvGrpSpPr>
              <a:grpSpLocks/>
            </p:cNvGrpSpPr>
            <p:nvPr/>
          </p:nvGrpSpPr>
          <p:grpSpPr bwMode="auto">
            <a:xfrm>
              <a:off x="1111" y="3185"/>
              <a:ext cx="1588" cy="0"/>
              <a:chOff x="1111" y="3185"/>
              <a:chExt cx="1588" cy="0"/>
            </a:xfrm>
          </p:grpSpPr>
          <p:sp>
            <p:nvSpPr>
              <p:cNvPr id="62528" name="Line 96"/>
              <p:cNvSpPr>
                <a:spLocks noChangeShapeType="1"/>
              </p:cNvSpPr>
              <p:nvPr/>
            </p:nvSpPr>
            <p:spPr bwMode="auto">
              <a:xfrm>
                <a:off x="1111" y="3185"/>
                <a:ext cx="45" cy="0"/>
              </a:xfrm>
              <a:prstGeom prst="line">
                <a:avLst/>
              </a:prstGeom>
              <a:noFill/>
              <a:ln w="28575">
                <a:solidFill>
                  <a:srgbClr val="CC0000"/>
                </a:solidFill>
                <a:round/>
                <a:headEnd/>
                <a:tailEnd/>
              </a:ln>
            </p:spPr>
            <p:txBody>
              <a:bodyPr/>
              <a:lstStyle/>
              <a:p>
                <a:endParaRPr lang="zh-CN" altLang="en-US"/>
              </a:p>
            </p:txBody>
          </p:sp>
          <p:sp>
            <p:nvSpPr>
              <p:cNvPr id="62529" name="Line 97"/>
              <p:cNvSpPr>
                <a:spLocks noChangeShapeType="1"/>
              </p:cNvSpPr>
              <p:nvPr/>
            </p:nvSpPr>
            <p:spPr bwMode="auto">
              <a:xfrm>
                <a:off x="1474" y="3185"/>
                <a:ext cx="91" cy="0"/>
              </a:xfrm>
              <a:prstGeom prst="line">
                <a:avLst/>
              </a:prstGeom>
              <a:noFill/>
              <a:ln w="28575">
                <a:solidFill>
                  <a:srgbClr val="CC0000"/>
                </a:solidFill>
                <a:round/>
                <a:headEnd/>
                <a:tailEnd/>
              </a:ln>
            </p:spPr>
            <p:txBody>
              <a:bodyPr/>
              <a:lstStyle/>
              <a:p>
                <a:endParaRPr lang="zh-CN" altLang="en-US"/>
              </a:p>
            </p:txBody>
          </p:sp>
          <p:sp>
            <p:nvSpPr>
              <p:cNvPr id="62530" name="Line 98"/>
              <p:cNvSpPr>
                <a:spLocks noChangeShapeType="1"/>
              </p:cNvSpPr>
              <p:nvPr/>
            </p:nvSpPr>
            <p:spPr bwMode="auto">
              <a:xfrm>
                <a:off x="1882" y="3185"/>
                <a:ext cx="91" cy="0"/>
              </a:xfrm>
              <a:prstGeom prst="line">
                <a:avLst/>
              </a:prstGeom>
              <a:noFill/>
              <a:ln w="28575">
                <a:solidFill>
                  <a:srgbClr val="CC0000"/>
                </a:solidFill>
                <a:round/>
                <a:headEnd/>
                <a:tailEnd/>
              </a:ln>
            </p:spPr>
            <p:txBody>
              <a:bodyPr/>
              <a:lstStyle/>
              <a:p>
                <a:endParaRPr lang="zh-CN" altLang="en-US"/>
              </a:p>
            </p:txBody>
          </p:sp>
          <p:sp>
            <p:nvSpPr>
              <p:cNvPr id="62531" name="Line 99"/>
              <p:cNvSpPr>
                <a:spLocks noChangeShapeType="1"/>
              </p:cNvSpPr>
              <p:nvPr/>
            </p:nvSpPr>
            <p:spPr bwMode="auto">
              <a:xfrm>
                <a:off x="2336" y="3185"/>
                <a:ext cx="363" cy="0"/>
              </a:xfrm>
              <a:prstGeom prst="line">
                <a:avLst/>
              </a:prstGeom>
              <a:noFill/>
              <a:ln w="28575">
                <a:solidFill>
                  <a:srgbClr val="CC0000"/>
                </a:solidFill>
                <a:round/>
                <a:headEnd/>
                <a:tailEnd type="triangle" w="med" len="med"/>
              </a:ln>
            </p:spPr>
            <p:txBody>
              <a:bodyPr/>
              <a:lstStyle/>
              <a:p>
                <a:endParaRPr lang="zh-CN" altLang="en-US"/>
              </a:p>
            </p:txBody>
          </p:sp>
        </p:grpSp>
        <p:grpSp>
          <p:nvGrpSpPr>
            <p:cNvPr id="62513" name="Group 100"/>
            <p:cNvGrpSpPr>
              <a:grpSpLocks/>
            </p:cNvGrpSpPr>
            <p:nvPr/>
          </p:nvGrpSpPr>
          <p:grpSpPr bwMode="auto">
            <a:xfrm>
              <a:off x="1020" y="3657"/>
              <a:ext cx="1542" cy="0"/>
              <a:chOff x="1020" y="3657"/>
              <a:chExt cx="1542" cy="0"/>
            </a:xfrm>
          </p:grpSpPr>
          <p:sp>
            <p:nvSpPr>
              <p:cNvPr id="62524" name="Line 101"/>
              <p:cNvSpPr>
                <a:spLocks noChangeShapeType="1"/>
              </p:cNvSpPr>
              <p:nvPr/>
            </p:nvSpPr>
            <p:spPr bwMode="auto">
              <a:xfrm>
                <a:off x="1020" y="3657"/>
                <a:ext cx="136" cy="0"/>
              </a:xfrm>
              <a:prstGeom prst="line">
                <a:avLst/>
              </a:prstGeom>
              <a:noFill/>
              <a:ln w="28575">
                <a:solidFill>
                  <a:srgbClr val="CC0000"/>
                </a:solidFill>
                <a:round/>
                <a:headEnd/>
                <a:tailEnd/>
              </a:ln>
            </p:spPr>
            <p:txBody>
              <a:bodyPr/>
              <a:lstStyle/>
              <a:p>
                <a:endParaRPr lang="zh-CN" altLang="en-US"/>
              </a:p>
            </p:txBody>
          </p:sp>
          <p:sp>
            <p:nvSpPr>
              <p:cNvPr id="62525" name="Line 102"/>
              <p:cNvSpPr>
                <a:spLocks noChangeShapeType="1"/>
              </p:cNvSpPr>
              <p:nvPr/>
            </p:nvSpPr>
            <p:spPr bwMode="auto">
              <a:xfrm>
                <a:off x="1383" y="3657"/>
                <a:ext cx="182" cy="0"/>
              </a:xfrm>
              <a:prstGeom prst="line">
                <a:avLst/>
              </a:prstGeom>
              <a:noFill/>
              <a:ln w="28575">
                <a:solidFill>
                  <a:srgbClr val="CC0000"/>
                </a:solidFill>
                <a:round/>
                <a:headEnd/>
                <a:tailEnd/>
              </a:ln>
            </p:spPr>
            <p:txBody>
              <a:bodyPr/>
              <a:lstStyle/>
              <a:p>
                <a:endParaRPr lang="zh-CN" altLang="en-US"/>
              </a:p>
            </p:txBody>
          </p:sp>
          <p:sp>
            <p:nvSpPr>
              <p:cNvPr id="62526" name="Line 103"/>
              <p:cNvSpPr>
                <a:spLocks noChangeShapeType="1"/>
              </p:cNvSpPr>
              <p:nvPr/>
            </p:nvSpPr>
            <p:spPr bwMode="auto">
              <a:xfrm>
                <a:off x="1835" y="3657"/>
                <a:ext cx="138" cy="0"/>
              </a:xfrm>
              <a:prstGeom prst="line">
                <a:avLst/>
              </a:prstGeom>
              <a:noFill/>
              <a:ln w="28575">
                <a:solidFill>
                  <a:srgbClr val="CC0000"/>
                </a:solidFill>
                <a:round/>
                <a:headEnd/>
                <a:tailEnd/>
              </a:ln>
            </p:spPr>
            <p:txBody>
              <a:bodyPr/>
              <a:lstStyle/>
              <a:p>
                <a:endParaRPr lang="zh-CN" altLang="en-US"/>
              </a:p>
            </p:txBody>
          </p:sp>
          <p:sp>
            <p:nvSpPr>
              <p:cNvPr id="62527" name="Line 104"/>
              <p:cNvSpPr>
                <a:spLocks noChangeShapeType="1"/>
              </p:cNvSpPr>
              <p:nvPr/>
            </p:nvSpPr>
            <p:spPr bwMode="auto">
              <a:xfrm>
                <a:off x="2245" y="3657"/>
                <a:ext cx="317" cy="0"/>
              </a:xfrm>
              <a:prstGeom prst="line">
                <a:avLst/>
              </a:prstGeom>
              <a:noFill/>
              <a:ln w="28575">
                <a:solidFill>
                  <a:srgbClr val="CC0000"/>
                </a:solidFill>
                <a:round/>
                <a:headEnd/>
                <a:tailEnd type="triangle" w="med" len="med"/>
              </a:ln>
            </p:spPr>
            <p:txBody>
              <a:bodyPr/>
              <a:lstStyle/>
              <a:p>
                <a:endParaRPr lang="zh-CN" altLang="en-US"/>
              </a:p>
            </p:txBody>
          </p:sp>
        </p:grpSp>
        <p:grpSp>
          <p:nvGrpSpPr>
            <p:cNvPr id="62514" name="Group 105"/>
            <p:cNvGrpSpPr>
              <a:grpSpLocks/>
            </p:cNvGrpSpPr>
            <p:nvPr/>
          </p:nvGrpSpPr>
          <p:grpSpPr bwMode="auto">
            <a:xfrm>
              <a:off x="1084" y="3339"/>
              <a:ext cx="1569" cy="0"/>
              <a:chOff x="1084" y="3339"/>
              <a:chExt cx="1569" cy="0"/>
            </a:xfrm>
          </p:grpSpPr>
          <p:sp>
            <p:nvSpPr>
              <p:cNvPr id="62520" name="Line 106"/>
              <p:cNvSpPr>
                <a:spLocks noChangeShapeType="1"/>
              </p:cNvSpPr>
              <p:nvPr/>
            </p:nvSpPr>
            <p:spPr bwMode="auto">
              <a:xfrm>
                <a:off x="1084" y="3339"/>
                <a:ext cx="72" cy="0"/>
              </a:xfrm>
              <a:prstGeom prst="line">
                <a:avLst/>
              </a:prstGeom>
              <a:noFill/>
              <a:ln w="28575">
                <a:solidFill>
                  <a:srgbClr val="CC0000"/>
                </a:solidFill>
                <a:round/>
                <a:headEnd/>
                <a:tailEnd/>
              </a:ln>
            </p:spPr>
            <p:txBody>
              <a:bodyPr/>
              <a:lstStyle/>
              <a:p>
                <a:endParaRPr lang="zh-CN" altLang="en-US"/>
              </a:p>
            </p:txBody>
          </p:sp>
          <p:sp>
            <p:nvSpPr>
              <p:cNvPr id="62521" name="Line 107"/>
              <p:cNvSpPr>
                <a:spLocks noChangeShapeType="1"/>
              </p:cNvSpPr>
              <p:nvPr/>
            </p:nvSpPr>
            <p:spPr bwMode="auto">
              <a:xfrm>
                <a:off x="1447" y="3339"/>
                <a:ext cx="118" cy="0"/>
              </a:xfrm>
              <a:prstGeom prst="line">
                <a:avLst/>
              </a:prstGeom>
              <a:noFill/>
              <a:ln w="28575">
                <a:solidFill>
                  <a:srgbClr val="CC0000"/>
                </a:solidFill>
                <a:round/>
                <a:headEnd/>
                <a:tailEnd/>
              </a:ln>
            </p:spPr>
            <p:txBody>
              <a:bodyPr/>
              <a:lstStyle/>
              <a:p>
                <a:endParaRPr lang="zh-CN" altLang="en-US"/>
              </a:p>
            </p:txBody>
          </p:sp>
          <p:sp>
            <p:nvSpPr>
              <p:cNvPr id="62522" name="Line 108"/>
              <p:cNvSpPr>
                <a:spLocks noChangeShapeType="1"/>
              </p:cNvSpPr>
              <p:nvPr/>
            </p:nvSpPr>
            <p:spPr bwMode="auto">
              <a:xfrm>
                <a:off x="1899" y="3339"/>
                <a:ext cx="74" cy="0"/>
              </a:xfrm>
              <a:prstGeom prst="line">
                <a:avLst/>
              </a:prstGeom>
              <a:noFill/>
              <a:ln w="28575">
                <a:solidFill>
                  <a:srgbClr val="CC0000"/>
                </a:solidFill>
                <a:round/>
                <a:headEnd/>
                <a:tailEnd/>
              </a:ln>
            </p:spPr>
            <p:txBody>
              <a:bodyPr/>
              <a:lstStyle/>
              <a:p>
                <a:endParaRPr lang="zh-CN" altLang="en-US"/>
              </a:p>
            </p:txBody>
          </p:sp>
          <p:sp>
            <p:nvSpPr>
              <p:cNvPr id="62523" name="Line 109"/>
              <p:cNvSpPr>
                <a:spLocks noChangeShapeType="1"/>
              </p:cNvSpPr>
              <p:nvPr/>
            </p:nvSpPr>
            <p:spPr bwMode="auto">
              <a:xfrm>
                <a:off x="2309" y="3339"/>
                <a:ext cx="344" cy="0"/>
              </a:xfrm>
              <a:prstGeom prst="line">
                <a:avLst/>
              </a:prstGeom>
              <a:noFill/>
              <a:ln w="28575">
                <a:solidFill>
                  <a:srgbClr val="CC0000"/>
                </a:solidFill>
                <a:round/>
                <a:headEnd/>
                <a:tailEnd type="triangle" w="med" len="med"/>
              </a:ln>
            </p:spPr>
            <p:txBody>
              <a:bodyPr/>
              <a:lstStyle/>
              <a:p>
                <a:endParaRPr lang="zh-CN" altLang="en-US"/>
              </a:p>
            </p:txBody>
          </p:sp>
        </p:grpSp>
        <p:grpSp>
          <p:nvGrpSpPr>
            <p:cNvPr id="62515" name="Group 110"/>
            <p:cNvGrpSpPr>
              <a:grpSpLocks/>
            </p:cNvGrpSpPr>
            <p:nvPr/>
          </p:nvGrpSpPr>
          <p:grpSpPr bwMode="auto">
            <a:xfrm>
              <a:off x="1011" y="3493"/>
              <a:ext cx="1551" cy="0"/>
              <a:chOff x="1011" y="3493"/>
              <a:chExt cx="1551" cy="0"/>
            </a:xfrm>
          </p:grpSpPr>
          <p:sp>
            <p:nvSpPr>
              <p:cNvPr id="62516" name="Line 111"/>
              <p:cNvSpPr>
                <a:spLocks noChangeShapeType="1"/>
              </p:cNvSpPr>
              <p:nvPr/>
            </p:nvSpPr>
            <p:spPr bwMode="auto">
              <a:xfrm>
                <a:off x="1011" y="3493"/>
                <a:ext cx="145" cy="0"/>
              </a:xfrm>
              <a:prstGeom prst="line">
                <a:avLst/>
              </a:prstGeom>
              <a:noFill/>
              <a:ln w="28575">
                <a:solidFill>
                  <a:srgbClr val="CC0000"/>
                </a:solidFill>
                <a:round/>
                <a:headEnd/>
                <a:tailEnd/>
              </a:ln>
            </p:spPr>
            <p:txBody>
              <a:bodyPr/>
              <a:lstStyle/>
              <a:p>
                <a:endParaRPr lang="zh-CN" altLang="en-US"/>
              </a:p>
            </p:txBody>
          </p:sp>
          <p:sp>
            <p:nvSpPr>
              <p:cNvPr id="62517" name="Line 112"/>
              <p:cNvSpPr>
                <a:spLocks noChangeShapeType="1"/>
              </p:cNvSpPr>
              <p:nvPr/>
            </p:nvSpPr>
            <p:spPr bwMode="auto">
              <a:xfrm>
                <a:off x="1374" y="3493"/>
                <a:ext cx="191" cy="0"/>
              </a:xfrm>
              <a:prstGeom prst="line">
                <a:avLst/>
              </a:prstGeom>
              <a:noFill/>
              <a:ln w="28575">
                <a:solidFill>
                  <a:srgbClr val="CC0000"/>
                </a:solidFill>
                <a:round/>
                <a:headEnd/>
                <a:tailEnd/>
              </a:ln>
            </p:spPr>
            <p:txBody>
              <a:bodyPr/>
              <a:lstStyle/>
              <a:p>
                <a:endParaRPr lang="zh-CN" altLang="en-US"/>
              </a:p>
            </p:txBody>
          </p:sp>
          <p:sp>
            <p:nvSpPr>
              <p:cNvPr id="62518" name="Line 113"/>
              <p:cNvSpPr>
                <a:spLocks noChangeShapeType="1"/>
              </p:cNvSpPr>
              <p:nvPr/>
            </p:nvSpPr>
            <p:spPr bwMode="auto">
              <a:xfrm>
                <a:off x="1826" y="3493"/>
                <a:ext cx="147" cy="0"/>
              </a:xfrm>
              <a:prstGeom prst="line">
                <a:avLst/>
              </a:prstGeom>
              <a:noFill/>
              <a:ln w="28575">
                <a:solidFill>
                  <a:srgbClr val="CC0000"/>
                </a:solidFill>
                <a:round/>
                <a:headEnd/>
                <a:tailEnd/>
              </a:ln>
            </p:spPr>
            <p:txBody>
              <a:bodyPr/>
              <a:lstStyle/>
              <a:p>
                <a:endParaRPr lang="zh-CN" altLang="en-US"/>
              </a:p>
            </p:txBody>
          </p:sp>
          <p:sp>
            <p:nvSpPr>
              <p:cNvPr id="62519" name="Line 114"/>
              <p:cNvSpPr>
                <a:spLocks noChangeShapeType="1"/>
              </p:cNvSpPr>
              <p:nvPr/>
            </p:nvSpPr>
            <p:spPr bwMode="auto">
              <a:xfrm>
                <a:off x="2236" y="3493"/>
                <a:ext cx="326" cy="0"/>
              </a:xfrm>
              <a:prstGeom prst="line">
                <a:avLst/>
              </a:prstGeom>
              <a:noFill/>
              <a:ln w="28575">
                <a:solidFill>
                  <a:srgbClr val="CC0000"/>
                </a:solidFill>
                <a:round/>
                <a:headEnd/>
                <a:tailEnd type="triangle" w="med" len="med"/>
              </a:ln>
            </p:spPr>
            <p:txBody>
              <a:bodyPr/>
              <a:lstStyle/>
              <a:p>
                <a:endParaRPr lang="zh-CN" altLang="en-US"/>
              </a:p>
            </p:txBody>
          </p:sp>
        </p:grpSp>
      </p:grpSp>
      <p:grpSp>
        <p:nvGrpSpPr>
          <p:cNvPr id="24" name="Group 115"/>
          <p:cNvGrpSpPr>
            <a:grpSpLocks/>
          </p:cNvGrpSpPr>
          <p:nvPr/>
        </p:nvGrpSpPr>
        <p:grpSpPr bwMode="auto">
          <a:xfrm>
            <a:off x="6084888" y="765175"/>
            <a:ext cx="1676400" cy="1668463"/>
            <a:chOff x="1428" y="2044"/>
            <a:chExt cx="1056" cy="1051"/>
          </a:xfrm>
        </p:grpSpPr>
        <p:sp>
          <p:nvSpPr>
            <p:cNvPr id="62500" name="Oval 116"/>
            <p:cNvSpPr>
              <a:spLocks noChangeArrowheads="1"/>
            </p:cNvSpPr>
            <p:nvPr/>
          </p:nvSpPr>
          <p:spPr bwMode="auto">
            <a:xfrm>
              <a:off x="1429" y="2052"/>
              <a:ext cx="1043" cy="1043"/>
            </a:xfrm>
            <a:prstGeom prst="ellipse">
              <a:avLst/>
            </a:prstGeom>
            <a:noFill/>
            <a:ln w="28575" algn="ctr">
              <a:solidFill>
                <a:srgbClr val="FF3300"/>
              </a:solidFill>
              <a:round/>
              <a:headEnd/>
              <a:tailEnd/>
            </a:ln>
          </p:spPr>
          <p:txBody>
            <a:bodyPr wrap="none" anchor="ctr"/>
            <a:lstStyle/>
            <a:p>
              <a:endParaRPr lang="zh-CN" altLang="en-US"/>
            </a:p>
          </p:txBody>
        </p:sp>
        <p:sp>
          <p:nvSpPr>
            <p:cNvPr id="62501" name="Oval 117"/>
            <p:cNvSpPr>
              <a:spLocks noChangeArrowheads="1"/>
            </p:cNvSpPr>
            <p:nvPr/>
          </p:nvSpPr>
          <p:spPr bwMode="auto">
            <a:xfrm>
              <a:off x="1768" y="2044"/>
              <a:ext cx="362" cy="1043"/>
            </a:xfrm>
            <a:prstGeom prst="ellipse">
              <a:avLst/>
            </a:prstGeom>
            <a:noFill/>
            <a:ln w="28575" algn="ctr">
              <a:solidFill>
                <a:srgbClr val="FF3300"/>
              </a:solidFill>
              <a:round/>
              <a:headEnd/>
              <a:tailEnd/>
            </a:ln>
          </p:spPr>
          <p:txBody>
            <a:bodyPr wrap="none" anchor="ctr"/>
            <a:lstStyle/>
            <a:p>
              <a:endParaRPr lang="zh-CN" altLang="en-US"/>
            </a:p>
          </p:txBody>
        </p:sp>
        <p:sp>
          <p:nvSpPr>
            <p:cNvPr id="62502" name="Oval 118"/>
            <p:cNvSpPr>
              <a:spLocks noChangeArrowheads="1"/>
            </p:cNvSpPr>
            <p:nvPr/>
          </p:nvSpPr>
          <p:spPr bwMode="auto">
            <a:xfrm>
              <a:off x="1428" y="2415"/>
              <a:ext cx="1056" cy="372"/>
            </a:xfrm>
            <a:prstGeom prst="ellipse">
              <a:avLst/>
            </a:prstGeom>
            <a:noFill/>
            <a:ln w="28575">
              <a:solidFill>
                <a:srgbClr val="FF3300"/>
              </a:solidFill>
              <a:round/>
              <a:headEnd/>
              <a:tailEnd/>
            </a:ln>
          </p:spPr>
          <p:txBody>
            <a:bodyPr wrap="none" anchor="ctr"/>
            <a:lstStyle/>
            <a:p>
              <a:endParaRPr lang="zh-CN" altLang="en-US"/>
            </a:p>
          </p:txBody>
        </p:sp>
        <p:sp>
          <p:nvSpPr>
            <p:cNvPr id="62503" name="Oval 119"/>
            <p:cNvSpPr>
              <a:spLocks noChangeArrowheads="1"/>
            </p:cNvSpPr>
            <p:nvPr/>
          </p:nvSpPr>
          <p:spPr bwMode="auto">
            <a:xfrm>
              <a:off x="1932" y="2571"/>
              <a:ext cx="48" cy="48"/>
            </a:xfrm>
            <a:prstGeom prst="ellipse">
              <a:avLst/>
            </a:prstGeom>
            <a:noFill/>
            <a:ln w="28575">
              <a:solidFill>
                <a:srgbClr val="FF3300"/>
              </a:solidFill>
              <a:round/>
              <a:headEnd/>
              <a:tailEnd/>
            </a:ln>
          </p:spPr>
          <p:txBody>
            <a:bodyPr wrap="none" anchor="ctr"/>
            <a:lstStyle/>
            <a:p>
              <a:endParaRPr lang="zh-CN" altLang="en-US"/>
            </a:p>
          </p:txBody>
        </p:sp>
      </p:grpSp>
      <p:sp>
        <p:nvSpPr>
          <p:cNvPr id="69752" name="Text Box 120"/>
          <p:cNvSpPr txBox="1">
            <a:spLocks noChangeArrowheads="1"/>
          </p:cNvSpPr>
          <p:nvPr/>
        </p:nvSpPr>
        <p:spPr bwMode="auto">
          <a:xfrm>
            <a:off x="6948488" y="2636838"/>
            <a:ext cx="1219200" cy="457200"/>
          </a:xfrm>
          <a:prstGeom prst="rect">
            <a:avLst/>
          </a:prstGeom>
          <a:noFill/>
          <a:ln w="9525">
            <a:noFill/>
            <a:miter lim="800000"/>
            <a:headEnd/>
            <a:tailEnd/>
          </a:ln>
        </p:spPr>
        <p:txBody>
          <a:bodyPr>
            <a:spAutoFit/>
          </a:bodyPr>
          <a:lstStyle/>
          <a:p>
            <a:pPr eaLnBrk="0" hangingPunct="0">
              <a:spcBef>
                <a:spcPct val="50000"/>
              </a:spcBef>
            </a:pPr>
            <a:r>
              <a:rPr lang="zh-CN" altLang="en-US" b="1">
                <a:solidFill>
                  <a:srgbClr val="9900CC"/>
                </a:solidFill>
                <a:latin typeface="Bookman Old Style" pitchFamily="18" charset="0"/>
                <a:ea typeface="楷体_GB2312" pitchFamily="49" charset="-122"/>
              </a:rPr>
              <a:t>球面波</a:t>
            </a:r>
          </a:p>
        </p:txBody>
      </p:sp>
      <p:grpSp>
        <p:nvGrpSpPr>
          <p:cNvPr id="25" name="Group 121"/>
          <p:cNvGrpSpPr>
            <a:grpSpLocks/>
          </p:cNvGrpSpPr>
          <p:nvPr/>
        </p:nvGrpSpPr>
        <p:grpSpPr bwMode="auto">
          <a:xfrm>
            <a:off x="5795963" y="404813"/>
            <a:ext cx="2362200" cy="2362200"/>
            <a:chOff x="3744" y="1680"/>
            <a:chExt cx="1488" cy="1488"/>
          </a:xfrm>
        </p:grpSpPr>
        <p:sp>
          <p:nvSpPr>
            <p:cNvPr id="62496" name="Line 122"/>
            <p:cNvSpPr>
              <a:spLocks noChangeShapeType="1"/>
            </p:cNvSpPr>
            <p:nvPr/>
          </p:nvSpPr>
          <p:spPr bwMode="auto">
            <a:xfrm flipH="1">
              <a:off x="3923" y="1891"/>
              <a:ext cx="1088" cy="1134"/>
            </a:xfrm>
            <a:prstGeom prst="line">
              <a:avLst/>
            </a:prstGeom>
            <a:noFill/>
            <a:ln w="19050">
              <a:solidFill>
                <a:schemeClr val="tx2"/>
              </a:solidFill>
              <a:round/>
              <a:headEnd type="triangle" w="sm" len="lg"/>
              <a:tailEnd type="triangle" w="sm" len="lg"/>
            </a:ln>
          </p:spPr>
          <p:txBody>
            <a:bodyPr/>
            <a:lstStyle/>
            <a:p>
              <a:endParaRPr lang="zh-CN" altLang="en-US"/>
            </a:p>
          </p:txBody>
        </p:sp>
        <p:sp>
          <p:nvSpPr>
            <p:cNvPr id="62497" name="Line 123"/>
            <p:cNvSpPr>
              <a:spLocks noChangeShapeType="1"/>
            </p:cNvSpPr>
            <p:nvPr/>
          </p:nvSpPr>
          <p:spPr bwMode="auto">
            <a:xfrm rot="15890064" flipH="1">
              <a:off x="3889" y="1880"/>
              <a:ext cx="1089" cy="1134"/>
            </a:xfrm>
            <a:prstGeom prst="line">
              <a:avLst/>
            </a:prstGeom>
            <a:noFill/>
            <a:ln w="19050">
              <a:solidFill>
                <a:schemeClr val="tx2"/>
              </a:solidFill>
              <a:round/>
              <a:headEnd type="triangle" w="sm" len="lg"/>
              <a:tailEnd type="triangle" w="sm" len="lg"/>
            </a:ln>
          </p:spPr>
          <p:txBody>
            <a:bodyPr/>
            <a:lstStyle/>
            <a:p>
              <a:endParaRPr lang="zh-CN" altLang="en-US"/>
            </a:p>
          </p:txBody>
        </p:sp>
        <p:sp>
          <p:nvSpPr>
            <p:cNvPr id="62498" name="Line 124"/>
            <p:cNvSpPr>
              <a:spLocks noChangeShapeType="1"/>
            </p:cNvSpPr>
            <p:nvPr/>
          </p:nvSpPr>
          <p:spPr bwMode="auto">
            <a:xfrm>
              <a:off x="3744" y="2472"/>
              <a:ext cx="1488" cy="0"/>
            </a:xfrm>
            <a:prstGeom prst="line">
              <a:avLst/>
            </a:prstGeom>
            <a:noFill/>
            <a:ln w="19050">
              <a:solidFill>
                <a:schemeClr val="tx2"/>
              </a:solidFill>
              <a:round/>
              <a:headEnd type="triangle" w="sm" len="lg"/>
              <a:tailEnd type="triangle" w="sm" len="lg"/>
            </a:ln>
          </p:spPr>
          <p:txBody>
            <a:bodyPr/>
            <a:lstStyle/>
            <a:p>
              <a:endParaRPr lang="zh-CN" altLang="en-US"/>
            </a:p>
          </p:txBody>
        </p:sp>
        <p:sp>
          <p:nvSpPr>
            <p:cNvPr id="62499" name="Line 125"/>
            <p:cNvSpPr>
              <a:spLocks noChangeShapeType="1"/>
            </p:cNvSpPr>
            <p:nvPr/>
          </p:nvSpPr>
          <p:spPr bwMode="auto">
            <a:xfrm>
              <a:off x="4464" y="1680"/>
              <a:ext cx="0" cy="1488"/>
            </a:xfrm>
            <a:prstGeom prst="line">
              <a:avLst/>
            </a:prstGeom>
            <a:noFill/>
            <a:ln w="19050">
              <a:solidFill>
                <a:schemeClr val="tx2"/>
              </a:solidFill>
              <a:round/>
              <a:headEnd type="triangle" w="sm" len="lg"/>
              <a:tailEnd type="triangle" w="sm" len="lg"/>
            </a:ln>
          </p:spPr>
          <p:txBody>
            <a:bodyPr/>
            <a:lstStyle/>
            <a:p>
              <a:endParaRPr lang="zh-CN" altLang="en-US"/>
            </a:p>
          </p:txBody>
        </p:sp>
      </p:grpSp>
      <p:sp>
        <p:nvSpPr>
          <p:cNvPr id="69758" name="AutoShape 126"/>
          <p:cNvSpPr>
            <a:spLocks noChangeArrowheads="1"/>
          </p:cNvSpPr>
          <p:nvPr/>
        </p:nvSpPr>
        <p:spPr bwMode="auto">
          <a:xfrm>
            <a:off x="7854950" y="544513"/>
            <a:ext cx="1038225" cy="649287"/>
          </a:xfrm>
          <a:prstGeom prst="wedgeEllipseCallout">
            <a:avLst>
              <a:gd name="adj1" fmla="val -71102"/>
              <a:gd name="adj2" fmla="val 68338"/>
            </a:avLst>
          </a:prstGeom>
          <a:solidFill>
            <a:schemeClr val="bg1"/>
          </a:solidFill>
          <a:ln w="15875">
            <a:solidFill>
              <a:srgbClr val="00FF00"/>
            </a:solidFill>
            <a:miter lim="800000"/>
            <a:headEnd/>
            <a:tailEnd/>
          </a:ln>
        </p:spPr>
        <p:txBody>
          <a:bodyPr/>
          <a:lstStyle/>
          <a:p>
            <a:pPr eaLnBrk="0" hangingPunct="0">
              <a:spcBef>
                <a:spcPct val="50000"/>
              </a:spcBef>
            </a:pPr>
            <a:r>
              <a:rPr lang="zh-CN" altLang="en-US" sz="2000" b="1">
                <a:solidFill>
                  <a:schemeClr val="accent2"/>
                </a:solidFill>
              </a:rPr>
              <a:t>波面</a:t>
            </a:r>
          </a:p>
          <a:p>
            <a:pPr algn="ctr"/>
            <a:endParaRPr lang="en-US" altLang="zh-CN" sz="2000">
              <a:solidFill>
                <a:schemeClr val="accent2"/>
              </a:solidFill>
            </a:endParaRPr>
          </a:p>
        </p:txBody>
      </p:sp>
      <p:sp>
        <p:nvSpPr>
          <p:cNvPr id="69759" name="AutoShape 127"/>
          <p:cNvSpPr>
            <a:spLocks noChangeArrowheads="1"/>
          </p:cNvSpPr>
          <p:nvPr/>
        </p:nvSpPr>
        <p:spPr bwMode="auto">
          <a:xfrm>
            <a:off x="8101013" y="1768475"/>
            <a:ext cx="863600" cy="503238"/>
          </a:xfrm>
          <a:prstGeom prst="wedgeRoundRectCallout">
            <a:avLst>
              <a:gd name="adj1" fmla="val -84741"/>
              <a:gd name="adj2" fmla="val 69875"/>
              <a:gd name="adj3" fmla="val 16667"/>
            </a:avLst>
          </a:prstGeom>
          <a:solidFill>
            <a:schemeClr val="bg1"/>
          </a:solidFill>
          <a:ln w="15875">
            <a:solidFill>
              <a:srgbClr val="00FF00"/>
            </a:solidFill>
            <a:miter lim="800000"/>
            <a:headEnd/>
            <a:tailEnd/>
          </a:ln>
        </p:spPr>
        <p:txBody>
          <a:bodyPr/>
          <a:lstStyle/>
          <a:p>
            <a:pPr algn="ctr"/>
            <a:r>
              <a:rPr lang="zh-CN" altLang="en-US" sz="2000" b="1">
                <a:solidFill>
                  <a:schemeClr val="accent2"/>
                </a:solidFill>
              </a:rPr>
              <a:t>波线</a:t>
            </a:r>
          </a:p>
        </p:txBody>
      </p:sp>
      <p:sp>
        <p:nvSpPr>
          <p:cNvPr id="69760" name="AutoShape 128"/>
          <p:cNvSpPr>
            <a:spLocks noChangeArrowheads="1"/>
          </p:cNvSpPr>
          <p:nvPr/>
        </p:nvSpPr>
        <p:spPr bwMode="auto">
          <a:xfrm>
            <a:off x="323850" y="5084763"/>
            <a:ext cx="1152525" cy="649287"/>
          </a:xfrm>
          <a:prstGeom prst="wedgeEllipseCallout">
            <a:avLst>
              <a:gd name="adj1" fmla="val 61296"/>
              <a:gd name="adj2" fmla="val -29708"/>
            </a:avLst>
          </a:prstGeom>
          <a:solidFill>
            <a:schemeClr val="bg1"/>
          </a:solidFill>
          <a:ln w="15875">
            <a:solidFill>
              <a:srgbClr val="00FF00"/>
            </a:solidFill>
            <a:miter lim="800000"/>
            <a:headEnd/>
            <a:tailEnd/>
          </a:ln>
        </p:spPr>
        <p:txBody>
          <a:bodyPr/>
          <a:lstStyle/>
          <a:p>
            <a:pPr eaLnBrk="0" hangingPunct="0">
              <a:spcBef>
                <a:spcPct val="50000"/>
              </a:spcBef>
            </a:pPr>
            <a:r>
              <a:rPr lang="zh-CN" altLang="en-US" sz="2000" b="1">
                <a:solidFill>
                  <a:schemeClr val="accent2"/>
                </a:solidFill>
              </a:rPr>
              <a:t>波面</a:t>
            </a:r>
          </a:p>
          <a:p>
            <a:pPr algn="ctr"/>
            <a:endParaRPr lang="en-US" altLang="zh-CN" sz="2000"/>
          </a:p>
        </p:txBody>
      </p:sp>
      <p:sp>
        <p:nvSpPr>
          <p:cNvPr id="69761" name="AutoShape 129"/>
          <p:cNvSpPr>
            <a:spLocks noChangeArrowheads="1"/>
          </p:cNvSpPr>
          <p:nvPr/>
        </p:nvSpPr>
        <p:spPr bwMode="auto">
          <a:xfrm>
            <a:off x="3851275" y="5516563"/>
            <a:ext cx="863600" cy="503237"/>
          </a:xfrm>
          <a:prstGeom prst="wedgeRoundRectCallout">
            <a:avLst>
              <a:gd name="adj1" fmla="val -58088"/>
              <a:gd name="adj2" fmla="val -138958"/>
              <a:gd name="adj3" fmla="val 16667"/>
            </a:avLst>
          </a:prstGeom>
          <a:solidFill>
            <a:schemeClr val="bg1"/>
          </a:solidFill>
          <a:ln w="15875">
            <a:solidFill>
              <a:srgbClr val="00FF00"/>
            </a:solidFill>
            <a:miter lim="800000"/>
            <a:headEnd/>
            <a:tailEnd/>
          </a:ln>
        </p:spPr>
        <p:txBody>
          <a:bodyPr/>
          <a:lstStyle/>
          <a:p>
            <a:pPr algn="ctr"/>
            <a:r>
              <a:rPr lang="zh-CN" altLang="en-US" sz="2000" b="1">
                <a:solidFill>
                  <a:schemeClr val="accent2"/>
                </a:solidFill>
              </a:rPr>
              <a:t>波线</a:t>
            </a:r>
          </a:p>
        </p:txBody>
      </p:sp>
      <p:sp>
        <p:nvSpPr>
          <p:cNvPr id="69762" name="Text Box 130"/>
          <p:cNvSpPr txBox="1">
            <a:spLocks noChangeArrowheads="1"/>
          </p:cNvSpPr>
          <p:nvPr/>
        </p:nvSpPr>
        <p:spPr bwMode="auto">
          <a:xfrm>
            <a:off x="1835150" y="5564188"/>
            <a:ext cx="1219200" cy="457200"/>
          </a:xfrm>
          <a:prstGeom prst="rect">
            <a:avLst/>
          </a:prstGeom>
          <a:noFill/>
          <a:ln w="9525">
            <a:noFill/>
            <a:miter lim="800000"/>
            <a:headEnd/>
            <a:tailEnd/>
          </a:ln>
        </p:spPr>
        <p:txBody>
          <a:bodyPr>
            <a:spAutoFit/>
          </a:bodyPr>
          <a:lstStyle/>
          <a:p>
            <a:pPr eaLnBrk="0" hangingPunct="0">
              <a:spcBef>
                <a:spcPct val="50000"/>
              </a:spcBef>
            </a:pPr>
            <a:r>
              <a:rPr lang="zh-CN" altLang="en-US" b="1">
                <a:solidFill>
                  <a:srgbClr val="9900CC"/>
                </a:solidFill>
                <a:latin typeface="Bookman Old Style" pitchFamily="18" charset="0"/>
                <a:ea typeface="楷体_GB2312" pitchFamily="49" charset="-122"/>
              </a:rPr>
              <a:t>平面波</a:t>
            </a:r>
          </a:p>
        </p:txBody>
      </p:sp>
      <p:sp>
        <p:nvSpPr>
          <p:cNvPr id="69763" name="Text Box 131"/>
          <p:cNvSpPr txBox="1">
            <a:spLocks noChangeArrowheads="1"/>
          </p:cNvSpPr>
          <p:nvPr/>
        </p:nvSpPr>
        <p:spPr bwMode="auto">
          <a:xfrm>
            <a:off x="250825" y="404813"/>
            <a:ext cx="4465638" cy="457200"/>
          </a:xfrm>
          <a:prstGeom prst="rect">
            <a:avLst/>
          </a:prstGeom>
          <a:noFill/>
          <a:ln w="9525">
            <a:noFill/>
            <a:miter lim="800000"/>
            <a:headEnd/>
            <a:tailEnd/>
          </a:ln>
        </p:spPr>
        <p:txBody>
          <a:bodyPr>
            <a:spAutoFit/>
          </a:bodyPr>
          <a:lstStyle/>
          <a:p>
            <a:pPr>
              <a:spcBef>
                <a:spcPct val="30000"/>
              </a:spcBef>
            </a:pPr>
            <a:r>
              <a:rPr lang="zh-CN" altLang="en-US" b="1">
                <a:solidFill>
                  <a:schemeClr val="accent2"/>
                </a:solidFill>
              </a:rPr>
              <a:t>四、</a:t>
            </a:r>
            <a:r>
              <a:rPr lang="zh-CN" altLang="en-US" b="1">
                <a:solidFill>
                  <a:srgbClr val="0000FF"/>
                </a:solidFill>
                <a:latin typeface="宋体" pitchFamily="2" charset="-122"/>
              </a:rPr>
              <a:t>波线、波面和波前</a:t>
            </a:r>
          </a:p>
        </p:txBody>
      </p:sp>
      <p:sp>
        <p:nvSpPr>
          <p:cNvPr id="69769" name="Text Box 137"/>
          <p:cNvSpPr txBox="1">
            <a:spLocks noChangeArrowheads="1"/>
          </p:cNvSpPr>
          <p:nvPr/>
        </p:nvSpPr>
        <p:spPr bwMode="auto">
          <a:xfrm>
            <a:off x="900113" y="1557338"/>
            <a:ext cx="4876800" cy="1006475"/>
          </a:xfrm>
          <a:prstGeom prst="rect">
            <a:avLst/>
          </a:prstGeom>
          <a:noFill/>
          <a:ln w="9525">
            <a:noFill/>
            <a:miter lim="800000"/>
            <a:headEnd/>
            <a:tailEnd/>
          </a:ln>
        </p:spPr>
        <p:txBody>
          <a:bodyPr>
            <a:spAutoFit/>
          </a:bodyPr>
          <a:lstStyle/>
          <a:p>
            <a:pPr eaLnBrk="0" hangingPunct="0">
              <a:lnSpc>
                <a:spcPct val="125000"/>
              </a:lnSpc>
              <a:spcBef>
                <a:spcPct val="50000"/>
              </a:spcBef>
            </a:pPr>
            <a:r>
              <a:rPr lang="zh-CN" altLang="en-US" b="1"/>
              <a:t>在波传播过程中，任一时刻媒质中振动相位相同的点联结成的面。</a:t>
            </a:r>
            <a:endParaRPr lang="zh-CN" altLang="en-US" sz="1200" b="1"/>
          </a:p>
        </p:txBody>
      </p:sp>
      <p:sp>
        <p:nvSpPr>
          <p:cNvPr id="69770" name="Rectangle 138"/>
          <p:cNvSpPr>
            <a:spLocks noChangeArrowheads="1"/>
          </p:cNvSpPr>
          <p:nvPr/>
        </p:nvSpPr>
        <p:spPr bwMode="auto">
          <a:xfrm>
            <a:off x="88900" y="1655763"/>
            <a:ext cx="1027113" cy="457200"/>
          </a:xfrm>
          <a:prstGeom prst="rect">
            <a:avLst/>
          </a:prstGeom>
          <a:noFill/>
          <a:ln w="9525">
            <a:noFill/>
            <a:miter lim="800000"/>
            <a:headEnd/>
            <a:tailEnd/>
          </a:ln>
        </p:spPr>
        <p:txBody>
          <a:bodyPr>
            <a:spAutoFit/>
          </a:bodyPr>
          <a:lstStyle/>
          <a:p>
            <a:r>
              <a:rPr lang="zh-CN" altLang="en-US" b="1">
                <a:solidFill>
                  <a:srgbClr val="FF0000"/>
                </a:solidFill>
                <a:latin typeface="仿宋_GB2312" pitchFamily="49" charset="-122"/>
              </a:rPr>
              <a:t>波面</a:t>
            </a:r>
            <a:r>
              <a:rPr lang="en-US" altLang="zh-CN" b="1">
                <a:solidFill>
                  <a:srgbClr val="FF0000"/>
                </a:solidFill>
                <a:latin typeface="仿宋_GB2312" pitchFamily="49" charset="-122"/>
              </a:rPr>
              <a:t>:</a:t>
            </a:r>
          </a:p>
        </p:txBody>
      </p:sp>
      <p:sp>
        <p:nvSpPr>
          <p:cNvPr id="69771" name="AutoShape 139">
            <a:hlinkClick r:id="rId3" action="ppaction://hlinksldjump" highlightClick="1"/>
          </p:cNvPr>
          <p:cNvSpPr>
            <a:spLocks noChangeArrowheads="1"/>
          </p:cNvSpPr>
          <p:nvPr/>
        </p:nvSpPr>
        <p:spPr bwMode="auto">
          <a:xfrm>
            <a:off x="8577263" y="6173788"/>
            <a:ext cx="287337" cy="287337"/>
          </a:xfrm>
          <a:prstGeom prst="actionButtonBeginning">
            <a:avLst/>
          </a:prstGeom>
          <a:solidFill>
            <a:srgbClr val="99CCFF"/>
          </a:solidFill>
          <a:ln w="9525">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97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69637"/>
                                        </p:tgtEl>
                                        <p:attrNameLst>
                                          <p:attrName>style.visibility</p:attrName>
                                        </p:attrNameLst>
                                      </p:cBhvr>
                                      <p:to>
                                        <p:strVal val="visible"/>
                                      </p:to>
                                    </p:set>
                                    <p:animEffect transition="in" filter="wipe(left)">
                                      <p:cBhvr>
                                        <p:cTn id="11" dur="500"/>
                                        <p:tgtEl>
                                          <p:spTgt spid="6963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9634"/>
                                        </p:tgtEl>
                                        <p:attrNameLst>
                                          <p:attrName>style.visibility</p:attrName>
                                        </p:attrNameLst>
                                      </p:cBhvr>
                                      <p:to>
                                        <p:strVal val="visible"/>
                                      </p:to>
                                    </p:set>
                                    <p:animEffect transition="in" filter="wipe(left)">
                                      <p:cBhvr>
                                        <p:cTn id="16" dur="500"/>
                                        <p:tgtEl>
                                          <p:spTgt spid="696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9770"/>
                                        </p:tgtEl>
                                        <p:attrNameLst>
                                          <p:attrName>style.visibility</p:attrName>
                                        </p:attrNameLst>
                                      </p:cBhvr>
                                      <p:to>
                                        <p:strVal val="visible"/>
                                      </p:to>
                                    </p:set>
                                    <p:animEffect transition="in" filter="wipe(left)">
                                      <p:cBhvr>
                                        <p:cTn id="21" dur="500"/>
                                        <p:tgtEl>
                                          <p:spTgt spid="6977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9769"/>
                                        </p:tgtEl>
                                        <p:attrNameLst>
                                          <p:attrName>style.visibility</p:attrName>
                                        </p:attrNameLst>
                                      </p:cBhvr>
                                      <p:to>
                                        <p:strVal val="visible"/>
                                      </p:to>
                                    </p:set>
                                    <p:animEffect transition="in" filter="wipe(left)">
                                      <p:cBhvr>
                                        <p:cTn id="26" dur="500"/>
                                        <p:tgtEl>
                                          <p:spTgt spid="6976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9638"/>
                                        </p:tgtEl>
                                        <p:attrNameLst>
                                          <p:attrName>style.visibility</p:attrName>
                                        </p:attrNameLst>
                                      </p:cBhvr>
                                      <p:to>
                                        <p:strVal val="visible"/>
                                      </p:to>
                                    </p:set>
                                    <p:animEffect transition="in" filter="wipe(left)">
                                      <p:cBhvr>
                                        <p:cTn id="31" dur="500"/>
                                        <p:tgtEl>
                                          <p:spTgt spid="6963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9639"/>
                                        </p:tgtEl>
                                        <p:attrNameLst>
                                          <p:attrName>style.visibility</p:attrName>
                                        </p:attrNameLst>
                                      </p:cBhvr>
                                      <p:to>
                                        <p:strVal val="visible"/>
                                      </p:to>
                                    </p:set>
                                    <p:animEffect transition="in" filter="wipe(left)">
                                      <p:cBhvr>
                                        <p:cTn id="36" dur="500"/>
                                        <p:tgtEl>
                                          <p:spTgt spid="6963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500"/>
                                        <p:tgtEl>
                                          <p:spTgt spid="11"/>
                                        </p:tgtEl>
                                      </p:cBhvr>
                                    </p:animEffect>
                                  </p:childTnLst>
                                </p:cTn>
                              </p:par>
                            </p:childTnLst>
                          </p:cTn>
                        </p:par>
                        <p:par>
                          <p:cTn id="42" fill="hold">
                            <p:stCondLst>
                              <p:cond delay="500"/>
                            </p:stCondLst>
                            <p:childTnLst>
                              <p:par>
                                <p:cTn id="43" presetID="22" presetClass="entr" presetSubtype="4" fill="hold" grpId="0" nodeType="afterEffect">
                                  <p:stCondLst>
                                    <p:cond delay="0"/>
                                  </p:stCondLst>
                                  <p:childTnLst>
                                    <p:set>
                                      <p:cBhvr>
                                        <p:cTn id="44" dur="1" fill="hold">
                                          <p:stCondLst>
                                            <p:cond delay="0"/>
                                          </p:stCondLst>
                                        </p:cTn>
                                        <p:tgtEl>
                                          <p:spTgt spid="69761"/>
                                        </p:tgtEl>
                                        <p:attrNameLst>
                                          <p:attrName>style.visibility</p:attrName>
                                        </p:attrNameLst>
                                      </p:cBhvr>
                                      <p:to>
                                        <p:strVal val="visible"/>
                                      </p:to>
                                    </p:set>
                                    <p:animEffect transition="in" filter="wipe(down)">
                                      <p:cBhvr>
                                        <p:cTn id="45" dur="500"/>
                                        <p:tgtEl>
                                          <p:spTgt spid="69761"/>
                                        </p:tgtEl>
                                      </p:cBhvr>
                                    </p:animEffect>
                                  </p:childTnLst>
                                </p:cTn>
                              </p:par>
                              <p:par>
                                <p:cTn id="46" presetID="22" presetClass="entr" presetSubtype="8" fill="hold" nodeType="with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wipe(left)">
                                      <p:cBhvr>
                                        <p:cTn id="48" dur="500"/>
                                        <p:tgtEl>
                                          <p:spTgt spid="4"/>
                                        </p:tgtEl>
                                      </p:cBhvr>
                                    </p:animEffect>
                                  </p:childTnLst>
                                </p:cTn>
                              </p:par>
                            </p:childTnLst>
                          </p:cTn>
                        </p:par>
                        <p:par>
                          <p:cTn id="49" fill="hold">
                            <p:stCondLst>
                              <p:cond delay="1000"/>
                            </p:stCondLst>
                            <p:childTnLst>
                              <p:par>
                                <p:cTn id="50" presetID="22" presetClass="entr" presetSubtype="4" fill="hold" grpId="0" nodeType="afterEffect">
                                  <p:stCondLst>
                                    <p:cond delay="0"/>
                                  </p:stCondLst>
                                  <p:childTnLst>
                                    <p:set>
                                      <p:cBhvr>
                                        <p:cTn id="51" dur="1" fill="hold">
                                          <p:stCondLst>
                                            <p:cond delay="0"/>
                                          </p:stCondLst>
                                        </p:cTn>
                                        <p:tgtEl>
                                          <p:spTgt spid="69760"/>
                                        </p:tgtEl>
                                        <p:attrNameLst>
                                          <p:attrName>style.visibility</p:attrName>
                                        </p:attrNameLst>
                                      </p:cBhvr>
                                      <p:to>
                                        <p:strVal val="visible"/>
                                      </p:to>
                                    </p:set>
                                    <p:animEffect transition="in" filter="wipe(down)">
                                      <p:cBhvr>
                                        <p:cTn id="52" dur="500"/>
                                        <p:tgtEl>
                                          <p:spTgt spid="69760"/>
                                        </p:tgtEl>
                                      </p:cBhvr>
                                    </p:animEffect>
                                  </p:childTnLst>
                                </p:cTn>
                              </p:par>
                            </p:childTnLst>
                          </p:cTn>
                        </p:par>
                        <p:par>
                          <p:cTn id="53" fill="hold">
                            <p:stCondLst>
                              <p:cond delay="1500"/>
                            </p:stCondLst>
                            <p:childTnLst>
                              <p:par>
                                <p:cTn id="54" presetID="22" presetClass="entr" presetSubtype="4" fill="hold" grpId="0" nodeType="afterEffect">
                                  <p:stCondLst>
                                    <p:cond delay="0"/>
                                  </p:stCondLst>
                                  <p:childTnLst>
                                    <p:set>
                                      <p:cBhvr>
                                        <p:cTn id="55" dur="1" fill="hold">
                                          <p:stCondLst>
                                            <p:cond delay="0"/>
                                          </p:stCondLst>
                                        </p:cTn>
                                        <p:tgtEl>
                                          <p:spTgt spid="69762"/>
                                        </p:tgtEl>
                                        <p:attrNameLst>
                                          <p:attrName>style.visibility</p:attrName>
                                        </p:attrNameLst>
                                      </p:cBhvr>
                                      <p:to>
                                        <p:strVal val="visible"/>
                                      </p:to>
                                    </p:set>
                                    <p:animEffect transition="in" filter="wipe(down)">
                                      <p:cBhvr>
                                        <p:cTn id="56" dur="500"/>
                                        <p:tgtEl>
                                          <p:spTgt spid="69762"/>
                                        </p:tgtEl>
                                      </p:cBhvr>
                                    </p:animEffect>
                                  </p:childTnLst>
                                </p:cTn>
                              </p:par>
                            </p:childTnLst>
                          </p:cTn>
                        </p:par>
                      </p:childTnLst>
                    </p:cTn>
                  </p:par>
                  <p:par>
                    <p:cTn id="57" fill="hold">
                      <p:stCondLst>
                        <p:cond delay="indefinite"/>
                      </p:stCondLst>
                      <p:childTnLst>
                        <p:par>
                          <p:cTn id="58" fill="hold">
                            <p:stCondLst>
                              <p:cond delay="0"/>
                            </p:stCondLst>
                            <p:childTnLst>
                              <p:par>
                                <p:cTn id="59" presetID="4" presetClass="entr" presetSubtype="32" fill="hold" nodeType="click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box(out)">
                                      <p:cBhvr>
                                        <p:cTn id="61" dur="500"/>
                                        <p:tgtEl>
                                          <p:spTgt spid="3"/>
                                        </p:tgtEl>
                                      </p:cBhvr>
                                    </p:animEffect>
                                  </p:childTnLst>
                                </p:cTn>
                              </p:par>
                            </p:childTnLst>
                          </p:cTn>
                        </p:par>
                        <p:par>
                          <p:cTn id="62" fill="hold">
                            <p:stCondLst>
                              <p:cond delay="500"/>
                            </p:stCondLst>
                            <p:childTnLst>
                              <p:par>
                                <p:cTn id="63" presetID="22" presetClass="entr" presetSubtype="4" fill="hold" grpId="0" nodeType="afterEffect">
                                  <p:stCondLst>
                                    <p:cond delay="0"/>
                                  </p:stCondLst>
                                  <p:childTnLst>
                                    <p:set>
                                      <p:cBhvr>
                                        <p:cTn id="64" dur="1" fill="hold">
                                          <p:stCondLst>
                                            <p:cond delay="0"/>
                                          </p:stCondLst>
                                        </p:cTn>
                                        <p:tgtEl>
                                          <p:spTgt spid="69662"/>
                                        </p:tgtEl>
                                        <p:attrNameLst>
                                          <p:attrName>style.visibility</p:attrName>
                                        </p:attrNameLst>
                                      </p:cBhvr>
                                      <p:to>
                                        <p:strVal val="visible"/>
                                      </p:to>
                                    </p:set>
                                    <p:animEffect transition="in" filter="wipe(down)">
                                      <p:cBhvr>
                                        <p:cTn id="65" dur="500"/>
                                        <p:tgtEl>
                                          <p:spTgt spid="69662"/>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499"/>
                                          </p:stCondLst>
                                        </p:cTn>
                                        <p:tgtEl>
                                          <p:spTgt spid="69643"/>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69642"/>
                                        </p:tgtEl>
                                        <p:attrNameLst>
                                          <p:attrName>style.visibility</p:attrName>
                                        </p:attrNameLst>
                                      </p:cBhvr>
                                      <p:to>
                                        <p:strVal val="visible"/>
                                      </p:to>
                                    </p:set>
                                    <p:animEffect transition="in" filter="wipe(up)">
                                      <p:cBhvr>
                                        <p:cTn id="74" dur="500"/>
                                        <p:tgtEl>
                                          <p:spTgt spid="69642"/>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6964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69641"/>
                                        </p:tgtEl>
                                        <p:attrNameLst>
                                          <p:attrName>style.visibility</p:attrName>
                                        </p:attrNameLst>
                                      </p:cBhvr>
                                      <p:to>
                                        <p:strVal val="visible"/>
                                      </p:to>
                                    </p:set>
                                    <p:animEffect transition="in" filter="wipe(down)">
                                      <p:cBhvr>
                                        <p:cTn id="83" dur="500"/>
                                        <p:tgtEl>
                                          <p:spTgt spid="69641"/>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499"/>
                                          </p:stCondLst>
                                        </p:cTn>
                                        <p:tgtEl>
                                          <p:spTgt spid="69645"/>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499"/>
                                          </p:stCondLst>
                                        </p:cTn>
                                        <p:tgtEl>
                                          <p:spTgt spid="69635"/>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6" presetClass="entr" presetSubtype="37" fill="hold" nodeType="clickEffect">
                                  <p:stCondLst>
                                    <p:cond delay="0"/>
                                  </p:stCondLst>
                                  <p:childTnLst>
                                    <p:set>
                                      <p:cBhvr>
                                        <p:cTn id="95" dur="1" fill="hold">
                                          <p:stCondLst>
                                            <p:cond delay="0"/>
                                          </p:stCondLst>
                                        </p:cTn>
                                        <p:tgtEl>
                                          <p:spTgt spid="2"/>
                                        </p:tgtEl>
                                        <p:attrNameLst>
                                          <p:attrName>style.visibility</p:attrName>
                                        </p:attrNameLst>
                                      </p:cBhvr>
                                      <p:to>
                                        <p:strVal val="visible"/>
                                      </p:to>
                                    </p:set>
                                    <p:animEffect transition="in" filter="barn(outVertical)">
                                      <p:cBhvr>
                                        <p:cTn id="96" dur="500"/>
                                        <p:tgtEl>
                                          <p:spTgt spid="2"/>
                                        </p:tgtEl>
                                      </p:cBhvr>
                                    </p:animEffect>
                                  </p:childTnLst>
                                </p:cTn>
                              </p:par>
                            </p:childTnLst>
                          </p:cTn>
                        </p:par>
                        <p:par>
                          <p:cTn id="97" fill="hold">
                            <p:stCondLst>
                              <p:cond delay="500"/>
                            </p:stCondLst>
                            <p:childTnLst>
                              <p:par>
                                <p:cTn id="98" presetID="22" presetClass="entr" presetSubtype="8" fill="hold" grpId="0" nodeType="afterEffect">
                                  <p:stCondLst>
                                    <p:cond delay="0"/>
                                  </p:stCondLst>
                                  <p:childTnLst>
                                    <p:set>
                                      <p:cBhvr>
                                        <p:cTn id="99" dur="1" fill="hold">
                                          <p:stCondLst>
                                            <p:cond delay="0"/>
                                          </p:stCondLst>
                                        </p:cTn>
                                        <p:tgtEl>
                                          <p:spTgt spid="69663"/>
                                        </p:tgtEl>
                                        <p:attrNameLst>
                                          <p:attrName>style.visibility</p:attrName>
                                        </p:attrNameLst>
                                      </p:cBhvr>
                                      <p:to>
                                        <p:strVal val="visible"/>
                                      </p:to>
                                    </p:set>
                                    <p:animEffect transition="in" filter="wipe(left)">
                                      <p:cBhvr>
                                        <p:cTn id="100" dur="500"/>
                                        <p:tgtEl>
                                          <p:spTgt spid="69663"/>
                                        </p:tgtEl>
                                      </p:cBhvr>
                                    </p:animEffect>
                                  </p:childTnLst>
                                </p:cTn>
                              </p:par>
                            </p:childTnLst>
                          </p:cTn>
                        </p:par>
                      </p:childTnLst>
                    </p:cTn>
                  </p:par>
                  <p:par>
                    <p:cTn id="101" fill="hold">
                      <p:stCondLst>
                        <p:cond delay="indefinite"/>
                      </p:stCondLst>
                      <p:childTnLst>
                        <p:par>
                          <p:cTn id="102" fill="hold">
                            <p:stCondLst>
                              <p:cond delay="0"/>
                            </p:stCondLst>
                            <p:childTnLst>
                              <p:par>
                                <p:cTn id="103" presetID="23" presetClass="entr" presetSubtype="16" fill="hold" nodeType="clickEffect">
                                  <p:stCondLst>
                                    <p:cond delay="0"/>
                                  </p:stCondLst>
                                  <p:childTnLst>
                                    <p:set>
                                      <p:cBhvr>
                                        <p:cTn id="104" dur="1" fill="hold">
                                          <p:stCondLst>
                                            <p:cond delay="0"/>
                                          </p:stCondLst>
                                        </p:cTn>
                                        <p:tgtEl>
                                          <p:spTgt spid="24"/>
                                        </p:tgtEl>
                                        <p:attrNameLst>
                                          <p:attrName>style.visibility</p:attrName>
                                        </p:attrNameLst>
                                      </p:cBhvr>
                                      <p:to>
                                        <p:strVal val="visible"/>
                                      </p:to>
                                    </p:set>
                                    <p:anim calcmode="lin" valueType="num">
                                      <p:cBhvr>
                                        <p:cTn id="105" dur="500" fill="hold"/>
                                        <p:tgtEl>
                                          <p:spTgt spid="24"/>
                                        </p:tgtEl>
                                        <p:attrNameLst>
                                          <p:attrName>ppt_w</p:attrName>
                                        </p:attrNameLst>
                                      </p:cBhvr>
                                      <p:tavLst>
                                        <p:tav tm="0">
                                          <p:val>
                                            <p:fltVal val="0"/>
                                          </p:val>
                                        </p:tav>
                                        <p:tav tm="100000">
                                          <p:val>
                                            <p:strVal val="#ppt_w"/>
                                          </p:val>
                                        </p:tav>
                                      </p:tavLst>
                                    </p:anim>
                                    <p:anim calcmode="lin" valueType="num">
                                      <p:cBhvr>
                                        <p:cTn id="106" dur="500" fill="hold"/>
                                        <p:tgtEl>
                                          <p:spTgt spid="24"/>
                                        </p:tgtEl>
                                        <p:attrNameLst>
                                          <p:attrName>ppt_h</p:attrName>
                                        </p:attrNameLst>
                                      </p:cBhvr>
                                      <p:tavLst>
                                        <p:tav tm="0">
                                          <p:val>
                                            <p:fltVal val="0"/>
                                          </p:val>
                                        </p:tav>
                                        <p:tav tm="100000">
                                          <p:val>
                                            <p:strVal val="#ppt_h"/>
                                          </p:val>
                                        </p:tav>
                                      </p:tavLst>
                                    </p:anim>
                                  </p:childTnLst>
                                </p:cTn>
                              </p:par>
                            </p:childTnLst>
                          </p:cTn>
                        </p:par>
                        <p:par>
                          <p:cTn id="107" fill="hold">
                            <p:stCondLst>
                              <p:cond delay="500"/>
                            </p:stCondLst>
                            <p:childTnLst>
                              <p:par>
                                <p:cTn id="108" presetID="22" presetClass="entr" presetSubtype="4" fill="hold" grpId="0" nodeType="afterEffect">
                                  <p:stCondLst>
                                    <p:cond delay="0"/>
                                  </p:stCondLst>
                                  <p:childTnLst>
                                    <p:set>
                                      <p:cBhvr>
                                        <p:cTn id="109" dur="1" fill="hold">
                                          <p:stCondLst>
                                            <p:cond delay="0"/>
                                          </p:stCondLst>
                                        </p:cTn>
                                        <p:tgtEl>
                                          <p:spTgt spid="69758"/>
                                        </p:tgtEl>
                                        <p:attrNameLst>
                                          <p:attrName>style.visibility</p:attrName>
                                        </p:attrNameLst>
                                      </p:cBhvr>
                                      <p:to>
                                        <p:strVal val="visible"/>
                                      </p:to>
                                    </p:set>
                                    <p:animEffect transition="in" filter="wipe(down)">
                                      <p:cBhvr>
                                        <p:cTn id="110" dur="500"/>
                                        <p:tgtEl>
                                          <p:spTgt spid="69758"/>
                                        </p:tgtEl>
                                      </p:cBhvr>
                                    </p:animEffec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499"/>
                                          </p:stCondLst>
                                        </p:cTn>
                                        <p:tgtEl>
                                          <p:spTgt spid="6975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4" presetClass="entr" presetSubtype="32" fill="hold" nodeType="clickEffect">
                                  <p:stCondLst>
                                    <p:cond delay="0"/>
                                  </p:stCondLst>
                                  <p:childTnLst>
                                    <p:set>
                                      <p:cBhvr>
                                        <p:cTn id="118" dur="1" fill="hold">
                                          <p:stCondLst>
                                            <p:cond delay="0"/>
                                          </p:stCondLst>
                                        </p:cTn>
                                        <p:tgtEl>
                                          <p:spTgt spid="25"/>
                                        </p:tgtEl>
                                        <p:attrNameLst>
                                          <p:attrName>style.visibility</p:attrName>
                                        </p:attrNameLst>
                                      </p:cBhvr>
                                      <p:to>
                                        <p:strVal val="visible"/>
                                      </p:to>
                                    </p:set>
                                    <p:animEffect transition="in" filter="box(out)">
                                      <p:cBhvr>
                                        <p:cTn id="119" dur="500"/>
                                        <p:tgtEl>
                                          <p:spTgt spid="25"/>
                                        </p:tgtEl>
                                      </p:cBhvr>
                                    </p:animEffect>
                                  </p:childTnLst>
                                </p:cTn>
                              </p:par>
                            </p:childTnLst>
                          </p:cTn>
                        </p:par>
                        <p:par>
                          <p:cTn id="120" fill="hold">
                            <p:stCondLst>
                              <p:cond delay="500"/>
                            </p:stCondLst>
                            <p:childTnLst>
                              <p:par>
                                <p:cTn id="121" presetID="22" presetClass="entr" presetSubtype="4" fill="hold" grpId="0" nodeType="afterEffect">
                                  <p:stCondLst>
                                    <p:cond delay="0"/>
                                  </p:stCondLst>
                                  <p:childTnLst>
                                    <p:set>
                                      <p:cBhvr>
                                        <p:cTn id="122" dur="1" fill="hold">
                                          <p:stCondLst>
                                            <p:cond delay="0"/>
                                          </p:stCondLst>
                                        </p:cTn>
                                        <p:tgtEl>
                                          <p:spTgt spid="69759"/>
                                        </p:tgtEl>
                                        <p:attrNameLst>
                                          <p:attrName>style.visibility</p:attrName>
                                        </p:attrNameLst>
                                      </p:cBhvr>
                                      <p:to>
                                        <p:strVal val="visible"/>
                                      </p:to>
                                    </p:set>
                                    <p:animEffect transition="in" filter="wipe(down)">
                                      <p:cBhvr>
                                        <p:cTn id="123" dur="500"/>
                                        <p:tgtEl>
                                          <p:spTgt spid="69759"/>
                                        </p:tgtEl>
                                      </p:cBhvr>
                                    </p:animEffec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499"/>
                                          </p:stCondLst>
                                        </p:cTn>
                                        <p:tgtEl>
                                          <p:spTgt spid="69640"/>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69636"/>
                                        </p:tgtEl>
                                        <p:attrNameLst>
                                          <p:attrName>style.visibility</p:attrName>
                                        </p:attrNameLst>
                                      </p:cBhvr>
                                      <p:to>
                                        <p:strVal val="visible"/>
                                      </p:to>
                                    </p:set>
                                    <p:animEffect transition="in" filter="wipe(left)">
                                      <p:cBhvr>
                                        <p:cTn id="132" dur="500"/>
                                        <p:tgtEl>
                                          <p:spTgt spid="69636"/>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4" fill="hold" grpId="0" nodeType="clickEffect">
                                  <p:stCondLst>
                                    <p:cond delay="0"/>
                                  </p:stCondLst>
                                  <p:childTnLst>
                                    <p:set>
                                      <p:cBhvr>
                                        <p:cTn id="136" dur="1" fill="hold">
                                          <p:stCondLst>
                                            <p:cond delay="0"/>
                                          </p:stCondLst>
                                        </p:cTn>
                                        <p:tgtEl>
                                          <p:spTgt spid="69771"/>
                                        </p:tgtEl>
                                        <p:attrNameLst>
                                          <p:attrName>style.visibility</p:attrName>
                                        </p:attrNameLst>
                                      </p:cBhvr>
                                      <p:to>
                                        <p:strVal val="visible"/>
                                      </p:to>
                                    </p:set>
                                    <p:animEffect transition="in" filter="wipe(down)">
                                      <p:cBhvr>
                                        <p:cTn id="137" dur="500"/>
                                        <p:tgtEl>
                                          <p:spTgt spid="69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autoUpdateAnimBg="0"/>
      <p:bldP spid="69635" grpId="0" autoUpdateAnimBg="0"/>
      <p:bldP spid="69636" grpId="0"/>
      <p:bldP spid="69637" grpId="0" autoUpdateAnimBg="0"/>
      <p:bldP spid="69638" grpId="0" autoUpdateAnimBg="0"/>
      <p:bldP spid="69639" grpId="0" autoUpdateAnimBg="0"/>
      <p:bldP spid="69640" grpId="0" autoUpdateAnimBg="0"/>
      <p:bldP spid="69641" grpId="0" animBg="1"/>
      <p:bldP spid="69642" grpId="0" animBg="1"/>
      <p:bldP spid="69643" grpId="0" autoUpdateAnimBg="0"/>
      <p:bldP spid="69644" grpId="0" autoUpdateAnimBg="0"/>
      <p:bldP spid="69645" grpId="0" autoUpdateAnimBg="0"/>
      <p:bldP spid="69662" grpId="0" animBg="1"/>
      <p:bldP spid="69663" grpId="0" animBg="1"/>
      <p:bldP spid="69752" grpId="0" autoUpdateAnimBg="0"/>
      <p:bldP spid="69758" grpId="0" animBg="1"/>
      <p:bldP spid="69759" grpId="0" animBg="1"/>
      <p:bldP spid="69760" grpId="0" animBg="1"/>
      <p:bldP spid="69761" grpId="0" animBg="1"/>
      <p:bldP spid="69762" grpId="0"/>
      <p:bldP spid="69763" grpId="0" autoUpdateAnimBg="0"/>
      <p:bldP spid="69769" grpId="0" autoUpdateAnimBg="0"/>
      <p:bldP spid="69770" grpId="0" autoUpdateAnimBg="0"/>
      <p:bldP spid="6977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41" name="Text Box 49"/>
          <p:cNvSpPr txBox="1">
            <a:spLocks noChangeArrowheads="1"/>
          </p:cNvSpPr>
          <p:nvPr/>
        </p:nvSpPr>
        <p:spPr bwMode="auto">
          <a:xfrm>
            <a:off x="2484438" y="461963"/>
            <a:ext cx="4078287" cy="519112"/>
          </a:xfrm>
          <a:prstGeom prst="rect">
            <a:avLst/>
          </a:prstGeom>
          <a:noFill/>
          <a:ln w="9525">
            <a:noFill/>
            <a:miter lim="800000"/>
            <a:headEnd/>
            <a:tailEnd/>
          </a:ln>
        </p:spPr>
        <p:txBody>
          <a:bodyPr>
            <a:spAutoFit/>
          </a:bodyPr>
          <a:lstStyle/>
          <a:p>
            <a:r>
              <a:rPr kumimoji="0" lang="en-US" altLang="zh-CN" sz="2800" b="1">
                <a:solidFill>
                  <a:srgbClr val="333399"/>
                </a:solidFill>
              </a:rPr>
              <a:t>§6.2</a:t>
            </a:r>
            <a:r>
              <a:rPr kumimoji="0" lang="en-US" altLang="zh-CN" sz="2800" b="1">
                <a:solidFill>
                  <a:srgbClr val="333399"/>
                </a:solidFill>
                <a:latin typeface="宋体" pitchFamily="2" charset="-122"/>
              </a:rPr>
              <a:t>  </a:t>
            </a:r>
            <a:r>
              <a:rPr kumimoji="0" lang="zh-CN" altLang="en-US" sz="2800" b="1">
                <a:solidFill>
                  <a:srgbClr val="333399"/>
                </a:solidFill>
                <a:latin typeface="黑体" pitchFamily="49" charset="-122"/>
                <a:ea typeface="黑体" pitchFamily="49" charset="-122"/>
              </a:rPr>
              <a:t>平面简谐波</a:t>
            </a:r>
            <a:endParaRPr kumimoji="0" lang="zh-CN" altLang="en-US" sz="2800" b="1">
              <a:solidFill>
                <a:srgbClr val="333399"/>
              </a:solidFill>
              <a:latin typeface="Arial" pitchFamily="34" charset="0"/>
            </a:endParaRPr>
          </a:p>
        </p:txBody>
      </p:sp>
      <p:sp>
        <p:nvSpPr>
          <p:cNvPr id="33842" name="Rectangle 50"/>
          <p:cNvSpPr>
            <a:spLocks noChangeArrowheads="1"/>
          </p:cNvSpPr>
          <p:nvPr/>
        </p:nvSpPr>
        <p:spPr bwMode="auto">
          <a:xfrm>
            <a:off x="1557338" y="954088"/>
            <a:ext cx="7262812" cy="968375"/>
          </a:xfrm>
          <a:prstGeom prst="rect">
            <a:avLst/>
          </a:prstGeom>
          <a:noFill/>
          <a:ln w="9525">
            <a:noFill/>
            <a:miter lim="800000"/>
            <a:headEnd/>
            <a:tailEnd/>
          </a:ln>
        </p:spPr>
        <p:txBody>
          <a:bodyPr>
            <a:spAutoFit/>
          </a:bodyPr>
          <a:lstStyle/>
          <a:p>
            <a:pPr>
              <a:lnSpc>
                <a:spcPct val="120000"/>
              </a:lnSpc>
            </a:pPr>
            <a:r>
              <a:rPr kumimoji="0" lang="zh-CN" altLang="en-US" b="1">
                <a:solidFill>
                  <a:schemeClr val="tx2"/>
                </a:solidFill>
              </a:rPr>
              <a:t>介质传播的是谐振动，且波所到之处，介质中各质点作同频率的谐振动。</a:t>
            </a:r>
            <a:endParaRPr kumimoji="0" lang="zh-CN" altLang="en-US" sz="1800">
              <a:solidFill>
                <a:schemeClr val="tx2"/>
              </a:solidFill>
            </a:endParaRPr>
          </a:p>
        </p:txBody>
      </p:sp>
      <p:sp>
        <p:nvSpPr>
          <p:cNvPr id="33843" name="Text Box 51"/>
          <p:cNvSpPr txBox="1">
            <a:spLocks noChangeArrowheads="1"/>
          </p:cNvSpPr>
          <p:nvPr/>
        </p:nvSpPr>
        <p:spPr bwMode="auto">
          <a:xfrm>
            <a:off x="161925" y="954088"/>
            <a:ext cx="1528763" cy="530225"/>
          </a:xfrm>
          <a:prstGeom prst="rect">
            <a:avLst/>
          </a:prstGeom>
          <a:noFill/>
          <a:ln w="9525">
            <a:noFill/>
            <a:miter lim="800000"/>
            <a:headEnd/>
            <a:tailEnd/>
          </a:ln>
        </p:spPr>
        <p:txBody>
          <a:bodyPr>
            <a:spAutoFit/>
          </a:bodyPr>
          <a:lstStyle/>
          <a:p>
            <a:pPr>
              <a:lnSpc>
                <a:spcPct val="120000"/>
              </a:lnSpc>
            </a:pPr>
            <a:r>
              <a:rPr kumimoji="0" lang="zh-CN" altLang="en-US" b="1">
                <a:solidFill>
                  <a:srgbClr val="FF0000"/>
                </a:solidFill>
              </a:rPr>
              <a:t>简谐波：</a:t>
            </a:r>
          </a:p>
        </p:txBody>
      </p:sp>
      <p:sp>
        <p:nvSpPr>
          <p:cNvPr id="33844" name="Rectangle 52"/>
          <p:cNvSpPr>
            <a:spLocks noChangeArrowheads="1"/>
          </p:cNvSpPr>
          <p:nvPr/>
        </p:nvSpPr>
        <p:spPr bwMode="auto">
          <a:xfrm>
            <a:off x="2052638" y="1954213"/>
            <a:ext cx="3240087" cy="530225"/>
          </a:xfrm>
          <a:prstGeom prst="rect">
            <a:avLst/>
          </a:prstGeom>
          <a:noFill/>
          <a:ln w="9525">
            <a:noFill/>
            <a:miter lim="800000"/>
            <a:headEnd/>
            <a:tailEnd/>
          </a:ln>
        </p:spPr>
        <p:txBody>
          <a:bodyPr>
            <a:spAutoFit/>
          </a:bodyPr>
          <a:lstStyle/>
          <a:p>
            <a:pPr>
              <a:lnSpc>
                <a:spcPct val="120000"/>
              </a:lnSpc>
            </a:pPr>
            <a:r>
              <a:rPr kumimoji="0" lang="zh-CN" altLang="en-US" b="1">
                <a:solidFill>
                  <a:schemeClr val="tx2"/>
                </a:solidFill>
                <a:latin typeface="宋体" pitchFamily="2" charset="-122"/>
              </a:rPr>
              <a:t>波面为平面的简谐波</a:t>
            </a:r>
            <a:endParaRPr kumimoji="0" lang="zh-CN" altLang="en-US" sz="1800">
              <a:solidFill>
                <a:schemeClr val="tx2"/>
              </a:solidFill>
            </a:endParaRPr>
          </a:p>
        </p:txBody>
      </p:sp>
      <p:sp>
        <p:nvSpPr>
          <p:cNvPr id="33845" name="Rectangle 53"/>
          <p:cNvSpPr>
            <a:spLocks noChangeArrowheads="1"/>
          </p:cNvSpPr>
          <p:nvPr/>
        </p:nvSpPr>
        <p:spPr bwMode="auto">
          <a:xfrm>
            <a:off x="115888" y="4824413"/>
            <a:ext cx="8640762" cy="968375"/>
          </a:xfrm>
          <a:prstGeom prst="rect">
            <a:avLst/>
          </a:prstGeom>
          <a:noFill/>
          <a:ln w="9525">
            <a:noFill/>
            <a:miter lim="800000"/>
            <a:headEnd/>
            <a:tailEnd/>
          </a:ln>
        </p:spPr>
        <p:txBody>
          <a:bodyPr>
            <a:spAutoFit/>
          </a:bodyPr>
          <a:lstStyle/>
          <a:p>
            <a:pPr>
              <a:lnSpc>
                <a:spcPct val="120000"/>
              </a:lnSpc>
            </a:pPr>
            <a:r>
              <a:rPr kumimoji="0" lang="en-US" altLang="zh-CN" b="1">
                <a:solidFill>
                  <a:schemeClr val="tx2"/>
                </a:solidFill>
              </a:rPr>
              <a:t>(2)</a:t>
            </a:r>
            <a:r>
              <a:rPr kumimoji="0" lang="en-US" altLang="zh-CN" b="1">
                <a:solidFill>
                  <a:schemeClr val="tx2"/>
                </a:solidFill>
                <a:latin typeface="楷体_GB2312" pitchFamily="49" charset="-122"/>
              </a:rPr>
              <a:t> </a:t>
            </a:r>
            <a:r>
              <a:rPr kumimoji="0" lang="zh-CN" altLang="en-US" b="1">
                <a:solidFill>
                  <a:schemeClr val="tx2"/>
                </a:solidFill>
                <a:latin typeface="楷体_GB2312" pitchFamily="49" charset="-122"/>
              </a:rPr>
              <a:t>本节主要讨论在无吸收</a:t>
            </a:r>
            <a:r>
              <a:rPr kumimoji="0" lang="en-US" altLang="zh-CN" b="1">
                <a:solidFill>
                  <a:schemeClr val="tx2"/>
                </a:solidFill>
                <a:latin typeface="楷体_GB2312" pitchFamily="49" charset="-122"/>
              </a:rPr>
              <a:t>(</a:t>
            </a:r>
            <a:r>
              <a:rPr kumimoji="0" lang="zh-CN" altLang="en-US" b="1">
                <a:solidFill>
                  <a:schemeClr val="tx2"/>
                </a:solidFill>
                <a:latin typeface="楷体_GB2312" pitchFamily="49" charset="-122"/>
              </a:rPr>
              <a:t>即不吸收所传播的振动能量</a:t>
            </a:r>
            <a:r>
              <a:rPr kumimoji="0" lang="en-US" altLang="zh-CN" b="1">
                <a:solidFill>
                  <a:schemeClr val="tx2"/>
                </a:solidFill>
                <a:latin typeface="楷体_GB2312" pitchFamily="49" charset="-122"/>
              </a:rPr>
              <a:t>)</a:t>
            </a:r>
            <a:r>
              <a:rPr kumimoji="0" lang="zh-CN" altLang="en-US" b="1">
                <a:solidFill>
                  <a:schemeClr val="tx2"/>
                </a:solidFill>
                <a:latin typeface="楷体_GB2312" pitchFamily="49" charset="-122"/>
              </a:rPr>
              <a:t>、各向同性、均匀无限大介质中传播的平面简谐波。</a:t>
            </a:r>
            <a:endParaRPr kumimoji="0" lang="zh-CN" altLang="en-US">
              <a:solidFill>
                <a:schemeClr val="tx2"/>
              </a:solidFill>
            </a:endParaRPr>
          </a:p>
        </p:txBody>
      </p:sp>
      <p:sp>
        <p:nvSpPr>
          <p:cNvPr id="33846" name="Rectangle 54"/>
          <p:cNvSpPr>
            <a:spLocks noChangeArrowheads="1"/>
          </p:cNvSpPr>
          <p:nvPr/>
        </p:nvSpPr>
        <p:spPr bwMode="auto">
          <a:xfrm>
            <a:off x="115888" y="1954213"/>
            <a:ext cx="2444750" cy="530225"/>
          </a:xfrm>
          <a:prstGeom prst="rect">
            <a:avLst/>
          </a:prstGeom>
          <a:noFill/>
          <a:ln w="9525">
            <a:noFill/>
            <a:miter lim="800000"/>
            <a:headEnd/>
            <a:tailEnd/>
          </a:ln>
        </p:spPr>
        <p:txBody>
          <a:bodyPr>
            <a:spAutoFit/>
          </a:bodyPr>
          <a:lstStyle/>
          <a:p>
            <a:pPr>
              <a:lnSpc>
                <a:spcPct val="120000"/>
              </a:lnSpc>
            </a:pPr>
            <a:r>
              <a:rPr kumimoji="0" lang="zh-CN" altLang="en-US" b="1">
                <a:solidFill>
                  <a:srgbClr val="FF0000"/>
                </a:solidFill>
                <a:latin typeface="宋体" pitchFamily="2" charset="-122"/>
              </a:rPr>
              <a:t>平面简谐波：</a:t>
            </a:r>
            <a:endParaRPr kumimoji="0" lang="zh-CN" altLang="en-US" sz="1800">
              <a:solidFill>
                <a:srgbClr val="FF0000"/>
              </a:solidFill>
            </a:endParaRPr>
          </a:p>
        </p:txBody>
      </p:sp>
      <p:sp>
        <p:nvSpPr>
          <p:cNvPr id="33847" name="Rectangle 55"/>
          <p:cNvSpPr>
            <a:spLocks noChangeArrowheads="1"/>
          </p:cNvSpPr>
          <p:nvPr/>
        </p:nvSpPr>
        <p:spPr bwMode="auto">
          <a:xfrm>
            <a:off x="6030913" y="4367213"/>
            <a:ext cx="2373312" cy="457200"/>
          </a:xfrm>
          <a:prstGeom prst="rect">
            <a:avLst/>
          </a:prstGeom>
          <a:noFill/>
          <a:ln w="9525">
            <a:noFill/>
            <a:miter lim="800000"/>
            <a:headEnd/>
            <a:tailEnd/>
          </a:ln>
        </p:spPr>
        <p:txBody>
          <a:bodyPr>
            <a:spAutoFit/>
          </a:bodyPr>
          <a:lstStyle/>
          <a:p>
            <a:pPr algn="ctr">
              <a:lnSpc>
                <a:spcPct val="120000"/>
              </a:lnSpc>
            </a:pPr>
            <a:r>
              <a:rPr kumimoji="0" lang="zh-CN" altLang="en-US" sz="2000" b="1">
                <a:solidFill>
                  <a:schemeClr val="accent2"/>
                </a:solidFill>
                <a:latin typeface="楷体_GB2312" pitchFamily="49" charset="-122"/>
                <a:ea typeface="楷体_GB2312" pitchFamily="49" charset="-122"/>
              </a:rPr>
              <a:t>平面简谐波</a:t>
            </a:r>
            <a:endParaRPr kumimoji="0" lang="zh-CN" altLang="en-US" sz="1800">
              <a:solidFill>
                <a:schemeClr val="accent2"/>
              </a:solidFill>
            </a:endParaRPr>
          </a:p>
        </p:txBody>
      </p:sp>
      <p:sp>
        <p:nvSpPr>
          <p:cNvPr id="33848" name="Text Box 56"/>
          <p:cNvSpPr txBox="1">
            <a:spLocks noChangeArrowheads="1"/>
          </p:cNvSpPr>
          <p:nvPr/>
        </p:nvSpPr>
        <p:spPr bwMode="auto">
          <a:xfrm>
            <a:off x="522288" y="2624138"/>
            <a:ext cx="944562" cy="530225"/>
          </a:xfrm>
          <a:prstGeom prst="rect">
            <a:avLst/>
          </a:prstGeom>
          <a:noFill/>
          <a:ln w="9525">
            <a:noFill/>
            <a:miter lim="800000"/>
            <a:headEnd/>
            <a:tailEnd/>
          </a:ln>
        </p:spPr>
        <p:txBody>
          <a:bodyPr>
            <a:spAutoFit/>
          </a:bodyPr>
          <a:lstStyle/>
          <a:p>
            <a:pPr algn="ctr">
              <a:lnSpc>
                <a:spcPct val="120000"/>
              </a:lnSpc>
            </a:pPr>
            <a:r>
              <a:rPr kumimoji="0" lang="zh-CN" altLang="en-US" b="1">
                <a:solidFill>
                  <a:srgbClr val="0000FF"/>
                </a:solidFill>
                <a:latin typeface="宋体" pitchFamily="2" charset="-122"/>
              </a:rPr>
              <a:t>说明</a:t>
            </a:r>
            <a:endParaRPr kumimoji="0" lang="zh-CN" altLang="en-US" sz="1800">
              <a:solidFill>
                <a:srgbClr val="0000FF"/>
              </a:solidFill>
            </a:endParaRPr>
          </a:p>
        </p:txBody>
      </p:sp>
      <p:sp>
        <p:nvSpPr>
          <p:cNvPr id="33849" name="AutoShape 57"/>
          <p:cNvSpPr>
            <a:spLocks noChangeArrowheads="1"/>
          </p:cNvSpPr>
          <p:nvPr/>
        </p:nvSpPr>
        <p:spPr bwMode="auto">
          <a:xfrm>
            <a:off x="161925" y="2582863"/>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
        <p:nvSpPr>
          <p:cNvPr id="33850" name="Rectangle 58"/>
          <p:cNvSpPr>
            <a:spLocks noChangeArrowheads="1"/>
          </p:cNvSpPr>
          <p:nvPr/>
        </p:nvSpPr>
        <p:spPr bwMode="auto">
          <a:xfrm>
            <a:off x="161925" y="3203575"/>
            <a:ext cx="5310188" cy="1406525"/>
          </a:xfrm>
          <a:prstGeom prst="rect">
            <a:avLst/>
          </a:prstGeom>
          <a:noFill/>
          <a:ln w="9525">
            <a:noFill/>
            <a:miter lim="800000"/>
            <a:headEnd/>
            <a:tailEnd/>
          </a:ln>
        </p:spPr>
        <p:txBody>
          <a:bodyPr>
            <a:spAutoFit/>
          </a:bodyPr>
          <a:lstStyle/>
          <a:p>
            <a:pPr>
              <a:lnSpc>
                <a:spcPct val="120000"/>
              </a:lnSpc>
            </a:pPr>
            <a:r>
              <a:rPr kumimoji="0" lang="en-US" altLang="zh-CN" b="1">
                <a:solidFill>
                  <a:schemeClr val="tx2"/>
                </a:solidFill>
              </a:rPr>
              <a:t>(1)</a:t>
            </a:r>
            <a:r>
              <a:rPr kumimoji="0" lang="en-US" altLang="zh-CN" b="1">
                <a:solidFill>
                  <a:schemeClr val="tx2"/>
                </a:solidFill>
                <a:latin typeface="楷体_GB2312" pitchFamily="49" charset="-122"/>
              </a:rPr>
              <a:t> </a:t>
            </a:r>
            <a:r>
              <a:rPr kumimoji="0" lang="zh-CN" altLang="en-US" b="1">
                <a:solidFill>
                  <a:schemeClr val="tx2"/>
                </a:solidFill>
                <a:latin typeface="楷体_GB2312" pitchFamily="49" charset="-122"/>
              </a:rPr>
              <a:t>简谐波是一种最简单、最基本的波，研究简谐波的波动规律是研究更复杂波的基础。</a:t>
            </a:r>
            <a:endParaRPr kumimoji="0" lang="zh-CN" altLang="en-US">
              <a:solidFill>
                <a:schemeClr val="tx2"/>
              </a:solidFill>
            </a:endParaRPr>
          </a:p>
        </p:txBody>
      </p:sp>
      <p:grpSp>
        <p:nvGrpSpPr>
          <p:cNvPr id="2" name="Group 59"/>
          <p:cNvGrpSpPr>
            <a:grpSpLocks/>
          </p:cNvGrpSpPr>
          <p:nvPr/>
        </p:nvGrpSpPr>
        <p:grpSpPr bwMode="auto">
          <a:xfrm>
            <a:off x="5670550" y="1774825"/>
            <a:ext cx="2952750" cy="2303463"/>
            <a:chOff x="3506" y="1344"/>
            <a:chExt cx="1914" cy="1405"/>
          </a:xfrm>
        </p:grpSpPr>
        <p:grpSp>
          <p:nvGrpSpPr>
            <p:cNvPr id="8208" name="Group 60"/>
            <p:cNvGrpSpPr>
              <a:grpSpLocks/>
            </p:cNvGrpSpPr>
            <p:nvPr/>
          </p:nvGrpSpPr>
          <p:grpSpPr bwMode="auto">
            <a:xfrm>
              <a:off x="4096" y="1344"/>
              <a:ext cx="508" cy="1315"/>
              <a:chOff x="3497" y="2659"/>
              <a:chExt cx="454" cy="1315"/>
            </a:xfrm>
          </p:grpSpPr>
          <p:pic>
            <p:nvPicPr>
              <p:cNvPr id="8230" name="Picture 61" descr="平行四边形"/>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3514" y="2659"/>
                <a:ext cx="434" cy="1302"/>
              </a:xfrm>
              <a:prstGeom prst="rect">
                <a:avLst/>
              </a:prstGeom>
              <a:noFill/>
              <a:ln w="9525">
                <a:noFill/>
                <a:miter lim="800000"/>
                <a:headEnd/>
                <a:tailEnd/>
              </a:ln>
            </p:spPr>
          </p:pic>
          <p:grpSp>
            <p:nvGrpSpPr>
              <p:cNvPr id="8231" name="Group 62"/>
              <p:cNvGrpSpPr>
                <a:grpSpLocks/>
              </p:cNvGrpSpPr>
              <p:nvPr/>
            </p:nvGrpSpPr>
            <p:grpSpPr bwMode="auto">
              <a:xfrm>
                <a:off x="3497" y="2668"/>
                <a:ext cx="454" cy="1306"/>
                <a:chOff x="3497" y="2668"/>
                <a:chExt cx="454" cy="1306"/>
              </a:xfrm>
            </p:grpSpPr>
            <p:sp>
              <p:nvSpPr>
                <p:cNvPr id="8232" name="Line 63"/>
                <p:cNvSpPr>
                  <a:spLocks noChangeShapeType="1"/>
                </p:cNvSpPr>
                <p:nvPr/>
              </p:nvSpPr>
              <p:spPr bwMode="auto">
                <a:xfrm flipH="1">
                  <a:off x="3497" y="3566"/>
                  <a:ext cx="454" cy="408"/>
                </a:xfrm>
                <a:prstGeom prst="line">
                  <a:avLst/>
                </a:prstGeom>
                <a:noFill/>
                <a:ln w="28575">
                  <a:solidFill>
                    <a:srgbClr val="9900CC"/>
                  </a:solidFill>
                  <a:round/>
                  <a:headEnd/>
                  <a:tailEnd/>
                </a:ln>
              </p:spPr>
              <p:txBody>
                <a:bodyPr/>
                <a:lstStyle/>
                <a:p>
                  <a:endParaRPr lang="zh-CN" altLang="en-US"/>
                </a:p>
              </p:txBody>
            </p:sp>
            <p:sp>
              <p:nvSpPr>
                <p:cNvPr id="8233" name="Line 64"/>
                <p:cNvSpPr>
                  <a:spLocks noChangeShapeType="1"/>
                </p:cNvSpPr>
                <p:nvPr/>
              </p:nvSpPr>
              <p:spPr bwMode="auto">
                <a:xfrm>
                  <a:off x="3515" y="3067"/>
                  <a:ext cx="0" cy="907"/>
                </a:xfrm>
                <a:prstGeom prst="line">
                  <a:avLst/>
                </a:prstGeom>
                <a:noFill/>
                <a:ln w="28575">
                  <a:solidFill>
                    <a:srgbClr val="9900CC"/>
                  </a:solidFill>
                  <a:round/>
                  <a:headEnd/>
                  <a:tailEnd/>
                </a:ln>
              </p:spPr>
              <p:txBody>
                <a:bodyPr/>
                <a:lstStyle/>
                <a:p>
                  <a:endParaRPr lang="zh-CN" altLang="en-US"/>
                </a:p>
              </p:txBody>
            </p:sp>
            <p:sp>
              <p:nvSpPr>
                <p:cNvPr id="8234" name="Line 65"/>
                <p:cNvSpPr>
                  <a:spLocks noChangeShapeType="1"/>
                </p:cNvSpPr>
                <p:nvPr/>
              </p:nvSpPr>
              <p:spPr bwMode="auto">
                <a:xfrm>
                  <a:off x="3941" y="2677"/>
                  <a:ext cx="0" cy="907"/>
                </a:xfrm>
                <a:prstGeom prst="line">
                  <a:avLst/>
                </a:prstGeom>
                <a:noFill/>
                <a:ln w="28575">
                  <a:solidFill>
                    <a:srgbClr val="9900CC"/>
                  </a:solidFill>
                  <a:round/>
                  <a:headEnd/>
                  <a:tailEnd/>
                </a:ln>
              </p:spPr>
              <p:txBody>
                <a:bodyPr/>
                <a:lstStyle/>
                <a:p>
                  <a:endParaRPr lang="zh-CN" altLang="en-US"/>
                </a:p>
              </p:txBody>
            </p:sp>
            <p:sp>
              <p:nvSpPr>
                <p:cNvPr id="8235" name="Line 66"/>
                <p:cNvSpPr>
                  <a:spLocks noChangeShapeType="1"/>
                </p:cNvSpPr>
                <p:nvPr/>
              </p:nvSpPr>
              <p:spPr bwMode="auto">
                <a:xfrm flipH="1">
                  <a:off x="3497" y="2668"/>
                  <a:ext cx="454" cy="408"/>
                </a:xfrm>
                <a:prstGeom prst="line">
                  <a:avLst/>
                </a:prstGeom>
                <a:noFill/>
                <a:ln w="28575">
                  <a:solidFill>
                    <a:srgbClr val="9900CC"/>
                  </a:solidFill>
                  <a:round/>
                  <a:headEnd/>
                  <a:tailEnd/>
                </a:ln>
              </p:spPr>
              <p:txBody>
                <a:bodyPr/>
                <a:lstStyle/>
                <a:p>
                  <a:endParaRPr lang="zh-CN" altLang="en-US"/>
                </a:p>
              </p:txBody>
            </p:sp>
          </p:grpSp>
        </p:grpSp>
        <p:grpSp>
          <p:nvGrpSpPr>
            <p:cNvPr id="8209" name="Group 67"/>
            <p:cNvGrpSpPr>
              <a:grpSpLocks/>
            </p:cNvGrpSpPr>
            <p:nvPr/>
          </p:nvGrpSpPr>
          <p:grpSpPr bwMode="auto">
            <a:xfrm>
              <a:off x="4549" y="1389"/>
              <a:ext cx="508" cy="1315"/>
              <a:chOff x="3497" y="2659"/>
              <a:chExt cx="454" cy="1315"/>
            </a:xfrm>
          </p:grpSpPr>
          <p:pic>
            <p:nvPicPr>
              <p:cNvPr id="8224" name="Picture 68" descr="平行四边形"/>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3514" y="2659"/>
                <a:ext cx="434" cy="1302"/>
              </a:xfrm>
              <a:prstGeom prst="rect">
                <a:avLst/>
              </a:prstGeom>
              <a:noFill/>
              <a:ln w="9525">
                <a:noFill/>
                <a:miter lim="800000"/>
                <a:headEnd/>
                <a:tailEnd/>
              </a:ln>
            </p:spPr>
          </p:pic>
          <p:grpSp>
            <p:nvGrpSpPr>
              <p:cNvPr id="8225" name="Group 69"/>
              <p:cNvGrpSpPr>
                <a:grpSpLocks/>
              </p:cNvGrpSpPr>
              <p:nvPr/>
            </p:nvGrpSpPr>
            <p:grpSpPr bwMode="auto">
              <a:xfrm>
                <a:off x="3497" y="2668"/>
                <a:ext cx="454" cy="1306"/>
                <a:chOff x="3497" y="2668"/>
                <a:chExt cx="454" cy="1306"/>
              </a:xfrm>
            </p:grpSpPr>
            <p:sp>
              <p:nvSpPr>
                <p:cNvPr id="8226" name="Line 70"/>
                <p:cNvSpPr>
                  <a:spLocks noChangeShapeType="1"/>
                </p:cNvSpPr>
                <p:nvPr/>
              </p:nvSpPr>
              <p:spPr bwMode="auto">
                <a:xfrm flipH="1">
                  <a:off x="3497" y="3566"/>
                  <a:ext cx="454" cy="408"/>
                </a:xfrm>
                <a:prstGeom prst="line">
                  <a:avLst/>
                </a:prstGeom>
                <a:noFill/>
                <a:ln w="28575">
                  <a:solidFill>
                    <a:srgbClr val="9900CC"/>
                  </a:solidFill>
                  <a:round/>
                  <a:headEnd/>
                  <a:tailEnd/>
                </a:ln>
              </p:spPr>
              <p:txBody>
                <a:bodyPr/>
                <a:lstStyle/>
                <a:p>
                  <a:endParaRPr lang="zh-CN" altLang="en-US"/>
                </a:p>
              </p:txBody>
            </p:sp>
            <p:sp>
              <p:nvSpPr>
                <p:cNvPr id="8227" name="Line 71"/>
                <p:cNvSpPr>
                  <a:spLocks noChangeShapeType="1"/>
                </p:cNvSpPr>
                <p:nvPr/>
              </p:nvSpPr>
              <p:spPr bwMode="auto">
                <a:xfrm>
                  <a:off x="3515" y="3067"/>
                  <a:ext cx="0" cy="907"/>
                </a:xfrm>
                <a:prstGeom prst="line">
                  <a:avLst/>
                </a:prstGeom>
                <a:noFill/>
                <a:ln w="28575">
                  <a:solidFill>
                    <a:srgbClr val="9900CC"/>
                  </a:solidFill>
                  <a:round/>
                  <a:headEnd/>
                  <a:tailEnd/>
                </a:ln>
              </p:spPr>
              <p:txBody>
                <a:bodyPr/>
                <a:lstStyle/>
                <a:p>
                  <a:endParaRPr lang="zh-CN" altLang="en-US"/>
                </a:p>
              </p:txBody>
            </p:sp>
            <p:sp>
              <p:nvSpPr>
                <p:cNvPr id="8228" name="Line 72"/>
                <p:cNvSpPr>
                  <a:spLocks noChangeShapeType="1"/>
                </p:cNvSpPr>
                <p:nvPr/>
              </p:nvSpPr>
              <p:spPr bwMode="auto">
                <a:xfrm>
                  <a:off x="3941" y="2677"/>
                  <a:ext cx="0" cy="907"/>
                </a:xfrm>
                <a:prstGeom prst="line">
                  <a:avLst/>
                </a:prstGeom>
                <a:noFill/>
                <a:ln w="28575">
                  <a:solidFill>
                    <a:srgbClr val="9900CC"/>
                  </a:solidFill>
                  <a:round/>
                  <a:headEnd/>
                  <a:tailEnd/>
                </a:ln>
              </p:spPr>
              <p:txBody>
                <a:bodyPr/>
                <a:lstStyle/>
                <a:p>
                  <a:endParaRPr lang="zh-CN" altLang="en-US"/>
                </a:p>
              </p:txBody>
            </p:sp>
            <p:sp>
              <p:nvSpPr>
                <p:cNvPr id="8229" name="Line 73"/>
                <p:cNvSpPr>
                  <a:spLocks noChangeShapeType="1"/>
                </p:cNvSpPr>
                <p:nvPr/>
              </p:nvSpPr>
              <p:spPr bwMode="auto">
                <a:xfrm flipH="1">
                  <a:off x="3497" y="2668"/>
                  <a:ext cx="454" cy="408"/>
                </a:xfrm>
                <a:prstGeom prst="line">
                  <a:avLst/>
                </a:prstGeom>
                <a:noFill/>
                <a:ln w="28575">
                  <a:solidFill>
                    <a:srgbClr val="9900CC"/>
                  </a:solidFill>
                  <a:round/>
                  <a:headEnd/>
                  <a:tailEnd/>
                </a:ln>
              </p:spPr>
              <p:txBody>
                <a:bodyPr/>
                <a:lstStyle/>
                <a:p>
                  <a:endParaRPr lang="zh-CN" altLang="en-US"/>
                </a:p>
              </p:txBody>
            </p:sp>
          </p:grpSp>
        </p:grpSp>
        <p:grpSp>
          <p:nvGrpSpPr>
            <p:cNvPr id="8210" name="Group 74"/>
            <p:cNvGrpSpPr>
              <a:grpSpLocks/>
            </p:cNvGrpSpPr>
            <p:nvPr/>
          </p:nvGrpSpPr>
          <p:grpSpPr bwMode="auto">
            <a:xfrm>
              <a:off x="4912" y="1434"/>
              <a:ext cx="508" cy="1315"/>
              <a:chOff x="3497" y="2659"/>
              <a:chExt cx="454" cy="1315"/>
            </a:xfrm>
          </p:grpSpPr>
          <p:pic>
            <p:nvPicPr>
              <p:cNvPr id="8218" name="Picture 75" descr="平行四边形"/>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3514" y="2659"/>
                <a:ext cx="434" cy="1302"/>
              </a:xfrm>
              <a:prstGeom prst="rect">
                <a:avLst/>
              </a:prstGeom>
              <a:noFill/>
              <a:ln w="9525">
                <a:noFill/>
                <a:miter lim="800000"/>
                <a:headEnd/>
                <a:tailEnd/>
              </a:ln>
            </p:spPr>
          </p:pic>
          <p:grpSp>
            <p:nvGrpSpPr>
              <p:cNvPr id="8219" name="Group 76"/>
              <p:cNvGrpSpPr>
                <a:grpSpLocks/>
              </p:cNvGrpSpPr>
              <p:nvPr/>
            </p:nvGrpSpPr>
            <p:grpSpPr bwMode="auto">
              <a:xfrm>
                <a:off x="3497" y="2668"/>
                <a:ext cx="454" cy="1306"/>
                <a:chOff x="3497" y="2668"/>
                <a:chExt cx="454" cy="1306"/>
              </a:xfrm>
            </p:grpSpPr>
            <p:sp>
              <p:nvSpPr>
                <p:cNvPr id="8220" name="Line 77"/>
                <p:cNvSpPr>
                  <a:spLocks noChangeShapeType="1"/>
                </p:cNvSpPr>
                <p:nvPr/>
              </p:nvSpPr>
              <p:spPr bwMode="auto">
                <a:xfrm flipH="1">
                  <a:off x="3497" y="3566"/>
                  <a:ext cx="454" cy="408"/>
                </a:xfrm>
                <a:prstGeom prst="line">
                  <a:avLst/>
                </a:prstGeom>
                <a:noFill/>
                <a:ln w="28575">
                  <a:solidFill>
                    <a:srgbClr val="9900CC"/>
                  </a:solidFill>
                  <a:round/>
                  <a:headEnd/>
                  <a:tailEnd/>
                </a:ln>
              </p:spPr>
              <p:txBody>
                <a:bodyPr/>
                <a:lstStyle/>
                <a:p>
                  <a:endParaRPr lang="zh-CN" altLang="en-US"/>
                </a:p>
              </p:txBody>
            </p:sp>
            <p:sp>
              <p:nvSpPr>
                <p:cNvPr id="8221" name="Line 78"/>
                <p:cNvSpPr>
                  <a:spLocks noChangeShapeType="1"/>
                </p:cNvSpPr>
                <p:nvPr/>
              </p:nvSpPr>
              <p:spPr bwMode="auto">
                <a:xfrm>
                  <a:off x="3515" y="3067"/>
                  <a:ext cx="0" cy="907"/>
                </a:xfrm>
                <a:prstGeom prst="line">
                  <a:avLst/>
                </a:prstGeom>
                <a:noFill/>
                <a:ln w="28575">
                  <a:solidFill>
                    <a:srgbClr val="9900CC"/>
                  </a:solidFill>
                  <a:round/>
                  <a:headEnd/>
                  <a:tailEnd/>
                </a:ln>
              </p:spPr>
              <p:txBody>
                <a:bodyPr/>
                <a:lstStyle/>
                <a:p>
                  <a:endParaRPr lang="zh-CN" altLang="en-US"/>
                </a:p>
              </p:txBody>
            </p:sp>
            <p:sp>
              <p:nvSpPr>
                <p:cNvPr id="8222" name="Line 79"/>
                <p:cNvSpPr>
                  <a:spLocks noChangeShapeType="1"/>
                </p:cNvSpPr>
                <p:nvPr/>
              </p:nvSpPr>
              <p:spPr bwMode="auto">
                <a:xfrm>
                  <a:off x="3941" y="2677"/>
                  <a:ext cx="0" cy="907"/>
                </a:xfrm>
                <a:prstGeom prst="line">
                  <a:avLst/>
                </a:prstGeom>
                <a:noFill/>
                <a:ln w="28575">
                  <a:solidFill>
                    <a:srgbClr val="9900CC"/>
                  </a:solidFill>
                  <a:round/>
                  <a:headEnd/>
                  <a:tailEnd/>
                </a:ln>
              </p:spPr>
              <p:txBody>
                <a:bodyPr/>
                <a:lstStyle/>
                <a:p>
                  <a:endParaRPr lang="zh-CN" altLang="en-US"/>
                </a:p>
              </p:txBody>
            </p:sp>
            <p:sp>
              <p:nvSpPr>
                <p:cNvPr id="8223" name="Line 80"/>
                <p:cNvSpPr>
                  <a:spLocks noChangeShapeType="1"/>
                </p:cNvSpPr>
                <p:nvPr/>
              </p:nvSpPr>
              <p:spPr bwMode="auto">
                <a:xfrm flipH="1">
                  <a:off x="3497" y="2668"/>
                  <a:ext cx="454" cy="408"/>
                </a:xfrm>
                <a:prstGeom prst="line">
                  <a:avLst/>
                </a:prstGeom>
                <a:noFill/>
                <a:ln w="28575">
                  <a:solidFill>
                    <a:srgbClr val="9900CC"/>
                  </a:solidFill>
                  <a:round/>
                  <a:headEnd/>
                  <a:tailEnd/>
                </a:ln>
              </p:spPr>
              <p:txBody>
                <a:bodyPr/>
                <a:lstStyle/>
                <a:p>
                  <a:endParaRPr lang="zh-CN" altLang="en-US"/>
                </a:p>
              </p:txBody>
            </p:sp>
          </p:grpSp>
        </p:grpSp>
        <p:grpSp>
          <p:nvGrpSpPr>
            <p:cNvPr id="8211" name="Group 81"/>
            <p:cNvGrpSpPr>
              <a:grpSpLocks/>
            </p:cNvGrpSpPr>
            <p:nvPr/>
          </p:nvGrpSpPr>
          <p:grpSpPr bwMode="auto">
            <a:xfrm>
              <a:off x="3506" y="1434"/>
              <a:ext cx="508" cy="1315"/>
              <a:chOff x="3497" y="2659"/>
              <a:chExt cx="454" cy="1315"/>
            </a:xfrm>
          </p:grpSpPr>
          <p:pic>
            <p:nvPicPr>
              <p:cNvPr id="8212" name="Picture 82" descr="平行四边形"/>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3514" y="2659"/>
                <a:ext cx="434" cy="1302"/>
              </a:xfrm>
              <a:prstGeom prst="rect">
                <a:avLst/>
              </a:prstGeom>
              <a:noFill/>
              <a:ln w="9525">
                <a:noFill/>
                <a:miter lim="800000"/>
                <a:headEnd/>
                <a:tailEnd/>
              </a:ln>
            </p:spPr>
          </p:pic>
          <p:grpSp>
            <p:nvGrpSpPr>
              <p:cNvPr id="8213" name="Group 83"/>
              <p:cNvGrpSpPr>
                <a:grpSpLocks/>
              </p:cNvGrpSpPr>
              <p:nvPr/>
            </p:nvGrpSpPr>
            <p:grpSpPr bwMode="auto">
              <a:xfrm>
                <a:off x="3497" y="2668"/>
                <a:ext cx="454" cy="1306"/>
                <a:chOff x="3497" y="2668"/>
                <a:chExt cx="454" cy="1306"/>
              </a:xfrm>
            </p:grpSpPr>
            <p:sp>
              <p:nvSpPr>
                <p:cNvPr id="8214" name="Line 84"/>
                <p:cNvSpPr>
                  <a:spLocks noChangeShapeType="1"/>
                </p:cNvSpPr>
                <p:nvPr/>
              </p:nvSpPr>
              <p:spPr bwMode="auto">
                <a:xfrm flipH="1">
                  <a:off x="3497" y="3566"/>
                  <a:ext cx="454" cy="408"/>
                </a:xfrm>
                <a:prstGeom prst="line">
                  <a:avLst/>
                </a:prstGeom>
                <a:noFill/>
                <a:ln w="28575">
                  <a:solidFill>
                    <a:srgbClr val="9900CC"/>
                  </a:solidFill>
                  <a:round/>
                  <a:headEnd/>
                  <a:tailEnd/>
                </a:ln>
              </p:spPr>
              <p:txBody>
                <a:bodyPr/>
                <a:lstStyle/>
                <a:p>
                  <a:endParaRPr lang="zh-CN" altLang="en-US"/>
                </a:p>
              </p:txBody>
            </p:sp>
            <p:sp>
              <p:nvSpPr>
                <p:cNvPr id="8215" name="Line 85"/>
                <p:cNvSpPr>
                  <a:spLocks noChangeShapeType="1"/>
                </p:cNvSpPr>
                <p:nvPr/>
              </p:nvSpPr>
              <p:spPr bwMode="auto">
                <a:xfrm>
                  <a:off x="3515" y="3067"/>
                  <a:ext cx="0" cy="907"/>
                </a:xfrm>
                <a:prstGeom prst="line">
                  <a:avLst/>
                </a:prstGeom>
                <a:noFill/>
                <a:ln w="28575">
                  <a:solidFill>
                    <a:srgbClr val="9900CC"/>
                  </a:solidFill>
                  <a:round/>
                  <a:headEnd/>
                  <a:tailEnd/>
                </a:ln>
              </p:spPr>
              <p:txBody>
                <a:bodyPr/>
                <a:lstStyle/>
                <a:p>
                  <a:endParaRPr lang="zh-CN" altLang="en-US"/>
                </a:p>
              </p:txBody>
            </p:sp>
            <p:sp>
              <p:nvSpPr>
                <p:cNvPr id="8216" name="Line 86"/>
                <p:cNvSpPr>
                  <a:spLocks noChangeShapeType="1"/>
                </p:cNvSpPr>
                <p:nvPr/>
              </p:nvSpPr>
              <p:spPr bwMode="auto">
                <a:xfrm>
                  <a:off x="3941" y="2677"/>
                  <a:ext cx="0" cy="907"/>
                </a:xfrm>
                <a:prstGeom prst="line">
                  <a:avLst/>
                </a:prstGeom>
                <a:noFill/>
                <a:ln w="28575">
                  <a:solidFill>
                    <a:srgbClr val="9900CC"/>
                  </a:solidFill>
                  <a:round/>
                  <a:headEnd/>
                  <a:tailEnd/>
                </a:ln>
              </p:spPr>
              <p:txBody>
                <a:bodyPr/>
                <a:lstStyle/>
                <a:p>
                  <a:endParaRPr lang="zh-CN" altLang="en-US"/>
                </a:p>
              </p:txBody>
            </p:sp>
            <p:sp>
              <p:nvSpPr>
                <p:cNvPr id="8217" name="Line 87"/>
                <p:cNvSpPr>
                  <a:spLocks noChangeShapeType="1"/>
                </p:cNvSpPr>
                <p:nvPr/>
              </p:nvSpPr>
              <p:spPr bwMode="auto">
                <a:xfrm flipH="1">
                  <a:off x="3497" y="2668"/>
                  <a:ext cx="454" cy="408"/>
                </a:xfrm>
                <a:prstGeom prst="line">
                  <a:avLst/>
                </a:prstGeom>
                <a:noFill/>
                <a:ln w="28575">
                  <a:solidFill>
                    <a:srgbClr val="9900CC"/>
                  </a:solidFill>
                  <a:round/>
                  <a:headEnd/>
                  <a:tailEnd/>
                </a:ln>
              </p:spPr>
              <p:txBody>
                <a:bodyPr/>
                <a:lstStyle/>
                <a:p>
                  <a:endParaRPr lang="zh-CN" altLang="en-US"/>
                </a:p>
              </p:txBody>
            </p:sp>
          </p:grpSp>
        </p:grpSp>
      </p:grpSp>
      <p:pic>
        <p:nvPicPr>
          <p:cNvPr id="33880" name="Picture 88" descr="波前3"/>
          <p:cNvPicPr>
            <a:picLocks noChangeAspect="1" noChangeArrowheads="1"/>
          </p:cNvPicPr>
          <p:nvPr/>
        </p:nvPicPr>
        <p:blipFill>
          <a:blip r:embed="rId4">
            <a:clrChange>
              <a:clrFrom>
                <a:srgbClr val="336598"/>
              </a:clrFrom>
              <a:clrTo>
                <a:srgbClr val="336598">
                  <a:alpha val="0"/>
                </a:srgbClr>
              </a:clrTo>
            </a:clrChange>
            <a:lum bright="-18000"/>
          </a:blip>
          <a:srcRect l="10051" t="5447" r="5450" b="10065"/>
          <a:stretch>
            <a:fillRect/>
          </a:stretch>
        </p:blipFill>
        <p:spPr bwMode="auto">
          <a:xfrm>
            <a:off x="5502275" y="1595438"/>
            <a:ext cx="3048000" cy="2698750"/>
          </a:xfrm>
          <a:prstGeom prst="rect">
            <a:avLst/>
          </a:prstGeom>
          <a:noFill/>
          <a:ln w="9525">
            <a:noFill/>
            <a:miter lim="800000"/>
            <a:headEnd/>
            <a:tailEnd/>
          </a:ln>
        </p:spPr>
      </p:pic>
      <p:sp>
        <p:nvSpPr>
          <p:cNvPr id="33881" name="Rectangle 89"/>
          <p:cNvSpPr>
            <a:spLocks noChangeArrowheads="1"/>
          </p:cNvSpPr>
          <p:nvPr/>
        </p:nvSpPr>
        <p:spPr bwMode="auto">
          <a:xfrm>
            <a:off x="360363" y="5868988"/>
            <a:ext cx="1871662" cy="530225"/>
          </a:xfrm>
          <a:prstGeom prst="rect">
            <a:avLst/>
          </a:prstGeom>
          <a:noFill/>
          <a:ln w="9525">
            <a:noFill/>
            <a:miter lim="800000"/>
            <a:headEnd/>
            <a:tailEnd/>
          </a:ln>
        </p:spPr>
        <p:txBody>
          <a:bodyPr>
            <a:spAutoFit/>
          </a:bodyPr>
          <a:lstStyle/>
          <a:p>
            <a:pPr>
              <a:lnSpc>
                <a:spcPct val="120000"/>
              </a:lnSpc>
            </a:pPr>
            <a:r>
              <a:rPr kumimoji="0" lang="zh-CN" altLang="en-US" b="1">
                <a:solidFill>
                  <a:schemeClr val="tx2"/>
                </a:solidFill>
                <a:latin typeface="宋体" pitchFamily="2" charset="-122"/>
              </a:rPr>
              <a:t>简谐振动</a:t>
            </a:r>
            <a:endParaRPr kumimoji="0" lang="zh-CN" altLang="en-US" sz="1800">
              <a:solidFill>
                <a:schemeClr val="tx2"/>
              </a:solidFill>
            </a:endParaRPr>
          </a:p>
        </p:txBody>
      </p:sp>
      <p:graphicFrame>
        <p:nvGraphicFramePr>
          <p:cNvPr id="33882" name="Object 90"/>
          <p:cNvGraphicFramePr>
            <a:graphicFrameLocks noChangeAspect="1"/>
          </p:cNvGraphicFramePr>
          <p:nvPr/>
        </p:nvGraphicFramePr>
        <p:xfrm>
          <a:off x="2052638" y="5978525"/>
          <a:ext cx="2058987" cy="366713"/>
        </p:xfrm>
        <a:graphic>
          <a:graphicData uri="http://schemas.openxmlformats.org/presentationml/2006/ole">
            <p:oleObj spid="_x0000_s8194" name="公式" r:id="rId5" imgW="1130040" imgH="2030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841"/>
                                        </p:tgtEl>
                                        <p:attrNameLst>
                                          <p:attrName>style.visibility</p:attrName>
                                        </p:attrNameLst>
                                      </p:cBhvr>
                                      <p:to>
                                        <p:strVal val="visible"/>
                                      </p:to>
                                    </p:set>
                                    <p:animEffect transition="in" filter="wipe(left)">
                                      <p:cBhvr>
                                        <p:cTn id="7" dur="500"/>
                                        <p:tgtEl>
                                          <p:spTgt spid="338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843"/>
                                        </p:tgtEl>
                                        <p:attrNameLst>
                                          <p:attrName>style.visibility</p:attrName>
                                        </p:attrNameLst>
                                      </p:cBhvr>
                                      <p:to>
                                        <p:strVal val="visible"/>
                                      </p:to>
                                    </p:set>
                                    <p:animEffect transition="in" filter="wipe(left)">
                                      <p:cBhvr>
                                        <p:cTn id="12" dur="1000"/>
                                        <p:tgtEl>
                                          <p:spTgt spid="338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842"/>
                                        </p:tgtEl>
                                        <p:attrNameLst>
                                          <p:attrName>style.visibility</p:attrName>
                                        </p:attrNameLst>
                                      </p:cBhvr>
                                      <p:to>
                                        <p:strVal val="visible"/>
                                      </p:to>
                                    </p:set>
                                    <p:animEffect transition="in" filter="wipe(left)">
                                      <p:cBhvr>
                                        <p:cTn id="17" dur="500"/>
                                        <p:tgtEl>
                                          <p:spTgt spid="3384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846"/>
                                        </p:tgtEl>
                                        <p:attrNameLst>
                                          <p:attrName>style.visibility</p:attrName>
                                        </p:attrNameLst>
                                      </p:cBhvr>
                                      <p:to>
                                        <p:strVal val="visible"/>
                                      </p:to>
                                    </p:set>
                                    <p:animEffect transition="in" filter="wipe(left)">
                                      <p:cBhvr>
                                        <p:cTn id="22" dur="500"/>
                                        <p:tgtEl>
                                          <p:spTgt spid="3384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3880"/>
                                        </p:tgtEl>
                                        <p:attrNameLst>
                                          <p:attrName>style.visibility</p:attrName>
                                        </p:attrNameLst>
                                      </p:cBhvr>
                                      <p:to>
                                        <p:strVal val="visible"/>
                                      </p:to>
                                    </p:set>
                                    <p:animEffect transition="in" filter="wipe(left)">
                                      <p:cBhvr>
                                        <p:cTn id="27" dur="500"/>
                                        <p:tgtEl>
                                          <p:spTgt spid="3388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3847"/>
                                        </p:tgtEl>
                                        <p:attrNameLst>
                                          <p:attrName>style.visibility</p:attrName>
                                        </p:attrNameLst>
                                      </p:cBhvr>
                                      <p:to>
                                        <p:strVal val="visible"/>
                                      </p:to>
                                    </p:set>
                                    <p:animEffect transition="in" filter="wipe(left)">
                                      <p:cBhvr>
                                        <p:cTn id="37" dur="500"/>
                                        <p:tgtEl>
                                          <p:spTgt spid="3384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3844"/>
                                        </p:tgtEl>
                                        <p:attrNameLst>
                                          <p:attrName>style.visibility</p:attrName>
                                        </p:attrNameLst>
                                      </p:cBhvr>
                                      <p:to>
                                        <p:strVal val="visible"/>
                                      </p:to>
                                    </p:set>
                                    <p:animEffect transition="in" filter="wipe(left)">
                                      <p:cBhvr>
                                        <p:cTn id="42" dur="500"/>
                                        <p:tgtEl>
                                          <p:spTgt spid="33844"/>
                                        </p:tgtEl>
                                      </p:cBhvr>
                                    </p:animEffect>
                                  </p:childTnLst>
                                </p:cTn>
                              </p:par>
                            </p:childTnLst>
                          </p:cTn>
                        </p:par>
                      </p:childTnLst>
                    </p:cTn>
                  </p:par>
                  <p:par>
                    <p:cTn id="43" fill="hold">
                      <p:stCondLst>
                        <p:cond delay="indefinite"/>
                      </p:stCondLst>
                      <p:childTnLst>
                        <p:par>
                          <p:cTn id="44" fill="hold">
                            <p:stCondLst>
                              <p:cond delay="0"/>
                            </p:stCondLst>
                            <p:childTnLst>
                              <p:par>
                                <p:cTn id="45" presetID="23" presetClass="entr" presetSubtype="32" fill="hold" grpId="0" nodeType="clickEffect">
                                  <p:stCondLst>
                                    <p:cond delay="0"/>
                                  </p:stCondLst>
                                  <p:childTnLst>
                                    <p:set>
                                      <p:cBhvr>
                                        <p:cTn id="46" dur="1" fill="hold">
                                          <p:stCondLst>
                                            <p:cond delay="0"/>
                                          </p:stCondLst>
                                        </p:cTn>
                                        <p:tgtEl>
                                          <p:spTgt spid="33849"/>
                                        </p:tgtEl>
                                        <p:attrNameLst>
                                          <p:attrName>style.visibility</p:attrName>
                                        </p:attrNameLst>
                                      </p:cBhvr>
                                      <p:to>
                                        <p:strVal val="visible"/>
                                      </p:to>
                                    </p:set>
                                    <p:anim calcmode="lin" valueType="num">
                                      <p:cBhvr>
                                        <p:cTn id="47" dur="500" fill="hold"/>
                                        <p:tgtEl>
                                          <p:spTgt spid="33849"/>
                                        </p:tgtEl>
                                        <p:attrNameLst>
                                          <p:attrName>ppt_w</p:attrName>
                                        </p:attrNameLst>
                                      </p:cBhvr>
                                      <p:tavLst>
                                        <p:tav tm="0">
                                          <p:val>
                                            <p:strVal val="4*#ppt_w"/>
                                          </p:val>
                                        </p:tav>
                                        <p:tav tm="100000">
                                          <p:val>
                                            <p:strVal val="#ppt_w"/>
                                          </p:val>
                                        </p:tav>
                                      </p:tavLst>
                                    </p:anim>
                                    <p:anim calcmode="lin" valueType="num">
                                      <p:cBhvr>
                                        <p:cTn id="48" dur="500" fill="hold"/>
                                        <p:tgtEl>
                                          <p:spTgt spid="33849"/>
                                        </p:tgtEl>
                                        <p:attrNameLst>
                                          <p:attrName>ppt_h</p:attrName>
                                        </p:attrNameLst>
                                      </p:cBhvr>
                                      <p:tavLst>
                                        <p:tav tm="0">
                                          <p:val>
                                            <p:strVal val="4*#ppt_h"/>
                                          </p:val>
                                        </p:tav>
                                        <p:tav tm="100000">
                                          <p:val>
                                            <p:strVal val="#ppt_h"/>
                                          </p:val>
                                        </p:tav>
                                      </p:tavLst>
                                    </p:anim>
                                  </p:childTnLst>
                                </p:cTn>
                              </p:par>
                            </p:childTnLst>
                          </p:cTn>
                        </p:par>
                        <p:par>
                          <p:cTn id="49" fill="hold">
                            <p:stCondLst>
                              <p:cond delay="500"/>
                            </p:stCondLst>
                            <p:childTnLst>
                              <p:par>
                                <p:cTn id="50" presetID="1" presetClass="entr" presetSubtype="0" fill="hold" grpId="0" nodeType="afterEffect">
                                  <p:stCondLst>
                                    <p:cond delay="0"/>
                                  </p:stCondLst>
                                  <p:childTnLst>
                                    <p:set>
                                      <p:cBhvr>
                                        <p:cTn id="51" dur="1" fill="hold">
                                          <p:stCondLst>
                                            <p:cond delay="499"/>
                                          </p:stCondLst>
                                        </p:cTn>
                                        <p:tgtEl>
                                          <p:spTgt spid="33848"/>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3850"/>
                                        </p:tgtEl>
                                        <p:attrNameLst>
                                          <p:attrName>style.visibility</p:attrName>
                                        </p:attrNameLst>
                                      </p:cBhvr>
                                      <p:to>
                                        <p:strVal val="visible"/>
                                      </p:to>
                                    </p:set>
                                    <p:animEffect transition="in" filter="wipe(left)">
                                      <p:cBhvr>
                                        <p:cTn id="56" dur="500"/>
                                        <p:tgtEl>
                                          <p:spTgt spid="3385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33845"/>
                                        </p:tgtEl>
                                        <p:attrNameLst>
                                          <p:attrName>style.visibility</p:attrName>
                                        </p:attrNameLst>
                                      </p:cBhvr>
                                      <p:to>
                                        <p:strVal val="visible"/>
                                      </p:to>
                                    </p:set>
                                    <p:animEffect transition="in" filter="wipe(left)">
                                      <p:cBhvr>
                                        <p:cTn id="61" dur="500"/>
                                        <p:tgtEl>
                                          <p:spTgt spid="3384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33881"/>
                                        </p:tgtEl>
                                        <p:attrNameLst>
                                          <p:attrName>style.visibility</p:attrName>
                                        </p:attrNameLst>
                                      </p:cBhvr>
                                      <p:to>
                                        <p:strVal val="visible"/>
                                      </p:to>
                                    </p:set>
                                    <p:animEffect transition="in" filter="wipe(left)">
                                      <p:cBhvr>
                                        <p:cTn id="66" dur="500"/>
                                        <p:tgtEl>
                                          <p:spTgt spid="33881"/>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33882"/>
                                        </p:tgtEl>
                                        <p:attrNameLst>
                                          <p:attrName>style.visibility</p:attrName>
                                        </p:attrNameLst>
                                      </p:cBhvr>
                                      <p:to>
                                        <p:strVal val="visible"/>
                                      </p:to>
                                    </p:set>
                                    <p:animEffect transition="in" filter="wipe(left)">
                                      <p:cBhvr>
                                        <p:cTn id="71" dur="500"/>
                                        <p:tgtEl>
                                          <p:spTgt spid="338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41" grpId="0" autoUpdateAnimBg="0"/>
      <p:bldP spid="33842" grpId="0" autoUpdateAnimBg="0"/>
      <p:bldP spid="33843" grpId="0"/>
      <p:bldP spid="33844" grpId="0"/>
      <p:bldP spid="33845" grpId="0" autoUpdateAnimBg="0"/>
      <p:bldP spid="33846" grpId="0" autoUpdateAnimBg="0"/>
      <p:bldP spid="33847" grpId="0" autoUpdateAnimBg="0"/>
      <p:bldP spid="33848" grpId="0" autoUpdateAnimBg="0"/>
      <p:bldP spid="33849" grpId="0" animBg="1"/>
      <p:bldP spid="33850" grpId="0" autoUpdateAnimBg="0"/>
      <p:bldP spid="33881"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52" name="Text Box 36"/>
          <p:cNvSpPr txBox="1">
            <a:spLocks noChangeArrowheads="1"/>
          </p:cNvSpPr>
          <p:nvPr/>
        </p:nvSpPr>
        <p:spPr bwMode="auto">
          <a:xfrm>
            <a:off x="250825" y="476250"/>
            <a:ext cx="5184775" cy="457200"/>
          </a:xfrm>
          <a:prstGeom prst="rect">
            <a:avLst/>
          </a:prstGeom>
          <a:noFill/>
          <a:ln w="9525">
            <a:noFill/>
            <a:miter lim="800000"/>
            <a:headEnd/>
            <a:tailEnd/>
          </a:ln>
        </p:spPr>
        <p:txBody>
          <a:bodyPr>
            <a:spAutoFit/>
          </a:bodyPr>
          <a:lstStyle/>
          <a:p>
            <a:pPr>
              <a:spcBef>
                <a:spcPct val="50000"/>
              </a:spcBef>
            </a:pPr>
            <a:r>
              <a:rPr lang="zh-CN" altLang="en-US" b="1">
                <a:solidFill>
                  <a:srgbClr val="0000FF"/>
                </a:solidFill>
              </a:rPr>
              <a:t>一、平面简谐波的波函数</a:t>
            </a:r>
            <a:r>
              <a:rPr lang="zh-CN" altLang="en-US"/>
              <a:t> </a:t>
            </a:r>
          </a:p>
        </p:txBody>
      </p:sp>
      <p:graphicFrame>
        <p:nvGraphicFramePr>
          <p:cNvPr id="34855" name="Object 39"/>
          <p:cNvGraphicFramePr>
            <a:graphicFrameLocks noChangeAspect="1"/>
          </p:cNvGraphicFramePr>
          <p:nvPr/>
        </p:nvGraphicFramePr>
        <p:xfrm>
          <a:off x="1412875" y="1854200"/>
          <a:ext cx="2124075" cy="411163"/>
        </p:xfrm>
        <a:graphic>
          <a:graphicData uri="http://schemas.openxmlformats.org/presentationml/2006/ole">
            <p:oleObj spid="_x0000_s9218" name="公式" r:id="rId3" imgW="1180800" imgH="228600" progId="Equation.3">
              <p:embed/>
            </p:oleObj>
          </a:graphicData>
        </a:graphic>
      </p:graphicFrame>
      <p:sp>
        <p:nvSpPr>
          <p:cNvPr id="34856" name="Text Box 40"/>
          <p:cNvSpPr txBox="1">
            <a:spLocks noChangeArrowheads="1"/>
          </p:cNvSpPr>
          <p:nvPr/>
        </p:nvSpPr>
        <p:spPr bwMode="auto">
          <a:xfrm>
            <a:off x="5969000" y="631825"/>
            <a:ext cx="403225" cy="457200"/>
          </a:xfrm>
          <a:prstGeom prst="rect">
            <a:avLst/>
          </a:prstGeom>
          <a:noFill/>
          <a:ln w="9525">
            <a:noFill/>
            <a:miter lim="800000"/>
            <a:headEnd/>
            <a:tailEnd/>
          </a:ln>
        </p:spPr>
        <p:txBody>
          <a:bodyPr>
            <a:spAutoFit/>
          </a:bodyPr>
          <a:lstStyle/>
          <a:p>
            <a:pPr>
              <a:lnSpc>
                <a:spcPct val="120000"/>
              </a:lnSpc>
            </a:pPr>
            <a:r>
              <a:rPr kumimoji="0" lang="en-US" altLang="zh-CN" sz="2000" b="1" i="1"/>
              <a:t>y</a:t>
            </a:r>
            <a:endParaRPr kumimoji="0" lang="en-US" altLang="zh-CN" sz="2000"/>
          </a:p>
        </p:txBody>
      </p:sp>
      <p:sp>
        <p:nvSpPr>
          <p:cNvPr id="34857" name="Line 41"/>
          <p:cNvSpPr>
            <a:spLocks noChangeShapeType="1"/>
          </p:cNvSpPr>
          <p:nvPr/>
        </p:nvSpPr>
        <p:spPr bwMode="auto">
          <a:xfrm>
            <a:off x="5621338" y="1592263"/>
            <a:ext cx="2720975" cy="0"/>
          </a:xfrm>
          <a:prstGeom prst="line">
            <a:avLst/>
          </a:prstGeom>
          <a:noFill/>
          <a:ln w="28575">
            <a:solidFill>
              <a:schemeClr val="tx1"/>
            </a:solidFill>
            <a:round/>
            <a:headEnd/>
            <a:tailEnd type="triangle" w="sm" len="lg"/>
          </a:ln>
        </p:spPr>
        <p:txBody>
          <a:bodyPr/>
          <a:lstStyle/>
          <a:p>
            <a:endParaRPr lang="zh-CN" altLang="en-US"/>
          </a:p>
        </p:txBody>
      </p:sp>
      <p:sp>
        <p:nvSpPr>
          <p:cNvPr id="34858" name="Line 42"/>
          <p:cNvSpPr>
            <a:spLocks noChangeShapeType="1"/>
          </p:cNvSpPr>
          <p:nvPr/>
        </p:nvSpPr>
        <p:spPr bwMode="auto">
          <a:xfrm flipV="1">
            <a:off x="5934075" y="904875"/>
            <a:ext cx="0" cy="1447800"/>
          </a:xfrm>
          <a:prstGeom prst="line">
            <a:avLst/>
          </a:prstGeom>
          <a:noFill/>
          <a:ln w="28575">
            <a:solidFill>
              <a:schemeClr val="tx1"/>
            </a:solidFill>
            <a:round/>
            <a:headEnd/>
            <a:tailEnd type="triangle" w="sm" len="lg"/>
          </a:ln>
        </p:spPr>
        <p:txBody>
          <a:bodyPr/>
          <a:lstStyle/>
          <a:p>
            <a:endParaRPr lang="zh-CN" altLang="en-US"/>
          </a:p>
        </p:txBody>
      </p:sp>
      <p:sp>
        <p:nvSpPr>
          <p:cNvPr id="34859" name="Line 43"/>
          <p:cNvSpPr>
            <a:spLocks noChangeShapeType="1"/>
          </p:cNvSpPr>
          <p:nvPr/>
        </p:nvSpPr>
        <p:spPr bwMode="auto">
          <a:xfrm>
            <a:off x="7745413" y="1560513"/>
            <a:ext cx="25400" cy="392112"/>
          </a:xfrm>
          <a:prstGeom prst="line">
            <a:avLst/>
          </a:prstGeom>
          <a:noFill/>
          <a:ln w="28575">
            <a:solidFill>
              <a:schemeClr val="bg1"/>
            </a:solidFill>
            <a:round/>
            <a:headEnd/>
            <a:tailEnd/>
          </a:ln>
        </p:spPr>
        <p:txBody>
          <a:bodyPr/>
          <a:lstStyle/>
          <a:p>
            <a:endParaRPr lang="zh-CN" altLang="en-US"/>
          </a:p>
        </p:txBody>
      </p:sp>
      <p:sp>
        <p:nvSpPr>
          <p:cNvPr id="34860" name="Line 44"/>
          <p:cNvSpPr>
            <a:spLocks noChangeShapeType="1"/>
          </p:cNvSpPr>
          <p:nvPr/>
        </p:nvSpPr>
        <p:spPr bwMode="auto">
          <a:xfrm>
            <a:off x="5949950" y="1743075"/>
            <a:ext cx="1793875" cy="0"/>
          </a:xfrm>
          <a:prstGeom prst="line">
            <a:avLst/>
          </a:prstGeom>
          <a:noFill/>
          <a:ln w="28575">
            <a:solidFill>
              <a:srgbClr val="0000FF"/>
            </a:solidFill>
            <a:round/>
            <a:headEnd type="triangle" w="sm" len="lg"/>
            <a:tailEnd type="triangle" w="sm" len="lg"/>
          </a:ln>
        </p:spPr>
        <p:txBody>
          <a:bodyPr/>
          <a:lstStyle/>
          <a:p>
            <a:endParaRPr lang="zh-CN" altLang="en-US"/>
          </a:p>
        </p:txBody>
      </p:sp>
      <p:sp>
        <p:nvSpPr>
          <p:cNvPr id="34861" name="Line 45"/>
          <p:cNvSpPr>
            <a:spLocks noChangeShapeType="1"/>
          </p:cNvSpPr>
          <p:nvPr/>
        </p:nvSpPr>
        <p:spPr bwMode="auto">
          <a:xfrm>
            <a:off x="6637338" y="1057275"/>
            <a:ext cx="454025" cy="0"/>
          </a:xfrm>
          <a:prstGeom prst="line">
            <a:avLst/>
          </a:prstGeom>
          <a:noFill/>
          <a:ln w="28575">
            <a:solidFill>
              <a:srgbClr val="CC0000"/>
            </a:solidFill>
            <a:round/>
            <a:headEnd/>
            <a:tailEnd type="triangle" w="sm" len="lg"/>
          </a:ln>
        </p:spPr>
        <p:txBody>
          <a:bodyPr/>
          <a:lstStyle/>
          <a:p>
            <a:endParaRPr lang="zh-CN" altLang="en-US"/>
          </a:p>
        </p:txBody>
      </p:sp>
      <p:sp>
        <p:nvSpPr>
          <p:cNvPr id="34862" name="Text Box 46"/>
          <p:cNvSpPr txBox="1">
            <a:spLocks noChangeArrowheads="1"/>
          </p:cNvSpPr>
          <p:nvPr/>
        </p:nvSpPr>
        <p:spPr bwMode="auto">
          <a:xfrm>
            <a:off x="8128000" y="1485900"/>
            <a:ext cx="352425" cy="457200"/>
          </a:xfrm>
          <a:prstGeom prst="rect">
            <a:avLst/>
          </a:prstGeom>
          <a:noFill/>
          <a:ln w="28575">
            <a:noFill/>
            <a:miter lim="800000"/>
            <a:headEnd/>
            <a:tailEnd/>
          </a:ln>
        </p:spPr>
        <p:txBody>
          <a:bodyPr>
            <a:spAutoFit/>
          </a:bodyPr>
          <a:lstStyle/>
          <a:p>
            <a:pPr>
              <a:lnSpc>
                <a:spcPct val="120000"/>
              </a:lnSpc>
            </a:pPr>
            <a:r>
              <a:rPr kumimoji="0" lang="en-US" altLang="zh-CN" sz="2000" b="1" i="1"/>
              <a:t>x</a:t>
            </a:r>
            <a:endParaRPr kumimoji="0" lang="en-US" altLang="zh-CN" sz="2000"/>
          </a:p>
        </p:txBody>
      </p:sp>
      <p:sp>
        <p:nvSpPr>
          <p:cNvPr id="34863" name="Text Box 47"/>
          <p:cNvSpPr txBox="1">
            <a:spLocks noChangeArrowheads="1"/>
          </p:cNvSpPr>
          <p:nvPr/>
        </p:nvSpPr>
        <p:spPr bwMode="auto">
          <a:xfrm>
            <a:off x="6688138" y="1666875"/>
            <a:ext cx="352425" cy="530225"/>
          </a:xfrm>
          <a:prstGeom prst="rect">
            <a:avLst/>
          </a:prstGeom>
          <a:noFill/>
          <a:ln w="28575">
            <a:noFill/>
            <a:miter lim="800000"/>
            <a:headEnd/>
            <a:tailEnd/>
          </a:ln>
        </p:spPr>
        <p:txBody>
          <a:bodyPr>
            <a:spAutoFit/>
          </a:bodyPr>
          <a:lstStyle/>
          <a:p>
            <a:pPr>
              <a:lnSpc>
                <a:spcPct val="120000"/>
              </a:lnSpc>
            </a:pPr>
            <a:r>
              <a:rPr kumimoji="0" lang="en-US" altLang="zh-CN" b="1" i="1">
                <a:solidFill>
                  <a:srgbClr val="0000FF"/>
                </a:solidFill>
              </a:rPr>
              <a:t>x</a:t>
            </a:r>
            <a:endParaRPr kumimoji="0" lang="en-US" altLang="zh-CN" sz="1800">
              <a:solidFill>
                <a:srgbClr val="0000FF"/>
              </a:solidFill>
            </a:endParaRPr>
          </a:p>
        </p:txBody>
      </p:sp>
      <p:sp>
        <p:nvSpPr>
          <p:cNvPr id="9233" name="Text Box 48"/>
          <p:cNvSpPr txBox="1">
            <a:spLocks noChangeArrowheads="1"/>
          </p:cNvSpPr>
          <p:nvPr/>
        </p:nvSpPr>
        <p:spPr bwMode="auto">
          <a:xfrm>
            <a:off x="7191375" y="1057275"/>
            <a:ext cx="301625" cy="422275"/>
          </a:xfrm>
          <a:prstGeom prst="rect">
            <a:avLst/>
          </a:prstGeom>
          <a:noFill/>
          <a:ln w="28575">
            <a:noFill/>
            <a:miter lim="800000"/>
            <a:headEnd/>
            <a:tailEnd/>
          </a:ln>
        </p:spPr>
        <p:txBody>
          <a:bodyPr>
            <a:spAutoFit/>
          </a:bodyPr>
          <a:lstStyle/>
          <a:p>
            <a:pPr>
              <a:lnSpc>
                <a:spcPct val="120000"/>
              </a:lnSpc>
            </a:pPr>
            <a:endParaRPr kumimoji="0" lang="zh-CN" altLang="zh-CN" sz="1800">
              <a:solidFill>
                <a:schemeClr val="tx2"/>
              </a:solidFill>
            </a:endParaRPr>
          </a:p>
        </p:txBody>
      </p:sp>
      <p:graphicFrame>
        <p:nvGraphicFramePr>
          <p:cNvPr id="34865" name="Object 49"/>
          <p:cNvGraphicFramePr>
            <a:graphicFrameLocks/>
          </p:cNvGraphicFramePr>
          <p:nvPr/>
        </p:nvGraphicFramePr>
        <p:xfrm>
          <a:off x="7097713" y="901700"/>
          <a:ext cx="252412" cy="320675"/>
        </p:xfrm>
        <a:graphic>
          <a:graphicData uri="http://schemas.openxmlformats.org/presentationml/2006/ole">
            <p:oleObj spid="_x0000_s9219" name="公式" r:id="rId4" imgW="139680" imgH="177480" progId="Equation.3">
              <p:embed/>
            </p:oleObj>
          </a:graphicData>
        </a:graphic>
      </p:graphicFrame>
      <p:sp>
        <p:nvSpPr>
          <p:cNvPr id="34866" name="Text Box 50"/>
          <p:cNvSpPr txBox="1">
            <a:spLocks noChangeArrowheads="1"/>
          </p:cNvSpPr>
          <p:nvPr/>
        </p:nvSpPr>
        <p:spPr bwMode="auto">
          <a:xfrm>
            <a:off x="7556500" y="1087438"/>
            <a:ext cx="576263" cy="530225"/>
          </a:xfrm>
          <a:prstGeom prst="rect">
            <a:avLst/>
          </a:prstGeom>
          <a:noFill/>
          <a:ln w="28575">
            <a:noFill/>
            <a:miter lim="800000"/>
            <a:headEnd/>
            <a:tailEnd/>
          </a:ln>
        </p:spPr>
        <p:txBody>
          <a:bodyPr>
            <a:spAutoFit/>
          </a:bodyPr>
          <a:lstStyle/>
          <a:p>
            <a:pPr>
              <a:lnSpc>
                <a:spcPct val="120000"/>
              </a:lnSpc>
            </a:pPr>
            <a:r>
              <a:rPr kumimoji="0" lang="en-US" altLang="zh-CN" b="1" i="1">
                <a:solidFill>
                  <a:srgbClr val="FF0000"/>
                </a:solidFill>
                <a:latin typeface="宋体" pitchFamily="2" charset="-122"/>
              </a:rPr>
              <a:t>P</a:t>
            </a:r>
            <a:endParaRPr kumimoji="0" lang="en-US" altLang="zh-CN" sz="1800">
              <a:solidFill>
                <a:srgbClr val="FF0000"/>
              </a:solidFill>
            </a:endParaRPr>
          </a:p>
        </p:txBody>
      </p:sp>
      <p:sp>
        <p:nvSpPr>
          <p:cNvPr id="34867" name="Text Box 51"/>
          <p:cNvSpPr txBox="1">
            <a:spLocks noChangeArrowheads="1"/>
          </p:cNvSpPr>
          <p:nvPr/>
        </p:nvSpPr>
        <p:spPr bwMode="auto">
          <a:xfrm>
            <a:off x="5602288" y="1485900"/>
            <a:ext cx="409575" cy="457200"/>
          </a:xfrm>
          <a:prstGeom prst="rect">
            <a:avLst/>
          </a:prstGeom>
          <a:noFill/>
          <a:ln w="28575">
            <a:noFill/>
            <a:miter lim="800000"/>
            <a:headEnd/>
            <a:tailEnd/>
          </a:ln>
        </p:spPr>
        <p:txBody>
          <a:bodyPr>
            <a:spAutoFit/>
          </a:bodyPr>
          <a:lstStyle/>
          <a:p>
            <a:pPr>
              <a:lnSpc>
                <a:spcPct val="120000"/>
              </a:lnSpc>
            </a:pPr>
            <a:r>
              <a:rPr kumimoji="0" lang="en-US" altLang="zh-CN" sz="2000" b="1" i="1"/>
              <a:t>O</a:t>
            </a:r>
            <a:endParaRPr kumimoji="0" lang="en-US" altLang="zh-CN" sz="2000"/>
          </a:p>
        </p:txBody>
      </p:sp>
      <p:sp>
        <p:nvSpPr>
          <p:cNvPr id="34868" name="Rectangle 52"/>
          <p:cNvSpPr>
            <a:spLocks noChangeArrowheads="1"/>
          </p:cNvSpPr>
          <p:nvPr/>
        </p:nvSpPr>
        <p:spPr bwMode="auto">
          <a:xfrm>
            <a:off x="341313" y="1098550"/>
            <a:ext cx="1584325" cy="530225"/>
          </a:xfrm>
          <a:prstGeom prst="rect">
            <a:avLst/>
          </a:prstGeom>
          <a:noFill/>
          <a:ln w="9525">
            <a:noFill/>
            <a:miter lim="800000"/>
            <a:headEnd/>
            <a:tailEnd/>
          </a:ln>
        </p:spPr>
        <p:txBody>
          <a:bodyPr>
            <a:spAutoFit/>
          </a:bodyPr>
          <a:lstStyle/>
          <a:p>
            <a:pPr algn="just">
              <a:lnSpc>
                <a:spcPct val="120000"/>
              </a:lnSpc>
            </a:pPr>
            <a:r>
              <a:rPr kumimoji="0" lang="zh-CN" altLang="en-US" b="1">
                <a:solidFill>
                  <a:schemeClr val="tx2"/>
                </a:solidFill>
                <a:latin typeface="宋体" pitchFamily="2" charset="-122"/>
              </a:rPr>
              <a:t>简谐振动</a:t>
            </a:r>
            <a:endParaRPr kumimoji="0" lang="zh-CN" altLang="en-US" sz="1800">
              <a:solidFill>
                <a:schemeClr val="tx2"/>
              </a:solidFill>
            </a:endParaRPr>
          </a:p>
        </p:txBody>
      </p:sp>
      <p:sp>
        <p:nvSpPr>
          <p:cNvPr id="34869" name="Text Box 53" descr="绿色大理石"/>
          <p:cNvSpPr txBox="1">
            <a:spLocks noChangeArrowheads="1"/>
          </p:cNvSpPr>
          <p:nvPr/>
        </p:nvSpPr>
        <p:spPr bwMode="auto">
          <a:xfrm>
            <a:off x="206375" y="2493963"/>
            <a:ext cx="5688013" cy="530225"/>
          </a:xfrm>
          <a:prstGeom prst="rect">
            <a:avLst/>
          </a:prstGeom>
          <a:noFill/>
          <a:ln w="9525">
            <a:noFill/>
            <a:miter lim="800000"/>
            <a:headEnd/>
            <a:tailEnd/>
          </a:ln>
        </p:spPr>
        <p:txBody>
          <a:bodyPr>
            <a:spAutoFit/>
          </a:bodyPr>
          <a:lstStyle/>
          <a:p>
            <a:pPr>
              <a:lnSpc>
                <a:spcPct val="120000"/>
              </a:lnSpc>
            </a:pPr>
            <a:r>
              <a:rPr kumimoji="0" lang="zh-CN" altLang="en-US" b="1">
                <a:solidFill>
                  <a:schemeClr val="tx2"/>
                </a:solidFill>
                <a:latin typeface="宋体" pitchFamily="2" charset="-122"/>
              </a:rPr>
              <a:t>从时间看</a:t>
            </a:r>
            <a:r>
              <a:rPr kumimoji="0" lang="en-US" altLang="zh-CN" b="1">
                <a:solidFill>
                  <a:schemeClr val="tx2"/>
                </a:solidFill>
                <a:latin typeface="宋体" pitchFamily="2" charset="-122"/>
              </a:rPr>
              <a:t>, </a:t>
            </a:r>
            <a:r>
              <a:rPr kumimoji="0" lang="en-US" altLang="zh-CN" b="1" i="1">
                <a:solidFill>
                  <a:srgbClr val="FF6600"/>
                </a:solidFill>
              </a:rPr>
              <a:t>P</a:t>
            </a:r>
            <a:r>
              <a:rPr kumimoji="0" lang="en-US" altLang="zh-CN" b="1" i="1">
                <a:solidFill>
                  <a:schemeClr val="tx2"/>
                </a:solidFill>
              </a:rPr>
              <a:t>  </a:t>
            </a:r>
            <a:r>
              <a:rPr kumimoji="0" lang="zh-CN" altLang="en-US" b="1">
                <a:solidFill>
                  <a:schemeClr val="tx2"/>
                </a:solidFill>
                <a:latin typeface="宋体" pitchFamily="2" charset="-122"/>
              </a:rPr>
              <a:t>点</a:t>
            </a:r>
            <a:r>
              <a:rPr kumimoji="0" lang="zh-CN" altLang="en-US" b="1">
                <a:solidFill>
                  <a:srgbClr val="FF6600"/>
                </a:solidFill>
              </a:rPr>
              <a:t> </a:t>
            </a:r>
            <a:r>
              <a:rPr kumimoji="0" lang="en-US" altLang="zh-CN" b="1" i="1">
                <a:solidFill>
                  <a:srgbClr val="FF6600"/>
                </a:solidFill>
              </a:rPr>
              <a:t>t  </a:t>
            </a:r>
            <a:r>
              <a:rPr kumimoji="0" lang="zh-CN" altLang="en-US" b="1">
                <a:solidFill>
                  <a:schemeClr val="tx2"/>
                </a:solidFill>
                <a:latin typeface="宋体" pitchFamily="2" charset="-122"/>
              </a:rPr>
              <a:t>时刻的位移是 </a:t>
            </a:r>
            <a:r>
              <a:rPr kumimoji="0" lang="en-US" altLang="zh-CN" b="1" i="1">
                <a:solidFill>
                  <a:srgbClr val="FF6600"/>
                </a:solidFill>
              </a:rPr>
              <a:t>O </a:t>
            </a:r>
            <a:r>
              <a:rPr kumimoji="0" lang="zh-CN" altLang="en-US" b="1">
                <a:solidFill>
                  <a:schemeClr val="tx2"/>
                </a:solidFill>
                <a:latin typeface="宋体" pitchFamily="2" charset="-122"/>
              </a:rPr>
              <a:t>点</a:t>
            </a:r>
            <a:endParaRPr kumimoji="0" lang="zh-CN" altLang="en-US" sz="1800">
              <a:solidFill>
                <a:schemeClr val="tx2"/>
              </a:solidFill>
            </a:endParaRPr>
          </a:p>
        </p:txBody>
      </p:sp>
      <p:graphicFrame>
        <p:nvGraphicFramePr>
          <p:cNvPr id="34870" name="Object 54"/>
          <p:cNvGraphicFramePr>
            <a:graphicFrameLocks/>
          </p:cNvGraphicFramePr>
          <p:nvPr/>
        </p:nvGraphicFramePr>
        <p:xfrm>
          <a:off x="5453063" y="2427288"/>
          <a:ext cx="604837" cy="687387"/>
        </p:xfrm>
        <a:graphic>
          <a:graphicData uri="http://schemas.openxmlformats.org/presentationml/2006/ole">
            <p:oleObj spid="_x0000_s9220" name="公式" r:id="rId5" imgW="355320" imgH="406080" progId="Equation.3">
              <p:embed/>
            </p:oleObj>
          </a:graphicData>
        </a:graphic>
      </p:graphicFrame>
      <p:sp>
        <p:nvSpPr>
          <p:cNvPr id="34871" name="AutoShape 55"/>
          <p:cNvSpPr>
            <a:spLocks noChangeArrowheads="1"/>
          </p:cNvSpPr>
          <p:nvPr/>
        </p:nvSpPr>
        <p:spPr bwMode="auto">
          <a:xfrm>
            <a:off x="1827213" y="1352550"/>
            <a:ext cx="542925" cy="90488"/>
          </a:xfrm>
          <a:prstGeom prst="rightArrow">
            <a:avLst>
              <a:gd name="adj1" fmla="val 50000"/>
              <a:gd name="adj2" fmla="val 149999"/>
            </a:avLst>
          </a:prstGeom>
          <a:solidFill>
            <a:srgbClr val="0000FF"/>
          </a:solidFill>
          <a:ln w="9525">
            <a:solidFill>
              <a:srgbClr val="000080"/>
            </a:solidFill>
            <a:miter lim="800000"/>
            <a:headEnd/>
            <a:tailEnd/>
          </a:ln>
        </p:spPr>
        <p:txBody>
          <a:bodyPr wrap="none" anchor="ctr"/>
          <a:lstStyle/>
          <a:p>
            <a:endParaRPr lang="zh-CN" altLang="en-US"/>
          </a:p>
        </p:txBody>
      </p:sp>
      <p:sp>
        <p:nvSpPr>
          <p:cNvPr id="34872" name="Rectangle 56"/>
          <p:cNvSpPr>
            <a:spLocks noChangeArrowheads="1"/>
          </p:cNvSpPr>
          <p:nvPr/>
        </p:nvSpPr>
        <p:spPr bwMode="auto">
          <a:xfrm>
            <a:off x="2430463" y="1098550"/>
            <a:ext cx="2941637" cy="530225"/>
          </a:xfrm>
          <a:prstGeom prst="rect">
            <a:avLst/>
          </a:prstGeom>
          <a:noFill/>
          <a:ln w="9525">
            <a:noFill/>
            <a:miter lim="800000"/>
            <a:headEnd/>
            <a:tailEnd/>
          </a:ln>
        </p:spPr>
        <p:txBody>
          <a:bodyPr wrap="none">
            <a:spAutoFit/>
          </a:bodyPr>
          <a:lstStyle/>
          <a:p>
            <a:pPr algn="ctr">
              <a:lnSpc>
                <a:spcPct val="120000"/>
              </a:lnSpc>
            </a:pPr>
            <a:r>
              <a:rPr kumimoji="0" lang="zh-CN" altLang="en-US" b="1">
                <a:solidFill>
                  <a:schemeClr val="tx2"/>
                </a:solidFill>
                <a:latin typeface="宋体" pitchFamily="2" charset="-122"/>
              </a:rPr>
              <a:t>平面简谐波的波函数</a:t>
            </a:r>
            <a:endParaRPr kumimoji="0" lang="zh-CN" altLang="en-US" sz="1800">
              <a:solidFill>
                <a:schemeClr val="tx2"/>
              </a:solidFill>
            </a:endParaRPr>
          </a:p>
        </p:txBody>
      </p:sp>
      <p:sp>
        <p:nvSpPr>
          <p:cNvPr id="34873" name="Rectangle 57"/>
          <p:cNvSpPr>
            <a:spLocks noChangeArrowheads="1"/>
          </p:cNvSpPr>
          <p:nvPr/>
        </p:nvSpPr>
        <p:spPr bwMode="auto">
          <a:xfrm>
            <a:off x="5894388" y="2439988"/>
            <a:ext cx="2214562" cy="530225"/>
          </a:xfrm>
          <a:prstGeom prst="rect">
            <a:avLst/>
          </a:prstGeom>
          <a:noFill/>
          <a:ln w="9525">
            <a:noFill/>
            <a:miter lim="800000"/>
            <a:headEnd/>
            <a:tailEnd/>
          </a:ln>
        </p:spPr>
        <p:txBody>
          <a:bodyPr>
            <a:spAutoFit/>
          </a:bodyPr>
          <a:lstStyle/>
          <a:p>
            <a:pPr algn="ctr">
              <a:lnSpc>
                <a:spcPct val="120000"/>
              </a:lnSpc>
            </a:pPr>
            <a:r>
              <a:rPr kumimoji="0" lang="zh-CN" altLang="en-US" b="1">
                <a:solidFill>
                  <a:schemeClr val="tx2"/>
                </a:solidFill>
                <a:latin typeface="宋体" pitchFamily="2" charset="-122"/>
              </a:rPr>
              <a:t>时刻的位移；</a:t>
            </a:r>
            <a:endParaRPr kumimoji="0" lang="zh-CN" altLang="en-US" sz="1800">
              <a:solidFill>
                <a:schemeClr val="tx2"/>
              </a:solidFill>
            </a:endParaRPr>
          </a:p>
        </p:txBody>
      </p:sp>
      <p:graphicFrame>
        <p:nvGraphicFramePr>
          <p:cNvPr id="34874" name="Object 58"/>
          <p:cNvGraphicFramePr>
            <a:graphicFrameLocks/>
          </p:cNvGraphicFramePr>
          <p:nvPr/>
        </p:nvGraphicFramePr>
        <p:xfrm>
          <a:off x="1746250" y="3654425"/>
          <a:ext cx="3409950" cy="733425"/>
        </p:xfrm>
        <a:graphic>
          <a:graphicData uri="http://schemas.openxmlformats.org/presentationml/2006/ole">
            <p:oleObj spid="_x0000_s9221" name="公式" r:id="rId6" imgW="1892160" imgH="406080" progId="Equation.3">
              <p:embed/>
            </p:oleObj>
          </a:graphicData>
        </a:graphic>
      </p:graphicFrame>
      <p:sp>
        <p:nvSpPr>
          <p:cNvPr id="34875" name="Rectangle 59"/>
          <p:cNvSpPr>
            <a:spLocks noChangeArrowheads="1"/>
          </p:cNvSpPr>
          <p:nvPr/>
        </p:nvSpPr>
        <p:spPr bwMode="auto">
          <a:xfrm>
            <a:off x="206375" y="3087688"/>
            <a:ext cx="7902575" cy="530225"/>
          </a:xfrm>
          <a:prstGeom prst="rect">
            <a:avLst/>
          </a:prstGeom>
          <a:noFill/>
          <a:ln w="9525">
            <a:noFill/>
            <a:miter lim="800000"/>
            <a:headEnd/>
            <a:tailEnd/>
          </a:ln>
        </p:spPr>
        <p:txBody>
          <a:bodyPr>
            <a:spAutoFit/>
          </a:bodyPr>
          <a:lstStyle/>
          <a:p>
            <a:pPr>
              <a:lnSpc>
                <a:spcPct val="120000"/>
              </a:lnSpc>
            </a:pPr>
            <a:r>
              <a:rPr kumimoji="0" lang="zh-CN" altLang="en-US" b="1">
                <a:solidFill>
                  <a:schemeClr val="tx2"/>
                </a:solidFill>
                <a:latin typeface="宋体" pitchFamily="2" charset="-122"/>
              </a:rPr>
              <a:t>从相位看，</a:t>
            </a:r>
            <a:r>
              <a:rPr kumimoji="0" lang="en-US" altLang="zh-CN" b="1" i="1">
                <a:solidFill>
                  <a:srgbClr val="FF6600"/>
                </a:solidFill>
              </a:rPr>
              <a:t>P </a:t>
            </a:r>
            <a:r>
              <a:rPr kumimoji="0" lang="en-US" altLang="zh-CN" b="1" i="1">
                <a:solidFill>
                  <a:schemeClr val="tx2"/>
                </a:solidFill>
              </a:rPr>
              <a:t> </a:t>
            </a:r>
            <a:r>
              <a:rPr kumimoji="0" lang="zh-CN" altLang="en-US" b="1">
                <a:solidFill>
                  <a:schemeClr val="tx2"/>
                </a:solidFill>
                <a:latin typeface="宋体" pitchFamily="2" charset="-122"/>
              </a:rPr>
              <a:t>点处质点振动相位较 </a:t>
            </a:r>
            <a:r>
              <a:rPr kumimoji="0" lang="en-US" altLang="zh-CN" b="1" i="1">
                <a:solidFill>
                  <a:srgbClr val="FF6600"/>
                </a:solidFill>
              </a:rPr>
              <a:t>O </a:t>
            </a:r>
            <a:r>
              <a:rPr kumimoji="0" lang="zh-CN" altLang="en-US" b="1">
                <a:solidFill>
                  <a:schemeClr val="tx2"/>
                </a:solidFill>
                <a:latin typeface="宋体" pitchFamily="2" charset="-122"/>
              </a:rPr>
              <a:t>点处质点相位落后</a:t>
            </a:r>
            <a:endParaRPr kumimoji="0" lang="zh-CN" altLang="en-US" sz="1800">
              <a:solidFill>
                <a:schemeClr val="tx2"/>
              </a:solidFill>
            </a:endParaRPr>
          </a:p>
        </p:txBody>
      </p:sp>
      <p:graphicFrame>
        <p:nvGraphicFramePr>
          <p:cNvPr id="34876" name="Object 60"/>
          <p:cNvGraphicFramePr>
            <a:graphicFrameLocks/>
          </p:cNvGraphicFramePr>
          <p:nvPr/>
        </p:nvGraphicFramePr>
        <p:xfrm>
          <a:off x="7854950" y="3008313"/>
          <a:ext cx="496888" cy="690562"/>
        </p:xfrm>
        <a:graphic>
          <a:graphicData uri="http://schemas.openxmlformats.org/presentationml/2006/ole">
            <p:oleObj spid="_x0000_s9222" name="公式" r:id="rId7" imgW="291960" imgH="406080" progId="Equation.3">
              <p:embed/>
            </p:oleObj>
          </a:graphicData>
        </a:graphic>
      </p:graphicFrame>
      <p:sp>
        <p:nvSpPr>
          <p:cNvPr id="34877" name="Rectangle 61"/>
          <p:cNvSpPr>
            <a:spLocks noChangeArrowheads="1"/>
          </p:cNvSpPr>
          <p:nvPr/>
        </p:nvSpPr>
        <p:spPr bwMode="auto">
          <a:xfrm>
            <a:off x="646113" y="1728788"/>
            <a:ext cx="788987" cy="530225"/>
          </a:xfrm>
          <a:prstGeom prst="rect">
            <a:avLst/>
          </a:prstGeom>
          <a:noFill/>
          <a:ln w="9525">
            <a:noFill/>
            <a:miter lim="800000"/>
            <a:headEnd/>
            <a:tailEnd/>
          </a:ln>
        </p:spPr>
        <p:txBody>
          <a:bodyPr>
            <a:spAutoFit/>
          </a:bodyPr>
          <a:lstStyle/>
          <a:p>
            <a:pPr algn="just">
              <a:lnSpc>
                <a:spcPct val="120000"/>
              </a:lnSpc>
            </a:pPr>
            <a:r>
              <a:rPr kumimoji="0" lang="zh-CN" altLang="en-US" b="1">
                <a:solidFill>
                  <a:schemeClr val="tx2"/>
                </a:solidFill>
                <a:latin typeface="宋体" pitchFamily="2" charset="-122"/>
              </a:rPr>
              <a:t>若</a:t>
            </a:r>
            <a:endParaRPr kumimoji="0" lang="zh-CN" altLang="en-US" sz="1800">
              <a:solidFill>
                <a:schemeClr val="tx2"/>
              </a:solidFill>
            </a:endParaRPr>
          </a:p>
        </p:txBody>
      </p:sp>
      <p:graphicFrame>
        <p:nvGraphicFramePr>
          <p:cNvPr id="34878" name="Object 62"/>
          <p:cNvGraphicFramePr>
            <a:graphicFrameLocks noChangeAspect="1"/>
          </p:cNvGraphicFramePr>
          <p:nvPr/>
        </p:nvGraphicFramePr>
        <p:xfrm>
          <a:off x="2860675" y="4510088"/>
          <a:ext cx="3238500" cy="730250"/>
        </p:xfrm>
        <a:graphic>
          <a:graphicData uri="http://schemas.openxmlformats.org/presentationml/2006/ole">
            <p:oleObj spid="_x0000_s9223" name="公式" r:id="rId8" imgW="1803240" imgH="406080" progId="Equation.3">
              <p:embed/>
            </p:oleObj>
          </a:graphicData>
        </a:graphic>
      </p:graphicFrame>
      <p:sp>
        <p:nvSpPr>
          <p:cNvPr id="34879" name="Text Box 63" descr="绿色大理石"/>
          <p:cNvSpPr txBox="1">
            <a:spLocks noChangeArrowheads="1"/>
          </p:cNvSpPr>
          <p:nvPr/>
        </p:nvSpPr>
        <p:spPr bwMode="auto">
          <a:xfrm>
            <a:off x="927100" y="4565650"/>
            <a:ext cx="2087563" cy="530225"/>
          </a:xfrm>
          <a:prstGeom prst="rect">
            <a:avLst/>
          </a:prstGeom>
          <a:noFill/>
          <a:ln w="9525">
            <a:noFill/>
            <a:miter lim="800000"/>
            <a:headEnd/>
            <a:tailEnd/>
          </a:ln>
        </p:spPr>
        <p:txBody>
          <a:bodyPr>
            <a:spAutoFit/>
          </a:bodyPr>
          <a:lstStyle/>
          <a:p>
            <a:pPr>
              <a:lnSpc>
                <a:spcPct val="120000"/>
              </a:lnSpc>
            </a:pPr>
            <a:r>
              <a:rPr kumimoji="0" lang="en-US" altLang="zh-CN" b="1" i="1">
                <a:solidFill>
                  <a:srgbClr val="FF6600"/>
                </a:solidFill>
                <a:latin typeface="宋体" pitchFamily="2" charset="-122"/>
              </a:rPr>
              <a:t>P </a:t>
            </a:r>
            <a:r>
              <a:rPr kumimoji="0" lang="zh-CN" altLang="en-US" b="1">
                <a:solidFill>
                  <a:schemeClr val="tx2"/>
                </a:solidFill>
                <a:latin typeface="宋体" pitchFamily="2" charset="-122"/>
              </a:rPr>
              <a:t>为任意点</a:t>
            </a:r>
            <a:endParaRPr kumimoji="0" lang="zh-CN" altLang="en-US" sz="1800">
              <a:solidFill>
                <a:schemeClr val="tx2"/>
              </a:solidFill>
            </a:endParaRPr>
          </a:p>
        </p:txBody>
      </p:sp>
      <p:sp>
        <p:nvSpPr>
          <p:cNvPr id="34880" name="AutoShape 64"/>
          <p:cNvSpPr>
            <a:spLocks noChangeAspect="1" noChangeArrowheads="1"/>
          </p:cNvSpPr>
          <p:nvPr/>
        </p:nvSpPr>
        <p:spPr bwMode="auto">
          <a:xfrm>
            <a:off x="7696200" y="1550988"/>
            <a:ext cx="76200" cy="76200"/>
          </a:xfrm>
          <a:prstGeom prst="flowChartConnector">
            <a:avLst/>
          </a:prstGeom>
          <a:solidFill>
            <a:srgbClr val="0000FF"/>
          </a:solidFill>
          <a:ln w="9525">
            <a:solidFill>
              <a:srgbClr val="0000FF"/>
            </a:solidFill>
            <a:round/>
            <a:headEnd/>
            <a:tailEnd/>
          </a:ln>
        </p:spPr>
        <p:txBody>
          <a:bodyPr wrap="none" anchor="ctr"/>
          <a:lstStyle/>
          <a:p>
            <a:endParaRPr lang="zh-CN" altLang="en-US"/>
          </a:p>
        </p:txBody>
      </p:sp>
      <p:sp>
        <p:nvSpPr>
          <p:cNvPr id="34881" name="Rectangle 65"/>
          <p:cNvSpPr>
            <a:spLocks noChangeArrowheads="1"/>
          </p:cNvSpPr>
          <p:nvPr/>
        </p:nvSpPr>
        <p:spPr bwMode="auto">
          <a:xfrm>
            <a:off x="1347788" y="5373688"/>
            <a:ext cx="6419850" cy="530225"/>
          </a:xfrm>
          <a:prstGeom prst="rect">
            <a:avLst/>
          </a:prstGeom>
          <a:noFill/>
          <a:ln w="9525">
            <a:noFill/>
            <a:miter lim="800000"/>
            <a:headEnd/>
            <a:tailEnd/>
          </a:ln>
        </p:spPr>
        <p:txBody>
          <a:bodyPr>
            <a:spAutoFit/>
          </a:bodyPr>
          <a:lstStyle/>
          <a:p>
            <a:pPr algn="ctr">
              <a:lnSpc>
                <a:spcPct val="120000"/>
              </a:lnSpc>
            </a:pPr>
            <a:r>
              <a:rPr kumimoji="0" lang="zh-CN" altLang="en-US" b="1">
                <a:solidFill>
                  <a:schemeClr val="tx2"/>
                </a:solidFill>
                <a:ea typeface="楷体_GB2312" pitchFamily="49" charset="-122"/>
              </a:rPr>
              <a:t>沿 </a:t>
            </a:r>
            <a:r>
              <a:rPr kumimoji="0" lang="en-US" altLang="zh-CN" b="1" i="1">
                <a:solidFill>
                  <a:srgbClr val="FF6600"/>
                </a:solidFill>
              </a:rPr>
              <a:t>x </a:t>
            </a:r>
            <a:r>
              <a:rPr kumimoji="0" lang="zh-CN" altLang="en-US" b="1">
                <a:solidFill>
                  <a:schemeClr val="tx2"/>
                </a:solidFill>
                <a:latin typeface="楷体_GB2312" pitchFamily="49" charset="-122"/>
                <a:ea typeface="楷体_GB2312" pitchFamily="49" charset="-122"/>
              </a:rPr>
              <a:t>轴</a:t>
            </a:r>
            <a:r>
              <a:rPr kumimoji="0" lang="zh-CN" altLang="en-US" b="1">
                <a:solidFill>
                  <a:srgbClr val="9900CC"/>
                </a:solidFill>
                <a:latin typeface="楷体_GB2312" pitchFamily="49" charset="-122"/>
                <a:ea typeface="楷体_GB2312" pitchFamily="49" charset="-122"/>
              </a:rPr>
              <a:t>正方向</a:t>
            </a:r>
            <a:r>
              <a:rPr kumimoji="0" lang="zh-CN" altLang="en-US" b="1">
                <a:solidFill>
                  <a:schemeClr val="tx2"/>
                </a:solidFill>
                <a:latin typeface="楷体_GB2312" pitchFamily="49" charset="-122"/>
                <a:ea typeface="楷体_GB2312" pitchFamily="49" charset="-122"/>
              </a:rPr>
              <a:t>的简谐波的</a:t>
            </a:r>
            <a:r>
              <a:rPr kumimoji="0" lang="zh-CN" altLang="en-US" b="1">
                <a:solidFill>
                  <a:srgbClr val="FF0000"/>
                </a:solidFill>
                <a:latin typeface="楷体_GB2312" pitchFamily="49" charset="-122"/>
                <a:ea typeface="楷体_GB2312" pitchFamily="49" charset="-122"/>
              </a:rPr>
              <a:t>波动方程 </a:t>
            </a:r>
            <a:r>
              <a:rPr kumimoji="0" lang="en-US" altLang="zh-CN" b="1">
                <a:solidFill>
                  <a:schemeClr val="tx2"/>
                </a:solidFill>
                <a:latin typeface="楷体_GB2312" pitchFamily="49" charset="-122"/>
                <a:ea typeface="楷体_GB2312" pitchFamily="49" charset="-122"/>
              </a:rPr>
              <a:t>( </a:t>
            </a:r>
            <a:r>
              <a:rPr kumimoji="0" lang="zh-CN" altLang="en-US" b="1">
                <a:solidFill>
                  <a:srgbClr val="FF0000"/>
                </a:solidFill>
                <a:latin typeface="楷体_GB2312" pitchFamily="49" charset="-122"/>
                <a:ea typeface="楷体_GB2312" pitchFamily="49" charset="-122"/>
              </a:rPr>
              <a:t>波函数 </a:t>
            </a:r>
            <a:r>
              <a:rPr kumimoji="0" lang="en-US" altLang="zh-CN" b="1">
                <a:solidFill>
                  <a:schemeClr val="tx2"/>
                </a:solidFill>
                <a:latin typeface="楷体_GB2312" pitchFamily="49" charset="-122"/>
                <a:ea typeface="楷体_GB2312" pitchFamily="49" charset="-122"/>
              </a:rPr>
              <a:t>)</a:t>
            </a:r>
            <a:endParaRPr kumimoji="0" lang="en-US" altLang="zh-CN" sz="1800">
              <a:solidFill>
                <a:schemeClr val="tx2"/>
              </a:solidFill>
              <a:latin typeface="楷体_GB2312" pitchFamily="49" charset="-122"/>
              <a:ea typeface="楷体_GB2312" pitchFamily="49" charset="-122"/>
            </a:endParaRPr>
          </a:p>
        </p:txBody>
      </p:sp>
      <p:sp>
        <p:nvSpPr>
          <p:cNvPr id="34882" name="Rectangle 66"/>
          <p:cNvSpPr>
            <a:spLocks noChangeArrowheads="1"/>
          </p:cNvSpPr>
          <p:nvPr/>
        </p:nvSpPr>
        <p:spPr bwMode="auto">
          <a:xfrm>
            <a:off x="887413" y="5959475"/>
            <a:ext cx="6924675" cy="530225"/>
          </a:xfrm>
          <a:prstGeom prst="rect">
            <a:avLst/>
          </a:prstGeom>
          <a:noFill/>
          <a:ln w="9525">
            <a:noFill/>
            <a:miter lim="800000"/>
            <a:headEnd/>
            <a:tailEnd/>
          </a:ln>
        </p:spPr>
        <p:txBody>
          <a:bodyPr wrap="none">
            <a:spAutoFit/>
          </a:bodyPr>
          <a:lstStyle/>
          <a:p>
            <a:pPr algn="ctr">
              <a:lnSpc>
                <a:spcPct val="120000"/>
              </a:lnSpc>
            </a:pPr>
            <a:r>
              <a:rPr kumimoji="0" lang="zh-CN" altLang="en-US" b="1">
                <a:solidFill>
                  <a:schemeClr val="tx2"/>
                </a:solidFill>
                <a:ea typeface="楷体_GB2312" pitchFamily="49" charset="-122"/>
              </a:rPr>
              <a:t>它给出了</a:t>
            </a:r>
            <a:r>
              <a:rPr kumimoji="0" lang="zh-CN" altLang="en-US" b="1">
                <a:solidFill>
                  <a:srgbClr val="FF6600"/>
                </a:solidFill>
                <a:ea typeface="楷体_GB2312" pitchFamily="49" charset="-122"/>
              </a:rPr>
              <a:t>任意时刻</a:t>
            </a:r>
            <a:r>
              <a:rPr kumimoji="0" lang="zh-CN" altLang="en-US" b="1">
                <a:solidFill>
                  <a:schemeClr val="tx2"/>
                </a:solidFill>
                <a:ea typeface="楷体_GB2312" pitchFamily="49" charset="-122"/>
              </a:rPr>
              <a:t>波线上</a:t>
            </a:r>
            <a:r>
              <a:rPr kumimoji="0" lang="zh-CN" altLang="en-US" b="1">
                <a:solidFill>
                  <a:srgbClr val="FF6600"/>
                </a:solidFill>
                <a:ea typeface="楷体_GB2312" pitchFamily="49" charset="-122"/>
              </a:rPr>
              <a:t>任意点</a:t>
            </a:r>
            <a:r>
              <a:rPr kumimoji="0" lang="zh-CN" altLang="en-US" b="1">
                <a:solidFill>
                  <a:schemeClr val="tx2"/>
                </a:solidFill>
                <a:ea typeface="楷体_GB2312" pitchFamily="49" charset="-122"/>
              </a:rPr>
              <a:t>做谐振动的</a:t>
            </a:r>
            <a:r>
              <a:rPr kumimoji="0" lang="zh-CN" altLang="en-US" b="1">
                <a:solidFill>
                  <a:srgbClr val="FF6600"/>
                </a:solidFill>
                <a:ea typeface="楷体_GB2312" pitchFamily="49" charset="-122"/>
              </a:rPr>
              <a:t>位移</a:t>
            </a:r>
            <a:r>
              <a:rPr kumimoji="0" lang="zh-CN" altLang="en-US" b="1">
                <a:solidFill>
                  <a:schemeClr val="tx2"/>
                </a:solidFill>
                <a:ea typeface="楷体_GB2312" pitchFamily="49" charset="-122"/>
              </a:rPr>
              <a:t>。</a:t>
            </a:r>
            <a:endParaRPr kumimoji="0" lang="zh-CN" altLang="en-US" sz="1800">
              <a:solidFill>
                <a:schemeClr val="tx2"/>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52"/>
                                        </p:tgtEl>
                                        <p:attrNameLst>
                                          <p:attrName>style.visibility</p:attrName>
                                        </p:attrNameLst>
                                      </p:cBhvr>
                                      <p:to>
                                        <p:strVal val="visible"/>
                                      </p:to>
                                    </p:set>
                                    <p:animEffect transition="in" filter="wipe(left)">
                                      <p:cBhvr>
                                        <p:cTn id="7" dur="500"/>
                                        <p:tgtEl>
                                          <p:spTgt spid="348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68"/>
                                        </p:tgtEl>
                                        <p:attrNameLst>
                                          <p:attrName>style.visibility</p:attrName>
                                        </p:attrNameLst>
                                      </p:cBhvr>
                                      <p:to>
                                        <p:strVal val="visible"/>
                                      </p:to>
                                    </p:set>
                                    <p:animEffect transition="in" filter="wipe(left)">
                                      <p:cBhvr>
                                        <p:cTn id="12" dur="500"/>
                                        <p:tgtEl>
                                          <p:spTgt spid="3486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871"/>
                                        </p:tgtEl>
                                        <p:attrNameLst>
                                          <p:attrName>style.visibility</p:attrName>
                                        </p:attrNameLst>
                                      </p:cBhvr>
                                      <p:to>
                                        <p:strVal val="visible"/>
                                      </p:to>
                                    </p:set>
                                    <p:animEffect transition="in" filter="wipe(left)">
                                      <p:cBhvr>
                                        <p:cTn id="17" dur="500"/>
                                        <p:tgtEl>
                                          <p:spTgt spid="3487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872"/>
                                        </p:tgtEl>
                                        <p:attrNameLst>
                                          <p:attrName>style.visibility</p:attrName>
                                        </p:attrNameLst>
                                      </p:cBhvr>
                                      <p:to>
                                        <p:strVal val="visible"/>
                                      </p:to>
                                    </p:set>
                                    <p:animEffect transition="in" filter="wipe(left)">
                                      <p:cBhvr>
                                        <p:cTn id="22" dur="500"/>
                                        <p:tgtEl>
                                          <p:spTgt spid="3487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4857"/>
                                        </p:tgtEl>
                                        <p:attrNameLst>
                                          <p:attrName>style.visibility</p:attrName>
                                        </p:attrNameLst>
                                      </p:cBhvr>
                                      <p:to>
                                        <p:strVal val="visible"/>
                                      </p:to>
                                    </p:set>
                                    <p:animEffect transition="in" filter="wipe(left)">
                                      <p:cBhvr>
                                        <p:cTn id="27" dur="500"/>
                                        <p:tgtEl>
                                          <p:spTgt spid="34857"/>
                                        </p:tgtEl>
                                      </p:cBhvr>
                                    </p:animEffec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499"/>
                                          </p:stCondLst>
                                        </p:cTn>
                                        <p:tgtEl>
                                          <p:spTgt spid="34862"/>
                                        </p:tgtEl>
                                        <p:attrNameLst>
                                          <p:attrName>style.visibility</p:attrName>
                                        </p:attrNameLst>
                                      </p:cBhvr>
                                      <p:to>
                                        <p:strVal val="visible"/>
                                      </p:to>
                                    </p:set>
                                  </p:childTnLst>
                                </p:cTn>
                              </p:par>
                            </p:childTnLst>
                          </p:cTn>
                        </p:par>
                        <p:par>
                          <p:cTn id="31" fill="hold">
                            <p:stCondLst>
                              <p:cond delay="1000"/>
                            </p:stCondLst>
                            <p:childTnLst>
                              <p:par>
                                <p:cTn id="32" presetID="22" presetClass="entr" presetSubtype="4" fill="hold" grpId="0" nodeType="afterEffect">
                                  <p:stCondLst>
                                    <p:cond delay="0"/>
                                  </p:stCondLst>
                                  <p:childTnLst>
                                    <p:set>
                                      <p:cBhvr>
                                        <p:cTn id="33" dur="1" fill="hold">
                                          <p:stCondLst>
                                            <p:cond delay="0"/>
                                          </p:stCondLst>
                                        </p:cTn>
                                        <p:tgtEl>
                                          <p:spTgt spid="34858"/>
                                        </p:tgtEl>
                                        <p:attrNameLst>
                                          <p:attrName>style.visibility</p:attrName>
                                        </p:attrNameLst>
                                      </p:cBhvr>
                                      <p:to>
                                        <p:strVal val="visible"/>
                                      </p:to>
                                    </p:set>
                                    <p:animEffect transition="in" filter="wipe(down)">
                                      <p:cBhvr>
                                        <p:cTn id="34" dur="500"/>
                                        <p:tgtEl>
                                          <p:spTgt spid="34858"/>
                                        </p:tgtEl>
                                      </p:cBhvr>
                                    </p:animEffect>
                                  </p:childTnLst>
                                </p:cTn>
                              </p:par>
                            </p:childTnLst>
                          </p:cTn>
                        </p:par>
                        <p:par>
                          <p:cTn id="35" fill="hold">
                            <p:stCondLst>
                              <p:cond delay="1500"/>
                            </p:stCondLst>
                            <p:childTnLst>
                              <p:par>
                                <p:cTn id="36" presetID="1" presetClass="entr" presetSubtype="0" fill="hold" grpId="0" nodeType="afterEffect">
                                  <p:stCondLst>
                                    <p:cond delay="0"/>
                                  </p:stCondLst>
                                  <p:childTnLst>
                                    <p:set>
                                      <p:cBhvr>
                                        <p:cTn id="37" dur="1" fill="hold">
                                          <p:stCondLst>
                                            <p:cond delay="499"/>
                                          </p:stCondLst>
                                        </p:cTn>
                                        <p:tgtEl>
                                          <p:spTgt spid="34856"/>
                                        </p:tgtEl>
                                        <p:attrNameLst>
                                          <p:attrName>style.visibility</p:attrName>
                                        </p:attrNameLst>
                                      </p:cBhvr>
                                      <p:to>
                                        <p:strVal val="visible"/>
                                      </p:to>
                                    </p:set>
                                  </p:childTnLst>
                                </p:cTn>
                              </p:par>
                            </p:childTnLst>
                          </p:cTn>
                        </p:par>
                        <p:par>
                          <p:cTn id="38" fill="hold">
                            <p:stCondLst>
                              <p:cond delay="2000"/>
                            </p:stCondLst>
                            <p:childTnLst>
                              <p:par>
                                <p:cTn id="39" presetID="22" presetClass="entr" presetSubtype="8" fill="hold" grpId="0" nodeType="afterEffect">
                                  <p:stCondLst>
                                    <p:cond delay="0"/>
                                  </p:stCondLst>
                                  <p:childTnLst>
                                    <p:set>
                                      <p:cBhvr>
                                        <p:cTn id="40" dur="1" fill="hold">
                                          <p:stCondLst>
                                            <p:cond delay="0"/>
                                          </p:stCondLst>
                                        </p:cTn>
                                        <p:tgtEl>
                                          <p:spTgt spid="34867"/>
                                        </p:tgtEl>
                                        <p:attrNameLst>
                                          <p:attrName>style.visibility</p:attrName>
                                        </p:attrNameLst>
                                      </p:cBhvr>
                                      <p:to>
                                        <p:strVal val="visible"/>
                                      </p:to>
                                    </p:set>
                                    <p:animEffect transition="in" filter="wipe(left)">
                                      <p:cBhvr>
                                        <p:cTn id="41" dur="500"/>
                                        <p:tgtEl>
                                          <p:spTgt spid="3486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4861"/>
                                        </p:tgtEl>
                                        <p:attrNameLst>
                                          <p:attrName>style.visibility</p:attrName>
                                        </p:attrNameLst>
                                      </p:cBhvr>
                                      <p:to>
                                        <p:strVal val="visible"/>
                                      </p:to>
                                    </p:set>
                                    <p:animEffect transition="in" filter="wipe(left)">
                                      <p:cBhvr>
                                        <p:cTn id="46" dur="500"/>
                                        <p:tgtEl>
                                          <p:spTgt spid="34861"/>
                                        </p:tgtEl>
                                      </p:cBhvr>
                                    </p:animEffect>
                                  </p:childTnLst>
                                </p:cTn>
                              </p:par>
                            </p:childTnLst>
                          </p:cTn>
                        </p:par>
                        <p:par>
                          <p:cTn id="47" fill="hold">
                            <p:stCondLst>
                              <p:cond delay="500"/>
                            </p:stCondLst>
                            <p:childTnLst>
                              <p:par>
                                <p:cTn id="48" presetID="1" presetClass="entr" presetSubtype="0" fill="hold" nodeType="afterEffect">
                                  <p:stCondLst>
                                    <p:cond delay="0"/>
                                  </p:stCondLst>
                                  <p:childTnLst>
                                    <p:set>
                                      <p:cBhvr>
                                        <p:cTn id="49" dur="1" fill="hold">
                                          <p:stCondLst>
                                            <p:cond delay="499"/>
                                          </p:stCondLst>
                                        </p:cTn>
                                        <p:tgtEl>
                                          <p:spTgt spid="34865"/>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4877"/>
                                        </p:tgtEl>
                                        <p:attrNameLst>
                                          <p:attrName>style.visibility</p:attrName>
                                        </p:attrNameLst>
                                      </p:cBhvr>
                                      <p:to>
                                        <p:strVal val="visible"/>
                                      </p:to>
                                    </p:set>
                                    <p:animEffect transition="in" filter="wipe(left)">
                                      <p:cBhvr>
                                        <p:cTn id="54" dur="500"/>
                                        <p:tgtEl>
                                          <p:spTgt spid="34877"/>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3485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34866"/>
                                        </p:tgtEl>
                                        <p:attrNameLst>
                                          <p:attrName>style.visibility</p:attrName>
                                        </p:attrNameLst>
                                      </p:cBhvr>
                                      <p:to>
                                        <p:strVal val="visible"/>
                                      </p:to>
                                    </p:set>
                                  </p:childTnLst>
                                </p:cTn>
                              </p:par>
                            </p:childTnLst>
                          </p:cTn>
                        </p:par>
                        <p:par>
                          <p:cTn id="63" fill="hold">
                            <p:stCondLst>
                              <p:cond delay="500"/>
                            </p:stCondLst>
                            <p:childTnLst>
                              <p:par>
                                <p:cTn id="64" presetID="22" presetClass="entr" presetSubtype="8" fill="hold" grpId="0" nodeType="afterEffect">
                                  <p:stCondLst>
                                    <p:cond delay="0"/>
                                  </p:stCondLst>
                                  <p:childTnLst>
                                    <p:set>
                                      <p:cBhvr>
                                        <p:cTn id="65" dur="1" fill="hold">
                                          <p:stCondLst>
                                            <p:cond delay="0"/>
                                          </p:stCondLst>
                                        </p:cTn>
                                        <p:tgtEl>
                                          <p:spTgt spid="34880"/>
                                        </p:tgtEl>
                                        <p:attrNameLst>
                                          <p:attrName>style.visibility</p:attrName>
                                        </p:attrNameLst>
                                      </p:cBhvr>
                                      <p:to>
                                        <p:strVal val="visible"/>
                                      </p:to>
                                    </p:set>
                                    <p:animEffect transition="in" filter="wipe(left)">
                                      <p:cBhvr>
                                        <p:cTn id="66" dur="1000"/>
                                        <p:tgtEl>
                                          <p:spTgt spid="3488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34859"/>
                                        </p:tgtEl>
                                        <p:attrNameLst>
                                          <p:attrName>style.visibility</p:attrName>
                                        </p:attrNameLst>
                                      </p:cBhvr>
                                      <p:to>
                                        <p:strVal val="visible"/>
                                      </p:to>
                                    </p:set>
                                    <p:animEffect transition="in" filter="wipe(up)">
                                      <p:cBhvr>
                                        <p:cTn id="71" dur="500"/>
                                        <p:tgtEl>
                                          <p:spTgt spid="34859"/>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499"/>
                                          </p:stCondLst>
                                        </p:cTn>
                                        <p:tgtEl>
                                          <p:spTgt spid="34860"/>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499"/>
                                          </p:stCondLst>
                                        </p:cTn>
                                        <p:tgtEl>
                                          <p:spTgt spid="34863"/>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34869"/>
                                        </p:tgtEl>
                                        <p:attrNameLst>
                                          <p:attrName>style.visibility</p:attrName>
                                        </p:attrNameLst>
                                      </p:cBhvr>
                                      <p:to>
                                        <p:strVal val="visible"/>
                                      </p:to>
                                    </p:set>
                                    <p:animEffect transition="in" filter="wipe(left)">
                                      <p:cBhvr>
                                        <p:cTn id="84" dur="500"/>
                                        <p:tgtEl>
                                          <p:spTgt spid="34869"/>
                                        </p:tgtEl>
                                      </p:cBhvr>
                                    </p:animEffec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499"/>
                                          </p:stCondLst>
                                        </p:cTn>
                                        <p:tgtEl>
                                          <p:spTgt spid="34870"/>
                                        </p:tgtEl>
                                        <p:attrNameLst>
                                          <p:attrName>style.visibility</p:attrName>
                                        </p:attrNameLst>
                                      </p:cBhvr>
                                      <p:to>
                                        <p:strVal val="visible"/>
                                      </p:to>
                                    </p:set>
                                  </p:childTnLst>
                                </p:cTn>
                              </p:par>
                            </p:childTnLst>
                          </p:cTn>
                        </p:par>
                        <p:par>
                          <p:cTn id="89" fill="hold">
                            <p:stCondLst>
                              <p:cond delay="500"/>
                            </p:stCondLst>
                            <p:childTnLst>
                              <p:par>
                                <p:cTn id="90" presetID="22" presetClass="entr" presetSubtype="8" fill="hold" grpId="0" nodeType="afterEffect">
                                  <p:stCondLst>
                                    <p:cond delay="0"/>
                                  </p:stCondLst>
                                  <p:childTnLst>
                                    <p:set>
                                      <p:cBhvr>
                                        <p:cTn id="91" dur="1" fill="hold">
                                          <p:stCondLst>
                                            <p:cond delay="0"/>
                                          </p:stCondLst>
                                        </p:cTn>
                                        <p:tgtEl>
                                          <p:spTgt spid="34873"/>
                                        </p:tgtEl>
                                        <p:attrNameLst>
                                          <p:attrName>style.visibility</p:attrName>
                                        </p:attrNameLst>
                                      </p:cBhvr>
                                      <p:to>
                                        <p:strVal val="visible"/>
                                      </p:to>
                                    </p:set>
                                    <p:animEffect transition="in" filter="wipe(left)">
                                      <p:cBhvr>
                                        <p:cTn id="92" dur="500"/>
                                        <p:tgtEl>
                                          <p:spTgt spid="34873"/>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34875"/>
                                        </p:tgtEl>
                                        <p:attrNameLst>
                                          <p:attrName>style.visibility</p:attrName>
                                        </p:attrNameLst>
                                      </p:cBhvr>
                                      <p:to>
                                        <p:strVal val="visible"/>
                                      </p:to>
                                    </p:set>
                                    <p:animEffect transition="in" filter="wipe(left)">
                                      <p:cBhvr>
                                        <p:cTn id="97" dur="500"/>
                                        <p:tgtEl>
                                          <p:spTgt spid="34875"/>
                                        </p:tgtEl>
                                      </p:cBhvr>
                                    </p:animEffec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499"/>
                                          </p:stCondLst>
                                        </p:cTn>
                                        <p:tgtEl>
                                          <p:spTgt spid="34876"/>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34874"/>
                                        </p:tgtEl>
                                        <p:attrNameLst>
                                          <p:attrName>style.visibility</p:attrName>
                                        </p:attrNameLst>
                                      </p:cBhvr>
                                      <p:to>
                                        <p:strVal val="visible"/>
                                      </p:to>
                                    </p:set>
                                    <p:animEffect transition="in" filter="wipe(left)">
                                      <p:cBhvr>
                                        <p:cTn id="106" dur="500"/>
                                        <p:tgtEl>
                                          <p:spTgt spid="34874"/>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34879"/>
                                        </p:tgtEl>
                                        <p:attrNameLst>
                                          <p:attrName>style.visibility</p:attrName>
                                        </p:attrNameLst>
                                      </p:cBhvr>
                                      <p:to>
                                        <p:strVal val="visible"/>
                                      </p:to>
                                    </p:set>
                                    <p:animEffect transition="in" filter="wipe(left)">
                                      <p:cBhvr>
                                        <p:cTn id="111" dur="500"/>
                                        <p:tgtEl>
                                          <p:spTgt spid="34879"/>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34878"/>
                                        </p:tgtEl>
                                        <p:attrNameLst>
                                          <p:attrName>style.visibility</p:attrName>
                                        </p:attrNameLst>
                                      </p:cBhvr>
                                      <p:to>
                                        <p:strVal val="visible"/>
                                      </p:to>
                                    </p:set>
                                    <p:animEffect transition="in" filter="wipe(left)">
                                      <p:cBhvr>
                                        <p:cTn id="116" dur="500"/>
                                        <p:tgtEl>
                                          <p:spTgt spid="34878"/>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34881"/>
                                        </p:tgtEl>
                                        <p:attrNameLst>
                                          <p:attrName>style.visibility</p:attrName>
                                        </p:attrNameLst>
                                      </p:cBhvr>
                                      <p:to>
                                        <p:strVal val="visible"/>
                                      </p:to>
                                    </p:set>
                                    <p:animEffect transition="in" filter="wipe(left)">
                                      <p:cBhvr>
                                        <p:cTn id="121" dur="500"/>
                                        <p:tgtEl>
                                          <p:spTgt spid="34881"/>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34882"/>
                                        </p:tgtEl>
                                        <p:attrNameLst>
                                          <p:attrName>style.visibility</p:attrName>
                                        </p:attrNameLst>
                                      </p:cBhvr>
                                      <p:to>
                                        <p:strVal val="visible"/>
                                      </p:to>
                                    </p:set>
                                    <p:animEffect transition="in" filter="wipe(left)">
                                      <p:cBhvr>
                                        <p:cTn id="126" dur="500"/>
                                        <p:tgtEl>
                                          <p:spTgt spid="348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52" grpId="0"/>
      <p:bldP spid="34856" grpId="0" autoUpdateAnimBg="0"/>
      <p:bldP spid="34857" grpId="0" animBg="1"/>
      <p:bldP spid="34858" grpId="0" animBg="1"/>
      <p:bldP spid="34859" grpId="0" animBg="1"/>
      <p:bldP spid="34860" grpId="0" animBg="1"/>
      <p:bldP spid="34861" grpId="0" animBg="1"/>
      <p:bldP spid="34862" grpId="0" autoUpdateAnimBg="0"/>
      <p:bldP spid="34863" grpId="0" autoUpdateAnimBg="0"/>
      <p:bldP spid="34866" grpId="0" autoUpdateAnimBg="0"/>
      <p:bldP spid="34867" grpId="0" autoUpdateAnimBg="0"/>
      <p:bldP spid="34868" grpId="0" autoUpdateAnimBg="0"/>
      <p:bldP spid="34869" grpId="0" autoUpdateAnimBg="0"/>
      <p:bldP spid="34871" grpId="0" animBg="1"/>
      <p:bldP spid="34872" grpId="0" autoUpdateAnimBg="0"/>
      <p:bldP spid="34873" grpId="0" autoUpdateAnimBg="0"/>
      <p:bldP spid="34875" grpId="0" autoUpdateAnimBg="0"/>
      <p:bldP spid="34877" grpId="0" autoUpdateAnimBg="0"/>
      <p:bldP spid="34879" grpId="0" autoUpdateAnimBg="0"/>
      <p:bldP spid="34880" grpId="0" animBg="1"/>
      <p:bldP spid="34881" grpId="0" autoUpdateAnimBg="0"/>
      <p:bldP spid="34882"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9746" name="Object 2"/>
          <p:cNvGraphicFramePr>
            <a:graphicFrameLocks/>
          </p:cNvGraphicFramePr>
          <p:nvPr/>
        </p:nvGraphicFramePr>
        <p:xfrm>
          <a:off x="1784350" y="1978025"/>
          <a:ext cx="3551238" cy="730250"/>
        </p:xfrm>
        <a:graphic>
          <a:graphicData uri="http://schemas.openxmlformats.org/presentationml/2006/ole">
            <p:oleObj spid="_x0000_s10242" name="公式" r:id="rId3" imgW="1968480" imgH="406080" progId="Equation.3">
              <p:embed/>
            </p:oleObj>
          </a:graphicData>
        </a:graphic>
      </p:graphicFrame>
      <p:graphicFrame>
        <p:nvGraphicFramePr>
          <p:cNvPr id="159747" name="Object 3"/>
          <p:cNvGraphicFramePr>
            <a:graphicFrameLocks/>
          </p:cNvGraphicFramePr>
          <p:nvPr/>
        </p:nvGraphicFramePr>
        <p:xfrm>
          <a:off x="1782763" y="538163"/>
          <a:ext cx="3481387" cy="733425"/>
        </p:xfrm>
        <a:graphic>
          <a:graphicData uri="http://schemas.openxmlformats.org/presentationml/2006/ole">
            <p:oleObj spid="_x0000_s10243" name="公式" r:id="rId4" imgW="1930320" imgH="406080" progId="Equation.3">
              <p:embed/>
            </p:oleObj>
          </a:graphicData>
        </a:graphic>
      </p:graphicFrame>
      <p:graphicFrame>
        <p:nvGraphicFramePr>
          <p:cNvPr id="159748" name="Object 4"/>
          <p:cNvGraphicFramePr>
            <a:graphicFrameLocks noChangeAspect="1"/>
          </p:cNvGraphicFramePr>
          <p:nvPr/>
        </p:nvGraphicFramePr>
        <p:xfrm>
          <a:off x="1782763" y="1247775"/>
          <a:ext cx="3506787" cy="730250"/>
        </p:xfrm>
        <a:graphic>
          <a:graphicData uri="http://schemas.openxmlformats.org/presentationml/2006/ole">
            <p:oleObj spid="_x0000_s10244" name="公式" r:id="rId5" imgW="1942920" imgH="406080" progId="Equation.3">
              <p:embed/>
            </p:oleObj>
          </a:graphicData>
        </a:graphic>
      </p:graphicFrame>
      <p:sp>
        <p:nvSpPr>
          <p:cNvPr id="159749" name="Text Box 5" descr="绿色大理石"/>
          <p:cNvSpPr txBox="1">
            <a:spLocks noChangeArrowheads="1"/>
          </p:cNvSpPr>
          <p:nvPr/>
        </p:nvSpPr>
        <p:spPr bwMode="auto">
          <a:xfrm>
            <a:off x="207963" y="3473450"/>
            <a:ext cx="8594725" cy="968375"/>
          </a:xfrm>
          <a:prstGeom prst="rect">
            <a:avLst/>
          </a:prstGeom>
          <a:noFill/>
          <a:ln w="9525">
            <a:noFill/>
            <a:miter lim="800000"/>
            <a:headEnd/>
            <a:tailEnd/>
          </a:ln>
        </p:spPr>
        <p:txBody>
          <a:bodyPr>
            <a:spAutoFit/>
          </a:bodyPr>
          <a:lstStyle/>
          <a:p>
            <a:pPr>
              <a:lnSpc>
                <a:spcPct val="120000"/>
              </a:lnSpc>
            </a:pPr>
            <a:r>
              <a:rPr kumimoji="0" lang="en-US" altLang="zh-CN" b="1">
                <a:solidFill>
                  <a:schemeClr val="tx2"/>
                </a:solidFill>
              </a:rPr>
              <a:t>        </a:t>
            </a:r>
            <a:r>
              <a:rPr kumimoji="0" lang="zh-CN" altLang="en-US" b="1">
                <a:solidFill>
                  <a:schemeClr val="tx2"/>
                </a:solidFill>
              </a:rPr>
              <a:t>由波函数可知波的传播过程中任意两质点 </a:t>
            </a:r>
            <a:r>
              <a:rPr kumimoji="0" lang="en-US" altLang="zh-CN" b="1" i="1">
                <a:solidFill>
                  <a:srgbClr val="FF6600"/>
                </a:solidFill>
              </a:rPr>
              <a:t>x</a:t>
            </a:r>
            <a:r>
              <a:rPr kumimoji="0" lang="en-US" altLang="zh-CN" b="1" baseline="-25000">
                <a:solidFill>
                  <a:srgbClr val="FF6600"/>
                </a:solidFill>
              </a:rPr>
              <a:t>1</a:t>
            </a:r>
            <a:r>
              <a:rPr kumimoji="0" lang="en-US" altLang="zh-CN" b="1" baseline="-25000">
                <a:solidFill>
                  <a:schemeClr val="tx2"/>
                </a:solidFill>
              </a:rPr>
              <a:t> </a:t>
            </a:r>
            <a:r>
              <a:rPr kumimoji="0" lang="zh-CN" altLang="en-US" b="1">
                <a:solidFill>
                  <a:schemeClr val="tx2"/>
                </a:solidFill>
              </a:rPr>
              <a:t>和 </a:t>
            </a:r>
            <a:r>
              <a:rPr kumimoji="0" lang="en-US" altLang="zh-CN" b="1" i="1">
                <a:solidFill>
                  <a:srgbClr val="FF6600"/>
                </a:solidFill>
              </a:rPr>
              <a:t>x</a:t>
            </a:r>
            <a:r>
              <a:rPr kumimoji="0" lang="en-US" altLang="zh-CN" b="1" baseline="-25000">
                <a:solidFill>
                  <a:srgbClr val="FF6600"/>
                </a:solidFill>
              </a:rPr>
              <a:t>2</a:t>
            </a:r>
            <a:r>
              <a:rPr kumimoji="0" lang="en-US" altLang="zh-CN" b="1" baseline="-25000">
                <a:solidFill>
                  <a:schemeClr val="tx2"/>
                </a:solidFill>
              </a:rPr>
              <a:t> </a:t>
            </a:r>
            <a:r>
              <a:rPr kumimoji="0" lang="zh-CN" altLang="en-US" b="1">
                <a:solidFill>
                  <a:schemeClr val="tx2"/>
                </a:solidFill>
              </a:rPr>
              <a:t>振动的相位差为</a:t>
            </a:r>
            <a:endParaRPr kumimoji="0" lang="zh-CN" altLang="en-US">
              <a:solidFill>
                <a:schemeClr val="tx2"/>
              </a:solidFill>
            </a:endParaRPr>
          </a:p>
        </p:txBody>
      </p:sp>
      <p:graphicFrame>
        <p:nvGraphicFramePr>
          <p:cNvPr id="159750" name="Object 6"/>
          <p:cNvGraphicFramePr>
            <a:graphicFrameLocks noChangeAspect="1"/>
          </p:cNvGraphicFramePr>
          <p:nvPr/>
        </p:nvGraphicFramePr>
        <p:xfrm>
          <a:off x="1511300" y="4508500"/>
          <a:ext cx="5805488" cy="730250"/>
        </p:xfrm>
        <a:graphic>
          <a:graphicData uri="http://schemas.openxmlformats.org/presentationml/2006/ole">
            <p:oleObj spid="_x0000_s10245" name="公式" r:id="rId6" imgW="3225600" imgH="406080" progId="Equation.3">
              <p:embed/>
            </p:oleObj>
          </a:graphicData>
        </a:graphic>
      </p:graphicFrame>
      <p:sp>
        <p:nvSpPr>
          <p:cNvPr id="159751" name="Rectangle 7" descr="绿色大理石"/>
          <p:cNvSpPr>
            <a:spLocks noChangeArrowheads="1"/>
          </p:cNvSpPr>
          <p:nvPr/>
        </p:nvSpPr>
        <p:spPr bwMode="auto">
          <a:xfrm>
            <a:off x="206375" y="5414963"/>
            <a:ext cx="8623300" cy="968375"/>
          </a:xfrm>
          <a:prstGeom prst="rect">
            <a:avLst/>
          </a:prstGeom>
          <a:noFill/>
          <a:ln w="9525">
            <a:noFill/>
            <a:miter lim="800000"/>
            <a:headEnd/>
            <a:tailEnd/>
          </a:ln>
        </p:spPr>
        <p:txBody>
          <a:bodyPr>
            <a:spAutoFit/>
          </a:bodyPr>
          <a:lstStyle/>
          <a:p>
            <a:pPr>
              <a:lnSpc>
                <a:spcPct val="120000"/>
              </a:lnSpc>
            </a:pPr>
            <a:r>
              <a:rPr kumimoji="0" lang="en-US" altLang="zh-CN" b="1" i="1">
                <a:solidFill>
                  <a:schemeClr val="tx2"/>
                </a:solidFill>
              </a:rPr>
              <a:t>         </a:t>
            </a:r>
            <a:r>
              <a:rPr kumimoji="0" lang="en-US" altLang="zh-CN" b="1" i="1">
                <a:solidFill>
                  <a:srgbClr val="FF6600"/>
                </a:solidFill>
              </a:rPr>
              <a:t>x</a:t>
            </a:r>
            <a:r>
              <a:rPr kumimoji="0" lang="en-US" altLang="zh-CN" b="1" baseline="-25000">
                <a:solidFill>
                  <a:srgbClr val="FF6600"/>
                </a:solidFill>
              </a:rPr>
              <a:t>2 </a:t>
            </a:r>
            <a:r>
              <a:rPr kumimoji="0" lang="en-US" altLang="zh-CN" b="1">
                <a:solidFill>
                  <a:srgbClr val="FF6600"/>
                </a:solidFill>
              </a:rPr>
              <a:t>&gt; </a:t>
            </a:r>
            <a:r>
              <a:rPr kumimoji="0" lang="en-US" altLang="zh-CN" b="1" i="1">
                <a:solidFill>
                  <a:srgbClr val="FF6600"/>
                </a:solidFill>
              </a:rPr>
              <a:t>x</a:t>
            </a:r>
            <a:r>
              <a:rPr kumimoji="0" lang="en-US" altLang="zh-CN" b="1" baseline="-25000">
                <a:solidFill>
                  <a:srgbClr val="FF6600"/>
                </a:solidFill>
              </a:rPr>
              <a:t>1</a:t>
            </a:r>
            <a:r>
              <a:rPr kumimoji="0" lang="zh-CN" altLang="en-US" b="1">
                <a:solidFill>
                  <a:schemeClr val="tx2"/>
                </a:solidFill>
              </a:rPr>
              <a:t>，</a:t>
            </a:r>
            <a:r>
              <a:rPr kumimoji="0" lang="el-GR" altLang="zh-CN" b="1">
                <a:solidFill>
                  <a:srgbClr val="FF6600"/>
                </a:solidFill>
              </a:rPr>
              <a:t>Δ</a:t>
            </a:r>
            <a:r>
              <a:rPr kumimoji="0" lang="en-US" altLang="zh-CN" b="1" i="1">
                <a:solidFill>
                  <a:srgbClr val="FF6600"/>
                </a:solidFill>
                <a:latin typeface="Symbol" pitchFamily="18" charset="2"/>
              </a:rPr>
              <a:t>j  </a:t>
            </a:r>
            <a:r>
              <a:rPr kumimoji="0" lang="en-US" altLang="zh-CN" b="1">
                <a:solidFill>
                  <a:srgbClr val="FF6600"/>
                </a:solidFill>
              </a:rPr>
              <a:t>&lt; 0</a:t>
            </a:r>
            <a:r>
              <a:rPr kumimoji="0" lang="zh-CN" altLang="en-US" b="1">
                <a:solidFill>
                  <a:schemeClr val="tx2"/>
                </a:solidFill>
              </a:rPr>
              <a:t>，说明 </a:t>
            </a:r>
            <a:r>
              <a:rPr kumimoji="0" lang="en-US" altLang="zh-CN" b="1" i="1">
                <a:solidFill>
                  <a:srgbClr val="FF6600"/>
                </a:solidFill>
              </a:rPr>
              <a:t>x</a:t>
            </a:r>
            <a:r>
              <a:rPr kumimoji="0" lang="en-US" altLang="zh-CN" b="1" baseline="-25000">
                <a:solidFill>
                  <a:srgbClr val="FF6600"/>
                </a:solidFill>
              </a:rPr>
              <a:t>2</a:t>
            </a:r>
            <a:r>
              <a:rPr kumimoji="0" lang="en-US" altLang="zh-CN" b="1" baseline="-25000">
                <a:solidFill>
                  <a:schemeClr val="tx2"/>
                </a:solidFill>
              </a:rPr>
              <a:t>  </a:t>
            </a:r>
            <a:r>
              <a:rPr kumimoji="0" lang="zh-CN" altLang="en-US" b="1">
                <a:solidFill>
                  <a:schemeClr val="tx2"/>
                </a:solidFill>
              </a:rPr>
              <a:t>处质点振动的相位总落后于 </a:t>
            </a:r>
            <a:r>
              <a:rPr kumimoji="0" lang="en-US" altLang="zh-CN" b="1" i="1">
                <a:solidFill>
                  <a:srgbClr val="FF6600"/>
                </a:solidFill>
              </a:rPr>
              <a:t>x</a:t>
            </a:r>
            <a:r>
              <a:rPr kumimoji="0" lang="en-US" altLang="zh-CN" b="1" baseline="-25000">
                <a:solidFill>
                  <a:srgbClr val="FF6600"/>
                </a:solidFill>
              </a:rPr>
              <a:t>1 </a:t>
            </a:r>
            <a:r>
              <a:rPr kumimoji="0" lang="zh-CN" altLang="en-US" b="1">
                <a:solidFill>
                  <a:schemeClr val="tx2"/>
                </a:solidFill>
              </a:rPr>
              <a:t>处质点的振动；</a:t>
            </a:r>
            <a:endParaRPr kumimoji="0" lang="zh-CN" altLang="en-US">
              <a:solidFill>
                <a:schemeClr val="tx2"/>
              </a:solidFill>
            </a:endParaRPr>
          </a:p>
        </p:txBody>
      </p:sp>
      <p:sp>
        <p:nvSpPr>
          <p:cNvPr id="159752" name="Text Box 8"/>
          <p:cNvSpPr txBox="1">
            <a:spLocks noChangeArrowheads="1"/>
          </p:cNvSpPr>
          <p:nvPr/>
        </p:nvSpPr>
        <p:spPr bwMode="auto">
          <a:xfrm>
            <a:off x="476250" y="2843213"/>
            <a:ext cx="1079500" cy="457200"/>
          </a:xfrm>
          <a:prstGeom prst="rect">
            <a:avLst/>
          </a:prstGeom>
          <a:noFill/>
          <a:ln w="9525">
            <a:noFill/>
            <a:miter lim="800000"/>
            <a:headEnd/>
            <a:tailEnd/>
          </a:ln>
        </p:spPr>
        <p:txBody>
          <a:bodyPr>
            <a:spAutoFit/>
          </a:bodyPr>
          <a:lstStyle/>
          <a:p>
            <a:pPr algn="ctr"/>
            <a:r>
              <a:rPr kumimoji="0" lang="zh-CN" altLang="en-US" b="1">
                <a:solidFill>
                  <a:srgbClr val="0000FF"/>
                </a:solidFill>
                <a:latin typeface="宋体" pitchFamily="2" charset="-122"/>
              </a:rPr>
              <a:t>讨论</a:t>
            </a:r>
            <a:endParaRPr kumimoji="0" lang="zh-CN" altLang="en-US" sz="1800">
              <a:solidFill>
                <a:srgbClr val="0000FF"/>
              </a:solidFill>
            </a:endParaRPr>
          </a:p>
        </p:txBody>
      </p:sp>
      <p:sp>
        <p:nvSpPr>
          <p:cNvPr id="159753" name="AutoShape 9"/>
          <p:cNvSpPr>
            <a:spLocks noChangeArrowheads="1"/>
          </p:cNvSpPr>
          <p:nvPr/>
        </p:nvSpPr>
        <p:spPr bwMode="auto">
          <a:xfrm>
            <a:off x="206375" y="2754313"/>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
        <p:nvSpPr>
          <p:cNvPr id="159754" name="Text Box 10"/>
          <p:cNvSpPr txBox="1">
            <a:spLocks noChangeArrowheads="1"/>
          </p:cNvSpPr>
          <p:nvPr/>
        </p:nvSpPr>
        <p:spPr bwMode="auto">
          <a:xfrm>
            <a:off x="746125" y="854075"/>
            <a:ext cx="495300" cy="1562100"/>
          </a:xfrm>
          <a:prstGeom prst="rect">
            <a:avLst/>
          </a:prstGeom>
          <a:solidFill>
            <a:srgbClr val="FFCC00">
              <a:alpha val="25882"/>
            </a:srgbClr>
          </a:solidFill>
          <a:ln w="9525">
            <a:solidFill>
              <a:schemeClr val="tx1"/>
            </a:solidFill>
            <a:miter lim="800000"/>
            <a:headEnd/>
            <a:tailEnd/>
          </a:ln>
        </p:spPr>
        <p:txBody>
          <a:bodyPr>
            <a:spAutoFit/>
          </a:bodyPr>
          <a:lstStyle/>
          <a:p>
            <a:r>
              <a:rPr kumimoji="0" lang="zh-CN" altLang="en-US" b="1">
                <a:solidFill>
                  <a:srgbClr val="FF0000"/>
                </a:solidFill>
                <a:latin typeface="宋体" pitchFamily="2" charset="-122"/>
              </a:rPr>
              <a:t>其它形式</a:t>
            </a:r>
            <a:endParaRPr kumimoji="0" lang="zh-CN" altLang="en-US" sz="1800">
              <a:solidFill>
                <a:srgbClr val="FF0000"/>
              </a:solidFill>
            </a:endParaRPr>
          </a:p>
        </p:txBody>
      </p:sp>
      <p:sp>
        <p:nvSpPr>
          <p:cNvPr id="159755" name="AutoShape 11"/>
          <p:cNvSpPr>
            <a:spLocks/>
          </p:cNvSpPr>
          <p:nvPr/>
        </p:nvSpPr>
        <p:spPr bwMode="auto">
          <a:xfrm>
            <a:off x="1503363" y="854075"/>
            <a:ext cx="142875" cy="1584325"/>
          </a:xfrm>
          <a:prstGeom prst="leftBrace">
            <a:avLst>
              <a:gd name="adj1" fmla="val 92407"/>
              <a:gd name="adj2" fmla="val 50000"/>
            </a:avLst>
          </a:prstGeom>
          <a:noFill/>
          <a:ln w="28575">
            <a:solidFill>
              <a:srgbClr val="9900CC"/>
            </a:solidFill>
            <a:round/>
            <a:headEnd/>
            <a:tailEnd/>
          </a:ln>
        </p:spPr>
        <p:txBody>
          <a:bodyPr wrap="none" anchor="ctr"/>
          <a:lstStyle/>
          <a:p>
            <a:pPr algn="ctr"/>
            <a:endParaRPr kumimoji="0" lang="zh-CN" altLang="zh-CN" sz="1800">
              <a:solidFill>
                <a:schemeClr val="tx2"/>
              </a:solidFill>
            </a:endParaRPr>
          </a:p>
        </p:txBody>
      </p:sp>
      <p:graphicFrame>
        <p:nvGraphicFramePr>
          <p:cNvPr id="10246" name="Object 12"/>
          <p:cNvGraphicFramePr>
            <a:graphicFrameLocks noChangeAspect="1"/>
          </p:cNvGraphicFramePr>
          <p:nvPr/>
        </p:nvGraphicFramePr>
        <p:xfrm>
          <a:off x="5651500" y="404813"/>
          <a:ext cx="3238500" cy="730250"/>
        </p:xfrm>
        <a:graphic>
          <a:graphicData uri="http://schemas.openxmlformats.org/presentationml/2006/ole">
            <p:oleObj spid="_x0000_s10246" name="公式" r:id="rId7" imgW="1803240" imgH="4060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9754"/>
                                        </p:tgtEl>
                                        <p:attrNameLst>
                                          <p:attrName>style.visibility</p:attrName>
                                        </p:attrNameLst>
                                      </p:cBhvr>
                                      <p:to>
                                        <p:strVal val="visible"/>
                                      </p:to>
                                    </p:set>
                                    <p:animEffect transition="in" filter="wipe(left)">
                                      <p:cBhvr>
                                        <p:cTn id="7" dur="1000"/>
                                        <p:tgtEl>
                                          <p:spTgt spid="1597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9755"/>
                                        </p:tgtEl>
                                        <p:attrNameLst>
                                          <p:attrName>style.visibility</p:attrName>
                                        </p:attrNameLst>
                                      </p:cBhvr>
                                      <p:to>
                                        <p:strVal val="visible"/>
                                      </p:to>
                                    </p:set>
                                    <p:animEffect transition="in" filter="wipe(up)">
                                      <p:cBhvr>
                                        <p:cTn id="12" dur="500"/>
                                        <p:tgtEl>
                                          <p:spTgt spid="1597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9747"/>
                                        </p:tgtEl>
                                        <p:attrNameLst>
                                          <p:attrName>style.visibility</p:attrName>
                                        </p:attrNameLst>
                                      </p:cBhvr>
                                      <p:to>
                                        <p:strVal val="visible"/>
                                      </p:to>
                                    </p:set>
                                    <p:animEffect transition="in" filter="wipe(left)">
                                      <p:cBhvr>
                                        <p:cTn id="17" dur="500"/>
                                        <p:tgtEl>
                                          <p:spTgt spid="1597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9748"/>
                                        </p:tgtEl>
                                        <p:attrNameLst>
                                          <p:attrName>style.visibility</p:attrName>
                                        </p:attrNameLst>
                                      </p:cBhvr>
                                      <p:to>
                                        <p:strVal val="visible"/>
                                      </p:to>
                                    </p:set>
                                    <p:animEffect transition="in" filter="wipe(left)">
                                      <p:cBhvr>
                                        <p:cTn id="22" dur="500"/>
                                        <p:tgtEl>
                                          <p:spTgt spid="15974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9746"/>
                                        </p:tgtEl>
                                        <p:attrNameLst>
                                          <p:attrName>style.visibility</p:attrName>
                                        </p:attrNameLst>
                                      </p:cBhvr>
                                      <p:to>
                                        <p:strVal val="visible"/>
                                      </p:to>
                                    </p:set>
                                    <p:animEffect transition="in" filter="wipe(left)">
                                      <p:cBhvr>
                                        <p:cTn id="27" dur="500"/>
                                        <p:tgtEl>
                                          <p:spTgt spid="159746"/>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32" fill="hold" grpId="0" nodeType="clickEffect">
                                  <p:stCondLst>
                                    <p:cond delay="0"/>
                                  </p:stCondLst>
                                  <p:childTnLst>
                                    <p:set>
                                      <p:cBhvr>
                                        <p:cTn id="31" dur="1" fill="hold">
                                          <p:stCondLst>
                                            <p:cond delay="0"/>
                                          </p:stCondLst>
                                        </p:cTn>
                                        <p:tgtEl>
                                          <p:spTgt spid="159753"/>
                                        </p:tgtEl>
                                        <p:attrNameLst>
                                          <p:attrName>style.visibility</p:attrName>
                                        </p:attrNameLst>
                                      </p:cBhvr>
                                      <p:to>
                                        <p:strVal val="visible"/>
                                      </p:to>
                                    </p:set>
                                    <p:anim calcmode="lin" valueType="num">
                                      <p:cBhvr>
                                        <p:cTn id="32" dur="500" fill="hold"/>
                                        <p:tgtEl>
                                          <p:spTgt spid="159753"/>
                                        </p:tgtEl>
                                        <p:attrNameLst>
                                          <p:attrName>ppt_w</p:attrName>
                                        </p:attrNameLst>
                                      </p:cBhvr>
                                      <p:tavLst>
                                        <p:tav tm="0">
                                          <p:val>
                                            <p:strVal val="4*#ppt_w"/>
                                          </p:val>
                                        </p:tav>
                                        <p:tav tm="100000">
                                          <p:val>
                                            <p:strVal val="#ppt_w"/>
                                          </p:val>
                                        </p:tav>
                                      </p:tavLst>
                                    </p:anim>
                                    <p:anim calcmode="lin" valueType="num">
                                      <p:cBhvr>
                                        <p:cTn id="33" dur="500" fill="hold"/>
                                        <p:tgtEl>
                                          <p:spTgt spid="159753"/>
                                        </p:tgtEl>
                                        <p:attrNameLst>
                                          <p:attrName>ppt_h</p:attrName>
                                        </p:attrNameLst>
                                      </p:cBhvr>
                                      <p:tavLst>
                                        <p:tav tm="0">
                                          <p:val>
                                            <p:strVal val="4*#ppt_h"/>
                                          </p:val>
                                        </p:tav>
                                        <p:tav tm="100000">
                                          <p:val>
                                            <p:strVal val="#ppt_h"/>
                                          </p:val>
                                        </p:tav>
                                      </p:tavLst>
                                    </p:anim>
                                  </p:childTnLst>
                                </p:cTn>
                              </p:par>
                            </p:childTnLst>
                          </p:cTn>
                        </p:par>
                        <p:par>
                          <p:cTn id="34" fill="hold">
                            <p:stCondLst>
                              <p:cond delay="500"/>
                            </p:stCondLst>
                            <p:childTnLst>
                              <p:par>
                                <p:cTn id="35" presetID="1" presetClass="entr" presetSubtype="0" fill="hold" grpId="0" nodeType="afterEffect">
                                  <p:stCondLst>
                                    <p:cond delay="0"/>
                                  </p:stCondLst>
                                  <p:childTnLst>
                                    <p:set>
                                      <p:cBhvr>
                                        <p:cTn id="36" dur="1" fill="hold">
                                          <p:stCondLst>
                                            <p:cond delay="499"/>
                                          </p:stCondLst>
                                        </p:cTn>
                                        <p:tgtEl>
                                          <p:spTgt spid="15975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59749"/>
                                        </p:tgtEl>
                                        <p:attrNameLst>
                                          <p:attrName>style.visibility</p:attrName>
                                        </p:attrNameLst>
                                      </p:cBhvr>
                                      <p:to>
                                        <p:strVal val="visible"/>
                                      </p:to>
                                    </p:set>
                                    <p:animEffect transition="in" filter="wipe(left)">
                                      <p:cBhvr>
                                        <p:cTn id="41" dur="500"/>
                                        <p:tgtEl>
                                          <p:spTgt spid="15974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59750"/>
                                        </p:tgtEl>
                                        <p:attrNameLst>
                                          <p:attrName>style.visibility</p:attrName>
                                        </p:attrNameLst>
                                      </p:cBhvr>
                                      <p:to>
                                        <p:strVal val="visible"/>
                                      </p:to>
                                    </p:set>
                                    <p:animEffect transition="in" filter="wipe(left)">
                                      <p:cBhvr>
                                        <p:cTn id="46" dur="500"/>
                                        <p:tgtEl>
                                          <p:spTgt spid="15975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59751"/>
                                        </p:tgtEl>
                                        <p:attrNameLst>
                                          <p:attrName>style.visibility</p:attrName>
                                        </p:attrNameLst>
                                      </p:cBhvr>
                                      <p:to>
                                        <p:strVal val="visible"/>
                                      </p:to>
                                    </p:set>
                                    <p:animEffect transition="in" filter="wipe(left)">
                                      <p:cBhvr>
                                        <p:cTn id="51" dur="500"/>
                                        <p:tgtEl>
                                          <p:spTgt spid="159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9" grpId="0" autoUpdateAnimBg="0"/>
      <p:bldP spid="159751" grpId="0" autoUpdateAnimBg="0"/>
      <p:bldP spid="159752" grpId="0" autoUpdateAnimBg="0"/>
      <p:bldP spid="159753" grpId="0" animBg="1"/>
      <p:bldP spid="159754" grpId="0" animBg="1" autoUpdateAnimBg="0"/>
      <p:bldP spid="159755"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Text Box 4" descr="绿色大理石"/>
          <p:cNvSpPr txBox="1">
            <a:spLocks noChangeArrowheads="1"/>
          </p:cNvSpPr>
          <p:nvPr/>
        </p:nvSpPr>
        <p:spPr bwMode="auto">
          <a:xfrm>
            <a:off x="179388" y="476250"/>
            <a:ext cx="4968875" cy="457200"/>
          </a:xfrm>
          <a:prstGeom prst="rect">
            <a:avLst/>
          </a:prstGeom>
          <a:noFill/>
          <a:ln w="9525">
            <a:noFill/>
            <a:miter lim="800000"/>
            <a:headEnd/>
            <a:tailEnd/>
          </a:ln>
        </p:spPr>
        <p:txBody>
          <a:bodyPr>
            <a:spAutoFit/>
          </a:bodyPr>
          <a:lstStyle/>
          <a:p>
            <a:pPr eaLnBrk="0" hangingPunct="0">
              <a:spcBef>
                <a:spcPct val="50000"/>
              </a:spcBef>
            </a:pPr>
            <a:r>
              <a:rPr lang="zh-CN" altLang="en-US" b="1">
                <a:solidFill>
                  <a:srgbClr val="0000FF"/>
                </a:solidFill>
              </a:rPr>
              <a:t>二、波动方程的物理意义</a:t>
            </a:r>
          </a:p>
        </p:txBody>
      </p:sp>
      <p:sp>
        <p:nvSpPr>
          <p:cNvPr id="65541" name="Text Box 5" descr="绿色大理石"/>
          <p:cNvSpPr txBox="1">
            <a:spLocks noChangeArrowheads="1"/>
          </p:cNvSpPr>
          <p:nvPr/>
        </p:nvSpPr>
        <p:spPr bwMode="auto">
          <a:xfrm>
            <a:off x="179388" y="2060575"/>
            <a:ext cx="3962400" cy="457200"/>
          </a:xfrm>
          <a:prstGeom prst="rect">
            <a:avLst/>
          </a:prstGeom>
          <a:noFill/>
          <a:ln w="9525">
            <a:noFill/>
            <a:miter lim="800000"/>
            <a:headEnd/>
            <a:tailEnd/>
          </a:ln>
        </p:spPr>
        <p:txBody>
          <a:bodyPr>
            <a:spAutoFit/>
          </a:bodyPr>
          <a:lstStyle/>
          <a:p>
            <a:pPr eaLnBrk="0" hangingPunct="0">
              <a:spcBef>
                <a:spcPct val="50000"/>
              </a:spcBef>
            </a:pPr>
            <a:r>
              <a:rPr lang="en-US" altLang="zh-CN" b="1"/>
              <a:t>(2)  </a:t>
            </a:r>
            <a:r>
              <a:rPr lang="zh-CN" altLang="en-US" b="1"/>
              <a:t>波形传播的</a:t>
            </a:r>
            <a:r>
              <a:rPr lang="zh-CN" altLang="en-US" b="1">
                <a:solidFill>
                  <a:srgbClr val="FF6600"/>
                </a:solidFill>
              </a:rPr>
              <a:t>时间周期性</a:t>
            </a:r>
          </a:p>
        </p:txBody>
      </p:sp>
      <p:sp>
        <p:nvSpPr>
          <p:cNvPr id="65542" name="Rectangle 6" descr="绿色大理石"/>
          <p:cNvSpPr>
            <a:spLocks noChangeArrowheads="1"/>
          </p:cNvSpPr>
          <p:nvPr/>
        </p:nvSpPr>
        <p:spPr bwMode="auto">
          <a:xfrm>
            <a:off x="179388" y="1052513"/>
            <a:ext cx="4186237" cy="457200"/>
          </a:xfrm>
          <a:prstGeom prst="rect">
            <a:avLst/>
          </a:prstGeom>
          <a:noFill/>
          <a:ln w="9525">
            <a:noFill/>
            <a:miter lim="800000"/>
            <a:headEnd/>
            <a:tailEnd/>
          </a:ln>
        </p:spPr>
        <p:txBody>
          <a:bodyPr>
            <a:spAutoFit/>
          </a:bodyPr>
          <a:lstStyle/>
          <a:p>
            <a:pPr eaLnBrk="0" hangingPunct="0">
              <a:spcBef>
                <a:spcPct val="50000"/>
              </a:spcBef>
            </a:pPr>
            <a:r>
              <a:rPr lang="en-US" altLang="zh-CN" b="1"/>
              <a:t>(1)  </a:t>
            </a:r>
            <a:r>
              <a:rPr lang="zh-CN" altLang="en-US" b="1"/>
              <a:t>振动状态的</a:t>
            </a:r>
            <a:r>
              <a:rPr lang="zh-CN" altLang="en-US" b="1">
                <a:solidFill>
                  <a:srgbClr val="FF6600"/>
                </a:solidFill>
              </a:rPr>
              <a:t>空间周期性</a:t>
            </a:r>
          </a:p>
        </p:txBody>
      </p:sp>
      <p:graphicFrame>
        <p:nvGraphicFramePr>
          <p:cNvPr id="65543" name="Object 7"/>
          <p:cNvGraphicFramePr>
            <a:graphicFrameLocks noChangeAspect="1"/>
          </p:cNvGraphicFramePr>
          <p:nvPr/>
        </p:nvGraphicFramePr>
        <p:xfrm>
          <a:off x="863600" y="1560513"/>
          <a:ext cx="2611438" cy="388937"/>
        </p:xfrm>
        <a:graphic>
          <a:graphicData uri="http://schemas.openxmlformats.org/presentationml/2006/ole">
            <p:oleObj spid="_x0000_s11266" name="公式" r:id="rId3" imgW="1434960" imgH="215640" progId="Equation.3">
              <p:embed/>
            </p:oleObj>
          </a:graphicData>
        </a:graphic>
      </p:graphicFrame>
      <p:sp>
        <p:nvSpPr>
          <p:cNvPr id="65544" name="Text Box 8" descr="绿色大理石"/>
          <p:cNvSpPr txBox="1">
            <a:spLocks noChangeArrowheads="1"/>
          </p:cNvSpPr>
          <p:nvPr/>
        </p:nvSpPr>
        <p:spPr bwMode="auto">
          <a:xfrm>
            <a:off x="3346450" y="1535113"/>
            <a:ext cx="5221288" cy="457200"/>
          </a:xfrm>
          <a:prstGeom prst="rect">
            <a:avLst/>
          </a:prstGeom>
          <a:noFill/>
          <a:ln w="9525">
            <a:noFill/>
            <a:miter lim="800000"/>
            <a:headEnd/>
            <a:tailEnd/>
          </a:ln>
        </p:spPr>
        <p:txBody>
          <a:bodyPr>
            <a:spAutoFit/>
          </a:bodyPr>
          <a:lstStyle/>
          <a:p>
            <a:pPr eaLnBrk="0" hangingPunct="0">
              <a:spcBef>
                <a:spcPct val="50000"/>
              </a:spcBef>
            </a:pP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说明波线上振动状态的空间周期性</a:t>
            </a:r>
          </a:p>
        </p:txBody>
      </p:sp>
      <p:graphicFrame>
        <p:nvGraphicFramePr>
          <p:cNvPr id="65545" name="Object 9"/>
          <p:cNvGraphicFramePr>
            <a:graphicFrameLocks noChangeAspect="1"/>
          </p:cNvGraphicFramePr>
          <p:nvPr/>
        </p:nvGraphicFramePr>
        <p:xfrm>
          <a:off x="827088" y="2660650"/>
          <a:ext cx="2400300" cy="366713"/>
        </p:xfrm>
        <a:graphic>
          <a:graphicData uri="http://schemas.openxmlformats.org/presentationml/2006/ole">
            <p:oleObj spid="_x0000_s11267" name="公式" r:id="rId4" imgW="1333440" imgH="203040" progId="Equation.3">
              <p:embed/>
            </p:oleObj>
          </a:graphicData>
        </a:graphic>
      </p:graphicFrame>
      <p:sp>
        <p:nvSpPr>
          <p:cNvPr id="65546" name="Text Box 10" descr="绿色大理石"/>
          <p:cNvSpPr txBox="1">
            <a:spLocks noChangeArrowheads="1"/>
          </p:cNvSpPr>
          <p:nvPr/>
        </p:nvSpPr>
        <p:spPr bwMode="auto">
          <a:xfrm>
            <a:off x="3346450" y="2622550"/>
            <a:ext cx="4968875" cy="457200"/>
          </a:xfrm>
          <a:prstGeom prst="rect">
            <a:avLst/>
          </a:prstGeom>
          <a:noFill/>
          <a:ln w="9525">
            <a:noFill/>
            <a:miter lim="800000"/>
            <a:headEnd/>
            <a:tailEnd/>
          </a:ln>
        </p:spPr>
        <p:txBody>
          <a:bodyPr>
            <a:spAutoFit/>
          </a:bodyPr>
          <a:lstStyle/>
          <a:p>
            <a:pPr eaLnBrk="0" hangingPunct="0">
              <a:spcBef>
                <a:spcPct val="50000"/>
              </a:spcBef>
            </a:pPr>
            <a:r>
              <a:rPr lang="zh-CN" altLang="en-US" b="1">
                <a:ea typeface="楷体_GB2312" pitchFamily="49" charset="-122"/>
              </a:rPr>
              <a:t>说明波形传播的时间周期性</a:t>
            </a:r>
          </a:p>
        </p:txBody>
      </p:sp>
      <p:sp>
        <p:nvSpPr>
          <p:cNvPr id="65563" name="Text Box 27" descr="绿色大理石"/>
          <p:cNvSpPr txBox="1">
            <a:spLocks noChangeArrowheads="1"/>
          </p:cNvSpPr>
          <p:nvPr/>
        </p:nvSpPr>
        <p:spPr bwMode="auto">
          <a:xfrm>
            <a:off x="107950" y="3141663"/>
            <a:ext cx="5688013" cy="519112"/>
          </a:xfrm>
          <a:prstGeom prst="rect">
            <a:avLst/>
          </a:prstGeom>
          <a:noFill/>
          <a:ln w="9525">
            <a:noFill/>
            <a:miter lim="800000"/>
            <a:headEnd/>
            <a:tailEnd/>
          </a:ln>
        </p:spPr>
        <p:txBody>
          <a:bodyPr>
            <a:spAutoFit/>
          </a:bodyPr>
          <a:lstStyle/>
          <a:p>
            <a:pPr eaLnBrk="0" hangingPunct="0">
              <a:spcBef>
                <a:spcPct val="50000"/>
              </a:spcBef>
            </a:pPr>
            <a:r>
              <a:rPr lang="en-US" altLang="zh-CN" b="1"/>
              <a:t> (3)  </a:t>
            </a:r>
            <a:r>
              <a:rPr lang="en-US" altLang="zh-CN" sz="2800" b="1" i="1">
                <a:solidFill>
                  <a:srgbClr val="FF6600"/>
                </a:solidFill>
              </a:rPr>
              <a:t>x</a:t>
            </a:r>
            <a:r>
              <a:rPr lang="en-US" altLang="zh-CN" b="1" i="1">
                <a:solidFill>
                  <a:srgbClr val="FF6600"/>
                </a:solidFill>
              </a:rPr>
              <a:t> </a:t>
            </a:r>
            <a:r>
              <a:rPr lang="zh-CN" altLang="en-US" b="1">
                <a:solidFill>
                  <a:srgbClr val="FF6600"/>
                </a:solidFill>
              </a:rPr>
              <a:t>给定</a:t>
            </a:r>
            <a:r>
              <a:rPr lang="zh-CN" altLang="en-US" b="1"/>
              <a:t>，</a:t>
            </a:r>
            <a:r>
              <a:rPr lang="en-US" altLang="zh-CN" b="1" i="1">
                <a:solidFill>
                  <a:srgbClr val="FF6600"/>
                </a:solidFill>
              </a:rPr>
              <a:t>x </a:t>
            </a:r>
            <a:r>
              <a:rPr lang="en-US" altLang="zh-CN" b="1">
                <a:solidFill>
                  <a:srgbClr val="FF6600"/>
                </a:solidFill>
              </a:rPr>
              <a:t>= </a:t>
            </a:r>
            <a:r>
              <a:rPr lang="en-US" altLang="zh-CN" b="1" i="1">
                <a:solidFill>
                  <a:srgbClr val="FF6600"/>
                </a:solidFill>
              </a:rPr>
              <a:t>x</a:t>
            </a:r>
            <a:r>
              <a:rPr lang="en-US" altLang="zh-CN" b="1" baseline="-25000">
                <a:solidFill>
                  <a:srgbClr val="FF6600"/>
                </a:solidFill>
              </a:rPr>
              <a:t>1</a:t>
            </a:r>
            <a:r>
              <a:rPr lang="zh-CN" altLang="en-US" b="1"/>
              <a:t>（常数）</a:t>
            </a:r>
            <a:endParaRPr lang="zh-CN" altLang="en-US"/>
          </a:p>
        </p:txBody>
      </p:sp>
      <p:graphicFrame>
        <p:nvGraphicFramePr>
          <p:cNvPr id="65618" name="Object 82"/>
          <p:cNvGraphicFramePr>
            <a:graphicFrameLocks noChangeAspect="1"/>
          </p:cNvGraphicFramePr>
          <p:nvPr/>
        </p:nvGraphicFramePr>
        <p:xfrm>
          <a:off x="4432300" y="404813"/>
          <a:ext cx="3065463" cy="690562"/>
        </p:xfrm>
        <a:graphic>
          <a:graphicData uri="http://schemas.openxmlformats.org/presentationml/2006/ole">
            <p:oleObj spid="_x0000_s11268" name="公式" r:id="rId5" imgW="1803240" imgH="406080" progId="Equation.3">
              <p:embed/>
            </p:oleObj>
          </a:graphicData>
        </a:graphic>
      </p:graphicFrame>
      <p:grpSp>
        <p:nvGrpSpPr>
          <p:cNvPr id="2" name="Group 83"/>
          <p:cNvGrpSpPr>
            <a:grpSpLocks/>
          </p:cNvGrpSpPr>
          <p:nvPr/>
        </p:nvGrpSpPr>
        <p:grpSpPr bwMode="auto">
          <a:xfrm>
            <a:off x="5219700" y="2924175"/>
            <a:ext cx="2951163" cy="1677988"/>
            <a:chOff x="3606" y="624"/>
            <a:chExt cx="2020" cy="1057"/>
          </a:xfrm>
        </p:grpSpPr>
        <p:sp>
          <p:nvSpPr>
            <p:cNvPr id="11293" name="Line 84"/>
            <p:cNvSpPr>
              <a:spLocks noChangeShapeType="1"/>
            </p:cNvSpPr>
            <p:nvPr/>
          </p:nvSpPr>
          <p:spPr bwMode="auto">
            <a:xfrm>
              <a:off x="3850" y="1249"/>
              <a:ext cx="1776" cy="0"/>
            </a:xfrm>
            <a:prstGeom prst="line">
              <a:avLst/>
            </a:prstGeom>
            <a:noFill/>
            <a:ln w="12700">
              <a:solidFill>
                <a:srgbClr val="9900CC"/>
              </a:solidFill>
              <a:round/>
              <a:headEnd type="none" w="sm" len="sm"/>
              <a:tailEnd type="stealth" w="med" len="lg"/>
            </a:ln>
          </p:spPr>
          <p:txBody>
            <a:bodyPr wrap="none" anchor="ctr"/>
            <a:lstStyle/>
            <a:p>
              <a:endParaRPr lang="zh-CN" altLang="en-US"/>
            </a:p>
          </p:txBody>
        </p:sp>
        <p:sp>
          <p:nvSpPr>
            <p:cNvPr id="11294" name="Line 85"/>
            <p:cNvSpPr>
              <a:spLocks noChangeShapeType="1"/>
            </p:cNvSpPr>
            <p:nvPr/>
          </p:nvSpPr>
          <p:spPr bwMode="auto">
            <a:xfrm>
              <a:off x="3850" y="817"/>
              <a:ext cx="0" cy="864"/>
            </a:xfrm>
            <a:prstGeom prst="line">
              <a:avLst/>
            </a:prstGeom>
            <a:noFill/>
            <a:ln w="12700">
              <a:solidFill>
                <a:srgbClr val="9900CC"/>
              </a:solidFill>
              <a:round/>
              <a:headEnd type="stealth" w="med" len="lg"/>
              <a:tailEnd type="none" w="sm" len="sm"/>
            </a:ln>
          </p:spPr>
          <p:txBody>
            <a:bodyPr wrap="none" anchor="ctr"/>
            <a:lstStyle/>
            <a:p>
              <a:endParaRPr lang="zh-CN" altLang="en-US"/>
            </a:p>
          </p:txBody>
        </p:sp>
        <p:sp>
          <p:nvSpPr>
            <p:cNvPr id="11295" name="Rectangle 86"/>
            <p:cNvSpPr>
              <a:spLocks noChangeArrowheads="1"/>
            </p:cNvSpPr>
            <p:nvPr/>
          </p:nvSpPr>
          <p:spPr bwMode="auto">
            <a:xfrm>
              <a:off x="3840" y="624"/>
              <a:ext cx="233" cy="327"/>
            </a:xfrm>
            <a:prstGeom prst="rect">
              <a:avLst/>
            </a:prstGeom>
            <a:noFill/>
            <a:ln w="9525">
              <a:noFill/>
              <a:miter lim="800000"/>
              <a:headEnd/>
              <a:tailEnd/>
            </a:ln>
          </p:spPr>
          <p:txBody>
            <a:bodyPr wrap="none" lIns="92075" tIns="46038" rIns="92075" bIns="46038">
              <a:spAutoFit/>
            </a:bodyPr>
            <a:lstStyle/>
            <a:p>
              <a:r>
                <a:rPr lang="en-US" altLang="zh-CN" sz="2800" i="1">
                  <a:solidFill>
                    <a:srgbClr val="9900CC"/>
                  </a:solidFill>
                </a:rPr>
                <a:t>y</a:t>
              </a:r>
              <a:endParaRPr lang="en-US" altLang="zh-CN">
                <a:solidFill>
                  <a:srgbClr val="9900CC"/>
                </a:solidFill>
              </a:endParaRPr>
            </a:p>
          </p:txBody>
        </p:sp>
        <p:sp>
          <p:nvSpPr>
            <p:cNvPr id="11296" name="Rectangle 87"/>
            <p:cNvSpPr>
              <a:spLocks noChangeArrowheads="1"/>
            </p:cNvSpPr>
            <p:nvPr/>
          </p:nvSpPr>
          <p:spPr bwMode="auto">
            <a:xfrm>
              <a:off x="5424" y="1248"/>
              <a:ext cx="193" cy="327"/>
            </a:xfrm>
            <a:prstGeom prst="rect">
              <a:avLst/>
            </a:prstGeom>
            <a:noFill/>
            <a:ln w="9525">
              <a:noFill/>
              <a:miter lim="800000"/>
              <a:headEnd/>
              <a:tailEnd/>
            </a:ln>
          </p:spPr>
          <p:txBody>
            <a:bodyPr wrap="none" lIns="92075" tIns="46038" rIns="92075" bIns="46038">
              <a:spAutoFit/>
            </a:bodyPr>
            <a:lstStyle/>
            <a:p>
              <a:r>
                <a:rPr lang="en-US" altLang="zh-CN" sz="2800" i="1">
                  <a:solidFill>
                    <a:srgbClr val="9900CC"/>
                  </a:solidFill>
                </a:rPr>
                <a:t>t</a:t>
              </a:r>
              <a:endParaRPr lang="en-US" altLang="zh-CN">
                <a:solidFill>
                  <a:srgbClr val="9900CC"/>
                </a:solidFill>
              </a:endParaRPr>
            </a:p>
          </p:txBody>
        </p:sp>
        <p:sp>
          <p:nvSpPr>
            <p:cNvPr id="11297" name="Rectangle 88"/>
            <p:cNvSpPr>
              <a:spLocks noChangeArrowheads="1"/>
            </p:cNvSpPr>
            <p:nvPr/>
          </p:nvSpPr>
          <p:spPr bwMode="auto">
            <a:xfrm>
              <a:off x="3606" y="1071"/>
              <a:ext cx="248" cy="327"/>
            </a:xfrm>
            <a:prstGeom prst="rect">
              <a:avLst/>
            </a:prstGeom>
            <a:noFill/>
            <a:ln w="9525">
              <a:noFill/>
              <a:miter lim="800000"/>
              <a:headEnd/>
              <a:tailEnd/>
            </a:ln>
          </p:spPr>
          <p:txBody>
            <a:bodyPr wrap="none" lIns="92075" tIns="46038" rIns="92075" bIns="46038">
              <a:spAutoFit/>
            </a:bodyPr>
            <a:lstStyle/>
            <a:p>
              <a:r>
                <a:rPr lang="en-US" altLang="zh-CN" sz="2800" i="1">
                  <a:solidFill>
                    <a:srgbClr val="9900CC"/>
                  </a:solidFill>
                </a:rPr>
                <a:t>o</a:t>
              </a:r>
              <a:endParaRPr lang="en-US" altLang="zh-CN">
                <a:solidFill>
                  <a:srgbClr val="9900CC"/>
                </a:solidFill>
              </a:endParaRPr>
            </a:p>
          </p:txBody>
        </p:sp>
      </p:grpSp>
      <p:sp>
        <p:nvSpPr>
          <p:cNvPr id="65625" name="Rectangle 89"/>
          <p:cNvSpPr>
            <a:spLocks noChangeArrowheads="1"/>
          </p:cNvSpPr>
          <p:nvPr/>
        </p:nvSpPr>
        <p:spPr bwMode="auto">
          <a:xfrm>
            <a:off x="755650" y="4292600"/>
            <a:ext cx="3629025" cy="457200"/>
          </a:xfrm>
          <a:prstGeom prst="rect">
            <a:avLst/>
          </a:prstGeom>
          <a:noFill/>
          <a:ln w="9525">
            <a:noFill/>
            <a:miter lim="800000"/>
            <a:headEnd/>
            <a:tailEnd/>
          </a:ln>
        </p:spPr>
        <p:txBody>
          <a:bodyPr wrap="none" lIns="92075" tIns="46038" rIns="92075" bIns="46038">
            <a:spAutoFit/>
          </a:bodyPr>
          <a:lstStyle/>
          <a:p>
            <a:r>
              <a:rPr lang="zh-CN" altLang="en-US" b="1">
                <a:ea typeface="楷体_GB2312" pitchFamily="49" charset="-122"/>
              </a:rPr>
              <a:t>表示 </a:t>
            </a:r>
            <a:r>
              <a:rPr lang="en-US" altLang="zh-CN" b="1" i="1">
                <a:solidFill>
                  <a:srgbClr val="FF6600"/>
                </a:solidFill>
                <a:ea typeface="楷体_GB2312" pitchFamily="49" charset="-122"/>
              </a:rPr>
              <a:t>x</a:t>
            </a:r>
            <a:r>
              <a:rPr lang="en-US" altLang="zh-CN" b="1" baseline="-25000">
                <a:solidFill>
                  <a:srgbClr val="FF6600"/>
                </a:solidFill>
                <a:ea typeface="楷体_GB2312" pitchFamily="49" charset="-122"/>
              </a:rPr>
              <a:t>1 </a:t>
            </a:r>
            <a:r>
              <a:rPr lang="zh-CN" altLang="en-US" b="1">
                <a:latin typeface="楷体_GB2312" pitchFamily="49" charset="-122"/>
                <a:ea typeface="楷体_GB2312" pitchFamily="49" charset="-122"/>
              </a:rPr>
              <a:t>处质点的</a:t>
            </a:r>
            <a:r>
              <a:rPr lang="zh-CN" altLang="en-US" b="1">
                <a:solidFill>
                  <a:srgbClr val="FF6600"/>
                </a:solidFill>
                <a:latin typeface="楷体_GB2312" pitchFamily="49" charset="-122"/>
                <a:ea typeface="楷体_GB2312" pitchFamily="49" charset="-122"/>
              </a:rPr>
              <a:t>振动方程</a:t>
            </a:r>
            <a:endParaRPr lang="zh-CN" altLang="en-US">
              <a:solidFill>
                <a:srgbClr val="FF6600"/>
              </a:solidFill>
              <a:latin typeface="楷体_GB2312" pitchFamily="49" charset="-122"/>
              <a:ea typeface="楷体_GB2312" pitchFamily="49" charset="-122"/>
            </a:endParaRPr>
          </a:p>
        </p:txBody>
      </p:sp>
      <p:graphicFrame>
        <p:nvGraphicFramePr>
          <p:cNvPr id="65626" name="Object 90"/>
          <p:cNvGraphicFramePr>
            <a:graphicFrameLocks/>
          </p:cNvGraphicFramePr>
          <p:nvPr/>
        </p:nvGraphicFramePr>
        <p:xfrm>
          <a:off x="917575" y="3644900"/>
          <a:ext cx="2790825" cy="730250"/>
        </p:xfrm>
        <a:graphic>
          <a:graphicData uri="http://schemas.openxmlformats.org/presentationml/2006/ole">
            <p:oleObj spid="_x0000_s11269" name="公式" r:id="rId6" imgW="1549080" imgH="406080" progId="Equation.3">
              <p:embed/>
            </p:oleObj>
          </a:graphicData>
        </a:graphic>
      </p:graphicFrame>
      <p:grpSp>
        <p:nvGrpSpPr>
          <p:cNvPr id="3" name="Group 91"/>
          <p:cNvGrpSpPr>
            <a:grpSpLocks/>
          </p:cNvGrpSpPr>
          <p:nvPr/>
        </p:nvGrpSpPr>
        <p:grpSpPr bwMode="auto">
          <a:xfrm>
            <a:off x="5505450" y="3432175"/>
            <a:ext cx="2232025" cy="1108075"/>
            <a:chOff x="3990" y="1599"/>
            <a:chExt cx="1770" cy="456"/>
          </a:xfrm>
        </p:grpSpPr>
        <p:sp>
          <p:nvSpPr>
            <p:cNvPr id="11291" name="Freeform 92"/>
            <p:cNvSpPr>
              <a:spLocks/>
            </p:cNvSpPr>
            <p:nvPr/>
          </p:nvSpPr>
          <p:spPr bwMode="auto">
            <a:xfrm>
              <a:off x="3990" y="1599"/>
              <a:ext cx="863" cy="23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2 w 20000"/>
                <a:gd name="T87" fmla="*/ 0 h 20000"/>
                <a:gd name="T88" fmla="*/ 2 w 20000"/>
                <a:gd name="T89" fmla="*/ 0 h 20000"/>
                <a:gd name="T90" fmla="*/ 2 w 20000"/>
                <a:gd name="T91" fmla="*/ 0 h 20000"/>
                <a:gd name="T92" fmla="*/ 2 w 20000"/>
                <a:gd name="T93" fmla="*/ 0 h 20000"/>
                <a:gd name="T94" fmla="*/ 2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86"/>
                  </a:moveTo>
                  <a:lnTo>
                    <a:pt x="225" y="18477"/>
                  </a:lnTo>
                  <a:lnTo>
                    <a:pt x="437" y="17868"/>
                  </a:lnTo>
                  <a:lnTo>
                    <a:pt x="662" y="17259"/>
                  </a:lnTo>
                  <a:lnTo>
                    <a:pt x="887" y="16684"/>
                  </a:lnTo>
                  <a:lnTo>
                    <a:pt x="1099" y="16074"/>
                  </a:lnTo>
                  <a:lnTo>
                    <a:pt x="1325" y="15465"/>
                  </a:lnTo>
                  <a:lnTo>
                    <a:pt x="1550" y="14890"/>
                  </a:lnTo>
                  <a:lnTo>
                    <a:pt x="1762" y="14281"/>
                  </a:lnTo>
                  <a:lnTo>
                    <a:pt x="1987" y="13706"/>
                  </a:lnTo>
                  <a:lnTo>
                    <a:pt x="2225" y="13164"/>
                  </a:lnTo>
                  <a:lnTo>
                    <a:pt x="2450" y="12589"/>
                  </a:lnTo>
                  <a:lnTo>
                    <a:pt x="2675" y="12014"/>
                  </a:lnTo>
                  <a:lnTo>
                    <a:pt x="2887" y="11472"/>
                  </a:lnTo>
                  <a:lnTo>
                    <a:pt x="3113" y="10863"/>
                  </a:lnTo>
                  <a:lnTo>
                    <a:pt x="3338" y="10355"/>
                  </a:lnTo>
                  <a:lnTo>
                    <a:pt x="3550" y="9780"/>
                  </a:lnTo>
                  <a:lnTo>
                    <a:pt x="3775" y="9272"/>
                  </a:lnTo>
                  <a:lnTo>
                    <a:pt x="4000" y="8731"/>
                  </a:lnTo>
                  <a:lnTo>
                    <a:pt x="4225" y="8223"/>
                  </a:lnTo>
                  <a:lnTo>
                    <a:pt x="4437" y="7716"/>
                  </a:lnTo>
                  <a:lnTo>
                    <a:pt x="4662" y="7242"/>
                  </a:lnTo>
                  <a:lnTo>
                    <a:pt x="4887" y="6802"/>
                  </a:lnTo>
                  <a:lnTo>
                    <a:pt x="5113" y="6328"/>
                  </a:lnTo>
                  <a:lnTo>
                    <a:pt x="5338" y="5888"/>
                  </a:lnTo>
                  <a:lnTo>
                    <a:pt x="5550" y="5415"/>
                  </a:lnTo>
                  <a:lnTo>
                    <a:pt x="5762" y="4975"/>
                  </a:lnTo>
                  <a:lnTo>
                    <a:pt x="5974" y="4569"/>
                  </a:lnTo>
                  <a:lnTo>
                    <a:pt x="6199" y="4162"/>
                  </a:lnTo>
                  <a:lnTo>
                    <a:pt x="6424" y="3756"/>
                  </a:lnTo>
                  <a:lnTo>
                    <a:pt x="6636" y="3418"/>
                  </a:lnTo>
                  <a:lnTo>
                    <a:pt x="6861" y="3046"/>
                  </a:lnTo>
                  <a:lnTo>
                    <a:pt x="7086" y="2707"/>
                  </a:lnTo>
                  <a:lnTo>
                    <a:pt x="7285" y="2437"/>
                  </a:lnTo>
                  <a:lnTo>
                    <a:pt x="7510" y="2098"/>
                  </a:lnTo>
                  <a:lnTo>
                    <a:pt x="7735" y="1794"/>
                  </a:lnTo>
                  <a:lnTo>
                    <a:pt x="7960" y="1591"/>
                  </a:lnTo>
                  <a:lnTo>
                    <a:pt x="8159" y="1320"/>
                  </a:lnTo>
                  <a:lnTo>
                    <a:pt x="8371" y="1083"/>
                  </a:lnTo>
                  <a:lnTo>
                    <a:pt x="8583" y="846"/>
                  </a:lnTo>
                  <a:lnTo>
                    <a:pt x="8808" y="677"/>
                  </a:lnTo>
                  <a:lnTo>
                    <a:pt x="9020" y="508"/>
                  </a:lnTo>
                  <a:lnTo>
                    <a:pt x="9232" y="372"/>
                  </a:lnTo>
                  <a:lnTo>
                    <a:pt x="9444" y="271"/>
                  </a:lnTo>
                  <a:lnTo>
                    <a:pt x="9642" y="135"/>
                  </a:lnTo>
                  <a:lnTo>
                    <a:pt x="9854" y="102"/>
                  </a:lnTo>
                  <a:lnTo>
                    <a:pt x="10079" y="34"/>
                  </a:lnTo>
                  <a:lnTo>
                    <a:pt x="10291" y="0"/>
                  </a:lnTo>
                  <a:lnTo>
                    <a:pt x="10503" y="34"/>
                  </a:lnTo>
                  <a:lnTo>
                    <a:pt x="10702" y="34"/>
                  </a:lnTo>
                  <a:lnTo>
                    <a:pt x="10914" y="102"/>
                  </a:lnTo>
                  <a:lnTo>
                    <a:pt x="11126" y="203"/>
                  </a:lnTo>
                  <a:lnTo>
                    <a:pt x="11338" y="305"/>
                  </a:lnTo>
                  <a:lnTo>
                    <a:pt x="11563" y="541"/>
                  </a:lnTo>
                  <a:lnTo>
                    <a:pt x="11788" y="745"/>
                  </a:lnTo>
                  <a:lnTo>
                    <a:pt x="12000" y="981"/>
                  </a:lnTo>
                  <a:lnTo>
                    <a:pt x="12225" y="1252"/>
                  </a:lnTo>
                  <a:lnTo>
                    <a:pt x="12450" y="1591"/>
                  </a:lnTo>
                  <a:lnTo>
                    <a:pt x="12689" y="1895"/>
                  </a:lnTo>
                  <a:lnTo>
                    <a:pt x="12914" y="2267"/>
                  </a:lnTo>
                  <a:lnTo>
                    <a:pt x="13152" y="2707"/>
                  </a:lnTo>
                  <a:lnTo>
                    <a:pt x="13377" y="3080"/>
                  </a:lnTo>
                  <a:lnTo>
                    <a:pt x="13616" y="3519"/>
                  </a:lnTo>
                  <a:lnTo>
                    <a:pt x="13841" y="3959"/>
                  </a:lnTo>
                  <a:lnTo>
                    <a:pt x="14066" y="4433"/>
                  </a:lnTo>
                  <a:lnTo>
                    <a:pt x="14291" y="4941"/>
                  </a:lnTo>
                  <a:lnTo>
                    <a:pt x="14530" y="5448"/>
                  </a:lnTo>
                  <a:lnTo>
                    <a:pt x="14755" y="5990"/>
                  </a:lnTo>
                  <a:lnTo>
                    <a:pt x="14993" y="6497"/>
                  </a:lnTo>
                  <a:lnTo>
                    <a:pt x="15219" y="7039"/>
                  </a:lnTo>
                  <a:lnTo>
                    <a:pt x="15444" y="7614"/>
                  </a:lnTo>
                  <a:lnTo>
                    <a:pt x="15682" y="8190"/>
                  </a:lnTo>
                  <a:lnTo>
                    <a:pt x="15894" y="8765"/>
                  </a:lnTo>
                  <a:lnTo>
                    <a:pt x="16106" y="9340"/>
                  </a:lnTo>
                  <a:lnTo>
                    <a:pt x="16318" y="9915"/>
                  </a:lnTo>
                  <a:lnTo>
                    <a:pt x="16530" y="10457"/>
                  </a:lnTo>
                  <a:lnTo>
                    <a:pt x="16742" y="11032"/>
                  </a:lnTo>
                  <a:lnTo>
                    <a:pt x="16954" y="11641"/>
                  </a:lnTo>
                  <a:lnTo>
                    <a:pt x="17152" y="12183"/>
                  </a:lnTo>
                  <a:lnTo>
                    <a:pt x="17351" y="12724"/>
                  </a:lnTo>
                  <a:lnTo>
                    <a:pt x="17550" y="13299"/>
                  </a:lnTo>
                  <a:lnTo>
                    <a:pt x="17735" y="13841"/>
                  </a:lnTo>
                  <a:lnTo>
                    <a:pt x="17934" y="14382"/>
                  </a:lnTo>
                  <a:lnTo>
                    <a:pt x="18119" y="14924"/>
                  </a:lnTo>
                  <a:lnTo>
                    <a:pt x="18291" y="15431"/>
                  </a:lnTo>
                  <a:lnTo>
                    <a:pt x="18464" y="15905"/>
                  </a:lnTo>
                  <a:lnTo>
                    <a:pt x="18636" y="16413"/>
                  </a:lnTo>
                  <a:lnTo>
                    <a:pt x="18795" y="16853"/>
                  </a:lnTo>
                  <a:lnTo>
                    <a:pt x="18954" y="17327"/>
                  </a:lnTo>
                  <a:lnTo>
                    <a:pt x="19099" y="17733"/>
                  </a:lnTo>
                  <a:lnTo>
                    <a:pt x="19258" y="18139"/>
                  </a:lnTo>
                  <a:lnTo>
                    <a:pt x="19391" y="18511"/>
                  </a:lnTo>
                  <a:lnTo>
                    <a:pt x="19523" y="18883"/>
                  </a:lnTo>
                  <a:lnTo>
                    <a:pt x="19642" y="19188"/>
                  </a:lnTo>
                  <a:lnTo>
                    <a:pt x="19775" y="19459"/>
                  </a:lnTo>
                  <a:lnTo>
                    <a:pt x="19881" y="19763"/>
                  </a:lnTo>
                  <a:lnTo>
                    <a:pt x="19987" y="19966"/>
                  </a:lnTo>
                </a:path>
              </a:pathLst>
            </a:custGeom>
            <a:noFill/>
            <a:ln w="38100">
              <a:solidFill>
                <a:srgbClr val="FF3300"/>
              </a:solidFill>
              <a:round/>
              <a:headEnd/>
              <a:tailEnd/>
            </a:ln>
          </p:spPr>
          <p:txBody>
            <a:bodyPr/>
            <a:lstStyle/>
            <a:p>
              <a:endParaRPr lang="zh-CN" altLang="en-US"/>
            </a:p>
          </p:txBody>
        </p:sp>
        <p:sp>
          <p:nvSpPr>
            <p:cNvPr id="11292" name="Freeform 93"/>
            <p:cNvSpPr>
              <a:spLocks/>
            </p:cNvSpPr>
            <p:nvPr/>
          </p:nvSpPr>
          <p:spPr bwMode="auto">
            <a:xfrm>
              <a:off x="4843" y="1827"/>
              <a:ext cx="917"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1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2 w 20000"/>
                <a:gd name="T73" fmla="*/ 0 h 20000"/>
                <a:gd name="T74" fmla="*/ 2 w 20000"/>
                <a:gd name="T75" fmla="*/ 0 h 20000"/>
                <a:gd name="T76" fmla="*/ 2 w 20000"/>
                <a:gd name="T77" fmla="*/ 0 h 20000"/>
                <a:gd name="T78" fmla="*/ 2 w 20000"/>
                <a:gd name="T79" fmla="*/ 0 h 20000"/>
                <a:gd name="T80" fmla="*/ 2 w 20000"/>
                <a:gd name="T81" fmla="*/ 0 h 20000"/>
                <a:gd name="T82" fmla="*/ 2 w 20000"/>
                <a:gd name="T83" fmla="*/ 0 h 20000"/>
                <a:gd name="T84" fmla="*/ 2 w 20000"/>
                <a:gd name="T85" fmla="*/ 0 h 20000"/>
                <a:gd name="T86" fmla="*/ 2 w 20000"/>
                <a:gd name="T87" fmla="*/ 0 h 20000"/>
                <a:gd name="T88" fmla="*/ 2 w 20000"/>
                <a:gd name="T89" fmla="*/ 0 h 20000"/>
                <a:gd name="T90" fmla="*/ 2 w 20000"/>
                <a:gd name="T91" fmla="*/ 0 h 20000"/>
                <a:gd name="T92" fmla="*/ 2 w 20000"/>
                <a:gd name="T93" fmla="*/ 0 h 20000"/>
                <a:gd name="T94" fmla="*/ 2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99" y="630"/>
                  </a:lnTo>
                  <a:lnTo>
                    <a:pt x="399" y="1261"/>
                  </a:lnTo>
                  <a:lnTo>
                    <a:pt x="598" y="1856"/>
                  </a:lnTo>
                  <a:lnTo>
                    <a:pt x="798" y="2487"/>
                  </a:lnTo>
                  <a:lnTo>
                    <a:pt x="984" y="3152"/>
                  </a:lnTo>
                  <a:lnTo>
                    <a:pt x="1184" y="3748"/>
                  </a:lnTo>
                  <a:lnTo>
                    <a:pt x="1383" y="4343"/>
                  </a:lnTo>
                  <a:lnTo>
                    <a:pt x="1583" y="4939"/>
                  </a:lnTo>
                  <a:lnTo>
                    <a:pt x="1782" y="5569"/>
                  </a:lnTo>
                  <a:lnTo>
                    <a:pt x="1981" y="6165"/>
                  </a:lnTo>
                  <a:lnTo>
                    <a:pt x="2181" y="6725"/>
                  </a:lnTo>
                  <a:lnTo>
                    <a:pt x="2380" y="7285"/>
                  </a:lnTo>
                  <a:lnTo>
                    <a:pt x="2567" y="7881"/>
                  </a:lnTo>
                  <a:lnTo>
                    <a:pt x="2766" y="8476"/>
                  </a:lnTo>
                  <a:lnTo>
                    <a:pt x="2966" y="9037"/>
                  </a:lnTo>
                  <a:lnTo>
                    <a:pt x="3165" y="9597"/>
                  </a:lnTo>
                  <a:lnTo>
                    <a:pt x="3364" y="10123"/>
                  </a:lnTo>
                  <a:lnTo>
                    <a:pt x="3564" y="10648"/>
                  </a:lnTo>
                  <a:lnTo>
                    <a:pt x="3763" y="11208"/>
                  </a:lnTo>
                  <a:lnTo>
                    <a:pt x="3963" y="11734"/>
                  </a:lnTo>
                  <a:lnTo>
                    <a:pt x="4162" y="12224"/>
                  </a:lnTo>
                  <a:lnTo>
                    <a:pt x="4361" y="12715"/>
                  </a:lnTo>
                  <a:lnTo>
                    <a:pt x="4573" y="13170"/>
                  </a:lnTo>
                  <a:lnTo>
                    <a:pt x="4785" y="13660"/>
                  </a:lnTo>
                  <a:lnTo>
                    <a:pt x="4972" y="14116"/>
                  </a:lnTo>
                  <a:lnTo>
                    <a:pt x="5171" y="14571"/>
                  </a:lnTo>
                  <a:lnTo>
                    <a:pt x="5371" y="15026"/>
                  </a:lnTo>
                  <a:lnTo>
                    <a:pt x="5570" y="15412"/>
                  </a:lnTo>
                  <a:lnTo>
                    <a:pt x="5782" y="15832"/>
                  </a:lnTo>
                  <a:lnTo>
                    <a:pt x="5981" y="16182"/>
                  </a:lnTo>
                  <a:lnTo>
                    <a:pt x="6181" y="16602"/>
                  </a:lnTo>
                  <a:lnTo>
                    <a:pt x="6380" y="16953"/>
                  </a:lnTo>
                  <a:lnTo>
                    <a:pt x="6579" y="17268"/>
                  </a:lnTo>
                  <a:lnTo>
                    <a:pt x="6791" y="17618"/>
                  </a:lnTo>
                  <a:lnTo>
                    <a:pt x="6991" y="17933"/>
                  </a:lnTo>
                  <a:lnTo>
                    <a:pt x="7202" y="18179"/>
                  </a:lnTo>
                  <a:lnTo>
                    <a:pt x="7402" y="18459"/>
                  </a:lnTo>
                  <a:lnTo>
                    <a:pt x="7614" y="18739"/>
                  </a:lnTo>
                  <a:lnTo>
                    <a:pt x="7813" y="18949"/>
                  </a:lnTo>
                  <a:lnTo>
                    <a:pt x="8025" y="19159"/>
                  </a:lnTo>
                  <a:lnTo>
                    <a:pt x="8237" y="19335"/>
                  </a:lnTo>
                  <a:lnTo>
                    <a:pt x="8436" y="19475"/>
                  </a:lnTo>
                  <a:lnTo>
                    <a:pt x="8648" y="19650"/>
                  </a:lnTo>
                  <a:lnTo>
                    <a:pt x="8860" y="19755"/>
                  </a:lnTo>
                  <a:lnTo>
                    <a:pt x="9059" y="19860"/>
                  </a:lnTo>
                  <a:lnTo>
                    <a:pt x="9271" y="19895"/>
                  </a:lnTo>
                  <a:lnTo>
                    <a:pt x="9483" y="19965"/>
                  </a:lnTo>
                  <a:lnTo>
                    <a:pt x="9695" y="19965"/>
                  </a:lnTo>
                  <a:lnTo>
                    <a:pt x="9907" y="19965"/>
                  </a:lnTo>
                  <a:lnTo>
                    <a:pt x="10118" y="19930"/>
                  </a:lnTo>
                  <a:lnTo>
                    <a:pt x="10330" y="19825"/>
                  </a:lnTo>
                  <a:lnTo>
                    <a:pt x="10555" y="19720"/>
                  </a:lnTo>
                  <a:lnTo>
                    <a:pt x="10791" y="19545"/>
                  </a:lnTo>
                  <a:lnTo>
                    <a:pt x="11016" y="19335"/>
                  </a:lnTo>
                  <a:lnTo>
                    <a:pt x="11240" y="19124"/>
                  </a:lnTo>
                  <a:lnTo>
                    <a:pt x="11477" y="18844"/>
                  </a:lnTo>
                  <a:lnTo>
                    <a:pt x="11713" y="18564"/>
                  </a:lnTo>
                  <a:lnTo>
                    <a:pt x="11963" y="18249"/>
                  </a:lnTo>
                  <a:lnTo>
                    <a:pt x="12212" y="17898"/>
                  </a:lnTo>
                  <a:lnTo>
                    <a:pt x="12461" y="17513"/>
                  </a:lnTo>
                  <a:lnTo>
                    <a:pt x="12710" y="17128"/>
                  </a:lnTo>
                  <a:lnTo>
                    <a:pt x="12960" y="16743"/>
                  </a:lnTo>
                  <a:lnTo>
                    <a:pt x="13196" y="16252"/>
                  </a:lnTo>
                  <a:lnTo>
                    <a:pt x="13445" y="15797"/>
                  </a:lnTo>
                  <a:lnTo>
                    <a:pt x="13707" y="15342"/>
                  </a:lnTo>
                  <a:lnTo>
                    <a:pt x="13956" y="14851"/>
                  </a:lnTo>
                  <a:lnTo>
                    <a:pt x="14206" y="14361"/>
                  </a:lnTo>
                  <a:lnTo>
                    <a:pt x="14442" y="13800"/>
                  </a:lnTo>
                  <a:lnTo>
                    <a:pt x="14692" y="13310"/>
                  </a:lnTo>
                  <a:lnTo>
                    <a:pt x="14953" y="12750"/>
                  </a:lnTo>
                  <a:lnTo>
                    <a:pt x="15202" y="12224"/>
                  </a:lnTo>
                  <a:lnTo>
                    <a:pt x="15452" y="11629"/>
                  </a:lnTo>
                  <a:lnTo>
                    <a:pt x="15688" y="11103"/>
                  </a:lnTo>
                  <a:lnTo>
                    <a:pt x="15925" y="10578"/>
                  </a:lnTo>
                  <a:lnTo>
                    <a:pt x="16150" y="10053"/>
                  </a:lnTo>
                  <a:lnTo>
                    <a:pt x="16386" y="9457"/>
                  </a:lnTo>
                  <a:lnTo>
                    <a:pt x="16611" y="8897"/>
                  </a:lnTo>
                  <a:lnTo>
                    <a:pt x="16847" y="8371"/>
                  </a:lnTo>
                  <a:lnTo>
                    <a:pt x="17072" y="7811"/>
                  </a:lnTo>
                  <a:lnTo>
                    <a:pt x="17283" y="7285"/>
                  </a:lnTo>
                  <a:lnTo>
                    <a:pt x="17495" y="6760"/>
                  </a:lnTo>
                  <a:lnTo>
                    <a:pt x="17720" y="6235"/>
                  </a:lnTo>
                  <a:lnTo>
                    <a:pt x="17919" y="5744"/>
                  </a:lnTo>
                  <a:lnTo>
                    <a:pt x="18118" y="5219"/>
                  </a:lnTo>
                  <a:lnTo>
                    <a:pt x="18305" y="4729"/>
                  </a:lnTo>
                  <a:lnTo>
                    <a:pt x="18492" y="4273"/>
                  </a:lnTo>
                  <a:lnTo>
                    <a:pt x="18679" y="3853"/>
                  </a:lnTo>
                  <a:lnTo>
                    <a:pt x="18854" y="3398"/>
                  </a:lnTo>
                  <a:lnTo>
                    <a:pt x="19016" y="2977"/>
                  </a:lnTo>
                  <a:lnTo>
                    <a:pt x="19178" y="2627"/>
                  </a:lnTo>
                  <a:lnTo>
                    <a:pt x="19340" y="2277"/>
                  </a:lnTo>
                  <a:lnTo>
                    <a:pt x="19489" y="1891"/>
                  </a:lnTo>
                  <a:lnTo>
                    <a:pt x="19614" y="1646"/>
                  </a:lnTo>
                  <a:lnTo>
                    <a:pt x="19751" y="1331"/>
                  </a:lnTo>
                  <a:lnTo>
                    <a:pt x="19875" y="1051"/>
                  </a:lnTo>
                  <a:lnTo>
                    <a:pt x="19988" y="841"/>
                  </a:lnTo>
                </a:path>
              </a:pathLst>
            </a:custGeom>
            <a:noFill/>
            <a:ln w="38100">
              <a:solidFill>
                <a:srgbClr val="FF3300"/>
              </a:solidFill>
              <a:round/>
              <a:headEnd/>
              <a:tailEnd/>
            </a:ln>
          </p:spPr>
          <p:txBody>
            <a:bodyPr/>
            <a:lstStyle/>
            <a:p>
              <a:endParaRPr lang="zh-CN" altLang="en-US"/>
            </a:p>
          </p:txBody>
        </p:sp>
      </p:grpSp>
      <p:sp>
        <p:nvSpPr>
          <p:cNvPr id="65630" name="Text Box 94" descr="绿色大理石"/>
          <p:cNvSpPr txBox="1">
            <a:spLocks noChangeArrowheads="1"/>
          </p:cNvSpPr>
          <p:nvPr/>
        </p:nvSpPr>
        <p:spPr bwMode="auto">
          <a:xfrm>
            <a:off x="250825" y="4748213"/>
            <a:ext cx="7945438" cy="625475"/>
          </a:xfrm>
          <a:prstGeom prst="rect">
            <a:avLst/>
          </a:prstGeom>
          <a:noFill/>
          <a:ln w="9525">
            <a:noFill/>
            <a:miter lim="800000"/>
            <a:headEnd/>
            <a:tailEnd/>
          </a:ln>
        </p:spPr>
        <p:txBody>
          <a:bodyPr>
            <a:spAutoFit/>
          </a:bodyPr>
          <a:lstStyle/>
          <a:p>
            <a:pPr marL="457200" indent="-457200" eaLnBrk="0" hangingPunct="0">
              <a:lnSpc>
                <a:spcPct val="125000"/>
              </a:lnSpc>
              <a:spcBef>
                <a:spcPct val="50000"/>
              </a:spcBef>
            </a:pPr>
            <a:r>
              <a:rPr lang="en-US" altLang="zh-CN" b="1"/>
              <a:t>(4)</a:t>
            </a:r>
            <a:r>
              <a:rPr lang="en-US" altLang="zh-CN" b="1">
                <a:solidFill>
                  <a:srgbClr val="FF3300"/>
                </a:solidFill>
              </a:rPr>
              <a:t> </a:t>
            </a:r>
            <a:r>
              <a:rPr lang="en-US" altLang="zh-CN" b="1"/>
              <a:t> </a:t>
            </a:r>
            <a:r>
              <a:rPr lang="en-US" altLang="zh-CN" sz="2800" b="1" i="1">
                <a:solidFill>
                  <a:srgbClr val="FF6600"/>
                </a:solidFill>
              </a:rPr>
              <a:t>t </a:t>
            </a:r>
            <a:r>
              <a:rPr lang="zh-CN" altLang="en-US" b="1">
                <a:solidFill>
                  <a:srgbClr val="FF6600"/>
                </a:solidFill>
              </a:rPr>
              <a:t>给定</a:t>
            </a:r>
            <a:r>
              <a:rPr lang="zh-CN" altLang="en-US" b="1"/>
              <a:t>，</a:t>
            </a:r>
            <a:r>
              <a:rPr lang="en-US" altLang="zh-CN" b="1" i="1">
                <a:solidFill>
                  <a:srgbClr val="FF6600"/>
                </a:solidFill>
              </a:rPr>
              <a:t>t </a:t>
            </a:r>
            <a:r>
              <a:rPr lang="en-US" altLang="zh-CN" b="1">
                <a:solidFill>
                  <a:srgbClr val="FF6600"/>
                </a:solidFill>
              </a:rPr>
              <a:t>= </a:t>
            </a:r>
            <a:r>
              <a:rPr lang="en-US" altLang="zh-CN" b="1" i="1">
                <a:solidFill>
                  <a:srgbClr val="FF6600"/>
                </a:solidFill>
              </a:rPr>
              <a:t>t</a:t>
            </a:r>
            <a:r>
              <a:rPr lang="en-US" altLang="zh-CN" b="1" baseline="-25000">
                <a:solidFill>
                  <a:srgbClr val="FF6600"/>
                </a:solidFill>
              </a:rPr>
              <a:t>1</a:t>
            </a:r>
            <a:r>
              <a:rPr lang="zh-CN" altLang="en-US" b="1"/>
              <a:t>（常数）</a:t>
            </a:r>
          </a:p>
        </p:txBody>
      </p:sp>
      <p:sp>
        <p:nvSpPr>
          <p:cNvPr id="65631" name="Rectangle 95"/>
          <p:cNvSpPr>
            <a:spLocks noChangeArrowheads="1"/>
          </p:cNvSpPr>
          <p:nvPr/>
        </p:nvSpPr>
        <p:spPr bwMode="auto">
          <a:xfrm>
            <a:off x="755650" y="6057900"/>
            <a:ext cx="3529013" cy="457200"/>
          </a:xfrm>
          <a:prstGeom prst="rect">
            <a:avLst/>
          </a:prstGeom>
          <a:noFill/>
          <a:ln w="9525">
            <a:noFill/>
            <a:miter lim="800000"/>
            <a:headEnd/>
            <a:tailEnd/>
          </a:ln>
        </p:spPr>
        <p:txBody>
          <a:bodyPr lIns="92075" tIns="46038" rIns="92075" bIns="46038">
            <a:spAutoFit/>
          </a:bodyPr>
          <a:lstStyle/>
          <a:p>
            <a:r>
              <a:rPr lang="zh-CN" altLang="en-US" b="1">
                <a:ea typeface="楷体_GB2312" pitchFamily="49" charset="-122"/>
              </a:rPr>
              <a:t>表示在 </a:t>
            </a:r>
            <a:r>
              <a:rPr lang="en-US" altLang="zh-CN" b="1" i="1">
                <a:solidFill>
                  <a:srgbClr val="FF6600"/>
                </a:solidFill>
              </a:rPr>
              <a:t>t</a:t>
            </a:r>
            <a:r>
              <a:rPr lang="en-US" altLang="zh-CN" b="1" baseline="-25000">
                <a:solidFill>
                  <a:srgbClr val="FF6600"/>
                </a:solidFill>
              </a:rPr>
              <a:t>1</a:t>
            </a:r>
            <a:r>
              <a:rPr lang="en-US" altLang="zh-CN" b="1">
                <a:solidFill>
                  <a:srgbClr val="FF6600"/>
                </a:solidFill>
              </a:rPr>
              <a:t> </a:t>
            </a:r>
            <a:r>
              <a:rPr lang="zh-CN" altLang="en-US" b="1">
                <a:ea typeface="楷体_GB2312" pitchFamily="49" charset="-122"/>
              </a:rPr>
              <a:t>时刻的</a:t>
            </a:r>
            <a:r>
              <a:rPr lang="zh-CN" altLang="en-US" b="1">
                <a:solidFill>
                  <a:srgbClr val="FF6600"/>
                </a:solidFill>
                <a:ea typeface="楷体_GB2312" pitchFamily="49" charset="-122"/>
              </a:rPr>
              <a:t>波形</a:t>
            </a:r>
            <a:endParaRPr lang="zh-CN" altLang="en-US">
              <a:solidFill>
                <a:srgbClr val="FF6600"/>
              </a:solidFill>
              <a:ea typeface="楷体_GB2312" pitchFamily="49" charset="-122"/>
            </a:endParaRPr>
          </a:p>
        </p:txBody>
      </p:sp>
      <p:grpSp>
        <p:nvGrpSpPr>
          <p:cNvPr id="4" name="Group 96"/>
          <p:cNvGrpSpPr>
            <a:grpSpLocks/>
          </p:cNvGrpSpPr>
          <p:nvPr/>
        </p:nvGrpSpPr>
        <p:grpSpPr bwMode="auto">
          <a:xfrm>
            <a:off x="5526088" y="4437063"/>
            <a:ext cx="2862262" cy="1906587"/>
            <a:chOff x="3600" y="1920"/>
            <a:chExt cx="2071" cy="1201"/>
          </a:xfrm>
        </p:grpSpPr>
        <p:sp>
          <p:nvSpPr>
            <p:cNvPr id="11286" name="Rectangle 97"/>
            <p:cNvSpPr>
              <a:spLocks noChangeArrowheads="1"/>
            </p:cNvSpPr>
            <p:nvPr/>
          </p:nvSpPr>
          <p:spPr bwMode="auto">
            <a:xfrm>
              <a:off x="3888" y="1920"/>
              <a:ext cx="247" cy="327"/>
            </a:xfrm>
            <a:prstGeom prst="rect">
              <a:avLst/>
            </a:prstGeom>
            <a:noFill/>
            <a:ln w="9525">
              <a:noFill/>
              <a:miter lim="800000"/>
              <a:headEnd/>
              <a:tailEnd/>
            </a:ln>
          </p:spPr>
          <p:txBody>
            <a:bodyPr wrap="none" lIns="92075" tIns="46038" rIns="92075" bIns="46038">
              <a:spAutoFit/>
            </a:bodyPr>
            <a:lstStyle/>
            <a:p>
              <a:r>
                <a:rPr lang="en-US" altLang="zh-CN" sz="2800" i="1">
                  <a:solidFill>
                    <a:srgbClr val="9900CC"/>
                  </a:solidFill>
                </a:rPr>
                <a:t>y</a:t>
              </a:r>
              <a:endParaRPr lang="en-US" altLang="zh-CN">
                <a:solidFill>
                  <a:srgbClr val="9900CC"/>
                </a:solidFill>
              </a:endParaRPr>
            </a:p>
          </p:txBody>
        </p:sp>
        <p:sp>
          <p:nvSpPr>
            <p:cNvPr id="11287" name="Line 98"/>
            <p:cNvSpPr>
              <a:spLocks noChangeShapeType="1"/>
            </p:cNvSpPr>
            <p:nvPr/>
          </p:nvSpPr>
          <p:spPr bwMode="auto">
            <a:xfrm>
              <a:off x="3850" y="2641"/>
              <a:ext cx="1776" cy="0"/>
            </a:xfrm>
            <a:prstGeom prst="line">
              <a:avLst/>
            </a:prstGeom>
            <a:noFill/>
            <a:ln w="12700">
              <a:solidFill>
                <a:srgbClr val="9900CC"/>
              </a:solidFill>
              <a:round/>
              <a:headEnd type="none" w="sm" len="sm"/>
              <a:tailEnd type="stealth" w="med" len="lg"/>
            </a:ln>
          </p:spPr>
          <p:txBody>
            <a:bodyPr wrap="none" anchor="ctr"/>
            <a:lstStyle/>
            <a:p>
              <a:endParaRPr lang="zh-CN" altLang="en-US"/>
            </a:p>
          </p:txBody>
        </p:sp>
        <p:sp>
          <p:nvSpPr>
            <p:cNvPr id="11288" name="Line 99"/>
            <p:cNvSpPr>
              <a:spLocks noChangeShapeType="1"/>
            </p:cNvSpPr>
            <p:nvPr/>
          </p:nvSpPr>
          <p:spPr bwMode="auto">
            <a:xfrm>
              <a:off x="3850" y="2209"/>
              <a:ext cx="0" cy="912"/>
            </a:xfrm>
            <a:prstGeom prst="line">
              <a:avLst/>
            </a:prstGeom>
            <a:noFill/>
            <a:ln w="12700">
              <a:solidFill>
                <a:srgbClr val="9900CC"/>
              </a:solidFill>
              <a:round/>
              <a:headEnd type="stealth" w="med" len="lg"/>
              <a:tailEnd type="none" w="sm" len="sm"/>
            </a:ln>
          </p:spPr>
          <p:txBody>
            <a:bodyPr wrap="none" anchor="ctr"/>
            <a:lstStyle/>
            <a:p>
              <a:endParaRPr lang="zh-CN" altLang="en-US"/>
            </a:p>
          </p:txBody>
        </p:sp>
        <p:sp>
          <p:nvSpPr>
            <p:cNvPr id="11289" name="Rectangle 100"/>
            <p:cNvSpPr>
              <a:spLocks noChangeArrowheads="1"/>
            </p:cNvSpPr>
            <p:nvPr/>
          </p:nvSpPr>
          <p:spPr bwMode="auto">
            <a:xfrm>
              <a:off x="5424" y="2592"/>
              <a:ext cx="247" cy="327"/>
            </a:xfrm>
            <a:prstGeom prst="rect">
              <a:avLst/>
            </a:prstGeom>
            <a:noFill/>
            <a:ln w="9525">
              <a:noFill/>
              <a:miter lim="800000"/>
              <a:headEnd/>
              <a:tailEnd/>
            </a:ln>
          </p:spPr>
          <p:txBody>
            <a:bodyPr wrap="none" lIns="92075" tIns="46038" rIns="92075" bIns="46038">
              <a:spAutoFit/>
            </a:bodyPr>
            <a:lstStyle/>
            <a:p>
              <a:r>
                <a:rPr lang="en-US" altLang="zh-CN" sz="2800" i="1">
                  <a:solidFill>
                    <a:srgbClr val="9900CC"/>
                  </a:solidFill>
                </a:rPr>
                <a:t>x</a:t>
              </a:r>
              <a:endParaRPr lang="en-US" altLang="zh-CN">
                <a:solidFill>
                  <a:srgbClr val="9900CC"/>
                </a:solidFill>
              </a:endParaRPr>
            </a:p>
          </p:txBody>
        </p:sp>
        <p:sp>
          <p:nvSpPr>
            <p:cNvPr id="11290" name="Rectangle 101"/>
            <p:cNvSpPr>
              <a:spLocks noChangeArrowheads="1"/>
            </p:cNvSpPr>
            <p:nvPr/>
          </p:nvSpPr>
          <p:spPr bwMode="auto">
            <a:xfrm>
              <a:off x="3600" y="2496"/>
              <a:ext cx="262" cy="327"/>
            </a:xfrm>
            <a:prstGeom prst="rect">
              <a:avLst/>
            </a:prstGeom>
            <a:noFill/>
            <a:ln w="9525">
              <a:noFill/>
              <a:miter lim="800000"/>
              <a:headEnd/>
              <a:tailEnd/>
            </a:ln>
          </p:spPr>
          <p:txBody>
            <a:bodyPr wrap="none" lIns="92075" tIns="46038" rIns="92075" bIns="46038">
              <a:spAutoFit/>
            </a:bodyPr>
            <a:lstStyle/>
            <a:p>
              <a:r>
                <a:rPr lang="en-US" altLang="zh-CN" sz="2800" i="1">
                  <a:solidFill>
                    <a:srgbClr val="9900CC"/>
                  </a:solidFill>
                </a:rPr>
                <a:t>o</a:t>
              </a:r>
              <a:endParaRPr lang="en-US" altLang="zh-CN">
                <a:solidFill>
                  <a:srgbClr val="9900CC"/>
                </a:solidFill>
              </a:endParaRPr>
            </a:p>
          </p:txBody>
        </p:sp>
      </p:grpSp>
      <p:graphicFrame>
        <p:nvGraphicFramePr>
          <p:cNvPr id="65638" name="Object 102"/>
          <p:cNvGraphicFramePr>
            <a:graphicFrameLocks/>
          </p:cNvGraphicFramePr>
          <p:nvPr/>
        </p:nvGraphicFramePr>
        <p:xfrm>
          <a:off x="1003300" y="5338763"/>
          <a:ext cx="2757488" cy="730250"/>
        </p:xfrm>
        <a:graphic>
          <a:graphicData uri="http://schemas.openxmlformats.org/presentationml/2006/ole">
            <p:oleObj spid="_x0000_s11270" name="公式" r:id="rId7" imgW="1536480" imgH="406080" progId="Equation.3">
              <p:embed/>
            </p:oleObj>
          </a:graphicData>
        </a:graphic>
      </p:graphicFrame>
      <p:grpSp>
        <p:nvGrpSpPr>
          <p:cNvPr id="5" name="Group 103"/>
          <p:cNvGrpSpPr>
            <a:grpSpLocks/>
          </p:cNvGrpSpPr>
          <p:nvPr/>
        </p:nvGrpSpPr>
        <p:grpSpPr bwMode="auto">
          <a:xfrm>
            <a:off x="5751513" y="5149850"/>
            <a:ext cx="2232025" cy="1108075"/>
            <a:chOff x="3990" y="1599"/>
            <a:chExt cx="1770" cy="456"/>
          </a:xfrm>
        </p:grpSpPr>
        <p:sp>
          <p:nvSpPr>
            <p:cNvPr id="11284" name="Freeform 104"/>
            <p:cNvSpPr>
              <a:spLocks/>
            </p:cNvSpPr>
            <p:nvPr/>
          </p:nvSpPr>
          <p:spPr bwMode="auto">
            <a:xfrm>
              <a:off x="3990" y="1599"/>
              <a:ext cx="863" cy="23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2 w 20000"/>
                <a:gd name="T87" fmla="*/ 0 h 20000"/>
                <a:gd name="T88" fmla="*/ 2 w 20000"/>
                <a:gd name="T89" fmla="*/ 0 h 20000"/>
                <a:gd name="T90" fmla="*/ 2 w 20000"/>
                <a:gd name="T91" fmla="*/ 0 h 20000"/>
                <a:gd name="T92" fmla="*/ 2 w 20000"/>
                <a:gd name="T93" fmla="*/ 0 h 20000"/>
                <a:gd name="T94" fmla="*/ 2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86"/>
                  </a:moveTo>
                  <a:lnTo>
                    <a:pt x="225" y="18477"/>
                  </a:lnTo>
                  <a:lnTo>
                    <a:pt x="437" y="17868"/>
                  </a:lnTo>
                  <a:lnTo>
                    <a:pt x="662" y="17259"/>
                  </a:lnTo>
                  <a:lnTo>
                    <a:pt x="887" y="16684"/>
                  </a:lnTo>
                  <a:lnTo>
                    <a:pt x="1099" y="16074"/>
                  </a:lnTo>
                  <a:lnTo>
                    <a:pt x="1325" y="15465"/>
                  </a:lnTo>
                  <a:lnTo>
                    <a:pt x="1550" y="14890"/>
                  </a:lnTo>
                  <a:lnTo>
                    <a:pt x="1762" y="14281"/>
                  </a:lnTo>
                  <a:lnTo>
                    <a:pt x="1987" y="13706"/>
                  </a:lnTo>
                  <a:lnTo>
                    <a:pt x="2225" y="13164"/>
                  </a:lnTo>
                  <a:lnTo>
                    <a:pt x="2450" y="12589"/>
                  </a:lnTo>
                  <a:lnTo>
                    <a:pt x="2675" y="12014"/>
                  </a:lnTo>
                  <a:lnTo>
                    <a:pt x="2887" y="11472"/>
                  </a:lnTo>
                  <a:lnTo>
                    <a:pt x="3113" y="10863"/>
                  </a:lnTo>
                  <a:lnTo>
                    <a:pt x="3338" y="10355"/>
                  </a:lnTo>
                  <a:lnTo>
                    <a:pt x="3550" y="9780"/>
                  </a:lnTo>
                  <a:lnTo>
                    <a:pt x="3775" y="9272"/>
                  </a:lnTo>
                  <a:lnTo>
                    <a:pt x="4000" y="8731"/>
                  </a:lnTo>
                  <a:lnTo>
                    <a:pt x="4225" y="8223"/>
                  </a:lnTo>
                  <a:lnTo>
                    <a:pt x="4437" y="7716"/>
                  </a:lnTo>
                  <a:lnTo>
                    <a:pt x="4662" y="7242"/>
                  </a:lnTo>
                  <a:lnTo>
                    <a:pt x="4887" y="6802"/>
                  </a:lnTo>
                  <a:lnTo>
                    <a:pt x="5113" y="6328"/>
                  </a:lnTo>
                  <a:lnTo>
                    <a:pt x="5338" y="5888"/>
                  </a:lnTo>
                  <a:lnTo>
                    <a:pt x="5550" y="5415"/>
                  </a:lnTo>
                  <a:lnTo>
                    <a:pt x="5762" y="4975"/>
                  </a:lnTo>
                  <a:lnTo>
                    <a:pt x="5974" y="4569"/>
                  </a:lnTo>
                  <a:lnTo>
                    <a:pt x="6199" y="4162"/>
                  </a:lnTo>
                  <a:lnTo>
                    <a:pt x="6424" y="3756"/>
                  </a:lnTo>
                  <a:lnTo>
                    <a:pt x="6636" y="3418"/>
                  </a:lnTo>
                  <a:lnTo>
                    <a:pt x="6861" y="3046"/>
                  </a:lnTo>
                  <a:lnTo>
                    <a:pt x="7086" y="2707"/>
                  </a:lnTo>
                  <a:lnTo>
                    <a:pt x="7285" y="2437"/>
                  </a:lnTo>
                  <a:lnTo>
                    <a:pt x="7510" y="2098"/>
                  </a:lnTo>
                  <a:lnTo>
                    <a:pt x="7735" y="1794"/>
                  </a:lnTo>
                  <a:lnTo>
                    <a:pt x="7960" y="1591"/>
                  </a:lnTo>
                  <a:lnTo>
                    <a:pt x="8159" y="1320"/>
                  </a:lnTo>
                  <a:lnTo>
                    <a:pt x="8371" y="1083"/>
                  </a:lnTo>
                  <a:lnTo>
                    <a:pt x="8583" y="846"/>
                  </a:lnTo>
                  <a:lnTo>
                    <a:pt x="8808" y="677"/>
                  </a:lnTo>
                  <a:lnTo>
                    <a:pt x="9020" y="508"/>
                  </a:lnTo>
                  <a:lnTo>
                    <a:pt x="9232" y="372"/>
                  </a:lnTo>
                  <a:lnTo>
                    <a:pt x="9444" y="271"/>
                  </a:lnTo>
                  <a:lnTo>
                    <a:pt x="9642" y="135"/>
                  </a:lnTo>
                  <a:lnTo>
                    <a:pt x="9854" y="102"/>
                  </a:lnTo>
                  <a:lnTo>
                    <a:pt x="10079" y="34"/>
                  </a:lnTo>
                  <a:lnTo>
                    <a:pt x="10291" y="0"/>
                  </a:lnTo>
                  <a:lnTo>
                    <a:pt x="10503" y="34"/>
                  </a:lnTo>
                  <a:lnTo>
                    <a:pt x="10702" y="34"/>
                  </a:lnTo>
                  <a:lnTo>
                    <a:pt x="10914" y="102"/>
                  </a:lnTo>
                  <a:lnTo>
                    <a:pt x="11126" y="203"/>
                  </a:lnTo>
                  <a:lnTo>
                    <a:pt x="11338" y="305"/>
                  </a:lnTo>
                  <a:lnTo>
                    <a:pt x="11563" y="541"/>
                  </a:lnTo>
                  <a:lnTo>
                    <a:pt x="11788" y="745"/>
                  </a:lnTo>
                  <a:lnTo>
                    <a:pt x="12000" y="981"/>
                  </a:lnTo>
                  <a:lnTo>
                    <a:pt x="12225" y="1252"/>
                  </a:lnTo>
                  <a:lnTo>
                    <a:pt x="12450" y="1591"/>
                  </a:lnTo>
                  <a:lnTo>
                    <a:pt x="12689" y="1895"/>
                  </a:lnTo>
                  <a:lnTo>
                    <a:pt x="12914" y="2267"/>
                  </a:lnTo>
                  <a:lnTo>
                    <a:pt x="13152" y="2707"/>
                  </a:lnTo>
                  <a:lnTo>
                    <a:pt x="13377" y="3080"/>
                  </a:lnTo>
                  <a:lnTo>
                    <a:pt x="13616" y="3519"/>
                  </a:lnTo>
                  <a:lnTo>
                    <a:pt x="13841" y="3959"/>
                  </a:lnTo>
                  <a:lnTo>
                    <a:pt x="14066" y="4433"/>
                  </a:lnTo>
                  <a:lnTo>
                    <a:pt x="14291" y="4941"/>
                  </a:lnTo>
                  <a:lnTo>
                    <a:pt x="14530" y="5448"/>
                  </a:lnTo>
                  <a:lnTo>
                    <a:pt x="14755" y="5990"/>
                  </a:lnTo>
                  <a:lnTo>
                    <a:pt x="14993" y="6497"/>
                  </a:lnTo>
                  <a:lnTo>
                    <a:pt x="15219" y="7039"/>
                  </a:lnTo>
                  <a:lnTo>
                    <a:pt x="15444" y="7614"/>
                  </a:lnTo>
                  <a:lnTo>
                    <a:pt x="15682" y="8190"/>
                  </a:lnTo>
                  <a:lnTo>
                    <a:pt x="15894" y="8765"/>
                  </a:lnTo>
                  <a:lnTo>
                    <a:pt x="16106" y="9340"/>
                  </a:lnTo>
                  <a:lnTo>
                    <a:pt x="16318" y="9915"/>
                  </a:lnTo>
                  <a:lnTo>
                    <a:pt x="16530" y="10457"/>
                  </a:lnTo>
                  <a:lnTo>
                    <a:pt x="16742" y="11032"/>
                  </a:lnTo>
                  <a:lnTo>
                    <a:pt x="16954" y="11641"/>
                  </a:lnTo>
                  <a:lnTo>
                    <a:pt x="17152" y="12183"/>
                  </a:lnTo>
                  <a:lnTo>
                    <a:pt x="17351" y="12724"/>
                  </a:lnTo>
                  <a:lnTo>
                    <a:pt x="17550" y="13299"/>
                  </a:lnTo>
                  <a:lnTo>
                    <a:pt x="17735" y="13841"/>
                  </a:lnTo>
                  <a:lnTo>
                    <a:pt x="17934" y="14382"/>
                  </a:lnTo>
                  <a:lnTo>
                    <a:pt x="18119" y="14924"/>
                  </a:lnTo>
                  <a:lnTo>
                    <a:pt x="18291" y="15431"/>
                  </a:lnTo>
                  <a:lnTo>
                    <a:pt x="18464" y="15905"/>
                  </a:lnTo>
                  <a:lnTo>
                    <a:pt x="18636" y="16413"/>
                  </a:lnTo>
                  <a:lnTo>
                    <a:pt x="18795" y="16853"/>
                  </a:lnTo>
                  <a:lnTo>
                    <a:pt x="18954" y="17327"/>
                  </a:lnTo>
                  <a:lnTo>
                    <a:pt x="19099" y="17733"/>
                  </a:lnTo>
                  <a:lnTo>
                    <a:pt x="19258" y="18139"/>
                  </a:lnTo>
                  <a:lnTo>
                    <a:pt x="19391" y="18511"/>
                  </a:lnTo>
                  <a:lnTo>
                    <a:pt x="19523" y="18883"/>
                  </a:lnTo>
                  <a:lnTo>
                    <a:pt x="19642" y="19188"/>
                  </a:lnTo>
                  <a:lnTo>
                    <a:pt x="19775" y="19459"/>
                  </a:lnTo>
                  <a:lnTo>
                    <a:pt x="19881" y="19763"/>
                  </a:lnTo>
                  <a:lnTo>
                    <a:pt x="19987" y="19966"/>
                  </a:lnTo>
                </a:path>
              </a:pathLst>
            </a:custGeom>
            <a:noFill/>
            <a:ln w="38100">
              <a:solidFill>
                <a:srgbClr val="FF3300"/>
              </a:solidFill>
              <a:round/>
              <a:headEnd/>
              <a:tailEnd/>
            </a:ln>
          </p:spPr>
          <p:txBody>
            <a:bodyPr/>
            <a:lstStyle/>
            <a:p>
              <a:endParaRPr lang="zh-CN" altLang="en-US"/>
            </a:p>
          </p:txBody>
        </p:sp>
        <p:sp>
          <p:nvSpPr>
            <p:cNvPr id="11285" name="Freeform 105"/>
            <p:cNvSpPr>
              <a:spLocks/>
            </p:cNvSpPr>
            <p:nvPr/>
          </p:nvSpPr>
          <p:spPr bwMode="auto">
            <a:xfrm>
              <a:off x="4843" y="1827"/>
              <a:ext cx="917"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1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2 w 20000"/>
                <a:gd name="T73" fmla="*/ 0 h 20000"/>
                <a:gd name="T74" fmla="*/ 2 w 20000"/>
                <a:gd name="T75" fmla="*/ 0 h 20000"/>
                <a:gd name="T76" fmla="*/ 2 w 20000"/>
                <a:gd name="T77" fmla="*/ 0 h 20000"/>
                <a:gd name="T78" fmla="*/ 2 w 20000"/>
                <a:gd name="T79" fmla="*/ 0 h 20000"/>
                <a:gd name="T80" fmla="*/ 2 w 20000"/>
                <a:gd name="T81" fmla="*/ 0 h 20000"/>
                <a:gd name="T82" fmla="*/ 2 w 20000"/>
                <a:gd name="T83" fmla="*/ 0 h 20000"/>
                <a:gd name="T84" fmla="*/ 2 w 20000"/>
                <a:gd name="T85" fmla="*/ 0 h 20000"/>
                <a:gd name="T86" fmla="*/ 2 w 20000"/>
                <a:gd name="T87" fmla="*/ 0 h 20000"/>
                <a:gd name="T88" fmla="*/ 2 w 20000"/>
                <a:gd name="T89" fmla="*/ 0 h 20000"/>
                <a:gd name="T90" fmla="*/ 2 w 20000"/>
                <a:gd name="T91" fmla="*/ 0 h 20000"/>
                <a:gd name="T92" fmla="*/ 2 w 20000"/>
                <a:gd name="T93" fmla="*/ 0 h 20000"/>
                <a:gd name="T94" fmla="*/ 2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99" y="630"/>
                  </a:lnTo>
                  <a:lnTo>
                    <a:pt x="399" y="1261"/>
                  </a:lnTo>
                  <a:lnTo>
                    <a:pt x="598" y="1856"/>
                  </a:lnTo>
                  <a:lnTo>
                    <a:pt x="798" y="2487"/>
                  </a:lnTo>
                  <a:lnTo>
                    <a:pt x="984" y="3152"/>
                  </a:lnTo>
                  <a:lnTo>
                    <a:pt x="1184" y="3748"/>
                  </a:lnTo>
                  <a:lnTo>
                    <a:pt x="1383" y="4343"/>
                  </a:lnTo>
                  <a:lnTo>
                    <a:pt x="1583" y="4939"/>
                  </a:lnTo>
                  <a:lnTo>
                    <a:pt x="1782" y="5569"/>
                  </a:lnTo>
                  <a:lnTo>
                    <a:pt x="1981" y="6165"/>
                  </a:lnTo>
                  <a:lnTo>
                    <a:pt x="2181" y="6725"/>
                  </a:lnTo>
                  <a:lnTo>
                    <a:pt x="2380" y="7285"/>
                  </a:lnTo>
                  <a:lnTo>
                    <a:pt x="2567" y="7881"/>
                  </a:lnTo>
                  <a:lnTo>
                    <a:pt x="2766" y="8476"/>
                  </a:lnTo>
                  <a:lnTo>
                    <a:pt x="2966" y="9037"/>
                  </a:lnTo>
                  <a:lnTo>
                    <a:pt x="3165" y="9597"/>
                  </a:lnTo>
                  <a:lnTo>
                    <a:pt x="3364" y="10123"/>
                  </a:lnTo>
                  <a:lnTo>
                    <a:pt x="3564" y="10648"/>
                  </a:lnTo>
                  <a:lnTo>
                    <a:pt x="3763" y="11208"/>
                  </a:lnTo>
                  <a:lnTo>
                    <a:pt x="3963" y="11734"/>
                  </a:lnTo>
                  <a:lnTo>
                    <a:pt x="4162" y="12224"/>
                  </a:lnTo>
                  <a:lnTo>
                    <a:pt x="4361" y="12715"/>
                  </a:lnTo>
                  <a:lnTo>
                    <a:pt x="4573" y="13170"/>
                  </a:lnTo>
                  <a:lnTo>
                    <a:pt x="4785" y="13660"/>
                  </a:lnTo>
                  <a:lnTo>
                    <a:pt x="4972" y="14116"/>
                  </a:lnTo>
                  <a:lnTo>
                    <a:pt x="5171" y="14571"/>
                  </a:lnTo>
                  <a:lnTo>
                    <a:pt x="5371" y="15026"/>
                  </a:lnTo>
                  <a:lnTo>
                    <a:pt x="5570" y="15412"/>
                  </a:lnTo>
                  <a:lnTo>
                    <a:pt x="5782" y="15832"/>
                  </a:lnTo>
                  <a:lnTo>
                    <a:pt x="5981" y="16182"/>
                  </a:lnTo>
                  <a:lnTo>
                    <a:pt x="6181" y="16602"/>
                  </a:lnTo>
                  <a:lnTo>
                    <a:pt x="6380" y="16953"/>
                  </a:lnTo>
                  <a:lnTo>
                    <a:pt x="6579" y="17268"/>
                  </a:lnTo>
                  <a:lnTo>
                    <a:pt x="6791" y="17618"/>
                  </a:lnTo>
                  <a:lnTo>
                    <a:pt x="6991" y="17933"/>
                  </a:lnTo>
                  <a:lnTo>
                    <a:pt x="7202" y="18179"/>
                  </a:lnTo>
                  <a:lnTo>
                    <a:pt x="7402" y="18459"/>
                  </a:lnTo>
                  <a:lnTo>
                    <a:pt x="7614" y="18739"/>
                  </a:lnTo>
                  <a:lnTo>
                    <a:pt x="7813" y="18949"/>
                  </a:lnTo>
                  <a:lnTo>
                    <a:pt x="8025" y="19159"/>
                  </a:lnTo>
                  <a:lnTo>
                    <a:pt x="8237" y="19335"/>
                  </a:lnTo>
                  <a:lnTo>
                    <a:pt x="8436" y="19475"/>
                  </a:lnTo>
                  <a:lnTo>
                    <a:pt x="8648" y="19650"/>
                  </a:lnTo>
                  <a:lnTo>
                    <a:pt x="8860" y="19755"/>
                  </a:lnTo>
                  <a:lnTo>
                    <a:pt x="9059" y="19860"/>
                  </a:lnTo>
                  <a:lnTo>
                    <a:pt x="9271" y="19895"/>
                  </a:lnTo>
                  <a:lnTo>
                    <a:pt x="9483" y="19965"/>
                  </a:lnTo>
                  <a:lnTo>
                    <a:pt x="9695" y="19965"/>
                  </a:lnTo>
                  <a:lnTo>
                    <a:pt x="9907" y="19965"/>
                  </a:lnTo>
                  <a:lnTo>
                    <a:pt x="10118" y="19930"/>
                  </a:lnTo>
                  <a:lnTo>
                    <a:pt x="10330" y="19825"/>
                  </a:lnTo>
                  <a:lnTo>
                    <a:pt x="10555" y="19720"/>
                  </a:lnTo>
                  <a:lnTo>
                    <a:pt x="10791" y="19545"/>
                  </a:lnTo>
                  <a:lnTo>
                    <a:pt x="11016" y="19335"/>
                  </a:lnTo>
                  <a:lnTo>
                    <a:pt x="11240" y="19124"/>
                  </a:lnTo>
                  <a:lnTo>
                    <a:pt x="11477" y="18844"/>
                  </a:lnTo>
                  <a:lnTo>
                    <a:pt x="11713" y="18564"/>
                  </a:lnTo>
                  <a:lnTo>
                    <a:pt x="11963" y="18249"/>
                  </a:lnTo>
                  <a:lnTo>
                    <a:pt x="12212" y="17898"/>
                  </a:lnTo>
                  <a:lnTo>
                    <a:pt x="12461" y="17513"/>
                  </a:lnTo>
                  <a:lnTo>
                    <a:pt x="12710" y="17128"/>
                  </a:lnTo>
                  <a:lnTo>
                    <a:pt x="12960" y="16743"/>
                  </a:lnTo>
                  <a:lnTo>
                    <a:pt x="13196" y="16252"/>
                  </a:lnTo>
                  <a:lnTo>
                    <a:pt x="13445" y="15797"/>
                  </a:lnTo>
                  <a:lnTo>
                    <a:pt x="13707" y="15342"/>
                  </a:lnTo>
                  <a:lnTo>
                    <a:pt x="13956" y="14851"/>
                  </a:lnTo>
                  <a:lnTo>
                    <a:pt x="14206" y="14361"/>
                  </a:lnTo>
                  <a:lnTo>
                    <a:pt x="14442" y="13800"/>
                  </a:lnTo>
                  <a:lnTo>
                    <a:pt x="14692" y="13310"/>
                  </a:lnTo>
                  <a:lnTo>
                    <a:pt x="14953" y="12750"/>
                  </a:lnTo>
                  <a:lnTo>
                    <a:pt x="15202" y="12224"/>
                  </a:lnTo>
                  <a:lnTo>
                    <a:pt x="15452" y="11629"/>
                  </a:lnTo>
                  <a:lnTo>
                    <a:pt x="15688" y="11103"/>
                  </a:lnTo>
                  <a:lnTo>
                    <a:pt x="15925" y="10578"/>
                  </a:lnTo>
                  <a:lnTo>
                    <a:pt x="16150" y="10053"/>
                  </a:lnTo>
                  <a:lnTo>
                    <a:pt x="16386" y="9457"/>
                  </a:lnTo>
                  <a:lnTo>
                    <a:pt x="16611" y="8897"/>
                  </a:lnTo>
                  <a:lnTo>
                    <a:pt x="16847" y="8371"/>
                  </a:lnTo>
                  <a:lnTo>
                    <a:pt x="17072" y="7811"/>
                  </a:lnTo>
                  <a:lnTo>
                    <a:pt x="17283" y="7285"/>
                  </a:lnTo>
                  <a:lnTo>
                    <a:pt x="17495" y="6760"/>
                  </a:lnTo>
                  <a:lnTo>
                    <a:pt x="17720" y="6235"/>
                  </a:lnTo>
                  <a:lnTo>
                    <a:pt x="17919" y="5744"/>
                  </a:lnTo>
                  <a:lnTo>
                    <a:pt x="18118" y="5219"/>
                  </a:lnTo>
                  <a:lnTo>
                    <a:pt x="18305" y="4729"/>
                  </a:lnTo>
                  <a:lnTo>
                    <a:pt x="18492" y="4273"/>
                  </a:lnTo>
                  <a:lnTo>
                    <a:pt x="18679" y="3853"/>
                  </a:lnTo>
                  <a:lnTo>
                    <a:pt x="18854" y="3398"/>
                  </a:lnTo>
                  <a:lnTo>
                    <a:pt x="19016" y="2977"/>
                  </a:lnTo>
                  <a:lnTo>
                    <a:pt x="19178" y="2627"/>
                  </a:lnTo>
                  <a:lnTo>
                    <a:pt x="19340" y="2277"/>
                  </a:lnTo>
                  <a:lnTo>
                    <a:pt x="19489" y="1891"/>
                  </a:lnTo>
                  <a:lnTo>
                    <a:pt x="19614" y="1646"/>
                  </a:lnTo>
                  <a:lnTo>
                    <a:pt x="19751" y="1331"/>
                  </a:lnTo>
                  <a:lnTo>
                    <a:pt x="19875" y="1051"/>
                  </a:lnTo>
                  <a:lnTo>
                    <a:pt x="19988" y="841"/>
                  </a:lnTo>
                </a:path>
              </a:pathLst>
            </a:custGeom>
            <a:noFill/>
            <a:ln w="38100">
              <a:solidFill>
                <a:srgbClr val="FF3300"/>
              </a:solidFill>
              <a:round/>
              <a:headEnd/>
              <a:tailEn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540"/>
                                        </p:tgtEl>
                                        <p:attrNameLst>
                                          <p:attrName>style.visibility</p:attrName>
                                        </p:attrNameLst>
                                      </p:cBhvr>
                                      <p:to>
                                        <p:strVal val="visible"/>
                                      </p:to>
                                    </p:set>
                                    <p:animEffect transition="in" filter="wipe(left)">
                                      <p:cBhvr>
                                        <p:cTn id="7" dur="500"/>
                                        <p:tgtEl>
                                          <p:spTgt spid="655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5618"/>
                                        </p:tgtEl>
                                        <p:attrNameLst>
                                          <p:attrName>style.visibility</p:attrName>
                                        </p:attrNameLst>
                                      </p:cBhvr>
                                      <p:to>
                                        <p:strVal val="visible"/>
                                      </p:to>
                                    </p:set>
                                    <p:animEffect transition="in" filter="wipe(left)">
                                      <p:cBhvr>
                                        <p:cTn id="12" dur="500"/>
                                        <p:tgtEl>
                                          <p:spTgt spid="656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5542"/>
                                        </p:tgtEl>
                                        <p:attrNameLst>
                                          <p:attrName>style.visibility</p:attrName>
                                        </p:attrNameLst>
                                      </p:cBhvr>
                                      <p:to>
                                        <p:strVal val="visible"/>
                                      </p:to>
                                    </p:set>
                                    <p:animEffect transition="in" filter="wipe(left)">
                                      <p:cBhvr>
                                        <p:cTn id="17" dur="500"/>
                                        <p:tgtEl>
                                          <p:spTgt spid="6554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5543"/>
                                        </p:tgtEl>
                                        <p:attrNameLst>
                                          <p:attrName>style.visibility</p:attrName>
                                        </p:attrNameLst>
                                      </p:cBhvr>
                                      <p:to>
                                        <p:strVal val="visible"/>
                                      </p:to>
                                    </p:set>
                                    <p:animEffect transition="in" filter="wipe(left)">
                                      <p:cBhvr>
                                        <p:cTn id="22" dur="500"/>
                                        <p:tgtEl>
                                          <p:spTgt spid="6554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5544"/>
                                        </p:tgtEl>
                                        <p:attrNameLst>
                                          <p:attrName>style.visibility</p:attrName>
                                        </p:attrNameLst>
                                      </p:cBhvr>
                                      <p:to>
                                        <p:strVal val="visible"/>
                                      </p:to>
                                    </p:set>
                                    <p:animEffect transition="in" filter="wipe(left)">
                                      <p:cBhvr>
                                        <p:cTn id="27" dur="500"/>
                                        <p:tgtEl>
                                          <p:spTgt spid="6554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5541"/>
                                        </p:tgtEl>
                                        <p:attrNameLst>
                                          <p:attrName>style.visibility</p:attrName>
                                        </p:attrNameLst>
                                      </p:cBhvr>
                                      <p:to>
                                        <p:strVal val="visible"/>
                                      </p:to>
                                    </p:set>
                                    <p:animEffect transition="in" filter="wipe(left)">
                                      <p:cBhvr>
                                        <p:cTn id="32" dur="500"/>
                                        <p:tgtEl>
                                          <p:spTgt spid="6554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5545"/>
                                        </p:tgtEl>
                                        <p:attrNameLst>
                                          <p:attrName>style.visibility</p:attrName>
                                        </p:attrNameLst>
                                      </p:cBhvr>
                                      <p:to>
                                        <p:strVal val="visible"/>
                                      </p:to>
                                    </p:set>
                                    <p:animEffect transition="in" filter="wipe(left)">
                                      <p:cBhvr>
                                        <p:cTn id="37" dur="500"/>
                                        <p:tgtEl>
                                          <p:spTgt spid="6554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5546"/>
                                        </p:tgtEl>
                                        <p:attrNameLst>
                                          <p:attrName>style.visibility</p:attrName>
                                        </p:attrNameLst>
                                      </p:cBhvr>
                                      <p:to>
                                        <p:strVal val="visible"/>
                                      </p:to>
                                    </p:set>
                                    <p:animEffect transition="in" filter="wipe(left)">
                                      <p:cBhvr>
                                        <p:cTn id="42" dur="500"/>
                                        <p:tgtEl>
                                          <p:spTgt spid="6554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5563"/>
                                        </p:tgtEl>
                                        <p:attrNameLst>
                                          <p:attrName>style.visibility</p:attrName>
                                        </p:attrNameLst>
                                      </p:cBhvr>
                                      <p:to>
                                        <p:strVal val="visible"/>
                                      </p:to>
                                    </p:set>
                                    <p:animEffect transition="in" filter="wipe(left)">
                                      <p:cBhvr>
                                        <p:cTn id="47" dur="500"/>
                                        <p:tgtEl>
                                          <p:spTgt spid="6556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65626"/>
                                        </p:tgtEl>
                                        <p:attrNameLst>
                                          <p:attrName>style.visibility</p:attrName>
                                        </p:attrNameLst>
                                      </p:cBhvr>
                                      <p:to>
                                        <p:strVal val="visible"/>
                                      </p:to>
                                    </p:set>
                                    <p:animEffect transition="in" filter="wipe(left)">
                                      <p:cBhvr>
                                        <p:cTn id="52" dur="500"/>
                                        <p:tgtEl>
                                          <p:spTgt spid="6562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wipe(left)">
                                      <p:cBhvr>
                                        <p:cTn id="57" dur="500"/>
                                        <p:tgtEl>
                                          <p:spTgt spid="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wipe(left)">
                                      <p:cBhvr>
                                        <p:cTn id="62" dur="500"/>
                                        <p:tgtEl>
                                          <p:spTgt spid="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65625"/>
                                        </p:tgtEl>
                                        <p:attrNameLst>
                                          <p:attrName>style.visibility</p:attrName>
                                        </p:attrNameLst>
                                      </p:cBhvr>
                                      <p:to>
                                        <p:strVal val="visible"/>
                                      </p:to>
                                    </p:set>
                                    <p:animEffect transition="in" filter="wipe(left)">
                                      <p:cBhvr>
                                        <p:cTn id="67" dur="500"/>
                                        <p:tgtEl>
                                          <p:spTgt spid="6562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65630"/>
                                        </p:tgtEl>
                                        <p:attrNameLst>
                                          <p:attrName>style.visibility</p:attrName>
                                        </p:attrNameLst>
                                      </p:cBhvr>
                                      <p:to>
                                        <p:strVal val="visible"/>
                                      </p:to>
                                    </p:set>
                                    <p:animEffect transition="in" filter="wipe(left)">
                                      <p:cBhvr>
                                        <p:cTn id="72" dur="500"/>
                                        <p:tgtEl>
                                          <p:spTgt spid="6563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65638"/>
                                        </p:tgtEl>
                                        <p:attrNameLst>
                                          <p:attrName>style.visibility</p:attrName>
                                        </p:attrNameLst>
                                      </p:cBhvr>
                                      <p:to>
                                        <p:strVal val="visible"/>
                                      </p:to>
                                    </p:set>
                                    <p:animEffect transition="in" filter="wipe(left)">
                                      <p:cBhvr>
                                        <p:cTn id="77" dur="500"/>
                                        <p:tgtEl>
                                          <p:spTgt spid="6563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4"/>
                                        </p:tgtEl>
                                        <p:attrNameLst>
                                          <p:attrName>style.visibility</p:attrName>
                                        </p:attrNameLst>
                                      </p:cBhvr>
                                      <p:to>
                                        <p:strVal val="visible"/>
                                      </p:to>
                                    </p:set>
                                    <p:animEffect transition="in" filter="wipe(left)">
                                      <p:cBhvr>
                                        <p:cTn id="82" dur="500"/>
                                        <p:tgtEl>
                                          <p:spTgt spid="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5"/>
                                        </p:tgtEl>
                                        <p:attrNameLst>
                                          <p:attrName>style.visibility</p:attrName>
                                        </p:attrNameLst>
                                      </p:cBhvr>
                                      <p:to>
                                        <p:strVal val="visible"/>
                                      </p:to>
                                    </p:set>
                                    <p:animEffect transition="in" filter="wipe(left)">
                                      <p:cBhvr>
                                        <p:cTn id="87" dur="500"/>
                                        <p:tgtEl>
                                          <p:spTgt spid="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65631"/>
                                        </p:tgtEl>
                                        <p:attrNameLst>
                                          <p:attrName>style.visibility</p:attrName>
                                        </p:attrNameLst>
                                      </p:cBhvr>
                                      <p:to>
                                        <p:strVal val="visible"/>
                                      </p:to>
                                    </p:set>
                                    <p:animEffect transition="in" filter="wipe(left)">
                                      <p:cBhvr>
                                        <p:cTn id="92" dur="500"/>
                                        <p:tgtEl>
                                          <p:spTgt spid="656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autoUpdateAnimBg="0"/>
      <p:bldP spid="65541" grpId="0" autoUpdateAnimBg="0"/>
      <p:bldP spid="65542" grpId="0" autoUpdateAnimBg="0"/>
      <p:bldP spid="65544" grpId="0" autoUpdateAnimBg="0"/>
      <p:bldP spid="65546" grpId="0" autoUpdateAnimBg="0"/>
      <p:bldP spid="65563" grpId="0" autoUpdateAnimBg="0"/>
      <p:bldP spid="65625" grpId="0"/>
      <p:bldP spid="65630" grpId="0" autoUpdateAnimBg="0"/>
      <p:bldP spid="6563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904" name="Text Box 16" descr="绿色大理石"/>
          <p:cNvSpPr txBox="1">
            <a:spLocks noChangeArrowheads="1"/>
          </p:cNvSpPr>
          <p:nvPr/>
        </p:nvSpPr>
        <p:spPr bwMode="auto">
          <a:xfrm>
            <a:off x="177800" y="476250"/>
            <a:ext cx="4465638" cy="625475"/>
          </a:xfrm>
          <a:prstGeom prst="rect">
            <a:avLst/>
          </a:prstGeom>
          <a:noFill/>
          <a:ln w="9525">
            <a:noFill/>
            <a:miter lim="800000"/>
            <a:headEnd/>
            <a:tailEnd/>
          </a:ln>
        </p:spPr>
        <p:txBody>
          <a:bodyPr>
            <a:spAutoFit/>
          </a:bodyPr>
          <a:lstStyle/>
          <a:p>
            <a:pPr marL="457200" indent="-457200" eaLnBrk="0" hangingPunct="0">
              <a:lnSpc>
                <a:spcPct val="125000"/>
              </a:lnSpc>
            </a:pPr>
            <a:r>
              <a:rPr lang="en-US" altLang="zh-CN" b="1"/>
              <a:t>(5)</a:t>
            </a:r>
            <a:r>
              <a:rPr lang="en-US" altLang="zh-CN" b="1">
                <a:solidFill>
                  <a:srgbClr val="FF3300"/>
                </a:solidFill>
              </a:rPr>
              <a:t>  </a:t>
            </a:r>
            <a:r>
              <a:rPr lang="en-US" altLang="zh-CN" sz="2800" b="1" i="1">
                <a:solidFill>
                  <a:srgbClr val="FF6600"/>
                </a:solidFill>
              </a:rPr>
              <a:t>x </a:t>
            </a:r>
            <a:r>
              <a:rPr lang="zh-CN" altLang="en-US" b="1"/>
              <a:t>和 </a:t>
            </a:r>
            <a:r>
              <a:rPr lang="en-US" altLang="zh-CN" sz="2800" b="1" i="1">
                <a:solidFill>
                  <a:srgbClr val="FF6600"/>
                </a:solidFill>
              </a:rPr>
              <a:t>t</a:t>
            </a:r>
            <a:r>
              <a:rPr lang="en-US" altLang="zh-CN" b="1"/>
              <a:t> </a:t>
            </a:r>
            <a:r>
              <a:rPr lang="zh-CN" altLang="en-US" b="1"/>
              <a:t>都在变化</a:t>
            </a:r>
          </a:p>
        </p:txBody>
      </p:sp>
      <p:sp>
        <p:nvSpPr>
          <p:cNvPr id="165905" name="Text Box 17"/>
          <p:cNvSpPr txBox="1">
            <a:spLocks noChangeArrowheads="1"/>
          </p:cNvSpPr>
          <p:nvPr/>
        </p:nvSpPr>
        <p:spPr bwMode="auto">
          <a:xfrm>
            <a:off x="684213" y="1268413"/>
            <a:ext cx="5834062" cy="457200"/>
          </a:xfrm>
          <a:prstGeom prst="rect">
            <a:avLst/>
          </a:prstGeom>
          <a:noFill/>
          <a:ln w="9525">
            <a:noFill/>
            <a:miter lim="800000"/>
            <a:headEnd/>
            <a:tailEnd/>
          </a:ln>
        </p:spPr>
        <p:txBody>
          <a:bodyPr>
            <a:spAutoFit/>
          </a:bodyPr>
          <a:lstStyle/>
          <a:p>
            <a:r>
              <a:rPr lang="zh-CN" altLang="en-US" b="1">
                <a:ea typeface="楷体_GB2312" pitchFamily="49" charset="-122"/>
              </a:rPr>
              <a:t>表示介质中任何质点在任意时刻的</a:t>
            </a:r>
            <a:r>
              <a:rPr lang="zh-CN" altLang="en-US" b="1">
                <a:solidFill>
                  <a:srgbClr val="FF6600"/>
                </a:solidFill>
                <a:ea typeface="楷体_GB2312" pitchFamily="49" charset="-122"/>
              </a:rPr>
              <a:t>位移</a:t>
            </a:r>
            <a:endParaRPr lang="zh-CN" altLang="en-US">
              <a:solidFill>
                <a:srgbClr val="FF6600"/>
              </a:solidFill>
              <a:ea typeface="楷体_GB2312" pitchFamily="49" charset="-122"/>
            </a:endParaRPr>
          </a:p>
        </p:txBody>
      </p:sp>
      <p:sp>
        <p:nvSpPr>
          <p:cNvPr id="165906" name="Rectangle 18"/>
          <p:cNvSpPr>
            <a:spLocks noChangeArrowheads="1"/>
          </p:cNvSpPr>
          <p:nvPr/>
        </p:nvSpPr>
        <p:spPr bwMode="auto">
          <a:xfrm>
            <a:off x="279400" y="5557838"/>
            <a:ext cx="8523288" cy="895350"/>
          </a:xfrm>
          <a:prstGeom prst="rect">
            <a:avLst/>
          </a:prstGeom>
          <a:noFill/>
          <a:ln w="9525">
            <a:noFill/>
            <a:miter lim="800000"/>
            <a:headEnd/>
            <a:tailEnd/>
          </a:ln>
        </p:spPr>
        <p:txBody>
          <a:bodyPr lIns="92075" tIns="46038" rIns="92075" bIns="46038">
            <a:spAutoFit/>
          </a:bodyPr>
          <a:lstStyle/>
          <a:p>
            <a:pPr>
              <a:lnSpc>
                <a:spcPct val="120000"/>
              </a:lnSpc>
            </a:pPr>
            <a:r>
              <a:rPr lang="zh-CN" altLang="en-US" sz="2200" b="1"/>
              <a:t>已知  </a:t>
            </a:r>
            <a:r>
              <a:rPr lang="en-US" altLang="zh-CN" sz="2200" b="1" i="1">
                <a:solidFill>
                  <a:srgbClr val="0000FF"/>
                </a:solidFill>
              </a:rPr>
              <a:t>t</a:t>
            </a:r>
            <a:r>
              <a:rPr lang="en-US" altLang="zh-CN" sz="2200" b="1" baseline="-25000">
                <a:solidFill>
                  <a:srgbClr val="0000FF"/>
                </a:solidFill>
              </a:rPr>
              <a:t>1  </a:t>
            </a:r>
            <a:r>
              <a:rPr lang="zh-CN" altLang="en-US" sz="2200" b="1"/>
              <a:t>时刻的波形图（</a:t>
            </a:r>
            <a:r>
              <a:rPr lang="zh-CN" altLang="en-US" sz="2200" b="1">
                <a:solidFill>
                  <a:srgbClr val="990099"/>
                </a:solidFill>
              </a:rPr>
              <a:t>紫色</a:t>
            </a:r>
            <a:r>
              <a:rPr lang="zh-CN" altLang="en-US" sz="2200" b="1"/>
              <a:t>），要确定 </a:t>
            </a:r>
            <a:r>
              <a:rPr lang="en-US" altLang="zh-CN" sz="2200" b="1" i="1">
                <a:solidFill>
                  <a:schemeClr val="accent2"/>
                </a:solidFill>
              </a:rPr>
              <a:t>t </a:t>
            </a:r>
            <a:r>
              <a:rPr lang="en-US" altLang="zh-CN" sz="2200" b="1">
                <a:solidFill>
                  <a:schemeClr val="accent2"/>
                </a:solidFill>
              </a:rPr>
              <a:t>= </a:t>
            </a:r>
            <a:r>
              <a:rPr lang="en-US" altLang="zh-CN" sz="2200" b="1" i="1">
                <a:solidFill>
                  <a:schemeClr val="accent2"/>
                </a:solidFill>
              </a:rPr>
              <a:t>t</a:t>
            </a:r>
            <a:r>
              <a:rPr lang="en-US" altLang="zh-CN" sz="2200" b="1" baseline="-25000">
                <a:solidFill>
                  <a:schemeClr val="accent2"/>
                </a:solidFill>
              </a:rPr>
              <a:t>1</a:t>
            </a:r>
            <a:r>
              <a:rPr lang="en-US" altLang="zh-CN" sz="2200" b="1">
                <a:solidFill>
                  <a:schemeClr val="accent2"/>
                </a:solidFill>
              </a:rPr>
              <a:t>+Δ</a:t>
            </a:r>
            <a:r>
              <a:rPr lang="en-US" altLang="zh-CN" sz="2200" b="1" i="1">
                <a:solidFill>
                  <a:schemeClr val="accent2"/>
                </a:solidFill>
              </a:rPr>
              <a:t>t </a:t>
            </a:r>
            <a:r>
              <a:rPr lang="zh-CN" altLang="en-US" sz="2200" b="1"/>
              <a:t>时刻的波形图，只须将其沿波的传播方向平移 </a:t>
            </a:r>
            <a:r>
              <a:rPr lang="en-US" altLang="zh-CN" sz="2200" b="1" i="1">
                <a:solidFill>
                  <a:srgbClr val="FF6600"/>
                </a:solidFill>
              </a:rPr>
              <a:t>u</a:t>
            </a:r>
            <a:r>
              <a:rPr lang="en-US" altLang="zh-CN" sz="2200" b="1">
                <a:solidFill>
                  <a:srgbClr val="FF6600"/>
                </a:solidFill>
              </a:rPr>
              <a:t>Δ</a:t>
            </a:r>
            <a:r>
              <a:rPr lang="en-US" altLang="zh-CN" sz="2200" b="1" i="1">
                <a:solidFill>
                  <a:srgbClr val="FF6600"/>
                </a:solidFill>
              </a:rPr>
              <a:t>t </a:t>
            </a:r>
            <a:r>
              <a:rPr lang="zh-CN" altLang="en-US" sz="2200" b="1"/>
              <a:t>的距离即可（</a:t>
            </a:r>
            <a:r>
              <a:rPr lang="zh-CN" altLang="en-US" sz="2200" b="1">
                <a:solidFill>
                  <a:srgbClr val="FF0000"/>
                </a:solidFill>
              </a:rPr>
              <a:t>红色</a:t>
            </a:r>
            <a:r>
              <a:rPr lang="zh-CN" altLang="en-US" sz="2200" b="1"/>
              <a:t>）</a:t>
            </a:r>
            <a:endParaRPr lang="zh-CN" altLang="en-US" sz="2200"/>
          </a:p>
        </p:txBody>
      </p:sp>
      <p:sp>
        <p:nvSpPr>
          <p:cNvPr id="165907" name="Line 19"/>
          <p:cNvSpPr>
            <a:spLocks noChangeShapeType="1"/>
          </p:cNvSpPr>
          <p:nvPr/>
        </p:nvSpPr>
        <p:spPr bwMode="auto">
          <a:xfrm>
            <a:off x="2987675" y="3641725"/>
            <a:ext cx="1079500" cy="0"/>
          </a:xfrm>
          <a:prstGeom prst="line">
            <a:avLst/>
          </a:prstGeom>
          <a:noFill/>
          <a:ln w="12700">
            <a:solidFill>
              <a:schemeClr val="tx1"/>
            </a:solidFill>
            <a:prstDash val="dash"/>
            <a:round/>
            <a:headEnd type="none" w="sm" len="sm"/>
            <a:tailEnd type="none" w="sm" len="sm"/>
          </a:ln>
        </p:spPr>
        <p:txBody>
          <a:bodyPr wrap="none" anchor="ctr"/>
          <a:lstStyle/>
          <a:p>
            <a:endParaRPr lang="zh-CN" altLang="en-US"/>
          </a:p>
        </p:txBody>
      </p:sp>
      <p:grpSp>
        <p:nvGrpSpPr>
          <p:cNvPr id="2" name="Group 20"/>
          <p:cNvGrpSpPr>
            <a:grpSpLocks/>
          </p:cNvGrpSpPr>
          <p:nvPr/>
        </p:nvGrpSpPr>
        <p:grpSpPr bwMode="auto">
          <a:xfrm>
            <a:off x="1692275" y="2997200"/>
            <a:ext cx="5756275" cy="2447925"/>
            <a:chOff x="1066" y="1389"/>
            <a:chExt cx="3626" cy="1542"/>
          </a:xfrm>
        </p:grpSpPr>
        <p:sp>
          <p:nvSpPr>
            <p:cNvPr id="12320" name="Rectangle 21"/>
            <p:cNvSpPr>
              <a:spLocks noChangeArrowheads="1"/>
            </p:cNvSpPr>
            <p:nvPr/>
          </p:nvSpPr>
          <p:spPr bwMode="auto">
            <a:xfrm>
              <a:off x="1066" y="2160"/>
              <a:ext cx="228" cy="327"/>
            </a:xfrm>
            <a:prstGeom prst="rect">
              <a:avLst/>
            </a:prstGeom>
            <a:noFill/>
            <a:ln w="9525">
              <a:noFill/>
              <a:miter lim="800000"/>
              <a:headEnd/>
              <a:tailEnd/>
            </a:ln>
          </p:spPr>
          <p:txBody>
            <a:bodyPr wrap="none" lIns="92075" tIns="46038" rIns="92075" bIns="46038">
              <a:spAutoFit/>
            </a:bodyPr>
            <a:lstStyle/>
            <a:p>
              <a:r>
                <a:rPr lang="en-US" altLang="zh-CN" sz="2800" i="1"/>
                <a:t>o</a:t>
              </a:r>
              <a:endParaRPr lang="en-US" altLang="zh-CN"/>
            </a:p>
          </p:txBody>
        </p:sp>
        <p:sp>
          <p:nvSpPr>
            <p:cNvPr id="12321" name="Line 22"/>
            <p:cNvSpPr>
              <a:spLocks noChangeShapeType="1"/>
            </p:cNvSpPr>
            <p:nvPr/>
          </p:nvSpPr>
          <p:spPr bwMode="auto">
            <a:xfrm>
              <a:off x="1280" y="1473"/>
              <a:ext cx="0" cy="1458"/>
            </a:xfrm>
            <a:prstGeom prst="line">
              <a:avLst/>
            </a:prstGeom>
            <a:noFill/>
            <a:ln w="12700">
              <a:solidFill>
                <a:schemeClr val="tx2"/>
              </a:solidFill>
              <a:round/>
              <a:headEnd type="stealth" w="med" len="lg"/>
              <a:tailEnd type="none" w="sm" len="sm"/>
            </a:ln>
          </p:spPr>
          <p:txBody>
            <a:bodyPr wrap="none" anchor="ctr"/>
            <a:lstStyle/>
            <a:p>
              <a:endParaRPr lang="zh-CN" altLang="en-US"/>
            </a:p>
          </p:txBody>
        </p:sp>
        <p:sp>
          <p:nvSpPr>
            <p:cNvPr id="12322" name="Line 23"/>
            <p:cNvSpPr>
              <a:spLocks noChangeShapeType="1"/>
            </p:cNvSpPr>
            <p:nvPr/>
          </p:nvSpPr>
          <p:spPr bwMode="auto">
            <a:xfrm>
              <a:off x="1280" y="2277"/>
              <a:ext cx="3376" cy="0"/>
            </a:xfrm>
            <a:prstGeom prst="line">
              <a:avLst/>
            </a:prstGeom>
            <a:noFill/>
            <a:ln w="12700">
              <a:solidFill>
                <a:schemeClr val="tx2"/>
              </a:solidFill>
              <a:round/>
              <a:headEnd type="none" w="sm" len="sm"/>
              <a:tailEnd type="stealth" w="med" len="lg"/>
            </a:ln>
          </p:spPr>
          <p:txBody>
            <a:bodyPr wrap="none" anchor="ctr"/>
            <a:lstStyle/>
            <a:p>
              <a:endParaRPr lang="zh-CN" altLang="en-US"/>
            </a:p>
          </p:txBody>
        </p:sp>
        <p:sp>
          <p:nvSpPr>
            <p:cNvPr id="12323" name="Rectangle 24"/>
            <p:cNvSpPr>
              <a:spLocks noChangeArrowheads="1"/>
            </p:cNvSpPr>
            <p:nvPr/>
          </p:nvSpPr>
          <p:spPr bwMode="auto">
            <a:xfrm>
              <a:off x="1066" y="1389"/>
              <a:ext cx="215" cy="327"/>
            </a:xfrm>
            <a:prstGeom prst="rect">
              <a:avLst/>
            </a:prstGeom>
            <a:noFill/>
            <a:ln w="9525">
              <a:noFill/>
              <a:miter lim="800000"/>
              <a:headEnd/>
              <a:tailEnd/>
            </a:ln>
          </p:spPr>
          <p:txBody>
            <a:bodyPr wrap="none" lIns="92075" tIns="46038" rIns="92075" bIns="46038">
              <a:spAutoFit/>
            </a:bodyPr>
            <a:lstStyle/>
            <a:p>
              <a:r>
                <a:rPr lang="en-US" altLang="zh-CN" sz="2800" b="1" i="1">
                  <a:solidFill>
                    <a:schemeClr val="tx2"/>
                  </a:solidFill>
                </a:rPr>
                <a:t>y</a:t>
              </a:r>
              <a:endParaRPr lang="en-US" altLang="zh-CN">
                <a:solidFill>
                  <a:schemeClr val="tx2"/>
                </a:solidFill>
              </a:endParaRPr>
            </a:p>
          </p:txBody>
        </p:sp>
        <p:sp>
          <p:nvSpPr>
            <p:cNvPr id="12324" name="Rectangle 25"/>
            <p:cNvSpPr>
              <a:spLocks noChangeArrowheads="1"/>
            </p:cNvSpPr>
            <p:nvPr/>
          </p:nvSpPr>
          <p:spPr bwMode="auto">
            <a:xfrm>
              <a:off x="4464" y="2256"/>
              <a:ext cx="228" cy="327"/>
            </a:xfrm>
            <a:prstGeom prst="rect">
              <a:avLst/>
            </a:prstGeom>
            <a:noFill/>
            <a:ln w="9525">
              <a:noFill/>
              <a:miter lim="800000"/>
              <a:headEnd/>
              <a:tailEnd/>
            </a:ln>
          </p:spPr>
          <p:txBody>
            <a:bodyPr wrap="none" lIns="92075" tIns="46038" rIns="92075" bIns="46038">
              <a:spAutoFit/>
            </a:bodyPr>
            <a:lstStyle/>
            <a:p>
              <a:r>
                <a:rPr lang="en-US" altLang="zh-CN" sz="2800" b="1" i="1">
                  <a:solidFill>
                    <a:schemeClr val="tx2"/>
                  </a:solidFill>
                </a:rPr>
                <a:t>x</a:t>
              </a:r>
              <a:endParaRPr lang="en-US" altLang="zh-CN">
                <a:solidFill>
                  <a:schemeClr val="tx2"/>
                </a:solidFill>
              </a:endParaRPr>
            </a:p>
          </p:txBody>
        </p:sp>
      </p:grpSp>
      <p:grpSp>
        <p:nvGrpSpPr>
          <p:cNvPr id="3" name="Group 26"/>
          <p:cNvGrpSpPr>
            <a:grpSpLocks/>
          </p:cNvGrpSpPr>
          <p:nvPr/>
        </p:nvGrpSpPr>
        <p:grpSpPr bwMode="auto">
          <a:xfrm>
            <a:off x="2987675" y="3641725"/>
            <a:ext cx="366713" cy="765175"/>
            <a:chOff x="1882" y="1795"/>
            <a:chExt cx="231" cy="482"/>
          </a:xfrm>
        </p:grpSpPr>
        <p:sp>
          <p:nvSpPr>
            <p:cNvPr id="12319" name="Line 27"/>
            <p:cNvSpPr>
              <a:spLocks noChangeShapeType="1"/>
            </p:cNvSpPr>
            <p:nvPr/>
          </p:nvSpPr>
          <p:spPr bwMode="auto">
            <a:xfrm>
              <a:off x="1882" y="1795"/>
              <a:ext cx="0" cy="482"/>
            </a:xfrm>
            <a:prstGeom prst="line">
              <a:avLst/>
            </a:prstGeom>
            <a:noFill/>
            <a:ln w="12700">
              <a:solidFill>
                <a:srgbClr val="9900CC"/>
              </a:solidFill>
              <a:prstDash val="dash"/>
              <a:round/>
              <a:headEnd type="stealth" w="med" len="lg"/>
              <a:tailEnd type="stealth" w="med" len="lg"/>
            </a:ln>
          </p:spPr>
          <p:txBody>
            <a:bodyPr wrap="none" anchor="ctr"/>
            <a:lstStyle/>
            <a:p>
              <a:endParaRPr lang="zh-CN" altLang="en-US"/>
            </a:p>
          </p:txBody>
        </p:sp>
        <p:graphicFrame>
          <p:nvGraphicFramePr>
            <p:cNvPr id="12295" name="Object 28"/>
            <p:cNvGraphicFramePr>
              <a:graphicFrameLocks noChangeAspect="1"/>
            </p:cNvGraphicFramePr>
            <p:nvPr/>
          </p:nvGraphicFramePr>
          <p:xfrm>
            <a:off x="1882" y="1979"/>
            <a:ext cx="231" cy="272"/>
          </p:xfrm>
          <a:graphic>
            <a:graphicData uri="http://schemas.openxmlformats.org/presentationml/2006/ole">
              <p:oleObj spid="_x0000_s12295" name="公式" r:id="rId3" imgW="139680" imgH="164880" progId="Equation.3">
                <p:embed/>
              </p:oleObj>
            </a:graphicData>
          </a:graphic>
        </p:graphicFrame>
      </p:grpSp>
      <p:grpSp>
        <p:nvGrpSpPr>
          <p:cNvPr id="4" name="Group 29"/>
          <p:cNvGrpSpPr>
            <a:grpSpLocks/>
          </p:cNvGrpSpPr>
          <p:nvPr/>
        </p:nvGrpSpPr>
        <p:grpSpPr bwMode="auto">
          <a:xfrm>
            <a:off x="3995738" y="3641725"/>
            <a:ext cx="330200" cy="765175"/>
            <a:chOff x="2517" y="1795"/>
            <a:chExt cx="208" cy="482"/>
          </a:xfrm>
        </p:grpSpPr>
        <p:sp>
          <p:nvSpPr>
            <p:cNvPr id="12318" name="Line 30"/>
            <p:cNvSpPr>
              <a:spLocks noChangeShapeType="1"/>
            </p:cNvSpPr>
            <p:nvPr/>
          </p:nvSpPr>
          <p:spPr bwMode="auto">
            <a:xfrm>
              <a:off x="2544" y="1795"/>
              <a:ext cx="0" cy="482"/>
            </a:xfrm>
            <a:prstGeom prst="line">
              <a:avLst/>
            </a:prstGeom>
            <a:noFill/>
            <a:ln w="12700">
              <a:solidFill>
                <a:schemeClr val="tx2"/>
              </a:solidFill>
              <a:prstDash val="dash"/>
              <a:round/>
              <a:headEnd type="stealth" w="med" len="lg"/>
              <a:tailEnd type="stealth" w="med" len="lg"/>
            </a:ln>
          </p:spPr>
          <p:txBody>
            <a:bodyPr wrap="none" anchor="ctr"/>
            <a:lstStyle/>
            <a:p>
              <a:endParaRPr lang="zh-CN" altLang="en-US"/>
            </a:p>
          </p:txBody>
        </p:sp>
        <p:graphicFrame>
          <p:nvGraphicFramePr>
            <p:cNvPr id="12294" name="Object 31"/>
            <p:cNvGraphicFramePr>
              <a:graphicFrameLocks noChangeAspect="1"/>
            </p:cNvGraphicFramePr>
            <p:nvPr/>
          </p:nvGraphicFramePr>
          <p:xfrm>
            <a:off x="2517" y="1920"/>
            <a:ext cx="208" cy="256"/>
          </p:xfrm>
          <a:graphic>
            <a:graphicData uri="http://schemas.openxmlformats.org/presentationml/2006/ole">
              <p:oleObj spid="_x0000_s12294" name="公式" r:id="rId4" imgW="164880" imgH="203040" progId="Equation.3">
                <p:embed/>
              </p:oleObj>
            </a:graphicData>
          </a:graphic>
        </p:graphicFrame>
      </p:grpSp>
      <p:grpSp>
        <p:nvGrpSpPr>
          <p:cNvPr id="5" name="Group 32"/>
          <p:cNvGrpSpPr>
            <a:grpSpLocks/>
          </p:cNvGrpSpPr>
          <p:nvPr/>
        </p:nvGrpSpPr>
        <p:grpSpPr bwMode="auto">
          <a:xfrm>
            <a:off x="2973388" y="4406900"/>
            <a:ext cx="1112837" cy="538163"/>
            <a:chOff x="1873" y="2277"/>
            <a:chExt cx="701" cy="339"/>
          </a:xfrm>
        </p:grpSpPr>
        <p:sp>
          <p:nvSpPr>
            <p:cNvPr id="12315" name="Line 33"/>
            <p:cNvSpPr>
              <a:spLocks noChangeShapeType="1"/>
            </p:cNvSpPr>
            <p:nvPr/>
          </p:nvSpPr>
          <p:spPr bwMode="auto">
            <a:xfrm>
              <a:off x="1882" y="2277"/>
              <a:ext cx="0" cy="201"/>
            </a:xfrm>
            <a:prstGeom prst="line">
              <a:avLst/>
            </a:prstGeom>
            <a:noFill/>
            <a:ln w="12700">
              <a:solidFill>
                <a:schemeClr val="tx1"/>
              </a:solidFill>
              <a:round/>
              <a:headEnd type="none" w="sm" len="sm"/>
              <a:tailEnd type="none" w="sm" len="sm"/>
            </a:ln>
          </p:spPr>
          <p:txBody>
            <a:bodyPr wrap="none" anchor="ctr"/>
            <a:lstStyle/>
            <a:p>
              <a:endParaRPr lang="zh-CN" altLang="en-US"/>
            </a:p>
          </p:txBody>
        </p:sp>
        <p:sp>
          <p:nvSpPr>
            <p:cNvPr id="12316" name="Line 34"/>
            <p:cNvSpPr>
              <a:spLocks noChangeShapeType="1"/>
            </p:cNvSpPr>
            <p:nvPr/>
          </p:nvSpPr>
          <p:spPr bwMode="auto">
            <a:xfrm>
              <a:off x="2544" y="2318"/>
              <a:ext cx="0" cy="205"/>
            </a:xfrm>
            <a:prstGeom prst="line">
              <a:avLst/>
            </a:prstGeom>
            <a:noFill/>
            <a:ln w="12700">
              <a:solidFill>
                <a:schemeClr val="tx1"/>
              </a:solidFill>
              <a:round/>
              <a:headEnd type="none" w="sm" len="sm"/>
              <a:tailEnd type="none" w="sm" len="sm"/>
            </a:ln>
          </p:spPr>
          <p:txBody>
            <a:bodyPr wrap="none" anchor="ctr"/>
            <a:lstStyle/>
            <a:p>
              <a:endParaRPr lang="zh-CN" altLang="en-US"/>
            </a:p>
          </p:txBody>
        </p:sp>
        <p:sp>
          <p:nvSpPr>
            <p:cNvPr id="12317" name="Line 35"/>
            <p:cNvSpPr>
              <a:spLocks noChangeShapeType="1"/>
            </p:cNvSpPr>
            <p:nvPr/>
          </p:nvSpPr>
          <p:spPr bwMode="auto">
            <a:xfrm>
              <a:off x="1873" y="2398"/>
              <a:ext cx="701" cy="0"/>
            </a:xfrm>
            <a:prstGeom prst="line">
              <a:avLst/>
            </a:prstGeom>
            <a:noFill/>
            <a:ln w="12700">
              <a:solidFill>
                <a:schemeClr val="accent2"/>
              </a:solidFill>
              <a:round/>
              <a:headEnd type="stealth" w="med" len="lg"/>
              <a:tailEnd type="stealth" w="med" len="lg"/>
            </a:ln>
          </p:spPr>
          <p:txBody>
            <a:bodyPr wrap="none" anchor="ctr"/>
            <a:lstStyle/>
            <a:p>
              <a:endParaRPr lang="zh-CN" altLang="en-US"/>
            </a:p>
          </p:txBody>
        </p:sp>
        <p:graphicFrame>
          <p:nvGraphicFramePr>
            <p:cNvPr id="12293" name="Object 36"/>
            <p:cNvGraphicFramePr>
              <a:graphicFrameLocks noChangeAspect="1"/>
            </p:cNvGraphicFramePr>
            <p:nvPr/>
          </p:nvGraphicFramePr>
          <p:xfrm>
            <a:off x="2064" y="2400"/>
            <a:ext cx="324" cy="216"/>
          </p:xfrm>
          <a:graphic>
            <a:graphicData uri="http://schemas.openxmlformats.org/presentationml/2006/ole">
              <p:oleObj spid="_x0000_s12293" name="公式" r:id="rId5" imgW="266400" imgH="177480" progId="Equation.3">
                <p:embed/>
              </p:oleObj>
            </a:graphicData>
          </a:graphic>
        </p:graphicFrame>
      </p:grpSp>
      <p:sp>
        <p:nvSpPr>
          <p:cNvPr id="165925" name="Rectangle 37"/>
          <p:cNvSpPr>
            <a:spLocks noChangeArrowheads="1"/>
          </p:cNvSpPr>
          <p:nvPr/>
        </p:nvSpPr>
        <p:spPr bwMode="auto">
          <a:xfrm>
            <a:off x="914400" y="1963738"/>
            <a:ext cx="1766888" cy="457200"/>
          </a:xfrm>
          <a:prstGeom prst="rect">
            <a:avLst/>
          </a:prstGeom>
          <a:noFill/>
          <a:ln w="9525">
            <a:noFill/>
            <a:miter lim="800000"/>
            <a:headEnd/>
            <a:tailEnd/>
          </a:ln>
        </p:spPr>
        <p:txBody>
          <a:bodyPr lIns="92075" tIns="46038" rIns="92075" bIns="46038">
            <a:spAutoFit/>
          </a:bodyPr>
          <a:lstStyle/>
          <a:p>
            <a:r>
              <a:rPr lang="en-US" altLang="zh-CN" b="1" i="1">
                <a:solidFill>
                  <a:srgbClr val="FF6600"/>
                </a:solidFill>
              </a:rPr>
              <a:t>t </a:t>
            </a:r>
            <a:r>
              <a:rPr lang="en-US" altLang="zh-CN" b="1">
                <a:solidFill>
                  <a:srgbClr val="FF6600"/>
                </a:solidFill>
              </a:rPr>
              <a:t>= </a:t>
            </a:r>
            <a:r>
              <a:rPr lang="en-US" altLang="zh-CN" b="1" i="1">
                <a:solidFill>
                  <a:srgbClr val="FF6600"/>
                </a:solidFill>
              </a:rPr>
              <a:t>t</a:t>
            </a:r>
            <a:r>
              <a:rPr lang="en-US" altLang="zh-CN" b="1" baseline="-25000">
                <a:solidFill>
                  <a:srgbClr val="FF6600"/>
                </a:solidFill>
              </a:rPr>
              <a:t>1 </a:t>
            </a:r>
            <a:r>
              <a:rPr lang="zh-CN" altLang="en-US" b="1">
                <a:latin typeface="Bookman Old Style" pitchFamily="18" charset="0"/>
              </a:rPr>
              <a:t>时</a:t>
            </a:r>
            <a:endParaRPr lang="zh-CN" altLang="en-US"/>
          </a:p>
        </p:txBody>
      </p:sp>
      <p:graphicFrame>
        <p:nvGraphicFramePr>
          <p:cNvPr id="165926" name="Object 38"/>
          <p:cNvGraphicFramePr>
            <a:graphicFrameLocks/>
          </p:cNvGraphicFramePr>
          <p:nvPr/>
        </p:nvGraphicFramePr>
        <p:xfrm>
          <a:off x="2727325" y="1762125"/>
          <a:ext cx="2762250" cy="730250"/>
        </p:xfrm>
        <a:graphic>
          <a:graphicData uri="http://schemas.openxmlformats.org/presentationml/2006/ole">
            <p:oleObj spid="_x0000_s12290" name="公式" r:id="rId6" imgW="1536480" imgH="406080" progId="Equation.3">
              <p:embed/>
            </p:oleObj>
          </a:graphicData>
        </a:graphic>
      </p:graphicFrame>
      <p:sp>
        <p:nvSpPr>
          <p:cNvPr id="165927" name="Rectangle 39"/>
          <p:cNvSpPr>
            <a:spLocks noChangeArrowheads="1"/>
          </p:cNvSpPr>
          <p:nvPr/>
        </p:nvSpPr>
        <p:spPr bwMode="auto">
          <a:xfrm>
            <a:off x="685800" y="2608263"/>
            <a:ext cx="2133600" cy="457200"/>
          </a:xfrm>
          <a:prstGeom prst="rect">
            <a:avLst/>
          </a:prstGeom>
          <a:noFill/>
          <a:ln w="9525">
            <a:noFill/>
            <a:miter lim="800000"/>
            <a:headEnd/>
            <a:tailEnd/>
          </a:ln>
        </p:spPr>
        <p:txBody>
          <a:bodyPr lIns="92075" tIns="46038" rIns="92075" bIns="46038">
            <a:spAutoFit/>
          </a:bodyPr>
          <a:lstStyle/>
          <a:p>
            <a:r>
              <a:rPr lang="en-US" altLang="zh-CN" b="1" i="1">
                <a:solidFill>
                  <a:srgbClr val="FF6600"/>
                </a:solidFill>
              </a:rPr>
              <a:t>t </a:t>
            </a:r>
            <a:r>
              <a:rPr lang="en-US" altLang="zh-CN" b="1">
                <a:solidFill>
                  <a:srgbClr val="FF6600"/>
                </a:solidFill>
              </a:rPr>
              <a:t>= </a:t>
            </a:r>
            <a:r>
              <a:rPr lang="en-US" altLang="zh-CN" b="1" i="1">
                <a:solidFill>
                  <a:srgbClr val="FF6600"/>
                </a:solidFill>
              </a:rPr>
              <a:t>t</a:t>
            </a:r>
            <a:r>
              <a:rPr lang="en-US" altLang="zh-CN" b="1" baseline="-25000">
                <a:solidFill>
                  <a:srgbClr val="FF6600"/>
                </a:solidFill>
              </a:rPr>
              <a:t>1 </a:t>
            </a:r>
            <a:r>
              <a:rPr lang="en-US" altLang="zh-CN" b="1">
                <a:solidFill>
                  <a:srgbClr val="FF6600"/>
                </a:solidFill>
              </a:rPr>
              <a:t>+Δ</a:t>
            </a:r>
            <a:r>
              <a:rPr lang="en-US" altLang="zh-CN" b="1" i="1">
                <a:solidFill>
                  <a:srgbClr val="FF6600"/>
                </a:solidFill>
              </a:rPr>
              <a:t>t  </a:t>
            </a:r>
            <a:r>
              <a:rPr lang="zh-CN" altLang="en-US" b="1"/>
              <a:t>时</a:t>
            </a:r>
            <a:endParaRPr lang="zh-CN" altLang="en-US"/>
          </a:p>
        </p:txBody>
      </p:sp>
      <p:graphicFrame>
        <p:nvGraphicFramePr>
          <p:cNvPr id="165928" name="Object 40"/>
          <p:cNvGraphicFramePr>
            <a:graphicFrameLocks/>
          </p:cNvGraphicFramePr>
          <p:nvPr/>
        </p:nvGraphicFramePr>
        <p:xfrm>
          <a:off x="2682875" y="2482850"/>
          <a:ext cx="3424238" cy="730250"/>
        </p:xfrm>
        <a:graphic>
          <a:graphicData uri="http://schemas.openxmlformats.org/presentationml/2006/ole">
            <p:oleObj spid="_x0000_s12291" name="公式" r:id="rId7" imgW="1904760" imgH="406080" progId="Equation.3">
              <p:embed/>
            </p:oleObj>
          </a:graphicData>
        </a:graphic>
      </p:graphicFrame>
      <p:grpSp>
        <p:nvGrpSpPr>
          <p:cNvPr id="6" name="Group 41"/>
          <p:cNvGrpSpPr>
            <a:grpSpLocks/>
          </p:cNvGrpSpPr>
          <p:nvPr/>
        </p:nvGrpSpPr>
        <p:grpSpPr bwMode="auto">
          <a:xfrm>
            <a:off x="1763713" y="3500438"/>
            <a:ext cx="4032250" cy="1800225"/>
            <a:chOff x="1111" y="1706"/>
            <a:chExt cx="2540" cy="1134"/>
          </a:xfrm>
        </p:grpSpPr>
        <p:sp>
          <p:nvSpPr>
            <p:cNvPr id="12311" name="Rectangle 42"/>
            <p:cNvSpPr>
              <a:spLocks noChangeArrowheads="1"/>
            </p:cNvSpPr>
            <p:nvPr/>
          </p:nvSpPr>
          <p:spPr bwMode="auto">
            <a:xfrm>
              <a:off x="3436" y="2208"/>
              <a:ext cx="215" cy="327"/>
            </a:xfrm>
            <a:prstGeom prst="rect">
              <a:avLst/>
            </a:prstGeom>
            <a:noFill/>
            <a:ln w="9525">
              <a:noFill/>
              <a:miter lim="800000"/>
              <a:headEnd/>
              <a:tailEnd/>
            </a:ln>
          </p:spPr>
          <p:txBody>
            <a:bodyPr wrap="none" lIns="92075" tIns="46038" rIns="92075" bIns="46038">
              <a:spAutoFit/>
            </a:bodyPr>
            <a:lstStyle/>
            <a:p>
              <a:r>
                <a:rPr lang="en-US" altLang="zh-CN" sz="2800" i="1">
                  <a:solidFill>
                    <a:srgbClr val="9900CC"/>
                  </a:solidFill>
                </a:rPr>
                <a:t>x</a:t>
              </a:r>
              <a:endParaRPr lang="en-US" altLang="zh-CN">
                <a:solidFill>
                  <a:srgbClr val="9900CC"/>
                </a:solidFill>
              </a:endParaRPr>
            </a:p>
          </p:txBody>
        </p:sp>
        <p:grpSp>
          <p:nvGrpSpPr>
            <p:cNvPr id="12312" name="Group 43"/>
            <p:cNvGrpSpPr>
              <a:grpSpLocks/>
            </p:cNvGrpSpPr>
            <p:nvPr/>
          </p:nvGrpSpPr>
          <p:grpSpPr bwMode="auto">
            <a:xfrm>
              <a:off x="1111" y="1706"/>
              <a:ext cx="2404" cy="1134"/>
              <a:chOff x="3990" y="1599"/>
              <a:chExt cx="1770" cy="456"/>
            </a:xfrm>
          </p:grpSpPr>
          <p:sp>
            <p:nvSpPr>
              <p:cNvPr id="12313" name="Freeform 44"/>
              <p:cNvSpPr>
                <a:spLocks/>
              </p:cNvSpPr>
              <p:nvPr/>
            </p:nvSpPr>
            <p:spPr bwMode="auto">
              <a:xfrm>
                <a:off x="3990" y="1599"/>
                <a:ext cx="863" cy="23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2 w 20000"/>
                  <a:gd name="T87" fmla="*/ 0 h 20000"/>
                  <a:gd name="T88" fmla="*/ 2 w 20000"/>
                  <a:gd name="T89" fmla="*/ 0 h 20000"/>
                  <a:gd name="T90" fmla="*/ 2 w 20000"/>
                  <a:gd name="T91" fmla="*/ 0 h 20000"/>
                  <a:gd name="T92" fmla="*/ 2 w 20000"/>
                  <a:gd name="T93" fmla="*/ 0 h 20000"/>
                  <a:gd name="T94" fmla="*/ 2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86"/>
                    </a:moveTo>
                    <a:lnTo>
                      <a:pt x="225" y="18477"/>
                    </a:lnTo>
                    <a:lnTo>
                      <a:pt x="437" y="17868"/>
                    </a:lnTo>
                    <a:lnTo>
                      <a:pt x="662" y="17259"/>
                    </a:lnTo>
                    <a:lnTo>
                      <a:pt x="887" y="16684"/>
                    </a:lnTo>
                    <a:lnTo>
                      <a:pt x="1099" y="16074"/>
                    </a:lnTo>
                    <a:lnTo>
                      <a:pt x="1325" y="15465"/>
                    </a:lnTo>
                    <a:lnTo>
                      <a:pt x="1550" y="14890"/>
                    </a:lnTo>
                    <a:lnTo>
                      <a:pt x="1762" y="14281"/>
                    </a:lnTo>
                    <a:lnTo>
                      <a:pt x="1987" y="13706"/>
                    </a:lnTo>
                    <a:lnTo>
                      <a:pt x="2225" y="13164"/>
                    </a:lnTo>
                    <a:lnTo>
                      <a:pt x="2450" y="12589"/>
                    </a:lnTo>
                    <a:lnTo>
                      <a:pt x="2675" y="12014"/>
                    </a:lnTo>
                    <a:lnTo>
                      <a:pt x="2887" y="11472"/>
                    </a:lnTo>
                    <a:lnTo>
                      <a:pt x="3113" y="10863"/>
                    </a:lnTo>
                    <a:lnTo>
                      <a:pt x="3338" y="10355"/>
                    </a:lnTo>
                    <a:lnTo>
                      <a:pt x="3550" y="9780"/>
                    </a:lnTo>
                    <a:lnTo>
                      <a:pt x="3775" y="9272"/>
                    </a:lnTo>
                    <a:lnTo>
                      <a:pt x="4000" y="8731"/>
                    </a:lnTo>
                    <a:lnTo>
                      <a:pt x="4225" y="8223"/>
                    </a:lnTo>
                    <a:lnTo>
                      <a:pt x="4437" y="7716"/>
                    </a:lnTo>
                    <a:lnTo>
                      <a:pt x="4662" y="7242"/>
                    </a:lnTo>
                    <a:lnTo>
                      <a:pt x="4887" y="6802"/>
                    </a:lnTo>
                    <a:lnTo>
                      <a:pt x="5113" y="6328"/>
                    </a:lnTo>
                    <a:lnTo>
                      <a:pt x="5338" y="5888"/>
                    </a:lnTo>
                    <a:lnTo>
                      <a:pt x="5550" y="5415"/>
                    </a:lnTo>
                    <a:lnTo>
                      <a:pt x="5762" y="4975"/>
                    </a:lnTo>
                    <a:lnTo>
                      <a:pt x="5974" y="4569"/>
                    </a:lnTo>
                    <a:lnTo>
                      <a:pt x="6199" y="4162"/>
                    </a:lnTo>
                    <a:lnTo>
                      <a:pt x="6424" y="3756"/>
                    </a:lnTo>
                    <a:lnTo>
                      <a:pt x="6636" y="3418"/>
                    </a:lnTo>
                    <a:lnTo>
                      <a:pt x="6861" y="3046"/>
                    </a:lnTo>
                    <a:lnTo>
                      <a:pt x="7086" y="2707"/>
                    </a:lnTo>
                    <a:lnTo>
                      <a:pt x="7285" y="2437"/>
                    </a:lnTo>
                    <a:lnTo>
                      <a:pt x="7510" y="2098"/>
                    </a:lnTo>
                    <a:lnTo>
                      <a:pt x="7735" y="1794"/>
                    </a:lnTo>
                    <a:lnTo>
                      <a:pt x="7960" y="1591"/>
                    </a:lnTo>
                    <a:lnTo>
                      <a:pt x="8159" y="1320"/>
                    </a:lnTo>
                    <a:lnTo>
                      <a:pt x="8371" y="1083"/>
                    </a:lnTo>
                    <a:lnTo>
                      <a:pt x="8583" y="846"/>
                    </a:lnTo>
                    <a:lnTo>
                      <a:pt x="8808" y="677"/>
                    </a:lnTo>
                    <a:lnTo>
                      <a:pt x="9020" y="508"/>
                    </a:lnTo>
                    <a:lnTo>
                      <a:pt x="9232" y="372"/>
                    </a:lnTo>
                    <a:lnTo>
                      <a:pt x="9444" y="271"/>
                    </a:lnTo>
                    <a:lnTo>
                      <a:pt x="9642" y="135"/>
                    </a:lnTo>
                    <a:lnTo>
                      <a:pt x="9854" y="102"/>
                    </a:lnTo>
                    <a:lnTo>
                      <a:pt x="10079" y="34"/>
                    </a:lnTo>
                    <a:lnTo>
                      <a:pt x="10291" y="0"/>
                    </a:lnTo>
                    <a:lnTo>
                      <a:pt x="10503" y="34"/>
                    </a:lnTo>
                    <a:lnTo>
                      <a:pt x="10702" y="34"/>
                    </a:lnTo>
                    <a:lnTo>
                      <a:pt x="10914" y="102"/>
                    </a:lnTo>
                    <a:lnTo>
                      <a:pt x="11126" y="203"/>
                    </a:lnTo>
                    <a:lnTo>
                      <a:pt x="11338" y="305"/>
                    </a:lnTo>
                    <a:lnTo>
                      <a:pt x="11563" y="541"/>
                    </a:lnTo>
                    <a:lnTo>
                      <a:pt x="11788" y="745"/>
                    </a:lnTo>
                    <a:lnTo>
                      <a:pt x="12000" y="981"/>
                    </a:lnTo>
                    <a:lnTo>
                      <a:pt x="12225" y="1252"/>
                    </a:lnTo>
                    <a:lnTo>
                      <a:pt x="12450" y="1591"/>
                    </a:lnTo>
                    <a:lnTo>
                      <a:pt x="12689" y="1895"/>
                    </a:lnTo>
                    <a:lnTo>
                      <a:pt x="12914" y="2267"/>
                    </a:lnTo>
                    <a:lnTo>
                      <a:pt x="13152" y="2707"/>
                    </a:lnTo>
                    <a:lnTo>
                      <a:pt x="13377" y="3080"/>
                    </a:lnTo>
                    <a:lnTo>
                      <a:pt x="13616" y="3519"/>
                    </a:lnTo>
                    <a:lnTo>
                      <a:pt x="13841" y="3959"/>
                    </a:lnTo>
                    <a:lnTo>
                      <a:pt x="14066" y="4433"/>
                    </a:lnTo>
                    <a:lnTo>
                      <a:pt x="14291" y="4941"/>
                    </a:lnTo>
                    <a:lnTo>
                      <a:pt x="14530" y="5448"/>
                    </a:lnTo>
                    <a:lnTo>
                      <a:pt x="14755" y="5990"/>
                    </a:lnTo>
                    <a:lnTo>
                      <a:pt x="14993" y="6497"/>
                    </a:lnTo>
                    <a:lnTo>
                      <a:pt x="15219" y="7039"/>
                    </a:lnTo>
                    <a:lnTo>
                      <a:pt x="15444" y="7614"/>
                    </a:lnTo>
                    <a:lnTo>
                      <a:pt x="15682" y="8190"/>
                    </a:lnTo>
                    <a:lnTo>
                      <a:pt x="15894" y="8765"/>
                    </a:lnTo>
                    <a:lnTo>
                      <a:pt x="16106" y="9340"/>
                    </a:lnTo>
                    <a:lnTo>
                      <a:pt x="16318" y="9915"/>
                    </a:lnTo>
                    <a:lnTo>
                      <a:pt x="16530" y="10457"/>
                    </a:lnTo>
                    <a:lnTo>
                      <a:pt x="16742" y="11032"/>
                    </a:lnTo>
                    <a:lnTo>
                      <a:pt x="16954" y="11641"/>
                    </a:lnTo>
                    <a:lnTo>
                      <a:pt x="17152" y="12183"/>
                    </a:lnTo>
                    <a:lnTo>
                      <a:pt x="17351" y="12724"/>
                    </a:lnTo>
                    <a:lnTo>
                      <a:pt x="17550" y="13299"/>
                    </a:lnTo>
                    <a:lnTo>
                      <a:pt x="17735" y="13841"/>
                    </a:lnTo>
                    <a:lnTo>
                      <a:pt x="17934" y="14382"/>
                    </a:lnTo>
                    <a:lnTo>
                      <a:pt x="18119" y="14924"/>
                    </a:lnTo>
                    <a:lnTo>
                      <a:pt x="18291" y="15431"/>
                    </a:lnTo>
                    <a:lnTo>
                      <a:pt x="18464" y="15905"/>
                    </a:lnTo>
                    <a:lnTo>
                      <a:pt x="18636" y="16413"/>
                    </a:lnTo>
                    <a:lnTo>
                      <a:pt x="18795" y="16853"/>
                    </a:lnTo>
                    <a:lnTo>
                      <a:pt x="18954" y="17327"/>
                    </a:lnTo>
                    <a:lnTo>
                      <a:pt x="19099" y="17733"/>
                    </a:lnTo>
                    <a:lnTo>
                      <a:pt x="19258" y="18139"/>
                    </a:lnTo>
                    <a:lnTo>
                      <a:pt x="19391" y="18511"/>
                    </a:lnTo>
                    <a:lnTo>
                      <a:pt x="19523" y="18883"/>
                    </a:lnTo>
                    <a:lnTo>
                      <a:pt x="19642" y="19188"/>
                    </a:lnTo>
                    <a:lnTo>
                      <a:pt x="19775" y="19459"/>
                    </a:lnTo>
                    <a:lnTo>
                      <a:pt x="19881" y="19763"/>
                    </a:lnTo>
                    <a:lnTo>
                      <a:pt x="19987" y="19966"/>
                    </a:lnTo>
                  </a:path>
                </a:pathLst>
              </a:custGeom>
              <a:noFill/>
              <a:ln w="38100">
                <a:solidFill>
                  <a:srgbClr val="9900CC"/>
                </a:solidFill>
                <a:round/>
                <a:headEnd/>
                <a:tailEnd/>
              </a:ln>
            </p:spPr>
            <p:txBody>
              <a:bodyPr/>
              <a:lstStyle/>
              <a:p>
                <a:endParaRPr lang="zh-CN" altLang="en-US"/>
              </a:p>
            </p:txBody>
          </p:sp>
          <p:sp>
            <p:nvSpPr>
              <p:cNvPr id="12314" name="Freeform 45"/>
              <p:cNvSpPr>
                <a:spLocks/>
              </p:cNvSpPr>
              <p:nvPr/>
            </p:nvSpPr>
            <p:spPr bwMode="auto">
              <a:xfrm>
                <a:off x="4843" y="1827"/>
                <a:ext cx="917"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1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2 w 20000"/>
                  <a:gd name="T73" fmla="*/ 0 h 20000"/>
                  <a:gd name="T74" fmla="*/ 2 w 20000"/>
                  <a:gd name="T75" fmla="*/ 0 h 20000"/>
                  <a:gd name="T76" fmla="*/ 2 w 20000"/>
                  <a:gd name="T77" fmla="*/ 0 h 20000"/>
                  <a:gd name="T78" fmla="*/ 2 w 20000"/>
                  <a:gd name="T79" fmla="*/ 0 h 20000"/>
                  <a:gd name="T80" fmla="*/ 2 w 20000"/>
                  <a:gd name="T81" fmla="*/ 0 h 20000"/>
                  <a:gd name="T82" fmla="*/ 2 w 20000"/>
                  <a:gd name="T83" fmla="*/ 0 h 20000"/>
                  <a:gd name="T84" fmla="*/ 2 w 20000"/>
                  <a:gd name="T85" fmla="*/ 0 h 20000"/>
                  <a:gd name="T86" fmla="*/ 2 w 20000"/>
                  <a:gd name="T87" fmla="*/ 0 h 20000"/>
                  <a:gd name="T88" fmla="*/ 2 w 20000"/>
                  <a:gd name="T89" fmla="*/ 0 h 20000"/>
                  <a:gd name="T90" fmla="*/ 2 w 20000"/>
                  <a:gd name="T91" fmla="*/ 0 h 20000"/>
                  <a:gd name="T92" fmla="*/ 2 w 20000"/>
                  <a:gd name="T93" fmla="*/ 0 h 20000"/>
                  <a:gd name="T94" fmla="*/ 2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99" y="630"/>
                    </a:lnTo>
                    <a:lnTo>
                      <a:pt x="399" y="1261"/>
                    </a:lnTo>
                    <a:lnTo>
                      <a:pt x="598" y="1856"/>
                    </a:lnTo>
                    <a:lnTo>
                      <a:pt x="798" y="2487"/>
                    </a:lnTo>
                    <a:lnTo>
                      <a:pt x="984" y="3152"/>
                    </a:lnTo>
                    <a:lnTo>
                      <a:pt x="1184" y="3748"/>
                    </a:lnTo>
                    <a:lnTo>
                      <a:pt x="1383" y="4343"/>
                    </a:lnTo>
                    <a:lnTo>
                      <a:pt x="1583" y="4939"/>
                    </a:lnTo>
                    <a:lnTo>
                      <a:pt x="1782" y="5569"/>
                    </a:lnTo>
                    <a:lnTo>
                      <a:pt x="1981" y="6165"/>
                    </a:lnTo>
                    <a:lnTo>
                      <a:pt x="2181" y="6725"/>
                    </a:lnTo>
                    <a:lnTo>
                      <a:pt x="2380" y="7285"/>
                    </a:lnTo>
                    <a:lnTo>
                      <a:pt x="2567" y="7881"/>
                    </a:lnTo>
                    <a:lnTo>
                      <a:pt x="2766" y="8476"/>
                    </a:lnTo>
                    <a:lnTo>
                      <a:pt x="2966" y="9037"/>
                    </a:lnTo>
                    <a:lnTo>
                      <a:pt x="3165" y="9597"/>
                    </a:lnTo>
                    <a:lnTo>
                      <a:pt x="3364" y="10123"/>
                    </a:lnTo>
                    <a:lnTo>
                      <a:pt x="3564" y="10648"/>
                    </a:lnTo>
                    <a:lnTo>
                      <a:pt x="3763" y="11208"/>
                    </a:lnTo>
                    <a:lnTo>
                      <a:pt x="3963" y="11734"/>
                    </a:lnTo>
                    <a:lnTo>
                      <a:pt x="4162" y="12224"/>
                    </a:lnTo>
                    <a:lnTo>
                      <a:pt x="4361" y="12715"/>
                    </a:lnTo>
                    <a:lnTo>
                      <a:pt x="4573" y="13170"/>
                    </a:lnTo>
                    <a:lnTo>
                      <a:pt x="4785" y="13660"/>
                    </a:lnTo>
                    <a:lnTo>
                      <a:pt x="4972" y="14116"/>
                    </a:lnTo>
                    <a:lnTo>
                      <a:pt x="5171" y="14571"/>
                    </a:lnTo>
                    <a:lnTo>
                      <a:pt x="5371" y="15026"/>
                    </a:lnTo>
                    <a:lnTo>
                      <a:pt x="5570" y="15412"/>
                    </a:lnTo>
                    <a:lnTo>
                      <a:pt x="5782" y="15832"/>
                    </a:lnTo>
                    <a:lnTo>
                      <a:pt x="5981" y="16182"/>
                    </a:lnTo>
                    <a:lnTo>
                      <a:pt x="6181" y="16602"/>
                    </a:lnTo>
                    <a:lnTo>
                      <a:pt x="6380" y="16953"/>
                    </a:lnTo>
                    <a:lnTo>
                      <a:pt x="6579" y="17268"/>
                    </a:lnTo>
                    <a:lnTo>
                      <a:pt x="6791" y="17618"/>
                    </a:lnTo>
                    <a:lnTo>
                      <a:pt x="6991" y="17933"/>
                    </a:lnTo>
                    <a:lnTo>
                      <a:pt x="7202" y="18179"/>
                    </a:lnTo>
                    <a:lnTo>
                      <a:pt x="7402" y="18459"/>
                    </a:lnTo>
                    <a:lnTo>
                      <a:pt x="7614" y="18739"/>
                    </a:lnTo>
                    <a:lnTo>
                      <a:pt x="7813" y="18949"/>
                    </a:lnTo>
                    <a:lnTo>
                      <a:pt x="8025" y="19159"/>
                    </a:lnTo>
                    <a:lnTo>
                      <a:pt x="8237" y="19335"/>
                    </a:lnTo>
                    <a:lnTo>
                      <a:pt x="8436" y="19475"/>
                    </a:lnTo>
                    <a:lnTo>
                      <a:pt x="8648" y="19650"/>
                    </a:lnTo>
                    <a:lnTo>
                      <a:pt x="8860" y="19755"/>
                    </a:lnTo>
                    <a:lnTo>
                      <a:pt x="9059" y="19860"/>
                    </a:lnTo>
                    <a:lnTo>
                      <a:pt x="9271" y="19895"/>
                    </a:lnTo>
                    <a:lnTo>
                      <a:pt x="9483" y="19965"/>
                    </a:lnTo>
                    <a:lnTo>
                      <a:pt x="9695" y="19965"/>
                    </a:lnTo>
                    <a:lnTo>
                      <a:pt x="9907" y="19965"/>
                    </a:lnTo>
                    <a:lnTo>
                      <a:pt x="10118" y="19930"/>
                    </a:lnTo>
                    <a:lnTo>
                      <a:pt x="10330" y="19825"/>
                    </a:lnTo>
                    <a:lnTo>
                      <a:pt x="10555" y="19720"/>
                    </a:lnTo>
                    <a:lnTo>
                      <a:pt x="10791" y="19545"/>
                    </a:lnTo>
                    <a:lnTo>
                      <a:pt x="11016" y="19335"/>
                    </a:lnTo>
                    <a:lnTo>
                      <a:pt x="11240" y="19124"/>
                    </a:lnTo>
                    <a:lnTo>
                      <a:pt x="11477" y="18844"/>
                    </a:lnTo>
                    <a:lnTo>
                      <a:pt x="11713" y="18564"/>
                    </a:lnTo>
                    <a:lnTo>
                      <a:pt x="11963" y="18249"/>
                    </a:lnTo>
                    <a:lnTo>
                      <a:pt x="12212" y="17898"/>
                    </a:lnTo>
                    <a:lnTo>
                      <a:pt x="12461" y="17513"/>
                    </a:lnTo>
                    <a:lnTo>
                      <a:pt x="12710" y="17128"/>
                    </a:lnTo>
                    <a:lnTo>
                      <a:pt x="12960" y="16743"/>
                    </a:lnTo>
                    <a:lnTo>
                      <a:pt x="13196" y="16252"/>
                    </a:lnTo>
                    <a:lnTo>
                      <a:pt x="13445" y="15797"/>
                    </a:lnTo>
                    <a:lnTo>
                      <a:pt x="13707" y="15342"/>
                    </a:lnTo>
                    <a:lnTo>
                      <a:pt x="13956" y="14851"/>
                    </a:lnTo>
                    <a:lnTo>
                      <a:pt x="14206" y="14361"/>
                    </a:lnTo>
                    <a:lnTo>
                      <a:pt x="14442" y="13800"/>
                    </a:lnTo>
                    <a:lnTo>
                      <a:pt x="14692" y="13310"/>
                    </a:lnTo>
                    <a:lnTo>
                      <a:pt x="14953" y="12750"/>
                    </a:lnTo>
                    <a:lnTo>
                      <a:pt x="15202" y="12224"/>
                    </a:lnTo>
                    <a:lnTo>
                      <a:pt x="15452" y="11629"/>
                    </a:lnTo>
                    <a:lnTo>
                      <a:pt x="15688" y="11103"/>
                    </a:lnTo>
                    <a:lnTo>
                      <a:pt x="15925" y="10578"/>
                    </a:lnTo>
                    <a:lnTo>
                      <a:pt x="16150" y="10053"/>
                    </a:lnTo>
                    <a:lnTo>
                      <a:pt x="16386" y="9457"/>
                    </a:lnTo>
                    <a:lnTo>
                      <a:pt x="16611" y="8897"/>
                    </a:lnTo>
                    <a:lnTo>
                      <a:pt x="16847" y="8371"/>
                    </a:lnTo>
                    <a:lnTo>
                      <a:pt x="17072" y="7811"/>
                    </a:lnTo>
                    <a:lnTo>
                      <a:pt x="17283" y="7285"/>
                    </a:lnTo>
                    <a:lnTo>
                      <a:pt x="17495" y="6760"/>
                    </a:lnTo>
                    <a:lnTo>
                      <a:pt x="17720" y="6235"/>
                    </a:lnTo>
                    <a:lnTo>
                      <a:pt x="17919" y="5744"/>
                    </a:lnTo>
                    <a:lnTo>
                      <a:pt x="18118" y="5219"/>
                    </a:lnTo>
                    <a:lnTo>
                      <a:pt x="18305" y="4729"/>
                    </a:lnTo>
                    <a:lnTo>
                      <a:pt x="18492" y="4273"/>
                    </a:lnTo>
                    <a:lnTo>
                      <a:pt x="18679" y="3853"/>
                    </a:lnTo>
                    <a:lnTo>
                      <a:pt x="18854" y="3398"/>
                    </a:lnTo>
                    <a:lnTo>
                      <a:pt x="19016" y="2977"/>
                    </a:lnTo>
                    <a:lnTo>
                      <a:pt x="19178" y="2627"/>
                    </a:lnTo>
                    <a:lnTo>
                      <a:pt x="19340" y="2277"/>
                    </a:lnTo>
                    <a:lnTo>
                      <a:pt x="19489" y="1891"/>
                    </a:lnTo>
                    <a:lnTo>
                      <a:pt x="19614" y="1646"/>
                    </a:lnTo>
                    <a:lnTo>
                      <a:pt x="19751" y="1331"/>
                    </a:lnTo>
                    <a:lnTo>
                      <a:pt x="19875" y="1051"/>
                    </a:lnTo>
                    <a:lnTo>
                      <a:pt x="19988" y="841"/>
                    </a:lnTo>
                  </a:path>
                </a:pathLst>
              </a:custGeom>
              <a:noFill/>
              <a:ln w="38100">
                <a:solidFill>
                  <a:srgbClr val="9900CC"/>
                </a:solidFill>
                <a:round/>
                <a:headEnd/>
                <a:tailEnd/>
              </a:ln>
            </p:spPr>
            <p:txBody>
              <a:bodyPr/>
              <a:lstStyle/>
              <a:p>
                <a:endParaRPr lang="zh-CN" altLang="en-US"/>
              </a:p>
            </p:txBody>
          </p:sp>
        </p:grpSp>
      </p:grpSp>
      <p:grpSp>
        <p:nvGrpSpPr>
          <p:cNvPr id="8" name="Group 46"/>
          <p:cNvGrpSpPr>
            <a:grpSpLocks/>
          </p:cNvGrpSpPr>
          <p:nvPr/>
        </p:nvGrpSpPr>
        <p:grpSpPr bwMode="auto">
          <a:xfrm>
            <a:off x="2771775" y="3500438"/>
            <a:ext cx="4048125" cy="1800225"/>
            <a:chOff x="1746" y="1706"/>
            <a:chExt cx="2550" cy="1134"/>
          </a:xfrm>
        </p:grpSpPr>
        <p:graphicFrame>
          <p:nvGraphicFramePr>
            <p:cNvPr id="12292" name="Object 47"/>
            <p:cNvGraphicFramePr>
              <a:graphicFrameLocks noChangeAspect="1"/>
            </p:cNvGraphicFramePr>
            <p:nvPr/>
          </p:nvGraphicFramePr>
          <p:xfrm>
            <a:off x="4072" y="2368"/>
            <a:ext cx="224" cy="224"/>
          </p:xfrm>
          <a:graphic>
            <a:graphicData uri="http://schemas.openxmlformats.org/presentationml/2006/ole">
              <p:oleObj spid="_x0000_s12292" name="公式" r:id="rId8" imgW="177480" imgH="177480" progId="Equation.3">
                <p:embed/>
              </p:oleObj>
            </a:graphicData>
          </a:graphic>
        </p:graphicFrame>
        <p:grpSp>
          <p:nvGrpSpPr>
            <p:cNvPr id="12308" name="Group 48"/>
            <p:cNvGrpSpPr>
              <a:grpSpLocks/>
            </p:cNvGrpSpPr>
            <p:nvPr/>
          </p:nvGrpSpPr>
          <p:grpSpPr bwMode="auto">
            <a:xfrm>
              <a:off x="1746" y="1706"/>
              <a:ext cx="2404" cy="1134"/>
              <a:chOff x="3990" y="1599"/>
              <a:chExt cx="1770" cy="456"/>
            </a:xfrm>
          </p:grpSpPr>
          <p:sp>
            <p:nvSpPr>
              <p:cNvPr id="12309" name="Freeform 49"/>
              <p:cNvSpPr>
                <a:spLocks/>
              </p:cNvSpPr>
              <p:nvPr/>
            </p:nvSpPr>
            <p:spPr bwMode="auto">
              <a:xfrm>
                <a:off x="3990" y="1599"/>
                <a:ext cx="863" cy="23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2 w 20000"/>
                  <a:gd name="T87" fmla="*/ 0 h 20000"/>
                  <a:gd name="T88" fmla="*/ 2 w 20000"/>
                  <a:gd name="T89" fmla="*/ 0 h 20000"/>
                  <a:gd name="T90" fmla="*/ 2 w 20000"/>
                  <a:gd name="T91" fmla="*/ 0 h 20000"/>
                  <a:gd name="T92" fmla="*/ 2 w 20000"/>
                  <a:gd name="T93" fmla="*/ 0 h 20000"/>
                  <a:gd name="T94" fmla="*/ 2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86"/>
                    </a:moveTo>
                    <a:lnTo>
                      <a:pt x="225" y="18477"/>
                    </a:lnTo>
                    <a:lnTo>
                      <a:pt x="437" y="17868"/>
                    </a:lnTo>
                    <a:lnTo>
                      <a:pt x="662" y="17259"/>
                    </a:lnTo>
                    <a:lnTo>
                      <a:pt x="887" y="16684"/>
                    </a:lnTo>
                    <a:lnTo>
                      <a:pt x="1099" y="16074"/>
                    </a:lnTo>
                    <a:lnTo>
                      <a:pt x="1325" y="15465"/>
                    </a:lnTo>
                    <a:lnTo>
                      <a:pt x="1550" y="14890"/>
                    </a:lnTo>
                    <a:lnTo>
                      <a:pt x="1762" y="14281"/>
                    </a:lnTo>
                    <a:lnTo>
                      <a:pt x="1987" y="13706"/>
                    </a:lnTo>
                    <a:lnTo>
                      <a:pt x="2225" y="13164"/>
                    </a:lnTo>
                    <a:lnTo>
                      <a:pt x="2450" y="12589"/>
                    </a:lnTo>
                    <a:lnTo>
                      <a:pt x="2675" y="12014"/>
                    </a:lnTo>
                    <a:lnTo>
                      <a:pt x="2887" y="11472"/>
                    </a:lnTo>
                    <a:lnTo>
                      <a:pt x="3113" y="10863"/>
                    </a:lnTo>
                    <a:lnTo>
                      <a:pt x="3338" y="10355"/>
                    </a:lnTo>
                    <a:lnTo>
                      <a:pt x="3550" y="9780"/>
                    </a:lnTo>
                    <a:lnTo>
                      <a:pt x="3775" y="9272"/>
                    </a:lnTo>
                    <a:lnTo>
                      <a:pt x="4000" y="8731"/>
                    </a:lnTo>
                    <a:lnTo>
                      <a:pt x="4225" y="8223"/>
                    </a:lnTo>
                    <a:lnTo>
                      <a:pt x="4437" y="7716"/>
                    </a:lnTo>
                    <a:lnTo>
                      <a:pt x="4662" y="7242"/>
                    </a:lnTo>
                    <a:lnTo>
                      <a:pt x="4887" y="6802"/>
                    </a:lnTo>
                    <a:lnTo>
                      <a:pt x="5113" y="6328"/>
                    </a:lnTo>
                    <a:lnTo>
                      <a:pt x="5338" y="5888"/>
                    </a:lnTo>
                    <a:lnTo>
                      <a:pt x="5550" y="5415"/>
                    </a:lnTo>
                    <a:lnTo>
                      <a:pt x="5762" y="4975"/>
                    </a:lnTo>
                    <a:lnTo>
                      <a:pt x="5974" y="4569"/>
                    </a:lnTo>
                    <a:lnTo>
                      <a:pt x="6199" y="4162"/>
                    </a:lnTo>
                    <a:lnTo>
                      <a:pt x="6424" y="3756"/>
                    </a:lnTo>
                    <a:lnTo>
                      <a:pt x="6636" y="3418"/>
                    </a:lnTo>
                    <a:lnTo>
                      <a:pt x="6861" y="3046"/>
                    </a:lnTo>
                    <a:lnTo>
                      <a:pt x="7086" y="2707"/>
                    </a:lnTo>
                    <a:lnTo>
                      <a:pt x="7285" y="2437"/>
                    </a:lnTo>
                    <a:lnTo>
                      <a:pt x="7510" y="2098"/>
                    </a:lnTo>
                    <a:lnTo>
                      <a:pt x="7735" y="1794"/>
                    </a:lnTo>
                    <a:lnTo>
                      <a:pt x="7960" y="1591"/>
                    </a:lnTo>
                    <a:lnTo>
                      <a:pt x="8159" y="1320"/>
                    </a:lnTo>
                    <a:lnTo>
                      <a:pt x="8371" y="1083"/>
                    </a:lnTo>
                    <a:lnTo>
                      <a:pt x="8583" y="846"/>
                    </a:lnTo>
                    <a:lnTo>
                      <a:pt x="8808" y="677"/>
                    </a:lnTo>
                    <a:lnTo>
                      <a:pt x="9020" y="508"/>
                    </a:lnTo>
                    <a:lnTo>
                      <a:pt x="9232" y="372"/>
                    </a:lnTo>
                    <a:lnTo>
                      <a:pt x="9444" y="271"/>
                    </a:lnTo>
                    <a:lnTo>
                      <a:pt x="9642" y="135"/>
                    </a:lnTo>
                    <a:lnTo>
                      <a:pt x="9854" y="102"/>
                    </a:lnTo>
                    <a:lnTo>
                      <a:pt x="10079" y="34"/>
                    </a:lnTo>
                    <a:lnTo>
                      <a:pt x="10291" y="0"/>
                    </a:lnTo>
                    <a:lnTo>
                      <a:pt x="10503" y="34"/>
                    </a:lnTo>
                    <a:lnTo>
                      <a:pt x="10702" y="34"/>
                    </a:lnTo>
                    <a:lnTo>
                      <a:pt x="10914" y="102"/>
                    </a:lnTo>
                    <a:lnTo>
                      <a:pt x="11126" y="203"/>
                    </a:lnTo>
                    <a:lnTo>
                      <a:pt x="11338" y="305"/>
                    </a:lnTo>
                    <a:lnTo>
                      <a:pt x="11563" y="541"/>
                    </a:lnTo>
                    <a:lnTo>
                      <a:pt x="11788" y="745"/>
                    </a:lnTo>
                    <a:lnTo>
                      <a:pt x="12000" y="981"/>
                    </a:lnTo>
                    <a:lnTo>
                      <a:pt x="12225" y="1252"/>
                    </a:lnTo>
                    <a:lnTo>
                      <a:pt x="12450" y="1591"/>
                    </a:lnTo>
                    <a:lnTo>
                      <a:pt x="12689" y="1895"/>
                    </a:lnTo>
                    <a:lnTo>
                      <a:pt x="12914" y="2267"/>
                    </a:lnTo>
                    <a:lnTo>
                      <a:pt x="13152" y="2707"/>
                    </a:lnTo>
                    <a:lnTo>
                      <a:pt x="13377" y="3080"/>
                    </a:lnTo>
                    <a:lnTo>
                      <a:pt x="13616" y="3519"/>
                    </a:lnTo>
                    <a:lnTo>
                      <a:pt x="13841" y="3959"/>
                    </a:lnTo>
                    <a:lnTo>
                      <a:pt x="14066" y="4433"/>
                    </a:lnTo>
                    <a:lnTo>
                      <a:pt x="14291" y="4941"/>
                    </a:lnTo>
                    <a:lnTo>
                      <a:pt x="14530" y="5448"/>
                    </a:lnTo>
                    <a:lnTo>
                      <a:pt x="14755" y="5990"/>
                    </a:lnTo>
                    <a:lnTo>
                      <a:pt x="14993" y="6497"/>
                    </a:lnTo>
                    <a:lnTo>
                      <a:pt x="15219" y="7039"/>
                    </a:lnTo>
                    <a:lnTo>
                      <a:pt x="15444" y="7614"/>
                    </a:lnTo>
                    <a:lnTo>
                      <a:pt x="15682" y="8190"/>
                    </a:lnTo>
                    <a:lnTo>
                      <a:pt x="15894" y="8765"/>
                    </a:lnTo>
                    <a:lnTo>
                      <a:pt x="16106" y="9340"/>
                    </a:lnTo>
                    <a:lnTo>
                      <a:pt x="16318" y="9915"/>
                    </a:lnTo>
                    <a:lnTo>
                      <a:pt x="16530" y="10457"/>
                    </a:lnTo>
                    <a:lnTo>
                      <a:pt x="16742" y="11032"/>
                    </a:lnTo>
                    <a:lnTo>
                      <a:pt x="16954" y="11641"/>
                    </a:lnTo>
                    <a:lnTo>
                      <a:pt x="17152" y="12183"/>
                    </a:lnTo>
                    <a:lnTo>
                      <a:pt x="17351" y="12724"/>
                    </a:lnTo>
                    <a:lnTo>
                      <a:pt x="17550" y="13299"/>
                    </a:lnTo>
                    <a:lnTo>
                      <a:pt x="17735" y="13841"/>
                    </a:lnTo>
                    <a:lnTo>
                      <a:pt x="17934" y="14382"/>
                    </a:lnTo>
                    <a:lnTo>
                      <a:pt x="18119" y="14924"/>
                    </a:lnTo>
                    <a:lnTo>
                      <a:pt x="18291" y="15431"/>
                    </a:lnTo>
                    <a:lnTo>
                      <a:pt x="18464" y="15905"/>
                    </a:lnTo>
                    <a:lnTo>
                      <a:pt x="18636" y="16413"/>
                    </a:lnTo>
                    <a:lnTo>
                      <a:pt x="18795" y="16853"/>
                    </a:lnTo>
                    <a:lnTo>
                      <a:pt x="18954" y="17327"/>
                    </a:lnTo>
                    <a:lnTo>
                      <a:pt x="19099" y="17733"/>
                    </a:lnTo>
                    <a:lnTo>
                      <a:pt x="19258" y="18139"/>
                    </a:lnTo>
                    <a:lnTo>
                      <a:pt x="19391" y="18511"/>
                    </a:lnTo>
                    <a:lnTo>
                      <a:pt x="19523" y="18883"/>
                    </a:lnTo>
                    <a:lnTo>
                      <a:pt x="19642" y="19188"/>
                    </a:lnTo>
                    <a:lnTo>
                      <a:pt x="19775" y="19459"/>
                    </a:lnTo>
                    <a:lnTo>
                      <a:pt x="19881" y="19763"/>
                    </a:lnTo>
                    <a:lnTo>
                      <a:pt x="19987" y="19966"/>
                    </a:lnTo>
                  </a:path>
                </a:pathLst>
              </a:custGeom>
              <a:noFill/>
              <a:ln w="38100">
                <a:solidFill>
                  <a:srgbClr val="FF3300"/>
                </a:solidFill>
                <a:round/>
                <a:headEnd/>
                <a:tailEnd/>
              </a:ln>
            </p:spPr>
            <p:txBody>
              <a:bodyPr/>
              <a:lstStyle/>
              <a:p>
                <a:endParaRPr lang="zh-CN" altLang="en-US"/>
              </a:p>
            </p:txBody>
          </p:sp>
          <p:sp>
            <p:nvSpPr>
              <p:cNvPr id="12310" name="Freeform 50"/>
              <p:cNvSpPr>
                <a:spLocks/>
              </p:cNvSpPr>
              <p:nvPr/>
            </p:nvSpPr>
            <p:spPr bwMode="auto">
              <a:xfrm>
                <a:off x="4843" y="1827"/>
                <a:ext cx="917" cy="22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1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2 w 20000"/>
                  <a:gd name="T73" fmla="*/ 0 h 20000"/>
                  <a:gd name="T74" fmla="*/ 2 w 20000"/>
                  <a:gd name="T75" fmla="*/ 0 h 20000"/>
                  <a:gd name="T76" fmla="*/ 2 w 20000"/>
                  <a:gd name="T77" fmla="*/ 0 h 20000"/>
                  <a:gd name="T78" fmla="*/ 2 w 20000"/>
                  <a:gd name="T79" fmla="*/ 0 h 20000"/>
                  <a:gd name="T80" fmla="*/ 2 w 20000"/>
                  <a:gd name="T81" fmla="*/ 0 h 20000"/>
                  <a:gd name="T82" fmla="*/ 2 w 20000"/>
                  <a:gd name="T83" fmla="*/ 0 h 20000"/>
                  <a:gd name="T84" fmla="*/ 2 w 20000"/>
                  <a:gd name="T85" fmla="*/ 0 h 20000"/>
                  <a:gd name="T86" fmla="*/ 2 w 20000"/>
                  <a:gd name="T87" fmla="*/ 0 h 20000"/>
                  <a:gd name="T88" fmla="*/ 2 w 20000"/>
                  <a:gd name="T89" fmla="*/ 0 h 20000"/>
                  <a:gd name="T90" fmla="*/ 2 w 20000"/>
                  <a:gd name="T91" fmla="*/ 0 h 20000"/>
                  <a:gd name="T92" fmla="*/ 2 w 20000"/>
                  <a:gd name="T93" fmla="*/ 0 h 20000"/>
                  <a:gd name="T94" fmla="*/ 2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99" y="630"/>
                    </a:lnTo>
                    <a:lnTo>
                      <a:pt x="399" y="1261"/>
                    </a:lnTo>
                    <a:lnTo>
                      <a:pt x="598" y="1856"/>
                    </a:lnTo>
                    <a:lnTo>
                      <a:pt x="798" y="2487"/>
                    </a:lnTo>
                    <a:lnTo>
                      <a:pt x="984" y="3152"/>
                    </a:lnTo>
                    <a:lnTo>
                      <a:pt x="1184" y="3748"/>
                    </a:lnTo>
                    <a:lnTo>
                      <a:pt x="1383" y="4343"/>
                    </a:lnTo>
                    <a:lnTo>
                      <a:pt x="1583" y="4939"/>
                    </a:lnTo>
                    <a:lnTo>
                      <a:pt x="1782" y="5569"/>
                    </a:lnTo>
                    <a:lnTo>
                      <a:pt x="1981" y="6165"/>
                    </a:lnTo>
                    <a:lnTo>
                      <a:pt x="2181" y="6725"/>
                    </a:lnTo>
                    <a:lnTo>
                      <a:pt x="2380" y="7285"/>
                    </a:lnTo>
                    <a:lnTo>
                      <a:pt x="2567" y="7881"/>
                    </a:lnTo>
                    <a:lnTo>
                      <a:pt x="2766" y="8476"/>
                    </a:lnTo>
                    <a:lnTo>
                      <a:pt x="2966" y="9037"/>
                    </a:lnTo>
                    <a:lnTo>
                      <a:pt x="3165" y="9597"/>
                    </a:lnTo>
                    <a:lnTo>
                      <a:pt x="3364" y="10123"/>
                    </a:lnTo>
                    <a:lnTo>
                      <a:pt x="3564" y="10648"/>
                    </a:lnTo>
                    <a:lnTo>
                      <a:pt x="3763" y="11208"/>
                    </a:lnTo>
                    <a:lnTo>
                      <a:pt x="3963" y="11734"/>
                    </a:lnTo>
                    <a:lnTo>
                      <a:pt x="4162" y="12224"/>
                    </a:lnTo>
                    <a:lnTo>
                      <a:pt x="4361" y="12715"/>
                    </a:lnTo>
                    <a:lnTo>
                      <a:pt x="4573" y="13170"/>
                    </a:lnTo>
                    <a:lnTo>
                      <a:pt x="4785" y="13660"/>
                    </a:lnTo>
                    <a:lnTo>
                      <a:pt x="4972" y="14116"/>
                    </a:lnTo>
                    <a:lnTo>
                      <a:pt x="5171" y="14571"/>
                    </a:lnTo>
                    <a:lnTo>
                      <a:pt x="5371" y="15026"/>
                    </a:lnTo>
                    <a:lnTo>
                      <a:pt x="5570" y="15412"/>
                    </a:lnTo>
                    <a:lnTo>
                      <a:pt x="5782" y="15832"/>
                    </a:lnTo>
                    <a:lnTo>
                      <a:pt x="5981" y="16182"/>
                    </a:lnTo>
                    <a:lnTo>
                      <a:pt x="6181" y="16602"/>
                    </a:lnTo>
                    <a:lnTo>
                      <a:pt x="6380" y="16953"/>
                    </a:lnTo>
                    <a:lnTo>
                      <a:pt x="6579" y="17268"/>
                    </a:lnTo>
                    <a:lnTo>
                      <a:pt x="6791" y="17618"/>
                    </a:lnTo>
                    <a:lnTo>
                      <a:pt x="6991" y="17933"/>
                    </a:lnTo>
                    <a:lnTo>
                      <a:pt x="7202" y="18179"/>
                    </a:lnTo>
                    <a:lnTo>
                      <a:pt x="7402" y="18459"/>
                    </a:lnTo>
                    <a:lnTo>
                      <a:pt x="7614" y="18739"/>
                    </a:lnTo>
                    <a:lnTo>
                      <a:pt x="7813" y="18949"/>
                    </a:lnTo>
                    <a:lnTo>
                      <a:pt x="8025" y="19159"/>
                    </a:lnTo>
                    <a:lnTo>
                      <a:pt x="8237" y="19335"/>
                    </a:lnTo>
                    <a:lnTo>
                      <a:pt x="8436" y="19475"/>
                    </a:lnTo>
                    <a:lnTo>
                      <a:pt x="8648" y="19650"/>
                    </a:lnTo>
                    <a:lnTo>
                      <a:pt x="8860" y="19755"/>
                    </a:lnTo>
                    <a:lnTo>
                      <a:pt x="9059" y="19860"/>
                    </a:lnTo>
                    <a:lnTo>
                      <a:pt x="9271" y="19895"/>
                    </a:lnTo>
                    <a:lnTo>
                      <a:pt x="9483" y="19965"/>
                    </a:lnTo>
                    <a:lnTo>
                      <a:pt x="9695" y="19965"/>
                    </a:lnTo>
                    <a:lnTo>
                      <a:pt x="9907" y="19965"/>
                    </a:lnTo>
                    <a:lnTo>
                      <a:pt x="10118" y="19930"/>
                    </a:lnTo>
                    <a:lnTo>
                      <a:pt x="10330" y="19825"/>
                    </a:lnTo>
                    <a:lnTo>
                      <a:pt x="10555" y="19720"/>
                    </a:lnTo>
                    <a:lnTo>
                      <a:pt x="10791" y="19545"/>
                    </a:lnTo>
                    <a:lnTo>
                      <a:pt x="11016" y="19335"/>
                    </a:lnTo>
                    <a:lnTo>
                      <a:pt x="11240" y="19124"/>
                    </a:lnTo>
                    <a:lnTo>
                      <a:pt x="11477" y="18844"/>
                    </a:lnTo>
                    <a:lnTo>
                      <a:pt x="11713" y="18564"/>
                    </a:lnTo>
                    <a:lnTo>
                      <a:pt x="11963" y="18249"/>
                    </a:lnTo>
                    <a:lnTo>
                      <a:pt x="12212" y="17898"/>
                    </a:lnTo>
                    <a:lnTo>
                      <a:pt x="12461" y="17513"/>
                    </a:lnTo>
                    <a:lnTo>
                      <a:pt x="12710" y="17128"/>
                    </a:lnTo>
                    <a:lnTo>
                      <a:pt x="12960" y="16743"/>
                    </a:lnTo>
                    <a:lnTo>
                      <a:pt x="13196" y="16252"/>
                    </a:lnTo>
                    <a:lnTo>
                      <a:pt x="13445" y="15797"/>
                    </a:lnTo>
                    <a:lnTo>
                      <a:pt x="13707" y="15342"/>
                    </a:lnTo>
                    <a:lnTo>
                      <a:pt x="13956" y="14851"/>
                    </a:lnTo>
                    <a:lnTo>
                      <a:pt x="14206" y="14361"/>
                    </a:lnTo>
                    <a:lnTo>
                      <a:pt x="14442" y="13800"/>
                    </a:lnTo>
                    <a:lnTo>
                      <a:pt x="14692" y="13310"/>
                    </a:lnTo>
                    <a:lnTo>
                      <a:pt x="14953" y="12750"/>
                    </a:lnTo>
                    <a:lnTo>
                      <a:pt x="15202" y="12224"/>
                    </a:lnTo>
                    <a:lnTo>
                      <a:pt x="15452" y="11629"/>
                    </a:lnTo>
                    <a:lnTo>
                      <a:pt x="15688" y="11103"/>
                    </a:lnTo>
                    <a:lnTo>
                      <a:pt x="15925" y="10578"/>
                    </a:lnTo>
                    <a:lnTo>
                      <a:pt x="16150" y="10053"/>
                    </a:lnTo>
                    <a:lnTo>
                      <a:pt x="16386" y="9457"/>
                    </a:lnTo>
                    <a:lnTo>
                      <a:pt x="16611" y="8897"/>
                    </a:lnTo>
                    <a:lnTo>
                      <a:pt x="16847" y="8371"/>
                    </a:lnTo>
                    <a:lnTo>
                      <a:pt x="17072" y="7811"/>
                    </a:lnTo>
                    <a:lnTo>
                      <a:pt x="17283" y="7285"/>
                    </a:lnTo>
                    <a:lnTo>
                      <a:pt x="17495" y="6760"/>
                    </a:lnTo>
                    <a:lnTo>
                      <a:pt x="17720" y="6235"/>
                    </a:lnTo>
                    <a:lnTo>
                      <a:pt x="17919" y="5744"/>
                    </a:lnTo>
                    <a:lnTo>
                      <a:pt x="18118" y="5219"/>
                    </a:lnTo>
                    <a:lnTo>
                      <a:pt x="18305" y="4729"/>
                    </a:lnTo>
                    <a:lnTo>
                      <a:pt x="18492" y="4273"/>
                    </a:lnTo>
                    <a:lnTo>
                      <a:pt x="18679" y="3853"/>
                    </a:lnTo>
                    <a:lnTo>
                      <a:pt x="18854" y="3398"/>
                    </a:lnTo>
                    <a:lnTo>
                      <a:pt x="19016" y="2977"/>
                    </a:lnTo>
                    <a:lnTo>
                      <a:pt x="19178" y="2627"/>
                    </a:lnTo>
                    <a:lnTo>
                      <a:pt x="19340" y="2277"/>
                    </a:lnTo>
                    <a:lnTo>
                      <a:pt x="19489" y="1891"/>
                    </a:lnTo>
                    <a:lnTo>
                      <a:pt x="19614" y="1646"/>
                    </a:lnTo>
                    <a:lnTo>
                      <a:pt x="19751" y="1331"/>
                    </a:lnTo>
                    <a:lnTo>
                      <a:pt x="19875" y="1051"/>
                    </a:lnTo>
                    <a:lnTo>
                      <a:pt x="19988" y="841"/>
                    </a:lnTo>
                  </a:path>
                </a:pathLst>
              </a:custGeom>
              <a:noFill/>
              <a:ln w="38100">
                <a:solidFill>
                  <a:srgbClr val="FF3300"/>
                </a:solidFill>
                <a:round/>
                <a:headEnd/>
                <a:tailEn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5904"/>
                                        </p:tgtEl>
                                        <p:attrNameLst>
                                          <p:attrName>style.visibility</p:attrName>
                                        </p:attrNameLst>
                                      </p:cBhvr>
                                      <p:to>
                                        <p:strVal val="visible"/>
                                      </p:to>
                                    </p:set>
                                    <p:animEffect transition="in" filter="wipe(left)">
                                      <p:cBhvr>
                                        <p:cTn id="7" dur="500"/>
                                        <p:tgtEl>
                                          <p:spTgt spid="16590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5905"/>
                                        </p:tgtEl>
                                        <p:attrNameLst>
                                          <p:attrName>style.visibility</p:attrName>
                                        </p:attrNameLst>
                                      </p:cBhvr>
                                      <p:to>
                                        <p:strVal val="visible"/>
                                      </p:to>
                                    </p:set>
                                    <p:animEffect transition="in" filter="wipe(left)">
                                      <p:cBhvr>
                                        <p:cTn id="12" dur="500"/>
                                        <p:tgtEl>
                                          <p:spTgt spid="16590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5925"/>
                                        </p:tgtEl>
                                        <p:attrNameLst>
                                          <p:attrName>style.visibility</p:attrName>
                                        </p:attrNameLst>
                                      </p:cBhvr>
                                      <p:to>
                                        <p:strVal val="visible"/>
                                      </p:to>
                                    </p:set>
                                    <p:animEffect transition="in" filter="wipe(left)">
                                      <p:cBhvr>
                                        <p:cTn id="17" dur="500"/>
                                        <p:tgtEl>
                                          <p:spTgt spid="16592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6592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5927"/>
                                        </p:tgtEl>
                                        <p:attrNameLst>
                                          <p:attrName>style.visibility</p:attrName>
                                        </p:attrNameLst>
                                      </p:cBhvr>
                                      <p:to>
                                        <p:strVal val="visible"/>
                                      </p:to>
                                    </p:set>
                                    <p:animEffect transition="in" filter="wipe(left)">
                                      <p:cBhvr>
                                        <p:cTn id="36" dur="500"/>
                                        <p:tgtEl>
                                          <p:spTgt spid="165927"/>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6592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left)">
                                      <p:cBhvr>
                                        <p:cTn id="45" dur="500"/>
                                        <p:tgtEl>
                                          <p:spTgt spid="3"/>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wipe(left)">
                                      <p:cBhvr>
                                        <p:cTn id="49" dur="500"/>
                                        <p:tgtEl>
                                          <p:spTgt spid="4"/>
                                        </p:tgtEl>
                                      </p:cBhvr>
                                    </p:animEffect>
                                  </p:childTnLst>
                                </p:cTn>
                              </p:par>
                            </p:childTnLst>
                          </p:cTn>
                        </p:par>
                        <p:par>
                          <p:cTn id="50" fill="hold">
                            <p:stCondLst>
                              <p:cond delay="1000"/>
                            </p:stCondLst>
                            <p:childTnLst>
                              <p:par>
                                <p:cTn id="51" presetID="22" presetClass="entr" presetSubtype="8" fill="hold" nodeType="after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wipe(left)">
                                      <p:cBhvr>
                                        <p:cTn id="53" dur="500"/>
                                        <p:tgtEl>
                                          <p:spTgt spid="5"/>
                                        </p:tgtEl>
                                      </p:cBhvr>
                                    </p:animEffect>
                                  </p:childTnLst>
                                </p:cTn>
                              </p:par>
                            </p:childTnLst>
                          </p:cTn>
                        </p:par>
                        <p:par>
                          <p:cTn id="54" fill="hold">
                            <p:stCondLst>
                              <p:cond delay="1500"/>
                            </p:stCondLst>
                            <p:childTnLst>
                              <p:par>
                                <p:cTn id="55" presetID="22" presetClass="entr" presetSubtype="8" fill="hold" nodeType="after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wipe(left)">
                                      <p:cBhvr>
                                        <p:cTn id="57" dur="500"/>
                                        <p:tgtEl>
                                          <p:spTgt spid="8"/>
                                        </p:tgtEl>
                                      </p:cBhvr>
                                    </p:animEffect>
                                  </p:childTnLst>
                                </p:cTn>
                              </p:par>
                            </p:childTnLst>
                          </p:cTn>
                        </p:par>
                        <p:par>
                          <p:cTn id="58" fill="hold">
                            <p:stCondLst>
                              <p:cond delay="2000"/>
                            </p:stCondLst>
                            <p:childTnLst>
                              <p:par>
                                <p:cTn id="59" presetID="22" presetClass="entr" presetSubtype="8" fill="hold" grpId="0" nodeType="afterEffect">
                                  <p:stCondLst>
                                    <p:cond delay="0"/>
                                  </p:stCondLst>
                                  <p:childTnLst>
                                    <p:set>
                                      <p:cBhvr>
                                        <p:cTn id="60" dur="1" fill="hold">
                                          <p:stCondLst>
                                            <p:cond delay="0"/>
                                          </p:stCondLst>
                                        </p:cTn>
                                        <p:tgtEl>
                                          <p:spTgt spid="165907"/>
                                        </p:tgtEl>
                                        <p:attrNameLst>
                                          <p:attrName>style.visibility</p:attrName>
                                        </p:attrNameLst>
                                      </p:cBhvr>
                                      <p:to>
                                        <p:strVal val="visible"/>
                                      </p:to>
                                    </p:set>
                                    <p:animEffect transition="in" filter="wipe(left)">
                                      <p:cBhvr>
                                        <p:cTn id="61" dur="500"/>
                                        <p:tgtEl>
                                          <p:spTgt spid="165907"/>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65906"/>
                                        </p:tgtEl>
                                        <p:attrNameLst>
                                          <p:attrName>style.visibility</p:attrName>
                                        </p:attrNameLst>
                                      </p:cBhvr>
                                      <p:to>
                                        <p:strVal val="visible"/>
                                      </p:to>
                                    </p:set>
                                    <p:animEffect transition="in" filter="wipe(left)">
                                      <p:cBhvr>
                                        <p:cTn id="66" dur="1000"/>
                                        <p:tgtEl>
                                          <p:spTgt spid="1659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04" grpId="0" autoUpdateAnimBg="0"/>
      <p:bldP spid="165905" grpId="0"/>
      <p:bldP spid="165906" grpId="0"/>
      <p:bldP spid="165907" grpId="0" animBg="1"/>
      <p:bldP spid="165925" grpId="0"/>
      <p:bldP spid="16592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descr="绿色大理石"/>
          <p:cNvSpPr>
            <a:spLocks noChangeArrowheads="1"/>
          </p:cNvSpPr>
          <p:nvPr/>
        </p:nvSpPr>
        <p:spPr bwMode="auto">
          <a:xfrm>
            <a:off x="836613" y="496888"/>
            <a:ext cx="4719637" cy="457200"/>
          </a:xfrm>
          <a:prstGeom prst="rect">
            <a:avLst/>
          </a:prstGeom>
          <a:noFill/>
          <a:ln w="9525">
            <a:noFill/>
            <a:miter lim="800000"/>
            <a:headEnd/>
            <a:tailEnd/>
          </a:ln>
        </p:spPr>
        <p:txBody>
          <a:bodyPr wrap="none">
            <a:spAutoFit/>
          </a:bodyPr>
          <a:lstStyle/>
          <a:p>
            <a:pPr algn="ctr"/>
            <a:r>
              <a:rPr kumimoji="0" lang="en-US" altLang="zh-CN" b="1" i="1">
                <a:solidFill>
                  <a:srgbClr val="FF6600"/>
                </a:solidFill>
              </a:rPr>
              <a:t>u </a:t>
            </a:r>
            <a:r>
              <a:rPr kumimoji="0" lang="zh-CN" altLang="en-US" b="1">
                <a:solidFill>
                  <a:schemeClr val="tx2"/>
                </a:solidFill>
              </a:rPr>
              <a:t>实际上是</a:t>
            </a:r>
            <a:r>
              <a:rPr kumimoji="0" lang="zh-CN" altLang="en-US" b="1">
                <a:solidFill>
                  <a:srgbClr val="FF6600"/>
                </a:solidFill>
              </a:rPr>
              <a:t>振动相位</a:t>
            </a:r>
            <a:r>
              <a:rPr kumimoji="0" lang="zh-CN" altLang="en-US" b="1">
                <a:solidFill>
                  <a:schemeClr val="tx2"/>
                </a:solidFill>
              </a:rPr>
              <a:t>的传播速度。</a:t>
            </a:r>
            <a:endParaRPr kumimoji="0" lang="zh-CN" altLang="en-US" sz="1800">
              <a:solidFill>
                <a:schemeClr val="tx2"/>
              </a:solidFill>
            </a:endParaRPr>
          </a:p>
        </p:txBody>
      </p:sp>
      <p:sp>
        <p:nvSpPr>
          <p:cNvPr id="162819" name="Rectangle 3"/>
          <p:cNvSpPr>
            <a:spLocks noChangeArrowheads="1"/>
          </p:cNvSpPr>
          <p:nvPr/>
        </p:nvSpPr>
        <p:spPr bwMode="auto">
          <a:xfrm>
            <a:off x="566738" y="1036638"/>
            <a:ext cx="8177212" cy="457200"/>
          </a:xfrm>
          <a:prstGeom prst="rect">
            <a:avLst/>
          </a:prstGeom>
          <a:noFill/>
          <a:ln w="9525">
            <a:noFill/>
            <a:miter lim="800000"/>
            <a:headEnd/>
            <a:tailEnd/>
          </a:ln>
        </p:spPr>
        <p:txBody>
          <a:bodyPr>
            <a:spAutoFit/>
          </a:bodyPr>
          <a:lstStyle/>
          <a:p>
            <a:pPr algn="ctr"/>
            <a:r>
              <a:rPr kumimoji="0" lang="en-US" altLang="zh-CN" b="1" i="1">
                <a:solidFill>
                  <a:srgbClr val="FF6600"/>
                </a:solidFill>
              </a:rPr>
              <a:t>t</a:t>
            </a:r>
            <a:r>
              <a:rPr kumimoji="0" lang="en-US" altLang="zh-CN" b="1" baseline="-25000">
                <a:solidFill>
                  <a:srgbClr val="FF6600"/>
                </a:solidFill>
              </a:rPr>
              <a:t>1</a:t>
            </a:r>
            <a:r>
              <a:rPr kumimoji="0" lang="en-US" altLang="zh-CN" b="1" baseline="-25000">
                <a:solidFill>
                  <a:schemeClr val="tx2"/>
                </a:solidFill>
              </a:rPr>
              <a:t> </a:t>
            </a:r>
            <a:r>
              <a:rPr kumimoji="0" lang="zh-CN" altLang="en-US" b="1">
                <a:solidFill>
                  <a:schemeClr val="tx2"/>
                </a:solidFill>
              </a:rPr>
              <a:t>时刻 </a:t>
            </a:r>
            <a:r>
              <a:rPr kumimoji="0" lang="en-US" altLang="zh-CN" b="1" i="1">
                <a:solidFill>
                  <a:srgbClr val="FF6600"/>
                </a:solidFill>
              </a:rPr>
              <a:t>x</a:t>
            </a:r>
            <a:r>
              <a:rPr kumimoji="0" lang="en-US" altLang="zh-CN" b="1" baseline="-25000">
                <a:solidFill>
                  <a:srgbClr val="FF6600"/>
                </a:solidFill>
              </a:rPr>
              <a:t>1</a:t>
            </a:r>
            <a:r>
              <a:rPr kumimoji="0" lang="en-US" altLang="zh-CN" b="1" baseline="-25000">
                <a:solidFill>
                  <a:schemeClr val="tx2"/>
                </a:solidFill>
              </a:rPr>
              <a:t> </a:t>
            </a:r>
            <a:r>
              <a:rPr kumimoji="0" lang="zh-CN" altLang="en-US" b="1">
                <a:solidFill>
                  <a:schemeClr val="tx2"/>
                </a:solidFill>
              </a:rPr>
              <a:t>处的振动状态经</a:t>
            </a:r>
            <a:r>
              <a:rPr kumimoji="0" lang="el-GR" altLang="zh-CN" b="1">
                <a:solidFill>
                  <a:srgbClr val="FF6600"/>
                </a:solidFill>
              </a:rPr>
              <a:t>Δ</a:t>
            </a:r>
            <a:r>
              <a:rPr kumimoji="0" lang="en-US" altLang="zh-CN" b="1" i="1">
                <a:solidFill>
                  <a:srgbClr val="FF6600"/>
                </a:solidFill>
              </a:rPr>
              <a:t>t</a:t>
            </a:r>
            <a:r>
              <a:rPr kumimoji="0" lang="en-US" altLang="zh-CN" b="1" i="1">
                <a:solidFill>
                  <a:schemeClr val="tx2"/>
                </a:solidFill>
              </a:rPr>
              <a:t>  </a:t>
            </a:r>
            <a:r>
              <a:rPr kumimoji="0" lang="zh-CN" altLang="en-US" b="1">
                <a:solidFill>
                  <a:schemeClr val="tx2"/>
                </a:solidFill>
              </a:rPr>
              <a:t>时间传播到 </a:t>
            </a:r>
            <a:r>
              <a:rPr kumimoji="0" lang="en-US" altLang="zh-CN" b="1" i="1">
                <a:solidFill>
                  <a:srgbClr val="FF6600"/>
                </a:solidFill>
              </a:rPr>
              <a:t>x</a:t>
            </a:r>
            <a:r>
              <a:rPr kumimoji="0" lang="en-US" altLang="zh-CN" b="1" baseline="-25000">
                <a:solidFill>
                  <a:srgbClr val="FF6600"/>
                </a:solidFill>
              </a:rPr>
              <a:t>1</a:t>
            </a:r>
            <a:r>
              <a:rPr kumimoji="0" lang="en-US" altLang="zh-CN" b="1">
                <a:solidFill>
                  <a:srgbClr val="FF6600"/>
                </a:solidFill>
              </a:rPr>
              <a:t>+</a:t>
            </a:r>
            <a:r>
              <a:rPr kumimoji="0" lang="el-GR" altLang="zh-CN" b="1">
                <a:solidFill>
                  <a:srgbClr val="FF6600"/>
                </a:solidFill>
              </a:rPr>
              <a:t>Δ</a:t>
            </a:r>
            <a:r>
              <a:rPr kumimoji="0" lang="en-US" altLang="zh-CN" b="1" i="1">
                <a:solidFill>
                  <a:srgbClr val="FF6600"/>
                </a:solidFill>
              </a:rPr>
              <a:t>x</a:t>
            </a:r>
            <a:r>
              <a:rPr kumimoji="0" lang="en-US" altLang="zh-CN" b="1" i="1">
                <a:solidFill>
                  <a:schemeClr val="tx2"/>
                </a:solidFill>
              </a:rPr>
              <a:t>  </a:t>
            </a:r>
            <a:r>
              <a:rPr kumimoji="0" lang="zh-CN" altLang="en-US" b="1">
                <a:solidFill>
                  <a:schemeClr val="tx2"/>
                </a:solidFill>
              </a:rPr>
              <a:t>处，则</a:t>
            </a:r>
            <a:endParaRPr kumimoji="0" lang="zh-CN" altLang="en-US" sz="1800">
              <a:solidFill>
                <a:schemeClr val="tx2"/>
              </a:solidFill>
            </a:endParaRPr>
          </a:p>
        </p:txBody>
      </p:sp>
      <p:graphicFrame>
        <p:nvGraphicFramePr>
          <p:cNvPr id="162820" name="Object 4"/>
          <p:cNvGraphicFramePr>
            <a:graphicFrameLocks noChangeAspect="1"/>
          </p:cNvGraphicFramePr>
          <p:nvPr/>
        </p:nvGraphicFramePr>
        <p:xfrm>
          <a:off x="2322513" y="1531938"/>
          <a:ext cx="3706812" cy="727075"/>
        </p:xfrm>
        <a:graphic>
          <a:graphicData uri="http://schemas.openxmlformats.org/presentationml/2006/ole">
            <p:oleObj spid="_x0000_s13314" name="公式" r:id="rId3" imgW="2070000" imgH="406080" progId="Equation.3">
              <p:embed/>
            </p:oleObj>
          </a:graphicData>
        </a:graphic>
      </p:graphicFrame>
      <p:sp>
        <p:nvSpPr>
          <p:cNvPr id="162821" name="Text Box 5" descr="绿色大理石"/>
          <p:cNvSpPr txBox="1">
            <a:spLocks noChangeArrowheads="1"/>
          </p:cNvSpPr>
          <p:nvPr/>
        </p:nvSpPr>
        <p:spPr bwMode="auto">
          <a:xfrm>
            <a:off x="701675" y="2466975"/>
            <a:ext cx="1447800" cy="457200"/>
          </a:xfrm>
          <a:prstGeom prst="rect">
            <a:avLst/>
          </a:prstGeom>
          <a:noFill/>
          <a:ln w="9525">
            <a:noFill/>
            <a:miter lim="800000"/>
            <a:headEnd/>
            <a:tailEnd/>
          </a:ln>
        </p:spPr>
        <p:txBody>
          <a:bodyPr>
            <a:spAutoFit/>
          </a:bodyPr>
          <a:lstStyle/>
          <a:p>
            <a:pPr algn="ctr"/>
            <a:r>
              <a:rPr kumimoji="0" lang="zh-CN" altLang="en-US" b="1">
                <a:solidFill>
                  <a:schemeClr val="tx2"/>
                </a:solidFill>
                <a:latin typeface="Bookman Old Style" pitchFamily="18" charset="0"/>
              </a:rPr>
              <a:t>可得到</a:t>
            </a:r>
            <a:endParaRPr kumimoji="0" lang="zh-CN" altLang="en-US" sz="1800">
              <a:solidFill>
                <a:schemeClr val="tx2"/>
              </a:solidFill>
            </a:endParaRPr>
          </a:p>
        </p:txBody>
      </p:sp>
      <p:graphicFrame>
        <p:nvGraphicFramePr>
          <p:cNvPr id="162822" name="Object 6"/>
          <p:cNvGraphicFramePr>
            <a:graphicFrameLocks noChangeAspect="1"/>
          </p:cNvGraphicFramePr>
          <p:nvPr/>
        </p:nvGraphicFramePr>
        <p:xfrm>
          <a:off x="2232025" y="2384425"/>
          <a:ext cx="892175" cy="730250"/>
        </p:xfrm>
        <a:graphic>
          <a:graphicData uri="http://schemas.openxmlformats.org/presentationml/2006/ole">
            <p:oleObj spid="_x0000_s13315" name="公式" r:id="rId4" imgW="495000" imgH="406080" progId="Equation.3">
              <p:embed/>
            </p:oleObj>
          </a:graphicData>
        </a:graphic>
      </p:graphicFrame>
      <p:sp>
        <p:nvSpPr>
          <p:cNvPr id="162823" name="Text Box 7" descr="绿色大理石"/>
          <p:cNvSpPr txBox="1">
            <a:spLocks noChangeArrowheads="1"/>
          </p:cNvSpPr>
          <p:nvPr/>
        </p:nvSpPr>
        <p:spPr bwMode="auto">
          <a:xfrm>
            <a:off x="881063" y="3114675"/>
            <a:ext cx="7516812" cy="457200"/>
          </a:xfrm>
          <a:prstGeom prst="rect">
            <a:avLst/>
          </a:prstGeom>
          <a:noFill/>
          <a:ln w="9525">
            <a:noFill/>
            <a:miter lim="800000"/>
            <a:headEnd/>
            <a:tailEnd/>
          </a:ln>
        </p:spPr>
        <p:txBody>
          <a:bodyPr>
            <a:spAutoFit/>
          </a:bodyPr>
          <a:lstStyle/>
          <a:p>
            <a:r>
              <a:rPr kumimoji="0" lang="zh-CN" altLang="en-US" b="1">
                <a:solidFill>
                  <a:schemeClr val="tx2"/>
                </a:solidFill>
                <a:latin typeface="楷体_GB2312" pitchFamily="49" charset="-122"/>
                <a:ea typeface="楷体_GB2312" pitchFamily="49" charset="-122"/>
              </a:rPr>
              <a:t>若波沿 </a:t>
            </a:r>
            <a:r>
              <a:rPr kumimoji="0" lang="en-US" altLang="zh-CN" b="1" i="1">
                <a:solidFill>
                  <a:srgbClr val="FF6600"/>
                </a:solidFill>
              </a:rPr>
              <a:t>x </a:t>
            </a:r>
            <a:r>
              <a:rPr kumimoji="0" lang="zh-CN" altLang="en-US" b="1">
                <a:solidFill>
                  <a:schemeClr val="tx2"/>
                </a:solidFill>
                <a:latin typeface="楷体_GB2312" pitchFamily="49" charset="-122"/>
                <a:ea typeface="楷体_GB2312" pitchFamily="49" charset="-122"/>
              </a:rPr>
              <a:t>轴负向传播时，同样可得到波动方程</a:t>
            </a:r>
            <a:r>
              <a:rPr kumimoji="0" lang="en-US" altLang="zh-CN" b="1">
                <a:solidFill>
                  <a:schemeClr val="tx2"/>
                </a:solidFill>
                <a:latin typeface="楷体_GB2312" pitchFamily="49" charset="-122"/>
                <a:ea typeface="楷体_GB2312" pitchFamily="49" charset="-122"/>
              </a:rPr>
              <a:t>:</a:t>
            </a:r>
            <a:endParaRPr kumimoji="0" lang="en-US" altLang="zh-CN">
              <a:solidFill>
                <a:schemeClr val="tx2"/>
              </a:solidFill>
              <a:latin typeface="楷体_GB2312" pitchFamily="49" charset="-122"/>
              <a:ea typeface="楷体_GB2312" pitchFamily="49" charset="-122"/>
            </a:endParaRPr>
          </a:p>
        </p:txBody>
      </p:sp>
      <p:graphicFrame>
        <p:nvGraphicFramePr>
          <p:cNvPr id="162824" name="Object 8"/>
          <p:cNvGraphicFramePr>
            <a:graphicFrameLocks noChangeAspect="1"/>
          </p:cNvGraphicFramePr>
          <p:nvPr/>
        </p:nvGraphicFramePr>
        <p:xfrm>
          <a:off x="2433638" y="3689350"/>
          <a:ext cx="3251200" cy="730250"/>
        </p:xfrm>
        <a:graphic>
          <a:graphicData uri="http://schemas.openxmlformats.org/presentationml/2006/ole">
            <p:oleObj spid="_x0000_s13316" name="公式" r:id="rId5" imgW="1803240" imgH="406080" progId="Equation.3">
              <p:embed/>
            </p:oleObj>
          </a:graphicData>
        </a:graphic>
      </p:graphicFrame>
      <p:graphicFrame>
        <p:nvGraphicFramePr>
          <p:cNvPr id="162825" name="Object 9"/>
          <p:cNvGraphicFramePr>
            <a:graphicFrameLocks noChangeAspect="1"/>
          </p:cNvGraphicFramePr>
          <p:nvPr/>
        </p:nvGraphicFramePr>
        <p:xfrm>
          <a:off x="2779713" y="5815013"/>
          <a:ext cx="4125912" cy="735012"/>
        </p:xfrm>
        <a:graphic>
          <a:graphicData uri="http://schemas.openxmlformats.org/presentationml/2006/ole">
            <p:oleObj spid="_x0000_s13317" name="公式" r:id="rId6" imgW="1968480" imgH="406080" progId="Equation.3">
              <p:embed/>
            </p:oleObj>
          </a:graphicData>
        </a:graphic>
      </p:graphicFrame>
      <p:graphicFrame>
        <p:nvGraphicFramePr>
          <p:cNvPr id="162826" name="Object 10"/>
          <p:cNvGraphicFramePr>
            <a:graphicFrameLocks noChangeAspect="1"/>
          </p:cNvGraphicFramePr>
          <p:nvPr/>
        </p:nvGraphicFramePr>
        <p:xfrm>
          <a:off x="2773363" y="4454525"/>
          <a:ext cx="3492500" cy="730250"/>
        </p:xfrm>
        <a:graphic>
          <a:graphicData uri="http://schemas.openxmlformats.org/presentationml/2006/ole">
            <p:oleObj spid="_x0000_s13318" name="公式" r:id="rId7" imgW="1930320" imgH="406080" progId="Equation.3">
              <p:embed/>
            </p:oleObj>
          </a:graphicData>
        </a:graphic>
      </p:graphicFrame>
      <p:graphicFrame>
        <p:nvGraphicFramePr>
          <p:cNvPr id="162827" name="Object 11"/>
          <p:cNvGraphicFramePr>
            <a:graphicFrameLocks noChangeAspect="1"/>
          </p:cNvGraphicFramePr>
          <p:nvPr/>
        </p:nvGraphicFramePr>
        <p:xfrm>
          <a:off x="2817813" y="5138738"/>
          <a:ext cx="3506787" cy="730250"/>
        </p:xfrm>
        <a:graphic>
          <a:graphicData uri="http://schemas.openxmlformats.org/presentationml/2006/ole">
            <p:oleObj spid="_x0000_s13319" name="公式" r:id="rId8" imgW="1942920" imgH="406080" progId="Equation.3">
              <p:embed/>
            </p:oleObj>
          </a:graphicData>
        </a:graphic>
      </p:graphicFrame>
      <p:sp>
        <p:nvSpPr>
          <p:cNvPr id="162828" name="Rectangle 12"/>
          <p:cNvSpPr>
            <a:spLocks noChangeArrowheads="1"/>
          </p:cNvSpPr>
          <p:nvPr/>
        </p:nvSpPr>
        <p:spPr bwMode="auto">
          <a:xfrm>
            <a:off x="1619250" y="4581525"/>
            <a:ext cx="558800" cy="1871663"/>
          </a:xfrm>
          <a:prstGeom prst="rect">
            <a:avLst/>
          </a:prstGeom>
          <a:solidFill>
            <a:srgbClr val="FFCC00">
              <a:alpha val="25882"/>
            </a:srgbClr>
          </a:solidFill>
          <a:ln w="9525">
            <a:solidFill>
              <a:srgbClr val="5F5F5F"/>
            </a:solidFill>
            <a:miter lim="800000"/>
            <a:headEnd/>
            <a:tailEnd/>
          </a:ln>
        </p:spPr>
        <p:txBody>
          <a:bodyPr vert="eaVert">
            <a:spAutoFit/>
          </a:bodyPr>
          <a:lstStyle/>
          <a:p>
            <a:pPr algn="ctr"/>
            <a:r>
              <a:rPr kumimoji="0" lang="zh-CN" altLang="en-US" b="1">
                <a:solidFill>
                  <a:srgbClr val="CC0000"/>
                </a:solidFill>
                <a:latin typeface="宋体" pitchFamily="2" charset="-122"/>
              </a:rPr>
              <a:t>其 它 形 式</a:t>
            </a:r>
            <a:endParaRPr kumimoji="0" lang="zh-CN" altLang="en-US" sz="1800">
              <a:solidFill>
                <a:srgbClr val="CC0000"/>
              </a:solidFill>
              <a:latin typeface="宋体" pitchFamily="2" charset="-122"/>
            </a:endParaRPr>
          </a:p>
        </p:txBody>
      </p:sp>
      <p:sp>
        <p:nvSpPr>
          <p:cNvPr id="162829" name="AutoShape 13"/>
          <p:cNvSpPr>
            <a:spLocks/>
          </p:cNvSpPr>
          <p:nvPr/>
        </p:nvSpPr>
        <p:spPr bwMode="auto">
          <a:xfrm>
            <a:off x="2411413" y="4733925"/>
            <a:ext cx="142875" cy="1584325"/>
          </a:xfrm>
          <a:prstGeom prst="leftBrace">
            <a:avLst>
              <a:gd name="adj1" fmla="val 92407"/>
              <a:gd name="adj2" fmla="val 50000"/>
            </a:avLst>
          </a:prstGeom>
          <a:noFill/>
          <a:ln w="28575">
            <a:solidFill>
              <a:srgbClr val="9900CC"/>
            </a:solidFill>
            <a:round/>
            <a:headEnd/>
            <a:tailEnd/>
          </a:ln>
        </p:spPr>
        <p:txBody>
          <a:bodyPr wrap="none" anchor="ctr"/>
          <a:lstStyle/>
          <a:p>
            <a:pPr algn="ctr"/>
            <a:endParaRPr kumimoji="0" lang="zh-CN" altLang="zh-CN" sz="180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2818"/>
                                        </p:tgtEl>
                                        <p:attrNameLst>
                                          <p:attrName>style.visibility</p:attrName>
                                        </p:attrNameLst>
                                      </p:cBhvr>
                                      <p:to>
                                        <p:strVal val="visible"/>
                                      </p:to>
                                    </p:set>
                                    <p:animEffect transition="in" filter="wipe(left)">
                                      <p:cBhvr>
                                        <p:cTn id="7" dur="500"/>
                                        <p:tgtEl>
                                          <p:spTgt spid="1628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2819"/>
                                        </p:tgtEl>
                                        <p:attrNameLst>
                                          <p:attrName>style.visibility</p:attrName>
                                        </p:attrNameLst>
                                      </p:cBhvr>
                                      <p:to>
                                        <p:strVal val="visible"/>
                                      </p:to>
                                    </p:set>
                                    <p:animEffect transition="in" filter="wipe(left)">
                                      <p:cBhvr>
                                        <p:cTn id="12" dur="500"/>
                                        <p:tgtEl>
                                          <p:spTgt spid="1628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2820"/>
                                        </p:tgtEl>
                                        <p:attrNameLst>
                                          <p:attrName>style.visibility</p:attrName>
                                        </p:attrNameLst>
                                      </p:cBhvr>
                                      <p:to>
                                        <p:strVal val="visible"/>
                                      </p:to>
                                    </p:set>
                                    <p:animEffect transition="in" filter="wipe(left)">
                                      <p:cBhvr>
                                        <p:cTn id="17" dur="500"/>
                                        <p:tgtEl>
                                          <p:spTgt spid="1628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2821"/>
                                        </p:tgtEl>
                                        <p:attrNameLst>
                                          <p:attrName>style.visibility</p:attrName>
                                        </p:attrNameLst>
                                      </p:cBhvr>
                                      <p:to>
                                        <p:strVal val="visible"/>
                                      </p:to>
                                    </p:set>
                                    <p:animEffect transition="in" filter="wipe(left)">
                                      <p:cBhvr>
                                        <p:cTn id="22" dur="500"/>
                                        <p:tgtEl>
                                          <p:spTgt spid="162821"/>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628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2823"/>
                                        </p:tgtEl>
                                        <p:attrNameLst>
                                          <p:attrName>style.visibility</p:attrName>
                                        </p:attrNameLst>
                                      </p:cBhvr>
                                      <p:to>
                                        <p:strVal val="visible"/>
                                      </p:to>
                                    </p:set>
                                    <p:animEffect transition="in" filter="wipe(left)">
                                      <p:cBhvr>
                                        <p:cTn id="31" dur="500"/>
                                        <p:tgtEl>
                                          <p:spTgt spid="16282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62824"/>
                                        </p:tgtEl>
                                        <p:attrNameLst>
                                          <p:attrName>style.visibility</p:attrName>
                                        </p:attrNameLst>
                                      </p:cBhvr>
                                      <p:to>
                                        <p:strVal val="visible"/>
                                      </p:to>
                                    </p:set>
                                    <p:animEffect transition="in" filter="wipe(left)">
                                      <p:cBhvr>
                                        <p:cTn id="36" dur="500"/>
                                        <p:tgtEl>
                                          <p:spTgt spid="16282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62828"/>
                                        </p:tgtEl>
                                        <p:attrNameLst>
                                          <p:attrName>style.visibility</p:attrName>
                                        </p:attrNameLst>
                                      </p:cBhvr>
                                      <p:to>
                                        <p:strVal val="visible"/>
                                      </p:to>
                                    </p:set>
                                    <p:animEffect transition="in" filter="wipe(up)">
                                      <p:cBhvr>
                                        <p:cTn id="41" dur="500"/>
                                        <p:tgtEl>
                                          <p:spTgt spid="16282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162829"/>
                                        </p:tgtEl>
                                        <p:attrNameLst>
                                          <p:attrName>style.visibility</p:attrName>
                                        </p:attrNameLst>
                                      </p:cBhvr>
                                      <p:to>
                                        <p:strVal val="visible"/>
                                      </p:to>
                                    </p:set>
                                    <p:animEffect transition="in" filter="wipe(up)">
                                      <p:cBhvr>
                                        <p:cTn id="46" dur="500"/>
                                        <p:tgtEl>
                                          <p:spTgt spid="16282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62826"/>
                                        </p:tgtEl>
                                        <p:attrNameLst>
                                          <p:attrName>style.visibility</p:attrName>
                                        </p:attrNameLst>
                                      </p:cBhvr>
                                      <p:to>
                                        <p:strVal val="visible"/>
                                      </p:to>
                                    </p:set>
                                    <p:animEffect transition="in" filter="wipe(left)">
                                      <p:cBhvr>
                                        <p:cTn id="51" dur="500"/>
                                        <p:tgtEl>
                                          <p:spTgt spid="16282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62827"/>
                                        </p:tgtEl>
                                        <p:attrNameLst>
                                          <p:attrName>style.visibility</p:attrName>
                                        </p:attrNameLst>
                                      </p:cBhvr>
                                      <p:to>
                                        <p:strVal val="visible"/>
                                      </p:to>
                                    </p:set>
                                    <p:animEffect transition="in" filter="wipe(left)">
                                      <p:cBhvr>
                                        <p:cTn id="56" dur="500"/>
                                        <p:tgtEl>
                                          <p:spTgt spid="16282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62825"/>
                                        </p:tgtEl>
                                        <p:attrNameLst>
                                          <p:attrName>style.visibility</p:attrName>
                                        </p:attrNameLst>
                                      </p:cBhvr>
                                      <p:to>
                                        <p:strVal val="visible"/>
                                      </p:to>
                                    </p:set>
                                    <p:animEffect transition="in" filter="wipe(left)">
                                      <p:cBhvr>
                                        <p:cTn id="61" dur="500"/>
                                        <p:tgtEl>
                                          <p:spTgt spid="1628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8" grpId="0"/>
      <p:bldP spid="162819" grpId="0" autoUpdateAnimBg="0"/>
      <p:bldP spid="162821" grpId="0" autoUpdateAnimBg="0"/>
      <p:bldP spid="162823" grpId="0" autoUpdateAnimBg="0"/>
      <p:bldP spid="162828" grpId="0" animBg="1" autoUpdateAnimBg="0"/>
      <p:bldP spid="162829"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ChangeArrowheads="1"/>
          </p:cNvSpPr>
          <p:nvPr/>
        </p:nvSpPr>
        <p:spPr bwMode="auto">
          <a:xfrm>
            <a:off x="587375" y="496888"/>
            <a:ext cx="8016875" cy="457200"/>
          </a:xfrm>
          <a:prstGeom prst="rect">
            <a:avLst/>
          </a:prstGeom>
          <a:noFill/>
          <a:ln w="9525">
            <a:noFill/>
            <a:miter lim="800000"/>
            <a:headEnd/>
            <a:tailEnd/>
          </a:ln>
        </p:spPr>
        <p:txBody>
          <a:bodyPr>
            <a:spAutoFit/>
          </a:bodyPr>
          <a:lstStyle/>
          <a:p>
            <a:pPr algn="ctr"/>
            <a:r>
              <a:rPr kumimoji="0" lang="zh-CN" altLang="en-US" b="1">
                <a:solidFill>
                  <a:schemeClr val="tx2"/>
                </a:solidFill>
              </a:rPr>
              <a:t>一平面简谐波沿 </a:t>
            </a:r>
            <a:r>
              <a:rPr kumimoji="0" lang="en-US" altLang="zh-CN" b="1" i="1">
                <a:solidFill>
                  <a:srgbClr val="FF6600"/>
                </a:solidFill>
              </a:rPr>
              <a:t>x </a:t>
            </a:r>
            <a:r>
              <a:rPr kumimoji="0" lang="zh-CN" altLang="en-US" b="1">
                <a:solidFill>
                  <a:schemeClr val="tx2"/>
                </a:solidFill>
              </a:rPr>
              <a:t>轴正方向传播，已知其波函数为	</a:t>
            </a:r>
            <a:endParaRPr kumimoji="0" lang="zh-CN" altLang="en-US" sz="1800">
              <a:solidFill>
                <a:schemeClr val="tx2"/>
              </a:solidFill>
            </a:endParaRPr>
          </a:p>
        </p:txBody>
      </p:sp>
      <p:graphicFrame>
        <p:nvGraphicFramePr>
          <p:cNvPr id="167939" name="Object 3"/>
          <p:cNvGraphicFramePr>
            <a:graphicFrameLocks noChangeAspect="1"/>
          </p:cNvGraphicFramePr>
          <p:nvPr/>
        </p:nvGraphicFramePr>
        <p:xfrm>
          <a:off x="2366963" y="1082675"/>
          <a:ext cx="3562350" cy="366713"/>
        </p:xfrm>
        <a:graphic>
          <a:graphicData uri="http://schemas.openxmlformats.org/presentationml/2006/ole">
            <p:oleObj spid="_x0000_s14338" name="公式" r:id="rId3" imgW="1955520" imgH="203040" progId="Equation.3">
              <p:embed/>
            </p:oleObj>
          </a:graphicData>
        </a:graphic>
      </p:graphicFrame>
      <p:graphicFrame>
        <p:nvGraphicFramePr>
          <p:cNvPr id="167940" name="Object 4"/>
          <p:cNvGraphicFramePr>
            <a:graphicFrameLocks/>
          </p:cNvGraphicFramePr>
          <p:nvPr/>
        </p:nvGraphicFramePr>
        <p:xfrm>
          <a:off x="2771775" y="4238625"/>
          <a:ext cx="3357563" cy="727075"/>
        </p:xfrm>
        <a:graphic>
          <a:graphicData uri="http://schemas.openxmlformats.org/presentationml/2006/ole">
            <p:oleObj spid="_x0000_s14339" name="公式" r:id="rId4" imgW="1866600" imgH="406080" progId="Equation.3">
              <p:embed/>
            </p:oleObj>
          </a:graphicData>
        </a:graphic>
      </p:graphicFrame>
      <p:graphicFrame>
        <p:nvGraphicFramePr>
          <p:cNvPr id="167941" name="Object 5"/>
          <p:cNvGraphicFramePr>
            <a:graphicFrameLocks noChangeAspect="1"/>
          </p:cNvGraphicFramePr>
          <p:nvPr/>
        </p:nvGraphicFramePr>
        <p:xfrm>
          <a:off x="3405188" y="5313363"/>
          <a:ext cx="1397000" cy="320675"/>
        </p:xfrm>
        <a:graphic>
          <a:graphicData uri="http://schemas.openxmlformats.org/presentationml/2006/ole">
            <p:oleObj spid="_x0000_s14340" name="公式" r:id="rId5" imgW="774360" imgH="177480" progId="Equation.3">
              <p:embed/>
            </p:oleObj>
          </a:graphicData>
        </a:graphic>
      </p:graphicFrame>
      <p:graphicFrame>
        <p:nvGraphicFramePr>
          <p:cNvPr id="167942" name="Object 6"/>
          <p:cNvGraphicFramePr>
            <a:graphicFrameLocks/>
          </p:cNvGraphicFramePr>
          <p:nvPr/>
        </p:nvGraphicFramePr>
        <p:xfrm>
          <a:off x="5394325" y="5049838"/>
          <a:ext cx="1846263" cy="727075"/>
        </p:xfrm>
        <a:graphic>
          <a:graphicData uri="http://schemas.openxmlformats.org/presentationml/2006/ole">
            <p:oleObj spid="_x0000_s14341" name="公式" r:id="rId6" imgW="1028520" imgH="406080" progId="Equation.3">
              <p:embed/>
            </p:oleObj>
          </a:graphicData>
        </a:graphic>
      </p:graphicFrame>
      <p:graphicFrame>
        <p:nvGraphicFramePr>
          <p:cNvPr id="167943" name="Object 7"/>
          <p:cNvGraphicFramePr>
            <a:graphicFrameLocks noChangeAspect="1"/>
          </p:cNvGraphicFramePr>
          <p:nvPr/>
        </p:nvGraphicFramePr>
        <p:xfrm>
          <a:off x="3171825" y="5768975"/>
          <a:ext cx="1965325" cy="731838"/>
        </p:xfrm>
        <a:graphic>
          <a:graphicData uri="http://schemas.openxmlformats.org/presentationml/2006/ole">
            <p:oleObj spid="_x0000_s14342" name="公式" r:id="rId7" imgW="1091880" imgH="406080" progId="Equation.3">
              <p:embed/>
            </p:oleObj>
          </a:graphicData>
        </a:graphic>
      </p:graphicFrame>
      <p:graphicFrame>
        <p:nvGraphicFramePr>
          <p:cNvPr id="167944" name="Object 8"/>
          <p:cNvGraphicFramePr>
            <a:graphicFrameLocks noChangeAspect="1"/>
          </p:cNvGraphicFramePr>
          <p:nvPr/>
        </p:nvGraphicFramePr>
        <p:xfrm>
          <a:off x="5427663" y="5768975"/>
          <a:ext cx="1970087" cy="730250"/>
        </p:xfrm>
        <a:graphic>
          <a:graphicData uri="http://schemas.openxmlformats.org/presentationml/2006/ole">
            <p:oleObj spid="_x0000_s14343" name="公式" r:id="rId8" imgW="1091880" imgH="406080" progId="Equation.3">
              <p:embed/>
            </p:oleObj>
          </a:graphicData>
        </a:graphic>
      </p:graphicFrame>
      <p:sp>
        <p:nvSpPr>
          <p:cNvPr id="167945" name="Rectangle 9"/>
          <p:cNvSpPr>
            <a:spLocks noChangeArrowheads="1"/>
          </p:cNvSpPr>
          <p:nvPr/>
        </p:nvSpPr>
        <p:spPr bwMode="auto">
          <a:xfrm>
            <a:off x="931863" y="2706688"/>
            <a:ext cx="5872162" cy="457200"/>
          </a:xfrm>
          <a:prstGeom prst="rect">
            <a:avLst/>
          </a:prstGeom>
          <a:noFill/>
          <a:ln w="9525">
            <a:noFill/>
            <a:miter lim="800000"/>
            <a:headEnd/>
            <a:tailEnd/>
          </a:ln>
        </p:spPr>
        <p:txBody>
          <a:bodyPr>
            <a:spAutoFit/>
          </a:bodyPr>
          <a:lstStyle/>
          <a:p>
            <a:r>
              <a:rPr kumimoji="0" lang="en-US" altLang="zh-CN" b="1">
                <a:solidFill>
                  <a:schemeClr val="tx2"/>
                </a:solidFill>
              </a:rPr>
              <a:t>(1)</a:t>
            </a:r>
            <a:r>
              <a:rPr kumimoji="0" lang="en-US" altLang="zh-CN"/>
              <a:t>    </a:t>
            </a:r>
            <a:r>
              <a:rPr kumimoji="0" lang="en-US" altLang="zh-CN" b="1">
                <a:solidFill>
                  <a:srgbClr val="008000"/>
                </a:solidFill>
              </a:rPr>
              <a:t>a. </a:t>
            </a:r>
            <a:r>
              <a:rPr kumimoji="0" lang="zh-CN" altLang="en-US" b="1">
                <a:solidFill>
                  <a:srgbClr val="008000"/>
                </a:solidFill>
              </a:rPr>
              <a:t>比较法</a:t>
            </a:r>
            <a:r>
              <a:rPr kumimoji="0" lang="zh-CN" altLang="en-US" b="1">
                <a:solidFill>
                  <a:schemeClr val="tx2"/>
                </a:solidFill>
              </a:rPr>
              <a:t> </a:t>
            </a:r>
            <a:r>
              <a:rPr kumimoji="0" lang="en-US" altLang="zh-CN" b="1">
                <a:solidFill>
                  <a:schemeClr val="tx2"/>
                </a:solidFill>
              </a:rPr>
              <a:t>( </a:t>
            </a:r>
            <a:r>
              <a:rPr kumimoji="0" lang="zh-CN" altLang="en-US" b="1">
                <a:solidFill>
                  <a:schemeClr val="tx2"/>
                </a:solidFill>
              </a:rPr>
              <a:t>与标准形式比较 ）</a:t>
            </a:r>
          </a:p>
        </p:txBody>
      </p:sp>
      <p:graphicFrame>
        <p:nvGraphicFramePr>
          <p:cNvPr id="167946" name="Object 10"/>
          <p:cNvGraphicFramePr>
            <a:graphicFrameLocks noChangeAspect="1"/>
          </p:cNvGraphicFramePr>
          <p:nvPr/>
        </p:nvGraphicFramePr>
        <p:xfrm>
          <a:off x="2636838" y="3338513"/>
          <a:ext cx="3390900" cy="709612"/>
        </p:xfrm>
        <a:graphic>
          <a:graphicData uri="http://schemas.openxmlformats.org/presentationml/2006/ole">
            <p:oleObj spid="_x0000_s14344" name="公式" r:id="rId9" imgW="1942920" imgH="406080" progId="Equation.3">
              <p:embed/>
            </p:oleObj>
          </a:graphicData>
        </a:graphic>
      </p:graphicFrame>
      <p:sp>
        <p:nvSpPr>
          <p:cNvPr id="167947" name="Text Box 11"/>
          <p:cNvSpPr txBox="1">
            <a:spLocks noChangeArrowheads="1"/>
          </p:cNvSpPr>
          <p:nvPr/>
        </p:nvSpPr>
        <p:spPr bwMode="auto">
          <a:xfrm>
            <a:off x="1109663" y="3467100"/>
            <a:ext cx="1752600" cy="457200"/>
          </a:xfrm>
          <a:prstGeom prst="rect">
            <a:avLst/>
          </a:prstGeom>
          <a:noFill/>
          <a:ln w="9525">
            <a:noFill/>
            <a:miter lim="800000"/>
            <a:headEnd/>
            <a:tailEnd/>
          </a:ln>
        </p:spPr>
        <p:txBody>
          <a:bodyPr>
            <a:spAutoFit/>
          </a:bodyPr>
          <a:lstStyle/>
          <a:p>
            <a:r>
              <a:rPr kumimoji="0" lang="zh-CN" altLang="en-US" b="1">
                <a:solidFill>
                  <a:schemeClr val="tx2"/>
                </a:solidFill>
              </a:rPr>
              <a:t>标准形式</a:t>
            </a:r>
            <a:endParaRPr kumimoji="0" lang="zh-CN" altLang="en-US" sz="1800">
              <a:solidFill>
                <a:schemeClr val="tx2"/>
              </a:solidFill>
            </a:endParaRPr>
          </a:p>
        </p:txBody>
      </p:sp>
      <p:sp>
        <p:nvSpPr>
          <p:cNvPr id="167948" name="Text Box 12"/>
          <p:cNvSpPr txBox="1">
            <a:spLocks noChangeArrowheads="1"/>
          </p:cNvSpPr>
          <p:nvPr/>
        </p:nvSpPr>
        <p:spPr bwMode="auto">
          <a:xfrm>
            <a:off x="1133475" y="4411663"/>
            <a:ext cx="2133600" cy="457200"/>
          </a:xfrm>
          <a:prstGeom prst="rect">
            <a:avLst/>
          </a:prstGeom>
          <a:noFill/>
          <a:ln w="9525">
            <a:noFill/>
            <a:miter lim="800000"/>
            <a:headEnd/>
            <a:tailEnd/>
          </a:ln>
        </p:spPr>
        <p:txBody>
          <a:bodyPr>
            <a:spAutoFit/>
          </a:bodyPr>
          <a:lstStyle/>
          <a:p>
            <a:r>
              <a:rPr kumimoji="0" lang="zh-CN" altLang="en-US" b="1">
                <a:solidFill>
                  <a:schemeClr val="tx2"/>
                </a:solidFill>
              </a:rPr>
              <a:t>波函数为</a:t>
            </a:r>
            <a:endParaRPr kumimoji="0" lang="zh-CN" altLang="en-US" sz="1800">
              <a:solidFill>
                <a:schemeClr val="tx2"/>
              </a:solidFill>
            </a:endParaRPr>
          </a:p>
        </p:txBody>
      </p:sp>
      <p:sp>
        <p:nvSpPr>
          <p:cNvPr id="167949" name="Text Box 13"/>
          <p:cNvSpPr txBox="1">
            <a:spLocks noChangeArrowheads="1"/>
          </p:cNvSpPr>
          <p:nvPr/>
        </p:nvSpPr>
        <p:spPr bwMode="auto">
          <a:xfrm>
            <a:off x="1136650" y="5176838"/>
            <a:ext cx="1905000" cy="457200"/>
          </a:xfrm>
          <a:prstGeom prst="rect">
            <a:avLst/>
          </a:prstGeom>
          <a:noFill/>
          <a:ln w="9525">
            <a:noFill/>
            <a:miter lim="800000"/>
            <a:headEnd/>
            <a:tailEnd/>
          </a:ln>
        </p:spPr>
        <p:txBody>
          <a:bodyPr>
            <a:spAutoFit/>
          </a:bodyPr>
          <a:lstStyle/>
          <a:p>
            <a:r>
              <a:rPr kumimoji="0" lang="zh-CN" altLang="en-US" b="1">
                <a:solidFill>
                  <a:schemeClr val="tx2"/>
                </a:solidFill>
              </a:rPr>
              <a:t>比较可得</a:t>
            </a:r>
            <a:endParaRPr kumimoji="0" lang="zh-CN" altLang="en-US" sz="1800">
              <a:solidFill>
                <a:schemeClr val="tx2"/>
              </a:solidFill>
            </a:endParaRPr>
          </a:p>
        </p:txBody>
      </p:sp>
      <p:sp>
        <p:nvSpPr>
          <p:cNvPr id="167950" name="Text Box 14"/>
          <p:cNvSpPr txBox="1">
            <a:spLocks noChangeArrowheads="1"/>
          </p:cNvSpPr>
          <p:nvPr/>
        </p:nvSpPr>
        <p:spPr bwMode="auto">
          <a:xfrm>
            <a:off x="161925" y="496888"/>
            <a:ext cx="492125" cy="457200"/>
          </a:xfrm>
          <a:prstGeom prst="rect">
            <a:avLst/>
          </a:prstGeom>
          <a:noFill/>
          <a:ln w="9525">
            <a:noFill/>
            <a:miter lim="800000"/>
            <a:headEnd/>
            <a:tailEnd/>
          </a:ln>
        </p:spPr>
        <p:txBody>
          <a:bodyPr wrap="none" anchor="ctr">
            <a:spAutoFit/>
          </a:bodyPr>
          <a:lstStyle/>
          <a:p>
            <a:pPr algn="ctr"/>
            <a:r>
              <a:rPr kumimoji="0" lang="zh-CN" altLang="en-US" b="1">
                <a:solidFill>
                  <a:srgbClr val="FF0000"/>
                </a:solidFill>
              </a:rPr>
              <a:t>例</a:t>
            </a:r>
            <a:endParaRPr kumimoji="0" lang="zh-CN" altLang="en-US" sz="1800">
              <a:solidFill>
                <a:srgbClr val="FF0000"/>
              </a:solidFill>
            </a:endParaRPr>
          </a:p>
        </p:txBody>
      </p:sp>
      <p:sp>
        <p:nvSpPr>
          <p:cNvPr id="167951" name="Text Box 15"/>
          <p:cNvSpPr txBox="1">
            <a:spLocks noChangeArrowheads="1"/>
          </p:cNvSpPr>
          <p:nvPr/>
        </p:nvSpPr>
        <p:spPr bwMode="auto">
          <a:xfrm>
            <a:off x="206375" y="2701925"/>
            <a:ext cx="492125" cy="457200"/>
          </a:xfrm>
          <a:prstGeom prst="rect">
            <a:avLst/>
          </a:prstGeom>
          <a:noFill/>
          <a:ln w="9525">
            <a:noFill/>
            <a:miter lim="800000"/>
            <a:headEnd/>
            <a:tailEnd/>
          </a:ln>
        </p:spPr>
        <p:txBody>
          <a:bodyPr wrap="none" anchor="ctr">
            <a:spAutoFit/>
          </a:bodyPr>
          <a:lstStyle/>
          <a:p>
            <a:pPr algn="ctr"/>
            <a:r>
              <a:rPr kumimoji="0" lang="zh-CN" altLang="en-US" b="1">
                <a:solidFill>
                  <a:srgbClr val="FF0000"/>
                </a:solidFill>
              </a:rPr>
              <a:t>解</a:t>
            </a:r>
            <a:endParaRPr kumimoji="0" lang="zh-CN" altLang="en-US" sz="1800">
              <a:solidFill>
                <a:srgbClr val="FF0000"/>
              </a:solidFill>
            </a:endParaRPr>
          </a:p>
        </p:txBody>
      </p:sp>
      <p:sp>
        <p:nvSpPr>
          <p:cNvPr id="167952" name="Rectangle 16"/>
          <p:cNvSpPr>
            <a:spLocks noChangeArrowheads="1"/>
          </p:cNvSpPr>
          <p:nvPr/>
        </p:nvSpPr>
        <p:spPr bwMode="auto">
          <a:xfrm>
            <a:off x="161925" y="1576388"/>
            <a:ext cx="492125" cy="457200"/>
          </a:xfrm>
          <a:prstGeom prst="rect">
            <a:avLst/>
          </a:prstGeom>
          <a:noFill/>
          <a:ln w="9525">
            <a:noFill/>
            <a:miter lim="800000"/>
            <a:headEnd/>
            <a:tailEnd/>
          </a:ln>
        </p:spPr>
        <p:txBody>
          <a:bodyPr wrap="none">
            <a:spAutoFit/>
          </a:bodyPr>
          <a:lstStyle/>
          <a:p>
            <a:pPr algn="ctr"/>
            <a:r>
              <a:rPr kumimoji="0" lang="zh-CN" altLang="en-US" b="1">
                <a:solidFill>
                  <a:srgbClr val="FF0000"/>
                </a:solidFill>
              </a:rPr>
              <a:t>求</a:t>
            </a:r>
            <a:endParaRPr kumimoji="0" lang="zh-CN" altLang="en-US" sz="1800">
              <a:solidFill>
                <a:srgbClr val="FF0000"/>
              </a:solidFill>
            </a:endParaRPr>
          </a:p>
        </p:txBody>
      </p:sp>
      <p:sp>
        <p:nvSpPr>
          <p:cNvPr id="167953" name="Rectangle 17"/>
          <p:cNvSpPr>
            <a:spLocks noChangeArrowheads="1"/>
          </p:cNvSpPr>
          <p:nvPr/>
        </p:nvSpPr>
        <p:spPr bwMode="auto">
          <a:xfrm>
            <a:off x="900113" y="1557338"/>
            <a:ext cx="6489700" cy="968375"/>
          </a:xfrm>
          <a:prstGeom prst="rect">
            <a:avLst/>
          </a:prstGeom>
          <a:noFill/>
          <a:ln w="9525">
            <a:noFill/>
            <a:miter lim="800000"/>
            <a:headEnd/>
            <a:tailEnd/>
          </a:ln>
        </p:spPr>
        <p:txBody>
          <a:bodyPr>
            <a:spAutoFit/>
          </a:bodyPr>
          <a:lstStyle/>
          <a:p>
            <a:pPr>
              <a:lnSpc>
                <a:spcPct val="120000"/>
              </a:lnSpc>
            </a:pPr>
            <a:r>
              <a:rPr lang="en-US" altLang="zh-CN" b="1">
                <a:solidFill>
                  <a:schemeClr val="tx2"/>
                </a:solidFill>
              </a:rPr>
              <a:t> (1) </a:t>
            </a:r>
            <a:r>
              <a:rPr lang="zh-CN" altLang="en-US" b="1">
                <a:solidFill>
                  <a:schemeClr val="tx2"/>
                </a:solidFill>
              </a:rPr>
              <a:t>波的振幅、波长、周期及波速；</a:t>
            </a:r>
          </a:p>
          <a:p>
            <a:pPr>
              <a:lnSpc>
                <a:spcPct val="120000"/>
              </a:lnSpc>
            </a:pPr>
            <a:r>
              <a:rPr lang="zh-CN" altLang="en-US" b="1">
                <a:solidFill>
                  <a:schemeClr val="tx2"/>
                </a:solidFill>
              </a:rPr>
              <a:t> </a:t>
            </a:r>
            <a:r>
              <a:rPr lang="en-US" altLang="zh-CN" b="1">
                <a:solidFill>
                  <a:schemeClr val="tx2"/>
                </a:solidFill>
              </a:rPr>
              <a:t>(2) </a:t>
            </a:r>
            <a:r>
              <a:rPr lang="zh-CN" altLang="en-US" b="1">
                <a:solidFill>
                  <a:schemeClr val="tx2"/>
                </a:solidFill>
              </a:rPr>
              <a:t>质点振动的最大速度。</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50"/>
                                        </p:tgtEl>
                                        <p:attrNameLst>
                                          <p:attrName>style.visibility</p:attrName>
                                        </p:attrNameLst>
                                      </p:cBhvr>
                                      <p:to>
                                        <p:strVal val="visible"/>
                                      </p:to>
                                    </p:set>
                                    <p:animEffect transition="in" filter="wipe(left)">
                                      <p:cBhvr>
                                        <p:cTn id="7" dur="500"/>
                                        <p:tgtEl>
                                          <p:spTgt spid="1679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7938"/>
                                        </p:tgtEl>
                                        <p:attrNameLst>
                                          <p:attrName>style.visibility</p:attrName>
                                        </p:attrNameLst>
                                      </p:cBhvr>
                                      <p:to>
                                        <p:strVal val="visible"/>
                                      </p:to>
                                    </p:set>
                                    <p:animEffect transition="in" filter="wipe(left)">
                                      <p:cBhvr>
                                        <p:cTn id="12" dur="500"/>
                                        <p:tgtEl>
                                          <p:spTgt spid="16793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7939"/>
                                        </p:tgtEl>
                                        <p:attrNameLst>
                                          <p:attrName>style.visibility</p:attrName>
                                        </p:attrNameLst>
                                      </p:cBhvr>
                                      <p:to>
                                        <p:strVal val="visible"/>
                                      </p:to>
                                    </p:set>
                                    <p:animEffect transition="in" filter="wipe(left)">
                                      <p:cBhvr>
                                        <p:cTn id="17" dur="500"/>
                                        <p:tgtEl>
                                          <p:spTgt spid="16793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16795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67953"/>
                                        </p:tgtEl>
                                        <p:attrNameLst>
                                          <p:attrName>style.visibility</p:attrName>
                                        </p:attrNameLst>
                                      </p:cBhvr>
                                      <p:to>
                                        <p:strVal val="visible"/>
                                      </p:to>
                                    </p:set>
                                    <p:animEffect transition="in" filter="wipe(left)">
                                      <p:cBhvr>
                                        <p:cTn id="26" dur="500"/>
                                        <p:tgtEl>
                                          <p:spTgt spid="16795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7951"/>
                                        </p:tgtEl>
                                        <p:attrNameLst>
                                          <p:attrName>style.visibility</p:attrName>
                                        </p:attrNameLst>
                                      </p:cBhvr>
                                      <p:to>
                                        <p:strVal val="visible"/>
                                      </p:to>
                                    </p:set>
                                    <p:animEffect transition="in" filter="wipe(left)">
                                      <p:cBhvr>
                                        <p:cTn id="31" dur="500"/>
                                        <p:tgtEl>
                                          <p:spTgt spid="16795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7945"/>
                                        </p:tgtEl>
                                        <p:attrNameLst>
                                          <p:attrName>style.visibility</p:attrName>
                                        </p:attrNameLst>
                                      </p:cBhvr>
                                      <p:to>
                                        <p:strVal val="visible"/>
                                      </p:to>
                                    </p:set>
                                    <p:animEffect transition="in" filter="wipe(left)">
                                      <p:cBhvr>
                                        <p:cTn id="36" dur="500"/>
                                        <p:tgtEl>
                                          <p:spTgt spid="16794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67947"/>
                                        </p:tgtEl>
                                        <p:attrNameLst>
                                          <p:attrName>style.visibility</p:attrName>
                                        </p:attrNameLst>
                                      </p:cBhvr>
                                      <p:to>
                                        <p:strVal val="visible"/>
                                      </p:to>
                                    </p:set>
                                    <p:animEffect transition="in" filter="wipe(left)">
                                      <p:cBhvr>
                                        <p:cTn id="41" dur="500"/>
                                        <p:tgtEl>
                                          <p:spTgt spid="16794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67946"/>
                                        </p:tgtEl>
                                        <p:attrNameLst>
                                          <p:attrName>style.visibility</p:attrName>
                                        </p:attrNameLst>
                                      </p:cBhvr>
                                      <p:to>
                                        <p:strVal val="visible"/>
                                      </p:to>
                                    </p:set>
                                    <p:animEffect transition="in" filter="wipe(left)">
                                      <p:cBhvr>
                                        <p:cTn id="46" dur="500"/>
                                        <p:tgtEl>
                                          <p:spTgt spid="167946"/>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6794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67940"/>
                                        </p:tgtEl>
                                        <p:attrNameLst>
                                          <p:attrName>style.visibility</p:attrName>
                                        </p:attrNameLst>
                                      </p:cBhvr>
                                      <p:to>
                                        <p:strVal val="visible"/>
                                      </p:to>
                                    </p:set>
                                    <p:animEffect transition="in" filter="wipe(left)">
                                      <p:cBhvr>
                                        <p:cTn id="55" dur="500"/>
                                        <p:tgtEl>
                                          <p:spTgt spid="16794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67949"/>
                                        </p:tgtEl>
                                        <p:attrNameLst>
                                          <p:attrName>style.visibility</p:attrName>
                                        </p:attrNameLst>
                                      </p:cBhvr>
                                      <p:to>
                                        <p:strVal val="visible"/>
                                      </p:to>
                                    </p:set>
                                    <p:animEffect transition="in" filter="wipe(left)">
                                      <p:cBhvr>
                                        <p:cTn id="60" dur="500"/>
                                        <p:tgtEl>
                                          <p:spTgt spid="167949"/>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67941"/>
                                        </p:tgtEl>
                                        <p:attrNameLst>
                                          <p:attrName>style.visibility</p:attrName>
                                        </p:attrNameLst>
                                      </p:cBhvr>
                                      <p:to>
                                        <p:strVal val="visible"/>
                                      </p:to>
                                    </p:set>
                                    <p:animEffect transition="in" filter="wipe(left)">
                                      <p:cBhvr>
                                        <p:cTn id="65" dur="500"/>
                                        <p:tgtEl>
                                          <p:spTgt spid="16794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67942"/>
                                        </p:tgtEl>
                                        <p:attrNameLst>
                                          <p:attrName>style.visibility</p:attrName>
                                        </p:attrNameLst>
                                      </p:cBhvr>
                                      <p:to>
                                        <p:strVal val="visible"/>
                                      </p:to>
                                    </p:set>
                                    <p:animEffect transition="in" filter="wipe(left)">
                                      <p:cBhvr>
                                        <p:cTn id="70" dur="500"/>
                                        <p:tgtEl>
                                          <p:spTgt spid="167942"/>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67943"/>
                                        </p:tgtEl>
                                        <p:attrNameLst>
                                          <p:attrName>style.visibility</p:attrName>
                                        </p:attrNameLst>
                                      </p:cBhvr>
                                      <p:to>
                                        <p:strVal val="visible"/>
                                      </p:to>
                                    </p:set>
                                    <p:animEffect transition="in" filter="wipe(left)">
                                      <p:cBhvr>
                                        <p:cTn id="75" dur="500"/>
                                        <p:tgtEl>
                                          <p:spTgt spid="167943"/>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167944"/>
                                        </p:tgtEl>
                                        <p:attrNameLst>
                                          <p:attrName>style.visibility</p:attrName>
                                        </p:attrNameLst>
                                      </p:cBhvr>
                                      <p:to>
                                        <p:strVal val="visible"/>
                                      </p:to>
                                    </p:set>
                                    <p:animEffect transition="in" filter="wipe(left)">
                                      <p:cBhvr>
                                        <p:cTn id="80" dur="500"/>
                                        <p:tgtEl>
                                          <p:spTgt spid="1679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8" grpId="0" autoUpdateAnimBg="0"/>
      <p:bldP spid="167945" grpId="0" autoUpdateAnimBg="0"/>
      <p:bldP spid="167947" grpId="0" autoUpdateAnimBg="0"/>
      <p:bldP spid="167948" grpId="0" autoUpdateAnimBg="0"/>
      <p:bldP spid="167949" grpId="0" autoUpdateAnimBg="0"/>
      <p:bldP spid="167950" grpId="0" autoUpdateAnimBg="0"/>
      <p:bldP spid="167951" grpId="0" autoUpdateAnimBg="0"/>
      <p:bldP spid="167952" grpId="0" autoUpdateAnimBg="0"/>
      <p:bldP spid="167953"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8962" name="Object 2"/>
          <p:cNvGraphicFramePr>
            <a:graphicFrameLocks noChangeAspect="1"/>
          </p:cNvGraphicFramePr>
          <p:nvPr/>
        </p:nvGraphicFramePr>
        <p:xfrm>
          <a:off x="1924050" y="3084513"/>
          <a:ext cx="4357688" cy="388937"/>
        </p:xfrm>
        <a:graphic>
          <a:graphicData uri="http://schemas.openxmlformats.org/presentationml/2006/ole">
            <p:oleObj spid="_x0000_s15362" name="公式" r:id="rId3" imgW="2425680" imgH="215640" progId="Equation.3">
              <p:embed/>
            </p:oleObj>
          </a:graphicData>
        </a:graphic>
      </p:graphicFrame>
      <p:graphicFrame>
        <p:nvGraphicFramePr>
          <p:cNvPr id="168963" name="Object 3"/>
          <p:cNvGraphicFramePr>
            <a:graphicFrameLocks noChangeAspect="1"/>
          </p:cNvGraphicFramePr>
          <p:nvPr/>
        </p:nvGraphicFramePr>
        <p:xfrm>
          <a:off x="1908175" y="3579813"/>
          <a:ext cx="2159000" cy="388937"/>
        </p:xfrm>
        <a:graphic>
          <a:graphicData uri="http://schemas.openxmlformats.org/presentationml/2006/ole">
            <p:oleObj spid="_x0000_s15363" name="公式" r:id="rId4" imgW="1206360" imgH="215640" progId="Equation.3">
              <p:embed/>
            </p:oleObj>
          </a:graphicData>
        </a:graphic>
      </p:graphicFrame>
      <p:graphicFrame>
        <p:nvGraphicFramePr>
          <p:cNvPr id="168964" name="Object 4"/>
          <p:cNvGraphicFramePr>
            <a:graphicFrameLocks/>
          </p:cNvGraphicFramePr>
          <p:nvPr/>
        </p:nvGraphicFramePr>
        <p:xfrm>
          <a:off x="1916113" y="2033588"/>
          <a:ext cx="4351337" cy="388937"/>
        </p:xfrm>
        <a:graphic>
          <a:graphicData uri="http://schemas.openxmlformats.org/presentationml/2006/ole">
            <p:oleObj spid="_x0000_s15364" name="公式" r:id="rId5" imgW="2425680" imgH="215640" progId="Equation.3">
              <p:embed/>
            </p:oleObj>
          </a:graphicData>
        </a:graphic>
      </p:graphicFrame>
      <p:graphicFrame>
        <p:nvGraphicFramePr>
          <p:cNvPr id="168965" name="Object 5"/>
          <p:cNvGraphicFramePr>
            <a:graphicFrameLocks/>
          </p:cNvGraphicFramePr>
          <p:nvPr/>
        </p:nvGraphicFramePr>
        <p:xfrm>
          <a:off x="1928813" y="2544763"/>
          <a:ext cx="2230437" cy="388937"/>
        </p:xfrm>
        <a:graphic>
          <a:graphicData uri="http://schemas.openxmlformats.org/presentationml/2006/ole">
            <p:oleObj spid="_x0000_s15365" name="公式" r:id="rId6" imgW="1244520" imgH="215640" progId="Equation.3">
              <p:embed/>
            </p:oleObj>
          </a:graphicData>
        </a:graphic>
      </p:graphicFrame>
      <p:graphicFrame>
        <p:nvGraphicFramePr>
          <p:cNvPr id="168966" name="Object 6"/>
          <p:cNvGraphicFramePr>
            <a:graphicFrameLocks noChangeAspect="1"/>
          </p:cNvGraphicFramePr>
          <p:nvPr/>
        </p:nvGraphicFramePr>
        <p:xfrm>
          <a:off x="1916113" y="4095750"/>
          <a:ext cx="3984625" cy="388938"/>
        </p:xfrm>
        <a:graphic>
          <a:graphicData uri="http://schemas.openxmlformats.org/presentationml/2006/ole">
            <p:oleObj spid="_x0000_s15366" name="公式" r:id="rId7" imgW="2222280" imgH="215640" progId="Equation.3">
              <p:embed/>
            </p:oleObj>
          </a:graphicData>
        </a:graphic>
      </p:graphicFrame>
      <p:graphicFrame>
        <p:nvGraphicFramePr>
          <p:cNvPr id="168967" name="Object 7"/>
          <p:cNvGraphicFramePr>
            <a:graphicFrameLocks noChangeAspect="1"/>
          </p:cNvGraphicFramePr>
          <p:nvPr/>
        </p:nvGraphicFramePr>
        <p:xfrm>
          <a:off x="1882775" y="4521200"/>
          <a:ext cx="2579688" cy="798513"/>
        </p:xfrm>
        <a:graphic>
          <a:graphicData uri="http://schemas.openxmlformats.org/presentationml/2006/ole">
            <p:oleObj spid="_x0000_s15367" name="公式" r:id="rId8" imgW="1434960" imgH="444240" progId="Equation.3">
              <p:embed/>
            </p:oleObj>
          </a:graphicData>
        </a:graphic>
      </p:graphicFrame>
      <p:graphicFrame>
        <p:nvGraphicFramePr>
          <p:cNvPr id="168968" name="Object 8"/>
          <p:cNvGraphicFramePr>
            <a:graphicFrameLocks noChangeAspect="1"/>
          </p:cNvGraphicFramePr>
          <p:nvPr/>
        </p:nvGraphicFramePr>
        <p:xfrm>
          <a:off x="1736725" y="5307013"/>
          <a:ext cx="4498975" cy="777875"/>
        </p:xfrm>
        <a:graphic>
          <a:graphicData uri="http://schemas.openxmlformats.org/presentationml/2006/ole">
            <p:oleObj spid="_x0000_s15368" name="公式" r:id="rId9" imgW="2501640" imgH="431640" progId="Equation.3">
              <p:embed/>
            </p:oleObj>
          </a:graphicData>
        </a:graphic>
      </p:graphicFrame>
      <p:graphicFrame>
        <p:nvGraphicFramePr>
          <p:cNvPr id="168969" name="Object 9"/>
          <p:cNvGraphicFramePr>
            <a:graphicFrameLocks noChangeAspect="1"/>
          </p:cNvGraphicFramePr>
          <p:nvPr/>
        </p:nvGraphicFramePr>
        <p:xfrm>
          <a:off x="1701800" y="6084888"/>
          <a:ext cx="3262313" cy="411162"/>
        </p:xfrm>
        <a:graphic>
          <a:graphicData uri="http://schemas.openxmlformats.org/presentationml/2006/ole">
            <p:oleObj spid="_x0000_s15369" name="公式" r:id="rId10" imgW="1815840" imgH="228600" progId="Equation.3">
              <p:embed/>
            </p:oleObj>
          </a:graphicData>
        </a:graphic>
      </p:graphicFrame>
      <p:graphicFrame>
        <p:nvGraphicFramePr>
          <p:cNvPr id="168970" name="Object 10"/>
          <p:cNvGraphicFramePr>
            <a:graphicFrameLocks/>
          </p:cNvGraphicFramePr>
          <p:nvPr/>
        </p:nvGraphicFramePr>
        <p:xfrm>
          <a:off x="2028825" y="1449388"/>
          <a:ext cx="2173288" cy="409575"/>
        </p:xfrm>
        <a:graphic>
          <a:graphicData uri="http://schemas.openxmlformats.org/presentationml/2006/ole">
            <p:oleObj spid="_x0000_s15370" name="公式" r:id="rId11" imgW="1206360" imgH="228600" progId="Equation.3">
              <p:embed/>
            </p:oleObj>
          </a:graphicData>
        </a:graphic>
      </p:graphicFrame>
      <p:sp>
        <p:nvSpPr>
          <p:cNvPr id="168971" name="Rectangle 11"/>
          <p:cNvSpPr>
            <a:spLocks noChangeArrowheads="1"/>
          </p:cNvSpPr>
          <p:nvPr/>
        </p:nvSpPr>
        <p:spPr bwMode="auto">
          <a:xfrm>
            <a:off x="784225" y="1314450"/>
            <a:ext cx="1042988" cy="457200"/>
          </a:xfrm>
          <a:prstGeom prst="rect">
            <a:avLst/>
          </a:prstGeom>
          <a:noFill/>
          <a:ln w="9525">
            <a:noFill/>
            <a:miter lim="800000"/>
            <a:headEnd/>
            <a:tailEnd/>
          </a:ln>
        </p:spPr>
        <p:txBody>
          <a:bodyPr>
            <a:spAutoFit/>
          </a:bodyPr>
          <a:lstStyle/>
          <a:p>
            <a:r>
              <a:rPr kumimoji="0" lang="zh-CN" altLang="en-US" b="1">
                <a:solidFill>
                  <a:srgbClr val="FF6600"/>
                </a:solidFill>
                <a:latin typeface="宋体" pitchFamily="2" charset="-122"/>
              </a:rPr>
              <a:t>振幅</a:t>
            </a:r>
            <a:endParaRPr kumimoji="0" lang="zh-CN" altLang="en-US" sz="1800">
              <a:solidFill>
                <a:srgbClr val="FF6600"/>
              </a:solidFill>
            </a:endParaRPr>
          </a:p>
        </p:txBody>
      </p:sp>
      <p:sp>
        <p:nvSpPr>
          <p:cNvPr id="168972" name="Rectangle 12"/>
          <p:cNvSpPr>
            <a:spLocks noChangeArrowheads="1"/>
          </p:cNvSpPr>
          <p:nvPr/>
        </p:nvSpPr>
        <p:spPr bwMode="auto">
          <a:xfrm>
            <a:off x="725488" y="1981200"/>
            <a:ext cx="922337" cy="457200"/>
          </a:xfrm>
          <a:prstGeom prst="rect">
            <a:avLst/>
          </a:prstGeom>
          <a:noFill/>
          <a:ln w="9525">
            <a:noFill/>
            <a:miter lim="800000"/>
            <a:headEnd/>
            <a:tailEnd/>
          </a:ln>
        </p:spPr>
        <p:txBody>
          <a:bodyPr>
            <a:spAutoFit/>
          </a:bodyPr>
          <a:lstStyle/>
          <a:p>
            <a:pPr algn="ctr"/>
            <a:r>
              <a:rPr kumimoji="0" lang="zh-CN" altLang="en-US" b="1">
                <a:solidFill>
                  <a:srgbClr val="FF6600"/>
                </a:solidFill>
                <a:latin typeface="宋体" pitchFamily="2" charset="-122"/>
              </a:rPr>
              <a:t>波长</a:t>
            </a:r>
            <a:endParaRPr kumimoji="0" lang="zh-CN" altLang="en-US" sz="1800">
              <a:solidFill>
                <a:srgbClr val="FF6600"/>
              </a:solidFill>
            </a:endParaRPr>
          </a:p>
        </p:txBody>
      </p:sp>
      <p:sp>
        <p:nvSpPr>
          <p:cNvPr id="168973" name="Rectangle 13"/>
          <p:cNvSpPr>
            <a:spLocks noChangeArrowheads="1"/>
          </p:cNvSpPr>
          <p:nvPr/>
        </p:nvSpPr>
        <p:spPr bwMode="auto">
          <a:xfrm>
            <a:off x="665163" y="3016250"/>
            <a:ext cx="995362" cy="457200"/>
          </a:xfrm>
          <a:prstGeom prst="rect">
            <a:avLst/>
          </a:prstGeom>
          <a:noFill/>
          <a:ln w="9525">
            <a:noFill/>
            <a:miter lim="800000"/>
            <a:headEnd/>
            <a:tailEnd/>
          </a:ln>
        </p:spPr>
        <p:txBody>
          <a:bodyPr>
            <a:spAutoFit/>
          </a:bodyPr>
          <a:lstStyle/>
          <a:p>
            <a:pPr algn="ctr"/>
            <a:r>
              <a:rPr kumimoji="0" lang="zh-CN" altLang="en-US" b="1">
                <a:solidFill>
                  <a:srgbClr val="FF6600"/>
                </a:solidFill>
                <a:latin typeface="宋体" pitchFamily="2" charset="-122"/>
              </a:rPr>
              <a:t>周期</a:t>
            </a:r>
            <a:endParaRPr kumimoji="0" lang="zh-CN" altLang="en-US" sz="1800">
              <a:solidFill>
                <a:srgbClr val="FF6600"/>
              </a:solidFill>
            </a:endParaRPr>
          </a:p>
        </p:txBody>
      </p:sp>
      <p:sp>
        <p:nvSpPr>
          <p:cNvPr id="168974" name="Rectangle 14"/>
          <p:cNvSpPr>
            <a:spLocks noChangeArrowheads="1"/>
          </p:cNvSpPr>
          <p:nvPr/>
        </p:nvSpPr>
        <p:spPr bwMode="auto">
          <a:xfrm>
            <a:off x="677863" y="4014788"/>
            <a:ext cx="982662" cy="457200"/>
          </a:xfrm>
          <a:prstGeom prst="rect">
            <a:avLst/>
          </a:prstGeom>
          <a:noFill/>
          <a:ln w="9525">
            <a:noFill/>
            <a:miter lim="800000"/>
            <a:headEnd/>
            <a:tailEnd/>
          </a:ln>
        </p:spPr>
        <p:txBody>
          <a:bodyPr>
            <a:spAutoFit/>
          </a:bodyPr>
          <a:lstStyle/>
          <a:p>
            <a:pPr algn="ctr"/>
            <a:r>
              <a:rPr kumimoji="0" lang="zh-CN" altLang="en-US" b="1">
                <a:solidFill>
                  <a:srgbClr val="FF6600"/>
                </a:solidFill>
                <a:latin typeface="宋体" pitchFamily="2" charset="-122"/>
              </a:rPr>
              <a:t>波速</a:t>
            </a:r>
            <a:endParaRPr kumimoji="0" lang="zh-CN" altLang="en-US" sz="1800">
              <a:solidFill>
                <a:srgbClr val="FF6600"/>
              </a:solidFill>
            </a:endParaRPr>
          </a:p>
        </p:txBody>
      </p:sp>
      <p:sp>
        <p:nvSpPr>
          <p:cNvPr id="168975" name="Text Box 15"/>
          <p:cNvSpPr txBox="1">
            <a:spLocks noChangeArrowheads="1"/>
          </p:cNvSpPr>
          <p:nvPr/>
        </p:nvSpPr>
        <p:spPr bwMode="auto">
          <a:xfrm>
            <a:off x="836613" y="5402263"/>
            <a:ext cx="647700" cy="457200"/>
          </a:xfrm>
          <a:prstGeom prst="rect">
            <a:avLst/>
          </a:prstGeom>
          <a:noFill/>
          <a:ln w="9525">
            <a:noFill/>
            <a:miter lim="800000"/>
            <a:headEnd/>
            <a:tailEnd/>
          </a:ln>
        </p:spPr>
        <p:txBody>
          <a:bodyPr>
            <a:spAutoFit/>
          </a:bodyPr>
          <a:lstStyle/>
          <a:p>
            <a:r>
              <a:rPr kumimoji="0" lang="en-US" altLang="zh-CN" b="1">
                <a:solidFill>
                  <a:schemeClr val="tx2"/>
                </a:solidFill>
              </a:rPr>
              <a:t>(2)</a:t>
            </a:r>
            <a:endParaRPr kumimoji="0" lang="en-US" altLang="zh-CN" sz="1800">
              <a:solidFill>
                <a:schemeClr val="tx2"/>
              </a:solidFill>
            </a:endParaRPr>
          </a:p>
        </p:txBody>
      </p:sp>
      <p:graphicFrame>
        <p:nvGraphicFramePr>
          <p:cNvPr id="168976" name="Object 16"/>
          <p:cNvGraphicFramePr>
            <a:graphicFrameLocks noChangeAspect="1"/>
          </p:cNvGraphicFramePr>
          <p:nvPr/>
        </p:nvGraphicFramePr>
        <p:xfrm>
          <a:off x="5021263" y="6129338"/>
          <a:ext cx="479425" cy="274637"/>
        </p:xfrm>
        <a:graphic>
          <a:graphicData uri="http://schemas.openxmlformats.org/presentationml/2006/ole">
            <p:oleObj spid="_x0000_s15371" name="公式" r:id="rId12" imgW="266400" imgH="152280" progId="Equation.3">
              <p:embed/>
            </p:oleObj>
          </a:graphicData>
        </a:graphic>
      </p:graphicFrame>
      <p:sp>
        <p:nvSpPr>
          <p:cNvPr id="168977" name="Rectangle 17"/>
          <p:cNvSpPr>
            <a:spLocks noChangeArrowheads="1"/>
          </p:cNvSpPr>
          <p:nvPr/>
        </p:nvSpPr>
        <p:spPr bwMode="auto">
          <a:xfrm>
            <a:off x="341313" y="811213"/>
            <a:ext cx="7445375" cy="457200"/>
          </a:xfrm>
          <a:prstGeom prst="rect">
            <a:avLst/>
          </a:prstGeom>
          <a:noFill/>
          <a:ln w="9525">
            <a:noFill/>
            <a:miter lim="800000"/>
            <a:headEnd/>
            <a:tailEnd/>
          </a:ln>
        </p:spPr>
        <p:txBody>
          <a:bodyPr>
            <a:spAutoFit/>
          </a:bodyPr>
          <a:lstStyle/>
          <a:p>
            <a:r>
              <a:rPr lang="en-US" altLang="zh-CN" b="1">
                <a:solidFill>
                  <a:srgbClr val="008000"/>
                </a:solidFill>
              </a:rPr>
              <a:t>b</a:t>
            </a:r>
            <a:r>
              <a:rPr lang="en-US" altLang="zh-CN" b="1">
                <a:solidFill>
                  <a:srgbClr val="008000"/>
                </a:solidFill>
                <a:latin typeface="宋体" pitchFamily="2" charset="-122"/>
              </a:rPr>
              <a:t>.</a:t>
            </a:r>
            <a:r>
              <a:rPr lang="zh-CN" altLang="en-US" b="1">
                <a:solidFill>
                  <a:srgbClr val="008000"/>
                </a:solidFill>
                <a:latin typeface="宋体" pitchFamily="2" charset="-122"/>
              </a:rPr>
              <a:t>分析法</a:t>
            </a:r>
            <a:r>
              <a:rPr lang="zh-CN" altLang="en-US" b="1">
                <a:solidFill>
                  <a:schemeClr val="tx2"/>
                </a:solidFill>
                <a:latin typeface="宋体" pitchFamily="2" charset="-122"/>
              </a:rPr>
              <a:t>（由各量物理意义，分析相位关系）</a:t>
            </a:r>
            <a:endParaRPr lang="zh-CN" altLang="en-US"/>
          </a:p>
        </p:txBody>
      </p:sp>
      <p:graphicFrame>
        <p:nvGraphicFramePr>
          <p:cNvPr id="15372" name="Object 18"/>
          <p:cNvGraphicFramePr>
            <a:graphicFrameLocks/>
          </p:cNvGraphicFramePr>
          <p:nvPr/>
        </p:nvGraphicFramePr>
        <p:xfrm>
          <a:off x="2474913" y="427038"/>
          <a:ext cx="3317875" cy="346075"/>
        </p:xfrm>
        <a:graphic>
          <a:graphicData uri="http://schemas.openxmlformats.org/presentationml/2006/ole">
            <p:oleObj spid="_x0000_s15372" name="公式" r:id="rId13" imgW="1955520" imgH="2030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8977"/>
                                        </p:tgtEl>
                                        <p:attrNameLst>
                                          <p:attrName>style.visibility</p:attrName>
                                        </p:attrNameLst>
                                      </p:cBhvr>
                                      <p:to>
                                        <p:strVal val="visible"/>
                                      </p:to>
                                    </p:set>
                                    <p:animEffect transition="in" filter="wipe(left)">
                                      <p:cBhvr>
                                        <p:cTn id="7" dur="500"/>
                                        <p:tgtEl>
                                          <p:spTgt spid="1689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8971"/>
                                        </p:tgtEl>
                                        <p:attrNameLst>
                                          <p:attrName>style.visibility</p:attrName>
                                        </p:attrNameLst>
                                      </p:cBhvr>
                                      <p:to>
                                        <p:strVal val="visible"/>
                                      </p:to>
                                    </p:set>
                                    <p:animEffect transition="in" filter="wipe(left)">
                                      <p:cBhvr>
                                        <p:cTn id="12" dur="500"/>
                                        <p:tgtEl>
                                          <p:spTgt spid="1689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8970"/>
                                        </p:tgtEl>
                                        <p:attrNameLst>
                                          <p:attrName>style.visibility</p:attrName>
                                        </p:attrNameLst>
                                      </p:cBhvr>
                                      <p:to>
                                        <p:strVal val="visible"/>
                                      </p:to>
                                    </p:set>
                                    <p:animEffect transition="in" filter="wipe(left)">
                                      <p:cBhvr>
                                        <p:cTn id="17" dur="500"/>
                                        <p:tgtEl>
                                          <p:spTgt spid="16897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8972"/>
                                        </p:tgtEl>
                                        <p:attrNameLst>
                                          <p:attrName>style.visibility</p:attrName>
                                        </p:attrNameLst>
                                      </p:cBhvr>
                                      <p:to>
                                        <p:strVal val="visible"/>
                                      </p:to>
                                    </p:set>
                                    <p:animEffect transition="in" filter="wipe(left)">
                                      <p:cBhvr>
                                        <p:cTn id="22" dur="500"/>
                                        <p:tgtEl>
                                          <p:spTgt spid="16897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8964"/>
                                        </p:tgtEl>
                                        <p:attrNameLst>
                                          <p:attrName>style.visibility</p:attrName>
                                        </p:attrNameLst>
                                      </p:cBhvr>
                                      <p:to>
                                        <p:strVal val="visible"/>
                                      </p:to>
                                    </p:set>
                                    <p:animEffect transition="in" filter="wipe(left)">
                                      <p:cBhvr>
                                        <p:cTn id="27" dur="500"/>
                                        <p:tgtEl>
                                          <p:spTgt spid="16896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68965"/>
                                        </p:tgtEl>
                                        <p:attrNameLst>
                                          <p:attrName>style.visibility</p:attrName>
                                        </p:attrNameLst>
                                      </p:cBhvr>
                                      <p:to>
                                        <p:strVal val="visible"/>
                                      </p:to>
                                    </p:set>
                                    <p:animEffect transition="in" filter="wipe(left)">
                                      <p:cBhvr>
                                        <p:cTn id="32" dur="500"/>
                                        <p:tgtEl>
                                          <p:spTgt spid="16896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8973"/>
                                        </p:tgtEl>
                                        <p:attrNameLst>
                                          <p:attrName>style.visibility</p:attrName>
                                        </p:attrNameLst>
                                      </p:cBhvr>
                                      <p:to>
                                        <p:strVal val="visible"/>
                                      </p:to>
                                    </p:set>
                                    <p:animEffect transition="in" filter="wipe(left)">
                                      <p:cBhvr>
                                        <p:cTn id="37" dur="500"/>
                                        <p:tgtEl>
                                          <p:spTgt spid="16897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68962"/>
                                        </p:tgtEl>
                                        <p:attrNameLst>
                                          <p:attrName>style.visibility</p:attrName>
                                        </p:attrNameLst>
                                      </p:cBhvr>
                                      <p:to>
                                        <p:strVal val="visible"/>
                                      </p:to>
                                    </p:set>
                                    <p:animEffect transition="in" filter="wipe(left)">
                                      <p:cBhvr>
                                        <p:cTn id="42" dur="500"/>
                                        <p:tgtEl>
                                          <p:spTgt spid="16896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68963"/>
                                        </p:tgtEl>
                                        <p:attrNameLst>
                                          <p:attrName>style.visibility</p:attrName>
                                        </p:attrNameLst>
                                      </p:cBhvr>
                                      <p:to>
                                        <p:strVal val="visible"/>
                                      </p:to>
                                    </p:set>
                                    <p:animEffect transition="in" filter="wipe(left)">
                                      <p:cBhvr>
                                        <p:cTn id="47" dur="500"/>
                                        <p:tgtEl>
                                          <p:spTgt spid="16896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68974"/>
                                        </p:tgtEl>
                                        <p:attrNameLst>
                                          <p:attrName>style.visibility</p:attrName>
                                        </p:attrNameLst>
                                      </p:cBhvr>
                                      <p:to>
                                        <p:strVal val="visible"/>
                                      </p:to>
                                    </p:set>
                                    <p:animEffect transition="in" filter="wipe(left)">
                                      <p:cBhvr>
                                        <p:cTn id="52" dur="500"/>
                                        <p:tgtEl>
                                          <p:spTgt spid="16897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68966"/>
                                        </p:tgtEl>
                                        <p:attrNameLst>
                                          <p:attrName>style.visibility</p:attrName>
                                        </p:attrNameLst>
                                      </p:cBhvr>
                                      <p:to>
                                        <p:strVal val="visible"/>
                                      </p:to>
                                    </p:set>
                                    <p:animEffect transition="in" filter="wipe(left)">
                                      <p:cBhvr>
                                        <p:cTn id="57" dur="500"/>
                                        <p:tgtEl>
                                          <p:spTgt spid="16896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68967"/>
                                        </p:tgtEl>
                                        <p:attrNameLst>
                                          <p:attrName>style.visibility</p:attrName>
                                        </p:attrNameLst>
                                      </p:cBhvr>
                                      <p:to>
                                        <p:strVal val="visible"/>
                                      </p:to>
                                    </p:set>
                                    <p:animEffect transition="in" filter="wipe(left)">
                                      <p:cBhvr>
                                        <p:cTn id="62" dur="500"/>
                                        <p:tgtEl>
                                          <p:spTgt spid="168967"/>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16897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68968"/>
                                        </p:tgtEl>
                                        <p:attrNameLst>
                                          <p:attrName>style.visibility</p:attrName>
                                        </p:attrNameLst>
                                      </p:cBhvr>
                                      <p:to>
                                        <p:strVal val="visible"/>
                                      </p:to>
                                    </p:set>
                                    <p:animEffect transition="in" filter="wipe(left)">
                                      <p:cBhvr>
                                        <p:cTn id="71" dur="500"/>
                                        <p:tgtEl>
                                          <p:spTgt spid="168968"/>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68969"/>
                                        </p:tgtEl>
                                        <p:attrNameLst>
                                          <p:attrName>style.visibility</p:attrName>
                                        </p:attrNameLst>
                                      </p:cBhvr>
                                      <p:to>
                                        <p:strVal val="visible"/>
                                      </p:to>
                                    </p:set>
                                    <p:animEffect transition="in" filter="wipe(left)">
                                      <p:cBhvr>
                                        <p:cTn id="76" dur="500"/>
                                        <p:tgtEl>
                                          <p:spTgt spid="168969"/>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68976"/>
                                        </p:tgtEl>
                                        <p:attrNameLst>
                                          <p:attrName>style.visibility</p:attrName>
                                        </p:attrNameLst>
                                      </p:cBhvr>
                                      <p:to>
                                        <p:strVal val="visible"/>
                                      </p:to>
                                    </p:set>
                                    <p:animEffect transition="in" filter="wipe(left)">
                                      <p:cBhvr>
                                        <p:cTn id="81" dur="500"/>
                                        <p:tgtEl>
                                          <p:spTgt spid="1689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1" grpId="0" autoUpdateAnimBg="0"/>
      <p:bldP spid="168972" grpId="0" autoUpdateAnimBg="0"/>
      <p:bldP spid="168973" grpId="0" autoUpdateAnimBg="0"/>
      <p:bldP spid="168974" grpId="0" autoUpdateAnimBg="0"/>
      <p:bldP spid="168975" grpId="0" autoUpdateAnimBg="0"/>
      <p:bldP spid="168977"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2"/>
          <p:cNvSpPr txBox="1">
            <a:spLocks noChangeArrowheads="1"/>
          </p:cNvSpPr>
          <p:nvPr/>
        </p:nvSpPr>
        <p:spPr bwMode="auto">
          <a:xfrm>
            <a:off x="792163" y="458788"/>
            <a:ext cx="6308725" cy="457200"/>
          </a:xfrm>
          <a:prstGeom prst="rect">
            <a:avLst/>
          </a:prstGeom>
          <a:noFill/>
          <a:ln w="9525">
            <a:noFill/>
            <a:miter lim="800000"/>
            <a:headEnd/>
            <a:tailEnd/>
          </a:ln>
        </p:spPr>
        <p:txBody>
          <a:bodyPr wrap="none" lIns="90000" tIns="46800" rIns="90000" bIns="46800">
            <a:spAutoFit/>
          </a:bodyPr>
          <a:lstStyle/>
          <a:p>
            <a:r>
              <a:rPr lang="zh-CN" altLang="en-US" b="1"/>
              <a:t>波源作简谐振动，其坐标原点的振动表达式为</a:t>
            </a:r>
          </a:p>
        </p:txBody>
      </p:sp>
      <p:graphicFrame>
        <p:nvGraphicFramePr>
          <p:cNvPr id="169987" name="Object 3"/>
          <p:cNvGraphicFramePr>
            <a:graphicFrameLocks noChangeAspect="1"/>
          </p:cNvGraphicFramePr>
          <p:nvPr/>
        </p:nvGraphicFramePr>
        <p:xfrm>
          <a:off x="2292350" y="1039813"/>
          <a:ext cx="3127375" cy="409575"/>
        </p:xfrm>
        <a:graphic>
          <a:graphicData uri="http://schemas.openxmlformats.org/presentationml/2006/ole">
            <p:oleObj spid="_x0000_s16386" name="公式" r:id="rId3" imgW="1739880" imgH="228600" progId="Equation.3">
              <p:embed/>
            </p:oleObj>
          </a:graphicData>
        </a:graphic>
      </p:graphicFrame>
      <p:sp>
        <p:nvSpPr>
          <p:cNvPr id="169988" name="Text Box 4"/>
          <p:cNvSpPr txBox="1">
            <a:spLocks noChangeArrowheads="1"/>
          </p:cNvSpPr>
          <p:nvPr/>
        </p:nvSpPr>
        <p:spPr bwMode="auto">
          <a:xfrm>
            <a:off x="790575" y="1449388"/>
            <a:ext cx="7921625" cy="968375"/>
          </a:xfrm>
          <a:prstGeom prst="rect">
            <a:avLst/>
          </a:prstGeom>
          <a:noFill/>
          <a:ln w="9525">
            <a:noFill/>
            <a:miter lim="800000"/>
            <a:headEnd/>
            <a:tailEnd/>
          </a:ln>
        </p:spPr>
        <p:txBody>
          <a:bodyPr lIns="90000" tIns="46800" rIns="90000" bIns="46800">
            <a:spAutoFit/>
          </a:bodyPr>
          <a:lstStyle/>
          <a:p>
            <a:pPr>
              <a:lnSpc>
                <a:spcPct val="120000"/>
              </a:lnSpc>
            </a:pPr>
            <a:r>
              <a:rPr lang="zh-CN" altLang="en-US" b="1"/>
              <a:t>它所形成的波以 </a:t>
            </a:r>
            <a:r>
              <a:rPr lang="en-US" altLang="zh-CN" b="1">
                <a:solidFill>
                  <a:srgbClr val="FF6600"/>
                </a:solidFill>
              </a:rPr>
              <a:t>30 m/s</a:t>
            </a:r>
            <a:r>
              <a:rPr lang="en-US" altLang="zh-CN" b="1"/>
              <a:t> </a:t>
            </a:r>
            <a:r>
              <a:rPr lang="zh-CN" altLang="en-US" b="1"/>
              <a:t>的速度研 </a:t>
            </a:r>
            <a:r>
              <a:rPr lang="en-US" altLang="zh-CN" b="1" i="1">
                <a:solidFill>
                  <a:srgbClr val="FF6600"/>
                </a:solidFill>
              </a:rPr>
              <a:t>x</a:t>
            </a:r>
            <a:r>
              <a:rPr lang="en-US" altLang="zh-CN" b="1"/>
              <a:t> </a:t>
            </a:r>
            <a:r>
              <a:rPr lang="zh-CN" altLang="en-US" b="1"/>
              <a:t>轴</a:t>
            </a:r>
            <a:r>
              <a:rPr lang="zh-CN" altLang="en-US" b="1">
                <a:solidFill>
                  <a:srgbClr val="FF6600"/>
                </a:solidFill>
              </a:rPr>
              <a:t>正</a:t>
            </a:r>
            <a:r>
              <a:rPr lang="zh-CN" altLang="en-US" b="1"/>
              <a:t>向传播，试写出简谐波的表达式。</a:t>
            </a:r>
          </a:p>
        </p:txBody>
      </p:sp>
      <p:sp>
        <p:nvSpPr>
          <p:cNvPr id="169989" name="Text Box 5"/>
          <p:cNvSpPr txBox="1">
            <a:spLocks noChangeArrowheads="1"/>
          </p:cNvSpPr>
          <p:nvPr/>
        </p:nvSpPr>
        <p:spPr bwMode="auto">
          <a:xfrm>
            <a:off x="927100" y="2611438"/>
            <a:ext cx="6615113" cy="457200"/>
          </a:xfrm>
          <a:prstGeom prst="rect">
            <a:avLst/>
          </a:prstGeom>
          <a:noFill/>
          <a:ln w="9525">
            <a:noFill/>
            <a:miter lim="800000"/>
            <a:headEnd/>
            <a:tailEnd/>
          </a:ln>
        </p:spPr>
        <p:txBody>
          <a:bodyPr wrap="none" lIns="90000" tIns="46800" rIns="90000" bIns="46800">
            <a:spAutoFit/>
          </a:bodyPr>
          <a:lstStyle/>
          <a:p>
            <a:r>
              <a:rPr lang="zh-CN" altLang="en-US" b="1"/>
              <a:t>由题意，由坐标原点的振动方程可得波动方程为</a:t>
            </a:r>
          </a:p>
        </p:txBody>
      </p:sp>
      <p:graphicFrame>
        <p:nvGraphicFramePr>
          <p:cNvPr id="169990" name="Object 6"/>
          <p:cNvGraphicFramePr>
            <a:graphicFrameLocks noChangeAspect="1"/>
          </p:cNvGraphicFramePr>
          <p:nvPr/>
        </p:nvGraphicFramePr>
        <p:xfrm>
          <a:off x="2276475" y="3203575"/>
          <a:ext cx="3181350" cy="690563"/>
        </p:xfrm>
        <a:graphic>
          <a:graphicData uri="http://schemas.openxmlformats.org/presentationml/2006/ole">
            <p:oleObj spid="_x0000_s16387" name="公式" r:id="rId4" imgW="1866600" imgH="406080" progId="Equation.3">
              <p:embed/>
            </p:oleObj>
          </a:graphicData>
        </a:graphic>
      </p:graphicFrame>
      <p:sp>
        <p:nvSpPr>
          <p:cNvPr id="169991" name="Text Box 7"/>
          <p:cNvSpPr txBox="1">
            <a:spLocks noChangeArrowheads="1"/>
          </p:cNvSpPr>
          <p:nvPr/>
        </p:nvSpPr>
        <p:spPr bwMode="auto">
          <a:xfrm>
            <a:off x="161925" y="2573338"/>
            <a:ext cx="674688" cy="457200"/>
          </a:xfrm>
          <a:prstGeom prst="rect">
            <a:avLst/>
          </a:prstGeom>
          <a:noFill/>
          <a:ln w="9525">
            <a:noFill/>
            <a:miter lim="800000"/>
            <a:headEnd/>
            <a:tailEnd/>
          </a:ln>
        </p:spPr>
        <p:txBody>
          <a:bodyPr lIns="90000" tIns="46800" rIns="90000" bIns="46800">
            <a:spAutoFit/>
          </a:bodyPr>
          <a:lstStyle/>
          <a:p>
            <a:r>
              <a:rPr lang="zh-CN" altLang="en-US" b="1">
                <a:solidFill>
                  <a:srgbClr val="FF0000"/>
                </a:solidFill>
              </a:rPr>
              <a:t>解</a:t>
            </a:r>
            <a:endParaRPr lang="zh-CN" altLang="en-US" b="1"/>
          </a:p>
        </p:txBody>
      </p:sp>
      <p:graphicFrame>
        <p:nvGraphicFramePr>
          <p:cNvPr id="169992" name="Object 8"/>
          <p:cNvGraphicFramePr>
            <a:graphicFrameLocks noChangeAspect="1"/>
          </p:cNvGraphicFramePr>
          <p:nvPr/>
        </p:nvGraphicFramePr>
        <p:xfrm>
          <a:off x="2482850" y="4238625"/>
          <a:ext cx="3394075" cy="388938"/>
        </p:xfrm>
        <a:graphic>
          <a:graphicData uri="http://schemas.openxmlformats.org/presentationml/2006/ole">
            <p:oleObj spid="_x0000_s16388" name="公式" r:id="rId5" imgW="1993680" imgH="228600" progId="Equation.3">
              <p:embed/>
            </p:oleObj>
          </a:graphicData>
        </a:graphic>
      </p:graphicFrame>
      <p:sp>
        <p:nvSpPr>
          <p:cNvPr id="169993" name="Text Box 9"/>
          <p:cNvSpPr txBox="1">
            <a:spLocks noChangeArrowheads="1"/>
          </p:cNvSpPr>
          <p:nvPr/>
        </p:nvSpPr>
        <p:spPr bwMode="auto">
          <a:xfrm>
            <a:off x="119063" y="458788"/>
            <a:ext cx="492125" cy="457200"/>
          </a:xfrm>
          <a:prstGeom prst="rect">
            <a:avLst/>
          </a:prstGeom>
          <a:noFill/>
          <a:ln w="9525">
            <a:noFill/>
            <a:miter lim="800000"/>
            <a:headEnd/>
            <a:tailEnd/>
          </a:ln>
        </p:spPr>
        <p:txBody>
          <a:bodyPr wrap="none" anchor="ctr">
            <a:spAutoFit/>
          </a:bodyPr>
          <a:lstStyle/>
          <a:p>
            <a:pPr algn="ctr"/>
            <a:r>
              <a:rPr kumimoji="0" lang="zh-CN" altLang="en-US" b="1">
                <a:solidFill>
                  <a:srgbClr val="FF0000"/>
                </a:solidFill>
              </a:rPr>
              <a:t>例</a:t>
            </a:r>
            <a:endParaRPr kumimoji="0" lang="zh-CN" altLang="en-US" sz="18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9993"/>
                                        </p:tgtEl>
                                        <p:attrNameLst>
                                          <p:attrName>style.visibility</p:attrName>
                                        </p:attrNameLst>
                                      </p:cBhvr>
                                      <p:to>
                                        <p:strVal val="visible"/>
                                      </p:to>
                                    </p:set>
                                    <p:animEffect transition="in" filter="wipe(left)">
                                      <p:cBhvr>
                                        <p:cTn id="7" dur="500"/>
                                        <p:tgtEl>
                                          <p:spTgt spid="16999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9986"/>
                                        </p:tgtEl>
                                        <p:attrNameLst>
                                          <p:attrName>style.visibility</p:attrName>
                                        </p:attrNameLst>
                                      </p:cBhvr>
                                      <p:to>
                                        <p:strVal val="visible"/>
                                      </p:to>
                                    </p:set>
                                    <p:animEffect transition="in" filter="wipe(left)">
                                      <p:cBhvr>
                                        <p:cTn id="12" dur="1000"/>
                                        <p:tgtEl>
                                          <p:spTgt spid="169986"/>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169987"/>
                                        </p:tgtEl>
                                        <p:attrNameLst>
                                          <p:attrName>style.visibility</p:attrName>
                                        </p:attrNameLst>
                                      </p:cBhvr>
                                      <p:to>
                                        <p:strVal val="visible"/>
                                      </p:to>
                                    </p:set>
                                    <p:animEffect transition="in" filter="wipe(left)">
                                      <p:cBhvr>
                                        <p:cTn id="16" dur="1000"/>
                                        <p:tgtEl>
                                          <p:spTgt spid="169987"/>
                                        </p:tgtEl>
                                      </p:cBhvr>
                                    </p:animEffect>
                                  </p:childTnLst>
                                </p:cTn>
                              </p:par>
                            </p:childTnLst>
                          </p:cTn>
                        </p:par>
                        <p:par>
                          <p:cTn id="17" fill="hold">
                            <p:stCondLst>
                              <p:cond delay="2000"/>
                            </p:stCondLst>
                            <p:childTnLst>
                              <p:par>
                                <p:cTn id="18" presetID="22" presetClass="entr" presetSubtype="8" fill="hold" grpId="0" nodeType="afterEffect">
                                  <p:stCondLst>
                                    <p:cond delay="0"/>
                                  </p:stCondLst>
                                  <p:childTnLst>
                                    <p:set>
                                      <p:cBhvr>
                                        <p:cTn id="19" dur="1" fill="hold">
                                          <p:stCondLst>
                                            <p:cond delay="0"/>
                                          </p:stCondLst>
                                        </p:cTn>
                                        <p:tgtEl>
                                          <p:spTgt spid="169988"/>
                                        </p:tgtEl>
                                        <p:attrNameLst>
                                          <p:attrName>style.visibility</p:attrName>
                                        </p:attrNameLst>
                                      </p:cBhvr>
                                      <p:to>
                                        <p:strVal val="visible"/>
                                      </p:to>
                                    </p:set>
                                    <p:animEffect transition="in" filter="wipe(left)">
                                      <p:cBhvr>
                                        <p:cTn id="20" dur="1000"/>
                                        <p:tgtEl>
                                          <p:spTgt spid="16998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69991"/>
                                        </p:tgtEl>
                                        <p:attrNameLst>
                                          <p:attrName>style.visibility</p:attrName>
                                        </p:attrNameLst>
                                      </p:cBhvr>
                                      <p:to>
                                        <p:strVal val="visible"/>
                                      </p:to>
                                    </p:set>
                                    <p:animEffect transition="in" filter="wipe(left)">
                                      <p:cBhvr>
                                        <p:cTn id="25" dur="1000"/>
                                        <p:tgtEl>
                                          <p:spTgt spid="16999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69989"/>
                                        </p:tgtEl>
                                        <p:attrNameLst>
                                          <p:attrName>style.visibility</p:attrName>
                                        </p:attrNameLst>
                                      </p:cBhvr>
                                      <p:to>
                                        <p:strVal val="visible"/>
                                      </p:to>
                                    </p:set>
                                    <p:animEffect transition="in" filter="wipe(left)">
                                      <p:cBhvr>
                                        <p:cTn id="30" dur="1000"/>
                                        <p:tgtEl>
                                          <p:spTgt spid="16998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69990"/>
                                        </p:tgtEl>
                                        <p:attrNameLst>
                                          <p:attrName>style.visibility</p:attrName>
                                        </p:attrNameLst>
                                      </p:cBhvr>
                                      <p:to>
                                        <p:strVal val="visible"/>
                                      </p:to>
                                    </p:set>
                                    <p:animEffect transition="in" filter="wipe(left)">
                                      <p:cBhvr>
                                        <p:cTn id="35" dur="1000"/>
                                        <p:tgtEl>
                                          <p:spTgt spid="16999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69992"/>
                                        </p:tgtEl>
                                        <p:attrNameLst>
                                          <p:attrName>style.visibility</p:attrName>
                                        </p:attrNameLst>
                                      </p:cBhvr>
                                      <p:to>
                                        <p:strVal val="visible"/>
                                      </p:to>
                                    </p:set>
                                    <p:animEffect transition="in" filter="wipe(left)">
                                      <p:cBhvr>
                                        <p:cTn id="40" dur="1000"/>
                                        <p:tgtEl>
                                          <p:spTgt spid="1699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6" grpId="0"/>
      <p:bldP spid="169988" grpId="0"/>
      <p:bldP spid="169989" grpId="0"/>
      <p:bldP spid="169991" grpId="0"/>
      <p:bldP spid="169993"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Rectangle 4"/>
          <p:cNvSpPr>
            <a:spLocks noChangeArrowheads="1"/>
          </p:cNvSpPr>
          <p:nvPr/>
        </p:nvSpPr>
        <p:spPr bwMode="auto">
          <a:xfrm>
            <a:off x="179388" y="523875"/>
            <a:ext cx="4679950" cy="457200"/>
          </a:xfrm>
          <a:prstGeom prst="rect">
            <a:avLst/>
          </a:prstGeom>
          <a:noFill/>
          <a:ln w="9525">
            <a:noFill/>
            <a:miter lim="800000"/>
            <a:headEnd/>
            <a:tailEnd/>
          </a:ln>
        </p:spPr>
        <p:txBody>
          <a:bodyPr lIns="92075" tIns="46038" rIns="92075" bIns="46038">
            <a:spAutoFit/>
          </a:bodyPr>
          <a:lstStyle/>
          <a:p>
            <a:r>
              <a:rPr lang="zh-CN" altLang="en-US" b="1">
                <a:solidFill>
                  <a:srgbClr val="0000FF"/>
                </a:solidFill>
              </a:rPr>
              <a:t>三、平面简谐波的微分方程</a:t>
            </a:r>
            <a:endParaRPr lang="zh-CN" altLang="en-US" b="1">
              <a:solidFill>
                <a:srgbClr val="0000FF"/>
              </a:solidFill>
              <a:latin typeface="Bookman Old Style" pitchFamily="18" charset="0"/>
            </a:endParaRPr>
          </a:p>
        </p:txBody>
      </p:sp>
      <p:sp>
        <p:nvSpPr>
          <p:cNvPr id="87062" name="Rectangle 22"/>
          <p:cNvSpPr>
            <a:spLocks noChangeArrowheads="1"/>
          </p:cNvSpPr>
          <p:nvPr/>
        </p:nvSpPr>
        <p:spPr bwMode="auto">
          <a:xfrm>
            <a:off x="161925" y="2763838"/>
            <a:ext cx="3554413" cy="457200"/>
          </a:xfrm>
          <a:prstGeom prst="rect">
            <a:avLst/>
          </a:prstGeom>
          <a:noFill/>
          <a:ln w="9525">
            <a:noFill/>
            <a:miter lim="800000"/>
            <a:headEnd/>
            <a:tailEnd/>
          </a:ln>
        </p:spPr>
        <p:txBody>
          <a:bodyPr wrap="none" lIns="92075" tIns="46038" rIns="92075" bIns="46038">
            <a:spAutoFit/>
          </a:bodyPr>
          <a:lstStyle/>
          <a:p>
            <a:r>
              <a:rPr lang="zh-CN" altLang="en-US" b="1">
                <a:latin typeface="Bookman Old Style" pitchFamily="18" charset="0"/>
              </a:rPr>
              <a:t>从上两式可得波动方程：</a:t>
            </a:r>
            <a:endParaRPr lang="zh-CN" altLang="en-US"/>
          </a:p>
        </p:txBody>
      </p:sp>
      <p:sp>
        <p:nvSpPr>
          <p:cNvPr id="87063" name="Rectangle 23"/>
          <p:cNvSpPr>
            <a:spLocks noChangeArrowheads="1"/>
          </p:cNvSpPr>
          <p:nvPr/>
        </p:nvSpPr>
        <p:spPr bwMode="auto">
          <a:xfrm>
            <a:off x="504825" y="1036638"/>
            <a:ext cx="3211513" cy="457200"/>
          </a:xfrm>
          <a:prstGeom prst="rect">
            <a:avLst/>
          </a:prstGeom>
          <a:noFill/>
          <a:ln w="9525">
            <a:noFill/>
            <a:miter lim="800000"/>
            <a:headEnd/>
            <a:tailEnd/>
          </a:ln>
        </p:spPr>
        <p:txBody>
          <a:bodyPr lIns="92075" tIns="46038" rIns="92075" bIns="46038">
            <a:spAutoFit/>
          </a:bodyPr>
          <a:lstStyle/>
          <a:p>
            <a:r>
              <a:rPr lang="zh-CN" altLang="en-US" b="1">
                <a:latin typeface="Bookman Old Style" pitchFamily="18" charset="0"/>
                <a:ea typeface="楷体_GB2312" pitchFamily="49" charset="-122"/>
              </a:rPr>
              <a:t>波动方程的一般形式</a:t>
            </a:r>
            <a:endParaRPr lang="zh-CN" altLang="en-US">
              <a:ea typeface="楷体_GB2312" pitchFamily="49" charset="-122"/>
            </a:endParaRPr>
          </a:p>
        </p:txBody>
      </p:sp>
      <p:graphicFrame>
        <p:nvGraphicFramePr>
          <p:cNvPr id="87064" name="Object 24"/>
          <p:cNvGraphicFramePr>
            <a:graphicFrameLocks/>
          </p:cNvGraphicFramePr>
          <p:nvPr/>
        </p:nvGraphicFramePr>
        <p:xfrm>
          <a:off x="3716338" y="863600"/>
          <a:ext cx="2789237" cy="798513"/>
        </p:xfrm>
        <a:graphic>
          <a:graphicData uri="http://schemas.openxmlformats.org/presentationml/2006/ole">
            <p:oleObj spid="_x0000_s17410" name="公式" r:id="rId4" imgW="1549080" imgH="444240" progId="Equation.3">
              <p:embed/>
            </p:oleObj>
          </a:graphicData>
        </a:graphic>
      </p:graphicFrame>
      <p:graphicFrame>
        <p:nvGraphicFramePr>
          <p:cNvPr id="87065" name="Object 25"/>
          <p:cNvGraphicFramePr>
            <a:graphicFrameLocks noChangeAspect="1"/>
          </p:cNvGraphicFramePr>
          <p:nvPr/>
        </p:nvGraphicFramePr>
        <p:xfrm>
          <a:off x="746125" y="1673225"/>
          <a:ext cx="3589338" cy="798513"/>
        </p:xfrm>
        <a:graphic>
          <a:graphicData uri="http://schemas.openxmlformats.org/presentationml/2006/ole">
            <p:oleObj spid="_x0000_s17411" name="公式" r:id="rId5" imgW="1993680" imgH="444240" progId="Equation.3">
              <p:embed/>
            </p:oleObj>
          </a:graphicData>
        </a:graphic>
      </p:graphicFrame>
      <p:graphicFrame>
        <p:nvGraphicFramePr>
          <p:cNvPr id="87066" name="Object 26"/>
          <p:cNvGraphicFramePr>
            <a:graphicFrameLocks/>
          </p:cNvGraphicFramePr>
          <p:nvPr/>
        </p:nvGraphicFramePr>
        <p:xfrm>
          <a:off x="4886325" y="1679575"/>
          <a:ext cx="3652838" cy="803275"/>
        </p:xfrm>
        <a:graphic>
          <a:graphicData uri="http://schemas.openxmlformats.org/presentationml/2006/ole">
            <p:oleObj spid="_x0000_s17412" name="公式" r:id="rId6" imgW="2031840" imgH="444240" progId="Equation.3">
              <p:embed/>
            </p:oleObj>
          </a:graphicData>
        </a:graphic>
      </p:graphicFrame>
      <p:graphicFrame>
        <p:nvGraphicFramePr>
          <p:cNvPr id="17413" name="Object 27"/>
          <p:cNvGraphicFramePr>
            <a:graphicFrameLocks noChangeAspect="1"/>
          </p:cNvGraphicFramePr>
          <p:nvPr/>
        </p:nvGraphicFramePr>
        <p:xfrm>
          <a:off x="4813300" y="3602038"/>
          <a:ext cx="101600" cy="176212"/>
        </p:xfrm>
        <a:graphic>
          <a:graphicData uri="http://schemas.openxmlformats.org/presentationml/2006/ole">
            <p:oleObj spid="_x0000_s17413" name="公式" r:id="rId7" imgW="114120" imgH="215640" progId="Equation.3">
              <p:embed/>
            </p:oleObj>
          </a:graphicData>
        </a:graphic>
      </p:graphicFrame>
      <p:graphicFrame>
        <p:nvGraphicFramePr>
          <p:cNvPr id="87068" name="Object 28"/>
          <p:cNvGraphicFramePr>
            <a:graphicFrameLocks noChangeAspect="1"/>
          </p:cNvGraphicFramePr>
          <p:nvPr/>
        </p:nvGraphicFramePr>
        <p:xfrm>
          <a:off x="3711575" y="2673350"/>
          <a:ext cx="1670050" cy="755650"/>
        </p:xfrm>
        <a:graphic>
          <a:graphicData uri="http://schemas.openxmlformats.org/presentationml/2006/ole">
            <p:oleObj spid="_x0000_s17414" name="公式" r:id="rId8" imgW="927000" imgH="419040" progId="Equation.3">
              <p:embed/>
            </p:oleObj>
          </a:graphicData>
        </a:graphic>
      </p:graphicFrame>
      <p:sp>
        <p:nvSpPr>
          <p:cNvPr id="87069" name="Text Box 29"/>
          <p:cNvSpPr txBox="1">
            <a:spLocks noChangeArrowheads="1"/>
          </p:cNvSpPr>
          <p:nvPr/>
        </p:nvSpPr>
        <p:spPr bwMode="auto">
          <a:xfrm>
            <a:off x="611188" y="3384550"/>
            <a:ext cx="1439862" cy="512763"/>
          </a:xfrm>
          <a:prstGeom prst="rect">
            <a:avLst/>
          </a:prstGeom>
          <a:noFill/>
          <a:ln w="9525">
            <a:noFill/>
            <a:miter lim="800000"/>
            <a:headEnd/>
            <a:tailEnd/>
          </a:ln>
        </p:spPr>
        <p:txBody>
          <a:bodyPr>
            <a:spAutoFit/>
          </a:bodyPr>
          <a:lstStyle/>
          <a:p>
            <a:pPr>
              <a:lnSpc>
                <a:spcPct val="115000"/>
              </a:lnSpc>
            </a:pPr>
            <a:r>
              <a:rPr lang="zh-CN" altLang="en-US" b="1">
                <a:solidFill>
                  <a:srgbClr val="FF3300"/>
                </a:solidFill>
              </a:rPr>
              <a:t>说明</a:t>
            </a:r>
          </a:p>
        </p:txBody>
      </p:sp>
      <p:sp>
        <p:nvSpPr>
          <p:cNvPr id="87070" name="AutoShape 30"/>
          <p:cNvSpPr>
            <a:spLocks noChangeArrowheads="1"/>
          </p:cNvSpPr>
          <p:nvPr/>
        </p:nvSpPr>
        <p:spPr bwMode="auto">
          <a:xfrm>
            <a:off x="204788" y="3384550"/>
            <a:ext cx="360362" cy="576263"/>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endParaRPr lang="zh-CN" altLang="en-US"/>
          </a:p>
        </p:txBody>
      </p:sp>
      <p:sp>
        <p:nvSpPr>
          <p:cNvPr id="87071" name="Rectangle 31"/>
          <p:cNvSpPr>
            <a:spLocks noChangeArrowheads="1"/>
          </p:cNvSpPr>
          <p:nvPr/>
        </p:nvSpPr>
        <p:spPr bwMode="auto">
          <a:xfrm>
            <a:off x="115888" y="4575175"/>
            <a:ext cx="8507412" cy="933450"/>
          </a:xfrm>
          <a:prstGeom prst="rect">
            <a:avLst/>
          </a:prstGeom>
          <a:noFill/>
          <a:ln w="9525">
            <a:noFill/>
            <a:miter lim="800000"/>
            <a:headEnd/>
            <a:tailEnd/>
          </a:ln>
        </p:spPr>
        <p:txBody>
          <a:bodyPr>
            <a:spAutoFit/>
          </a:bodyPr>
          <a:lstStyle/>
          <a:p>
            <a:pPr marL="536575" indent="-536575">
              <a:lnSpc>
                <a:spcPct val="115000"/>
              </a:lnSpc>
            </a:pPr>
            <a:r>
              <a:rPr lang="en-US" altLang="zh-CN" b="1">
                <a:ea typeface="楷体_GB2312" pitchFamily="49" charset="-122"/>
              </a:rPr>
              <a:t> (2) </a:t>
            </a:r>
            <a:r>
              <a:rPr lang="zh-CN" altLang="en-US" b="1">
                <a:ea typeface="楷体_GB2312" pitchFamily="49" charset="-122"/>
              </a:rPr>
              <a:t>不仅适用于机械波，也广泛地适用于电磁波、热传导、化学中的扩散等过程；</a:t>
            </a:r>
          </a:p>
        </p:txBody>
      </p:sp>
      <p:sp>
        <p:nvSpPr>
          <p:cNvPr id="87072" name="Rectangle 32"/>
          <p:cNvSpPr>
            <a:spLocks noChangeArrowheads="1"/>
          </p:cNvSpPr>
          <p:nvPr/>
        </p:nvSpPr>
        <p:spPr bwMode="auto">
          <a:xfrm>
            <a:off x="192088" y="4014788"/>
            <a:ext cx="8115300" cy="512762"/>
          </a:xfrm>
          <a:prstGeom prst="rect">
            <a:avLst/>
          </a:prstGeom>
          <a:noFill/>
          <a:ln w="9525">
            <a:noFill/>
            <a:miter lim="800000"/>
            <a:headEnd/>
            <a:tailEnd/>
          </a:ln>
        </p:spPr>
        <p:txBody>
          <a:bodyPr>
            <a:spAutoFit/>
          </a:bodyPr>
          <a:lstStyle/>
          <a:p>
            <a:pPr>
              <a:lnSpc>
                <a:spcPct val="115000"/>
              </a:lnSpc>
            </a:pPr>
            <a:r>
              <a:rPr lang="en-US" altLang="zh-CN" b="1">
                <a:ea typeface="楷体_GB2312" pitchFamily="49" charset="-122"/>
              </a:rPr>
              <a:t>(1) </a:t>
            </a:r>
            <a:r>
              <a:rPr lang="zh-CN" altLang="en-US" b="1">
                <a:ea typeface="楷体_GB2312" pitchFamily="49" charset="-122"/>
              </a:rPr>
              <a:t>上式是一切平面波所满足的微分方程（</a:t>
            </a:r>
            <a:r>
              <a:rPr lang="zh-CN" altLang="en-US" b="1">
                <a:solidFill>
                  <a:srgbClr val="FF6600"/>
                </a:solidFill>
                <a:ea typeface="楷体_GB2312" pitchFamily="49" charset="-122"/>
              </a:rPr>
              <a:t>正、反传播</a:t>
            </a:r>
            <a:r>
              <a:rPr lang="zh-CN" altLang="en-US" b="1">
                <a:ea typeface="楷体_GB2312" pitchFamily="49" charset="-122"/>
              </a:rPr>
              <a:t>）；</a:t>
            </a:r>
          </a:p>
        </p:txBody>
      </p:sp>
      <p:sp>
        <p:nvSpPr>
          <p:cNvPr id="87073" name="Rectangle 33" descr="绿色大理石"/>
          <p:cNvSpPr>
            <a:spLocks noChangeArrowheads="1"/>
          </p:cNvSpPr>
          <p:nvPr/>
        </p:nvSpPr>
        <p:spPr bwMode="auto">
          <a:xfrm>
            <a:off x="71438" y="5556250"/>
            <a:ext cx="4824412" cy="933450"/>
          </a:xfrm>
          <a:prstGeom prst="rect">
            <a:avLst/>
          </a:prstGeom>
          <a:noFill/>
          <a:ln w="9525">
            <a:noFill/>
            <a:miter lim="800000"/>
            <a:headEnd/>
            <a:tailEnd/>
          </a:ln>
        </p:spPr>
        <p:txBody>
          <a:bodyPr>
            <a:spAutoFit/>
          </a:bodyPr>
          <a:lstStyle/>
          <a:p>
            <a:pPr marL="457200" indent="-457200" eaLnBrk="0" hangingPunct="0">
              <a:lnSpc>
                <a:spcPct val="115000"/>
              </a:lnSpc>
            </a:pPr>
            <a:r>
              <a:rPr lang="en-US" altLang="zh-CN" b="1">
                <a:ea typeface="楷体_GB2312" pitchFamily="49" charset="-122"/>
              </a:rPr>
              <a:t>(3) </a:t>
            </a:r>
            <a:r>
              <a:rPr lang="zh-CN" altLang="en-US" b="1">
                <a:ea typeface="楷体_GB2312" pitchFamily="49" charset="-122"/>
              </a:rPr>
              <a:t>若物理量是在</a:t>
            </a:r>
            <a:r>
              <a:rPr lang="zh-CN" altLang="en-US" b="1">
                <a:solidFill>
                  <a:srgbClr val="FF6600"/>
                </a:solidFill>
                <a:ea typeface="楷体_GB2312" pitchFamily="49" charset="-122"/>
              </a:rPr>
              <a:t>三维</a:t>
            </a:r>
            <a:r>
              <a:rPr lang="zh-CN" altLang="en-US" b="1">
                <a:ea typeface="楷体_GB2312" pitchFamily="49" charset="-122"/>
              </a:rPr>
              <a:t>空间中以波的形式传播，波动方程为右式</a:t>
            </a:r>
          </a:p>
        </p:txBody>
      </p:sp>
      <p:graphicFrame>
        <p:nvGraphicFramePr>
          <p:cNvPr id="87074" name="Object 34"/>
          <p:cNvGraphicFramePr>
            <a:graphicFrameLocks/>
          </p:cNvGraphicFramePr>
          <p:nvPr/>
        </p:nvGraphicFramePr>
        <p:xfrm>
          <a:off x="5067300" y="5634038"/>
          <a:ext cx="3059113" cy="798512"/>
        </p:xfrm>
        <a:graphic>
          <a:graphicData uri="http://schemas.openxmlformats.org/presentationml/2006/ole">
            <p:oleObj spid="_x0000_s17415" name="公式" r:id="rId9" imgW="1701720" imgH="4442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044"/>
                                        </p:tgtEl>
                                        <p:attrNameLst>
                                          <p:attrName>style.visibility</p:attrName>
                                        </p:attrNameLst>
                                      </p:cBhvr>
                                      <p:to>
                                        <p:strVal val="visible"/>
                                      </p:to>
                                    </p:set>
                                    <p:animEffect transition="in" filter="wipe(left)">
                                      <p:cBhvr>
                                        <p:cTn id="7" dur="500"/>
                                        <p:tgtEl>
                                          <p:spTgt spid="870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7063"/>
                                        </p:tgtEl>
                                        <p:attrNameLst>
                                          <p:attrName>style.visibility</p:attrName>
                                        </p:attrNameLst>
                                      </p:cBhvr>
                                      <p:to>
                                        <p:strVal val="visible"/>
                                      </p:to>
                                    </p:set>
                                    <p:animEffect transition="in" filter="wipe(left)">
                                      <p:cBhvr>
                                        <p:cTn id="12" dur="500"/>
                                        <p:tgtEl>
                                          <p:spTgt spid="870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7064"/>
                                        </p:tgtEl>
                                        <p:attrNameLst>
                                          <p:attrName>style.visibility</p:attrName>
                                        </p:attrNameLst>
                                      </p:cBhvr>
                                      <p:to>
                                        <p:strVal val="visible"/>
                                      </p:to>
                                    </p:set>
                                    <p:animEffect transition="in" filter="wipe(left)">
                                      <p:cBhvr>
                                        <p:cTn id="17" dur="500"/>
                                        <p:tgtEl>
                                          <p:spTgt spid="870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7065"/>
                                        </p:tgtEl>
                                        <p:attrNameLst>
                                          <p:attrName>style.visibility</p:attrName>
                                        </p:attrNameLst>
                                      </p:cBhvr>
                                      <p:to>
                                        <p:strVal val="visible"/>
                                      </p:to>
                                    </p:set>
                                    <p:animEffect transition="in" filter="wipe(left)">
                                      <p:cBhvr>
                                        <p:cTn id="22" dur="500"/>
                                        <p:tgtEl>
                                          <p:spTgt spid="8706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7066"/>
                                        </p:tgtEl>
                                        <p:attrNameLst>
                                          <p:attrName>style.visibility</p:attrName>
                                        </p:attrNameLst>
                                      </p:cBhvr>
                                      <p:to>
                                        <p:strVal val="visible"/>
                                      </p:to>
                                    </p:set>
                                    <p:animEffect transition="in" filter="wipe(left)">
                                      <p:cBhvr>
                                        <p:cTn id="27" dur="500"/>
                                        <p:tgtEl>
                                          <p:spTgt spid="87066"/>
                                        </p:tgtEl>
                                      </p:cBhvr>
                                    </p:animEffect>
                                  </p:childTnLst>
                                  <p:subTnLst>
                                    <p:audio>
                                      <p:cMediaNode mute="1">
                                        <p:cTn display="0" masterRel="sameClick">
                                          <p:stCondLst>
                                            <p:cond evt="begin" delay="0">
                                              <p:tn val="25"/>
                                            </p:cond>
                                          </p:stCondLst>
                                          <p:endCondLst>
                                            <p:cond evt="onStopAudio" delay="0">
                                              <p:tgtEl>
                                                <p:sldTgt/>
                                              </p:tgtEl>
                                            </p:cond>
                                          </p:endCondLst>
                                        </p:cTn>
                                        <p:tgtEl>
                                          <p:sndTgt r:embed="rId3" name="CAMERA.WAV" builtIn="1"/>
                                        </p:tgtEl>
                                      </p:cMediaNode>
                                    </p:audio>
                                  </p:sub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7062"/>
                                        </p:tgtEl>
                                        <p:attrNameLst>
                                          <p:attrName>style.visibility</p:attrName>
                                        </p:attrNameLst>
                                      </p:cBhvr>
                                      <p:to>
                                        <p:strVal val="visible"/>
                                      </p:to>
                                    </p:set>
                                    <p:animEffect transition="in" filter="wipe(left)">
                                      <p:cBhvr>
                                        <p:cTn id="32" dur="500"/>
                                        <p:tgtEl>
                                          <p:spTgt spid="8706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7068"/>
                                        </p:tgtEl>
                                        <p:attrNameLst>
                                          <p:attrName>style.visibility</p:attrName>
                                        </p:attrNameLst>
                                      </p:cBhvr>
                                      <p:to>
                                        <p:strVal val="visible"/>
                                      </p:to>
                                    </p:set>
                                    <p:animEffect transition="in" filter="wipe(left)">
                                      <p:cBhvr>
                                        <p:cTn id="37" dur="500"/>
                                        <p:tgtEl>
                                          <p:spTgt spid="87068"/>
                                        </p:tgtEl>
                                      </p:cBhvr>
                                    </p:animEffect>
                                  </p:childTnLst>
                                </p:cTn>
                              </p:par>
                            </p:childTnLst>
                          </p:cTn>
                        </p:par>
                      </p:childTnLst>
                    </p:cTn>
                  </p:par>
                  <p:par>
                    <p:cTn id="38" fill="hold">
                      <p:stCondLst>
                        <p:cond delay="indefinite"/>
                      </p:stCondLst>
                      <p:childTnLst>
                        <p:par>
                          <p:cTn id="39" fill="hold">
                            <p:stCondLst>
                              <p:cond delay="0"/>
                            </p:stCondLst>
                            <p:childTnLst>
                              <p:par>
                                <p:cTn id="40" presetID="23" presetClass="entr" presetSubtype="32" fill="hold" grpId="0" nodeType="clickEffect">
                                  <p:stCondLst>
                                    <p:cond delay="0"/>
                                  </p:stCondLst>
                                  <p:childTnLst>
                                    <p:set>
                                      <p:cBhvr>
                                        <p:cTn id="41" dur="1" fill="hold">
                                          <p:stCondLst>
                                            <p:cond delay="0"/>
                                          </p:stCondLst>
                                        </p:cTn>
                                        <p:tgtEl>
                                          <p:spTgt spid="87070"/>
                                        </p:tgtEl>
                                        <p:attrNameLst>
                                          <p:attrName>style.visibility</p:attrName>
                                        </p:attrNameLst>
                                      </p:cBhvr>
                                      <p:to>
                                        <p:strVal val="visible"/>
                                      </p:to>
                                    </p:set>
                                    <p:anim calcmode="lin" valueType="num">
                                      <p:cBhvr>
                                        <p:cTn id="42" dur="500" fill="hold"/>
                                        <p:tgtEl>
                                          <p:spTgt spid="87070"/>
                                        </p:tgtEl>
                                        <p:attrNameLst>
                                          <p:attrName>ppt_w</p:attrName>
                                        </p:attrNameLst>
                                      </p:cBhvr>
                                      <p:tavLst>
                                        <p:tav tm="0">
                                          <p:val>
                                            <p:strVal val="4*#ppt_w"/>
                                          </p:val>
                                        </p:tav>
                                        <p:tav tm="100000">
                                          <p:val>
                                            <p:strVal val="#ppt_w"/>
                                          </p:val>
                                        </p:tav>
                                      </p:tavLst>
                                    </p:anim>
                                    <p:anim calcmode="lin" valueType="num">
                                      <p:cBhvr>
                                        <p:cTn id="43" dur="500" fill="hold"/>
                                        <p:tgtEl>
                                          <p:spTgt spid="87070"/>
                                        </p:tgtEl>
                                        <p:attrNameLst>
                                          <p:attrName>ppt_h</p:attrName>
                                        </p:attrNameLst>
                                      </p:cBhvr>
                                      <p:tavLst>
                                        <p:tav tm="0">
                                          <p:val>
                                            <p:strVal val="4*#ppt_h"/>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8706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87072"/>
                                        </p:tgtEl>
                                        <p:attrNameLst>
                                          <p:attrName>style.visibility</p:attrName>
                                        </p:attrNameLst>
                                      </p:cBhvr>
                                      <p:to>
                                        <p:strVal val="visible"/>
                                      </p:to>
                                    </p:set>
                                    <p:animEffect transition="in" filter="wipe(left)">
                                      <p:cBhvr>
                                        <p:cTn id="52" dur="500"/>
                                        <p:tgtEl>
                                          <p:spTgt spid="8707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87071"/>
                                        </p:tgtEl>
                                        <p:attrNameLst>
                                          <p:attrName>style.visibility</p:attrName>
                                        </p:attrNameLst>
                                      </p:cBhvr>
                                      <p:to>
                                        <p:strVal val="visible"/>
                                      </p:to>
                                    </p:set>
                                    <p:animEffect transition="in" filter="wipe(left)">
                                      <p:cBhvr>
                                        <p:cTn id="57" dur="500"/>
                                        <p:tgtEl>
                                          <p:spTgt spid="8707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iterate type="lt">
                                    <p:tmPct val="100000"/>
                                  </p:iterate>
                                  <p:childTnLst>
                                    <p:set>
                                      <p:cBhvr>
                                        <p:cTn id="61" dur="1" fill="hold">
                                          <p:stCondLst>
                                            <p:cond delay="0"/>
                                          </p:stCondLst>
                                        </p:cTn>
                                        <p:tgtEl>
                                          <p:spTgt spid="87073">
                                            <p:txEl>
                                              <p:pRg st="0" end="0"/>
                                            </p:txEl>
                                          </p:spTgt>
                                        </p:tgtEl>
                                        <p:attrNameLst>
                                          <p:attrName>style.visibility</p:attrName>
                                        </p:attrNameLst>
                                      </p:cBhvr>
                                      <p:to>
                                        <p:strVal val="visible"/>
                                      </p:to>
                                    </p:set>
                                    <p:animEffect transition="in" filter="wipe(left)">
                                      <p:cBhvr>
                                        <p:cTn id="62" dur="75"/>
                                        <p:tgtEl>
                                          <p:spTgt spid="87073">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87074"/>
                                        </p:tgtEl>
                                        <p:attrNameLst>
                                          <p:attrName>style.visibility</p:attrName>
                                        </p:attrNameLst>
                                      </p:cBhvr>
                                      <p:to>
                                        <p:strVal val="visible"/>
                                      </p:to>
                                    </p:set>
                                    <p:animEffect transition="in" filter="wipe(left)">
                                      <p:cBhvr>
                                        <p:cTn id="67" dur="500"/>
                                        <p:tgtEl>
                                          <p:spTgt spid="87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4" grpId="0"/>
      <p:bldP spid="87062" grpId="0"/>
      <p:bldP spid="87063" grpId="0"/>
      <p:bldP spid="87069" grpId="0"/>
      <p:bldP spid="87070" grpId="0" animBg="1"/>
      <p:bldP spid="87071" grpId="0"/>
      <p:bldP spid="87072" grpId="0"/>
      <p:bldP spid="87073"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2"/>
          <p:cNvSpPr txBox="1">
            <a:spLocks noChangeArrowheads="1"/>
          </p:cNvSpPr>
          <p:nvPr/>
        </p:nvSpPr>
        <p:spPr bwMode="auto">
          <a:xfrm>
            <a:off x="620713" y="525463"/>
            <a:ext cx="1408112" cy="457200"/>
          </a:xfrm>
          <a:prstGeom prst="rect">
            <a:avLst/>
          </a:prstGeom>
          <a:noFill/>
          <a:ln w="9525">
            <a:noFill/>
            <a:miter lim="800000"/>
            <a:headEnd/>
            <a:tailEnd/>
          </a:ln>
        </p:spPr>
        <p:txBody>
          <a:bodyPr>
            <a:spAutoFit/>
          </a:bodyPr>
          <a:lstStyle/>
          <a:p>
            <a:pPr algn="ctr"/>
            <a:r>
              <a:rPr kumimoji="0" lang="zh-CN" altLang="en-US" b="1">
                <a:solidFill>
                  <a:schemeClr val="tx2"/>
                </a:solidFill>
              </a:rPr>
              <a:t>如图，</a:t>
            </a:r>
            <a:endParaRPr kumimoji="0" lang="zh-CN" altLang="en-US" sz="1800">
              <a:solidFill>
                <a:schemeClr val="tx2"/>
              </a:solidFill>
            </a:endParaRPr>
          </a:p>
        </p:txBody>
      </p:sp>
      <p:sp>
        <p:nvSpPr>
          <p:cNvPr id="171011" name="Rectangle 3"/>
          <p:cNvSpPr>
            <a:spLocks noChangeArrowheads="1"/>
          </p:cNvSpPr>
          <p:nvPr/>
        </p:nvSpPr>
        <p:spPr bwMode="auto">
          <a:xfrm>
            <a:off x="750888" y="1100138"/>
            <a:ext cx="6062662" cy="457200"/>
          </a:xfrm>
          <a:prstGeom prst="rect">
            <a:avLst/>
          </a:prstGeom>
          <a:noFill/>
          <a:ln w="9525">
            <a:noFill/>
            <a:miter lim="800000"/>
            <a:headEnd/>
            <a:tailEnd/>
          </a:ln>
        </p:spPr>
        <p:txBody>
          <a:bodyPr>
            <a:spAutoFit/>
          </a:bodyPr>
          <a:lstStyle/>
          <a:p>
            <a:r>
              <a:rPr kumimoji="0" lang="zh-CN" altLang="en-US" b="1">
                <a:solidFill>
                  <a:schemeClr val="tx2"/>
                </a:solidFill>
              </a:rPr>
              <a:t>在下列情况下试求波动方程：</a:t>
            </a:r>
            <a:endParaRPr kumimoji="0" lang="zh-CN" altLang="en-US" sz="1800">
              <a:solidFill>
                <a:schemeClr val="tx2"/>
              </a:solidFill>
            </a:endParaRPr>
          </a:p>
        </p:txBody>
      </p:sp>
      <p:graphicFrame>
        <p:nvGraphicFramePr>
          <p:cNvPr id="171012" name="Object 4"/>
          <p:cNvGraphicFramePr>
            <a:graphicFrameLocks noChangeAspect="1"/>
          </p:cNvGraphicFramePr>
          <p:nvPr/>
        </p:nvGraphicFramePr>
        <p:xfrm>
          <a:off x="5156200" y="396875"/>
          <a:ext cx="2335213" cy="690563"/>
        </p:xfrm>
        <a:graphic>
          <a:graphicData uri="http://schemas.openxmlformats.org/presentationml/2006/ole">
            <p:oleObj spid="_x0000_s18434" name="公式" r:id="rId3" imgW="1371600" imgH="406080" progId="Equation.3">
              <p:embed/>
            </p:oleObj>
          </a:graphicData>
        </a:graphic>
      </p:graphicFrame>
      <p:sp>
        <p:nvSpPr>
          <p:cNvPr id="171013" name="Rectangle 5"/>
          <p:cNvSpPr>
            <a:spLocks noChangeArrowheads="1"/>
          </p:cNvSpPr>
          <p:nvPr/>
        </p:nvSpPr>
        <p:spPr bwMode="auto">
          <a:xfrm>
            <a:off x="701675" y="2798763"/>
            <a:ext cx="6297613" cy="457200"/>
          </a:xfrm>
          <a:prstGeom prst="rect">
            <a:avLst/>
          </a:prstGeom>
          <a:noFill/>
          <a:ln w="9525">
            <a:noFill/>
            <a:miter lim="800000"/>
            <a:headEnd/>
            <a:tailEnd/>
          </a:ln>
        </p:spPr>
        <p:txBody>
          <a:bodyPr wrap="none">
            <a:spAutoFit/>
          </a:bodyPr>
          <a:lstStyle/>
          <a:p>
            <a:pPr algn="ctr"/>
            <a:r>
              <a:rPr kumimoji="0" lang="en-US" altLang="zh-CN" b="1">
                <a:solidFill>
                  <a:schemeClr val="tx2"/>
                </a:solidFill>
              </a:rPr>
              <a:t>(3) </a:t>
            </a:r>
            <a:r>
              <a:rPr kumimoji="0" lang="zh-CN" altLang="en-US" b="1">
                <a:solidFill>
                  <a:schemeClr val="tx2"/>
                </a:solidFill>
              </a:rPr>
              <a:t>若 </a:t>
            </a:r>
            <a:r>
              <a:rPr kumimoji="0" lang="en-US" altLang="zh-CN" b="1" i="1">
                <a:solidFill>
                  <a:srgbClr val="FF6600"/>
                </a:solidFill>
              </a:rPr>
              <a:t>u</a:t>
            </a:r>
            <a:r>
              <a:rPr kumimoji="0" lang="en-US" altLang="zh-CN" b="1" i="1">
                <a:solidFill>
                  <a:schemeClr val="tx2"/>
                </a:solidFill>
              </a:rPr>
              <a:t>  </a:t>
            </a:r>
            <a:r>
              <a:rPr kumimoji="0" lang="zh-CN" altLang="en-US" b="1">
                <a:solidFill>
                  <a:schemeClr val="tx2"/>
                </a:solidFill>
              </a:rPr>
              <a:t>沿 </a:t>
            </a:r>
            <a:r>
              <a:rPr kumimoji="0" lang="en-US" altLang="zh-CN" b="1" i="1">
                <a:solidFill>
                  <a:srgbClr val="FF6600"/>
                </a:solidFill>
              </a:rPr>
              <a:t>x</a:t>
            </a:r>
            <a:r>
              <a:rPr kumimoji="0" lang="en-US" altLang="zh-CN" b="1" i="1">
                <a:solidFill>
                  <a:schemeClr val="tx2"/>
                </a:solidFill>
              </a:rPr>
              <a:t> </a:t>
            </a:r>
            <a:r>
              <a:rPr kumimoji="0" lang="en-US" altLang="zh-CN" b="1">
                <a:solidFill>
                  <a:schemeClr val="tx2"/>
                </a:solidFill>
              </a:rPr>
              <a:t> </a:t>
            </a:r>
            <a:r>
              <a:rPr kumimoji="0" lang="zh-CN" altLang="en-US" b="1">
                <a:solidFill>
                  <a:schemeClr val="tx2"/>
                </a:solidFill>
              </a:rPr>
              <a:t>轴</a:t>
            </a:r>
            <a:r>
              <a:rPr kumimoji="0" lang="zh-CN" altLang="en-US" b="1">
                <a:solidFill>
                  <a:srgbClr val="FF6600"/>
                </a:solidFill>
              </a:rPr>
              <a:t>负</a:t>
            </a:r>
            <a:r>
              <a:rPr kumimoji="0" lang="zh-CN" altLang="en-US" b="1">
                <a:solidFill>
                  <a:schemeClr val="tx2"/>
                </a:solidFill>
              </a:rPr>
              <a:t>向，以上两种情况又如何？</a:t>
            </a:r>
            <a:endParaRPr kumimoji="0" lang="zh-CN" altLang="en-US" sz="1800">
              <a:solidFill>
                <a:schemeClr val="tx2"/>
              </a:solidFill>
            </a:endParaRPr>
          </a:p>
        </p:txBody>
      </p:sp>
      <p:sp>
        <p:nvSpPr>
          <p:cNvPr id="171014" name="Text Box 6"/>
          <p:cNvSpPr txBox="1">
            <a:spLocks noChangeArrowheads="1"/>
          </p:cNvSpPr>
          <p:nvPr/>
        </p:nvSpPr>
        <p:spPr bwMode="auto">
          <a:xfrm>
            <a:off x="161925" y="525463"/>
            <a:ext cx="492125" cy="457200"/>
          </a:xfrm>
          <a:prstGeom prst="rect">
            <a:avLst/>
          </a:prstGeom>
          <a:noFill/>
          <a:ln w="9525">
            <a:noFill/>
            <a:miter lim="800000"/>
            <a:headEnd/>
            <a:tailEnd/>
          </a:ln>
        </p:spPr>
        <p:txBody>
          <a:bodyPr wrap="none" anchor="ctr">
            <a:spAutoFit/>
          </a:bodyPr>
          <a:lstStyle/>
          <a:p>
            <a:pPr algn="ctr"/>
            <a:r>
              <a:rPr kumimoji="0" lang="zh-CN" altLang="en-US" b="1">
                <a:solidFill>
                  <a:srgbClr val="FF0000"/>
                </a:solidFill>
              </a:rPr>
              <a:t>例</a:t>
            </a:r>
            <a:endParaRPr kumimoji="0" lang="zh-CN" altLang="en-US" sz="1800">
              <a:solidFill>
                <a:srgbClr val="FF0000"/>
              </a:solidFill>
            </a:endParaRPr>
          </a:p>
        </p:txBody>
      </p:sp>
      <p:sp>
        <p:nvSpPr>
          <p:cNvPr id="171015" name="Rectangle 7"/>
          <p:cNvSpPr>
            <a:spLocks noChangeArrowheads="1"/>
          </p:cNvSpPr>
          <p:nvPr/>
        </p:nvSpPr>
        <p:spPr bwMode="auto">
          <a:xfrm>
            <a:off x="669925" y="1628775"/>
            <a:ext cx="2579688" cy="457200"/>
          </a:xfrm>
          <a:prstGeom prst="rect">
            <a:avLst/>
          </a:prstGeom>
          <a:noFill/>
          <a:ln w="9525">
            <a:noFill/>
            <a:miter lim="800000"/>
            <a:headEnd/>
            <a:tailEnd/>
          </a:ln>
        </p:spPr>
        <p:txBody>
          <a:bodyPr wrap="none">
            <a:spAutoFit/>
          </a:bodyPr>
          <a:lstStyle/>
          <a:p>
            <a:pPr algn="ctr"/>
            <a:r>
              <a:rPr kumimoji="0" lang="en-US" altLang="zh-CN" b="1">
                <a:solidFill>
                  <a:schemeClr val="tx2"/>
                </a:solidFill>
              </a:rPr>
              <a:t> (1) </a:t>
            </a:r>
            <a:r>
              <a:rPr kumimoji="0" lang="zh-CN" altLang="en-US" b="1">
                <a:solidFill>
                  <a:schemeClr val="tx2"/>
                </a:solidFill>
              </a:rPr>
              <a:t>以 </a:t>
            </a:r>
            <a:r>
              <a:rPr kumimoji="0" lang="en-US" altLang="zh-CN" b="1" i="1">
                <a:solidFill>
                  <a:srgbClr val="FF6600"/>
                </a:solidFill>
              </a:rPr>
              <a:t>A</a:t>
            </a:r>
            <a:r>
              <a:rPr kumimoji="0" lang="en-US" altLang="zh-CN" b="1" i="1">
                <a:solidFill>
                  <a:schemeClr val="tx2"/>
                </a:solidFill>
              </a:rPr>
              <a:t> </a:t>
            </a:r>
            <a:r>
              <a:rPr kumimoji="0" lang="zh-CN" altLang="en-US" b="1">
                <a:solidFill>
                  <a:schemeClr val="tx2"/>
                </a:solidFill>
              </a:rPr>
              <a:t>为原点；</a:t>
            </a:r>
            <a:endParaRPr kumimoji="0" lang="zh-CN" altLang="en-US" sz="1800">
              <a:solidFill>
                <a:schemeClr val="tx2"/>
              </a:solidFill>
            </a:endParaRPr>
          </a:p>
        </p:txBody>
      </p:sp>
      <p:sp>
        <p:nvSpPr>
          <p:cNvPr id="171016" name="Rectangle 8"/>
          <p:cNvSpPr>
            <a:spLocks noChangeArrowheads="1"/>
          </p:cNvSpPr>
          <p:nvPr/>
        </p:nvSpPr>
        <p:spPr bwMode="auto">
          <a:xfrm>
            <a:off x="733425" y="2168525"/>
            <a:ext cx="2579688" cy="457200"/>
          </a:xfrm>
          <a:prstGeom prst="rect">
            <a:avLst/>
          </a:prstGeom>
          <a:noFill/>
          <a:ln w="9525">
            <a:noFill/>
            <a:miter lim="800000"/>
            <a:headEnd/>
            <a:tailEnd/>
          </a:ln>
        </p:spPr>
        <p:txBody>
          <a:bodyPr wrap="none">
            <a:spAutoFit/>
          </a:bodyPr>
          <a:lstStyle/>
          <a:p>
            <a:pPr algn="ctr"/>
            <a:r>
              <a:rPr kumimoji="0" lang="en-US" altLang="zh-CN" b="1">
                <a:solidFill>
                  <a:schemeClr val="tx2"/>
                </a:solidFill>
              </a:rPr>
              <a:t>(2)  </a:t>
            </a:r>
            <a:r>
              <a:rPr kumimoji="0" lang="zh-CN" altLang="en-US" b="1">
                <a:solidFill>
                  <a:schemeClr val="tx2"/>
                </a:solidFill>
              </a:rPr>
              <a:t>以 </a:t>
            </a:r>
            <a:r>
              <a:rPr kumimoji="0" lang="en-US" altLang="zh-CN" b="1" i="1">
                <a:solidFill>
                  <a:srgbClr val="FF6600"/>
                </a:solidFill>
              </a:rPr>
              <a:t>B</a:t>
            </a:r>
            <a:r>
              <a:rPr kumimoji="0" lang="en-US" altLang="zh-CN" b="1" i="1">
                <a:solidFill>
                  <a:schemeClr val="tx2"/>
                </a:solidFill>
              </a:rPr>
              <a:t> </a:t>
            </a:r>
            <a:r>
              <a:rPr kumimoji="0" lang="zh-CN" altLang="en-US" b="1">
                <a:solidFill>
                  <a:schemeClr val="tx2"/>
                </a:solidFill>
              </a:rPr>
              <a:t>为原点；</a:t>
            </a:r>
            <a:endParaRPr kumimoji="0" lang="zh-CN" altLang="en-US" sz="1800">
              <a:solidFill>
                <a:schemeClr val="tx2"/>
              </a:solidFill>
            </a:endParaRPr>
          </a:p>
        </p:txBody>
      </p:sp>
      <p:sp>
        <p:nvSpPr>
          <p:cNvPr id="171017" name="Line 9"/>
          <p:cNvSpPr>
            <a:spLocks noChangeShapeType="1"/>
          </p:cNvSpPr>
          <p:nvPr/>
        </p:nvSpPr>
        <p:spPr bwMode="auto">
          <a:xfrm>
            <a:off x="4913313" y="2063750"/>
            <a:ext cx="3429000" cy="0"/>
          </a:xfrm>
          <a:prstGeom prst="line">
            <a:avLst/>
          </a:prstGeom>
          <a:noFill/>
          <a:ln w="28575">
            <a:solidFill>
              <a:srgbClr val="FF0000"/>
            </a:solidFill>
            <a:round/>
            <a:headEnd/>
            <a:tailEnd type="triangle" w="sm" len="lg"/>
          </a:ln>
        </p:spPr>
        <p:txBody>
          <a:bodyPr/>
          <a:lstStyle/>
          <a:p>
            <a:endParaRPr lang="zh-CN" altLang="en-US"/>
          </a:p>
        </p:txBody>
      </p:sp>
      <p:sp>
        <p:nvSpPr>
          <p:cNvPr id="171018" name="Text Box 10"/>
          <p:cNvSpPr txBox="1">
            <a:spLocks noChangeArrowheads="1"/>
          </p:cNvSpPr>
          <p:nvPr/>
        </p:nvSpPr>
        <p:spPr bwMode="auto">
          <a:xfrm>
            <a:off x="5418138" y="2087563"/>
            <a:ext cx="762000" cy="457200"/>
          </a:xfrm>
          <a:prstGeom prst="rect">
            <a:avLst/>
          </a:prstGeom>
          <a:noFill/>
          <a:ln w="28575">
            <a:noFill/>
            <a:miter lim="800000"/>
            <a:headEnd/>
            <a:tailEnd/>
          </a:ln>
        </p:spPr>
        <p:txBody>
          <a:bodyPr>
            <a:spAutoFit/>
          </a:bodyPr>
          <a:lstStyle/>
          <a:p>
            <a:pPr algn="ctr"/>
            <a:r>
              <a:rPr kumimoji="0" lang="en-US" altLang="zh-CN" b="1" i="1">
                <a:solidFill>
                  <a:schemeClr val="tx2"/>
                </a:solidFill>
              </a:rPr>
              <a:t>B</a:t>
            </a:r>
            <a:endParaRPr kumimoji="0" lang="en-US" altLang="zh-CN" sz="1800" b="1">
              <a:solidFill>
                <a:schemeClr val="tx2"/>
              </a:solidFill>
            </a:endParaRPr>
          </a:p>
        </p:txBody>
      </p:sp>
      <p:sp>
        <p:nvSpPr>
          <p:cNvPr id="171019" name="Text Box 11"/>
          <p:cNvSpPr txBox="1">
            <a:spLocks noChangeArrowheads="1"/>
          </p:cNvSpPr>
          <p:nvPr/>
        </p:nvSpPr>
        <p:spPr bwMode="auto">
          <a:xfrm>
            <a:off x="6332538" y="2087563"/>
            <a:ext cx="609600" cy="457200"/>
          </a:xfrm>
          <a:prstGeom prst="rect">
            <a:avLst/>
          </a:prstGeom>
          <a:noFill/>
          <a:ln w="28575">
            <a:noFill/>
            <a:miter lim="800000"/>
            <a:headEnd/>
            <a:tailEnd/>
          </a:ln>
        </p:spPr>
        <p:txBody>
          <a:bodyPr>
            <a:spAutoFit/>
          </a:bodyPr>
          <a:lstStyle/>
          <a:p>
            <a:pPr algn="ctr"/>
            <a:r>
              <a:rPr kumimoji="0" lang="en-US" altLang="zh-CN" b="1" i="1">
                <a:solidFill>
                  <a:schemeClr val="tx2"/>
                </a:solidFill>
              </a:rPr>
              <a:t>A</a:t>
            </a:r>
            <a:endParaRPr kumimoji="0" lang="en-US" altLang="zh-CN" sz="1800" b="1">
              <a:solidFill>
                <a:schemeClr val="tx2"/>
              </a:solidFill>
            </a:endParaRPr>
          </a:p>
        </p:txBody>
      </p:sp>
      <p:graphicFrame>
        <p:nvGraphicFramePr>
          <p:cNvPr id="171020" name="Object 12"/>
          <p:cNvGraphicFramePr>
            <a:graphicFrameLocks noChangeAspect="1"/>
          </p:cNvGraphicFramePr>
          <p:nvPr/>
        </p:nvGraphicFramePr>
        <p:xfrm>
          <a:off x="6057900" y="1643063"/>
          <a:ext cx="320675" cy="390525"/>
        </p:xfrm>
        <a:graphic>
          <a:graphicData uri="http://schemas.openxmlformats.org/presentationml/2006/ole">
            <p:oleObj spid="_x0000_s18435" name="公式" r:id="rId4" imgW="177480" imgH="215640" progId="Equation.3">
              <p:embed/>
            </p:oleObj>
          </a:graphicData>
        </a:graphic>
      </p:graphicFrame>
      <p:graphicFrame>
        <p:nvGraphicFramePr>
          <p:cNvPr id="171021" name="Object 13"/>
          <p:cNvGraphicFramePr>
            <a:graphicFrameLocks noChangeAspect="1"/>
          </p:cNvGraphicFramePr>
          <p:nvPr/>
        </p:nvGraphicFramePr>
        <p:xfrm>
          <a:off x="8397875" y="1943100"/>
          <a:ext cx="287338" cy="315913"/>
        </p:xfrm>
        <a:graphic>
          <a:graphicData uri="http://schemas.openxmlformats.org/presentationml/2006/ole">
            <p:oleObj spid="_x0000_s18436" name="公式" r:id="rId5" imgW="126720" imgH="139680" progId="Equation.3">
              <p:embed/>
            </p:oleObj>
          </a:graphicData>
        </a:graphic>
      </p:graphicFrame>
      <p:sp>
        <p:nvSpPr>
          <p:cNvPr id="171022" name="Rectangle 14"/>
          <p:cNvSpPr>
            <a:spLocks noChangeArrowheads="1"/>
          </p:cNvSpPr>
          <p:nvPr/>
        </p:nvSpPr>
        <p:spPr bwMode="auto">
          <a:xfrm>
            <a:off x="1495425" y="549275"/>
            <a:ext cx="3603625" cy="457200"/>
          </a:xfrm>
          <a:prstGeom prst="rect">
            <a:avLst/>
          </a:prstGeom>
          <a:noFill/>
          <a:ln w="9525">
            <a:noFill/>
            <a:miter lim="800000"/>
            <a:headEnd/>
            <a:tailEnd/>
          </a:ln>
        </p:spPr>
        <p:txBody>
          <a:bodyPr wrap="none">
            <a:spAutoFit/>
          </a:bodyPr>
          <a:lstStyle/>
          <a:p>
            <a:pPr algn="ctr"/>
            <a:r>
              <a:rPr kumimoji="0" lang="zh-CN" altLang="en-US" b="1">
                <a:solidFill>
                  <a:schemeClr val="tx2"/>
                </a:solidFill>
              </a:rPr>
              <a:t>已知 </a:t>
            </a:r>
            <a:r>
              <a:rPr kumimoji="0" lang="en-US" altLang="zh-CN" b="1" i="1">
                <a:solidFill>
                  <a:srgbClr val="FF6600"/>
                </a:solidFill>
              </a:rPr>
              <a:t>A</a:t>
            </a:r>
            <a:r>
              <a:rPr kumimoji="0" lang="en-US" altLang="zh-CN" b="1" i="1">
                <a:solidFill>
                  <a:schemeClr val="tx2"/>
                </a:solidFill>
              </a:rPr>
              <a:t> </a:t>
            </a:r>
            <a:r>
              <a:rPr kumimoji="0" lang="zh-CN" altLang="en-US" b="1">
                <a:solidFill>
                  <a:schemeClr val="tx2"/>
                </a:solidFill>
              </a:rPr>
              <a:t>点的振动方程为：</a:t>
            </a:r>
            <a:endParaRPr kumimoji="0" lang="zh-CN" altLang="en-US" sz="1800">
              <a:solidFill>
                <a:schemeClr val="tx2"/>
              </a:solidFill>
            </a:endParaRPr>
          </a:p>
        </p:txBody>
      </p:sp>
      <p:sp>
        <p:nvSpPr>
          <p:cNvPr id="171023" name="Text Box 15"/>
          <p:cNvSpPr txBox="1">
            <a:spLocks noChangeArrowheads="1"/>
          </p:cNvSpPr>
          <p:nvPr/>
        </p:nvSpPr>
        <p:spPr bwMode="auto">
          <a:xfrm>
            <a:off x="5588000" y="1312863"/>
            <a:ext cx="288925" cy="1006475"/>
          </a:xfrm>
          <a:prstGeom prst="rect">
            <a:avLst/>
          </a:prstGeom>
          <a:noFill/>
          <a:ln w="9525">
            <a:noFill/>
            <a:miter lim="800000"/>
            <a:headEnd/>
            <a:tailEnd/>
          </a:ln>
        </p:spPr>
        <p:txBody>
          <a:bodyPr>
            <a:spAutoFit/>
          </a:bodyPr>
          <a:lstStyle/>
          <a:p>
            <a:pPr algn="ctr"/>
            <a:r>
              <a:rPr kumimoji="0" lang="en-US" altLang="zh-CN" sz="6000" b="1">
                <a:solidFill>
                  <a:schemeClr val="tx2"/>
                </a:solidFill>
                <a:latin typeface="Bookman Old Style" pitchFamily="18" charset="0"/>
                <a:ea typeface="仿宋_GB2312" pitchFamily="49" charset="-122"/>
                <a:sym typeface="Symbol" pitchFamily="18" charset="2"/>
              </a:rPr>
              <a:t></a:t>
            </a:r>
            <a:endParaRPr kumimoji="0" lang="en-US" altLang="zh-CN" sz="6000">
              <a:solidFill>
                <a:schemeClr val="tx2"/>
              </a:solidFill>
            </a:endParaRPr>
          </a:p>
        </p:txBody>
      </p:sp>
      <p:sp>
        <p:nvSpPr>
          <p:cNvPr id="171024" name="Text Box 16"/>
          <p:cNvSpPr txBox="1">
            <a:spLocks noChangeArrowheads="1"/>
          </p:cNvSpPr>
          <p:nvPr/>
        </p:nvSpPr>
        <p:spPr bwMode="auto">
          <a:xfrm>
            <a:off x="6488113" y="1296988"/>
            <a:ext cx="247650" cy="1006475"/>
          </a:xfrm>
          <a:prstGeom prst="rect">
            <a:avLst/>
          </a:prstGeom>
          <a:noFill/>
          <a:ln w="9525">
            <a:noFill/>
            <a:miter lim="800000"/>
            <a:headEnd/>
            <a:tailEnd/>
          </a:ln>
        </p:spPr>
        <p:txBody>
          <a:bodyPr>
            <a:spAutoFit/>
          </a:bodyPr>
          <a:lstStyle/>
          <a:p>
            <a:pPr algn="ctr"/>
            <a:r>
              <a:rPr kumimoji="0" lang="en-US" altLang="zh-CN" sz="6000" b="1">
                <a:solidFill>
                  <a:schemeClr val="tx2"/>
                </a:solidFill>
                <a:latin typeface="Bookman Old Style" pitchFamily="18" charset="0"/>
                <a:ea typeface="仿宋_GB2312" pitchFamily="49" charset="-122"/>
                <a:sym typeface="Symbol" pitchFamily="18" charset="2"/>
              </a:rPr>
              <a:t></a:t>
            </a:r>
            <a:endParaRPr kumimoji="0" lang="en-US" altLang="zh-CN" sz="6000">
              <a:solidFill>
                <a:schemeClr val="tx2"/>
              </a:solidFill>
            </a:endParaRPr>
          </a:p>
        </p:txBody>
      </p:sp>
      <p:graphicFrame>
        <p:nvGraphicFramePr>
          <p:cNvPr id="171025" name="Object 17"/>
          <p:cNvGraphicFramePr>
            <a:graphicFrameLocks/>
          </p:cNvGraphicFramePr>
          <p:nvPr/>
        </p:nvGraphicFramePr>
        <p:xfrm>
          <a:off x="7537450" y="3962400"/>
          <a:ext cx="252413" cy="320675"/>
        </p:xfrm>
        <a:graphic>
          <a:graphicData uri="http://schemas.openxmlformats.org/presentationml/2006/ole">
            <p:oleObj spid="_x0000_s18437" name="公式" r:id="rId6" imgW="139680" imgH="177480" progId="Equation.3">
              <p:embed/>
            </p:oleObj>
          </a:graphicData>
        </a:graphic>
      </p:graphicFrame>
      <p:sp>
        <p:nvSpPr>
          <p:cNvPr id="171026" name="Line 18"/>
          <p:cNvSpPr>
            <a:spLocks noChangeShapeType="1"/>
          </p:cNvSpPr>
          <p:nvPr/>
        </p:nvSpPr>
        <p:spPr bwMode="auto">
          <a:xfrm>
            <a:off x="7019925" y="4148138"/>
            <a:ext cx="457200" cy="0"/>
          </a:xfrm>
          <a:prstGeom prst="line">
            <a:avLst/>
          </a:prstGeom>
          <a:noFill/>
          <a:ln w="28575">
            <a:solidFill>
              <a:srgbClr val="000099"/>
            </a:solidFill>
            <a:round/>
            <a:headEnd/>
            <a:tailEnd type="triangle" w="med" len="med"/>
          </a:ln>
        </p:spPr>
        <p:txBody>
          <a:bodyPr/>
          <a:lstStyle/>
          <a:p>
            <a:endParaRPr lang="zh-CN" altLang="en-US"/>
          </a:p>
        </p:txBody>
      </p:sp>
      <p:sp>
        <p:nvSpPr>
          <p:cNvPr id="171027" name="Rectangle 19"/>
          <p:cNvSpPr>
            <a:spLocks noChangeArrowheads="1"/>
          </p:cNvSpPr>
          <p:nvPr/>
        </p:nvSpPr>
        <p:spPr bwMode="auto">
          <a:xfrm>
            <a:off x="755650" y="3451225"/>
            <a:ext cx="4760913" cy="968375"/>
          </a:xfrm>
          <a:prstGeom prst="rect">
            <a:avLst/>
          </a:prstGeom>
          <a:noFill/>
          <a:ln w="9525">
            <a:noFill/>
            <a:miter lim="800000"/>
            <a:headEnd/>
            <a:tailEnd/>
          </a:ln>
        </p:spPr>
        <p:txBody>
          <a:bodyPr>
            <a:spAutoFit/>
          </a:bodyPr>
          <a:lstStyle/>
          <a:p>
            <a:pPr>
              <a:lnSpc>
                <a:spcPct val="120000"/>
              </a:lnSpc>
              <a:buClr>
                <a:schemeClr val="bg1"/>
              </a:buClr>
              <a:buFont typeface="Times New Roman" pitchFamily="18" charset="0"/>
              <a:buNone/>
            </a:pPr>
            <a:r>
              <a:rPr kumimoji="0" lang="en-US" altLang="zh-CN" b="1">
                <a:solidFill>
                  <a:schemeClr val="tx2"/>
                </a:solidFill>
              </a:rPr>
              <a:t>(1)  </a:t>
            </a:r>
            <a:r>
              <a:rPr kumimoji="0" lang="zh-CN" altLang="en-US" b="1">
                <a:solidFill>
                  <a:schemeClr val="tx2"/>
                </a:solidFill>
              </a:rPr>
              <a:t>在 </a:t>
            </a:r>
            <a:r>
              <a:rPr kumimoji="0" lang="en-US" altLang="zh-CN" b="1" i="1">
                <a:solidFill>
                  <a:srgbClr val="FF6600"/>
                </a:solidFill>
              </a:rPr>
              <a:t>x</a:t>
            </a:r>
            <a:r>
              <a:rPr kumimoji="0" lang="en-US" altLang="zh-CN" b="1" i="1">
                <a:solidFill>
                  <a:schemeClr val="tx2"/>
                </a:solidFill>
              </a:rPr>
              <a:t> </a:t>
            </a:r>
            <a:r>
              <a:rPr kumimoji="0" lang="zh-CN" altLang="en-US" b="1">
                <a:solidFill>
                  <a:schemeClr val="tx2"/>
                </a:solidFill>
              </a:rPr>
              <a:t>轴上任取一点 </a:t>
            </a:r>
            <a:r>
              <a:rPr kumimoji="0" lang="en-US" altLang="zh-CN" b="1" i="1">
                <a:solidFill>
                  <a:srgbClr val="FF6600"/>
                </a:solidFill>
              </a:rPr>
              <a:t>P</a:t>
            </a:r>
            <a:r>
              <a:rPr kumimoji="0" lang="en-US" altLang="zh-CN" b="1" i="1">
                <a:solidFill>
                  <a:schemeClr val="tx2"/>
                </a:solidFill>
              </a:rPr>
              <a:t> </a:t>
            </a:r>
            <a:r>
              <a:rPr kumimoji="0" lang="zh-CN" altLang="en-US" b="1">
                <a:solidFill>
                  <a:schemeClr val="tx2"/>
                </a:solidFill>
              </a:rPr>
              <a:t>，</a:t>
            </a:r>
            <a:r>
              <a:rPr kumimoji="0" lang="en-US" altLang="zh-CN" b="1" i="1">
                <a:solidFill>
                  <a:srgbClr val="FF6600"/>
                </a:solidFill>
              </a:rPr>
              <a:t>A </a:t>
            </a:r>
            <a:r>
              <a:rPr kumimoji="0" lang="zh-CN" altLang="en-US" b="1">
                <a:solidFill>
                  <a:schemeClr val="tx2"/>
                </a:solidFill>
              </a:rPr>
              <a:t>点      </a:t>
            </a:r>
          </a:p>
          <a:p>
            <a:pPr>
              <a:lnSpc>
                <a:spcPct val="120000"/>
              </a:lnSpc>
            </a:pPr>
            <a:r>
              <a:rPr kumimoji="0" lang="zh-CN" altLang="en-US" b="1">
                <a:solidFill>
                  <a:schemeClr val="tx2"/>
                </a:solidFill>
              </a:rPr>
              <a:t>        振动方程为：</a:t>
            </a:r>
            <a:endParaRPr kumimoji="0" lang="zh-CN" altLang="en-US" sz="1800">
              <a:solidFill>
                <a:schemeClr val="tx2"/>
              </a:solidFill>
            </a:endParaRPr>
          </a:p>
        </p:txBody>
      </p:sp>
      <p:graphicFrame>
        <p:nvGraphicFramePr>
          <p:cNvPr id="171028" name="Object 20"/>
          <p:cNvGraphicFramePr>
            <a:graphicFrameLocks/>
          </p:cNvGraphicFramePr>
          <p:nvPr/>
        </p:nvGraphicFramePr>
        <p:xfrm>
          <a:off x="2141538" y="4464050"/>
          <a:ext cx="2335212" cy="730250"/>
        </p:xfrm>
        <a:graphic>
          <a:graphicData uri="http://schemas.openxmlformats.org/presentationml/2006/ole">
            <p:oleObj spid="_x0000_s18438" name="公式" r:id="rId7" imgW="1295280" imgH="406080" progId="Equation.3">
              <p:embed/>
            </p:oleObj>
          </a:graphicData>
        </a:graphic>
      </p:graphicFrame>
      <p:graphicFrame>
        <p:nvGraphicFramePr>
          <p:cNvPr id="171029" name="Object 21"/>
          <p:cNvGraphicFramePr>
            <a:graphicFrameLocks/>
          </p:cNvGraphicFramePr>
          <p:nvPr/>
        </p:nvGraphicFramePr>
        <p:xfrm>
          <a:off x="2816225" y="5624513"/>
          <a:ext cx="3498850" cy="730250"/>
        </p:xfrm>
        <a:graphic>
          <a:graphicData uri="http://schemas.openxmlformats.org/presentationml/2006/ole">
            <p:oleObj spid="_x0000_s18439" name="公式" r:id="rId8" imgW="1942920" imgH="406080" progId="Equation.3">
              <p:embed/>
            </p:oleObj>
          </a:graphicData>
        </a:graphic>
      </p:graphicFrame>
      <p:sp>
        <p:nvSpPr>
          <p:cNvPr id="171030" name="Rectangle 22"/>
          <p:cNvSpPr>
            <a:spLocks noChangeArrowheads="1"/>
          </p:cNvSpPr>
          <p:nvPr/>
        </p:nvSpPr>
        <p:spPr bwMode="auto">
          <a:xfrm>
            <a:off x="1206500" y="5726113"/>
            <a:ext cx="1716088" cy="457200"/>
          </a:xfrm>
          <a:prstGeom prst="rect">
            <a:avLst/>
          </a:prstGeom>
          <a:noFill/>
          <a:ln w="9525">
            <a:noFill/>
            <a:miter lim="800000"/>
            <a:headEnd/>
            <a:tailEnd/>
          </a:ln>
        </p:spPr>
        <p:txBody>
          <a:bodyPr wrap="none">
            <a:spAutoFit/>
          </a:bodyPr>
          <a:lstStyle/>
          <a:p>
            <a:pPr algn="ctr"/>
            <a:r>
              <a:rPr kumimoji="0" lang="zh-CN" altLang="en-US" b="1">
                <a:solidFill>
                  <a:schemeClr val="tx2"/>
                </a:solidFill>
              </a:rPr>
              <a:t>波函数为：</a:t>
            </a:r>
            <a:endParaRPr kumimoji="0" lang="zh-CN" altLang="en-US" sz="1800">
              <a:solidFill>
                <a:schemeClr val="tx2"/>
              </a:solidFill>
            </a:endParaRPr>
          </a:p>
        </p:txBody>
      </p:sp>
      <p:sp>
        <p:nvSpPr>
          <p:cNvPr id="171031" name="Text Box 23"/>
          <p:cNvSpPr txBox="1">
            <a:spLocks noChangeArrowheads="1"/>
          </p:cNvSpPr>
          <p:nvPr/>
        </p:nvSpPr>
        <p:spPr bwMode="auto">
          <a:xfrm>
            <a:off x="206375" y="3473450"/>
            <a:ext cx="492125" cy="457200"/>
          </a:xfrm>
          <a:prstGeom prst="rect">
            <a:avLst/>
          </a:prstGeom>
          <a:noFill/>
          <a:ln w="9525">
            <a:noFill/>
            <a:miter lim="800000"/>
            <a:headEnd/>
            <a:tailEnd/>
          </a:ln>
        </p:spPr>
        <p:txBody>
          <a:bodyPr wrap="none" anchor="ctr">
            <a:spAutoFit/>
          </a:bodyPr>
          <a:lstStyle/>
          <a:p>
            <a:pPr algn="ctr"/>
            <a:r>
              <a:rPr kumimoji="0" lang="zh-CN" altLang="en-US" b="1">
                <a:solidFill>
                  <a:srgbClr val="FF0000"/>
                </a:solidFill>
              </a:rPr>
              <a:t>解</a:t>
            </a:r>
            <a:endParaRPr kumimoji="0" lang="zh-CN" altLang="en-US" sz="1800">
              <a:solidFill>
                <a:srgbClr val="FF0000"/>
              </a:solidFill>
            </a:endParaRPr>
          </a:p>
        </p:txBody>
      </p:sp>
      <p:sp>
        <p:nvSpPr>
          <p:cNvPr id="171032" name="Text Box 24"/>
          <p:cNvSpPr txBox="1">
            <a:spLocks noChangeArrowheads="1"/>
          </p:cNvSpPr>
          <p:nvPr/>
        </p:nvSpPr>
        <p:spPr bwMode="auto">
          <a:xfrm>
            <a:off x="7697788" y="4687888"/>
            <a:ext cx="609600" cy="457200"/>
          </a:xfrm>
          <a:prstGeom prst="rect">
            <a:avLst/>
          </a:prstGeom>
          <a:noFill/>
          <a:ln w="28575">
            <a:noFill/>
            <a:miter lim="800000"/>
            <a:headEnd/>
            <a:tailEnd/>
          </a:ln>
        </p:spPr>
        <p:txBody>
          <a:bodyPr>
            <a:spAutoFit/>
          </a:bodyPr>
          <a:lstStyle/>
          <a:p>
            <a:pPr algn="ctr"/>
            <a:r>
              <a:rPr kumimoji="0" lang="en-US" altLang="zh-CN" b="1" i="1">
                <a:solidFill>
                  <a:schemeClr val="tx2"/>
                </a:solidFill>
              </a:rPr>
              <a:t>P</a:t>
            </a:r>
            <a:endParaRPr kumimoji="0" lang="en-US" altLang="zh-CN" sz="1800">
              <a:solidFill>
                <a:schemeClr val="tx2"/>
              </a:solidFill>
            </a:endParaRPr>
          </a:p>
        </p:txBody>
      </p:sp>
      <p:grpSp>
        <p:nvGrpSpPr>
          <p:cNvPr id="2" name="Group 25"/>
          <p:cNvGrpSpPr>
            <a:grpSpLocks/>
          </p:cNvGrpSpPr>
          <p:nvPr/>
        </p:nvGrpSpPr>
        <p:grpSpPr bwMode="auto">
          <a:xfrm>
            <a:off x="5156200" y="3922713"/>
            <a:ext cx="3716338" cy="1182687"/>
            <a:chOff x="3334" y="432"/>
            <a:chExt cx="2341" cy="745"/>
          </a:xfrm>
        </p:grpSpPr>
        <p:graphicFrame>
          <p:nvGraphicFramePr>
            <p:cNvPr id="18441" name="Object 26"/>
            <p:cNvGraphicFramePr>
              <a:graphicFrameLocks noChangeAspect="1"/>
            </p:cNvGraphicFramePr>
            <p:nvPr/>
          </p:nvGraphicFramePr>
          <p:xfrm>
            <a:off x="4014" y="432"/>
            <a:ext cx="253" cy="308"/>
          </p:xfrm>
          <a:graphic>
            <a:graphicData uri="http://schemas.openxmlformats.org/presentationml/2006/ole">
              <p:oleObj spid="_x0000_s18441" name="公式" r:id="rId9" imgW="177480" imgH="215640" progId="Equation.3">
                <p:embed/>
              </p:oleObj>
            </a:graphicData>
          </a:graphic>
        </p:graphicFrame>
        <p:sp>
          <p:nvSpPr>
            <p:cNvPr id="18463" name="Line 27"/>
            <p:cNvSpPr>
              <a:spLocks noChangeShapeType="1"/>
            </p:cNvSpPr>
            <p:nvPr/>
          </p:nvSpPr>
          <p:spPr bwMode="auto">
            <a:xfrm>
              <a:off x="3334" y="874"/>
              <a:ext cx="2160" cy="0"/>
            </a:xfrm>
            <a:prstGeom prst="line">
              <a:avLst/>
            </a:prstGeom>
            <a:noFill/>
            <a:ln w="28575">
              <a:solidFill>
                <a:srgbClr val="FF0000"/>
              </a:solidFill>
              <a:round/>
              <a:headEnd/>
              <a:tailEnd type="triangle" w="sm" len="lg"/>
            </a:ln>
          </p:spPr>
          <p:txBody>
            <a:bodyPr/>
            <a:lstStyle/>
            <a:p>
              <a:endParaRPr lang="zh-CN" altLang="en-US"/>
            </a:p>
          </p:txBody>
        </p:sp>
        <p:sp>
          <p:nvSpPr>
            <p:cNvPr id="18464" name="Text Box 28"/>
            <p:cNvSpPr txBox="1">
              <a:spLocks noChangeArrowheads="1"/>
            </p:cNvSpPr>
            <p:nvPr/>
          </p:nvSpPr>
          <p:spPr bwMode="auto">
            <a:xfrm>
              <a:off x="3652" y="889"/>
              <a:ext cx="480" cy="288"/>
            </a:xfrm>
            <a:prstGeom prst="rect">
              <a:avLst/>
            </a:prstGeom>
            <a:noFill/>
            <a:ln w="28575">
              <a:noFill/>
              <a:miter lim="800000"/>
              <a:headEnd/>
              <a:tailEnd/>
            </a:ln>
          </p:spPr>
          <p:txBody>
            <a:bodyPr>
              <a:spAutoFit/>
            </a:bodyPr>
            <a:lstStyle/>
            <a:p>
              <a:pPr algn="ctr"/>
              <a:r>
                <a:rPr kumimoji="0" lang="en-US" altLang="zh-CN" b="1" i="1">
                  <a:solidFill>
                    <a:schemeClr val="tx2"/>
                  </a:solidFill>
                </a:rPr>
                <a:t>B</a:t>
              </a:r>
              <a:endParaRPr kumimoji="0" lang="en-US" altLang="zh-CN" sz="1800">
                <a:solidFill>
                  <a:schemeClr val="tx2"/>
                </a:solidFill>
              </a:endParaRPr>
            </a:p>
          </p:txBody>
        </p:sp>
        <p:sp>
          <p:nvSpPr>
            <p:cNvPr id="18465" name="Text Box 29"/>
            <p:cNvSpPr txBox="1">
              <a:spLocks noChangeArrowheads="1"/>
            </p:cNvSpPr>
            <p:nvPr/>
          </p:nvSpPr>
          <p:spPr bwMode="auto">
            <a:xfrm>
              <a:off x="4228" y="889"/>
              <a:ext cx="384" cy="288"/>
            </a:xfrm>
            <a:prstGeom prst="rect">
              <a:avLst/>
            </a:prstGeom>
            <a:noFill/>
            <a:ln w="28575">
              <a:noFill/>
              <a:miter lim="800000"/>
              <a:headEnd/>
              <a:tailEnd/>
            </a:ln>
          </p:spPr>
          <p:txBody>
            <a:bodyPr>
              <a:spAutoFit/>
            </a:bodyPr>
            <a:lstStyle/>
            <a:p>
              <a:pPr algn="ctr"/>
              <a:r>
                <a:rPr kumimoji="0" lang="en-US" altLang="zh-CN" b="1" i="1">
                  <a:solidFill>
                    <a:schemeClr val="tx2"/>
                  </a:solidFill>
                </a:rPr>
                <a:t>A</a:t>
              </a:r>
              <a:endParaRPr kumimoji="0" lang="en-US" altLang="zh-CN" sz="1800">
                <a:solidFill>
                  <a:schemeClr val="tx2"/>
                </a:solidFill>
              </a:endParaRPr>
            </a:p>
          </p:txBody>
        </p:sp>
        <p:sp>
          <p:nvSpPr>
            <p:cNvPr id="18466" name="Line 30"/>
            <p:cNvSpPr>
              <a:spLocks noChangeShapeType="1"/>
            </p:cNvSpPr>
            <p:nvPr/>
          </p:nvSpPr>
          <p:spPr bwMode="auto">
            <a:xfrm flipV="1">
              <a:off x="3878" y="618"/>
              <a:ext cx="0" cy="240"/>
            </a:xfrm>
            <a:prstGeom prst="line">
              <a:avLst/>
            </a:prstGeom>
            <a:noFill/>
            <a:ln w="28575">
              <a:solidFill>
                <a:schemeClr val="bg1"/>
              </a:solidFill>
              <a:round/>
              <a:headEnd/>
              <a:tailEnd/>
            </a:ln>
          </p:spPr>
          <p:txBody>
            <a:bodyPr/>
            <a:lstStyle/>
            <a:p>
              <a:endParaRPr lang="zh-CN" altLang="en-US"/>
            </a:p>
          </p:txBody>
        </p:sp>
        <p:sp>
          <p:nvSpPr>
            <p:cNvPr id="18467" name="Line 31"/>
            <p:cNvSpPr>
              <a:spLocks noChangeShapeType="1"/>
            </p:cNvSpPr>
            <p:nvPr/>
          </p:nvSpPr>
          <p:spPr bwMode="auto">
            <a:xfrm flipV="1">
              <a:off x="4414" y="618"/>
              <a:ext cx="0" cy="240"/>
            </a:xfrm>
            <a:prstGeom prst="line">
              <a:avLst/>
            </a:prstGeom>
            <a:noFill/>
            <a:ln w="28575">
              <a:solidFill>
                <a:schemeClr val="bg1"/>
              </a:solidFill>
              <a:round/>
              <a:headEnd/>
              <a:tailEnd/>
            </a:ln>
          </p:spPr>
          <p:txBody>
            <a:bodyPr/>
            <a:lstStyle/>
            <a:p>
              <a:endParaRPr lang="zh-CN" altLang="en-US"/>
            </a:p>
          </p:txBody>
        </p:sp>
        <p:sp>
          <p:nvSpPr>
            <p:cNvPr id="18468" name="Line 32"/>
            <p:cNvSpPr>
              <a:spLocks noChangeShapeType="1"/>
            </p:cNvSpPr>
            <p:nvPr/>
          </p:nvSpPr>
          <p:spPr bwMode="auto">
            <a:xfrm>
              <a:off x="3862" y="714"/>
              <a:ext cx="561" cy="0"/>
            </a:xfrm>
            <a:prstGeom prst="line">
              <a:avLst/>
            </a:prstGeom>
            <a:noFill/>
            <a:ln w="28575">
              <a:solidFill>
                <a:schemeClr val="bg1"/>
              </a:solidFill>
              <a:round/>
              <a:headEnd type="triangle" w="sm" len="lg"/>
              <a:tailEnd type="triangle" w="sm" len="lg"/>
            </a:ln>
          </p:spPr>
          <p:txBody>
            <a:bodyPr/>
            <a:lstStyle/>
            <a:p>
              <a:endParaRPr lang="zh-CN" altLang="en-US"/>
            </a:p>
          </p:txBody>
        </p:sp>
        <p:graphicFrame>
          <p:nvGraphicFramePr>
            <p:cNvPr id="18442" name="Object 33"/>
            <p:cNvGraphicFramePr>
              <a:graphicFrameLocks noChangeAspect="1"/>
            </p:cNvGraphicFramePr>
            <p:nvPr/>
          </p:nvGraphicFramePr>
          <p:xfrm>
            <a:off x="5494" y="784"/>
            <a:ext cx="181" cy="199"/>
          </p:xfrm>
          <a:graphic>
            <a:graphicData uri="http://schemas.openxmlformats.org/presentationml/2006/ole">
              <p:oleObj spid="_x0000_s18442" name="公式" r:id="rId10" imgW="126720" imgH="139680" progId="Equation.3">
                <p:embed/>
              </p:oleObj>
            </a:graphicData>
          </a:graphic>
        </p:graphicFrame>
        <p:sp>
          <p:nvSpPr>
            <p:cNvPr id="18469" name="Text Box 34"/>
            <p:cNvSpPr txBox="1">
              <a:spLocks noChangeArrowheads="1"/>
            </p:cNvSpPr>
            <p:nvPr/>
          </p:nvSpPr>
          <p:spPr bwMode="auto">
            <a:xfrm>
              <a:off x="3768" y="488"/>
              <a:ext cx="182" cy="519"/>
            </a:xfrm>
            <a:prstGeom prst="rect">
              <a:avLst/>
            </a:prstGeom>
            <a:noFill/>
            <a:ln w="9525">
              <a:noFill/>
              <a:miter lim="800000"/>
              <a:headEnd/>
              <a:tailEnd/>
            </a:ln>
          </p:spPr>
          <p:txBody>
            <a:bodyPr>
              <a:spAutoFit/>
            </a:bodyPr>
            <a:lstStyle/>
            <a:p>
              <a:pPr algn="ctr"/>
              <a:r>
                <a:rPr kumimoji="0" lang="en-US" altLang="zh-CN" sz="4800" b="1">
                  <a:solidFill>
                    <a:schemeClr val="tx2"/>
                  </a:solidFill>
                  <a:latin typeface="Bookman Old Style" pitchFamily="18" charset="0"/>
                  <a:ea typeface="仿宋_GB2312" pitchFamily="49" charset="-122"/>
                  <a:sym typeface="Symbol" pitchFamily="18" charset="2"/>
                </a:rPr>
                <a:t></a:t>
              </a:r>
              <a:endParaRPr kumimoji="0" lang="en-US" altLang="zh-CN" sz="1800">
                <a:solidFill>
                  <a:schemeClr val="tx2"/>
                </a:solidFill>
              </a:endParaRPr>
            </a:p>
          </p:txBody>
        </p:sp>
        <p:sp>
          <p:nvSpPr>
            <p:cNvPr id="18470" name="Text Box 35"/>
            <p:cNvSpPr txBox="1">
              <a:spLocks noChangeArrowheads="1"/>
            </p:cNvSpPr>
            <p:nvPr/>
          </p:nvSpPr>
          <p:spPr bwMode="auto">
            <a:xfrm>
              <a:off x="4302" y="488"/>
              <a:ext cx="156" cy="519"/>
            </a:xfrm>
            <a:prstGeom prst="rect">
              <a:avLst/>
            </a:prstGeom>
            <a:noFill/>
            <a:ln w="9525">
              <a:noFill/>
              <a:miter lim="800000"/>
              <a:headEnd/>
              <a:tailEnd/>
            </a:ln>
          </p:spPr>
          <p:txBody>
            <a:bodyPr>
              <a:spAutoFit/>
            </a:bodyPr>
            <a:lstStyle/>
            <a:p>
              <a:pPr algn="ctr"/>
              <a:r>
                <a:rPr kumimoji="0" lang="en-US" altLang="zh-CN" sz="4800" b="1">
                  <a:solidFill>
                    <a:schemeClr val="tx2"/>
                  </a:solidFill>
                  <a:latin typeface="Bookman Old Style" pitchFamily="18" charset="0"/>
                  <a:ea typeface="仿宋_GB2312" pitchFamily="49" charset="-122"/>
                  <a:sym typeface="Symbol" pitchFamily="18" charset="2"/>
                </a:rPr>
                <a:t></a:t>
              </a:r>
              <a:endParaRPr kumimoji="0" lang="en-US" altLang="zh-CN" sz="1800">
                <a:solidFill>
                  <a:schemeClr val="tx2"/>
                </a:solidFill>
              </a:endParaRPr>
            </a:p>
          </p:txBody>
        </p:sp>
        <p:sp>
          <p:nvSpPr>
            <p:cNvPr id="18471" name="Rectangle 36"/>
            <p:cNvSpPr>
              <a:spLocks noChangeArrowheads="1"/>
            </p:cNvSpPr>
            <p:nvPr/>
          </p:nvSpPr>
          <p:spPr bwMode="auto">
            <a:xfrm>
              <a:off x="5081" y="717"/>
              <a:ext cx="116" cy="231"/>
            </a:xfrm>
            <a:prstGeom prst="rect">
              <a:avLst/>
            </a:prstGeom>
            <a:noFill/>
            <a:ln w="9525">
              <a:noFill/>
              <a:miter lim="800000"/>
              <a:headEnd/>
              <a:tailEnd/>
            </a:ln>
          </p:spPr>
          <p:txBody>
            <a:bodyPr wrap="none">
              <a:spAutoFit/>
            </a:bodyPr>
            <a:lstStyle/>
            <a:p>
              <a:pPr algn="ctr"/>
              <a:endParaRPr kumimoji="0" lang="zh-CN" altLang="zh-CN" sz="1800">
                <a:solidFill>
                  <a:schemeClr val="tx2"/>
                </a:solidFill>
              </a:endParaRPr>
            </a:p>
          </p:txBody>
        </p:sp>
      </p:grpSp>
      <p:graphicFrame>
        <p:nvGraphicFramePr>
          <p:cNvPr id="171045" name="Object 37"/>
          <p:cNvGraphicFramePr>
            <a:graphicFrameLocks/>
          </p:cNvGraphicFramePr>
          <p:nvPr/>
        </p:nvGraphicFramePr>
        <p:xfrm>
          <a:off x="7316788" y="1538288"/>
          <a:ext cx="252412" cy="320675"/>
        </p:xfrm>
        <a:graphic>
          <a:graphicData uri="http://schemas.openxmlformats.org/presentationml/2006/ole">
            <p:oleObj spid="_x0000_s18440" name="公式" r:id="rId11" imgW="139680" imgH="177480" progId="Equation.3">
              <p:embed/>
            </p:oleObj>
          </a:graphicData>
        </a:graphic>
      </p:graphicFrame>
      <p:sp>
        <p:nvSpPr>
          <p:cNvPr id="171046" name="Line 38"/>
          <p:cNvSpPr>
            <a:spLocks noChangeShapeType="1"/>
          </p:cNvSpPr>
          <p:nvPr/>
        </p:nvSpPr>
        <p:spPr bwMode="auto">
          <a:xfrm>
            <a:off x="6799263" y="1724025"/>
            <a:ext cx="457200" cy="0"/>
          </a:xfrm>
          <a:prstGeom prst="line">
            <a:avLst/>
          </a:prstGeom>
          <a:noFill/>
          <a:ln w="28575">
            <a:solidFill>
              <a:srgbClr val="000099"/>
            </a:solidFill>
            <a:round/>
            <a:headEnd/>
            <a:tailEnd type="triangle" w="med" len="med"/>
          </a:ln>
        </p:spPr>
        <p:txBody>
          <a:bodyPr/>
          <a:lstStyle/>
          <a:p>
            <a:endParaRPr lang="zh-CN" altLang="en-US"/>
          </a:p>
        </p:txBody>
      </p:sp>
      <p:sp>
        <p:nvSpPr>
          <p:cNvPr id="171047" name="Rectangle 39"/>
          <p:cNvSpPr>
            <a:spLocks noChangeArrowheads="1"/>
          </p:cNvSpPr>
          <p:nvPr/>
        </p:nvSpPr>
        <p:spPr bwMode="auto">
          <a:xfrm>
            <a:off x="7845425" y="4014788"/>
            <a:ext cx="336550" cy="823912"/>
          </a:xfrm>
          <a:prstGeom prst="rect">
            <a:avLst/>
          </a:prstGeom>
          <a:noFill/>
          <a:ln w="9525">
            <a:noFill/>
            <a:miter lim="800000"/>
            <a:headEnd/>
            <a:tailEnd/>
          </a:ln>
        </p:spPr>
        <p:txBody>
          <a:bodyPr wrap="none">
            <a:spAutoFit/>
          </a:bodyPr>
          <a:lstStyle/>
          <a:p>
            <a:pPr algn="ctr"/>
            <a:r>
              <a:rPr kumimoji="0" lang="en-US" altLang="zh-CN" sz="4800" b="1">
                <a:solidFill>
                  <a:schemeClr val="tx2"/>
                </a:solidFill>
                <a:latin typeface="Bookman Old Style" pitchFamily="18" charset="0"/>
                <a:ea typeface="仿宋_GB2312" pitchFamily="49" charset="-122"/>
                <a:sym typeface="Symbol" pitchFamily="18" charset="2"/>
              </a:rPr>
              <a:t></a:t>
            </a:r>
            <a:endParaRPr kumimoji="0" lang="en-US" altLang="zh-CN" sz="180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1014"/>
                                        </p:tgtEl>
                                        <p:attrNameLst>
                                          <p:attrName>style.visibility</p:attrName>
                                        </p:attrNameLst>
                                      </p:cBhvr>
                                      <p:to>
                                        <p:strVal val="visible"/>
                                      </p:to>
                                    </p:set>
                                    <p:animEffect transition="in" filter="wipe(left)">
                                      <p:cBhvr>
                                        <p:cTn id="7" dur="500"/>
                                        <p:tgtEl>
                                          <p:spTgt spid="1710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1010"/>
                                        </p:tgtEl>
                                        <p:attrNameLst>
                                          <p:attrName>style.visibility</p:attrName>
                                        </p:attrNameLst>
                                      </p:cBhvr>
                                      <p:to>
                                        <p:strVal val="visible"/>
                                      </p:to>
                                    </p:set>
                                    <p:animEffect transition="in" filter="wipe(left)">
                                      <p:cBhvr>
                                        <p:cTn id="12" dur="500"/>
                                        <p:tgtEl>
                                          <p:spTgt spid="1710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1017"/>
                                        </p:tgtEl>
                                        <p:attrNameLst>
                                          <p:attrName>style.visibility</p:attrName>
                                        </p:attrNameLst>
                                      </p:cBhvr>
                                      <p:to>
                                        <p:strVal val="visible"/>
                                      </p:to>
                                    </p:set>
                                    <p:animEffect transition="in" filter="wipe(left)">
                                      <p:cBhvr>
                                        <p:cTn id="17" dur="500"/>
                                        <p:tgtEl>
                                          <p:spTgt spid="17101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17102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71046"/>
                                        </p:tgtEl>
                                        <p:attrNameLst>
                                          <p:attrName>style.visibility</p:attrName>
                                        </p:attrNameLst>
                                      </p:cBhvr>
                                      <p:to>
                                        <p:strVal val="visible"/>
                                      </p:to>
                                    </p:set>
                                    <p:animEffect transition="in" filter="wipe(left)">
                                      <p:cBhvr>
                                        <p:cTn id="26" dur="500"/>
                                        <p:tgtEl>
                                          <p:spTgt spid="171046"/>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1710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710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710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710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1018"/>
                                        </p:tgtEl>
                                        <p:attrNameLst>
                                          <p:attrName>style.visibility</p:attrName>
                                        </p:attrNameLst>
                                      </p:cBhvr>
                                      <p:to>
                                        <p:strVal val="visible"/>
                                      </p:to>
                                    </p:set>
                                    <p:animEffect transition="in" filter="wipe(left)">
                                      <p:cBhvr>
                                        <p:cTn id="47" dur="500"/>
                                        <p:tgtEl>
                                          <p:spTgt spid="171018"/>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499"/>
                                          </p:stCondLst>
                                        </p:cTn>
                                        <p:tgtEl>
                                          <p:spTgt spid="17102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71022"/>
                                        </p:tgtEl>
                                        <p:attrNameLst>
                                          <p:attrName>style.visibility</p:attrName>
                                        </p:attrNameLst>
                                      </p:cBhvr>
                                      <p:to>
                                        <p:strVal val="visible"/>
                                      </p:to>
                                    </p:set>
                                    <p:animEffect transition="in" filter="wipe(left)">
                                      <p:cBhvr>
                                        <p:cTn id="56" dur="500"/>
                                        <p:tgtEl>
                                          <p:spTgt spid="171022"/>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499"/>
                                          </p:stCondLst>
                                        </p:cTn>
                                        <p:tgtEl>
                                          <p:spTgt spid="17101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71011"/>
                                        </p:tgtEl>
                                        <p:attrNameLst>
                                          <p:attrName>style.visibility</p:attrName>
                                        </p:attrNameLst>
                                      </p:cBhvr>
                                      <p:to>
                                        <p:strVal val="visible"/>
                                      </p:to>
                                    </p:set>
                                    <p:animEffect transition="in" filter="wipe(left)">
                                      <p:cBhvr>
                                        <p:cTn id="65" dur="500"/>
                                        <p:tgtEl>
                                          <p:spTgt spid="17101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71015"/>
                                        </p:tgtEl>
                                        <p:attrNameLst>
                                          <p:attrName>style.visibility</p:attrName>
                                        </p:attrNameLst>
                                      </p:cBhvr>
                                      <p:to>
                                        <p:strVal val="visible"/>
                                      </p:to>
                                    </p:set>
                                    <p:animEffect transition="in" filter="wipe(left)">
                                      <p:cBhvr>
                                        <p:cTn id="70" dur="500"/>
                                        <p:tgtEl>
                                          <p:spTgt spid="171015"/>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71016"/>
                                        </p:tgtEl>
                                        <p:attrNameLst>
                                          <p:attrName>style.visibility</p:attrName>
                                        </p:attrNameLst>
                                      </p:cBhvr>
                                      <p:to>
                                        <p:strVal val="visible"/>
                                      </p:to>
                                    </p:set>
                                    <p:animEffect transition="in" filter="wipe(left)">
                                      <p:cBhvr>
                                        <p:cTn id="75" dur="500"/>
                                        <p:tgtEl>
                                          <p:spTgt spid="171016"/>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71013"/>
                                        </p:tgtEl>
                                        <p:attrNameLst>
                                          <p:attrName>style.visibility</p:attrName>
                                        </p:attrNameLst>
                                      </p:cBhvr>
                                      <p:to>
                                        <p:strVal val="visible"/>
                                      </p:to>
                                    </p:set>
                                    <p:animEffect transition="in" filter="wipe(left)">
                                      <p:cBhvr>
                                        <p:cTn id="80" dur="500"/>
                                        <p:tgtEl>
                                          <p:spTgt spid="171013"/>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71031"/>
                                        </p:tgtEl>
                                        <p:attrNameLst>
                                          <p:attrName>style.visibility</p:attrName>
                                        </p:attrNameLst>
                                      </p:cBhvr>
                                      <p:to>
                                        <p:strVal val="visible"/>
                                      </p:to>
                                    </p:set>
                                    <p:animEffect transition="in" filter="wipe(left)">
                                      <p:cBhvr>
                                        <p:cTn id="85" dur="500"/>
                                        <p:tgtEl>
                                          <p:spTgt spid="171031"/>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2"/>
                                        </p:tgtEl>
                                        <p:attrNameLst>
                                          <p:attrName>style.visibility</p:attrName>
                                        </p:attrNameLst>
                                      </p:cBhvr>
                                      <p:to>
                                        <p:strVal val="visible"/>
                                      </p:to>
                                    </p:set>
                                    <p:animEffect transition="in" filter="wipe(left)">
                                      <p:cBhvr>
                                        <p:cTn id="90" dur="500"/>
                                        <p:tgtEl>
                                          <p:spTgt spid="2"/>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171026"/>
                                        </p:tgtEl>
                                        <p:attrNameLst>
                                          <p:attrName>style.visibility</p:attrName>
                                        </p:attrNameLst>
                                      </p:cBhvr>
                                      <p:to>
                                        <p:strVal val="visible"/>
                                      </p:to>
                                    </p:set>
                                    <p:animEffect transition="in" filter="wipe(left)">
                                      <p:cBhvr>
                                        <p:cTn id="95" dur="500"/>
                                        <p:tgtEl>
                                          <p:spTgt spid="171026"/>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nodeType="clickEffect">
                                  <p:stCondLst>
                                    <p:cond delay="0"/>
                                  </p:stCondLst>
                                  <p:childTnLst>
                                    <p:set>
                                      <p:cBhvr>
                                        <p:cTn id="99" dur="1" fill="hold">
                                          <p:stCondLst>
                                            <p:cond delay="499"/>
                                          </p:stCondLst>
                                        </p:cTn>
                                        <p:tgtEl>
                                          <p:spTgt spid="171025"/>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171027"/>
                                        </p:tgtEl>
                                        <p:attrNameLst>
                                          <p:attrName>style.visibility</p:attrName>
                                        </p:attrNameLst>
                                      </p:cBhvr>
                                      <p:to>
                                        <p:strVal val="visible"/>
                                      </p:to>
                                    </p:set>
                                    <p:animEffect transition="in" filter="wipe(left)">
                                      <p:cBhvr>
                                        <p:cTn id="104" dur="500"/>
                                        <p:tgtEl>
                                          <p:spTgt spid="171027"/>
                                        </p:tgtEl>
                                      </p:cBhvr>
                                    </p:animEffec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499"/>
                                          </p:stCondLst>
                                        </p:cTn>
                                        <p:tgtEl>
                                          <p:spTgt spid="17104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499"/>
                                          </p:stCondLst>
                                        </p:cTn>
                                        <p:tgtEl>
                                          <p:spTgt spid="171032"/>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499"/>
                                          </p:stCondLst>
                                        </p:cTn>
                                        <p:tgtEl>
                                          <p:spTgt spid="171028"/>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171030"/>
                                        </p:tgtEl>
                                        <p:attrNameLst>
                                          <p:attrName>style.visibility</p:attrName>
                                        </p:attrNameLst>
                                      </p:cBhvr>
                                      <p:to>
                                        <p:strVal val="visible"/>
                                      </p:to>
                                    </p:set>
                                    <p:animEffect transition="in" filter="wipe(left)">
                                      <p:cBhvr>
                                        <p:cTn id="121" dur="500"/>
                                        <p:tgtEl>
                                          <p:spTgt spid="171030"/>
                                        </p:tgtEl>
                                      </p:cBhvr>
                                    </p:animEffec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nodeType="clickEffect">
                                  <p:stCondLst>
                                    <p:cond delay="0"/>
                                  </p:stCondLst>
                                  <p:childTnLst>
                                    <p:set>
                                      <p:cBhvr>
                                        <p:cTn id="125" dur="1" fill="hold">
                                          <p:stCondLst>
                                            <p:cond delay="499"/>
                                          </p:stCondLst>
                                        </p:cTn>
                                        <p:tgtEl>
                                          <p:spTgt spid="1710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0" grpId="0" autoUpdateAnimBg="0"/>
      <p:bldP spid="171011" grpId="0" autoUpdateAnimBg="0"/>
      <p:bldP spid="171013" grpId="0" autoUpdateAnimBg="0"/>
      <p:bldP spid="171014" grpId="0" autoUpdateAnimBg="0"/>
      <p:bldP spid="171015" grpId="0" autoUpdateAnimBg="0"/>
      <p:bldP spid="171016" grpId="0" autoUpdateAnimBg="0"/>
      <p:bldP spid="171017" grpId="0" animBg="1"/>
      <p:bldP spid="171018" grpId="0" autoUpdateAnimBg="0"/>
      <p:bldP spid="171019" grpId="0" autoUpdateAnimBg="0"/>
      <p:bldP spid="171022" grpId="0" autoUpdateAnimBg="0"/>
      <p:bldP spid="171023" grpId="0" autoUpdateAnimBg="0"/>
      <p:bldP spid="171024" grpId="0" autoUpdateAnimBg="0"/>
      <p:bldP spid="171026" grpId="0" animBg="1"/>
      <p:bldP spid="171027" grpId="0" autoUpdateAnimBg="0"/>
      <p:bldP spid="171030" grpId="0" autoUpdateAnimBg="0"/>
      <p:bldP spid="171031" grpId="0" autoUpdateAnimBg="0"/>
      <p:bldP spid="171032" grpId="0" autoUpdateAnimBg="0"/>
      <p:bldP spid="171046" grpId="0" animBg="1"/>
      <p:bldP spid="171047"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ChangeArrowheads="1"/>
          </p:cNvSpPr>
          <p:nvPr/>
        </p:nvSpPr>
        <p:spPr bwMode="auto">
          <a:xfrm>
            <a:off x="241300" y="1036638"/>
            <a:ext cx="3116263" cy="457200"/>
          </a:xfrm>
          <a:prstGeom prst="rect">
            <a:avLst/>
          </a:prstGeom>
          <a:noFill/>
          <a:ln w="9525">
            <a:noFill/>
            <a:miter lim="800000"/>
            <a:headEnd/>
            <a:tailEnd/>
          </a:ln>
        </p:spPr>
        <p:txBody>
          <a:bodyPr wrap="none">
            <a:spAutoFit/>
          </a:bodyPr>
          <a:lstStyle/>
          <a:p>
            <a:pPr algn="ctr"/>
            <a:r>
              <a:rPr kumimoji="0" lang="en-US" altLang="zh-CN" b="1">
                <a:solidFill>
                  <a:schemeClr val="tx2"/>
                </a:solidFill>
              </a:rPr>
              <a:t>(2)  </a:t>
            </a:r>
            <a:r>
              <a:rPr kumimoji="0" lang="en-US" altLang="zh-CN" b="1" i="1">
                <a:solidFill>
                  <a:srgbClr val="FF6600"/>
                </a:solidFill>
              </a:rPr>
              <a:t>B </a:t>
            </a:r>
            <a:r>
              <a:rPr kumimoji="0" lang="zh-CN" altLang="en-US" b="1">
                <a:solidFill>
                  <a:schemeClr val="tx2"/>
                </a:solidFill>
              </a:rPr>
              <a:t>点振动方程为：</a:t>
            </a:r>
            <a:endParaRPr kumimoji="0" lang="zh-CN" altLang="en-US" sz="1800">
              <a:solidFill>
                <a:schemeClr val="tx2"/>
              </a:solidFill>
            </a:endParaRPr>
          </a:p>
        </p:txBody>
      </p:sp>
      <p:graphicFrame>
        <p:nvGraphicFramePr>
          <p:cNvPr id="172035" name="Object 3"/>
          <p:cNvGraphicFramePr>
            <a:graphicFrameLocks noChangeAspect="1"/>
          </p:cNvGraphicFramePr>
          <p:nvPr/>
        </p:nvGraphicFramePr>
        <p:xfrm>
          <a:off x="3402013" y="819150"/>
          <a:ext cx="3314700" cy="730250"/>
        </p:xfrm>
        <a:graphic>
          <a:graphicData uri="http://schemas.openxmlformats.org/presentationml/2006/ole">
            <p:oleObj spid="_x0000_s19458" name="公式" r:id="rId3" imgW="1841400" imgH="406080" progId="Equation.3">
              <p:embed/>
            </p:oleObj>
          </a:graphicData>
        </a:graphic>
      </p:graphicFrame>
      <p:graphicFrame>
        <p:nvGraphicFramePr>
          <p:cNvPr id="172036" name="Object 4"/>
          <p:cNvGraphicFramePr>
            <a:graphicFrameLocks/>
          </p:cNvGraphicFramePr>
          <p:nvPr/>
        </p:nvGraphicFramePr>
        <p:xfrm>
          <a:off x="2774950" y="4903788"/>
          <a:ext cx="4002088" cy="730250"/>
        </p:xfrm>
        <a:graphic>
          <a:graphicData uri="http://schemas.openxmlformats.org/presentationml/2006/ole">
            <p:oleObj spid="_x0000_s19459" name="公式" r:id="rId4" imgW="2222280" imgH="406080" progId="Equation.3">
              <p:embed/>
            </p:oleObj>
          </a:graphicData>
        </a:graphic>
      </p:graphicFrame>
      <p:graphicFrame>
        <p:nvGraphicFramePr>
          <p:cNvPr id="172037" name="Object 5"/>
          <p:cNvGraphicFramePr>
            <a:graphicFrameLocks/>
          </p:cNvGraphicFramePr>
          <p:nvPr/>
        </p:nvGraphicFramePr>
        <p:xfrm>
          <a:off x="2816225" y="4094163"/>
          <a:ext cx="3498850" cy="730250"/>
        </p:xfrm>
        <a:graphic>
          <a:graphicData uri="http://schemas.openxmlformats.org/presentationml/2006/ole">
            <p:oleObj spid="_x0000_s19460" name="公式" r:id="rId5" imgW="1942920" imgH="406080" progId="Equation.3">
              <p:embed/>
            </p:oleObj>
          </a:graphicData>
        </a:graphic>
      </p:graphicFrame>
      <p:sp>
        <p:nvSpPr>
          <p:cNvPr id="172038" name="Rectangle 6"/>
          <p:cNvSpPr>
            <a:spLocks noChangeArrowheads="1"/>
          </p:cNvSpPr>
          <p:nvPr/>
        </p:nvSpPr>
        <p:spPr bwMode="auto">
          <a:xfrm>
            <a:off x="161925" y="4194175"/>
            <a:ext cx="2579688" cy="457200"/>
          </a:xfrm>
          <a:prstGeom prst="rect">
            <a:avLst/>
          </a:prstGeom>
          <a:noFill/>
          <a:ln w="9525">
            <a:noFill/>
            <a:miter lim="800000"/>
            <a:headEnd/>
            <a:tailEnd/>
          </a:ln>
        </p:spPr>
        <p:txBody>
          <a:bodyPr wrap="none">
            <a:spAutoFit/>
          </a:bodyPr>
          <a:lstStyle/>
          <a:p>
            <a:pPr algn="ctr"/>
            <a:r>
              <a:rPr kumimoji="0" lang="en-US" altLang="zh-CN" b="1">
                <a:solidFill>
                  <a:schemeClr val="tx2"/>
                </a:solidFill>
              </a:rPr>
              <a:t>(3)  </a:t>
            </a:r>
            <a:r>
              <a:rPr kumimoji="0" lang="zh-CN" altLang="en-US" b="1">
                <a:solidFill>
                  <a:schemeClr val="tx2"/>
                </a:solidFill>
              </a:rPr>
              <a:t>以 </a:t>
            </a:r>
            <a:r>
              <a:rPr kumimoji="0" lang="en-US" altLang="zh-CN" b="1" i="1">
                <a:solidFill>
                  <a:srgbClr val="FF6600"/>
                </a:solidFill>
              </a:rPr>
              <a:t>A </a:t>
            </a:r>
            <a:r>
              <a:rPr kumimoji="0" lang="zh-CN" altLang="en-US" b="1"/>
              <a:t>为</a:t>
            </a:r>
            <a:r>
              <a:rPr kumimoji="0" lang="zh-CN" altLang="en-US" b="1">
                <a:solidFill>
                  <a:schemeClr val="tx2"/>
                </a:solidFill>
              </a:rPr>
              <a:t>原点：</a:t>
            </a:r>
            <a:endParaRPr kumimoji="0" lang="zh-CN" altLang="en-US" sz="1800">
              <a:solidFill>
                <a:schemeClr val="tx2"/>
              </a:solidFill>
            </a:endParaRPr>
          </a:p>
        </p:txBody>
      </p:sp>
      <p:sp>
        <p:nvSpPr>
          <p:cNvPr id="172039" name="Rectangle 7"/>
          <p:cNvSpPr>
            <a:spLocks noChangeArrowheads="1"/>
          </p:cNvSpPr>
          <p:nvPr/>
        </p:nvSpPr>
        <p:spPr bwMode="auto">
          <a:xfrm>
            <a:off x="657225" y="4959350"/>
            <a:ext cx="2071688" cy="457200"/>
          </a:xfrm>
          <a:prstGeom prst="rect">
            <a:avLst/>
          </a:prstGeom>
          <a:noFill/>
          <a:ln w="9525">
            <a:noFill/>
            <a:miter lim="800000"/>
            <a:headEnd/>
            <a:tailEnd/>
          </a:ln>
        </p:spPr>
        <p:txBody>
          <a:bodyPr wrap="none">
            <a:spAutoFit/>
          </a:bodyPr>
          <a:lstStyle/>
          <a:p>
            <a:pPr algn="ctr"/>
            <a:r>
              <a:rPr kumimoji="0" lang="zh-CN" altLang="en-US" b="1">
                <a:solidFill>
                  <a:schemeClr val="tx2"/>
                </a:solidFill>
              </a:rPr>
              <a:t>以 </a:t>
            </a:r>
            <a:r>
              <a:rPr kumimoji="0" lang="en-US" altLang="zh-CN" b="1" i="1">
                <a:solidFill>
                  <a:srgbClr val="FF6600"/>
                </a:solidFill>
              </a:rPr>
              <a:t>B </a:t>
            </a:r>
            <a:r>
              <a:rPr kumimoji="0" lang="zh-CN" altLang="en-US" b="1">
                <a:solidFill>
                  <a:schemeClr val="tx2"/>
                </a:solidFill>
              </a:rPr>
              <a:t>为原点：</a:t>
            </a:r>
            <a:endParaRPr kumimoji="0" lang="zh-CN" altLang="en-US" sz="1800">
              <a:solidFill>
                <a:schemeClr val="tx2"/>
              </a:solidFill>
            </a:endParaRPr>
          </a:p>
        </p:txBody>
      </p:sp>
      <p:sp>
        <p:nvSpPr>
          <p:cNvPr id="172040" name="Rectangle 8"/>
          <p:cNvSpPr>
            <a:spLocks noChangeArrowheads="1"/>
          </p:cNvSpPr>
          <p:nvPr/>
        </p:nvSpPr>
        <p:spPr bwMode="auto">
          <a:xfrm>
            <a:off x="836613" y="2484438"/>
            <a:ext cx="1949450" cy="457200"/>
          </a:xfrm>
          <a:prstGeom prst="rect">
            <a:avLst/>
          </a:prstGeom>
          <a:noFill/>
          <a:ln w="9525">
            <a:noFill/>
            <a:miter lim="800000"/>
            <a:headEnd/>
            <a:tailEnd/>
          </a:ln>
        </p:spPr>
        <p:txBody>
          <a:bodyPr>
            <a:spAutoFit/>
          </a:bodyPr>
          <a:lstStyle/>
          <a:p>
            <a:r>
              <a:rPr kumimoji="0" lang="zh-CN" altLang="en-US" b="1">
                <a:solidFill>
                  <a:schemeClr val="tx2"/>
                </a:solidFill>
              </a:rPr>
              <a:t>波动方程：</a:t>
            </a:r>
            <a:endParaRPr kumimoji="0" lang="zh-CN" altLang="en-US" sz="1800">
              <a:solidFill>
                <a:schemeClr val="tx2"/>
              </a:solidFill>
            </a:endParaRPr>
          </a:p>
        </p:txBody>
      </p:sp>
      <p:graphicFrame>
        <p:nvGraphicFramePr>
          <p:cNvPr id="172041" name="Object 9"/>
          <p:cNvGraphicFramePr>
            <a:graphicFrameLocks/>
          </p:cNvGraphicFramePr>
          <p:nvPr/>
        </p:nvGraphicFramePr>
        <p:xfrm>
          <a:off x="3581400" y="3113088"/>
          <a:ext cx="3195638" cy="730250"/>
        </p:xfrm>
        <a:graphic>
          <a:graphicData uri="http://schemas.openxmlformats.org/presentationml/2006/ole">
            <p:oleObj spid="_x0000_s19461" name="公式" r:id="rId6" imgW="1777680" imgH="406080" progId="Equation.3">
              <p:embed/>
            </p:oleObj>
          </a:graphicData>
        </a:graphic>
      </p:graphicFrame>
      <p:graphicFrame>
        <p:nvGraphicFramePr>
          <p:cNvPr id="172042" name="Object 10"/>
          <p:cNvGraphicFramePr>
            <a:graphicFrameLocks noChangeAspect="1"/>
          </p:cNvGraphicFramePr>
          <p:nvPr/>
        </p:nvGraphicFramePr>
        <p:xfrm>
          <a:off x="4076700" y="1538288"/>
          <a:ext cx="2947988" cy="730250"/>
        </p:xfrm>
        <a:graphic>
          <a:graphicData uri="http://schemas.openxmlformats.org/presentationml/2006/ole">
            <p:oleObj spid="_x0000_s19462" name="公式" r:id="rId7" imgW="1638000" imgH="406080" progId="Equation.3">
              <p:embed/>
            </p:oleObj>
          </a:graphicData>
        </a:graphic>
      </p:graphicFrame>
      <p:graphicFrame>
        <p:nvGraphicFramePr>
          <p:cNvPr id="172043" name="Object 11"/>
          <p:cNvGraphicFramePr>
            <a:graphicFrameLocks noChangeAspect="1"/>
          </p:cNvGraphicFramePr>
          <p:nvPr/>
        </p:nvGraphicFramePr>
        <p:xfrm>
          <a:off x="2909888" y="2347913"/>
          <a:ext cx="4271962" cy="730250"/>
        </p:xfrm>
        <a:graphic>
          <a:graphicData uri="http://schemas.openxmlformats.org/presentationml/2006/ole">
            <p:oleObj spid="_x0000_s19463" name="公式" r:id="rId8" imgW="2374560" imgH="4060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2034"/>
                                        </p:tgtEl>
                                        <p:attrNameLst>
                                          <p:attrName>style.visibility</p:attrName>
                                        </p:attrNameLst>
                                      </p:cBhvr>
                                      <p:to>
                                        <p:strVal val="visible"/>
                                      </p:to>
                                    </p:set>
                                    <p:animEffect transition="in" filter="wipe(left)">
                                      <p:cBhvr>
                                        <p:cTn id="7" dur="500"/>
                                        <p:tgtEl>
                                          <p:spTgt spid="17203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17203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17204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72040"/>
                                        </p:tgtEl>
                                        <p:attrNameLst>
                                          <p:attrName>style.visibility</p:attrName>
                                        </p:attrNameLst>
                                      </p:cBhvr>
                                      <p:to>
                                        <p:strVal val="visible"/>
                                      </p:to>
                                    </p:set>
                                    <p:animEffect transition="in" filter="wipe(left)">
                                      <p:cBhvr>
                                        <p:cTn id="20" dur="500"/>
                                        <p:tgtEl>
                                          <p:spTgt spid="172040"/>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17204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72041"/>
                                        </p:tgtEl>
                                        <p:attrNameLst>
                                          <p:attrName>style.visibility</p:attrName>
                                        </p:attrNameLst>
                                      </p:cBhvr>
                                      <p:to>
                                        <p:strVal val="visible"/>
                                      </p:to>
                                    </p:set>
                                    <p:animEffect transition="in" filter="wipe(left)">
                                      <p:cBhvr>
                                        <p:cTn id="29" dur="500"/>
                                        <p:tgtEl>
                                          <p:spTgt spid="17204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72038"/>
                                        </p:tgtEl>
                                        <p:attrNameLst>
                                          <p:attrName>style.visibility</p:attrName>
                                        </p:attrNameLst>
                                      </p:cBhvr>
                                      <p:to>
                                        <p:strVal val="visible"/>
                                      </p:to>
                                    </p:set>
                                    <p:animEffect transition="in" filter="wipe(left)">
                                      <p:cBhvr>
                                        <p:cTn id="34" dur="500"/>
                                        <p:tgtEl>
                                          <p:spTgt spid="172038"/>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1720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72039"/>
                                        </p:tgtEl>
                                        <p:attrNameLst>
                                          <p:attrName>style.visibility</p:attrName>
                                        </p:attrNameLst>
                                      </p:cBhvr>
                                      <p:to>
                                        <p:strVal val="visible"/>
                                      </p:to>
                                    </p:set>
                                    <p:animEffect transition="in" filter="wipe(left)">
                                      <p:cBhvr>
                                        <p:cTn id="43" dur="500"/>
                                        <p:tgtEl>
                                          <p:spTgt spid="172039"/>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499"/>
                                          </p:stCondLst>
                                        </p:cTn>
                                        <p:tgtEl>
                                          <p:spTgt spid="1720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4" grpId="0" autoUpdateAnimBg="0"/>
      <p:bldP spid="172038" grpId="0" autoUpdateAnimBg="0"/>
      <p:bldP spid="172039" grpId="0" autoUpdateAnimBg="0"/>
      <p:bldP spid="172040"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211638" y="1303338"/>
            <a:ext cx="4549775" cy="2665412"/>
            <a:chOff x="2789" y="527"/>
            <a:chExt cx="2866" cy="1679"/>
          </a:xfrm>
        </p:grpSpPr>
        <p:sp>
          <p:nvSpPr>
            <p:cNvPr id="20521" name="Line 3"/>
            <p:cNvSpPr>
              <a:spLocks noChangeShapeType="1"/>
            </p:cNvSpPr>
            <p:nvPr/>
          </p:nvSpPr>
          <p:spPr bwMode="auto">
            <a:xfrm>
              <a:off x="2789" y="1536"/>
              <a:ext cx="2784" cy="0"/>
            </a:xfrm>
            <a:prstGeom prst="line">
              <a:avLst/>
            </a:prstGeom>
            <a:noFill/>
            <a:ln w="12700">
              <a:solidFill>
                <a:srgbClr val="9900CC"/>
              </a:solidFill>
              <a:round/>
              <a:headEnd type="none" w="sm" len="sm"/>
              <a:tailEnd type="stealth" w="med" len="lg"/>
            </a:ln>
          </p:spPr>
          <p:txBody>
            <a:bodyPr wrap="none" anchor="ctr"/>
            <a:lstStyle/>
            <a:p>
              <a:endParaRPr lang="zh-CN" altLang="en-US"/>
            </a:p>
          </p:txBody>
        </p:sp>
        <p:sp>
          <p:nvSpPr>
            <p:cNvPr id="20522" name="Line 4"/>
            <p:cNvSpPr>
              <a:spLocks noChangeShapeType="1"/>
            </p:cNvSpPr>
            <p:nvPr/>
          </p:nvSpPr>
          <p:spPr bwMode="auto">
            <a:xfrm>
              <a:off x="3125" y="623"/>
              <a:ext cx="0" cy="1583"/>
            </a:xfrm>
            <a:prstGeom prst="line">
              <a:avLst/>
            </a:prstGeom>
            <a:noFill/>
            <a:ln w="12700">
              <a:solidFill>
                <a:srgbClr val="9900CC"/>
              </a:solidFill>
              <a:round/>
              <a:headEnd type="stealth" w="med" len="lg"/>
              <a:tailEnd type="none" w="sm" len="sm"/>
            </a:ln>
          </p:spPr>
          <p:txBody>
            <a:bodyPr wrap="none" anchor="ctr"/>
            <a:lstStyle/>
            <a:p>
              <a:endParaRPr lang="zh-CN" altLang="en-US"/>
            </a:p>
          </p:txBody>
        </p:sp>
        <p:sp>
          <p:nvSpPr>
            <p:cNvPr id="20523" name="Rectangle 5"/>
            <p:cNvSpPr>
              <a:spLocks noChangeArrowheads="1"/>
            </p:cNvSpPr>
            <p:nvPr/>
          </p:nvSpPr>
          <p:spPr bwMode="auto">
            <a:xfrm>
              <a:off x="3173" y="527"/>
              <a:ext cx="478" cy="288"/>
            </a:xfrm>
            <a:prstGeom prst="rect">
              <a:avLst/>
            </a:prstGeom>
            <a:noFill/>
            <a:ln w="9525">
              <a:noFill/>
              <a:miter lim="800000"/>
              <a:headEnd/>
              <a:tailEnd/>
            </a:ln>
          </p:spPr>
          <p:txBody>
            <a:bodyPr wrap="none" lIns="92075" tIns="46038" rIns="92075" bIns="46038">
              <a:spAutoFit/>
            </a:bodyPr>
            <a:lstStyle/>
            <a:p>
              <a:r>
                <a:rPr lang="en-US" altLang="zh-CN" i="1">
                  <a:solidFill>
                    <a:srgbClr val="9900CC"/>
                  </a:solidFill>
                </a:rPr>
                <a:t>y</a:t>
              </a:r>
              <a:r>
                <a:rPr lang="en-US" altLang="zh-CN">
                  <a:solidFill>
                    <a:srgbClr val="9900CC"/>
                  </a:solidFill>
                </a:rPr>
                <a:t>(m)</a:t>
              </a:r>
            </a:p>
          </p:txBody>
        </p:sp>
        <p:sp>
          <p:nvSpPr>
            <p:cNvPr id="20524" name="Rectangle 6"/>
            <p:cNvSpPr>
              <a:spLocks noChangeArrowheads="1"/>
            </p:cNvSpPr>
            <p:nvPr/>
          </p:nvSpPr>
          <p:spPr bwMode="auto">
            <a:xfrm>
              <a:off x="3063" y="1440"/>
              <a:ext cx="212" cy="288"/>
            </a:xfrm>
            <a:prstGeom prst="rect">
              <a:avLst/>
            </a:prstGeom>
            <a:noFill/>
            <a:ln w="9525">
              <a:noFill/>
              <a:miter lim="800000"/>
              <a:headEnd/>
              <a:tailEnd/>
            </a:ln>
          </p:spPr>
          <p:txBody>
            <a:bodyPr wrap="none" lIns="92075" tIns="46038" rIns="92075" bIns="46038">
              <a:spAutoFit/>
            </a:bodyPr>
            <a:lstStyle/>
            <a:p>
              <a:r>
                <a:rPr lang="en-US" altLang="zh-CN" b="1" i="1">
                  <a:solidFill>
                    <a:srgbClr val="9900CC"/>
                  </a:solidFill>
                </a:rPr>
                <a:t>o</a:t>
              </a:r>
            </a:p>
          </p:txBody>
        </p:sp>
        <p:sp>
          <p:nvSpPr>
            <p:cNvPr id="20525" name="Rectangle 7"/>
            <p:cNvSpPr>
              <a:spLocks noChangeArrowheads="1"/>
            </p:cNvSpPr>
            <p:nvPr/>
          </p:nvSpPr>
          <p:spPr bwMode="auto">
            <a:xfrm>
              <a:off x="5141" y="1487"/>
              <a:ext cx="514" cy="288"/>
            </a:xfrm>
            <a:prstGeom prst="rect">
              <a:avLst/>
            </a:prstGeom>
            <a:noFill/>
            <a:ln w="9525">
              <a:noFill/>
              <a:miter lim="800000"/>
              <a:headEnd/>
              <a:tailEnd/>
            </a:ln>
          </p:spPr>
          <p:txBody>
            <a:bodyPr lIns="92075" tIns="46038" rIns="92075" bIns="46038">
              <a:spAutoFit/>
            </a:bodyPr>
            <a:lstStyle/>
            <a:p>
              <a:r>
                <a:rPr lang="en-US" altLang="zh-CN" i="1">
                  <a:solidFill>
                    <a:srgbClr val="9900CC"/>
                  </a:solidFill>
                </a:rPr>
                <a:t>x</a:t>
              </a:r>
              <a:r>
                <a:rPr lang="en-US" altLang="zh-CN">
                  <a:solidFill>
                    <a:srgbClr val="9900CC"/>
                  </a:solidFill>
                </a:rPr>
                <a:t>(m)</a:t>
              </a:r>
            </a:p>
          </p:txBody>
        </p:sp>
      </p:grpSp>
      <p:sp>
        <p:nvSpPr>
          <p:cNvPr id="173064" name="Rectangle 8"/>
          <p:cNvSpPr>
            <a:spLocks noChangeArrowheads="1"/>
          </p:cNvSpPr>
          <p:nvPr/>
        </p:nvSpPr>
        <p:spPr bwMode="auto">
          <a:xfrm>
            <a:off x="792163" y="536575"/>
            <a:ext cx="8010525" cy="822325"/>
          </a:xfrm>
          <a:prstGeom prst="rect">
            <a:avLst/>
          </a:prstGeom>
          <a:noFill/>
          <a:ln w="9525">
            <a:noFill/>
            <a:miter lim="800000"/>
            <a:headEnd/>
            <a:tailEnd/>
          </a:ln>
        </p:spPr>
        <p:txBody>
          <a:bodyPr lIns="92075" tIns="46038" rIns="92075" bIns="46038">
            <a:spAutoFit/>
          </a:bodyPr>
          <a:lstStyle/>
          <a:p>
            <a:r>
              <a:rPr lang="zh-CN" altLang="en-US" b="1"/>
              <a:t>波速</a:t>
            </a:r>
            <a:r>
              <a:rPr lang="zh-CN" altLang="en-US"/>
              <a:t> </a:t>
            </a:r>
            <a:r>
              <a:rPr lang="en-US" altLang="zh-CN" b="1" i="1">
                <a:solidFill>
                  <a:srgbClr val="FF6600"/>
                </a:solidFill>
              </a:rPr>
              <a:t>u</a:t>
            </a:r>
            <a:r>
              <a:rPr lang="en-US" altLang="zh-CN" b="1">
                <a:solidFill>
                  <a:srgbClr val="FF6600"/>
                </a:solidFill>
              </a:rPr>
              <a:t> = 400 m/s </a:t>
            </a:r>
            <a:r>
              <a:rPr lang="zh-CN" altLang="en-US" b="1"/>
              <a:t>， </a:t>
            </a:r>
            <a:r>
              <a:rPr lang="en-US" altLang="zh-CN" b="1" i="1">
                <a:solidFill>
                  <a:srgbClr val="FF6600"/>
                </a:solidFill>
              </a:rPr>
              <a:t>t </a:t>
            </a:r>
            <a:r>
              <a:rPr lang="en-US" altLang="zh-CN" b="1">
                <a:solidFill>
                  <a:srgbClr val="FF6600"/>
                </a:solidFill>
              </a:rPr>
              <a:t>= 0 s </a:t>
            </a:r>
            <a:r>
              <a:rPr lang="zh-CN" altLang="en-US" b="1"/>
              <a:t>时刻的波形如图所示。写出波动方程。</a:t>
            </a:r>
            <a:endParaRPr lang="zh-CN" altLang="en-US"/>
          </a:p>
        </p:txBody>
      </p:sp>
      <p:grpSp>
        <p:nvGrpSpPr>
          <p:cNvPr id="3" name="Group 9"/>
          <p:cNvGrpSpPr>
            <a:grpSpLocks/>
          </p:cNvGrpSpPr>
          <p:nvPr/>
        </p:nvGrpSpPr>
        <p:grpSpPr bwMode="auto">
          <a:xfrm>
            <a:off x="5278438" y="1912938"/>
            <a:ext cx="336550" cy="973137"/>
            <a:chOff x="3461" y="911"/>
            <a:chExt cx="212" cy="613"/>
          </a:xfrm>
        </p:grpSpPr>
        <p:sp>
          <p:nvSpPr>
            <p:cNvPr id="20519" name="Line 10"/>
            <p:cNvSpPr>
              <a:spLocks noChangeShapeType="1"/>
            </p:cNvSpPr>
            <p:nvPr/>
          </p:nvSpPr>
          <p:spPr bwMode="auto">
            <a:xfrm>
              <a:off x="3461" y="911"/>
              <a:ext cx="0" cy="613"/>
            </a:xfrm>
            <a:prstGeom prst="line">
              <a:avLst/>
            </a:prstGeom>
            <a:noFill/>
            <a:ln w="12700">
              <a:solidFill>
                <a:schemeClr val="tx2"/>
              </a:solidFill>
              <a:round/>
              <a:headEnd type="stealth" w="med" len="med"/>
              <a:tailEnd type="stealth" w="med" len="med"/>
            </a:ln>
          </p:spPr>
          <p:txBody>
            <a:bodyPr wrap="none" anchor="ctr"/>
            <a:lstStyle/>
            <a:p>
              <a:endParaRPr lang="zh-CN" altLang="en-US"/>
            </a:p>
          </p:txBody>
        </p:sp>
        <p:sp>
          <p:nvSpPr>
            <p:cNvPr id="20520" name="Rectangle 11"/>
            <p:cNvSpPr>
              <a:spLocks noChangeArrowheads="1"/>
            </p:cNvSpPr>
            <p:nvPr/>
          </p:nvSpPr>
          <p:spPr bwMode="auto">
            <a:xfrm>
              <a:off x="3461" y="1151"/>
              <a:ext cx="212" cy="288"/>
            </a:xfrm>
            <a:prstGeom prst="rect">
              <a:avLst/>
            </a:prstGeom>
            <a:noFill/>
            <a:ln w="9525">
              <a:noFill/>
              <a:miter lim="800000"/>
              <a:headEnd/>
              <a:tailEnd/>
            </a:ln>
          </p:spPr>
          <p:txBody>
            <a:bodyPr wrap="none" lIns="92075" tIns="46038" rIns="92075" bIns="46038">
              <a:spAutoFit/>
            </a:bodyPr>
            <a:lstStyle/>
            <a:p>
              <a:r>
                <a:rPr lang="en-US" altLang="zh-CN"/>
                <a:t>4</a:t>
              </a:r>
            </a:p>
          </p:txBody>
        </p:sp>
      </p:grpSp>
      <p:grpSp>
        <p:nvGrpSpPr>
          <p:cNvPr id="4" name="Group 12"/>
          <p:cNvGrpSpPr>
            <a:grpSpLocks/>
          </p:cNvGrpSpPr>
          <p:nvPr/>
        </p:nvGrpSpPr>
        <p:grpSpPr bwMode="auto">
          <a:xfrm>
            <a:off x="6040438" y="2446338"/>
            <a:ext cx="336550" cy="922337"/>
            <a:chOff x="3941" y="1247"/>
            <a:chExt cx="212" cy="581"/>
          </a:xfrm>
        </p:grpSpPr>
        <p:sp>
          <p:nvSpPr>
            <p:cNvPr id="20517" name="Rectangle 13"/>
            <p:cNvSpPr>
              <a:spLocks noChangeArrowheads="1"/>
            </p:cNvSpPr>
            <p:nvPr/>
          </p:nvSpPr>
          <p:spPr bwMode="auto">
            <a:xfrm>
              <a:off x="3941" y="1247"/>
              <a:ext cx="212" cy="288"/>
            </a:xfrm>
            <a:prstGeom prst="rect">
              <a:avLst/>
            </a:prstGeom>
            <a:noFill/>
            <a:ln w="9525">
              <a:noFill/>
              <a:miter lim="800000"/>
              <a:headEnd/>
              <a:tailEnd/>
            </a:ln>
          </p:spPr>
          <p:txBody>
            <a:bodyPr wrap="none" lIns="92075" tIns="46038" rIns="92075" bIns="46038">
              <a:spAutoFit/>
            </a:bodyPr>
            <a:lstStyle/>
            <a:p>
              <a:r>
                <a:rPr lang="en-US" altLang="zh-CN" b="1" i="1"/>
                <a:t>p</a:t>
              </a:r>
            </a:p>
          </p:txBody>
        </p:sp>
        <p:sp>
          <p:nvSpPr>
            <p:cNvPr id="20518" name="Line 14"/>
            <p:cNvSpPr>
              <a:spLocks noChangeShapeType="1"/>
            </p:cNvSpPr>
            <p:nvPr/>
          </p:nvSpPr>
          <p:spPr bwMode="auto">
            <a:xfrm rot="10800000">
              <a:off x="3989" y="1535"/>
              <a:ext cx="0" cy="293"/>
            </a:xfrm>
            <a:prstGeom prst="line">
              <a:avLst/>
            </a:prstGeom>
            <a:noFill/>
            <a:ln w="12700">
              <a:solidFill>
                <a:schemeClr val="tx2"/>
              </a:solidFill>
              <a:round/>
              <a:headEnd type="stealth" w="med" len="lg"/>
              <a:tailEnd type="none" w="sm" len="sm"/>
            </a:ln>
          </p:spPr>
          <p:txBody>
            <a:bodyPr wrap="none" anchor="ctr"/>
            <a:lstStyle/>
            <a:p>
              <a:endParaRPr lang="zh-CN" altLang="en-US"/>
            </a:p>
          </p:txBody>
        </p:sp>
      </p:grpSp>
      <p:grpSp>
        <p:nvGrpSpPr>
          <p:cNvPr id="5" name="Group 15"/>
          <p:cNvGrpSpPr>
            <a:grpSpLocks/>
          </p:cNvGrpSpPr>
          <p:nvPr/>
        </p:nvGrpSpPr>
        <p:grpSpPr bwMode="auto">
          <a:xfrm>
            <a:off x="4419600" y="2370138"/>
            <a:ext cx="642938" cy="609600"/>
            <a:chOff x="2920" y="1199"/>
            <a:chExt cx="405" cy="384"/>
          </a:xfrm>
        </p:grpSpPr>
        <p:sp>
          <p:nvSpPr>
            <p:cNvPr id="20513" name="Line 16"/>
            <p:cNvSpPr>
              <a:spLocks noChangeShapeType="1"/>
            </p:cNvSpPr>
            <p:nvPr/>
          </p:nvSpPr>
          <p:spPr bwMode="auto">
            <a:xfrm>
              <a:off x="2920" y="1200"/>
              <a:ext cx="405" cy="0"/>
            </a:xfrm>
            <a:prstGeom prst="line">
              <a:avLst/>
            </a:prstGeom>
            <a:noFill/>
            <a:ln w="12700">
              <a:solidFill>
                <a:srgbClr val="008000"/>
              </a:solidFill>
              <a:round/>
              <a:headEnd type="none" w="sm" len="sm"/>
              <a:tailEnd type="none" w="sm" len="sm"/>
            </a:ln>
          </p:spPr>
          <p:txBody>
            <a:bodyPr wrap="none" anchor="ctr"/>
            <a:lstStyle/>
            <a:p>
              <a:endParaRPr lang="zh-CN" altLang="en-US"/>
            </a:p>
          </p:txBody>
        </p:sp>
        <p:grpSp>
          <p:nvGrpSpPr>
            <p:cNvPr id="20514" name="Group 17"/>
            <p:cNvGrpSpPr>
              <a:grpSpLocks/>
            </p:cNvGrpSpPr>
            <p:nvPr/>
          </p:nvGrpSpPr>
          <p:grpSpPr bwMode="auto">
            <a:xfrm>
              <a:off x="2933" y="1199"/>
              <a:ext cx="212" cy="384"/>
              <a:chOff x="2933" y="1199"/>
              <a:chExt cx="212" cy="384"/>
            </a:xfrm>
          </p:grpSpPr>
          <p:sp>
            <p:nvSpPr>
              <p:cNvPr id="20515" name="Line 18"/>
              <p:cNvSpPr>
                <a:spLocks noChangeShapeType="1"/>
              </p:cNvSpPr>
              <p:nvPr/>
            </p:nvSpPr>
            <p:spPr bwMode="auto">
              <a:xfrm>
                <a:off x="3125" y="1199"/>
                <a:ext cx="0" cy="336"/>
              </a:xfrm>
              <a:prstGeom prst="line">
                <a:avLst/>
              </a:prstGeom>
              <a:noFill/>
              <a:ln w="12700">
                <a:solidFill>
                  <a:schemeClr val="tx2"/>
                </a:solidFill>
                <a:round/>
                <a:headEnd type="stealth" w="med" len="med"/>
                <a:tailEnd type="stealth" w="med" len="med"/>
              </a:ln>
            </p:spPr>
            <p:txBody>
              <a:bodyPr wrap="none" anchor="ctr"/>
              <a:lstStyle/>
              <a:p>
                <a:endParaRPr lang="zh-CN" altLang="en-US"/>
              </a:p>
            </p:txBody>
          </p:sp>
          <p:sp>
            <p:nvSpPr>
              <p:cNvPr id="20516" name="Rectangle 19"/>
              <p:cNvSpPr>
                <a:spLocks noChangeArrowheads="1"/>
              </p:cNvSpPr>
              <p:nvPr/>
            </p:nvSpPr>
            <p:spPr bwMode="auto">
              <a:xfrm>
                <a:off x="2933" y="1295"/>
                <a:ext cx="212" cy="288"/>
              </a:xfrm>
              <a:prstGeom prst="rect">
                <a:avLst/>
              </a:prstGeom>
              <a:noFill/>
              <a:ln w="9525">
                <a:noFill/>
                <a:miter lim="800000"/>
                <a:headEnd/>
                <a:tailEnd/>
              </a:ln>
            </p:spPr>
            <p:txBody>
              <a:bodyPr lIns="92075" tIns="46038" rIns="92075" bIns="46038">
                <a:spAutoFit/>
              </a:bodyPr>
              <a:lstStyle/>
              <a:p>
                <a:r>
                  <a:rPr lang="en-US" altLang="zh-CN"/>
                  <a:t>2</a:t>
                </a:r>
              </a:p>
            </p:txBody>
          </p:sp>
        </p:grpSp>
      </p:grpSp>
      <p:grpSp>
        <p:nvGrpSpPr>
          <p:cNvPr id="7" name="Group 20"/>
          <p:cNvGrpSpPr>
            <a:grpSpLocks/>
          </p:cNvGrpSpPr>
          <p:nvPr/>
        </p:nvGrpSpPr>
        <p:grpSpPr bwMode="auto">
          <a:xfrm>
            <a:off x="6535738" y="1989138"/>
            <a:ext cx="1157287" cy="393700"/>
            <a:chOff x="4253" y="959"/>
            <a:chExt cx="729" cy="248"/>
          </a:xfrm>
        </p:grpSpPr>
        <p:sp>
          <p:nvSpPr>
            <p:cNvPr id="20512" name="Line 21"/>
            <p:cNvSpPr>
              <a:spLocks noChangeShapeType="1"/>
            </p:cNvSpPr>
            <p:nvPr/>
          </p:nvSpPr>
          <p:spPr bwMode="auto">
            <a:xfrm>
              <a:off x="4253" y="1056"/>
              <a:ext cx="429" cy="0"/>
            </a:xfrm>
            <a:prstGeom prst="line">
              <a:avLst/>
            </a:prstGeom>
            <a:noFill/>
            <a:ln w="19050">
              <a:solidFill>
                <a:schemeClr val="accent2"/>
              </a:solidFill>
              <a:round/>
              <a:headEnd type="stealth" w="med" len="lg"/>
              <a:tailEnd type="none" w="sm" len="sm"/>
            </a:ln>
          </p:spPr>
          <p:txBody>
            <a:bodyPr wrap="none" anchor="ctr"/>
            <a:lstStyle/>
            <a:p>
              <a:endParaRPr lang="zh-CN" altLang="en-US"/>
            </a:p>
          </p:txBody>
        </p:sp>
        <p:graphicFrame>
          <p:nvGraphicFramePr>
            <p:cNvPr id="20490" name="Object 22"/>
            <p:cNvGraphicFramePr>
              <a:graphicFrameLocks noChangeAspect="1"/>
            </p:cNvGraphicFramePr>
            <p:nvPr/>
          </p:nvGraphicFramePr>
          <p:xfrm>
            <a:off x="4805" y="959"/>
            <a:ext cx="177" cy="248"/>
          </p:xfrm>
          <a:graphic>
            <a:graphicData uri="http://schemas.openxmlformats.org/presentationml/2006/ole">
              <p:oleObj spid="_x0000_s20490" name="公式" r:id="rId3" imgW="126720" imgH="177480" progId="Equation.3">
                <p:embed/>
              </p:oleObj>
            </a:graphicData>
          </a:graphic>
        </p:graphicFrame>
      </p:grpSp>
      <p:sp>
        <p:nvSpPr>
          <p:cNvPr id="173079" name="Freeform 23"/>
          <p:cNvSpPr>
            <a:spLocks/>
          </p:cNvSpPr>
          <p:nvPr/>
        </p:nvSpPr>
        <p:spPr bwMode="auto">
          <a:xfrm>
            <a:off x="4364038" y="1760538"/>
            <a:ext cx="4225925" cy="2187575"/>
          </a:xfrm>
          <a:custGeom>
            <a:avLst/>
            <a:gdLst>
              <a:gd name="T0" fmla="*/ 0 w 2662"/>
              <a:gd name="T1" fmla="*/ 2147483647 h 1378"/>
              <a:gd name="T2" fmla="*/ 2147483647 w 2662"/>
              <a:gd name="T3" fmla="*/ 2147483647 h 1378"/>
              <a:gd name="T4" fmla="*/ 2147483647 w 2662"/>
              <a:gd name="T5" fmla="*/ 2147483647 h 1378"/>
              <a:gd name="T6" fmla="*/ 2147483647 w 2662"/>
              <a:gd name="T7" fmla="*/ 2147483647 h 1378"/>
              <a:gd name="T8" fmla="*/ 2147483647 w 2662"/>
              <a:gd name="T9" fmla="*/ 2147483647 h 1378"/>
              <a:gd name="T10" fmla="*/ 0 60000 65536"/>
              <a:gd name="T11" fmla="*/ 0 60000 65536"/>
              <a:gd name="T12" fmla="*/ 0 60000 65536"/>
              <a:gd name="T13" fmla="*/ 0 60000 65536"/>
              <a:gd name="T14" fmla="*/ 0 60000 65536"/>
              <a:gd name="T15" fmla="*/ 0 w 2662"/>
              <a:gd name="T16" fmla="*/ 0 h 1378"/>
              <a:gd name="T17" fmla="*/ 2662 w 2662"/>
              <a:gd name="T18" fmla="*/ 1378 h 1378"/>
            </a:gdLst>
            <a:ahLst/>
            <a:cxnLst>
              <a:cxn ang="T10">
                <a:pos x="T0" y="T1"/>
              </a:cxn>
              <a:cxn ang="T11">
                <a:pos x="T2" y="T3"/>
              </a:cxn>
              <a:cxn ang="T12">
                <a:pos x="T4" y="T5"/>
              </a:cxn>
              <a:cxn ang="T13">
                <a:pos x="T6" y="T7"/>
              </a:cxn>
              <a:cxn ang="T14">
                <a:pos x="T8" y="T9"/>
              </a:cxn>
            </a:cxnLst>
            <a:rect l="T15" t="T16" r="T17" b="T18"/>
            <a:pathLst>
              <a:path w="2662" h="1378">
                <a:moveTo>
                  <a:pt x="0" y="733"/>
                </a:moveTo>
                <a:cubicBezTo>
                  <a:pt x="104" y="627"/>
                  <a:pt x="345" y="0"/>
                  <a:pt x="623" y="100"/>
                </a:cubicBezTo>
                <a:cubicBezTo>
                  <a:pt x="901" y="200"/>
                  <a:pt x="1352" y="1286"/>
                  <a:pt x="1668" y="1332"/>
                </a:cubicBezTo>
                <a:cubicBezTo>
                  <a:pt x="1984" y="1378"/>
                  <a:pt x="2376" y="535"/>
                  <a:pt x="2519" y="375"/>
                </a:cubicBezTo>
                <a:cubicBezTo>
                  <a:pt x="2662" y="215"/>
                  <a:pt x="2526" y="375"/>
                  <a:pt x="2528" y="375"/>
                </a:cubicBezTo>
              </a:path>
            </a:pathLst>
          </a:custGeom>
          <a:noFill/>
          <a:ln w="28575">
            <a:solidFill>
              <a:srgbClr val="FF0000"/>
            </a:solidFill>
            <a:round/>
            <a:headEnd/>
            <a:tailEnd/>
          </a:ln>
        </p:spPr>
        <p:txBody>
          <a:bodyPr/>
          <a:lstStyle/>
          <a:p>
            <a:endParaRPr lang="zh-CN" altLang="en-US"/>
          </a:p>
        </p:txBody>
      </p:sp>
      <p:grpSp>
        <p:nvGrpSpPr>
          <p:cNvPr id="8" name="Group 24"/>
          <p:cNvGrpSpPr>
            <a:grpSpLocks/>
          </p:cNvGrpSpPr>
          <p:nvPr/>
        </p:nvGrpSpPr>
        <p:grpSpPr bwMode="auto">
          <a:xfrm>
            <a:off x="4821238" y="2903538"/>
            <a:ext cx="1295400" cy="927100"/>
            <a:chOff x="3173" y="1535"/>
            <a:chExt cx="816" cy="584"/>
          </a:xfrm>
        </p:grpSpPr>
        <p:sp>
          <p:nvSpPr>
            <p:cNvPr id="20509" name="Line 25"/>
            <p:cNvSpPr>
              <a:spLocks noChangeShapeType="1"/>
            </p:cNvSpPr>
            <p:nvPr/>
          </p:nvSpPr>
          <p:spPr bwMode="auto">
            <a:xfrm>
              <a:off x="3989" y="1535"/>
              <a:ext cx="0" cy="432"/>
            </a:xfrm>
            <a:prstGeom prst="line">
              <a:avLst/>
            </a:prstGeom>
            <a:noFill/>
            <a:ln w="9525">
              <a:solidFill>
                <a:schemeClr val="accent2"/>
              </a:solidFill>
              <a:round/>
              <a:headEnd/>
              <a:tailEnd/>
            </a:ln>
          </p:spPr>
          <p:txBody>
            <a:bodyPr/>
            <a:lstStyle/>
            <a:p>
              <a:endParaRPr lang="zh-CN" altLang="en-US"/>
            </a:p>
          </p:txBody>
        </p:sp>
        <p:sp>
          <p:nvSpPr>
            <p:cNvPr id="20510" name="Line 26"/>
            <p:cNvSpPr>
              <a:spLocks noChangeShapeType="1"/>
            </p:cNvSpPr>
            <p:nvPr/>
          </p:nvSpPr>
          <p:spPr bwMode="auto">
            <a:xfrm>
              <a:off x="3173" y="1871"/>
              <a:ext cx="288" cy="0"/>
            </a:xfrm>
            <a:prstGeom prst="line">
              <a:avLst/>
            </a:prstGeom>
            <a:noFill/>
            <a:ln w="9525">
              <a:solidFill>
                <a:schemeClr val="accent2"/>
              </a:solidFill>
              <a:round/>
              <a:headEnd/>
              <a:tailEnd type="triangle" w="med" len="med"/>
            </a:ln>
          </p:spPr>
          <p:txBody>
            <a:bodyPr/>
            <a:lstStyle/>
            <a:p>
              <a:endParaRPr lang="zh-CN" altLang="en-US"/>
            </a:p>
          </p:txBody>
        </p:sp>
        <p:sp>
          <p:nvSpPr>
            <p:cNvPr id="20511" name="Line 27"/>
            <p:cNvSpPr>
              <a:spLocks noChangeShapeType="1"/>
            </p:cNvSpPr>
            <p:nvPr/>
          </p:nvSpPr>
          <p:spPr bwMode="auto">
            <a:xfrm flipH="1">
              <a:off x="3701" y="1871"/>
              <a:ext cx="288" cy="0"/>
            </a:xfrm>
            <a:prstGeom prst="line">
              <a:avLst/>
            </a:prstGeom>
            <a:noFill/>
            <a:ln w="9525">
              <a:solidFill>
                <a:schemeClr val="accent2"/>
              </a:solidFill>
              <a:round/>
              <a:headEnd/>
              <a:tailEnd type="triangle" w="med" len="med"/>
            </a:ln>
          </p:spPr>
          <p:txBody>
            <a:bodyPr/>
            <a:lstStyle/>
            <a:p>
              <a:endParaRPr lang="zh-CN" altLang="en-US"/>
            </a:p>
          </p:txBody>
        </p:sp>
        <p:graphicFrame>
          <p:nvGraphicFramePr>
            <p:cNvPr id="20489" name="Object 28"/>
            <p:cNvGraphicFramePr>
              <a:graphicFrameLocks noChangeAspect="1"/>
            </p:cNvGraphicFramePr>
            <p:nvPr/>
          </p:nvGraphicFramePr>
          <p:xfrm>
            <a:off x="3509" y="1727"/>
            <a:ext cx="139" cy="392"/>
          </p:xfrm>
          <a:graphic>
            <a:graphicData uri="http://schemas.openxmlformats.org/presentationml/2006/ole">
              <p:oleObj spid="_x0000_s20489" name="公式" r:id="rId4" imgW="139680" imgH="393480" progId="Equation.3">
                <p:embed/>
              </p:oleObj>
            </a:graphicData>
          </a:graphic>
        </p:graphicFrame>
      </p:grpSp>
      <p:sp>
        <p:nvSpPr>
          <p:cNvPr id="173085" name="Text Box 29"/>
          <p:cNvSpPr txBox="1">
            <a:spLocks noChangeArrowheads="1"/>
          </p:cNvSpPr>
          <p:nvPr/>
        </p:nvSpPr>
        <p:spPr bwMode="auto">
          <a:xfrm>
            <a:off x="755650" y="1497013"/>
            <a:ext cx="2555875" cy="457200"/>
          </a:xfrm>
          <a:prstGeom prst="rect">
            <a:avLst/>
          </a:prstGeom>
          <a:noFill/>
          <a:ln w="9525">
            <a:noFill/>
            <a:miter lim="800000"/>
            <a:headEnd/>
            <a:tailEnd/>
          </a:ln>
        </p:spPr>
        <p:txBody>
          <a:bodyPr>
            <a:spAutoFit/>
          </a:bodyPr>
          <a:lstStyle/>
          <a:p>
            <a:r>
              <a:rPr lang="zh-CN" altLang="en-US" b="1">
                <a:solidFill>
                  <a:schemeClr val="tx2"/>
                </a:solidFill>
              </a:rPr>
              <a:t>设波动方程为</a:t>
            </a:r>
            <a:endParaRPr lang="zh-CN" altLang="en-US">
              <a:solidFill>
                <a:schemeClr val="tx2"/>
              </a:solidFill>
            </a:endParaRPr>
          </a:p>
        </p:txBody>
      </p:sp>
      <p:sp>
        <p:nvSpPr>
          <p:cNvPr id="173086" name="Text Box 30"/>
          <p:cNvSpPr txBox="1">
            <a:spLocks noChangeArrowheads="1"/>
          </p:cNvSpPr>
          <p:nvPr/>
        </p:nvSpPr>
        <p:spPr bwMode="auto">
          <a:xfrm>
            <a:off x="622300" y="4789488"/>
            <a:ext cx="5480050" cy="457200"/>
          </a:xfrm>
          <a:prstGeom prst="rect">
            <a:avLst/>
          </a:prstGeom>
          <a:noFill/>
          <a:ln w="9525">
            <a:noFill/>
            <a:miter lim="800000"/>
            <a:headEnd/>
            <a:tailEnd/>
          </a:ln>
        </p:spPr>
        <p:txBody>
          <a:bodyPr>
            <a:spAutoFit/>
          </a:bodyPr>
          <a:lstStyle/>
          <a:p>
            <a:r>
              <a:rPr lang="en-US" altLang="zh-CN" b="1" i="1">
                <a:solidFill>
                  <a:srgbClr val="FF6600"/>
                </a:solidFill>
              </a:rPr>
              <a:t>t </a:t>
            </a:r>
            <a:r>
              <a:rPr lang="en-US" altLang="zh-CN" b="1">
                <a:solidFill>
                  <a:srgbClr val="FF6600"/>
                </a:solidFill>
              </a:rPr>
              <a:t>= 0 s</a:t>
            </a:r>
            <a:r>
              <a:rPr lang="en-US" altLang="zh-CN" b="1">
                <a:solidFill>
                  <a:schemeClr val="tx2"/>
                </a:solidFill>
              </a:rPr>
              <a:t> </a:t>
            </a:r>
            <a:r>
              <a:rPr lang="zh-CN" altLang="en-US" b="1">
                <a:solidFill>
                  <a:schemeClr val="tx2"/>
                </a:solidFill>
              </a:rPr>
              <a:t>时刻 </a:t>
            </a:r>
            <a:r>
              <a:rPr lang="en-US" altLang="zh-CN" b="1" i="1">
                <a:solidFill>
                  <a:srgbClr val="FF6600"/>
                </a:solidFill>
              </a:rPr>
              <a:t>y</a:t>
            </a:r>
            <a:r>
              <a:rPr lang="en-US" altLang="zh-CN" b="1" baseline="-25000">
                <a:solidFill>
                  <a:srgbClr val="FF6600"/>
                </a:solidFill>
              </a:rPr>
              <a:t>0 </a:t>
            </a:r>
            <a:r>
              <a:rPr lang="en-US" altLang="zh-CN" b="1">
                <a:solidFill>
                  <a:srgbClr val="FF6600"/>
                </a:solidFill>
              </a:rPr>
              <a:t>= 2 m </a:t>
            </a:r>
            <a:r>
              <a:rPr lang="zh-CN" altLang="en-US" b="1">
                <a:solidFill>
                  <a:schemeClr val="tx2"/>
                </a:solidFill>
              </a:rPr>
              <a:t>，</a:t>
            </a:r>
            <a:r>
              <a:rPr lang="en-US" altLang="zh-CN" b="1" i="1">
                <a:solidFill>
                  <a:srgbClr val="FF6600"/>
                </a:solidFill>
              </a:rPr>
              <a:t>v</a:t>
            </a:r>
            <a:r>
              <a:rPr lang="en-US" altLang="zh-CN" b="1" baseline="-25000">
                <a:solidFill>
                  <a:srgbClr val="FF6600"/>
                </a:solidFill>
              </a:rPr>
              <a:t>0</a:t>
            </a:r>
            <a:r>
              <a:rPr lang="zh-CN" altLang="en-US" b="1">
                <a:solidFill>
                  <a:srgbClr val="FF6600"/>
                </a:solidFill>
              </a:rPr>
              <a:t>＞</a:t>
            </a:r>
            <a:r>
              <a:rPr lang="en-US" altLang="zh-CN" b="1">
                <a:solidFill>
                  <a:srgbClr val="FF6600"/>
                </a:solidFill>
              </a:rPr>
              <a:t>0 </a:t>
            </a:r>
            <a:r>
              <a:rPr lang="zh-CN" altLang="en-US" b="1">
                <a:solidFill>
                  <a:schemeClr val="tx2"/>
                </a:solidFill>
              </a:rPr>
              <a:t>，所以</a:t>
            </a:r>
          </a:p>
        </p:txBody>
      </p:sp>
      <p:graphicFrame>
        <p:nvGraphicFramePr>
          <p:cNvPr id="173087" name="Object 31"/>
          <p:cNvGraphicFramePr>
            <a:graphicFrameLocks noChangeAspect="1"/>
          </p:cNvGraphicFramePr>
          <p:nvPr/>
        </p:nvGraphicFramePr>
        <p:xfrm>
          <a:off x="661988" y="2033588"/>
          <a:ext cx="2695575" cy="731837"/>
        </p:xfrm>
        <a:graphic>
          <a:graphicData uri="http://schemas.openxmlformats.org/presentationml/2006/ole">
            <p:oleObj spid="_x0000_s20482" name="公式" r:id="rId5" imgW="1498320" imgH="406080" progId="Equation.3">
              <p:embed/>
            </p:oleObj>
          </a:graphicData>
        </a:graphic>
      </p:graphicFrame>
      <p:sp>
        <p:nvSpPr>
          <p:cNvPr id="173088" name="Text Box 32"/>
          <p:cNvSpPr txBox="1">
            <a:spLocks noChangeArrowheads="1"/>
          </p:cNvSpPr>
          <p:nvPr/>
        </p:nvSpPr>
        <p:spPr bwMode="auto">
          <a:xfrm>
            <a:off x="539750" y="3484563"/>
            <a:ext cx="4346575" cy="457200"/>
          </a:xfrm>
          <a:prstGeom prst="rect">
            <a:avLst/>
          </a:prstGeom>
          <a:noFill/>
          <a:ln w="9525">
            <a:noFill/>
            <a:miter lim="800000"/>
            <a:headEnd/>
            <a:tailEnd/>
          </a:ln>
        </p:spPr>
        <p:txBody>
          <a:bodyPr>
            <a:spAutoFit/>
          </a:bodyPr>
          <a:lstStyle/>
          <a:p>
            <a:r>
              <a:rPr lang="en-US" altLang="zh-CN" b="1" i="1">
                <a:solidFill>
                  <a:srgbClr val="FF6600"/>
                </a:solidFill>
              </a:rPr>
              <a:t>O </a:t>
            </a:r>
            <a:r>
              <a:rPr lang="zh-CN" altLang="en-US" b="1">
                <a:solidFill>
                  <a:schemeClr val="tx2"/>
                </a:solidFill>
              </a:rPr>
              <a:t>点处的质点的位移及速度</a:t>
            </a:r>
            <a:endParaRPr lang="zh-CN" altLang="en-US">
              <a:solidFill>
                <a:schemeClr val="tx2"/>
              </a:solidFill>
            </a:endParaRPr>
          </a:p>
        </p:txBody>
      </p:sp>
      <p:graphicFrame>
        <p:nvGraphicFramePr>
          <p:cNvPr id="173089" name="Object 33"/>
          <p:cNvGraphicFramePr>
            <a:graphicFrameLocks/>
          </p:cNvGraphicFramePr>
          <p:nvPr/>
        </p:nvGraphicFramePr>
        <p:xfrm>
          <a:off x="1073150" y="4114800"/>
          <a:ext cx="2058988" cy="409575"/>
        </p:xfrm>
        <a:graphic>
          <a:graphicData uri="http://schemas.openxmlformats.org/presentationml/2006/ole">
            <p:oleObj spid="_x0000_s20483" name="公式" r:id="rId6" imgW="1143000" imgH="228600" progId="Equation.3">
              <p:embed/>
            </p:oleObj>
          </a:graphicData>
        </a:graphic>
      </p:graphicFrame>
      <p:graphicFrame>
        <p:nvGraphicFramePr>
          <p:cNvPr id="173090" name="Object 34"/>
          <p:cNvGraphicFramePr>
            <a:graphicFrameLocks noChangeAspect="1"/>
          </p:cNvGraphicFramePr>
          <p:nvPr/>
        </p:nvGraphicFramePr>
        <p:xfrm>
          <a:off x="1241425" y="5375275"/>
          <a:ext cx="1392238" cy="844550"/>
        </p:xfrm>
        <a:graphic>
          <a:graphicData uri="http://schemas.openxmlformats.org/presentationml/2006/ole">
            <p:oleObj spid="_x0000_s20484" name="公式" r:id="rId7" imgW="774360" imgH="469800" progId="Equation.3">
              <p:embed/>
            </p:oleObj>
          </a:graphicData>
        </a:graphic>
      </p:graphicFrame>
      <p:sp>
        <p:nvSpPr>
          <p:cNvPr id="173091" name="Oval 35"/>
          <p:cNvSpPr>
            <a:spLocks noChangeAspect="1" noChangeArrowheads="1"/>
          </p:cNvSpPr>
          <p:nvPr/>
        </p:nvSpPr>
        <p:spPr bwMode="auto">
          <a:xfrm>
            <a:off x="6680200" y="4479925"/>
            <a:ext cx="1779588" cy="1782763"/>
          </a:xfrm>
          <a:prstGeom prst="ellipse">
            <a:avLst/>
          </a:prstGeom>
          <a:noFill/>
          <a:ln w="9525">
            <a:solidFill>
              <a:srgbClr val="9900CC"/>
            </a:solidFill>
            <a:round/>
            <a:headEnd/>
            <a:tailEnd/>
          </a:ln>
        </p:spPr>
        <p:txBody>
          <a:bodyPr wrap="none" anchor="ctr"/>
          <a:lstStyle/>
          <a:p>
            <a:endParaRPr lang="zh-CN" altLang="en-US"/>
          </a:p>
        </p:txBody>
      </p:sp>
      <p:sp>
        <p:nvSpPr>
          <p:cNvPr id="173092" name="Line 36"/>
          <p:cNvSpPr>
            <a:spLocks noChangeAspect="1" noChangeShapeType="1"/>
          </p:cNvSpPr>
          <p:nvPr/>
        </p:nvSpPr>
        <p:spPr bwMode="auto">
          <a:xfrm>
            <a:off x="6481763" y="5370513"/>
            <a:ext cx="2193925" cy="1587"/>
          </a:xfrm>
          <a:prstGeom prst="line">
            <a:avLst/>
          </a:prstGeom>
          <a:noFill/>
          <a:ln w="9525">
            <a:solidFill>
              <a:srgbClr val="FF3300"/>
            </a:solidFill>
            <a:round/>
            <a:headEnd/>
            <a:tailEnd/>
          </a:ln>
        </p:spPr>
        <p:txBody>
          <a:bodyPr/>
          <a:lstStyle/>
          <a:p>
            <a:endParaRPr lang="zh-CN" altLang="en-US"/>
          </a:p>
        </p:txBody>
      </p:sp>
      <p:sp>
        <p:nvSpPr>
          <p:cNvPr id="173093" name="Line 37"/>
          <p:cNvSpPr>
            <a:spLocks noChangeAspect="1" noChangeShapeType="1"/>
          </p:cNvSpPr>
          <p:nvPr/>
        </p:nvSpPr>
        <p:spPr bwMode="auto">
          <a:xfrm>
            <a:off x="7524750" y="5373688"/>
            <a:ext cx="461963" cy="792162"/>
          </a:xfrm>
          <a:prstGeom prst="line">
            <a:avLst/>
          </a:prstGeom>
          <a:noFill/>
          <a:ln w="28575">
            <a:solidFill>
              <a:schemeClr val="accent2"/>
            </a:solidFill>
            <a:round/>
            <a:headEnd/>
            <a:tailEnd type="stealth" w="med" len="lg"/>
          </a:ln>
        </p:spPr>
        <p:txBody>
          <a:bodyPr/>
          <a:lstStyle/>
          <a:p>
            <a:endParaRPr lang="zh-CN" altLang="en-US"/>
          </a:p>
        </p:txBody>
      </p:sp>
      <p:grpSp>
        <p:nvGrpSpPr>
          <p:cNvPr id="9" name="Group 38"/>
          <p:cNvGrpSpPr>
            <a:grpSpLocks noChangeAspect="1"/>
          </p:cNvGrpSpPr>
          <p:nvPr/>
        </p:nvGrpSpPr>
        <p:grpSpPr bwMode="auto">
          <a:xfrm>
            <a:off x="7661275" y="5300663"/>
            <a:ext cx="555625" cy="639762"/>
            <a:chOff x="4781" y="3404"/>
            <a:chExt cx="306" cy="375"/>
          </a:xfrm>
        </p:grpSpPr>
        <p:sp>
          <p:nvSpPr>
            <p:cNvPr id="20508" name="Arc 39"/>
            <p:cNvSpPr>
              <a:spLocks noChangeAspect="1"/>
            </p:cNvSpPr>
            <p:nvPr/>
          </p:nvSpPr>
          <p:spPr bwMode="auto">
            <a:xfrm rot="9968339" flipH="1">
              <a:off x="4781" y="3446"/>
              <a:ext cx="42" cy="12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2"/>
              </a:solidFill>
              <a:round/>
              <a:headEnd/>
              <a:tailEnd/>
            </a:ln>
          </p:spPr>
          <p:txBody>
            <a:bodyPr wrap="none" anchor="ctr"/>
            <a:lstStyle/>
            <a:p>
              <a:endParaRPr lang="zh-CN" altLang="en-US"/>
            </a:p>
          </p:txBody>
        </p:sp>
        <p:graphicFrame>
          <p:nvGraphicFramePr>
            <p:cNvPr id="20488" name="Object 40"/>
            <p:cNvGraphicFramePr>
              <a:graphicFrameLocks noChangeAspect="1"/>
            </p:cNvGraphicFramePr>
            <p:nvPr/>
          </p:nvGraphicFramePr>
          <p:xfrm>
            <a:off x="4823" y="3404"/>
            <a:ext cx="264" cy="375"/>
          </p:xfrm>
          <a:graphic>
            <a:graphicData uri="http://schemas.openxmlformats.org/presentationml/2006/ole">
              <p:oleObj spid="_x0000_s20488" name="公式" r:id="rId8" imgW="279360" imgH="393480" progId="Equation.3">
                <p:embed/>
              </p:oleObj>
            </a:graphicData>
          </a:graphic>
        </p:graphicFrame>
      </p:grpSp>
      <p:sp>
        <p:nvSpPr>
          <p:cNvPr id="173097" name="Text Box 41"/>
          <p:cNvSpPr txBox="1">
            <a:spLocks noChangeArrowheads="1"/>
          </p:cNvSpPr>
          <p:nvPr/>
        </p:nvSpPr>
        <p:spPr bwMode="auto">
          <a:xfrm>
            <a:off x="161925" y="496888"/>
            <a:ext cx="611188" cy="457200"/>
          </a:xfrm>
          <a:prstGeom prst="rect">
            <a:avLst/>
          </a:prstGeom>
          <a:noFill/>
          <a:ln w="9525">
            <a:noFill/>
            <a:miter lim="800000"/>
            <a:headEnd/>
            <a:tailEnd/>
          </a:ln>
        </p:spPr>
        <p:txBody>
          <a:bodyPr>
            <a:spAutoFit/>
          </a:bodyPr>
          <a:lstStyle/>
          <a:p>
            <a:pPr>
              <a:spcBef>
                <a:spcPct val="50000"/>
              </a:spcBef>
            </a:pPr>
            <a:r>
              <a:rPr lang="zh-CN" altLang="en-US" b="1">
                <a:solidFill>
                  <a:srgbClr val="FF0000"/>
                </a:solidFill>
              </a:rPr>
              <a:t>例</a:t>
            </a:r>
          </a:p>
        </p:txBody>
      </p:sp>
      <p:sp>
        <p:nvSpPr>
          <p:cNvPr id="173098" name="Text Box 42"/>
          <p:cNvSpPr txBox="1">
            <a:spLocks noChangeArrowheads="1"/>
          </p:cNvSpPr>
          <p:nvPr/>
        </p:nvSpPr>
        <p:spPr bwMode="auto">
          <a:xfrm>
            <a:off x="161925" y="1497013"/>
            <a:ext cx="611188" cy="457200"/>
          </a:xfrm>
          <a:prstGeom prst="rect">
            <a:avLst/>
          </a:prstGeom>
          <a:noFill/>
          <a:ln w="9525">
            <a:noFill/>
            <a:miter lim="800000"/>
            <a:headEnd/>
            <a:tailEnd/>
          </a:ln>
        </p:spPr>
        <p:txBody>
          <a:bodyPr>
            <a:spAutoFit/>
          </a:bodyPr>
          <a:lstStyle/>
          <a:p>
            <a:r>
              <a:rPr lang="zh-CN" altLang="en-US" b="1">
                <a:solidFill>
                  <a:srgbClr val="FF0000"/>
                </a:solidFill>
              </a:rPr>
              <a:t>解</a:t>
            </a:r>
            <a:endParaRPr lang="zh-CN" altLang="en-US"/>
          </a:p>
        </p:txBody>
      </p:sp>
      <p:graphicFrame>
        <p:nvGraphicFramePr>
          <p:cNvPr id="173099" name="Object 43"/>
          <p:cNvGraphicFramePr>
            <a:graphicFrameLocks noChangeAspect="1"/>
          </p:cNvGraphicFramePr>
          <p:nvPr/>
        </p:nvGraphicFramePr>
        <p:xfrm>
          <a:off x="869950" y="2719388"/>
          <a:ext cx="2627313" cy="731837"/>
        </p:xfrm>
        <a:graphic>
          <a:graphicData uri="http://schemas.openxmlformats.org/presentationml/2006/ole">
            <p:oleObj spid="_x0000_s20485" name="公式" r:id="rId9" imgW="1460160" imgH="406080" progId="Equation.3">
              <p:embed/>
            </p:oleObj>
          </a:graphicData>
        </a:graphic>
      </p:graphicFrame>
      <p:graphicFrame>
        <p:nvGraphicFramePr>
          <p:cNvPr id="173100" name="Object 44"/>
          <p:cNvGraphicFramePr>
            <a:graphicFrameLocks/>
          </p:cNvGraphicFramePr>
          <p:nvPr/>
        </p:nvGraphicFramePr>
        <p:xfrm>
          <a:off x="3581400" y="4114800"/>
          <a:ext cx="2397125" cy="414338"/>
        </p:xfrm>
        <a:graphic>
          <a:graphicData uri="http://schemas.openxmlformats.org/presentationml/2006/ole">
            <p:oleObj spid="_x0000_s20486" name="公式" r:id="rId10" imgW="1333440" imgH="228600" progId="Equation.3">
              <p:embed/>
            </p:oleObj>
          </a:graphicData>
        </a:graphic>
      </p:graphicFrame>
      <p:graphicFrame>
        <p:nvGraphicFramePr>
          <p:cNvPr id="173101" name="Object 45"/>
          <p:cNvGraphicFramePr>
            <a:graphicFrameLocks noChangeAspect="1"/>
          </p:cNvGraphicFramePr>
          <p:nvPr/>
        </p:nvGraphicFramePr>
        <p:xfrm>
          <a:off x="2951163" y="5419725"/>
          <a:ext cx="1306512" cy="731838"/>
        </p:xfrm>
        <a:graphic>
          <a:graphicData uri="http://schemas.openxmlformats.org/presentationml/2006/ole">
            <p:oleObj spid="_x0000_s20487" name="公式" r:id="rId11" imgW="723600" imgH="4060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3097"/>
                                        </p:tgtEl>
                                        <p:attrNameLst>
                                          <p:attrName>style.visibility</p:attrName>
                                        </p:attrNameLst>
                                      </p:cBhvr>
                                      <p:to>
                                        <p:strVal val="visible"/>
                                      </p:to>
                                    </p:set>
                                    <p:animEffect transition="in" filter="wipe(left)">
                                      <p:cBhvr>
                                        <p:cTn id="7" dur="500"/>
                                        <p:tgtEl>
                                          <p:spTgt spid="1730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3064"/>
                                        </p:tgtEl>
                                        <p:attrNameLst>
                                          <p:attrName>style.visibility</p:attrName>
                                        </p:attrNameLst>
                                      </p:cBhvr>
                                      <p:to>
                                        <p:strVal val="visible"/>
                                      </p:to>
                                    </p:set>
                                    <p:animEffect transition="in" filter="wipe(left)">
                                      <p:cBhvr>
                                        <p:cTn id="12" dur="500"/>
                                        <p:tgtEl>
                                          <p:spTgt spid="17306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righ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3079"/>
                                        </p:tgtEl>
                                        <p:attrNameLst>
                                          <p:attrName>style.visibility</p:attrName>
                                        </p:attrNameLst>
                                      </p:cBhvr>
                                      <p:to>
                                        <p:strVal val="visible"/>
                                      </p:to>
                                    </p:set>
                                    <p:animEffect transition="in" filter="wipe(left)">
                                      <p:cBhvr>
                                        <p:cTn id="27" dur="500"/>
                                        <p:tgtEl>
                                          <p:spTgt spid="17307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ox(out)">
                                      <p:cBhvr>
                                        <p:cTn id="32" dur="500"/>
                                        <p:tgtEl>
                                          <p:spTgt spid="3"/>
                                        </p:tgtEl>
                                      </p:cBhvr>
                                    </p:animEffect>
                                  </p:childTnLst>
                                </p:cTn>
                              </p:par>
                            </p:childTnLst>
                          </p:cTn>
                        </p:par>
                        <p:par>
                          <p:cTn id="33" fill="hold">
                            <p:stCondLst>
                              <p:cond delay="500"/>
                            </p:stCondLst>
                            <p:childTnLst>
                              <p:par>
                                <p:cTn id="34" presetID="4" presetClass="entr" presetSubtype="32" fill="hold" nodeType="after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box(out)">
                                      <p:cBhvr>
                                        <p:cTn id="36" dur="500"/>
                                        <p:tgtEl>
                                          <p:spTgt spid="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ipe(up)">
                                      <p:cBhvr>
                                        <p:cTn id="41" dur="500"/>
                                        <p:tgtEl>
                                          <p:spTgt spid="4"/>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left)">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73098"/>
                                        </p:tgtEl>
                                        <p:attrNameLst>
                                          <p:attrName>style.visibility</p:attrName>
                                        </p:attrNameLst>
                                      </p:cBhvr>
                                      <p:to>
                                        <p:strVal val="visible"/>
                                      </p:to>
                                    </p:set>
                                    <p:animEffect transition="in" filter="wipe(left)">
                                      <p:cBhvr>
                                        <p:cTn id="50" dur="500"/>
                                        <p:tgtEl>
                                          <p:spTgt spid="17309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73085"/>
                                        </p:tgtEl>
                                        <p:attrNameLst>
                                          <p:attrName>style.visibility</p:attrName>
                                        </p:attrNameLst>
                                      </p:cBhvr>
                                      <p:to>
                                        <p:strVal val="visible"/>
                                      </p:to>
                                    </p:set>
                                    <p:animEffect transition="in" filter="wipe(left)">
                                      <p:cBhvr>
                                        <p:cTn id="55" dur="500"/>
                                        <p:tgtEl>
                                          <p:spTgt spid="173085"/>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173087"/>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73099"/>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73088"/>
                                        </p:tgtEl>
                                        <p:attrNameLst>
                                          <p:attrName>style.visibility</p:attrName>
                                        </p:attrNameLst>
                                      </p:cBhvr>
                                      <p:to>
                                        <p:strVal val="visible"/>
                                      </p:to>
                                    </p:set>
                                    <p:animEffect transition="in" filter="wipe(left)">
                                      <p:cBhvr>
                                        <p:cTn id="68" dur="500"/>
                                        <p:tgtEl>
                                          <p:spTgt spid="173088"/>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173089"/>
                                        </p:tgtEl>
                                        <p:attrNameLst>
                                          <p:attrName>style.visibility</p:attrName>
                                        </p:attrNameLst>
                                      </p:cBhvr>
                                      <p:to>
                                        <p:strVal val="visible"/>
                                      </p:to>
                                    </p:set>
                                    <p:animEffect transition="in" filter="wipe(left)">
                                      <p:cBhvr>
                                        <p:cTn id="73" dur="500"/>
                                        <p:tgtEl>
                                          <p:spTgt spid="173089"/>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173100"/>
                                        </p:tgtEl>
                                        <p:attrNameLst>
                                          <p:attrName>style.visibility</p:attrName>
                                        </p:attrNameLst>
                                      </p:cBhvr>
                                      <p:to>
                                        <p:strVal val="visible"/>
                                      </p:to>
                                    </p:set>
                                    <p:animEffect transition="in" filter="wipe(left)">
                                      <p:cBhvr>
                                        <p:cTn id="78" dur="500"/>
                                        <p:tgtEl>
                                          <p:spTgt spid="173100"/>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73086"/>
                                        </p:tgtEl>
                                        <p:attrNameLst>
                                          <p:attrName>style.visibility</p:attrName>
                                        </p:attrNameLst>
                                      </p:cBhvr>
                                      <p:to>
                                        <p:strVal val="visible"/>
                                      </p:to>
                                    </p:set>
                                    <p:animEffect transition="in" filter="wipe(left)">
                                      <p:cBhvr>
                                        <p:cTn id="83" dur="500"/>
                                        <p:tgtEl>
                                          <p:spTgt spid="173086"/>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173090"/>
                                        </p:tgtEl>
                                        <p:attrNameLst>
                                          <p:attrName>style.visibility</p:attrName>
                                        </p:attrNameLst>
                                      </p:cBhvr>
                                      <p:to>
                                        <p:strVal val="visible"/>
                                      </p:to>
                                    </p:set>
                                    <p:animEffect transition="in" filter="wipe(left)">
                                      <p:cBhvr>
                                        <p:cTn id="88" dur="500"/>
                                        <p:tgtEl>
                                          <p:spTgt spid="173090"/>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173101"/>
                                        </p:tgtEl>
                                        <p:attrNameLst>
                                          <p:attrName>style.visibility</p:attrName>
                                        </p:attrNameLst>
                                      </p:cBhvr>
                                      <p:to>
                                        <p:strVal val="visible"/>
                                      </p:to>
                                    </p:set>
                                    <p:animEffect transition="in" filter="wipe(left)">
                                      <p:cBhvr>
                                        <p:cTn id="93" dur="500"/>
                                        <p:tgtEl>
                                          <p:spTgt spid="173101"/>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73092"/>
                                        </p:tgtEl>
                                        <p:attrNameLst>
                                          <p:attrName>style.visibility</p:attrName>
                                        </p:attrNameLst>
                                      </p:cBhvr>
                                      <p:to>
                                        <p:strVal val="visible"/>
                                      </p:to>
                                    </p:set>
                                    <p:animEffect transition="in" filter="wipe(left)">
                                      <p:cBhvr>
                                        <p:cTn id="98" dur="500"/>
                                        <p:tgtEl>
                                          <p:spTgt spid="173092"/>
                                        </p:tgtEl>
                                      </p:cBhvr>
                                    </p:animEffect>
                                  </p:childTnLst>
                                </p:cTn>
                              </p:par>
                            </p:childTnLst>
                          </p:cTn>
                        </p:par>
                      </p:childTnLst>
                    </p:cTn>
                  </p:par>
                  <p:par>
                    <p:cTn id="99" fill="hold">
                      <p:stCondLst>
                        <p:cond delay="indefinite"/>
                      </p:stCondLst>
                      <p:childTnLst>
                        <p:par>
                          <p:cTn id="100" fill="hold">
                            <p:stCondLst>
                              <p:cond delay="0"/>
                            </p:stCondLst>
                            <p:childTnLst>
                              <p:par>
                                <p:cTn id="101" presetID="4" presetClass="entr" presetSubtype="32" fill="hold" grpId="0" nodeType="clickEffect">
                                  <p:stCondLst>
                                    <p:cond delay="0"/>
                                  </p:stCondLst>
                                  <p:childTnLst>
                                    <p:set>
                                      <p:cBhvr>
                                        <p:cTn id="102" dur="1" fill="hold">
                                          <p:stCondLst>
                                            <p:cond delay="0"/>
                                          </p:stCondLst>
                                        </p:cTn>
                                        <p:tgtEl>
                                          <p:spTgt spid="173091"/>
                                        </p:tgtEl>
                                        <p:attrNameLst>
                                          <p:attrName>style.visibility</p:attrName>
                                        </p:attrNameLst>
                                      </p:cBhvr>
                                      <p:to>
                                        <p:strVal val="visible"/>
                                      </p:to>
                                    </p:set>
                                    <p:animEffect transition="in" filter="box(out)">
                                      <p:cBhvr>
                                        <p:cTn id="103" dur="500"/>
                                        <p:tgtEl>
                                          <p:spTgt spid="173091"/>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grpId="0" nodeType="clickEffect">
                                  <p:stCondLst>
                                    <p:cond delay="0"/>
                                  </p:stCondLst>
                                  <p:childTnLst>
                                    <p:set>
                                      <p:cBhvr>
                                        <p:cTn id="107" dur="1" fill="hold">
                                          <p:stCondLst>
                                            <p:cond delay="0"/>
                                          </p:stCondLst>
                                        </p:cTn>
                                        <p:tgtEl>
                                          <p:spTgt spid="173093"/>
                                        </p:tgtEl>
                                        <p:attrNameLst>
                                          <p:attrName>style.visibility</p:attrName>
                                        </p:attrNameLst>
                                      </p:cBhvr>
                                      <p:to>
                                        <p:strVal val="visible"/>
                                      </p:to>
                                    </p:set>
                                    <p:animEffect transition="in" filter="wipe(up)">
                                      <p:cBhvr>
                                        <p:cTn id="108" dur="500"/>
                                        <p:tgtEl>
                                          <p:spTgt spid="173093"/>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9"/>
                                        </p:tgtEl>
                                        <p:attrNameLst>
                                          <p:attrName>style.visibility</p:attrName>
                                        </p:attrNameLst>
                                      </p:cBhvr>
                                      <p:to>
                                        <p:strVal val="visible"/>
                                      </p:to>
                                    </p:set>
                                    <p:animEffect transition="in" filter="wipe(left)">
                                      <p:cBhvr>
                                        <p:cTn id="1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4" grpId="0"/>
      <p:bldP spid="173079" grpId="0" animBg="1"/>
      <p:bldP spid="173085" grpId="0" autoUpdateAnimBg="0"/>
      <p:bldP spid="173086" grpId="0" autoUpdateAnimBg="0"/>
      <p:bldP spid="173088" grpId="0" autoUpdateAnimBg="0"/>
      <p:bldP spid="173091" grpId="0" animBg="1"/>
      <p:bldP spid="173092" grpId="0" animBg="1"/>
      <p:bldP spid="173093" grpId="0" animBg="1"/>
      <p:bldP spid="173097" grpId="0"/>
      <p:bldP spid="17309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ext Box 2"/>
          <p:cNvSpPr txBox="1">
            <a:spLocks noChangeArrowheads="1"/>
          </p:cNvSpPr>
          <p:nvPr/>
        </p:nvSpPr>
        <p:spPr bwMode="auto">
          <a:xfrm>
            <a:off x="206375" y="541338"/>
            <a:ext cx="3962400" cy="457200"/>
          </a:xfrm>
          <a:prstGeom prst="rect">
            <a:avLst/>
          </a:prstGeom>
          <a:noFill/>
          <a:ln w="9525">
            <a:noFill/>
            <a:miter lim="800000"/>
            <a:headEnd/>
            <a:tailEnd/>
          </a:ln>
        </p:spPr>
        <p:txBody>
          <a:bodyPr>
            <a:spAutoFit/>
          </a:bodyPr>
          <a:lstStyle/>
          <a:p>
            <a:r>
              <a:rPr lang="zh-CN" altLang="en-US" b="1">
                <a:solidFill>
                  <a:schemeClr val="tx2"/>
                </a:solidFill>
              </a:rPr>
              <a:t>同理，对于 </a:t>
            </a:r>
            <a:r>
              <a:rPr lang="en-US" altLang="zh-CN" b="1" i="1">
                <a:solidFill>
                  <a:srgbClr val="FF6600"/>
                </a:solidFill>
              </a:rPr>
              <a:t>P</a:t>
            </a:r>
            <a:r>
              <a:rPr lang="en-US" altLang="zh-CN" b="1">
                <a:solidFill>
                  <a:schemeClr val="tx2"/>
                </a:solidFill>
              </a:rPr>
              <a:t> </a:t>
            </a:r>
            <a:r>
              <a:rPr lang="zh-CN" altLang="en-US" b="1">
                <a:solidFill>
                  <a:schemeClr val="tx2"/>
                </a:solidFill>
              </a:rPr>
              <a:t>点有</a:t>
            </a:r>
            <a:endParaRPr lang="zh-CN" altLang="en-US">
              <a:solidFill>
                <a:schemeClr val="tx2"/>
              </a:solidFill>
            </a:endParaRPr>
          </a:p>
        </p:txBody>
      </p:sp>
      <p:graphicFrame>
        <p:nvGraphicFramePr>
          <p:cNvPr id="174083" name="Object 3"/>
          <p:cNvGraphicFramePr>
            <a:graphicFrameLocks noChangeAspect="1"/>
          </p:cNvGraphicFramePr>
          <p:nvPr/>
        </p:nvGraphicFramePr>
        <p:xfrm>
          <a:off x="503238" y="989013"/>
          <a:ext cx="3033712" cy="730250"/>
        </p:xfrm>
        <a:graphic>
          <a:graphicData uri="http://schemas.openxmlformats.org/presentationml/2006/ole">
            <p:oleObj spid="_x0000_s21506" name="公式" r:id="rId3" imgW="1688760" imgH="406080" progId="Equation.3">
              <p:embed/>
            </p:oleObj>
          </a:graphicData>
        </a:graphic>
      </p:graphicFrame>
      <p:sp>
        <p:nvSpPr>
          <p:cNvPr id="174084" name="Text Box 4"/>
          <p:cNvSpPr txBox="1">
            <a:spLocks noChangeArrowheads="1"/>
          </p:cNvSpPr>
          <p:nvPr/>
        </p:nvSpPr>
        <p:spPr bwMode="auto">
          <a:xfrm>
            <a:off x="206375" y="2528888"/>
            <a:ext cx="5130800" cy="457200"/>
          </a:xfrm>
          <a:prstGeom prst="rect">
            <a:avLst/>
          </a:prstGeom>
          <a:noFill/>
          <a:ln w="9525">
            <a:noFill/>
            <a:miter lim="800000"/>
            <a:headEnd/>
            <a:tailEnd/>
          </a:ln>
        </p:spPr>
        <p:txBody>
          <a:bodyPr>
            <a:spAutoFit/>
          </a:bodyPr>
          <a:lstStyle/>
          <a:p>
            <a:r>
              <a:rPr lang="en-US" altLang="zh-CN" b="1" i="1">
                <a:solidFill>
                  <a:srgbClr val="FF6600"/>
                </a:solidFill>
              </a:rPr>
              <a:t>t </a:t>
            </a:r>
            <a:r>
              <a:rPr lang="en-US" altLang="zh-CN" b="1">
                <a:solidFill>
                  <a:srgbClr val="FF6600"/>
                </a:solidFill>
              </a:rPr>
              <a:t>= 0 s</a:t>
            </a:r>
            <a:r>
              <a:rPr lang="en-US" altLang="zh-CN">
                <a:solidFill>
                  <a:schemeClr val="tx2"/>
                </a:solidFill>
              </a:rPr>
              <a:t> </a:t>
            </a:r>
            <a:r>
              <a:rPr lang="zh-CN" altLang="en-US" b="1">
                <a:solidFill>
                  <a:schemeClr val="tx2"/>
                </a:solidFill>
              </a:rPr>
              <a:t>时刻 </a:t>
            </a:r>
            <a:r>
              <a:rPr lang="en-US" altLang="zh-CN" b="1" i="1">
                <a:solidFill>
                  <a:srgbClr val="FF6600"/>
                </a:solidFill>
              </a:rPr>
              <a:t>y</a:t>
            </a:r>
            <a:r>
              <a:rPr lang="en-US" altLang="zh-CN" b="1" baseline="-25000">
                <a:solidFill>
                  <a:srgbClr val="FF6600"/>
                </a:solidFill>
              </a:rPr>
              <a:t>p</a:t>
            </a:r>
            <a:r>
              <a:rPr lang="en-US" altLang="zh-CN" b="1">
                <a:solidFill>
                  <a:srgbClr val="FF6600"/>
                </a:solidFill>
              </a:rPr>
              <a:t>= 0 </a:t>
            </a:r>
            <a:r>
              <a:rPr lang="zh-CN" altLang="en-US" b="1">
                <a:solidFill>
                  <a:schemeClr val="tx2"/>
                </a:solidFill>
              </a:rPr>
              <a:t>，</a:t>
            </a:r>
            <a:r>
              <a:rPr lang="en-US" altLang="zh-CN" b="1" i="1">
                <a:solidFill>
                  <a:srgbClr val="FF6600"/>
                </a:solidFill>
              </a:rPr>
              <a:t>v</a:t>
            </a:r>
            <a:r>
              <a:rPr lang="en-US" altLang="zh-CN" b="1" baseline="-25000">
                <a:solidFill>
                  <a:srgbClr val="FF6600"/>
                </a:solidFill>
              </a:rPr>
              <a:t>p</a:t>
            </a:r>
            <a:r>
              <a:rPr lang="zh-CN" altLang="en-US" b="1">
                <a:solidFill>
                  <a:srgbClr val="FF6600"/>
                </a:solidFill>
              </a:rPr>
              <a:t>＜</a:t>
            </a:r>
            <a:r>
              <a:rPr lang="en-US" altLang="zh-CN" b="1">
                <a:solidFill>
                  <a:srgbClr val="FF6600"/>
                </a:solidFill>
              </a:rPr>
              <a:t>0 </a:t>
            </a:r>
            <a:r>
              <a:rPr lang="zh-CN" altLang="en-US" b="1">
                <a:solidFill>
                  <a:schemeClr val="tx2"/>
                </a:solidFill>
              </a:rPr>
              <a:t>，所以</a:t>
            </a:r>
            <a:endParaRPr lang="zh-CN" altLang="en-US">
              <a:solidFill>
                <a:schemeClr val="tx2"/>
              </a:solidFill>
            </a:endParaRPr>
          </a:p>
        </p:txBody>
      </p:sp>
      <p:graphicFrame>
        <p:nvGraphicFramePr>
          <p:cNvPr id="174085" name="Object 5"/>
          <p:cNvGraphicFramePr>
            <a:graphicFrameLocks noChangeAspect="1"/>
          </p:cNvGraphicFramePr>
          <p:nvPr/>
        </p:nvGraphicFramePr>
        <p:xfrm>
          <a:off x="311150" y="3284538"/>
          <a:ext cx="2130425" cy="1511300"/>
        </p:xfrm>
        <a:graphic>
          <a:graphicData uri="http://schemas.openxmlformats.org/presentationml/2006/ole">
            <p:oleObj spid="_x0000_s21507" name="公式" r:id="rId4" imgW="1180800" imgH="838080" progId="Equation.3">
              <p:embed/>
            </p:oleObj>
          </a:graphicData>
        </a:graphic>
      </p:graphicFrame>
      <p:sp>
        <p:nvSpPr>
          <p:cNvPr id="174086" name="Text Box 6"/>
          <p:cNvSpPr txBox="1">
            <a:spLocks noChangeArrowheads="1"/>
          </p:cNvSpPr>
          <p:nvPr/>
        </p:nvSpPr>
        <p:spPr bwMode="auto">
          <a:xfrm>
            <a:off x="250825" y="5049838"/>
            <a:ext cx="2209800" cy="457200"/>
          </a:xfrm>
          <a:prstGeom prst="rect">
            <a:avLst/>
          </a:prstGeom>
          <a:noFill/>
          <a:ln w="9525">
            <a:noFill/>
            <a:miter lim="800000"/>
            <a:headEnd/>
            <a:tailEnd/>
          </a:ln>
        </p:spPr>
        <p:txBody>
          <a:bodyPr>
            <a:spAutoFit/>
          </a:bodyPr>
          <a:lstStyle/>
          <a:p>
            <a:r>
              <a:rPr lang="zh-CN" altLang="en-US" b="1">
                <a:solidFill>
                  <a:schemeClr val="tx2"/>
                </a:solidFill>
              </a:rPr>
              <a:t>波动方程为</a:t>
            </a:r>
            <a:endParaRPr lang="zh-CN" altLang="en-US">
              <a:solidFill>
                <a:schemeClr val="tx2"/>
              </a:solidFill>
            </a:endParaRPr>
          </a:p>
        </p:txBody>
      </p:sp>
      <p:graphicFrame>
        <p:nvGraphicFramePr>
          <p:cNvPr id="174087" name="Object 7"/>
          <p:cNvGraphicFramePr>
            <a:graphicFrameLocks noChangeAspect="1"/>
          </p:cNvGraphicFramePr>
          <p:nvPr/>
        </p:nvGraphicFramePr>
        <p:xfrm>
          <a:off x="1258888" y="5576888"/>
          <a:ext cx="3289300" cy="730250"/>
        </p:xfrm>
        <a:graphic>
          <a:graphicData uri="http://schemas.openxmlformats.org/presentationml/2006/ole">
            <p:oleObj spid="_x0000_s21508" name="公式" r:id="rId5" imgW="1828800" imgH="406080" progId="Equation.3">
              <p:embed/>
            </p:oleObj>
          </a:graphicData>
        </a:graphic>
      </p:graphicFrame>
      <p:grpSp>
        <p:nvGrpSpPr>
          <p:cNvPr id="2" name="Group 8"/>
          <p:cNvGrpSpPr>
            <a:grpSpLocks noChangeAspect="1"/>
          </p:cNvGrpSpPr>
          <p:nvPr/>
        </p:nvGrpSpPr>
        <p:grpSpPr bwMode="auto">
          <a:xfrm>
            <a:off x="6275388" y="4508500"/>
            <a:ext cx="2400300" cy="1920875"/>
            <a:chOff x="3888" y="2832"/>
            <a:chExt cx="1680" cy="1344"/>
          </a:xfrm>
        </p:grpSpPr>
        <p:sp>
          <p:nvSpPr>
            <p:cNvPr id="21549" name="Oval 9"/>
            <p:cNvSpPr>
              <a:spLocks noChangeAspect="1" noChangeArrowheads="1"/>
            </p:cNvSpPr>
            <p:nvPr/>
          </p:nvSpPr>
          <p:spPr bwMode="auto">
            <a:xfrm>
              <a:off x="4024" y="2832"/>
              <a:ext cx="1362" cy="1344"/>
            </a:xfrm>
            <a:prstGeom prst="ellipse">
              <a:avLst/>
            </a:prstGeom>
            <a:noFill/>
            <a:ln w="9525">
              <a:solidFill>
                <a:srgbClr val="9900CC"/>
              </a:solidFill>
              <a:round/>
              <a:headEnd/>
              <a:tailEnd/>
            </a:ln>
          </p:spPr>
          <p:txBody>
            <a:bodyPr wrap="none" anchor="ctr"/>
            <a:lstStyle/>
            <a:p>
              <a:endParaRPr lang="zh-CN" altLang="en-US"/>
            </a:p>
          </p:txBody>
        </p:sp>
        <p:sp>
          <p:nvSpPr>
            <p:cNvPr id="21550" name="Line 10"/>
            <p:cNvSpPr>
              <a:spLocks noChangeAspect="1" noChangeShapeType="1"/>
            </p:cNvSpPr>
            <p:nvPr/>
          </p:nvSpPr>
          <p:spPr bwMode="auto">
            <a:xfrm>
              <a:off x="3888" y="3504"/>
              <a:ext cx="1680" cy="0"/>
            </a:xfrm>
            <a:prstGeom prst="line">
              <a:avLst/>
            </a:prstGeom>
            <a:noFill/>
            <a:ln w="9525">
              <a:solidFill>
                <a:schemeClr val="tx2"/>
              </a:solidFill>
              <a:round/>
              <a:headEnd/>
              <a:tailEnd/>
            </a:ln>
          </p:spPr>
          <p:txBody>
            <a:bodyPr/>
            <a:lstStyle/>
            <a:p>
              <a:endParaRPr lang="zh-CN" altLang="en-US"/>
            </a:p>
          </p:txBody>
        </p:sp>
      </p:grpSp>
      <p:grpSp>
        <p:nvGrpSpPr>
          <p:cNvPr id="3" name="Group 11"/>
          <p:cNvGrpSpPr>
            <a:grpSpLocks noChangeAspect="1"/>
          </p:cNvGrpSpPr>
          <p:nvPr/>
        </p:nvGrpSpPr>
        <p:grpSpPr bwMode="auto">
          <a:xfrm>
            <a:off x="7223125" y="4522788"/>
            <a:ext cx="585788" cy="960437"/>
            <a:chOff x="4512" y="2832"/>
            <a:chExt cx="410" cy="672"/>
          </a:xfrm>
        </p:grpSpPr>
        <p:sp>
          <p:nvSpPr>
            <p:cNvPr id="21547" name="Line 12"/>
            <p:cNvSpPr>
              <a:spLocks noChangeAspect="1" noChangeShapeType="1"/>
            </p:cNvSpPr>
            <p:nvPr/>
          </p:nvSpPr>
          <p:spPr bwMode="auto">
            <a:xfrm rot="-8913998">
              <a:off x="4512" y="2832"/>
              <a:ext cx="345" cy="582"/>
            </a:xfrm>
            <a:prstGeom prst="line">
              <a:avLst/>
            </a:prstGeom>
            <a:noFill/>
            <a:ln w="28575">
              <a:solidFill>
                <a:srgbClr val="FF0000"/>
              </a:solidFill>
              <a:round/>
              <a:headEnd/>
              <a:tailEnd type="stealth" w="med" len="lg"/>
            </a:ln>
          </p:spPr>
          <p:txBody>
            <a:bodyPr/>
            <a:lstStyle/>
            <a:p>
              <a:endParaRPr lang="zh-CN" altLang="en-US"/>
            </a:p>
          </p:txBody>
        </p:sp>
        <p:sp>
          <p:nvSpPr>
            <p:cNvPr id="21548" name="Freeform 13"/>
            <p:cNvSpPr>
              <a:spLocks noChangeAspect="1"/>
            </p:cNvSpPr>
            <p:nvPr/>
          </p:nvSpPr>
          <p:spPr bwMode="auto">
            <a:xfrm>
              <a:off x="4704" y="3360"/>
              <a:ext cx="102" cy="144"/>
            </a:xfrm>
            <a:custGeom>
              <a:avLst/>
              <a:gdLst>
                <a:gd name="T0" fmla="*/ 0 w 102"/>
                <a:gd name="T1" fmla="*/ 0 h 144"/>
                <a:gd name="T2" fmla="*/ 65 w 102"/>
                <a:gd name="T3" fmla="*/ 30 h 144"/>
                <a:gd name="T4" fmla="*/ 102 w 102"/>
                <a:gd name="T5" fmla="*/ 77 h 144"/>
                <a:gd name="T6" fmla="*/ 96 w 102"/>
                <a:gd name="T7" fmla="*/ 144 h 144"/>
                <a:gd name="T8" fmla="*/ 0 60000 65536"/>
                <a:gd name="T9" fmla="*/ 0 60000 65536"/>
                <a:gd name="T10" fmla="*/ 0 60000 65536"/>
                <a:gd name="T11" fmla="*/ 0 60000 65536"/>
                <a:gd name="T12" fmla="*/ 0 w 102"/>
                <a:gd name="T13" fmla="*/ 0 h 144"/>
                <a:gd name="T14" fmla="*/ 102 w 102"/>
                <a:gd name="T15" fmla="*/ 144 h 144"/>
              </a:gdLst>
              <a:ahLst/>
              <a:cxnLst>
                <a:cxn ang="T8">
                  <a:pos x="T0" y="T1"/>
                </a:cxn>
                <a:cxn ang="T9">
                  <a:pos x="T2" y="T3"/>
                </a:cxn>
                <a:cxn ang="T10">
                  <a:pos x="T4" y="T5"/>
                </a:cxn>
                <a:cxn ang="T11">
                  <a:pos x="T6" y="T7"/>
                </a:cxn>
              </a:cxnLst>
              <a:rect l="T12" t="T13" r="T14" b="T15"/>
              <a:pathLst>
                <a:path w="102" h="144">
                  <a:moveTo>
                    <a:pt x="0" y="0"/>
                  </a:moveTo>
                  <a:lnTo>
                    <a:pt x="65" y="30"/>
                  </a:lnTo>
                  <a:lnTo>
                    <a:pt x="102" y="77"/>
                  </a:lnTo>
                  <a:lnTo>
                    <a:pt x="96" y="144"/>
                  </a:lnTo>
                </a:path>
              </a:pathLst>
            </a:custGeom>
            <a:noFill/>
            <a:ln w="28575">
              <a:solidFill>
                <a:srgbClr val="FF0000"/>
              </a:solidFill>
              <a:round/>
              <a:headEnd/>
              <a:tailEnd/>
            </a:ln>
          </p:spPr>
          <p:txBody>
            <a:bodyPr/>
            <a:lstStyle/>
            <a:p>
              <a:endParaRPr lang="zh-CN" altLang="en-US"/>
            </a:p>
          </p:txBody>
        </p:sp>
        <p:graphicFrame>
          <p:nvGraphicFramePr>
            <p:cNvPr id="21514" name="Object 14"/>
            <p:cNvGraphicFramePr>
              <a:graphicFrameLocks noChangeAspect="1"/>
            </p:cNvGraphicFramePr>
            <p:nvPr/>
          </p:nvGraphicFramePr>
          <p:xfrm>
            <a:off x="4752" y="3072"/>
            <a:ext cx="170" cy="403"/>
          </p:xfrm>
          <a:graphic>
            <a:graphicData uri="http://schemas.openxmlformats.org/presentationml/2006/ole">
              <p:oleObj spid="_x0000_s21514" name="公式" r:id="rId6" imgW="164880" imgH="393480" progId="Equation.3">
                <p:embed/>
              </p:oleObj>
            </a:graphicData>
          </a:graphic>
        </p:graphicFrame>
      </p:grpSp>
      <p:graphicFrame>
        <p:nvGraphicFramePr>
          <p:cNvPr id="174095" name="Object 15"/>
          <p:cNvGraphicFramePr>
            <a:graphicFrameLocks noChangeAspect="1"/>
          </p:cNvGraphicFramePr>
          <p:nvPr/>
        </p:nvGraphicFramePr>
        <p:xfrm>
          <a:off x="566738" y="1673225"/>
          <a:ext cx="3771900" cy="730250"/>
        </p:xfrm>
        <a:graphic>
          <a:graphicData uri="http://schemas.openxmlformats.org/presentationml/2006/ole">
            <p:oleObj spid="_x0000_s21509" name="公式" r:id="rId7" imgW="2095200" imgH="406080" progId="Equation.3">
              <p:embed/>
            </p:oleObj>
          </a:graphicData>
        </a:graphic>
      </p:graphicFrame>
      <p:sp>
        <p:nvSpPr>
          <p:cNvPr id="174096" name="AutoShape 16"/>
          <p:cNvSpPr>
            <a:spLocks/>
          </p:cNvSpPr>
          <p:nvPr/>
        </p:nvSpPr>
        <p:spPr bwMode="auto">
          <a:xfrm>
            <a:off x="250825" y="1293813"/>
            <a:ext cx="90488" cy="874712"/>
          </a:xfrm>
          <a:prstGeom prst="leftBrace">
            <a:avLst>
              <a:gd name="adj1" fmla="val 80555"/>
              <a:gd name="adj2" fmla="val 50000"/>
            </a:avLst>
          </a:prstGeom>
          <a:noFill/>
          <a:ln w="28575">
            <a:solidFill>
              <a:srgbClr val="9900CC"/>
            </a:solidFill>
            <a:round/>
            <a:headEnd/>
            <a:tailEnd/>
          </a:ln>
        </p:spPr>
        <p:txBody>
          <a:bodyPr wrap="none" anchor="ctr"/>
          <a:lstStyle/>
          <a:p>
            <a:endParaRPr lang="zh-CN" altLang="en-US"/>
          </a:p>
        </p:txBody>
      </p:sp>
      <p:graphicFrame>
        <p:nvGraphicFramePr>
          <p:cNvPr id="174097" name="Object 17"/>
          <p:cNvGraphicFramePr>
            <a:graphicFrameLocks noChangeAspect="1"/>
          </p:cNvGraphicFramePr>
          <p:nvPr/>
        </p:nvGraphicFramePr>
        <p:xfrm>
          <a:off x="2679700" y="3608388"/>
          <a:ext cx="1854200" cy="731837"/>
        </p:xfrm>
        <a:graphic>
          <a:graphicData uri="http://schemas.openxmlformats.org/presentationml/2006/ole">
            <p:oleObj spid="_x0000_s21510" name="公式" r:id="rId8" imgW="1028520" imgH="406080" progId="Equation.3">
              <p:embed/>
            </p:oleObj>
          </a:graphicData>
        </a:graphic>
      </p:graphicFrame>
      <p:graphicFrame>
        <p:nvGraphicFramePr>
          <p:cNvPr id="174098" name="Object 18"/>
          <p:cNvGraphicFramePr>
            <a:graphicFrameLocks noChangeAspect="1"/>
          </p:cNvGraphicFramePr>
          <p:nvPr/>
        </p:nvGraphicFramePr>
        <p:xfrm>
          <a:off x="4662488" y="3833813"/>
          <a:ext cx="1485900" cy="320675"/>
        </p:xfrm>
        <a:graphic>
          <a:graphicData uri="http://schemas.openxmlformats.org/presentationml/2006/ole">
            <p:oleObj spid="_x0000_s21511" name="公式" r:id="rId9" imgW="825480" imgH="177480" progId="Equation.3">
              <p:embed/>
            </p:oleObj>
          </a:graphicData>
        </a:graphic>
      </p:graphicFrame>
      <p:grpSp>
        <p:nvGrpSpPr>
          <p:cNvPr id="21521" name="Group 19"/>
          <p:cNvGrpSpPr>
            <a:grpSpLocks/>
          </p:cNvGrpSpPr>
          <p:nvPr/>
        </p:nvGrpSpPr>
        <p:grpSpPr bwMode="auto">
          <a:xfrm>
            <a:off x="4486275" y="333375"/>
            <a:ext cx="4549775" cy="2665413"/>
            <a:chOff x="2826" y="210"/>
            <a:chExt cx="2866" cy="1679"/>
          </a:xfrm>
        </p:grpSpPr>
        <p:grpSp>
          <p:nvGrpSpPr>
            <p:cNvPr id="21523" name="Group 20"/>
            <p:cNvGrpSpPr>
              <a:grpSpLocks/>
            </p:cNvGrpSpPr>
            <p:nvPr/>
          </p:nvGrpSpPr>
          <p:grpSpPr bwMode="auto">
            <a:xfrm>
              <a:off x="2826" y="210"/>
              <a:ext cx="2866" cy="1679"/>
              <a:chOff x="2789" y="527"/>
              <a:chExt cx="2866" cy="1679"/>
            </a:xfrm>
          </p:grpSpPr>
          <p:sp>
            <p:nvSpPr>
              <p:cNvPr id="21542" name="Line 21"/>
              <p:cNvSpPr>
                <a:spLocks noChangeShapeType="1"/>
              </p:cNvSpPr>
              <p:nvPr/>
            </p:nvSpPr>
            <p:spPr bwMode="auto">
              <a:xfrm>
                <a:off x="2789" y="1536"/>
                <a:ext cx="2784" cy="0"/>
              </a:xfrm>
              <a:prstGeom prst="line">
                <a:avLst/>
              </a:prstGeom>
              <a:noFill/>
              <a:ln w="12700">
                <a:solidFill>
                  <a:srgbClr val="9900CC"/>
                </a:solidFill>
                <a:round/>
                <a:headEnd type="none" w="sm" len="sm"/>
                <a:tailEnd type="stealth" w="med" len="lg"/>
              </a:ln>
            </p:spPr>
            <p:txBody>
              <a:bodyPr wrap="none" anchor="ctr"/>
              <a:lstStyle/>
              <a:p>
                <a:endParaRPr lang="zh-CN" altLang="en-US"/>
              </a:p>
            </p:txBody>
          </p:sp>
          <p:sp>
            <p:nvSpPr>
              <p:cNvPr id="21543" name="Line 22"/>
              <p:cNvSpPr>
                <a:spLocks noChangeShapeType="1"/>
              </p:cNvSpPr>
              <p:nvPr/>
            </p:nvSpPr>
            <p:spPr bwMode="auto">
              <a:xfrm>
                <a:off x="3125" y="623"/>
                <a:ext cx="0" cy="1583"/>
              </a:xfrm>
              <a:prstGeom prst="line">
                <a:avLst/>
              </a:prstGeom>
              <a:noFill/>
              <a:ln w="12700">
                <a:solidFill>
                  <a:srgbClr val="9900CC"/>
                </a:solidFill>
                <a:round/>
                <a:headEnd type="stealth" w="med" len="lg"/>
                <a:tailEnd type="none" w="sm" len="sm"/>
              </a:ln>
            </p:spPr>
            <p:txBody>
              <a:bodyPr wrap="none" anchor="ctr"/>
              <a:lstStyle/>
              <a:p>
                <a:endParaRPr lang="zh-CN" altLang="en-US"/>
              </a:p>
            </p:txBody>
          </p:sp>
          <p:sp>
            <p:nvSpPr>
              <p:cNvPr id="21544" name="Rectangle 23"/>
              <p:cNvSpPr>
                <a:spLocks noChangeArrowheads="1"/>
              </p:cNvSpPr>
              <p:nvPr/>
            </p:nvSpPr>
            <p:spPr bwMode="auto">
              <a:xfrm>
                <a:off x="3173" y="527"/>
                <a:ext cx="478" cy="288"/>
              </a:xfrm>
              <a:prstGeom prst="rect">
                <a:avLst/>
              </a:prstGeom>
              <a:noFill/>
              <a:ln w="9525">
                <a:noFill/>
                <a:miter lim="800000"/>
                <a:headEnd/>
                <a:tailEnd/>
              </a:ln>
            </p:spPr>
            <p:txBody>
              <a:bodyPr wrap="none" lIns="92075" tIns="46038" rIns="92075" bIns="46038">
                <a:spAutoFit/>
              </a:bodyPr>
              <a:lstStyle/>
              <a:p>
                <a:r>
                  <a:rPr lang="en-US" altLang="zh-CN" i="1">
                    <a:solidFill>
                      <a:srgbClr val="9900CC"/>
                    </a:solidFill>
                  </a:rPr>
                  <a:t>y</a:t>
                </a:r>
                <a:r>
                  <a:rPr lang="en-US" altLang="zh-CN">
                    <a:solidFill>
                      <a:srgbClr val="9900CC"/>
                    </a:solidFill>
                  </a:rPr>
                  <a:t>(m)</a:t>
                </a:r>
              </a:p>
            </p:txBody>
          </p:sp>
          <p:sp>
            <p:nvSpPr>
              <p:cNvPr id="21545" name="Rectangle 24"/>
              <p:cNvSpPr>
                <a:spLocks noChangeArrowheads="1"/>
              </p:cNvSpPr>
              <p:nvPr/>
            </p:nvSpPr>
            <p:spPr bwMode="auto">
              <a:xfrm>
                <a:off x="3063" y="1440"/>
                <a:ext cx="212" cy="288"/>
              </a:xfrm>
              <a:prstGeom prst="rect">
                <a:avLst/>
              </a:prstGeom>
              <a:noFill/>
              <a:ln w="9525">
                <a:noFill/>
                <a:miter lim="800000"/>
                <a:headEnd/>
                <a:tailEnd/>
              </a:ln>
            </p:spPr>
            <p:txBody>
              <a:bodyPr wrap="none" lIns="92075" tIns="46038" rIns="92075" bIns="46038">
                <a:spAutoFit/>
              </a:bodyPr>
              <a:lstStyle/>
              <a:p>
                <a:r>
                  <a:rPr lang="en-US" altLang="zh-CN">
                    <a:solidFill>
                      <a:srgbClr val="9900CC"/>
                    </a:solidFill>
                  </a:rPr>
                  <a:t>o</a:t>
                </a:r>
              </a:p>
            </p:txBody>
          </p:sp>
          <p:sp>
            <p:nvSpPr>
              <p:cNvPr id="21546" name="Rectangle 25"/>
              <p:cNvSpPr>
                <a:spLocks noChangeArrowheads="1"/>
              </p:cNvSpPr>
              <p:nvPr/>
            </p:nvSpPr>
            <p:spPr bwMode="auto">
              <a:xfrm>
                <a:off x="5141" y="1487"/>
                <a:ext cx="514" cy="288"/>
              </a:xfrm>
              <a:prstGeom prst="rect">
                <a:avLst/>
              </a:prstGeom>
              <a:noFill/>
              <a:ln w="9525">
                <a:noFill/>
                <a:miter lim="800000"/>
                <a:headEnd/>
                <a:tailEnd/>
              </a:ln>
            </p:spPr>
            <p:txBody>
              <a:bodyPr lIns="92075" tIns="46038" rIns="92075" bIns="46038">
                <a:spAutoFit/>
              </a:bodyPr>
              <a:lstStyle/>
              <a:p>
                <a:r>
                  <a:rPr lang="en-US" altLang="zh-CN" i="1">
                    <a:solidFill>
                      <a:srgbClr val="9900CC"/>
                    </a:solidFill>
                  </a:rPr>
                  <a:t>x</a:t>
                </a:r>
                <a:r>
                  <a:rPr lang="en-US" altLang="zh-CN">
                    <a:solidFill>
                      <a:srgbClr val="9900CC"/>
                    </a:solidFill>
                  </a:rPr>
                  <a:t>(m)</a:t>
                </a:r>
              </a:p>
            </p:txBody>
          </p:sp>
        </p:grpSp>
        <p:grpSp>
          <p:nvGrpSpPr>
            <p:cNvPr id="21524" name="Group 26"/>
            <p:cNvGrpSpPr>
              <a:grpSpLocks/>
            </p:cNvGrpSpPr>
            <p:nvPr/>
          </p:nvGrpSpPr>
          <p:grpSpPr bwMode="auto">
            <a:xfrm>
              <a:off x="3498" y="594"/>
              <a:ext cx="212" cy="613"/>
              <a:chOff x="3461" y="911"/>
              <a:chExt cx="212" cy="613"/>
            </a:xfrm>
          </p:grpSpPr>
          <p:sp>
            <p:nvSpPr>
              <p:cNvPr id="21540" name="Line 27"/>
              <p:cNvSpPr>
                <a:spLocks noChangeShapeType="1"/>
              </p:cNvSpPr>
              <p:nvPr/>
            </p:nvSpPr>
            <p:spPr bwMode="auto">
              <a:xfrm>
                <a:off x="3461" y="911"/>
                <a:ext cx="0" cy="613"/>
              </a:xfrm>
              <a:prstGeom prst="line">
                <a:avLst/>
              </a:prstGeom>
              <a:noFill/>
              <a:ln w="12700">
                <a:solidFill>
                  <a:schemeClr val="tx2"/>
                </a:solidFill>
                <a:round/>
                <a:headEnd type="stealth" w="med" len="med"/>
                <a:tailEnd type="stealth" w="med" len="med"/>
              </a:ln>
            </p:spPr>
            <p:txBody>
              <a:bodyPr wrap="none" anchor="ctr"/>
              <a:lstStyle/>
              <a:p>
                <a:endParaRPr lang="zh-CN" altLang="en-US"/>
              </a:p>
            </p:txBody>
          </p:sp>
          <p:sp>
            <p:nvSpPr>
              <p:cNvPr id="21541" name="Rectangle 28"/>
              <p:cNvSpPr>
                <a:spLocks noChangeArrowheads="1"/>
              </p:cNvSpPr>
              <p:nvPr/>
            </p:nvSpPr>
            <p:spPr bwMode="auto">
              <a:xfrm>
                <a:off x="3461" y="1151"/>
                <a:ext cx="212" cy="288"/>
              </a:xfrm>
              <a:prstGeom prst="rect">
                <a:avLst/>
              </a:prstGeom>
              <a:noFill/>
              <a:ln w="9525">
                <a:noFill/>
                <a:miter lim="800000"/>
                <a:headEnd/>
                <a:tailEnd/>
              </a:ln>
            </p:spPr>
            <p:txBody>
              <a:bodyPr wrap="none" lIns="92075" tIns="46038" rIns="92075" bIns="46038">
                <a:spAutoFit/>
              </a:bodyPr>
              <a:lstStyle/>
              <a:p>
                <a:r>
                  <a:rPr lang="en-US" altLang="zh-CN"/>
                  <a:t>4</a:t>
                </a:r>
              </a:p>
            </p:txBody>
          </p:sp>
        </p:grpSp>
        <p:grpSp>
          <p:nvGrpSpPr>
            <p:cNvPr id="21525" name="Group 29"/>
            <p:cNvGrpSpPr>
              <a:grpSpLocks/>
            </p:cNvGrpSpPr>
            <p:nvPr/>
          </p:nvGrpSpPr>
          <p:grpSpPr bwMode="auto">
            <a:xfrm>
              <a:off x="3978" y="930"/>
              <a:ext cx="212" cy="581"/>
              <a:chOff x="3941" y="1247"/>
              <a:chExt cx="212" cy="581"/>
            </a:xfrm>
          </p:grpSpPr>
          <p:sp>
            <p:nvSpPr>
              <p:cNvPr id="21538" name="Rectangle 30"/>
              <p:cNvSpPr>
                <a:spLocks noChangeArrowheads="1"/>
              </p:cNvSpPr>
              <p:nvPr/>
            </p:nvSpPr>
            <p:spPr bwMode="auto">
              <a:xfrm>
                <a:off x="3941" y="1247"/>
                <a:ext cx="212" cy="288"/>
              </a:xfrm>
              <a:prstGeom prst="rect">
                <a:avLst/>
              </a:prstGeom>
              <a:noFill/>
              <a:ln w="9525">
                <a:noFill/>
                <a:miter lim="800000"/>
                <a:headEnd/>
                <a:tailEnd/>
              </a:ln>
            </p:spPr>
            <p:txBody>
              <a:bodyPr wrap="none" lIns="92075" tIns="46038" rIns="92075" bIns="46038">
                <a:spAutoFit/>
              </a:bodyPr>
              <a:lstStyle/>
              <a:p>
                <a:r>
                  <a:rPr lang="en-US" altLang="zh-CN"/>
                  <a:t>p</a:t>
                </a:r>
              </a:p>
            </p:txBody>
          </p:sp>
          <p:sp>
            <p:nvSpPr>
              <p:cNvPr id="21539" name="Line 31"/>
              <p:cNvSpPr>
                <a:spLocks noChangeShapeType="1"/>
              </p:cNvSpPr>
              <p:nvPr/>
            </p:nvSpPr>
            <p:spPr bwMode="auto">
              <a:xfrm rot="10800000">
                <a:off x="3989" y="1535"/>
                <a:ext cx="0" cy="293"/>
              </a:xfrm>
              <a:prstGeom prst="line">
                <a:avLst/>
              </a:prstGeom>
              <a:noFill/>
              <a:ln w="12700">
                <a:solidFill>
                  <a:schemeClr val="tx2"/>
                </a:solidFill>
                <a:round/>
                <a:headEnd type="stealth" w="med" len="lg"/>
                <a:tailEnd type="none" w="sm" len="sm"/>
              </a:ln>
            </p:spPr>
            <p:txBody>
              <a:bodyPr wrap="none" anchor="ctr"/>
              <a:lstStyle/>
              <a:p>
                <a:endParaRPr lang="zh-CN" altLang="en-US"/>
              </a:p>
            </p:txBody>
          </p:sp>
        </p:grpSp>
        <p:grpSp>
          <p:nvGrpSpPr>
            <p:cNvPr id="21526" name="Group 32"/>
            <p:cNvGrpSpPr>
              <a:grpSpLocks/>
            </p:cNvGrpSpPr>
            <p:nvPr/>
          </p:nvGrpSpPr>
          <p:grpSpPr bwMode="auto">
            <a:xfrm>
              <a:off x="2957" y="882"/>
              <a:ext cx="405" cy="384"/>
              <a:chOff x="2957" y="882"/>
              <a:chExt cx="405" cy="384"/>
            </a:xfrm>
          </p:grpSpPr>
          <p:sp>
            <p:nvSpPr>
              <p:cNvPr id="21534" name="Line 33"/>
              <p:cNvSpPr>
                <a:spLocks noChangeShapeType="1"/>
              </p:cNvSpPr>
              <p:nvPr/>
            </p:nvSpPr>
            <p:spPr bwMode="auto">
              <a:xfrm>
                <a:off x="2957" y="883"/>
                <a:ext cx="405" cy="0"/>
              </a:xfrm>
              <a:prstGeom prst="line">
                <a:avLst/>
              </a:prstGeom>
              <a:noFill/>
              <a:ln w="12700">
                <a:solidFill>
                  <a:srgbClr val="008000"/>
                </a:solidFill>
                <a:round/>
                <a:headEnd type="none" w="sm" len="sm"/>
                <a:tailEnd type="none" w="sm" len="sm"/>
              </a:ln>
            </p:spPr>
            <p:txBody>
              <a:bodyPr wrap="none" anchor="ctr"/>
              <a:lstStyle/>
              <a:p>
                <a:endParaRPr lang="zh-CN" altLang="en-US"/>
              </a:p>
            </p:txBody>
          </p:sp>
          <p:grpSp>
            <p:nvGrpSpPr>
              <p:cNvPr id="21535" name="Group 34"/>
              <p:cNvGrpSpPr>
                <a:grpSpLocks/>
              </p:cNvGrpSpPr>
              <p:nvPr/>
            </p:nvGrpSpPr>
            <p:grpSpPr bwMode="auto">
              <a:xfrm>
                <a:off x="2970" y="882"/>
                <a:ext cx="212" cy="384"/>
                <a:chOff x="2933" y="1199"/>
                <a:chExt cx="212" cy="384"/>
              </a:xfrm>
            </p:grpSpPr>
            <p:sp>
              <p:nvSpPr>
                <p:cNvPr id="21536" name="Line 35"/>
                <p:cNvSpPr>
                  <a:spLocks noChangeShapeType="1"/>
                </p:cNvSpPr>
                <p:nvPr/>
              </p:nvSpPr>
              <p:spPr bwMode="auto">
                <a:xfrm>
                  <a:off x="3125" y="1199"/>
                  <a:ext cx="0" cy="336"/>
                </a:xfrm>
                <a:prstGeom prst="line">
                  <a:avLst/>
                </a:prstGeom>
                <a:noFill/>
                <a:ln w="12700">
                  <a:solidFill>
                    <a:schemeClr val="tx2"/>
                  </a:solidFill>
                  <a:round/>
                  <a:headEnd type="stealth" w="med" len="med"/>
                  <a:tailEnd type="stealth" w="med" len="med"/>
                </a:ln>
              </p:spPr>
              <p:txBody>
                <a:bodyPr wrap="none" anchor="ctr"/>
                <a:lstStyle/>
                <a:p>
                  <a:endParaRPr lang="zh-CN" altLang="en-US"/>
                </a:p>
              </p:txBody>
            </p:sp>
            <p:sp>
              <p:nvSpPr>
                <p:cNvPr id="21537" name="Rectangle 36"/>
                <p:cNvSpPr>
                  <a:spLocks noChangeArrowheads="1"/>
                </p:cNvSpPr>
                <p:nvPr/>
              </p:nvSpPr>
              <p:spPr bwMode="auto">
                <a:xfrm>
                  <a:off x="2933" y="1295"/>
                  <a:ext cx="212" cy="288"/>
                </a:xfrm>
                <a:prstGeom prst="rect">
                  <a:avLst/>
                </a:prstGeom>
                <a:noFill/>
                <a:ln w="9525">
                  <a:noFill/>
                  <a:miter lim="800000"/>
                  <a:headEnd/>
                  <a:tailEnd/>
                </a:ln>
              </p:spPr>
              <p:txBody>
                <a:bodyPr lIns="92075" tIns="46038" rIns="92075" bIns="46038">
                  <a:spAutoFit/>
                </a:bodyPr>
                <a:lstStyle/>
                <a:p>
                  <a:r>
                    <a:rPr lang="en-US" altLang="zh-CN"/>
                    <a:t>2</a:t>
                  </a:r>
                </a:p>
              </p:txBody>
            </p:sp>
          </p:grpSp>
        </p:grpSp>
        <p:grpSp>
          <p:nvGrpSpPr>
            <p:cNvPr id="21527" name="Group 37"/>
            <p:cNvGrpSpPr>
              <a:grpSpLocks/>
            </p:cNvGrpSpPr>
            <p:nvPr/>
          </p:nvGrpSpPr>
          <p:grpSpPr bwMode="auto">
            <a:xfrm>
              <a:off x="4290" y="642"/>
              <a:ext cx="729" cy="248"/>
              <a:chOff x="4253" y="959"/>
              <a:chExt cx="729" cy="248"/>
            </a:xfrm>
          </p:grpSpPr>
          <p:sp>
            <p:nvSpPr>
              <p:cNvPr id="21533" name="Line 38"/>
              <p:cNvSpPr>
                <a:spLocks noChangeShapeType="1"/>
              </p:cNvSpPr>
              <p:nvPr/>
            </p:nvSpPr>
            <p:spPr bwMode="auto">
              <a:xfrm>
                <a:off x="4253" y="1056"/>
                <a:ext cx="429" cy="0"/>
              </a:xfrm>
              <a:prstGeom prst="line">
                <a:avLst/>
              </a:prstGeom>
              <a:noFill/>
              <a:ln w="19050">
                <a:solidFill>
                  <a:schemeClr val="accent2"/>
                </a:solidFill>
                <a:round/>
                <a:headEnd type="stealth" w="med" len="lg"/>
                <a:tailEnd type="none" w="sm" len="sm"/>
              </a:ln>
            </p:spPr>
            <p:txBody>
              <a:bodyPr wrap="none" anchor="ctr"/>
              <a:lstStyle/>
              <a:p>
                <a:endParaRPr lang="zh-CN" altLang="en-US"/>
              </a:p>
            </p:txBody>
          </p:sp>
          <p:graphicFrame>
            <p:nvGraphicFramePr>
              <p:cNvPr id="21513" name="Object 39"/>
              <p:cNvGraphicFramePr>
                <a:graphicFrameLocks noChangeAspect="1"/>
              </p:cNvGraphicFramePr>
              <p:nvPr/>
            </p:nvGraphicFramePr>
            <p:xfrm>
              <a:off x="4805" y="959"/>
              <a:ext cx="177" cy="248"/>
            </p:xfrm>
            <a:graphic>
              <a:graphicData uri="http://schemas.openxmlformats.org/presentationml/2006/ole">
                <p:oleObj spid="_x0000_s21513" name="公式" r:id="rId10" imgW="126720" imgH="177480" progId="Equation.3">
                  <p:embed/>
                </p:oleObj>
              </a:graphicData>
            </a:graphic>
          </p:graphicFrame>
        </p:grpSp>
        <p:sp>
          <p:nvSpPr>
            <p:cNvPr id="21528" name="Freeform 40"/>
            <p:cNvSpPr>
              <a:spLocks/>
            </p:cNvSpPr>
            <p:nvPr/>
          </p:nvSpPr>
          <p:spPr bwMode="auto">
            <a:xfrm>
              <a:off x="2922" y="498"/>
              <a:ext cx="2662" cy="1378"/>
            </a:xfrm>
            <a:custGeom>
              <a:avLst/>
              <a:gdLst>
                <a:gd name="T0" fmla="*/ 0 w 2662"/>
                <a:gd name="T1" fmla="*/ 733 h 1378"/>
                <a:gd name="T2" fmla="*/ 623 w 2662"/>
                <a:gd name="T3" fmla="*/ 100 h 1378"/>
                <a:gd name="T4" fmla="*/ 1668 w 2662"/>
                <a:gd name="T5" fmla="*/ 1332 h 1378"/>
                <a:gd name="T6" fmla="*/ 2519 w 2662"/>
                <a:gd name="T7" fmla="*/ 375 h 1378"/>
                <a:gd name="T8" fmla="*/ 2528 w 2662"/>
                <a:gd name="T9" fmla="*/ 375 h 1378"/>
                <a:gd name="T10" fmla="*/ 0 60000 65536"/>
                <a:gd name="T11" fmla="*/ 0 60000 65536"/>
                <a:gd name="T12" fmla="*/ 0 60000 65536"/>
                <a:gd name="T13" fmla="*/ 0 60000 65536"/>
                <a:gd name="T14" fmla="*/ 0 60000 65536"/>
                <a:gd name="T15" fmla="*/ 0 w 2662"/>
                <a:gd name="T16" fmla="*/ 0 h 1378"/>
                <a:gd name="T17" fmla="*/ 2662 w 2662"/>
                <a:gd name="T18" fmla="*/ 1378 h 1378"/>
              </a:gdLst>
              <a:ahLst/>
              <a:cxnLst>
                <a:cxn ang="T10">
                  <a:pos x="T0" y="T1"/>
                </a:cxn>
                <a:cxn ang="T11">
                  <a:pos x="T2" y="T3"/>
                </a:cxn>
                <a:cxn ang="T12">
                  <a:pos x="T4" y="T5"/>
                </a:cxn>
                <a:cxn ang="T13">
                  <a:pos x="T6" y="T7"/>
                </a:cxn>
                <a:cxn ang="T14">
                  <a:pos x="T8" y="T9"/>
                </a:cxn>
              </a:cxnLst>
              <a:rect l="T15" t="T16" r="T17" b="T18"/>
              <a:pathLst>
                <a:path w="2662" h="1378">
                  <a:moveTo>
                    <a:pt x="0" y="733"/>
                  </a:moveTo>
                  <a:cubicBezTo>
                    <a:pt x="104" y="627"/>
                    <a:pt x="345" y="0"/>
                    <a:pt x="623" y="100"/>
                  </a:cubicBezTo>
                  <a:cubicBezTo>
                    <a:pt x="901" y="200"/>
                    <a:pt x="1352" y="1286"/>
                    <a:pt x="1668" y="1332"/>
                  </a:cubicBezTo>
                  <a:cubicBezTo>
                    <a:pt x="1984" y="1378"/>
                    <a:pt x="2376" y="535"/>
                    <a:pt x="2519" y="375"/>
                  </a:cubicBezTo>
                  <a:cubicBezTo>
                    <a:pt x="2662" y="215"/>
                    <a:pt x="2526" y="375"/>
                    <a:pt x="2528" y="375"/>
                  </a:cubicBezTo>
                </a:path>
              </a:pathLst>
            </a:custGeom>
            <a:noFill/>
            <a:ln w="28575">
              <a:solidFill>
                <a:srgbClr val="FF0000"/>
              </a:solidFill>
              <a:round/>
              <a:headEnd/>
              <a:tailEnd/>
            </a:ln>
          </p:spPr>
          <p:txBody>
            <a:bodyPr/>
            <a:lstStyle/>
            <a:p>
              <a:endParaRPr lang="zh-CN" altLang="en-US"/>
            </a:p>
          </p:txBody>
        </p:sp>
        <p:grpSp>
          <p:nvGrpSpPr>
            <p:cNvPr id="21529" name="Group 41"/>
            <p:cNvGrpSpPr>
              <a:grpSpLocks/>
            </p:cNvGrpSpPr>
            <p:nvPr/>
          </p:nvGrpSpPr>
          <p:grpSpPr bwMode="auto">
            <a:xfrm>
              <a:off x="3210" y="1218"/>
              <a:ext cx="816" cy="584"/>
              <a:chOff x="3173" y="1535"/>
              <a:chExt cx="816" cy="584"/>
            </a:xfrm>
          </p:grpSpPr>
          <p:sp>
            <p:nvSpPr>
              <p:cNvPr id="21530" name="Line 42"/>
              <p:cNvSpPr>
                <a:spLocks noChangeShapeType="1"/>
              </p:cNvSpPr>
              <p:nvPr/>
            </p:nvSpPr>
            <p:spPr bwMode="auto">
              <a:xfrm>
                <a:off x="3989" y="1535"/>
                <a:ext cx="0" cy="432"/>
              </a:xfrm>
              <a:prstGeom prst="line">
                <a:avLst/>
              </a:prstGeom>
              <a:noFill/>
              <a:ln w="9525">
                <a:solidFill>
                  <a:schemeClr val="accent2"/>
                </a:solidFill>
                <a:round/>
                <a:headEnd/>
                <a:tailEnd/>
              </a:ln>
            </p:spPr>
            <p:txBody>
              <a:bodyPr/>
              <a:lstStyle/>
              <a:p>
                <a:endParaRPr lang="zh-CN" altLang="en-US"/>
              </a:p>
            </p:txBody>
          </p:sp>
          <p:sp>
            <p:nvSpPr>
              <p:cNvPr id="21531" name="Line 43"/>
              <p:cNvSpPr>
                <a:spLocks noChangeShapeType="1"/>
              </p:cNvSpPr>
              <p:nvPr/>
            </p:nvSpPr>
            <p:spPr bwMode="auto">
              <a:xfrm>
                <a:off x="3173" y="1871"/>
                <a:ext cx="288" cy="0"/>
              </a:xfrm>
              <a:prstGeom prst="line">
                <a:avLst/>
              </a:prstGeom>
              <a:noFill/>
              <a:ln w="9525">
                <a:solidFill>
                  <a:schemeClr val="accent2"/>
                </a:solidFill>
                <a:round/>
                <a:headEnd/>
                <a:tailEnd type="triangle" w="med" len="med"/>
              </a:ln>
            </p:spPr>
            <p:txBody>
              <a:bodyPr/>
              <a:lstStyle/>
              <a:p>
                <a:endParaRPr lang="zh-CN" altLang="en-US"/>
              </a:p>
            </p:txBody>
          </p:sp>
          <p:sp>
            <p:nvSpPr>
              <p:cNvPr id="21532" name="Line 44"/>
              <p:cNvSpPr>
                <a:spLocks noChangeShapeType="1"/>
              </p:cNvSpPr>
              <p:nvPr/>
            </p:nvSpPr>
            <p:spPr bwMode="auto">
              <a:xfrm flipH="1">
                <a:off x="3701" y="1871"/>
                <a:ext cx="288" cy="0"/>
              </a:xfrm>
              <a:prstGeom prst="line">
                <a:avLst/>
              </a:prstGeom>
              <a:noFill/>
              <a:ln w="9525">
                <a:solidFill>
                  <a:schemeClr val="accent2"/>
                </a:solidFill>
                <a:round/>
                <a:headEnd/>
                <a:tailEnd type="triangle" w="med" len="med"/>
              </a:ln>
            </p:spPr>
            <p:txBody>
              <a:bodyPr/>
              <a:lstStyle/>
              <a:p>
                <a:endParaRPr lang="zh-CN" altLang="en-US"/>
              </a:p>
            </p:txBody>
          </p:sp>
          <p:graphicFrame>
            <p:nvGraphicFramePr>
              <p:cNvPr id="21512" name="Object 45"/>
              <p:cNvGraphicFramePr>
                <a:graphicFrameLocks noChangeAspect="1"/>
              </p:cNvGraphicFramePr>
              <p:nvPr/>
            </p:nvGraphicFramePr>
            <p:xfrm>
              <a:off x="3509" y="1727"/>
              <a:ext cx="139" cy="392"/>
            </p:xfrm>
            <a:graphic>
              <a:graphicData uri="http://schemas.openxmlformats.org/presentationml/2006/ole">
                <p:oleObj spid="_x0000_s21512" name="公式" r:id="rId11" imgW="139680" imgH="393480" progId="Equation.3">
                  <p:embed/>
                </p:oleObj>
              </a:graphicData>
            </a:graphic>
          </p:graphicFrame>
        </p:grpSp>
      </p:grpSp>
      <p:sp>
        <p:nvSpPr>
          <p:cNvPr id="46" name="AutoShape 38">
            <a:hlinkClick r:id="rId12" action="ppaction://hlinksldjump" highlightClick="1"/>
          </p:cNvPr>
          <p:cNvSpPr>
            <a:spLocks noChangeArrowheads="1"/>
          </p:cNvSpPr>
          <p:nvPr/>
        </p:nvSpPr>
        <p:spPr bwMode="auto">
          <a:xfrm>
            <a:off x="8577263" y="6173788"/>
            <a:ext cx="287337" cy="287337"/>
          </a:xfrm>
          <a:prstGeom prst="actionButtonBeginning">
            <a:avLst/>
          </a:prstGeom>
          <a:solidFill>
            <a:srgbClr val="99CCFF"/>
          </a:solidFill>
          <a:ln w="9525">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082"/>
                                        </p:tgtEl>
                                        <p:attrNameLst>
                                          <p:attrName>style.visibility</p:attrName>
                                        </p:attrNameLst>
                                      </p:cBhvr>
                                      <p:to>
                                        <p:strVal val="visible"/>
                                      </p:to>
                                    </p:set>
                                    <p:animEffect transition="in" filter="wipe(left)">
                                      <p:cBhvr>
                                        <p:cTn id="7" dur="500"/>
                                        <p:tgtEl>
                                          <p:spTgt spid="1740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096"/>
                                        </p:tgtEl>
                                        <p:attrNameLst>
                                          <p:attrName>style.visibility</p:attrName>
                                        </p:attrNameLst>
                                      </p:cBhvr>
                                      <p:to>
                                        <p:strVal val="visible"/>
                                      </p:to>
                                    </p:set>
                                    <p:animEffect transition="in" filter="wipe(left)">
                                      <p:cBhvr>
                                        <p:cTn id="12" dur="500"/>
                                        <p:tgtEl>
                                          <p:spTgt spid="17409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408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409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74084"/>
                                        </p:tgtEl>
                                        <p:attrNameLst>
                                          <p:attrName>style.visibility</p:attrName>
                                        </p:attrNameLst>
                                      </p:cBhvr>
                                      <p:to>
                                        <p:strVal val="visible"/>
                                      </p:to>
                                    </p:set>
                                    <p:animEffect transition="in" filter="wipe(left)">
                                      <p:cBhvr>
                                        <p:cTn id="25" dur="500"/>
                                        <p:tgtEl>
                                          <p:spTgt spid="174084"/>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7408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7409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7409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down)">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74086"/>
                                        </p:tgtEl>
                                        <p:attrNameLst>
                                          <p:attrName>style.visibility</p:attrName>
                                        </p:attrNameLst>
                                      </p:cBhvr>
                                      <p:to>
                                        <p:strVal val="visible"/>
                                      </p:to>
                                    </p:set>
                                    <p:animEffect transition="in" filter="wipe(left)">
                                      <p:cBhvr>
                                        <p:cTn id="52" dur="500"/>
                                        <p:tgtEl>
                                          <p:spTgt spid="174086"/>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7408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wipe(down)">
                                      <p:cBhvr>
                                        <p:cTn id="6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autoUpdateAnimBg="0"/>
      <p:bldP spid="174084" grpId="0" autoUpdateAnimBg="0"/>
      <p:bldP spid="174086" grpId="0" autoUpdateAnimBg="0"/>
      <p:bldP spid="174096" grpId="0" animBg="1"/>
      <p:bldP spid="4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Text Box 4"/>
          <p:cNvSpPr txBox="1">
            <a:spLocks noChangeArrowheads="1"/>
          </p:cNvSpPr>
          <p:nvPr/>
        </p:nvSpPr>
        <p:spPr bwMode="auto">
          <a:xfrm>
            <a:off x="2654300" y="476250"/>
            <a:ext cx="3070225" cy="519113"/>
          </a:xfrm>
          <a:prstGeom prst="rect">
            <a:avLst/>
          </a:prstGeom>
          <a:noFill/>
          <a:ln w="9525">
            <a:noFill/>
            <a:miter lim="800000"/>
            <a:headEnd/>
            <a:tailEnd/>
          </a:ln>
        </p:spPr>
        <p:txBody>
          <a:bodyPr>
            <a:spAutoFit/>
          </a:bodyPr>
          <a:lstStyle/>
          <a:p>
            <a:r>
              <a:rPr kumimoji="0" lang="en-US" altLang="zh-CN" sz="2800" b="1">
                <a:solidFill>
                  <a:srgbClr val="0000FF"/>
                </a:solidFill>
                <a:ea typeface="黑体" pitchFamily="49" charset="-122"/>
                <a:cs typeface="Times New Roman" pitchFamily="18" charset="0"/>
              </a:rPr>
              <a:t>§6.3</a:t>
            </a:r>
            <a:r>
              <a:rPr kumimoji="0" lang="en-US" altLang="zh-CN" sz="2800" b="1">
                <a:solidFill>
                  <a:srgbClr val="333399"/>
                </a:solidFill>
                <a:ea typeface="黑体" pitchFamily="49" charset="-122"/>
                <a:cs typeface="Times New Roman" pitchFamily="18" charset="0"/>
              </a:rPr>
              <a:t>  </a:t>
            </a:r>
            <a:r>
              <a:rPr kumimoji="0" lang="zh-CN" altLang="en-US" sz="2800" b="1">
                <a:solidFill>
                  <a:srgbClr val="0000FF"/>
                </a:solidFill>
                <a:ea typeface="黑体" pitchFamily="49" charset="-122"/>
                <a:cs typeface="Times New Roman" pitchFamily="18" charset="0"/>
              </a:rPr>
              <a:t>波的能量</a:t>
            </a:r>
          </a:p>
        </p:txBody>
      </p:sp>
      <p:sp>
        <p:nvSpPr>
          <p:cNvPr id="85080" name="Rectangle 88"/>
          <p:cNvSpPr>
            <a:spLocks noChangeArrowheads="1"/>
          </p:cNvSpPr>
          <p:nvPr/>
        </p:nvSpPr>
        <p:spPr bwMode="auto">
          <a:xfrm>
            <a:off x="431800" y="1052513"/>
            <a:ext cx="955675" cy="1006475"/>
          </a:xfrm>
          <a:prstGeom prst="rect">
            <a:avLst/>
          </a:prstGeom>
          <a:noFill/>
          <a:ln w="19050">
            <a:noFill/>
            <a:miter lim="800000"/>
            <a:headEnd/>
            <a:tailEnd/>
          </a:ln>
        </p:spPr>
        <p:txBody>
          <a:bodyPr>
            <a:spAutoFit/>
          </a:bodyPr>
          <a:lstStyle/>
          <a:p>
            <a:pPr algn="ctr">
              <a:lnSpc>
                <a:spcPct val="125000"/>
              </a:lnSpc>
            </a:pPr>
            <a:r>
              <a:rPr lang="zh-CN" altLang="en-US" b="1">
                <a:solidFill>
                  <a:srgbClr val="FF6600"/>
                </a:solidFill>
                <a:latin typeface="楷体_GB2312" pitchFamily="49" charset="-122"/>
                <a:ea typeface="楷体_GB2312" pitchFamily="49" charset="-122"/>
              </a:rPr>
              <a:t>波动过程</a:t>
            </a:r>
          </a:p>
        </p:txBody>
      </p:sp>
      <p:sp>
        <p:nvSpPr>
          <p:cNvPr id="85081" name="Rectangle 89"/>
          <p:cNvSpPr>
            <a:spLocks noChangeArrowheads="1"/>
          </p:cNvSpPr>
          <p:nvPr/>
        </p:nvSpPr>
        <p:spPr bwMode="auto">
          <a:xfrm>
            <a:off x="2530475" y="1146175"/>
            <a:ext cx="3249613" cy="457200"/>
          </a:xfrm>
          <a:prstGeom prst="rect">
            <a:avLst/>
          </a:prstGeom>
          <a:noFill/>
          <a:ln w="9525">
            <a:noFill/>
            <a:miter lim="800000"/>
            <a:headEnd/>
            <a:tailEnd/>
          </a:ln>
        </p:spPr>
        <p:txBody>
          <a:bodyPr>
            <a:spAutoFit/>
          </a:bodyPr>
          <a:lstStyle/>
          <a:p>
            <a:r>
              <a:rPr lang="zh-CN" altLang="en-US" b="1">
                <a:latin typeface="楷体_GB2312" pitchFamily="49" charset="-122"/>
                <a:ea typeface="楷体_GB2312" pitchFamily="49" charset="-122"/>
              </a:rPr>
              <a:t>质点由静止开始振动</a:t>
            </a:r>
          </a:p>
        </p:txBody>
      </p:sp>
      <p:sp>
        <p:nvSpPr>
          <p:cNvPr id="85082" name="Rectangle 90"/>
          <p:cNvSpPr>
            <a:spLocks noChangeArrowheads="1"/>
          </p:cNvSpPr>
          <p:nvPr/>
        </p:nvSpPr>
        <p:spPr bwMode="auto">
          <a:xfrm>
            <a:off x="2530475" y="1600200"/>
            <a:ext cx="2817813" cy="457200"/>
          </a:xfrm>
          <a:prstGeom prst="rect">
            <a:avLst/>
          </a:prstGeom>
          <a:noFill/>
          <a:ln w="9525">
            <a:noFill/>
            <a:miter lim="800000"/>
            <a:headEnd/>
            <a:tailEnd/>
          </a:ln>
        </p:spPr>
        <p:txBody>
          <a:bodyPr>
            <a:spAutoFit/>
          </a:bodyPr>
          <a:lstStyle/>
          <a:p>
            <a:r>
              <a:rPr lang="zh-CN" altLang="en-US" b="1">
                <a:latin typeface="楷体_GB2312" pitchFamily="49" charset="-122"/>
                <a:ea typeface="楷体_GB2312" pitchFamily="49" charset="-122"/>
              </a:rPr>
              <a:t>介质也发生形变</a:t>
            </a:r>
          </a:p>
        </p:txBody>
      </p:sp>
      <p:sp>
        <p:nvSpPr>
          <p:cNvPr id="85083" name="Rectangle 91"/>
          <p:cNvSpPr>
            <a:spLocks noChangeArrowheads="1"/>
          </p:cNvSpPr>
          <p:nvPr/>
        </p:nvSpPr>
        <p:spPr bwMode="auto">
          <a:xfrm>
            <a:off x="6546850" y="1054100"/>
            <a:ext cx="2114550" cy="1006475"/>
          </a:xfrm>
          <a:prstGeom prst="rect">
            <a:avLst/>
          </a:prstGeom>
          <a:noFill/>
          <a:ln w="9525">
            <a:noFill/>
            <a:miter lim="800000"/>
            <a:headEnd/>
            <a:tailEnd/>
          </a:ln>
        </p:spPr>
        <p:txBody>
          <a:bodyPr>
            <a:spAutoFit/>
          </a:bodyPr>
          <a:lstStyle/>
          <a:p>
            <a:pPr>
              <a:lnSpc>
                <a:spcPct val="125000"/>
              </a:lnSpc>
            </a:pPr>
            <a:r>
              <a:rPr lang="zh-CN" altLang="en-US" b="1">
                <a:solidFill>
                  <a:srgbClr val="FF6600"/>
                </a:solidFill>
                <a:latin typeface="楷体_GB2312" pitchFamily="49" charset="-122"/>
                <a:ea typeface="楷体_GB2312" pitchFamily="49" charset="-122"/>
              </a:rPr>
              <a:t>波动过程是能量的传播过程</a:t>
            </a:r>
          </a:p>
        </p:txBody>
      </p:sp>
      <p:sp>
        <p:nvSpPr>
          <p:cNvPr id="85084" name="AutoShape 92"/>
          <p:cNvSpPr>
            <a:spLocks/>
          </p:cNvSpPr>
          <p:nvPr/>
        </p:nvSpPr>
        <p:spPr bwMode="auto">
          <a:xfrm>
            <a:off x="2355850" y="1270000"/>
            <a:ext cx="228600" cy="685800"/>
          </a:xfrm>
          <a:prstGeom prst="leftBrace">
            <a:avLst>
              <a:gd name="adj1" fmla="val 25000"/>
              <a:gd name="adj2" fmla="val 50000"/>
            </a:avLst>
          </a:prstGeom>
          <a:noFill/>
          <a:ln w="38100">
            <a:solidFill>
              <a:srgbClr val="0000FF"/>
            </a:solidFill>
            <a:round/>
            <a:headEnd/>
            <a:tailEnd/>
          </a:ln>
        </p:spPr>
        <p:txBody>
          <a:bodyPr wrap="none" anchor="ctr"/>
          <a:lstStyle/>
          <a:p>
            <a:endParaRPr lang="zh-CN" altLang="en-US"/>
          </a:p>
        </p:txBody>
      </p:sp>
      <p:sp>
        <p:nvSpPr>
          <p:cNvPr id="85085" name="AutoShape 93"/>
          <p:cNvSpPr>
            <a:spLocks noChangeArrowheads="1"/>
          </p:cNvSpPr>
          <p:nvPr/>
        </p:nvSpPr>
        <p:spPr bwMode="auto">
          <a:xfrm>
            <a:off x="1316038" y="1519238"/>
            <a:ext cx="914400" cy="187325"/>
          </a:xfrm>
          <a:prstGeom prst="rightArrow">
            <a:avLst>
              <a:gd name="adj1" fmla="val 50000"/>
              <a:gd name="adj2" fmla="val 122034"/>
            </a:avLst>
          </a:prstGeom>
          <a:solidFill>
            <a:srgbClr val="0000FF">
              <a:alpha val="50195"/>
            </a:srgbClr>
          </a:solidFill>
          <a:ln w="9525">
            <a:solidFill>
              <a:schemeClr val="tx1"/>
            </a:solidFill>
            <a:miter lim="800000"/>
            <a:headEnd/>
            <a:tailEnd/>
          </a:ln>
        </p:spPr>
        <p:txBody>
          <a:bodyPr wrap="none" anchor="ctr"/>
          <a:lstStyle/>
          <a:p>
            <a:endParaRPr lang="zh-CN" altLang="en-US"/>
          </a:p>
        </p:txBody>
      </p:sp>
      <p:sp>
        <p:nvSpPr>
          <p:cNvPr id="85086" name="AutoShape 94"/>
          <p:cNvSpPr>
            <a:spLocks noChangeArrowheads="1"/>
          </p:cNvSpPr>
          <p:nvPr/>
        </p:nvSpPr>
        <p:spPr bwMode="auto">
          <a:xfrm>
            <a:off x="5564188" y="1522413"/>
            <a:ext cx="914400" cy="187325"/>
          </a:xfrm>
          <a:prstGeom prst="rightArrow">
            <a:avLst>
              <a:gd name="adj1" fmla="val 50000"/>
              <a:gd name="adj2" fmla="val 122034"/>
            </a:avLst>
          </a:prstGeom>
          <a:solidFill>
            <a:srgbClr val="0000FF">
              <a:alpha val="50195"/>
            </a:srgbClr>
          </a:solidFill>
          <a:ln w="9525">
            <a:solidFill>
              <a:schemeClr val="tx1"/>
            </a:solidFill>
            <a:miter lim="800000"/>
            <a:headEnd/>
            <a:tailEnd/>
          </a:ln>
        </p:spPr>
        <p:txBody>
          <a:bodyPr wrap="none" anchor="ctr"/>
          <a:lstStyle/>
          <a:p>
            <a:endParaRPr lang="zh-CN" altLang="en-US"/>
          </a:p>
        </p:txBody>
      </p:sp>
      <p:sp>
        <p:nvSpPr>
          <p:cNvPr id="85087" name="Rectangle 95"/>
          <p:cNvSpPr>
            <a:spLocks noChangeArrowheads="1"/>
          </p:cNvSpPr>
          <p:nvPr/>
        </p:nvSpPr>
        <p:spPr bwMode="auto">
          <a:xfrm>
            <a:off x="179388" y="2276475"/>
            <a:ext cx="3960812" cy="457200"/>
          </a:xfrm>
          <a:prstGeom prst="rect">
            <a:avLst/>
          </a:prstGeom>
          <a:noFill/>
          <a:ln w="9525">
            <a:noFill/>
            <a:miter lim="800000"/>
            <a:headEnd/>
            <a:tailEnd/>
          </a:ln>
        </p:spPr>
        <p:txBody>
          <a:bodyPr>
            <a:spAutoFit/>
          </a:bodyPr>
          <a:lstStyle/>
          <a:p>
            <a:r>
              <a:rPr lang="zh-CN" altLang="en-US" b="1">
                <a:solidFill>
                  <a:srgbClr val="FF3300"/>
                </a:solidFill>
                <a:latin typeface="宋体" pitchFamily="2" charset="-122"/>
              </a:rPr>
              <a:t>一、波动的能量传播</a:t>
            </a:r>
            <a:endParaRPr lang="zh-CN" altLang="en-US"/>
          </a:p>
        </p:txBody>
      </p:sp>
      <p:sp>
        <p:nvSpPr>
          <p:cNvPr id="85088" name="Rectangle 96"/>
          <p:cNvSpPr>
            <a:spLocks noChangeArrowheads="1"/>
          </p:cNvSpPr>
          <p:nvPr/>
        </p:nvSpPr>
        <p:spPr bwMode="auto">
          <a:xfrm>
            <a:off x="749300" y="2951163"/>
            <a:ext cx="4800600" cy="457200"/>
          </a:xfrm>
          <a:prstGeom prst="rect">
            <a:avLst/>
          </a:prstGeom>
          <a:noFill/>
          <a:ln w="9525">
            <a:noFill/>
            <a:miter lim="800000"/>
            <a:headEnd/>
            <a:tailEnd/>
          </a:ln>
        </p:spPr>
        <p:txBody>
          <a:bodyPr>
            <a:spAutoFit/>
          </a:bodyPr>
          <a:lstStyle/>
          <a:p>
            <a:r>
              <a:rPr lang="zh-CN" altLang="en-US" b="1">
                <a:latin typeface="楷体_GB2312" pitchFamily="49" charset="-122"/>
                <a:ea typeface="楷体_GB2312" pitchFamily="49" charset="-122"/>
              </a:rPr>
              <a:t>以绳索上传播的横波为例：</a:t>
            </a:r>
          </a:p>
        </p:txBody>
      </p:sp>
      <p:sp>
        <p:nvSpPr>
          <p:cNvPr id="85089" name="Rectangle 97"/>
          <p:cNvSpPr>
            <a:spLocks noChangeArrowheads="1"/>
          </p:cNvSpPr>
          <p:nvPr/>
        </p:nvSpPr>
        <p:spPr bwMode="auto">
          <a:xfrm>
            <a:off x="4325938" y="2971800"/>
            <a:ext cx="4191000" cy="457200"/>
          </a:xfrm>
          <a:prstGeom prst="rect">
            <a:avLst/>
          </a:prstGeom>
          <a:noFill/>
          <a:ln w="9525">
            <a:noFill/>
            <a:miter lim="800000"/>
            <a:headEnd/>
            <a:tailEnd/>
          </a:ln>
        </p:spPr>
        <p:txBody>
          <a:bodyPr>
            <a:spAutoFit/>
          </a:bodyPr>
          <a:lstStyle/>
          <a:p>
            <a:r>
              <a:rPr lang="zh-CN" altLang="en-US" b="1">
                <a:latin typeface="楷体_GB2312" pitchFamily="49" charset="-122"/>
                <a:ea typeface="楷体_GB2312" pitchFamily="49" charset="-122"/>
              </a:rPr>
              <a:t>设波沿 </a:t>
            </a:r>
            <a:r>
              <a:rPr lang="en-US" altLang="zh-CN" b="1" i="1">
                <a:solidFill>
                  <a:srgbClr val="FF6600"/>
                </a:solidFill>
              </a:rPr>
              <a:t>x</a:t>
            </a:r>
            <a:r>
              <a:rPr lang="en-US" altLang="zh-CN" b="1" i="1"/>
              <a:t> </a:t>
            </a:r>
            <a:r>
              <a:rPr lang="zh-CN" altLang="en-US" b="1">
                <a:ea typeface="楷体_GB2312" pitchFamily="49" charset="-122"/>
              </a:rPr>
              <a:t>轴正</a:t>
            </a:r>
            <a:r>
              <a:rPr lang="zh-CN" altLang="en-US" b="1">
                <a:latin typeface="楷体_GB2312" pitchFamily="49" charset="-122"/>
                <a:ea typeface="楷体_GB2312" pitchFamily="49" charset="-122"/>
              </a:rPr>
              <a:t>方向传播</a:t>
            </a:r>
          </a:p>
        </p:txBody>
      </p:sp>
      <p:graphicFrame>
        <p:nvGraphicFramePr>
          <p:cNvPr id="85090" name="Object 98"/>
          <p:cNvGraphicFramePr>
            <a:graphicFrameLocks noChangeAspect="1"/>
          </p:cNvGraphicFramePr>
          <p:nvPr/>
        </p:nvGraphicFramePr>
        <p:xfrm>
          <a:off x="3492500" y="2133600"/>
          <a:ext cx="3238500" cy="730250"/>
        </p:xfrm>
        <a:graphic>
          <a:graphicData uri="http://schemas.openxmlformats.org/presentationml/2006/ole">
            <p:oleObj spid="_x0000_s22530" name="公式" r:id="rId3" imgW="1803240" imgH="406080" progId="Equation.3">
              <p:embed/>
            </p:oleObj>
          </a:graphicData>
        </a:graphic>
      </p:graphicFrame>
      <p:graphicFrame>
        <p:nvGraphicFramePr>
          <p:cNvPr id="85135" name="Object 143"/>
          <p:cNvGraphicFramePr>
            <a:graphicFrameLocks noChangeAspect="1"/>
          </p:cNvGraphicFramePr>
          <p:nvPr/>
        </p:nvGraphicFramePr>
        <p:xfrm>
          <a:off x="2163763" y="3609975"/>
          <a:ext cx="1217612" cy="368300"/>
        </p:xfrm>
        <a:graphic>
          <a:graphicData uri="http://schemas.openxmlformats.org/presentationml/2006/ole">
            <p:oleObj spid="_x0000_s22531" name="公式" r:id="rId4" imgW="672840" imgH="203040" progId="Equation.3">
              <p:embed/>
            </p:oleObj>
          </a:graphicData>
        </a:graphic>
      </p:graphicFrame>
      <p:graphicFrame>
        <p:nvGraphicFramePr>
          <p:cNvPr id="85136" name="Object 144"/>
          <p:cNvGraphicFramePr>
            <a:graphicFrameLocks noChangeAspect="1"/>
          </p:cNvGraphicFramePr>
          <p:nvPr/>
        </p:nvGraphicFramePr>
        <p:xfrm>
          <a:off x="1838325" y="6018213"/>
          <a:ext cx="2022475" cy="434975"/>
        </p:xfrm>
        <a:graphic>
          <a:graphicData uri="http://schemas.openxmlformats.org/presentationml/2006/ole">
            <p:oleObj spid="_x0000_s22532" name="公式" r:id="rId5" imgW="1117440" imgH="241200" progId="Equation.3">
              <p:embed/>
            </p:oleObj>
          </a:graphicData>
        </a:graphic>
      </p:graphicFrame>
      <p:sp>
        <p:nvSpPr>
          <p:cNvPr id="85137" name="Line 145"/>
          <p:cNvSpPr>
            <a:spLocks noChangeShapeType="1"/>
          </p:cNvSpPr>
          <p:nvPr/>
        </p:nvSpPr>
        <p:spPr bwMode="auto">
          <a:xfrm>
            <a:off x="6011863" y="5356225"/>
            <a:ext cx="2668587" cy="0"/>
          </a:xfrm>
          <a:prstGeom prst="line">
            <a:avLst/>
          </a:prstGeom>
          <a:noFill/>
          <a:ln w="28575">
            <a:solidFill>
              <a:schemeClr val="tx1"/>
            </a:solidFill>
            <a:round/>
            <a:headEnd/>
            <a:tailEnd type="triangle" w="sm" len="lg"/>
          </a:ln>
        </p:spPr>
        <p:txBody>
          <a:bodyPr/>
          <a:lstStyle/>
          <a:p>
            <a:endParaRPr lang="zh-CN" altLang="en-US"/>
          </a:p>
        </p:txBody>
      </p:sp>
      <p:sp>
        <p:nvSpPr>
          <p:cNvPr id="85138" name="Line 146"/>
          <p:cNvSpPr>
            <a:spLocks noChangeShapeType="1"/>
          </p:cNvSpPr>
          <p:nvPr/>
        </p:nvSpPr>
        <p:spPr bwMode="auto">
          <a:xfrm flipV="1">
            <a:off x="6011863" y="3971925"/>
            <a:ext cx="0" cy="1384300"/>
          </a:xfrm>
          <a:prstGeom prst="line">
            <a:avLst/>
          </a:prstGeom>
          <a:noFill/>
          <a:ln w="28575">
            <a:solidFill>
              <a:schemeClr val="tx1"/>
            </a:solidFill>
            <a:round/>
            <a:headEnd/>
            <a:tailEnd type="triangle" w="sm" len="lg"/>
          </a:ln>
        </p:spPr>
        <p:txBody>
          <a:bodyPr/>
          <a:lstStyle/>
          <a:p>
            <a:endParaRPr lang="zh-CN" altLang="en-US"/>
          </a:p>
        </p:txBody>
      </p:sp>
      <p:sp>
        <p:nvSpPr>
          <p:cNvPr id="85139" name="Line 147"/>
          <p:cNvSpPr>
            <a:spLocks noChangeShapeType="1"/>
          </p:cNvSpPr>
          <p:nvPr/>
        </p:nvSpPr>
        <p:spPr bwMode="auto">
          <a:xfrm>
            <a:off x="7770813" y="4513263"/>
            <a:ext cx="0" cy="1323975"/>
          </a:xfrm>
          <a:prstGeom prst="line">
            <a:avLst/>
          </a:prstGeom>
          <a:noFill/>
          <a:ln w="28575">
            <a:solidFill>
              <a:srgbClr val="008000"/>
            </a:solidFill>
            <a:prstDash val="dash"/>
            <a:round/>
            <a:headEnd/>
            <a:tailEnd/>
          </a:ln>
        </p:spPr>
        <p:txBody>
          <a:bodyPr/>
          <a:lstStyle/>
          <a:p>
            <a:endParaRPr lang="zh-CN" altLang="en-US"/>
          </a:p>
        </p:txBody>
      </p:sp>
      <p:sp>
        <p:nvSpPr>
          <p:cNvPr id="85140" name="Line 148"/>
          <p:cNvSpPr>
            <a:spLocks noChangeShapeType="1"/>
          </p:cNvSpPr>
          <p:nvPr/>
        </p:nvSpPr>
        <p:spPr bwMode="auto">
          <a:xfrm>
            <a:off x="6862763" y="4754563"/>
            <a:ext cx="0" cy="962025"/>
          </a:xfrm>
          <a:prstGeom prst="line">
            <a:avLst/>
          </a:prstGeom>
          <a:noFill/>
          <a:ln w="28575">
            <a:solidFill>
              <a:srgbClr val="008000"/>
            </a:solidFill>
            <a:prstDash val="dash"/>
            <a:round/>
            <a:headEnd/>
            <a:tailEnd/>
          </a:ln>
        </p:spPr>
        <p:txBody>
          <a:bodyPr/>
          <a:lstStyle/>
          <a:p>
            <a:endParaRPr lang="zh-CN" altLang="en-US"/>
          </a:p>
        </p:txBody>
      </p:sp>
      <p:grpSp>
        <p:nvGrpSpPr>
          <p:cNvPr id="2" name="Group 149"/>
          <p:cNvGrpSpPr>
            <a:grpSpLocks/>
          </p:cNvGrpSpPr>
          <p:nvPr/>
        </p:nvGrpSpPr>
        <p:grpSpPr bwMode="auto">
          <a:xfrm>
            <a:off x="6867525" y="4513263"/>
            <a:ext cx="1477963" cy="301625"/>
            <a:chOff x="4358" y="2809"/>
            <a:chExt cx="931" cy="190"/>
          </a:xfrm>
        </p:grpSpPr>
        <p:sp>
          <p:nvSpPr>
            <p:cNvPr id="22574" name="Line 150"/>
            <p:cNvSpPr>
              <a:spLocks noChangeShapeType="1"/>
            </p:cNvSpPr>
            <p:nvPr/>
          </p:nvSpPr>
          <p:spPr bwMode="auto">
            <a:xfrm>
              <a:off x="4895" y="2809"/>
              <a:ext cx="358" cy="0"/>
            </a:xfrm>
            <a:prstGeom prst="line">
              <a:avLst/>
            </a:prstGeom>
            <a:noFill/>
            <a:ln w="28575">
              <a:solidFill>
                <a:schemeClr val="tx1"/>
              </a:solidFill>
              <a:round/>
              <a:headEnd/>
              <a:tailEnd/>
            </a:ln>
          </p:spPr>
          <p:txBody>
            <a:bodyPr/>
            <a:lstStyle/>
            <a:p>
              <a:endParaRPr lang="zh-CN" altLang="en-US"/>
            </a:p>
          </p:txBody>
        </p:sp>
        <p:sp>
          <p:nvSpPr>
            <p:cNvPr id="22575" name="Line 151"/>
            <p:cNvSpPr>
              <a:spLocks noChangeShapeType="1"/>
            </p:cNvSpPr>
            <p:nvPr/>
          </p:nvSpPr>
          <p:spPr bwMode="auto">
            <a:xfrm>
              <a:off x="4358" y="2999"/>
              <a:ext cx="931" cy="0"/>
            </a:xfrm>
            <a:prstGeom prst="line">
              <a:avLst/>
            </a:prstGeom>
            <a:noFill/>
            <a:ln w="28575">
              <a:solidFill>
                <a:schemeClr val="tx1"/>
              </a:solidFill>
              <a:round/>
              <a:headEnd/>
              <a:tailEnd/>
            </a:ln>
          </p:spPr>
          <p:txBody>
            <a:bodyPr/>
            <a:lstStyle/>
            <a:p>
              <a:endParaRPr lang="zh-CN" altLang="en-US"/>
            </a:p>
          </p:txBody>
        </p:sp>
        <p:sp>
          <p:nvSpPr>
            <p:cNvPr id="22576" name="Line 152"/>
            <p:cNvSpPr>
              <a:spLocks noChangeShapeType="1"/>
            </p:cNvSpPr>
            <p:nvPr/>
          </p:nvSpPr>
          <p:spPr bwMode="auto">
            <a:xfrm>
              <a:off x="5077" y="2815"/>
              <a:ext cx="3" cy="175"/>
            </a:xfrm>
            <a:prstGeom prst="line">
              <a:avLst/>
            </a:prstGeom>
            <a:noFill/>
            <a:ln w="3175">
              <a:solidFill>
                <a:schemeClr val="tx1"/>
              </a:solidFill>
              <a:round/>
              <a:headEnd type="triangle" w="sm" len="lg"/>
              <a:tailEnd type="triangle" w="sm" len="lg"/>
            </a:ln>
          </p:spPr>
          <p:txBody>
            <a:bodyPr/>
            <a:lstStyle/>
            <a:p>
              <a:endParaRPr lang="zh-CN" altLang="en-US"/>
            </a:p>
          </p:txBody>
        </p:sp>
      </p:grpSp>
      <p:sp>
        <p:nvSpPr>
          <p:cNvPr id="85145" name="Line 153"/>
          <p:cNvSpPr>
            <a:spLocks noChangeShapeType="1"/>
          </p:cNvSpPr>
          <p:nvPr/>
        </p:nvSpPr>
        <p:spPr bwMode="auto">
          <a:xfrm flipV="1">
            <a:off x="7740650" y="4371975"/>
            <a:ext cx="511175" cy="119063"/>
          </a:xfrm>
          <a:prstGeom prst="line">
            <a:avLst/>
          </a:prstGeom>
          <a:noFill/>
          <a:ln w="28575">
            <a:solidFill>
              <a:srgbClr val="0000FF"/>
            </a:solidFill>
            <a:round/>
            <a:headEnd/>
            <a:tailEnd type="triangle" w="sm" len="lg"/>
          </a:ln>
        </p:spPr>
        <p:txBody>
          <a:bodyPr/>
          <a:lstStyle/>
          <a:p>
            <a:endParaRPr lang="zh-CN" altLang="en-US"/>
          </a:p>
        </p:txBody>
      </p:sp>
      <p:sp>
        <p:nvSpPr>
          <p:cNvPr id="85146" name="Line 154"/>
          <p:cNvSpPr>
            <a:spLocks noChangeShapeType="1"/>
          </p:cNvSpPr>
          <p:nvPr/>
        </p:nvSpPr>
        <p:spPr bwMode="auto">
          <a:xfrm flipH="1">
            <a:off x="6350000" y="4754563"/>
            <a:ext cx="512763" cy="180975"/>
          </a:xfrm>
          <a:prstGeom prst="line">
            <a:avLst/>
          </a:prstGeom>
          <a:noFill/>
          <a:ln w="28575">
            <a:solidFill>
              <a:srgbClr val="0000FF"/>
            </a:solidFill>
            <a:round/>
            <a:headEnd/>
            <a:tailEnd type="triangle" w="sm" len="lg"/>
          </a:ln>
        </p:spPr>
        <p:txBody>
          <a:bodyPr/>
          <a:lstStyle/>
          <a:p>
            <a:endParaRPr lang="zh-CN" altLang="en-US"/>
          </a:p>
        </p:txBody>
      </p:sp>
      <p:sp>
        <p:nvSpPr>
          <p:cNvPr id="85147" name="Text Box 155"/>
          <p:cNvSpPr txBox="1">
            <a:spLocks noChangeArrowheads="1"/>
          </p:cNvSpPr>
          <p:nvPr/>
        </p:nvSpPr>
        <p:spPr bwMode="auto">
          <a:xfrm>
            <a:off x="5724525" y="5276850"/>
            <a:ext cx="471488" cy="457200"/>
          </a:xfrm>
          <a:prstGeom prst="rect">
            <a:avLst/>
          </a:prstGeom>
          <a:noFill/>
          <a:ln w="28575">
            <a:noFill/>
            <a:miter lim="800000"/>
            <a:headEnd/>
            <a:tailEnd/>
          </a:ln>
        </p:spPr>
        <p:txBody>
          <a:bodyPr>
            <a:spAutoFit/>
          </a:bodyPr>
          <a:lstStyle/>
          <a:p>
            <a:pPr algn="ctr" eaLnBrk="0" hangingPunct="0">
              <a:spcBef>
                <a:spcPct val="50000"/>
              </a:spcBef>
            </a:pPr>
            <a:r>
              <a:rPr lang="en-US" altLang="zh-CN" b="1" i="1"/>
              <a:t>O</a:t>
            </a:r>
          </a:p>
        </p:txBody>
      </p:sp>
      <p:sp>
        <p:nvSpPr>
          <p:cNvPr id="85148" name="Text Box 156"/>
          <p:cNvSpPr txBox="1">
            <a:spLocks noChangeArrowheads="1"/>
          </p:cNvSpPr>
          <p:nvPr/>
        </p:nvSpPr>
        <p:spPr bwMode="auto">
          <a:xfrm>
            <a:off x="8624888" y="5175250"/>
            <a:ext cx="339725" cy="457200"/>
          </a:xfrm>
          <a:prstGeom prst="rect">
            <a:avLst/>
          </a:prstGeom>
          <a:noFill/>
          <a:ln w="28575">
            <a:noFill/>
            <a:miter lim="800000"/>
            <a:headEnd/>
            <a:tailEnd/>
          </a:ln>
        </p:spPr>
        <p:txBody>
          <a:bodyPr>
            <a:spAutoFit/>
          </a:bodyPr>
          <a:lstStyle/>
          <a:p>
            <a:pPr algn="ctr" eaLnBrk="0" hangingPunct="0">
              <a:spcBef>
                <a:spcPct val="50000"/>
              </a:spcBef>
            </a:pPr>
            <a:r>
              <a:rPr lang="en-US" altLang="zh-CN" b="1" i="1"/>
              <a:t>x</a:t>
            </a:r>
          </a:p>
        </p:txBody>
      </p:sp>
      <p:sp>
        <p:nvSpPr>
          <p:cNvPr id="85149" name="Text Box 157"/>
          <p:cNvSpPr txBox="1">
            <a:spLocks noChangeArrowheads="1"/>
          </p:cNvSpPr>
          <p:nvPr/>
        </p:nvSpPr>
        <p:spPr bwMode="auto">
          <a:xfrm>
            <a:off x="5795963" y="3627438"/>
            <a:ext cx="341312" cy="457200"/>
          </a:xfrm>
          <a:prstGeom prst="rect">
            <a:avLst/>
          </a:prstGeom>
          <a:noFill/>
          <a:ln w="28575">
            <a:noFill/>
            <a:miter lim="800000"/>
            <a:headEnd/>
            <a:tailEnd/>
          </a:ln>
        </p:spPr>
        <p:txBody>
          <a:bodyPr>
            <a:spAutoFit/>
          </a:bodyPr>
          <a:lstStyle/>
          <a:p>
            <a:pPr algn="ctr" eaLnBrk="0" hangingPunct="0">
              <a:spcBef>
                <a:spcPct val="50000"/>
              </a:spcBef>
            </a:pPr>
            <a:r>
              <a:rPr lang="en-US" altLang="zh-CN" b="1" i="1"/>
              <a:t>y</a:t>
            </a:r>
          </a:p>
        </p:txBody>
      </p:sp>
      <p:graphicFrame>
        <p:nvGraphicFramePr>
          <p:cNvPr id="85150" name="Object 158"/>
          <p:cNvGraphicFramePr>
            <a:graphicFrameLocks noChangeAspect="1"/>
          </p:cNvGraphicFramePr>
          <p:nvPr/>
        </p:nvGraphicFramePr>
        <p:xfrm>
          <a:off x="1174750" y="4597400"/>
          <a:ext cx="3100388" cy="730250"/>
        </p:xfrm>
        <a:graphic>
          <a:graphicData uri="http://schemas.openxmlformats.org/presentationml/2006/ole">
            <p:oleObj spid="_x0000_s22533" name="公式" r:id="rId6" imgW="1765080" imgH="406080" progId="Equation.3">
              <p:embed/>
            </p:oleObj>
          </a:graphicData>
        </a:graphic>
      </p:graphicFrame>
      <p:sp>
        <p:nvSpPr>
          <p:cNvPr id="85151" name="Text Box 159"/>
          <p:cNvSpPr txBox="1">
            <a:spLocks noChangeArrowheads="1"/>
          </p:cNvSpPr>
          <p:nvPr/>
        </p:nvSpPr>
        <p:spPr bwMode="auto">
          <a:xfrm>
            <a:off x="752475" y="4060825"/>
            <a:ext cx="2667000" cy="457200"/>
          </a:xfrm>
          <a:prstGeom prst="rect">
            <a:avLst/>
          </a:prstGeom>
          <a:noFill/>
          <a:ln w="9525">
            <a:noFill/>
            <a:miter lim="800000"/>
            <a:headEnd/>
            <a:tailEnd/>
          </a:ln>
        </p:spPr>
        <p:txBody>
          <a:bodyPr>
            <a:spAutoFit/>
          </a:bodyPr>
          <a:lstStyle/>
          <a:p>
            <a:pPr eaLnBrk="0" hangingPunct="0">
              <a:spcBef>
                <a:spcPct val="50000"/>
              </a:spcBef>
            </a:pPr>
            <a:r>
              <a:rPr lang="zh-CN" altLang="en-US" b="1">
                <a:solidFill>
                  <a:srgbClr val="FF6600"/>
                </a:solidFill>
                <a:latin typeface="宋体" pitchFamily="2" charset="-122"/>
                <a:ea typeface="楷体_GB2312" pitchFamily="49" charset="-122"/>
              </a:rPr>
              <a:t>线元的动能为</a:t>
            </a:r>
            <a:endParaRPr lang="zh-CN" altLang="en-US" b="1">
              <a:solidFill>
                <a:srgbClr val="FF6600"/>
              </a:solidFill>
              <a:ea typeface="楷体_GB2312" pitchFamily="49" charset="-122"/>
            </a:endParaRPr>
          </a:p>
        </p:txBody>
      </p:sp>
      <p:sp>
        <p:nvSpPr>
          <p:cNvPr id="85152" name="Rectangle 160"/>
          <p:cNvSpPr>
            <a:spLocks noChangeArrowheads="1"/>
          </p:cNvSpPr>
          <p:nvPr/>
        </p:nvSpPr>
        <p:spPr bwMode="auto">
          <a:xfrm>
            <a:off x="742950" y="5411788"/>
            <a:ext cx="5124450" cy="457200"/>
          </a:xfrm>
          <a:prstGeom prst="rect">
            <a:avLst/>
          </a:prstGeom>
          <a:noFill/>
          <a:ln w="9525">
            <a:noFill/>
            <a:miter lim="800000"/>
            <a:headEnd/>
            <a:tailEnd/>
          </a:ln>
        </p:spPr>
        <p:txBody>
          <a:bodyPr>
            <a:spAutoFit/>
          </a:bodyPr>
          <a:lstStyle/>
          <a:p>
            <a:pPr eaLnBrk="0" hangingPunct="0"/>
            <a:r>
              <a:rPr lang="zh-CN" altLang="en-US" b="1">
                <a:solidFill>
                  <a:srgbClr val="FF6600"/>
                </a:solidFill>
                <a:latin typeface="宋体" pitchFamily="2" charset="-122"/>
                <a:ea typeface="楷体_GB2312" pitchFamily="49" charset="-122"/>
              </a:rPr>
              <a:t>线元的</a:t>
            </a:r>
            <a:r>
              <a:rPr lang="zh-CN" altLang="en-US" b="1">
                <a:solidFill>
                  <a:srgbClr val="FF6600"/>
                </a:solidFill>
                <a:ea typeface="楷体_GB2312" pitchFamily="49" charset="-122"/>
              </a:rPr>
              <a:t>势能</a:t>
            </a:r>
            <a:r>
              <a:rPr lang="zh-CN" altLang="en-US" b="1">
                <a:solidFill>
                  <a:srgbClr val="FF6600"/>
                </a:solidFill>
                <a:latin typeface="宋体" pitchFamily="2" charset="-122"/>
                <a:ea typeface="楷体_GB2312" pitchFamily="49" charset="-122"/>
              </a:rPr>
              <a:t>（原长为势能零点）为</a:t>
            </a:r>
          </a:p>
        </p:txBody>
      </p:sp>
      <p:sp>
        <p:nvSpPr>
          <p:cNvPr id="85153" name="Rectangle 161"/>
          <p:cNvSpPr>
            <a:spLocks noChangeArrowheads="1"/>
          </p:cNvSpPr>
          <p:nvPr/>
        </p:nvSpPr>
        <p:spPr bwMode="auto">
          <a:xfrm>
            <a:off x="4527550" y="4735513"/>
            <a:ext cx="490538" cy="457200"/>
          </a:xfrm>
          <a:prstGeom prst="rect">
            <a:avLst/>
          </a:prstGeom>
          <a:noFill/>
          <a:ln w="9525">
            <a:noFill/>
            <a:miter lim="800000"/>
            <a:headEnd/>
            <a:tailEnd/>
          </a:ln>
        </p:spPr>
        <p:txBody>
          <a:bodyPr wrap="none">
            <a:spAutoFit/>
          </a:bodyPr>
          <a:lstStyle/>
          <a:p>
            <a:pPr algn="ctr"/>
            <a:r>
              <a:rPr lang="en-US" altLang="zh-CN" b="1">
                <a:latin typeface="宋体" pitchFamily="2" charset="-122"/>
              </a:rPr>
              <a:t>①</a:t>
            </a:r>
          </a:p>
        </p:txBody>
      </p:sp>
      <p:pic>
        <p:nvPicPr>
          <p:cNvPr id="85154" name="Picture 162" descr="enegy"/>
          <p:cNvPicPr>
            <a:picLocks noChangeAspect="1" noChangeArrowheads="1"/>
          </p:cNvPicPr>
          <p:nvPr/>
        </p:nvPicPr>
        <p:blipFill>
          <a:blip r:embed="rId7">
            <a:clrChange>
              <a:clrFrom>
                <a:srgbClr val="336598"/>
              </a:clrFrom>
              <a:clrTo>
                <a:srgbClr val="336598">
                  <a:alpha val="0"/>
                </a:srgbClr>
              </a:clrTo>
            </a:clrChange>
            <a:lum bright="-18000"/>
          </a:blip>
          <a:srcRect l="12550" t="12866" r="20796" b="21014"/>
          <a:stretch>
            <a:fillRect/>
          </a:stretch>
        </p:blipFill>
        <p:spPr bwMode="auto">
          <a:xfrm>
            <a:off x="6329363" y="4264025"/>
            <a:ext cx="1681162" cy="1514475"/>
          </a:xfrm>
          <a:prstGeom prst="rect">
            <a:avLst/>
          </a:prstGeom>
          <a:noFill/>
          <a:ln w="9525">
            <a:noFill/>
            <a:miter lim="800000"/>
            <a:headEnd/>
            <a:tailEnd/>
          </a:ln>
        </p:spPr>
      </p:pic>
      <p:sp>
        <p:nvSpPr>
          <p:cNvPr id="85155" name="Text Box 163"/>
          <p:cNvSpPr txBox="1">
            <a:spLocks noChangeArrowheads="1"/>
          </p:cNvSpPr>
          <p:nvPr/>
        </p:nvSpPr>
        <p:spPr bwMode="auto">
          <a:xfrm>
            <a:off x="5826125" y="4694238"/>
            <a:ext cx="762000" cy="396875"/>
          </a:xfrm>
          <a:prstGeom prst="rect">
            <a:avLst/>
          </a:prstGeom>
          <a:noFill/>
          <a:ln w="28575">
            <a:noFill/>
            <a:miter lim="800000"/>
            <a:headEnd/>
            <a:tailEnd/>
          </a:ln>
        </p:spPr>
        <p:txBody>
          <a:bodyPr>
            <a:spAutoFit/>
          </a:bodyPr>
          <a:lstStyle/>
          <a:p>
            <a:pPr algn="ctr">
              <a:spcBef>
                <a:spcPct val="50000"/>
              </a:spcBef>
            </a:pPr>
            <a:r>
              <a:rPr lang="en-US" altLang="zh-CN" sz="2000" b="1" i="1">
                <a:solidFill>
                  <a:srgbClr val="3333CC"/>
                </a:solidFill>
              </a:rPr>
              <a:t>T</a:t>
            </a:r>
            <a:r>
              <a:rPr lang="en-US" altLang="zh-CN" sz="2000" b="1" baseline="-25000">
                <a:solidFill>
                  <a:srgbClr val="3333CC"/>
                </a:solidFill>
              </a:rPr>
              <a:t>2</a:t>
            </a:r>
          </a:p>
        </p:txBody>
      </p:sp>
      <p:sp>
        <p:nvSpPr>
          <p:cNvPr id="85156" name="Text Box 164"/>
          <p:cNvSpPr txBox="1">
            <a:spLocks noChangeArrowheads="1"/>
          </p:cNvSpPr>
          <p:nvPr/>
        </p:nvSpPr>
        <p:spPr bwMode="auto">
          <a:xfrm>
            <a:off x="7993063" y="4060825"/>
            <a:ext cx="762000" cy="396875"/>
          </a:xfrm>
          <a:prstGeom prst="rect">
            <a:avLst/>
          </a:prstGeom>
          <a:noFill/>
          <a:ln w="28575">
            <a:noFill/>
            <a:miter lim="800000"/>
            <a:headEnd/>
            <a:tailEnd/>
          </a:ln>
        </p:spPr>
        <p:txBody>
          <a:bodyPr>
            <a:spAutoFit/>
          </a:bodyPr>
          <a:lstStyle/>
          <a:p>
            <a:pPr algn="ctr">
              <a:spcBef>
                <a:spcPct val="50000"/>
              </a:spcBef>
            </a:pPr>
            <a:r>
              <a:rPr lang="en-US" altLang="zh-CN" sz="2000" b="1" i="1">
                <a:solidFill>
                  <a:srgbClr val="3333CC"/>
                </a:solidFill>
              </a:rPr>
              <a:t>T</a:t>
            </a:r>
            <a:r>
              <a:rPr lang="en-US" altLang="zh-CN" sz="2000" b="1" baseline="-25000">
                <a:solidFill>
                  <a:srgbClr val="3333CC"/>
                </a:solidFill>
              </a:rPr>
              <a:t>1</a:t>
            </a:r>
          </a:p>
        </p:txBody>
      </p:sp>
      <p:grpSp>
        <p:nvGrpSpPr>
          <p:cNvPr id="3" name="Group 165"/>
          <p:cNvGrpSpPr>
            <a:grpSpLocks/>
          </p:cNvGrpSpPr>
          <p:nvPr/>
        </p:nvGrpSpPr>
        <p:grpSpPr bwMode="auto">
          <a:xfrm>
            <a:off x="6748463" y="4052888"/>
            <a:ext cx="965200" cy="641350"/>
            <a:chOff x="4115" y="2092"/>
            <a:chExt cx="608" cy="404"/>
          </a:xfrm>
        </p:grpSpPr>
        <p:sp>
          <p:nvSpPr>
            <p:cNvPr id="22570" name="Line 166"/>
            <p:cNvSpPr>
              <a:spLocks noChangeShapeType="1"/>
            </p:cNvSpPr>
            <p:nvPr/>
          </p:nvSpPr>
          <p:spPr bwMode="auto">
            <a:xfrm flipH="1" flipV="1">
              <a:off x="4652" y="2155"/>
              <a:ext cx="71" cy="189"/>
            </a:xfrm>
            <a:prstGeom prst="line">
              <a:avLst/>
            </a:prstGeom>
            <a:noFill/>
            <a:ln w="28575">
              <a:solidFill>
                <a:schemeClr val="tx1"/>
              </a:solidFill>
              <a:round/>
              <a:headEnd/>
              <a:tailEnd/>
            </a:ln>
          </p:spPr>
          <p:txBody>
            <a:bodyPr/>
            <a:lstStyle/>
            <a:p>
              <a:endParaRPr lang="zh-CN" altLang="en-US"/>
            </a:p>
          </p:txBody>
        </p:sp>
        <p:sp>
          <p:nvSpPr>
            <p:cNvPr id="22571" name="Line 167"/>
            <p:cNvSpPr>
              <a:spLocks noChangeShapeType="1"/>
            </p:cNvSpPr>
            <p:nvPr/>
          </p:nvSpPr>
          <p:spPr bwMode="auto">
            <a:xfrm rot="190356" flipH="1" flipV="1">
              <a:off x="4115" y="2344"/>
              <a:ext cx="72" cy="152"/>
            </a:xfrm>
            <a:prstGeom prst="line">
              <a:avLst/>
            </a:prstGeom>
            <a:noFill/>
            <a:ln w="28575">
              <a:solidFill>
                <a:schemeClr val="tx1"/>
              </a:solidFill>
              <a:round/>
              <a:headEnd/>
              <a:tailEnd/>
            </a:ln>
          </p:spPr>
          <p:txBody>
            <a:bodyPr/>
            <a:lstStyle/>
            <a:p>
              <a:endParaRPr lang="zh-CN" altLang="en-US"/>
            </a:p>
          </p:txBody>
        </p:sp>
        <p:sp>
          <p:nvSpPr>
            <p:cNvPr id="22572" name="Line 168"/>
            <p:cNvSpPr>
              <a:spLocks noChangeShapeType="1"/>
            </p:cNvSpPr>
            <p:nvPr/>
          </p:nvSpPr>
          <p:spPr bwMode="auto">
            <a:xfrm flipV="1">
              <a:off x="4151" y="2231"/>
              <a:ext cx="537" cy="189"/>
            </a:xfrm>
            <a:prstGeom prst="line">
              <a:avLst/>
            </a:prstGeom>
            <a:noFill/>
            <a:ln w="28575">
              <a:solidFill>
                <a:schemeClr val="tx1"/>
              </a:solidFill>
              <a:round/>
              <a:headEnd type="triangle" w="sm" len="lg"/>
              <a:tailEnd type="triangle" w="sm" len="lg"/>
            </a:ln>
          </p:spPr>
          <p:txBody>
            <a:bodyPr/>
            <a:lstStyle/>
            <a:p>
              <a:endParaRPr lang="zh-CN" altLang="en-US"/>
            </a:p>
          </p:txBody>
        </p:sp>
        <p:sp>
          <p:nvSpPr>
            <p:cNvPr id="22573" name="Text Box 169"/>
            <p:cNvSpPr txBox="1">
              <a:spLocks noChangeArrowheads="1"/>
            </p:cNvSpPr>
            <p:nvPr/>
          </p:nvSpPr>
          <p:spPr bwMode="auto">
            <a:xfrm>
              <a:off x="4224" y="2092"/>
              <a:ext cx="288" cy="212"/>
            </a:xfrm>
            <a:prstGeom prst="rect">
              <a:avLst/>
            </a:prstGeom>
            <a:noFill/>
            <a:ln w="28575">
              <a:noFill/>
              <a:miter lim="800000"/>
              <a:headEnd/>
              <a:tailEnd/>
            </a:ln>
          </p:spPr>
          <p:txBody>
            <a:bodyPr>
              <a:spAutoFit/>
            </a:bodyPr>
            <a:lstStyle/>
            <a:p>
              <a:pPr algn="ctr">
                <a:spcBef>
                  <a:spcPct val="50000"/>
                </a:spcBef>
              </a:pPr>
              <a:r>
                <a:rPr lang="en-US" altLang="zh-CN" b="1" baseline="-25000">
                  <a:solidFill>
                    <a:srgbClr val="990099"/>
                  </a:solidFill>
                </a:rPr>
                <a:t>d</a:t>
              </a:r>
              <a:r>
                <a:rPr lang="en-US" altLang="zh-CN" b="1" i="1" baseline="-25000">
                  <a:solidFill>
                    <a:srgbClr val="990099"/>
                  </a:solidFill>
                </a:rPr>
                <a:t>l</a:t>
              </a:r>
            </a:p>
          </p:txBody>
        </p:sp>
      </p:grpSp>
      <p:sp>
        <p:nvSpPr>
          <p:cNvPr id="85162" name="Text Box 170"/>
          <p:cNvSpPr txBox="1">
            <a:spLocks noChangeArrowheads="1"/>
          </p:cNvSpPr>
          <p:nvPr/>
        </p:nvSpPr>
        <p:spPr bwMode="auto">
          <a:xfrm>
            <a:off x="7835900" y="4406900"/>
            <a:ext cx="914400" cy="336550"/>
          </a:xfrm>
          <a:prstGeom prst="rect">
            <a:avLst/>
          </a:prstGeom>
          <a:noFill/>
          <a:ln w="28575">
            <a:noFill/>
            <a:miter lim="800000"/>
            <a:headEnd/>
            <a:tailEnd/>
          </a:ln>
        </p:spPr>
        <p:txBody>
          <a:bodyPr>
            <a:spAutoFit/>
          </a:bodyPr>
          <a:lstStyle/>
          <a:p>
            <a:pPr algn="ctr">
              <a:spcBef>
                <a:spcPct val="50000"/>
              </a:spcBef>
            </a:pPr>
            <a:r>
              <a:rPr lang="en-US" altLang="zh-CN" b="1" baseline="-25000">
                <a:solidFill>
                  <a:srgbClr val="990099"/>
                </a:solidFill>
              </a:rPr>
              <a:t>d</a:t>
            </a:r>
            <a:r>
              <a:rPr lang="en-US" altLang="zh-CN" b="1" i="1" baseline="-25000">
                <a:solidFill>
                  <a:srgbClr val="990099"/>
                </a:solidFill>
              </a:rPr>
              <a:t>y</a:t>
            </a:r>
          </a:p>
        </p:txBody>
      </p:sp>
      <p:grpSp>
        <p:nvGrpSpPr>
          <p:cNvPr id="4" name="Group 171"/>
          <p:cNvGrpSpPr>
            <a:grpSpLocks/>
          </p:cNvGrpSpPr>
          <p:nvPr/>
        </p:nvGrpSpPr>
        <p:grpSpPr bwMode="auto">
          <a:xfrm>
            <a:off x="6862763" y="5356225"/>
            <a:ext cx="911225" cy="360363"/>
            <a:chOff x="4187" y="2913"/>
            <a:chExt cx="574" cy="227"/>
          </a:xfrm>
        </p:grpSpPr>
        <p:sp>
          <p:nvSpPr>
            <p:cNvPr id="22567" name="Line 172"/>
            <p:cNvSpPr>
              <a:spLocks noChangeShapeType="1"/>
            </p:cNvSpPr>
            <p:nvPr/>
          </p:nvSpPr>
          <p:spPr bwMode="auto">
            <a:xfrm>
              <a:off x="4222" y="2913"/>
              <a:ext cx="0" cy="0"/>
            </a:xfrm>
            <a:prstGeom prst="line">
              <a:avLst/>
            </a:prstGeom>
            <a:noFill/>
            <a:ln w="28575">
              <a:solidFill>
                <a:schemeClr val="bg1"/>
              </a:solidFill>
              <a:round/>
              <a:headEnd/>
              <a:tailEnd/>
            </a:ln>
          </p:spPr>
          <p:txBody>
            <a:bodyPr/>
            <a:lstStyle/>
            <a:p>
              <a:endParaRPr lang="zh-CN" altLang="en-US"/>
            </a:p>
          </p:txBody>
        </p:sp>
        <p:sp>
          <p:nvSpPr>
            <p:cNvPr id="22568" name="Line 173"/>
            <p:cNvSpPr>
              <a:spLocks noChangeShapeType="1"/>
            </p:cNvSpPr>
            <p:nvPr/>
          </p:nvSpPr>
          <p:spPr bwMode="auto">
            <a:xfrm flipH="1">
              <a:off x="4187" y="2989"/>
              <a:ext cx="574" cy="0"/>
            </a:xfrm>
            <a:prstGeom prst="line">
              <a:avLst/>
            </a:prstGeom>
            <a:noFill/>
            <a:ln w="28575">
              <a:solidFill>
                <a:schemeClr val="tx1"/>
              </a:solidFill>
              <a:round/>
              <a:headEnd type="triangle" w="sm" len="lg"/>
              <a:tailEnd type="triangle" w="sm" len="lg"/>
            </a:ln>
          </p:spPr>
          <p:txBody>
            <a:bodyPr/>
            <a:lstStyle/>
            <a:p>
              <a:endParaRPr lang="zh-CN" altLang="en-US"/>
            </a:p>
          </p:txBody>
        </p:sp>
        <p:sp>
          <p:nvSpPr>
            <p:cNvPr id="22569" name="Text Box 174"/>
            <p:cNvSpPr txBox="1">
              <a:spLocks noChangeArrowheads="1"/>
            </p:cNvSpPr>
            <p:nvPr/>
          </p:nvSpPr>
          <p:spPr bwMode="auto">
            <a:xfrm>
              <a:off x="4272" y="2928"/>
              <a:ext cx="432" cy="212"/>
            </a:xfrm>
            <a:prstGeom prst="rect">
              <a:avLst/>
            </a:prstGeom>
            <a:noFill/>
            <a:ln w="28575">
              <a:noFill/>
              <a:miter lim="800000"/>
              <a:headEnd/>
              <a:tailEnd/>
            </a:ln>
          </p:spPr>
          <p:txBody>
            <a:bodyPr>
              <a:spAutoFit/>
            </a:bodyPr>
            <a:lstStyle/>
            <a:p>
              <a:pPr algn="ctr">
                <a:spcBef>
                  <a:spcPct val="50000"/>
                </a:spcBef>
              </a:pPr>
              <a:r>
                <a:rPr lang="en-US" altLang="zh-CN" b="1" baseline="-25000">
                  <a:solidFill>
                    <a:srgbClr val="990099"/>
                  </a:solidFill>
                </a:rPr>
                <a:t>d</a:t>
              </a:r>
              <a:r>
                <a:rPr lang="en-US" altLang="zh-CN" b="1" i="1" baseline="-25000">
                  <a:solidFill>
                    <a:srgbClr val="990099"/>
                  </a:solidFill>
                </a:rPr>
                <a:t>x</a:t>
              </a:r>
            </a:p>
          </p:txBody>
        </p:sp>
      </p:grpSp>
      <p:graphicFrame>
        <p:nvGraphicFramePr>
          <p:cNvPr id="85167" name="Object 175"/>
          <p:cNvGraphicFramePr>
            <a:graphicFrameLocks noChangeAspect="1"/>
          </p:cNvGraphicFramePr>
          <p:nvPr/>
        </p:nvGraphicFramePr>
        <p:xfrm>
          <a:off x="6973888" y="3686175"/>
          <a:ext cx="331787" cy="320675"/>
        </p:xfrm>
        <a:graphic>
          <a:graphicData uri="http://schemas.openxmlformats.org/presentationml/2006/ole">
            <p:oleObj spid="_x0000_s22534" name="公式" r:id="rId8" imgW="139680" imgH="177480" progId="Equation.3">
              <p:embed/>
            </p:oleObj>
          </a:graphicData>
        </a:graphic>
      </p:graphicFrame>
      <p:sp>
        <p:nvSpPr>
          <p:cNvPr id="85168" name="Line 176"/>
          <p:cNvSpPr>
            <a:spLocks noChangeShapeType="1"/>
          </p:cNvSpPr>
          <p:nvPr/>
        </p:nvSpPr>
        <p:spPr bwMode="auto">
          <a:xfrm>
            <a:off x="6467475" y="3927475"/>
            <a:ext cx="528638" cy="0"/>
          </a:xfrm>
          <a:prstGeom prst="line">
            <a:avLst/>
          </a:prstGeom>
          <a:noFill/>
          <a:ln w="28575">
            <a:solidFill>
              <a:srgbClr val="FF0000"/>
            </a:solidFill>
            <a:round/>
            <a:headEnd/>
            <a:tailEnd type="triangle" w="sm" len="lg"/>
          </a:ln>
        </p:spPr>
        <p:txBody>
          <a:bodyPr/>
          <a:lstStyle/>
          <a:p>
            <a:endParaRPr lang="zh-CN" altLang="en-US"/>
          </a:p>
        </p:txBody>
      </p:sp>
      <p:sp>
        <p:nvSpPr>
          <p:cNvPr id="85169" name="Rectangle 177"/>
          <p:cNvSpPr>
            <a:spLocks noChangeArrowheads="1"/>
          </p:cNvSpPr>
          <p:nvPr/>
        </p:nvSpPr>
        <p:spPr bwMode="auto">
          <a:xfrm>
            <a:off x="755650" y="3492500"/>
            <a:ext cx="1855788" cy="457200"/>
          </a:xfrm>
          <a:prstGeom prst="rect">
            <a:avLst/>
          </a:prstGeom>
          <a:noFill/>
          <a:ln w="9525" algn="ctr">
            <a:noFill/>
            <a:miter lim="800000"/>
            <a:headEnd/>
            <a:tailEnd/>
          </a:ln>
        </p:spPr>
        <p:txBody>
          <a:bodyPr>
            <a:spAutoFit/>
          </a:bodyPr>
          <a:lstStyle/>
          <a:p>
            <a:r>
              <a:rPr lang="zh-CN" altLang="en-US" b="1">
                <a:ea typeface="楷体_GB2312" pitchFamily="49" charset="-122"/>
              </a:rPr>
              <a:t>取线元：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996"/>
                                        </p:tgtEl>
                                        <p:attrNameLst>
                                          <p:attrName>style.visibility</p:attrName>
                                        </p:attrNameLst>
                                      </p:cBhvr>
                                      <p:to>
                                        <p:strVal val="visible"/>
                                      </p:to>
                                    </p:set>
                                    <p:animEffect transition="in" filter="wipe(left)">
                                      <p:cBhvr>
                                        <p:cTn id="7" dur="500"/>
                                        <p:tgtEl>
                                          <p:spTgt spid="8499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iterate type="wd">
                                    <p:tmPct val="100000"/>
                                  </p:iterate>
                                  <p:childTnLst>
                                    <p:set>
                                      <p:cBhvr>
                                        <p:cTn id="11" dur="1" fill="hold">
                                          <p:stCondLst>
                                            <p:cond delay="0"/>
                                          </p:stCondLst>
                                        </p:cTn>
                                        <p:tgtEl>
                                          <p:spTgt spid="85080"/>
                                        </p:tgtEl>
                                        <p:attrNameLst>
                                          <p:attrName>style.visibility</p:attrName>
                                        </p:attrNameLst>
                                      </p:cBhvr>
                                      <p:to>
                                        <p:strVal val="visible"/>
                                      </p:to>
                                    </p:set>
                                    <p:animEffect transition="in" filter="slide(fromLeft)">
                                      <p:cBhvr>
                                        <p:cTn id="12" dur="300"/>
                                        <p:tgtEl>
                                          <p:spTgt spid="8508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5085"/>
                                        </p:tgtEl>
                                        <p:attrNameLst>
                                          <p:attrName>style.visibility</p:attrName>
                                        </p:attrNameLst>
                                      </p:cBhvr>
                                      <p:to>
                                        <p:strVal val="visible"/>
                                      </p:to>
                                    </p:set>
                                    <p:animEffect transition="in" filter="wipe(left)">
                                      <p:cBhvr>
                                        <p:cTn id="17" dur="500"/>
                                        <p:tgtEl>
                                          <p:spTgt spid="8508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5081"/>
                                        </p:tgtEl>
                                        <p:attrNameLst>
                                          <p:attrName>style.visibility</p:attrName>
                                        </p:attrNameLst>
                                      </p:cBhvr>
                                      <p:to>
                                        <p:strVal val="visible"/>
                                      </p:to>
                                    </p:set>
                                    <p:animEffect transition="in" filter="wipe(left)">
                                      <p:cBhvr>
                                        <p:cTn id="22" dur="500"/>
                                        <p:tgtEl>
                                          <p:spTgt spid="8508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5082"/>
                                        </p:tgtEl>
                                        <p:attrNameLst>
                                          <p:attrName>style.visibility</p:attrName>
                                        </p:attrNameLst>
                                      </p:cBhvr>
                                      <p:to>
                                        <p:strVal val="visible"/>
                                      </p:to>
                                    </p:set>
                                    <p:animEffect transition="in" filter="wipe(left)">
                                      <p:cBhvr>
                                        <p:cTn id="27" dur="500"/>
                                        <p:tgtEl>
                                          <p:spTgt spid="8508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85084"/>
                                        </p:tgtEl>
                                        <p:attrNameLst>
                                          <p:attrName>style.visibility</p:attrName>
                                        </p:attrNameLst>
                                      </p:cBhvr>
                                      <p:to>
                                        <p:strVal val="visible"/>
                                      </p:to>
                                    </p:set>
                                    <p:animEffect transition="in" filter="wipe(up)">
                                      <p:cBhvr>
                                        <p:cTn id="32" dur="500"/>
                                        <p:tgtEl>
                                          <p:spTgt spid="8508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5086"/>
                                        </p:tgtEl>
                                        <p:attrNameLst>
                                          <p:attrName>style.visibility</p:attrName>
                                        </p:attrNameLst>
                                      </p:cBhvr>
                                      <p:to>
                                        <p:strVal val="visible"/>
                                      </p:to>
                                    </p:set>
                                    <p:animEffect transition="in" filter="wipe(left)">
                                      <p:cBhvr>
                                        <p:cTn id="37" dur="500"/>
                                        <p:tgtEl>
                                          <p:spTgt spid="85086"/>
                                        </p:tgtEl>
                                      </p:cBhvr>
                                    </p:animEffect>
                                  </p:childTnLst>
                                </p:cTn>
                              </p:par>
                            </p:childTnLst>
                          </p:cTn>
                        </p:par>
                      </p:childTnLst>
                    </p:cTn>
                  </p:par>
                  <p:par>
                    <p:cTn id="38" fill="hold">
                      <p:stCondLst>
                        <p:cond delay="indefinite"/>
                      </p:stCondLst>
                      <p:childTnLst>
                        <p:par>
                          <p:cTn id="39" fill="hold">
                            <p:stCondLst>
                              <p:cond delay="0"/>
                            </p:stCondLst>
                            <p:childTnLst>
                              <p:par>
                                <p:cTn id="40" presetID="17" presetClass="entr" presetSubtype="10" fill="hold" nodeType="clickEffect">
                                  <p:stCondLst>
                                    <p:cond delay="0"/>
                                  </p:stCondLst>
                                  <p:iterate type="wd">
                                    <p:tmPct val="100000"/>
                                  </p:iterate>
                                  <p:childTnLst>
                                    <p:set>
                                      <p:cBhvr>
                                        <p:cTn id="41" dur="1" fill="hold">
                                          <p:stCondLst>
                                            <p:cond delay="0"/>
                                          </p:stCondLst>
                                        </p:cTn>
                                        <p:tgtEl>
                                          <p:spTgt spid="85083"/>
                                        </p:tgtEl>
                                        <p:attrNameLst>
                                          <p:attrName>style.visibility</p:attrName>
                                        </p:attrNameLst>
                                      </p:cBhvr>
                                      <p:to>
                                        <p:strVal val="visible"/>
                                      </p:to>
                                    </p:set>
                                    <p:anim calcmode="lin" valueType="num">
                                      <p:cBhvr>
                                        <p:cTn id="42" dur="300" fill="hold"/>
                                        <p:tgtEl>
                                          <p:spTgt spid="85083"/>
                                        </p:tgtEl>
                                        <p:attrNameLst>
                                          <p:attrName>ppt_w</p:attrName>
                                        </p:attrNameLst>
                                      </p:cBhvr>
                                      <p:tavLst>
                                        <p:tav tm="0">
                                          <p:val>
                                            <p:fltVal val="0"/>
                                          </p:val>
                                        </p:tav>
                                        <p:tav tm="100000">
                                          <p:val>
                                            <p:strVal val="#ppt_w"/>
                                          </p:val>
                                        </p:tav>
                                      </p:tavLst>
                                    </p:anim>
                                    <p:anim calcmode="lin" valueType="num">
                                      <p:cBhvr>
                                        <p:cTn id="43" dur="300" fill="hold"/>
                                        <p:tgtEl>
                                          <p:spTgt spid="85083"/>
                                        </p:tgtEl>
                                        <p:attrNameLst>
                                          <p:attrName>ppt_h</p:attrName>
                                        </p:attrNameLst>
                                      </p:cBhvr>
                                      <p:tavLst>
                                        <p:tav tm="0">
                                          <p:val>
                                            <p:strVal val="#ppt_h"/>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85087"/>
                                        </p:tgtEl>
                                        <p:attrNameLst>
                                          <p:attrName>style.visibility</p:attrName>
                                        </p:attrNameLst>
                                      </p:cBhvr>
                                      <p:to>
                                        <p:strVal val="visible"/>
                                      </p:to>
                                    </p:set>
                                    <p:animEffect transition="in" filter="wipe(left)">
                                      <p:cBhvr>
                                        <p:cTn id="48" dur="500"/>
                                        <p:tgtEl>
                                          <p:spTgt spid="8508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iterate type="wd">
                                    <p:tmPct val="100000"/>
                                  </p:iterate>
                                  <p:childTnLst>
                                    <p:set>
                                      <p:cBhvr>
                                        <p:cTn id="52" dur="1" fill="hold">
                                          <p:stCondLst>
                                            <p:cond delay="0"/>
                                          </p:stCondLst>
                                        </p:cTn>
                                        <p:tgtEl>
                                          <p:spTgt spid="85088"/>
                                        </p:tgtEl>
                                        <p:attrNameLst>
                                          <p:attrName>style.visibility</p:attrName>
                                        </p:attrNameLst>
                                      </p:cBhvr>
                                      <p:to>
                                        <p:strVal val="visible"/>
                                      </p:to>
                                    </p:set>
                                    <p:animEffect transition="in" filter="wipe(left)">
                                      <p:cBhvr>
                                        <p:cTn id="53" dur="300"/>
                                        <p:tgtEl>
                                          <p:spTgt spid="8508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85089"/>
                                        </p:tgtEl>
                                        <p:attrNameLst>
                                          <p:attrName>style.visibility</p:attrName>
                                        </p:attrNameLst>
                                      </p:cBhvr>
                                      <p:to>
                                        <p:strVal val="visible"/>
                                      </p:to>
                                    </p:set>
                                    <p:animEffect transition="in" filter="wipe(left)">
                                      <p:cBhvr>
                                        <p:cTn id="58" dur="500"/>
                                        <p:tgtEl>
                                          <p:spTgt spid="85089"/>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85090"/>
                                        </p:tgtEl>
                                        <p:attrNameLst>
                                          <p:attrName>style.visibility</p:attrName>
                                        </p:attrNameLst>
                                      </p:cBhvr>
                                      <p:to>
                                        <p:strVal val="visible"/>
                                      </p:to>
                                    </p:set>
                                    <p:animEffect transition="in" filter="wipe(left)">
                                      <p:cBhvr>
                                        <p:cTn id="63" dur="500"/>
                                        <p:tgtEl>
                                          <p:spTgt spid="85090"/>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85169"/>
                                        </p:tgtEl>
                                        <p:attrNameLst>
                                          <p:attrName>style.visibility</p:attrName>
                                        </p:attrNameLst>
                                      </p:cBhvr>
                                      <p:to>
                                        <p:strVal val="visible"/>
                                      </p:to>
                                    </p:set>
                                    <p:animEffect transition="in" filter="wipe(left)">
                                      <p:cBhvr>
                                        <p:cTn id="68" dur="500"/>
                                        <p:tgtEl>
                                          <p:spTgt spid="85169"/>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85135"/>
                                        </p:tgtEl>
                                        <p:attrNameLst>
                                          <p:attrName>style.visibility</p:attrName>
                                        </p:attrNameLst>
                                      </p:cBhvr>
                                      <p:to>
                                        <p:strVal val="visible"/>
                                      </p:to>
                                    </p:set>
                                    <p:animEffect transition="in" filter="wipe(left)">
                                      <p:cBhvr>
                                        <p:cTn id="73" dur="500"/>
                                        <p:tgtEl>
                                          <p:spTgt spid="85135"/>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499"/>
                                          </p:stCondLst>
                                        </p:cTn>
                                        <p:tgtEl>
                                          <p:spTgt spid="85151"/>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85150"/>
                                        </p:tgtEl>
                                        <p:attrNameLst>
                                          <p:attrName>style.visibility</p:attrName>
                                        </p:attrNameLst>
                                      </p:cBhvr>
                                      <p:to>
                                        <p:strVal val="visible"/>
                                      </p:to>
                                    </p:set>
                                    <p:animEffect transition="in" filter="wipe(left)">
                                      <p:cBhvr>
                                        <p:cTn id="82" dur="500"/>
                                        <p:tgtEl>
                                          <p:spTgt spid="85150"/>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499"/>
                                          </p:stCondLst>
                                        </p:cTn>
                                        <p:tgtEl>
                                          <p:spTgt spid="8515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85137"/>
                                        </p:tgtEl>
                                        <p:attrNameLst>
                                          <p:attrName>style.visibility</p:attrName>
                                        </p:attrNameLst>
                                      </p:cBhvr>
                                      <p:to>
                                        <p:strVal val="visible"/>
                                      </p:to>
                                    </p:set>
                                    <p:animEffect transition="in" filter="wipe(left)">
                                      <p:cBhvr>
                                        <p:cTn id="91" dur="500"/>
                                        <p:tgtEl>
                                          <p:spTgt spid="85137"/>
                                        </p:tgtEl>
                                      </p:cBhvr>
                                    </p:animEffect>
                                  </p:childTnLst>
                                </p:cTn>
                              </p:par>
                            </p:childTnLst>
                          </p:cTn>
                        </p:par>
                        <p:par>
                          <p:cTn id="92" fill="hold">
                            <p:stCondLst>
                              <p:cond delay="500"/>
                            </p:stCondLst>
                            <p:childTnLst>
                              <p:par>
                                <p:cTn id="93" presetID="1" presetClass="entr" presetSubtype="0" fill="hold" grpId="0" nodeType="afterEffect">
                                  <p:stCondLst>
                                    <p:cond delay="0"/>
                                  </p:stCondLst>
                                  <p:childTnLst>
                                    <p:set>
                                      <p:cBhvr>
                                        <p:cTn id="94" dur="1" fill="hold">
                                          <p:stCondLst>
                                            <p:cond delay="499"/>
                                          </p:stCondLst>
                                        </p:cTn>
                                        <p:tgtEl>
                                          <p:spTgt spid="85148"/>
                                        </p:tgtEl>
                                        <p:attrNameLst>
                                          <p:attrName>style.visibility</p:attrName>
                                        </p:attrNameLst>
                                      </p:cBhvr>
                                      <p:to>
                                        <p:strVal val="visible"/>
                                      </p:to>
                                    </p:set>
                                  </p:childTnLst>
                                </p:cTn>
                              </p:par>
                            </p:childTnLst>
                          </p:cTn>
                        </p:par>
                        <p:par>
                          <p:cTn id="95" fill="hold">
                            <p:stCondLst>
                              <p:cond delay="1000"/>
                            </p:stCondLst>
                            <p:childTnLst>
                              <p:par>
                                <p:cTn id="96" presetID="22" presetClass="entr" presetSubtype="4" fill="hold" grpId="0" nodeType="afterEffect">
                                  <p:stCondLst>
                                    <p:cond delay="0"/>
                                  </p:stCondLst>
                                  <p:childTnLst>
                                    <p:set>
                                      <p:cBhvr>
                                        <p:cTn id="97" dur="1" fill="hold">
                                          <p:stCondLst>
                                            <p:cond delay="0"/>
                                          </p:stCondLst>
                                        </p:cTn>
                                        <p:tgtEl>
                                          <p:spTgt spid="85138"/>
                                        </p:tgtEl>
                                        <p:attrNameLst>
                                          <p:attrName>style.visibility</p:attrName>
                                        </p:attrNameLst>
                                      </p:cBhvr>
                                      <p:to>
                                        <p:strVal val="visible"/>
                                      </p:to>
                                    </p:set>
                                    <p:animEffect transition="in" filter="wipe(down)">
                                      <p:cBhvr>
                                        <p:cTn id="98" dur="500"/>
                                        <p:tgtEl>
                                          <p:spTgt spid="85138"/>
                                        </p:tgtEl>
                                      </p:cBhvr>
                                    </p:animEffect>
                                  </p:childTnLst>
                                </p:cTn>
                              </p:par>
                            </p:childTnLst>
                          </p:cTn>
                        </p:par>
                        <p:par>
                          <p:cTn id="99" fill="hold">
                            <p:stCondLst>
                              <p:cond delay="1500"/>
                            </p:stCondLst>
                            <p:childTnLst>
                              <p:par>
                                <p:cTn id="100" presetID="1" presetClass="entr" presetSubtype="0" fill="hold" grpId="0" nodeType="afterEffect">
                                  <p:stCondLst>
                                    <p:cond delay="0"/>
                                  </p:stCondLst>
                                  <p:childTnLst>
                                    <p:set>
                                      <p:cBhvr>
                                        <p:cTn id="101" dur="1" fill="hold">
                                          <p:stCondLst>
                                            <p:cond delay="499"/>
                                          </p:stCondLst>
                                        </p:cTn>
                                        <p:tgtEl>
                                          <p:spTgt spid="85149"/>
                                        </p:tgtEl>
                                        <p:attrNameLst>
                                          <p:attrName>style.visibility</p:attrName>
                                        </p:attrNameLst>
                                      </p:cBhvr>
                                      <p:to>
                                        <p:strVal val="visible"/>
                                      </p:to>
                                    </p:set>
                                  </p:childTnLst>
                                </p:cTn>
                              </p:par>
                            </p:childTnLst>
                          </p:cTn>
                        </p:par>
                        <p:par>
                          <p:cTn id="102" fill="hold">
                            <p:stCondLst>
                              <p:cond delay="2000"/>
                            </p:stCondLst>
                            <p:childTnLst>
                              <p:par>
                                <p:cTn id="103" presetID="1" presetClass="entr" presetSubtype="0" fill="hold" grpId="0" nodeType="afterEffect">
                                  <p:stCondLst>
                                    <p:cond delay="0"/>
                                  </p:stCondLst>
                                  <p:childTnLst>
                                    <p:set>
                                      <p:cBhvr>
                                        <p:cTn id="104" dur="1" fill="hold">
                                          <p:stCondLst>
                                            <p:cond delay="499"/>
                                          </p:stCondLst>
                                        </p:cTn>
                                        <p:tgtEl>
                                          <p:spTgt spid="85147"/>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85168"/>
                                        </p:tgtEl>
                                        <p:attrNameLst>
                                          <p:attrName>style.visibility</p:attrName>
                                        </p:attrNameLst>
                                      </p:cBhvr>
                                      <p:to>
                                        <p:strVal val="visible"/>
                                      </p:to>
                                    </p:set>
                                    <p:animEffect transition="in" filter="wipe(left)">
                                      <p:cBhvr>
                                        <p:cTn id="109" dur="500"/>
                                        <p:tgtEl>
                                          <p:spTgt spid="85168"/>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499"/>
                                          </p:stCondLst>
                                        </p:cTn>
                                        <p:tgtEl>
                                          <p:spTgt spid="85167"/>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nodeType="clickEffect">
                                  <p:stCondLst>
                                    <p:cond delay="0"/>
                                  </p:stCondLst>
                                  <p:childTnLst>
                                    <p:set>
                                      <p:cBhvr>
                                        <p:cTn id="117" dur="1" fill="hold">
                                          <p:stCondLst>
                                            <p:cond delay="499"/>
                                          </p:stCondLst>
                                        </p:cTn>
                                        <p:tgtEl>
                                          <p:spTgt spid="85154"/>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22" presetClass="entr" presetSubtype="1" fill="hold" grpId="0" nodeType="clickEffect">
                                  <p:stCondLst>
                                    <p:cond delay="0"/>
                                  </p:stCondLst>
                                  <p:childTnLst>
                                    <p:set>
                                      <p:cBhvr>
                                        <p:cTn id="121" dur="1" fill="hold">
                                          <p:stCondLst>
                                            <p:cond delay="0"/>
                                          </p:stCondLst>
                                        </p:cTn>
                                        <p:tgtEl>
                                          <p:spTgt spid="85140"/>
                                        </p:tgtEl>
                                        <p:attrNameLst>
                                          <p:attrName>style.visibility</p:attrName>
                                        </p:attrNameLst>
                                      </p:cBhvr>
                                      <p:to>
                                        <p:strVal val="visible"/>
                                      </p:to>
                                    </p:set>
                                    <p:animEffect transition="in" filter="wipe(up)">
                                      <p:cBhvr>
                                        <p:cTn id="122" dur="500"/>
                                        <p:tgtEl>
                                          <p:spTgt spid="85140"/>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1" fill="hold" grpId="0" nodeType="clickEffect">
                                  <p:stCondLst>
                                    <p:cond delay="0"/>
                                  </p:stCondLst>
                                  <p:childTnLst>
                                    <p:set>
                                      <p:cBhvr>
                                        <p:cTn id="126" dur="1" fill="hold">
                                          <p:stCondLst>
                                            <p:cond delay="0"/>
                                          </p:stCondLst>
                                        </p:cTn>
                                        <p:tgtEl>
                                          <p:spTgt spid="85139"/>
                                        </p:tgtEl>
                                        <p:attrNameLst>
                                          <p:attrName>style.visibility</p:attrName>
                                        </p:attrNameLst>
                                      </p:cBhvr>
                                      <p:to>
                                        <p:strVal val="visible"/>
                                      </p:to>
                                    </p:set>
                                    <p:animEffect transition="in" filter="wipe(up)">
                                      <p:cBhvr>
                                        <p:cTn id="127" dur="500"/>
                                        <p:tgtEl>
                                          <p:spTgt spid="85139"/>
                                        </p:tgtEl>
                                      </p:cBhvr>
                                    </p:animEffect>
                                  </p:childTnLst>
                                </p:cTn>
                              </p:par>
                            </p:childTnLst>
                          </p:cTn>
                        </p:par>
                      </p:childTnLst>
                    </p:cTn>
                  </p:par>
                  <p:par>
                    <p:cTn id="128" fill="hold">
                      <p:stCondLst>
                        <p:cond delay="indefinite"/>
                      </p:stCondLst>
                      <p:childTnLst>
                        <p:par>
                          <p:cTn id="129" fill="hold">
                            <p:stCondLst>
                              <p:cond delay="0"/>
                            </p:stCondLst>
                            <p:childTnLst>
                              <p:par>
                                <p:cTn id="130" presetID="16" presetClass="entr" presetSubtype="37" fill="hold" nodeType="clickEffect">
                                  <p:stCondLst>
                                    <p:cond delay="0"/>
                                  </p:stCondLst>
                                  <p:childTnLst>
                                    <p:set>
                                      <p:cBhvr>
                                        <p:cTn id="131" dur="1" fill="hold">
                                          <p:stCondLst>
                                            <p:cond delay="0"/>
                                          </p:stCondLst>
                                        </p:cTn>
                                        <p:tgtEl>
                                          <p:spTgt spid="4"/>
                                        </p:tgtEl>
                                        <p:attrNameLst>
                                          <p:attrName>style.visibility</p:attrName>
                                        </p:attrNameLst>
                                      </p:cBhvr>
                                      <p:to>
                                        <p:strVal val="visible"/>
                                      </p:to>
                                    </p:set>
                                    <p:animEffect transition="in" filter="barn(outVertical)">
                                      <p:cBhvr>
                                        <p:cTn id="132" dur="500"/>
                                        <p:tgtEl>
                                          <p:spTgt spid="4"/>
                                        </p:tgtEl>
                                      </p:cBhvr>
                                    </p:animEffect>
                                  </p:childTnLst>
                                </p:cTn>
                              </p:par>
                            </p:childTnLst>
                          </p:cTn>
                        </p:par>
                      </p:childTnLst>
                    </p:cTn>
                  </p:par>
                  <p:par>
                    <p:cTn id="133" fill="hold">
                      <p:stCondLst>
                        <p:cond delay="indefinite"/>
                      </p:stCondLst>
                      <p:childTnLst>
                        <p:par>
                          <p:cTn id="134" fill="hold">
                            <p:stCondLst>
                              <p:cond delay="0"/>
                            </p:stCondLst>
                            <p:childTnLst>
                              <p:par>
                                <p:cTn id="135" presetID="16" presetClass="entr" presetSubtype="37" fill="hold" nodeType="clickEffect">
                                  <p:stCondLst>
                                    <p:cond delay="0"/>
                                  </p:stCondLst>
                                  <p:childTnLst>
                                    <p:set>
                                      <p:cBhvr>
                                        <p:cTn id="136" dur="1" fill="hold">
                                          <p:stCondLst>
                                            <p:cond delay="0"/>
                                          </p:stCondLst>
                                        </p:cTn>
                                        <p:tgtEl>
                                          <p:spTgt spid="3"/>
                                        </p:tgtEl>
                                        <p:attrNameLst>
                                          <p:attrName>style.visibility</p:attrName>
                                        </p:attrNameLst>
                                      </p:cBhvr>
                                      <p:to>
                                        <p:strVal val="visible"/>
                                      </p:to>
                                    </p:set>
                                    <p:animEffect transition="in" filter="barn(outVertical)">
                                      <p:cBhvr>
                                        <p:cTn id="137" dur="500"/>
                                        <p:tgtEl>
                                          <p:spTgt spid="3"/>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85145"/>
                                        </p:tgtEl>
                                        <p:attrNameLst>
                                          <p:attrName>style.visibility</p:attrName>
                                        </p:attrNameLst>
                                      </p:cBhvr>
                                      <p:to>
                                        <p:strVal val="visible"/>
                                      </p:to>
                                    </p:set>
                                    <p:animEffect transition="in" filter="wipe(left)">
                                      <p:cBhvr>
                                        <p:cTn id="142" dur="500"/>
                                        <p:tgtEl>
                                          <p:spTgt spid="85145"/>
                                        </p:tgtEl>
                                      </p:cBhvr>
                                    </p:animEffec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499"/>
                                          </p:stCondLst>
                                        </p:cTn>
                                        <p:tgtEl>
                                          <p:spTgt spid="85156"/>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22" presetClass="entr" presetSubtype="1" fill="hold" grpId="0" nodeType="clickEffect">
                                  <p:stCondLst>
                                    <p:cond delay="0"/>
                                  </p:stCondLst>
                                  <p:childTnLst>
                                    <p:set>
                                      <p:cBhvr>
                                        <p:cTn id="150" dur="1" fill="hold">
                                          <p:stCondLst>
                                            <p:cond delay="0"/>
                                          </p:stCondLst>
                                        </p:cTn>
                                        <p:tgtEl>
                                          <p:spTgt spid="85146"/>
                                        </p:tgtEl>
                                        <p:attrNameLst>
                                          <p:attrName>style.visibility</p:attrName>
                                        </p:attrNameLst>
                                      </p:cBhvr>
                                      <p:to>
                                        <p:strVal val="visible"/>
                                      </p:to>
                                    </p:set>
                                    <p:animEffect transition="in" filter="wipe(up)">
                                      <p:cBhvr>
                                        <p:cTn id="151" dur="500"/>
                                        <p:tgtEl>
                                          <p:spTgt spid="85146"/>
                                        </p:tgtEl>
                                      </p:cBhvr>
                                    </p:animEffec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499"/>
                                          </p:stCondLst>
                                        </p:cTn>
                                        <p:tgtEl>
                                          <p:spTgt spid="85155"/>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3" presetClass="entr" presetSubtype="10" fill="hold" grpId="0" nodeType="clickEffect">
                                  <p:stCondLst>
                                    <p:cond delay="0"/>
                                  </p:stCondLst>
                                  <p:iterate type="wd">
                                    <p:tmPct val="100000"/>
                                  </p:iterate>
                                  <p:childTnLst>
                                    <p:set>
                                      <p:cBhvr>
                                        <p:cTn id="159" dur="1" fill="hold">
                                          <p:stCondLst>
                                            <p:cond delay="0"/>
                                          </p:stCondLst>
                                        </p:cTn>
                                        <p:tgtEl>
                                          <p:spTgt spid="85152"/>
                                        </p:tgtEl>
                                        <p:attrNameLst>
                                          <p:attrName>style.visibility</p:attrName>
                                        </p:attrNameLst>
                                      </p:cBhvr>
                                      <p:to>
                                        <p:strVal val="visible"/>
                                      </p:to>
                                    </p:set>
                                    <p:animEffect transition="in" filter="blinds(horizontal)">
                                      <p:cBhvr>
                                        <p:cTn id="160" dur="300"/>
                                        <p:tgtEl>
                                          <p:spTgt spid="85152"/>
                                        </p:tgtEl>
                                      </p:cBhvr>
                                    </p:animEffect>
                                  </p:childTnLst>
                                </p:cTn>
                              </p:par>
                            </p:childTnLst>
                          </p:cTn>
                        </p:par>
                      </p:childTnLst>
                    </p:cTn>
                  </p:par>
                  <p:par>
                    <p:cTn id="161" fill="hold">
                      <p:stCondLst>
                        <p:cond delay="indefinite"/>
                      </p:stCondLst>
                      <p:childTnLst>
                        <p:par>
                          <p:cTn id="162" fill="hold">
                            <p:stCondLst>
                              <p:cond delay="0"/>
                            </p:stCondLst>
                            <p:childTnLst>
                              <p:par>
                                <p:cTn id="163" presetID="22" presetClass="entr" presetSubtype="8" fill="hold" nodeType="clickEffect">
                                  <p:stCondLst>
                                    <p:cond delay="0"/>
                                  </p:stCondLst>
                                  <p:childTnLst>
                                    <p:set>
                                      <p:cBhvr>
                                        <p:cTn id="164" dur="1" fill="hold">
                                          <p:stCondLst>
                                            <p:cond delay="0"/>
                                          </p:stCondLst>
                                        </p:cTn>
                                        <p:tgtEl>
                                          <p:spTgt spid="85136"/>
                                        </p:tgtEl>
                                        <p:attrNameLst>
                                          <p:attrName>style.visibility</p:attrName>
                                        </p:attrNameLst>
                                      </p:cBhvr>
                                      <p:to>
                                        <p:strVal val="visible"/>
                                      </p:to>
                                    </p:set>
                                    <p:animEffect transition="in" filter="wipe(left)">
                                      <p:cBhvr>
                                        <p:cTn id="165" dur="500"/>
                                        <p:tgtEl>
                                          <p:spTgt spid="85136"/>
                                        </p:tgtEl>
                                      </p:cBhvr>
                                    </p:animEffect>
                                  </p:childTnLst>
                                </p:cTn>
                              </p:par>
                            </p:childTnLst>
                          </p:cTn>
                        </p:par>
                      </p:childTnLst>
                    </p:cTn>
                  </p:par>
                  <p:par>
                    <p:cTn id="166" fill="hold">
                      <p:stCondLst>
                        <p:cond delay="indefinite"/>
                      </p:stCondLst>
                      <p:childTnLst>
                        <p:par>
                          <p:cTn id="167" fill="hold">
                            <p:stCondLst>
                              <p:cond delay="0"/>
                            </p:stCondLst>
                            <p:childTnLst>
                              <p:par>
                                <p:cTn id="168" presetID="12" presetClass="entr" presetSubtype="2" fill="hold" nodeType="clickEffect">
                                  <p:stCondLst>
                                    <p:cond delay="0"/>
                                  </p:stCondLst>
                                  <p:childTnLst>
                                    <p:set>
                                      <p:cBhvr>
                                        <p:cTn id="169" dur="1" fill="hold">
                                          <p:stCondLst>
                                            <p:cond delay="0"/>
                                          </p:stCondLst>
                                        </p:cTn>
                                        <p:tgtEl>
                                          <p:spTgt spid="2"/>
                                        </p:tgtEl>
                                        <p:attrNameLst>
                                          <p:attrName>style.visibility</p:attrName>
                                        </p:attrNameLst>
                                      </p:cBhvr>
                                      <p:to>
                                        <p:strVal val="visible"/>
                                      </p:to>
                                    </p:set>
                                    <p:animEffect transition="in" filter="slide(fromRight)">
                                      <p:cBhvr>
                                        <p:cTn id="170" dur="500"/>
                                        <p:tgtEl>
                                          <p:spTgt spid="2"/>
                                        </p:tgtEl>
                                      </p:cBhvr>
                                    </p:animEffect>
                                  </p:childTnLst>
                                </p:cTn>
                              </p:par>
                            </p:childTnLst>
                          </p:cTn>
                        </p:par>
                      </p:childTnLst>
                    </p:cTn>
                  </p:par>
                  <p:par>
                    <p:cTn id="171" fill="hold">
                      <p:stCondLst>
                        <p:cond delay="indefinite"/>
                      </p:stCondLst>
                      <p:childTnLst>
                        <p:par>
                          <p:cTn id="172" fill="hold">
                            <p:stCondLst>
                              <p:cond delay="0"/>
                            </p:stCondLst>
                            <p:childTnLst>
                              <p:par>
                                <p:cTn id="173" presetID="12" presetClass="entr" presetSubtype="2" fill="hold" grpId="0" nodeType="clickEffect">
                                  <p:stCondLst>
                                    <p:cond delay="0"/>
                                  </p:stCondLst>
                                  <p:childTnLst>
                                    <p:set>
                                      <p:cBhvr>
                                        <p:cTn id="174" dur="1" fill="hold">
                                          <p:stCondLst>
                                            <p:cond delay="0"/>
                                          </p:stCondLst>
                                        </p:cTn>
                                        <p:tgtEl>
                                          <p:spTgt spid="85162"/>
                                        </p:tgtEl>
                                        <p:attrNameLst>
                                          <p:attrName>style.visibility</p:attrName>
                                        </p:attrNameLst>
                                      </p:cBhvr>
                                      <p:to>
                                        <p:strVal val="visible"/>
                                      </p:to>
                                    </p:set>
                                    <p:animEffect transition="in" filter="slide(fromRight)">
                                      <p:cBhvr>
                                        <p:cTn id="175" dur="500"/>
                                        <p:tgtEl>
                                          <p:spTgt spid="85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autoUpdateAnimBg="0"/>
      <p:bldP spid="85080" grpId="0" autoUpdateAnimBg="0"/>
      <p:bldP spid="85081" grpId="0" autoUpdateAnimBg="0"/>
      <p:bldP spid="85082" grpId="0" autoUpdateAnimBg="0"/>
      <p:bldP spid="85084" grpId="0" animBg="1"/>
      <p:bldP spid="85085" grpId="0" animBg="1"/>
      <p:bldP spid="85086" grpId="0" animBg="1"/>
      <p:bldP spid="85087" grpId="0" autoUpdateAnimBg="0"/>
      <p:bldP spid="85088" grpId="0" autoUpdateAnimBg="0"/>
      <p:bldP spid="85089" grpId="0" autoUpdateAnimBg="0"/>
      <p:bldP spid="85137" grpId="0" animBg="1"/>
      <p:bldP spid="85138" grpId="0" animBg="1"/>
      <p:bldP spid="85139" grpId="0" animBg="1"/>
      <p:bldP spid="85140" grpId="0" animBg="1"/>
      <p:bldP spid="85145" grpId="0" animBg="1"/>
      <p:bldP spid="85146" grpId="0" animBg="1"/>
      <p:bldP spid="85147" grpId="0" autoUpdateAnimBg="0"/>
      <p:bldP spid="85148" grpId="0" autoUpdateAnimBg="0"/>
      <p:bldP spid="85149" grpId="0" autoUpdateAnimBg="0"/>
      <p:bldP spid="85151" grpId="0" autoUpdateAnimBg="0"/>
      <p:bldP spid="85152" grpId="0" autoUpdateAnimBg="0"/>
      <p:bldP spid="85153" grpId="0" autoUpdateAnimBg="0"/>
      <p:bldP spid="85155" grpId="0" autoUpdateAnimBg="0"/>
      <p:bldP spid="85156" grpId="0" autoUpdateAnimBg="0"/>
      <p:bldP spid="85162" grpId="0" autoUpdateAnimBg="0"/>
      <p:bldP spid="85168" grpId="0" animBg="1"/>
      <p:bldP spid="8516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9202" name="Object 2"/>
          <p:cNvGraphicFramePr>
            <a:graphicFrameLocks/>
          </p:cNvGraphicFramePr>
          <p:nvPr/>
        </p:nvGraphicFramePr>
        <p:xfrm>
          <a:off x="3708400" y="3789363"/>
          <a:ext cx="3608388" cy="730250"/>
        </p:xfrm>
        <a:graphic>
          <a:graphicData uri="http://schemas.openxmlformats.org/presentationml/2006/ole">
            <p:oleObj spid="_x0000_s23554" name="公式" r:id="rId3" imgW="2006280" imgH="406080" progId="Equation.3">
              <p:embed/>
            </p:oleObj>
          </a:graphicData>
        </a:graphic>
      </p:graphicFrame>
      <p:graphicFrame>
        <p:nvGraphicFramePr>
          <p:cNvPr id="179203" name="Object 3"/>
          <p:cNvGraphicFramePr>
            <a:graphicFrameLocks noChangeAspect="1"/>
          </p:cNvGraphicFramePr>
          <p:nvPr/>
        </p:nvGraphicFramePr>
        <p:xfrm>
          <a:off x="3708400" y="4724400"/>
          <a:ext cx="3600450" cy="730250"/>
        </p:xfrm>
        <a:graphic>
          <a:graphicData uri="http://schemas.openxmlformats.org/presentationml/2006/ole">
            <p:oleObj spid="_x0000_s23555" name="公式" r:id="rId4" imgW="2006280" imgH="406080" progId="Equation.3">
              <p:embed/>
            </p:oleObj>
          </a:graphicData>
        </a:graphic>
      </p:graphicFrame>
      <p:graphicFrame>
        <p:nvGraphicFramePr>
          <p:cNvPr id="179204" name="Object 4"/>
          <p:cNvGraphicFramePr>
            <a:graphicFrameLocks/>
          </p:cNvGraphicFramePr>
          <p:nvPr/>
        </p:nvGraphicFramePr>
        <p:xfrm>
          <a:off x="1600200" y="3800475"/>
          <a:ext cx="2103438" cy="733425"/>
        </p:xfrm>
        <a:graphic>
          <a:graphicData uri="http://schemas.openxmlformats.org/presentationml/2006/ole">
            <p:oleObj spid="_x0000_s23556" name="公式" r:id="rId5" imgW="1168200" imgH="406080" progId="Equation.3">
              <p:embed/>
            </p:oleObj>
          </a:graphicData>
        </a:graphic>
      </p:graphicFrame>
      <p:graphicFrame>
        <p:nvGraphicFramePr>
          <p:cNvPr id="179205" name="Object 5"/>
          <p:cNvGraphicFramePr>
            <a:graphicFrameLocks/>
          </p:cNvGraphicFramePr>
          <p:nvPr/>
        </p:nvGraphicFramePr>
        <p:xfrm>
          <a:off x="1555750" y="4724400"/>
          <a:ext cx="2132013" cy="730250"/>
        </p:xfrm>
        <a:graphic>
          <a:graphicData uri="http://schemas.openxmlformats.org/presentationml/2006/ole">
            <p:oleObj spid="_x0000_s23557" name="公式" r:id="rId6" imgW="1180800" imgH="406080" progId="Equation.3">
              <p:embed/>
            </p:oleObj>
          </a:graphicData>
        </a:graphic>
      </p:graphicFrame>
      <p:graphicFrame>
        <p:nvGraphicFramePr>
          <p:cNvPr id="179206" name="Object 6"/>
          <p:cNvGraphicFramePr>
            <a:graphicFrameLocks noChangeAspect="1"/>
          </p:cNvGraphicFramePr>
          <p:nvPr/>
        </p:nvGraphicFramePr>
        <p:xfrm>
          <a:off x="2732088" y="3068638"/>
          <a:ext cx="2695575" cy="687387"/>
        </p:xfrm>
        <a:graphic>
          <a:graphicData uri="http://schemas.openxmlformats.org/presentationml/2006/ole">
            <p:oleObj spid="_x0000_s23558" name="公式" r:id="rId7" imgW="1549080" imgH="406080" progId="Equation.3">
              <p:embed/>
            </p:oleObj>
          </a:graphicData>
        </a:graphic>
      </p:graphicFrame>
      <p:sp>
        <p:nvSpPr>
          <p:cNvPr id="179207" name="Text Box 7"/>
          <p:cNvSpPr txBox="1">
            <a:spLocks noChangeArrowheads="1"/>
          </p:cNvSpPr>
          <p:nvPr/>
        </p:nvSpPr>
        <p:spPr bwMode="auto">
          <a:xfrm>
            <a:off x="762000" y="3167063"/>
            <a:ext cx="857250" cy="457200"/>
          </a:xfrm>
          <a:prstGeom prst="rect">
            <a:avLst/>
          </a:prstGeom>
          <a:noFill/>
          <a:ln w="9525">
            <a:noFill/>
            <a:miter lim="800000"/>
            <a:headEnd/>
            <a:tailEnd/>
          </a:ln>
        </p:spPr>
        <p:txBody>
          <a:bodyPr>
            <a:spAutoFit/>
          </a:bodyPr>
          <a:lstStyle/>
          <a:p>
            <a:pPr>
              <a:spcBef>
                <a:spcPct val="50000"/>
              </a:spcBef>
            </a:pPr>
            <a:r>
              <a:rPr lang="zh-CN" altLang="en-US" b="1">
                <a:ea typeface="楷体_GB2312" pitchFamily="49" charset="-122"/>
              </a:rPr>
              <a:t>将</a:t>
            </a:r>
          </a:p>
        </p:txBody>
      </p:sp>
      <p:sp>
        <p:nvSpPr>
          <p:cNvPr id="179208" name="Text Box 8"/>
          <p:cNvSpPr txBox="1">
            <a:spLocks noChangeArrowheads="1"/>
          </p:cNvSpPr>
          <p:nvPr/>
        </p:nvSpPr>
        <p:spPr bwMode="auto">
          <a:xfrm>
            <a:off x="5562600" y="3201988"/>
            <a:ext cx="2819400" cy="457200"/>
          </a:xfrm>
          <a:prstGeom prst="rect">
            <a:avLst/>
          </a:prstGeom>
          <a:noFill/>
          <a:ln w="9525">
            <a:noFill/>
            <a:miter lim="800000"/>
            <a:headEnd/>
            <a:tailEnd/>
          </a:ln>
        </p:spPr>
        <p:txBody>
          <a:bodyPr>
            <a:spAutoFit/>
          </a:bodyPr>
          <a:lstStyle/>
          <a:p>
            <a:pPr>
              <a:spcBef>
                <a:spcPct val="50000"/>
              </a:spcBef>
            </a:pPr>
            <a:r>
              <a:rPr lang="zh-CN" altLang="en-US" b="1">
                <a:ea typeface="楷体_GB2312" pitchFamily="49" charset="-122"/>
              </a:rPr>
              <a:t>代入 </a:t>
            </a:r>
            <a:r>
              <a:rPr lang="zh-CN" altLang="en-US" b="1"/>
              <a:t>①、 ②</a:t>
            </a:r>
            <a:r>
              <a:rPr lang="zh-CN" altLang="en-US"/>
              <a:t> </a:t>
            </a:r>
            <a:r>
              <a:rPr lang="zh-CN" altLang="en-US" b="1"/>
              <a:t>、 ③</a:t>
            </a:r>
          </a:p>
        </p:txBody>
      </p:sp>
      <p:graphicFrame>
        <p:nvGraphicFramePr>
          <p:cNvPr id="179209" name="Object 9"/>
          <p:cNvGraphicFramePr>
            <a:graphicFrameLocks noChangeAspect="1"/>
          </p:cNvGraphicFramePr>
          <p:nvPr/>
        </p:nvGraphicFramePr>
        <p:xfrm>
          <a:off x="1241425" y="3248025"/>
          <a:ext cx="949325" cy="388938"/>
        </p:xfrm>
        <a:graphic>
          <a:graphicData uri="http://schemas.openxmlformats.org/presentationml/2006/ole">
            <p:oleObj spid="_x0000_s23559" name="公式" r:id="rId8" imgW="558720" imgH="228600" progId="Equation.3">
              <p:embed/>
            </p:oleObj>
          </a:graphicData>
        </a:graphic>
      </p:graphicFrame>
      <p:graphicFrame>
        <p:nvGraphicFramePr>
          <p:cNvPr id="179210" name="Object 10"/>
          <p:cNvGraphicFramePr>
            <a:graphicFrameLocks/>
          </p:cNvGraphicFramePr>
          <p:nvPr/>
        </p:nvGraphicFramePr>
        <p:xfrm>
          <a:off x="1738313" y="676275"/>
          <a:ext cx="2262187" cy="503238"/>
        </p:xfrm>
        <a:graphic>
          <a:graphicData uri="http://schemas.openxmlformats.org/presentationml/2006/ole">
            <p:oleObj spid="_x0000_s23560" name="公式" r:id="rId9" imgW="1257120" imgH="279360" progId="Equation.3">
              <p:embed/>
            </p:oleObj>
          </a:graphicData>
        </a:graphic>
      </p:graphicFrame>
      <p:sp>
        <p:nvSpPr>
          <p:cNvPr id="179211" name="Rectangle 11"/>
          <p:cNvSpPr>
            <a:spLocks noChangeArrowheads="1"/>
          </p:cNvSpPr>
          <p:nvPr/>
        </p:nvSpPr>
        <p:spPr bwMode="auto">
          <a:xfrm>
            <a:off x="762000" y="661988"/>
            <a:ext cx="1739900" cy="457200"/>
          </a:xfrm>
          <a:prstGeom prst="rect">
            <a:avLst/>
          </a:prstGeom>
          <a:noFill/>
          <a:ln w="9525">
            <a:noFill/>
            <a:miter lim="800000"/>
            <a:headEnd/>
            <a:tailEnd/>
          </a:ln>
        </p:spPr>
        <p:txBody>
          <a:bodyPr>
            <a:spAutoFit/>
          </a:bodyPr>
          <a:lstStyle/>
          <a:p>
            <a:r>
              <a:rPr lang="zh-CN" altLang="en-US" b="1">
                <a:latin typeface="楷体_GB2312" pitchFamily="49" charset="-122"/>
                <a:ea typeface="楷体_GB2312" pitchFamily="49" charset="-122"/>
              </a:rPr>
              <a:t>其中</a:t>
            </a:r>
          </a:p>
        </p:txBody>
      </p:sp>
      <p:sp>
        <p:nvSpPr>
          <p:cNvPr id="179212" name="Rectangle 12"/>
          <p:cNvSpPr>
            <a:spLocks noChangeArrowheads="1"/>
          </p:cNvSpPr>
          <p:nvPr/>
        </p:nvSpPr>
        <p:spPr bwMode="auto">
          <a:xfrm>
            <a:off x="901700" y="2492375"/>
            <a:ext cx="2808288" cy="457200"/>
          </a:xfrm>
          <a:prstGeom prst="rect">
            <a:avLst/>
          </a:prstGeom>
          <a:noFill/>
          <a:ln w="9525">
            <a:noFill/>
            <a:miter lim="800000"/>
            <a:headEnd/>
            <a:tailEnd/>
          </a:ln>
        </p:spPr>
        <p:txBody>
          <a:bodyPr>
            <a:spAutoFit/>
          </a:bodyPr>
          <a:lstStyle/>
          <a:p>
            <a:r>
              <a:rPr lang="zh-CN" altLang="en-US" b="1">
                <a:solidFill>
                  <a:srgbClr val="FF6600"/>
                </a:solidFill>
                <a:latin typeface="楷体_GB2312" pitchFamily="49" charset="-122"/>
                <a:ea typeface="楷体_GB2312" pitchFamily="49" charset="-122"/>
              </a:rPr>
              <a:t>线元的机械能为</a:t>
            </a:r>
          </a:p>
        </p:txBody>
      </p:sp>
      <p:sp>
        <p:nvSpPr>
          <p:cNvPr id="179213" name="Text Box 13"/>
          <p:cNvSpPr txBox="1">
            <a:spLocks noChangeArrowheads="1"/>
          </p:cNvSpPr>
          <p:nvPr/>
        </p:nvSpPr>
        <p:spPr bwMode="auto">
          <a:xfrm>
            <a:off x="2232025" y="3167063"/>
            <a:ext cx="625475" cy="457200"/>
          </a:xfrm>
          <a:prstGeom prst="rect">
            <a:avLst/>
          </a:prstGeom>
          <a:noFill/>
          <a:ln w="9525">
            <a:noFill/>
            <a:miter lim="800000"/>
            <a:headEnd/>
            <a:tailEnd/>
          </a:ln>
        </p:spPr>
        <p:txBody>
          <a:bodyPr>
            <a:spAutoFit/>
          </a:bodyPr>
          <a:lstStyle/>
          <a:p>
            <a:pPr>
              <a:spcBef>
                <a:spcPct val="50000"/>
              </a:spcBef>
            </a:pPr>
            <a:r>
              <a:rPr lang="zh-CN" altLang="en-US" b="1">
                <a:ea typeface="楷体_GB2312" pitchFamily="49" charset="-122"/>
              </a:rPr>
              <a:t>和</a:t>
            </a:r>
          </a:p>
        </p:txBody>
      </p:sp>
      <p:sp>
        <p:nvSpPr>
          <p:cNvPr id="179214" name="Rectangle 14"/>
          <p:cNvSpPr>
            <a:spLocks noChangeArrowheads="1"/>
          </p:cNvSpPr>
          <p:nvPr/>
        </p:nvSpPr>
        <p:spPr bwMode="auto">
          <a:xfrm>
            <a:off x="5448300" y="2493963"/>
            <a:ext cx="492125" cy="457200"/>
          </a:xfrm>
          <a:prstGeom prst="rect">
            <a:avLst/>
          </a:prstGeom>
          <a:noFill/>
          <a:ln w="9525">
            <a:noFill/>
            <a:miter lim="800000"/>
            <a:headEnd/>
            <a:tailEnd/>
          </a:ln>
        </p:spPr>
        <p:txBody>
          <a:bodyPr wrap="none">
            <a:spAutoFit/>
          </a:bodyPr>
          <a:lstStyle/>
          <a:p>
            <a:pPr algn="ctr"/>
            <a:r>
              <a:rPr lang="en-US" altLang="zh-CN" b="1"/>
              <a:t>③</a:t>
            </a:r>
          </a:p>
        </p:txBody>
      </p:sp>
      <p:graphicFrame>
        <p:nvGraphicFramePr>
          <p:cNvPr id="179215" name="Object 15"/>
          <p:cNvGraphicFramePr>
            <a:graphicFrameLocks/>
          </p:cNvGraphicFramePr>
          <p:nvPr/>
        </p:nvGraphicFramePr>
        <p:xfrm>
          <a:off x="3421063" y="2519363"/>
          <a:ext cx="1900237" cy="434975"/>
        </p:xfrm>
        <a:graphic>
          <a:graphicData uri="http://schemas.openxmlformats.org/presentationml/2006/ole">
            <p:oleObj spid="_x0000_s23561" name="公式" r:id="rId10" imgW="1054080" imgH="241200" progId="Equation.3">
              <p:embed/>
            </p:oleObj>
          </a:graphicData>
        </a:graphic>
      </p:graphicFrame>
      <p:graphicFrame>
        <p:nvGraphicFramePr>
          <p:cNvPr id="179216" name="Object 16"/>
          <p:cNvGraphicFramePr>
            <a:graphicFrameLocks/>
          </p:cNvGraphicFramePr>
          <p:nvPr/>
        </p:nvGraphicFramePr>
        <p:xfrm>
          <a:off x="1979613" y="1546225"/>
          <a:ext cx="3549650" cy="730250"/>
        </p:xfrm>
        <a:graphic>
          <a:graphicData uri="http://schemas.openxmlformats.org/presentationml/2006/ole">
            <p:oleObj spid="_x0000_s23562" name="公式" r:id="rId11" imgW="1981080" imgH="406080" progId="Equation.3">
              <p:embed/>
            </p:oleObj>
          </a:graphicData>
        </a:graphic>
      </p:graphicFrame>
      <p:sp>
        <p:nvSpPr>
          <p:cNvPr id="179217" name="Rectangle 17"/>
          <p:cNvSpPr>
            <a:spLocks noChangeArrowheads="1"/>
          </p:cNvSpPr>
          <p:nvPr/>
        </p:nvSpPr>
        <p:spPr bwMode="auto">
          <a:xfrm>
            <a:off x="5724525" y="1628775"/>
            <a:ext cx="492125" cy="457200"/>
          </a:xfrm>
          <a:prstGeom prst="rect">
            <a:avLst/>
          </a:prstGeom>
          <a:noFill/>
          <a:ln w="9525">
            <a:noFill/>
            <a:miter lim="800000"/>
            <a:headEnd/>
            <a:tailEnd/>
          </a:ln>
        </p:spPr>
        <p:txBody>
          <a:bodyPr wrap="none">
            <a:spAutoFit/>
          </a:bodyPr>
          <a:lstStyle/>
          <a:p>
            <a:pPr algn="ctr"/>
            <a:r>
              <a:rPr lang="en-US" altLang="zh-CN" b="1"/>
              <a:t>②</a:t>
            </a:r>
          </a:p>
        </p:txBody>
      </p:sp>
      <p:graphicFrame>
        <p:nvGraphicFramePr>
          <p:cNvPr id="179218" name="Object 18"/>
          <p:cNvGraphicFramePr>
            <a:graphicFrameLocks/>
          </p:cNvGraphicFramePr>
          <p:nvPr/>
        </p:nvGraphicFramePr>
        <p:xfrm>
          <a:off x="4078288" y="563563"/>
          <a:ext cx="2011362" cy="733425"/>
        </p:xfrm>
        <a:graphic>
          <a:graphicData uri="http://schemas.openxmlformats.org/presentationml/2006/ole">
            <p:oleObj spid="_x0000_s23563" name="公式" r:id="rId12" imgW="1117440" imgH="406080" progId="Equation.3">
              <p:embed/>
            </p:oleObj>
          </a:graphicData>
        </a:graphic>
      </p:graphicFrame>
      <p:graphicFrame>
        <p:nvGraphicFramePr>
          <p:cNvPr id="179220" name="Object 20"/>
          <p:cNvGraphicFramePr>
            <a:graphicFrameLocks noChangeAspect="1"/>
          </p:cNvGraphicFramePr>
          <p:nvPr/>
        </p:nvGraphicFramePr>
        <p:xfrm>
          <a:off x="6167438" y="563563"/>
          <a:ext cx="2057400" cy="777875"/>
        </p:xfrm>
        <a:graphic>
          <a:graphicData uri="http://schemas.openxmlformats.org/presentationml/2006/ole">
            <p:oleObj spid="_x0000_s23564" name="公式" r:id="rId13" imgW="1143000" imgH="431640" progId="Equation.3">
              <p:embed/>
            </p:oleObj>
          </a:graphicData>
        </a:graphic>
      </p:graphicFrame>
      <p:graphicFrame>
        <p:nvGraphicFramePr>
          <p:cNvPr id="179221" name="Object 21"/>
          <p:cNvGraphicFramePr>
            <a:graphicFrameLocks/>
          </p:cNvGraphicFramePr>
          <p:nvPr/>
        </p:nvGraphicFramePr>
        <p:xfrm>
          <a:off x="2713038" y="5589588"/>
          <a:ext cx="5284787" cy="730250"/>
        </p:xfrm>
        <a:graphic>
          <a:graphicData uri="http://schemas.openxmlformats.org/presentationml/2006/ole">
            <p:oleObj spid="_x0000_s23565" name="公式" r:id="rId14" imgW="2933640" imgH="406080" progId="Equation.3">
              <p:embed/>
            </p:oleObj>
          </a:graphicData>
        </a:graphic>
      </p:graphicFrame>
      <p:sp>
        <p:nvSpPr>
          <p:cNvPr id="179222" name="Rectangle 22"/>
          <p:cNvSpPr>
            <a:spLocks noChangeArrowheads="1"/>
          </p:cNvSpPr>
          <p:nvPr/>
        </p:nvSpPr>
        <p:spPr bwMode="auto">
          <a:xfrm>
            <a:off x="1071563" y="5716588"/>
            <a:ext cx="1727200" cy="457200"/>
          </a:xfrm>
          <a:prstGeom prst="rect">
            <a:avLst/>
          </a:prstGeom>
          <a:noFill/>
          <a:ln w="9525">
            <a:noFill/>
            <a:miter lim="800000"/>
            <a:headEnd/>
            <a:tailEnd/>
          </a:ln>
        </p:spPr>
        <p:txBody>
          <a:bodyPr>
            <a:spAutoFit/>
          </a:bodyPr>
          <a:lstStyle/>
          <a:p>
            <a:r>
              <a:rPr lang="zh-CN" altLang="en-US" b="1">
                <a:solidFill>
                  <a:srgbClr val="FF6600"/>
                </a:solidFill>
                <a:latin typeface="楷体_GB2312" pitchFamily="49" charset="-122"/>
                <a:ea typeface="楷体_GB2312" pitchFamily="49" charset="-122"/>
              </a:rPr>
              <a:t>机械能</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79211"/>
                                        </p:tgtEl>
                                        <p:attrNameLst>
                                          <p:attrName>style.visibility</p:attrName>
                                        </p:attrNameLst>
                                      </p:cBhvr>
                                      <p:to>
                                        <p:strVal val="visible"/>
                                      </p:to>
                                    </p:set>
                                    <p:animEffect transition="in" filter="wipe(left)">
                                      <p:cBhvr>
                                        <p:cTn id="7" dur="300"/>
                                        <p:tgtEl>
                                          <p:spTgt spid="1792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9210"/>
                                        </p:tgtEl>
                                        <p:attrNameLst>
                                          <p:attrName>style.visibility</p:attrName>
                                        </p:attrNameLst>
                                      </p:cBhvr>
                                      <p:to>
                                        <p:strVal val="visible"/>
                                      </p:to>
                                    </p:set>
                                    <p:animEffect transition="in" filter="wipe(left)">
                                      <p:cBhvr>
                                        <p:cTn id="12" dur="500"/>
                                        <p:tgtEl>
                                          <p:spTgt spid="1792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9218"/>
                                        </p:tgtEl>
                                        <p:attrNameLst>
                                          <p:attrName>style.visibility</p:attrName>
                                        </p:attrNameLst>
                                      </p:cBhvr>
                                      <p:to>
                                        <p:strVal val="visible"/>
                                      </p:to>
                                    </p:set>
                                    <p:animEffect transition="in" filter="wipe(left)">
                                      <p:cBhvr>
                                        <p:cTn id="17" dur="500"/>
                                        <p:tgtEl>
                                          <p:spTgt spid="17921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79220"/>
                                        </p:tgtEl>
                                        <p:attrNameLst>
                                          <p:attrName>style.visibility</p:attrName>
                                        </p:attrNameLst>
                                      </p:cBhvr>
                                      <p:to>
                                        <p:strVal val="visible"/>
                                      </p:to>
                                    </p:set>
                                    <p:animEffect transition="in" filter="blinds(horizontal)">
                                      <p:cBhvr>
                                        <p:cTn id="22" dur="500"/>
                                        <p:tgtEl>
                                          <p:spTgt spid="179220"/>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nodeType="clickEffect">
                                  <p:stCondLst>
                                    <p:cond delay="0"/>
                                  </p:stCondLst>
                                  <p:childTnLst>
                                    <p:set>
                                      <p:cBhvr>
                                        <p:cTn id="26" dur="1" fill="hold">
                                          <p:stCondLst>
                                            <p:cond delay="0"/>
                                          </p:stCondLst>
                                        </p:cTn>
                                        <p:tgtEl>
                                          <p:spTgt spid="179216"/>
                                        </p:tgtEl>
                                        <p:attrNameLst>
                                          <p:attrName>style.visibility</p:attrName>
                                        </p:attrNameLst>
                                      </p:cBhvr>
                                      <p:to>
                                        <p:strVal val="visible"/>
                                      </p:to>
                                    </p:set>
                                    <p:animEffect transition="in" filter="slide(fromLeft)">
                                      <p:cBhvr>
                                        <p:cTn id="27" dur="500"/>
                                        <p:tgtEl>
                                          <p:spTgt spid="1792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17921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9212"/>
                                        </p:tgtEl>
                                        <p:attrNameLst>
                                          <p:attrName>style.visibility</p:attrName>
                                        </p:attrNameLst>
                                      </p:cBhvr>
                                      <p:to>
                                        <p:strVal val="visible"/>
                                      </p:to>
                                    </p:set>
                                    <p:animEffect transition="in" filter="wipe(left)">
                                      <p:cBhvr>
                                        <p:cTn id="36" dur="500"/>
                                        <p:tgtEl>
                                          <p:spTgt spid="17921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79215"/>
                                        </p:tgtEl>
                                        <p:attrNameLst>
                                          <p:attrName>style.visibility</p:attrName>
                                        </p:attrNameLst>
                                      </p:cBhvr>
                                      <p:to>
                                        <p:strVal val="visible"/>
                                      </p:to>
                                    </p:set>
                                    <p:animEffect transition="in" filter="wipe(left)">
                                      <p:cBhvr>
                                        <p:cTn id="41" dur="500"/>
                                        <p:tgtEl>
                                          <p:spTgt spid="17921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499"/>
                                          </p:stCondLst>
                                        </p:cTn>
                                        <p:tgtEl>
                                          <p:spTgt spid="17921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179207"/>
                                        </p:tgtEl>
                                        <p:attrNameLst>
                                          <p:attrName>style.visibility</p:attrName>
                                        </p:attrNameLst>
                                      </p:cBhvr>
                                      <p:to>
                                        <p:strVal val="visible"/>
                                      </p:to>
                                    </p:se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179209"/>
                                        </p:tgtEl>
                                        <p:attrNameLst>
                                          <p:attrName>style.visibility</p:attrName>
                                        </p:attrNameLst>
                                      </p:cBhvr>
                                      <p:to>
                                        <p:strVal val="visible"/>
                                      </p:to>
                                    </p:set>
                                    <p:animEffect transition="in" filter="wipe(left)">
                                      <p:cBhvr>
                                        <p:cTn id="53" dur="500"/>
                                        <p:tgtEl>
                                          <p:spTgt spid="179209"/>
                                        </p:tgtEl>
                                      </p:cBhvr>
                                    </p:animEffect>
                                  </p:childTnLst>
                                </p:cTn>
                              </p:par>
                            </p:childTnLst>
                          </p:cTn>
                        </p:par>
                        <p:par>
                          <p:cTn id="54" fill="hold">
                            <p:stCondLst>
                              <p:cond delay="1000"/>
                            </p:stCondLst>
                            <p:childTnLst>
                              <p:par>
                                <p:cTn id="55" presetID="1" presetClass="entr" presetSubtype="0" fill="hold" grpId="0" nodeType="afterEffect">
                                  <p:stCondLst>
                                    <p:cond delay="0"/>
                                  </p:stCondLst>
                                  <p:childTnLst>
                                    <p:set>
                                      <p:cBhvr>
                                        <p:cTn id="56" dur="1" fill="hold">
                                          <p:stCondLst>
                                            <p:cond delay="499"/>
                                          </p:stCondLst>
                                        </p:cTn>
                                        <p:tgtEl>
                                          <p:spTgt spid="179213"/>
                                        </p:tgtEl>
                                        <p:attrNameLst>
                                          <p:attrName>style.visibility</p:attrName>
                                        </p:attrNameLst>
                                      </p:cBhvr>
                                      <p:to>
                                        <p:strVal val="visible"/>
                                      </p:to>
                                    </p:set>
                                  </p:childTnLst>
                                </p:cTn>
                              </p:par>
                            </p:childTnLst>
                          </p:cTn>
                        </p:par>
                        <p:par>
                          <p:cTn id="57" fill="hold">
                            <p:stCondLst>
                              <p:cond delay="1500"/>
                            </p:stCondLst>
                            <p:childTnLst>
                              <p:par>
                                <p:cTn id="58" presetID="22" presetClass="entr" presetSubtype="8" fill="hold" nodeType="afterEffect">
                                  <p:stCondLst>
                                    <p:cond delay="0"/>
                                  </p:stCondLst>
                                  <p:childTnLst>
                                    <p:set>
                                      <p:cBhvr>
                                        <p:cTn id="59" dur="1" fill="hold">
                                          <p:stCondLst>
                                            <p:cond delay="0"/>
                                          </p:stCondLst>
                                        </p:cTn>
                                        <p:tgtEl>
                                          <p:spTgt spid="179206"/>
                                        </p:tgtEl>
                                        <p:attrNameLst>
                                          <p:attrName>style.visibility</p:attrName>
                                        </p:attrNameLst>
                                      </p:cBhvr>
                                      <p:to>
                                        <p:strVal val="visible"/>
                                      </p:to>
                                    </p:set>
                                    <p:animEffect transition="in" filter="wipe(left)">
                                      <p:cBhvr>
                                        <p:cTn id="60" dur="500"/>
                                        <p:tgtEl>
                                          <p:spTgt spid="179206"/>
                                        </p:tgtEl>
                                      </p:cBhvr>
                                    </p:animEffect>
                                  </p:childTnLst>
                                </p:cTn>
                              </p:par>
                            </p:childTnLst>
                          </p:cTn>
                        </p:par>
                        <p:par>
                          <p:cTn id="61" fill="hold">
                            <p:stCondLst>
                              <p:cond delay="2000"/>
                            </p:stCondLst>
                            <p:childTnLst>
                              <p:par>
                                <p:cTn id="62" presetID="22" presetClass="entr" presetSubtype="8" fill="hold" grpId="0" nodeType="afterEffect">
                                  <p:stCondLst>
                                    <p:cond delay="0"/>
                                  </p:stCondLst>
                                  <p:childTnLst>
                                    <p:set>
                                      <p:cBhvr>
                                        <p:cTn id="63" dur="1" fill="hold">
                                          <p:stCondLst>
                                            <p:cond delay="0"/>
                                          </p:stCondLst>
                                        </p:cTn>
                                        <p:tgtEl>
                                          <p:spTgt spid="179208"/>
                                        </p:tgtEl>
                                        <p:attrNameLst>
                                          <p:attrName>style.visibility</p:attrName>
                                        </p:attrNameLst>
                                      </p:cBhvr>
                                      <p:to>
                                        <p:strVal val="visible"/>
                                      </p:to>
                                    </p:set>
                                    <p:animEffect transition="in" filter="wipe(left)">
                                      <p:cBhvr>
                                        <p:cTn id="64" dur="500"/>
                                        <p:tgtEl>
                                          <p:spTgt spid="17920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179204"/>
                                        </p:tgtEl>
                                        <p:attrNameLst>
                                          <p:attrName>style.visibility</p:attrName>
                                        </p:attrNameLst>
                                      </p:cBhvr>
                                      <p:to>
                                        <p:strVal val="visible"/>
                                      </p:to>
                                    </p:set>
                                    <p:animEffect transition="in" filter="wipe(left)">
                                      <p:cBhvr>
                                        <p:cTn id="69" dur="500"/>
                                        <p:tgtEl>
                                          <p:spTgt spid="179204"/>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179202"/>
                                        </p:tgtEl>
                                        <p:attrNameLst>
                                          <p:attrName>style.visibility</p:attrName>
                                        </p:attrNameLst>
                                      </p:cBhvr>
                                      <p:to>
                                        <p:strVal val="visible"/>
                                      </p:to>
                                    </p:set>
                                    <p:animEffect transition="in" filter="wipe(left)">
                                      <p:cBhvr>
                                        <p:cTn id="74" dur="500"/>
                                        <p:tgtEl>
                                          <p:spTgt spid="179202"/>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179205"/>
                                        </p:tgtEl>
                                        <p:attrNameLst>
                                          <p:attrName>style.visibility</p:attrName>
                                        </p:attrNameLst>
                                      </p:cBhvr>
                                      <p:to>
                                        <p:strVal val="visible"/>
                                      </p:to>
                                    </p:set>
                                    <p:animEffect transition="in" filter="wipe(left)">
                                      <p:cBhvr>
                                        <p:cTn id="79" dur="500"/>
                                        <p:tgtEl>
                                          <p:spTgt spid="179205"/>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179203"/>
                                        </p:tgtEl>
                                        <p:attrNameLst>
                                          <p:attrName>style.visibility</p:attrName>
                                        </p:attrNameLst>
                                      </p:cBhvr>
                                      <p:to>
                                        <p:strVal val="visible"/>
                                      </p:to>
                                    </p:set>
                                    <p:animEffect transition="in" filter="wipe(left)">
                                      <p:cBhvr>
                                        <p:cTn id="84" dur="500"/>
                                        <p:tgtEl>
                                          <p:spTgt spid="179203"/>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79222"/>
                                        </p:tgtEl>
                                        <p:attrNameLst>
                                          <p:attrName>style.visibility</p:attrName>
                                        </p:attrNameLst>
                                      </p:cBhvr>
                                      <p:to>
                                        <p:strVal val="visible"/>
                                      </p:to>
                                    </p:set>
                                    <p:animEffect transition="in" filter="wipe(left)">
                                      <p:cBhvr>
                                        <p:cTn id="89" dur="500"/>
                                        <p:tgtEl>
                                          <p:spTgt spid="179222"/>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179221"/>
                                        </p:tgtEl>
                                        <p:attrNameLst>
                                          <p:attrName>style.visibility</p:attrName>
                                        </p:attrNameLst>
                                      </p:cBhvr>
                                      <p:to>
                                        <p:strVal val="visible"/>
                                      </p:to>
                                    </p:set>
                                    <p:animEffect transition="in" filter="wipe(left)">
                                      <p:cBhvr>
                                        <p:cTn id="94" dur="500"/>
                                        <p:tgtEl>
                                          <p:spTgt spid="179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7" grpId="0" autoUpdateAnimBg="0"/>
      <p:bldP spid="179208" grpId="0" autoUpdateAnimBg="0"/>
      <p:bldP spid="179211" grpId="0" autoUpdateAnimBg="0"/>
      <p:bldP spid="179212" grpId="0" autoUpdateAnimBg="0"/>
      <p:bldP spid="179213" grpId="0" autoUpdateAnimBg="0"/>
      <p:bldP spid="179214" grpId="0" autoUpdateAnimBg="0"/>
      <p:bldP spid="179217" grpId="0" autoUpdateAnimBg="0"/>
      <p:bldP spid="179222"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4" name="AutoShape 4"/>
          <p:cNvSpPr>
            <a:spLocks noChangeArrowheads="1"/>
          </p:cNvSpPr>
          <p:nvPr/>
        </p:nvSpPr>
        <p:spPr bwMode="auto">
          <a:xfrm>
            <a:off x="179388" y="476250"/>
            <a:ext cx="360362" cy="576263"/>
          </a:xfrm>
          <a:prstGeom prst="star4">
            <a:avLst>
              <a:gd name="adj" fmla="val 18519"/>
            </a:avLst>
          </a:prstGeom>
          <a:gradFill rotWithShape="1">
            <a:gsLst>
              <a:gs pos="0">
                <a:srgbClr val="FF3300"/>
              </a:gs>
              <a:gs pos="100000">
                <a:srgbClr val="761800"/>
              </a:gs>
            </a:gsLst>
            <a:path path="shape">
              <a:fillToRect l="50000" t="50000" r="50000" b="50000"/>
            </a:path>
          </a:gradFill>
          <a:ln w="9525">
            <a:noFill/>
            <a:miter lim="800000"/>
            <a:headEnd/>
            <a:tailEnd/>
          </a:ln>
        </p:spPr>
        <p:txBody>
          <a:bodyPr wrap="none" anchor="ctr"/>
          <a:lstStyle/>
          <a:p>
            <a:endParaRPr lang="zh-CN" altLang="en-US"/>
          </a:p>
        </p:txBody>
      </p:sp>
      <p:sp>
        <p:nvSpPr>
          <p:cNvPr id="102405" name="Text Box 5"/>
          <p:cNvSpPr txBox="1">
            <a:spLocks noChangeArrowheads="1"/>
          </p:cNvSpPr>
          <p:nvPr/>
        </p:nvSpPr>
        <p:spPr bwMode="auto">
          <a:xfrm>
            <a:off x="539750" y="547688"/>
            <a:ext cx="1008063" cy="457200"/>
          </a:xfrm>
          <a:prstGeom prst="rect">
            <a:avLst/>
          </a:prstGeom>
          <a:noFill/>
          <a:ln w="9525">
            <a:noFill/>
            <a:miter lim="800000"/>
            <a:headEnd/>
            <a:tailEnd/>
          </a:ln>
        </p:spPr>
        <p:txBody>
          <a:bodyPr>
            <a:spAutoFit/>
          </a:bodyPr>
          <a:lstStyle/>
          <a:p>
            <a:pPr>
              <a:spcBef>
                <a:spcPct val="50000"/>
              </a:spcBef>
            </a:pPr>
            <a:r>
              <a:rPr lang="zh-CN" altLang="en-US" b="1">
                <a:solidFill>
                  <a:srgbClr val="FF3300"/>
                </a:solidFill>
              </a:rPr>
              <a:t>讨论</a:t>
            </a:r>
          </a:p>
        </p:txBody>
      </p:sp>
      <p:sp>
        <p:nvSpPr>
          <p:cNvPr id="102413" name="Text Box 13"/>
          <p:cNvSpPr txBox="1">
            <a:spLocks noChangeArrowheads="1"/>
          </p:cNvSpPr>
          <p:nvPr/>
        </p:nvSpPr>
        <p:spPr bwMode="auto">
          <a:xfrm>
            <a:off x="179388" y="1271588"/>
            <a:ext cx="8012112" cy="933450"/>
          </a:xfrm>
          <a:prstGeom prst="rect">
            <a:avLst/>
          </a:prstGeom>
          <a:noFill/>
          <a:ln w="9525">
            <a:noFill/>
            <a:miter lim="800000"/>
            <a:headEnd/>
            <a:tailEnd/>
          </a:ln>
        </p:spPr>
        <p:txBody>
          <a:bodyPr>
            <a:spAutoFit/>
          </a:bodyPr>
          <a:lstStyle/>
          <a:p>
            <a:pPr marL="381000" indent="-381000" eaLnBrk="0" hangingPunct="0">
              <a:lnSpc>
                <a:spcPct val="115000"/>
              </a:lnSpc>
            </a:pPr>
            <a:r>
              <a:rPr lang="en-US" altLang="zh-CN" b="1">
                <a:ea typeface="楷体_GB2312" pitchFamily="49" charset="-122"/>
              </a:rPr>
              <a:t>(1) </a:t>
            </a:r>
            <a:r>
              <a:rPr lang="zh-CN" altLang="en-US" b="1">
                <a:latin typeface="Bookman Old Style" pitchFamily="18" charset="0"/>
                <a:ea typeface="楷体_GB2312" pitchFamily="49" charset="-122"/>
              </a:rPr>
              <a:t>在波的传播过程中，</a:t>
            </a:r>
            <a:r>
              <a:rPr lang="zh-CN" altLang="en-US" b="1">
                <a:solidFill>
                  <a:srgbClr val="FF6600"/>
                </a:solidFill>
                <a:latin typeface="Bookman Old Style" pitchFamily="18" charset="0"/>
                <a:ea typeface="楷体_GB2312" pitchFamily="49" charset="-122"/>
              </a:rPr>
              <a:t>媒质中任一质点的动能和势能是同步变化的</a:t>
            </a:r>
            <a:r>
              <a:rPr lang="zh-CN" altLang="en-US" b="1">
                <a:latin typeface="Bookman Old Style" pitchFamily="18" charset="0"/>
                <a:ea typeface="楷体_GB2312" pitchFamily="49" charset="-122"/>
              </a:rPr>
              <a:t>，即</a:t>
            </a:r>
            <a:r>
              <a:rPr lang="en-US" altLang="zh-CN" b="1" i="1">
                <a:solidFill>
                  <a:srgbClr val="FF6600"/>
                </a:solidFill>
                <a:ea typeface="仿宋_GB2312" pitchFamily="49" charset="-122"/>
                <a:cs typeface="Times New Roman" pitchFamily="18" charset="0"/>
              </a:rPr>
              <a:t>E</a:t>
            </a:r>
            <a:r>
              <a:rPr lang="en-US" altLang="zh-CN" b="1" i="1" baseline="-25000">
                <a:solidFill>
                  <a:srgbClr val="FF6600"/>
                </a:solidFill>
                <a:ea typeface="仿宋_GB2312" pitchFamily="49" charset="-122"/>
                <a:cs typeface="Times New Roman" pitchFamily="18" charset="0"/>
              </a:rPr>
              <a:t>k</a:t>
            </a:r>
            <a:r>
              <a:rPr lang="en-US" altLang="zh-CN" b="1" i="1">
                <a:solidFill>
                  <a:srgbClr val="FF6600"/>
                </a:solidFill>
                <a:ea typeface="仿宋_GB2312" pitchFamily="49" charset="-122"/>
                <a:cs typeface="Times New Roman" pitchFamily="18" charset="0"/>
              </a:rPr>
              <a:t>=E</a:t>
            </a:r>
            <a:r>
              <a:rPr lang="en-US" altLang="zh-CN" b="1" i="1" baseline="-25000">
                <a:solidFill>
                  <a:srgbClr val="FF6600"/>
                </a:solidFill>
                <a:ea typeface="仿宋_GB2312" pitchFamily="49" charset="-122"/>
                <a:cs typeface="Times New Roman" pitchFamily="18" charset="0"/>
              </a:rPr>
              <a:t>p</a:t>
            </a:r>
            <a:r>
              <a:rPr lang="zh-CN" altLang="en-US" b="1">
                <a:latin typeface="Bookman Old Style" pitchFamily="18" charset="0"/>
                <a:ea typeface="仿宋_GB2312" pitchFamily="49" charset="-122"/>
              </a:rPr>
              <a:t>。</a:t>
            </a:r>
            <a:endParaRPr lang="zh-CN" altLang="en-US" b="1">
              <a:latin typeface="Bookman Old Style" pitchFamily="18" charset="0"/>
              <a:ea typeface="楷体_GB2312" pitchFamily="49" charset="-122"/>
            </a:endParaRPr>
          </a:p>
        </p:txBody>
      </p:sp>
      <p:sp>
        <p:nvSpPr>
          <p:cNvPr id="102431" name="Rectangle 31"/>
          <p:cNvSpPr>
            <a:spLocks noChangeArrowheads="1"/>
          </p:cNvSpPr>
          <p:nvPr/>
        </p:nvSpPr>
        <p:spPr bwMode="auto">
          <a:xfrm>
            <a:off x="171450" y="2424113"/>
            <a:ext cx="8577263" cy="933450"/>
          </a:xfrm>
          <a:prstGeom prst="rect">
            <a:avLst/>
          </a:prstGeom>
          <a:noFill/>
          <a:ln w="9525">
            <a:noFill/>
            <a:miter lim="800000"/>
            <a:headEnd/>
            <a:tailEnd/>
          </a:ln>
        </p:spPr>
        <p:txBody>
          <a:bodyPr>
            <a:spAutoFit/>
          </a:bodyPr>
          <a:lstStyle/>
          <a:p>
            <a:pPr marL="381000" indent="-381000" eaLnBrk="0" hangingPunct="0">
              <a:lnSpc>
                <a:spcPct val="115000"/>
              </a:lnSpc>
            </a:pPr>
            <a:r>
              <a:rPr lang="en-US" altLang="zh-CN" b="1">
                <a:ea typeface="楷体_GB2312" pitchFamily="49" charset="-122"/>
              </a:rPr>
              <a:t>(2) </a:t>
            </a:r>
            <a:r>
              <a:rPr lang="zh-CN" altLang="en-US" b="1">
                <a:latin typeface="楷体_GB2312" pitchFamily="49" charset="-122"/>
                <a:ea typeface="楷体_GB2312" pitchFamily="49" charset="-122"/>
              </a:rPr>
              <a:t>质点机械能随</a:t>
            </a:r>
            <a:r>
              <a:rPr lang="zh-CN" altLang="en-US" b="1">
                <a:solidFill>
                  <a:srgbClr val="FF6600"/>
                </a:solidFill>
                <a:latin typeface="宋体" pitchFamily="2" charset="-122"/>
                <a:ea typeface="楷体_GB2312" pitchFamily="49" charset="-122"/>
              </a:rPr>
              <a:t>时空</a:t>
            </a:r>
            <a:r>
              <a:rPr lang="zh-CN" altLang="en-US" b="1">
                <a:solidFill>
                  <a:srgbClr val="FF6600"/>
                </a:solidFill>
                <a:latin typeface="楷体_GB2312" pitchFamily="49" charset="-122"/>
                <a:ea typeface="楷体_GB2312" pitchFamily="49" charset="-122"/>
              </a:rPr>
              <a:t>周期性变化</a:t>
            </a:r>
            <a:r>
              <a:rPr lang="zh-CN" altLang="en-US" b="1">
                <a:latin typeface="楷体_GB2312" pitchFamily="49" charset="-122"/>
                <a:ea typeface="楷体_GB2312" pitchFamily="49" charset="-122"/>
              </a:rPr>
              <a:t>，表明质点在波传播过程中不断吸收和放出能量；</a:t>
            </a:r>
            <a:r>
              <a:rPr lang="zh-CN" altLang="en-US" b="1">
                <a:latin typeface="仿宋_GB2312" pitchFamily="49" charset="-122"/>
                <a:ea typeface="楷体_GB2312" pitchFamily="49" charset="-122"/>
              </a:rPr>
              <a:t>因此</a:t>
            </a:r>
            <a:r>
              <a:rPr lang="zh-CN" altLang="en-US" b="1">
                <a:solidFill>
                  <a:srgbClr val="FF6600"/>
                </a:solidFill>
                <a:latin typeface="仿宋_GB2312" pitchFamily="49" charset="-122"/>
                <a:ea typeface="楷体_GB2312" pitchFamily="49" charset="-122"/>
              </a:rPr>
              <a:t>波动过程是能量的传播过程</a:t>
            </a:r>
            <a:r>
              <a:rPr lang="zh-CN" altLang="en-US" b="1">
                <a:latin typeface="仿宋_GB2312" pitchFamily="49" charset="-122"/>
                <a:ea typeface="楷体_GB2312" pitchFamily="49" charset="-122"/>
              </a:rPr>
              <a:t>。</a:t>
            </a:r>
          </a:p>
        </p:txBody>
      </p:sp>
      <p:sp>
        <p:nvSpPr>
          <p:cNvPr id="102432" name="Text Box 32"/>
          <p:cNvSpPr txBox="1">
            <a:spLocks noChangeArrowheads="1"/>
          </p:cNvSpPr>
          <p:nvPr/>
        </p:nvSpPr>
        <p:spPr bwMode="auto">
          <a:xfrm>
            <a:off x="179388" y="3763963"/>
            <a:ext cx="7993062" cy="457200"/>
          </a:xfrm>
          <a:prstGeom prst="rect">
            <a:avLst/>
          </a:prstGeom>
          <a:noFill/>
          <a:ln w="9525">
            <a:noFill/>
            <a:miter lim="800000"/>
            <a:headEnd/>
            <a:tailEnd/>
          </a:ln>
        </p:spPr>
        <p:txBody>
          <a:bodyPr>
            <a:spAutoFit/>
          </a:bodyPr>
          <a:lstStyle/>
          <a:p>
            <a:pPr>
              <a:spcBef>
                <a:spcPct val="50000"/>
              </a:spcBef>
            </a:pPr>
            <a:r>
              <a:rPr lang="en-US" altLang="zh-CN" b="1">
                <a:ea typeface="楷体_GB2312" pitchFamily="49" charset="-122"/>
                <a:cs typeface="Times New Roman" pitchFamily="18" charset="0"/>
              </a:rPr>
              <a:t>(3) </a:t>
            </a:r>
            <a:r>
              <a:rPr lang="zh-CN" altLang="en-US" b="1">
                <a:ea typeface="楷体_GB2312" pitchFamily="49" charset="-122"/>
                <a:cs typeface="Times New Roman" pitchFamily="18" charset="0"/>
              </a:rPr>
              <a:t>通常把</a:t>
            </a:r>
            <a:r>
              <a:rPr lang="zh-CN" altLang="en-US" b="1">
                <a:solidFill>
                  <a:srgbClr val="669900"/>
                </a:solidFill>
                <a:ea typeface="楷体_GB2312" pitchFamily="49" charset="-122"/>
                <a:cs typeface="Times New Roman" pitchFamily="18" charset="0"/>
              </a:rPr>
              <a:t>振动状态</a:t>
            </a:r>
            <a:r>
              <a:rPr lang="zh-CN" altLang="en-US" b="1">
                <a:ea typeface="楷体_GB2312" pitchFamily="49" charset="-122"/>
                <a:cs typeface="Times New Roman" pitchFamily="18" charset="0"/>
              </a:rPr>
              <a:t>和</a:t>
            </a:r>
            <a:r>
              <a:rPr lang="zh-CN" altLang="en-US" b="1">
                <a:solidFill>
                  <a:srgbClr val="669900"/>
                </a:solidFill>
                <a:ea typeface="楷体_GB2312" pitchFamily="49" charset="-122"/>
                <a:cs typeface="Times New Roman" pitchFamily="18" charset="0"/>
              </a:rPr>
              <a:t>能量</a:t>
            </a:r>
            <a:r>
              <a:rPr lang="zh-CN" altLang="en-US" b="1">
                <a:ea typeface="楷体_GB2312" pitchFamily="49" charset="-122"/>
                <a:cs typeface="Times New Roman" pitchFamily="18" charset="0"/>
              </a:rPr>
              <a:t>传播的波称为</a:t>
            </a:r>
            <a:r>
              <a:rPr lang="zh-CN" altLang="en-US" b="1">
                <a:solidFill>
                  <a:srgbClr val="FF6600"/>
                </a:solidFill>
                <a:ea typeface="楷体_GB2312" pitchFamily="49" charset="-122"/>
                <a:cs typeface="Times New Roman" pitchFamily="18" charset="0"/>
              </a:rPr>
              <a:t>行波。</a:t>
            </a:r>
            <a:r>
              <a:rPr lang="zh-CN" altLang="en-US" b="1">
                <a:ea typeface="楷体_GB2312" pitchFamily="49" charset="-122"/>
                <a:cs typeface="Times New Roman" pitchFamily="18" charset="0"/>
              </a:rPr>
              <a:t> </a:t>
            </a:r>
          </a:p>
        </p:txBody>
      </p:sp>
      <p:sp>
        <p:nvSpPr>
          <p:cNvPr id="102433" name="Text Box 33"/>
          <p:cNvSpPr txBox="1">
            <a:spLocks noChangeArrowheads="1"/>
          </p:cNvSpPr>
          <p:nvPr/>
        </p:nvSpPr>
        <p:spPr bwMode="auto">
          <a:xfrm>
            <a:off x="179388" y="4646613"/>
            <a:ext cx="8351837" cy="366712"/>
          </a:xfrm>
          <a:prstGeom prst="rect">
            <a:avLst/>
          </a:prstGeom>
          <a:noFill/>
          <a:ln w="9525">
            <a:noFill/>
            <a:miter lim="800000"/>
            <a:headEnd/>
            <a:tailEnd/>
          </a:ln>
        </p:spPr>
        <p:txBody>
          <a:bodyPr>
            <a:spAutoFit/>
          </a:bodyPr>
          <a:lstStyle/>
          <a:p>
            <a:pPr>
              <a:lnSpc>
                <a:spcPct val="75000"/>
              </a:lnSpc>
              <a:spcBef>
                <a:spcPct val="50000"/>
              </a:spcBef>
            </a:pPr>
            <a:r>
              <a:rPr lang="en-US" altLang="zh-CN" b="1">
                <a:ea typeface="楷体_GB2312" pitchFamily="49" charset="-122"/>
                <a:cs typeface="Times New Roman" pitchFamily="18" charset="0"/>
              </a:rPr>
              <a:t>(4) </a:t>
            </a:r>
            <a:r>
              <a:rPr lang="zh-CN" altLang="en-US" b="1">
                <a:ea typeface="楷体_GB2312" pitchFamily="49" charset="-122"/>
                <a:cs typeface="Times New Roman" pitchFamily="18" charset="0"/>
              </a:rPr>
              <a:t>波动的能量与谐振动的能量有着</a:t>
            </a:r>
            <a:r>
              <a:rPr lang="zh-CN" altLang="en-US" b="1">
                <a:solidFill>
                  <a:srgbClr val="9900CC"/>
                </a:solidFill>
                <a:ea typeface="楷体_GB2312" pitchFamily="49" charset="-122"/>
                <a:cs typeface="Times New Roman" pitchFamily="18" charset="0"/>
              </a:rPr>
              <a:t>显著区别</a:t>
            </a:r>
            <a:r>
              <a:rPr lang="zh-CN" altLang="en-US" b="1">
                <a:ea typeface="楷体_GB2312" pitchFamily="49" charset="-122"/>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102404"/>
                                        </p:tgtEl>
                                        <p:attrNameLst>
                                          <p:attrName>style.visibility</p:attrName>
                                        </p:attrNameLst>
                                      </p:cBhvr>
                                      <p:to>
                                        <p:strVal val="visible"/>
                                      </p:to>
                                    </p:set>
                                    <p:anim calcmode="lin" valueType="num">
                                      <p:cBhvr>
                                        <p:cTn id="7" dur="500" fill="hold"/>
                                        <p:tgtEl>
                                          <p:spTgt spid="102404"/>
                                        </p:tgtEl>
                                        <p:attrNameLst>
                                          <p:attrName>ppt_w</p:attrName>
                                        </p:attrNameLst>
                                      </p:cBhvr>
                                      <p:tavLst>
                                        <p:tav tm="0">
                                          <p:val>
                                            <p:strVal val="4*#ppt_w"/>
                                          </p:val>
                                        </p:tav>
                                        <p:tav tm="100000">
                                          <p:val>
                                            <p:strVal val="#ppt_w"/>
                                          </p:val>
                                        </p:tav>
                                      </p:tavLst>
                                    </p:anim>
                                    <p:anim calcmode="lin" valueType="num">
                                      <p:cBhvr>
                                        <p:cTn id="8" dur="500" fill="hold"/>
                                        <p:tgtEl>
                                          <p:spTgt spid="102404"/>
                                        </p:tgtEl>
                                        <p:attrNameLst>
                                          <p:attrName>ppt_h</p:attrName>
                                        </p:attrNameLst>
                                      </p:cBhvr>
                                      <p:tavLst>
                                        <p:tav tm="0">
                                          <p:val>
                                            <p:strVal val="4*#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2405"/>
                                        </p:tgtEl>
                                        <p:attrNameLst>
                                          <p:attrName>style.visibility</p:attrName>
                                        </p:attrNameLst>
                                      </p:cBhvr>
                                      <p:to>
                                        <p:strVal val="visible"/>
                                      </p:to>
                                    </p:set>
                                    <p:animEffect transition="in" filter="wipe(left)">
                                      <p:cBhvr>
                                        <p:cTn id="13" dur="500"/>
                                        <p:tgtEl>
                                          <p:spTgt spid="10240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2413"/>
                                        </p:tgtEl>
                                        <p:attrNameLst>
                                          <p:attrName>style.visibility</p:attrName>
                                        </p:attrNameLst>
                                      </p:cBhvr>
                                      <p:to>
                                        <p:strVal val="visible"/>
                                      </p:to>
                                    </p:set>
                                    <p:animEffect transition="in" filter="wipe(left)">
                                      <p:cBhvr>
                                        <p:cTn id="18" dur="500"/>
                                        <p:tgtEl>
                                          <p:spTgt spid="1024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2431"/>
                                        </p:tgtEl>
                                        <p:attrNameLst>
                                          <p:attrName>style.visibility</p:attrName>
                                        </p:attrNameLst>
                                      </p:cBhvr>
                                      <p:to>
                                        <p:strVal val="visible"/>
                                      </p:to>
                                    </p:set>
                                    <p:animEffect transition="in" filter="wipe(left)">
                                      <p:cBhvr>
                                        <p:cTn id="23" dur="500"/>
                                        <p:tgtEl>
                                          <p:spTgt spid="10243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2432"/>
                                        </p:tgtEl>
                                        <p:attrNameLst>
                                          <p:attrName>style.visibility</p:attrName>
                                        </p:attrNameLst>
                                      </p:cBhvr>
                                      <p:to>
                                        <p:strVal val="visible"/>
                                      </p:to>
                                    </p:set>
                                    <p:animEffect transition="in" filter="wipe(left)">
                                      <p:cBhvr>
                                        <p:cTn id="28" dur="500"/>
                                        <p:tgtEl>
                                          <p:spTgt spid="10243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02433"/>
                                        </p:tgtEl>
                                        <p:attrNameLst>
                                          <p:attrName>style.visibility</p:attrName>
                                        </p:attrNameLst>
                                      </p:cBhvr>
                                      <p:to>
                                        <p:strVal val="visible"/>
                                      </p:to>
                                    </p:set>
                                    <p:animEffect transition="in" filter="wipe(left)">
                                      <p:cBhvr>
                                        <p:cTn id="33" dur="500"/>
                                        <p:tgtEl>
                                          <p:spTgt spid="1024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4" grpId="0" animBg="1"/>
      <p:bldP spid="102405" grpId="0"/>
      <p:bldP spid="102413" grpId="0" autoUpdateAnimBg="0"/>
      <p:bldP spid="102431" grpId="0"/>
      <p:bldP spid="102432" grpId="0"/>
      <p:bldP spid="10243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8" name="Text Box 4"/>
          <p:cNvSpPr txBox="1">
            <a:spLocks noChangeArrowheads="1"/>
          </p:cNvSpPr>
          <p:nvPr/>
        </p:nvSpPr>
        <p:spPr bwMode="auto">
          <a:xfrm>
            <a:off x="179388" y="450850"/>
            <a:ext cx="4608512" cy="457200"/>
          </a:xfrm>
          <a:prstGeom prst="rect">
            <a:avLst/>
          </a:prstGeom>
          <a:noFill/>
          <a:ln w="9525">
            <a:noFill/>
            <a:miter lim="800000"/>
            <a:headEnd/>
            <a:tailEnd/>
          </a:ln>
        </p:spPr>
        <p:txBody>
          <a:bodyPr>
            <a:spAutoFit/>
          </a:bodyPr>
          <a:lstStyle/>
          <a:p>
            <a:pPr>
              <a:spcBef>
                <a:spcPct val="50000"/>
              </a:spcBef>
            </a:pPr>
            <a:r>
              <a:rPr lang="zh-CN" altLang="en-US" b="1">
                <a:solidFill>
                  <a:srgbClr val="FF3300"/>
                </a:solidFill>
              </a:rPr>
              <a:t>二、能流和能流密度</a:t>
            </a:r>
            <a:r>
              <a:rPr lang="zh-CN" altLang="en-US"/>
              <a:t> </a:t>
            </a:r>
          </a:p>
        </p:txBody>
      </p:sp>
      <p:grpSp>
        <p:nvGrpSpPr>
          <p:cNvPr id="2" name="Group 20"/>
          <p:cNvGrpSpPr>
            <a:grpSpLocks/>
          </p:cNvGrpSpPr>
          <p:nvPr/>
        </p:nvGrpSpPr>
        <p:grpSpPr bwMode="auto">
          <a:xfrm>
            <a:off x="1619250" y="1054100"/>
            <a:ext cx="5895975" cy="1079500"/>
            <a:chOff x="1207" y="487"/>
            <a:chExt cx="3714" cy="680"/>
          </a:xfrm>
        </p:grpSpPr>
        <p:sp>
          <p:nvSpPr>
            <p:cNvPr id="24593" name="Oval 21"/>
            <p:cNvSpPr>
              <a:spLocks noChangeArrowheads="1"/>
            </p:cNvSpPr>
            <p:nvPr/>
          </p:nvSpPr>
          <p:spPr bwMode="auto">
            <a:xfrm>
              <a:off x="1207" y="487"/>
              <a:ext cx="3714" cy="680"/>
            </a:xfrm>
            <a:prstGeom prst="ellipse">
              <a:avLst/>
            </a:prstGeom>
            <a:solidFill>
              <a:srgbClr val="CCFFCC"/>
            </a:solidFill>
            <a:ln w="9525">
              <a:solidFill>
                <a:srgbClr val="000099"/>
              </a:solidFill>
              <a:round/>
              <a:headEnd/>
              <a:tailEnd/>
            </a:ln>
          </p:spPr>
          <p:txBody>
            <a:bodyPr wrap="none" anchor="ctr"/>
            <a:lstStyle/>
            <a:p>
              <a:endParaRPr lang="zh-CN" altLang="en-US"/>
            </a:p>
          </p:txBody>
        </p:sp>
        <p:graphicFrame>
          <p:nvGraphicFramePr>
            <p:cNvPr id="24584" name="Object 22"/>
            <p:cNvGraphicFramePr>
              <a:graphicFrameLocks/>
            </p:cNvGraphicFramePr>
            <p:nvPr/>
          </p:nvGraphicFramePr>
          <p:xfrm>
            <a:off x="2178" y="594"/>
            <a:ext cx="2360" cy="460"/>
          </p:xfrm>
          <a:graphic>
            <a:graphicData uri="http://schemas.openxmlformats.org/presentationml/2006/ole">
              <p:oleObj spid="_x0000_s24584" name="公式" r:id="rId3" imgW="2082600" imgH="406080" progId="Equation.3">
                <p:embed/>
              </p:oleObj>
            </a:graphicData>
          </a:graphic>
        </p:graphicFrame>
        <p:sp>
          <p:nvSpPr>
            <p:cNvPr id="24594" name="Rectangle 23"/>
            <p:cNvSpPr>
              <a:spLocks noChangeArrowheads="1"/>
            </p:cNvSpPr>
            <p:nvPr/>
          </p:nvSpPr>
          <p:spPr bwMode="auto">
            <a:xfrm>
              <a:off x="1395" y="657"/>
              <a:ext cx="1088" cy="288"/>
            </a:xfrm>
            <a:prstGeom prst="rect">
              <a:avLst/>
            </a:prstGeom>
            <a:noFill/>
            <a:ln w="9525">
              <a:noFill/>
              <a:miter lim="800000"/>
              <a:headEnd/>
              <a:tailEnd/>
            </a:ln>
          </p:spPr>
          <p:txBody>
            <a:bodyPr>
              <a:spAutoFit/>
            </a:bodyPr>
            <a:lstStyle/>
            <a:p>
              <a:r>
                <a:rPr lang="zh-CN" altLang="en-US" b="1">
                  <a:solidFill>
                    <a:srgbClr val="FF6600"/>
                  </a:solidFill>
                  <a:latin typeface="楷体_GB2312" pitchFamily="49" charset="-122"/>
                  <a:ea typeface="楷体_GB2312" pitchFamily="49" charset="-122"/>
                </a:rPr>
                <a:t>机械能</a:t>
              </a:r>
            </a:p>
          </p:txBody>
        </p:sp>
      </p:grpSp>
      <p:sp>
        <p:nvSpPr>
          <p:cNvPr id="103448" name="Text Box 24"/>
          <p:cNvSpPr txBox="1">
            <a:spLocks noChangeArrowheads="1"/>
          </p:cNvSpPr>
          <p:nvPr/>
        </p:nvSpPr>
        <p:spPr bwMode="auto">
          <a:xfrm>
            <a:off x="179388" y="2108200"/>
            <a:ext cx="2438400" cy="457200"/>
          </a:xfrm>
          <a:prstGeom prst="rect">
            <a:avLst/>
          </a:prstGeom>
          <a:noFill/>
          <a:ln w="9525">
            <a:noFill/>
            <a:miter lim="800000"/>
            <a:headEnd/>
            <a:tailEnd/>
          </a:ln>
        </p:spPr>
        <p:txBody>
          <a:bodyPr>
            <a:spAutoFit/>
          </a:bodyPr>
          <a:lstStyle/>
          <a:p>
            <a:pPr eaLnBrk="0" hangingPunct="0">
              <a:spcBef>
                <a:spcPct val="50000"/>
              </a:spcBef>
            </a:pPr>
            <a:r>
              <a:rPr lang="en-US" altLang="zh-CN" b="1">
                <a:solidFill>
                  <a:srgbClr val="0033CC"/>
                </a:solidFill>
              </a:rPr>
              <a:t>1.</a:t>
            </a:r>
            <a:r>
              <a:rPr lang="en-US" altLang="zh-CN" b="1">
                <a:solidFill>
                  <a:srgbClr val="0033CC"/>
                </a:solidFill>
                <a:latin typeface="宋体" pitchFamily="2" charset="-122"/>
              </a:rPr>
              <a:t> </a:t>
            </a:r>
            <a:r>
              <a:rPr lang="zh-CN" altLang="en-US" b="1">
                <a:solidFill>
                  <a:srgbClr val="0033CC"/>
                </a:solidFill>
                <a:latin typeface="宋体" pitchFamily="2" charset="-122"/>
              </a:rPr>
              <a:t>能量密度</a:t>
            </a:r>
          </a:p>
        </p:txBody>
      </p:sp>
      <p:sp>
        <p:nvSpPr>
          <p:cNvPr id="103449" name="Text Box 25"/>
          <p:cNvSpPr txBox="1">
            <a:spLocks noChangeArrowheads="1"/>
          </p:cNvSpPr>
          <p:nvPr/>
        </p:nvSpPr>
        <p:spPr bwMode="auto">
          <a:xfrm>
            <a:off x="492125" y="2686050"/>
            <a:ext cx="5181600" cy="457200"/>
          </a:xfrm>
          <a:prstGeom prst="rect">
            <a:avLst/>
          </a:prstGeom>
          <a:noFill/>
          <a:ln w="9525">
            <a:noFill/>
            <a:miter lim="800000"/>
            <a:headEnd/>
            <a:tailEnd/>
          </a:ln>
        </p:spPr>
        <p:txBody>
          <a:bodyPr>
            <a:spAutoFit/>
          </a:bodyPr>
          <a:lstStyle/>
          <a:p>
            <a:pPr>
              <a:spcBef>
                <a:spcPct val="50000"/>
              </a:spcBef>
            </a:pPr>
            <a:r>
              <a:rPr lang="zh-CN" altLang="en-US" b="1">
                <a:latin typeface="楷体_GB2312" pitchFamily="49" charset="-122"/>
                <a:ea typeface="楷体_GB2312" pitchFamily="49" charset="-122"/>
              </a:rPr>
              <a:t>设绳子的横截面为 </a:t>
            </a:r>
            <a:r>
              <a:rPr lang="en-US" altLang="zh-CN" b="1" i="1">
                <a:solidFill>
                  <a:srgbClr val="FF6600"/>
                </a:solidFill>
              </a:rPr>
              <a:t>S</a:t>
            </a:r>
            <a:r>
              <a:rPr lang="en-US" altLang="zh-CN" b="1" i="1">
                <a:solidFill>
                  <a:srgbClr val="FF6600"/>
                </a:solidFill>
                <a:latin typeface="宋体" pitchFamily="2" charset="-122"/>
              </a:rPr>
              <a:t> </a:t>
            </a:r>
            <a:r>
              <a:rPr lang="zh-CN" altLang="en-US" b="1">
                <a:latin typeface="楷体_GB2312" pitchFamily="49" charset="-122"/>
                <a:ea typeface="楷体_GB2312" pitchFamily="49" charset="-122"/>
              </a:rPr>
              <a:t>，体密度为</a:t>
            </a:r>
            <a:endParaRPr lang="zh-CN" altLang="en-US" b="1">
              <a:solidFill>
                <a:srgbClr val="FF6600"/>
              </a:solidFill>
              <a:latin typeface="楷体_GB2312" pitchFamily="49" charset="-122"/>
              <a:ea typeface="楷体_GB2312" pitchFamily="49" charset="-122"/>
            </a:endParaRPr>
          </a:p>
        </p:txBody>
      </p:sp>
      <p:graphicFrame>
        <p:nvGraphicFramePr>
          <p:cNvPr id="103450" name="Object 26"/>
          <p:cNvGraphicFramePr>
            <a:graphicFrameLocks noChangeAspect="1"/>
          </p:cNvGraphicFramePr>
          <p:nvPr/>
        </p:nvGraphicFramePr>
        <p:xfrm>
          <a:off x="1511300" y="3778250"/>
          <a:ext cx="1092200" cy="730250"/>
        </p:xfrm>
        <a:graphic>
          <a:graphicData uri="http://schemas.openxmlformats.org/presentationml/2006/ole">
            <p:oleObj spid="_x0000_s24578" name="公式" r:id="rId4" imgW="609480" imgH="406080" progId="Equation.3">
              <p:embed/>
            </p:oleObj>
          </a:graphicData>
        </a:graphic>
      </p:graphicFrame>
      <p:graphicFrame>
        <p:nvGraphicFramePr>
          <p:cNvPr id="103451" name="Object 27"/>
          <p:cNvGraphicFramePr>
            <a:graphicFrameLocks/>
          </p:cNvGraphicFramePr>
          <p:nvPr/>
        </p:nvGraphicFramePr>
        <p:xfrm>
          <a:off x="5054600" y="2792413"/>
          <a:ext cx="273050" cy="298450"/>
        </p:xfrm>
        <a:graphic>
          <a:graphicData uri="http://schemas.openxmlformats.org/presentationml/2006/ole">
            <p:oleObj spid="_x0000_s24579" name="公式" r:id="rId5" imgW="152280" imgH="164880" progId="Equation.3">
              <p:embed/>
            </p:oleObj>
          </a:graphicData>
        </a:graphic>
      </p:graphicFrame>
      <p:sp>
        <p:nvSpPr>
          <p:cNvPr id="103452" name="Text Box 28"/>
          <p:cNvSpPr txBox="1">
            <a:spLocks noChangeArrowheads="1"/>
          </p:cNvSpPr>
          <p:nvPr/>
        </p:nvSpPr>
        <p:spPr bwMode="auto">
          <a:xfrm>
            <a:off x="5205413" y="2678113"/>
            <a:ext cx="3687762" cy="457200"/>
          </a:xfrm>
          <a:prstGeom prst="rect">
            <a:avLst/>
          </a:prstGeom>
          <a:noFill/>
          <a:ln w="9525">
            <a:noFill/>
            <a:miter lim="800000"/>
            <a:headEnd/>
            <a:tailEnd/>
          </a:ln>
        </p:spPr>
        <p:txBody>
          <a:bodyPr>
            <a:spAutoFit/>
          </a:bodyPr>
          <a:lstStyle/>
          <a:p>
            <a:pPr>
              <a:spcBef>
                <a:spcPct val="50000"/>
              </a:spcBef>
            </a:pPr>
            <a:r>
              <a:rPr lang="zh-CN" altLang="en-US" b="1">
                <a:latin typeface="楷体_GB2312" pitchFamily="49" charset="-122"/>
                <a:ea typeface="楷体_GB2312" pitchFamily="49" charset="-122"/>
              </a:rPr>
              <a:t>，则沿着波的传播方向，</a:t>
            </a:r>
          </a:p>
        </p:txBody>
      </p:sp>
      <p:sp>
        <p:nvSpPr>
          <p:cNvPr id="103453" name="Rectangle 29"/>
          <p:cNvSpPr>
            <a:spLocks noChangeArrowheads="1"/>
          </p:cNvSpPr>
          <p:nvPr/>
        </p:nvSpPr>
        <p:spPr bwMode="auto">
          <a:xfrm>
            <a:off x="468313" y="3187700"/>
            <a:ext cx="6002337" cy="457200"/>
          </a:xfrm>
          <a:prstGeom prst="rect">
            <a:avLst/>
          </a:prstGeom>
          <a:noFill/>
          <a:ln w="28575">
            <a:noFill/>
            <a:miter lim="800000"/>
            <a:headEnd/>
            <a:tailEnd/>
          </a:ln>
        </p:spPr>
        <p:txBody>
          <a:bodyPr>
            <a:spAutoFit/>
          </a:bodyPr>
          <a:lstStyle/>
          <a:p>
            <a:pPr>
              <a:spcBef>
                <a:spcPct val="50000"/>
              </a:spcBef>
            </a:pPr>
            <a:r>
              <a:rPr lang="zh-CN" altLang="en-US" b="1">
                <a:ea typeface="楷体_GB2312" pitchFamily="49" charset="-122"/>
              </a:rPr>
              <a:t>单位体积</a:t>
            </a:r>
            <a:r>
              <a:rPr lang="zh-CN" altLang="en-US" b="1">
                <a:latin typeface="宋体" pitchFamily="2" charset="-122"/>
                <a:ea typeface="楷体_GB2312" pitchFamily="49" charset="-122"/>
              </a:rPr>
              <a:t>中波的能量（</a:t>
            </a:r>
            <a:r>
              <a:rPr lang="zh-CN" altLang="en-US" b="1">
                <a:solidFill>
                  <a:srgbClr val="FF6600"/>
                </a:solidFill>
                <a:ea typeface="楷体_GB2312" pitchFamily="49" charset="-122"/>
              </a:rPr>
              <a:t>能量密度</a:t>
            </a:r>
            <a:r>
              <a:rPr lang="zh-CN" altLang="en-US" b="1">
                <a:ea typeface="楷体_GB2312" pitchFamily="49" charset="-122"/>
              </a:rPr>
              <a:t>）</a:t>
            </a:r>
            <a:r>
              <a:rPr lang="zh-CN" altLang="en-US" b="1">
                <a:latin typeface="宋体" pitchFamily="2" charset="-122"/>
                <a:ea typeface="楷体_GB2312" pitchFamily="49" charset="-122"/>
              </a:rPr>
              <a:t>为</a:t>
            </a:r>
          </a:p>
        </p:txBody>
      </p:sp>
      <p:graphicFrame>
        <p:nvGraphicFramePr>
          <p:cNvPr id="103454" name="Object 30"/>
          <p:cNvGraphicFramePr>
            <a:graphicFrameLocks noChangeAspect="1"/>
          </p:cNvGraphicFramePr>
          <p:nvPr/>
        </p:nvGraphicFramePr>
        <p:xfrm>
          <a:off x="2727325" y="3778250"/>
          <a:ext cx="3098800" cy="730250"/>
        </p:xfrm>
        <a:graphic>
          <a:graphicData uri="http://schemas.openxmlformats.org/presentationml/2006/ole">
            <p:oleObj spid="_x0000_s24580" name="公式" r:id="rId6" imgW="1726920" imgH="406080" progId="Equation.3">
              <p:embed/>
            </p:oleObj>
          </a:graphicData>
        </a:graphic>
      </p:graphicFrame>
      <p:graphicFrame>
        <p:nvGraphicFramePr>
          <p:cNvPr id="103455" name="Object 31"/>
          <p:cNvGraphicFramePr>
            <a:graphicFrameLocks noChangeAspect="1"/>
          </p:cNvGraphicFramePr>
          <p:nvPr/>
        </p:nvGraphicFramePr>
        <p:xfrm>
          <a:off x="5867400" y="4008438"/>
          <a:ext cx="1069975" cy="365125"/>
        </p:xfrm>
        <a:graphic>
          <a:graphicData uri="http://schemas.openxmlformats.org/presentationml/2006/ole">
            <p:oleObj spid="_x0000_s24581" name="公式" r:id="rId7" imgW="596880" imgH="203040" progId="Equation.3">
              <p:embed/>
            </p:oleObj>
          </a:graphicData>
        </a:graphic>
      </p:graphicFrame>
      <p:sp>
        <p:nvSpPr>
          <p:cNvPr id="103457" name="Rectangle 33"/>
          <p:cNvSpPr>
            <a:spLocks noChangeArrowheads="1"/>
          </p:cNvSpPr>
          <p:nvPr/>
        </p:nvSpPr>
        <p:spPr bwMode="auto">
          <a:xfrm>
            <a:off x="107950" y="4700588"/>
            <a:ext cx="2665413" cy="457200"/>
          </a:xfrm>
          <a:prstGeom prst="rect">
            <a:avLst/>
          </a:prstGeom>
          <a:noFill/>
          <a:ln w="9525">
            <a:noFill/>
            <a:miter lim="800000"/>
            <a:headEnd/>
            <a:tailEnd/>
          </a:ln>
        </p:spPr>
        <p:txBody>
          <a:bodyPr>
            <a:spAutoFit/>
          </a:bodyPr>
          <a:lstStyle/>
          <a:p>
            <a:pPr eaLnBrk="0" hangingPunct="0"/>
            <a:r>
              <a:rPr lang="zh-CN" altLang="en-US" b="1">
                <a:solidFill>
                  <a:srgbClr val="FF3300"/>
                </a:solidFill>
                <a:latin typeface="宋体" pitchFamily="2" charset="-122"/>
              </a:rPr>
              <a:t>平均能量密度</a:t>
            </a:r>
            <a:r>
              <a:rPr lang="en-US" altLang="zh-CN" b="1">
                <a:solidFill>
                  <a:srgbClr val="FF3300"/>
                </a:solidFill>
                <a:latin typeface="宋体" pitchFamily="2" charset="-122"/>
              </a:rPr>
              <a:t>:</a:t>
            </a:r>
            <a:endParaRPr lang="en-US" altLang="zh-CN">
              <a:solidFill>
                <a:srgbClr val="FF3300"/>
              </a:solidFill>
            </a:endParaRPr>
          </a:p>
        </p:txBody>
      </p:sp>
      <p:sp>
        <p:nvSpPr>
          <p:cNvPr id="103458" name="Rectangle 34"/>
          <p:cNvSpPr>
            <a:spLocks noChangeArrowheads="1"/>
          </p:cNvSpPr>
          <p:nvPr/>
        </p:nvSpPr>
        <p:spPr bwMode="auto">
          <a:xfrm>
            <a:off x="2303463" y="4700588"/>
            <a:ext cx="5076825" cy="457200"/>
          </a:xfrm>
          <a:prstGeom prst="rect">
            <a:avLst/>
          </a:prstGeom>
          <a:noFill/>
          <a:ln w="9525">
            <a:noFill/>
            <a:miter lim="800000"/>
            <a:headEnd/>
            <a:tailEnd/>
          </a:ln>
        </p:spPr>
        <p:txBody>
          <a:bodyPr>
            <a:spAutoFit/>
          </a:bodyPr>
          <a:lstStyle/>
          <a:p>
            <a:pPr eaLnBrk="0" hangingPunct="0"/>
            <a:r>
              <a:rPr lang="zh-CN" altLang="en-US" b="1">
                <a:ea typeface="楷体_GB2312" pitchFamily="49" charset="-122"/>
              </a:rPr>
              <a:t>能量密度在一个周期内的平均值。</a:t>
            </a:r>
            <a:endParaRPr lang="zh-CN" altLang="en-US">
              <a:ea typeface="楷体_GB2312" pitchFamily="49" charset="-122"/>
            </a:endParaRPr>
          </a:p>
        </p:txBody>
      </p:sp>
      <p:graphicFrame>
        <p:nvGraphicFramePr>
          <p:cNvPr id="103459" name="Object 35"/>
          <p:cNvGraphicFramePr>
            <a:graphicFrameLocks noChangeAspect="1"/>
          </p:cNvGraphicFramePr>
          <p:nvPr/>
        </p:nvGraphicFramePr>
        <p:xfrm>
          <a:off x="1692275" y="5499100"/>
          <a:ext cx="1571625" cy="730250"/>
        </p:xfrm>
        <a:graphic>
          <a:graphicData uri="http://schemas.openxmlformats.org/presentationml/2006/ole">
            <p:oleObj spid="_x0000_s24582" name="公式" r:id="rId8" imgW="876240" imgH="406080" progId="Equation.3">
              <p:embed/>
            </p:oleObj>
          </a:graphicData>
        </a:graphic>
      </p:graphicFrame>
      <p:graphicFrame>
        <p:nvGraphicFramePr>
          <p:cNvPr id="103460" name="Object 36"/>
          <p:cNvGraphicFramePr>
            <a:graphicFrameLocks noChangeAspect="1"/>
          </p:cNvGraphicFramePr>
          <p:nvPr/>
        </p:nvGraphicFramePr>
        <p:xfrm>
          <a:off x="3402013" y="5499100"/>
          <a:ext cx="1252537" cy="730250"/>
        </p:xfrm>
        <a:graphic>
          <a:graphicData uri="http://schemas.openxmlformats.org/presentationml/2006/ole">
            <p:oleObj spid="_x0000_s24583" name="公式" r:id="rId9" imgW="698400" imgH="4060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3428"/>
                                        </p:tgtEl>
                                        <p:attrNameLst>
                                          <p:attrName>style.visibility</p:attrName>
                                        </p:attrNameLst>
                                      </p:cBhvr>
                                      <p:to>
                                        <p:strVal val="visible"/>
                                      </p:to>
                                    </p:set>
                                    <p:animEffect transition="in" filter="wipe(left)">
                                      <p:cBhvr>
                                        <p:cTn id="7" dur="500"/>
                                        <p:tgtEl>
                                          <p:spTgt spid="1034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3448"/>
                                        </p:tgtEl>
                                        <p:attrNameLst>
                                          <p:attrName>style.visibility</p:attrName>
                                        </p:attrNameLst>
                                      </p:cBhvr>
                                      <p:to>
                                        <p:strVal val="visible"/>
                                      </p:to>
                                    </p:set>
                                    <p:animEffect transition="in" filter="wipe(left)">
                                      <p:cBhvr>
                                        <p:cTn id="17" dur="500"/>
                                        <p:tgtEl>
                                          <p:spTgt spid="10344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3449"/>
                                        </p:tgtEl>
                                        <p:attrNameLst>
                                          <p:attrName>style.visibility</p:attrName>
                                        </p:attrNameLst>
                                      </p:cBhvr>
                                      <p:to>
                                        <p:strVal val="visible"/>
                                      </p:to>
                                    </p:set>
                                    <p:animEffect transition="in" filter="wipe(left)">
                                      <p:cBhvr>
                                        <p:cTn id="22" dur="500"/>
                                        <p:tgtEl>
                                          <p:spTgt spid="103449"/>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103451"/>
                                        </p:tgtEl>
                                        <p:attrNameLst>
                                          <p:attrName>style.visibility</p:attrName>
                                        </p:attrNameLst>
                                      </p:cBhvr>
                                      <p:to>
                                        <p:strVal val="visible"/>
                                      </p:to>
                                    </p:set>
                                    <p:animEffect transition="in" filter="wipe(left)">
                                      <p:cBhvr>
                                        <p:cTn id="26" dur="500"/>
                                        <p:tgtEl>
                                          <p:spTgt spid="103451"/>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103452"/>
                                        </p:tgtEl>
                                        <p:attrNameLst>
                                          <p:attrName>style.visibility</p:attrName>
                                        </p:attrNameLst>
                                      </p:cBhvr>
                                      <p:to>
                                        <p:strVal val="visible"/>
                                      </p:to>
                                    </p:set>
                                    <p:animEffect transition="in" filter="wipe(left)">
                                      <p:cBhvr>
                                        <p:cTn id="30" dur="500"/>
                                        <p:tgtEl>
                                          <p:spTgt spid="103452"/>
                                        </p:tgtEl>
                                      </p:cBhvr>
                                    </p:animEffect>
                                  </p:childTnLst>
                                </p:cTn>
                              </p:par>
                            </p:childTnLst>
                          </p:cTn>
                        </p:par>
                        <p:par>
                          <p:cTn id="31" fill="hold">
                            <p:stCondLst>
                              <p:cond delay="1500"/>
                            </p:stCondLst>
                            <p:childTnLst>
                              <p:par>
                                <p:cTn id="32" presetID="22" presetClass="entr" presetSubtype="8" fill="hold" grpId="0" nodeType="afterEffect">
                                  <p:stCondLst>
                                    <p:cond delay="0"/>
                                  </p:stCondLst>
                                  <p:childTnLst>
                                    <p:set>
                                      <p:cBhvr>
                                        <p:cTn id="33" dur="1" fill="hold">
                                          <p:stCondLst>
                                            <p:cond delay="0"/>
                                          </p:stCondLst>
                                        </p:cTn>
                                        <p:tgtEl>
                                          <p:spTgt spid="103453"/>
                                        </p:tgtEl>
                                        <p:attrNameLst>
                                          <p:attrName>style.visibility</p:attrName>
                                        </p:attrNameLst>
                                      </p:cBhvr>
                                      <p:to>
                                        <p:strVal val="visible"/>
                                      </p:to>
                                    </p:set>
                                    <p:animEffect transition="in" filter="wipe(left)">
                                      <p:cBhvr>
                                        <p:cTn id="34" dur="500"/>
                                        <p:tgtEl>
                                          <p:spTgt spid="10345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03450"/>
                                        </p:tgtEl>
                                        <p:attrNameLst>
                                          <p:attrName>style.visibility</p:attrName>
                                        </p:attrNameLst>
                                      </p:cBhvr>
                                      <p:to>
                                        <p:strVal val="visible"/>
                                      </p:to>
                                    </p:set>
                                    <p:animEffect transition="in" filter="wipe(left)">
                                      <p:cBhvr>
                                        <p:cTn id="39" dur="500"/>
                                        <p:tgtEl>
                                          <p:spTgt spid="10345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03454"/>
                                        </p:tgtEl>
                                        <p:attrNameLst>
                                          <p:attrName>style.visibility</p:attrName>
                                        </p:attrNameLst>
                                      </p:cBhvr>
                                      <p:to>
                                        <p:strVal val="visible"/>
                                      </p:to>
                                    </p:set>
                                    <p:animEffect transition="in" filter="wipe(left)">
                                      <p:cBhvr>
                                        <p:cTn id="44" dur="500"/>
                                        <p:tgtEl>
                                          <p:spTgt spid="10345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03455"/>
                                        </p:tgtEl>
                                        <p:attrNameLst>
                                          <p:attrName>style.visibility</p:attrName>
                                        </p:attrNameLst>
                                      </p:cBhvr>
                                      <p:to>
                                        <p:strVal val="visible"/>
                                      </p:to>
                                    </p:set>
                                    <p:animEffect transition="in" filter="wipe(left)">
                                      <p:cBhvr>
                                        <p:cTn id="49" dur="500"/>
                                        <p:tgtEl>
                                          <p:spTgt spid="10345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03457"/>
                                        </p:tgtEl>
                                        <p:attrNameLst>
                                          <p:attrName>style.visibility</p:attrName>
                                        </p:attrNameLst>
                                      </p:cBhvr>
                                      <p:to>
                                        <p:strVal val="visible"/>
                                      </p:to>
                                    </p:set>
                                    <p:animEffect transition="in" filter="wipe(left)">
                                      <p:cBhvr>
                                        <p:cTn id="54" dur="500"/>
                                        <p:tgtEl>
                                          <p:spTgt spid="103457"/>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03458"/>
                                        </p:tgtEl>
                                        <p:attrNameLst>
                                          <p:attrName>style.visibility</p:attrName>
                                        </p:attrNameLst>
                                      </p:cBhvr>
                                      <p:to>
                                        <p:strVal val="visible"/>
                                      </p:to>
                                    </p:set>
                                    <p:animEffect transition="in" filter="wipe(left)">
                                      <p:cBhvr>
                                        <p:cTn id="59" dur="500"/>
                                        <p:tgtEl>
                                          <p:spTgt spid="10345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03459"/>
                                        </p:tgtEl>
                                        <p:attrNameLst>
                                          <p:attrName>style.visibility</p:attrName>
                                        </p:attrNameLst>
                                      </p:cBhvr>
                                      <p:to>
                                        <p:strVal val="visible"/>
                                      </p:to>
                                    </p:set>
                                    <p:animEffect transition="in" filter="wipe(left)">
                                      <p:cBhvr>
                                        <p:cTn id="64" dur="500"/>
                                        <p:tgtEl>
                                          <p:spTgt spid="10345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103460"/>
                                        </p:tgtEl>
                                        <p:attrNameLst>
                                          <p:attrName>style.visibility</p:attrName>
                                        </p:attrNameLst>
                                      </p:cBhvr>
                                      <p:to>
                                        <p:strVal val="visible"/>
                                      </p:to>
                                    </p:set>
                                    <p:animEffect transition="in" filter="wipe(left)">
                                      <p:cBhvr>
                                        <p:cTn id="69" dur="500"/>
                                        <p:tgtEl>
                                          <p:spTgt spid="103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8" grpId="0"/>
      <p:bldP spid="103448" grpId="0" autoUpdateAnimBg="0"/>
      <p:bldP spid="103449" grpId="0"/>
      <p:bldP spid="103452" grpId="0"/>
      <p:bldP spid="103453" grpId="0"/>
      <p:bldP spid="103457" grpId="0" autoUpdateAnimBg="0"/>
      <p:bldP spid="103458"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91"/>
          <p:cNvGrpSpPr>
            <a:grpSpLocks/>
          </p:cNvGrpSpPr>
          <p:nvPr/>
        </p:nvGrpSpPr>
        <p:grpSpPr bwMode="auto">
          <a:xfrm>
            <a:off x="6173788" y="4494213"/>
            <a:ext cx="990600" cy="2057400"/>
            <a:chOff x="3787" y="2769"/>
            <a:chExt cx="624" cy="1296"/>
          </a:xfrm>
        </p:grpSpPr>
        <p:sp useBgFill="1">
          <p:nvSpPr>
            <p:cNvPr id="25646" name="Rectangle 92"/>
            <p:cNvSpPr>
              <a:spLocks noChangeArrowheads="1"/>
            </p:cNvSpPr>
            <p:nvPr/>
          </p:nvSpPr>
          <p:spPr bwMode="auto">
            <a:xfrm>
              <a:off x="3787" y="2840"/>
              <a:ext cx="318" cy="1134"/>
            </a:xfrm>
            <a:prstGeom prst="rect">
              <a:avLst/>
            </a:prstGeom>
            <a:ln w="9525">
              <a:solidFill>
                <a:srgbClr val="800080"/>
              </a:solidFill>
              <a:miter lim="800000"/>
              <a:headEnd/>
              <a:tailEnd/>
            </a:ln>
          </p:spPr>
          <p:txBody>
            <a:bodyPr wrap="none" anchor="ctr"/>
            <a:lstStyle/>
            <a:p>
              <a:endParaRPr lang="zh-CN" altLang="en-US"/>
            </a:p>
          </p:txBody>
        </p:sp>
        <p:sp>
          <p:nvSpPr>
            <p:cNvPr id="25647" name="AutoShape 93"/>
            <p:cNvSpPr>
              <a:spLocks noChangeArrowheads="1"/>
            </p:cNvSpPr>
            <p:nvPr/>
          </p:nvSpPr>
          <p:spPr bwMode="auto">
            <a:xfrm rot="5400000" flipH="1">
              <a:off x="3451" y="3105"/>
              <a:ext cx="1296" cy="624"/>
            </a:xfrm>
            <a:prstGeom prst="parallelogram">
              <a:avLst>
                <a:gd name="adj" fmla="val 24952"/>
              </a:avLst>
            </a:prstGeom>
            <a:solidFill>
              <a:srgbClr val="CCFFCC">
                <a:alpha val="50195"/>
              </a:srgbClr>
            </a:solidFill>
            <a:ln w="28575">
              <a:solidFill>
                <a:srgbClr val="800080"/>
              </a:solidFill>
              <a:miter lim="800000"/>
              <a:headEnd/>
              <a:tailEnd/>
            </a:ln>
          </p:spPr>
          <p:txBody>
            <a:bodyPr wrap="none" anchor="ctr"/>
            <a:lstStyle/>
            <a:p>
              <a:endParaRPr lang="zh-CN" altLang="en-US"/>
            </a:p>
          </p:txBody>
        </p:sp>
      </p:grpSp>
      <p:sp>
        <p:nvSpPr>
          <p:cNvPr id="106500" name="Text Box 4"/>
          <p:cNvSpPr txBox="1">
            <a:spLocks noChangeArrowheads="1"/>
          </p:cNvSpPr>
          <p:nvPr/>
        </p:nvSpPr>
        <p:spPr bwMode="auto">
          <a:xfrm>
            <a:off x="179388" y="476250"/>
            <a:ext cx="2952750" cy="457200"/>
          </a:xfrm>
          <a:prstGeom prst="rect">
            <a:avLst/>
          </a:prstGeom>
          <a:noFill/>
          <a:ln w="9525">
            <a:noFill/>
            <a:miter lim="800000"/>
            <a:headEnd/>
            <a:tailEnd/>
          </a:ln>
        </p:spPr>
        <p:txBody>
          <a:bodyPr>
            <a:spAutoFit/>
          </a:bodyPr>
          <a:lstStyle/>
          <a:p>
            <a:pPr eaLnBrk="0" hangingPunct="0">
              <a:spcBef>
                <a:spcPct val="50000"/>
              </a:spcBef>
            </a:pPr>
            <a:r>
              <a:rPr lang="en-US" altLang="zh-CN" b="1">
                <a:solidFill>
                  <a:srgbClr val="0033CC"/>
                </a:solidFill>
              </a:rPr>
              <a:t>2. </a:t>
            </a:r>
            <a:r>
              <a:rPr lang="zh-CN" altLang="en-US" b="1">
                <a:solidFill>
                  <a:srgbClr val="0033CC"/>
                </a:solidFill>
                <a:latin typeface="宋体" pitchFamily="2" charset="-122"/>
              </a:rPr>
              <a:t>能流密度</a:t>
            </a:r>
          </a:p>
        </p:txBody>
      </p:sp>
      <p:sp>
        <p:nvSpPr>
          <p:cNvPr id="106547" name="Text Box 51"/>
          <p:cNvSpPr txBox="1">
            <a:spLocks noChangeArrowheads="1"/>
          </p:cNvSpPr>
          <p:nvPr/>
        </p:nvSpPr>
        <p:spPr bwMode="auto">
          <a:xfrm>
            <a:off x="395288" y="1100138"/>
            <a:ext cx="1195387" cy="457200"/>
          </a:xfrm>
          <a:prstGeom prst="rect">
            <a:avLst/>
          </a:prstGeom>
          <a:noFill/>
          <a:ln w="9525">
            <a:noFill/>
            <a:miter lim="800000"/>
            <a:headEnd/>
            <a:tailEnd/>
          </a:ln>
        </p:spPr>
        <p:txBody>
          <a:bodyPr>
            <a:spAutoFit/>
          </a:bodyPr>
          <a:lstStyle/>
          <a:p>
            <a:pPr>
              <a:spcBef>
                <a:spcPct val="50000"/>
              </a:spcBef>
            </a:pPr>
            <a:r>
              <a:rPr lang="zh-CN" altLang="en-US" b="1">
                <a:solidFill>
                  <a:srgbClr val="FF3300"/>
                </a:solidFill>
                <a:latin typeface="Bookman Old Style" pitchFamily="18" charset="0"/>
              </a:rPr>
              <a:t>能流</a:t>
            </a:r>
            <a:r>
              <a:rPr lang="en-US" altLang="zh-CN" b="1">
                <a:solidFill>
                  <a:srgbClr val="FF3300"/>
                </a:solidFill>
                <a:latin typeface="Bookman Old Style" pitchFamily="18" charset="0"/>
              </a:rPr>
              <a:t>:</a:t>
            </a:r>
          </a:p>
        </p:txBody>
      </p:sp>
      <p:sp>
        <p:nvSpPr>
          <p:cNvPr id="106548" name="Text Box 52"/>
          <p:cNvSpPr txBox="1">
            <a:spLocks noChangeArrowheads="1"/>
          </p:cNvSpPr>
          <p:nvPr/>
        </p:nvSpPr>
        <p:spPr bwMode="auto">
          <a:xfrm>
            <a:off x="1258888" y="1100138"/>
            <a:ext cx="7315200" cy="822325"/>
          </a:xfrm>
          <a:prstGeom prst="rect">
            <a:avLst/>
          </a:prstGeom>
          <a:noFill/>
          <a:ln w="9525">
            <a:noFill/>
            <a:miter lim="800000"/>
            <a:headEnd/>
            <a:tailEnd/>
          </a:ln>
        </p:spPr>
        <p:txBody>
          <a:bodyPr>
            <a:spAutoFit/>
          </a:bodyPr>
          <a:lstStyle/>
          <a:p>
            <a:pPr>
              <a:spcBef>
                <a:spcPct val="50000"/>
              </a:spcBef>
            </a:pPr>
            <a:r>
              <a:rPr lang="zh-CN" altLang="en-US" b="1">
                <a:latin typeface="Bookman Old Style" pitchFamily="18" charset="0"/>
                <a:ea typeface="楷体_GB2312" pitchFamily="49" charset="-122"/>
              </a:rPr>
              <a:t>在单位时间内通过与波的传播方向垂直的某个截面的波动能量。</a:t>
            </a:r>
            <a:endParaRPr lang="zh-CN" altLang="en-US" b="1">
              <a:solidFill>
                <a:srgbClr val="FF6600"/>
              </a:solidFill>
              <a:latin typeface="Bookman Old Style" pitchFamily="18" charset="0"/>
              <a:ea typeface="楷体_GB2312" pitchFamily="49" charset="-122"/>
            </a:endParaRPr>
          </a:p>
        </p:txBody>
      </p:sp>
      <p:sp>
        <p:nvSpPr>
          <p:cNvPr id="25614" name="Text Box 53"/>
          <p:cNvSpPr txBox="1">
            <a:spLocks noChangeArrowheads="1"/>
          </p:cNvSpPr>
          <p:nvPr/>
        </p:nvSpPr>
        <p:spPr bwMode="auto">
          <a:xfrm>
            <a:off x="1066800" y="2743200"/>
            <a:ext cx="4495800" cy="457200"/>
          </a:xfrm>
          <a:prstGeom prst="rect">
            <a:avLst/>
          </a:prstGeom>
          <a:noFill/>
          <a:ln w="9525">
            <a:noFill/>
            <a:miter lim="800000"/>
            <a:headEnd/>
            <a:tailEnd/>
          </a:ln>
        </p:spPr>
        <p:txBody>
          <a:bodyPr>
            <a:spAutoFit/>
          </a:bodyPr>
          <a:lstStyle/>
          <a:p>
            <a:pPr algn="ctr">
              <a:spcBef>
                <a:spcPct val="50000"/>
              </a:spcBef>
            </a:pPr>
            <a:endParaRPr lang="zh-CN" altLang="zh-CN" b="1">
              <a:solidFill>
                <a:schemeClr val="bg1"/>
              </a:solidFill>
              <a:latin typeface="Bookman Old Style" pitchFamily="18" charset="0"/>
              <a:ea typeface="黑体" pitchFamily="49" charset="-122"/>
            </a:endParaRPr>
          </a:p>
        </p:txBody>
      </p:sp>
      <p:sp>
        <p:nvSpPr>
          <p:cNvPr id="106550" name="Text Box 54"/>
          <p:cNvSpPr txBox="1">
            <a:spLocks noChangeArrowheads="1"/>
          </p:cNvSpPr>
          <p:nvPr/>
        </p:nvSpPr>
        <p:spPr bwMode="auto">
          <a:xfrm>
            <a:off x="566738" y="2611438"/>
            <a:ext cx="4386262" cy="457200"/>
          </a:xfrm>
          <a:prstGeom prst="rect">
            <a:avLst/>
          </a:prstGeom>
          <a:noFill/>
          <a:ln w="9525">
            <a:noFill/>
            <a:miter lim="800000"/>
            <a:headEnd/>
            <a:tailEnd/>
          </a:ln>
        </p:spPr>
        <p:txBody>
          <a:bodyPr>
            <a:spAutoFit/>
          </a:bodyPr>
          <a:lstStyle/>
          <a:p>
            <a:pPr>
              <a:spcBef>
                <a:spcPct val="50000"/>
              </a:spcBef>
            </a:pPr>
            <a:r>
              <a:rPr lang="zh-CN" altLang="en-US" b="1">
                <a:latin typeface="Bookman Old Style" pitchFamily="18" charset="0"/>
                <a:ea typeface="楷体_GB2312" pitchFamily="49" charset="-122"/>
              </a:rPr>
              <a:t>在一个周期中的</a:t>
            </a:r>
            <a:r>
              <a:rPr lang="zh-CN" altLang="en-US" b="1">
                <a:solidFill>
                  <a:srgbClr val="FF6600"/>
                </a:solidFill>
                <a:latin typeface="Bookman Old Style" pitchFamily="18" charset="0"/>
                <a:ea typeface="楷体_GB2312" pitchFamily="49" charset="-122"/>
              </a:rPr>
              <a:t>平均能流</a:t>
            </a:r>
            <a:r>
              <a:rPr lang="zh-CN" altLang="en-US" b="1">
                <a:latin typeface="Bookman Old Style" pitchFamily="18" charset="0"/>
                <a:ea typeface="楷体_GB2312" pitchFamily="49" charset="-122"/>
              </a:rPr>
              <a:t>为</a:t>
            </a:r>
          </a:p>
        </p:txBody>
      </p:sp>
      <p:grpSp>
        <p:nvGrpSpPr>
          <p:cNvPr id="3" name="Group 55"/>
          <p:cNvGrpSpPr>
            <a:grpSpLocks/>
          </p:cNvGrpSpPr>
          <p:nvPr/>
        </p:nvGrpSpPr>
        <p:grpSpPr bwMode="auto">
          <a:xfrm>
            <a:off x="5427663" y="1484313"/>
            <a:ext cx="3422650" cy="2171700"/>
            <a:chOff x="3505" y="1224"/>
            <a:chExt cx="1916" cy="1368"/>
          </a:xfrm>
        </p:grpSpPr>
        <p:pic>
          <p:nvPicPr>
            <p:cNvPr id="25637" name="Picture 56" descr="平行四边形"/>
            <p:cNvPicPr>
              <a:picLocks noChangeAspect="1" noChangeArrowheads="1"/>
            </p:cNvPicPr>
            <p:nvPr/>
          </p:nvPicPr>
          <p:blipFill>
            <a:blip r:embed="rId3">
              <a:clrChange>
                <a:clrFrom>
                  <a:srgbClr val="336598"/>
                </a:clrFrom>
                <a:clrTo>
                  <a:srgbClr val="336598">
                    <a:alpha val="0"/>
                  </a:srgbClr>
                </a:clrTo>
              </a:clrChange>
            </a:blip>
            <a:srcRect l="16103" t="16104" r="17853" b="17911"/>
            <a:stretch>
              <a:fillRect/>
            </a:stretch>
          </p:blipFill>
          <p:spPr bwMode="auto">
            <a:xfrm>
              <a:off x="4499" y="1224"/>
              <a:ext cx="922" cy="1368"/>
            </a:xfrm>
            <a:prstGeom prst="rect">
              <a:avLst/>
            </a:prstGeom>
            <a:noFill/>
            <a:ln w="9525">
              <a:noFill/>
              <a:miter lim="800000"/>
              <a:headEnd/>
              <a:tailEnd/>
            </a:ln>
          </p:spPr>
        </p:pic>
        <p:sp>
          <p:nvSpPr>
            <p:cNvPr id="25638" name="Line 57"/>
            <p:cNvSpPr>
              <a:spLocks noChangeShapeType="1"/>
            </p:cNvSpPr>
            <p:nvPr/>
          </p:nvSpPr>
          <p:spPr bwMode="auto">
            <a:xfrm>
              <a:off x="3862" y="1331"/>
              <a:ext cx="1187" cy="0"/>
            </a:xfrm>
            <a:prstGeom prst="line">
              <a:avLst/>
            </a:prstGeom>
            <a:noFill/>
            <a:ln w="38100">
              <a:solidFill>
                <a:srgbClr val="FF9900"/>
              </a:solidFill>
              <a:round/>
              <a:headEnd/>
              <a:tailEnd/>
            </a:ln>
          </p:spPr>
          <p:txBody>
            <a:bodyPr wrap="none" anchor="ctr"/>
            <a:lstStyle/>
            <a:p>
              <a:endParaRPr lang="zh-CN" altLang="en-US"/>
            </a:p>
          </p:txBody>
        </p:sp>
        <p:sp>
          <p:nvSpPr>
            <p:cNvPr id="25639" name="Line 58"/>
            <p:cNvSpPr>
              <a:spLocks noChangeShapeType="1"/>
            </p:cNvSpPr>
            <p:nvPr/>
          </p:nvSpPr>
          <p:spPr bwMode="auto">
            <a:xfrm>
              <a:off x="3538" y="1647"/>
              <a:ext cx="1179" cy="0"/>
            </a:xfrm>
            <a:prstGeom prst="line">
              <a:avLst/>
            </a:prstGeom>
            <a:noFill/>
            <a:ln w="38100">
              <a:solidFill>
                <a:srgbClr val="FF9900"/>
              </a:solidFill>
              <a:round/>
              <a:headEnd/>
              <a:tailEnd/>
            </a:ln>
          </p:spPr>
          <p:txBody>
            <a:bodyPr wrap="none" anchor="ctr"/>
            <a:lstStyle/>
            <a:p>
              <a:endParaRPr lang="zh-CN" altLang="en-US"/>
            </a:p>
          </p:txBody>
        </p:sp>
        <p:sp>
          <p:nvSpPr>
            <p:cNvPr id="25640" name="Line 59"/>
            <p:cNvSpPr>
              <a:spLocks noChangeShapeType="1"/>
            </p:cNvSpPr>
            <p:nvPr/>
          </p:nvSpPr>
          <p:spPr bwMode="auto">
            <a:xfrm>
              <a:off x="3539" y="1656"/>
              <a:ext cx="0" cy="726"/>
            </a:xfrm>
            <a:prstGeom prst="line">
              <a:avLst/>
            </a:prstGeom>
            <a:noFill/>
            <a:ln w="38100">
              <a:solidFill>
                <a:srgbClr val="FF9900"/>
              </a:solidFill>
              <a:round/>
              <a:headEnd/>
              <a:tailEnd/>
            </a:ln>
          </p:spPr>
          <p:txBody>
            <a:bodyPr wrap="none" anchor="ctr"/>
            <a:lstStyle/>
            <a:p>
              <a:endParaRPr lang="zh-CN" altLang="en-US"/>
            </a:p>
          </p:txBody>
        </p:sp>
        <p:sp>
          <p:nvSpPr>
            <p:cNvPr id="25641" name="Line 60"/>
            <p:cNvSpPr>
              <a:spLocks noChangeShapeType="1"/>
            </p:cNvSpPr>
            <p:nvPr/>
          </p:nvSpPr>
          <p:spPr bwMode="auto">
            <a:xfrm>
              <a:off x="3539" y="2363"/>
              <a:ext cx="1179" cy="0"/>
            </a:xfrm>
            <a:prstGeom prst="line">
              <a:avLst/>
            </a:prstGeom>
            <a:noFill/>
            <a:ln w="38100">
              <a:solidFill>
                <a:srgbClr val="FF9900"/>
              </a:solidFill>
              <a:round/>
              <a:headEnd/>
              <a:tailEnd/>
            </a:ln>
          </p:spPr>
          <p:txBody>
            <a:bodyPr wrap="none" anchor="ctr"/>
            <a:lstStyle/>
            <a:p>
              <a:endParaRPr lang="zh-CN" altLang="en-US"/>
            </a:p>
          </p:txBody>
        </p:sp>
        <p:sp>
          <p:nvSpPr>
            <p:cNvPr id="25642" name="Line 61"/>
            <p:cNvSpPr>
              <a:spLocks noChangeShapeType="1"/>
            </p:cNvSpPr>
            <p:nvPr/>
          </p:nvSpPr>
          <p:spPr bwMode="auto">
            <a:xfrm>
              <a:off x="3875" y="1368"/>
              <a:ext cx="0" cy="672"/>
            </a:xfrm>
            <a:prstGeom prst="line">
              <a:avLst/>
            </a:prstGeom>
            <a:noFill/>
            <a:ln w="28575">
              <a:solidFill>
                <a:srgbClr val="FF9900"/>
              </a:solidFill>
              <a:prstDash val="dash"/>
              <a:round/>
              <a:headEnd/>
              <a:tailEnd/>
            </a:ln>
          </p:spPr>
          <p:txBody>
            <a:bodyPr wrap="none" anchor="ctr"/>
            <a:lstStyle/>
            <a:p>
              <a:endParaRPr lang="zh-CN" altLang="en-US"/>
            </a:p>
          </p:txBody>
        </p:sp>
        <p:sp>
          <p:nvSpPr>
            <p:cNvPr id="25643" name="Line 62"/>
            <p:cNvSpPr>
              <a:spLocks noChangeShapeType="1"/>
            </p:cNvSpPr>
            <p:nvPr/>
          </p:nvSpPr>
          <p:spPr bwMode="auto">
            <a:xfrm>
              <a:off x="3910" y="2040"/>
              <a:ext cx="1117" cy="0"/>
            </a:xfrm>
            <a:prstGeom prst="line">
              <a:avLst/>
            </a:prstGeom>
            <a:noFill/>
            <a:ln w="28575">
              <a:solidFill>
                <a:srgbClr val="FF9900"/>
              </a:solidFill>
              <a:prstDash val="dash"/>
              <a:round/>
              <a:headEnd/>
              <a:tailEnd/>
            </a:ln>
          </p:spPr>
          <p:txBody>
            <a:bodyPr wrap="none" anchor="ctr"/>
            <a:lstStyle/>
            <a:p>
              <a:endParaRPr lang="zh-CN" altLang="en-US"/>
            </a:p>
          </p:txBody>
        </p:sp>
        <p:sp>
          <p:nvSpPr>
            <p:cNvPr id="25644" name="Line 63"/>
            <p:cNvSpPr>
              <a:spLocks noChangeShapeType="1"/>
            </p:cNvSpPr>
            <p:nvPr/>
          </p:nvSpPr>
          <p:spPr bwMode="auto">
            <a:xfrm rot="21191483" flipH="1">
              <a:off x="3505" y="1345"/>
              <a:ext cx="384" cy="298"/>
            </a:xfrm>
            <a:prstGeom prst="line">
              <a:avLst/>
            </a:prstGeom>
            <a:noFill/>
            <a:ln w="38100">
              <a:solidFill>
                <a:srgbClr val="FF9900"/>
              </a:solidFill>
              <a:round/>
              <a:headEnd/>
              <a:tailEnd/>
            </a:ln>
          </p:spPr>
          <p:txBody>
            <a:bodyPr wrap="none" anchor="ctr"/>
            <a:lstStyle/>
            <a:p>
              <a:endParaRPr lang="zh-CN" altLang="en-US"/>
            </a:p>
          </p:txBody>
        </p:sp>
        <p:sp>
          <p:nvSpPr>
            <p:cNvPr id="25645" name="Line 64"/>
            <p:cNvSpPr>
              <a:spLocks noChangeShapeType="1"/>
            </p:cNvSpPr>
            <p:nvPr/>
          </p:nvSpPr>
          <p:spPr bwMode="auto">
            <a:xfrm rot="21191483" flipH="1">
              <a:off x="3517" y="2027"/>
              <a:ext cx="384" cy="298"/>
            </a:xfrm>
            <a:prstGeom prst="line">
              <a:avLst/>
            </a:prstGeom>
            <a:noFill/>
            <a:ln w="28575">
              <a:solidFill>
                <a:srgbClr val="FF9900"/>
              </a:solidFill>
              <a:prstDash val="dash"/>
              <a:round/>
              <a:headEnd/>
              <a:tailEnd/>
            </a:ln>
          </p:spPr>
          <p:txBody>
            <a:bodyPr wrap="none" anchor="ctr"/>
            <a:lstStyle/>
            <a:p>
              <a:endParaRPr lang="zh-CN" altLang="en-US"/>
            </a:p>
          </p:txBody>
        </p:sp>
      </p:grpSp>
      <p:sp>
        <p:nvSpPr>
          <p:cNvPr id="106561" name="Line 65"/>
          <p:cNvSpPr>
            <a:spLocks noChangeShapeType="1"/>
          </p:cNvSpPr>
          <p:nvPr/>
        </p:nvSpPr>
        <p:spPr bwMode="auto">
          <a:xfrm>
            <a:off x="6342063" y="2452688"/>
            <a:ext cx="679450" cy="0"/>
          </a:xfrm>
          <a:prstGeom prst="line">
            <a:avLst/>
          </a:prstGeom>
          <a:noFill/>
          <a:ln w="28575">
            <a:solidFill>
              <a:srgbClr val="FF0000"/>
            </a:solidFill>
            <a:round/>
            <a:headEnd/>
            <a:tailEnd type="triangle" w="sm" len="lg"/>
          </a:ln>
        </p:spPr>
        <p:txBody>
          <a:bodyPr/>
          <a:lstStyle/>
          <a:p>
            <a:endParaRPr lang="zh-CN" altLang="en-US"/>
          </a:p>
        </p:txBody>
      </p:sp>
      <p:graphicFrame>
        <p:nvGraphicFramePr>
          <p:cNvPr id="106562" name="Object 66"/>
          <p:cNvGraphicFramePr>
            <a:graphicFrameLocks noChangeAspect="1"/>
          </p:cNvGraphicFramePr>
          <p:nvPr/>
        </p:nvGraphicFramePr>
        <p:xfrm>
          <a:off x="7042150" y="2252663"/>
          <a:ext cx="255588" cy="320675"/>
        </p:xfrm>
        <a:graphic>
          <a:graphicData uri="http://schemas.openxmlformats.org/presentationml/2006/ole">
            <p:oleObj spid="_x0000_s25602" name="公式" r:id="rId4" imgW="139680" imgH="177480" progId="Equation.3">
              <p:embed/>
            </p:oleObj>
          </a:graphicData>
        </a:graphic>
      </p:graphicFrame>
      <p:sp>
        <p:nvSpPr>
          <p:cNvPr id="106563" name="Text Box 67"/>
          <p:cNvSpPr txBox="1">
            <a:spLocks noChangeArrowheads="1"/>
          </p:cNvSpPr>
          <p:nvPr/>
        </p:nvSpPr>
        <p:spPr bwMode="auto">
          <a:xfrm>
            <a:off x="7720013" y="1979613"/>
            <a:ext cx="339725" cy="762000"/>
          </a:xfrm>
          <a:prstGeom prst="rect">
            <a:avLst/>
          </a:prstGeom>
          <a:noFill/>
          <a:ln w="9525">
            <a:noFill/>
            <a:miter lim="800000"/>
            <a:headEnd/>
            <a:tailEnd/>
          </a:ln>
        </p:spPr>
        <p:txBody>
          <a:bodyPr>
            <a:spAutoFit/>
          </a:bodyPr>
          <a:lstStyle/>
          <a:p>
            <a:pPr>
              <a:spcBef>
                <a:spcPct val="50000"/>
              </a:spcBef>
            </a:pPr>
            <a:r>
              <a:rPr lang="en-US" altLang="zh-CN" sz="4400" b="1"/>
              <a:t>s</a:t>
            </a:r>
          </a:p>
        </p:txBody>
      </p:sp>
      <p:grpSp>
        <p:nvGrpSpPr>
          <p:cNvPr id="4" name="Group 68"/>
          <p:cNvGrpSpPr>
            <a:grpSpLocks/>
          </p:cNvGrpSpPr>
          <p:nvPr/>
        </p:nvGrpSpPr>
        <p:grpSpPr bwMode="auto">
          <a:xfrm>
            <a:off x="5478463" y="3289300"/>
            <a:ext cx="2106612" cy="454025"/>
            <a:chOff x="3632" y="1730"/>
            <a:chExt cx="1327" cy="286"/>
          </a:xfrm>
        </p:grpSpPr>
        <p:sp>
          <p:nvSpPr>
            <p:cNvPr id="25633" name="Line 69"/>
            <p:cNvSpPr>
              <a:spLocks noChangeShapeType="1"/>
            </p:cNvSpPr>
            <p:nvPr/>
          </p:nvSpPr>
          <p:spPr bwMode="auto">
            <a:xfrm>
              <a:off x="3632" y="1745"/>
              <a:ext cx="0" cy="271"/>
            </a:xfrm>
            <a:prstGeom prst="line">
              <a:avLst/>
            </a:prstGeom>
            <a:noFill/>
            <a:ln w="28575">
              <a:solidFill>
                <a:srgbClr val="008000"/>
              </a:solidFill>
              <a:round/>
              <a:headEnd/>
              <a:tailEnd/>
            </a:ln>
          </p:spPr>
          <p:txBody>
            <a:bodyPr/>
            <a:lstStyle/>
            <a:p>
              <a:endParaRPr lang="zh-CN" altLang="en-US"/>
            </a:p>
          </p:txBody>
        </p:sp>
        <p:sp>
          <p:nvSpPr>
            <p:cNvPr id="25634" name="Line 70"/>
            <p:cNvSpPr>
              <a:spLocks noChangeShapeType="1"/>
            </p:cNvSpPr>
            <p:nvPr/>
          </p:nvSpPr>
          <p:spPr bwMode="auto">
            <a:xfrm>
              <a:off x="4512" y="1899"/>
              <a:ext cx="447" cy="0"/>
            </a:xfrm>
            <a:prstGeom prst="line">
              <a:avLst/>
            </a:prstGeom>
            <a:noFill/>
            <a:ln w="28575">
              <a:solidFill>
                <a:srgbClr val="008000"/>
              </a:solidFill>
              <a:round/>
              <a:headEnd/>
              <a:tailEnd type="triangle" w="sm" len="lg"/>
            </a:ln>
          </p:spPr>
          <p:txBody>
            <a:bodyPr/>
            <a:lstStyle/>
            <a:p>
              <a:endParaRPr lang="zh-CN" altLang="en-US"/>
            </a:p>
          </p:txBody>
        </p:sp>
        <p:sp>
          <p:nvSpPr>
            <p:cNvPr id="25635" name="Line 71"/>
            <p:cNvSpPr>
              <a:spLocks noChangeShapeType="1"/>
            </p:cNvSpPr>
            <p:nvPr/>
          </p:nvSpPr>
          <p:spPr bwMode="auto">
            <a:xfrm flipH="1">
              <a:off x="3632" y="1880"/>
              <a:ext cx="496" cy="0"/>
            </a:xfrm>
            <a:prstGeom prst="line">
              <a:avLst/>
            </a:prstGeom>
            <a:noFill/>
            <a:ln w="28575">
              <a:solidFill>
                <a:srgbClr val="008000"/>
              </a:solidFill>
              <a:round/>
              <a:headEnd/>
              <a:tailEnd type="triangle" w="sm" len="lg"/>
            </a:ln>
          </p:spPr>
          <p:txBody>
            <a:bodyPr/>
            <a:lstStyle/>
            <a:p>
              <a:endParaRPr lang="zh-CN" altLang="en-US"/>
            </a:p>
          </p:txBody>
        </p:sp>
        <p:sp>
          <p:nvSpPr>
            <p:cNvPr id="25636" name="Line 72"/>
            <p:cNvSpPr>
              <a:spLocks noChangeShapeType="1"/>
            </p:cNvSpPr>
            <p:nvPr/>
          </p:nvSpPr>
          <p:spPr bwMode="auto">
            <a:xfrm>
              <a:off x="4959" y="1730"/>
              <a:ext cx="0" cy="271"/>
            </a:xfrm>
            <a:prstGeom prst="line">
              <a:avLst/>
            </a:prstGeom>
            <a:noFill/>
            <a:ln w="28575">
              <a:solidFill>
                <a:srgbClr val="008000"/>
              </a:solidFill>
              <a:round/>
              <a:headEnd/>
              <a:tailEnd/>
            </a:ln>
          </p:spPr>
          <p:txBody>
            <a:bodyPr/>
            <a:lstStyle/>
            <a:p>
              <a:endParaRPr lang="zh-CN" altLang="en-US"/>
            </a:p>
          </p:txBody>
        </p:sp>
      </p:grpSp>
      <p:sp>
        <p:nvSpPr>
          <p:cNvPr id="106569" name="Rectangle 73"/>
          <p:cNvSpPr>
            <a:spLocks noChangeArrowheads="1"/>
          </p:cNvSpPr>
          <p:nvPr/>
        </p:nvSpPr>
        <p:spPr bwMode="auto">
          <a:xfrm>
            <a:off x="6189663" y="3286125"/>
            <a:ext cx="838200" cy="457200"/>
          </a:xfrm>
          <a:prstGeom prst="rect">
            <a:avLst/>
          </a:prstGeom>
          <a:noFill/>
          <a:ln w="9525">
            <a:noFill/>
            <a:miter lim="800000"/>
            <a:headEnd/>
            <a:tailEnd/>
          </a:ln>
        </p:spPr>
        <p:txBody>
          <a:bodyPr>
            <a:spAutoFit/>
          </a:bodyPr>
          <a:lstStyle/>
          <a:p>
            <a:pPr algn="ctr">
              <a:spcBef>
                <a:spcPct val="30000"/>
              </a:spcBef>
            </a:pPr>
            <a:r>
              <a:rPr lang="en-US" altLang="zh-CN" b="1" i="1">
                <a:solidFill>
                  <a:srgbClr val="0000FF"/>
                </a:solidFill>
                <a:ea typeface="仿宋_GB2312" pitchFamily="49" charset="-122"/>
              </a:rPr>
              <a:t>u</a:t>
            </a:r>
            <a:r>
              <a:rPr lang="en-US" altLang="zh-CN" b="1">
                <a:solidFill>
                  <a:srgbClr val="0000FF"/>
                </a:solidFill>
                <a:ea typeface="仿宋_GB2312" pitchFamily="49" charset="-122"/>
              </a:rPr>
              <a:t>△</a:t>
            </a:r>
            <a:r>
              <a:rPr lang="en-US" altLang="zh-CN" b="1" i="1">
                <a:solidFill>
                  <a:srgbClr val="0000FF"/>
                </a:solidFill>
                <a:ea typeface="仿宋_GB2312" pitchFamily="49" charset="-122"/>
              </a:rPr>
              <a:t>t</a:t>
            </a:r>
          </a:p>
        </p:txBody>
      </p:sp>
      <p:graphicFrame>
        <p:nvGraphicFramePr>
          <p:cNvPr id="106570" name="Object 74"/>
          <p:cNvGraphicFramePr>
            <a:graphicFrameLocks noChangeAspect="1"/>
          </p:cNvGraphicFramePr>
          <p:nvPr/>
        </p:nvGraphicFramePr>
        <p:xfrm>
          <a:off x="2078038" y="1909763"/>
          <a:ext cx="1352550" cy="727075"/>
        </p:xfrm>
        <a:graphic>
          <a:graphicData uri="http://schemas.openxmlformats.org/presentationml/2006/ole">
            <p:oleObj spid="_x0000_s25603" name="公式" r:id="rId5" imgW="761760" imgH="406080" progId="Equation.3">
              <p:embed/>
            </p:oleObj>
          </a:graphicData>
        </a:graphic>
      </p:graphicFrame>
      <p:graphicFrame>
        <p:nvGraphicFramePr>
          <p:cNvPr id="106571" name="Object 75"/>
          <p:cNvGraphicFramePr>
            <a:graphicFrameLocks noChangeAspect="1"/>
          </p:cNvGraphicFramePr>
          <p:nvPr/>
        </p:nvGraphicFramePr>
        <p:xfrm>
          <a:off x="3463925" y="2136775"/>
          <a:ext cx="820738" cy="320675"/>
        </p:xfrm>
        <a:graphic>
          <a:graphicData uri="http://schemas.openxmlformats.org/presentationml/2006/ole">
            <p:oleObj spid="_x0000_s25604" name="公式" r:id="rId6" imgW="457200" imgH="177480" progId="Equation.3">
              <p:embed/>
            </p:oleObj>
          </a:graphicData>
        </a:graphic>
      </p:graphicFrame>
      <p:graphicFrame>
        <p:nvGraphicFramePr>
          <p:cNvPr id="106572" name="Object 76"/>
          <p:cNvGraphicFramePr>
            <a:graphicFrameLocks noChangeAspect="1"/>
          </p:cNvGraphicFramePr>
          <p:nvPr/>
        </p:nvGraphicFramePr>
        <p:xfrm>
          <a:off x="1763713" y="3068638"/>
          <a:ext cx="2374900" cy="730250"/>
        </p:xfrm>
        <a:graphic>
          <a:graphicData uri="http://schemas.openxmlformats.org/presentationml/2006/ole">
            <p:oleObj spid="_x0000_s25605" name="公式" r:id="rId7" imgW="1320480" imgH="406080" progId="Equation.3">
              <p:embed/>
            </p:oleObj>
          </a:graphicData>
        </a:graphic>
      </p:graphicFrame>
      <p:grpSp>
        <p:nvGrpSpPr>
          <p:cNvPr id="5" name="Group 77"/>
          <p:cNvGrpSpPr>
            <a:grpSpLocks/>
          </p:cNvGrpSpPr>
          <p:nvPr/>
        </p:nvGrpSpPr>
        <p:grpSpPr bwMode="auto">
          <a:xfrm>
            <a:off x="4845050" y="4967288"/>
            <a:ext cx="3686175" cy="1328737"/>
            <a:chOff x="975" y="3113"/>
            <a:chExt cx="2322" cy="837"/>
          </a:xfrm>
        </p:grpSpPr>
        <p:pic>
          <p:nvPicPr>
            <p:cNvPr id="25631" name="Picture 78" descr="图形3"/>
            <p:cNvPicPr>
              <a:picLocks noChangeAspect="1" noChangeArrowheads="1"/>
            </p:cNvPicPr>
            <p:nvPr/>
          </p:nvPicPr>
          <p:blipFill>
            <a:blip r:embed="rId8">
              <a:clrChange>
                <a:clrFrom>
                  <a:srgbClr val="FFFFFF"/>
                </a:clrFrom>
                <a:clrTo>
                  <a:srgbClr val="FFFFFF">
                    <a:alpha val="0"/>
                  </a:srgbClr>
                </a:clrTo>
              </a:clrChange>
            </a:blip>
            <a:srcRect r="32721"/>
            <a:stretch>
              <a:fillRect/>
            </a:stretch>
          </p:blipFill>
          <p:spPr bwMode="auto">
            <a:xfrm>
              <a:off x="975" y="3113"/>
              <a:ext cx="952" cy="837"/>
            </a:xfrm>
            <a:prstGeom prst="rect">
              <a:avLst/>
            </a:prstGeom>
            <a:noFill/>
            <a:ln w="9525">
              <a:noFill/>
              <a:miter lim="800000"/>
              <a:headEnd/>
              <a:tailEnd/>
            </a:ln>
          </p:spPr>
        </p:pic>
        <p:pic>
          <p:nvPicPr>
            <p:cNvPr id="25632" name="Picture 79" descr="图形3"/>
            <p:cNvPicPr>
              <a:picLocks noChangeAspect="1" noChangeArrowheads="1"/>
            </p:cNvPicPr>
            <p:nvPr/>
          </p:nvPicPr>
          <p:blipFill>
            <a:blip r:embed="rId8">
              <a:clrChange>
                <a:clrFrom>
                  <a:srgbClr val="FFFFFF"/>
                </a:clrFrom>
                <a:clrTo>
                  <a:srgbClr val="FFFFFF">
                    <a:alpha val="0"/>
                  </a:srgbClr>
                </a:clrTo>
              </a:clrChange>
            </a:blip>
            <a:srcRect/>
            <a:stretch>
              <a:fillRect/>
            </a:stretch>
          </p:blipFill>
          <p:spPr bwMode="auto">
            <a:xfrm>
              <a:off x="1882" y="3113"/>
              <a:ext cx="1415" cy="837"/>
            </a:xfrm>
            <a:prstGeom prst="rect">
              <a:avLst/>
            </a:prstGeom>
            <a:noFill/>
            <a:ln w="9525">
              <a:noFill/>
              <a:miter lim="800000"/>
              <a:headEnd/>
              <a:tailEnd/>
            </a:ln>
          </p:spPr>
        </p:pic>
      </p:grpSp>
      <p:sp>
        <p:nvSpPr>
          <p:cNvPr id="106576" name="Text Box 80"/>
          <p:cNvSpPr txBox="1">
            <a:spLocks noChangeArrowheads="1"/>
          </p:cNvSpPr>
          <p:nvPr/>
        </p:nvSpPr>
        <p:spPr bwMode="auto">
          <a:xfrm>
            <a:off x="395288" y="3933825"/>
            <a:ext cx="1782762" cy="457200"/>
          </a:xfrm>
          <a:prstGeom prst="rect">
            <a:avLst/>
          </a:prstGeom>
          <a:noFill/>
          <a:ln w="9525">
            <a:noFill/>
            <a:miter lim="800000"/>
            <a:headEnd/>
            <a:tailEnd/>
          </a:ln>
        </p:spPr>
        <p:txBody>
          <a:bodyPr>
            <a:spAutoFit/>
          </a:bodyPr>
          <a:lstStyle/>
          <a:p>
            <a:pPr eaLnBrk="0" hangingPunct="0">
              <a:spcBef>
                <a:spcPct val="50000"/>
              </a:spcBef>
            </a:pPr>
            <a:r>
              <a:rPr lang="zh-CN" altLang="en-US" b="1">
                <a:solidFill>
                  <a:srgbClr val="FF0000"/>
                </a:solidFill>
                <a:latin typeface="Bookman Old Style" pitchFamily="18" charset="0"/>
              </a:rPr>
              <a:t>能流密度</a:t>
            </a:r>
            <a:r>
              <a:rPr lang="en-US" altLang="zh-CN" b="1">
                <a:solidFill>
                  <a:srgbClr val="FF0000"/>
                </a:solidFill>
                <a:latin typeface="Bookman Old Style" pitchFamily="18" charset="0"/>
              </a:rPr>
              <a:t>:</a:t>
            </a:r>
          </a:p>
        </p:txBody>
      </p:sp>
      <p:sp>
        <p:nvSpPr>
          <p:cNvPr id="106577" name="Rectangle 81"/>
          <p:cNvSpPr>
            <a:spLocks noChangeArrowheads="1"/>
          </p:cNvSpPr>
          <p:nvPr/>
        </p:nvSpPr>
        <p:spPr bwMode="auto">
          <a:xfrm>
            <a:off x="1908175" y="3951288"/>
            <a:ext cx="7235825" cy="457200"/>
          </a:xfrm>
          <a:prstGeom prst="rect">
            <a:avLst/>
          </a:prstGeom>
          <a:noFill/>
          <a:ln w="28575">
            <a:noFill/>
            <a:miter lim="800000"/>
            <a:headEnd/>
            <a:tailEnd/>
          </a:ln>
        </p:spPr>
        <p:txBody>
          <a:bodyPr>
            <a:spAutoFit/>
          </a:bodyPr>
          <a:lstStyle/>
          <a:p>
            <a:pPr>
              <a:spcBef>
                <a:spcPct val="50000"/>
              </a:spcBef>
            </a:pPr>
            <a:r>
              <a:rPr lang="zh-CN" altLang="en-US" b="1">
                <a:latin typeface="Bookman Old Style" pitchFamily="18" charset="0"/>
                <a:ea typeface="楷体_GB2312" pitchFamily="49" charset="-122"/>
              </a:rPr>
              <a:t>通过与波的传播方向垂直的</a:t>
            </a:r>
            <a:r>
              <a:rPr lang="zh-CN" altLang="en-US" b="1">
                <a:solidFill>
                  <a:srgbClr val="FF6600"/>
                </a:solidFill>
                <a:latin typeface="Bookman Old Style" pitchFamily="18" charset="0"/>
                <a:ea typeface="楷体_GB2312" pitchFamily="49" charset="-122"/>
              </a:rPr>
              <a:t>单位面积</a:t>
            </a:r>
            <a:r>
              <a:rPr lang="zh-CN" altLang="en-US" b="1">
                <a:latin typeface="Bookman Old Style" pitchFamily="18" charset="0"/>
                <a:ea typeface="楷体_GB2312" pitchFamily="49" charset="-122"/>
              </a:rPr>
              <a:t>上的</a:t>
            </a:r>
            <a:r>
              <a:rPr lang="zh-CN" altLang="en-US" b="1">
                <a:solidFill>
                  <a:srgbClr val="FF6600"/>
                </a:solidFill>
                <a:latin typeface="Bookman Old Style" pitchFamily="18" charset="0"/>
                <a:ea typeface="楷体_GB2312" pitchFamily="49" charset="-122"/>
              </a:rPr>
              <a:t>平均能流</a:t>
            </a:r>
            <a:r>
              <a:rPr lang="zh-CN" altLang="en-US" b="1">
                <a:latin typeface="Bookman Old Style" pitchFamily="18" charset="0"/>
                <a:ea typeface="楷体_GB2312" pitchFamily="49" charset="-122"/>
              </a:rPr>
              <a:t>。</a:t>
            </a:r>
          </a:p>
        </p:txBody>
      </p:sp>
      <p:graphicFrame>
        <p:nvGraphicFramePr>
          <p:cNvPr id="106578" name="Object 82"/>
          <p:cNvGraphicFramePr>
            <a:graphicFrameLocks noChangeAspect="1"/>
          </p:cNvGraphicFramePr>
          <p:nvPr/>
        </p:nvGraphicFramePr>
        <p:xfrm>
          <a:off x="1873250" y="4508500"/>
          <a:ext cx="1414463" cy="757238"/>
        </p:xfrm>
        <a:graphic>
          <a:graphicData uri="http://schemas.openxmlformats.org/presentationml/2006/ole">
            <p:oleObj spid="_x0000_s25606" name="公式" r:id="rId9" imgW="787320" imgH="419040" progId="Equation.3">
              <p:embed/>
            </p:oleObj>
          </a:graphicData>
        </a:graphic>
      </p:graphicFrame>
      <p:sp>
        <p:nvSpPr>
          <p:cNvPr id="106579" name="Rectangle 83"/>
          <p:cNvSpPr>
            <a:spLocks noChangeArrowheads="1"/>
          </p:cNvSpPr>
          <p:nvPr/>
        </p:nvSpPr>
        <p:spPr bwMode="auto">
          <a:xfrm>
            <a:off x="911225" y="4633913"/>
            <a:ext cx="1922463" cy="457200"/>
          </a:xfrm>
          <a:prstGeom prst="rect">
            <a:avLst/>
          </a:prstGeom>
          <a:noFill/>
          <a:ln w="28575">
            <a:noFill/>
            <a:miter lim="800000"/>
            <a:headEnd/>
            <a:tailEnd/>
          </a:ln>
        </p:spPr>
        <p:txBody>
          <a:bodyPr>
            <a:spAutoFit/>
          </a:bodyPr>
          <a:lstStyle/>
          <a:p>
            <a:r>
              <a:rPr lang="zh-CN" altLang="en-US" b="1">
                <a:latin typeface="楷体_GB2312" pitchFamily="49" charset="-122"/>
                <a:ea typeface="楷体_GB2312" pitchFamily="49" charset="-122"/>
              </a:rPr>
              <a:t>大小：</a:t>
            </a:r>
          </a:p>
        </p:txBody>
      </p:sp>
      <p:sp>
        <p:nvSpPr>
          <p:cNvPr id="106580" name="Text Box 84"/>
          <p:cNvSpPr txBox="1">
            <a:spLocks noChangeArrowheads="1"/>
          </p:cNvSpPr>
          <p:nvPr/>
        </p:nvSpPr>
        <p:spPr bwMode="auto">
          <a:xfrm>
            <a:off x="838200" y="5373688"/>
            <a:ext cx="3733800" cy="457200"/>
          </a:xfrm>
          <a:prstGeom prst="rect">
            <a:avLst/>
          </a:prstGeom>
          <a:noFill/>
          <a:ln w="9525">
            <a:noFill/>
            <a:miter lim="800000"/>
            <a:headEnd/>
            <a:tailEnd/>
          </a:ln>
        </p:spPr>
        <p:txBody>
          <a:bodyPr>
            <a:spAutoFit/>
          </a:bodyPr>
          <a:lstStyle/>
          <a:p>
            <a:pPr>
              <a:spcBef>
                <a:spcPct val="50000"/>
              </a:spcBef>
            </a:pPr>
            <a:r>
              <a:rPr lang="zh-CN" altLang="en-US" b="1">
                <a:latin typeface="Bookman Old Style" pitchFamily="18" charset="0"/>
                <a:ea typeface="楷体_GB2312" pitchFamily="49" charset="-122"/>
              </a:rPr>
              <a:t>方向：波的传播方向</a:t>
            </a:r>
          </a:p>
        </p:txBody>
      </p:sp>
      <p:graphicFrame>
        <p:nvGraphicFramePr>
          <p:cNvPr id="106581" name="Object 85"/>
          <p:cNvGraphicFramePr>
            <a:graphicFrameLocks noChangeAspect="1"/>
          </p:cNvGraphicFramePr>
          <p:nvPr/>
        </p:nvGraphicFramePr>
        <p:xfrm>
          <a:off x="2681288" y="6045200"/>
          <a:ext cx="895350" cy="388938"/>
        </p:xfrm>
        <a:graphic>
          <a:graphicData uri="http://schemas.openxmlformats.org/presentationml/2006/ole">
            <p:oleObj spid="_x0000_s25607" name="公式" r:id="rId10" imgW="495000" imgH="215640" progId="Equation.3">
              <p:embed/>
            </p:oleObj>
          </a:graphicData>
        </a:graphic>
      </p:graphicFrame>
      <p:sp>
        <p:nvSpPr>
          <p:cNvPr id="106582" name="Text Box 86"/>
          <p:cNvSpPr txBox="1">
            <a:spLocks noChangeArrowheads="1"/>
          </p:cNvSpPr>
          <p:nvPr/>
        </p:nvSpPr>
        <p:spPr bwMode="auto">
          <a:xfrm>
            <a:off x="857250" y="6021388"/>
            <a:ext cx="2286000" cy="457200"/>
          </a:xfrm>
          <a:prstGeom prst="rect">
            <a:avLst/>
          </a:prstGeom>
          <a:noFill/>
          <a:ln w="9525">
            <a:noFill/>
            <a:miter lim="800000"/>
            <a:headEnd/>
            <a:tailEnd/>
          </a:ln>
        </p:spPr>
        <p:txBody>
          <a:bodyPr>
            <a:spAutoFit/>
          </a:bodyPr>
          <a:lstStyle/>
          <a:p>
            <a:pPr>
              <a:spcBef>
                <a:spcPct val="50000"/>
              </a:spcBef>
            </a:pPr>
            <a:r>
              <a:rPr lang="zh-CN" altLang="en-US" b="1">
                <a:latin typeface="Bookman Old Style" pitchFamily="18" charset="0"/>
                <a:ea typeface="楷体_GB2312" pitchFamily="49" charset="-122"/>
              </a:rPr>
              <a:t>矢量表示式：</a:t>
            </a:r>
          </a:p>
        </p:txBody>
      </p:sp>
      <p:sp>
        <p:nvSpPr>
          <p:cNvPr id="106583" name="Line 87"/>
          <p:cNvSpPr>
            <a:spLocks noChangeShapeType="1"/>
          </p:cNvSpPr>
          <p:nvPr/>
        </p:nvSpPr>
        <p:spPr bwMode="auto">
          <a:xfrm>
            <a:off x="4845050" y="5656263"/>
            <a:ext cx="4191000" cy="0"/>
          </a:xfrm>
          <a:prstGeom prst="line">
            <a:avLst/>
          </a:prstGeom>
          <a:noFill/>
          <a:ln w="28575">
            <a:solidFill>
              <a:srgbClr val="008000"/>
            </a:solidFill>
            <a:round/>
            <a:headEnd/>
            <a:tailEnd type="triangle" w="sm" len="lg"/>
          </a:ln>
        </p:spPr>
        <p:txBody>
          <a:bodyPr/>
          <a:lstStyle/>
          <a:p>
            <a:endParaRPr lang="zh-CN" altLang="en-US"/>
          </a:p>
        </p:txBody>
      </p:sp>
      <p:sp>
        <p:nvSpPr>
          <p:cNvPr id="106584" name="Line 88"/>
          <p:cNvSpPr>
            <a:spLocks noChangeShapeType="1"/>
          </p:cNvSpPr>
          <p:nvPr/>
        </p:nvSpPr>
        <p:spPr bwMode="auto">
          <a:xfrm>
            <a:off x="4992688" y="4818063"/>
            <a:ext cx="685800" cy="0"/>
          </a:xfrm>
          <a:prstGeom prst="line">
            <a:avLst/>
          </a:prstGeom>
          <a:noFill/>
          <a:ln w="28575">
            <a:solidFill>
              <a:srgbClr val="FF0000"/>
            </a:solidFill>
            <a:round/>
            <a:headEnd/>
            <a:tailEnd type="triangle" w="sm" len="lg"/>
          </a:ln>
        </p:spPr>
        <p:txBody>
          <a:bodyPr/>
          <a:lstStyle/>
          <a:p>
            <a:endParaRPr lang="zh-CN" altLang="en-US"/>
          </a:p>
        </p:txBody>
      </p:sp>
      <p:graphicFrame>
        <p:nvGraphicFramePr>
          <p:cNvPr id="106585" name="Object 89"/>
          <p:cNvGraphicFramePr>
            <a:graphicFrameLocks noChangeAspect="1"/>
          </p:cNvGraphicFramePr>
          <p:nvPr/>
        </p:nvGraphicFramePr>
        <p:xfrm>
          <a:off x="7358063" y="5830888"/>
          <a:ext cx="288925" cy="406400"/>
        </p:xfrm>
        <a:graphic>
          <a:graphicData uri="http://schemas.openxmlformats.org/presentationml/2006/ole">
            <p:oleObj spid="_x0000_s25608" name="公式" r:id="rId11" imgW="139680" imgH="203040" progId="Equation.3">
              <p:embed/>
            </p:oleObj>
          </a:graphicData>
        </a:graphic>
      </p:graphicFrame>
      <p:graphicFrame>
        <p:nvGraphicFramePr>
          <p:cNvPr id="106586" name="Object 90"/>
          <p:cNvGraphicFramePr>
            <a:graphicFrameLocks/>
          </p:cNvGraphicFramePr>
          <p:nvPr/>
        </p:nvGraphicFramePr>
        <p:xfrm>
          <a:off x="5641975" y="4627563"/>
          <a:ext cx="252413" cy="320675"/>
        </p:xfrm>
        <a:graphic>
          <a:graphicData uri="http://schemas.openxmlformats.org/presentationml/2006/ole">
            <p:oleObj spid="_x0000_s25609" name="公式" r:id="rId12" imgW="139680" imgH="177480" progId="Equation.3">
              <p:embed/>
            </p:oleObj>
          </a:graphicData>
        </a:graphic>
      </p:graphicFrame>
      <p:sp>
        <p:nvSpPr>
          <p:cNvPr id="106590" name="Text Box 94"/>
          <p:cNvSpPr txBox="1">
            <a:spLocks noChangeArrowheads="1"/>
          </p:cNvSpPr>
          <p:nvPr/>
        </p:nvSpPr>
        <p:spPr bwMode="auto">
          <a:xfrm>
            <a:off x="6443663" y="4535488"/>
            <a:ext cx="914400" cy="457200"/>
          </a:xfrm>
          <a:prstGeom prst="rect">
            <a:avLst/>
          </a:prstGeom>
          <a:noFill/>
          <a:ln w="28575">
            <a:noFill/>
            <a:miter lim="800000"/>
            <a:headEnd/>
            <a:tailEnd/>
          </a:ln>
        </p:spPr>
        <p:txBody>
          <a:bodyPr>
            <a:spAutoFit/>
          </a:bodyPr>
          <a:lstStyle/>
          <a:p>
            <a:pPr algn="ctr">
              <a:spcBef>
                <a:spcPct val="50000"/>
              </a:spcBef>
            </a:pPr>
            <a:r>
              <a:rPr lang="en-US" altLang="zh-CN" b="1" i="1"/>
              <a:t>S</a:t>
            </a:r>
          </a:p>
        </p:txBody>
      </p:sp>
      <p:sp>
        <p:nvSpPr>
          <p:cNvPr id="106591" name="AutoShape 95"/>
          <p:cNvSpPr>
            <a:spLocks noChangeArrowheads="1"/>
          </p:cNvSpPr>
          <p:nvPr/>
        </p:nvSpPr>
        <p:spPr bwMode="auto">
          <a:xfrm>
            <a:off x="6826250" y="5503863"/>
            <a:ext cx="914400" cy="304800"/>
          </a:xfrm>
          <a:prstGeom prst="rightArrow">
            <a:avLst>
              <a:gd name="adj1" fmla="val 50000"/>
              <a:gd name="adj2" fmla="val 75000"/>
            </a:avLst>
          </a:prstGeom>
          <a:solidFill>
            <a:srgbClr val="FF6600"/>
          </a:solidFill>
          <a:ln w="9525">
            <a:solidFill>
              <a:srgbClr val="FF0000"/>
            </a:solid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6500"/>
                                        </p:tgtEl>
                                        <p:attrNameLst>
                                          <p:attrName>style.visibility</p:attrName>
                                        </p:attrNameLst>
                                      </p:cBhvr>
                                      <p:to>
                                        <p:strVal val="visible"/>
                                      </p:to>
                                    </p:set>
                                    <p:animEffect transition="in" filter="wipe(left)">
                                      <p:cBhvr>
                                        <p:cTn id="7" dur="500"/>
                                        <p:tgtEl>
                                          <p:spTgt spid="10650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6547"/>
                                        </p:tgtEl>
                                        <p:attrNameLst>
                                          <p:attrName>style.visibility</p:attrName>
                                        </p:attrNameLst>
                                      </p:cBhvr>
                                      <p:to>
                                        <p:strVal val="visible"/>
                                      </p:to>
                                    </p:set>
                                    <p:animEffect transition="in" filter="wipe(left)">
                                      <p:cBhvr>
                                        <p:cTn id="12" dur="500"/>
                                        <p:tgtEl>
                                          <p:spTgt spid="1065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6548"/>
                                        </p:tgtEl>
                                        <p:attrNameLst>
                                          <p:attrName>style.visibility</p:attrName>
                                        </p:attrNameLst>
                                      </p:cBhvr>
                                      <p:to>
                                        <p:strVal val="visible"/>
                                      </p:to>
                                    </p:set>
                                    <p:animEffect transition="in" filter="wipe(left)">
                                      <p:cBhvr>
                                        <p:cTn id="17" dur="500"/>
                                        <p:tgtEl>
                                          <p:spTgt spid="10654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slide(from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6561"/>
                                        </p:tgtEl>
                                        <p:attrNameLst>
                                          <p:attrName>style.visibility</p:attrName>
                                        </p:attrNameLst>
                                      </p:cBhvr>
                                      <p:to>
                                        <p:strVal val="visible"/>
                                      </p:to>
                                    </p:set>
                                    <p:animEffect transition="in" filter="wipe(left)">
                                      <p:cBhvr>
                                        <p:cTn id="27" dur="500"/>
                                        <p:tgtEl>
                                          <p:spTgt spid="10656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10656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5" presetClass="entr" presetSubtype="0" fill="hold" grpId="0" nodeType="clickEffect">
                                  <p:stCondLst>
                                    <p:cond delay="0"/>
                                  </p:stCondLst>
                                  <p:childTnLst>
                                    <p:set>
                                      <p:cBhvr>
                                        <p:cTn id="35" dur="1" fill="hold">
                                          <p:stCondLst>
                                            <p:cond delay="0"/>
                                          </p:stCondLst>
                                        </p:cTn>
                                        <p:tgtEl>
                                          <p:spTgt spid="106563"/>
                                        </p:tgtEl>
                                        <p:attrNameLst>
                                          <p:attrName>style.visibility</p:attrName>
                                        </p:attrNameLst>
                                      </p:cBhvr>
                                      <p:to>
                                        <p:strVal val="visible"/>
                                      </p:to>
                                    </p:set>
                                    <p:anim calcmode="lin" valueType="num">
                                      <p:cBhvr>
                                        <p:cTn id="36" dur="1000" fill="hold"/>
                                        <p:tgtEl>
                                          <p:spTgt spid="106563"/>
                                        </p:tgtEl>
                                        <p:attrNameLst>
                                          <p:attrName>ppt_w</p:attrName>
                                        </p:attrNameLst>
                                      </p:cBhvr>
                                      <p:tavLst>
                                        <p:tav tm="0">
                                          <p:val>
                                            <p:fltVal val="0"/>
                                          </p:val>
                                        </p:tav>
                                        <p:tav tm="100000">
                                          <p:val>
                                            <p:strVal val="#ppt_w"/>
                                          </p:val>
                                        </p:tav>
                                      </p:tavLst>
                                    </p:anim>
                                    <p:anim calcmode="lin" valueType="num">
                                      <p:cBhvr>
                                        <p:cTn id="37" dur="1000" fill="hold"/>
                                        <p:tgtEl>
                                          <p:spTgt spid="106563"/>
                                        </p:tgtEl>
                                        <p:attrNameLst>
                                          <p:attrName>ppt_h</p:attrName>
                                        </p:attrNameLst>
                                      </p:cBhvr>
                                      <p:tavLst>
                                        <p:tav tm="0">
                                          <p:val>
                                            <p:fltVal val="0"/>
                                          </p:val>
                                        </p:tav>
                                        <p:tav tm="100000">
                                          <p:val>
                                            <p:strVal val="#ppt_h"/>
                                          </p:val>
                                        </p:tav>
                                      </p:tavLst>
                                    </p:anim>
                                    <p:anim calcmode="lin" valueType="num">
                                      <p:cBhvr>
                                        <p:cTn id="38" dur="1000" fill="hold"/>
                                        <p:tgtEl>
                                          <p:spTgt spid="106563"/>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10656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0" fill="hold">
                      <p:stCondLst>
                        <p:cond delay="indefinite"/>
                      </p:stCondLst>
                      <p:childTnLst>
                        <p:par>
                          <p:cTn id="41" fill="hold">
                            <p:stCondLst>
                              <p:cond delay="0"/>
                            </p:stCondLst>
                            <p:childTnLst>
                              <p:par>
                                <p:cTn id="42" presetID="16" presetClass="entr" presetSubtype="37" fill="hold"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barn(outVertical)">
                                      <p:cBhvr>
                                        <p:cTn id="44" dur="500"/>
                                        <p:tgtEl>
                                          <p:spTgt spid="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06569"/>
                                        </p:tgtEl>
                                        <p:attrNameLst>
                                          <p:attrName>style.visibility</p:attrName>
                                        </p:attrNameLst>
                                      </p:cBhvr>
                                      <p:to>
                                        <p:strVal val="visible"/>
                                      </p:to>
                                    </p:set>
                                    <p:animEffect transition="in" filter="wipe(left)">
                                      <p:cBhvr>
                                        <p:cTn id="49" dur="500"/>
                                        <p:tgtEl>
                                          <p:spTgt spid="10656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06570"/>
                                        </p:tgtEl>
                                        <p:attrNameLst>
                                          <p:attrName>style.visibility</p:attrName>
                                        </p:attrNameLst>
                                      </p:cBhvr>
                                      <p:to>
                                        <p:strVal val="visible"/>
                                      </p:to>
                                    </p:set>
                                    <p:animEffect transition="in" filter="wipe(left)">
                                      <p:cBhvr>
                                        <p:cTn id="54" dur="500"/>
                                        <p:tgtEl>
                                          <p:spTgt spid="10657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06571"/>
                                        </p:tgtEl>
                                        <p:attrNameLst>
                                          <p:attrName>style.visibility</p:attrName>
                                        </p:attrNameLst>
                                      </p:cBhvr>
                                      <p:to>
                                        <p:strVal val="visible"/>
                                      </p:to>
                                    </p:set>
                                    <p:animEffect transition="in" filter="wipe(left)">
                                      <p:cBhvr>
                                        <p:cTn id="59" dur="500"/>
                                        <p:tgtEl>
                                          <p:spTgt spid="106571"/>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06550"/>
                                        </p:tgtEl>
                                        <p:attrNameLst>
                                          <p:attrName>style.visibility</p:attrName>
                                        </p:attrNameLst>
                                      </p:cBhvr>
                                      <p:to>
                                        <p:strVal val="visible"/>
                                      </p:to>
                                    </p:set>
                                    <p:animEffect transition="in" filter="wipe(left)">
                                      <p:cBhvr>
                                        <p:cTn id="64" dur="500"/>
                                        <p:tgtEl>
                                          <p:spTgt spid="106550"/>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106572"/>
                                        </p:tgtEl>
                                        <p:attrNameLst>
                                          <p:attrName>style.visibility</p:attrName>
                                        </p:attrNameLst>
                                      </p:cBhvr>
                                      <p:to>
                                        <p:strVal val="visible"/>
                                      </p:to>
                                    </p:set>
                                    <p:animEffect transition="in" filter="wipe(left)">
                                      <p:cBhvr>
                                        <p:cTn id="69" dur="500"/>
                                        <p:tgtEl>
                                          <p:spTgt spid="106572"/>
                                        </p:tgtEl>
                                      </p:cBhvr>
                                    </p:animEffect>
                                  </p:childTnLst>
                                </p:cTn>
                              </p:par>
                            </p:childTnLst>
                          </p:cTn>
                        </p:par>
                        <p:par>
                          <p:cTn id="70" fill="hold">
                            <p:stCondLst>
                              <p:cond delay="500"/>
                            </p:stCondLst>
                            <p:childTnLst>
                              <p:par>
                                <p:cTn id="71" presetID="22" presetClass="entr" presetSubtype="8" fill="hold" grpId="0" nodeType="afterEffect">
                                  <p:stCondLst>
                                    <p:cond delay="0"/>
                                  </p:stCondLst>
                                  <p:childTnLst>
                                    <p:set>
                                      <p:cBhvr>
                                        <p:cTn id="72" dur="1" fill="hold">
                                          <p:stCondLst>
                                            <p:cond delay="0"/>
                                          </p:stCondLst>
                                        </p:cTn>
                                        <p:tgtEl>
                                          <p:spTgt spid="106576"/>
                                        </p:tgtEl>
                                        <p:attrNameLst>
                                          <p:attrName>style.visibility</p:attrName>
                                        </p:attrNameLst>
                                      </p:cBhvr>
                                      <p:to>
                                        <p:strVal val="visible"/>
                                      </p:to>
                                    </p:set>
                                    <p:animEffect transition="in" filter="wipe(left)">
                                      <p:cBhvr>
                                        <p:cTn id="73" dur="500"/>
                                        <p:tgtEl>
                                          <p:spTgt spid="106576"/>
                                        </p:tgtEl>
                                      </p:cBhvr>
                                    </p:animEffect>
                                  </p:childTnLst>
                                </p:cTn>
                              </p:par>
                            </p:childTnLst>
                          </p:cTn>
                        </p:par>
                      </p:childTnLst>
                    </p:cTn>
                  </p:par>
                  <p:par>
                    <p:cTn id="74" fill="hold">
                      <p:stCondLst>
                        <p:cond delay="indefinite"/>
                      </p:stCondLst>
                      <p:childTnLst>
                        <p:par>
                          <p:cTn id="75" fill="hold">
                            <p:stCondLst>
                              <p:cond delay="0"/>
                            </p:stCondLst>
                            <p:childTnLst>
                              <p:par>
                                <p:cTn id="76" presetID="5" presetClass="entr" presetSubtype="10" fill="hold" grpId="0" nodeType="clickEffect">
                                  <p:stCondLst>
                                    <p:cond delay="0"/>
                                  </p:stCondLst>
                                  <p:childTnLst>
                                    <p:set>
                                      <p:cBhvr>
                                        <p:cTn id="77" dur="1" fill="hold">
                                          <p:stCondLst>
                                            <p:cond delay="0"/>
                                          </p:stCondLst>
                                        </p:cTn>
                                        <p:tgtEl>
                                          <p:spTgt spid="106577"/>
                                        </p:tgtEl>
                                        <p:attrNameLst>
                                          <p:attrName>style.visibility</p:attrName>
                                        </p:attrNameLst>
                                      </p:cBhvr>
                                      <p:to>
                                        <p:strVal val="visible"/>
                                      </p:to>
                                    </p:set>
                                    <p:animEffect transition="in" filter="checkerboard(across)">
                                      <p:cBhvr>
                                        <p:cTn id="78" dur="500"/>
                                        <p:tgtEl>
                                          <p:spTgt spid="106577"/>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5"/>
                                        </p:tgtEl>
                                        <p:attrNameLst>
                                          <p:attrName>style.visibility</p:attrName>
                                        </p:attrNameLst>
                                      </p:cBhvr>
                                      <p:to>
                                        <p:strVal val="visible"/>
                                      </p:to>
                                    </p:set>
                                    <p:animEffect transition="in" filter="wipe(left)">
                                      <p:cBhvr>
                                        <p:cTn id="83" dur="500"/>
                                        <p:tgtEl>
                                          <p:spTgt spid="5"/>
                                        </p:tgtEl>
                                      </p:cBhvr>
                                    </p:animEffect>
                                  </p:childTnLst>
                                </p:cTn>
                              </p:par>
                            </p:childTnLst>
                          </p:cTn>
                        </p:par>
                      </p:childTnLst>
                    </p:cTn>
                  </p:par>
                  <p:par>
                    <p:cTn id="84" fill="hold">
                      <p:stCondLst>
                        <p:cond delay="indefinite"/>
                      </p:stCondLst>
                      <p:childTnLst>
                        <p:par>
                          <p:cTn id="85" fill="hold">
                            <p:stCondLst>
                              <p:cond delay="0"/>
                            </p:stCondLst>
                            <p:childTnLst>
                              <p:par>
                                <p:cTn id="86" presetID="12" presetClass="entr" presetSubtype="8" fill="hold" grpId="0" nodeType="clickEffect">
                                  <p:stCondLst>
                                    <p:cond delay="0"/>
                                  </p:stCondLst>
                                  <p:childTnLst>
                                    <p:set>
                                      <p:cBhvr>
                                        <p:cTn id="87" dur="1" fill="hold">
                                          <p:stCondLst>
                                            <p:cond delay="0"/>
                                          </p:stCondLst>
                                        </p:cTn>
                                        <p:tgtEl>
                                          <p:spTgt spid="106584"/>
                                        </p:tgtEl>
                                        <p:attrNameLst>
                                          <p:attrName>style.visibility</p:attrName>
                                        </p:attrNameLst>
                                      </p:cBhvr>
                                      <p:to>
                                        <p:strVal val="visible"/>
                                      </p:to>
                                    </p:set>
                                    <p:animEffect transition="in" filter="slide(fromLeft)">
                                      <p:cBhvr>
                                        <p:cTn id="88" dur="500"/>
                                        <p:tgtEl>
                                          <p:spTgt spid="106584"/>
                                        </p:tgtEl>
                                      </p:cBhvr>
                                    </p:animEffec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499"/>
                                          </p:stCondLst>
                                        </p:cTn>
                                        <p:tgtEl>
                                          <p:spTgt spid="10658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106583"/>
                                        </p:tgtEl>
                                        <p:attrNameLst>
                                          <p:attrName>style.visibility</p:attrName>
                                        </p:attrNameLst>
                                      </p:cBhvr>
                                      <p:to>
                                        <p:strVal val="visible"/>
                                      </p:to>
                                    </p:set>
                                    <p:anim calcmode="lin" valueType="num">
                                      <p:cBhvr additive="base">
                                        <p:cTn id="97" dur="500" fill="hold"/>
                                        <p:tgtEl>
                                          <p:spTgt spid="106583"/>
                                        </p:tgtEl>
                                        <p:attrNameLst>
                                          <p:attrName>ppt_x</p:attrName>
                                        </p:attrNameLst>
                                      </p:cBhvr>
                                      <p:tavLst>
                                        <p:tav tm="0">
                                          <p:val>
                                            <p:strVal val="0-#ppt_w/2"/>
                                          </p:val>
                                        </p:tav>
                                        <p:tav tm="100000">
                                          <p:val>
                                            <p:strVal val="#ppt_x"/>
                                          </p:val>
                                        </p:tav>
                                      </p:tavLst>
                                    </p:anim>
                                    <p:anim calcmode="lin" valueType="num">
                                      <p:cBhvr additive="base">
                                        <p:cTn id="98" dur="500" fill="hold"/>
                                        <p:tgtEl>
                                          <p:spTgt spid="106583"/>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12" presetClass="entr" presetSubtype="4" fill="hold" nodeType="clickEffect">
                                  <p:stCondLst>
                                    <p:cond delay="0"/>
                                  </p:stCondLst>
                                  <p:childTnLst>
                                    <p:set>
                                      <p:cBhvr>
                                        <p:cTn id="102" dur="1" fill="hold">
                                          <p:stCondLst>
                                            <p:cond delay="0"/>
                                          </p:stCondLst>
                                        </p:cTn>
                                        <p:tgtEl>
                                          <p:spTgt spid="2"/>
                                        </p:tgtEl>
                                        <p:attrNameLst>
                                          <p:attrName>style.visibility</p:attrName>
                                        </p:attrNameLst>
                                      </p:cBhvr>
                                      <p:to>
                                        <p:strVal val="visible"/>
                                      </p:to>
                                    </p:set>
                                    <p:animEffect transition="in" filter="slide(fromBottom)">
                                      <p:cBhvr>
                                        <p:cTn id="103" dur="2000"/>
                                        <p:tgtEl>
                                          <p:spTgt spid="2"/>
                                        </p:tgtEl>
                                      </p:cBhvr>
                                    </p:animEffect>
                                  </p:childTnLst>
                                </p:cTn>
                              </p:par>
                            </p:childTnLst>
                          </p:cTn>
                        </p:par>
                      </p:childTnLst>
                    </p:cTn>
                  </p:par>
                  <p:par>
                    <p:cTn id="104" fill="hold">
                      <p:stCondLst>
                        <p:cond delay="indefinite"/>
                      </p:stCondLst>
                      <p:childTnLst>
                        <p:par>
                          <p:cTn id="105" fill="hold">
                            <p:stCondLst>
                              <p:cond delay="0"/>
                            </p:stCondLst>
                            <p:childTnLst>
                              <p:par>
                                <p:cTn id="106" presetID="12" presetClass="entr" presetSubtype="4" fill="hold" grpId="0" nodeType="clickEffect">
                                  <p:stCondLst>
                                    <p:cond delay="0"/>
                                  </p:stCondLst>
                                  <p:childTnLst>
                                    <p:set>
                                      <p:cBhvr>
                                        <p:cTn id="107" dur="1" fill="hold">
                                          <p:stCondLst>
                                            <p:cond delay="0"/>
                                          </p:stCondLst>
                                        </p:cTn>
                                        <p:tgtEl>
                                          <p:spTgt spid="106590"/>
                                        </p:tgtEl>
                                        <p:attrNameLst>
                                          <p:attrName>style.visibility</p:attrName>
                                        </p:attrNameLst>
                                      </p:cBhvr>
                                      <p:to>
                                        <p:strVal val="visible"/>
                                      </p:to>
                                    </p:set>
                                    <p:animEffect transition="in" filter="slide(fromBottom)">
                                      <p:cBhvr>
                                        <p:cTn id="108" dur="500"/>
                                        <p:tgtEl>
                                          <p:spTgt spid="106590"/>
                                        </p:tgtEl>
                                      </p:cBhvr>
                                    </p:animEffect>
                                  </p:childTnLst>
                                </p:cTn>
                              </p:par>
                            </p:childTnLst>
                          </p:cTn>
                        </p:par>
                      </p:childTnLst>
                    </p:cTn>
                  </p:par>
                  <p:par>
                    <p:cTn id="109" fill="hold">
                      <p:stCondLst>
                        <p:cond delay="indefinite"/>
                      </p:stCondLst>
                      <p:childTnLst>
                        <p:par>
                          <p:cTn id="110" fill="hold">
                            <p:stCondLst>
                              <p:cond delay="0"/>
                            </p:stCondLst>
                            <p:childTnLst>
                              <p:par>
                                <p:cTn id="111" presetID="12" presetClass="entr" presetSubtype="8" fill="hold" grpId="0" nodeType="clickEffect">
                                  <p:stCondLst>
                                    <p:cond delay="0"/>
                                  </p:stCondLst>
                                  <p:childTnLst>
                                    <p:set>
                                      <p:cBhvr>
                                        <p:cTn id="112" dur="1" fill="hold">
                                          <p:stCondLst>
                                            <p:cond delay="0"/>
                                          </p:stCondLst>
                                        </p:cTn>
                                        <p:tgtEl>
                                          <p:spTgt spid="106591"/>
                                        </p:tgtEl>
                                        <p:attrNameLst>
                                          <p:attrName>style.visibility</p:attrName>
                                        </p:attrNameLst>
                                      </p:cBhvr>
                                      <p:to>
                                        <p:strVal val="visible"/>
                                      </p:to>
                                    </p:set>
                                    <p:animEffect transition="in" filter="slide(fromLeft)">
                                      <p:cBhvr>
                                        <p:cTn id="113" dur="500"/>
                                        <p:tgtEl>
                                          <p:spTgt spid="106591"/>
                                        </p:tgtEl>
                                      </p:cBhvr>
                                    </p:animEffect>
                                  </p:childTnLst>
                                </p:cTn>
                              </p:par>
                            </p:childTnLst>
                          </p:cTn>
                        </p:par>
                      </p:childTnLst>
                    </p:cTn>
                  </p:par>
                  <p:par>
                    <p:cTn id="114" fill="hold">
                      <p:stCondLst>
                        <p:cond delay="indefinite"/>
                      </p:stCondLst>
                      <p:childTnLst>
                        <p:par>
                          <p:cTn id="115" fill="hold">
                            <p:stCondLst>
                              <p:cond delay="0"/>
                            </p:stCondLst>
                            <p:childTnLst>
                              <p:par>
                                <p:cTn id="116" presetID="3" presetClass="entr" presetSubtype="10" fill="hold" grpId="0" nodeType="clickEffect">
                                  <p:stCondLst>
                                    <p:cond delay="0"/>
                                  </p:stCondLst>
                                  <p:childTnLst>
                                    <p:set>
                                      <p:cBhvr>
                                        <p:cTn id="117" dur="1" fill="hold">
                                          <p:stCondLst>
                                            <p:cond delay="0"/>
                                          </p:stCondLst>
                                        </p:cTn>
                                        <p:tgtEl>
                                          <p:spTgt spid="106579"/>
                                        </p:tgtEl>
                                        <p:attrNameLst>
                                          <p:attrName>style.visibility</p:attrName>
                                        </p:attrNameLst>
                                      </p:cBhvr>
                                      <p:to>
                                        <p:strVal val="visible"/>
                                      </p:to>
                                    </p:set>
                                    <p:animEffect transition="in" filter="blinds(horizontal)">
                                      <p:cBhvr>
                                        <p:cTn id="118" dur="500"/>
                                        <p:tgtEl>
                                          <p:spTgt spid="106579"/>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nodeType="clickEffect">
                                  <p:stCondLst>
                                    <p:cond delay="0"/>
                                  </p:stCondLst>
                                  <p:childTnLst>
                                    <p:set>
                                      <p:cBhvr>
                                        <p:cTn id="122" dur="1" fill="hold">
                                          <p:stCondLst>
                                            <p:cond delay="0"/>
                                          </p:stCondLst>
                                        </p:cTn>
                                        <p:tgtEl>
                                          <p:spTgt spid="106578"/>
                                        </p:tgtEl>
                                        <p:attrNameLst>
                                          <p:attrName>style.visibility</p:attrName>
                                        </p:attrNameLst>
                                      </p:cBhvr>
                                      <p:to>
                                        <p:strVal val="visible"/>
                                      </p:to>
                                    </p:set>
                                    <p:animEffect transition="in" filter="wipe(left)">
                                      <p:cBhvr>
                                        <p:cTn id="123" dur="500"/>
                                        <p:tgtEl>
                                          <p:spTgt spid="106578"/>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106580"/>
                                        </p:tgtEl>
                                        <p:attrNameLst>
                                          <p:attrName>style.visibility</p:attrName>
                                        </p:attrNameLst>
                                      </p:cBhvr>
                                      <p:to>
                                        <p:strVal val="visible"/>
                                      </p:to>
                                    </p:set>
                                    <p:animEffect transition="in" filter="wipe(left)">
                                      <p:cBhvr>
                                        <p:cTn id="128" dur="500"/>
                                        <p:tgtEl>
                                          <p:spTgt spid="106580"/>
                                        </p:tgtEl>
                                      </p:cBhvr>
                                    </p:animEffect>
                                  </p:childTnLst>
                                </p:cTn>
                              </p:par>
                            </p:childTnLst>
                          </p:cTn>
                        </p:par>
                        <p:par>
                          <p:cTn id="129" fill="hold">
                            <p:stCondLst>
                              <p:cond delay="500"/>
                            </p:stCondLst>
                            <p:childTnLst>
                              <p:par>
                                <p:cTn id="130" presetID="22" presetClass="entr" presetSubtype="8" fill="hold" nodeType="afterEffect">
                                  <p:stCondLst>
                                    <p:cond delay="0"/>
                                  </p:stCondLst>
                                  <p:childTnLst>
                                    <p:set>
                                      <p:cBhvr>
                                        <p:cTn id="131" dur="1" fill="hold">
                                          <p:stCondLst>
                                            <p:cond delay="0"/>
                                          </p:stCondLst>
                                        </p:cTn>
                                        <p:tgtEl>
                                          <p:spTgt spid="106585"/>
                                        </p:tgtEl>
                                        <p:attrNameLst>
                                          <p:attrName>style.visibility</p:attrName>
                                        </p:attrNameLst>
                                      </p:cBhvr>
                                      <p:to>
                                        <p:strVal val="visible"/>
                                      </p:to>
                                    </p:set>
                                    <p:animEffect transition="in" filter="wipe(left)">
                                      <p:cBhvr>
                                        <p:cTn id="132" dur="500"/>
                                        <p:tgtEl>
                                          <p:spTgt spid="106585"/>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106582"/>
                                        </p:tgtEl>
                                        <p:attrNameLst>
                                          <p:attrName>style.visibility</p:attrName>
                                        </p:attrNameLst>
                                      </p:cBhvr>
                                      <p:to>
                                        <p:strVal val="visible"/>
                                      </p:to>
                                    </p:set>
                                    <p:animEffect transition="in" filter="wipe(left)">
                                      <p:cBhvr>
                                        <p:cTn id="137" dur="500"/>
                                        <p:tgtEl>
                                          <p:spTgt spid="106582"/>
                                        </p:tgtEl>
                                      </p:cBhvr>
                                    </p:animEffect>
                                  </p:childTnLst>
                                </p:cTn>
                              </p:par>
                            </p:childTnLst>
                          </p:cTn>
                        </p:par>
                        <p:par>
                          <p:cTn id="138" fill="hold">
                            <p:stCondLst>
                              <p:cond delay="500"/>
                            </p:stCondLst>
                            <p:childTnLst>
                              <p:par>
                                <p:cTn id="139" presetID="22" presetClass="entr" presetSubtype="8" fill="hold" nodeType="afterEffect">
                                  <p:stCondLst>
                                    <p:cond delay="0"/>
                                  </p:stCondLst>
                                  <p:childTnLst>
                                    <p:set>
                                      <p:cBhvr>
                                        <p:cTn id="140" dur="1" fill="hold">
                                          <p:stCondLst>
                                            <p:cond delay="0"/>
                                          </p:stCondLst>
                                        </p:cTn>
                                        <p:tgtEl>
                                          <p:spTgt spid="106581"/>
                                        </p:tgtEl>
                                        <p:attrNameLst>
                                          <p:attrName>style.visibility</p:attrName>
                                        </p:attrNameLst>
                                      </p:cBhvr>
                                      <p:to>
                                        <p:strVal val="visible"/>
                                      </p:to>
                                    </p:set>
                                    <p:animEffect transition="in" filter="wipe(left)">
                                      <p:cBhvr>
                                        <p:cTn id="141" dur="500"/>
                                        <p:tgtEl>
                                          <p:spTgt spid="106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0" grpId="0" autoUpdateAnimBg="0"/>
      <p:bldP spid="106547" grpId="0" autoUpdateAnimBg="0"/>
      <p:bldP spid="106548" grpId="0" autoUpdateAnimBg="0"/>
      <p:bldP spid="106550" grpId="0" autoUpdateAnimBg="0"/>
      <p:bldP spid="106561" grpId="0" animBg="1"/>
      <p:bldP spid="106563" grpId="0" autoUpdateAnimBg="0"/>
      <p:bldP spid="106569" grpId="0" autoUpdateAnimBg="0"/>
      <p:bldP spid="106576" grpId="0" autoUpdateAnimBg="0"/>
      <p:bldP spid="106577" grpId="0" autoUpdateAnimBg="0"/>
      <p:bldP spid="106579" grpId="0" autoUpdateAnimBg="0"/>
      <p:bldP spid="106580" grpId="0" autoUpdateAnimBg="0"/>
      <p:bldP spid="106582" grpId="0" autoUpdateAnimBg="0"/>
      <p:bldP spid="106583" grpId="0" animBg="1"/>
      <p:bldP spid="106584" grpId="0" animBg="1"/>
      <p:bldP spid="106590" grpId="0" autoUpdateAnimBg="0"/>
      <p:bldP spid="10659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6" name="Text Box 4"/>
          <p:cNvSpPr txBox="1">
            <a:spLocks noChangeArrowheads="1"/>
          </p:cNvSpPr>
          <p:nvPr/>
        </p:nvSpPr>
        <p:spPr bwMode="auto">
          <a:xfrm>
            <a:off x="701675" y="585788"/>
            <a:ext cx="7010400" cy="457200"/>
          </a:xfrm>
          <a:prstGeom prst="rect">
            <a:avLst/>
          </a:prstGeom>
          <a:noFill/>
          <a:ln w="9525">
            <a:noFill/>
            <a:miter lim="800000"/>
            <a:headEnd/>
            <a:tailEnd/>
          </a:ln>
        </p:spPr>
        <p:txBody>
          <a:bodyPr>
            <a:spAutoFit/>
          </a:bodyPr>
          <a:lstStyle/>
          <a:p>
            <a:pPr>
              <a:spcBef>
                <a:spcPct val="50000"/>
              </a:spcBef>
            </a:pPr>
            <a:r>
              <a:rPr lang="zh-CN" altLang="en-US" b="1">
                <a:latin typeface="楷体_GB2312" pitchFamily="49" charset="-122"/>
                <a:ea typeface="楷体_GB2312" pitchFamily="49" charset="-122"/>
              </a:rPr>
              <a:t>能流密度的大小又叫</a:t>
            </a:r>
            <a:r>
              <a:rPr lang="zh-CN" altLang="en-US" b="1">
                <a:solidFill>
                  <a:srgbClr val="FF6600"/>
                </a:solidFill>
                <a:latin typeface="楷体_GB2312" pitchFamily="49" charset="-122"/>
                <a:ea typeface="楷体_GB2312" pitchFamily="49" charset="-122"/>
              </a:rPr>
              <a:t>波的强度</a:t>
            </a:r>
          </a:p>
        </p:txBody>
      </p:sp>
      <p:graphicFrame>
        <p:nvGraphicFramePr>
          <p:cNvPr id="192517" name="Object 5"/>
          <p:cNvGraphicFramePr>
            <a:graphicFrameLocks noChangeAspect="1"/>
          </p:cNvGraphicFramePr>
          <p:nvPr/>
        </p:nvGraphicFramePr>
        <p:xfrm>
          <a:off x="1474788" y="1352550"/>
          <a:ext cx="892175" cy="320675"/>
        </p:xfrm>
        <a:graphic>
          <a:graphicData uri="http://schemas.openxmlformats.org/presentationml/2006/ole">
            <p:oleObj spid="_x0000_s26626" name="公式" r:id="rId3" imgW="495000" imgH="177480" progId="Equation.3">
              <p:embed/>
            </p:oleObj>
          </a:graphicData>
        </a:graphic>
      </p:graphicFrame>
      <p:graphicFrame>
        <p:nvGraphicFramePr>
          <p:cNvPr id="192518" name="Object 6"/>
          <p:cNvGraphicFramePr>
            <a:graphicFrameLocks noChangeAspect="1"/>
          </p:cNvGraphicFramePr>
          <p:nvPr/>
        </p:nvGraphicFramePr>
        <p:xfrm>
          <a:off x="2382838" y="1125538"/>
          <a:ext cx="1420812" cy="728662"/>
        </p:xfrm>
        <a:graphic>
          <a:graphicData uri="http://schemas.openxmlformats.org/presentationml/2006/ole">
            <p:oleObj spid="_x0000_s26627" name="公式" r:id="rId4" imgW="787320" imgH="406080" progId="Equation.3">
              <p:embed/>
            </p:oleObj>
          </a:graphicData>
        </a:graphic>
      </p:graphicFrame>
      <p:graphicFrame>
        <p:nvGraphicFramePr>
          <p:cNvPr id="192519" name="Object 7"/>
          <p:cNvGraphicFramePr>
            <a:graphicFrameLocks/>
          </p:cNvGraphicFramePr>
          <p:nvPr/>
        </p:nvGraphicFramePr>
        <p:xfrm>
          <a:off x="3941763" y="1287463"/>
          <a:ext cx="638175" cy="341312"/>
        </p:xfrm>
        <a:graphic>
          <a:graphicData uri="http://schemas.openxmlformats.org/presentationml/2006/ole">
            <p:oleObj spid="_x0000_s26628" name="公式" r:id="rId5" imgW="355320" imgH="190440" progId="Equation.3">
              <p:embed/>
            </p:oleObj>
          </a:graphicData>
        </a:graphic>
      </p:graphicFrame>
      <p:sp>
        <p:nvSpPr>
          <p:cNvPr id="192520" name="Text Box 8"/>
          <p:cNvSpPr txBox="1">
            <a:spLocks noChangeArrowheads="1"/>
          </p:cNvSpPr>
          <p:nvPr/>
        </p:nvSpPr>
        <p:spPr bwMode="auto">
          <a:xfrm>
            <a:off x="107950" y="1963738"/>
            <a:ext cx="4824413" cy="457200"/>
          </a:xfrm>
          <a:prstGeom prst="rect">
            <a:avLst/>
          </a:prstGeom>
          <a:noFill/>
          <a:ln w="9525">
            <a:noFill/>
            <a:miter lim="800000"/>
            <a:headEnd/>
            <a:tailEnd/>
          </a:ln>
        </p:spPr>
        <p:txBody>
          <a:bodyPr>
            <a:spAutoFit/>
          </a:bodyPr>
          <a:lstStyle/>
          <a:p>
            <a:pPr eaLnBrk="0" hangingPunct="0">
              <a:spcBef>
                <a:spcPct val="50000"/>
              </a:spcBef>
            </a:pPr>
            <a:r>
              <a:rPr lang="zh-CN" altLang="en-US" b="1">
                <a:solidFill>
                  <a:srgbClr val="FF3300"/>
                </a:solidFill>
              </a:rPr>
              <a:t>三、平面波和球面波的振幅</a:t>
            </a:r>
            <a:endParaRPr lang="zh-CN" altLang="en-US" b="1">
              <a:solidFill>
                <a:srgbClr val="0033CC"/>
              </a:solidFill>
              <a:latin typeface="宋体" pitchFamily="2" charset="-122"/>
            </a:endParaRPr>
          </a:p>
        </p:txBody>
      </p:sp>
      <p:sp>
        <p:nvSpPr>
          <p:cNvPr id="192521" name="Rectangle 9"/>
          <p:cNvSpPr>
            <a:spLocks noChangeArrowheads="1"/>
          </p:cNvSpPr>
          <p:nvPr/>
        </p:nvSpPr>
        <p:spPr bwMode="auto">
          <a:xfrm>
            <a:off x="323850" y="2611438"/>
            <a:ext cx="1882775" cy="457200"/>
          </a:xfrm>
          <a:prstGeom prst="rect">
            <a:avLst/>
          </a:prstGeom>
          <a:noFill/>
          <a:ln w="9525">
            <a:noFill/>
            <a:miter lim="800000"/>
            <a:headEnd/>
            <a:tailEnd/>
          </a:ln>
        </p:spPr>
        <p:txBody>
          <a:bodyPr>
            <a:spAutoFit/>
          </a:bodyPr>
          <a:lstStyle/>
          <a:p>
            <a:r>
              <a:rPr lang="en-US" altLang="zh-CN" b="1">
                <a:solidFill>
                  <a:srgbClr val="0033CC"/>
                </a:solidFill>
              </a:rPr>
              <a:t>1. </a:t>
            </a:r>
            <a:r>
              <a:rPr lang="zh-CN" altLang="en-US" b="1">
                <a:solidFill>
                  <a:srgbClr val="0033CC"/>
                </a:solidFill>
              </a:rPr>
              <a:t>平面波</a:t>
            </a:r>
          </a:p>
        </p:txBody>
      </p:sp>
      <p:sp>
        <p:nvSpPr>
          <p:cNvPr id="192522" name="Rectangle 10"/>
          <p:cNvSpPr>
            <a:spLocks noChangeArrowheads="1"/>
          </p:cNvSpPr>
          <p:nvPr/>
        </p:nvSpPr>
        <p:spPr bwMode="auto">
          <a:xfrm>
            <a:off x="3635375" y="1963738"/>
            <a:ext cx="2900363" cy="457200"/>
          </a:xfrm>
          <a:prstGeom prst="rect">
            <a:avLst/>
          </a:prstGeom>
          <a:noFill/>
          <a:ln w="9525">
            <a:noFill/>
            <a:miter lim="800000"/>
            <a:headEnd/>
            <a:tailEnd/>
          </a:ln>
        </p:spPr>
        <p:txBody>
          <a:bodyPr>
            <a:spAutoFit/>
          </a:bodyPr>
          <a:lstStyle/>
          <a:p>
            <a:r>
              <a:rPr lang="en-US" altLang="zh-CN" b="1"/>
              <a:t> </a:t>
            </a:r>
            <a:r>
              <a:rPr lang="zh-CN" altLang="en-US" b="1"/>
              <a:t>（</a:t>
            </a:r>
            <a:r>
              <a:rPr lang="zh-CN" altLang="en-US" b="1">
                <a:ea typeface="楷体_GB2312" pitchFamily="49" charset="-122"/>
              </a:rPr>
              <a:t>不吸收能量</a:t>
            </a:r>
            <a:r>
              <a:rPr lang="zh-CN" altLang="en-US" b="1"/>
              <a:t>）</a:t>
            </a:r>
          </a:p>
        </p:txBody>
      </p:sp>
      <p:pic>
        <p:nvPicPr>
          <p:cNvPr id="192523" name="Picture 11" descr="波前2"/>
          <p:cNvPicPr>
            <a:picLocks noChangeAspect="1" noChangeArrowheads="1"/>
          </p:cNvPicPr>
          <p:nvPr/>
        </p:nvPicPr>
        <p:blipFill>
          <a:blip r:embed="rId6">
            <a:clrChange>
              <a:clrFrom>
                <a:srgbClr val="336598"/>
              </a:clrFrom>
              <a:clrTo>
                <a:srgbClr val="336598">
                  <a:alpha val="0"/>
                </a:srgbClr>
              </a:clrTo>
            </a:clrChange>
            <a:lum bright="-24000"/>
          </a:blip>
          <a:srcRect l="10106" t="10088" r="12421" b="12390"/>
          <a:stretch>
            <a:fillRect/>
          </a:stretch>
        </p:blipFill>
        <p:spPr bwMode="auto">
          <a:xfrm>
            <a:off x="5435600" y="3240088"/>
            <a:ext cx="3200400" cy="2049462"/>
          </a:xfrm>
          <a:prstGeom prst="rect">
            <a:avLst/>
          </a:prstGeom>
          <a:noFill/>
          <a:ln w="9525">
            <a:noFill/>
            <a:miter lim="800000"/>
            <a:headEnd/>
            <a:tailEnd/>
          </a:ln>
        </p:spPr>
      </p:pic>
      <p:graphicFrame>
        <p:nvGraphicFramePr>
          <p:cNvPr id="192524" name="Object 12"/>
          <p:cNvGraphicFramePr>
            <a:graphicFrameLocks/>
          </p:cNvGraphicFramePr>
          <p:nvPr/>
        </p:nvGraphicFramePr>
        <p:xfrm>
          <a:off x="6300788" y="4614863"/>
          <a:ext cx="341312" cy="388937"/>
        </p:xfrm>
        <a:graphic>
          <a:graphicData uri="http://schemas.openxmlformats.org/presentationml/2006/ole">
            <p:oleObj spid="_x0000_s26629" name="公式" r:id="rId7" imgW="190440" imgH="215640" progId="Equation.3">
              <p:embed/>
            </p:oleObj>
          </a:graphicData>
        </a:graphic>
      </p:graphicFrame>
      <p:graphicFrame>
        <p:nvGraphicFramePr>
          <p:cNvPr id="192525" name="Object 13"/>
          <p:cNvGraphicFramePr>
            <a:graphicFrameLocks/>
          </p:cNvGraphicFramePr>
          <p:nvPr/>
        </p:nvGraphicFramePr>
        <p:xfrm>
          <a:off x="6958013" y="4570413"/>
          <a:ext cx="341312" cy="388937"/>
        </p:xfrm>
        <a:graphic>
          <a:graphicData uri="http://schemas.openxmlformats.org/presentationml/2006/ole">
            <p:oleObj spid="_x0000_s26630" name="公式" r:id="rId8" imgW="190440" imgH="215640" progId="Equation.3">
              <p:embed/>
            </p:oleObj>
          </a:graphicData>
        </a:graphic>
      </p:graphicFrame>
      <p:grpSp>
        <p:nvGrpSpPr>
          <p:cNvPr id="2" name="Group 14"/>
          <p:cNvGrpSpPr>
            <a:grpSpLocks/>
          </p:cNvGrpSpPr>
          <p:nvPr/>
        </p:nvGrpSpPr>
        <p:grpSpPr bwMode="auto">
          <a:xfrm>
            <a:off x="6538913" y="2760663"/>
            <a:ext cx="985837" cy="452437"/>
            <a:chOff x="4275" y="1107"/>
            <a:chExt cx="621" cy="285"/>
          </a:xfrm>
        </p:grpSpPr>
        <p:graphicFrame>
          <p:nvGraphicFramePr>
            <p:cNvPr id="26635" name="Object 15"/>
            <p:cNvGraphicFramePr>
              <a:graphicFrameLocks noChangeAspect="1"/>
            </p:cNvGraphicFramePr>
            <p:nvPr/>
          </p:nvGraphicFramePr>
          <p:xfrm>
            <a:off x="4608" y="1107"/>
            <a:ext cx="288" cy="285"/>
          </p:xfrm>
          <a:graphic>
            <a:graphicData uri="http://schemas.openxmlformats.org/presentationml/2006/ole">
              <p:oleObj spid="_x0000_s26635" name="Equation" r:id="rId9" imgW="126720" imgH="164880" progId="Equation.3">
                <p:embed/>
              </p:oleObj>
            </a:graphicData>
          </a:graphic>
        </p:graphicFrame>
        <p:sp>
          <p:nvSpPr>
            <p:cNvPr id="26647" name="Line 16"/>
            <p:cNvSpPr>
              <a:spLocks noChangeShapeType="1"/>
            </p:cNvSpPr>
            <p:nvPr/>
          </p:nvSpPr>
          <p:spPr bwMode="auto">
            <a:xfrm>
              <a:off x="4275" y="1248"/>
              <a:ext cx="333" cy="0"/>
            </a:xfrm>
            <a:prstGeom prst="line">
              <a:avLst/>
            </a:prstGeom>
            <a:noFill/>
            <a:ln w="28575">
              <a:solidFill>
                <a:srgbClr val="FF0000"/>
              </a:solidFill>
              <a:round/>
              <a:headEnd/>
              <a:tailEnd type="triangle" w="sm" len="lg"/>
            </a:ln>
          </p:spPr>
          <p:txBody>
            <a:bodyPr/>
            <a:lstStyle/>
            <a:p>
              <a:endParaRPr lang="zh-CN" altLang="en-US"/>
            </a:p>
          </p:txBody>
        </p:sp>
      </p:grpSp>
      <p:graphicFrame>
        <p:nvGraphicFramePr>
          <p:cNvPr id="192529" name="Object 17"/>
          <p:cNvGraphicFramePr>
            <a:graphicFrameLocks noChangeAspect="1"/>
          </p:cNvGraphicFramePr>
          <p:nvPr/>
        </p:nvGraphicFramePr>
        <p:xfrm>
          <a:off x="1684338" y="5334000"/>
          <a:ext cx="871537" cy="411163"/>
        </p:xfrm>
        <a:graphic>
          <a:graphicData uri="http://schemas.openxmlformats.org/presentationml/2006/ole">
            <p:oleObj spid="_x0000_s26631" name="公式" r:id="rId10" imgW="482400" imgH="228600" progId="Equation.3">
              <p:embed/>
            </p:oleObj>
          </a:graphicData>
        </a:graphic>
      </p:graphicFrame>
      <p:graphicFrame>
        <p:nvGraphicFramePr>
          <p:cNvPr id="192530" name="Object 18"/>
          <p:cNvGraphicFramePr>
            <a:graphicFrameLocks noChangeAspect="1"/>
          </p:cNvGraphicFramePr>
          <p:nvPr/>
        </p:nvGraphicFramePr>
        <p:xfrm>
          <a:off x="3560763" y="5345113"/>
          <a:ext cx="939800" cy="388937"/>
        </p:xfrm>
        <a:graphic>
          <a:graphicData uri="http://schemas.openxmlformats.org/presentationml/2006/ole">
            <p:oleObj spid="_x0000_s26632" name="公式" r:id="rId11" imgW="520560" imgH="215640" progId="Equation.3">
              <p:embed/>
            </p:oleObj>
          </a:graphicData>
        </a:graphic>
      </p:graphicFrame>
      <p:sp>
        <p:nvSpPr>
          <p:cNvPr id="192531" name="Text Box 19"/>
          <p:cNvSpPr txBox="1">
            <a:spLocks noChangeArrowheads="1"/>
          </p:cNvSpPr>
          <p:nvPr/>
        </p:nvSpPr>
        <p:spPr bwMode="auto">
          <a:xfrm>
            <a:off x="1087438" y="5276850"/>
            <a:ext cx="817562" cy="457200"/>
          </a:xfrm>
          <a:prstGeom prst="rect">
            <a:avLst/>
          </a:prstGeom>
          <a:noFill/>
          <a:ln w="9525">
            <a:noFill/>
            <a:miter lim="800000"/>
            <a:headEnd/>
            <a:tailEnd/>
          </a:ln>
        </p:spPr>
        <p:txBody>
          <a:bodyPr>
            <a:spAutoFit/>
          </a:bodyPr>
          <a:lstStyle/>
          <a:p>
            <a:pPr>
              <a:spcBef>
                <a:spcPct val="50000"/>
              </a:spcBef>
            </a:pPr>
            <a:r>
              <a:rPr lang="zh-CN" altLang="en-US" b="1">
                <a:latin typeface="Bookman Old Style" pitchFamily="18" charset="0"/>
                <a:ea typeface="楷体_GB2312" pitchFamily="49" charset="-122"/>
              </a:rPr>
              <a:t>则</a:t>
            </a:r>
          </a:p>
        </p:txBody>
      </p:sp>
      <p:sp>
        <p:nvSpPr>
          <p:cNvPr id="192532" name="Text Box 20"/>
          <p:cNvSpPr txBox="1">
            <a:spLocks noChangeArrowheads="1"/>
          </p:cNvSpPr>
          <p:nvPr/>
        </p:nvSpPr>
        <p:spPr bwMode="auto">
          <a:xfrm>
            <a:off x="2987675" y="5300663"/>
            <a:ext cx="863600" cy="457200"/>
          </a:xfrm>
          <a:prstGeom prst="rect">
            <a:avLst/>
          </a:prstGeom>
          <a:noFill/>
          <a:ln w="9525">
            <a:noFill/>
            <a:miter lim="800000"/>
            <a:headEnd/>
            <a:tailEnd/>
          </a:ln>
        </p:spPr>
        <p:txBody>
          <a:bodyPr>
            <a:spAutoFit/>
          </a:bodyPr>
          <a:lstStyle/>
          <a:p>
            <a:pPr>
              <a:spcBef>
                <a:spcPct val="50000"/>
              </a:spcBef>
            </a:pPr>
            <a:r>
              <a:rPr lang="zh-CN" altLang="en-US" b="1">
                <a:latin typeface="Bookman Old Style" pitchFamily="18" charset="0"/>
                <a:ea typeface="楷体_GB2312" pitchFamily="49" charset="-122"/>
              </a:rPr>
              <a:t>得</a:t>
            </a:r>
          </a:p>
        </p:txBody>
      </p:sp>
      <p:graphicFrame>
        <p:nvGraphicFramePr>
          <p:cNvPr id="192533" name="Object 21"/>
          <p:cNvGraphicFramePr>
            <a:graphicFrameLocks/>
          </p:cNvGraphicFramePr>
          <p:nvPr/>
        </p:nvGraphicFramePr>
        <p:xfrm>
          <a:off x="1187450" y="3130550"/>
          <a:ext cx="3571875" cy="730250"/>
        </p:xfrm>
        <a:graphic>
          <a:graphicData uri="http://schemas.openxmlformats.org/presentationml/2006/ole">
            <p:oleObj spid="_x0000_s26633" name="公式" r:id="rId12" imgW="1981080" imgH="406080" progId="Equation.3">
              <p:embed/>
            </p:oleObj>
          </a:graphicData>
        </a:graphic>
      </p:graphicFrame>
      <p:graphicFrame>
        <p:nvGraphicFramePr>
          <p:cNvPr id="192534" name="Object 22"/>
          <p:cNvGraphicFramePr>
            <a:graphicFrameLocks/>
          </p:cNvGraphicFramePr>
          <p:nvPr/>
        </p:nvGraphicFramePr>
        <p:xfrm>
          <a:off x="1187450" y="3854450"/>
          <a:ext cx="3635375" cy="727075"/>
        </p:xfrm>
        <a:graphic>
          <a:graphicData uri="http://schemas.openxmlformats.org/presentationml/2006/ole">
            <p:oleObj spid="_x0000_s26634" name="公式" r:id="rId13" imgW="2019240" imgH="406080" progId="Equation.3">
              <p:embed/>
            </p:oleObj>
          </a:graphicData>
        </a:graphic>
      </p:graphicFrame>
      <p:sp>
        <p:nvSpPr>
          <p:cNvPr id="192535" name="Rectangle 23"/>
          <p:cNvSpPr>
            <a:spLocks noChangeArrowheads="1"/>
          </p:cNvSpPr>
          <p:nvPr/>
        </p:nvSpPr>
        <p:spPr bwMode="auto">
          <a:xfrm>
            <a:off x="735013" y="5903913"/>
            <a:ext cx="7777162" cy="512762"/>
          </a:xfrm>
          <a:prstGeom prst="rect">
            <a:avLst/>
          </a:prstGeom>
          <a:noFill/>
          <a:ln w="9525">
            <a:noFill/>
            <a:miter lim="800000"/>
            <a:headEnd/>
            <a:tailEnd/>
          </a:ln>
        </p:spPr>
        <p:txBody>
          <a:bodyPr>
            <a:spAutoFit/>
          </a:bodyPr>
          <a:lstStyle/>
          <a:p>
            <a:pPr>
              <a:lnSpc>
                <a:spcPct val="115000"/>
              </a:lnSpc>
            </a:pPr>
            <a:r>
              <a:rPr lang="zh-CN" altLang="en-US" b="1">
                <a:solidFill>
                  <a:srgbClr val="9900CC"/>
                </a:solidFill>
                <a:latin typeface="楷体_GB2312" pitchFamily="49" charset="-122"/>
                <a:ea typeface="楷体_GB2312" pitchFamily="49" charset="-122"/>
              </a:rPr>
              <a:t>平面波在介质不吸收的情况下</a:t>
            </a:r>
            <a:r>
              <a:rPr lang="en-US" altLang="zh-CN" b="1">
                <a:solidFill>
                  <a:srgbClr val="9900CC"/>
                </a:solidFill>
                <a:latin typeface="楷体_GB2312" pitchFamily="49" charset="-122"/>
                <a:ea typeface="楷体_GB2312" pitchFamily="49" charset="-122"/>
              </a:rPr>
              <a:t>, </a:t>
            </a:r>
            <a:r>
              <a:rPr lang="zh-CN" altLang="en-US" b="1">
                <a:solidFill>
                  <a:srgbClr val="9900CC"/>
                </a:solidFill>
                <a:latin typeface="楷体_GB2312" pitchFamily="49" charset="-122"/>
                <a:ea typeface="楷体_GB2312" pitchFamily="49" charset="-122"/>
              </a:rPr>
              <a:t>振幅不变。</a:t>
            </a:r>
          </a:p>
        </p:txBody>
      </p:sp>
      <p:sp>
        <p:nvSpPr>
          <p:cNvPr id="192536" name="Text Box 24"/>
          <p:cNvSpPr txBox="1">
            <a:spLocks noChangeArrowheads="1"/>
          </p:cNvSpPr>
          <p:nvPr/>
        </p:nvSpPr>
        <p:spPr bwMode="auto">
          <a:xfrm>
            <a:off x="611188" y="4627563"/>
            <a:ext cx="5616575" cy="457200"/>
          </a:xfrm>
          <a:prstGeom prst="rect">
            <a:avLst/>
          </a:prstGeom>
          <a:noFill/>
          <a:ln w="9525">
            <a:noFill/>
            <a:miter lim="800000"/>
            <a:headEnd/>
            <a:tailEnd/>
          </a:ln>
        </p:spPr>
        <p:txBody>
          <a:bodyPr>
            <a:spAutoFit/>
          </a:bodyPr>
          <a:lstStyle/>
          <a:p>
            <a:pPr>
              <a:spcBef>
                <a:spcPct val="50000"/>
              </a:spcBef>
            </a:pPr>
            <a:r>
              <a:rPr lang="zh-CN" altLang="en-US" b="1">
                <a:ea typeface="楷体_GB2312" pitchFamily="49" charset="-122"/>
                <a:cs typeface="Times New Roman" pitchFamily="18" charset="0"/>
              </a:rPr>
              <a:t>通过 </a:t>
            </a:r>
            <a:r>
              <a:rPr lang="en-US" altLang="zh-CN" b="1" i="1">
                <a:solidFill>
                  <a:srgbClr val="FF6600"/>
                </a:solidFill>
                <a:ea typeface="楷体_GB2312" pitchFamily="49" charset="-122"/>
                <a:cs typeface="Times New Roman" pitchFamily="18" charset="0"/>
              </a:rPr>
              <a:t>S</a:t>
            </a:r>
            <a:r>
              <a:rPr lang="en-US" altLang="zh-CN" b="1" baseline="-25000">
                <a:solidFill>
                  <a:srgbClr val="FF6600"/>
                </a:solidFill>
                <a:ea typeface="楷体_GB2312" pitchFamily="49" charset="-122"/>
                <a:cs typeface="Times New Roman" pitchFamily="18" charset="0"/>
              </a:rPr>
              <a:t>1 </a:t>
            </a:r>
            <a:r>
              <a:rPr lang="zh-CN" altLang="en-US" b="1">
                <a:ea typeface="楷体_GB2312" pitchFamily="49" charset="-122"/>
                <a:cs typeface="Times New Roman" pitchFamily="18" charset="0"/>
              </a:rPr>
              <a:t>截面的能量也全部通过 </a:t>
            </a:r>
            <a:r>
              <a:rPr lang="en-US" altLang="zh-CN" b="1" i="1">
                <a:solidFill>
                  <a:srgbClr val="FF6600"/>
                </a:solidFill>
                <a:ea typeface="楷体_GB2312" pitchFamily="49" charset="-122"/>
                <a:cs typeface="Times New Roman" pitchFamily="18" charset="0"/>
              </a:rPr>
              <a:t>S</a:t>
            </a:r>
            <a:r>
              <a:rPr lang="en-US" altLang="zh-CN" b="1" baseline="-25000">
                <a:solidFill>
                  <a:srgbClr val="FF6600"/>
                </a:solidFill>
                <a:ea typeface="楷体_GB2312" pitchFamily="49" charset="-122"/>
                <a:cs typeface="Times New Roman" pitchFamily="18" charset="0"/>
              </a:rPr>
              <a:t>2</a:t>
            </a:r>
            <a:r>
              <a:rPr lang="en-US" altLang="zh-CN" b="1">
                <a:solidFill>
                  <a:srgbClr val="FF6600"/>
                </a:solidFill>
                <a:ea typeface="楷体_GB2312" pitchFamily="49" charset="-122"/>
                <a:cs typeface="Times New Roman" pitchFamily="18" charset="0"/>
              </a:rPr>
              <a:t> </a:t>
            </a:r>
          </a:p>
        </p:txBody>
      </p:sp>
      <p:sp>
        <p:nvSpPr>
          <p:cNvPr id="192537" name="AutoShape 25"/>
          <p:cNvSpPr>
            <a:spLocks noChangeArrowheads="1"/>
          </p:cNvSpPr>
          <p:nvPr/>
        </p:nvSpPr>
        <p:spPr bwMode="auto">
          <a:xfrm>
            <a:off x="395288" y="5876925"/>
            <a:ext cx="360362" cy="576263"/>
          </a:xfrm>
          <a:prstGeom prst="star4">
            <a:avLst>
              <a:gd name="adj" fmla="val 18519"/>
            </a:avLst>
          </a:prstGeom>
          <a:gradFill rotWithShape="1">
            <a:gsLst>
              <a:gs pos="0">
                <a:srgbClr val="9900CC"/>
              </a:gs>
              <a:gs pos="100000">
                <a:srgbClr val="47005E"/>
              </a:gs>
            </a:gsLst>
            <a:path path="shape">
              <a:fillToRect l="50000" t="50000" r="50000" b="50000"/>
            </a:path>
          </a:gradFill>
          <a:ln w="9525">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iterate type="wd">
                                    <p:tmPct val="100000"/>
                                  </p:iterate>
                                  <p:childTnLst>
                                    <p:set>
                                      <p:cBhvr>
                                        <p:cTn id="6" dur="1" fill="hold">
                                          <p:stCondLst>
                                            <p:cond delay="0"/>
                                          </p:stCondLst>
                                        </p:cTn>
                                        <p:tgtEl>
                                          <p:spTgt spid="192516"/>
                                        </p:tgtEl>
                                        <p:attrNameLst>
                                          <p:attrName>style.visibility</p:attrName>
                                        </p:attrNameLst>
                                      </p:cBhvr>
                                      <p:to>
                                        <p:strVal val="visible"/>
                                      </p:to>
                                    </p:set>
                                    <p:anim calcmode="lin" valueType="num">
                                      <p:cBhvr>
                                        <p:cTn id="7" dur="300" fill="hold"/>
                                        <p:tgtEl>
                                          <p:spTgt spid="192516"/>
                                        </p:tgtEl>
                                        <p:attrNameLst>
                                          <p:attrName>ppt_w</p:attrName>
                                        </p:attrNameLst>
                                      </p:cBhvr>
                                      <p:tavLst>
                                        <p:tav tm="0">
                                          <p:val>
                                            <p:fltVal val="0"/>
                                          </p:val>
                                        </p:tav>
                                        <p:tav tm="100000">
                                          <p:val>
                                            <p:strVal val="#ppt_w"/>
                                          </p:val>
                                        </p:tav>
                                      </p:tavLst>
                                    </p:anim>
                                    <p:anim calcmode="lin" valueType="num">
                                      <p:cBhvr>
                                        <p:cTn id="8" dur="300" fill="hold"/>
                                        <p:tgtEl>
                                          <p:spTgt spid="192516"/>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92517"/>
                                        </p:tgtEl>
                                        <p:attrNameLst>
                                          <p:attrName>style.visibility</p:attrName>
                                        </p:attrNameLst>
                                      </p:cBhvr>
                                      <p:to>
                                        <p:strVal val="visible"/>
                                      </p:to>
                                    </p:set>
                                    <p:animEffect transition="in" filter="wipe(left)">
                                      <p:cBhvr>
                                        <p:cTn id="13" dur="500"/>
                                        <p:tgtEl>
                                          <p:spTgt spid="192517"/>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nodeType="clickEffect">
                                  <p:stCondLst>
                                    <p:cond delay="0"/>
                                  </p:stCondLst>
                                  <p:childTnLst>
                                    <p:set>
                                      <p:cBhvr>
                                        <p:cTn id="17" dur="1" fill="hold">
                                          <p:stCondLst>
                                            <p:cond delay="0"/>
                                          </p:stCondLst>
                                        </p:cTn>
                                        <p:tgtEl>
                                          <p:spTgt spid="192518"/>
                                        </p:tgtEl>
                                        <p:attrNameLst>
                                          <p:attrName>style.visibility</p:attrName>
                                        </p:attrNameLst>
                                      </p:cBhvr>
                                      <p:to>
                                        <p:strVal val="visible"/>
                                      </p:to>
                                    </p:set>
                                    <p:animEffect transition="in" filter="slide(fromLeft)">
                                      <p:cBhvr>
                                        <p:cTn id="18" dur="500"/>
                                        <p:tgtEl>
                                          <p:spTgt spid="192518"/>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925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2520"/>
                                        </p:tgtEl>
                                        <p:attrNameLst>
                                          <p:attrName>style.visibility</p:attrName>
                                        </p:attrNameLst>
                                      </p:cBhvr>
                                      <p:to>
                                        <p:strVal val="visible"/>
                                      </p:to>
                                    </p:set>
                                    <p:animEffect transition="in" filter="wipe(left)">
                                      <p:cBhvr>
                                        <p:cTn id="27" dur="500"/>
                                        <p:tgtEl>
                                          <p:spTgt spid="1925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2522"/>
                                        </p:tgtEl>
                                        <p:attrNameLst>
                                          <p:attrName>style.visibility</p:attrName>
                                        </p:attrNameLst>
                                      </p:cBhvr>
                                      <p:to>
                                        <p:strVal val="visible"/>
                                      </p:to>
                                    </p:set>
                                    <p:animEffect transition="in" filter="wipe(left)">
                                      <p:cBhvr>
                                        <p:cTn id="32" dur="500"/>
                                        <p:tgtEl>
                                          <p:spTgt spid="1925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2521"/>
                                        </p:tgtEl>
                                        <p:attrNameLst>
                                          <p:attrName>style.visibility</p:attrName>
                                        </p:attrNameLst>
                                      </p:cBhvr>
                                      <p:to>
                                        <p:strVal val="visible"/>
                                      </p:to>
                                    </p:set>
                                    <p:animEffect transition="in" filter="wipe(left)">
                                      <p:cBhvr>
                                        <p:cTn id="37" dur="500"/>
                                        <p:tgtEl>
                                          <p:spTgt spid="1925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92523"/>
                                        </p:tgtEl>
                                        <p:attrNameLst>
                                          <p:attrName>style.visibility</p:attrName>
                                        </p:attrNameLst>
                                      </p:cBhvr>
                                      <p:to>
                                        <p:strVal val="visible"/>
                                      </p:to>
                                    </p:set>
                                    <p:animEffect transition="in" filter="wipe(left)">
                                      <p:cBhvr>
                                        <p:cTn id="42" dur="500"/>
                                        <p:tgtEl>
                                          <p:spTgt spid="19252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left)">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192524"/>
                                        </p:tgtEl>
                                        <p:attrNameLst>
                                          <p:attrName>style.visibility</p:attrName>
                                        </p:attrNameLst>
                                      </p:cBhvr>
                                      <p:to>
                                        <p:strVal val="visible"/>
                                      </p:to>
                                    </p:set>
                                    <p:anim calcmode="lin" valueType="num">
                                      <p:cBhvr additive="base">
                                        <p:cTn id="52" dur="500" fill="hold"/>
                                        <p:tgtEl>
                                          <p:spTgt spid="192524"/>
                                        </p:tgtEl>
                                        <p:attrNameLst>
                                          <p:attrName>ppt_x</p:attrName>
                                        </p:attrNameLst>
                                      </p:cBhvr>
                                      <p:tavLst>
                                        <p:tav tm="0">
                                          <p:val>
                                            <p:strVal val="#ppt_x"/>
                                          </p:val>
                                        </p:tav>
                                        <p:tav tm="100000">
                                          <p:val>
                                            <p:strVal val="#ppt_x"/>
                                          </p:val>
                                        </p:tav>
                                      </p:tavLst>
                                    </p:anim>
                                    <p:anim calcmode="lin" valueType="num">
                                      <p:cBhvr additive="base">
                                        <p:cTn id="53" dur="500" fill="hold"/>
                                        <p:tgtEl>
                                          <p:spTgt spid="192524"/>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192525"/>
                                        </p:tgtEl>
                                        <p:attrNameLst>
                                          <p:attrName>style.visibility</p:attrName>
                                        </p:attrNameLst>
                                      </p:cBhvr>
                                      <p:to>
                                        <p:strVal val="visible"/>
                                      </p:to>
                                    </p:set>
                                    <p:anim calcmode="lin" valueType="num">
                                      <p:cBhvr additive="base">
                                        <p:cTn id="58" dur="500" fill="hold"/>
                                        <p:tgtEl>
                                          <p:spTgt spid="192525"/>
                                        </p:tgtEl>
                                        <p:attrNameLst>
                                          <p:attrName>ppt_x</p:attrName>
                                        </p:attrNameLst>
                                      </p:cBhvr>
                                      <p:tavLst>
                                        <p:tav tm="0">
                                          <p:val>
                                            <p:strVal val="#ppt_x"/>
                                          </p:val>
                                        </p:tav>
                                        <p:tav tm="100000">
                                          <p:val>
                                            <p:strVal val="#ppt_x"/>
                                          </p:val>
                                        </p:tav>
                                      </p:tavLst>
                                    </p:anim>
                                    <p:anim calcmode="lin" valueType="num">
                                      <p:cBhvr additive="base">
                                        <p:cTn id="59" dur="500" fill="hold"/>
                                        <p:tgtEl>
                                          <p:spTgt spid="192525"/>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92533"/>
                                        </p:tgtEl>
                                        <p:attrNameLst>
                                          <p:attrName>style.visibility</p:attrName>
                                        </p:attrNameLst>
                                      </p:cBhvr>
                                      <p:to>
                                        <p:strVal val="visible"/>
                                      </p:to>
                                    </p:set>
                                    <p:animEffect transition="in" filter="wipe(left)">
                                      <p:cBhvr>
                                        <p:cTn id="64" dur="500"/>
                                        <p:tgtEl>
                                          <p:spTgt spid="192533"/>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192534"/>
                                        </p:tgtEl>
                                        <p:attrNameLst>
                                          <p:attrName>style.visibility</p:attrName>
                                        </p:attrNameLst>
                                      </p:cBhvr>
                                      <p:to>
                                        <p:strVal val="visible"/>
                                      </p:to>
                                    </p:set>
                                    <p:animEffect transition="in" filter="wipe(left)">
                                      <p:cBhvr>
                                        <p:cTn id="69" dur="500"/>
                                        <p:tgtEl>
                                          <p:spTgt spid="192534"/>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192536"/>
                                        </p:tgtEl>
                                        <p:attrNameLst>
                                          <p:attrName>style.visibility</p:attrName>
                                        </p:attrNameLst>
                                      </p:cBhvr>
                                      <p:to>
                                        <p:strVal val="visible"/>
                                      </p:to>
                                    </p:set>
                                    <p:animEffect transition="in" filter="wipe(left)">
                                      <p:cBhvr>
                                        <p:cTn id="74" dur="500"/>
                                        <p:tgtEl>
                                          <p:spTgt spid="192536"/>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19253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192529"/>
                                        </p:tgtEl>
                                        <p:attrNameLst>
                                          <p:attrName>style.visibility</p:attrName>
                                        </p:attrNameLst>
                                      </p:cBhvr>
                                      <p:to>
                                        <p:strVal val="visible"/>
                                      </p:to>
                                    </p:set>
                                    <p:animEffect transition="in" filter="wipe(left)">
                                      <p:cBhvr>
                                        <p:cTn id="83" dur="500"/>
                                        <p:tgtEl>
                                          <p:spTgt spid="192529"/>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499"/>
                                          </p:stCondLst>
                                        </p:cTn>
                                        <p:tgtEl>
                                          <p:spTgt spid="192532"/>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192530"/>
                                        </p:tgtEl>
                                        <p:attrNameLst>
                                          <p:attrName>style.visibility</p:attrName>
                                        </p:attrNameLst>
                                      </p:cBhvr>
                                      <p:to>
                                        <p:strVal val="visible"/>
                                      </p:to>
                                    </p:set>
                                    <p:animEffect transition="in" filter="wipe(left)">
                                      <p:cBhvr>
                                        <p:cTn id="92" dur="500"/>
                                        <p:tgtEl>
                                          <p:spTgt spid="192530"/>
                                        </p:tgtEl>
                                      </p:cBhvr>
                                    </p:animEffect>
                                  </p:childTnLst>
                                </p:cTn>
                              </p:par>
                            </p:childTnLst>
                          </p:cTn>
                        </p:par>
                      </p:childTnLst>
                    </p:cTn>
                  </p:par>
                  <p:par>
                    <p:cTn id="93" fill="hold">
                      <p:stCondLst>
                        <p:cond delay="indefinite"/>
                      </p:stCondLst>
                      <p:childTnLst>
                        <p:par>
                          <p:cTn id="94" fill="hold">
                            <p:stCondLst>
                              <p:cond delay="0"/>
                            </p:stCondLst>
                            <p:childTnLst>
                              <p:par>
                                <p:cTn id="95" presetID="23" presetClass="entr" presetSubtype="32" fill="hold" grpId="0" nodeType="clickEffect">
                                  <p:stCondLst>
                                    <p:cond delay="0"/>
                                  </p:stCondLst>
                                  <p:childTnLst>
                                    <p:set>
                                      <p:cBhvr>
                                        <p:cTn id="96" dur="1" fill="hold">
                                          <p:stCondLst>
                                            <p:cond delay="0"/>
                                          </p:stCondLst>
                                        </p:cTn>
                                        <p:tgtEl>
                                          <p:spTgt spid="192537"/>
                                        </p:tgtEl>
                                        <p:attrNameLst>
                                          <p:attrName>style.visibility</p:attrName>
                                        </p:attrNameLst>
                                      </p:cBhvr>
                                      <p:to>
                                        <p:strVal val="visible"/>
                                      </p:to>
                                    </p:set>
                                    <p:anim calcmode="lin" valueType="num">
                                      <p:cBhvr>
                                        <p:cTn id="97" dur="500" fill="hold"/>
                                        <p:tgtEl>
                                          <p:spTgt spid="192537"/>
                                        </p:tgtEl>
                                        <p:attrNameLst>
                                          <p:attrName>ppt_w</p:attrName>
                                        </p:attrNameLst>
                                      </p:cBhvr>
                                      <p:tavLst>
                                        <p:tav tm="0">
                                          <p:val>
                                            <p:strVal val="4*#ppt_w"/>
                                          </p:val>
                                        </p:tav>
                                        <p:tav tm="100000">
                                          <p:val>
                                            <p:strVal val="#ppt_w"/>
                                          </p:val>
                                        </p:tav>
                                      </p:tavLst>
                                    </p:anim>
                                    <p:anim calcmode="lin" valueType="num">
                                      <p:cBhvr>
                                        <p:cTn id="98" dur="500" fill="hold"/>
                                        <p:tgtEl>
                                          <p:spTgt spid="192537"/>
                                        </p:tgtEl>
                                        <p:attrNameLst>
                                          <p:attrName>ppt_h</p:attrName>
                                        </p:attrNameLst>
                                      </p:cBhvr>
                                      <p:tavLst>
                                        <p:tav tm="0">
                                          <p:val>
                                            <p:strVal val="4*#ppt_h"/>
                                          </p:val>
                                        </p:tav>
                                        <p:tav tm="100000">
                                          <p:val>
                                            <p:strVal val="#ppt_h"/>
                                          </p:val>
                                        </p:tav>
                                      </p:tavLst>
                                    </p:anim>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iterate type="wd">
                                    <p:tmPct val="100000"/>
                                  </p:iterate>
                                  <p:childTnLst>
                                    <p:set>
                                      <p:cBhvr>
                                        <p:cTn id="102" dur="1" fill="hold">
                                          <p:stCondLst>
                                            <p:cond delay="0"/>
                                          </p:stCondLst>
                                        </p:cTn>
                                        <p:tgtEl>
                                          <p:spTgt spid="192535"/>
                                        </p:tgtEl>
                                        <p:attrNameLst>
                                          <p:attrName>style.visibility</p:attrName>
                                        </p:attrNameLst>
                                      </p:cBhvr>
                                      <p:to>
                                        <p:strVal val="visible"/>
                                      </p:to>
                                    </p:set>
                                    <p:animEffect transition="in" filter="wipe(left)">
                                      <p:cBhvr>
                                        <p:cTn id="103" dur="300"/>
                                        <p:tgtEl>
                                          <p:spTgt spid="192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6" grpId="0" autoUpdateAnimBg="0"/>
      <p:bldP spid="192520" grpId="0" autoUpdateAnimBg="0"/>
      <p:bldP spid="192521" grpId="0" autoUpdateAnimBg="0"/>
      <p:bldP spid="192522" grpId="0" autoUpdateAnimBg="0"/>
      <p:bldP spid="192531" grpId="0" autoUpdateAnimBg="0"/>
      <p:bldP spid="192532" grpId="0" autoUpdateAnimBg="0"/>
      <p:bldP spid="192535" grpId="0" autoUpdateAnimBg="0"/>
      <p:bldP spid="192536" grpId="0"/>
      <p:bldP spid="19253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3"/>
          <p:cNvSpPr>
            <a:spLocks noChangeArrowheads="1"/>
          </p:cNvSpPr>
          <p:nvPr/>
        </p:nvSpPr>
        <p:spPr bwMode="auto">
          <a:xfrm>
            <a:off x="242888" y="496888"/>
            <a:ext cx="1808162" cy="457200"/>
          </a:xfrm>
          <a:prstGeom prst="rect">
            <a:avLst/>
          </a:prstGeom>
          <a:noFill/>
          <a:ln w="9525">
            <a:noFill/>
            <a:miter lim="800000"/>
            <a:headEnd/>
            <a:tailEnd/>
          </a:ln>
        </p:spPr>
        <p:txBody>
          <a:bodyPr>
            <a:spAutoFit/>
          </a:bodyPr>
          <a:lstStyle/>
          <a:p>
            <a:r>
              <a:rPr lang="en-US" altLang="zh-CN" b="1">
                <a:solidFill>
                  <a:srgbClr val="0033CC"/>
                </a:solidFill>
              </a:rPr>
              <a:t>2. </a:t>
            </a:r>
            <a:r>
              <a:rPr lang="zh-CN" altLang="en-US" b="1">
                <a:solidFill>
                  <a:srgbClr val="0033CC"/>
                </a:solidFill>
                <a:latin typeface="宋体" pitchFamily="2" charset="-122"/>
              </a:rPr>
              <a:t>球面波</a:t>
            </a:r>
          </a:p>
        </p:txBody>
      </p:sp>
      <p:graphicFrame>
        <p:nvGraphicFramePr>
          <p:cNvPr id="109602" name="Object 34"/>
          <p:cNvGraphicFramePr>
            <a:graphicFrameLocks noChangeAspect="1"/>
          </p:cNvGraphicFramePr>
          <p:nvPr/>
        </p:nvGraphicFramePr>
        <p:xfrm>
          <a:off x="7358063" y="1068388"/>
          <a:ext cx="341312" cy="388937"/>
        </p:xfrm>
        <a:graphic>
          <a:graphicData uri="http://schemas.openxmlformats.org/presentationml/2006/ole">
            <p:oleObj spid="_x0000_s27650" name="公式" r:id="rId3" imgW="190440" imgH="215640" progId="Equation.3">
              <p:embed/>
            </p:oleObj>
          </a:graphicData>
        </a:graphic>
      </p:graphicFrame>
      <p:graphicFrame>
        <p:nvGraphicFramePr>
          <p:cNvPr id="109603" name="Object 35"/>
          <p:cNvGraphicFramePr>
            <a:graphicFrameLocks noChangeAspect="1"/>
          </p:cNvGraphicFramePr>
          <p:nvPr/>
        </p:nvGraphicFramePr>
        <p:xfrm>
          <a:off x="7642225" y="708025"/>
          <a:ext cx="341313" cy="388938"/>
        </p:xfrm>
        <a:graphic>
          <a:graphicData uri="http://schemas.openxmlformats.org/presentationml/2006/ole">
            <p:oleObj spid="_x0000_s27651" name="公式" r:id="rId4" imgW="190440" imgH="215640" progId="Equation.3">
              <p:embed/>
            </p:oleObj>
          </a:graphicData>
        </a:graphic>
      </p:graphicFrame>
      <p:sp>
        <p:nvSpPr>
          <p:cNvPr id="109604" name="Line 36"/>
          <p:cNvSpPr>
            <a:spLocks noChangeShapeType="1"/>
          </p:cNvSpPr>
          <p:nvPr/>
        </p:nvSpPr>
        <p:spPr bwMode="auto">
          <a:xfrm rot="-2790391">
            <a:off x="7403306" y="1766095"/>
            <a:ext cx="111125" cy="436562"/>
          </a:xfrm>
          <a:prstGeom prst="line">
            <a:avLst/>
          </a:prstGeom>
          <a:noFill/>
          <a:ln w="28575">
            <a:solidFill>
              <a:srgbClr val="0000FF"/>
            </a:solidFill>
            <a:round/>
            <a:headEnd/>
            <a:tailEnd type="triangle" w="sm" len="lg"/>
          </a:ln>
        </p:spPr>
        <p:txBody>
          <a:bodyPr/>
          <a:lstStyle/>
          <a:p>
            <a:endParaRPr lang="zh-CN" altLang="en-US"/>
          </a:p>
        </p:txBody>
      </p:sp>
      <p:sp>
        <p:nvSpPr>
          <p:cNvPr id="109605" name="Line 37"/>
          <p:cNvSpPr>
            <a:spLocks noChangeShapeType="1"/>
          </p:cNvSpPr>
          <p:nvPr/>
        </p:nvSpPr>
        <p:spPr bwMode="auto">
          <a:xfrm flipH="1">
            <a:off x="6932613" y="1862138"/>
            <a:ext cx="306387" cy="841375"/>
          </a:xfrm>
          <a:prstGeom prst="line">
            <a:avLst/>
          </a:prstGeom>
          <a:noFill/>
          <a:ln w="28575">
            <a:solidFill>
              <a:srgbClr val="0000FF"/>
            </a:solidFill>
            <a:round/>
            <a:headEnd/>
            <a:tailEnd type="triangle" w="sm" len="lg"/>
          </a:ln>
        </p:spPr>
        <p:txBody>
          <a:bodyPr/>
          <a:lstStyle/>
          <a:p>
            <a:endParaRPr lang="zh-CN" altLang="en-US"/>
          </a:p>
        </p:txBody>
      </p:sp>
      <p:graphicFrame>
        <p:nvGraphicFramePr>
          <p:cNvPr id="109606" name="Object 38"/>
          <p:cNvGraphicFramePr>
            <a:graphicFrameLocks noChangeAspect="1"/>
          </p:cNvGraphicFramePr>
          <p:nvPr/>
        </p:nvGraphicFramePr>
        <p:xfrm>
          <a:off x="7669213" y="1897063"/>
          <a:ext cx="252412" cy="392112"/>
        </p:xfrm>
        <a:graphic>
          <a:graphicData uri="http://schemas.openxmlformats.org/presentationml/2006/ole">
            <p:oleObj spid="_x0000_s27652" name="公式" r:id="rId5" imgW="139680" imgH="215640" progId="Equation.3">
              <p:embed/>
            </p:oleObj>
          </a:graphicData>
        </a:graphic>
      </p:graphicFrame>
      <p:graphicFrame>
        <p:nvGraphicFramePr>
          <p:cNvPr id="109607" name="Object 39"/>
          <p:cNvGraphicFramePr>
            <a:graphicFrameLocks noChangeAspect="1"/>
          </p:cNvGraphicFramePr>
          <p:nvPr/>
        </p:nvGraphicFramePr>
        <p:xfrm>
          <a:off x="6777038" y="2168525"/>
          <a:ext cx="252412" cy="392113"/>
        </p:xfrm>
        <a:graphic>
          <a:graphicData uri="http://schemas.openxmlformats.org/presentationml/2006/ole">
            <p:oleObj spid="_x0000_s27653" name="公式" r:id="rId6" imgW="139680" imgH="215640" progId="Equation.3">
              <p:embed/>
            </p:oleObj>
          </a:graphicData>
        </a:graphic>
      </p:graphicFrame>
      <p:sp>
        <p:nvSpPr>
          <p:cNvPr id="109608" name="Oval 40"/>
          <p:cNvSpPr>
            <a:spLocks noChangeArrowheads="1"/>
          </p:cNvSpPr>
          <p:nvPr/>
        </p:nvSpPr>
        <p:spPr bwMode="auto">
          <a:xfrm>
            <a:off x="6713538" y="1344613"/>
            <a:ext cx="1009650" cy="1009650"/>
          </a:xfrm>
          <a:prstGeom prst="ellipse">
            <a:avLst/>
          </a:prstGeom>
          <a:noFill/>
          <a:ln w="38100">
            <a:solidFill>
              <a:srgbClr val="FF6600"/>
            </a:solidFill>
            <a:round/>
            <a:headEnd/>
            <a:tailEnd/>
          </a:ln>
        </p:spPr>
        <p:txBody>
          <a:bodyPr wrap="none" anchor="ctr"/>
          <a:lstStyle/>
          <a:p>
            <a:endParaRPr lang="zh-CN" altLang="en-US"/>
          </a:p>
        </p:txBody>
      </p:sp>
      <p:sp>
        <p:nvSpPr>
          <p:cNvPr id="109609" name="Oval 41"/>
          <p:cNvSpPr>
            <a:spLocks noChangeArrowheads="1"/>
          </p:cNvSpPr>
          <p:nvPr/>
        </p:nvSpPr>
        <p:spPr bwMode="auto">
          <a:xfrm>
            <a:off x="6323013" y="925513"/>
            <a:ext cx="1800225" cy="1800225"/>
          </a:xfrm>
          <a:prstGeom prst="ellipse">
            <a:avLst/>
          </a:prstGeom>
          <a:noFill/>
          <a:ln w="38100">
            <a:solidFill>
              <a:srgbClr val="FF6600"/>
            </a:solidFill>
            <a:round/>
            <a:headEnd/>
            <a:tailEnd/>
          </a:ln>
        </p:spPr>
        <p:txBody>
          <a:bodyPr wrap="none" anchor="ctr"/>
          <a:lstStyle/>
          <a:p>
            <a:endParaRPr lang="zh-CN" altLang="en-US"/>
          </a:p>
        </p:txBody>
      </p:sp>
      <p:grpSp>
        <p:nvGrpSpPr>
          <p:cNvPr id="2" name="Group 42"/>
          <p:cNvGrpSpPr>
            <a:grpSpLocks/>
          </p:cNvGrpSpPr>
          <p:nvPr/>
        </p:nvGrpSpPr>
        <p:grpSpPr bwMode="auto">
          <a:xfrm>
            <a:off x="5940425" y="528638"/>
            <a:ext cx="2597150" cy="2540000"/>
            <a:chOff x="3768" y="2566"/>
            <a:chExt cx="1636" cy="1600"/>
          </a:xfrm>
        </p:grpSpPr>
        <p:sp>
          <p:nvSpPr>
            <p:cNvPr id="27677" name="Line 43"/>
            <p:cNvSpPr>
              <a:spLocks noChangeShapeType="1"/>
            </p:cNvSpPr>
            <p:nvPr/>
          </p:nvSpPr>
          <p:spPr bwMode="auto">
            <a:xfrm>
              <a:off x="3768" y="3406"/>
              <a:ext cx="1636" cy="0"/>
            </a:xfrm>
            <a:prstGeom prst="line">
              <a:avLst/>
            </a:prstGeom>
            <a:noFill/>
            <a:ln w="19050">
              <a:solidFill>
                <a:srgbClr val="008000"/>
              </a:solidFill>
              <a:round/>
              <a:headEnd type="triangle" w="sm" len="lg"/>
              <a:tailEnd type="triangle" w="sm" len="lg"/>
            </a:ln>
          </p:spPr>
          <p:txBody>
            <a:bodyPr wrap="none" anchor="ctr"/>
            <a:lstStyle/>
            <a:p>
              <a:endParaRPr lang="zh-CN" altLang="en-US"/>
            </a:p>
          </p:txBody>
        </p:sp>
        <p:sp>
          <p:nvSpPr>
            <p:cNvPr id="27678" name="Line 44"/>
            <p:cNvSpPr>
              <a:spLocks noChangeShapeType="1"/>
            </p:cNvSpPr>
            <p:nvPr/>
          </p:nvSpPr>
          <p:spPr bwMode="auto">
            <a:xfrm rot="5400000">
              <a:off x="3792" y="3359"/>
              <a:ext cx="1587" cy="1"/>
            </a:xfrm>
            <a:prstGeom prst="line">
              <a:avLst/>
            </a:prstGeom>
            <a:noFill/>
            <a:ln w="19050">
              <a:solidFill>
                <a:srgbClr val="008000"/>
              </a:solidFill>
              <a:round/>
              <a:headEnd type="triangle" w="sm" len="lg"/>
              <a:tailEnd type="triangle" w="sm" len="lg"/>
            </a:ln>
          </p:spPr>
          <p:txBody>
            <a:bodyPr wrap="none" anchor="ctr"/>
            <a:lstStyle/>
            <a:p>
              <a:endParaRPr lang="zh-CN" altLang="en-US"/>
            </a:p>
          </p:txBody>
        </p:sp>
        <p:sp>
          <p:nvSpPr>
            <p:cNvPr id="27679" name="Line 45"/>
            <p:cNvSpPr>
              <a:spLocks noChangeShapeType="1"/>
            </p:cNvSpPr>
            <p:nvPr/>
          </p:nvSpPr>
          <p:spPr bwMode="auto">
            <a:xfrm rot="-2700000">
              <a:off x="3823" y="3386"/>
              <a:ext cx="1563" cy="1"/>
            </a:xfrm>
            <a:prstGeom prst="line">
              <a:avLst/>
            </a:prstGeom>
            <a:noFill/>
            <a:ln w="19050">
              <a:solidFill>
                <a:srgbClr val="008000"/>
              </a:solidFill>
              <a:round/>
              <a:headEnd type="triangle" w="sm" len="lg"/>
              <a:tailEnd type="triangle" w="sm" len="lg"/>
            </a:ln>
          </p:spPr>
          <p:txBody>
            <a:bodyPr wrap="none" anchor="ctr"/>
            <a:lstStyle/>
            <a:p>
              <a:endParaRPr lang="zh-CN" altLang="en-US"/>
            </a:p>
          </p:txBody>
        </p:sp>
        <p:sp>
          <p:nvSpPr>
            <p:cNvPr id="27680" name="Line 46"/>
            <p:cNvSpPr>
              <a:spLocks noChangeShapeType="1"/>
            </p:cNvSpPr>
            <p:nvPr/>
          </p:nvSpPr>
          <p:spPr bwMode="auto">
            <a:xfrm rot="2700000">
              <a:off x="3792" y="3388"/>
              <a:ext cx="1555" cy="1"/>
            </a:xfrm>
            <a:prstGeom prst="line">
              <a:avLst/>
            </a:prstGeom>
            <a:noFill/>
            <a:ln w="19050">
              <a:solidFill>
                <a:srgbClr val="008000"/>
              </a:solidFill>
              <a:round/>
              <a:headEnd type="triangle" w="sm" len="lg"/>
              <a:tailEnd type="triangle" w="sm" len="lg"/>
            </a:ln>
          </p:spPr>
          <p:txBody>
            <a:bodyPr wrap="none" anchor="ctr"/>
            <a:lstStyle/>
            <a:p>
              <a:endParaRPr lang="zh-CN" altLang="en-US"/>
            </a:p>
          </p:txBody>
        </p:sp>
      </p:grpSp>
      <p:graphicFrame>
        <p:nvGraphicFramePr>
          <p:cNvPr id="109615" name="Object 47"/>
          <p:cNvGraphicFramePr>
            <a:graphicFrameLocks noChangeAspect="1"/>
          </p:cNvGraphicFramePr>
          <p:nvPr/>
        </p:nvGraphicFramePr>
        <p:xfrm>
          <a:off x="6964363" y="1704975"/>
          <a:ext cx="214312" cy="238125"/>
        </p:xfrm>
        <a:graphic>
          <a:graphicData uri="http://schemas.openxmlformats.org/presentationml/2006/ole">
            <p:oleObj spid="_x0000_s27654" name="公式" r:id="rId7" imgW="126720" imgH="139680" progId="Equation.3">
              <p:embed/>
            </p:oleObj>
          </a:graphicData>
        </a:graphic>
      </p:graphicFrame>
      <p:sp>
        <p:nvSpPr>
          <p:cNvPr id="109616" name="AutoShape 48"/>
          <p:cNvSpPr>
            <a:spLocks noChangeArrowheads="1"/>
          </p:cNvSpPr>
          <p:nvPr/>
        </p:nvSpPr>
        <p:spPr bwMode="auto">
          <a:xfrm>
            <a:off x="7181850" y="1808163"/>
            <a:ext cx="90488" cy="90487"/>
          </a:xfrm>
          <a:prstGeom prst="flowChartConnector">
            <a:avLst/>
          </a:prstGeom>
          <a:solidFill>
            <a:schemeClr val="bg1"/>
          </a:solidFill>
          <a:ln w="9525">
            <a:solidFill>
              <a:schemeClr val="tx1"/>
            </a:solidFill>
            <a:round/>
            <a:headEnd/>
            <a:tailEnd/>
          </a:ln>
        </p:spPr>
        <p:txBody>
          <a:bodyPr wrap="none" anchor="ctr"/>
          <a:lstStyle/>
          <a:p>
            <a:endParaRPr lang="zh-CN" altLang="en-US"/>
          </a:p>
        </p:txBody>
      </p:sp>
      <p:sp>
        <p:nvSpPr>
          <p:cNvPr id="109617" name="Text Box 49"/>
          <p:cNvSpPr txBox="1">
            <a:spLocks noChangeArrowheads="1"/>
          </p:cNvSpPr>
          <p:nvPr/>
        </p:nvSpPr>
        <p:spPr bwMode="auto">
          <a:xfrm>
            <a:off x="539750" y="1100138"/>
            <a:ext cx="5327650" cy="457200"/>
          </a:xfrm>
          <a:prstGeom prst="rect">
            <a:avLst/>
          </a:prstGeom>
          <a:noFill/>
          <a:ln w="9525">
            <a:noFill/>
            <a:miter lim="800000"/>
            <a:headEnd/>
            <a:tailEnd/>
          </a:ln>
        </p:spPr>
        <p:txBody>
          <a:bodyPr>
            <a:spAutoFit/>
          </a:bodyPr>
          <a:lstStyle/>
          <a:p>
            <a:pPr>
              <a:spcBef>
                <a:spcPct val="50000"/>
              </a:spcBef>
            </a:pPr>
            <a:r>
              <a:rPr lang="zh-CN" altLang="en-US" b="1">
                <a:latin typeface="楷体_GB2312" pitchFamily="49" charset="-122"/>
                <a:ea typeface="楷体_GB2312" pitchFamily="49" charset="-122"/>
              </a:rPr>
              <a:t>通过两个球面的波的平均能流相等</a:t>
            </a:r>
            <a:r>
              <a:rPr lang="en-US" altLang="zh-CN" b="1">
                <a:latin typeface="楷体_GB2312" pitchFamily="49" charset="-122"/>
                <a:ea typeface="楷体_GB2312" pitchFamily="49" charset="-122"/>
              </a:rPr>
              <a:t>:</a:t>
            </a:r>
          </a:p>
        </p:txBody>
      </p:sp>
      <p:graphicFrame>
        <p:nvGraphicFramePr>
          <p:cNvPr id="109618" name="Object 50"/>
          <p:cNvGraphicFramePr>
            <a:graphicFrameLocks/>
          </p:cNvGraphicFramePr>
          <p:nvPr/>
        </p:nvGraphicFramePr>
        <p:xfrm>
          <a:off x="1258888" y="1628775"/>
          <a:ext cx="3116262" cy="730250"/>
        </p:xfrm>
        <a:graphic>
          <a:graphicData uri="http://schemas.openxmlformats.org/presentationml/2006/ole">
            <p:oleObj spid="_x0000_s27655" name="公式" r:id="rId8" imgW="1726920" imgH="406080" progId="Equation.3">
              <p:embed/>
            </p:oleObj>
          </a:graphicData>
        </a:graphic>
      </p:graphicFrame>
      <p:graphicFrame>
        <p:nvGraphicFramePr>
          <p:cNvPr id="109619" name="Object 51"/>
          <p:cNvGraphicFramePr>
            <a:graphicFrameLocks/>
          </p:cNvGraphicFramePr>
          <p:nvPr/>
        </p:nvGraphicFramePr>
        <p:xfrm>
          <a:off x="1619250" y="2576513"/>
          <a:ext cx="2400300" cy="409575"/>
        </p:xfrm>
        <a:graphic>
          <a:graphicData uri="http://schemas.openxmlformats.org/presentationml/2006/ole">
            <p:oleObj spid="_x0000_s27656" name="公式" r:id="rId9" imgW="1333440" imgH="228600" progId="Equation.3">
              <p:embed/>
            </p:oleObj>
          </a:graphicData>
        </a:graphic>
      </p:graphicFrame>
      <p:graphicFrame>
        <p:nvGraphicFramePr>
          <p:cNvPr id="109620" name="Object 52"/>
          <p:cNvGraphicFramePr>
            <a:graphicFrameLocks noChangeAspect="1"/>
          </p:cNvGraphicFramePr>
          <p:nvPr/>
        </p:nvGraphicFramePr>
        <p:xfrm>
          <a:off x="2430463" y="3141663"/>
          <a:ext cx="1284287" cy="388937"/>
        </p:xfrm>
        <a:graphic>
          <a:graphicData uri="http://schemas.openxmlformats.org/presentationml/2006/ole">
            <p:oleObj spid="_x0000_s27657" name="公式" r:id="rId10" imgW="711000" imgH="215640" progId="Equation.3">
              <p:embed/>
            </p:oleObj>
          </a:graphicData>
        </a:graphic>
      </p:graphicFrame>
      <p:sp>
        <p:nvSpPr>
          <p:cNvPr id="109621" name="Rectangle 53"/>
          <p:cNvSpPr>
            <a:spLocks noChangeArrowheads="1"/>
          </p:cNvSpPr>
          <p:nvPr/>
        </p:nvSpPr>
        <p:spPr bwMode="auto">
          <a:xfrm>
            <a:off x="1055688" y="2562225"/>
            <a:ext cx="492125" cy="457200"/>
          </a:xfrm>
          <a:prstGeom prst="rect">
            <a:avLst/>
          </a:prstGeom>
          <a:noFill/>
          <a:ln w="9525">
            <a:noFill/>
            <a:miter lim="800000"/>
            <a:headEnd/>
            <a:tailEnd/>
          </a:ln>
        </p:spPr>
        <p:txBody>
          <a:bodyPr wrap="none">
            <a:spAutoFit/>
          </a:bodyPr>
          <a:lstStyle/>
          <a:p>
            <a:r>
              <a:rPr lang="zh-CN" altLang="en-US" b="1">
                <a:latin typeface="Bookman Old Style" pitchFamily="18" charset="0"/>
                <a:ea typeface="楷体_GB2312" pitchFamily="49" charset="-122"/>
              </a:rPr>
              <a:t>得</a:t>
            </a:r>
          </a:p>
        </p:txBody>
      </p:sp>
      <p:graphicFrame>
        <p:nvGraphicFramePr>
          <p:cNvPr id="109622" name="Object 54"/>
          <p:cNvGraphicFramePr>
            <a:graphicFrameLocks noChangeAspect="1"/>
          </p:cNvGraphicFramePr>
          <p:nvPr/>
        </p:nvGraphicFramePr>
        <p:xfrm>
          <a:off x="4175125" y="5119688"/>
          <a:ext cx="4311650" cy="730250"/>
        </p:xfrm>
        <a:graphic>
          <a:graphicData uri="http://schemas.openxmlformats.org/presentationml/2006/ole">
            <p:oleObj spid="_x0000_s27658" name="公式" r:id="rId11" imgW="2387520" imgH="406080" progId="Equation.3">
              <p:embed/>
            </p:oleObj>
          </a:graphicData>
        </a:graphic>
      </p:graphicFrame>
      <p:sp>
        <p:nvSpPr>
          <p:cNvPr id="109623" name="Text Box 55"/>
          <p:cNvSpPr txBox="1">
            <a:spLocks noChangeArrowheads="1"/>
          </p:cNvSpPr>
          <p:nvPr/>
        </p:nvSpPr>
        <p:spPr bwMode="auto">
          <a:xfrm>
            <a:off x="765175" y="3619500"/>
            <a:ext cx="533400" cy="457200"/>
          </a:xfrm>
          <a:prstGeom prst="rect">
            <a:avLst/>
          </a:prstGeom>
          <a:noFill/>
          <a:ln w="9525">
            <a:noFill/>
            <a:miter lim="800000"/>
            <a:headEnd/>
            <a:tailEnd/>
          </a:ln>
        </p:spPr>
        <p:txBody>
          <a:bodyPr>
            <a:spAutoFit/>
          </a:bodyPr>
          <a:lstStyle/>
          <a:p>
            <a:pPr>
              <a:spcBef>
                <a:spcPct val="50000"/>
              </a:spcBef>
            </a:pPr>
            <a:r>
              <a:rPr lang="zh-CN" altLang="en-US" b="1">
                <a:latin typeface="Bookman Old Style" pitchFamily="18" charset="0"/>
                <a:ea typeface="楷体_GB2312" pitchFamily="49" charset="-122"/>
              </a:rPr>
              <a:t>令</a:t>
            </a:r>
          </a:p>
        </p:txBody>
      </p:sp>
      <p:sp>
        <p:nvSpPr>
          <p:cNvPr id="109624" name="Rectangle 56"/>
          <p:cNvSpPr>
            <a:spLocks noChangeArrowheads="1"/>
          </p:cNvSpPr>
          <p:nvPr/>
        </p:nvSpPr>
        <p:spPr bwMode="auto">
          <a:xfrm>
            <a:off x="755650" y="5975350"/>
            <a:ext cx="8181975" cy="549275"/>
          </a:xfrm>
          <a:prstGeom prst="rect">
            <a:avLst/>
          </a:prstGeom>
          <a:noFill/>
          <a:ln w="9525">
            <a:noFill/>
            <a:miter lim="800000"/>
            <a:headEnd/>
            <a:tailEnd/>
          </a:ln>
        </p:spPr>
        <p:txBody>
          <a:bodyPr>
            <a:spAutoFit/>
          </a:bodyPr>
          <a:lstStyle/>
          <a:p>
            <a:pPr>
              <a:lnSpc>
                <a:spcPct val="125000"/>
              </a:lnSpc>
            </a:pPr>
            <a:r>
              <a:rPr lang="zh-CN" altLang="en-US" b="1">
                <a:solidFill>
                  <a:srgbClr val="9900CC"/>
                </a:solidFill>
                <a:latin typeface="楷体_GB2312" pitchFamily="49" charset="-122"/>
                <a:ea typeface="楷体_GB2312" pitchFamily="49" charset="-122"/>
              </a:rPr>
              <a:t>球面波的振幅在介质不吸收的情况下</a:t>
            </a:r>
            <a:r>
              <a:rPr lang="en-US" altLang="zh-CN" b="1">
                <a:solidFill>
                  <a:srgbClr val="9900CC"/>
                </a:solidFill>
                <a:latin typeface="楷体_GB2312" pitchFamily="49" charset="-122"/>
                <a:ea typeface="楷体_GB2312" pitchFamily="49" charset="-122"/>
              </a:rPr>
              <a:t>,</a:t>
            </a:r>
            <a:r>
              <a:rPr lang="zh-CN" altLang="en-US" b="1">
                <a:solidFill>
                  <a:srgbClr val="9900CC"/>
                </a:solidFill>
                <a:latin typeface="楷体_GB2312" pitchFamily="49" charset="-122"/>
                <a:ea typeface="楷体_GB2312" pitchFamily="49" charset="-122"/>
              </a:rPr>
              <a:t>随 </a:t>
            </a:r>
            <a:r>
              <a:rPr lang="en-US" altLang="zh-CN" b="1" i="1">
                <a:solidFill>
                  <a:srgbClr val="FF6600"/>
                </a:solidFill>
                <a:ea typeface="楷体_GB2312" pitchFamily="49" charset="-122"/>
              </a:rPr>
              <a:t>r</a:t>
            </a:r>
            <a:r>
              <a:rPr lang="en-US" altLang="zh-CN" b="1" i="1">
                <a:solidFill>
                  <a:srgbClr val="9900CC"/>
                </a:solidFill>
                <a:ea typeface="楷体_GB2312" pitchFamily="49" charset="-122"/>
              </a:rPr>
              <a:t>  </a:t>
            </a:r>
            <a:r>
              <a:rPr lang="zh-CN" altLang="en-US" b="1">
                <a:solidFill>
                  <a:srgbClr val="9900CC"/>
                </a:solidFill>
                <a:latin typeface="楷体_GB2312" pitchFamily="49" charset="-122"/>
                <a:ea typeface="楷体_GB2312" pitchFamily="49" charset="-122"/>
              </a:rPr>
              <a:t>增大而减小。</a:t>
            </a:r>
          </a:p>
        </p:txBody>
      </p:sp>
      <p:sp>
        <p:nvSpPr>
          <p:cNvPr id="109625" name="Rectangle 57"/>
          <p:cNvSpPr>
            <a:spLocks noChangeArrowheads="1"/>
          </p:cNvSpPr>
          <p:nvPr/>
        </p:nvSpPr>
        <p:spPr bwMode="auto">
          <a:xfrm>
            <a:off x="665163" y="5175250"/>
            <a:ext cx="4086225" cy="457200"/>
          </a:xfrm>
          <a:prstGeom prst="rect">
            <a:avLst/>
          </a:prstGeom>
          <a:noFill/>
          <a:ln w="28575">
            <a:noFill/>
            <a:miter lim="800000"/>
            <a:headEnd/>
            <a:tailEnd/>
          </a:ln>
        </p:spPr>
        <p:txBody>
          <a:bodyPr>
            <a:spAutoFit/>
          </a:bodyPr>
          <a:lstStyle/>
          <a:p>
            <a:r>
              <a:rPr lang="zh-CN" altLang="en-US" b="1">
                <a:latin typeface="宋体" pitchFamily="2" charset="-122"/>
                <a:ea typeface="楷体_GB2312" pitchFamily="49" charset="-122"/>
              </a:rPr>
              <a:t>球面简谐波的波函数为</a:t>
            </a:r>
          </a:p>
        </p:txBody>
      </p:sp>
      <p:graphicFrame>
        <p:nvGraphicFramePr>
          <p:cNvPr id="109626" name="Object 58"/>
          <p:cNvGraphicFramePr>
            <a:graphicFrameLocks noChangeAspect="1"/>
          </p:cNvGraphicFramePr>
          <p:nvPr/>
        </p:nvGraphicFramePr>
        <p:xfrm>
          <a:off x="1376363" y="3689350"/>
          <a:ext cx="979487" cy="409575"/>
        </p:xfrm>
        <a:graphic>
          <a:graphicData uri="http://schemas.openxmlformats.org/presentationml/2006/ole">
            <p:oleObj spid="_x0000_s27659" name="公式" r:id="rId12" imgW="545760" imgH="228600" progId="Equation.3">
              <p:embed/>
            </p:oleObj>
          </a:graphicData>
        </a:graphic>
      </p:graphicFrame>
      <p:sp>
        <p:nvSpPr>
          <p:cNvPr id="109627" name="Rectangle 59"/>
          <p:cNvSpPr>
            <a:spLocks noChangeArrowheads="1"/>
          </p:cNvSpPr>
          <p:nvPr/>
        </p:nvSpPr>
        <p:spPr bwMode="auto">
          <a:xfrm>
            <a:off x="2051050" y="3636963"/>
            <a:ext cx="6796088" cy="457200"/>
          </a:xfrm>
          <a:prstGeom prst="rect">
            <a:avLst/>
          </a:prstGeom>
          <a:noFill/>
          <a:ln w="28575">
            <a:noFill/>
            <a:miter lim="800000"/>
            <a:headEnd/>
            <a:tailEnd/>
          </a:ln>
        </p:spPr>
        <p:txBody>
          <a:bodyPr>
            <a:spAutoFit/>
          </a:bodyPr>
          <a:lstStyle/>
          <a:p>
            <a:pPr algn="ctr">
              <a:spcBef>
                <a:spcPct val="50000"/>
              </a:spcBef>
            </a:pPr>
            <a:r>
              <a:rPr lang="zh-CN" altLang="en-US" b="1">
                <a:ea typeface="楷体_GB2312" pitchFamily="49" charset="-122"/>
              </a:rPr>
              <a:t>（</a:t>
            </a:r>
            <a:r>
              <a:rPr lang="en-US" altLang="zh-CN" b="1" i="1">
                <a:solidFill>
                  <a:srgbClr val="FF6600"/>
                </a:solidFill>
                <a:ea typeface="楷体_GB2312" pitchFamily="49" charset="-122"/>
              </a:rPr>
              <a:t>A</a:t>
            </a:r>
            <a:r>
              <a:rPr lang="en-US" altLang="zh-CN" b="1" baseline="-25000">
                <a:solidFill>
                  <a:srgbClr val="FF6600"/>
                </a:solidFill>
                <a:ea typeface="楷体_GB2312" pitchFamily="49" charset="-122"/>
              </a:rPr>
              <a:t>0</a:t>
            </a:r>
            <a:r>
              <a:rPr lang="en-US" altLang="zh-CN" b="1" baseline="-25000">
                <a:ea typeface="楷体_GB2312" pitchFamily="49" charset="-122"/>
              </a:rPr>
              <a:t> </a:t>
            </a:r>
            <a:r>
              <a:rPr lang="zh-CN" altLang="en-US" b="1">
                <a:latin typeface="楷体_GB2312" pitchFamily="49" charset="-122"/>
                <a:ea typeface="楷体_GB2312" pitchFamily="49" charset="-122"/>
              </a:rPr>
              <a:t>为离原点（波源）单位距离处波的振幅）</a:t>
            </a:r>
          </a:p>
        </p:txBody>
      </p:sp>
      <p:graphicFrame>
        <p:nvGraphicFramePr>
          <p:cNvPr id="109628" name="Object 60"/>
          <p:cNvGraphicFramePr>
            <a:graphicFrameLocks noChangeAspect="1"/>
          </p:cNvGraphicFramePr>
          <p:nvPr/>
        </p:nvGraphicFramePr>
        <p:xfrm>
          <a:off x="2006600" y="4184650"/>
          <a:ext cx="1009650" cy="801688"/>
        </p:xfrm>
        <a:graphic>
          <a:graphicData uri="http://schemas.openxmlformats.org/presentationml/2006/ole">
            <p:oleObj spid="_x0000_s27660" name="公式" r:id="rId13" imgW="558720" imgH="444240" progId="Equation.3">
              <p:embed/>
            </p:oleObj>
          </a:graphicData>
        </a:graphic>
      </p:graphicFrame>
      <p:graphicFrame>
        <p:nvGraphicFramePr>
          <p:cNvPr id="109629" name="Object 61"/>
          <p:cNvGraphicFramePr>
            <a:graphicFrameLocks noChangeAspect="1"/>
          </p:cNvGraphicFramePr>
          <p:nvPr/>
        </p:nvGraphicFramePr>
        <p:xfrm>
          <a:off x="3806825" y="4184650"/>
          <a:ext cx="1009650" cy="801688"/>
        </p:xfrm>
        <a:graphic>
          <a:graphicData uri="http://schemas.openxmlformats.org/presentationml/2006/ole">
            <p:oleObj spid="_x0000_s27661" name="公式" r:id="rId14" imgW="558720" imgH="444240" progId="Equation.3">
              <p:embed/>
            </p:oleObj>
          </a:graphicData>
        </a:graphic>
      </p:graphicFrame>
      <p:sp>
        <p:nvSpPr>
          <p:cNvPr id="109630" name="AutoShape 62"/>
          <p:cNvSpPr>
            <a:spLocks noChangeArrowheads="1"/>
          </p:cNvSpPr>
          <p:nvPr/>
        </p:nvSpPr>
        <p:spPr bwMode="auto">
          <a:xfrm>
            <a:off x="323850" y="5948363"/>
            <a:ext cx="360363" cy="576262"/>
          </a:xfrm>
          <a:prstGeom prst="star4">
            <a:avLst>
              <a:gd name="adj" fmla="val 18519"/>
            </a:avLst>
          </a:prstGeom>
          <a:gradFill rotWithShape="1">
            <a:gsLst>
              <a:gs pos="0">
                <a:srgbClr val="9900CC"/>
              </a:gs>
              <a:gs pos="100000">
                <a:srgbClr val="47005E"/>
              </a:gs>
            </a:gsLst>
            <a:path path="shape">
              <a:fillToRect l="50000" t="50000" r="50000" b="50000"/>
            </a:path>
          </a:gradFill>
          <a:ln w="9525">
            <a:noFill/>
            <a:miter lim="800000"/>
            <a:headEnd/>
            <a:tailEnd/>
          </a:ln>
        </p:spPr>
        <p:txBody>
          <a:bodyPr wrap="none" anchor="ctr"/>
          <a:lstStyle/>
          <a:p>
            <a:endParaRPr lang="zh-CN" altLang="en-US"/>
          </a:p>
        </p:txBody>
      </p:sp>
      <p:sp>
        <p:nvSpPr>
          <p:cNvPr id="109631" name="AutoShape 63">
            <a:hlinkClick r:id="rId15" action="ppaction://hlinksldjump" highlightClick="1"/>
          </p:cNvPr>
          <p:cNvSpPr>
            <a:spLocks noChangeArrowheads="1"/>
          </p:cNvSpPr>
          <p:nvPr/>
        </p:nvSpPr>
        <p:spPr bwMode="auto">
          <a:xfrm>
            <a:off x="8577263" y="6173788"/>
            <a:ext cx="287337" cy="287337"/>
          </a:xfrm>
          <a:prstGeom prst="actionButtonBeginning">
            <a:avLst/>
          </a:prstGeom>
          <a:solidFill>
            <a:srgbClr val="99CCFF"/>
          </a:solidFill>
          <a:ln w="9525">
            <a:no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9571"/>
                                        </p:tgtEl>
                                        <p:attrNameLst>
                                          <p:attrName>style.visibility</p:attrName>
                                        </p:attrNameLst>
                                      </p:cBhvr>
                                      <p:to>
                                        <p:strVal val="visible"/>
                                      </p:to>
                                    </p:set>
                                    <p:animEffect transition="in" filter="wipe(left)">
                                      <p:cBhvr>
                                        <p:cTn id="7" dur="500"/>
                                        <p:tgtEl>
                                          <p:spTgt spid="1095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9616"/>
                                        </p:tgtEl>
                                        <p:attrNameLst>
                                          <p:attrName>style.visibility</p:attrName>
                                        </p:attrNameLst>
                                      </p:cBhvr>
                                      <p:to>
                                        <p:strVal val="visible"/>
                                      </p:to>
                                    </p:set>
                                    <p:animEffect transition="in" filter="wipe(left)">
                                      <p:cBhvr>
                                        <p:cTn id="12" dur="500"/>
                                        <p:tgtEl>
                                          <p:spTgt spid="109616"/>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499"/>
                                          </p:stCondLst>
                                        </p:cTn>
                                        <p:tgtEl>
                                          <p:spTgt spid="10961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3" presetClass="entr" presetSubtype="16" fill="hold" grpId="0" nodeType="clickEffect">
                                  <p:stCondLst>
                                    <p:cond delay="0"/>
                                  </p:stCondLst>
                                  <p:childTnLst>
                                    <p:set>
                                      <p:cBhvr>
                                        <p:cTn id="19" dur="1" fill="hold">
                                          <p:stCondLst>
                                            <p:cond delay="0"/>
                                          </p:stCondLst>
                                        </p:cTn>
                                        <p:tgtEl>
                                          <p:spTgt spid="109608"/>
                                        </p:tgtEl>
                                        <p:attrNameLst>
                                          <p:attrName>style.visibility</p:attrName>
                                        </p:attrNameLst>
                                      </p:cBhvr>
                                      <p:to>
                                        <p:strVal val="visible"/>
                                      </p:to>
                                    </p:set>
                                    <p:anim calcmode="lin" valueType="num">
                                      <p:cBhvr>
                                        <p:cTn id="20" dur="500" fill="hold"/>
                                        <p:tgtEl>
                                          <p:spTgt spid="109608"/>
                                        </p:tgtEl>
                                        <p:attrNameLst>
                                          <p:attrName>ppt_w</p:attrName>
                                        </p:attrNameLst>
                                      </p:cBhvr>
                                      <p:tavLst>
                                        <p:tav tm="0">
                                          <p:val>
                                            <p:fltVal val="0"/>
                                          </p:val>
                                        </p:tav>
                                        <p:tav tm="100000">
                                          <p:val>
                                            <p:strVal val="#ppt_w"/>
                                          </p:val>
                                        </p:tav>
                                      </p:tavLst>
                                    </p:anim>
                                    <p:anim calcmode="lin" valueType="num">
                                      <p:cBhvr>
                                        <p:cTn id="21" dur="500" fill="hold"/>
                                        <p:tgtEl>
                                          <p:spTgt spid="109608"/>
                                        </p:tgtEl>
                                        <p:attrNameLst>
                                          <p:attrName>ppt_h</p:attrName>
                                        </p:attrNameLst>
                                      </p:cBhvr>
                                      <p:tavLst>
                                        <p:tav tm="0">
                                          <p:val>
                                            <p:fltVal val="0"/>
                                          </p:val>
                                        </p:tav>
                                        <p:tav tm="100000">
                                          <p:val>
                                            <p:strVal val="#ppt_h"/>
                                          </p:val>
                                        </p:tav>
                                      </p:tavLst>
                                    </p:anim>
                                  </p:childTnLst>
                                </p:cTn>
                              </p:par>
                            </p:childTnLst>
                          </p:cTn>
                        </p:par>
                        <p:par>
                          <p:cTn id="22" fill="hold">
                            <p:stCondLst>
                              <p:cond delay="500"/>
                            </p:stCondLst>
                            <p:childTnLst>
                              <p:par>
                                <p:cTn id="23" presetID="23" presetClass="entr" presetSubtype="16" fill="hold" grpId="0" nodeType="afterEffect">
                                  <p:stCondLst>
                                    <p:cond delay="0"/>
                                  </p:stCondLst>
                                  <p:childTnLst>
                                    <p:set>
                                      <p:cBhvr>
                                        <p:cTn id="24" dur="1" fill="hold">
                                          <p:stCondLst>
                                            <p:cond delay="0"/>
                                          </p:stCondLst>
                                        </p:cTn>
                                        <p:tgtEl>
                                          <p:spTgt spid="109609"/>
                                        </p:tgtEl>
                                        <p:attrNameLst>
                                          <p:attrName>style.visibility</p:attrName>
                                        </p:attrNameLst>
                                      </p:cBhvr>
                                      <p:to>
                                        <p:strVal val="visible"/>
                                      </p:to>
                                    </p:set>
                                    <p:anim calcmode="lin" valueType="num">
                                      <p:cBhvr>
                                        <p:cTn id="25" dur="500" fill="hold"/>
                                        <p:tgtEl>
                                          <p:spTgt spid="109609"/>
                                        </p:tgtEl>
                                        <p:attrNameLst>
                                          <p:attrName>ppt_w</p:attrName>
                                        </p:attrNameLst>
                                      </p:cBhvr>
                                      <p:tavLst>
                                        <p:tav tm="0">
                                          <p:val>
                                            <p:fltVal val="0"/>
                                          </p:val>
                                        </p:tav>
                                        <p:tav tm="100000">
                                          <p:val>
                                            <p:strVal val="#ppt_w"/>
                                          </p:val>
                                        </p:tav>
                                      </p:tavLst>
                                    </p:anim>
                                    <p:anim calcmode="lin" valueType="num">
                                      <p:cBhvr>
                                        <p:cTn id="26" dur="500" fill="hold"/>
                                        <p:tgtEl>
                                          <p:spTgt spid="109609"/>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p:cTn id="31" dur="500" fill="hold"/>
                                        <p:tgtEl>
                                          <p:spTgt spid="2"/>
                                        </p:tgtEl>
                                        <p:attrNameLst>
                                          <p:attrName>ppt_w</p:attrName>
                                        </p:attrNameLst>
                                      </p:cBhvr>
                                      <p:tavLst>
                                        <p:tav tm="0">
                                          <p:val>
                                            <p:fltVal val="0"/>
                                          </p:val>
                                        </p:tav>
                                        <p:tav tm="100000">
                                          <p:val>
                                            <p:strVal val="#ppt_w"/>
                                          </p:val>
                                        </p:tav>
                                      </p:tavLst>
                                    </p:anim>
                                    <p:anim calcmode="lin" valueType="num">
                                      <p:cBhvr>
                                        <p:cTn id="32"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10960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499"/>
                                          </p:stCondLst>
                                        </p:cTn>
                                        <p:tgtEl>
                                          <p:spTgt spid="10960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499"/>
                                          </p:stCondLst>
                                        </p:cTn>
                                        <p:tgtEl>
                                          <p:spTgt spid="10960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109605"/>
                                        </p:tgtEl>
                                        <p:attrNameLst>
                                          <p:attrName>style.visibility</p:attrName>
                                        </p:attrNameLst>
                                      </p:cBhvr>
                                      <p:to>
                                        <p:strVal val="visible"/>
                                      </p:to>
                                    </p:set>
                                    <p:animEffect transition="in" filter="wipe(up)">
                                      <p:cBhvr>
                                        <p:cTn id="49" dur="500"/>
                                        <p:tgtEl>
                                          <p:spTgt spid="109605"/>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499"/>
                                          </p:stCondLst>
                                        </p:cTn>
                                        <p:tgtEl>
                                          <p:spTgt spid="109607"/>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499"/>
                                          </p:stCondLst>
                                        </p:cTn>
                                        <p:tgtEl>
                                          <p:spTgt spid="10960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09617"/>
                                        </p:tgtEl>
                                        <p:attrNameLst>
                                          <p:attrName>style.visibility</p:attrName>
                                        </p:attrNameLst>
                                      </p:cBhvr>
                                      <p:to>
                                        <p:strVal val="visible"/>
                                      </p:to>
                                    </p:set>
                                    <p:animEffect transition="in" filter="wipe(left)">
                                      <p:cBhvr>
                                        <p:cTn id="62" dur="500"/>
                                        <p:tgtEl>
                                          <p:spTgt spid="10961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09618"/>
                                        </p:tgtEl>
                                        <p:attrNameLst>
                                          <p:attrName>style.visibility</p:attrName>
                                        </p:attrNameLst>
                                      </p:cBhvr>
                                      <p:to>
                                        <p:strVal val="visible"/>
                                      </p:to>
                                    </p:set>
                                    <p:animEffect transition="in" filter="wipe(left)">
                                      <p:cBhvr>
                                        <p:cTn id="67" dur="500"/>
                                        <p:tgtEl>
                                          <p:spTgt spid="109618"/>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499"/>
                                          </p:stCondLst>
                                        </p:cTn>
                                        <p:tgtEl>
                                          <p:spTgt spid="109621"/>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09619"/>
                                        </p:tgtEl>
                                        <p:attrNameLst>
                                          <p:attrName>style.visibility</p:attrName>
                                        </p:attrNameLst>
                                      </p:cBhvr>
                                      <p:to>
                                        <p:strVal val="visible"/>
                                      </p:to>
                                    </p:set>
                                    <p:animEffect transition="in" filter="wipe(left)">
                                      <p:cBhvr>
                                        <p:cTn id="76" dur="500"/>
                                        <p:tgtEl>
                                          <p:spTgt spid="109619"/>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09620"/>
                                        </p:tgtEl>
                                        <p:attrNameLst>
                                          <p:attrName>style.visibility</p:attrName>
                                        </p:attrNameLst>
                                      </p:cBhvr>
                                      <p:to>
                                        <p:strVal val="visible"/>
                                      </p:to>
                                    </p:set>
                                    <p:animEffect transition="in" filter="wipe(left)">
                                      <p:cBhvr>
                                        <p:cTn id="81" dur="500"/>
                                        <p:tgtEl>
                                          <p:spTgt spid="109620"/>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499"/>
                                          </p:stCondLst>
                                        </p:cTn>
                                        <p:tgtEl>
                                          <p:spTgt spid="109623"/>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109626"/>
                                        </p:tgtEl>
                                        <p:attrNameLst>
                                          <p:attrName>style.visibility</p:attrName>
                                        </p:attrNameLst>
                                      </p:cBhvr>
                                      <p:to>
                                        <p:strVal val="visible"/>
                                      </p:to>
                                    </p:set>
                                    <p:animEffect transition="in" filter="wipe(left)">
                                      <p:cBhvr>
                                        <p:cTn id="90" dur="500"/>
                                        <p:tgtEl>
                                          <p:spTgt spid="109626"/>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109627"/>
                                        </p:tgtEl>
                                        <p:attrNameLst>
                                          <p:attrName>style.visibility</p:attrName>
                                        </p:attrNameLst>
                                      </p:cBhvr>
                                      <p:to>
                                        <p:strVal val="visible"/>
                                      </p:to>
                                    </p:set>
                                    <p:animEffect transition="in" filter="wipe(left)">
                                      <p:cBhvr>
                                        <p:cTn id="95" dur="500"/>
                                        <p:tgtEl>
                                          <p:spTgt spid="109627"/>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109628"/>
                                        </p:tgtEl>
                                        <p:attrNameLst>
                                          <p:attrName>style.visibility</p:attrName>
                                        </p:attrNameLst>
                                      </p:cBhvr>
                                      <p:to>
                                        <p:strVal val="visible"/>
                                      </p:to>
                                    </p:set>
                                    <p:animEffect transition="in" filter="wipe(left)">
                                      <p:cBhvr>
                                        <p:cTn id="100" dur="500"/>
                                        <p:tgtEl>
                                          <p:spTgt spid="109628"/>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1" fill="hold">
                                          <p:stCondLst>
                                            <p:cond delay="0"/>
                                          </p:stCondLst>
                                        </p:cTn>
                                        <p:tgtEl>
                                          <p:spTgt spid="109629"/>
                                        </p:tgtEl>
                                        <p:attrNameLst>
                                          <p:attrName>style.visibility</p:attrName>
                                        </p:attrNameLst>
                                      </p:cBhvr>
                                      <p:to>
                                        <p:strVal val="visible"/>
                                      </p:to>
                                    </p:set>
                                    <p:animEffect transition="in" filter="wipe(left)">
                                      <p:cBhvr>
                                        <p:cTn id="105" dur="500"/>
                                        <p:tgtEl>
                                          <p:spTgt spid="109629"/>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109625"/>
                                        </p:tgtEl>
                                        <p:attrNameLst>
                                          <p:attrName>style.visibility</p:attrName>
                                        </p:attrNameLst>
                                      </p:cBhvr>
                                      <p:to>
                                        <p:strVal val="visible"/>
                                      </p:to>
                                    </p:set>
                                    <p:animEffect transition="in" filter="wipe(left)">
                                      <p:cBhvr>
                                        <p:cTn id="110" dur="500"/>
                                        <p:tgtEl>
                                          <p:spTgt spid="109625"/>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nodeType="clickEffect">
                                  <p:stCondLst>
                                    <p:cond delay="0"/>
                                  </p:stCondLst>
                                  <p:childTnLst>
                                    <p:set>
                                      <p:cBhvr>
                                        <p:cTn id="114" dur="1" fill="hold">
                                          <p:stCondLst>
                                            <p:cond delay="0"/>
                                          </p:stCondLst>
                                        </p:cTn>
                                        <p:tgtEl>
                                          <p:spTgt spid="109622"/>
                                        </p:tgtEl>
                                        <p:attrNameLst>
                                          <p:attrName>style.visibility</p:attrName>
                                        </p:attrNameLst>
                                      </p:cBhvr>
                                      <p:to>
                                        <p:strVal val="visible"/>
                                      </p:to>
                                    </p:set>
                                    <p:animEffect transition="in" filter="wipe(left)">
                                      <p:cBhvr>
                                        <p:cTn id="115" dur="500"/>
                                        <p:tgtEl>
                                          <p:spTgt spid="109622"/>
                                        </p:tgtEl>
                                      </p:cBhvr>
                                    </p:animEffect>
                                  </p:childTnLst>
                                </p:cTn>
                              </p:par>
                            </p:childTnLst>
                          </p:cTn>
                        </p:par>
                      </p:childTnLst>
                    </p:cTn>
                  </p:par>
                  <p:par>
                    <p:cTn id="116" fill="hold">
                      <p:stCondLst>
                        <p:cond delay="indefinite"/>
                      </p:stCondLst>
                      <p:childTnLst>
                        <p:par>
                          <p:cTn id="117" fill="hold">
                            <p:stCondLst>
                              <p:cond delay="0"/>
                            </p:stCondLst>
                            <p:childTnLst>
                              <p:par>
                                <p:cTn id="118" presetID="23" presetClass="entr" presetSubtype="32" fill="hold" grpId="0" nodeType="clickEffect">
                                  <p:stCondLst>
                                    <p:cond delay="0"/>
                                  </p:stCondLst>
                                  <p:childTnLst>
                                    <p:set>
                                      <p:cBhvr>
                                        <p:cTn id="119" dur="1" fill="hold">
                                          <p:stCondLst>
                                            <p:cond delay="0"/>
                                          </p:stCondLst>
                                        </p:cTn>
                                        <p:tgtEl>
                                          <p:spTgt spid="109630"/>
                                        </p:tgtEl>
                                        <p:attrNameLst>
                                          <p:attrName>style.visibility</p:attrName>
                                        </p:attrNameLst>
                                      </p:cBhvr>
                                      <p:to>
                                        <p:strVal val="visible"/>
                                      </p:to>
                                    </p:set>
                                    <p:anim calcmode="lin" valueType="num">
                                      <p:cBhvr>
                                        <p:cTn id="120" dur="500" fill="hold"/>
                                        <p:tgtEl>
                                          <p:spTgt spid="109630"/>
                                        </p:tgtEl>
                                        <p:attrNameLst>
                                          <p:attrName>ppt_w</p:attrName>
                                        </p:attrNameLst>
                                      </p:cBhvr>
                                      <p:tavLst>
                                        <p:tav tm="0">
                                          <p:val>
                                            <p:strVal val="4*#ppt_w"/>
                                          </p:val>
                                        </p:tav>
                                        <p:tav tm="100000">
                                          <p:val>
                                            <p:strVal val="#ppt_w"/>
                                          </p:val>
                                        </p:tav>
                                      </p:tavLst>
                                    </p:anim>
                                    <p:anim calcmode="lin" valueType="num">
                                      <p:cBhvr>
                                        <p:cTn id="121" dur="500" fill="hold"/>
                                        <p:tgtEl>
                                          <p:spTgt spid="109630"/>
                                        </p:tgtEl>
                                        <p:attrNameLst>
                                          <p:attrName>ppt_h</p:attrName>
                                        </p:attrNameLst>
                                      </p:cBhvr>
                                      <p:tavLst>
                                        <p:tav tm="0">
                                          <p:val>
                                            <p:strVal val="4*#ppt_h"/>
                                          </p:val>
                                        </p:tav>
                                        <p:tav tm="100000">
                                          <p:val>
                                            <p:strVal val="#ppt_h"/>
                                          </p:val>
                                        </p:tav>
                                      </p:tavLst>
                                    </p:anim>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iterate type="wd">
                                    <p:tmPct val="100000"/>
                                  </p:iterate>
                                  <p:childTnLst>
                                    <p:set>
                                      <p:cBhvr>
                                        <p:cTn id="125" dur="1" fill="hold">
                                          <p:stCondLst>
                                            <p:cond delay="0"/>
                                          </p:stCondLst>
                                        </p:cTn>
                                        <p:tgtEl>
                                          <p:spTgt spid="109624"/>
                                        </p:tgtEl>
                                        <p:attrNameLst>
                                          <p:attrName>style.visibility</p:attrName>
                                        </p:attrNameLst>
                                      </p:cBhvr>
                                      <p:to>
                                        <p:strVal val="visible"/>
                                      </p:to>
                                    </p:set>
                                    <p:animEffect transition="in" filter="wipe(left)">
                                      <p:cBhvr>
                                        <p:cTn id="126" dur="300"/>
                                        <p:tgtEl>
                                          <p:spTgt spid="109624"/>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4" fill="hold" grpId="0" nodeType="clickEffect">
                                  <p:stCondLst>
                                    <p:cond delay="0"/>
                                  </p:stCondLst>
                                  <p:childTnLst>
                                    <p:set>
                                      <p:cBhvr>
                                        <p:cTn id="130" dur="1" fill="hold">
                                          <p:stCondLst>
                                            <p:cond delay="0"/>
                                          </p:stCondLst>
                                        </p:cTn>
                                        <p:tgtEl>
                                          <p:spTgt spid="109631"/>
                                        </p:tgtEl>
                                        <p:attrNameLst>
                                          <p:attrName>style.visibility</p:attrName>
                                        </p:attrNameLst>
                                      </p:cBhvr>
                                      <p:to>
                                        <p:strVal val="visible"/>
                                      </p:to>
                                    </p:set>
                                    <p:animEffect transition="in" filter="wipe(down)">
                                      <p:cBhvr>
                                        <p:cTn id="131" dur="500"/>
                                        <p:tgtEl>
                                          <p:spTgt spid="1096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autoUpdateAnimBg="0"/>
      <p:bldP spid="109604" grpId="0" animBg="1"/>
      <p:bldP spid="109605" grpId="0" animBg="1"/>
      <p:bldP spid="109608" grpId="0" animBg="1"/>
      <p:bldP spid="109609" grpId="0" animBg="1"/>
      <p:bldP spid="109616" grpId="0" animBg="1"/>
      <p:bldP spid="109617" grpId="0"/>
      <p:bldP spid="109621" grpId="0" autoUpdateAnimBg="0"/>
      <p:bldP spid="109623" grpId="0" autoUpdateAnimBg="0"/>
      <p:bldP spid="109624" grpId="0" autoUpdateAnimBg="0"/>
      <p:bldP spid="109625" grpId="0" autoUpdateAnimBg="0"/>
      <p:bldP spid="109627" grpId="0" autoUpdateAnimBg="0"/>
      <p:bldP spid="109630" grpId="0" animBg="1"/>
      <p:bldP spid="10963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6" name="Text Box 4"/>
          <p:cNvSpPr txBox="1">
            <a:spLocks noChangeArrowheads="1"/>
          </p:cNvSpPr>
          <p:nvPr/>
        </p:nvSpPr>
        <p:spPr bwMode="auto">
          <a:xfrm>
            <a:off x="1835150" y="404813"/>
            <a:ext cx="6192838" cy="519112"/>
          </a:xfrm>
          <a:prstGeom prst="rect">
            <a:avLst/>
          </a:prstGeom>
          <a:noFill/>
          <a:ln w="9525">
            <a:noFill/>
            <a:miter lim="800000"/>
            <a:headEnd/>
            <a:tailEnd/>
          </a:ln>
        </p:spPr>
        <p:txBody>
          <a:bodyPr>
            <a:spAutoFit/>
          </a:bodyPr>
          <a:lstStyle/>
          <a:p>
            <a:r>
              <a:rPr kumimoji="0" lang="en-US" altLang="zh-CN" sz="2800" b="1">
                <a:solidFill>
                  <a:srgbClr val="0033CC"/>
                </a:solidFill>
              </a:rPr>
              <a:t>§6.4</a:t>
            </a:r>
            <a:r>
              <a:rPr kumimoji="0" lang="en-US" altLang="zh-CN" sz="2800" b="1">
                <a:solidFill>
                  <a:srgbClr val="0000FF"/>
                </a:solidFill>
              </a:rPr>
              <a:t>  </a:t>
            </a:r>
            <a:r>
              <a:rPr kumimoji="0" lang="zh-CN" altLang="en-US" sz="2800" b="1">
                <a:solidFill>
                  <a:srgbClr val="0033CC"/>
                </a:solidFill>
                <a:latin typeface="黑体" pitchFamily="49" charset="-122"/>
                <a:ea typeface="黑体" pitchFamily="49" charset="-122"/>
              </a:rPr>
              <a:t>惠更斯原理 波的干涉</a:t>
            </a:r>
            <a:r>
              <a:rPr kumimoji="0" lang="zh-CN" altLang="en-US" sz="2800"/>
              <a:t> </a:t>
            </a:r>
          </a:p>
        </p:txBody>
      </p:sp>
      <p:pic>
        <p:nvPicPr>
          <p:cNvPr id="110597" name="Picture 5" descr="216821_200812081604141O003"/>
          <p:cNvPicPr>
            <a:picLocks noChangeArrowheads="1"/>
          </p:cNvPicPr>
          <p:nvPr/>
        </p:nvPicPr>
        <p:blipFill>
          <a:blip r:embed="rId3"/>
          <a:srcRect b="9071"/>
          <a:stretch>
            <a:fillRect/>
          </a:stretch>
        </p:blipFill>
        <p:spPr bwMode="auto">
          <a:xfrm>
            <a:off x="6732588" y="903288"/>
            <a:ext cx="1993900" cy="2266950"/>
          </a:xfrm>
          <a:prstGeom prst="rect">
            <a:avLst/>
          </a:prstGeom>
          <a:noFill/>
          <a:ln w="9525">
            <a:noFill/>
            <a:miter lim="800000"/>
            <a:headEnd/>
            <a:tailEnd/>
          </a:ln>
        </p:spPr>
      </p:pic>
      <p:sp>
        <p:nvSpPr>
          <p:cNvPr id="110598" name="Rectangle 6"/>
          <p:cNvSpPr>
            <a:spLocks noChangeArrowheads="1"/>
          </p:cNvSpPr>
          <p:nvPr/>
        </p:nvSpPr>
        <p:spPr bwMode="auto">
          <a:xfrm>
            <a:off x="107950" y="884238"/>
            <a:ext cx="5321300" cy="457200"/>
          </a:xfrm>
          <a:prstGeom prst="rect">
            <a:avLst/>
          </a:prstGeom>
          <a:noFill/>
          <a:ln w="9525">
            <a:noFill/>
            <a:miter lim="800000"/>
            <a:headEnd/>
            <a:tailEnd/>
          </a:ln>
        </p:spPr>
        <p:txBody>
          <a:bodyPr>
            <a:spAutoFit/>
          </a:bodyPr>
          <a:lstStyle/>
          <a:p>
            <a:r>
              <a:rPr lang="zh-CN" altLang="en-US" b="1">
                <a:solidFill>
                  <a:srgbClr val="FF3300"/>
                </a:solidFill>
                <a:latin typeface="宋体" pitchFamily="2" charset="-122"/>
              </a:rPr>
              <a:t>一</a:t>
            </a:r>
            <a:r>
              <a:rPr lang="zh-CN" altLang="en-US" b="1">
                <a:solidFill>
                  <a:srgbClr val="FF3300"/>
                </a:solidFill>
              </a:rPr>
              <a:t>、</a:t>
            </a:r>
            <a:r>
              <a:rPr lang="zh-CN" altLang="en-US" b="1">
                <a:solidFill>
                  <a:srgbClr val="FF3300"/>
                </a:solidFill>
                <a:latin typeface="宋体" pitchFamily="2" charset="-122"/>
              </a:rPr>
              <a:t>惠更斯原理 波的衍射</a:t>
            </a:r>
            <a:endParaRPr lang="zh-CN" altLang="en-US">
              <a:solidFill>
                <a:srgbClr val="FF3300"/>
              </a:solidFill>
            </a:endParaRPr>
          </a:p>
        </p:txBody>
      </p:sp>
      <p:sp>
        <p:nvSpPr>
          <p:cNvPr id="110679" name="Rectangle 87"/>
          <p:cNvSpPr>
            <a:spLocks noChangeArrowheads="1"/>
          </p:cNvSpPr>
          <p:nvPr/>
        </p:nvSpPr>
        <p:spPr bwMode="auto">
          <a:xfrm>
            <a:off x="6589713" y="3206750"/>
            <a:ext cx="2374900" cy="366713"/>
          </a:xfrm>
          <a:prstGeom prst="rect">
            <a:avLst/>
          </a:prstGeom>
          <a:noFill/>
          <a:ln w="9525">
            <a:noFill/>
            <a:miter lim="800000"/>
            <a:headEnd/>
            <a:tailEnd/>
          </a:ln>
        </p:spPr>
        <p:txBody>
          <a:bodyPr>
            <a:spAutoFit/>
          </a:bodyPr>
          <a:lstStyle/>
          <a:p>
            <a:r>
              <a:rPr lang="en-US" altLang="zh-CN" sz="1800" b="1">
                <a:solidFill>
                  <a:srgbClr val="FF6600"/>
                </a:solidFill>
              </a:rPr>
              <a:t>(1629.4.14—1695.7.8)</a:t>
            </a:r>
          </a:p>
        </p:txBody>
      </p:sp>
      <p:sp>
        <p:nvSpPr>
          <p:cNvPr id="110681" name="Rectangle 89"/>
          <p:cNvSpPr>
            <a:spLocks noChangeArrowheads="1"/>
          </p:cNvSpPr>
          <p:nvPr/>
        </p:nvSpPr>
        <p:spPr bwMode="auto">
          <a:xfrm>
            <a:off x="179388" y="1268413"/>
            <a:ext cx="6121400" cy="933450"/>
          </a:xfrm>
          <a:prstGeom prst="rect">
            <a:avLst/>
          </a:prstGeom>
          <a:noFill/>
          <a:ln w="9525">
            <a:noFill/>
            <a:miter lim="800000"/>
            <a:headEnd/>
            <a:tailEnd/>
          </a:ln>
        </p:spPr>
        <p:txBody>
          <a:bodyPr>
            <a:spAutoFit/>
          </a:bodyPr>
          <a:lstStyle/>
          <a:p>
            <a:pPr marL="457200" indent="-457200">
              <a:lnSpc>
                <a:spcPct val="115000"/>
              </a:lnSpc>
            </a:pPr>
            <a:r>
              <a:rPr lang="en-US" altLang="zh-CN" b="1">
                <a:ea typeface="楷体_GB2312" pitchFamily="49" charset="-122"/>
              </a:rPr>
              <a:t>(1) </a:t>
            </a:r>
            <a:r>
              <a:rPr lang="zh-CN" altLang="en-US" b="1">
                <a:latin typeface="楷体_GB2312" pitchFamily="49" charset="-122"/>
                <a:ea typeface="楷体_GB2312" pitchFamily="49" charset="-122"/>
              </a:rPr>
              <a:t>行进中的波面上任意一点可看作是</a:t>
            </a:r>
            <a:r>
              <a:rPr lang="zh-CN" altLang="en-US" b="1">
                <a:solidFill>
                  <a:srgbClr val="FF6600"/>
                </a:solidFill>
                <a:latin typeface="楷体_GB2312" pitchFamily="49" charset="-122"/>
                <a:ea typeface="楷体_GB2312" pitchFamily="49" charset="-122"/>
              </a:rPr>
              <a:t>新的</a:t>
            </a:r>
          </a:p>
          <a:p>
            <a:pPr marL="457200" indent="-457200">
              <a:lnSpc>
                <a:spcPct val="115000"/>
              </a:lnSpc>
            </a:pPr>
            <a:r>
              <a:rPr lang="zh-CN" altLang="en-US" b="1">
                <a:solidFill>
                  <a:srgbClr val="FF6600"/>
                </a:solidFill>
                <a:latin typeface="楷体_GB2312" pitchFamily="49" charset="-122"/>
                <a:ea typeface="楷体_GB2312" pitchFamily="49" charset="-122"/>
              </a:rPr>
              <a:t>   子波源</a:t>
            </a:r>
            <a:r>
              <a:rPr lang="zh-CN" altLang="en-US" b="1">
                <a:latin typeface="楷体_GB2312" pitchFamily="49" charset="-122"/>
                <a:ea typeface="楷体_GB2312" pitchFamily="49" charset="-122"/>
              </a:rPr>
              <a:t>；</a:t>
            </a:r>
          </a:p>
        </p:txBody>
      </p:sp>
      <p:sp>
        <p:nvSpPr>
          <p:cNvPr id="110682" name="Rectangle 90"/>
          <p:cNvSpPr>
            <a:spLocks noChangeArrowheads="1"/>
          </p:cNvSpPr>
          <p:nvPr/>
        </p:nvSpPr>
        <p:spPr bwMode="auto">
          <a:xfrm>
            <a:off x="188913" y="2205038"/>
            <a:ext cx="6048375" cy="512762"/>
          </a:xfrm>
          <a:prstGeom prst="rect">
            <a:avLst/>
          </a:prstGeom>
          <a:noFill/>
          <a:ln w="9525">
            <a:noFill/>
            <a:miter lim="800000"/>
            <a:headEnd/>
            <a:tailEnd/>
          </a:ln>
        </p:spPr>
        <p:txBody>
          <a:bodyPr>
            <a:spAutoFit/>
          </a:bodyPr>
          <a:lstStyle/>
          <a:p>
            <a:pPr marL="457200" indent="-457200">
              <a:lnSpc>
                <a:spcPct val="115000"/>
              </a:lnSpc>
            </a:pPr>
            <a:r>
              <a:rPr lang="en-US" altLang="zh-CN" b="1"/>
              <a:t>(2) </a:t>
            </a:r>
            <a:r>
              <a:rPr lang="zh-CN" altLang="en-US" b="1">
                <a:ea typeface="楷体_GB2312" pitchFamily="49" charset="-122"/>
              </a:rPr>
              <a:t>所有子波源各自向外发出许多</a:t>
            </a:r>
            <a:r>
              <a:rPr lang="zh-CN" altLang="en-US" b="1">
                <a:solidFill>
                  <a:srgbClr val="FF6600"/>
                </a:solidFill>
                <a:ea typeface="楷体_GB2312" pitchFamily="49" charset="-122"/>
              </a:rPr>
              <a:t>子波</a:t>
            </a:r>
            <a:r>
              <a:rPr lang="zh-CN" altLang="en-US" b="1">
                <a:ea typeface="楷体_GB2312" pitchFamily="49" charset="-122"/>
              </a:rPr>
              <a:t>；</a:t>
            </a:r>
          </a:p>
        </p:txBody>
      </p:sp>
      <p:sp>
        <p:nvSpPr>
          <p:cNvPr id="110683" name="Rectangle 91"/>
          <p:cNvSpPr>
            <a:spLocks noChangeArrowheads="1"/>
          </p:cNvSpPr>
          <p:nvPr/>
        </p:nvSpPr>
        <p:spPr bwMode="auto">
          <a:xfrm>
            <a:off x="188913" y="2640013"/>
            <a:ext cx="6327775" cy="933450"/>
          </a:xfrm>
          <a:prstGeom prst="rect">
            <a:avLst/>
          </a:prstGeom>
          <a:noFill/>
          <a:ln w="9525">
            <a:noFill/>
            <a:miter lim="800000"/>
            <a:headEnd/>
            <a:tailEnd/>
          </a:ln>
        </p:spPr>
        <p:txBody>
          <a:bodyPr>
            <a:spAutoFit/>
          </a:bodyPr>
          <a:lstStyle/>
          <a:p>
            <a:pPr marL="457200" indent="-457200">
              <a:lnSpc>
                <a:spcPct val="115000"/>
              </a:lnSpc>
            </a:pPr>
            <a:r>
              <a:rPr lang="en-US" altLang="zh-CN" b="1"/>
              <a:t>(3) </a:t>
            </a:r>
            <a:r>
              <a:rPr lang="zh-CN" altLang="en-US" b="1">
                <a:ea typeface="楷体_GB2312" pitchFamily="49" charset="-122"/>
              </a:rPr>
              <a:t>各个子波所形成的</a:t>
            </a:r>
            <a:r>
              <a:rPr lang="zh-CN" altLang="en-US" b="1">
                <a:solidFill>
                  <a:srgbClr val="FF6600"/>
                </a:solidFill>
                <a:ea typeface="楷体_GB2312" pitchFamily="49" charset="-122"/>
              </a:rPr>
              <a:t>包络面</a:t>
            </a:r>
            <a:r>
              <a:rPr lang="zh-CN" altLang="en-US" b="1">
                <a:ea typeface="楷体_GB2312" pitchFamily="49" charset="-122"/>
              </a:rPr>
              <a:t>，就是原波面在一定时间内所传播到的</a:t>
            </a:r>
            <a:r>
              <a:rPr lang="zh-CN" altLang="en-US" b="1">
                <a:solidFill>
                  <a:srgbClr val="FF6600"/>
                </a:solidFill>
                <a:ea typeface="楷体_GB2312" pitchFamily="49" charset="-122"/>
              </a:rPr>
              <a:t>新波面</a:t>
            </a:r>
            <a:r>
              <a:rPr lang="zh-CN" altLang="en-US" b="1">
                <a:ea typeface="楷体_GB2312" pitchFamily="49" charset="-122"/>
              </a:rPr>
              <a:t>。</a:t>
            </a:r>
          </a:p>
        </p:txBody>
      </p:sp>
      <p:sp>
        <p:nvSpPr>
          <p:cNvPr id="110684" name="Rectangle 92"/>
          <p:cNvSpPr>
            <a:spLocks noChangeArrowheads="1"/>
          </p:cNvSpPr>
          <p:nvPr/>
        </p:nvSpPr>
        <p:spPr bwMode="auto">
          <a:xfrm>
            <a:off x="179388" y="3608388"/>
            <a:ext cx="7848600" cy="396875"/>
          </a:xfrm>
          <a:prstGeom prst="rect">
            <a:avLst/>
          </a:prstGeom>
          <a:noFill/>
          <a:ln w="9525">
            <a:noFill/>
            <a:miter lim="800000"/>
            <a:headEnd/>
            <a:tailEnd/>
          </a:ln>
        </p:spPr>
        <p:txBody>
          <a:bodyPr>
            <a:spAutoFit/>
          </a:bodyPr>
          <a:lstStyle/>
          <a:p>
            <a:r>
              <a:rPr kumimoji="0" lang="zh-CN" altLang="en-US" sz="2000" b="1">
                <a:solidFill>
                  <a:srgbClr val="9900CC"/>
                </a:solidFill>
                <a:latin typeface="宋体" pitchFamily="2" charset="-122"/>
              </a:rPr>
              <a:t>已知某一时刻波前，可用几何方法决定下一时刻波前。</a:t>
            </a:r>
            <a:endParaRPr kumimoji="0" lang="zh-CN" altLang="en-US" sz="2000">
              <a:solidFill>
                <a:srgbClr val="9900CC"/>
              </a:solidFill>
              <a:latin typeface="宋体" pitchFamily="2" charset="-122"/>
            </a:endParaRPr>
          </a:p>
        </p:txBody>
      </p:sp>
      <p:graphicFrame>
        <p:nvGraphicFramePr>
          <p:cNvPr id="110808" name="Object 216"/>
          <p:cNvGraphicFramePr>
            <a:graphicFrameLocks noChangeAspect="1"/>
          </p:cNvGraphicFramePr>
          <p:nvPr/>
        </p:nvGraphicFramePr>
        <p:xfrm>
          <a:off x="1874838" y="5994400"/>
          <a:ext cx="184150" cy="301625"/>
        </p:xfrm>
        <a:graphic>
          <a:graphicData uri="http://schemas.openxmlformats.org/presentationml/2006/ole">
            <p:oleObj spid="_x0000_s28674" name="公式" r:id="rId4" imgW="101520" imgH="164880" progId="Equation.3">
              <p:embed/>
            </p:oleObj>
          </a:graphicData>
        </a:graphic>
      </p:graphicFrame>
      <p:graphicFrame>
        <p:nvGraphicFramePr>
          <p:cNvPr id="110809" name="Object 217"/>
          <p:cNvGraphicFramePr>
            <a:graphicFrameLocks/>
          </p:cNvGraphicFramePr>
          <p:nvPr/>
        </p:nvGraphicFramePr>
        <p:xfrm>
          <a:off x="2562225" y="6008688"/>
          <a:ext cx="709613" cy="320675"/>
        </p:xfrm>
        <a:graphic>
          <a:graphicData uri="http://schemas.openxmlformats.org/presentationml/2006/ole">
            <p:oleObj spid="_x0000_s28675" name="公式" r:id="rId5" imgW="393480" imgH="177480" progId="Equation.3">
              <p:embed/>
            </p:oleObj>
          </a:graphicData>
        </a:graphic>
      </p:graphicFrame>
      <p:grpSp>
        <p:nvGrpSpPr>
          <p:cNvPr id="2" name="Group 218"/>
          <p:cNvGrpSpPr>
            <a:grpSpLocks/>
          </p:cNvGrpSpPr>
          <p:nvPr/>
        </p:nvGrpSpPr>
        <p:grpSpPr bwMode="auto">
          <a:xfrm>
            <a:off x="1692275" y="4641850"/>
            <a:ext cx="438150" cy="1262063"/>
            <a:chOff x="2900" y="2979"/>
            <a:chExt cx="276" cy="795"/>
          </a:xfrm>
        </p:grpSpPr>
        <p:sp>
          <p:nvSpPr>
            <p:cNvPr id="28719" name="Line 219"/>
            <p:cNvSpPr>
              <a:spLocks noChangeShapeType="1"/>
            </p:cNvSpPr>
            <p:nvPr/>
          </p:nvSpPr>
          <p:spPr bwMode="auto">
            <a:xfrm>
              <a:off x="2900" y="2979"/>
              <a:ext cx="276" cy="0"/>
            </a:xfrm>
            <a:prstGeom prst="line">
              <a:avLst/>
            </a:prstGeom>
            <a:noFill/>
            <a:ln w="19050">
              <a:solidFill>
                <a:schemeClr val="tx2"/>
              </a:solidFill>
              <a:round/>
              <a:headEnd/>
              <a:tailEnd type="triangle" w="sm" len="lg"/>
            </a:ln>
          </p:spPr>
          <p:txBody>
            <a:bodyPr wrap="none" anchor="ctr"/>
            <a:lstStyle/>
            <a:p>
              <a:endParaRPr lang="zh-CN" altLang="en-US"/>
            </a:p>
          </p:txBody>
        </p:sp>
        <p:sp>
          <p:nvSpPr>
            <p:cNvPr id="28720" name="Line 220"/>
            <p:cNvSpPr>
              <a:spLocks noChangeShapeType="1"/>
            </p:cNvSpPr>
            <p:nvPr/>
          </p:nvSpPr>
          <p:spPr bwMode="auto">
            <a:xfrm>
              <a:off x="2900" y="3377"/>
              <a:ext cx="276" cy="0"/>
            </a:xfrm>
            <a:prstGeom prst="line">
              <a:avLst/>
            </a:prstGeom>
            <a:noFill/>
            <a:ln w="19050">
              <a:solidFill>
                <a:schemeClr val="tx2"/>
              </a:solidFill>
              <a:round/>
              <a:headEnd/>
              <a:tailEnd type="triangle" w="sm" len="lg"/>
            </a:ln>
          </p:spPr>
          <p:txBody>
            <a:bodyPr wrap="none" anchor="ctr"/>
            <a:lstStyle/>
            <a:p>
              <a:endParaRPr lang="zh-CN" altLang="en-US"/>
            </a:p>
          </p:txBody>
        </p:sp>
        <p:sp>
          <p:nvSpPr>
            <p:cNvPr id="28721" name="Line 221"/>
            <p:cNvSpPr>
              <a:spLocks noChangeShapeType="1"/>
            </p:cNvSpPr>
            <p:nvPr/>
          </p:nvSpPr>
          <p:spPr bwMode="auto">
            <a:xfrm>
              <a:off x="2900" y="3586"/>
              <a:ext cx="276" cy="0"/>
            </a:xfrm>
            <a:prstGeom prst="line">
              <a:avLst/>
            </a:prstGeom>
            <a:noFill/>
            <a:ln w="19050">
              <a:solidFill>
                <a:schemeClr val="tx2"/>
              </a:solidFill>
              <a:round/>
              <a:headEnd/>
              <a:tailEnd type="triangle" w="sm" len="lg"/>
            </a:ln>
          </p:spPr>
          <p:txBody>
            <a:bodyPr wrap="none" anchor="ctr"/>
            <a:lstStyle/>
            <a:p>
              <a:endParaRPr lang="zh-CN" altLang="en-US"/>
            </a:p>
          </p:txBody>
        </p:sp>
        <p:sp>
          <p:nvSpPr>
            <p:cNvPr id="28722" name="Line 222"/>
            <p:cNvSpPr>
              <a:spLocks noChangeShapeType="1"/>
            </p:cNvSpPr>
            <p:nvPr/>
          </p:nvSpPr>
          <p:spPr bwMode="auto">
            <a:xfrm>
              <a:off x="2900" y="3774"/>
              <a:ext cx="276" cy="0"/>
            </a:xfrm>
            <a:prstGeom prst="line">
              <a:avLst/>
            </a:prstGeom>
            <a:noFill/>
            <a:ln w="19050">
              <a:solidFill>
                <a:schemeClr val="tx2"/>
              </a:solidFill>
              <a:round/>
              <a:headEnd/>
              <a:tailEnd type="triangle" w="sm" len="lg"/>
            </a:ln>
          </p:spPr>
          <p:txBody>
            <a:bodyPr wrap="none" anchor="ctr"/>
            <a:lstStyle/>
            <a:p>
              <a:endParaRPr lang="zh-CN" altLang="en-US"/>
            </a:p>
          </p:txBody>
        </p:sp>
        <p:sp>
          <p:nvSpPr>
            <p:cNvPr id="28723" name="Line 223"/>
            <p:cNvSpPr>
              <a:spLocks noChangeShapeType="1"/>
            </p:cNvSpPr>
            <p:nvPr/>
          </p:nvSpPr>
          <p:spPr bwMode="auto">
            <a:xfrm>
              <a:off x="2900" y="3184"/>
              <a:ext cx="276" cy="0"/>
            </a:xfrm>
            <a:prstGeom prst="line">
              <a:avLst/>
            </a:prstGeom>
            <a:noFill/>
            <a:ln w="19050">
              <a:solidFill>
                <a:schemeClr val="tx2"/>
              </a:solidFill>
              <a:round/>
              <a:headEnd/>
              <a:tailEnd type="triangle" w="sm" len="lg"/>
            </a:ln>
          </p:spPr>
          <p:txBody>
            <a:bodyPr wrap="none" anchor="ctr"/>
            <a:lstStyle/>
            <a:p>
              <a:endParaRPr lang="zh-CN" altLang="en-US"/>
            </a:p>
          </p:txBody>
        </p:sp>
      </p:grpSp>
      <p:graphicFrame>
        <p:nvGraphicFramePr>
          <p:cNvPr id="110816" name="Object 224"/>
          <p:cNvGraphicFramePr>
            <a:graphicFrameLocks noChangeAspect="1"/>
          </p:cNvGraphicFramePr>
          <p:nvPr/>
        </p:nvGraphicFramePr>
        <p:xfrm>
          <a:off x="2635250" y="5010150"/>
          <a:ext cx="895350" cy="312738"/>
        </p:xfrm>
        <a:graphic>
          <a:graphicData uri="http://schemas.openxmlformats.org/presentationml/2006/ole">
            <p:oleObj spid="_x0000_s28676" name="公式" r:id="rId6" imgW="507960" imgH="177480" progId="Equation.3">
              <p:embed/>
            </p:oleObj>
          </a:graphicData>
        </a:graphic>
      </p:graphicFrame>
      <p:sp>
        <p:nvSpPr>
          <p:cNvPr id="110817" name="Line 225"/>
          <p:cNvSpPr>
            <a:spLocks noChangeShapeType="1"/>
          </p:cNvSpPr>
          <p:nvPr/>
        </p:nvSpPr>
        <p:spPr bwMode="auto">
          <a:xfrm>
            <a:off x="2149475" y="5246688"/>
            <a:ext cx="381000" cy="0"/>
          </a:xfrm>
          <a:prstGeom prst="line">
            <a:avLst/>
          </a:prstGeom>
          <a:noFill/>
          <a:ln w="28575">
            <a:solidFill>
              <a:schemeClr val="bg1"/>
            </a:solidFill>
            <a:round/>
            <a:headEnd/>
            <a:tailEnd type="triangle" w="sm" len="lg"/>
          </a:ln>
        </p:spPr>
        <p:txBody>
          <a:bodyPr wrap="none" anchor="ctr"/>
          <a:lstStyle/>
          <a:p>
            <a:endParaRPr lang="zh-CN" altLang="en-US"/>
          </a:p>
        </p:txBody>
      </p:sp>
      <p:sp>
        <p:nvSpPr>
          <p:cNvPr id="110818" name="Line 226"/>
          <p:cNvSpPr>
            <a:spLocks noChangeShapeType="1"/>
          </p:cNvSpPr>
          <p:nvPr/>
        </p:nvSpPr>
        <p:spPr bwMode="auto">
          <a:xfrm>
            <a:off x="2522538" y="4298950"/>
            <a:ext cx="0" cy="2047875"/>
          </a:xfrm>
          <a:prstGeom prst="line">
            <a:avLst/>
          </a:prstGeom>
          <a:noFill/>
          <a:ln w="38100">
            <a:solidFill>
              <a:srgbClr val="FF6600"/>
            </a:solidFill>
            <a:round/>
            <a:headEnd/>
            <a:tailEnd/>
          </a:ln>
        </p:spPr>
        <p:txBody>
          <a:bodyPr wrap="none" anchor="ctr"/>
          <a:lstStyle/>
          <a:p>
            <a:endParaRPr lang="zh-CN" altLang="en-US"/>
          </a:p>
        </p:txBody>
      </p:sp>
      <p:sp>
        <p:nvSpPr>
          <p:cNvPr id="110819" name="Line 227"/>
          <p:cNvSpPr>
            <a:spLocks noChangeShapeType="1"/>
          </p:cNvSpPr>
          <p:nvPr/>
        </p:nvSpPr>
        <p:spPr bwMode="auto">
          <a:xfrm>
            <a:off x="2166938" y="4298950"/>
            <a:ext cx="0" cy="2047875"/>
          </a:xfrm>
          <a:prstGeom prst="line">
            <a:avLst/>
          </a:prstGeom>
          <a:noFill/>
          <a:ln w="38100">
            <a:solidFill>
              <a:srgbClr val="FF6600"/>
            </a:solidFill>
            <a:round/>
            <a:headEnd/>
            <a:tailEnd/>
          </a:ln>
        </p:spPr>
        <p:txBody>
          <a:bodyPr wrap="none" anchor="ctr"/>
          <a:lstStyle/>
          <a:p>
            <a:endParaRPr lang="zh-CN" altLang="en-US"/>
          </a:p>
        </p:txBody>
      </p:sp>
      <p:grpSp>
        <p:nvGrpSpPr>
          <p:cNvPr id="3" name="Group 228"/>
          <p:cNvGrpSpPr>
            <a:grpSpLocks/>
          </p:cNvGrpSpPr>
          <p:nvPr/>
        </p:nvGrpSpPr>
        <p:grpSpPr bwMode="auto">
          <a:xfrm>
            <a:off x="2184400" y="4292600"/>
            <a:ext cx="328613" cy="2065338"/>
            <a:chOff x="2360" y="2744"/>
            <a:chExt cx="207" cy="1301"/>
          </a:xfrm>
        </p:grpSpPr>
        <p:sp>
          <p:nvSpPr>
            <p:cNvPr id="28712" name="Arc 229"/>
            <p:cNvSpPr>
              <a:spLocks/>
            </p:cNvSpPr>
            <p:nvPr/>
          </p:nvSpPr>
          <p:spPr bwMode="auto">
            <a:xfrm>
              <a:off x="2362" y="2744"/>
              <a:ext cx="204" cy="266"/>
            </a:xfrm>
            <a:custGeom>
              <a:avLst/>
              <a:gdLst>
                <a:gd name="T0" fmla="*/ 0 w 21987"/>
                <a:gd name="T1" fmla="*/ 0 h 28433"/>
                <a:gd name="T2" fmla="*/ 0 w 21987"/>
                <a:gd name="T3" fmla="*/ 0 h 28433"/>
                <a:gd name="T4" fmla="*/ 0 w 21987"/>
                <a:gd name="T5" fmla="*/ 0 h 28433"/>
                <a:gd name="T6" fmla="*/ 0 60000 65536"/>
                <a:gd name="T7" fmla="*/ 0 60000 65536"/>
                <a:gd name="T8" fmla="*/ 0 60000 65536"/>
                <a:gd name="T9" fmla="*/ 0 w 21987"/>
                <a:gd name="T10" fmla="*/ 0 h 28433"/>
                <a:gd name="T11" fmla="*/ 21987 w 21987"/>
                <a:gd name="T12" fmla="*/ 28433 h 28433"/>
              </a:gdLst>
              <a:ahLst/>
              <a:cxnLst>
                <a:cxn ang="T6">
                  <a:pos x="T0" y="T1"/>
                </a:cxn>
                <a:cxn ang="T7">
                  <a:pos x="T2" y="T3"/>
                </a:cxn>
                <a:cxn ang="T8">
                  <a:pos x="T4" y="T5"/>
                </a:cxn>
              </a:cxnLst>
              <a:rect l="T9" t="T10" r="T11" b="T12"/>
              <a:pathLst>
                <a:path w="21987" h="28433" fill="none" extrusionOk="0">
                  <a:moveTo>
                    <a:pt x="20877" y="0"/>
                  </a:moveTo>
                  <a:cubicBezTo>
                    <a:pt x="21612" y="2203"/>
                    <a:pt x="21987" y="4510"/>
                    <a:pt x="21987" y="6833"/>
                  </a:cubicBezTo>
                  <a:cubicBezTo>
                    <a:pt x="21987" y="18762"/>
                    <a:pt x="12316" y="28433"/>
                    <a:pt x="387" y="28433"/>
                  </a:cubicBezTo>
                  <a:cubicBezTo>
                    <a:pt x="257" y="28433"/>
                    <a:pt x="128" y="28431"/>
                    <a:pt x="0" y="28429"/>
                  </a:cubicBezTo>
                </a:path>
                <a:path w="21987" h="28433" stroke="0" extrusionOk="0">
                  <a:moveTo>
                    <a:pt x="20877" y="0"/>
                  </a:moveTo>
                  <a:cubicBezTo>
                    <a:pt x="21612" y="2203"/>
                    <a:pt x="21987" y="4510"/>
                    <a:pt x="21987" y="6833"/>
                  </a:cubicBezTo>
                  <a:cubicBezTo>
                    <a:pt x="21987" y="18762"/>
                    <a:pt x="12316" y="28433"/>
                    <a:pt x="387" y="28433"/>
                  </a:cubicBezTo>
                  <a:cubicBezTo>
                    <a:pt x="257" y="28433"/>
                    <a:pt x="128" y="28431"/>
                    <a:pt x="0" y="28429"/>
                  </a:cubicBezTo>
                  <a:lnTo>
                    <a:pt x="387" y="6833"/>
                  </a:lnTo>
                  <a:close/>
                </a:path>
              </a:pathLst>
            </a:custGeom>
            <a:noFill/>
            <a:ln w="19050">
              <a:solidFill>
                <a:schemeClr val="accent2"/>
              </a:solidFill>
              <a:round/>
              <a:headEnd/>
              <a:tailEnd/>
            </a:ln>
          </p:spPr>
          <p:txBody>
            <a:bodyPr wrap="none" anchor="ctr"/>
            <a:lstStyle/>
            <a:p>
              <a:endParaRPr lang="zh-CN" altLang="en-US"/>
            </a:p>
          </p:txBody>
        </p:sp>
        <p:sp>
          <p:nvSpPr>
            <p:cNvPr id="28713" name="Arc 230"/>
            <p:cNvSpPr>
              <a:spLocks/>
            </p:cNvSpPr>
            <p:nvPr/>
          </p:nvSpPr>
          <p:spPr bwMode="auto">
            <a:xfrm>
              <a:off x="2363" y="2786"/>
              <a:ext cx="204" cy="404"/>
            </a:xfrm>
            <a:custGeom>
              <a:avLst/>
              <a:gdLst>
                <a:gd name="T0" fmla="*/ 0 w 21987"/>
                <a:gd name="T1" fmla="*/ 0 h 43200"/>
                <a:gd name="T2" fmla="*/ 0 w 21987"/>
                <a:gd name="T3" fmla="*/ 0 h 43200"/>
                <a:gd name="T4" fmla="*/ 0 w 21987"/>
                <a:gd name="T5" fmla="*/ 0 h 43200"/>
                <a:gd name="T6" fmla="*/ 0 60000 65536"/>
                <a:gd name="T7" fmla="*/ 0 60000 65536"/>
                <a:gd name="T8" fmla="*/ 0 60000 65536"/>
                <a:gd name="T9" fmla="*/ 0 w 21987"/>
                <a:gd name="T10" fmla="*/ 0 h 43200"/>
                <a:gd name="T11" fmla="*/ 21987 w 21987"/>
                <a:gd name="T12" fmla="*/ 43200 h 43200"/>
              </a:gdLst>
              <a:ahLst/>
              <a:cxnLst>
                <a:cxn ang="T6">
                  <a:pos x="T0" y="T1"/>
                </a:cxn>
                <a:cxn ang="T7">
                  <a:pos x="T2" y="T3"/>
                </a:cxn>
                <a:cxn ang="T8">
                  <a:pos x="T4" y="T5"/>
                </a:cxn>
              </a:cxnLst>
              <a:rect l="T9" t="T10" r="T11" b="T12"/>
              <a:pathLst>
                <a:path w="21987" h="43200" fill="none" extrusionOk="0">
                  <a:moveTo>
                    <a:pt x="386" y="0"/>
                  </a:moveTo>
                  <a:cubicBezTo>
                    <a:pt x="12316" y="0"/>
                    <a:pt x="21987" y="9670"/>
                    <a:pt x="21987" y="21600"/>
                  </a:cubicBezTo>
                  <a:cubicBezTo>
                    <a:pt x="21987" y="33529"/>
                    <a:pt x="12316" y="43200"/>
                    <a:pt x="387" y="43200"/>
                  </a:cubicBezTo>
                  <a:cubicBezTo>
                    <a:pt x="257" y="43200"/>
                    <a:pt x="128" y="43198"/>
                    <a:pt x="0" y="43196"/>
                  </a:cubicBezTo>
                </a:path>
                <a:path w="21987" h="43200" stroke="0" extrusionOk="0">
                  <a:moveTo>
                    <a:pt x="386" y="0"/>
                  </a:moveTo>
                  <a:cubicBezTo>
                    <a:pt x="12316" y="0"/>
                    <a:pt x="21987" y="9670"/>
                    <a:pt x="21987" y="21600"/>
                  </a:cubicBezTo>
                  <a:cubicBezTo>
                    <a:pt x="21987" y="33529"/>
                    <a:pt x="12316" y="43200"/>
                    <a:pt x="387" y="43200"/>
                  </a:cubicBezTo>
                  <a:cubicBezTo>
                    <a:pt x="257" y="43200"/>
                    <a:pt x="128" y="43198"/>
                    <a:pt x="0" y="43196"/>
                  </a:cubicBezTo>
                  <a:lnTo>
                    <a:pt x="387" y="21600"/>
                  </a:lnTo>
                  <a:close/>
                </a:path>
              </a:pathLst>
            </a:custGeom>
            <a:noFill/>
            <a:ln w="19050">
              <a:solidFill>
                <a:schemeClr val="accent2"/>
              </a:solidFill>
              <a:round/>
              <a:headEnd/>
              <a:tailEnd/>
            </a:ln>
          </p:spPr>
          <p:txBody>
            <a:bodyPr wrap="none" anchor="ctr"/>
            <a:lstStyle/>
            <a:p>
              <a:endParaRPr lang="zh-CN" altLang="en-US"/>
            </a:p>
          </p:txBody>
        </p:sp>
        <p:sp>
          <p:nvSpPr>
            <p:cNvPr id="28714" name="Arc 231"/>
            <p:cNvSpPr>
              <a:spLocks/>
            </p:cNvSpPr>
            <p:nvPr/>
          </p:nvSpPr>
          <p:spPr bwMode="auto">
            <a:xfrm>
              <a:off x="2362" y="3012"/>
              <a:ext cx="204" cy="404"/>
            </a:xfrm>
            <a:custGeom>
              <a:avLst/>
              <a:gdLst>
                <a:gd name="T0" fmla="*/ 0 w 21987"/>
                <a:gd name="T1" fmla="*/ 0 h 43200"/>
                <a:gd name="T2" fmla="*/ 0 w 21987"/>
                <a:gd name="T3" fmla="*/ 0 h 43200"/>
                <a:gd name="T4" fmla="*/ 0 w 21987"/>
                <a:gd name="T5" fmla="*/ 0 h 43200"/>
                <a:gd name="T6" fmla="*/ 0 60000 65536"/>
                <a:gd name="T7" fmla="*/ 0 60000 65536"/>
                <a:gd name="T8" fmla="*/ 0 60000 65536"/>
                <a:gd name="T9" fmla="*/ 0 w 21987"/>
                <a:gd name="T10" fmla="*/ 0 h 43200"/>
                <a:gd name="T11" fmla="*/ 21987 w 21987"/>
                <a:gd name="T12" fmla="*/ 43200 h 43200"/>
              </a:gdLst>
              <a:ahLst/>
              <a:cxnLst>
                <a:cxn ang="T6">
                  <a:pos x="T0" y="T1"/>
                </a:cxn>
                <a:cxn ang="T7">
                  <a:pos x="T2" y="T3"/>
                </a:cxn>
                <a:cxn ang="T8">
                  <a:pos x="T4" y="T5"/>
                </a:cxn>
              </a:cxnLst>
              <a:rect l="T9" t="T10" r="T11" b="T12"/>
              <a:pathLst>
                <a:path w="21987" h="43200" fill="none" extrusionOk="0">
                  <a:moveTo>
                    <a:pt x="386" y="0"/>
                  </a:moveTo>
                  <a:cubicBezTo>
                    <a:pt x="12316" y="0"/>
                    <a:pt x="21987" y="9670"/>
                    <a:pt x="21987" y="21600"/>
                  </a:cubicBezTo>
                  <a:cubicBezTo>
                    <a:pt x="21987" y="33529"/>
                    <a:pt x="12316" y="43200"/>
                    <a:pt x="387" y="43200"/>
                  </a:cubicBezTo>
                  <a:cubicBezTo>
                    <a:pt x="257" y="43200"/>
                    <a:pt x="128" y="43198"/>
                    <a:pt x="0" y="43196"/>
                  </a:cubicBezTo>
                </a:path>
                <a:path w="21987" h="43200" stroke="0" extrusionOk="0">
                  <a:moveTo>
                    <a:pt x="386" y="0"/>
                  </a:moveTo>
                  <a:cubicBezTo>
                    <a:pt x="12316" y="0"/>
                    <a:pt x="21987" y="9670"/>
                    <a:pt x="21987" y="21600"/>
                  </a:cubicBezTo>
                  <a:cubicBezTo>
                    <a:pt x="21987" y="33529"/>
                    <a:pt x="12316" y="43200"/>
                    <a:pt x="387" y="43200"/>
                  </a:cubicBezTo>
                  <a:cubicBezTo>
                    <a:pt x="257" y="43200"/>
                    <a:pt x="128" y="43198"/>
                    <a:pt x="0" y="43196"/>
                  </a:cubicBezTo>
                  <a:lnTo>
                    <a:pt x="387" y="21600"/>
                  </a:lnTo>
                  <a:close/>
                </a:path>
              </a:pathLst>
            </a:custGeom>
            <a:noFill/>
            <a:ln w="19050">
              <a:solidFill>
                <a:schemeClr val="accent2"/>
              </a:solidFill>
              <a:round/>
              <a:headEnd/>
              <a:tailEnd/>
            </a:ln>
          </p:spPr>
          <p:txBody>
            <a:bodyPr wrap="none" anchor="ctr"/>
            <a:lstStyle/>
            <a:p>
              <a:endParaRPr lang="zh-CN" altLang="en-US"/>
            </a:p>
          </p:txBody>
        </p:sp>
        <p:sp>
          <p:nvSpPr>
            <p:cNvPr id="28715" name="Arc 232"/>
            <p:cNvSpPr>
              <a:spLocks/>
            </p:cNvSpPr>
            <p:nvPr/>
          </p:nvSpPr>
          <p:spPr bwMode="auto">
            <a:xfrm>
              <a:off x="2362" y="3188"/>
              <a:ext cx="204" cy="404"/>
            </a:xfrm>
            <a:custGeom>
              <a:avLst/>
              <a:gdLst>
                <a:gd name="T0" fmla="*/ 0 w 21987"/>
                <a:gd name="T1" fmla="*/ 0 h 43200"/>
                <a:gd name="T2" fmla="*/ 0 w 21987"/>
                <a:gd name="T3" fmla="*/ 0 h 43200"/>
                <a:gd name="T4" fmla="*/ 0 w 21987"/>
                <a:gd name="T5" fmla="*/ 0 h 43200"/>
                <a:gd name="T6" fmla="*/ 0 60000 65536"/>
                <a:gd name="T7" fmla="*/ 0 60000 65536"/>
                <a:gd name="T8" fmla="*/ 0 60000 65536"/>
                <a:gd name="T9" fmla="*/ 0 w 21987"/>
                <a:gd name="T10" fmla="*/ 0 h 43200"/>
                <a:gd name="T11" fmla="*/ 21987 w 21987"/>
                <a:gd name="T12" fmla="*/ 43200 h 43200"/>
              </a:gdLst>
              <a:ahLst/>
              <a:cxnLst>
                <a:cxn ang="T6">
                  <a:pos x="T0" y="T1"/>
                </a:cxn>
                <a:cxn ang="T7">
                  <a:pos x="T2" y="T3"/>
                </a:cxn>
                <a:cxn ang="T8">
                  <a:pos x="T4" y="T5"/>
                </a:cxn>
              </a:cxnLst>
              <a:rect l="T9" t="T10" r="T11" b="T12"/>
              <a:pathLst>
                <a:path w="21987" h="43200" fill="none" extrusionOk="0">
                  <a:moveTo>
                    <a:pt x="386" y="0"/>
                  </a:moveTo>
                  <a:cubicBezTo>
                    <a:pt x="12316" y="0"/>
                    <a:pt x="21987" y="9670"/>
                    <a:pt x="21987" y="21600"/>
                  </a:cubicBezTo>
                  <a:cubicBezTo>
                    <a:pt x="21987" y="33529"/>
                    <a:pt x="12316" y="43200"/>
                    <a:pt x="387" y="43200"/>
                  </a:cubicBezTo>
                  <a:cubicBezTo>
                    <a:pt x="257" y="43200"/>
                    <a:pt x="128" y="43198"/>
                    <a:pt x="0" y="43196"/>
                  </a:cubicBezTo>
                </a:path>
                <a:path w="21987" h="43200" stroke="0" extrusionOk="0">
                  <a:moveTo>
                    <a:pt x="386" y="0"/>
                  </a:moveTo>
                  <a:cubicBezTo>
                    <a:pt x="12316" y="0"/>
                    <a:pt x="21987" y="9670"/>
                    <a:pt x="21987" y="21600"/>
                  </a:cubicBezTo>
                  <a:cubicBezTo>
                    <a:pt x="21987" y="33529"/>
                    <a:pt x="12316" y="43200"/>
                    <a:pt x="387" y="43200"/>
                  </a:cubicBezTo>
                  <a:cubicBezTo>
                    <a:pt x="257" y="43200"/>
                    <a:pt x="128" y="43198"/>
                    <a:pt x="0" y="43196"/>
                  </a:cubicBezTo>
                  <a:lnTo>
                    <a:pt x="387" y="21600"/>
                  </a:lnTo>
                  <a:close/>
                </a:path>
              </a:pathLst>
            </a:custGeom>
            <a:noFill/>
            <a:ln w="19050">
              <a:solidFill>
                <a:schemeClr val="accent2"/>
              </a:solidFill>
              <a:round/>
              <a:headEnd/>
              <a:tailEnd/>
            </a:ln>
          </p:spPr>
          <p:txBody>
            <a:bodyPr wrap="none" anchor="ctr"/>
            <a:lstStyle/>
            <a:p>
              <a:endParaRPr lang="zh-CN" altLang="en-US"/>
            </a:p>
          </p:txBody>
        </p:sp>
        <p:sp>
          <p:nvSpPr>
            <p:cNvPr id="28716" name="Arc 233"/>
            <p:cNvSpPr>
              <a:spLocks/>
            </p:cNvSpPr>
            <p:nvPr/>
          </p:nvSpPr>
          <p:spPr bwMode="auto">
            <a:xfrm>
              <a:off x="2363" y="3415"/>
              <a:ext cx="204" cy="404"/>
            </a:xfrm>
            <a:custGeom>
              <a:avLst/>
              <a:gdLst>
                <a:gd name="T0" fmla="*/ 0 w 21987"/>
                <a:gd name="T1" fmla="*/ 0 h 43200"/>
                <a:gd name="T2" fmla="*/ 0 w 21987"/>
                <a:gd name="T3" fmla="*/ 0 h 43200"/>
                <a:gd name="T4" fmla="*/ 0 w 21987"/>
                <a:gd name="T5" fmla="*/ 0 h 43200"/>
                <a:gd name="T6" fmla="*/ 0 60000 65536"/>
                <a:gd name="T7" fmla="*/ 0 60000 65536"/>
                <a:gd name="T8" fmla="*/ 0 60000 65536"/>
                <a:gd name="T9" fmla="*/ 0 w 21987"/>
                <a:gd name="T10" fmla="*/ 0 h 43200"/>
                <a:gd name="T11" fmla="*/ 21987 w 21987"/>
                <a:gd name="T12" fmla="*/ 43200 h 43200"/>
              </a:gdLst>
              <a:ahLst/>
              <a:cxnLst>
                <a:cxn ang="T6">
                  <a:pos x="T0" y="T1"/>
                </a:cxn>
                <a:cxn ang="T7">
                  <a:pos x="T2" y="T3"/>
                </a:cxn>
                <a:cxn ang="T8">
                  <a:pos x="T4" y="T5"/>
                </a:cxn>
              </a:cxnLst>
              <a:rect l="T9" t="T10" r="T11" b="T12"/>
              <a:pathLst>
                <a:path w="21987" h="43200" fill="none" extrusionOk="0">
                  <a:moveTo>
                    <a:pt x="386" y="0"/>
                  </a:moveTo>
                  <a:cubicBezTo>
                    <a:pt x="12316" y="0"/>
                    <a:pt x="21987" y="9670"/>
                    <a:pt x="21987" y="21600"/>
                  </a:cubicBezTo>
                  <a:cubicBezTo>
                    <a:pt x="21987" y="33529"/>
                    <a:pt x="12316" y="43200"/>
                    <a:pt x="387" y="43200"/>
                  </a:cubicBezTo>
                  <a:cubicBezTo>
                    <a:pt x="257" y="43200"/>
                    <a:pt x="128" y="43198"/>
                    <a:pt x="0" y="43196"/>
                  </a:cubicBezTo>
                </a:path>
                <a:path w="21987" h="43200" stroke="0" extrusionOk="0">
                  <a:moveTo>
                    <a:pt x="386" y="0"/>
                  </a:moveTo>
                  <a:cubicBezTo>
                    <a:pt x="12316" y="0"/>
                    <a:pt x="21987" y="9670"/>
                    <a:pt x="21987" y="21600"/>
                  </a:cubicBezTo>
                  <a:cubicBezTo>
                    <a:pt x="21987" y="33529"/>
                    <a:pt x="12316" y="43200"/>
                    <a:pt x="387" y="43200"/>
                  </a:cubicBezTo>
                  <a:cubicBezTo>
                    <a:pt x="257" y="43200"/>
                    <a:pt x="128" y="43198"/>
                    <a:pt x="0" y="43196"/>
                  </a:cubicBezTo>
                  <a:lnTo>
                    <a:pt x="387" y="21600"/>
                  </a:lnTo>
                  <a:close/>
                </a:path>
              </a:pathLst>
            </a:custGeom>
            <a:noFill/>
            <a:ln w="19050">
              <a:solidFill>
                <a:schemeClr val="accent2"/>
              </a:solidFill>
              <a:round/>
              <a:headEnd/>
              <a:tailEnd/>
            </a:ln>
          </p:spPr>
          <p:txBody>
            <a:bodyPr wrap="none" anchor="ctr"/>
            <a:lstStyle/>
            <a:p>
              <a:endParaRPr lang="zh-CN" altLang="en-US"/>
            </a:p>
          </p:txBody>
        </p:sp>
        <p:sp>
          <p:nvSpPr>
            <p:cNvPr id="28717" name="Arc 234"/>
            <p:cNvSpPr>
              <a:spLocks/>
            </p:cNvSpPr>
            <p:nvPr/>
          </p:nvSpPr>
          <p:spPr bwMode="auto">
            <a:xfrm>
              <a:off x="2360" y="3593"/>
              <a:ext cx="204" cy="404"/>
            </a:xfrm>
            <a:custGeom>
              <a:avLst/>
              <a:gdLst>
                <a:gd name="T0" fmla="*/ 0 w 21987"/>
                <a:gd name="T1" fmla="*/ 0 h 43200"/>
                <a:gd name="T2" fmla="*/ 0 w 21987"/>
                <a:gd name="T3" fmla="*/ 0 h 43200"/>
                <a:gd name="T4" fmla="*/ 0 w 21987"/>
                <a:gd name="T5" fmla="*/ 0 h 43200"/>
                <a:gd name="T6" fmla="*/ 0 60000 65536"/>
                <a:gd name="T7" fmla="*/ 0 60000 65536"/>
                <a:gd name="T8" fmla="*/ 0 60000 65536"/>
                <a:gd name="T9" fmla="*/ 0 w 21987"/>
                <a:gd name="T10" fmla="*/ 0 h 43200"/>
                <a:gd name="T11" fmla="*/ 21987 w 21987"/>
                <a:gd name="T12" fmla="*/ 43200 h 43200"/>
              </a:gdLst>
              <a:ahLst/>
              <a:cxnLst>
                <a:cxn ang="T6">
                  <a:pos x="T0" y="T1"/>
                </a:cxn>
                <a:cxn ang="T7">
                  <a:pos x="T2" y="T3"/>
                </a:cxn>
                <a:cxn ang="T8">
                  <a:pos x="T4" y="T5"/>
                </a:cxn>
              </a:cxnLst>
              <a:rect l="T9" t="T10" r="T11" b="T12"/>
              <a:pathLst>
                <a:path w="21987" h="43200" fill="none" extrusionOk="0">
                  <a:moveTo>
                    <a:pt x="386" y="0"/>
                  </a:moveTo>
                  <a:cubicBezTo>
                    <a:pt x="12316" y="0"/>
                    <a:pt x="21987" y="9670"/>
                    <a:pt x="21987" y="21600"/>
                  </a:cubicBezTo>
                  <a:cubicBezTo>
                    <a:pt x="21987" y="33529"/>
                    <a:pt x="12316" y="43200"/>
                    <a:pt x="387" y="43200"/>
                  </a:cubicBezTo>
                  <a:cubicBezTo>
                    <a:pt x="257" y="43200"/>
                    <a:pt x="128" y="43198"/>
                    <a:pt x="0" y="43196"/>
                  </a:cubicBezTo>
                </a:path>
                <a:path w="21987" h="43200" stroke="0" extrusionOk="0">
                  <a:moveTo>
                    <a:pt x="386" y="0"/>
                  </a:moveTo>
                  <a:cubicBezTo>
                    <a:pt x="12316" y="0"/>
                    <a:pt x="21987" y="9670"/>
                    <a:pt x="21987" y="21600"/>
                  </a:cubicBezTo>
                  <a:cubicBezTo>
                    <a:pt x="21987" y="33529"/>
                    <a:pt x="12316" y="43200"/>
                    <a:pt x="387" y="43200"/>
                  </a:cubicBezTo>
                  <a:cubicBezTo>
                    <a:pt x="257" y="43200"/>
                    <a:pt x="128" y="43198"/>
                    <a:pt x="0" y="43196"/>
                  </a:cubicBezTo>
                  <a:lnTo>
                    <a:pt x="387" y="21600"/>
                  </a:lnTo>
                  <a:close/>
                </a:path>
              </a:pathLst>
            </a:custGeom>
            <a:noFill/>
            <a:ln w="19050">
              <a:solidFill>
                <a:schemeClr val="accent2"/>
              </a:solidFill>
              <a:round/>
              <a:headEnd/>
              <a:tailEnd/>
            </a:ln>
          </p:spPr>
          <p:txBody>
            <a:bodyPr wrap="none" anchor="ctr"/>
            <a:lstStyle/>
            <a:p>
              <a:endParaRPr lang="zh-CN" altLang="en-US"/>
            </a:p>
          </p:txBody>
        </p:sp>
        <p:sp>
          <p:nvSpPr>
            <p:cNvPr id="28718" name="Arc 235"/>
            <p:cNvSpPr>
              <a:spLocks/>
            </p:cNvSpPr>
            <p:nvPr/>
          </p:nvSpPr>
          <p:spPr bwMode="auto">
            <a:xfrm>
              <a:off x="2364" y="3816"/>
              <a:ext cx="200" cy="229"/>
            </a:xfrm>
            <a:custGeom>
              <a:avLst/>
              <a:gdLst>
                <a:gd name="T0" fmla="*/ 0 w 21600"/>
                <a:gd name="T1" fmla="*/ 0 h 24523"/>
                <a:gd name="T2" fmla="*/ 0 w 21600"/>
                <a:gd name="T3" fmla="*/ 0 h 24523"/>
                <a:gd name="T4" fmla="*/ 0 w 21600"/>
                <a:gd name="T5" fmla="*/ 0 h 24523"/>
                <a:gd name="T6" fmla="*/ 0 60000 65536"/>
                <a:gd name="T7" fmla="*/ 0 60000 65536"/>
                <a:gd name="T8" fmla="*/ 0 60000 65536"/>
                <a:gd name="T9" fmla="*/ 0 w 21600"/>
                <a:gd name="T10" fmla="*/ 0 h 24523"/>
                <a:gd name="T11" fmla="*/ 21600 w 21600"/>
                <a:gd name="T12" fmla="*/ 24523 h 24523"/>
              </a:gdLst>
              <a:ahLst/>
              <a:cxnLst>
                <a:cxn ang="T6">
                  <a:pos x="T0" y="T1"/>
                </a:cxn>
                <a:cxn ang="T7">
                  <a:pos x="T2" y="T3"/>
                </a:cxn>
                <a:cxn ang="T8">
                  <a:pos x="T4" y="T5"/>
                </a:cxn>
              </a:cxnLst>
              <a:rect l="T9" t="T10" r="T11" b="T12"/>
              <a:pathLst>
                <a:path w="21600" h="24523" fill="none" extrusionOk="0">
                  <a:moveTo>
                    <a:pt x="-1" y="0"/>
                  </a:moveTo>
                  <a:cubicBezTo>
                    <a:pt x="11929" y="0"/>
                    <a:pt x="21600" y="9670"/>
                    <a:pt x="21600" y="21600"/>
                  </a:cubicBezTo>
                  <a:cubicBezTo>
                    <a:pt x="21600" y="22577"/>
                    <a:pt x="21533" y="23554"/>
                    <a:pt x="21401" y="24523"/>
                  </a:cubicBezTo>
                </a:path>
                <a:path w="21600" h="24523" stroke="0" extrusionOk="0">
                  <a:moveTo>
                    <a:pt x="-1" y="0"/>
                  </a:moveTo>
                  <a:cubicBezTo>
                    <a:pt x="11929" y="0"/>
                    <a:pt x="21600" y="9670"/>
                    <a:pt x="21600" y="21600"/>
                  </a:cubicBezTo>
                  <a:cubicBezTo>
                    <a:pt x="21600" y="22577"/>
                    <a:pt x="21533" y="23554"/>
                    <a:pt x="21401" y="24523"/>
                  </a:cubicBezTo>
                  <a:lnTo>
                    <a:pt x="0" y="21600"/>
                  </a:lnTo>
                  <a:close/>
                </a:path>
              </a:pathLst>
            </a:custGeom>
            <a:noFill/>
            <a:ln w="19050">
              <a:solidFill>
                <a:schemeClr val="accent2"/>
              </a:solidFill>
              <a:round/>
              <a:headEnd/>
              <a:tailEnd/>
            </a:ln>
          </p:spPr>
          <p:txBody>
            <a:bodyPr wrap="none" anchor="ctr"/>
            <a:lstStyle/>
            <a:p>
              <a:endParaRPr lang="zh-CN" altLang="en-US"/>
            </a:p>
          </p:txBody>
        </p:sp>
      </p:grpSp>
      <p:graphicFrame>
        <p:nvGraphicFramePr>
          <p:cNvPr id="110828" name="Object 236"/>
          <p:cNvGraphicFramePr>
            <a:graphicFrameLocks noChangeAspect="1"/>
          </p:cNvGraphicFramePr>
          <p:nvPr/>
        </p:nvGraphicFramePr>
        <p:xfrm>
          <a:off x="1752600" y="4225925"/>
          <a:ext cx="341313" cy="388938"/>
        </p:xfrm>
        <a:graphic>
          <a:graphicData uri="http://schemas.openxmlformats.org/presentationml/2006/ole">
            <p:oleObj spid="_x0000_s28677" name="公式" r:id="rId7" imgW="190440" imgH="215640" progId="Equation.3">
              <p:embed/>
            </p:oleObj>
          </a:graphicData>
        </a:graphic>
      </p:graphicFrame>
      <p:graphicFrame>
        <p:nvGraphicFramePr>
          <p:cNvPr id="110829" name="Object 237"/>
          <p:cNvGraphicFramePr>
            <a:graphicFrameLocks/>
          </p:cNvGraphicFramePr>
          <p:nvPr/>
        </p:nvGraphicFramePr>
        <p:xfrm>
          <a:off x="2598738" y="4195763"/>
          <a:ext cx="341312" cy="388937"/>
        </p:xfrm>
        <a:graphic>
          <a:graphicData uri="http://schemas.openxmlformats.org/presentationml/2006/ole">
            <p:oleObj spid="_x0000_s28678" name="公式" r:id="rId8" imgW="190440" imgH="215640" progId="Equation.3">
              <p:embed/>
            </p:oleObj>
          </a:graphicData>
        </a:graphic>
      </p:graphicFrame>
      <p:sp>
        <p:nvSpPr>
          <p:cNvPr id="110831" name="Text Box 239"/>
          <p:cNvSpPr txBox="1">
            <a:spLocks noChangeArrowheads="1"/>
          </p:cNvSpPr>
          <p:nvPr/>
        </p:nvSpPr>
        <p:spPr bwMode="auto">
          <a:xfrm>
            <a:off x="5629275" y="5294313"/>
            <a:ext cx="633413" cy="457200"/>
          </a:xfrm>
          <a:prstGeom prst="rect">
            <a:avLst/>
          </a:prstGeom>
          <a:noFill/>
          <a:ln w="9525">
            <a:noFill/>
            <a:miter lim="800000"/>
            <a:headEnd/>
            <a:tailEnd/>
          </a:ln>
        </p:spPr>
        <p:txBody>
          <a:bodyPr>
            <a:spAutoFit/>
          </a:bodyPr>
          <a:lstStyle/>
          <a:p>
            <a:pPr algn="ctr">
              <a:lnSpc>
                <a:spcPct val="120000"/>
              </a:lnSpc>
            </a:pPr>
            <a:r>
              <a:rPr kumimoji="0" lang="en-US" altLang="zh-CN" sz="2000" b="1" i="1"/>
              <a:t>R</a:t>
            </a:r>
            <a:r>
              <a:rPr kumimoji="0" lang="en-US" altLang="zh-CN" sz="2000" b="1" baseline="-25000"/>
              <a:t>1</a:t>
            </a:r>
            <a:endParaRPr kumimoji="0" lang="en-US" altLang="zh-CN" sz="2000"/>
          </a:p>
        </p:txBody>
      </p:sp>
      <p:sp>
        <p:nvSpPr>
          <p:cNvPr id="110832" name="Text Box 240"/>
          <p:cNvSpPr txBox="1">
            <a:spLocks noChangeArrowheads="1"/>
          </p:cNvSpPr>
          <p:nvPr/>
        </p:nvSpPr>
        <p:spPr bwMode="auto">
          <a:xfrm>
            <a:off x="6397625" y="5241925"/>
            <a:ext cx="528638" cy="457200"/>
          </a:xfrm>
          <a:prstGeom prst="rect">
            <a:avLst/>
          </a:prstGeom>
          <a:noFill/>
          <a:ln w="9525">
            <a:noFill/>
            <a:miter lim="800000"/>
            <a:headEnd/>
            <a:tailEnd/>
          </a:ln>
        </p:spPr>
        <p:txBody>
          <a:bodyPr>
            <a:spAutoFit/>
          </a:bodyPr>
          <a:lstStyle/>
          <a:p>
            <a:pPr algn="ctr">
              <a:lnSpc>
                <a:spcPct val="120000"/>
              </a:lnSpc>
            </a:pPr>
            <a:r>
              <a:rPr kumimoji="0" lang="en-US" altLang="zh-CN" sz="2000" b="1" i="1"/>
              <a:t>R</a:t>
            </a:r>
            <a:r>
              <a:rPr kumimoji="0" lang="en-US" altLang="zh-CN" sz="2000" b="1" baseline="-25000"/>
              <a:t>2</a:t>
            </a:r>
            <a:endParaRPr kumimoji="0" lang="en-US" altLang="zh-CN" sz="2000"/>
          </a:p>
        </p:txBody>
      </p:sp>
      <p:sp>
        <p:nvSpPr>
          <p:cNvPr id="110833" name="Text Box 241"/>
          <p:cNvSpPr txBox="1">
            <a:spLocks noChangeArrowheads="1"/>
          </p:cNvSpPr>
          <p:nvPr/>
        </p:nvSpPr>
        <p:spPr bwMode="auto">
          <a:xfrm>
            <a:off x="5745163" y="4664075"/>
            <a:ext cx="515937" cy="457200"/>
          </a:xfrm>
          <a:prstGeom prst="rect">
            <a:avLst/>
          </a:prstGeom>
          <a:noFill/>
          <a:ln w="9525">
            <a:noFill/>
            <a:miter lim="800000"/>
            <a:headEnd/>
            <a:tailEnd/>
          </a:ln>
        </p:spPr>
        <p:txBody>
          <a:bodyPr>
            <a:spAutoFit/>
          </a:bodyPr>
          <a:lstStyle/>
          <a:p>
            <a:pPr algn="ctr">
              <a:lnSpc>
                <a:spcPct val="120000"/>
              </a:lnSpc>
            </a:pPr>
            <a:r>
              <a:rPr kumimoji="0" lang="en-US" altLang="zh-CN" sz="2000" b="1" i="1"/>
              <a:t>S</a:t>
            </a:r>
            <a:r>
              <a:rPr kumimoji="0" lang="en-US" altLang="zh-CN" sz="2000" b="1" baseline="-25000"/>
              <a:t>1</a:t>
            </a:r>
            <a:endParaRPr kumimoji="0" lang="en-US" altLang="zh-CN" sz="2000"/>
          </a:p>
        </p:txBody>
      </p:sp>
      <p:sp>
        <p:nvSpPr>
          <p:cNvPr id="110834" name="Text Box 242"/>
          <p:cNvSpPr txBox="1">
            <a:spLocks noChangeArrowheads="1"/>
          </p:cNvSpPr>
          <p:nvPr/>
        </p:nvSpPr>
        <p:spPr bwMode="auto">
          <a:xfrm>
            <a:off x="6518275" y="4187825"/>
            <a:ext cx="646113" cy="457200"/>
          </a:xfrm>
          <a:prstGeom prst="rect">
            <a:avLst/>
          </a:prstGeom>
          <a:noFill/>
          <a:ln w="9525">
            <a:noFill/>
            <a:miter lim="800000"/>
            <a:headEnd/>
            <a:tailEnd/>
          </a:ln>
        </p:spPr>
        <p:txBody>
          <a:bodyPr>
            <a:spAutoFit/>
          </a:bodyPr>
          <a:lstStyle/>
          <a:p>
            <a:pPr algn="ctr">
              <a:lnSpc>
                <a:spcPct val="120000"/>
              </a:lnSpc>
            </a:pPr>
            <a:r>
              <a:rPr kumimoji="0" lang="en-US" altLang="zh-CN" sz="2000" b="1" i="1"/>
              <a:t>S</a:t>
            </a:r>
            <a:r>
              <a:rPr kumimoji="0" lang="en-US" altLang="zh-CN" sz="2000" b="1" baseline="-25000"/>
              <a:t>2</a:t>
            </a:r>
            <a:endParaRPr kumimoji="0" lang="en-US" altLang="zh-CN" sz="2000"/>
          </a:p>
        </p:txBody>
      </p:sp>
      <p:sp>
        <p:nvSpPr>
          <p:cNvPr id="110835" name="Text Box 243"/>
          <p:cNvSpPr txBox="1">
            <a:spLocks noChangeArrowheads="1"/>
          </p:cNvSpPr>
          <p:nvPr/>
        </p:nvSpPr>
        <p:spPr bwMode="auto">
          <a:xfrm>
            <a:off x="5435600" y="5053013"/>
            <a:ext cx="561975" cy="457200"/>
          </a:xfrm>
          <a:prstGeom prst="rect">
            <a:avLst/>
          </a:prstGeom>
          <a:noFill/>
          <a:ln w="9525">
            <a:noFill/>
            <a:miter lim="800000"/>
            <a:headEnd/>
            <a:tailEnd/>
          </a:ln>
        </p:spPr>
        <p:txBody>
          <a:bodyPr>
            <a:spAutoFit/>
          </a:bodyPr>
          <a:lstStyle/>
          <a:p>
            <a:pPr algn="ctr">
              <a:lnSpc>
                <a:spcPct val="120000"/>
              </a:lnSpc>
            </a:pPr>
            <a:r>
              <a:rPr kumimoji="0" lang="en-US" altLang="zh-CN" sz="2000" b="1" i="1"/>
              <a:t>O</a:t>
            </a:r>
            <a:endParaRPr kumimoji="0" lang="en-US" altLang="zh-CN" sz="2000"/>
          </a:p>
        </p:txBody>
      </p:sp>
      <p:sp>
        <p:nvSpPr>
          <p:cNvPr id="110836" name="Oval 244"/>
          <p:cNvSpPr>
            <a:spLocks noChangeArrowheads="1"/>
          </p:cNvSpPr>
          <p:nvPr/>
        </p:nvSpPr>
        <p:spPr bwMode="auto">
          <a:xfrm>
            <a:off x="5395913" y="4775200"/>
            <a:ext cx="1006475" cy="1004888"/>
          </a:xfrm>
          <a:prstGeom prst="ellipse">
            <a:avLst/>
          </a:prstGeom>
          <a:noFill/>
          <a:ln w="38100">
            <a:solidFill>
              <a:srgbClr val="9900CC"/>
            </a:solidFill>
            <a:round/>
            <a:headEnd/>
            <a:tailEnd/>
          </a:ln>
        </p:spPr>
        <p:txBody>
          <a:bodyPr wrap="none" anchor="ctr"/>
          <a:lstStyle/>
          <a:p>
            <a:endParaRPr lang="zh-CN" altLang="en-US"/>
          </a:p>
        </p:txBody>
      </p:sp>
      <p:sp>
        <p:nvSpPr>
          <p:cNvPr id="110837" name="Oval 245"/>
          <p:cNvSpPr>
            <a:spLocks noChangeArrowheads="1"/>
          </p:cNvSpPr>
          <p:nvPr/>
        </p:nvSpPr>
        <p:spPr bwMode="auto">
          <a:xfrm>
            <a:off x="4787900" y="4187825"/>
            <a:ext cx="2190750" cy="2190750"/>
          </a:xfrm>
          <a:prstGeom prst="ellipse">
            <a:avLst/>
          </a:prstGeom>
          <a:noFill/>
          <a:ln w="38100">
            <a:solidFill>
              <a:srgbClr val="9900CC"/>
            </a:solidFill>
            <a:round/>
            <a:headEnd/>
            <a:tailEnd/>
          </a:ln>
        </p:spPr>
        <p:txBody>
          <a:bodyPr wrap="none" anchor="ctr"/>
          <a:lstStyle/>
          <a:p>
            <a:endParaRPr lang="zh-CN" altLang="en-US"/>
          </a:p>
        </p:txBody>
      </p:sp>
      <p:sp>
        <p:nvSpPr>
          <p:cNvPr id="110838" name="Line 246"/>
          <p:cNvSpPr>
            <a:spLocks noChangeShapeType="1"/>
          </p:cNvSpPr>
          <p:nvPr/>
        </p:nvSpPr>
        <p:spPr bwMode="auto">
          <a:xfrm>
            <a:off x="5897563" y="5297488"/>
            <a:ext cx="287337" cy="358775"/>
          </a:xfrm>
          <a:prstGeom prst="line">
            <a:avLst/>
          </a:prstGeom>
          <a:noFill/>
          <a:ln w="28575">
            <a:solidFill>
              <a:schemeClr val="tx2"/>
            </a:solidFill>
            <a:round/>
            <a:headEnd/>
            <a:tailEnd type="triangle" w="sm" len="lg"/>
          </a:ln>
        </p:spPr>
        <p:txBody>
          <a:bodyPr/>
          <a:lstStyle/>
          <a:p>
            <a:endParaRPr lang="zh-CN" altLang="en-US"/>
          </a:p>
        </p:txBody>
      </p:sp>
      <p:sp>
        <p:nvSpPr>
          <p:cNvPr id="110839" name="Line 247"/>
          <p:cNvSpPr>
            <a:spLocks noChangeShapeType="1"/>
          </p:cNvSpPr>
          <p:nvPr/>
        </p:nvSpPr>
        <p:spPr bwMode="auto">
          <a:xfrm>
            <a:off x="5891213" y="5287963"/>
            <a:ext cx="1062037" cy="57150"/>
          </a:xfrm>
          <a:prstGeom prst="line">
            <a:avLst/>
          </a:prstGeom>
          <a:noFill/>
          <a:ln w="28575">
            <a:solidFill>
              <a:schemeClr val="tx2"/>
            </a:solidFill>
            <a:round/>
            <a:headEnd/>
            <a:tailEnd type="triangle" w="sm" len="lg"/>
          </a:ln>
        </p:spPr>
        <p:txBody>
          <a:bodyPr/>
          <a:lstStyle/>
          <a:p>
            <a:endParaRPr lang="zh-CN" altLang="en-US"/>
          </a:p>
        </p:txBody>
      </p:sp>
      <p:grpSp>
        <p:nvGrpSpPr>
          <p:cNvPr id="4" name="Group 248"/>
          <p:cNvGrpSpPr>
            <a:grpSpLocks/>
          </p:cNvGrpSpPr>
          <p:nvPr/>
        </p:nvGrpSpPr>
        <p:grpSpPr bwMode="auto">
          <a:xfrm>
            <a:off x="4838700" y="4221163"/>
            <a:ext cx="2109788" cy="2103437"/>
            <a:chOff x="3910" y="2589"/>
            <a:chExt cx="1329" cy="1325"/>
          </a:xfrm>
        </p:grpSpPr>
        <p:sp>
          <p:nvSpPr>
            <p:cNvPr id="28703" name="Arc 249"/>
            <p:cNvSpPr>
              <a:spLocks/>
            </p:cNvSpPr>
            <p:nvPr/>
          </p:nvSpPr>
          <p:spPr bwMode="auto">
            <a:xfrm rot="7543660" flipH="1">
              <a:off x="4295" y="2557"/>
              <a:ext cx="624" cy="687"/>
            </a:xfrm>
            <a:custGeom>
              <a:avLst/>
              <a:gdLst>
                <a:gd name="T0" fmla="*/ 0 w 41147"/>
                <a:gd name="T1" fmla="*/ 0 h 43200"/>
                <a:gd name="T2" fmla="*/ 0 w 41147"/>
                <a:gd name="T3" fmla="*/ 0 h 43200"/>
                <a:gd name="T4" fmla="*/ 0 w 41147"/>
                <a:gd name="T5" fmla="*/ 0 h 43200"/>
                <a:gd name="T6" fmla="*/ 0 60000 65536"/>
                <a:gd name="T7" fmla="*/ 0 60000 65536"/>
                <a:gd name="T8" fmla="*/ 0 60000 65536"/>
                <a:gd name="T9" fmla="*/ 0 w 41147"/>
                <a:gd name="T10" fmla="*/ 0 h 43200"/>
                <a:gd name="T11" fmla="*/ 41147 w 41147"/>
                <a:gd name="T12" fmla="*/ 43200 h 43200"/>
              </a:gdLst>
              <a:ahLst/>
              <a:cxnLst>
                <a:cxn ang="T6">
                  <a:pos x="T0" y="T1"/>
                </a:cxn>
                <a:cxn ang="T7">
                  <a:pos x="T2" y="T3"/>
                </a:cxn>
                <a:cxn ang="T8">
                  <a:pos x="T4" y="T5"/>
                </a:cxn>
              </a:cxnLst>
              <a:rect l="T9" t="T10" r="T11" b="T12"/>
              <a:pathLst>
                <a:path w="41147" h="43200" fill="none" extrusionOk="0">
                  <a:moveTo>
                    <a:pt x="19546" y="0"/>
                  </a:moveTo>
                  <a:cubicBezTo>
                    <a:pt x="31476" y="0"/>
                    <a:pt x="41147" y="9670"/>
                    <a:pt x="41147" y="21600"/>
                  </a:cubicBezTo>
                  <a:cubicBezTo>
                    <a:pt x="41147" y="33529"/>
                    <a:pt x="31476" y="43200"/>
                    <a:pt x="19547" y="43200"/>
                  </a:cubicBezTo>
                  <a:cubicBezTo>
                    <a:pt x="11177" y="43200"/>
                    <a:pt x="3561" y="38365"/>
                    <a:pt x="0" y="30791"/>
                  </a:cubicBezTo>
                </a:path>
                <a:path w="41147" h="43200" stroke="0" extrusionOk="0">
                  <a:moveTo>
                    <a:pt x="19546" y="0"/>
                  </a:moveTo>
                  <a:cubicBezTo>
                    <a:pt x="31476" y="0"/>
                    <a:pt x="41147" y="9670"/>
                    <a:pt x="41147" y="21600"/>
                  </a:cubicBezTo>
                  <a:cubicBezTo>
                    <a:pt x="41147" y="33529"/>
                    <a:pt x="31476" y="43200"/>
                    <a:pt x="19547" y="43200"/>
                  </a:cubicBezTo>
                  <a:cubicBezTo>
                    <a:pt x="11177" y="43200"/>
                    <a:pt x="3561" y="38365"/>
                    <a:pt x="0" y="30791"/>
                  </a:cubicBezTo>
                  <a:lnTo>
                    <a:pt x="19547" y="21600"/>
                  </a:lnTo>
                  <a:close/>
                </a:path>
              </a:pathLst>
            </a:custGeom>
            <a:noFill/>
            <a:ln w="12700">
              <a:solidFill>
                <a:srgbClr val="FF3300"/>
              </a:solidFill>
              <a:round/>
              <a:headEnd/>
              <a:tailEnd/>
            </a:ln>
          </p:spPr>
          <p:txBody>
            <a:bodyPr wrap="none" anchor="ctr"/>
            <a:lstStyle/>
            <a:p>
              <a:endParaRPr lang="zh-CN" altLang="en-US"/>
            </a:p>
          </p:txBody>
        </p:sp>
        <p:sp>
          <p:nvSpPr>
            <p:cNvPr id="28704" name="Arc 250"/>
            <p:cNvSpPr>
              <a:spLocks/>
            </p:cNvSpPr>
            <p:nvPr/>
          </p:nvSpPr>
          <p:spPr bwMode="auto">
            <a:xfrm rot="14961412" flipH="1">
              <a:off x="4542" y="3121"/>
              <a:ext cx="624" cy="687"/>
            </a:xfrm>
            <a:custGeom>
              <a:avLst/>
              <a:gdLst>
                <a:gd name="T0" fmla="*/ 0 w 41147"/>
                <a:gd name="T1" fmla="*/ 0 h 43200"/>
                <a:gd name="T2" fmla="*/ 0 w 41147"/>
                <a:gd name="T3" fmla="*/ 0 h 43200"/>
                <a:gd name="T4" fmla="*/ 0 w 41147"/>
                <a:gd name="T5" fmla="*/ 0 h 43200"/>
                <a:gd name="T6" fmla="*/ 0 60000 65536"/>
                <a:gd name="T7" fmla="*/ 0 60000 65536"/>
                <a:gd name="T8" fmla="*/ 0 60000 65536"/>
                <a:gd name="T9" fmla="*/ 0 w 41147"/>
                <a:gd name="T10" fmla="*/ 0 h 43200"/>
                <a:gd name="T11" fmla="*/ 41147 w 41147"/>
                <a:gd name="T12" fmla="*/ 43200 h 43200"/>
              </a:gdLst>
              <a:ahLst/>
              <a:cxnLst>
                <a:cxn ang="T6">
                  <a:pos x="T0" y="T1"/>
                </a:cxn>
                <a:cxn ang="T7">
                  <a:pos x="T2" y="T3"/>
                </a:cxn>
                <a:cxn ang="T8">
                  <a:pos x="T4" y="T5"/>
                </a:cxn>
              </a:cxnLst>
              <a:rect l="T9" t="T10" r="T11" b="T12"/>
              <a:pathLst>
                <a:path w="41147" h="43200" fill="none" extrusionOk="0">
                  <a:moveTo>
                    <a:pt x="19546" y="0"/>
                  </a:moveTo>
                  <a:cubicBezTo>
                    <a:pt x="31476" y="0"/>
                    <a:pt x="41147" y="9670"/>
                    <a:pt x="41147" y="21600"/>
                  </a:cubicBezTo>
                  <a:cubicBezTo>
                    <a:pt x="41147" y="33529"/>
                    <a:pt x="31476" y="43200"/>
                    <a:pt x="19547" y="43200"/>
                  </a:cubicBezTo>
                  <a:cubicBezTo>
                    <a:pt x="11177" y="43200"/>
                    <a:pt x="3561" y="38365"/>
                    <a:pt x="0" y="30791"/>
                  </a:cubicBezTo>
                </a:path>
                <a:path w="41147" h="43200" stroke="0" extrusionOk="0">
                  <a:moveTo>
                    <a:pt x="19546" y="0"/>
                  </a:moveTo>
                  <a:cubicBezTo>
                    <a:pt x="31476" y="0"/>
                    <a:pt x="41147" y="9670"/>
                    <a:pt x="41147" y="21600"/>
                  </a:cubicBezTo>
                  <a:cubicBezTo>
                    <a:pt x="41147" y="33529"/>
                    <a:pt x="31476" y="43200"/>
                    <a:pt x="19547" y="43200"/>
                  </a:cubicBezTo>
                  <a:cubicBezTo>
                    <a:pt x="11177" y="43200"/>
                    <a:pt x="3561" y="38365"/>
                    <a:pt x="0" y="30791"/>
                  </a:cubicBezTo>
                  <a:lnTo>
                    <a:pt x="19547" y="21600"/>
                  </a:lnTo>
                  <a:close/>
                </a:path>
              </a:pathLst>
            </a:custGeom>
            <a:noFill/>
            <a:ln w="12700">
              <a:solidFill>
                <a:srgbClr val="FF3300"/>
              </a:solidFill>
              <a:round/>
              <a:headEnd/>
              <a:tailEnd/>
            </a:ln>
          </p:spPr>
          <p:txBody>
            <a:bodyPr wrap="none" anchor="ctr"/>
            <a:lstStyle/>
            <a:p>
              <a:endParaRPr lang="zh-CN" altLang="en-US"/>
            </a:p>
          </p:txBody>
        </p:sp>
        <p:sp>
          <p:nvSpPr>
            <p:cNvPr id="28705" name="Arc 251"/>
            <p:cNvSpPr>
              <a:spLocks/>
            </p:cNvSpPr>
            <p:nvPr/>
          </p:nvSpPr>
          <p:spPr bwMode="auto">
            <a:xfrm rot="561731" flipH="1">
              <a:off x="3923" y="3053"/>
              <a:ext cx="624" cy="686"/>
            </a:xfrm>
            <a:custGeom>
              <a:avLst/>
              <a:gdLst>
                <a:gd name="T0" fmla="*/ 0 w 41147"/>
                <a:gd name="T1" fmla="*/ 0 h 43200"/>
                <a:gd name="T2" fmla="*/ 0 w 41147"/>
                <a:gd name="T3" fmla="*/ 0 h 43200"/>
                <a:gd name="T4" fmla="*/ 0 w 41147"/>
                <a:gd name="T5" fmla="*/ 0 h 43200"/>
                <a:gd name="T6" fmla="*/ 0 60000 65536"/>
                <a:gd name="T7" fmla="*/ 0 60000 65536"/>
                <a:gd name="T8" fmla="*/ 0 60000 65536"/>
                <a:gd name="T9" fmla="*/ 0 w 41147"/>
                <a:gd name="T10" fmla="*/ 0 h 43200"/>
                <a:gd name="T11" fmla="*/ 41147 w 41147"/>
                <a:gd name="T12" fmla="*/ 43200 h 43200"/>
              </a:gdLst>
              <a:ahLst/>
              <a:cxnLst>
                <a:cxn ang="T6">
                  <a:pos x="T0" y="T1"/>
                </a:cxn>
                <a:cxn ang="T7">
                  <a:pos x="T2" y="T3"/>
                </a:cxn>
                <a:cxn ang="T8">
                  <a:pos x="T4" y="T5"/>
                </a:cxn>
              </a:cxnLst>
              <a:rect l="T9" t="T10" r="T11" b="T12"/>
              <a:pathLst>
                <a:path w="41147" h="43200" fill="none" extrusionOk="0">
                  <a:moveTo>
                    <a:pt x="19546" y="0"/>
                  </a:moveTo>
                  <a:cubicBezTo>
                    <a:pt x="31476" y="0"/>
                    <a:pt x="41147" y="9670"/>
                    <a:pt x="41147" y="21600"/>
                  </a:cubicBezTo>
                  <a:cubicBezTo>
                    <a:pt x="41147" y="33529"/>
                    <a:pt x="31476" y="43200"/>
                    <a:pt x="19547" y="43200"/>
                  </a:cubicBezTo>
                  <a:cubicBezTo>
                    <a:pt x="11177" y="43200"/>
                    <a:pt x="3561" y="38365"/>
                    <a:pt x="0" y="30791"/>
                  </a:cubicBezTo>
                </a:path>
                <a:path w="41147" h="43200" stroke="0" extrusionOk="0">
                  <a:moveTo>
                    <a:pt x="19546" y="0"/>
                  </a:moveTo>
                  <a:cubicBezTo>
                    <a:pt x="31476" y="0"/>
                    <a:pt x="41147" y="9670"/>
                    <a:pt x="41147" y="21600"/>
                  </a:cubicBezTo>
                  <a:cubicBezTo>
                    <a:pt x="41147" y="33529"/>
                    <a:pt x="31476" y="43200"/>
                    <a:pt x="19547" y="43200"/>
                  </a:cubicBezTo>
                  <a:cubicBezTo>
                    <a:pt x="11177" y="43200"/>
                    <a:pt x="3561" y="38365"/>
                    <a:pt x="0" y="30791"/>
                  </a:cubicBezTo>
                  <a:lnTo>
                    <a:pt x="19547" y="21600"/>
                  </a:lnTo>
                  <a:close/>
                </a:path>
              </a:pathLst>
            </a:custGeom>
            <a:noFill/>
            <a:ln w="12700">
              <a:solidFill>
                <a:srgbClr val="FF3300"/>
              </a:solidFill>
              <a:round/>
              <a:headEnd/>
              <a:tailEnd/>
            </a:ln>
          </p:spPr>
          <p:txBody>
            <a:bodyPr wrap="none" anchor="ctr"/>
            <a:lstStyle/>
            <a:p>
              <a:endParaRPr lang="zh-CN" altLang="en-US"/>
            </a:p>
          </p:txBody>
        </p:sp>
        <p:sp>
          <p:nvSpPr>
            <p:cNvPr id="28706" name="Arc 252"/>
            <p:cNvSpPr>
              <a:spLocks/>
            </p:cNvSpPr>
            <p:nvPr/>
          </p:nvSpPr>
          <p:spPr bwMode="auto">
            <a:xfrm rot="20013391" flipH="1">
              <a:off x="4076" y="3213"/>
              <a:ext cx="624" cy="687"/>
            </a:xfrm>
            <a:custGeom>
              <a:avLst/>
              <a:gdLst>
                <a:gd name="T0" fmla="*/ 0 w 41147"/>
                <a:gd name="T1" fmla="*/ 0 h 43200"/>
                <a:gd name="T2" fmla="*/ 0 w 41147"/>
                <a:gd name="T3" fmla="*/ 0 h 43200"/>
                <a:gd name="T4" fmla="*/ 0 w 41147"/>
                <a:gd name="T5" fmla="*/ 0 h 43200"/>
                <a:gd name="T6" fmla="*/ 0 60000 65536"/>
                <a:gd name="T7" fmla="*/ 0 60000 65536"/>
                <a:gd name="T8" fmla="*/ 0 60000 65536"/>
                <a:gd name="T9" fmla="*/ 0 w 41147"/>
                <a:gd name="T10" fmla="*/ 0 h 43200"/>
                <a:gd name="T11" fmla="*/ 41147 w 41147"/>
                <a:gd name="T12" fmla="*/ 43200 h 43200"/>
              </a:gdLst>
              <a:ahLst/>
              <a:cxnLst>
                <a:cxn ang="T6">
                  <a:pos x="T0" y="T1"/>
                </a:cxn>
                <a:cxn ang="T7">
                  <a:pos x="T2" y="T3"/>
                </a:cxn>
                <a:cxn ang="T8">
                  <a:pos x="T4" y="T5"/>
                </a:cxn>
              </a:cxnLst>
              <a:rect l="T9" t="T10" r="T11" b="T12"/>
              <a:pathLst>
                <a:path w="41147" h="43200" fill="none" extrusionOk="0">
                  <a:moveTo>
                    <a:pt x="19546" y="0"/>
                  </a:moveTo>
                  <a:cubicBezTo>
                    <a:pt x="31476" y="0"/>
                    <a:pt x="41147" y="9670"/>
                    <a:pt x="41147" y="21600"/>
                  </a:cubicBezTo>
                  <a:cubicBezTo>
                    <a:pt x="41147" y="33529"/>
                    <a:pt x="31476" y="43200"/>
                    <a:pt x="19547" y="43200"/>
                  </a:cubicBezTo>
                  <a:cubicBezTo>
                    <a:pt x="11177" y="43200"/>
                    <a:pt x="3561" y="38365"/>
                    <a:pt x="0" y="30791"/>
                  </a:cubicBezTo>
                </a:path>
                <a:path w="41147" h="43200" stroke="0" extrusionOk="0">
                  <a:moveTo>
                    <a:pt x="19546" y="0"/>
                  </a:moveTo>
                  <a:cubicBezTo>
                    <a:pt x="31476" y="0"/>
                    <a:pt x="41147" y="9670"/>
                    <a:pt x="41147" y="21600"/>
                  </a:cubicBezTo>
                  <a:cubicBezTo>
                    <a:pt x="41147" y="33529"/>
                    <a:pt x="31476" y="43200"/>
                    <a:pt x="19547" y="43200"/>
                  </a:cubicBezTo>
                  <a:cubicBezTo>
                    <a:pt x="11177" y="43200"/>
                    <a:pt x="3561" y="38365"/>
                    <a:pt x="0" y="30791"/>
                  </a:cubicBezTo>
                  <a:lnTo>
                    <a:pt x="19547" y="21600"/>
                  </a:lnTo>
                  <a:close/>
                </a:path>
              </a:pathLst>
            </a:custGeom>
            <a:noFill/>
            <a:ln w="12700">
              <a:solidFill>
                <a:srgbClr val="FF3300"/>
              </a:solidFill>
              <a:round/>
              <a:headEnd/>
              <a:tailEnd/>
            </a:ln>
          </p:spPr>
          <p:txBody>
            <a:bodyPr wrap="none" anchor="ctr"/>
            <a:lstStyle/>
            <a:p>
              <a:endParaRPr lang="zh-CN" altLang="en-US"/>
            </a:p>
          </p:txBody>
        </p:sp>
        <p:sp>
          <p:nvSpPr>
            <p:cNvPr id="28707" name="Arc 253"/>
            <p:cNvSpPr>
              <a:spLocks/>
            </p:cNvSpPr>
            <p:nvPr/>
          </p:nvSpPr>
          <p:spPr bwMode="auto">
            <a:xfrm rot="2685447" flipH="1">
              <a:off x="3910" y="2836"/>
              <a:ext cx="624" cy="686"/>
            </a:xfrm>
            <a:custGeom>
              <a:avLst/>
              <a:gdLst>
                <a:gd name="T0" fmla="*/ 0 w 41147"/>
                <a:gd name="T1" fmla="*/ 0 h 43200"/>
                <a:gd name="T2" fmla="*/ 0 w 41147"/>
                <a:gd name="T3" fmla="*/ 0 h 43200"/>
                <a:gd name="T4" fmla="*/ 0 w 41147"/>
                <a:gd name="T5" fmla="*/ 0 h 43200"/>
                <a:gd name="T6" fmla="*/ 0 60000 65536"/>
                <a:gd name="T7" fmla="*/ 0 60000 65536"/>
                <a:gd name="T8" fmla="*/ 0 60000 65536"/>
                <a:gd name="T9" fmla="*/ 0 w 41147"/>
                <a:gd name="T10" fmla="*/ 0 h 43200"/>
                <a:gd name="T11" fmla="*/ 41147 w 41147"/>
                <a:gd name="T12" fmla="*/ 43200 h 43200"/>
              </a:gdLst>
              <a:ahLst/>
              <a:cxnLst>
                <a:cxn ang="T6">
                  <a:pos x="T0" y="T1"/>
                </a:cxn>
                <a:cxn ang="T7">
                  <a:pos x="T2" y="T3"/>
                </a:cxn>
                <a:cxn ang="T8">
                  <a:pos x="T4" y="T5"/>
                </a:cxn>
              </a:cxnLst>
              <a:rect l="T9" t="T10" r="T11" b="T12"/>
              <a:pathLst>
                <a:path w="41147" h="43200" fill="none" extrusionOk="0">
                  <a:moveTo>
                    <a:pt x="19546" y="0"/>
                  </a:moveTo>
                  <a:cubicBezTo>
                    <a:pt x="31476" y="0"/>
                    <a:pt x="41147" y="9670"/>
                    <a:pt x="41147" y="21600"/>
                  </a:cubicBezTo>
                  <a:cubicBezTo>
                    <a:pt x="41147" y="33529"/>
                    <a:pt x="31476" y="43200"/>
                    <a:pt x="19547" y="43200"/>
                  </a:cubicBezTo>
                  <a:cubicBezTo>
                    <a:pt x="11177" y="43200"/>
                    <a:pt x="3561" y="38365"/>
                    <a:pt x="0" y="30791"/>
                  </a:cubicBezTo>
                </a:path>
                <a:path w="41147" h="43200" stroke="0" extrusionOk="0">
                  <a:moveTo>
                    <a:pt x="19546" y="0"/>
                  </a:moveTo>
                  <a:cubicBezTo>
                    <a:pt x="31476" y="0"/>
                    <a:pt x="41147" y="9670"/>
                    <a:pt x="41147" y="21600"/>
                  </a:cubicBezTo>
                  <a:cubicBezTo>
                    <a:pt x="41147" y="33529"/>
                    <a:pt x="31476" y="43200"/>
                    <a:pt x="19547" y="43200"/>
                  </a:cubicBezTo>
                  <a:cubicBezTo>
                    <a:pt x="11177" y="43200"/>
                    <a:pt x="3561" y="38365"/>
                    <a:pt x="0" y="30791"/>
                  </a:cubicBezTo>
                  <a:lnTo>
                    <a:pt x="19547" y="21600"/>
                  </a:lnTo>
                  <a:close/>
                </a:path>
              </a:pathLst>
            </a:custGeom>
            <a:noFill/>
            <a:ln w="12700">
              <a:solidFill>
                <a:srgbClr val="FF3300"/>
              </a:solidFill>
              <a:round/>
              <a:headEnd/>
              <a:tailEnd/>
            </a:ln>
          </p:spPr>
          <p:txBody>
            <a:bodyPr wrap="none" anchor="ctr"/>
            <a:lstStyle/>
            <a:p>
              <a:endParaRPr lang="zh-CN" altLang="en-US"/>
            </a:p>
          </p:txBody>
        </p:sp>
        <p:sp>
          <p:nvSpPr>
            <p:cNvPr id="28708" name="Arc 254"/>
            <p:cNvSpPr>
              <a:spLocks/>
            </p:cNvSpPr>
            <p:nvPr/>
          </p:nvSpPr>
          <p:spPr bwMode="auto">
            <a:xfrm rot="9854458" flipH="1">
              <a:off x="4504" y="2654"/>
              <a:ext cx="624" cy="686"/>
            </a:xfrm>
            <a:custGeom>
              <a:avLst/>
              <a:gdLst>
                <a:gd name="T0" fmla="*/ 0 w 41147"/>
                <a:gd name="T1" fmla="*/ 0 h 43200"/>
                <a:gd name="T2" fmla="*/ 0 w 41147"/>
                <a:gd name="T3" fmla="*/ 0 h 43200"/>
                <a:gd name="T4" fmla="*/ 0 w 41147"/>
                <a:gd name="T5" fmla="*/ 0 h 43200"/>
                <a:gd name="T6" fmla="*/ 0 60000 65536"/>
                <a:gd name="T7" fmla="*/ 0 60000 65536"/>
                <a:gd name="T8" fmla="*/ 0 60000 65536"/>
                <a:gd name="T9" fmla="*/ 0 w 41147"/>
                <a:gd name="T10" fmla="*/ 0 h 43200"/>
                <a:gd name="T11" fmla="*/ 41147 w 41147"/>
                <a:gd name="T12" fmla="*/ 43200 h 43200"/>
              </a:gdLst>
              <a:ahLst/>
              <a:cxnLst>
                <a:cxn ang="T6">
                  <a:pos x="T0" y="T1"/>
                </a:cxn>
                <a:cxn ang="T7">
                  <a:pos x="T2" y="T3"/>
                </a:cxn>
                <a:cxn ang="T8">
                  <a:pos x="T4" y="T5"/>
                </a:cxn>
              </a:cxnLst>
              <a:rect l="T9" t="T10" r="T11" b="T12"/>
              <a:pathLst>
                <a:path w="41147" h="43200" fill="none" extrusionOk="0">
                  <a:moveTo>
                    <a:pt x="19546" y="0"/>
                  </a:moveTo>
                  <a:cubicBezTo>
                    <a:pt x="31476" y="0"/>
                    <a:pt x="41147" y="9670"/>
                    <a:pt x="41147" y="21600"/>
                  </a:cubicBezTo>
                  <a:cubicBezTo>
                    <a:pt x="41147" y="33529"/>
                    <a:pt x="31476" y="43200"/>
                    <a:pt x="19547" y="43200"/>
                  </a:cubicBezTo>
                  <a:cubicBezTo>
                    <a:pt x="11177" y="43200"/>
                    <a:pt x="3561" y="38365"/>
                    <a:pt x="0" y="30791"/>
                  </a:cubicBezTo>
                </a:path>
                <a:path w="41147" h="43200" stroke="0" extrusionOk="0">
                  <a:moveTo>
                    <a:pt x="19546" y="0"/>
                  </a:moveTo>
                  <a:cubicBezTo>
                    <a:pt x="31476" y="0"/>
                    <a:pt x="41147" y="9670"/>
                    <a:pt x="41147" y="21600"/>
                  </a:cubicBezTo>
                  <a:cubicBezTo>
                    <a:pt x="41147" y="33529"/>
                    <a:pt x="31476" y="43200"/>
                    <a:pt x="19547" y="43200"/>
                  </a:cubicBezTo>
                  <a:cubicBezTo>
                    <a:pt x="11177" y="43200"/>
                    <a:pt x="3561" y="38365"/>
                    <a:pt x="0" y="30791"/>
                  </a:cubicBezTo>
                  <a:lnTo>
                    <a:pt x="19547" y="21600"/>
                  </a:lnTo>
                  <a:close/>
                </a:path>
              </a:pathLst>
            </a:custGeom>
            <a:noFill/>
            <a:ln w="12700">
              <a:solidFill>
                <a:srgbClr val="FF3300"/>
              </a:solidFill>
              <a:round/>
              <a:headEnd/>
              <a:tailEnd/>
            </a:ln>
          </p:spPr>
          <p:txBody>
            <a:bodyPr wrap="none" anchor="ctr"/>
            <a:lstStyle/>
            <a:p>
              <a:endParaRPr lang="zh-CN" altLang="en-US"/>
            </a:p>
          </p:txBody>
        </p:sp>
        <p:sp>
          <p:nvSpPr>
            <p:cNvPr id="28709" name="Arc 255"/>
            <p:cNvSpPr>
              <a:spLocks/>
            </p:cNvSpPr>
            <p:nvPr/>
          </p:nvSpPr>
          <p:spPr bwMode="auto">
            <a:xfrm rot="12831138" flipH="1">
              <a:off x="4615" y="2919"/>
              <a:ext cx="624" cy="686"/>
            </a:xfrm>
            <a:custGeom>
              <a:avLst/>
              <a:gdLst>
                <a:gd name="T0" fmla="*/ 0 w 41147"/>
                <a:gd name="T1" fmla="*/ 0 h 43200"/>
                <a:gd name="T2" fmla="*/ 0 w 41147"/>
                <a:gd name="T3" fmla="*/ 0 h 43200"/>
                <a:gd name="T4" fmla="*/ 0 w 41147"/>
                <a:gd name="T5" fmla="*/ 0 h 43200"/>
                <a:gd name="T6" fmla="*/ 0 60000 65536"/>
                <a:gd name="T7" fmla="*/ 0 60000 65536"/>
                <a:gd name="T8" fmla="*/ 0 60000 65536"/>
                <a:gd name="T9" fmla="*/ 0 w 41147"/>
                <a:gd name="T10" fmla="*/ 0 h 43200"/>
                <a:gd name="T11" fmla="*/ 41147 w 41147"/>
                <a:gd name="T12" fmla="*/ 43200 h 43200"/>
              </a:gdLst>
              <a:ahLst/>
              <a:cxnLst>
                <a:cxn ang="T6">
                  <a:pos x="T0" y="T1"/>
                </a:cxn>
                <a:cxn ang="T7">
                  <a:pos x="T2" y="T3"/>
                </a:cxn>
                <a:cxn ang="T8">
                  <a:pos x="T4" y="T5"/>
                </a:cxn>
              </a:cxnLst>
              <a:rect l="T9" t="T10" r="T11" b="T12"/>
              <a:pathLst>
                <a:path w="41147" h="43200" fill="none" extrusionOk="0">
                  <a:moveTo>
                    <a:pt x="19546" y="0"/>
                  </a:moveTo>
                  <a:cubicBezTo>
                    <a:pt x="31476" y="0"/>
                    <a:pt x="41147" y="9670"/>
                    <a:pt x="41147" y="21600"/>
                  </a:cubicBezTo>
                  <a:cubicBezTo>
                    <a:pt x="41147" y="33529"/>
                    <a:pt x="31476" y="43200"/>
                    <a:pt x="19547" y="43200"/>
                  </a:cubicBezTo>
                  <a:cubicBezTo>
                    <a:pt x="11177" y="43200"/>
                    <a:pt x="3561" y="38365"/>
                    <a:pt x="0" y="30791"/>
                  </a:cubicBezTo>
                </a:path>
                <a:path w="41147" h="43200" stroke="0" extrusionOk="0">
                  <a:moveTo>
                    <a:pt x="19546" y="0"/>
                  </a:moveTo>
                  <a:cubicBezTo>
                    <a:pt x="31476" y="0"/>
                    <a:pt x="41147" y="9670"/>
                    <a:pt x="41147" y="21600"/>
                  </a:cubicBezTo>
                  <a:cubicBezTo>
                    <a:pt x="41147" y="33529"/>
                    <a:pt x="31476" y="43200"/>
                    <a:pt x="19547" y="43200"/>
                  </a:cubicBezTo>
                  <a:cubicBezTo>
                    <a:pt x="11177" y="43200"/>
                    <a:pt x="3561" y="38365"/>
                    <a:pt x="0" y="30791"/>
                  </a:cubicBezTo>
                  <a:lnTo>
                    <a:pt x="19547" y="21600"/>
                  </a:lnTo>
                  <a:close/>
                </a:path>
              </a:pathLst>
            </a:custGeom>
            <a:noFill/>
            <a:ln w="12700">
              <a:solidFill>
                <a:srgbClr val="FF3300"/>
              </a:solidFill>
              <a:round/>
              <a:headEnd/>
              <a:tailEnd/>
            </a:ln>
          </p:spPr>
          <p:txBody>
            <a:bodyPr wrap="none" anchor="ctr"/>
            <a:lstStyle/>
            <a:p>
              <a:endParaRPr lang="zh-CN" altLang="en-US"/>
            </a:p>
          </p:txBody>
        </p:sp>
        <p:sp>
          <p:nvSpPr>
            <p:cNvPr id="28710" name="Arc 256"/>
            <p:cNvSpPr>
              <a:spLocks/>
            </p:cNvSpPr>
            <p:nvPr/>
          </p:nvSpPr>
          <p:spPr bwMode="auto">
            <a:xfrm rot="17147607" flipH="1">
              <a:off x="4360" y="3259"/>
              <a:ext cx="624" cy="686"/>
            </a:xfrm>
            <a:custGeom>
              <a:avLst/>
              <a:gdLst>
                <a:gd name="T0" fmla="*/ 0 w 41147"/>
                <a:gd name="T1" fmla="*/ 0 h 43200"/>
                <a:gd name="T2" fmla="*/ 0 w 41147"/>
                <a:gd name="T3" fmla="*/ 0 h 43200"/>
                <a:gd name="T4" fmla="*/ 0 w 41147"/>
                <a:gd name="T5" fmla="*/ 0 h 43200"/>
                <a:gd name="T6" fmla="*/ 0 60000 65536"/>
                <a:gd name="T7" fmla="*/ 0 60000 65536"/>
                <a:gd name="T8" fmla="*/ 0 60000 65536"/>
                <a:gd name="T9" fmla="*/ 0 w 41147"/>
                <a:gd name="T10" fmla="*/ 0 h 43200"/>
                <a:gd name="T11" fmla="*/ 41147 w 41147"/>
                <a:gd name="T12" fmla="*/ 43200 h 43200"/>
              </a:gdLst>
              <a:ahLst/>
              <a:cxnLst>
                <a:cxn ang="T6">
                  <a:pos x="T0" y="T1"/>
                </a:cxn>
                <a:cxn ang="T7">
                  <a:pos x="T2" y="T3"/>
                </a:cxn>
                <a:cxn ang="T8">
                  <a:pos x="T4" y="T5"/>
                </a:cxn>
              </a:cxnLst>
              <a:rect l="T9" t="T10" r="T11" b="T12"/>
              <a:pathLst>
                <a:path w="41147" h="43200" fill="none" extrusionOk="0">
                  <a:moveTo>
                    <a:pt x="19546" y="0"/>
                  </a:moveTo>
                  <a:cubicBezTo>
                    <a:pt x="31476" y="0"/>
                    <a:pt x="41147" y="9670"/>
                    <a:pt x="41147" y="21600"/>
                  </a:cubicBezTo>
                  <a:cubicBezTo>
                    <a:pt x="41147" y="33529"/>
                    <a:pt x="31476" y="43200"/>
                    <a:pt x="19547" y="43200"/>
                  </a:cubicBezTo>
                  <a:cubicBezTo>
                    <a:pt x="11177" y="43200"/>
                    <a:pt x="3561" y="38365"/>
                    <a:pt x="0" y="30791"/>
                  </a:cubicBezTo>
                </a:path>
                <a:path w="41147" h="43200" stroke="0" extrusionOk="0">
                  <a:moveTo>
                    <a:pt x="19546" y="0"/>
                  </a:moveTo>
                  <a:cubicBezTo>
                    <a:pt x="31476" y="0"/>
                    <a:pt x="41147" y="9670"/>
                    <a:pt x="41147" y="21600"/>
                  </a:cubicBezTo>
                  <a:cubicBezTo>
                    <a:pt x="41147" y="33529"/>
                    <a:pt x="31476" y="43200"/>
                    <a:pt x="19547" y="43200"/>
                  </a:cubicBezTo>
                  <a:cubicBezTo>
                    <a:pt x="11177" y="43200"/>
                    <a:pt x="3561" y="38365"/>
                    <a:pt x="0" y="30791"/>
                  </a:cubicBezTo>
                  <a:lnTo>
                    <a:pt x="19547" y="21600"/>
                  </a:lnTo>
                  <a:close/>
                </a:path>
              </a:pathLst>
            </a:custGeom>
            <a:noFill/>
            <a:ln w="19050">
              <a:solidFill>
                <a:srgbClr val="FF3300"/>
              </a:solidFill>
              <a:round/>
              <a:headEnd/>
              <a:tailEnd/>
            </a:ln>
          </p:spPr>
          <p:txBody>
            <a:bodyPr wrap="none" anchor="ctr"/>
            <a:lstStyle/>
            <a:p>
              <a:endParaRPr lang="zh-CN" altLang="en-US"/>
            </a:p>
          </p:txBody>
        </p:sp>
        <p:sp>
          <p:nvSpPr>
            <p:cNvPr id="28711" name="Arc 257"/>
            <p:cNvSpPr>
              <a:spLocks/>
            </p:cNvSpPr>
            <p:nvPr/>
          </p:nvSpPr>
          <p:spPr bwMode="auto">
            <a:xfrm rot="5512661" flipH="1">
              <a:off x="4097" y="2598"/>
              <a:ext cx="624" cy="686"/>
            </a:xfrm>
            <a:custGeom>
              <a:avLst/>
              <a:gdLst>
                <a:gd name="T0" fmla="*/ 0 w 41147"/>
                <a:gd name="T1" fmla="*/ 0 h 43200"/>
                <a:gd name="T2" fmla="*/ 0 w 41147"/>
                <a:gd name="T3" fmla="*/ 0 h 43200"/>
                <a:gd name="T4" fmla="*/ 0 w 41147"/>
                <a:gd name="T5" fmla="*/ 0 h 43200"/>
                <a:gd name="T6" fmla="*/ 0 60000 65536"/>
                <a:gd name="T7" fmla="*/ 0 60000 65536"/>
                <a:gd name="T8" fmla="*/ 0 60000 65536"/>
                <a:gd name="T9" fmla="*/ 0 w 41147"/>
                <a:gd name="T10" fmla="*/ 0 h 43200"/>
                <a:gd name="T11" fmla="*/ 41147 w 41147"/>
                <a:gd name="T12" fmla="*/ 43200 h 43200"/>
              </a:gdLst>
              <a:ahLst/>
              <a:cxnLst>
                <a:cxn ang="T6">
                  <a:pos x="T0" y="T1"/>
                </a:cxn>
                <a:cxn ang="T7">
                  <a:pos x="T2" y="T3"/>
                </a:cxn>
                <a:cxn ang="T8">
                  <a:pos x="T4" y="T5"/>
                </a:cxn>
              </a:cxnLst>
              <a:rect l="T9" t="T10" r="T11" b="T12"/>
              <a:pathLst>
                <a:path w="41147" h="43200" fill="none" extrusionOk="0">
                  <a:moveTo>
                    <a:pt x="19546" y="0"/>
                  </a:moveTo>
                  <a:cubicBezTo>
                    <a:pt x="31476" y="0"/>
                    <a:pt x="41147" y="9670"/>
                    <a:pt x="41147" y="21600"/>
                  </a:cubicBezTo>
                  <a:cubicBezTo>
                    <a:pt x="41147" y="33529"/>
                    <a:pt x="31476" y="43200"/>
                    <a:pt x="19547" y="43200"/>
                  </a:cubicBezTo>
                  <a:cubicBezTo>
                    <a:pt x="11177" y="43200"/>
                    <a:pt x="3561" y="38365"/>
                    <a:pt x="0" y="30791"/>
                  </a:cubicBezTo>
                </a:path>
                <a:path w="41147" h="43200" stroke="0" extrusionOk="0">
                  <a:moveTo>
                    <a:pt x="19546" y="0"/>
                  </a:moveTo>
                  <a:cubicBezTo>
                    <a:pt x="31476" y="0"/>
                    <a:pt x="41147" y="9670"/>
                    <a:pt x="41147" y="21600"/>
                  </a:cubicBezTo>
                  <a:cubicBezTo>
                    <a:pt x="41147" y="33529"/>
                    <a:pt x="31476" y="43200"/>
                    <a:pt x="19547" y="43200"/>
                  </a:cubicBezTo>
                  <a:cubicBezTo>
                    <a:pt x="11177" y="43200"/>
                    <a:pt x="3561" y="38365"/>
                    <a:pt x="0" y="30791"/>
                  </a:cubicBezTo>
                  <a:lnTo>
                    <a:pt x="19547" y="21600"/>
                  </a:lnTo>
                  <a:close/>
                </a:path>
              </a:pathLst>
            </a:custGeom>
            <a:noFill/>
            <a:ln w="12700">
              <a:solidFill>
                <a:srgbClr val="FF3300"/>
              </a:solidFill>
              <a:round/>
              <a:headEnd/>
              <a:tailEnd/>
            </a:ln>
          </p:spPr>
          <p:txBody>
            <a:bodyPr wrap="none" anchor="ctr"/>
            <a:lstStyle/>
            <a:p>
              <a:endParaRPr lang="zh-CN" altLang="en-US"/>
            </a:p>
          </p:txBody>
        </p:sp>
      </p:grpSp>
      <p:sp>
        <p:nvSpPr>
          <p:cNvPr id="110850" name="Oval 258"/>
          <p:cNvSpPr>
            <a:spLocks noChangeAspect="1" noChangeArrowheads="1"/>
          </p:cNvSpPr>
          <p:nvPr/>
        </p:nvSpPr>
        <p:spPr bwMode="auto">
          <a:xfrm>
            <a:off x="5862638" y="5249863"/>
            <a:ext cx="71437" cy="71437"/>
          </a:xfrm>
          <a:prstGeom prst="ellipse">
            <a:avLst/>
          </a:prstGeom>
          <a:solidFill>
            <a:srgbClr val="FF3300"/>
          </a:solidFill>
          <a:ln w="9525">
            <a:solidFill>
              <a:srgbClr val="FF3300"/>
            </a:solidFill>
            <a:round/>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0596"/>
                                        </p:tgtEl>
                                        <p:attrNameLst>
                                          <p:attrName>style.visibility</p:attrName>
                                        </p:attrNameLst>
                                      </p:cBhvr>
                                      <p:to>
                                        <p:strVal val="visible"/>
                                      </p:to>
                                    </p:set>
                                    <p:animEffect transition="in" filter="wipe(left)">
                                      <p:cBhvr>
                                        <p:cTn id="7" dur="500"/>
                                        <p:tgtEl>
                                          <p:spTgt spid="1105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0598"/>
                                        </p:tgtEl>
                                        <p:attrNameLst>
                                          <p:attrName>style.visibility</p:attrName>
                                        </p:attrNameLst>
                                      </p:cBhvr>
                                      <p:to>
                                        <p:strVal val="visible"/>
                                      </p:to>
                                    </p:set>
                                    <p:animEffect transition="in" filter="wipe(left)">
                                      <p:cBhvr>
                                        <p:cTn id="12" dur="500"/>
                                        <p:tgtEl>
                                          <p:spTgt spid="11059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10597"/>
                                        </p:tgtEl>
                                        <p:attrNameLst>
                                          <p:attrName>style.visibility</p:attrName>
                                        </p:attrNameLst>
                                      </p:cBhvr>
                                      <p:to>
                                        <p:strVal val="visible"/>
                                      </p:to>
                                    </p:set>
                                    <p:animEffect transition="in" filter="box(out)">
                                      <p:cBhvr>
                                        <p:cTn id="17" dur="500"/>
                                        <p:tgtEl>
                                          <p:spTgt spid="110597"/>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110679"/>
                                        </p:tgtEl>
                                        <p:attrNameLst>
                                          <p:attrName>style.visibility</p:attrName>
                                        </p:attrNameLst>
                                      </p:cBhvr>
                                      <p:to>
                                        <p:strVal val="visible"/>
                                      </p:to>
                                    </p:set>
                                    <p:animEffect transition="in" filter="wipe(up)">
                                      <p:cBhvr>
                                        <p:cTn id="21" dur="500"/>
                                        <p:tgtEl>
                                          <p:spTgt spid="11067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10681"/>
                                        </p:tgtEl>
                                        <p:attrNameLst>
                                          <p:attrName>style.visibility</p:attrName>
                                        </p:attrNameLst>
                                      </p:cBhvr>
                                      <p:to>
                                        <p:strVal val="visible"/>
                                      </p:to>
                                    </p:set>
                                    <p:animEffect transition="in" filter="wipe(left)">
                                      <p:cBhvr>
                                        <p:cTn id="26" dur="500"/>
                                        <p:tgtEl>
                                          <p:spTgt spid="11068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0682"/>
                                        </p:tgtEl>
                                        <p:attrNameLst>
                                          <p:attrName>style.visibility</p:attrName>
                                        </p:attrNameLst>
                                      </p:cBhvr>
                                      <p:to>
                                        <p:strVal val="visible"/>
                                      </p:to>
                                    </p:set>
                                    <p:animEffect transition="in" filter="wipe(left)">
                                      <p:cBhvr>
                                        <p:cTn id="31" dur="500"/>
                                        <p:tgtEl>
                                          <p:spTgt spid="11068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10683"/>
                                        </p:tgtEl>
                                        <p:attrNameLst>
                                          <p:attrName>style.visibility</p:attrName>
                                        </p:attrNameLst>
                                      </p:cBhvr>
                                      <p:to>
                                        <p:strVal val="visible"/>
                                      </p:to>
                                    </p:set>
                                    <p:animEffect transition="in" filter="wipe(left)">
                                      <p:cBhvr>
                                        <p:cTn id="36" dur="500"/>
                                        <p:tgtEl>
                                          <p:spTgt spid="11068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10684"/>
                                        </p:tgtEl>
                                        <p:attrNameLst>
                                          <p:attrName>style.visibility</p:attrName>
                                        </p:attrNameLst>
                                      </p:cBhvr>
                                      <p:to>
                                        <p:strVal val="visible"/>
                                      </p:to>
                                    </p:set>
                                    <p:animEffect transition="in" filter="wipe(left)">
                                      <p:cBhvr>
                                        <p:cTn id="41" dur="500"/>
                                        <p:tgtEl>
                                          <p:spTgt spid="11068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ipe(left)">
                                      <p:cBhvr>
                                        <p:cTn id="46" dur="500"/>
                                        <p:tgtEl>
                                          <p:spTgt spid="2"/>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11080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110819"/>
                                        </p:tgtEl>
                                        <p:attrNameLst>
                                          <p:attrName>style.visibility</p:attrName>
                                        </p:attrNameLst>
                                      </p:cBhvr>
                                      <p:to>
                                        <p:strVal val="visible"/>
                                      </p:to>
                                    </p:set>
                                    <p:animEffect transition="in" filter="wipe(up)">
                                      <p:cBhvr>
                                        <p:cTn id="55" dur="500"/>
                                        <p:tgtEl>
                                          <p:spTgt spid="110819"/>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499"/>
                                          </p:stCondLst>
                                        </p:cTn>
                                        <p:tgtEl>
                                          <p:spTgt spid="110828"/>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3"/>
                                        </p:tgtEl>
                                        <p:attrNameLst>
                                          <p:attrName>style.visibility</p:attrName>
                                        </p:attrNameLst>
                                      </p:cBhvr>
                                      <p:to>
                                        <p:strVal val="visible"/>
                                      </p:to>
                                    </p:set>
                                    <p:animEffect transition="in" filter="wipe(left)">
                                      <p:cBhvr>
                                        <p:cTn id="64" dur="500"/>
                                        <p:tgtEl>
                                          <p:spTgt spid="3"/>
                                        </p:tgtEl>
                                      </p:cBhvr>
                                    </p:animEffec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499"/>
                                          </p:stCondLst>
                                        </p:cTn>
                                        <p:tgtEl>
                                          <p:spTgt spid="11080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grpId="0" nodeType="clickEffect">
                                  <p:stCondLst>
                                    <p:cond delay="0"/>
                                  </p:stCondLst>
                                  <p:childTnLst>
                                    <p:set>
                                      <p:cBhvr>
                                        <p:cTn id="72" dur="1" fill="hold">
                                          <p:stCondLst>
                                            <p:cond delay="0"/>
                                          </p:stCondLst>
                                        </p:cTn>
                                        <p:tgtEl>
                                          <p:spTgt spid="110818"/>
                                        </p:tgtEl>
                                        <p:attrNameLst>
                                          <p:attrName>style.visibility</p:attrName>
                                        </p:attrNameLst>
                                      </p:cBhvr>
                                      <p:to>
                                        <p:strVal val="visible"/>
                                      </p:to>
                                    </p:set>
                                    <p:animEffect transition="in" filter="wipe(up)">
                                      <p:cBhvr>
                                        <p:cTn id="73" dur="500"/>
                                        <p:tgtEl>
                                          <p:spTgt spid="110818"/>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10817"/>
                                        </p:tgtEl>
                                        <p:attrNameLst>
                                          <p:attrName>style.visibility</p:attrName>
                                        </p:attrNameLst>
                                      </p:cBhvr>
                                      <p:to>
                                        <p:strVal val="visible"/>
                                      </p:to>
                                    </p:set>
                                    <p:animEffect transition="in" filter="wipe(left)">
                                      <p:cBhvr>
                                        <p:cTn id="78" dur="500"/>
                                        <p:tgtEl>
                                          <p:spTgt spid="110817"/>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499"/>
                                          </p:stCondLst>
                                        </p:cTn>
                                        <p:tgtEl>
                                          <p:spTgt spid="11082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499"/>
                                          </p:stCondLst>
                                        </p:cTn>
                                        <p:tgtEl>
                                          <p:spTgt spid="11081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499"/>
                                          </p:stCondLst>
                                        </p:cTn>
                                        <p:tgtEl>
                                          <p:spTgt spid="110850"/>
                                        </p:tgtEl>
                                        <p:attrNameLst>
                                          <p:attrName>style.visibility</p:attrName>
                                        </p:attrNameLst>
                                      </p:cBhvr>
                                      <p:to>
                                        <p:strVal val="visible"/>
                                      </p:to>
                                    </p:set>
                                  </p:childTnLst>
                                </p:cTn>
                              </p:par>
                            </p:childTnLst>
                          </p:cTn>
                        </p:par>
                        <p:par>
                          <p:cTn id="91" fill="hold">
                            <p:stCondLst>
                              <p:cond delay="500"/>
                            </p:stCondLst>
                            <p:childTnLst>
                              <p:par>
                                <p:cTn id="92" presetID="1" presetClass="entr" presetSubtype="0" fill="hold" grpId="0" nodeType="afterEffect">
                                  <p:stCondLst>
                                    <p:cond delay="0"/>
                                  </p:stCondLst>
                                  <p:childTnLst>
                                    <p:set>
                                      <p:cBhvr>
                                        <p:cTn id="93" dur="1" fill="hold">
                                          <p:stCondLst>
                                            <p:cond delay="499"/>
                                          </p:stCondLst>
                                        </p:cTn>
                                        <p:tgtEl>
                                          <p:spTgt spid="110835"/>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23" presetClass="entr" presetSubtype="16" fill="hold" grpId="0" nodeType="clickEffect">
                                  <p:stCondLst>
                                    <p:cond delay="0"/>
                                  </p:stCondLst>
                                  <p:childTnLst>
                                    <p:set>
                                      <p:cBhvr>
                                        <p:cTn id="97" dur="1" fill="hold">
                                          <p:stCondLst>
                                            <p:cond delay="0"/>
                                          </p:stCondLst>
                                        </p:cTn>
                                        <p:tgtEl>
                                          <p:spTgt spid="110836"/>
                                        </p:tgtEl>
                                        <p:attrNameLst>
                                          <p:attrName>style.visibility</p:attrName>
                                        </p:attrNameLst>
                                      </p:cBhvr>
                                      <p:to>
                                        <p:strVal val="visible"/>
                                      </p:to>
                                    </p:set>
                                    <p:anim calcmode="lin" valueType="num">
                                      <p:cBhvr>
                                        <p:cTn id="98" dur="500" fill="hold"/>
                                        <p:tgtEl>
                                          <p:spTgt spid="110836"/>
                                        </p:tgtEl>
                                        <p:attrNameLst>
                                          <p:attrName>ppt_w</p:attrName>
                                        </p:attrNameLst>
                                      </p:cBhvr>
                                      <p:tavLst>
                                        <p:tav tm="0">
                                          <p:val>
                                            <p:fltVal val="0"/>
                                          </p:val>
                                        </p:tav>
                                        <p:tav tm="100000">
                                          <p:val>
                                            <p:strVal val="#ppt_w"/>
                                          </p:val>
                                        </p:tav>
                                      </p:tavLst>
                                    </p:anim>
                                    <p:anim calcmode="lin" valueType="num">
                                      <p:cBhvr>
                                        <p:cTn id="99" dur="500" fill="hold"/>
                                        <p:tgtEl>
                                          <p:spTgt spid="110836"/>
                                        </p:tgtEl>
                                        <p:attrNameLst>
                                          <p:attrName>ppt_h</p:attrName>
                                        </p:attrNameLst>
                                      </p:cBhvr>
                                      <p:tavLst>
                                        <p:tav tm="0">
                                          <p:val>
                                            <p:fltVal val="0"/>
                                          </p:val>
                                        </p:tav>
                                        <p:tav tm="100000">
                                          <p:val>
                                            <p:strVal val="#ppt_h"/>
                                          </p:val>
                                        </p:tav>
                                      </p:tavLst>
                                    </p:anim>
                                  </p:childTnLst>
                                </p:cTn>
                              </p:par>
                            </p:childTnLst>
                          </p:cTn>
                        </p:par>
                      </p:childTnLst>
                    </p:cTn>
                  </p:par>
                  <p:par>
                    <p:cTn id="100" fill="hold">
                      <p:stCondLst>
                        <p:cond delay="indefinite"/>
                      </p:stCondLst>
                      <p:childTnLst>
                        <p:par>
                          <p:cTn id="101" fill="hold">
                            <p:stCondLst>
                              <p:cond delay="0"/>
                            </p:stCondLst>
                            <p:childTnLst>
                              <p:par>
                                <p:cTn id="102" presetID="22" presetClass="entr" presetSubtype="1" fill="hold" grpId="0" nodeType="clickEffect">
                                  <p:stCondLst>
                                    <p:cond delay="0"/>
                                  </p:stCondLst>
                                  <p:childTnLst>
                                    <p:set>
                                      <p:cBhvr>
                                        <p:cTn id="103" dur="1" fill="hold">
                                          <p:stCondLst>
                                            <p:cond delay="0"/>
                                          </p:stCondLst>
                                        </p:cTn>
                                        <p:tgtEl>
                                          <p:spTgt spid="110838"/>
                                        </p:tgtEl>
                                        <p:attrNameLst>
                                          <p:attrName>style.visibility</p:attrName>
                                        </p:attrNameLst>
                                      </p:cBhvr>
                                      <p:to>
                                        <p:strVal val="visible"/>
                                      </p:to>
                                    </p:set>
                                    <p:animEffect transition="in" filter="wipe(up)">
                                      <p:cBhvr>
                                        <p:cTn id="104" dur="500"/>
                                        <p:tgtEl>
                                          <p:spTgt spid="110838"/>
                                        </p:tgtEl>
                                      </p:cBhvr>
                                    </p:animEffec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499"/>
                                          </p:stCondLst>
                                        </p:cTn>
                                        <p:tgtEl>
                                          <p:spTgt spid="110831"/>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499"/>
                                          </p:stCondLst>
                                        </p:cTn>
                                        <p:tgtEl>
                                          <p:spTgt spid="110833"/>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23" presetClass="entr" presetSubtype="16" fill="hold" nodeType="clickEffect">
                                  <p:stCondLst>
                                    <p:cond delay="0"/>
                                  </p:stCondLst>
                                  <p:childTnLst>
                                    <p:set>
                                      <p:cBhvr>
                                        <p:cTn id="116" dur="1" fill="hold">
                                          <p:stCondLst>
                                            <p:cond delay="0"/>
                                          </p:stCondLst>
                                        </p:cTn>
                                        <p:tgtEl>
                                          <p:spTgt spid="4"/>
                                        </p:tgtEl>
                                        <p:attrNameLst>
                                          <p:attrName>style.visibility</p:attrName>
                                        </p:attrNameLst>
                                      </p:cBhvr>
                                      <p:to>
                                        <p:strVal val="visible"/>
                                      </p:to>
                                    </p:set>
                                    <p:anim calcmode="lin" valueType="num">
                                      <p:cBhvr>
                                        <p:cTn id="117" dur="500" fill="hold"/>
                                        <p:tgtEl>
                                          <p:spTgt spid="4"/>
                                        </p:tgtEl>
                                        <p:attrNameLst>
                                          <p:attrName>ppt_w</p:attrName>
                                        </p:attrNameLst>
                                      </p:cBhvr>
                                      <p:tavLst>
                                        <p:tav tm="0">
                                          <p:val>
                                            <p:fltVal val="0"/>
                                          </p:val>
                                        </p:tav>
                                        <p:tav tm="100000">
                                          <p:val>
                                            <p:strVal val="#ppt_w"/>
                                          </p:val>
                                        </p:tav>
                                      </p:tavLst>
                                    </p:anim>
                                    <p:anim calcmode="lin" valueType="num">
                                      <p:cBhvr>
                                        <p:cTn id="11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119" fill="hold">
                      <p:stCondLst>
                        <p:cond delay="indefinite"/>
                      </p:stCondLst>
                      <p:childTnLst>
                        <p:par>
                          <p:cTn id="120" fill="hold">
                            <p:stCondLst>
                              <p:cond delay="0"/>
                            </p:stCondLst>
                            <p:childTnLst>
                              <p:par>
                                <p:cTn id="121" presetID="23" presetClass="entr" presetSubtype="16" fill="hold" grpId="0" nodeType="clickEffect">
                                  <p:stCondLst>
                                    <p:cond delay="0"/>
                                  </p:stCondLst>
                                  <p:childTnLst>
                                    <p:set>
                                      <p:cBhvr>
                                        <p:cTn id="122" dur="1" fill="hold">
                                          <p:stCondLst>
                                            <p:cond delay="0"/>
                                          </p:stCondLst>
                                        </p:cTn>
                                        <p:tgtEl>
                                          <p:spTgt spid="110837"/>
                                        </p:tgtEl>
                                        <p:attrNameLst>
                                          <p:attrName>style.visibility</p:attrName>
                                        </p:attrNameLst>
                                      </p:cBhvr>
                                      <p:to>
                                        <p:strVal val="visible"/>
                                      </p:to>
                                    </p:set>
                                    <p:anim calcmode="lin" valueType="num">
                                      <p:cBhvr>
                                        <p:cTn id="123" dur="500" fill="hold"/>
                                        <p:tgtEl>
                                          <p:spTgt spid="110837"/>
                                        </p:tgtEl>
                                        <p:attrNameLst>
                                          <p:attrName>ppt_w</p:attrName>
                                        </p:attrNameLst>
                                      </p:cBhvr>
                                      <p:tavLst>
                                        <p:tav tm="0">
                                          <p:val>
                                            <p:fltVal val="0"/>
                                          </p:val>
                                        </p:tav>
                                        <p:tav tm="100000">
                                          <p:val>
                                            <p:strVal val="#ppt_w"/>
                                          </p:val>
                                        </p:tav>
                                      </p:tavLst>
                                    </p:anim>
                                    <p:anim calcmode="lin" valueType="num">
                                      <p:cBhvr>
                                        <p:cTn id="124" dur="500" fill="hold"/>
                                        <p:tgtEl>
                                          <p:spTgt spid="110837"/>
                                        </p:tgtEl>
                                        <p:attrNameLst>
                                          <p:attrName>ppt_h</p:attrName>
                                        </p:attrNameLst>
                                      </p:cBhvr>
                                      <p:tavLst>
                                        <p:tav tm="0">
                                          <p:val>
                                            <p:fltVal val="0"/>
                                          </p:val>
                                        </p:tav>
                                        <p:tav tm="100000">
                                          <p:val>
                                            <p:strVal val="#ppt_h"/>
                                          </p:val>
                                        </p:tav>
                                      </p:tavLst>
                                    </p:anim>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499"/>
                                          </p:stCondLst>
                                        </p:cTn>
                                        <p:tgtEl>
                                          <p:spTgt spid="110834"/>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110839"/>
                                        </p:tgtEl>
                                        <p:attrNameLst>
                                          <p:attrName>style.visibility</p:attrName>
                                        </p:attrNameLst>
                                      </p:cBhvr>
                                      <p:to>
                                        <p:strVal val="visible"/>
                                      </p:to>
                                    </p:set>
                                    <p:animEffect transition="in" filter="wipe(left)">
                                      <p:cBhvr>
                                        <p:cTn id="133" dur="500"/>
                                        <p:tgtEl>
                                          <p:spTgt spid="110839"/>
                                        </p:tgtEl>
                                      </p:cBhvr>
                                    </p:animEffec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grpId="0" nodeType="clickEffect">
                                  <p:stCondLst>
                                    <p:cond delay="0"/>
                                  </p:stCondLst>
                                  <p:childTnLst>
                                    <p:set>
                                      <p:cBhvr>
                                        <p:cTn id="137" dur="1" fill="hold">
                                          <p:stCondLst>
                                            <p:cond delay="499"/>
                                          </p:stCondLst>
                                        </p:cTn>
                                        <p:tgtEl>
                                          <p:spTgt spid="1108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6" grpId="0" autoUpdateAnimBg="0"/>
      <p:bldP spid="110598" grpId="0" autoUpdateAnimBg="0"/>
      <p:bldP spid="110679" grpId="0"/>
      <p:bldP spid="110681" grpId="0"/>
      <p:bldP spid="110682" grpId="0"/>
      <p:bldP spid="110683" grpId="0"/>
      <p:bldP spid="110684" grpId="0" autoUpdateAnimBg="0"/>
      <p:bldP spid="110817" grpId="0" animBg="1"/>
      <p:bldP spid="110818" grpId="0" animBg="1"/>
      <p:bldP spid="110819" grpId="0" animBg="1"/>
      <p:bldP spid="110831" grpId="0" autoUpdateAnimBg="0"/>
      <p:bldP spid="110832" grpId="0" autoUpdateAnimBg="0"/>
      <p:bldP spid="110833" grpId="0" autoUpdateAnimBg="0"/>
      <p:bldP spid="110834" grpId="0" autoUpdateAnimBg="0"/>
      <p:bldP spid="110835" grpId="0" autoUpdateAnimBg="0"/>
      <p:bldP spid="110836" grpId="0" animBg="1"/>
      <p:bldP spid="110837" grpId="0" animBg="1"/>
      <p:bldP spid="110838" grpId="0" animBg="1"/>
      <p:bldP spid="110839" grpId="0" animBg="1"/>
      <p:bldP spid="11085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87" name="Text Box 31"/>
          <p:cNvSpPr txBox="1">
            <a:spLocks noChangeArrowheads="1"/>
          </p:cNvSpPr>
          <p:nvPr/>
        </p:nvSpPr>
        <p:spPr bwMode="auto">
          <a:xfrm>
            <a:off x="107950" y="450850"/>
            <a:ext cx="2089150" cy="530225"/>
          </a:xfrm>
          <a:prstGeom prst="rect">
            <a:avLst/>
          </a:prstGeom>
          <a:noFill/>
          <a:ln w="9525">
            <a:noFill/>
            <a:miter lim="800000"/>
            <a:headEnd/>
            <a:tailEnd/>
          </a:ln>
        </p:spPr>
        <p:txBody>
          <a:bodyPr>
            <a:spAutoFit/>
          </a:bodyPr>
          <a:lstStyle/>
          <a:p>
            <a:pPr marL="381000" indent="-381000">
              <a:lnSpc>
                <a:spcPct val="120000"/>
              </a:lnSpc>
            </a:pPr>
            <a:r>
              <a:rPr lang="zh-CN" altLang="en-US" b="1">
                <a:solidFill>
                  <a:srgbClr val="FF3300"/>
                </a:solidFill>
              </a:rPr>
              <a:t>波的衍射</a:t>
            </a:r>
            <a:r>
              <a:rPr lang="en-US" altLang="zh-CN" b="1">
                <a:solidFill>
                  <a:srgbClr val="FF3300"/>
                </a:solidFill>
                <a:ea typeface="楷体_GB2312" pitchFamily="49" charset="-122"/>
              </a:rPr>
              <a:t>:</a:t>
            </a:r>
          </a:p>
        </p:txBody>
      </p:sp>
      <p:sp>
        <p:nvSpPr>
          <p:cNvPr id="198710" name="Text Box 54"/>
          <p:cNvSpPr txBox="1">
            <a:spLocks noChangeArrowheads="1"/>
          </p:cNvSpPr>
          <p:nvPr/>
        </p:nvSpPr>
        <p:spPr bwMode="auto">
          <a:xfrm>
            <a:off x="179388" y="1020763"/>
            <a:ext cx="8713787" cy="968375"/>
          </a:xfrm>
          <a:prstGeom prst="rect">
            <a:avLst/>
          </a:prstGeom>
          <a:noFill/>
          <a:ln w="9525">
            <a:noFill/>
            <a:miter lim="800000"/>
            <a:headEnd/>
            <a:tailEnd/>
          </a:ln>
        </p:spPr>
        <p:txBody>
          <a:bodyPr>
            <a:spAutoFit/>
          </a:bodyPr>
          <a:lstStyle/>
          <a:p>
            <a:pPr marL="381000" indent="-381000">
              <a:lnSpc>
                <a:spcPct val="120000"/>
              </a:lnSpc>
            </a:pPr>
            <a:r>
              <a:rPr lang="en-US" altLang="zh-CN" b="1">
                <a:ea typeface="楷体_GB2312" pitchFamily="49" charset="-122"/>
              </a:rPr>
              <a:t>       </a:t>
            </a:r>
            <a:r>
              <a:rPr lang="zh-CN" altLang="en-US" b="1">
                <a:ea typeface="楷体_GB2312" pitchFamily="49" charset="-122"/>
              </a:rPr>
              <a:t>波在传播过程遇到障碍物时，传播方向发生改变，并能绕过</a:t>
            </a:r>
          </a:p>
          <a:p>
            <a:pPr marL="381000" indent="-381000">
              <a:lnSpc>
                <a:spcPct val="120000"/>
              </a:lnSpc>
            </a:pPr>
            <a:r>
              <a:rPr lang="zh-CN" altLang="en-US" b="1">
                <a:ea typeface="楷体_GB2312" pitchFamily="49" charset="-122"/>
              </a:rPr>
              <a:t>障碍物的边缘继续向前传播，这种现象成为</a:t>
            </a:r>
            <a:r>
              <a:rPr lang="zh-CN" altLang="en-US" b="1">
                <a:solidFill>
                  <a:srgbClr val="FF6600"/>
                </a:solidFill>
                <a:ea typeface="楷体_GB2312" pitchFamily="49" charset="-122"/>
              </a:rPr>
              <a:t>波的衍射</a:t>
            </a:r>
            <a:r>
              <a:rPr lang="zh-CN" altLang="en-US" b="1">
                <a:ea typeface="楷体_GB2312" pitchFamily="49" charset="-122"/>
              </a:rPr>
              <a:t>。</a:t>
            </a:r>
          </a:p>
        </p:txBody>
      </p:sp>
      <p:sp>
        <p:nvSpPr>
          <p:cNvPr id="198711" name="Rectangle 55"/>
          <p:cNvSpPr>
            <a:spLocks noChangeArrowheads="1"/>
          </p:cNvSpPr>
          <p:nvPr/>
        </p:nvSpPr>
        <p:spPr bwMode="auto">
          <a:xfrm>
            <a:off x="250825" y="2132013"/>
            <a:ext cx="6911975" cy="457200"/>
          </a:xfrm>
          <a:prstGeom prst="rect">
            <a:avLst/>
          </a:prstGeom>
          <a:noFill/>
          <a:ln w="9525">
            <a:noFill/>
            <a:miter lim="800000"/>
            <a:headEnd/>
            <a:tailEnd/>
          </a:ln>
        </p:spPr>
        <p:txBody>
          <a:bodyPr>
            <a:spAutoFit/>
          </a:bodyPr>
          <a:lstStyle/>
          <a:p>
            <a:pPr>
              <a:lnSpc>
                <a:spcPct val="120000"/>
              </a:lnSpc>
            </a:pPr>
            <a:r>
              <a:rPr kumimoji="0" lang="zh-CN" altLang="en-US" sz="2000" b="1">
                <a:solidFill>
                  <a:srgbClr val="9900CC"/>
                </a:solidFill>
                <a:latin typeface="宋体" pitchFamily="2" charset="-122"/>
              </a:rPr>
              <a:t>惠更斯原理定性的解释波的衍射现象</a:t>
            </a:r>
            <a:endParaRPr kumimoji="0" lang="zh-CN" altLang="en-US" sz="2000">
              <a:solidFill>
                <a:srgbClr val="9900CC"/>
              </a:solidFill>
              <a:latin typeface="宋体" pitchFamily="2" charset="-122"/>
            </a:endParaRPr>
          </a:p>
        </p:txBody>
      </p:sp>
      <p:grpSp>
        <p:nvGrpSpPr>
          <p:cNvPr id="2" name="Group 81"/>
          <p:cNvGrpSpPr>
            <a:grpSpLocks noChangeAspect="1"/>
          </p:cNvGrpSpPr>
          <p:nvPr/>
        </p:nvGrpSpPr>
        <p:grpSpPr bwMode="auto">
          <a:xfrm>
            <a:off x="2222500" y="2973388"/>
            <a:ext cx="57150" cy="2138362"/>
            <a:chOff x="4377" y="168"/>
            <a:chExt cx="44" cy="1637"/>
          </a:xfrm>
        </p:grpSpPr>
        <p:sp>
          <p:nvSpPr>
            <p:cNvPr id="64591" name="Rectangle 82"/>
            <p:cNvSpPr>
              <a:spLocks noChangeAspect="1" noChangeArrowheads="1"/>
            </p:cNvSpPr>
            <p:nvPr/>
          </p:nvSpPr>
          <p:spPr bwMode="auto">
            <a:xfrm>
              <a:off x="4377" y="168"/>
              <a:ext cx="44" cy="741"/>
            </a:xfrm>
            <a:prstGeom prst="rect">
              <a:avLst/>
            </a:prstGeom>
            <a:solidFill>
              <a:schemeClr val="accent1"/>
            </a:solidFill>
            <a:ln w="12700">
              <a:solidFill>
                <a:srgbClr val="0000FF"/>
              </a:solidFill>
              <a:miter lim="800000"/>
              <a:headEnd/>
              <a:tailEnd/>
            </a:ln>
          </p:spPr>
          <p:txBody>
            <a:bodyPr wrap="none" anchor="ctr"/>
            <a:lstStyle/>
            <a:p>
              <a:endParaRPr lang="zh-CN" altLang="en-US"/>
            </a:p>
          </p:txBody>
        </p:sp>
        <p:sp>
          <p:nvSpPr>
            <p:cNvPr id="64592" name="Rectangle 83"/>
            <p:cNvSpPr>
              <a:spLocks noChangeAspect="1" noChangeArrowheads="1"/>
            </p:cNvSpPr>
            <p:nvPr/>
          </p:nvSpPr>
          <p:spPr bwMode="auto">
            <a:xfrm>
              <a:off x="4377" y="1013"/>
              <a:ext cx="44" cy="792"/>
            </a:xfrm>
            <a:prstGeom prst="rect">
              <a:avLst/>
            </a:prstGeom>
            <a:solidFill>
              <a:schemeClr val="accent1"/>
            </a:solidFill>
            <a:ln w="12700">
              <a:solidFill>
                <a:srgbClr val="0000FF"/>
              </a:solidFill>
              <a:miter lim="800000"/>
              <a:headEnd/>
              <a:tailEnd/>
            </a:ln>
          </p:spPr>
          <p:txBody>
            <a:bodyPr wrap="none" anchor="ctr"/>
            <a:lstStyle/>
            <a:p>
              <a:endParaRPr lang="zh-CN" altLang="en-US"/>
            </a:p>
          </p:txBody>
        </p:sp>
      </p:grpSp>
      <p:grpSp>
        <p:nvGrpSpPr>
          <p:cNvPr id="3" name="Group 84"/>
          <p:cNvGrpSpPr>
            <a:grpSpLocks/>
          </p:cNvGrpSpPr>
          <p:nvPr/>
        </p:nvGrpSpPr>
        <p:grpSpPr bwMode="auto">
          <a:xfrm>
            <a:off x="2274888" y="3252788"/>
            <a:ext cx="857250" cy="1447800"/>
            <a:chOff x="4637" y="573"/>
            <a:chExt cx="540" cy="912"/>
          </a:xfrm>
        </p:grpSpPr>
        <p:sp>
          <p:nvSpPr>
            <p:cNvPr id="64587" name="Arc 85"/>
            <p:cNvSpPr>
              <a:spLocks/>
            </p:cNvSpPr>
            <p:nvPr/>
          </p:nvSpPr>
          <p:spPr bwMode="auto">
            <a:xfrm>
              <a:off x="4665" y="959"/>
              <a:ext cx="129" cy="192"/>
            </a:xfrm>
            <a:custGeom>
              <a:avLst/>
              <a:gdLst>
                <a:gd name="T0" fmla="*/ 0 w 29036"/>
                <a:gd name="T1" fmla="*/ 0 h 43200"/>
                <a:gd name="T2" fmla="*/ 0 w 29036"/>
                <a:gd name="T3" fmla="*/ 0 h 43200"/>
                <a:gd name="T4" fmla="*/ 0 w 29036"/>
                <a:gd name="T5" fmla="*/ 0 h 43200"/>
                <a:gd name="T6" fmla="*/ 0 60000 65536"/>
                <a:gd name="T7" fmla="*/ 0 60000 65536"/>
                <a:gd name="T8" fmla="*/ 0 60000 65536"/>
                <a:gd name="T9" fmla="*/ 0 w 29036"/>
                <a:gd name="T10" fmla="*/ 0 h 43200"/>
                <a:gd name="T11" fmla="*/ 29036 w 29036"/>
                <a:gd name="T12" fmla="*/ 43200 h 43200"/>
              </a:gdLst>
              <a:ahLst/>
              <a:cxnLst>
                <a:cxn ang="T6">
                  <a:pos x="T0" y="T1"/>
                </a:cxn>
                <a:cxn ang="T7">
                  <a:pos x="T2" y="T3"/>
                </a:cxn>
                <a:cxn ang="T8">
                  <a:pos x="T4" y="T5"/>
                </a:cxn>
              </a:cxnLst>
              <a:rect l="T9" t="T10" r="T11" b="T12"/>
              <a:pathLst>
                <a:path w="29036" h="43200" fill="none" extrusionOk="0">
                  <a:moveTo>
                    <a:pt x="72" y="1294"/>
                  </a:moveTo>
                  <a:cubicBezTo>
                    <a:pt x="2432" y="437"/>
                    <a:pt x="4924" y="-1"/>
                    <a:pt x="7436" y="0"/>
                  </a:cubicBezTo>
                  <a:cubicBezTo>
                    <a:pt x="19365" y="0"/>
                    <a:pt x="29036" y="9670"/>
                    <a:pt x="29036" y="21600"/>
                  </a:cubicBezTo>
                  <a:cubicBezTo>
                    <a:pt x="29036" y="33529"/>
                    <a:pt x="19365" y="43200"/>
                    <a:pt x="7436" y="43200"/>
                  </a:cubicBezTo>
                  <a:cubicBezTo>
                    <a:pt x="4899" y="43200"/>
                    <a:pt x="2381" y="42753"/>
                    <a:pt x="0" y="41879"/>
                  </a:cubicBezTo>
                </a:path>
                <a:path w="29036" h="43200" stroke="0" extrusionOk="0">
                  <a:moveTo>
                    <a:pt x="72" y="1294"/>
                  </a:moveTo>
                  <a:cubicBezTo>
                    <a:pt x="2432" y="437"/>
                    <a:pt x="4924" y="-1"/>
                    <a:pt x="7436" y="0"/>
                  </a:cubicBezTo>
                  <a:cubicBezTo>
                    <a:pt x="19365" y="0"/>
                    <a:pt x="29036" y="9670"/>
                    <a:pt x="29036" y="21600"/>
                  </a:cubicBezTo>
                  <a:cubicBezTo>
                    <a:pt x="29036" y="33529"/>
                    <a:pt x="19365" y="43200"/>
                    <a:pt x="7436" y="43200"/>
                  </a:cubicBezTo>
                  <a:cubicBezTo>
                    <a:pt x="4899" y="43200"/>
                    <a:pt x="2381" y="42753"/>
                    <a:pt x="0" y="41879"/>
                  </a:cubicBezTo>
                  <a:lnTo>
                    <a:pt x="7436" y="21600"/>
                  </a:lnTo>
                  <a:close/>
                </a:path>
              </a:pathLst>
            </a:custGeom>
            <a:noFill/>
            <a:ln w="12700" cap="rnd">
              <a:solidFill>
                <a:srgbClr val="FF6600"/>
              </a:solidFill>
              <a:round/>
              <a:headEnd type="none" w="sm" len="sm"/>
              <a:tailEnd type="none" w="sm" len="sm"/>
            </a:ln>
          </p:spPr>
          <p:txBody>
            <a:bodyPr wrap="none" anchor="ctr"/>
            <a:lstStyle/>
            <a:p>
              <a:endParaRPr lang="zh-CN" altLang="en-US"/>
            </a:p>
          </p:txBody>
        </p:sp>
        <p:sp>
          <p:nvSpPr>
            <p:cNvPr id="64588" name="Arc 86"/>
            <p:cNvSpPr>
              <a:spLocks/>
            </p:cNvSpPr>
            <p:nvPr/>
          </p:nvSpPr>
          <p:spPr bwMode="auto">
            <a:xfrm>
              <a:off x="4642" y="813"/>
              <a:ext cx="254" cy="440"/>
            </a:xfrm>
            <a:custGeom>
              <a:avLst/>
              <a:gdLst>
                <a:gd name="T0" fmla="*/ 0 w 22125"/>
                <a:gd name="T1" fmla="*/ 0 h 43200"/>
                <a:gd name="T2" fmla="*/ 0 w 22125"/>
                <a:gd name="T3" fmla="*/ 0 h 43200"/>
                <a:gd name="T4" fmla="*/ 0 w 22125"/>
                <a:gd name="T5" fmla="*/ 0 h 43200"/>
                <a:gd name="T6" fmla="*/ 0 60000 65536"/>
                <a:gd name="T7" fmla="*/ 0 60000 65536"/>
                <a:gd name="T8" fmla="*/ 0 60000 65536"/>
                <a:gd name="T9" fmla="*/ 0 w 22125"/>
                <a:gd name="T10" fmla="*/ 0 h 43200"/>
                <a:gd name="T11" fmla="*/ 22125 w 22125"/>
                <a:gd name="T12" fmla="*/ 43200 h 43200"/>
              </a:gdLst>
              <a:ahLst/>
              <a:cxnLst>
                <a:cxn ang="T6">
                  <a:pos x="T0" y="T1"/>
                </a:cxn>
                <a:cxn ang="T7">
                  <a:pos x="T2" y="T3"/>
                </a:cxn>
                <a:cxn ang="T8">
                  <a:pos x="T4" y="T5"/>
                </a:cxn>
              </a:cxnLst>
              <a:rect l="T9" t="T10" r="T11" b="T12"/>
              <a:pathLst>
                <a:path w="22125" h="43200" fill="none" extrusionOk="0">
                  <a:moveTo>
                    <a:pt x="3" y="6"/>
                  </a:moveTo>
                  <a:cubicBezTo>
                    <a:pt x="176" y="2"/>
                    <a:pt x="350" y="-1"/>
                    <a:pt x="525" y="0"/>
                  </a:cubicBezTo>
                  <a:cubicBezTo>
                    <a:pt x="12454" y="0"/>
                    <a:pt x="22125" y="9670"/>
                    <a:pt x="22125" y="21600"/>
                  </a:cubicBezTo>
                  <a:cubicBezTo>
                    <a:pt x="22125" y="33529"/>
                    <a:pt x="12454" y="43200"/>
                    <a:pt x="525" y="43200"/>
                  </a:cubicBezTo>
                  <a:cubicBezTo>
                    <a:pt x="349" y="43200"/>
                    <a:pt x="174" y="43197"/>
                    <a:pt x="0" y="43193"/>
                  </a:cubicBezTo>
                </a:path>
                <a:path w="22125" h="43200" stroke="0" extrusionOk="0">
                  <a:moveTo>
                    <a:pt x="3" y="6"/>
                  </a:moveTo>
                  <a:cubicBezTo>
                    <a:pt x="176" y="2"/>
                    <a:pt x="350" y="-1"/>
                    <a:pt x="525" y="0"/>
                  </a:cubicBezTo>
                  <a:cubicBezTo>
                    <a:pt x="12454" y="0"/>
                    <a:pt x="22125" y="9670"/>
                    <a:pt x="22125" y="21600"/>
                  </a:cubicBezTo>
                  <a:cubicBezTo>
                    <a:pt x="22125" y="33529"/>
                    <a:pt x="12454" y="43200"/>
                    <a:pt x="525" y="43200"/>
                  </a:cubicBezTo>
                  <a:cubicBezTo>
                    <a:pt x="349" y="43200"/>
                    <a:pt x="174" y="43197"/>
                    <a:pt x="0" y="43193"/>
                  </a:cubicBezTo>
                  <a:lnTo>
                    <a:pt x="525" y="21600"/>
                  </a:lnTo>
                  <a:close/>
                </a:path>
              </a:pathLst>
            </a:custGeom>
            <a:noFill/>
            <a:ln w="12700" cap="rnd">
              <a:solidFill>
                <a:srgbClr val="FF6600"/>
              </a:solidFill>
              <a:round/>
              <a:headEnd type="none" w="sm" len="sm"/>
              <a:tailEnd type="none" w="sm" len="sm"/>
            </a:ln>
          </p:spPr>
          <p:txBody>
            <a:bodyPr wrap="none" anchor="ctr"/>
            <a:lstStyle/>
            <a:p>
              <a:endParaRPr lang="zh-CN" altLang="en-US"/>
            </a:p>
          </p:txBody>
        </p:sp>
        <p:sp>
          <p:nvSpPr>
            <p:cNvPr id="64589" name="Arc 87"/>
            <p:cNvSpPr>
              <a:spLocks/>
            </p:cNvSpPr>
            <p:nvPr/>
          </p:nvSpPr>
          <p:spPr bwMode="auto">
            <a:xfrm>
              <a:off x="4637" y="679"/>
              <a:ext cx="405" cy="672"/>
            </a:xfrm>
            <a:custGeom>
              <a:avLst/>
              <a:gdLst>
                <a:gd name="T0" fmla="*/ 0 w 22783"/>
                <a:gd name="T1" fmla="*/ 0 h 43200"/>
                <a:gd name="T2" fmla="*/ 0 w 22783"/>
                <a:gd name="T3" fmla="*/ 0 h 43200"/>
                <a:gd name="T4" fmla="*/ 0 w 22783"/>
                <a:gd name="T5" fmla="*/ 0 h 43200"/>
                <a:gd name="T6" fmla="*/ 0 60000 65536"/>
                <a:gd name="T7" fmla="*/ 0 60000 65536"/>
                <a:gd name="T8" fmla="*/ 0 60000 65536"/>
                <a:gd name="T9" fmla="*/ 0 w 22783"/>
                <a:gd name="T10" fmla="*/ 0 h 43200"/>
                <a:gd name="T11" fmla="*/ 22783 w 22783"/>
                <a:gd name="T12" fmla="*/ 43200 h 43200"/>
              </a:gdLst>
              <a:ahLst/>
              <a:cxnLst>
                <a:cxn ang="T6">
                  <a:pos x="T0" y="T1"/>
                </a:cxn>
                <a:cxn ang="T7">
                  <a:pos x="T2" y="T3"/>
                </a:cxn>
                <a:cxn ang="T8">
                  <a:pos x="T4" y="T5"/>
                </a:cxn>
              </a:cxnLst>
              <a:rect l="T9" t="T10" r="T11" b="T12"/>
              <a:pathLst>
                <a:path w="22783" h="43200" fill="none" extrusionOk="0">
                  <a:moveTo>
                    <a:pt x="1182" y="0"/>
                  </a:moveTo>
                  <a:cubicBezTo>
                    <a:pt x="13112" y="0"/>
                    <a:pt x="22783" y="9670"/>
                    <a:pt x="22783" y="21600"/>
                  </a:cubicBezTo>
                  <a:cubicBezTo>
                    <a:pt x="22783" y="33529"/>
                    <a:pt x="13112" y="43200"/>
                    <a:pt x="1183" y="43200"/>
                  </a:cubicBezTo>
                  <a:cubicBezTo>
                    <a:pt x="788" y="43200"/>
                    <a:pt x="393" y="43189"/>
                    <a:pt x="0" y="43167"/>
                  </a:cubicBezTo>
                </a:path>
                <a:path w="22783" h="43200" stroke="0" extrusionOk="0">
                  <a:moveTo>
                    <a:pt x="1182" y="0"/>
                  </a:moveTo>
                  <a:cubicBezTo>
                    <a:pt x="13112" y="0"/>
                    <a:pt x="22783" y="9670"/>
                    <a:pt x="22783" y="21600"/>
                  </a:cubicBezTo>
                  <a:cubicBezTo>
                    <a:pt x="22783" y="33529"/>
                    <a:pt x="13112" y="43200"/>
                    <a:pt x="1183" y="43200"/>
                  </a:cubicBezTo>
                  <a:cubicBezTo>
                    <a:pt x="788" y="43200"/>
                    <a:pt x="393" y="43189"/>
                    <a:pt x="0" y="43167"/>
                  </a:cubicBezTo>
                  <a:lnTo>
                    <a:pt x="1183" y="21600"/>
                  </a:lnTo>
                  <a:close/>
                </a:path>
              </a:pathLst>
            </a:custGeom>
            <a:noFill/>
            <a:ln w="12700" cap="rnd">
              <a:solidFill>
                <a:srgbClr val="FF6600"/>
              </a:solidFill>
              <a:round/>
              <a:headEnd type="none" w="sm" len="sm"/>
              <a:tailEnd type="none" w="sm" len="sm"/>
            </a:ln>
          </p:spPr>
          <p:txBody>
            <a:bodyPr wrap="none" anchor="ctr"/>
            <a:lstStyle/>
            <a:p>
              <a:endParaRPr lang="zh-CN" altLang="en-US"/>
            </a:p>
          </p:txBody>
        </p:sp>
        <p:sp>
          <p:nvSpPr>
            <p:cNvPr id="64590" name="Arc 88"/>
            <p:cNvSpPr>
              <a:spLocks/>
            </p:cNvSpPr>
            <p:nvPr/>
          </p:nvSpPr>
          <p:spPr bwMode="auto">
            <a:xfrm>
              <a:off x="4647" y="573"/>
              <a:ext cx="530" cy="912"/>
            </a:xfrm>
            <a:custGeom>
              <a:avLst/>
              <a:gdLst>
                <a:gd name="T0" fmla="*/ 0 w 21807"/>
                <a:gd name="T1" fmla="*/ 0 h 43176"/>
                <a:gd name="T2" fmla="*/ 0 w 21807"/>
                <a:gd name="T3" fmla="*/ 0 h 43176"/>
                <a:gd name="T4" fmla="*/ 0 w 21807"/>
                <a:gd name="T5" fmla="*/ 0 h 43176"/>
                <a:gd name="T6" fmla="*/ 0 60000 65536"/>
                <a:gd name="T7" fmla="*/ 0 60000 65536"/>
                <a:gd name="T8" fmla="*/ 0 60000 65536"/>
                <a:gd name="T9" fmla="*/ 0 w 21807"/>
                <a:gd name="T10" fmla="*/ 0 h 43176"/>
                <a:gd name="T11" fmla="*/ 21807 w 21807"/>
                <a:gd name="T12" fmla="*/ 43176 h 43176"/>
              </a:gdLst>
              <a:ahLst/>
              <a:cxnLst>
                <a:cxn ang="T6">
                  <a:pos x="T0" y="T1"/>
                </a:cxn>
                <a:cxn ang="T7">
                  <a:pos x="T2" y="T3"/>
                </a:cxn>
                <a:cxn ang="T8">
                  <a:pos x="T4" y="T5"/>
                </a:cxn>
              </a:cxnLst>
              <a:rect l="T9" t="T10" r="T11" b="T12"/>
              <a:pathLst>
                <a:path w="21807" h="43176" fill="none" extrusionOk="0">
                  <a:moveTo>
                    <a:pt x="1233" y="0"/>
                  </a:moveTo>
                  <a:cubicBezTo>
                    <a:pt x="12751" y="548"/>
                    <a:pt x="21807" y="10045"/>
                    <a:pt x="21807" y="21576"/>
                  </a:cubicBezTo>
                  <a:cubicBezTo>
                    <a:pt x="21807" y="33505"/>
                    <a:pt x="12136" y="43176"/>
                    <a:pt x="207" y="43176"/>
                  </a:cubicBezTo>
                  <a:cubicBezTo>
                    <a:pt x="137" y="43176"/>
                    <a:pt x="68" y="43175"/>
                    <a:pt x="-1" y="43175"/>
                  </a:cubicBezTo>
                </a:path>
                <a:path w="21807" h="43176" stroke="0" extrusionOk="0">
                  <a:moveTo>
                    <a:pt x="1233" y="0"/>
                  </a:moveTo>
                  <a:cubicBezTo>
                    <a:pt x="12751" y="548"/>
                    <a:pt x="21807" y="10045"/>
                    <a:pt x="21807" y="21576"/>
                  </a:cubicBezTo>
                  <a:cubicBezTo>
                    <a:pt x="21807" y="33505"/>
                    <a:pt x="12136" y="43176"/>
                    <a:pt x="207" y="43176"/>
                  </a:cubicBezTo>
                  <a:cubicBezTo>
                    <a:pt x="137" y="43176"/>
                    <a:pt x="68" y="43175"/>
                    <a:pt x="-1" y="43175"/>
                  </a:cubicBezTo>
                  <a:lnTo>
                    <a:pt x="207" y="21576"/>
                  </a:lnTo>
                  <a:close/>
                </a:path>
              </a:pathLst>
            </a:custGeom>
            <a:noFill/>
            <a:ln w="12700" cap="rnd">
              <a:solidFill>
                <a:srgbClr val="FF6600"/>
              </a:solidFill>
              <a:round/>
              <a:headEnd type="none" w="sm" len="sm"/>
              <a:tailEnd type="none" w="sm" len="sm"/>
            </a:ln>
          </p:spPr>
          <p:txBody>
            <a:bodyPr wrap="none" anchor="ctr"/>
            <a:lstStyle/>
            <a:p>
              <a:endParaRPr lang="zh-CN" altLang="en-US"/>
            </a:p>
          </p:txBody>
        </p:sp>
      </p:grpSp>
      <p:grpSp>
        <p:nvGrpSpPr>
          <p:cNvPr id="4" name="Group 89"/>
          <p:cNvGrpSpPr>
            <a:grpSpLocks/>
          </p:cNvGrpSpPr>
          <p:nvPr/>
        </p:nvGrpSpPr>
        <p:grpSpPr bwMode="auto">
          <a:xfrm>
            <a:off x="2292350" y="2717800"/>
            <a:ext cx="1524000" cy="2438400"/>
            <a:chOff x="4648" y="236"/>
            <a:chExt cx="960" cy="1536"/>
          </a:xfrm>
        </p:grpSpPr>
        <p:sp>
          <p:nvSpPr>
            <p:cNvPr id="64580" name="Line 90"/>
            <p:cNvSpPr>
              <a:spLocks noChangeShapeType="1"/>
            </p:cNvSpPr>
            <p:nvPr/>
          </p:nvSpPr>
          <p:spPr bwMode="auto">
            <a:xfrm>
              <a:off x="4696" y="1052"/>
              <a:ext cx="912" cy="0"/>
            </a:xfrm>
            <a:prstGeom prst="line">
              <a:avLst/>
            </a:prstGeom>
            <a:noFill/>
            <a:ln w="12700">
              <a:solidFill>
                <a:schemeClr val="tx2"/>
              </a:solidFill>
              <a:round/>
              <a:headEnd type="none" w="sm" len="sm"/>
              <a:tailEnd type="stealth" w="med" len="lg"/>
            </a:ln>
          </p:spPr>
          <p:txBody>
            <a:bodyPr wrap="none" anchor="ctr"/>
            <a:lstStyle/>
            <a:p>
              <a:endParaRPr lang="zh-CN" altLang="en-US"/>
            </a:p>
          </p:txBody>
        </p:sp>
        <p:sp>
          <p:nvSpPr>
            <p:cNvPr id="64581" name="Line 91"/>
            <p:cNvSpPr>
              <a:spLocks noChangeShapeType="1"/>
            </p:cNvSpPr>
            <p:nvPr/>
          </p:nvSpPr>
          <p:spPr bwMode="auto">
            <a:xfrm flipV="1">
              <a:off x="4648" y="284"/>
              <a:ext cx="768" cy="768"/>
            </a:xfrm>
            <a:prstGeom prst="line">
              <a:avLst/>
            </a:prstGeom>
            <a:noFill/>
            <a:ln w="12700">
              <a:solidFill>
                <a:schemeClr val="tx2"/>
              </a:solidFill>
              <a:round/>
              <a:headEnd type="none" w="sm" len="sm"/>
              <a:tailEnd type="stealth" w="med" len="lg"/>
            </a:ln>
          </p:spPr>
          <p:txBody>
            <a:bodyPr wrap="none" anchor="ctr"/>
            <a:lstStyle/>
            <a:p>
              <a:endParaRPr lang="zh-CN" altLang="en-US"/>
            </a:p>
          </p:txBody>
        </p:sp>
        <p:sp>
          <p:nvSpPr>
            <p:cNvPr id="64582" name="Line 92"/>
            <p:cNvSpPr>
              <a:spLocks noChangeShapeType="1"/>
            </p:cNvSpPr>
            <p:nvPr/>
          </p:nvSpPr>
          <p:spPr bwMode="auto">
            <a:xfrm>
              <a:off x="4648" y="1052"/>
              <a:ext cx="672" cy="672"/>
            </a:xfrm>
            <a:prstGeom prst="line">
              <a:avLst/>
            </a:prstGeom>
            <a:noFill/>
            <a:ln w="12700">
              <a:solidFill>
                <a:schemeClr val="tx2"/>
              </a:solidFill>
              <a:round/>
              <a:headEnd type="none" w="sm" len="sm"/>
              <a:tailEnd type="stealth" w="med" len="lg"/>
            </a:ln>
          </p:spPr>
          <p:txBody>
            <a:bodyPr wrap="none" anchor="ctr"/>
            <a:lstStyle/>
            <a:p>
              <a:endParaRPr lang="zh-CN" altLang="en-US"/>
            </a:p>
          </p:txBody>
        </p:sp>
        <p:sp>
          <p:nvSpPr>
            <p:cNvPr id="64583" name="Line 93"/>
            <p:cNvSpPr>
              <a:spLocks noChangeShapeType="1"/>
            </p:cNvSpPr>
            <p:nvPr/>
          </p:nvSpPr>
          <p:spPr bwMode="auto">
            <a:xfrm flipV="1">
              <a:off x="4744" y="668"/>
              <a:ext cx="768" cy="336"/>
            </a:xfrm>
            <a:prstGeom prst="line">
              <a:avLst/>
            </a:prstGeom>
            <a:noFill/>
            <a:ln w="12700">
              <a:solidFill>
                <a:schemeClr val="tx2"/>
              </a:solidFill>
              <a:round/>
              <a:headEnd type="none" w="sm" len="sm"/>
              <a:tailEnd type="stealth" w="med" len="lg"/>
            </a:ln>
          </p:spPr>
          <p:txBody>
            <a:bodyPr wrap="none" anchor="ctr"/>
            <a:lstStyle/>
            <a:p>
              <a:endParaRPr lang="zh-CN" altLang="en-US"/>
            </a:p>
          </p:txBody>
        </p:sp>
        <p:sp>
          <p:nvSpPr>
            <p:cNvPr id="64584" name="Line 94"/>
            <p:cNvSpPr>
              <a:spLocks noChangeShapeType="1"/>
            </p:cNvSpPr>
            <p:nvPr/>
          </p:nvSpPr>
          <p:spPr bwMode="auto">
            <a:xfrm>
              <a:off x="4744" y="1100"/>
              <a:ext cx="720" cy="288"/>
            </a:xfrm>
            <a:prstGeom prst="line">
              <a:avLst/>
            </a:prstGeom>
            <a:noFill/>
            <a:ln w="12700">
              <a:solidFill>
                <a:schemeClr val="tx2"/>
              </a:solidFill>
              <a:round/>
              <a:headEnd type="none" w="sm" len="sm"/>
              <a:tailEnd type="stealth" w="med" len="lg"/>
            </a:ln>
          </p:spPr>
          <p:txBody>
            <a:bodyPr wrap="none" anchor="ctr"/>
            <a:lstStyle/>
            <a:p>
              <a:endParaRPr lang="zh-CN" altLang="en-US"/>
            </a:p>
          </p:txBody>
        </p:sp>
        <p:sp>
          <p:nvSpPr>
            <p:cNvPr id="64585" name="Line 95"/>
            <p:cNvSpPr>
              <a:spLocks noChangeShapeType="1"/>
            </p:cNvSpPr>
            <p:nvPr/>
          </p:nvSpPr>
          <p:spPr bwMode="auto">
            <a:xfrm>
              <a:off x="4696" y="1148"/>
              <a:ext cx="240" cy="624"/>
            </a:xfrm>
            <a:prstGeom prst="line">
              <a:avLst/>
            </a:prstGeom>
            <a:noFill/>
            <a:ln w="12700">
              <a:solidFill>
                <a:schemeClr val="tx2"/>
              </a:solidFill>
              <a:round/>
              <a:headEnd type="none" w="sm" len="sm"/>
              <a:tailEnd type="stealth" w="med" len="lg"/>
            </a:ln>
          </p:spPr>
          <p:txBody>
            <a:bodyPr wrap="none" anchor="ctr"/>
            <a:lstStyle/>
            <a:p>
              <a:endParaRPr lang="zh-CN" altLang="en-US"/>
            </a:p>
          </p:txBody>
        </p:sp>
        <p:sp>
          <p:nvSpPr>
            <p:cNvPr id="64586" name="Line 96"/>
            <p:cNvSpPr>
              <a:spLocks noChangeShapeType="1"/>
            </p:cNvSpPr>
            <p:nvPr/>
          </p:nvSpPr>
          <p:spPr bwMode="auto">
            <a:xfrm flipV="1">
              <a:off x="4648" y="236"/>
              <a:ext cx="384" cy="768"/>
            </a:xfrm>
            <a:prstGeom prst="line">
              <a:avLst/>
            </a:prstGeom>
            <a:noFill/>
            <a:ln w="12700">
              <a:solidFill>
                <a:schemeClr val="tx2"/>
              </a:solidFill>
              <a:round/>
              <a:headEnd type="none" w="sm" len="sm"/>
              <a:tailEnd type="stealth" w="med" len="lg"/>
            </a:ln>
          </p:spPr>
          <p:txBody>
            <a:bodyPr wrap="none" anchor="ctr"/>
            <a:lstStyle/>
            <a:p>
              <a:endParaRPr lang="zh-CN" altLang="en-US"/>
            </a:p>
          </p:txBody>
        </p:sp>
      </p:grpSp>
      <p:grpSp>
        <p:nvGrpSpPr>
          <p:cNvPr id="5" name="Group 97"/>
          <p:cNvGrpSpPr>
            <a:grpSpLocks/>
          </p:cNvGrpSpPr>
          <p:nvPr/>
        </p:nvGrpSpPr>
        <p:grpSpPr bwMode="auto">
          <a:xfrm>
            <a:off x="422275" y="3108325"/>
            <a:ext cx="1828800" cy="1905000"/>
            <a:chOff x="1920" y="1344"/>
            <a:chExt cx="1152" cy="1200"/>
          </a:xfrm>
        </p:grpSpPr>
        <p:sp>
          <p:nvSpPr>
            <p:cNvPr id="64567" name="Line 98"/>
            <p:cNvSpPr>
              <a:spLocks noChangeShapeType="1"/>
            </p:cNvSpPr>
            <p:nvPr/>
          </p:nvSpPr>
          <p:spPr bwMode="auto">
            <a:xfrm>
              <a:off x="1920" y="1440"/>
              <a:ext cx="1152" cy="0"/>
            </a:xfrm>
            <a:prstGeom prst="line">
              <a:avLst/>
            </a:prstGeom>
            <a:noFill/>
            <a:ln w="28575">
              <a:solidFill>
                <a:srgbClr val="33CC33"/>
              </a:solidFill>
              <a:round/>
              <a:headEnd/>
              <a:tailEnd/>
            </a:ln>
          </p:spPr>
          <p:txBody>
            <a:bodyPr/>
            <a:lstStyle/>
            <a:p>
              <a:endParaRPr lang="zh-CN" altLang="en-US"/>
            </a:p>
          </p:txBody>
        </p:sp>
        <p:sp>
          <p:nvSpPr>
            <p:cNvPr id="64568" name="Line 99"/>
            <p:cNvSpPr>
              <a:spLocks noChangeShapeType="1"/>
            </p:cNvSpPr>
            <p:nvPr/>
          </p:nvSpPr>
          <p:spPr bwMode="auto">
            <a:xfrm>
              <a:off x="1920" y="1632"/>
              <a:ext cx="1152" cy="0"/>
            </a:xfrm>
            <a:prstGeom prst="line">
              <a:avLst/>
            </a:prstGeom>
            <a:noFill/>
            <a:ln w="28575">
              <a:solidFill>
                <a:srgbClr val="33CC33"/>
              </a:solidFill>
              <a:round/>
              <a:headEnd/>
              <a:tailEnd/>
            </a:ln>
          </p:spPr>
          <p:txBody>
            <a:bodyPr/>
            <a:lstStyle/>
            <a:p>
              <a:endParaRPr lang="zh-CN" altLang="en-US"/>
            </a:p>
          </p:txBody>
        </p:sp>
        <p:sp>
          <p:nvSpPr>
            <p:cNvPr id="64569" name="Line 100"/>
            <p:cNvSpPr>
              <a:spLocks noChangeShapeType="1"/>
            </p:cNvSpPr>
            <p:nvPr/>
          </p:nvSpPr>
          <p:spPr bwMode="auto">
            <a:xfrm>
              <a:off x="1920" y="1824"/>
              <a:ext cx="1152" cy="0"/>
            </a:xfrm>
            <a:prstGeom prst="line">
              <a:avLst/>
            </a:prstGeom>
            <a:noFill/>
            <a:ln w="28575">
              <a:solidFill>
                <a:srgbClr val="33CC33"/>
              </a:solidFill>
              <a:round/>
              <a:headEnd/>
              <a:tailEnd/>
            </a:ln>
          </p:spPr>
          <p:txBody>
            <a:bodyPr/>
            <a:lstStyle/>
            <a:p>
              <a:endParaRPr lang="zh-CN" altLang="en-US"/>
            </a:p>
          </p:txBody>
        </p:sp>
        <p:sp>
          <p:nvSpPr>
            <p:cNvPr id="64570" name="Line 101"/>
            <p:cNvSpPr>
              <a:spLocks noChangeShapeType="1"/>
            </p:cNvSpPr>
            <p:nvPr/>
          </p:nvSpPr>
          <p:spPr bwMode="auto">
            <a:xfrm>
              <a:off x="1920" y="2016"/>
              <a:ext cx="1152" cy="0"/>
            </a:xfrm>
            <a:prstGeom prst="line">
              <a:avLst/>
            </a:prstGeom>
            <a:noFill/>
            <a:ln w="28575">
              <a:solidFill>
                <a:srgbClr val="33CC33"/>
              </a:solidFill>
              <a:round/>
              <a:headEnd/>
              <a:tailEnd/>
            </a:ln>
          </p:spPr>
          <p:txBody>
            <a:bodyPr/>
            <a:lstStyle/>
            <a:p>
              <a:endParaRPr lang="zh-CN" altLang="en-US"/>
            </a:p>
          </p:txBody>
        </p:sp>
        <p:sp>
          <p:nvSpPr>
            <p:cNvPr id="64571" name="Line 102"/>
            <p:cNvSpPr>
              <a:spLocks noChangeShapeType="1"/>
            </p:cNvSpPr>
            <p:nvPr/>
          </p:nvSpPr>
          <p:spPr bwMode="auto">
            <a:xfrm>
              <a:off x="1920" y="2208"/>
              <a:ext cx="1152" cy="0"/>
            </a:xfrm>
            <a:prstGeom prst="line">
              <a:avLst/>
            </a:prstGeom>
            <a:noFill/>
            <a:ln w="28575">
              <a:solidFill>
                <a:srgbClr val="33CC33"/>
              </a:solidFill>
              <a:round/>
              <a:headEnd/>
              <a:tailEnd/>
            </a:ln>
          </p:spPr>
          <p:txBody>
            <a:bodyPr/>
            <a:lstStyle/>
            <a:p>
              <a:endParaRPr lang="zh-CN" altLang="en-US"/>
            </a:p>
          </p:txBody>
        </p:sp>
        <p:sp>
          <p:nvSpPr>
            <p:cNvPr id="64572" name="Line 103"/>
            <p:cNvSpPr>
              <a:spLocks noChangeShapeType="1"/>
            </p:cNvSpPr>
            <p:nvPr/>
          </p:nvSpPr>
          <p:spPr bwMode="auto">
            <a:xfrm>
              <a:off x="1920" y="2400"/>
              <a:ext cx="1152" cy="0"/>
            </a:xfrm>
            <a:prstGeom prst="line">
              <a:avLst/>
            </a:prstGeom>
            <a:noFill/>
            <a:ln w="28575">
              <a:solidFill>
                <a:srgbClr val="33CC33"/>
              </a:solidFill>
              <a:round/>
              <a:headEnd/>
              <a:tailEnd/>
            </a:ln>
          </p:spPr>
          <p:txBody>
            <a:bodyPr/>
            <a:lstStyle/>
            <a:p>
              <a:endParaRPr lang="zh-CN" altLang="en-US"/>
            </a:p>
          </p:txBody>
        </p:sp>
        <p:sp>
          <p:nvSpPr>
            <p:cNvPr id="64573" name="Line 104"/>
            <p:cNvSpPr>
              <a:spLocks noChangeShapeType="1"/>
            </p:cNvSpPr>
            <p:nvPr/>
          </p:nvSpPr>
          <p:spPr bwMode="auto">
            <a:xfrm>
              <a:off x="2064" y="1344"/>
              <a:ext cx="0" cy="1200"/>
            </a:xfrm>
            <a:prstGeom prst="line">
              <a:avLst/>
            </a:prstGeom>
            <a:noFill/>
            <a:ln w="19050">
              <a:solidFill>
                <a:srgbClr val="FF3300"/>
              </a:solidFill>
              <a:prstDash val="dash"/>
              <a:round/>
              <a:headEnd/>
              <a:tailEnd/>
            </a:ln>
          </p:spPr>
          <p:txBody>
            <a:bodyPr/>
            <a:lstStyle/>
            <a:p>
              <a:endParaRPr lang="zh-CN" altLang="en-US"/>
            </a:p>
          </p:txBody>
        </p:sp>
        <p:sp>
          <p:nvSpPr>
            <p:cNvPr id="64574" name="Line 105"/>
            <p:cNvSpPr>
              <a:spLocks noChangeShapeType="1"/>
            </p:cNvSpPr>
            <p:nvPr/>
          </p:nvSpPr>
          <p:spPr bwMode="auto">
            <a:xfrm>
              <a:off x="2208" y="1344"/>
              <a:ext cx="0" cy="1200"/>
            </a:xfrm>
            <a:prstGeom prst="line">
              <a:avLst/>
            </a:prstGeom>
            <a:noFill/>
            <a:ln w="19050">
              <a:solidFill>
                <a:srgbClr val="FF3300"/>
              </a:solidFill>
              <a:prstDash val="dash"/>
              <a:round/>
              <a:headEnd/>
              <a:tailEnd/>
            </a:ln>
          </p:spPr>
          <p:txBody>
            <a:bodyPr/>
            <a:lstStyle/>
            <a:p>
              <a:endParaRPr lang="zh-CN" altLang="en-US"/>
            </a:p>
          </p:txBody>
        </p:sp>
        <p:sp>
          <p:nvSpPr>
            <p:cNvPr id="64575" name="Line 106"/>
            <p:cNvSpPr>
              <a:spLocks noChangeShapeType="1"/>
            </p:cNvSpPr>
            <p:nvPr/>
          </p:nvSpPr>
          <p:spPr bwMode="auto">
            <a:xfrm>
              <a:off x="2352" y="1344"/>
              <a:ext cx="0" cy="1200"/>
            </a:xfrm>
            <a:prstGeom prst="line">
              <a:avLst/>
            </a:prstGeom>
            <a:noFill/>
            <a:ln w="19050">
              <a:solidFill>
                <a:srgbClr val="FF3300"/>
              </a:solidFill>
              <a:prstDash val="dash"/>
              <a:round/>
              <a:headEnd/>
              <a:tailEnd/>
            </a:ln>
          </p:spPr>
          <p:txBody>
            <a:bodyPr/>
            <a:lstStyle/>
            <a:p>
              <a:endParaRPr lang="zh-CN" altLang="en-US"/>
            </a:p>
          </p:txBody>
        </p:sp>
        <p:sp>
          <p:nvSpPr>
            <p:cNvPr id="64576" name="Line 107"/>
            <p:cNvSpPr>
              <a:spLocks noChangeShapeType="1"/>
            </p:cNvSpPr>
            <p:nvPr/>
          </p:nvSpPr>
          <p:spPr bwMode="auto">
            <a:xfrm>
              <a:off x="2496" y="1344"/>
              <a:ext cx="0" cy="1200"/>
            </a:xfrm>
            <a:prstGeom prst="line">
              <a:avLst/>
            </a:prstGeom>
            <a:noFill/>
            <a:ln w="19050">
              <a:solidFill>
                <a:srgbClr val="FF3300"/>
              </a:solidFill>
              <a:prstDash val="dash"/>
              <a:round/>
              <a:headEnd/>
              <a:tailEnd/>
            </a:ln>
          </p:spPr>
          <p:txBody>
            <a:bodyPr/>
            <a:lstStyle/>
            <a:p>
              <a:endParaRPr lang="zh-CN" altLang="en-US"/>
            </a:p>
          </p:txBody>
        </p:sp>
        <p:sp>
          <p:nvSpPr>
            <p:cNvPr id="64577" name="Line 108"/>
            <p:cNvSpPr>
              <a:spLocks noChangeShapeType="1"/>
            </p:cNvSpPr>
            <p:nvPr/>
          </p:nvSpPr>
          <p:spPr bwMode="auto">
            <a:xfrm>
              <a:off x="2640" y="1344"/>
              <a:ext cx="0" cy="1200"/>
            </a:xfrm>
            <a:prstGeom prst="line">
              <a:avLst/>
            </a:prstGeom>
            <a:noFill/>
            <a:ln w="19050">
              <a:solidFill>
                <a:srgbClr val="FF3300"/>
              </a:solidFill>
              <a:prstDash val="dash"/>
              <a:round/>
              <a:headEnd/>
              <a:tailEnd/>
            </a:ln>
          </p:spPr>
          <p:txBody>
            <a:bodyPr/>
            <a:lstStyle/>
            <a:p>
              <a:endParaRPr lang="zh-CN" altLang="en-US"/>
            </a:p>
          </p:txBody>
        </p:sp>
        <p:sp>
          <p:nvSpPr>
            <p:cNvPr id="64578" name="Line 109"/>
            <p:cNvSpPr>
              <a:spLocks noChangeShapeType="1"/>
            </p:cNvSpPr>
            <p:nvPr/>
          </p:nvSpPr>
          <p:spPr bwMode="auto">
            <a:xfrm>
              <a:off x="2784" y="1344"/>
              <a:ext cx="0" cy="1200"/>
            </a:xfrm>
            <a:prstGeom prst="line">
              <a:avLst/>
            </a:prstGeom>
            <a:noFill/>
            <a:ln w="19050">
              <a:solidFill>
                <a:srgbClr val="FF3300"/>
              </a:solidFill>
              <a:prstDash val="dash"/>
              <a:round/>
              <a:headEnd/>
              <a:tailEnd/>
            </a:ln>
          </p:spPr>
          <p:txBody>
            <a:bodyPr/>
            <a:lstStyle/>
            <a:p>
              <a:endParaRPr lang="zh-CN" altLang="en-US"/>
            </a:p>
          </p:txBody>
        </p:sp>
        <p:sp>
          <p:nvSpPr>
            <p:cNvPr id="64579" name="Line 110"/>
            <p:cNvSpPr>
              <a:spLocks noChangeShapeType="1"/>
            </p:cNvSpPr>
            <p:nvPr/>
          </p:nvSpPr>
          <p:spPr bwMode="auto">
            <a:xfrm>
              <a:off x="2928" y="1344"/>
              <a:ext cx="0" cy="1200"/>
            </a:xfrm>
            <a:prstGeom prst="line">
              <a:avLst/>
            </a:prstGeom>
            <a:noFill/>
            <a:ln w="19050">
              <a:solidFill>
                <a:srgbClr val="FF3300"/>
              </a:solidFill>
              <a:prstDash val="dash"/>
              <a:round/>
              <a:headEnd/>
              <a:tailEnd/>
            </a:ln>
          </p:spPr>
          <p:txBody>
            <a:bodyPr/>
            <a:lstStyle/>
            <a:p>
              <a:endParaRPr lang="zh-CN" altLang="en-US"/>
            </a:p>
          </p:txBody>
        </p:sp>
      </p:grpSp>
      <p:grpSp>
        <p:nvGrpSpPr>
          <p:cNvPr id="6" name="Group 112"/>
          <p:cNvGrpSpPr>
            <a:grpSpLocks/>
          </p:cNvGrpSpPr>
          <p:nvPr/>
        </p:nvGrpSpPr>
        <p:grpSpPr bwMode="auto">
          <a:xfrm>
            <a:off x="4533900" y="3030538"/>
            <a:ext cx="2297113" cy="1905000"/>
            <a:chOff x="1920" y="1344"/>
            <a:chExt cx="1152" cy="1200"/>
          </a:xfrm>
        </p:grpSpPr>
        <p:sp>
          <p:nvSpPr>
            <p:cNvPr id="64554" name="Line 113"/>
            <p:cNvSpPr>
              <a:spLocks noChangeShapeType="1"/>
            </p:cNvSpPr>
            <p:nvPr/>
          </p:nvSpPr>
          <p:spPr bwMode="auto">
            <a:xfrm>
              <a:off x="1920" y="1440"/>
              <a:ext cx="1152" cy="0"/>
            </a:xfrm>
            <a:prstGeom prst="line">
              <a:avLst/>
            </a:prstGeom>
            <a:noFill/>
            <a:ln w="28575">
              <a:solidFill>
                <a:srgbClr val="33CC33"/>
              </a:solidFill>
              <a:round/>
              <a:headEnd/>
              <a:tailEnd/>
            </a:ln>
          </p:spPr>
          <p:txBody>
            <a:bodyPr/>
            <a:lstStyle/>
            <a:p>
              <a:endParaRPr lang="zh-CN" altLang="en-US"/>
            </a:p>
          </p:txBody>
        </p:sp>
        <p:sp>
          <p:nvSpPr>
            <p:cNvPr id="64555" name="Line 114"/>
            <p:cNvSpPr>
              <a:spLocks noChangeShapeType="1"/>
            </p:cNvSpPr>
            <p:nvPr/>
          </p:nvSpPr>
          <p:spPr bwMode="auto">
            <a:xfrm>
              <a:off x="1920" y="1632"/>
              <a:ext cx="1152" cy="0"/>
            </a:xfrm>
            <a:prstGeom prst="line">
              <a:avLst/>
            </a:prstGeom>
            <a:noFill/>
            <a:ln w="28575">
              <a:solidFill>
                <a:srgbClr val="33CC33"/>
              </a:solidFill>
              <a:round/>
              <a:headEnd/>
              <a:tailEnd/>
            </a:ln>
          </p:spPr>
          <p:txBody>
            <a:bodyPr/>
            <a:lstStyle/>
            <a:p>
              <a:endParaRPr lang="zh-CN" altLang="en-US"/>
            </a:p>
          </p:txBody>
        </p:sp>
        <p:sp>
          <p:nvSpPr>
            <p:cNvPr id="64556" name="Line 115"/>
            <p:cNvSpPr>
              <a:spLocks noChangeShapeType="1"/>
            </p:cNvSpPr>
            <p:nvPr/>
          </p:nvSpPr>
          <p:spPr bwMode="auto">
            <a:xfrm>
              <a:off x="1920" y="1824"/>
              <a:ext cx="1152" cy="0"/>
            </a:xfrm>
            <a:prstGeom prst="line">
              <a:avLst/>
            </a:prstGeom>
            <a:noFill/>
            <a:ln w="28575">
              <a:solidFill>
                <a:srgbClr val="33CC33"/>
              </a:solidFill>
              <a:round/>
              <a:headEnd/>
              <a:tailEnd/>
            </a:ln>
          </p:spPr>
          <p:txBody>
            <a:bodyPr/>
            <a:lstStyle/>
            <a:p>
              <a:endParaRPr lang="zh-CN" altLang="en-US"/>
            </a:p>
          </p:txBody>
        </p:sp>
        <p:sp>
          <p:nvSpPr>
            <p:cNvPr id="64557" name="Line 116"/>
            <p:cNvSpPr>
              <a:spLocks noChangeShapeType="1"/>
            </p:cNvSpPr>
            <p:nvPr/>
          </p:nvSpPr>
          <p:spPr bwMode="auto">
            <a:xfrm>
              <a:off x="1920" y="2016"/>
              <a:ext cx="1152" cy="0"/>
            </a:xfrm>
            <a:prstGeom prst="line">
              <a:avLst/>
            </a:prstGeom>
            <a:noFill/>
            <a:ln w="28575">
              <a:solidFill>
                <a:srgbClr val="33CC33"/>
              </a:solidFill>
              <a:round/>
              <a:headEnd/>
              <a:tailEnd/>
            </a:ln>
          </p:spPr>
          <p:txBody>
            <a:bodyPr/>
            <a:lstStyle/>
            <a:p>
              <a:endParaRPr lang="zh-CN" altLang="en-US"/>
            </a:p>
          </p:txBody>
        </p:sp>
        <p:sp>
          <p:nvSpPr>
            <p:cNvPr id="64558" name="Line 117"/>
            <p:cNvSpPr>
              <a:spLocks noChangeShapeType="1"/>
            </p:cNvSpPr>
            <p:nvPr/>
          </p:nvSpPr>
          <p:spPr bwMode="auto">
            <a:xfrm>
              <a:off x="1920" y="2208"/>
              <a:ext cx="1152" cy="0"/>
            </a:xfrm>
            <a:prstGeom prst="line">
              <a:avLst/>
            </a:prstGeom>
            <a:noFill/>
            <a:ln w="28575">
              <a:solidFill>
                <a:srgbClr val="33CC33"/>
              </a:solidFill>
              <a:round/>
              <a:headEnd/>
              <a:tailEnd/>
            </a:ln>
          </p:spPr>
          <p:txBody>
            <a:bodyPr/>
            <a:lstStyle/>
            <a:p>
              <a:endParaRPr lang="zh-CN" altLang="en-US"/>
            </a:p>
          </p:txBody>
        </p:sp>
        <p:sp>
          <p:nvSpPr>
            <p:cNvPr id="64559" name="Line 118"/>
            <p:cNvSpPr>
              <a:spLocks noChangeShapeType="1"/>
            </p:cNvSpPr>
            <p:nvPr/>
          </p:nvSpPr>
          <p:spPr bwMode="auto">
            <a:xfrm>
              <a:off x="1920" y="2400"/>
              <a:ext cx="1152" cy="0"/>
            </a:xfrm>
            <a:prstGeom prst="line">
              <a:avLst/>
            </a:prstGeom>
            <a:noFill/>
            <a:ln w="28575">
              <a:solidFill>
                <a:srgbClr val="33CC33"/>
              </a:solidFill>
              <a:round/>
              <a:headEnd/>
              <a:tailEnd/>
            </a:ln>
          </p:spPr>
          <p:txBody>
            <a:bodyPr/>
            <a:lstStyle/>
            <a:p>
              <a:endParaRPr lang="zh-CN" altLang="en-US"/>
            </a:p>
          </p:txBody>
        </p:sp>
        <p:sp>
          <p:nvSpPr>
            <p:cNvPr id="64560" name="Line 119"/>
            <p:cNvSpPr>
              <a:spLocks noChangeShapeType="1"/>
            </p:cNvSpPr>
            <p:nvPr/>
          </p:nvSpPr>
          <p:spPr bwMode="auto">
            <a:xfrm>
              <a:off x="2064" y="1344"/>
              <a:ext cx="0" cy="1200"/>
            </a:xfrm>
            <a:prstGeom prst="line">
              <a:avLst/>
            </a:prstGeom>
            <a:noFill/>
            <a:ln w="19050">
              <a:solidFill>
                <a:srgbClr val="FF3300"/>
              </a:solidFill>
              <a:prstDash val="dash"/>
              <a:round/>
              <a:headEnd/>
              <a:tailEnd/>
            </a:ln>
          </p:spPr>
          <p:txBody>
            <a:bodyPr/>
            <a:lstStyle/>
            <a:p>
              <a:endParaRPr lang="zh-CN" altLang="en-US"/>
            </a:p>
          </p:txBody>
        </p:sp>
        <p:sp>
          <p:nvSpPr>
            <p:cNvPr id="64561" name="Line 120"/>
            <p:cNvSpPr>
              <a:spLocks noChangeShapeType="1"/>
            </p:cNvSpPr>
            <p:nvPr/>
          </p:nvSpPr>
          <p:spPr bwMode="auto">
            <a:xfrm>
              <a:off x="2208" y="1344"/>
              <a:ext cx="0" cy="1200"/>
            </a:xfrm>
            <a:prstGeom prst="line">
              <a:avLst/>
            </a:prstGeom>
            <a:noFill/>
            <a:ln w="19050">
              <a:solidFill>
                <a:srgbClr val="FF3300"/>
              </a:solidFill>
              <a:prstDash val="dash"/>
              <a:round/>
              <a:headEnd/>
              <a:tailEnd/>
            </a:ln>
          </p:spPr>
          <p:txBody>
            <a:bodyPr/>
            <a:lstStyle/>
            <a:p>
              <a:endParaRPr lang="zh-CN" altLang="en-US"/>
            </a:p>
          </p:txBody>
        </p:sp>
        <p:sp>
          <p:nvSpPr>
            <p:cNvPr id="64562" name="Line 121"/>
            <p:cNvSpPr>
              <a:spLocks noChangeShapeType="1"/>
            </p:cNvSpPr>
            <p:nvPr/>
          </p:nvSpPr>
          <p:spPr bwMode="auto">
            <a:xfrm>
              <a:off x="2352" y="1344"/>
              <a:ext cx="0" cy="1200"/>
            </a:xfrm>
            <a:prstGeom prst="line">
              <a:avLst/>
            </a:prstGeom>
            <a:noFill/>
            <a:ln w="19050">
              <a:solidFill>
                <a:srgbClr val="FF3300"/>
              </a:solidFill>
              <a:prstDash val="dash"/>
              <a:round/>
              <a:headEnd/>
              <a:tailEnd/>
            </a:ln>
          </p:spPr>
          <p:txBody>
            <a:bodyPr/>
            <a:lstStyle/>
            <a:p>
              <a:endParaRPr lang="zh-CN" altLang="en-US"/>
            </a:p>
          </p:txBody>
        </p:sp>
        <p:sp>
          <p:nvSpPr>
            <p:cNvPr id="64563" name="Line 122"/>
            <p:cNvSpPr>
              <a:spLocks noChangeShapeType="1"/>
            </p:cNvSpPr>
            <p:nvPr/>
          </p:nvSpPr>
          <p:spPr bwMode="auto">
            <a:xfrm>
              <a:off x="2496" y="1344"/>
              <a:ext cx="0" cy="1200"/>
            </a:xfrm>
            <a:prstGeom prst="line">
              <a:avLst/>
            </a:prstGeom>
            <a:noFill/>
            <a:ln w="19050">
              <a:solidFill>
                <a:srgbClr val="FF3300"/>
              </a:solidFill>
              <a:prstDash val="dash"/>
              <a:round/>
              <a:headEnd/>
              <a:tailEnd/>
            </a:ln>
          </p:spPr>
          <p:txBody>
            <a:bodyPr/>
            <a:lstStyle/>
            <a:p>
              <a:endParaRPr lang="zh-CN" altLang="en-US"/>
            </a:p>
          </p:txBody>
        </p:sp>
        <p:sp>
          <p:nvSpPr>
            <p:cNvPr id="64564" name="Line 123"/>
            <p:cNvSpPr>
              <a:spLocks noChangeShapeType="1"/>
            </p:cNvSpPr>
            <p:nvPr/>
          </p:nvSpPr>
          <p:spPr bwMode="auto">
            <a:xfrm>
              <a:off x="2640" y="1344"/>
              <a:ext cx="0" cy="1200"/>
            </a:xfrm>
            <a:prstGeom prst="line">
              <a:avLst/>
            </a:prstGeom>
            <a:noFill/>
            <a:ln w="19050">
              <a:solidFill>
                <a:srgbClr val="FF3300"/>
              </a:solidFill>
              <a:prstDash val="dash"/>
              <a:round/>
              <a:headEnd/>
              <a:tailEnd/>
            </a:ln>
          </p:spPr>
          <p:txBody>
            <a:bodyPr/>
            <a:lstStyle/>
            <a:p>
              <a:endParaRPr lang="zh-CN" altLang="en-US"/>
            </a:p>
          </p:txBody>
        </p:sp>
        <p:sp>
          <p:nvSpPr>
            <p:cNvPr id="64565" name="Line 124"/>
            <p:cNvSpPr>
              <a:spLocks noChangeShapeType="1"/>
            </p:cNvSpPr>
            <p:nvPr/>
          </p:nvSpPr>
          <p:spPr bwMode="auto">
            <a:xfrm>
              <a:off x="2784" y="1344"/>
              <a:ext cx="0" cy="1200"/>
            </a:xfrm>
            <a:prstGeom prst="line">
              <a:avLst/>
            </a:prstGeom>
            <a:noFill/>
            <a:ln w="19050">
              <a:solidFill>
                <a:srgbClr val="FF3300"/>
              </a:solidFill>
              <a:prstDash val="dash"/>
              <a:round/>
              <a:headEnd/>
              <a:tailEnd/>
            </a:ln>
          </p:spPr>
          <p:txBody>
            <a:bodyPr/>
            <a:lstStyle/>
            <a:p>
              <a:endParaRPr lang="zh-CN" altLang="en-US"/>
            </a:p>
          </p:txBody>
        </p:sp>
        <p:sp>
          <p:nvSpPr>
            <p:cNvPr id="64566" name="Line 125"/>
            <p:cNvSpPr>
              <a:spLocks noChangeShapeType="1"/>
            </p:cNvSpPr>
            <p:nvPr/>
          </p:nvSpPr>
          <p:spPr bwMode="auto">
            <a:xfrm>
              <a:off x="2928" y="1344"/>
              <a:ext cx="0" cy="1200"/>
            </a:xfrm>
            <a:prstGeom prst="line">
              <a:avLst/>
            </a:prstGeom>
            <a:noFill/>
            <a:ln w="19050">
              <a:solidFill>
                <a:srgbClr val="FF3300"/>
              </a:solidFill>
              <a:prstDash val="dash"/>
              <a:round/>
              <a:headEnd/>
              <a:tailEnd/>
            </a:ln>
          </p:spPr>
          <p:txBody>
            <a:bodyPr/>
            <a:lstStyle/>
            <a:p>
              <a:endParaRPr lang="zh-CN" altLang="en-US"/>
            </a:p>
          </p:txBody>
        </p:sp>
      </p:grpSp>
      <p:grpSp>
        <p:nvGrpSpPr>
          <p:cNvPr id="7" name="Group 126"/>
          <p:cNvGrpSpPr>
            <a:grpSpLocks noChangeAspect="1"/>
          </p:cNvGrpSpPr>
          <p:nvPr/>
        </p:nvGrpSpPr>
        <p:grpSpPr bwMode="auto">
          <a:xfrm>
            <a:off x="6859588" y="2735263"/>
            <a:ext cx="77787" cy="2566987"/>
            <a:chOff x="4373" y="2069"/>
            <a:chExt cx="48" cy="1968"/>
          </a:xfrm>
        </p:grpSpPr>
        <p:sp>
          <p:nvSpPr>
            <p:cNvPr id="64552" name="Rectangle 127"/>
            <p:cNvSpPr>
              <a:spLocks noChangeAspect="1" noChangeArrowheads="1"/>
            </p:cNvSpPr>
            <p:nvPr/>
          </p:nvSpPr>
          <p:spPr bwMode="auto">
            <a:xfrm>
              <a:off x="4373" y="2069"/>
              <a:ext cx="48" cy="760"/>
            </a:xfrm>
            <a:prstGeom prst="rect">
              <a:avLst/>
            </a:prstGeom>
            <a:solidFill>
              <a:schemeClr val="accent1"/>
            </a:solidFill>
            <a:ln w="12700">
              <a:solidFill>
                <a:srgbClr val="0000FF"/>
              </a:solidFill>
              <a:miter lim="800000"/>
              <a:headEnd/>
              <a:tailEnd/>
            </a:ln>
          </p:spPr>
          <p:txBody>
            <a:bodyPr wrap="none" anchor="ctr"/>
            <a:lstStyle/>
            <a:p>
              <a:endParaRPr lang="zh-CN" altLang="en-US"/>
            </a:p>
          </p:txBody>
        </p:sp>
        <p:sp>
          <p:nvSpPr>
            <p:cNvPr id="64553" name="Rectangle 128"/>
            <p:cNvSpPr>
              <a:spLocks noChangeAspect="1" noChangeArrowheads="1"/>
            </p:cNvSpPr>
            <p:nvPr/>
          </p:nvSpPr>
          <p:spPr bwMode="auto">
            <a:xfrm>
              <a:off x="4373" y="3317"/>
              <a:ext cx="47" cy="720"/>
            </a:xfrm>
            <a:prstGeom prst="rect">
              <a:avLst/>
            </a:prstGeom>
            <a:solidFill>
              <a:schemeClr val="accent1"/>
            </a:solidFill>
            <a:ln w="12700">
              <a:solidFill>
                <a:srgbClr val="0000FF"/>
              </a:solidFill>
              <a:miter lim="800000"/>
              <a:headEnd/>
              <a:tailEnd/>
            </a:ln>
          </p:spPr>
          <p:txBody>
            <a:bodyPr wrap="none" anchor="ctr"/>
            <a:lstStyle/>
            <a:p>
              <a:endParaRPr lang="zh-CN" altLang="en-US"/>
            </a:p>
          </p:txBody>
        </p:sp>
      </p:grpSp>
      <p:grpSp>
        <p:nvGrpSpPr>
          <p:cNvPr id="8" name="Group 129"/>
          <p:cNvGrpSpPr>
            <a:grpSpLocks/>
          </p:cNvGrpSpPr>
          <p:nvPr/>
        </p:nvGrpSpPr>
        <p:grpSpPr bwMode="auto">
          <a:xfrm>
            <a:off x="6904038" y="3411538"/>
            <a:ext cx="287337" cy="1144587"/>
            <a:chOff x="4421" y="2693"/>
            <a:chExt cx="144" cy="721"/>
          </a:xfrm>
        </p:grpSpPr>
        <p:grpSp>
          <p:nvGrpSpPr>
            <p:cNvPr id="64545" name="Group 130"/>
            <p:cNvGrpSpPr>
              <a:grpSpLocks/>
            </p:cNvGrpSpPr>
            <p:nvPr/>
          </p:nvGrpSpPr>
          <p:grpSpPr bwMode="auto">
            <a:xfrm>
              <a:off x="4421" y="2693"/>
              <a:ext cx="144" cy="721"/>
              <a:chOff x="4421" y="2693"/>
              <a:chExt cx="144" cy="721"/>
            </a:xfrm>
          </p:grpSpPr>
          <p:sp>
            <p:nvSpPr>
              <p:cNvPr id="64547" name="Arc 131"/>
              <p:cNvSpPr>
                <a:spLocks/>
              </p:cNvSpPr>
              <p:nvPr/>
            </p:nvSpPr>
            <p:spPr bwMode="auto">
              <a:xfrm>
                <a:off x="4421" y="2693"/>
                <a:ext cx="142" cy="241"/>
              </a:xfrm>
              <a:custGeom>
                <a:avLst/>
                <a:gdLst>
                  <a:gd name="T0" fmla="*/ 0 w 25493"/>
                  <a:gd name="T1" fmla="*/ 0 h 43200"/>
                  <a:gd name="T2" fmla="*/ 0 w 25493"/>
                  <a:gd name="T3" fmla="*/ 0 h 43200"/>
                  <a:gd name="T4" fmla="*/ 0 w 25493"/>
                  <a:gd name="T5" fmla="*/ 0 h 43200"/>
                  <a:gd name="T6" fmla="*/ 0 60000 65536"/>
                  <a:gd name="T7" fmla="*/ 0 60000 65536"/>
                  <a:gd name="T8" fmla="*/ 0 60000 65536"/>
                  <a:gd name="T9" fmla="*/ 0 w 25493"/>
                  <a:gd name="T10" fmla="*/ 0 h 43200"/>
                  <a:gd name="T11" fmla="*/ 25493 w 25493"/>
                  <a:gd name="T12" fmla="*/ 43200 h 43200"/>
                </a:gdLst>
                <a:ahLst/>
                <a:cxnLst>
                  <a:cxn ang="T6">
                    <a:pos x="T0" y="T1"/>
                  </a:cxn>
                  <a:cxn ang="T7">
                    <a:pos x="T2" y="T3"/>
                  </a:cxn>
                  <a:cxn ang="T8">
                    <a:pos x="T4" y="T5"/>
                  </a:cxn>
                </a:cxnLst>
                <a:rect l="T9" t="T10" r="T11" b="T12"/>
                <a:pathLst>
                  <a:path w="25493" h="43200" fill="none" extrusionOk="0">
                    <a:moveTo>
                      <a:pt x="3346" y="6"/>
                    </a:moveTo>
                    <a:cubicBezTo>
                      <a:pt x="3528" y="2"/>
                      <a:pt x="3710" y="-1"/>
                      <a:pt x="3893" y="0"/>
                    </a:cubicBezTo>
                    <a:cubicBezTo>
                      <a:pt x="15822" y="0"/>
                      <a:pt x="25493" y="9670"/>
                      <a:pt x="25493" y="21600"/>
                    </a:cubicBezTo>
                    <a:cubicBezTo>
                      <a:pt x="25493" y="33529"/>
                      <a:pt x="15822" y="43200"/>
                      <a:pt x="3893" y="43200"/>
                    </a:cubicBezTo>
                    <a:cubicBezTo>
                      <a:pt x="2587" y="43200"/>
                      <a:pt x="1284" y="43081"/>
                      <a:pt x="-1" y="42846"/>
                    </a:cubicBezTo>
                  </a:path>
                  <a:path w="25493" h="43200" stroke="0" extrusionOk="0">
                    <a:moveTo>
                      <a:pt x="3346" y="6"/>
                    </a:moveTo>
                    <a:cubicBezTo>
                      <a:pt x="3528" y="2"/>
                      <a:pt x="3710" y="-1"/>
                      <a:pt x="3893" y="0"/>
                    </a:cubicBezTo>
                    <a:cubicBezTo>
                      <a:pt x="15822" y="0"/>
                      <a:pt x="25493" y="9670"/>
                      <a:pt x="25493" y="21600"/>
                    </a:cubicBezTo>
                    <a:cubicBezTo>
                      <a:pt x="25493" y="33529"/>
                      <a:pt x="15822" y="43200"/>
                      <a:pt x="3893" y="43200"/>
                    </a:cubicBezTo>
                    <a:cubicBezTo>
                      <a:pt x="2587" y="43200"/>
                      <a:pt x="1284" y="43081"/>
                      <a:pt x="-1" y="42846"/>
                    </a:cubicBezTo>
                    <a:lnTo>
                      <a:pt x="3893" y="21600"/>
                    </a:lnTo>
                    <a:close/>
                  </a:path>
                </a:pathLst>
              </a:custGeom>
              <a:noFill/>
              <a:ln w="12700" cap="rnd">
                <a:solidFill>
                  <a:schemeClr val="accent2"/>
                </a:solidFill>
                <a:round/>
                <a:headEnd type="none" w="sm" len="sm"/>
                <a:tailEnd type="none" w="sm" len="sm"/>
              </a:ln>
            </p:spPr>
            <p:txBody>
              <a:bodyPr wrap="none" anchor="ctr"/>
              <a:lstStyle/>
              <a:p>
                <a:endParaRPr lang="zh-CN" altLang="en-US"/>
              </a:p>
            </p:txBody>
          </p:sp>
          <p:sp>
            <p:nvSpPr>
              <p:cNvPr id="64548" name="Arc 132"/>
              <p:cNvSpPr>
                <a:spLocks/>
              </p:cNvSpPr>
              <p:nvPr/>
            </p:nvSpPr>
            <p:spPr bwMode="auto">
              <a:xfrm>
                <a:off x="4421" y="2789"/>
                <a:ext cx="142" cy="241"/>
              </a:xfrm>
              <a:custGeom>
                <a:avLst/>
                <a:gdLst>
                  <a:gd name="T0" fmla="*/ 0 w 25493"/>
                  <a:gd name="T1" fmla="*/ 0 h 43200"/>
                  <a:gd name="T2" fmla="*/ 0 w 25493"/>
                  <a:gd name="T3" fmla="*/ 0 h 43200"/>
                  <a:gd name="T4" fmla="*/ 0 w 25493"/>
                  <a:gd name="T5" fmla="*/ 0 h 43200"/>
                  <a:gd name="T6" fmla="*/ 0 60000 65536"/>
                  <a:gd name="T7" fmla="*/ 0 60000 65536"/>
                  <a:gd name="T8" fmla="*/ 0 60000 65536"/>
                  <a:gd name="T9" fmla="*/ 0 w 25493"/>
                  <a:gd name="T10" fmla="*/ 0 h 43200"/>
                  <a:gd name="T11" fmla="*/ 25493 w 25493"/>
                  <a:gd name="T12" fmla="*/ 43200 h 43200"/>
                </a:gdLst>
                <a:ahLst/>
                <a:cxnLst>
                  <a:cxn ang="T6">
                    <a:pos x="T0" y="T1"/>
                  </a:cxn>
                  <a:cxn ang="T7">
                    <a:pos x="T2" y="T3"/>
                  </a:cxn>
                  <a:cxn ang="T8">
                    <a:pos x="T4" y="T5"/>
                  </a:cxn>
                </a:cxnLst>
                <a:rect l="T9" t="T10" r="T11" b="T12"/>
                <a:pathLst>
                  <a:path w="25493" h="43200" fill="none" extrusionOk="0">
                    <a:moveTo>
                      <a:pt x="3346" y="6"/>
                    </a:moveTo>
                    <a:cubicBezTo>
                      <a:pt x="3528" y="2"/>
                      <a:pt x="3710" y="-1"/>
                      <a:pt x="3893" y="0"/>
                    </a:cubicBezTo>
                    <a:cubicBezTo>
                      <a:pt x="15822" y="0"/>
                      <a:pt x="25493" y="9670"/>
                      <a:pt x="25493" y="21600"/>
                    </a:cubicBezTo>
                    <a:cubicBezTo>
                      <a:pt x="25493" y="33529"/>
                      <a:pt x="15822" y="43200"/>
                      <a:pt x="3893" y="43200"/>
                    </a:cubicBezTo>
                    <a:cubicBezTo>
                      <a:pt x="2587" y="43200"/>
                      <a:pt x="1284" y="43081"/>
                      <a:pt x="-1" y="42846"/>
                    </a:cubicBezTo>
                  </a:path>
                  <a:path w="25493" h="43200" stroke="0" extrusionOk="0">
                    <a:moveTo>
                      <a:pt x="3346" y="6"/>
                    </a:moveTo>
                    <a:cubicBezTo>
                      <a:pt x="3528" y="2"/>
                      <a:pt x="3710" y="-1"/>
                      <a:pt x="3893" y="0"/>
                    </a:cubicBezTo>
                    <a:cubicBezTo>
                      <a:pt x="15822" y="0"/>
                      <a:pt x="25493" y="9670"/>
                      <a:pt x="25493" y="21600"/>
                    </a:cubicBezTo>
                    <a:cubicBezTo>
                      <a:pt x="25493" y="33529"/>
                      <a:pt x="15822" y="43200"/>
                      <a:pt x="3893" y="43200"/>
                    </a:cubicBezTo>
                    <a:cubicBezTo>
                      <a:pt x="2587" y="43200"/>
                      <a:pt x="1284" y="43081"/>
                      <a:pt x="-1" y="42846"/>
                    </a:cubicBezTo>
                    <a:lnTo>
                      <a:pt x="3893" y="21600"/>
                    </a:lnTo>
                    <a:close/>
                  </a:path>
                </a:pathLst>
              </a:custGeom>
              <a:noFill/>
              <a:ln w="12700" cap="rnd">
                <a:solidFill>
                  <a:schemeClr val="accent2"/>
                </a:solidFill>
                <a:round/>
                <a:headEnd type="none" w="sm" len="sm"/>
                <a:tailEnd type="none" w="sm" len="sm"/>
              </a:ln>
            </p:spPr>
            <p:txBody>
              <a:bodyPr wrap="none" anchor="ctr"/>
              <a:lstStyle/>
              <a:p>
                <a:endParaRPr lang="zh-CN" altLang="en-US"/>
              </a:p>
            </p:txBody>
          </p:sp>
          <p:sp>
            <p:nvSpPr>
              <p:cNvPr id="64549" name="Arc 133"/>
              <p:cNvSpPr>
                <a:spLocks/>
              </p:cNvSpPr>
              <p:nvPr/>
            </p:nvSpPr>
            <p:spPr bwMode="auto">
              <a:xfrm>
                <a:off x="4421" y="2933"/>
                <a:ext cx="142" cy="241"/>
              </a:xfrm>
              <a:custGeom>
                <a:avLst/>
                <a:gdLst>
                  <a:gd name="T0" fmla="*/ 0 w 25493"/>
                  <a:gd name="T1" fmla="*/ 0 h 43200"/>
                  <a:gd name="T2" fmla="*/ 0 w 25493"/>
                  <a:gd name="T3" fmla="*/ 0 h 43200"/>
                  <a:gd name="T4" fmla="*/ 0 w 25493"/>
                  <a:gd name="T5" fmla="*/ 0 h 43200"/>
                  <a:gd name="T6" fmla="*/ 0 60000 65536"/>
                  <a:gd name="T7" fmla="*/ 0 60000 65536"/>
                  <a:gd name="T8" fmla="*/ 0 60000 65536"/>
                  <a:gd name="T9" fmla="*/ 0 w 25493"/>
                  <a:gd name="T10" fmla="*/ 0 h 43200"/>
                  <a:gd name="T11" fmla="*/ 25493 w 25493"/>
                  <a:gd name="T12" fmla="*/ 43200 h 43200"/>
                </a:gdLst>
                <a:ahLst/>
                <a:cxnLst>
                  <a:cxn ang="T6">
                    <a:pos x="T0" y="T1"/>
                  </a:cxn>
                  <a:cxn ang="T7">
                    <a:pos x="T2" y="T3"/>
                  </a:cxn>
                  <a:cxn ang="T8">
                    <a:pos x="T4" y="T5"/>
                  </a:cxn>
                </a:cxnLst>
                <a:rect l="T9" t="T10" r="T11" b="T12"/>
                <a:pathLst>
                  <a:path w="25493" h="43200" fill="none" extrusionOk="0">
                    <a:moveTo>
                      <a:pt x="3346" y="6"/>
                    </a:moveTo>
                    <a:cubicBezTo>
                      <a:pt x="3528" y="2"/>
                      <a:pt x="3710" y="-1"/>
                      <a:pt x="3893" y="0"/>
                    </a:cubicBezTo>
                    <a:cubicBezTo>
                      <a:pt x="15822" y="0"/>
                      <a:pt x="25493" y="9670"/>
                      <a:pt x="25493" y="21600"/>
                    </a:cubicBezTo>
                    <a:cubicBezTo>
                      <a:pt x="25493" y="33529"/>
                      <a:pt x="15822" y="43200"/>
                      <a:pt x="3893" y="43200"/>
                    </a:cubicBezTo>
                    <a:cubicBezTo>
                      <a:pt x="2587" y="43200"/>
                      <a:pt x="1284" y="43081"/>
                      <a:pt x="-1" y="42846"/>
                    </a:cubicBezTo>
                  </a:path>
                  <a:path w="25493" h="43200" stroke="0" extrusionOk="0">
                    <a:moveTo>
                      <a:pt x="3346" y="6"/>
                    </a:moveTo>
                    <a:cubicBezTo>
                      <a:pt x="3528" y="2"/>
                      <a:pt x="3710" y="-1"/>
                      <a:pt x="3893" y="0"/>
                    </a:cubicBezTo>
                    <a:cubicBezTo>
                      <a:pt x="15822" y="0"/>
                      <a:pt x="25493" y="9670"/>
                      <a:pt x="25493" y="21600"/>
                    </a:cubicBezTo>
                    <a:cubicBezTo>
                      <a:pt x="25493" y="33529"/>
                      <a:pt x="15822" y="43200"/>
                      <a:pt x="3893" y="43200"/>
                    </a:cubicBezTo>
                    <a:cubicBezTo>
                      <a:pt x="2587" y="43200"/>
                      <a:pt x="1284" y="43081"/>
                      <a:pt x="-1" y="42846"/>
                    </a:cubicBezTo>
                    <a:lnTo>
                      <a:pt x="3893" y="21600"/>
                    </a:lnTo>
                    <a:close/>
                  </a:path>
                </a:pathLst>
              </a:custGeom>
              <a:noFill/>
              <a:ln w="12700" cap="rnd">
                <a:solidFill>
                  <a:schemeClr val="accent2"/>
                </a:solidFill>
                <a:round/>
                <a:headEnd type="none" w="sm" len="sm"/>
                <a:tailEnd type="none" w="sm" len="sm"/>
              </a:ln>
            </p:spPr>
            <p:txBody>
              <a:bodyPr wrap="none" anchor="ctr"/>
              <a:lstStyle/>
              <a:p>
                <a:endParaRPr lang="zh-CN" altLang="en-US"/>
              </a:p>
            </p:txBody>
          </p:sp>
          <p:sp>
            <p:nvSpPr>
              <p:cNvPr id="64550" name="Arc 134"/>
              <p:cNvSpPr>
                <a:spLocks/>
              </p:cNvSpPr>
              <p:nvPr/>
            </p:nvSpPr>
            <p:spPr bwMode="auto">
              <a:xfrm>
                <a:off x="4421" y="3029"/>
                <a:ext cx="144" cy="241"/>
              </a:xfrm>
              <a:custGeom>
                <a:avLst/>
                <a:gdLst>
                  <a:gd name="T0" fmla="*/ 0 w 25493"/>
                  <a:gd name="T1" fmla="*/ 0 h 43200"/>
                  <a:gd name="T2" fmla="*/ 0 w 25493"/>
                  <a:gd name="T3" fmla="*/ 0 h 43200"/>
                  <a:gd name="T4" fmla="*/ 0 w 25493"/>
                  <a:gd name="T5" fmla="*/ 0 h 43200"/>
                  <a:gd name="T6" fmla="*/ 0 60000 65536"/>
                  <a:gd name="T7" fmla="*/ 0 60000 65536"/>
                  <a:gd name="T8" fmla="*/ 0 60000 65536"/>
                  <a:gd name="T9" fmla="*/ 0 w 25493"/>
                  <a:gd name="T10" fmla="*/ 0 h 43200"/>
                  <a:gd name="T11" fmla="*/ 25493 w 25493"/>
                  <a:gd name="T12" fmla="*/ 43200 h 43200"/>
                </a:gdLst>
                <a:ahLst/>
                <a:cxnLst>
                  <a:cxn ang="T6">
                    <a:pos x="T0" y="T1"/>
                  </a:cxn>
                  <a:cxn ang="T7">
                    <a:pos x="T2" y="T3"/>
                  </a:cxn>
                  <a:cxn ang="T8">
                    <a:pos x="T4" y="T5"/>
                  </a:cxn>
                </a:cxnLst>
                <a:rect l="T9" t="T10" r="T11" b="T12"/>
                <a:pathLst>
                  <a:path w="25493" h="43200" fill="none" extrusionOk="0">
                    <a:moveTo>
                      <a:pt x="3346" y="6"/>
                    </a:moveTo>
                    <a:cubicBezTo>
                      <a:pt x="3528" y="2"/>
                      <a:pt x="3710" y="-1"/>
                      <a:pt x="3893" y="0"/>
                    </a:cubicBezTo>
                    <a:cubicBezTo>
                      <a:pt x="15822" y="0"/>
                      <a:pt x="25493" y="9670"/>
                      <a:pt x="25493" y="21600"/>
                    </a:cubicBezTo>
                    <a:cubicBezTo>
                      <a:pt x="25493" y="33529"/>
                      <a:pt x="15822" y="43200"/>
                      <a:pt x="3893" y="43200"/>
                    </a:cubicBezTo>
                    <a:cubicBezTo>
                      <a:pt x="2587" y="43200"/>
                      <a:pt x="1284" y="43081"/>
                      <a:pt x="-1" y="42846"/>
                    </a:cubicBezTo>
                  </a:path>
                  <a:path w="25493" h="43200" stroke="0" extrusionOk="0">
                    <a:moveTo>
                      <a:pt x="3346" y="6"/>
                    </a:moveTo>
                    <a:cubicBezTo>
                      <a:pt x="3528" y="2"/>
                      <a:pt x="3710" y="-1"/>
                      <a:pt x="3893" y="0"/>
                    </a:cubicBezTo>
                    <a:cubicBezTo>
                      <a:pt x="15822" y="0"/>
                      <a:pt x="25493" y="9670"/>
                      <a:pt x="25493" y="21600"/>
                    </a:cubicBezTo>
                    <a:cubicBezTo>
                      <a:pt x="25493" y="33529"/>
                      <a:pt x="15822" y="43200"/>
                      <a:pt x="3893" y="43200"/>
                    </a:cubicBezTo>
                    <a:cubicBezTo>
                      <a:pt x="2587" y="43200"/>
                      <a:pt x="1284" y="43081"/>
                      <a:pt x="-1" y="42846"/>
                    </a:cubicBezTo>
                    <a:lnTo>
                      <a:pt x="3893" y="21600"/>
                    </a:lnTo>
                    <a:close/>
                  </a:path>
                </a:pathLst>
              </a:custGeom>
              <a:noFill/>
              <a:ln w="12700" cap="rnd">
                <a:solidFill>
                  <a:schemeClr val="accent2"/>
                </a:solidFill>
                <a:round/>
                <a:headEnd type="none" w="sm" len="sm"/>
                <a:tailEnd type="none" w="sm" len="sm"/>
              </a:ln>
            </p:spPr>
            <p:txBody>
              <a:bodyPr wrap="none" anchor="ctr"/>
              <a:lstStyle/>
              <a:p>
                <a:endParaRPr lang="zh-CN" altLang="en-US"/>
              </a:p>
            </p:txBody>
          </p:sp>
          <p:sp>
            <p:nvSpPr>
              <p:cNvPr id="64551" name="Arc 135"/>
              <p:cNvSpPr>
                <a:spLocks/>
              </p:cNvSpPr>
              <p:nvPr/>
            </p:nvSpPr>
            <p:spPr bwMode="auto">
              <a:xfrm>
                <a:off x="4421" y="3173"/>
                <a:ext cx="142" cy="241"/>
              </a:xfrm>
              <a:custGeom>
                <a:avLst/>
                <a:gdLst>
                  <a:gd name="T0" fmla="*/ 0 w 25493"/>
                  <a:gd name="T1" fmla="*/ 0 h 43200"/>
                  <a:gd name="T2" fmla="*/ 0 w 25493"/>
                  <a:gd name="T3" fmla="*/ 0 h 43200"/>
                  <a:gd name="T4" fmla="*/ 0 w 25493"/>
                  <a:gd name="T5" fmla="*/ 0 h 43200"/>
                  <a:gd name="T6" fmla="*/ 0 60000 65536"/>
                  <a:gd name="T7" fmla="*/ 0 60000 65536"/>
                  <a:gd name="T8" fmla="*/ 0 60000 65536"/>
                  <a:gd name="T9" fmla="*/ 0 w 25493"/>
                  <a:gd name="T10" fmla="*/ 0 h 43200"/>
                  <a:gd name="T11" fmla="*/ 25493 w 25493"/>
                  <a:gd name="T12" fmla="*/ 43200 h 43200"/>
                </a:gdLst>
                <a:ahLst/>
                <a:cxnLst>
                  <a:cxn ang="T6">
                    <a:pos x="T0" y="T1"/>
                  </a:cxn>
                  <a:cxn ang="T7">
                    <a:pos x="T2" y="T3"/>
                  </a:cxn>
                  <a:cxn ang="T8">
                    <a:pos x="T4" y="T5"/>
                  </a:cxn>
                </a:cxnLst>
                <a:rect l="T9" t="T10" r="T11" b="T12"/>
                <a:pathLst>
                  <a:path w="25493" h="43200" fill="none" extrusionOk="0">
                    <a:moveTo>
                      <a:pt x="3346" y="6"/>
                    </a:moveTo>
                    <a:cubicBezTo>
                      <a:pt x="3528" y="2"/>
                      <a:pt x="3710" y="-1"/>
                      <a:pt x="3893" y="0"/>
                    </a:cubicBezTo>
                    <a:cubicBezTo>
                      <a:pt x="15822" y="0"/>
                      <a:pt x="25493" y="9670"/>
                      <a:pt x="25493" y="21600"/>
                    </a:cubicBezTo>
                    <a:cubicBezTo>
                      <a:pt x="25493" y="33529"/>
                      <a:pt x="15822" y="43200"/>
                      <a:pt x="3893" y="43200"/>
                    </a:cubicBezTo>
                    <a:cubicBezTo>
                      <a:pt x="2587" y="43200"/>
                      <a:pt x="1284" y="43081"/>
                      <a:pt x="-1" y="42846"/>
                    </a:cubicBezTo>
                  </a:path>
                  <a:path w="25493" h="43200" stroke="0" extrusionOk="0">
                    <a:moveTo>
                      <a:pt x="3346" y="6"/>
                    </a:moveTo>
                    <a:cubicBezTo>
                      <a:pt x="3528" y="2"/>
                      <a:pt x="3710" y="-1"/>
                      <a:pt x="3893" y="0"/>
                    </a:cubicBezTo>
                    <a:cubicBezTo>
                      <a:pt x="15822" y="0"/>
                      <a:pt x="25493" y="9670"/>
                      <a:pt x="25493" y="21600"/>
                    </a:cubicBezTo>
                    <a:cubicBezTo>
                      <a:pt x="25493" y="33529"/>
                      <a:pt x="15822" y="43200"/>
                      <a:pt x="3893" y="43200"/>
                    </a:cubicBezTo>
                    <a:cubicBezTo>
                      <a:pt x="2587" y="43200"/>
                      <a:pt x="1284" y="43081"/>
                      <a:pt x="-1" y="42846"/>
                    </a:cubicBezTo>
                    <a:lnTo>
                      <a:pt x="3893" y="21600"/>
                    </a:lnTo>
                    <a:close/>
                  </a:path>
                </a:pathLst>
              </a:custGeom>
              <a:noFill/>
              <a:ln w="12700" cap="rnd">
                <a:solidFill>
                  <a:schemeClr val="accent2"/>
                </a:solidFill>
                <a:round/>
                <a:headEnd type="none" w="sm" len="sm"/>
                <a:tailEnd type="none" w="sm" len="sm"/>
              </a:ln>
            </p:spPr>
            <p:txBody>
              <a:bodyPr wrap="none" anchor="ctr"/>
              <a:lstStyle/>
              <a:p>
                <a:endParaRPr lang="zh-CN" altLang="en-US"/>
              </a:p>
            </p:txBody>
          </p:sp>
        </p:grpSp>
        <p:sp>
          <p:nvSpPr>
            <p:cNvPr id="64546" name="Line 136"/>
            <p:cNvSpPr>
              <a:spLocks noChangeShapeType="1"/>
            </p:cNvSpPr>
            <p:nvPr/>
          </p:nvSpPr>
          <p:spPr bwMode="auto">
            <a:xfrm>
              <a:off x="4565" y="2837"/>
              <a:ext cx="0" cy="480"/>
            </a:xfrm>
            <a:prstGeom prst="line">
              <a:avLst/>
            </a:prstGeom>
            <a:noFill/>
            <a:ln w="19050">
              <a:solidFill>
                <a:srgbClr val="FF3300"/>
              </a:solidFill>
              <a:round/>
              <a:headEnd/>
              <a:tailEnd/>
            </a:ln>
          </p:spPr>
          <p:txBody>
            <a:bodyPr/>
            <a:lstStyle/>
            <a:p>
              <a:endParaRPr lang="zh-CN" altLang="en-US"/>
            </a:p>
          </p:txBody>
        </p:sp>
      </p:grpSp>
      <p:grpSp>
        <p:nvGrpSpPr>
          <p:cNvPr id="10" name="Group 137"/>
          <p:cNvGrpSpPr>
            <a:grpSpLocks/>
          </p:cNvGrpSpPr>
          <p:nvPr/>
        </p:nvGrpSpPr>
        <p:grpSpPr bwMode="auto">
          <a:xfrm>
            <a:off x="6897688" y="3157538"/>
            <a:ext cx="717550" cy="1703387"/>
            <a:chOff x="4397" y="2533"/>
            <a:chExt cx="360" cy="1073"/>
          </a:xfrm>
        </p:grpSpPr>
        <p:grpSp>
          <p:nvGrpSpPr>
            <p:cNvPr id="64537" name="Group 138"/>
            <p:cNvGrpSpPr>
              <a:grpSpLocks/>
            </p:cNvGrpSpPr>
            <p:nvPr/>
          </p:nvGrpSpPr>
          <p:grpSpPr bwMode="auto">
            <a:xfrm>
              <a:off x="4397" y="2551"/>
              <a:ext cx="360" cy="1015"/>
              <a:chOff x="4397" y="2551"/>
              <a:chExt cx="360" cy="1015"/>
            </a:xfrm>
          </p:grpSpPr>
          <p:sp>
            <p:nvSpPr>
              <p:cNvPr id="64539" name="Arc 139"/>
              <p:cNvSpPr>
                <a:spLocks/>
              </p:cNvSpPr>
              <p:nvPr/>
            </p:nvSpPr>
            <p:spPr bwMode="auto">
              <a:xfrm rot="-1510078">
                <a:off x="4517" y="3029"/>
                <a:ext cx="238" cy="261"/>
              </a:xfrm>
              <a:custGeom>
                <a:avLst/>
                <a:gdLst>
                  <a:gd name="T0" fmla="*/ 0 w 40597"/>
                  <a:gd name="T1" fmla="*/ 0 h 43200"/>
                  <a:gd name="T2" fmla="*/ 0 w 40597"/>
                  <a:gd name="T3" fmla="*/ 0 h 43200"/>
                  <a:gd name="T4" fmla="*/ 0 w 40597"/>
                  <a:gd name="T5" fmla="*/ 0 h 43200"/>
                  <a:gd name="T6" fmla="*/ 0 60000 65536"/>
                  <a:gd name="T7" fmla="*/ 0 60000 65536"/>
                  <a:gd name="T8" fmla="*/ 0 60000 65536"/>
                  <a:gd name="T9" fmla="*/ 0 w 40597"/>
                  <a:gd name="T10" fmla="*/ 0 h 43200"/>
                  <a:gd name="T11" fmla="*/ 40597 w 40597"/>
                  <a:gd name="T12" fmla="*/ 43200 h 43200"/>
                </a:gdLst>
                <a:ahLst/>
                <a:cxnLst>
                  <a:cxn ang="T6">
                    <a:pos x="T0" y="T1"/>
                  </a:cxn>
                  <a:cxn ang="T7">
                    <a:pos x="T2" y="T3"/>
                  </a:cxn>
                  <a:cxn ang="T8">
                    <a:pos x="T4" y="T5"/>
                  </a:cxn>
                </a:cxnLst>
                <a:rect l="T9" t="T10" r="T11" b="T12"/>
                <a:pathLst>
                  <a:path w="40597" h="43200" fill="none" extrusionOk="0">
                    <a:moveTo>
                      <a:pt x="16866" y="105"/>
                    </a:moveTo>
                    <a:cubicBezTo>
                      <a:pt x="17574" y="35"/>
                      <a:pt x="18285" y="-1"/>
                      <a:pt x="18997" y="0"/>
                    </a:cubicBezTo>
                    <a:cubicBezTo>
                      <a:pt x="30926" y="0"/>
                      <a:pt x="40597" y="9670"/>
                      <a:pt x="40597" y="21600"/>
                    </a:cubicBezTo>
                    <a:cubicBezTo>
                      <a:pt x="40597" y="33529"/>
                      <a:pt x="30926" y="43200"/>
                      <a:pt x="18997" y="43200"/>
                    </a:cubicBezTo>
                    <a:cubicBezTo>
                      <a:pt x="11066" y="43200"/>
                      <a:pt x="3773" y="38854"/>
                      <a:pt x="-1" y="31879"/>
                    </a:cubicBezTo>
                  </a:path>
                  <a:path w="40597" h="43200" stroke="0" extrusionOk="0">
                    <a:moveTo>
                      <a:pt x="16866" y="105"/>
                    </a:moveTo>
                    <a:cubicBezTo>
                      <a:pt x="17574" y="35"/>
                      <a:pt x="18285" y="-1"/>
                      <a:pt x="18997" y="0"/>
                    </a:cubicBezTo>
                    <a:cubicBezTo>
                      <a:pt x="30926" y="0"/>
                      <a:pt x="40597" y="9670"/>
                      <a:pt x="40597" y="21600"/>
                    </a:cubicBezTo>
                    <a:cubicBezTo>
                      <a:pt x="40597" y="33529"/>
                      <a:pt x="30926" y="43200"/>
                      <a:pt x="18997" y="43200"/>
                    </a:cubicBezTo>
                    <a:cubicBezTo>
                      <a:pt x="11066" y="43200"/>
                      <a:pt x="3773" y="38854"/>
                      <a:pt x="-1" y="31879"/>
                    </a:cubicBezTo>
                    <a:lnTo>
                      <a:pt x="18997" y="21600"/>
                    </a:lnTo>
                    <a:close/>
                  </a:path>
                </a:pathLst>
              </a:custGeom>
              <a:noFill/>
              <a:ln w="12700" cap="rnd">
                <a:solidFill>
                  <a:schemeClr val="accent2"/>
                </a:solidFill>
                <a:round/>
                <a:headEnd type="none" w="sm" len="sm"/>
                <a:tailEnd type="none" w="sm" len="sm"/>
              </a:ln>
            </p:spPr>
            <p:txBody>
              <a:bodyPr wrap="none" anchor="ctr"/>
              <a:lstStyle/>
              <a:p>
                <a:endParaRPr lang="zh-CN" altLang="en-US"/>
              </a:p>
            </p:txBody>
          </p:sp>
          <p:sp>
            <p:nvSpPr>
              <p:cNvPr id="64540" name="Arc 140"/>
              <p:cNvSpPr>
                <a:spLocks/>
              </p:cNvSpPr>
              <p:nvPr/>
            </p:nvSpPr>
            <p:spPr bwMode="auto">
              <a:xfrm rot="-1732329">
                <a:off x="4444" y="2551"/>
                <a:ext cx="252" cy="325"/>
              </a:xfrm>
              <a:custGeom>
                <a:avLst/>
                <a:gdLst>
                  <a:gd name="T0" fmla="*/ 0 w 25493"/>
                  <a:gd name="T1" fmla="*/ 0 h 42729"/>
                  <a:gd name="T2" fmla="*/ 0 w 25493"/>
                  <a:gd name="T3" fmla="*/ 0 h 42729"/>
                  <a:gd name="T4" fmla="*/ 0 w 25493"/>
                  <a:gd name="T5" fmla="*/ 0 h 42729"/>
                  <a:gd name="T6" fmla="*/ 0 60000 65536"/>
                  <a:gd name="T7" fmla="*/ 0 60000 65536"/>
                  <a:gd name="T8" fmla="*/ 0 60000 65536"/>
                  <a:gd name="T9" fmla="*/ 0 w 25493"/>
                  <a:gd name="T10" fmla="*/ 0 h 42729"/>
                  <a:gd name="T11" fmla="*/ 25493 w 25493"/>
                  <a:gd name="T12" fmla="*/ 42729 h 42729"/>
                </a:gdLst>
                <a:ahLst/>
                <a:cxnLst>
                  <a:cxn ang="T6">
                    <a:pos x="T0" y="T1"/>
                  </a:cxn>
                  <a:cxn ang="T7">
                    <a:pos x="T2" y="T3"/>
                  </a:cxn>
                  <a:cxn ang="T8">
                    <a:pos x="T4" y="T5"/>
                  </a:cxn>
                </a:cxnLst>
                <a:rect l="T9" t="T10" r="T11" b="T12"/>
                <a:pathLst>
                  <a:path w="25493" h="42729" fill="none" extrusionOk="0">
                    <a:moveTo>
                      <a:pt x="8379" y="-1"/>
                    </a:moveTo>
                    <a:cubicBezTo>
                      <a:pt x="18357" y="2118"/>
                      <a:pt x="25493" y="10928"/>
                      <a:pt x="25493" y="21129"/>
                    </a:cubicBezTo>
                    <a:cubicBezTo>
                      <a:pt x="25493" y="33058"/>
                      <a:pt x="15822" y="42729"/>
                      <a:pt x="3893" y="42729"/>
                    </a:cubicBezTo>
                    <a:cubicBezTo>
                      <a:pt x="2587" y="42729"/>
                      <a:pt x="1284" y="42610"/>
                      <a:pt x="-1" y="42375"/>
                    </a:cubicBezTo>
                  </a:path>
                  <a:path w="25493" h="42729" stroke="0" extrusionOk="0">
                    <a:moveTo>
                      <a:pt x="8379" y="-1"/>
                    </a:moveTo>
                    <a:cubicBezTo>
                      <a:pt x="18357" y="2118"/>
                      <a:pt x="25493" y="10928"/>
                      <a:pt x="25493" y="21129"/>
                    </a:cubicBezTo>
                    <a:cubicBezTo>
                      <a:pt x="25493" y="33058"/>
                      <a:pt x="15822" y="42729"/>
                      <a:pt x="3893" y="42729"/>
                    </a:cubicBezTo>
                    <a:cubicBezTo>
                      <a:pt x="2587" y="42729"/>
                      <a:pt x="1284" y="42610"/>
                      <a:pt x="-1" y="42375"/>
                    </a:cubicBezTo>
                    <a:lnTo>
                      <a:pt x="3893" y="21129"/>
                    </a:lnTo>
                    <a:close/>
                  </a:path>
                </a:pathLst>
              </a:custGeom>
              <a:noFill/>
              <a:ln w="12700" cap="rnd">
                <a:solidFill>
                  <a:schemeClr val="accent2"/>
                </a:solidFill>
                <a:round/>
                <a:headEnd type="none" w="sm" len="sm"/>
                <a:tailEnd type="none" w="sm" len="sm"/>
              </a:ln>
            </p:spPr>
            <p:txBody>
              <a:bodyPr wrap="none" anchor="ctr"/>
              <a:lstStyle/>
              <a:p>
                <a:endParaRPr lang="zh-CN" altLang="en-US"/>
              </a:p>
            </p:txBody>
          </p:sp>
          <p:sp>
            <p:nvSpPr>
              <p:cNvPr id="64541" name="Arc 141"/>
              <p:cNvSpPr>
                <a:spLocks/>
              </p:cNvSpPr>
              <p:nvPr/>
            </p:nvSpPr>
            <p:spPr bwMode="auto">
              <a:xfrm>
                <a:off x="4565" y="2741"/>
                <a:ext cx="192" cy="289"/>
              </a:xfrm>
              <a:custGeom>
                <a:avLst/>
                <a:gdLst>
                  <a:gd name="T0" fmla="*/ 0 w 25493"/>
                  <a:gd name="T1" fmla="*/ 0 h 43200"/>
                  <a:gd name="T2" fmla="*/ 0 w 25493"/>
                  <a:gd name="T3" fmla="*/ 0 h 43200"/>
                  <a:gd name="T4" fmla="*/ 0 w 25493"/>
                  <a:gd name="T5" fmla="*/ 0 h 43200"/>
                  <a:gd name="T6" fmla="*/ 0 60000 65536"/>
                  <a:gd name="T7" fmla="*/ 0 60000 65536"/>
                  <a:gd name="T8" fmla="*/ 0 60000 65536"/>
                  <a:gd name="T9" fmla="*/ 0 w 25493"/>
                  <a:gd name="T10" fmla="*/ 0 h 43200"/>
                  <a:gd name="T11" fmla="*/ 25493 w 25493"/>
                  <a:gd name="T12" fmla="*/ 43200 h 43200"/>
                </a:gdLst>
                <a:ahLst/>
                <a:cxnLst>
                  <a:cxn ang="T6">
                    <a:pos x="T0" y="T1"/>
                  </a:cxn>
                  <a:cxn ang="T7">
                    <a:pos x="T2" y="T3"/>
                  </a:cxn>
                  <a:cxn ang="T8">
                    <a:pos x="T4" y="T5"/>
                  </a:cxn>
                </a:cxnLst>
                <a:rect l="T9" t="T10" r="T11" b="T12"/>
                <a:pathLst>
                  <a:path w="25493" h="43200" fill="none" extrusionOk="0">
                    <a:moveTo>
                      <a:pt x="3346" y="6"/>
                    </a:moveTo>
                    <a:cubicBezTo>
                      <a:pt x="3528" y="2"/>
                      <a:pt x="3710" y="-1"/>
                      <a:pt x="3893" y="0"/>
                    </a:cubicBezTo>
                    <a:cubicBezTo>
                      <a:pt x="15822" y="0"/>
                      <a:pt x="25493" y="9670"/>
                      <a:pt x="25493" y="21600"/>
                    </a:cubicBezTo>
                    <a:cubicBezTo>
                      <a:pt x="25493" y="33529"/>
                      <a:pt x="15822" y="43200"/>
                      <a:pt x="3893" y="43200"/>
                    </a:cubicBezTo>
                    <a:cubicBezTo>
                      <a:pt x="2587" y="43200"/>
                      <a:pt x="1284" y="43081"/>
                      <a:pt x="-1" y="42846"/>
                    </a:cubicBezTo>
                  </a:path>
                  <a:path w="25493" h="43200" stroke="0" extrusionOk="0">
                    <a:moveTo>
                      <a:pt x="3346" y="6"/>
                    </a:moveTo>
                    <a:cubicBezTo>
                      <a:pt x="3528" y="2"/>
                      <a:pt x="3710" y="-1"/>
                      <a:pt x="3893" y="0"/>
                    </a:cubicBezTo>
                    <a:cubicBezTo>
                      <a:pt x="15822" y="0"/>
                      <a:pt x="25493" y="9670"/>
                      <a:pt x="25493" y="21600"/>
                    </a:cubicBezTo>
                    <a:cubicBezTo>
                      <a:pt x="25493" y="33529"/>
                      <a:pt x="15822" y="43200"/>
                      <a:pt x="3893" y="43200"/>
                    </a:cubicBezTo>
                    <a:cubicBezTo>
                      <a:pt x="2587" y="43200"/>
                      <a:pt x="1284" y="43081"/>
                      <a:pt x="-1" y="42846"/>
                    </a:cubicBezTo>
                    <a:lnTo>
                      <a:pt x="3893" y="21600"/>
                    </a:lnTo>
                    <a:close/>
                  </a:path>
                </a:pathLst>
              </a:custGeom>
              <a:noFill/>
              <a:ln w="12700" cap="rnd">
                <a:solidFill>
                  <a:schemeClr val="accent2"/>
                </a:solidFill>
                <a:round/>
                <a:headEnd type="none" w="sm" len="sm"/>
                <a:tailEnd type="none" w="sm" len="sm"/>
              </a:ln>
            </p:spPr>
            <p:txBody>
              <a:bodyPr wrap="none" anchor="ctr"/>
              <a:lstStyle/>
              <a:p>
                <a:endParaRPr lang="zh-CN" altLang="en-US"/>
              </a:p>
            </p:txBody>
          </p:sp>
          <p:sp>
            <p:nvSpPr>
              <p:cNvPr id="64542" name="Arc 142"/>
              <p:cNvSpPr>
                <a:spLocks/>
              </p:cNvSpPr>
              <p:nvPr/>
            </p:nvSpPr>
            <p:spPr bwMode="auto">
              <a:xfrm rot="1754683">
                <a:off x="4493" y="3166"/>
                <a:ext cx="240" cy="336"/>
              </a:xfrm>
              <a:custGeom>
                <a:avLst/>
                <a:gdLst>
                  <a:gd name="T0" fmla="*/ 0 w 25493"/>
                  <a:gd name="T1" fmla="*/ 0 h 43200"/>
                  <a:gd name="T2" fmla="*/ 0 w 25493"/>
                  <a:gd name="T3" fmla="*/ 0 h 43200"/>
                  <a:gd name="T4" fmla="*/ 0 w 25493"/>
                  <a:gd name="T5" fmla="*/ 0 h 43200"/>
                  <a:gd name="T6" fmla="*/ 0 60000 65536"/>
                  <a:gd name="T7" fmla="*/ 0 60000 65536"/>
                  <a:gd name="T8" fmla="*/ 0 60000 65536"/>
                  <a:gd name="T9" fmla="*/ 0 w 25493"/>
                  <a:gd name="T10" fmla="*/ 0 h 43200"/>
                  <a:gd name="T11" fmla="*/ 25493 w 25493"/>
                  <a:gd name="T12" fmla="*/ 43200 h 43200"/>
                </a:gdLst>
                <a:ahLst/>
                <a:cxnLst>
                  <a:cxn ang="T6">
                    <a:pos x="T0" y="T1"/>
                  </a:cxn>
                  <a:cxn ang="T7">
                    <a:pos x="T2" y="T3"/>
                  </a:cxn>
                  <a:cxn ang="T8">
                    <a:pos x="T4" y="T5"/>
                  </a:cxn>
                </a:cxnLst>
                <a:rect l="T9" t="T10" r="T11" b="T12"/>
                <a:pathLst>
                  <a:path w="25493" h="43200" fill="none" extrusionOk="0">
                    <a:moveTo>
                      <a:pt x="3346" y="6"/>
                    </a:moveTo>
                    <a:cubicBezTo>
                      <a:pt x="3528" y="2"/>
                      <a:pt x="3710" y="-1"/>
                      <a:pt x="3893" y="0"/>
                    </a:cubicBezTo>
                    <a:cubicBezTo>
                      <a:pt x="15822" y="0"/>
                      <a:pt x="25493" y="9670"/>
                      <a:pt x="25493" y="21600"/>
                    </a:cubicBezTo>
                    <a:cubicBezTo>
                      <a:pt x="25493" y="33529"/>
                      <a:pt x="15822" y="43200"/>
                      <a:pt x="3893" y="43200"/>
                    </a:cubicBezTo>
                    <a:cubicBezTo>
                      <a:pt x="2587" y="43200"/>
                      <a:pt x="1284" y="43081"/>
                      <a:pt x="-1" y="42846"/>
                    </a:cubicBezTo>
                  </a:path>
                  <a:path w="25493" h="43200" stroke="0" extrusionOk="0">
                    <a:moveTo>
                      <a:pt x="3346" y="6"/>
                    </a:moveTo>
                    <a:cubicBezTo>
                      <a:pt x="3528" y="2"/>
                      <a:pt x="3710" y="-1"/>
                      <a:pt x="3893" y="0"/>
                    </a:cubicBezTo>
                    <a:cubicBezTo>
                      <a:pt x="15822" y="0"/>
                      <a:pt x="25493" y="9670"/>
                      <a:pt x="25493" y="21600"/>
                    </a:cubicBezTo>
                    <a:cubicBezTo>
                      <a:pt x="25493" y="33529"/>
                      <a:pt x="15822" y="43200"/>
                      <a:pt x="3893" y="43200"/>
                    </a:cubicBezTo>
                    <a:cubicBezTo>
                      <a:pt x="2587" y="43200"/>
                      <a:pt x="1284" y="43081"/>
                      <a:pt x="-1" y="42846"/>
                    </a:cubicBezTo>
                    <a:lnTo>
                      <a:pt x="3893" y="21600"/>
                    </a:lnTo>
                    <a:close/>
                  </a:path>
                </a:pathLst>
              </a:custGeom>
              <a:noFill/>
              <a:ln w="12700" cap="rnd">
                <a:solidFill>
                  <a:schemeClr val="accent2"/>
                </a:solidFill>
                <a:round/>
                <a:headEnd type="none" w="sm" len="sm"/>
                <a:tailEnd type="none" w="sm" len="sm"/>
              </a:ln>
            </p:spPr>
            <p:txBody>
              <a:bodyPr wrap="none" anchor="ctr"/>
              <a:lstStyle/>
              <a:p>
                <a:endParaRPr lang="zh-CN" altLang="en-US"/>
              </a:p>
            </p:txBody>
          </p:sp>
          <p:sp>
            <p:nvSpPr>
              <p:cNvPr id="64543" name="Arc 143"/>
              <p:cNvSpPr>
                <a:spLocks/>
              </p:cNvSpPr>
              <p:nvPr/>
            </p:nvSpPr>
            <p:spPr bwMode="auto">
              <a:xfrm>
                <a:off x="4613" y="2885"/>
                <a:ext cx="142" cy="241"/>
              </a:xfrm>
              <a:custGeom>
                <a:avLst/>
                <a:gdLst>
                  <a:gd name="T0" fmla="*/ 0 w 25493"/>
                  <a:gd name="T1" fmla="*/ 0 h 43200"/>
                  <a:gd name="T2" fmla="*/ 0 w 25493"/>
                  <a:gd name="T3" fmla="*/ 0 h 43200"/>
                  <a:gd name="T4" fmla="*/ 0 w 25493"/>
                  <a:gd name="T5" fmla="*/ 0 h 43200"/>
                  <a:gd name="T6" fmla="*/ 0 60000 65536"/>
                  <a:gd name="T7" fmla="*/ 0 60000 65536"/>
                  <a:gd name="T8" fmla="*/ 0 60000 65536"/>
                  <a:gd name="T9" fmla="*/ 0 w 25493"/>
                  <a:gd name="T10" fmla="*/ 0 h 43200"/>
                  <a:gd name="T11" fmla="*/ 25493 w 25493"/>
                  <a:gd name="T12" fmla="*/ 43200 h 43200"/>
                </a:gdLst>
                <a:ahLst/>
                <a:cxnLst>
                  <a:cxn ang="T6">
                    <a:pos x="T0" y="T1"/>
                  </a:cxn>
                  <a:cxn ang="T7">
                    <a:pos x="T2" y="T3"/>
                  </a:cxn>
                  <a:cxn ang="T8">
                    <a:pos x="T4" y="T5"/>
                  </a:cxn>
                </a:cxnLst>
                <a:rect l="T9" t="T10" r="T11" b="T12"/>
                <a:pathLst>
                  <a:path w="25493" h="43200" fill="none" extrusionOk="0">
                    <a:moveTo>
                      <a:pt x="3346" y="6"/>
                    </a:moveTo>
                    <a:cubicBezTo>
                      <a:pt x="3528" y="2"/>
                      <a:pt x="3710" y="-1"/>
                      <a:pt x="3893" y="0"/>
                    </a:cubicBezTo>
                    <a:cubicBezTo>
                      <a:pt x="15822" y="0"/>
                      <a:pt x="25493" y="9670"/>
                      <a:pt x="25493" y="21600"/>
                    </a:cubicBezTo>
                    <a:cubicBezTo>
                      <a:pt x="25493" y="33529"/>
                      <a:pt x="15822" y="43200"/>
                      <a:pt x="3893" y="43200"/>
                    </a:cubicBezTo>
                    <a:cubicBezTo>
                      <a:pt x="2587" y="43200"/>
                      <a:pt x="1284" y="43081"/>
                      <a:pt x="-1" y="42846"/>
                    </a:cubicBezTo>
                  </a:path>
                  <a:path w="25493" h="43200" stroke="0" extrusionOk="0">
                    <a:moveTo>
                      <a:pt x="3346" y="6"/>
                    </a:moveTo>
                    <a:cubicBezTo>
                      <a:pt x="3528" y="2"/>
                      <a:pt x="3710" y="-1"/>
                      <a:pt x="3893" y="0"/>
                    </a:cubicBezTo>
                    <a:cubicBezTo>
                      <a:pt x="15822" y="0"/>
                      <a:pt x="25493" y="9670"/>
                      <a:pt x="25493" y="21600"/>
                    </a:cubicBezTo>
                    <a:cubicBezTo>
                      <a:pt x="25493" y="33529"/>
                      <a:pt x="15822" y="43200"/>
                      <a:pt x="3893" y="43200"/>
                    </a:cubicBezTo>
                    <a:cubicBezTo>
                      <a:pt x="2587" y="43200"/>
                      <a:pt x="1284" y="43081"/>
                      <a:pt x="-1" y="42846"/>
                    </a:cubicBezTo>
                    <a:lnTo>
                      <a:pt x="3893" y="21600"/>
                    </a:lnTo>
                    <a:close/>
                  </a:path>
                </a:pathLst>
              </a:custGeom>
              <a:noFill/>
              <a:ln w="12700" cap="rnd">
                <a:solidFill>
                  <a:schemeClr val="accent2"/>
                </a:solidFill>
                <a:round/>
                <a:headEnd type="none" w="sm" len="sm"/>
                <a:tailEnd type="none" w="sm" len="sm"/>
              </a:ln>
            </p:spPr>
            <p:txBody>
              <a:bodyPr wrap="none" anchor="ctr"/>
              <a:lstStyle/>
              <a:p>
                <a:endParaRPr lang="zh-CN" altLang="en-US"/>
              </a:p>
            </p:txBody>
          </p:sp>
          <p:sp>
            <p:nvSpPr>
              <p:cNvPr id="64544" name="Arc 144"/>
              <p:cNvSpPr>
                <a:spLocks/>
              </p:cNvSpPr>
              <p:nvPr/>
            </p:nvSpPr>
            <p:spPr bwMode="auto">
              <a:xfrm rot="2715153">
                <a:off x="4446" y="3325"/>
                <a:ext cx="192" cy="289"/>
              </a:xfrm>
              <a:custGeom>
                <a:avLst/>
                <a:gdLst>
                  <a:gd name="T0" fmla="*/ 0 w 25493"/>
                  <a:gd name="T1" fmla="*/ 0 h 43200"/>
                  <a:gd name="T2" fmla="*/ 0 w 25493"/>
                  <a:gd name="T3" fmla="*/ 0 h 43200"/>
                  <a:gd name="T4" fmla="*/ 0 w 25493"/>
                  <a:gd name="T5" fmla="*/ 0 h 43200"/>
                  <a:gd name="T6" fmla="*/ 0 60000 65536"/>
                  <a:gd name="T7" fmla="*/ 0 60000 65536"/>
                  <a:gd name="T8" fmla="*/ 0 60000 65536"/>
                  <a:gd name="T9" fmla="*/ 0 w 25493"/>
                  <a:gd name="T10" fmla="*/ 0 h 43200"/>
                  <a:gd name="T11" fmla="*/ 25493 w 25493"/>
                  <a:gd name="T12" fmla="*/ 43200 h 43200"/>
                </a:gdLst>
                <a:ahLst/>
                <a:cxnLst>
                  <a:cxn ang="T6">
                    <a:pos x="T0" y="T1"/>
                  </a:cxn>
                  <a:cxn ang="T7">
                    <a:pos x="T2" y="T3"/>
                  </a:cxn>
                  <a:cxn ang="T8">
                    <a:pos x="T4" y="T5"/>
                  </a:cxn>
                </a:cxnLst>
                <a:rect l="T9" t="T10" r="T11" b="T12"/>
                <a:pathLst>
                  <a:path w="25493" h="43200" fill="none" extrusionOk="0">
                    <a:moveTo>
                      <a:pt x="3346" y="6"/>
                    </a:moveTo>
                    <a:cubicBezTo>
                      <a:pt x="3528" y="2"/>
                      <a:pt x="3710" y="-1"/>
                      <a:pt x="3893" y="0"/>
                    </a:cubicBezTo>
                    <a:cubicBezTo>
                      <a:pt x="15822" y="0"/>
                      <a:pt x="25493" y="9670"/>
                      <a:pt x="25493" y="21600"/>
                    </a:cubicBezTo>
                    <a:cubicBezTo>
                      <a:pt x="25493" y="33529"/>
                      <a:pt x="15822" y="43200"/>
                      <a:pt x="3893" y="43200"/>
                    </a:cubicBezTo>
                    <a:cubicBezTo>
                      <a:pt x="2587" y="43200"/>
                      <a:pt x="1284" y="43081"/>
                      <a:pt x="-1" y="42846"/>
                    </a:cubicBezTo>
                  </a:path>
                  <a:path w="25493" h="43200" stroke="0" extrusionOk="0">
                    <a:moveTo>
                      <a:pt x="3346" y="6"/>
                    </a:moveTo>
                    <a:cubicBezTo>
                      <a:pt x="3528" y="2"/>
                      <a:pt x="3710" y="-1"/>
                      <a:pt x="3893" y="0"/>
                    </a:cubicBezTo>
                    <a:cubicBezTo>
                      <a:pt x="15822" y="0"/>
                      <a:pt x="25493" y="9670"/>
                      <a:pt x="25493" y="21600"/>
                    </a:cubicBezTo>
                    <a:cubicBezTo>
                      <a:pt x="25493" y="33529"/>
                      <a:pt x="15822" y="43200"/>
                      <a:pt x="3893" y="43200"/>
                    </a:cubicBezTo>
                    <a:cubicBezTo>
                      <a:pt x="2587" y="43200"/>
                      <a:pt x="1284" y="43081"/>
                      <a:pt x="-1" y="42846"/>
                    </a:cubicBezTo>
                    <a:lnTo>
                      <a:pt x="3893" y="21600"/>
                    </a:lnTo>
                    <a:close/>
                  </a:path>
                </a:pathLst>
              </a:custGeom>
              <a:noFill/>
              <a:ln w="12700" cap="rnd">
                <a:solidFill>
                  <a:schemeClr val="accent2"/>
                </a:solidFill>
                <a:round/>
                <a:headEnd type="none" w="sm" len="sm"/>
                <a:tailEnd type="none" w="sm" len="sm"/>
              </a:ln>
            </p:spPr>
            <p:txBody>
              <a:bodyPr wrap="none" anchor="ctr"/>
              <a:lstStyle/>
              <a:p>
                <a:endParaRPr lang="zh-CN" altLang="en-US"/>
              </a:p>
            </p:txBody>
          </p:sp>
        </p:grpSp>
        <p:sp>
          <p:nvSpPr>
            <p:cNvPr id="64538" name="Freeform 145"/>
            <p:cNvSpPr>
              <a:spLocks/>
            </p:cNvSpPr>
            <p:nvPr/>
          </p:nvSpPr>
          <p:spPr bwMode="auto">
            <a:xfrm>
              <a:off x="4421" y="2533"/>
              <a:ext cx="329" cy="1073"/>
            </a:xfrm>
            <a:custGeom>
              <a:avLst/>
              <a:gdLst>
                <a:gd name="T0" fmla="*/ 0 w 329"/>
                <a:gd name="T1" fmla="*/ 9 h 1073"/>
                <a:gd name="T2" fmla="*/ 103 w 329"/>
                <a:gd name="T3" fmla="*/ 0 h 1073"/>
                <a:gd name="T4" fmla="*/ 199 w 329"/>
                <a:gd name="T5" fmla="*/ 19 h 1073"/>
                <a:gd name="T6" fmla="*/ 284 w 329"/>
                <a:gd name="T7" fmla="*/ 63 h 1073"/>
                <a:gd name="T8" fmla="*/ 329 w 329"/>
                <a:gd name="T9" fmla="*/ 284 h 1073"/>
                <a:gd name="T10" fmla="*/ 320 w 329"/>
                <a:gd name="T11" fmla="*/ 880 h 1073"/>
                <a:gd name="T12" fmla="*/ 258 w 329"/>
                <a:gd name="T13" fmla="*/ 975 h 1073"/>
                <a:gd name="T14" fmla="*/ 169 w 329"/>
                <a:gd name="T15" fmla="*/ 1064 h 1073"/>
                <a:gd name="T16" fmla="*/ 89 w 329"/>
                <a:gd name="T17" fmla="*/ 1073 h 1073"/>
                <a:gd name="T18" fmla="*/ 18 w 329"/>
                <a:gd name="T19" fmla="*/ 1072 h 107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9"/>
                <a:gd name="T31" fmla="*/ 0 h 1073"/>
                <a:gd name="T32" fmla="*/ 329 w 329"/>
                <a:gd name="T33" fmla="*/ 1073 h 107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9" h="1073">
                  <a:moveTo>
                    <a:pt x="0" y="9"/>
                  </a:moveTo>
                  <a:lnTo>
                    <a:pt x="103" y="0"/>
                  </a:lnTo>
                  <a:lnTo>
                    <a:pt x="199" y="19"/>
                  </a:lnTo>
                  <a:lnTo>
                    <a:pt x="284" y="63"/>
                  </a:lnTo>
                  <a:lnTo>
                    <a:pt x="329" y="284"/>
                  </a:lnTo>
                  <a:lnTo>
                    <a:pt x="320" y="880"/>
                  </a:lnTo>
                  <a:lnTo>
                    <a:pt x="258" y="975"/>
                  </a:lnTo>
                  <a:lnTo>
                    <a:pt x="169" y="1064"/>
                  </a:lnTo>
                  <a:lnTo>
                    <a:pt x="89" y="1073"/>
                  </a:lnTo>
                  <a:lnTo>
                    <a:pt x="18" y="1072"/>
                  </a:lnTo>
                </a:path>
              </a:pathLst>
            </a:custGeom>
            <a:noFill/>
            <a:ln w="19050">
              <a:solidFill>
                <a:srgbClr val="FF3300"/>
              </a:solidFill>
              <a:prstDash val="lgDash"/>
              <a:round/>
              <a:headEnd/>
              <a:tailEnd/>
            </a:ln>
          </p:spPr>
          <p:txBody>
            <a:bodyPr/>
            <a:lstStyle/>
            <a:p>
              <a:endParaRPr lang="zh-CN" altLang="en-US"/>
            </a:p>
          </p:txBody>
        </p:sp>
      </p:grpSp>
      <p:sp>
        <p:nvSpPr>
          <p:cNvPr id="198802" name="Freeform 146"/>
          <p:cNvSpPr>
            <a:spLocks/>
          </p:cNvSpPr>
          <p:nvPr/>
        </p:nvSpPr>
        <p:spPr bwMode="auto">
          <a:xfrm>
            <a:off x="6935788" y="2852738"/>
            <a:ext cx="1052512" cy="2376487"/>
          </a:xfrm>
          <a:custGeom>
            <a:avLst/>
            <a:gdLst>
              <a:gd name="T0" fmla="*/ 0 w 528"/>
              <a:gd name="T1" fmla="*/ 2147483647 h 1536"/>
              <a:gd name="T2" fmla="*/ 2147483647 w 528"/>
              <a:gd name="T3" fmla="*/ 0 h 1536"/>
              <a:gd name="T4" fmla="*/ 2147483647 w 528"/>
              <a:gd name="T5" fmla="*/ 2147483647 h 1536"/>
              <a:gd name="T6" fmla="*/ 2147483647 w 528"/>
              <a:gd name="T7" fmla="*/ 2147483647 h 1536"/>
              <a:gd name="T8" fmla="*/ 2147483647 w 528"/>
              <a:gd name="T9" fmla="*/ 2147483647 h 1536"/>
              <a:gd name="T10" fmla="*/ 2147483647 w 528"/>
              <a:gd name="T11" fmla="*/ 2147483647 h 1536"/>
              <a:gd name="T12" fmla="*/ 2147483647 w 528"/>
              <a:gd name="T13" fmla="*/ 2147483647 h 1536"/>
              <a:gd name="T14" fmla="*/ 2147483647 w 528"/>
              <a:gd name="T15" fmla="*/ 2147483647 h 1536"/>
              <a:gd name="T16" fmla="*/ 2147483647 w 528"/>
              <a:gd name="T17" fmla="*/ 2147483647 h 1536"/>
              <a:gd name="T18" fmla="*/ 2147483647 w 528"/>
              <a:gd name="T19" fmla="*/ 2147483647 h 1536"/>
              <a:gd name="T20" fmla="*/ 2147483647 w 528"/>
              <a:gd name="T21" fmla="*/ 2147483647 h 1536"/>
              <a:gd name="T22" fmla="*/ 2147483647 w 528"/>
              <a:gd name="T23" fmla="*/ 2147483647 h 1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28"/>
              <a:gd name="T37" fmla="*/ 0 h 1536"/>
              <a:gd name="T38" fmla="*/ 528 w 528"/>
              <a:gd name="T39" fmla="*/ 1536 h 1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28" h="1536">
                <a:moveTo>
                  <a:pt x="0" y="12"/>
                </a:moveTo>
                <a:lnTo>
                  <a:pt x="165" y="0"/>
                </a:lnTo>
                <a:lnTo>
                  <a:pt x="318" y="27"/>
                </a:lnTo>
                <a:lnTo>
                  <a:pt x="454" y="90"/>
                </a:lnTo>
                <a:lnTo>
                  <a:pt x="506" y="168"/>
                </a:lnTo>
                <a:lnTo>
                  <a:pt x="528" y="292"/>
                </a:lnTo>
                <a:lnTo>
                  <a:pt x="524" y="1302"/>
                </a:lnTo>
                <a:lnTo>
                  <a:pt x="488" y="1417"/>
                </a:lnTo>
                <a:lnTo>
                  <a:pt x="391" y="1470"/>
                </a:lnTo>
                <a:lnTo>
                  <a:pt x="271" y="1524"/>
                </a:lnTo>
                <a:lnTo>
                  <a:pt x="143" y="1536"/>
                </a:lnTo>
                <a:lnTo>
                  <a:pt x="29" y="1535"/>
                </a:lnTo>
              </a:path>
            </a:pathLst>
          </a:custGeom>
          <a:noFill/>
          <a:ln w="19050">
            <a:solidFill>
              <a:srgbClr val="FF3300"/>
            </a:solidFill>
            <a:prstDash val="lgDash"/>
            <a:round/>
            <a:headEnd/>
            <a:tailEnd/>
          </a:ln>
        </p:spPr>
        <p:txBody>
          <a:bodyPr/>
          <a:lstStyle/>
          <a:p>
            <a:endParaRPr lang="zh-CN" altLang="en-US"/>
          </a:p>
        </p:txBody>
      </p:sp>
      <p:grpSp>
        <p:nvGrpSpPr>
          <p:cNvPr id="12" name="Group 147"/>
          <p:cNvGrpSpPr>
            <a:grpSpLocks/>
          </p:cNvGrpSpPr>
          <p:nvPr/>
        </p:nvGrpSpPr>
        <p:grpSpPr bwMode="auto">
          <a:xfrm>
            <a:off x="7088188" y="2636838"/>
            <a:ext cx="1438275" cy="2879725"/>
            <a:chOff x="4744" y="2296"/>
            <a:chExt cx="721" cy="1814"/>
          </a:xfrm>
        </p:grpSpPr>
        <p:sp>
          <p:nvSpPr>
            <p:cNvPr id="64529" name="Line 148"/>
            <p:cNvSpPr>
              <a:spLocks noChangeShapeType="1"/>
            </p:cNvSpPr>
            <p:nvPr/>
          </p:nvSpPr>
          <p:spPr bwMode="auto">
            <a:xfrm>
              <a:off x="4792" y="3552"/>
              <a:ext cx="386" cy="558"/>
            </a:xfrm>
            <a:prstGeom prst="line">
              <a:avLst/>
            </a:prstGeom>
            <a:noFill/>
            <a:ln w="12700">
              <a:solidFill>
                <a:schemeClr val="tx2"/>
              </a:solidFill>
              <a:round/>
              <a:headEnd type="none" w="sm" len="sm"/>
              <a:tailEnd type="stealth" w="med" len="lg"/>
            </a:ln>
          </p:spPr>
          <p:txBody>
            <a:bodyPr wrap="none" anchor="ctr"/>
            <a:lstStyle/>
            <a:p>
              <a:endParaRPr lang="zh-CN" altLang="en-US"/>
            </a:p>
          </p:txBody>
        </p:sp>
        <p:sp>
          <p:nvSpPr>
            <p:cNvPr id="64530" name="Line 149"/>
            <p:cNvSpPr>
              <a:spLocks noChangeShapeType="1"/>
            </p:cNvSpPr>
            <p:nvPr/>
          </p:nvSpPr>
          <p:spPr bwMode="auto">
            <a:xfrm>
              <a:off x="4744" y="3234"/>
              <a:ext cx="721" cy="0"/>
            </a:xfrm>
            <a:prstGeom prst="line">
              <a:avLst/>
            </a:prstGeom>
            <a:noFill/>
            <a:ln w="12700">
              <a:solidFill>
                <a:schemeClr val="tx2"/>
              </a:solidFill>
              <a:round/>
              <a:headEnd type="none" w="sm" len="sm"/>
              <a:tailEnd type="stealth" w="med" len="lg"/>
            </a:ln>
          </p:spPr>
          <p:txBody>
            <a:bodyPr wrap="none" anchor="ctr"/>
            <a:lstStyle/>
            <a:p>
              <a:endParaRPr lang="zh-CN" altLang="en-US"/>
            </a:p>
          </p:txBody>
        </p:sp>
        <p:sp>
          <p:nvSpPr>
            <p:cNvPr id="64531" name="Line 150"/>
            <p:cNvSpPr>
              <a:spLocks noChangeShapeType="1"/>
            </p:cNvSpPr>
            <p:nvPr/>
          </p:nvSpPr>
          <p:spPr bwMode="auto">
            <a:xfrm flipV="1">
              <a:off x="4744" y="2296"/>
              <a:ext cx="390" cy="488"/>
            </a:xfrm>
            <a:prstGeom prst="line">
              <a:avLst/>
            </a:prstGeom>
            <a:noFill/>
            <a:ln w="12700">
              <a:solidFill>
                <a:schemeClr val="tx2"/>
              </a:solidFill>
              <a:round/>
              <a:headEnd type="none" w="sm" len="sm"/>
              <a:tailEnd type="stealth" w="med" len="lg"/>
            </a:ln>
          </p:spPr>
          <p:txBody>
            <a:bodyPr wrap="none" anchor="ctr"/>
            <a:lstStyle/>
            <a:p>
              <a:endParaRPr lang="zh-CN" altLang="en-US"/>
            </a:p>
          </p:txBody>
        </p:sp>
        <p:sp>
          <p:nvSpPr>
            <p:cNvPr id="64532" name="Line 151"/>
            <p:cNvSpPr>
              <a:spLocks noChangeShapeType="1"/>
            </p:cNvSpPr>
            <p:nvPr/>
          </p:nvSpPr>
          <p:spPr bwMode="auto">
            <a:xfrm>
              <a:off x="4744" y="3360"/>
              <a:ext cx="721" cy="0"/>
            </a:xfrm>
            <a:prstGeom prst="line">
              <a:avLst/>
            </a:prstGeom>
            <a:noFill/>
            <a:ln w="12700">
              <a:solidFill>
                <a:schemeClr val="tx2"/>
              </a:solidFill>
              <a:round/>
              <a:headEnd type="none" w="sm" len="sm"/>
              <a:tailEnd type="stealth" w="med" len="lg"/>
            </a:ln>
          </p:spPr>
          <p:txBody>
            <a:bodyPr wrap="none" anchor="ctr"/>
            <a:lstStyle/>
            <a:p>
              <a:endParaRPr lang="zh-CN" altLang="en-US"/>
            </a:p>
          </p:txBody>
        </p:sp>
        <p:sp>
          <p:nvSpPr>
            <p:cNvPr id="64533" name="Line 152"/>
            <p:cNvSpPr>
              <a:spLocks noChangeShapeType="1"/>
            </p:cNvSpPr>
            <p:nvPr/>
          </p:nvSpPr>
          <p:spPr bwMode="auto">
            <a:xfrm>
              <a:off x="4792" y="3504"/>
              <a:ext cx="673" cy="0"/>
            </a:xfrm>
            <a:prstGeom prst="line">
              <a:avLst/>
            </a:prstGeom>
            <a:noFill/>
            <a:ln w="12700">
              <a:solidFill>
                <a:schemeClr val="tx2"/>
              </a:solidFill>
              <a:round/>
              <a:headEnd type="none" w="sm" len="sm"/>
              <a:tailEnd type="stealth" w="med" len="lg"/>
            </a:ln>
          </p:spPr>
          <p:txBody>
            <a:bodyPr wrap="none" anchor="ctr"/>
            <a:lstStyle/>
            <a:p>
              <a:endParaRPr lang="zh-CN" altLang="en-US"/>
            </a:p>
          </p:txBody>
        </p:sp>
        <p:sp>
          <p:nvSpPr>
            <p:cNvPr id="64534" name="Line 153"/>
            <p:cNvSpPr>
              <a:spLocks noChangeShapeType="1"/>
            </p:cNvSpPr>
            <p:nvPr/>
          </p:nvSpPr>
          <p:spPr bwMode="auto">
            <a:xfrm>
              <a:off x="4792" y="2832"/>
              <a:ext cx="673" cy="0"/>
            </a:xfrm>
            <a:prstGeom prst="line">
              <a:avLst/>
            </a:prstGeom>
            <a:noFill/>
            <a:ln w="12700">
              <a:solidFill>
                <a:schemeClr val="tx2"/>
              </a:solidFill>
              <a:round/>
              <a:headEnd type="none" w="sm" len="sm"/>
              <a:tailEnd type="stealth" w="med" len="lg"/>
            </a:ln>
          </p:spPr>
          <p:txBody>
            <a:bodyPr wrap="none" anchor="ctr"/>
            <a:lstStyle/>
            <a:p>
              <a:endParaRPr lang="zh-CN" altLang="en-US"/>
            </a:p>
          </p:txBody>
        </p:sp>
        <p:sp>
          <p:nvSpPr>
            <p:cNvPr id="64535" name="Line 154"/>
            <p:cNvSpPr>
              <a:spLocks noChangeShapeType="1"/>
            </p:cNvSpPr>
            <p:nvPr/>
          </p:nvSpPr>
          <p:spPr bwMode="auto">
            <a:xfrm>
              <a:off x="4792" y="2976"/>
              <a:ext cx="673" cy="0"/>
            </a:xfrm>
            <a:prstGeom prst="line">
              <a:avLst/>
            </a:prstGeom>
            <a:noFill/>
            <a:ln w="12700">
              <a:solidFill>
                <a:schemeClr val="tx2"/>
              </a:solidFill>
              <a:round/>
              <a:headEnd type="none" w="sm" len="sm"/>
              <a:tailEnd type="stealth" w="med" len="lg"/>
            </a:ln>
          </p:spPr>
          <p:txBody>
            <a:bodyPr wrap="none" anchor="ctr"/>
            <a:lstStyle/>
            <a:p>
              <a:endParaRPr lang="zh-CN" altLang="en-US"/>
            </a:p>
          </p:txBody>
        </p:sp>
        <p:sp>
          <p:nvSpPr>
            <p:cNvPr id="64536" name="Line 155"/>
            <p:cNvSpPr>
              <a:spLocks noChangeShapeType="1"/>
            </p:cNvSpPr>
            <p:nvPr/>
          </p:nvSpPr>
          <p:spPr bwMode="auto">
            <a:xfrm>
              <a:off x="4744" y="3120"/>
              <a:ext cx="721" cy="0"/>
            </a:xfrm>
            <a:prstGeom prst="line">
              <a:avLst/>
            </a:prstGeom>
            <a:noFill/>
            <a:ln w="12700">
              <a:solidFill>
                <a:schemeClr val="tx2"/>
              </a:solidFill>
              <a:round/>
              <a:headEnd type="none" w="sm" len="sm"/>
              <a:tailEnd type="stealth" w="med" len="lg"/>
            </a:ln>
          </p:spPr>
          <p:txBody>
            <a:bodyPr wrap="none" anchor="ctr"/>
            <a:lstStyle/>
            <a:p>
              <a:endParaRPr lang="zh-CN" altLang="en-US"/>
            </a:p>
          </p:txBody>
        </p:sp>
      </p:grpSp>
      <p:sp>
        <p:nvSpPr>
          <p:cNvPr id="198813" name="AutoShape 157"/>
          <p:cNvSpPr>
            <a:spLocks noChangeArrowheads="1"/>
          </p:cNvSpPr>
          <p:nvPr/>
        </p:nvSpPr>
        <p:spPr bwMode="auto">
          <a:xfrm>
            <a:off x="179388" y="5661025"/>
            <a:ext cx="360362" cy="576263"/>
          </a:xfrm>
          <a:prstGeom prst="star4">
            <a:avLst>
              <a:gd name="adj" fmla="val 18519"/>
            </a:avLst>
          </a:prstGeom>
          <a:gradFill rotWithShape="1">
            <a:gsLst>
              <a:gs pos="0">
                <a:srgbClr val="FF3300"/>
              </a:gs>
              <a:gs pos="100000">
                <a:srgbClr val="761800"/>
              </a:gs>
            </a:gsLst>
            <a:path path="shape">
              <a:fillToRect l="50000" t="50000" r="50000" b="50000"/>
            </a:path>
          </a:gradFill>
          <a:ln w="9525">
            <a:noFill/>
            <a:miter lim="800000"/>
            <a:headEnd/>
            <a:tailEnd/>
          </a:ln>
        </p:spPr>
        <p:txBody>
          <a:bodyPr wrap="none" anchor="ctr"/>
          <a:lstStyle/>
          <a:p>
            <a:endParaRPr lang="zh-CN" altLang="en-US"/>
          </a:p>
        </p:txBody>
      </p:sp>
      <p:sp>
        <p:nvSpPr>
          <p:cNvPr id="198815" name="Text Box 159"/>
          <p:cNvSpPr txBox="1">
            <a:spLocks noChangeArrowheads="1"/>
          </p:cNvSpPr>
          <p:nvPr/>
        </p:nvSpPr>
        <p:spPr bwMode="auto">
          <a:xfrm>
            <a:off x="684213" y="5689600"/>
            <a:ext cx="8012112" cy="512763"/>
          </a:xfrm>
          <a:prstGeom prst="rect">
            <a:avLst/>
          </a:prstGeom>
          <a:noFill/>
          <a:ln w="9525">
            <a:noFill/>
            <a:miter lim="800000"/>
            <a:headEnd/>
            <a:tailEnd/>
          </a:ln>
        </p:spPr>
        <p:txBody>
          <a:bodyPr>
            <a:spAutoFit/>
          </a:bodyPr>
          <a:lstStyle/>
          <a:p>
            <a:pPr marL="381000" indent="-381000" eaLnBrk="0" hangingPunct="0">
              <a:lnSpc>
                <a:spcPct val="115000"/>
              </a:lnSpc>
            </a:pPr>
            <a:r>
              <a:rPr lang="zh-CN" altLang="en-US" b="1">
                <a:latin typeface="Bookman Old Style" pitchFamily="18" charset="0"/>
                <a:ea typeface="楷体_GB2312" pitchFamily="49" charset="-122"/>
              </a:rPr>
              <a:t>在衍射现象显著与否是和</a:t>
            </a:r>
            <a:r>
              <a:rPr lang="zh-CN" altLang="en-US" b="1">
                <a:solidFill>
                  <a:srgbClr val="FF6600"/>
                </a:solidFill>
                <a:latin typeface="Bookman Old Style" pitchFamily="18" charset="0"/>
                <a:ea typeface="楷体_GB2312" pitchFamily="49" charset="-122"/>
              </a:rPr>
              <a:t>障碍物的大小与波长之比</a:t>
            </a:r>
            <a:r>
              <a:rPr lang="zh-CN" altLang="en-US" b="1">
                <a:latin typeface="Bookman Old Style" pitchFamily="18" charset="0"/>
                <a:ea typeface="楷体_GB2312" pitchFamily="49" charset="-122"/>
              </a:rPr>
              <a:t>有关。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8687"/>
                                        </p:tgtEl>
                                        <p:attrNameLst>
                                          <p:attrName>style.visibility</p:attrName>
                                        </p:attrNameLst>
                                      </p:cBhvr>
                                      <p:to>
                                        <p:strVal val="visible"/>
                                      </p:to>
                                    </p:set>
                                    <p:animEffect transition="in" filter="wipe(left)">
                                      <p:cBhvr>
                                        <p:cTn id="7" dur="500"/>
                                        <p:tgtEl>
                                          <p:spTgt spid="1986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8710"/>
                                        </p:tgtEl>
                                        <p:attrNameLst>
                                          <p:attrName>style.visibility</p:attrName>
                                        </p:attrNameLst>
                                      </p:cBhvr>
                                      <p:to>
                                        <p:strVal val="visible"/>
                                      </p:to>
                                    </p:set>
                                    <p:animEffect transition="in" filter="wipe(left)">
                                      <p:cBhvr>
                                        <p:cTn id="12" dur="500"/>
                                        <p:tgtEl>
                                          <p:spTgt spid="1987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8711"/>
                                        </p:tgtEl>
                                        <p:attrNameLst>
                                          <p:attrName>style.visibility</p:attrName>
                                        </p:attrNameLst>
                                      </p:cBhvr>
                                      <p:to>
                                        <p:strVal val="visible"/>
                                      </p:to>
                                    </p:set>
                                    <p:animEffect transition="in" filter="wipe(left)">
                                      <p:cBhvr>
                                        <p:cTn id="17" dur="500"/>
                                        <p:tgtEl>
                                          <p:spTgt spid="1987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1000"/>
                                        <p:tgtEl>
                                          <p:spTgt spid="3"/>
                                        </p:tgtEl>
                                      </p:cBhvr>
                                    </p:animEffect>
                                  </p:childTnLst>
                                </p:cTn>
                              </p:par>
                            </p:childTnLst>
                          </p:cTn>
                        </p:par>
                        <p:par>
                          <p:cTn id="32" fill="hold">
                            <p:stCondLst>
                              <p:cond delay="1000"/>
                            </p:stCondLst>
                            <p:childTnLst>
                              <p:par>
                                <p:cTn id="33" presetID="22" presetClass="entr" presetSubtype="8" fill="hold" nodeType="after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left)">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left)">
                                      <p:cBhvr>
                                        <p:cTn id="40" dur="1000"/>
                                        <p:tgtEl>
                                          <p:spTgt spid="6"/>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wipe(left)">
                                      <p:cBhvr>
                                        <p:cTn id="49" dur="1000"/>
                                        <p:tgtEl>
                                          <p:spTgt spid="8"/>
                                        </p:tgtEl>
                                      </p:cBhvr>
                                    </p:animEffect>
                                  </p:childTnLst>
                                </p:cTn>
                              </p:par>
                            </p:childTnLst>
                          </p:cTn>
                        </p:par>
                        <p:par>
                          <p:cTn id="50" fill="hold">
                            <p:stCondLst>
                              <p:cond delay="1000"/>
                            </p:stCondLst>
                            <p:childTnLst>
                              <p:par>
                                <p:cTn id="51" presetID="22" presetClass="entr" presetSubtype="8" fill="hold" nodeType="after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wipe(left)">
                                      <p:cBhvr>
                                        <p:cTn id="53" dur="1000"/>
                                        <p:tgtEl>
                                          <p:spTgt spid="10"/>
                                        </p:tgtEl>
                                      </p:cBhvr>
                                    </p:animEffect>
                                  </p:childTnLst>
                                </p:cTn>
                              </p:par>
                            </p:childTnLst>
                          </p:cTn>
                        </p:par>
                        <p:par>
                          <p:cTn id="54" fill="hold">
                            <p:stCondLst>
                              <p:cond delay="2000"/>
                            </p:stCondLst>
                            <p:childTnLst>
                              <p:par>
                                <p:cTn id="55" presetID="22" presetClass="entr" presetSubtype="8" fill="hold" grpId="0" nodeType="afterEffect">
                                  <p:stCondLst>
                                    <p:cond delay="0"/>
                                  </p:stCondLst>
                                  <p:childTnLst>
                                    <p:set>
                                      <p:cBhvr>
                                        <p:cTn id="56" dur="1" fill="hold">
                                          <p:stCondLst>
                                            <p:cond delay="0"/>
                                          </p:stCondLst>
                                        </p:cTn>
                                        <p:tgtEl>
                                          <p:spTgt spid="198802"/>
                                        </p:tgtEl>
                                        <p:attrNameLst>
                                          <p:attrName>style.visibility</p:attrName>
                                        </p:attrNameLst>
                                      </p:cBhvr>
                                      <p:to>
                                        <p:strVal val="visible"/>
                                      </p:to>
                                    </p:set>
                                    <p:animEffect transition="in" filter="wipe(left)">
                                      <p:cBhvr>
                                        <p:cTn id="57" dur="1000"/>
                                        <p:tgtEl>
                                          <p:spTgt spid="198802"/>
                                        </p:tgtEl>
                                      </p:cBhvr>
                                    </p:animEffect>
                                  </p:childTnLst>
                                </p:cTn>
                              </p:par>
                            </p:childTnLst>
                          </p:cTn>
                        </p:par>
                        <p:par>
                          <p:cTn id="58" fill="hold">
                            <p:stCondLst>
                              <p:cond delay="3000"/>
                            </p:stCondLst>
                            <p:childTnLst>
                              <p:par>
                                <p:cTn id="59" presetID="22" presetClass="entr" presetSubtype="8" fill="hold" nodeType="after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left)">
                                      <p:cBhvr>
                                        <p:cTn id="61" dur="500"/>
                                        <p:tgtEl>
                                          <p:spTgt spid="12"/>
                                        </p:tgtEl>
                                      </p:cBhvr>
                                    </p:animEffect>
                                  </p:childTnLst>
                                </p:cTn>
                              </p:par>
                            </p:childTnLst>
                          </p:cTn>
                        </p:par>
                      </p:childTnLst>
                    </p:cTn>
                  </p:par>
                  <p:par>
                    <p:cTn id="62" fill="hold">
                      <p:stCondLst>
                        <p:cond delay="indefinite"/>
                      </p:stCondLst>
                      <p:childTnLst>
                        <p:par>
                          <p:cTn id="63" fill="hold">
                            <p:stCondLst>
                              <p:cond delay="0"/>
                            </p:stCondLst>
                            <p:childTnLst>
                              <p:par>
                                <p:cTn id="64" presetID="23" presetClass="entr" presetSubtype="32" fill="hold" grpId="0" nodeType="clickEffect">
                                  <p:stCondLst>
                                    <p:cond delay="0"/>
                                  </p:stCondLst>
                                  <p:childTnLst>
                                    <p:set>
                                      <p:cBhvr>
                                        <p:cTn id="65" dur="1" fill="hold">
                                          <p:stCondLst>
                                            <p:cond delay="0"/>
                                          </p:stCondLst>
                                        </p:cTn>
                                        <p:tgtEl>
                                          <p:spTgt spid="198813"/>
                                        </p:tgtEl>
                                        <p:attrNameLst>
                                          <p:attrName>style.visibility</p:attrName>
                                        </p:attrNameLst>
                                      </p:cBhvr>
                                      <p:to>
                                        <p:strVal val="visible"/>
                                      </p:to>
                                    </p:set>
                                    <p:anim calcmode="lin" valueType="num">
                                      <p:cBhvr>
                                        <p:cTn id="66" dur="500" fill="hold"/>
                                        <p:tgtEl>
                                          <p:spTgt spid="198813"/>
                                        </p:tgtEl>
                                        <p:attrNameLst>
                                          <p:attrName>ppt_w</p:attrName>
                                        </p:attrNameLst>
                                      </p:cBhvr>
                                      <p:tavLst>
                                        <p:tav tm="0">
                                          <p:val>
                                            <p:strVal val="4*#ppt_w"/>
                                          </p:val>
                                        </p:tav>
                                        <p:tav tm="100000">
                                          <p:val>
                                            <p:strVal val="#ppt_w"/>
                                          </p:val>
                                        </p:tav>
                                      </p:tavLst>
                                    </p:anim>
                                    <p:anim calcmode="lin" valueType="num">
                                      <p:cBhvr>
                                        <p:cTn id="67" dur="500" fill="hold"/>
                                        <p:tgtEl>
                                          <p:spTgt spid="198813"/>
                                        </p:tgtEl>
                                        <p:attrNameLst>
                                          <p:attrName>ppt_h</p:attrName>
                                        </p:attrNameLst>
                                      </p:cBhvr>
                                      <p:tavLst>
                                        <p:tav tm="0">
                                          <p:val>
                                            <p:strVal val="4*#ppt_h"/>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98815"/>
                                        </p:tgtEl>
                                        <p:attrNameLst>
                                          <p:attrName>style.visibility</p:attrName>
                                        </p:attrNameLst>
                                      </p:cBhvr>
                                      <p:to>
                                        <p:strVal val="visible"/>
                                      </p:to>
                                    </p:set>
                                    <p:animEffect transition="in" filter="wipe(left)">
                                      <p:cBhvr>
                                        <p:cTn id="72" dur="500"/>
                                        <p:tgtEl>
                                          <p:spTgt spid="1988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87" grpId="0" autoUpdateAnimBg="0"/>
      <p:bldP spid="198710" grpId="0" autoUpdateAnimBg="0"/>
      <p:bldP spid="198711" grpId="0" autoUpdateAnimBg="0"/>
      <p:bldP spid="198802" grpId="0" animBg="1"/>
      <p:bldP spid="198813" grpId="0" animBg="1"/>
      <p:bldP spid="198815"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179388" y="585788"/>
            <a:ext cx="2041525" cy="461962"/>
          </a:xfrm>
          <a:prstGeom prst="rect">
            <a:avLst/>
          </a:prstGeom>
          <a:noFill/>
          <a:ln w="9525">
            <a:noFill/>
            <a:miter lim="800000"/>
            <a:headEnd/>
            <a:tailEnd/>
          </a:ln>
        </p:spPr>
        <p:txBody>
          <a:bodyPr wrap="none">
            <a:spAutoFit/>
          </a:bodyPr>
          <a:lstStyle/>
          <a:p>
            <a:r>
              <a:rPr lang="zh-CN" altLang="en-US" b="1">
                <a:solidFill>
                  <a:srgbClr val="FF3300"/>
                </a:solidFill>
                <a:latin typeface="宋体" pitchFamily="2" charset="-122"/>
              </a:rPr>
              <a:t>二</a:t>
            </a:r>
            <a:r>
              <a:rPr lang="zh-CN" altLang="en-US" b="1">
                <a:solidFill>
                  <a:srgbClr val="FF3300"/>
                </a:solidFill>
              </a:rPr>
              <a:t>、波的干涉</a:t>
            </a:r>
            <a:endParaRPr lang="zh-CN" altLang="en-US" b="1">
              <a:solidFill>
                <a:srgbClr val="FF3300"/>
              </a:solidFill>
              <a:latin typeface="宋体" pitchFamily="2" charset="-122"/>
            </a:endParaRPr>
          </a:p>
        </p:txBody>
      </p:sp>
      <p:sp>
        <p:nvSpPr>
          <p:cNvPr id="72707" name="Rectangle 3"/>
          <p:cNvSpPr>
            <a:spLocks noChangeArrowheads="1"/>
          </p:cNvSpPr>
          <p:nvPr/>
        </p:nvSpPr>
        <p:spPr bwMode="auto">
          <a:xfrm>
            <a:off x="250825" y="1201738"/>
            <a:ext cx="2328863" cy="457200"/>
          </a:xfrm>
          <a:prstGeom prst="rect">
            <a:avLst/>
          </a:prstGeom>
          <a:noFill/>
          <a:ln w="9525">
            <a:noFill/>
            <a:miter lim="800000"/>
            <a:headEnd/>
            <a:tailEnd/>
          </a:ln>
        </p:spPr>
        <p:txBody>
          <a:bodyPr wrap="none">
            <a:spAutoFit/>
          </a:bodyPr>
          <a:lstStyle/>
          <a:p>
            <a:r>
              <a:rPr lang="zh-CN" altLang="en-US" b="1">
                <a:solidFill>
                  <a:srgbClr val="0033CC"/>
                </a:solidFill>
                <a:latin typeface="宋体" pitchFamily="2" charset="-122"/>
              </a:rPr>
              <a:t>波传播的独立性</a:t>
            </a:r>
          </a:p>
        </p:txBody>
      </p:sp>
      <p:sp>
        <p:nvSpPr>
          <p:cNvPr id="72708" name="Text Box 4"/>
          <p:cNvSpPr txBox="1">
            <a:spLocks noChangeArrowheads="1"/>
          </p:cNvSpPr>
          <p:nvPr/>
        </p:nvSpPr>
        <p:spPr bwMode="auto">
          <a:xfrm>
            <a:off x="257175" y="3238500"/>
            <a:ext cx="3657600" cy="457200"/>
          </a:xfrm>
          <a:prstGeom prst="rect">
            <a:avLst/>
          </a:prstGeom>
          <a:noFill/>
          <a:ln w="9525">
            <a:noFill/>
            <a:miter lim="800000"/>
            <a:headEnd/>
            <a:tailEnd/>
          </a:ln>
        </p:spPr>
        <p:txBody>
          <a:bodyPr>
            <a:spAutoFit/>
          </a:bodyPr>
          <a:lstStyle/>
          <a:p>
            <a:pPr>
              <a:spcBef>
                <a:spcPct val="50000"/>
              </a:spcBef>
            </a:pPr>
            <a:r>
              <a:rPr lang="zh-CN" altLang="en-US" b="1">
                <a:solidFill>
                  <a:srgbClr val="0033CC"/>
                </a:solidFill>
                <a:latin typeface="宋体" pitchFamily="2" charset="-122"/>
              </a:rPr>
              <a:t>叠加原理</a:t>
            </a:r>
          </a:p>
        </p:txBody>
      </p:sp>
      <p:sp>
        <p:nvSpPr>
          <p:cNvPr id="72709" name="Rectangle 5"/>
          <p:cNvSpPr>
            <a:spLocks noChangeArrowheads="1"/>
          </p:cNvSpPr>
          <p:nvPr/>
        </p:nvSpPr>
        <p:spPr bwMode="auto">
          <a:xfrm>
            <a:off x="790575" y="1677988"/>
            <a:ext cx="7920038" cy="1463675"/>
          </a:xfrm>
          <a:prstGeom prst="rect">
            <a:avLst/>
          </a:prstGeom>
          <a:noFill/>
          <a:ln w="9525">
            <a:noFill/>
            <a:miter lim="800000"/>
            <a:headEnd/>
            <a:tailEnd/>
          </a:ln>
        </p:spPr>
        <p:txBody>
          <a:bodyPr>
            <a:spAutoFit/>
          </a:bodyPr>
          <a:lstStyle/>
          <a:p>
            <a:pPr>
              <a:lnSpc>
                <a:spcPct val="125000"/>
              </a:lnSpc>
            </a:pPr>
            <a:r>
              <a:rPr lang="zh-CN" altLang="en-US" b="1">
                <a:latin typeface="Bookman Old Style" pitchFamily="18" charset="0"/>
              </a:rPr>
              <a:t>当几列波在传播过程中在某一区域相遇后再行分开，各波的传播情况与未相遇一样，仍保持它们各自的频率、波长、振动方向等特性继续沿原来的传播方向前进。</a:t>
            </a:r>
          </a:p>
        </p:txBody>
      </p:sp>
      <p:sp>
        <p:nvSpPr>
          <p:cNvPr id="72710" name="Rectangle 6"/>
          <p:cNvSpPr>
            <a:spLocks noChangeArrowheads="1"/>
          </p:cNvSpPr>
          <p:nvPr/>
        </p:nvSpPr>
        <p:spPr bwMode="auto">
          <a:xfrm>
            <a:off x="620713" y="3836988"/>
            <a:ext cx="4057650" cy="1463675"/>
          </a:xfrm>
          <a:prstGeom prst="rect">
            <a:avLst/>
          </a:prstGeom>
          <a:noFill/>
          <a:ln w="9525">
            <a:noFill/>
            <a:miter lim="800000"/>
            <a:headEnd/>
            <a:tailEnd/>
          </a:ln>
        </p:spPr>
        <p:txBody>
          <a:bodyPr>
            <a:spAutoFit/>
          </a:bodyPr>
          <a:lstStyle/>
          <a:p>
            <a:pPr marL="190500" indent="-190500">
              <a:lnSpc>
                <a:spcPct val="125000"/>
              </a:lnSpc>
            </a:pPr>
            <a:r>
              <a:rPr lang="en-US" altLang="zh-CN" b="1">
                <a:latin typeface="Bookman Old Style" pitchFamily="18" charset="0"/>
              </a:rPr>
              <a:t>  </a:t>
            </a:r>
            <a:r>
              <a:rPr lang="zh-CN" altLang="en-US" b="1">
                <a:latin typeface="Bookman Old Style" pitchFamily="18" charset="0"/>
              </a:rPr>
              <a:t>在波相遇区域内，任一质点的振动，为各波单独存在时所引起的振动的合振动。</a:t>
            </a:r>
          </a:p>
        </p:txBody>
      </p:sp>
      <p:sp>
        <p:nvSpPr>
          <p:cNvPr id="72711" name="Line 7"/>
          <p:cNvSpPr>
            <a:spLocks noChangeShapeType="1"/>
          </p:cNvSpPr>
          <p:nvPr/>
        </p:nvSpPr>
        <p:spPr bwMode="auto">
          <a:xfrm>
            <a:off x="5868988" y="3860800"/>
            <a:ext cx="431800" cy="0"/>
          </a:xfrm>
          <a:prstGeom prst="line">
            <a:avLst/>
          </a:prstGeom>
          <a:noFill/>
          <a:ln w="9525">
            <a:solidFill>
              <a:srgbClr val="FF6600"/>
            </a:solidFill>
            <a:round/>
            <a:headEnd/>
            <a:tailEnd type="triangle" w="med" len="med"/>
          </a:ln>
        </p:spPr>
        <p:txBody>
          <a:bodyPr wrap="none" anchor="ctr"/>
          <a:lstStyle/>
          <a:p>
            <a:endParaRPr lang="zh-CN" altLang="en-US"/>
          </a:p>
        </p:txBody>
      </p:sp>
      <p:sp>
        <p:nvSpPr>
          <p:cNvPr id="72712" name="Line 8"/>
          <p:cNvSpPr>
            <a:spLocks noChangeShapeType="1"/>
          </p:cNvSpPr>
          <p:nvPr/>
        </p:nvSpPr>
        <p:spPr bwMode="auto">
          <a:xfrm>
            <a:off x="7313613" y="3919538"/>
            <a:ext cx="431800" cy="0"/>
          </a:xfrm>
          <a:prstGeom prst="line">
            <a:avLst/>
          </a:prstGeom>
          <a:noFill/>
          <a:ln w="9525">
            <a:solidFill>
              <a:srgbClr val="FF6600"/>
            </a:solidFill>
            <a:round/>
            <a:headEnd type="triangle" w="med" len="med"/>
            <a:tailEnd/>
          </a:ln>
        </p:spPr>
        <p:txBody>
          <a:bodyPr wrap="none" anchor="ctr"/>
          <a:lstStyle/>
          <a:p>
            <a:endParaRPr lang="zh-CN" altLang="en-US"/>
          </a:p>
        </p:txBody>
      </p:sp>
      <p:sp>
        <p:nvSpPr>
          <p:cNvPr id="72713" name="Rectangle 9"/>
          <p:cNvSpPr>
            <a:spLocks noChangeArrowheads="1"/>
          </p:cNvSpPr>
          <p:nvPr/>
        </p:nvSpPr>
        <p:spPr bwMode="auto">
          <a:xfrm>
            <a:off x="5386388" y="3606800"/>
            <a:ext cx="450850" cy="457200"/>
          </a:xfrm>
          <a:prstGeom prst="rect">
            <a:avLst/>
          </a:prstGeom>
          <a:noFill/>
          <a:ln w="9525">
            <a:noFill/>
            <a:miter lim="800000"/>
            <a:headEnd/>
            <a:tailEnd/>
          </a:ln>
        </p:spPr>
        <p:txBody>
          <a:bodyPr wrap="none">
            <a:spAutoFit/>
          </a:bodyPr>
          <a:lstStyle/>
          <a:p>
            <a:pPr algn="ctr"/>
            <a:r>
              <a:rPr lang="en-US" altLang="zh-CN" b="1" i="1">
                <a:solidFill>
                  <a:srgbClr val="FF6600"/>
                </a:solidFill>
                <a:latin typeface="Bookman Old Style" pitchFamily="18" charset="0"/>
              </a:rPr>
              <a:t>v</a:t>
            </a:r>
            <a:r>
              <a:rPr lang="en-US" altLang="zh-CN" b="1" baseline="-25000">
                <a:solidFill>
                  <a:srgbClr val="FF6600"/>
                </a:solidFill>
              </a:rPr>
              <a:t>1</a:t>
            </a:r>
          </a:p>
        </p:txBody>
      </p:sp>
      <p:sp>
        <p:nvSpPr>
          <p:cNvPr id="72714" name="Rectangle 10"/>
          <p:cNvSpPr>
            <a:spLocks noChangeArrowheads="1"/>
          </p:cNvSpPr>
          <p:nvPr/>
        </p:nvSpPr>
        <p:spPr bwMode="auto">
          <a:xfrm>
            <a:off x="7769225" y="3679825"/>
            <a:ext cx="450850" cy="457200"/>
          </a:xfrm>
          <a:prstGeom prst="rect">
            <a:avLst/>
          </a:prstGeom>
          <a:noFill/>
          <a:ln w="9525">
            <a:noFill/>
            <a:miter lim="800000"/>
            <a:headEnd/>
            <a:tailEnd/>
          </a:ln>
        </p:spPr>
        <p:txBody>
          <a:bodyPr wrap="none">
            <a:spAutoFit/>
          </a:bodyPr>
          <a:lstStyle/>
          <a:p>
            <a:pPr algn="ctr"/>
            <a:r>
              <a:rPr lang="en-US" altLang="zh-CN" b="1" i="1">
                <a:solidFill>
                  <a:srgbClr val="FF6600"/>
                </a:solidFill>
                <a:latin typeface="Bookman Old Style" pitchFamily="18" charset="0"/>
              </a:rPr>
              <a:t>v</a:t>
            </a:r>
            <a:r>
              <a:rPr lang="en-US" altLang="zh-CN" b="1" baseline="-25000">
                <a:solidFill>
                  <a:srgbClr val="FF6600"/>
                </a:solidFill>
              </a:rPr>
              <a:t>2</a:t>
            </a:r>
          </a:p>
        </p:txBody>
      </p:sp>
      <p:graphicFrame>
        <p:nvGraphicFramePr>
          <p:cNvPr id="72715" name="Object 11"/>
          <p:cNvGraphicFramePr>
            <a:graphicFrameLocks noChangeAspect="1"/>
          </p:cNvGraphicFramePr>
          <p:nvPr/>
        </p:nvGraphicFramePr>
        <p:xfrm>
          <a:off x="6305550" y="5010150"/>
          <a:ext cx="1309688" cy="388938"/>
        </p:xfrm>
        <a:graphic>
          <a:graphicData uri="http://schemas.openxmlformats.org/presentationml/2006/ole">
            <p:oleObj spid="_x0000_s29698" name="公式" r:id="rId3" imgW="723600" imgH="215640" progId="Equation.3">
              <p:embed/>
            </p:oleObj>
          </a:graphicData>
        </a:graphic>
      </p:graphicFrame>
      <p:sp>
        <p:nvSpPr>
          <p:cNvPr id="72716" name="Rectangle 12"/>
          <p:cNvSpPr>
            <a:spLocks noChangeArrowheads="1"/>
          </p:cNvSpPr>
          <p:nvPr/>
        </p:nvSpPr>
        <p:spPr bwMode="auto">
          <a:xfrm>
            <a:off x="539750" y="5708650"/>
            <a:ext cx="1223963" cy="457200"/>
          </a:xfrm>
          <a:prstGeom prst="rect">
            <a:avLst/>
          </a:prstGeom>
          <a:noFill/>
          <a:ln w="9525">
            <a:noFill/>
            <a:miter lim="800000"/>
            <a:headEnd/>
            <a:tailEnd/>
          </a:ln>
        </p:spPr>
        <p:txBody>
          <a:bodyPr>
            <a:spAutoFit/>
          </a:bodyPr>
          <a:lstStyle/>
          <a:p>
            <a:r>
              <a:rPr lang="zh-CN" altLang="en-US" b="1">
                <a:solidFill>
                  <a:srgbClr val="FF3300"/>
                </a:solidFill>
                <a:latin typeface="Bookman Old Style" pitchFamily="18" charset="0"/>
              </a:rPr>
              <a:t>注意</a:t>
            </a:r>
          </a:p>
        </p:txBody>
      </p:sp>
      <p:sp>
        <p:nvSpPr>
          <p:cNvPr id="72717" name="Rectangle 13"/>
          <p:cNvSpPr>
            <a:spLocks noChangeArrowheads="1"/>
          </p:cNvSpPr>
          <p:nvPr/>
        </p:nvSpPr>
        <p:spPr bwMode="auto">
          <a:xfrm>
            <a:off x="1547813" y="5780088"/>
            <a:ext cx="7162800" cy="457200"/>
          </a:xfrm>
          <a:prstGeom prst="rect">
            <a:avLst/>
          </a:prstGeom>
          <a:noFill/>
          <a:ln w="9525">
            <a:noFill/>
            <a:miter lim="800000"/>
            <a:headEnd/>
            <a:tailEnd/>
          </a:ln>
        </p:spPr>
        <p:txBody>
          <a:bodyPr>
            <a:spAutoFit/>
          </a:bodyPr>
          <a:lstStyle/>
          <a:p>
            <a:r>
              <a:rPr lang="zh-CN" altLang="en-US" b="1">
                <a:latin typeface="楷体_GB2312" pitchFamily="49" charset="-122"/>
                <a:ea typeface="楷体_GB2312" pitchFamily="49" charset="-122"/>
              </a:rPr>
              <a:t>波的叠加原理仅适用于</a:t>
            </a:r>
            <a:r>
              <a:rPr lang="zh-CN" altLang="en-US" b="1">
                <a:solidFill>
                  <a:srgbClr val="FF6600"/>
                </a:solidFill>
                <a:latin typeface="楷体_GB2312" pitchFamily="49" charset="-122"/>
                <a:ea typeface="楷体_GB2312" pitchFamily="49" charset="-122"/>
              </a:rPr>
              <a:t>线性波</a:t>
            </a:r>
            <a:r>
              <a:rPr lang="zh-CN" altLang="en-US" b="1">
                <a:latin typeface="楷体_GB2312" pitchFamily="49" charset="-122"/>
                <a:ea typeface="楷体_GB2312" pitchFamily="49" charset="-122"/>
              </a:rPr>
              <a:t>的问题 </a:t>
            </a:r>
          </a:p>
        </p:txBody>
      </p:sp>
      <p:grpSp>
        <p:nvGrpSpPr>
          <p:cNvPr id="2" name="Group 16"/>
          <p:cNvGrpSpPr>
            <a:grpSpLocks/>
          </p:cNvGrpSpPr>
          <p:nvPr/>
        </p:nvGrpSpPr>
        <p:grpSpPr bwMode="auto">
          <a:xfrm>
            <a:off x="5162550" y="3932238"/>
            <a:ext cx="3081338" cy="647700"/>
            <a:chOff x="3252" y="2414"/>
            <a:chExt cx="1941" cy="408"/>
          </a:xfrm>
        </p:grpSpPr>
        <p:sp>
          <p:nvSpPr>
            <p:cNvPr id="29712" name="Freeform 17"/>
            <p:cNvSpPr>
              <a:spLocks/>
            </p:cNvSpPr>
            <p:nvPr/>
          </p:nvSpPr>
          <p:spPr bwMode="auto">
            <a:xfrm>
              <a:off x="4468" y="2550"/>
              <a:ext cx="317" cy="272"/>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96"/>
                  </a:moveTo>
                  <a:lnTo>
                    <a:pt x="172" y="18457"/>
                  </a:lnTo>
                  <a:lnTo>
                    <a:pt x="429" y="17872"/>
                  </a:lnTo>
                  <a:lnTo>
                    <a:pt x="773" y="17287"/>
                  </a:lnTo>
                  <a:lnTo>
                    <a:pt x="773" y="16649"/>
                  </a:lnTo>
                  <a:lnTo>
                    <a:pt x="1030" y="16064"/>
                  </a:lnTo>
                  <a:lnTo>
                    <a:pt x="1288" y="15479"/>
                  </a:lnTo>
                  <a:lnTo>
                    <a:pt x="1459" y="14894"/>
                  </a:lnTo>
                  <a:lnTo>
                    <a:pt x="1803" y="14255"/>
                  </a:lnTo>
                  <a:lnTo>
                    <a:pt x="1974" y="13670"/>
                  </a:lnTo>
                  <a:lnTo>
                    <a:pt x="2489" y="13138"/>
                  </a:lnTo>
                  <a:lnTo>
                    <a:pt x="2489" y="12553"/>
                  </a:lnTo>
                  <a:lnTo>
                    <a:pt x="2575" y="12021"/>
                  </a:lnTo>
                  <a:lnTo>
                    <a:pt x="2833" y="11489"/>
                  </a:lnTo>
                  <a:lnTo>
                    <a:pt x="2918" y="10904"/>
                  </a:lnTo>
                  <a:lnTo>
                    <a:pt x="3176" y="10372"/>
                  </a:lnTo>
                  <a:lnTo>
                    <a:pt x="3176" y="9840"/>
                  </a:lnTo>
                  <a:lnTo>
                    <a:pt x="3691" y="9255"/>
                  </a:lnTo>
                  <a:lnTo>
                    <a:pt x="4034" y="8723"/>
                  </a:lnTo>
                  <a:lnTo>
                    <a:pt x="4206" y="8191"/>
                  </a:lnTo>
                  <a:lnTo>
                    <a:pt x="4292" y="7766"/>
                  </a:lnTo>
                  <a:lnTo>
                    <a:pt x="4549" y="7234"/>
                  </a:lnTo>
                  <a:lnTo>
                    <a:pt x="4721" y="6755"/>
                  </a:lnTo>
                  <a:lnTo>
                    <a:pt x="5236" y="6330"/>
                  </a:lnTo>
                  <a:lnTo>
                    <a:pt x="5494" y="5904"/>
                  </a:lnTo>
                  <a:lnTo>
                    <a:pt x="5579" y="5426"/>
                  </a:lnTo>
                  <a:lnTo>
                    <a:pt x="5923" y="5000"/>
                  </a:lnTo>
                  <a:lnTo>
                    <a:pt x="5923" y="4521"/>
                  </a:lnTo>
                  <a:lnTo>
                    <a:pt x="6352" y="4149"/>
                  </a:lnTo>
                  <a:lnTo>
                    <a:pt x="6695" y="3777"/>
                  </a:lnTo>
                  <a:lnTo>
                    <a:pt x="6695" y="3404"/>
                  </a:lnTo>
                  <a:lnTo>
                    <a:pt x="7124" y="3032"/>
                  </a:lnTo>
                  <a:lnTo>
                    <a:pt x="7124" y="2713"/>
                  </a:lnTo>
                  <a:lnTo>
                    <a:pt x="7468" y="2447"/>
                  </a:lnTo>
                  <a:lnTo>
                    <a:pt x="7554" y="2128"/>
                  </a:lnTo>
                  <a:lnTo>
                    <a:pt x="7554" y="1809"/>
                  </a:lnTo>
                  <a:lnTo>
                    <a:pt x="7811" y="1543"/>
                  </a:lnTo>
                  <a:lnTo>
                    <a:pt x="8069" y="1330"/>
                  </a:lnTo>
                  <a:lnTo>
                    <a:pt x="8498" y="1064"/>
                  </a:lnTo>
                  <a:lnTo>
                    <a:pt x="8498" y="851"/>
                  </a:lnTo>
                  <a:lnTo>
                    <a:pt x="8841" y="691"/>
                  </a:lnTo>
                  <a:lnTo>
                    <a:pt x="8927" y="479"/>
                  </a:lnTo>
                  <a:lnTo>
                    <a:pt x="9099" y="372"/>
                  </a:lnTo>
                  <a:lnTo>
                    <a:pt x="9442" y="266"/>
                  </a:lnTo>
                  <a:lnTo>
                    <a:pt x="9442" y="106"/>
                  </a:lnTo>
                  <a:lnTo>
                    <a:pt x="9785" y="106"/>
                  </a:lnTo>
                  <a:lnTo>
                    <a:pt x="10129" y="53"/>
                  </a:lnTo>
                  <a:lnTo>
                    <a:pt x="10300" y="0"/>
                  </a:lnTo>
                  <a:lnTo>
                    <a:pt x="10558" y="53"/>
                  </a:lnTo>
                  <a:lnTo>
                    <a:pt x="10815" y="53"/>
                  </a:lnTo>
                  <a:lnTo>
                    <a:pt x="10901" y="106"/>
                  </a:lnTo>
                  <a:lnTo>
                    <a:pt x="11073" y="213"/>
                  </a:lnTo>
                  <a:lnTo>
                    <a:pt x="11416" y="319"/>
                  </a:lnTo>
                  <a:lnTo>
                    <a:pt x="11502" y="479"/>
                  </a:lnTo>
                  <a:lnTo>
                    <a:pt x="11931" y="745"/>
                  </a:lnTo>
                  <a:lnTo>
                    <a:pt x="12189" y="1011"/>
                  </a:lnTo>
                  <a:lnTo>
                    <a:pt x="12446" y="1277"/>
                  </a:lnTo>
                  <a:lnTo>
                    <a:pt x="12446" y="1543"/>
                  </a:lnTo>
                  <a:lnTo>
                    <a:pt x="12532" y="1915"/>
                  </a:lnTo>
                  <a:lnTo>
                    <a:pt x="12876" y="2287"/>
                  </a:lnTo>
                  <a:lnTo>
                    <a:pt x="12876" y="2713"/>
                  </a:lnTo>
                  <a:lnTo>
                    <a:pt x="13305" y="3138"/>
                  </a:lnTo>
                  <a:lnTo>
                    <a:pt x="13305" y="3564"/>
                  </a:lnTo>
                  <a:lnTo>
                    <a:pt x="13648" y="3989"/>
                  </a:lnTo>
                  <a:lnTo>
                    <a:pt x="14077" y="4415"/>
                  </a:lnTo>
                  <a:lnTo>
                    <a:pt x="14163" y="4947"/>
                  </a:lnTo>
                  <a:lnTo>
                    <a:pt x="14421" y="5479"/>
                  </a:lnTo>
                  <a:lnTo>
                    <a:pt x="14678" y="5957"/>
                  </a:lnTo>
                  <a:lnTo>
                    <a:pt x="15193" y="6489"/>
                  </a:lnTo>
                  <a:lnTo>
                    <a:pt x="15279" y="7074"/>
                  </a:lnTo>
                  <a:lnTo>
                    <a:pt x="15451" y="7606"/>
                  </a:lnTo>
                  <a:lnTo>
                    <a:pt x="15708" y="8191"/>
                  </a:lnTo>
                  <a:lnTo>
                    <a:pt x="15880" y="8777"/>
                  </a:lnTo>
                  <a:lnTo>
                    <a:pt x="16052" y="9362"/>
                  </a:lnTo>
                  <a:lnTo>
                    <a:pt x="16309" y="9894"/>
                  </a:lnTo>
                  <a:lnTo>
                    <a:pt x="16824" y="10426"/>
                  </a:lnTo>
                  <a:lnTo>
                    <a:pt x="16824" y="11011"/>
                  </a:lnTo>
                  <a:lnTo>
                    <a:pt x="17082" y="11649"/>
                  </a:lnTo>
                  <a:lnTo>
                    <a:pt x="17253" y="12181"/>
                  </a:lnTo>
                  <a:lnTo>
                    <a:pt x="17425" y="12766"/>
                  </a:lnTo>
                  <a:lnTo>
                    <a:pt x="17511" y="13298"/>
                  </a:lnTo>
                  <a:lnTo>
                    <a:pt x="17511" y="13830"/>
                  </a:lnTo>
                  <a:lnTo>
                    <a:pt x="18026" y="14415"/>
                  </a:lnTo>
                  <a:lnTo>
                    <a:pt x="18026" y="14947"/>
                  </a:lnTo>
                  <a:lnTo>
                    <a:pt x="18455" y="15479"/>
                  </a:lnTo>
                  <a:lnTo>
                    <a:pt x="18541" y="15904"/>
                  </a:lnTo>
                  <a:lnTo>
                    <a:pt x="18712" y="16436"/>
                  </a:lnTo>
                  <a:lnTo>
                    <a:pt x="18884" y="16862"/>
                  </a:lnTo>
                  <a:lnTo>
                    <a:pt x="18970" y="17340"/>
                  </a:lnTo>
                  <a:lnTo>
                    <a:pt x="19227" y="17713"/>
                  </a:lnTo>
                  <a:lnTo>
                    <a:pt x="19227" y="18138"/>
                  </a:lnTo>
                  <a:lnTo>
                    <a:pt x="19485" y="18511"/>
                  </a:lnTo>
                  <a:lnTo>
                    <a:pt x="19571" y="18883"/>
                  </a:lnTo>
                  <a:lnTo>
                    <a:pt x="19657" y="19149"/>
                  </a:lnTo>
                  <a:lnTo>
                    <a:pt x="19828" y="19521"/>
                  </a:lnTo>
                  <a:lnTo>
                    <a:pt x="19914" y="19734"/>
                  </a:lnTo>
                  <a:lnTo>
                    <a:pt x="19914" y="19947"/>
                  </a:lnTo>
                </a:path>
              </a:pathLst>
            </a:custGeom>
            <a:noFill/>
            <a:ln w="28575">
              <a:solidFill>
                <a:srgbClr val="9900CC"/>
              </a:solidFill>
              <a:round/>
              <a:headEnd/>
              <a:tailEnd/>
            </a:ln>
          </p:spPr>
          <p:txBody>
            <a:bodyPr/>
            <a:lstStyle/>
            <a:p>
              <a:endParaRPr lang="zh-CN" altLang="en-US"/>
            </a:p>
          </p:txBody>
        </p:sp>
        <p:sp>
          <p:nvSpPr>
            <p:cNvPr id="29713" name="Freeform 18"/>
            <p:cNvSpPr>
              <a:spLocks/>
            </p:cNvSpPr>
            <p:nvPr/>
          </p:nvSpPr>
          <p:spPr bwMode="auto">
            <a:xfrm>
              <a:off x="3833" y="2414"/>
              <a:ext cx="499" cy="40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096"/>
                  </a:moveTo>
                  <a:lnTo>
                    <a:pt x="172" y="18457"/>
                  </a:lnTo>
                  <a:lnTo>
                    <a:pt x="429" y="17872"/>
                  </a:lnTo>
                  <a:lnTo>
                    <a:pt x="773" y="17287"/>
                  </a:lnTo>
                  <a:lnTo>
                    <a:pt x="773" y="16649"/>
                  </a:lnTo>
                  <a:lnTo>
                    <a:pt x="1030" y="16064"/>
                  </a:lnTo>
                  <a:lnTo>
                    <a:pt x="1288" y="15479"/>
                  </a:lnTo>
                  <a:lnTo>
                    <a:pt x="1459" y="14894"/>
                  </a:lnTo>
                  <a:lnTo>
                    <a:pt x="1803" y="14255"/>
                  </a:lnTo>
                  <a:lnTo>
                    <a:pt x="1974" y="13670"/>
                  </a:lnTo>
                  <a:lnTo>
                    <a:pt x="2489" y="13138"/>
                  </a:lnTo>
                  <a:lnTo>
                    <a:pt x="2489" y="12553"/>
                  </a:lnTo>
                  <a:lnTo>
                    <a:pt x="2575" y="12021"/>
                  </a:lnTo>
                  <a:lnTo>
                    <a:pt x="2833" y="11489"/>
                  </a:lnTo>
                  <a:lnTo>
                    <a:pt x="2918" y="10904"/>
                  </a:lnTo>
                  <a:lnTo>
                    <a:pt x="3176" y="10372"/>
                  </a:lnTo>
                  <a:lnTo>
                    <a:pt x="3176" y="9840"/>
                  </a:lnTo>
                  <a:lnTo>
                    <a:pt x="3691" y="9255"/>
                  </a:lnTo>
                  <a:lnTo>
                    <a:pt x="4034" y="8723"/>
                  </a:lnTo>
                  <a:lnTo>
                    <a:pt x="4206" y="8191"/>
                  </a:lnTo>
                  <a:lnTo>
                    <a:pt x="4292" y="7766"/>
                  </a:lnTo>
                  <a:lnTo>
                    <a:pt x="4549" y="7234"/>
                  </a:lnTo>
                  <a:lnTo>
                    <a:pt x="4721" y="6755"/>
                  </a:lnTo>
                  <a:lnTo>
                    <a:pt x="5236" y="6330"/>
                  </a:lnTo>
                  <a:lnTo>
                    <a:pt x="5494" y="5904"/>
                  </a:lnTo>
                  <a:lnTo>
                    <a:pt x="5579" y="5426"/>
                  </a:lnTo>
                  <a:lnTo>
                    <a:pt x="5923" y="5000"/>
                  </a:lnTo>
                  <a:lnTo>
                    <a:pt x="5923" y="4521"/>
                  </a:lnTo>
                  <a:lnTo>
                    <a:pt x="6352" y="4149"/>
                  </a:lnTo>
                  <a:lnTo>
                    <a:pt x="6695" y="3777"/>
                  </a:lnTo>
                  <a:lnTo>
                    <a:pt x="6695" y="3404"/>
                  </a:lnTo>
                  <a:lnTo>
                    <a:pt x="7124" y="3032"/>
                  </a:lnTo>
                  <a:lnTo>
                    <a:pt x="7124" y="2713"/>
                  </a:lnTo>
                  <a:lnTo>
                    <a:pt x="7468" y="2447"/>
                  </a:lnTo>
                  <a:lnTo>
                    <a:pt x="7554" y="2128"/>
                  </a:lnTo>
                  <a:lnTo>
                    <a:pt x="7554" y="1809"/>
                  </a:lnTo>
                  <a:lnTo>
                    <a:pt x="7811" y="1543"/>
                  </a:lnTo>
                  <a:lnTo>
                    <a:pt x="8069" y="1330"/>
                  </a:lnTo>
                  <a:lnTo>
                    <a:pt x="8498" y="1064"/>
                  </a:lnTo>
                  <a:lnTo>
                    <a:pt x="8498" y="851"/>
                  </a:lnTo>
                  <a:lnTo>
                    <a:pt x="8841" y="691"/>
                  </a:lnTo>
                  <a:lnTo>
                    <a:pt x="8927" y="479"/>
                  </a:lnTo>
                  <a:lnTo>
                    <a:pt x="9099" y="372"/>
                  </a:lnTo>
                  <a:lnTo>
                    <a:pt x="9442" y="266"/>
                  </a:lnTo>
                  <a:lnTo>
                    <a:pt x="9442" y="106"/>
                  </a:lnTo>
                  <a:lnTo>
                    <a:pt x="9785" y="106"/>
                  </a:lnTo>
                  <a:lnTo>
                    <a:pt x="10129" y="53"/>
                  </a:lnTo>
                  <a:lnTo>
                    <a:pt x="10300" y="0"/>
                  </a:lnTo>
                  <a:lnTo>
                    <a:pt x="10558" y="53"/>
                  </a:lnTo>
                  <a:lnTo>
                    <a:pt x="10815" y="53"/>
                  </a:lnTo>
                  <a:lnTo>
                    <a:pt x="10901" y="106"/>
                  </a:lnTo>
                  <a:lnTo>
                    <a:pt x="11073" y="213"/>
                  </a:lnTo>
                  <a:lnTo>
                    <a:pt x="11416" y="319"/>
                  </a:lnTo>
                  <a:lnTo>
                    <a:pt x="11502" y="479"/>
                  </a:lnTo>
                  <a:lnTo>
                    <a:pt x="11931" y="745"/>
                  </a:lnTo>
                  <a:lnTo>
                    <a:pt x="12189" y="1011"/>
                  </a:lnTo>
                  <a:lnTo>
                    <a:pt x="12446" y="1277"/>
                  </a:lnTo>
                  <a:lnTo>
                    <a:pt x="12446" y="1543"/>
                  </a:lnTo>
                  <a:lnTo>
                    <a:pt x="12532" y="1915"/>
                  </a:lnTo>
                  <a:lnTo>
                    <a:pt x="12876" y="2287"/>
                  </a:lnTo>
                  <a:lnTo>
                    <a:pt x="12876" y="2713"/>
                  </a:lnTo>
                  <a:lnTo>
                    <a:pt x="13305" y="3138"/>
                  </a:lnTo>
                  <a:lnTo>
                    <a:pt x="13305" y="3564"/>
                  </a:lnTo>
                  <a:lnTo>
                    <a:pt x="13648" y="3989"/>
                  </a:lnTo>
                  <a:lnTo>
                    <a:pt x="14077" y="4415"/>
                  </a:lnTo>
                  <a:lnTo>
                    <a:pt x="14163" y="4947"/>
                  </a:lnTo>
                  <a:lnTo>
                    <a:pt x="14421" y="5479"/>
                  </a:lnTo>
                  <a:lnTo>
                    <a:pt x="14678" y="5957"/>
                  </a:lnTo>
                  <a:lnTo>
                    <a:pt x="15193" y="6489"/>
                  </a:lnTo>
                  <a:lnTo>
                    <a:pt x="15279" y="7074"/>
                  </a:lnTo>
                  <a:lnTo>
                    <a:pt x="15451" y="7606"/>
                  </a:lnTo>
                  <a:lnTo>
                    <a:pt x="15708" y="8191"/>
                  </a:lnTo>
                  <a:lnTo>
                    <a:pt x="15880" y="8777"/>
                  </a:lnTo>
                  <a:lnTo>
                    <a:pt x="16052" y="9362"/>
                  </a:lnTo>
                  <a:lnTo>
                    <a:pt x="16309" y="9894"/>
                  </a:lnTo>
                  <a:lnTo>
                    <a:pt x="16824" y="10426"/>
                  </a:lnTo>
                  <a:lnTo>
                    <a:pt x="16824" y="11011"/>
                  </a:lnTo>
                  <a:lnTo>
                    <a:pt x="17082" y="11649"/>
                  </a:lnTo>
                  <a:lnTo>
                    <a:pt x="17253" y="12181"/>
                  </a:lnTo>
                  <a:lnTo>
                    <a:pt x="17425" y="12766"/>
                  </a:lnTo>
                  <a:lnTo>
                    <a:pt x="17511" y="13298"/>
                  </a:lnTo>
                  <a:lnTo>
                    <a:pt x="17511" y="13830"/>
                  </a:lnTo>
                  <a:lnTo>
                    <a:pt x="18026" y="14415"/>
                  </a:lnTo>
                  <a:lnTo>
                    <a:pt x="18026" y="14947"/>
                  </a:lnTo>
                  <a:lnTo>
                    <a:pt x="18455" y="15479"/>
                  </a:lnTo>
                  <a:lnTo>
                    <a:pt x="18541" y="15904"/>
                  </a:lnTo>
                  <a:lnTo>
                    <a:pt x="18712" y="16436"/>
                  </a:lnTo>
                  <a:lnTo>
                    <a:pt x="18884" y="16862"/>
                  </a:lnTo>
                  <a:lnTo>
                    <a:pt x="18970" y="17340"/>
                  </a:lnTo>
                  <a:lnTo>
                    <a:pt x="19227" y="17713"/>
                  </a:lnTo>
                  <a:lnTo>
                    <a:pt x="19227" y="18138"/>
                  </a:lnTo>
                  <a:lnTo>
                    <a:pt x="19485" y="18511"/>
                  </a:lnTo>
                  <a:lnTo>
                    <a:pt x="19571" y="18883"/>
                  </a:lnTo>
                  <a:lnTo>
                    <a:pt x="19657" y="19149"/>
                  </a:lnTo>
                  <a:lnTo>
                    <a:pt x="19828" y="19521"/>
                  </a:lnTo>
                  <a:lnTo>
                    <a:pt x="19914" y="19734"/>
                  </a:lnTo>
                  <a:lnTo>
                    <a:pt x="19914" y="19947"/>
                  </a:lnTo>
                </a:path>
              </a:pathLst>
            </a:custGeom>
            <a:noFill/>
            <a:ln w="28575">
              <a:solidFill>
                <a:srgbClr val="9900CC"/>
              </a:solidFill>
              <a:round/>
              <a:headEnd/>
              <a:tailEnd/>
            </a:ln>
          </p:spPr>
          <p:txBody>
            <a:bodyPr/>
            <a:lstStyle/>
            <a:p>
              <a:endParaRPr lang="zh-CN" altLang="en-US"/>
            </a:p>
          </p:txBody>
        </p:sp>
        <p:sp>
          <p:nvSpPr>
            <p:cNvPr id="29714" name="Line 19"/>
            <p:cNvSpPr>
              <a:spLocks noChangeShapeType="1"/>
            </p:cNvSpPr>
            <p:nvPr/>
          </p:nvSpPr>
          <p:spPr bwMode="auto">
            <a:xfrm>
              <a:off x="4332" y="2818"/>
              <a:ext cx="136" cy="0"/>
            </a:xfrm>
            <a:prstGeom prst="line">
              <a:avLst/>
            </a:prstGeom>
            <a:noFill/>
            <a:ln w="28575">
              <a:solidFill>
                <a:srgbClr val="9900CC"/>
              </a:solidFill>
              <a:round/>
              <a:headEnd/>
              <a:tailEnd/>
            </a:ln>
          </p:spPr>
          <p:txBody>
            <a:bodyPr/>
            <a:lstStyle/>
            <a:p>
              <a:endParaRPr lang="zh-CN" altLang="en-US"/>
            </a:p>
          </p:txBody>
        </p:sp>
        <p:sp>
          <p:nvSpPr>
            <p:cNvPr id="29715" name="Line 20"/>
            <p:cNvSpPr>
              <a:spLocks noChangeShapeType="1"/>
            </p:cNvSpPr>
            <p:nvPr/>
          </p:nvSpPr>
          <p:spPr bwMode="auto">
            <a:xfrm>
              <a:off x="4785" y="2818"/>
              <a:ext cx="408" cy="0"/>
            </a:xfrm>
            <a:prstGeom prst="line">
              <a:avLst/>
            </a:prstGeom>
            <a:noFill/>
            <a:ln w="28575">
              <a:solidFill>
                <a:srgbClr val="9900CC"/>
              </a:solidFill>
              <a:round/>
              <a:headEnd/>
              <a:tailEnd/>
            </a:ln>
          </p:spPr>
          <p:txBody>
            <a:bodyPr/>
            <a:lstStyle/>
            <a:p>
              <a:endParaRPr lang="zh-CN" altLang="en-US"/>
            </a:p>
          </p:txBody>
        </p:sp>
        <p:sp>
          <p:nvSpPr>
            <p:cNvPr id="29716" name="Line 21"/>
            <p:cNvSpPr>
              <a:spLocks noChangeShapeType="1"/>
            </p:cNvSpPr>
            <p:nvPr/>
          </p:nvSpPr>
          <p:spPr bwMode="auto">
            <a:xfrm flipH="1">
              <a:off x="3252" y="2817"/>
              <a:ext cx="590" cy="0"/>
            </a:xfrm>
            <a:prstGeom prst="line">
              <a:avLst/>
            </a:prstGeom>
            <a:noFill/>
            <a:ln w="28575">
              <a:solidFill>
                <a:srgbClr val="9900CC"/>
              </a:solidFill>
              <a:round/>
              <a:headEnd/>
              <a:tailEnd/>
            </a:ln>
          </p:spPr>
          <p:txBody>
            <a:bodyPr/>
            <a:lstStyle/>
            <a:p>
              <a:endParaRPr lang="zh-CN" altLang="en-US"/>
            </a:p>
          </p:txBody>
        </p:sp>
      </p:grpSp>
      <p:sp>
        <p:nvSpPr>
          <p:cNvPr id="72729" name="AutoShape 25"/>
          <p:cNvSpPr>
            <a:spLocks noChangeArrowheads="1"/>
          </p:cNvSpPr>
          <p:nvPr/>
        </p:nvSpPr>
        <p:spPr bwMode="auto">
          <a:xfrm>
            <a:off x="179388" y="5661025"/>
            <a:ext cx="360362" cy="576263"/>
          </a:xfrm>
          <a:prstGeom prst="star4">
            <a:avLst>
              <a:gd name="adj" fmla="val 18519"/>
            </a:avLst>
          </a:prstGeom>
          <a:gradFill rotWithShape="1">
            <a:gsLst>
              <a:gs pos="0">
                <a:srgbClr val="FF3300"/>
              </a:gs>
              <a:gs pos="100000">
                <a:srgbClr val="761800"/>
              </a:gs>
            </a:gsLst>
            <a:path path="shape">
              <a:fillToRect l="50000" t="50000" r="50000" b="50000"/>
            </a:path>
          </a:gradFill>
          <a:ln w="9525">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706"/>
                                        </p:tgtEl>
                                        <p:attrNameLst>
                                          <p:attrName>style.visibility</p:attrName>
                                        </p:attrNameLst>
                                      </p:cBhvr>
                                      <p:to>
                                        <p:strVal val="visible"/>
                                      </p:to>
                                    </p:set>
                                    <p:animEffect transition="in" filter="wipe(left)">
                                      <p:cBhvr>
                                        <p:cTn id="7" dur="500"/>
                                        <p:tgtEl>
                                          <p:spTgt spid="727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2707"/>
                                        </p:tgtEl>
                                        <p:attrNameLst>
                                          <p:attrName>style.visibility</p:attrName>
                                        </p:attrNameLst>
                                      </p:cBhvr>
                                      <p:to>
                                        <p:strVal val="visible"/>
                                      </p:to>
                                    </p:set>
                                    <p:animEffect transition="in" filter="wipe(left)">
                                      <p:cBhvr>
                                        <p:cTn id="12" dur="500"/>
                                        <p:tgtEl>
                                          <p:spTgt spid="7270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in)">
                                      <p:cBhvr>
                                        <p:cTn id="17" dur="500"/>
                                        <p:tgtEl>
                                          <p:spTgt spid="2"/>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72711"/>
                                        </p:tgtEl>
                                        <p:attrNameLst>
                                          <p:attrName>style.visibility</p:attrName>
                                        </p:attrNameLst>
                                      </p:cBhvr>
                                      <p:to>
                                        <p:strVal val="visible"/>
                                      </p:to>
                                    </p:set>
                                    <p:animEffect transition="in" filter="wipe(left)">
                                      <p:cBhvr>
                                        <p:cTn id="20" dur="500"/>
                                        <p:tgtEl>
                                          <p:spTgt spid="72711"/>
                                        </p:tgtEl>
                                      </p:cBhvr>
                                    </p:animEffect>
                                  </p:childTnLst>
                                </p:cTn>
                              </p:par>
                              <p:par>
                                <p:cTn id="21" presetID="22" presetClass="entr" presetSubtype="2" fill="hold" grpId="0" nodeType="withEffect">
                                  <p:stCondLst>
                                    <p:cond delay="0"/>
                                  </p:stCondLst>
                                  <p:childTnLst>
                                    <p:set>
                                      <p:cBhvr>
                                        <p:cTn id="22" dur="1" fill="hold">
                                          <p:stCondLst>
                                            <p:cond delay="0"/>
                                          </p:stCondLst>
                                        </p:cTn>
                                        <p:tgtEl>
                                          <p:spTgt spid="72712"/>
                                        </p:tgtEl>
                                        <p:attrNameLst>
                                          <p:attrName>style.visibility</p:attrName>
                                        </p:attrNameLst>
                                      </p:cBhvr>
                                      <p:to>
                                        <p:strVal val="visible"/>
                                      </p:to>
                                    </p:set>
                                    <p:animEffect transition="in" filter="wipe(right)">
                                      <p:cBhvr>
                                        <p:cTn id="23" dur="500"/>
                                        <p:tgtEl>
                                          <p:spTgt spid="72712"/>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72713"/>
                                        </p:tgtEl>
                                        <p:attrNameLst>
                                          <p:attrName>style.visibility</p:attrName>
                                        </p:attrNameLst>
                                      </p:cBhvr>
                                      <p:to>
                                        <p:strVal val="visible"/>
                                      </p:to>
                                    </p:set>
                                    <p:animEffect transition="in" filter="wipe(left)">
                                      <p:cBhvr>
                                        <p:cTn id="26" dur="500"/>
                                        <p:tgtEl>
                                          <p:spTgt spid="72713"/>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72714"/>
                                        </p:tgtEl>
                                        <p:attrNameLst>
                                          <p:attrName>style.visibility</p:attrName>
                                        </p:attrNameLst>
                                      </p:cBhvr>
                                      <p:to>
                                        <p:strVal val="visible"/>
                                      </p:to>
                                    </p:set>
                                    <p:animEffect transition="in" filter="wipe(left)">
                                      <p:cBhvr>
                                        <p:cTn id="29" dur="500"/>
                                        <p:tgtEl>
                                          <p:spTgt spid="7271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72709"/>
                                        </p:tgtEl>
                                        <p:attrNameLst>
                                          <p:attrName>style.visibility</p:attrName>
                                        </p:attrNameLst>
                                      </p:cBhvr>
                                      <p:to>
                                        <p:strVal val="visible"/>
                                      </p:to>
                                    </p:set>
                                    <p:animEffect transition="in" filter="wipe(left)">
                                      <p:cBhvr>
                                        <p:cTn id="34" dur="500"/>
                                        <p:tgtEl>
                                          <p:spTgt spid="7270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72708"/>
                                        </p:tgtEl>
                                        <p:attrNameLst>
                                          <p:attrName>style.visibility</p:attrName>
                                        </p:attrNameLst>
                                      </p:cBhvr>
                                      <p:to>
                                        <p:strVal val="visible"/>
                                      </p:to>
                                    </p:set>
                                    <p:animEffect transition="in" filter="wipe(left)">
                                      <p:cBhvr>
                                        <p:cTn id="39" dur="500"/>
                                        <p:tgtEl>
                                          <p:spTgt spid="7270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72715"/>
                                        </p:tgtEl>
                                        <p:attrNameLst>
                                          <p:attrName>style.visibility</p:attrName>
                                        </p:attrNameLst>
                                      </p:cBhvr>
                                      <p:to>
                                        <p:strVal val="visible"/>
                                      </p:to>
                                    </p:set>
                                    <p:animEffect transition="in" filter="wipe(left)">
                                      <p:cBhvr>
                                        <p:cTn id="44" dur="500"/>
                                        <p:tgtEl>
                                          <p:spTgt spid="7271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72710"/>
                                        </p:tgtEl>
                                        <p:attrNameLst>
                                          <p:attrName>style.visibility</p:attrName>
                                        </p:attrNameLst>
                                      </p:cBhvr>
                                      <p:to>
                                        <p:strVal val="visible"/>
                                      </p:to>
                                    </p:set>
                                    <p:animEffect transition="in" filter="wipe(left)">
                                      <p:cBhvr>
                                        <p:cTn id="49" dur="500"/>
                                        <p:tgtEl>
                                          <p:spTgt spid="72710"/>
                                        </p:tgtEl>
                                      </p:cBhvr>
                                    </p:animEffect>
                                  </p:childTnLst>
                                </p:cTn>
                              </p:par>
                            </p:childTnLst>
                          </p:cTn>
                        </p:par>
                      </p:childTnLst>
                    </p:cTn>
                  </p:par>
                  <p:par>
                    <p:cTn id="50" fill="hold">
                      <p:stCondLst>
                        <p:cond delay="indefinite"/>
                      </p:stCondLst>
                      <p:childTnLst>
                        <p:par>
                          <p:cTn id="51" fill="hold">
                            <p:stCondLst>
                              <p:cond delay="0"/>
                            </p:stCondLst>
                            <p:childTnLst>
                              <p:par>
                                <p:cTn id="52" presetID="23" presetClass="entr" presetSubtype="32" fill="hold" grpId="0" nodeType="clickEffect">
                                  <p:stCondLst>
                                    <p:cond delay="0"/>
                                  </p:stCondLst>
                                  <p:childTnLst>
                                    <p:set>
                                      <p:cBhvr>
                                        <p:cTn id="53" dur="1" fill="hold">
                                          <p:stCondLst>
                                            <p:cond delay="0"/>
                                          </p:stCondLst>
                                        </p:cTn>
                                        <p:tgtEl>
                                          <p:spTgt spid="72729"/>
                                        </p:tgtEl>
                                        <p:attrNameLst>
                                          <p:attrName>style.visibility</p:attrName>
                                        </p:attrNameLst>
                                      </p:cBhvr>
                                      <p:to>
                                        <p:strVal val="visible"/>
                                      </p:to>
                                    </p:set>
                                    <p:anim calcmode="lin" valueType="num">
                                      <p:cBhvr>
                                        <p:cTn id="54" dur="500" fill="hold"/>
                                        <p:tgtEl>
                                          <p:spTgt spid="72729"/>
                                        </p:tgtEl>
                                        <p:attrNameLst>
                                          <p:attrName>ppt_w</p:attrName>
                                        </p:attrNameLst>
                                      </p:cBhvr>
                                      <p:tavLst>
                                        <p:tav tm="0">
                                          <p:val>
                                            <p:strVal val="4*#ppt_w"/>
                                          </p:val>
                                        </p:tav>
                                        <p:tav tm="100000">
                                          <p:val>
                                            <p:strVal val="#ppt_w"/>
                                          </p:val>
                                        </p:tav>
                                      </p:tavLst>
                                    </p:anim>
                                    <p:anim calcmode="lin" valueType="num">
                                      <p:cBhvr>
                                        <p:cTn id="55" dur="500" fill="hold"/>
                                        <p:tgtEl>
                                          <p:spTgt spid="72729"/>
                                        </p:tgtEl>
                                        <p:attrNameLst>
                                          <p:attrName>ppt_h</p:attrName>
                                        </p:attrNameLst>
                                      </p:cBhvr>
                                      <p:tavLst>
                                        <p:tav tm="0">
                                          <p:val>
                                            <p:strVal val="4*#ppt_h"/>
                                          </p:val>
                                        </p:tav>
                                        <p:tav tm="100000">
                                          <p:val>
                                            <p:strVal val="#ppt_h"/>
                                          </p:val>
                                        </p:tav>
                                      </p:tavLst>
                                    </p:anim>
                                  </p:childTnLst>
                                </p:cTn>
                              </p:par>
                            </p:childTnLst>
                          </p:cTn>
                        </p:par>
                        <p:par>
                          <p:cTn id="56" fill="hold">
                            <p:stCondLst>
                              <p:cond delay="500"/>
                            </p:stCondLst>
                            <p:childTnLst>
                              <p:par>
                                <p:cTn id="57" presetID="22" presetClass="entr" presetSubtype="8" fill="hold" grpId="0" nodeType="afterEffect">
                                  <p:stCondLst>
                                    <p:cond delay="0"/>
                                  </p:stCondLst>
                                  <p:iterate type="wd">
                                    <p:tmPct val="100000"/>
                                  </p:iterate>
                                  <p:childTnLst>
                                    <p:set>
                                      <p:cBhvr>
                                        <p:cTn id="58" dur="1" fill="hold">
                                          <p:stCondLst>
                                            <p:cond delay="0"/>
                                          </p:stCondLst>
                                        </p:cTn>
                                        <p:tgtEl>
                                          <p:spTgt spid="72716"/>
                                        </p:tgtEl>
                                        <p:attrNameLst>
                                          <p:attrName>style.visibility</p:attrName>
                                        </p:attrNameLst>
                                      </p:cBhvr>
                                      <p:to>
                                        <p:strVal val="visible"/>
                                      </p:to>
                                    </p:set>
                                    <p:animEffect transition="in" filter="wipe(left)">
                                      <p:cBhvr>
                                        <p:cTn id="59" dur="300"/>
                                        <p:tgtEl>
                                          <p:spTgt spid="7271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iterate type="wd">
                                    <p:tmPct val="100000"/>
                                  </p:iterate>
                                  <p:childTnLst>
                                    <p:set>
                                      <p:cBhvr>
                                        <p:cTn id="63" dur="1" fill="hold">
                                          <p:stCondLst>
                                            <p:cond delay="0"/>
                                          </p:stCondLst>
                                        </p:cTn>
                                        <p:tgtEl>
                                          <p:spTgt spid="72717"/>
                                        </p:tgtEl>
                                        <p:attrNameLst>
                                          <p:attrName>style.visibility</p:attrName>
                                        </p:attrNameLst>
                                      </p:cBhvr>
                                      <p:to>
                                        <p:strVal val="visible"/>
                                      </p:to>
                                    </p:set>
                                    <p:animEffect transition="in" filter="wipe(left)">
                                      <p:cBhvr>
                                        <p:cTn id="64" dur="300"/>
                                        <p:tgtEl>
                                          <p:spTgt spid="72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autoUpdateAnimBg="0"/>
      <p:bldP spid="72707" grpId="0" autoUpdateAnimBg="0"/>
      <p:bldP spid="72708" grpId="0" autoUpdateAnimBg="0"/>
      <p:bldP spid="72709" grpId="0" autoUpdateAnimBg="0"/>
      <p:bldP spid="72710" grpId="0" autoUpdateAnimBg="0"/>
      <p:bldP spid="72711" grpId="0" animBg="1"/>
      <p:bldP spid="72712" grpId="0" animBg="1"/>
      <p:bldP spid="72713" grpId="0"/>
      <p:bldP spid="72714" grpId="0"/>
      <p:bldP spid="72716" grpId="0" autoUpdateAnimBg="0"/>
      <p:bldP spid="72717" grpId="0" autoUpdateAnimBg="0"/>
      <p:bldP spid="7272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53" name="Rectangle 25"/>
          <p:cNvSpPr>
            <a:spLocks noChangeArrowheads="1"/>
          </p:cNvSpPr>
          <p:nvPr/>
        </p:nvSpPr>
        <p:spPr bwMode="auto">
          <a:xfrm>
            <a:off x="179388" y="450850"/>
            <a:ext cx="2974975" cy="457200"/>
          </a:xfrm>
          <a:prstGeom prst="rect">
            <a:avLst/>
          </a:prstGeom>
          <a:noFill/>
          <a:ln w="9525">
            <a:noFill/>
            <a:miter lim="800000"/>
            <a:headEnd/>
            <a:tailEnd/>
          </a:ln>
        </p:spPr>
        <p:txBody>
          <a:bodyPr>
            <a:spAutoFit/>
          </a:bodyPr>
          <a:lstStyle/>
          <a:p>
            <a:r>
              <a:rPr kumimoji="0" lang="zh-CN" altLang="en-US" b="1">
                <a:solidFill>
                  <a:srgbClr val="FF3300"/>
                </a:solidFill>
                <a:latin typeface="宋体" pitchFamily="2" charset="-122"/>
              </a:rPr>
              <a:t>三</a:t>
            </a:r>
            <a:r>
              <a:rPr lang="zh-CN" altLang="en-US" b="1">
                <a:solidFill>
                  <a:srgbClr val="FF3300"/>
                </a:solidFill>
              </a:rPr>
              <a:t>、</a:t>
            </a:r>
            <a:r>
              <a:rPr kumimoji="0" lang="zh-CN" altLang="en-US" b="1">
                <a:solidFill>
                  <a:srgbClr val="FF3300"/>
                </a:solidFill>
                <a:latin typeface="宋体" pitchFamily="2" charset="-122"/>
              </a:rPr>
              <a:t>波的干涉</a:t>
            </a:r>
          </a:p>
        </p:txBody>
      </p:sp>
      <p:sp>
        <p:nvSpPr>
          <p:cNvPr id="73758" name="Rectangle 30"/>
          <p:cNvSpPr>
            <a:spLocks noChangeArrowheads="1"/>
          </p:cNvSpPr>
          <p:nvPr/>
        </p:nvSpPr>
        <p:spPr bwMode="auto">
          <a:xfrm>
            <a:off x="179388" y="1316038"/>
            <a:ext cx="1870075" cy="457200"/>
          </a:xfrm>
          <a:prstGeom prst="rect">
            <a:avLst/>
          </a:prstGeom>
          <a:noFill/>
          <a:ln w="9525">
            <a:noFill/>
            <a:miter lim="800000"/>
            <a:headEnd/>
            <a:tailEnd/>
          </a:ln>
        </p:spPr>
        <p:txBody>
          <a:bodyPr wrap="none">
            <a:spAutoFit/>
          </a:bodyPr>
          <a:lstStyle/>
          <a:p>
            <a:r>
              <a:rPr lang="zh-CN" altLang="en-US" b="1">
                <a:solidFill>
                  <a:srgbClr val="FF6600"/>
                </a:solidFill>
                <a:latin typeface="宋体" pitchFamily="2" charset="-122"/>
              </a:rPr>
              <a:t>干涉现象： </a:t>
            </a:r>
          </a:p>
        </p:txBody>
      </p:sp>
      <p:sp>
        <p:nvSpPr>
          <p:cNvPr id="73759" name="Rectangle 31"/>
          <p:cNvSpPr>
            <a:spLocks noChangeArrowheads="1"/>
          </p:cNvSpPr>
          <p:nvPr/>
        </p:nvSpPr>
        <p:spPr bwMode="auto">
          <a:xfrm>
            <a:off x="1692275" y="1271588"/>
            <a:ext cx="7056438" cy="933450"/>
          </a:xfrm>
          <a:prstGeom prst="rect">
            <a:avLst/>
          </a:prstGeom>
          <a:noFill/>
          <a:ln w="9525">
            <a:noFill/>
            <a:miter lim="800000"/>
            <a:headEnd/>
            <a:tailEnd/>
          </a:ln>
        </p:spPr>
        <p:txBody>
          <a:bodyPr>
            <a:spAutoFit/>
          </a:bodyPr>
          <a:lstStyle/>
          <a:p>
            <a:pPr>
              <a:lnSpc>
                <a:spcPct val="115000"/>
              </a:lnSpc>
            </a:pPr>
            <a:r>
              <a:rPr lang="zh-CN" altLang="en-US" b="1">
                <a:latin typeface="Bookman Old Style" pitchFamily="18" charset="0"/>
                <a:ea typeface="楷体_GB2312" pitchFamily="49" charset="-122"/>
              </a:rPr>
              <a:t>一般情况下，各个波的振动方向和频率均不同，相位关系不确定，叠加的合成波较为复杂。</a:t>
            </a:r>
          </a:p>
        </p:txBody>
      </p:sp>
      <p:sp>
        <p:nvSpPr>
          <p:cNvPr id="73760" name="Rectangle 32"/>
          <p:cNvSpPr>
            <a:spLocks noChangeArrowheads="1"/>
          </p:cNvSpPr>
          <p:nvPr/>
        </p:nvSpPr>
        <p:spPr bwMode="auto">
          <a:xfrm>
            <a:off x="179388" y="2506663"/>
            <a:ext cx="8642350" cy="1354137"/>
          </a:xfrm>
          <a:prstGeom prst="rect">
            <a:avLst/>
          </a:prstGeom>
          <a:noFill/>
          <a:ln w="9525">
            <a:noFill/>
            <a:miter lim="800000"/>
            <a:headEnd/>
            <a:tailEnd/>
          </a:ln>
        </p:spPr>
        <p:txBody>
          <a:bodyPr>
            <a:spAutoFit/>
          </a:bodyPr>
          <a:lstStyle/>
          <a:p>
            <a:pPr>
              <a:lnSpc>
                <a:spcPct val="115000"/>
              </a:lnSpc>
            </a:pPr>
            <a:r>
              <a:rPr lang="zh-CN" altLang="en-US" b="1"/>
              <a:t>当两列（或多列）相干波叠加的结果，其合振幅 </a:t>
            </a:r>
            <a:r>
              <a:rPr lang="en-US" altLang="zh-CN" b="1" i="1">
                <a:solidFill>
                  <a:srgbClr val="FF6600"/>
                </a:solidFill>
              </a:rPr>
              <a:t>A </a:t>
            </a:r>
            <a:r>
              <a:rPr lang="zh-CN" altLang="en-US" b="1"/>
              <a:t>和合强度</a:t>
            </a:r>
            <a:r>
              <a:rPr lang="zh-CN" altLang="en-US" b="1">
                <a:solidFill>
                  <a:srgbClr val="FF6600"/>
                </a:solidFill>
              </a:rPr>
              <a:t> </a:t>
            </a:r>
            <a:r>
              <a:rPr lang="en-US" altLang="zh-CN" b="1" i="1">
                <a:solidFill>
                  <a:srgbClr val="FF6600"/>
                </a:solidFill>
              </a:rPr>
              <a:t>I </a:t>
            </a:r>
            <a:r>
              <a:rPr lang="zh-CN" altLang="en-US" b="1"/>
              <a:t>将在空间形成一种稳定的分布，即某些点上的振动始终加强，某些点上的振动始终减弱。</a:t>
            </a:r>
          </a:p>
        </p:txBody>
      </p:sp>
      <p:sp>
        <p:nvSpPr>
          <p:cNvPr id="73761" name="Rectangle 33"/>
          <p:cNvSpPr>
            <a:spLocks noChangeArrowheads="1"/>
          </p:cNvSpPr>
          <p:nvPr/>
        </p:nvSpPr>
        <p:spPr bwMode="auto">
          <a:xfrm>
            <a:off x="3995738" y="3394075"/>
            <a:ext cx="3124200" cy="457200"/>
          </a:xfrm>
          <a:prstGeom prst="rect">
            <a:avLst/>
          </a:prstGeom>
          <a:noFill/>
          <a:ln w="9525">
            <a:noFill/>
            <a:miter lim="800000"/>
            <a:headEnd/>
            <a:tailEnd/>
          </a:ln>
        </p:spPr>
        <p:txBody>
          <a:bodyPr>
            <a:spAutoFit/>
          </a:bodyPr>
          <a:lstStyle/>
          <a:p>
            <a:r>
              <a:rPr lang="en-US" altLang="zh-CN" b="1">
                <a:solidFill>
                  <a:srgbClr val="FF0000"/>
                </a:solidFill>
                <a:latin typeface="宋体" pitchFamily="2" charset="-122"/>
              </a:rPr>
              <a:t>—— </a:t>
            </a:r>
            <a:r>
              <a:rPr lang="zh-CN" altLang="en-US" b="1">
                <a:solidFill>
                  <a:srgbClr val="FF0000"/>
                </a:solidFill>
                <a:latin typeface="宋体" pitchFamily="2" charset="-122"/>
              </a:rPr>
              <a:t>波的干涉</a:t>
            </a:r>
          </a:p>
        </p:txBody>
      </p:sp>
      <p:sp>
        <p:nvSpPr>
          <p:cNvPr id="73763" name="Rectangle 35"/>
          <p:cNvSpPr>
            <a:spLocks noChangeArrowheads="1"/>
          </p:cNvSpPr>
          <p:nvPr/>
        </p:nvSpPr>
        <p:spPr bwMode="auto">
          <a:xfrm>
            <a:off x="555625" y="4964113"/>
            <a:ext cx="1641475" cy="457200"/>
          </a:xfrm>
          <a:prstGeom prst="rect">
            <a:avLst/>
          </a:prstGeom>
          <a:noFill/>
          <a:ln w="9525">
            <a:noFill/>
            <a:miter lim="800000"/>
            <a:headEnd/>
            <a:tailEnd/>
          </a:ln>
        </p:spPr>
        <p:txBody>
          <a:bodyPr>
            <a:spAutoFit/>
          </a:bodyPr>
          <a:lstStyle/>
          <a:p>
            <a:r>
              <a:rPr lang="zh-CN" altLang="en-US" b="1">
                <a:solidFill>
                  <a:srgbClr val="FF6600"/>
                </a:solidFill>
                <a:latin typeface="宋体" pitchFamily="2" charset="-122"/>
              </a:rPr>
              <a:t>相干波</a:t>
            </a:r>
          </a:p>
        </p:txBody>
      </p:sp>
      <p:sp>
        <p:nvSpPr>
          <p:cNvPr id="73764" name="Rectangle 36"/>
          <p:cNvSpPr>
            <a:spLocks noChangeArrowheads="1"/>
          </p:cNvSpPr>
          <p:nvPr/>
        </p:nvSpPr>
        <p:spPr bwMode="auto">
          <a:xfrm>
            <a:off x="544513" y="4243388"/>
            <a:ext cx="2255837" cy="457200"/>
          </a:xfrm>
          <a:prstGeom prst="rect">
            <a:avLst/>
          </a:prstGeom>
          <a:noFill/>
          <a:ln w="9525">
            <a:noFill/>
            <a:miter lim="800000"/>
            <a:headEnd/>
            <a:tailEnd/>
          </a:ln>
        </p:spPr>
        <p:txBody>
          <a:bodyPr>
            <a:spAutoFit/>
          </a:bodyPr>
          <a:lstStyle/>
          <a:p>
            <a:pPr>
              <a:spcBef>
                <a:spcPct val="50000"/>
              </a:spcBef>
            </a:pPr>
            <a:r>
              <a:rPr lang="zh-CN" altLang="en-US" b="1">
                <a:solidFill>
                  <a:srgbClr val="FF6600"/>
                </a:solidFill>
                <a:latin typeface="宋体" pitchFamily="2" charset="-122"/>
              </a:rPr>
              <a:t>相干条件</a:t>
            </a:r>
          </a:p>
        </p:txBody>
      </p:sp>
      <p:graphicFrame>
        <p:nvGraphicFramePr>
          <p:cNvPr id="30722" name="Object 37"/>
          <p:cNvGraphicFramePr>
            <a:graphicFrameLocks noChangeAspect="1"/>
          </p:cNvGraphicFramePr>
          <p:nvPr/>
        </p:nvGraphicFramePr>
        <p:xfrm>
          <a:off x="3651250" y="4537075"/>
          <a:ext cx="114300" cy="215900"/>
        </p:xfrm>
        <a:graphic>
          <a:graphicData uri="http://schemas.openxmlformats.org/presentationml/2006/ole">
            <p:oleObj spid="_x0000_s30722" name="Equation" r:id="rId3" imgW="114120" imgH="215640" progId="Equation.3">
              <p:embed/>
            </p:oleObj>
          </a:graphicData>
        </a:graphic>
      </p:graphicFrame>
      <p:sp>
        <p:nvSpPr>
          <p:cNvPr id="73766" name="Rectangle 38"/>
          <p:cNvSpPr>
            <a:spLocks noChangeArrowheads="1"/>
          </p:cNvSpPr>
          <p:nvPr/>
        </p:nvSpPr>
        <p:spPr bwMode="auto">
          <a:xfrm>
            <a:off x="2109788" y="4243388"/>
            <a:ext cx="6062662" cy="457200"/>
          </a:xfrm>
          <a:prstGeom prst="rect">
            <a:avLst/>
          </a:prstGeom>
          <a:noFill/>
          <a:ln w="9525">
            <a:noFill/>
            <a:miter lim="800000"/>
            <a:headEnd/>
            <a:tailEnd/>
          </a:ln>
        </p:spPr>
        <p:txBody>
          <a:bodyPr>
            <a:spAutoFit/>
          </a:bodyPr>
          <a:lstStyle/>
          <a:p>
            <a:pPr>
              <a:spcBef>
                <a:spcPct val="50000"/>
              </a:spcBef>
            </a:pPr>
            <a:r>
              <a:rPr lang="zh-CN" altLang="en-US" b="1">
                <a:solidFill>
                  <a:srgbClr val="008000"/>
                </a:solidFill>
                <a:ea typeface="楷体_GB2312" pitchFamily="49" charset="-122"/>
              </a:rPr>
              <a:t>频率相同、振动方向相同、相位差恒定。</a:t>
            </a:r>
          </a:p>
        </p:txBody>
      </p:sp>
      <p:sp>
        <p:nvSpPr>
          <p:cNvPr id="73767" name="Rectangle 39"/>
          <p:cNvSpPr>
            <a:spLocks noChangeArrowheads="1"/>
          </p:cNvSpPr>
          <p:nvPr/>
        </p:nvSpPr>
        <p:spPr bwMode="auto">
          <a:xfrm>
            <a:off x="557213" y="5780088"/>
            <a:ext cx="1666875" cy="457200"/>
          </a:xfrm>
          <a:prstGeom prst="rect">
            <a:avLst/>
          </a:prstGeom>
          <a:noFill/>
          <a:ln w="9525">
            <a:noFill/>
            <a:miter lim="800000"/>
            <a:headEnd/>
            <a:tailEnd/>
          </a:ln>
        </p:spPr>
        <p:txBody>
          <a:bodyPr>
            <a:spAutoFit/>
          </a:bodyPr>
          <a:lstStyle/>
          <a:p>
            <a:r>
              <a:rPr lang="zh-CN" altLang="en-US" b="1">
                <a:solidFill>
                  <a:srgbClr val="FF6600"/>
                </a:solidFill>
                <a:latin typeface="宋体" pitchFamily="2" charset="-122"/>
              </a:rPr>
              <a:t>相干波源</a:t>
            </a:r>
          </a:p>
        </p:txBody>
      </p:sp>
      <p:sp>
        <p:nvSpPr>
          <p:cNvPr id="73768" name="Rectangle 40"/>
          <p:cNvSpPr>
            <a:spLocks noChangeArrowheads="1"/>
          </p:cNvSpPr>
          <p:nvPr/>
        </p:nvSpPr>
        <p:spPr bwMode="auto">
          <a:xfrm>
            <a:off x="2101850" y="4983163"/>
            <a:ext cx="3335338" cy="457200"/>
          </a:xfrm>
          <a:prstGeom prst="rect">
            <a:avLst/>
          </a:prstGeom>
          <a:noFill/>
          <a:ln w="9525">
            <a:noFill/>
            <a:miter lim="800000"/>
            <a:headEnd/>
            <a:tailEnd/>
          </a:ln>
        </p:spPr>
        <p:txBody>
          <a:bodyPr>
            <a:spAutoFit/>
          </a:bodyPr>
          <a:lstStyle/>
          <a:p>
            <a:pPr>
              <a:spcBef>
                <a:spcPct val="50000"/>
              </a:spcBef>
            </a:pPr>
            <a:r>
              <a:rPr lang="zh-CN" altLang="en-US" b="1">
                <a:ea typeface="楷体_GB2312" pitchFamily="49" charset="-122"/>
              </a:rPr>
              <a:t>满足相干条件的波</a:t>
            </a:r>
          </a:p>
        </p:txBody>
      </p:sp>
      <p:sp>
        <p:nvSpPr>
          <p:cNvPr id="73769" name="Rectangle 41"/>
          <p:cNvSpPr>
            <a:spLocks noChangeArrowheads="1"/>
          </p:cNvSpPr>
          <p:nvPr/>
        </p:nvSpPr>
        <p:spPr bwMode="auto">
          <a:xfrm>
            <a:off x="2120900" y="5780088"/>
            <a:ext cx="3892550" cy="457200"/>
          </a:xfrm>
          <a:prstGeom prst="rect">
            <a:avLst/>
          </a:prstGeom>
          <a:noFill/>
          <a:ln w="9525">
            <a:noFill/>
            <a:miter lim="800000"/>
            <a:headEnd/>
            <a:tailEnd/>
          </a:ln>
        </p:spPr>
        <p:txBody>
          <a:bodyPr>
            <a:spAutoFit/>
          </a:bodyPr>
          <a:lstStyle/>
          <a:p>
            <a:pPr>
              <a:spcBef>
                <a:spcPct val="50000"/>
              </a:spcBef>
            </a:pPr>
            <a:r>
              <a:rPr lang="zh-CN" altLang="en-US" b="1">
                <a:ea typeface="楷体_GB2312" pitchFamily="49" charset="-122"/>
              </a:rPr>
              <a:t>产生相干波的波源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3753"/>
                                        </p:tgtEl>
                                        <p:attrNameLst>
                                          <p:attrName>style.visibility</p:attrName>
                                        </p:attrNameLst>
                                      </p:cBhvr>
                                      <p:to>
                                        <p:strVal val="visible"/>
                                      </p:to>
                                    </p:set>
                                    <p:animEffect transition="in" filter="wipe(left)">
                                      <p:cBhvr>
                                        <p:cTn id="7" dur="500"/>
                                        <p:tgtEl>
                                          <p:spTgt spid="737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3758"/>
                                        </p:tgtEl>
                                        <p:attrNameLst>
                                          <p:attrName>style.visibility</p:attrName>
                                        </p:attrNameLst>
                                      </p:cBhvr>
                                      <p:to>
                                        <p:strVal val="visible"/>
                                      </p:to>
                                    </p:set>
                                    <p:animEffect transition="in" filter="wipe(left)">
                                      <p:cBhvr>
                                        <p:cTn id="12" dur="500"/>
                                        <p:tgtEl>
                                          <p:spTgt spid="737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73759"/>
                                        </p:tgtEl>
                                        <p:attrNameLst>
                                          <p:attrName>style.visibility</p:attrName>
                                        </p:attrNameLst>
                                      </p:cBhvr>
                                      <p:to>
                                        <p:strVal val="visible"/>
                                      </p:to>
                                    </p:set>
                                    <p:animEffect transition="in" filter="wipe(left)">
                                      <p:cBhvr>
                                        <p:cTn id="17" dur="100"/>
                                        <p:tgtEl>
                                          <p:spTgt spid="7375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73760"/>
                                        </p:tgtEl>
                                        <p:attrNameLst>
                                          <p:attrName>style.visibility</p:attrName>
                                        </p:attrNameLst>
                                      </p:cBhvr>
                                      <p:to>
                                        <p:strVal val="visible"/>
                                      </p:to>
                                    </p:set>
                                    <p:animEffect transition="in" filter="wipe(left)">
                                      <p:cBhvr>
                                        <p:cTn id="22" dur="100"/>
                                        <p:tgtEl>
                                          <p:spTgt spid="7376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73761"/>
                                        </p:tgtEl>
                                        <p:attrNameLst>
                                          <p:attrName>style.visibility</p:attrName>
                                        </p:attrNameLst>
                                      </p:cBhvr>
                                      <p:to>
                                        <p:strVal val="visible"/>
                                      </p:to>
                                    </p:set>
                                    <p:animEffect transition="in" filter="wipe(left)">
                                      <p:cBhvr>
                                        <p:cTn id="27" dur="100"/>
                                        <p:tgtEl>
                                          <p:spTgt spid="7376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3764"/>
                                        </p:tgtEl>
                                        <p:attrNameLst>
                                          <p:attrName>style.visibility</p:attrName>
                                        </p:attrNameLst>
                                      </p:cBhvr>
                                      <p:to>
                                        <p:strVal val="visible"/>
                                      </p:to>
                                    </p:set>
                                    <p:animEffect transition="in" filter="wipe(left)">
                                      <p:cBhvr>
                                        <p:cTn id="32" dur="500"/>
                                        <p:tgtEl>
                                          <p:spTgt spid="7376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3766"/>
                                        </p:tgtEl>
                                        <p:attrNameLst>
                                          <p:attrName>style.visibility</p:attrName>
                                        </p:attrNameLst>
                                      </p:cBhvr>
                                      <p:to>
                                        <p:strVal val="visible"/>
                                      </p:to>
                                    </p:set>
                                    <p:animEffect transition="in" filter="wipe(left)">
                                      <p:cBhvr>
                                        <p:cTn id="37" dur="500"/>
                                        <p:tgtEl>
                                          <p:spTgt spid="7376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3763"/>
                                        </p:tgtEl>
                                        <p:attrNameLst>
                                          <p:attrName>style.visibility</p:attrName>
                                        </p:attrNameLst>
                                      </p:cBhvr>
                                      <p:to>
                                        <p:strVal val="visible"/>
                                      </p:to>
                                    </p:set>
                                    <p:animEffect transition="in" filter="wipe(left)">
                                      <p:cBhvr>
                                        <p:cTn id="42" dur="500"/>
                                        <p:tgtEl>
                                          <p:spTgt spid="7376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73768"/>
                                        </p:tgtEl>
                                        <p:attrNameLst>
                                          <p:attrName>style.visibility</p:attrName>
                                        </p:attrNameLst>
                                      </p:cBhvr>
                                      <p:to>
                                        <p:strVal val="visible"/>
                                      </p:to>
                                    </p:set>
                                    <p:animEffect transition="in" filter="wipe(left)">
                                      <p:cBhvr>
                                        <p:cTn id="47" dur="500"/>
                                        <p:tgtEl>
                                          <p:spTgt spid="7376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73767"/>
                                        </p:tgtEl>
                                        <p:attrNameLst>
                                          <p:attrName>style.visibility</p:attrName>
                                        </p:attrNameLst>
                                      </p:cBhvr>
                                      <p:to>
                                        <p:strVal val="visible"/>
                                      </p:to>
                                    </p:set>
                                    <p:animEffect transition="in" filter="wipe(left)">
                                      <p:cBhvr>
                                        <p:cTn id="52" dur="500"/>
                                        <p:tgtEl>
                                          <p:spTgt spid="7376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73769"/>
                                        </p:tgtEl>
                                        <p:attrNameLst>
                                          <p:attrName>style.visibility</p:attrName>
                                        </p:attrNameLst>
                                      </p:cBhvr>
                                      <p:to>
                                        <p:strVal val="visible"/>
                                      </p:to>
                                    </p:set>
                                    <p:animEffect transition="in" filter="wipe(left)">
                                      <p:cBhvr>
                                        <p:cTn id="57" dur="500"/>
                                        <p:tgtEl>
                                          <p:spTgt spid="737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53" grpId="0" autoUpdateAnimBg="0"/>
      <p:bldP spid="73758" grpId="0" autoUpdateAnimBg="0"/>
      <p:bldP spid="73759" grpId="0" autoUpdateAnimBg="0"/>
      <p:bldP spid="73760" grpId="0" autoUpdateAnimBg="0"/>
      <p:bldP spid="73761" grpId="0" autoUpdateAnimBg="0"/>
      <p:bldP spid="73763" grpId="0" autoUpdateAnimBg="0"/>
      <p:bldP spid="73764" grpId="0" autoUpdateAnimBg="0"/>
      <p:bldP spid="73766" grpId="0" autoUpdateAnimBg="0"/>
      <p:bldP spid="73767" grpId="0" autoUpdateAnimBg="0"/>
      <p:bldP spid="73768" grpId="0" autoUpdateAnimBg="0"/>
      <p:bldP spid="73769"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8" name="Text Box 6"/>
          <p:cNvSpPr txBox="1">
            <a:spLocks noChangeArrowheads="1"/>
          </p:cNvSpPr>
          <p:nvPr/>
        </p:nvSpPr>
        <p:spPr bwMode="auto">
          <a:xfrm>
            <a:off x="179388" y="404813"/>
            <a:ext cx="8478837" cy="933450"/>
          </a:xfrm>
          <a:prstGeom prst="rect">
            <a:avLst/>
          </a:prstGeom>
          <a:noFill/>
          <a:ln w="9525">
            <a:noFill/>
            <a:miter lim="800000"/>
            <a:headEnd/>
            <a:tailEnd/>
          </a:ln>
        </p:spPr>
        <p:txBody>
          <a:bodyPr>
            <a:spAutoFit/>
          </a:bodyPr>
          <a:lstStyle/>
          <a:p>
            <a:pPr>
              <a:lnSpc>
                <a:spcPct val="115000"/>
              </a:lnSpc>
            </a:pPr>
            <a:r>
              <a:rPr lang="en-US" altLang="zh-CN" b="1">
                <a:latin typeface="宋体" pitchFamily="2" charset="-122"/>
              </a:rPr>
              <a:t>    </a:t>
            </a:r>
            <a:r>
              <a:rPr lang="zh-CN" altLang="en-US" b="1">
                <a:latin typeface="宋体" pitchFamily="2" charset="-122"/>
              </a:rPr>
              <a:t>如图所示，设 </a:t>
            </a:r>
            <a:r>
              <a:rPr lang="en-US" altLang="zh-CN" b="1" i="1">
                <a:solidFill>
                  <a:srgbClr val="FF6600"/>
                </a:solidFill>
              </a:rPr>
              <a:t>S</a:t>
            </a:r>
            <a:r>
              <a:rPr lang="en-US" altLang="zh-CN" b="1" baseline="-25000">
                <a:solidFill>
                  <a:srgbClr val="FF6600"/>
                </a:solidFill>
              </a:rPr>
              <a:t>l </a:t>
            </a:r>
            <a:r>
              <a:rPr lang="zh-CN" altLang="en-US" b="1">
                <a:latin typeface="宋体" pitchFamily="2" charset="-122"/>
              </a:rPr>
              <a:t>、</a:t>
            </a:r>
            <a:r>
              <a:rPr lang="en-US" altLang="zh-CN" b="1" i="1">
                <a:solidFill>
                  <a:srgbClr val="FF6600"/>
                </a:solidFill>
              </a:rPr>
              <a:t>S</a:t>
            </a:r>
            <a:r>
              <a:rPr lang="en-US" altLang="zh-CN" b="1" baseline="-25000">
                <a:solidFill>
                  <a:srgbClr val="FF6600"/>
                </a:solidFill>
              </a:rPr>
              <a:t>2 </a:t>
            </a:r>
            <a:r>
              <a:rPr lang="zh-CN" altLang="en-US" b="1">
                <a:latin typeface="宋体" pitchFamily="2" charset="-122"/>
              </a:rPr>
              <a:t>为两相干波源，其振动方向均垂直于图面。它们传到 </a:t>
            </a:r>
            <a:r>
              <a:rPr lang="en-US" altLang="zh-CN" b="1" i="1">
                <a:solidFill>
                  <a:srgbClr val="FF6600"/>
                </a:solidFill>
              </a:rPr>
              <a:t>P</a:t>
            </a:r>
            <a:r>
              <a:rPr lang="en-US" altLang="zh-CN" b="1">
                <a:latin typeface="宋体" pitchFamily="2" charset="-122"/>
              </a:rPr>
              <a:t> </a:t>
            </a:r>
            <a:r>
              <a:rPr lang="zh-CN" altLang="en-US" b="1">
                <a:latin typeface="宋体" pitchFamily="2" charset="-122"/>
              </a:rPr>
              <a:t>点波动方程分别为：</a:t>
            </a:r>
          </a:p>
        </p:txBody>
      </p:sp>
      <p:sp>
        <p:nvSpPr>
          <p:cNvPr id="202759" name="Text Box 7"/>
          <p:cNvSpPr txBox="1">
            <a:spLocks noChangeArrowheads="1"/>
          </p:cNvSpPr>
          <p:nvPr/>
        </p:nvSpPr>
        <p:spPr bwMode="auto">
          <a:xfrm>
            <a:off x="254000" y="2708275"/>
            <a:ext cx="8494713" cy="898525"/>
          </a:xfrm>
          <a:prstGeom prst="rect">
            <a:avLst/>
          </a:prstGeom>
          <a:noFill/>
          <a:ln w="9525">
            <a:noFill/>
            <a:miter lim="800000"/>
            <a:headEnd/>
            <a:tailEnd/>
          </a:ln>
        </p:spPr>
        <p:txBody>
          <a:bodyPr>
            <a:spAutoFit/>
          </a:bodyPr>
          <a:lstStyle/>
          <a:p>
            <a:pPr>
              <a:lnSpc>
                <a:spcPct val="115000"/>
              </a:lnSpc>
            </a:pPr>
            <a:r>
              <a:rPr lang="zh-CN" altLang="en-US" b="1">
                <a:solidFill>
                  <a:srgbClr val="669900"/>
                </a:solidFill>
                <a:latin typeface="宋体" pitchFamily="2" charset="-122"/>
              </a:rPr>
              <a:t>第一、</a:t>
            </a:r>
            <a:r>
              <a:rPr lang="zh-CN" altLang="en-US" b="1">
                <a:solidFill>
                  <a:srgbClr val="FF6600"/>
                </a:solidFill>
                <a:latin typeface="宋体" pitchFamily="2" charset="-122"/>
              </a:rPr>
              <a:t>两列波的振动方向相同 </a:t>
            </a:r>
            <a:r>
              <a:rPr lang="zh-CN" altLang="en-US" sz="2200" b="1">
                <a:latin typeface="楷体_GB2312" pitchFamily="49" charset="-122"/>
                <a:ea typeface="楷体_GB2312" pitchFamily="49" charset="-122"/>
              </a:rPr>
              <a:t>（若振动方向不同，则合成的振动很复杂，谈不上加强与减弱的问题。）</a:t>
            </a:r>
          </a:p>
        </p:txBody>
      </p:sp>
      <p:graphicFrame>
        <p:nvGraphicFramePr>
          <p:cNvPr id="202760" name="Object 8"/>
          <p:cNvGraphicFramePr>
            <a:graphicFrameLocks noChangeAspect="1"/>
          </p:cNvGraphicFramePr>
          <p:nvPr/>
        </p:nvGraphicFramePr>
        <p:xfrm>
          <a:off x="1116013" y="1341438"/>
          <a:ext cx="2760662" cy="647700"/>
        </p:xfrm>
        <a:graphic>
          <a:graphicData uri="http://schemas.openxmlformats.org/presentationml/2006/ole">
            <p:oleObj spid="_x0000_s31746" name="公式" r:id="rId3" imgW="1726920" imgH="406080" progId="Equation.3">
              <p:embed/>
            </p:oleObj>
          </a:graphicData>
        </a:graphic>
      </p:graphicFrame>
      <p:graphicFrame>
        <p:nvGraphicFramePr>
          <p:cNvPr id="202761" name="Object 9"/>
          <p:cNvGraphicFramePr>
            <a:graphicFrameLocks noChangeAspect="1"/>
          </p:cNvGraphicFramePr>
          <p:nvPr/>
        </p:nvGraphicFramePr>
        <p:xfrm>
          <a:off x="1116013" y="2133600"/>
          <a:ext cx="2825750" cy="647700"/>
        </p:xfrm>
        <a:graphic>
          <a:graphicData uri="http://schemas.openxmlformats.org/presentationml/2006/ole">
            <p:oleObj spid="_x0000_s31747" name="公式" r:id="rId4" imgW="1765080" imgH="406080" progId="Equation.3">
              <p:embed/>
            </p:oleObj>
          </a:graphicData>
        </a:graphic>
      </p:graphicFrame>
      <p:graphicFrame>
        <p:nvGraphicFramePr>
          <p:cNvPr id="202762" name="Object 10"/>
          <p:cNvGraphicFramePr>
            <a:graphicFrameLocks/>
          </p:cNvGraphicFramePr>
          <p:nvPr/>
        </p:nvGraphicFramePr>
        <p:xfrm>
          <a:off x="6732588" y="1290638"/>
          <a:ext cx="252412" cy="388937"/>
        </p:xfrm>
        <a:graphic>
          <a:graphicData uri="http://schemas.openxmlformats.org/presentationml/2006/ole">
            <p:oleObj spid="_x0000_s31748" name="公式" r:id="rId5" imgW="139680" imgH="215640" progId="Equation.3">
              <p:embed/>
            </p:oleObj>
          </a:graphicData>
        </a:graphic>
      </p:graphicFrame>
      <p:graphicFrame>
        <p:nvGraphicFramePr>
          <p:cNvPr id="202763" name="Object 11"/>
          <p:cNvGraphicFramePr>
            <a:graphicFrameLocks/>
          </p:cNvGraphicFramePr>
          <p:nvPr/>
        </p:nvGraphicFramePr>
        <p:xfrm>
          <a:off x="7002463" y="2190750"/>
          <a:ext cx="252412" cy="388938"/>
        </p:xfrm>
        <a:graphic>
          <a:graphicData uri="http://schemas.openxmlformats.org/presentationml/2006/ole">
            <p:oleObj spid="_x0000_s31749" name="公式" r:id="rId6" imgW="139680" imgH="215640" progId="Equation.3">
              <p:embed/>
            </p:oleObj>
          </a:graphicData>
        </a:graphic>
      </p:graphicFrame>
      <p:sp>
        <p:nvSpPr>
          <p:cNvPr id="202764" name="Line 12"/>
          <p:cNvSpPr>
            <a:spLocks noChangeShapeType="1"/>
          </p:cNvSpPr>
          <p:nvPr/>
        </p:nvSpPr>
        <p:spPr bwMode="auto">
          <a:xfrm rot="1117454" flipV="1">
            <a:off x="6310313" y="1268413"/>
            <a:ext cx="1524000" cy="925512"/>
          </a:xfrm>
          <a:prstGeom prst="line">
            <a:avLst/>
          </a:prstGeom>
          <a:noFill/>
          <a:ln w="19050">
            <a:solidFill>
              <a:srgbClr val="9900CC"/>
            </a:solidFill>
            <a:round/>
            <a:headEnd/>
            <a:tailEnd/>
          </a:ln>
        </p:spPr>
        <p:txBody>
          <a:bodyPr wrap="none" anchor="ctr"/>
          <a:lstStyle/>
          <a:p>
            <a:endParaRPr lang="zh-CN" altLang="en-US"/>
          </a:p>
        </p:txBody>
      </p:sp>
      <p:sp>
        <p:nvSpPr>
          <p:cNvPr id="202765" name="Line 13"/>
          <p:cNvSpPr>
            <a:spLocks noChangeShapeType="1"/>
          </p:cNvSpPr>
          <p:nvPr/>
        </p:nvSpPr>
        <p:spPr bwMode="auto">
          <a:xfrm rot="1115349" flipV="1">
            <a:off x="6432550" y="1274763"/>
            <a:ext cx="1309688" cy="1624012"/>
          </a:xfrm>
          <a:prstGeom prst="line">
            <a:avLst/>
          </a:prstGeom>
          <a:noFill/>
          <a:ln w="19050">
            <a:solidFill>
              <a:srgbClr val="9900CC"/>
            </a:solidFill>
            <a:round/>
            <a:headEnd/>
            <a:tailEnd/>
          </a:ln>
        </p:spPr>
        <p:txBody>
          <a:bodyPr wrap="none" anchor="ctr"/>
          <a:lstStyle/>
          <a:p>
            <a:endParaRPr lang="zh-CN" altLang="en-US"/>
          </a:p>
        </p:txBody>
      </p:sp>
      <p:graphicFrame>
        <p:nvGraphicFramePr>
          <p:cNvPr id="202766" name="Object 14"/>
          <p:cNvGraphicFramePr>
            <a:graphicFrameLocks/>
          </p:cNvGraphicFramePr>
          <p:nvPr/>
        </p:nvGraphicFramePr>
        <p:xfrm>
          <a:off x="5795963" y="1649413"/>
          <a:ext cx="341312" cy="388937"/>
        </p:xfrm>
        <a:graphic>
          <a:graphicData uri="http://schemas.openxmlformats.org/presentationml/2006/ole">
            <p:oleObj spid="_x0000_s31750" name="公式" r:id="rId7" imgW="190440" imgH="215640" progId="Equation.3">
              <p:embed/>
            </p:oleObj>
          </a:graphicData>
        </a:graphic>
      </p:graphicFrame>
      <p:sp>
        <p:nvSpPr>
          <p:cNvPr id="202767" name="Oval 15"/>
          <p:cNvSpPr>
            <a:spLocks noChangeArrowheads="1"/>
          </p:cNvSpPr>
          <p:nvPr/>
        </p:nvSpPr>
        <p:spPr bwMode="auto">
          <a:xfrm>
            <a:off x="6149975" y="1854200"/>
            <a:ext cx="149225" cy="152400"/>
          </a:xfrm>
          <a:prstGeom prst="ellipse">
            <a:avLst/>
          </a:prstGeom>
          <a:solidFill>
            <a:srgbClr val="FF0000"/>
          </a:solidFill>
          <a:ln w="6350">
            <a:solidFill>
              <a:schemeClr val="bg1"/>
            </a:solidFill>
            <a:round/>
            <a:headEnd/>
            <a:tailEnd/>
          </a:ln>
        </p:spPr>
        <p:txBody>
          <a:bodyPr wrap="none" anchor="ctr"/>
          <a:lstStyle/>
          <a:p>
            <a:endParaRPr lang="zh-CN" altLang="en-US"/>
          </a:p>
        </p:txBody>
      </p:sp>
      <p:graphicFrame>
        <p:nvGraphicFramePr>
          <p:cNvPr id="202768" name="Object 16"/>
          <p:cNvGraphicFramePr>
            <a:graphicFrameLocks/>
          </p:cNvGraphicFramePr>
          <p:nvPr/>
        </p:nvGraphicFramePr>
        <p:xfrm>
          <a:off x="5762625" y="2414588"/>
          <a:ext cx="341313" cy="388937"/>
        </p:xfrm>
        <a:graphic>
          <a:graphicData uri="http://schemas.openxmlformats.org/presentationml/2006/ole">
            <p:oleObj spid="_x0000_s31751" name="公式" r:id="rId8" imgW="190440" imgH="215640" progId="Equation.3">
              <p:embed/>
            </p:oleObj>
          </a:graphicData>
        </a:graphic>
      </p:graphicFrame>
      <p:sp>
        <p:nvSpPr>
          <p:cNvPr id="202769" name="Oval 17"/>
          <p:cNvSpPr>
            <a:spLocks noChangeArrowheads="1"/>
          </p:cNvSpPr>
          <p:nvPr/>
        </p:nvSpPr>
        <p:spPr bwMode="auto">
          <a:xfrm>
            <a:off x="6149975" y="2540000"/>
            <a:ext cx="149225" cy="152400"/>
          </a:xfrm>
          <a:prstGeom prst="ellipse">
            <a:avLst/>
          </a:prstGeom>
          <a:solidFill>
            <a:srgbClr val="FF0000"/>
          </a:solidFill>
          <a:ln w="6350">
            <a:solidFill>
              <a:schemeClr val="bg1"/>
            </a:solidFill>
            <a:round/>
            <a:headEnd/>
            <a:tailEnd/>
          </a:ln>
        </p:spPr>
        <p:txBody>
          <a:bodyPr wrap="none" anchor="ctr"/>
          <a:lstStyle/>
          <a:p>
            <a:endParaRPr lang="zh-CN" altLang="en-US"/>
          </a:p>
        </p:txBody>
      </p:sp>
      <p:sp>
        <p:nvSpPr>
          <p:cNvPr id="202770" name="Oval 18"/>
          <p:cNvSpPr>
            <a:spLocks noChangeArrowheads="1"/>
          </p:cNvSpPr>
          <p:nvPr/>
        </p:nvSpPr>
        <p:spPr bwMode="auto">
          <a:xfrm>
            <a:off x="7926388" y="1420813"/>
            <a:ext cx="152400" cy="152400"/>
          </a:xfrm>
          <a:prstGeom prst="ellipse">
            <a:avLst/>
          </a:prstGeom>
          <a:solidFill>
            <a:schemeClr val="tx2"/>
          </a:solidFill>
          <a:ln w="28575">
            <a:solidFill>
              <a:srgbClr val="FF6600"/>
            </a:solidFill>
            <a:round/>
            <a:headEnd/>
            <a:tailEnd/>
          </a:ln>
        </p:spPr>
        <p:txBody>
          <a:bodyPr wrap="none" anchor="ctr"/>
          <a:lstStyle/>
          <a:p>
            <a:endParaRPr lang="zh-CN" altLang="en-US"/>
          </a:p>
        </p:txBody>
      </p:sp>
      <p:sp>
        <p:nvSpPr>
          <p:cNvPr id="202771" name="Text Box 19"/>
          <p:cNvSpPr txBox="1">
            <a:spLocks noChangeArrowheads="1"/>
          </p:cNvSpPr>
          <p:nvPr/>
        </p:nvSpPr>
        <p:spPr bwMode="auto">
          <a:xfrm>
            <a:off x="8002588" y="1268413"/>
            <a:ext cx="457200" cy="512762"/>
          </a:xfrm>
          <a:prstGeom prst="rect">
            <a:avLst/>
          </a:prstGeom>
          <a:noFill/>
          <a:ln w="9525">
            <a:noFill/>
            <a:miter lim="800000"/>
            <a:headEnd/>
            <a:tailEnd/>
          </a:ln>
        </p:spPr>
        <p:txBody>
          <a:bodyPr>
            <a:spAutoFit/>
          </a:bodyPr>
          <a:lstStyle/>
          <a:p>
            <a:pPr algn="ctr">
              <a:lnSpc>
                <a:spcPct val="115000"/>
              </a:lnSpc>
            </a:pPr>
            <a:r>
              <a:rPr kumimoji="0" lang="en-US" altLang="zh-CN" b="1" i="1">
                <a:solidFill>
                  <a:srgbClr val="FF0000"/>
                </a:solidFill>
              </a:rPr>
              <a:t>P</a:t>
            </a:r>
            <a:endParaRPr kumimoji="0" lang="en-US" altLang="zh-CN">
              <a:solidFill>
                <a:srgbClr val="FF0000"/>
              </a:solidFill>
            </a:endParaRPr>
          </a:p>
        </p:txBody>
      </p:sp>
      <p:sp>
        <p:nvSpPr>
          <p:cNvPr id="202775" name="Text Box 23"/>
          <p:cNvSpPr txBox="1">
            <a:spLocks noChangeArrowheads="1"/>
          </p:cNvSpPr>
          <p:nvPr/>
        </p:nvSpPr>
        <p:spPr bwMode="auto">
          <a:xfrm>
            <a:off x="161925" y="3644900"/>
            <a:ext cx="8731250" cy="898525"/>
          </a:xfrm>
          <a:prstGeom prst="rect">
            <a:avLst/>
          </a:prstGeom>
          <a:noFill/>
          <a:ln w="9525">
            <a:noFill/>
            <a:miter lim="800000"/>
            <a:headEnd/>
            <a:tailEnd/>
          </a:ln>
        </p:spPr>
        <p:txBody>
          <a:bodyPr>
            <a:spAutoFit/>
          </a:bodyPr>
          <a:lstStyle/>
          <a:p>
            <a:pPr>
              <a:lnSpc>
                <a:spcPct val="115000"/>
              </a:lnSpc>
            </a:pPr>
            <a:r>
              <a:rPr lang="en-US" altLang="zh-CN" b="1"/>
              <a:t> </a:t>
            </a:r>
            <a:r>
              <a:rPr lang="zh-CN" altLang="en-US" b="1">
                <a:solidFill>
                  <a:srgbClr val="669900"/>
                </a:solidFill>
              </a:rPr>
              <a:t>第二、</a:t>
            </a:r>
            <a:r>
              <a:rPr lang="zh-CN" altLang="en-US" b="1">
                <a:solidFill>
                  <a:srgbClr val="FF6600"/>
                </a:solidFill>
              </a:rPr>
              <a:t>两列波的频率相同 </a:t>
            </a:r>
            <a:r>
              <a:rPr lang="zh-CN" altLang="en-US" sz="2200" b="1"/>
              <a:t>（</a:t>
            </a:r>
            <a:r>
              <a:rPr lang="zh-CN" altLang="en-US" sz="2200" b="1">
                <a:ea typeface="楷体_GB2312" pitchFamily="49" charset="-122"/>
              </a:rPr>
              <a:t>若振动频率不同，则在相遇点的相位差为：</a:t>
            </a:r>
          </a:p>
        </p:txBody>
      </p:sp>
      <p:graphicFrame>
        <p:nvGraphicFramePr>
          <p:cNvPr id="202776" name="Object 24"/>
          <p:cNvGraphicFramePr>
            <a:graphicFrameLocks noChangeAspect="1"/>
          </p:cNvGraphicFramePr>
          <p:nvPr/>
        </p:nvGraphicFramePr>
        <p:xfrm>
          <a:off x="1430338" y="4149725"/>
          <a:ext cx="3857625" cy="647700"/>
        </p:xfrm>
        <a:graphic>
          <a:graphicData uri="http://schemas.openxmlformats.org/presentationml/2006/ole">
            <p:oleObj spid="_x0000_s31752" name="公式" r:id="rId9" imgW="2425680" imgH="406080" progId="Equation.3">
              <p:embed/>
            </p:oleObj>
          </a:graphicData>
        </a:graphic>
      </p:graphicFrame>
      <p:grpSp>
        <p:nvGrpSpPr>
          <p:cNvPr id="2" name="Group 28"/>
          <p:cNvGrpSpPr>
            <a:grpSpLocks/>
          </p:cNvGrpSpPr>
          <p:nvPr/>
        </p:nvGrpSpPr>
        <p:grpSpPr bwMode="auto">
          <a:xfrm>
            <a:off x="161925" y="4652963"/>
            <a:ext cx="8596313" cy="863600"/>
            <a:chOff x="102" y="3067"/>
            <a:chExt cx="5415" cy="544"/>
          </a:xfrm>
        </p:grpSpPr>
        <p:sp>
          <p:nvSpPr>
            <p:cNvPr id="31765" name="Text Box 26"/>
            <p:cNvSpPr txBox="1">
              <a:spLocks noChangeArrowheads="1"/>
            </p:cNvSpPr>
            <p:nvPr/>
          </p:nvSpPr>
          <p:spPr bwMode="auto">
            <a:xfrm>
              <a:off x="102" y="3067"/>
              <a:ext cx="5415" cy="544"/>
            </a:xfrm>
            <a:prstGeom prst="rect">
              <a:avLst/>
            </a:prstGeom>
            <a:noFill/>
            <a:ln w="9525">
              <a:noFill/>
              <a:miter lim="800000"/>
              <a:headEnd/>
              <a:tailEnd/>
            </a:ln>
          </p:spPr>
          <p:txBody>
            <a:bodyPr>
              <a:spAutoFit/>
            </a:bodyPr>
            <a:lstStyle/>
            <a:p>
              <a:pPr>
                <a:lnSpc>
                  <a:spcPct val="115000"/>
                </a:lnSpc>
              </a:pPr>
              <a:r>
                <a:rPr lang="zh-CN" altLang="en-US" sz="2200" b="1">
                  <a:ea typeface="楷体_GB2312" pitchFamily="49" charset="-122"/>
                </a:rPr>
                <a:t>因 </a:t>
              </a:r>
              <a:r>
                <a:rPr lang="en-US" altLang="zh-CN" sz="2200" b="1" i="1">
                  <a:solidFill>
                    <a:srgbClr val="FF6600"/>
                  </a:solidFill>
                  <a:latin typeface="Symbol" pitchFamily="18" charset="2"/>
                  <a:ea typeface="楷体_GB2312" pitchFamily="49" charset="-122"/>
                </a:rPr>
                <a:t>w</a:t>
              </a:r>
              <a:r>
                <a:rPr lang="en-US" altLang="zh-CN" sz="2200" b="1" baseline="-25000">
                  <a:solidFill>
                    <a:srgbClr val="FF6600"/>
                  </a:solidFill>
                  <a:latin typeface="Symbol" pitchFamily="18" charset="2"/>
                  <a:ea typeface="楷体_GB2312" pitchFamily="49" charset="-122"/>
                </a:rPr>
                <a:t>2 </a:t>
              </a:r>
              <a:r>
                <a:rPr lang="en-US" altLang="zh-CN" sz="2200" b="1">
                  <a:solidFill>
                    <a:srgbClr val="FF6600"/>
                  </a:solidFill>
                  <a:latin typeface="Symbol" pitchFamily="18" charset="2"/>
                  <a:ea typeface="楷体_GB2312" pitchFamily="49" charset="-122"/>
                </a:rPr>
                <a:t>≠ </a:t>
              </a:r>
              <a:r>
                <a:rPr lang="en-US" altLang="zh-CN" sz="2200" b="1" i="1">
                  <a:solidFill>
                    <a:srgbClr val="FF6600"/>
                  </a:solidFill>
                  <a:latin typeface="Symbol" pitchFamily="18" charset="2"/>
                  <a:ea typeface="楷体_GB2312" pitchFamily="49" charset="-122"/>
                </a:rPr>
                <a:t>w</a:t>
              </a:r>
              <a:r>
                <a:rPr lang="en-US" altLang="zh-CN" sz="2200" b="1" baseline="-25000">
                  <a:solidFill>
                    <a:srgbClr val="FF6600"/>
                  </a:solidFill>
                  <a:latin typeface="Symbol" pitchFamily="18" charset="2"/>
                  <a:ea typeface="楷体_GB2312" pitchFamily="49" charset="-122"/>
                </a:rPr>
                <a:t>1</a:t>
              </a:r>
              <a:r>
                <a:rPr lang="en-US" altLang="zh-CN" sz="2200" b="1" baseline="-25000">
                  <a:ea typeface="楷体_GB2312" pitchFamily="49" charset="-122"/>
                </a:rPr>
                <a:t>  </a:t>
              </a:r>
              <a:r>
                <a:rPr lang="zh-CN" altLang="en-US" sz="2200" b="1">
                  <a:ea typeface="楷体_GB2312" pitchFamily="49" charset="-122"/>
                </a:rPr>
                <a:t>，       将是时间的函数，则合振动的振幅也就不可能稳定，也谈不上空间存在稳定加强与减弱的地方。）</a:t>
              </a:r>
            </a:p>
          </p:txBody>
        </p:sp>
        <p:graphicFrame>
          <p:nvGraphicFramePr>
            <p:cNvPr id="31753" name="Object 27"/>
            <p:cNvGraphicFramePr>
              <a:graphicFrameLocks noChangeAspect="1"/>
            </p:cNvGraphicFramePr>
            <p:nvPr/>
          </p:nvGraphicFramePr>
          <p:xfrm>
            <a:off x="1247" y="3141"/>
            <a:ext cx="254" cy="203"/>
          </p:xfrm>
          <a:graphic>
            <a:graphicData uri="http://schemas.openxmlformats.org/presentationml/2006/ole">
              <p:oleObj spid="_x0000_s31753" name="Equation" r:id="rId10" imgW="253800" imgH="203040" progId="Equation.3">
                <p:embed/>
              </p:oleObj>
            </a:graphicData>
          </a:graphic>
        </p:graphicFrame>
      </p:grpSp>
      <p:sp>
        <p:nvSpPr>
          <p:cNvPr id="202781" name="Text Box 29"/>
          <p:cNvSpPr txBox="1">
            <a:spLocks noChangeArrowheads="1"/>
          </p:cNvSpPr>
          <p:nvPr/>
        </p:nvSpPr>
        <p:spPr bwMode="auto">
          <a:xfrm>
            <a:off x="206375" y="5554663"/>
            <a:ext cx="8686800" cy="898525"/>
          </a:xfrm>
          <a:prstGeom prst="rect">
            <a:avLst/>
          </a:prstGeom>
          <a:noFill/>
          <a:ln w="9525">
            <a:noFill/>
            <a:miter lim="800000"/>
            <a:headEnd/>
            <a:tailEnd/>
          </a:ln>
        </p:spPr>
        <p:txBody>
          <a:bodyPr>
            <a:spAutoFit/>
          </a:bodyPr>
          <a:lstStyle/>
          <a:p>
            <a:pPr>
              <a:lnSpc>
                <a:spcPct val="115000"/>
              </a:lnSpc>
            </a:pPr>
            <a:r>
              <a:rPr lang="zh-CN" altLang="en-US" b="1">
                <a:solidFill>
                  <a:srgbClr val="669900"/>
                </a:solidFill>
              </a:rPr>
              <a:t>第三、</a:t>
            </a:r>
            <a:r>
              <a:rPr lang="zh-CN" altLang="en-US" b="1">
                <a:solidFill>
                  <a:srgbClr val="FF6600"/>
                </a:solidFill>
              </a:rPr>
              <a:t>两列波在相遇点有固定的相位差 </a:t>
            </a:r>
            <a:r>
              <a:rPr lang="zh-CN" altLang="en-US" sz="2200" b="1">
                <a:ea typeface="楷体_GB2312" pitchFamily="49" charset="-122"/>
              </a:rPr>
              <a:t>（频率相同，不一定相位差恒定，这是因为还有两列波的初相位和介质的稳定问题。）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2758"/>
                                        </p:tgtEl>
                                        <p:attrNameLst>
                                          <p:attrName>style.visibility</p:attrName>
                                        </p:attrNameLst>
                                      </p:cBhvr>
                                      <p:to>
                                        <p:strVal val="visible"/>
                                      </p:to>
                                    </p:set>
                                    <p:animEffect transition="in" filter="wipe(left)">
                                      <p:cBhvr>
                                        <p:cTn id="7" dur="500"/>
                                        <p:tgtEl>
                                          <p:spTgt spid="20275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0276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20276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20276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499"/>
                                          </p:stCondLst>
                                        </p:cTn>
                                        <p:tgtEl>
                                          <p:spTgt spid="20276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20277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20277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02764"/>
                                        </p:tgtEl>
                                        <p:attrNameLst>
                                          <p:attrName>style.visibility</p:attrName>
                                        </p:attrNameLst>
                                      </p:cBhvr>
                                      <p:to>
                                        <p:strVal val="visible"/>
                                      </p:to>
                                    </p:set>
                                    <p:animEffect transition="in" filter="wipe(left)">
                                      <p:cBhvr>
                                        <p:cTn id="36" dur="500"/>
                                        <p:tgtEl>
                                          <p:spTgt spid="202764"/>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499"/>
                                          </p:stCondLst>
                                        </p:cTn>
                                        <p:tgtEl>
                                          <p:spTgt spid="20276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02765"/>
                                        </p:tgtEl>
                                        <p:attrNameLst>
                                          <p:attrName>style.visibility</p:attrName>
                                        </p:attrNameLst>
                                      </p:cBhvr>
                                      <p:to>
                                        <p:strVal val="visible"/>
                                      </p:to>
                                    </p:set>
                                    <p:animEffect transition="in" filter="wipe(left)">
                                      <p:cBhvr>
                                        <p:cTn id="45" dur="500"/>
                                        <p:tgtEl>
                                          <p:spTgt spid="202765"/>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499"/>
                                          </p:stCondLst>
                                        </p:cTn>
                                        <p:tgtEl>
                                          <p:spTgt spid="20276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202760"/>
                                        </p:tgtEl>
                                        <p:attrNameLst>
                                          <p:attrName>style.visibility</p:attrName>
                                        </p:attrNameLst>
                                      </p:cBhvr>
                                      <p:to>
                                        <p:strVal val="visible"/>
                                      </p:to>
                                    </p:set>
                                    <p:animEffect transition="in" filter="wipe(left)">
                                      <p:cBhvr>
                                        <p:cTn id="54" dur="500"/>
                                        <p:tgtEl>
                                          <p:spTgt spid="20276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02761"/>
                                        </p:tgtEl>
                                        <p:attrNameLst>
                                          <p:attrName>style.visibility</p:attrName>
                                        </p:attrNameLst>
                                      </p:cBhvr>
                                      <p:to>
                                        <p:strVal val="visible"/>
                                      </p:to>
                                    </p:set>
                                    <p:animEffect transition="in" filter="wipe(left)">
                                      <p:cBhvr>
                                        <p:cTn id="59" dur="500"/>
                                        <p:tgtEl>
                                          <p:spTgt spid="202761"/>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02759"/>
                                        </p:tgtEl>
                                        <p:attrNameLst>
                                          <p:attrName>style.visibility</p:attrName>
                                        </p:attrNameLst>
                                      </p:cBhvr>
                                      <p:to>
                                        <p:strVal val="visible"/>
                                      </p:to>
                                    </p:set>
                                    <p:animEffect transition="in" filter="wipe(left)">
                                      <p:cBhvr>
                                        <p:cTn id="64" dur="500"/>
                                        <p:tgtEl>
                                          <p:spTgt spid="20275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02775"/>
                                        </p:tgtEl>
                                        <p:attrNameLst>
                                          <p:attrName>style.visibility</p:attrName>
                                        </p:attrNameLst>
                                      </p:cBhvr>
                                      <p:to>
                                        <p:strVal val="visible"/>
                                      </p:to>
                                    </p:set>
                                    <p:animEffect transition="in" filter="wipe(left)">
                                      <p:cBhvr>
                                        <p:cTn id="69" dur="500"/>
                                        <p:tgtEl>
                                          <p:spTgt spid="20277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02776"/>
                                        </p:tgtEl>
                                        <p:attrNameLst>
                                          <p:attrName>style.visibility</p:attrName>
                                        </p:attrNameLst>
                                      </p:cBhvr>
                                      <p:to>
                                        <p:strVal val="visible"/>
                                      </p:to>
                                    </p:set>
                                    <p:animEffect transition="in" filter="wipe(left)">
                                      <p:cBhvr>
                                        <p:cTn id="74" dur="500"/>
                                        <p:tgtEl>
                                          <p:spTgt spid="20277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2"/>
                                        </p:tgtEl>
                                        <p:attrNameLst>
                                          <p:attrName>style.visibility</p:attrName>
                                        </p:attrNameLst>
                                      </p:cBhvr>
                                      <p:to>
                                        <p:strVal val="visible"/>
                                      </p:to>
                                    </p:set>
                                    <p:animEffect transition="in" filter="wipe(left)">
                                      <p:cBhvr>
                                        <p:cTn id="79" dur="500"/>
                                        <p:tgtEl>
                                          <p:spTgt spid="2"/>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202781"/>
                                        </p:tgtEl>
                                        <p:attrNameLst>
                                          <p:attrName>style.visibility</p:attrName>
                                        </p:attrNameLst>
                                      </p:cBhvr>
                                      <p:to>
                                        <p:strVal val="visible"/>
                                      </p:to>
                                    </p:set>
                                    <p:animEffect transition="in" filter="wipe(left)">
                                      <p:cBhvr>
                                        <p:cTn id="84" dur="500"/>
                                        <p:tgtEl>
                                          <p:spTgt spid="202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8" grpId="0"/>
      <p:bldP spid="202759" grpId="0"/>
      <p:bldP spid="202764" grpId="0" animBg="1"/>
      <p:bldP spid="202765" grpId="0" animBg="1"/>
      <p:bldP spid="202767" grpId="0" animBg="1"/>
      <p:bldP spid="202769" grpId="0" animBg="1"/>
      <p:bldP spid="202770" grpId="0" animBg="1"/>
      <p:bldP spid="202771" grpId="0" autoUpdateAnimBg="0"/>
      <p:bldP spid="202775" grpId="0"/>
      <p:bldP spid="20278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827" name="Object 3"/>
          <p:cNvGraphicFramePr>
            <a:graphicFrameLocks noChangeAspect="1"/>
          </p:cNvGraphicFramePr>
          <p:nvPr/>
        </p:nvGraphicFramePr>
        <p:xfrm>
          <a:off x="1474788" y="593725"/>
          <a:ext cx="2363787" cy="409575"/>
        </p:xfrm>
        <a:graphic>
          <a:graphicData uri="http://schemas.openxmlformats.org/presentationml/2006/ole">
            <p:oleObj spid="_x0000_s32770" name="公式" r:id="rId3" imgW="1320480" imgH="228600" progId="Equation.3">
              <p:embed/>
            </p:oleObj>
          </a:graphicData>
        </a:graphic>
      </p:graphicFrame>
      <p:graphicFrame>
        <p:nvGraphicFramePr>
          <p:cNvPr id="205828" name="Object 4"/>
          <p:cNvGraphicFramePr>
            <a:graphicFrameLocks noChangeAspect="1"/>
          </p:cNvGraphicFramePr>
          <p:nvPr/>
        </p:nvGraphicFramePr>
        <p:xfrm>
          <a:off x="1619250" y="1865313"/>
          <a:ext cx="3105150" cy="730250"/>
        </p:xfrm>
        <a:graphic>
          <a:graphicData uri="http://schemas.openxmlformats.org/presentationml/2006/ole">
            <p:oleObj spid="_x0000_s32771" name="公式" r:id="rId4" imgW="1726920" imgH="406080" progId="Equation.3">
              <p:embed/>
            </p:oleObj>
          </a:graphicData>
        </a:graphic>
      </p:graphicFrame>
      <p:graphicFrame>
        <p:nvGraphicFramePr>
          <p:cNvPr id="205829" name="Object 5"/>
          <p:cNvGraphicFramePr>
            <a:graphicFrameLocks noChangeAspect="1"/>
          </p:cNvGraphicFramePr>
          <p:nvPr/>
        </p:nvGraphicFramePr>
        <p:xfrm>
          <a:off x="2484438" y="4903788"/>
          <a:ext cx="5343525" cy="730250"/>
        </p:xfrm>
        <a:graphic>
          <a:graphicData uri="http://schemas.openxmlformats.org/presentationml/2006/ole">
            <p:oleObj spid="_x0000_s32772" name="公式" r:id="rId5" imgW="2946240" imgH="406080" progId="Equation.3">
              <p:embed/>
            </p:oleObj>
          </a:graphicData>
        </a:graphic>
      </p:graphicFrame>
      <p:graphicFrame>
        <p:nvGraphicFramePr>
          <p:cNvPr id="205830" name="Object 6"/>
          <p:cNvGraphicFramePr>
            <a:graphicFrameLocks noChangeAspect="1"/>
          </p:cNvGraphicFramePr>
          <p:nvPr/>
        </p:nvGraphicFramePr>
        <p:xfrm>
          <a:off x="2843213" y="4292600"/>
          <a:ext cx="3076575" cy="388938"/>
        </p:xfrm>
        <a:graphic>
          <a:graphicData uri="http://schemas.openxmlformats.org/presentationml/2006/ole">
            <p:oleObj spid="_x0000_s32773" name="公式" r:id="rId6" imgW="1714320" imgH="215640" progId="Equation.3">
              <p:embed/>
            </p:oleObj>
          </a:graphicData>
        </a:graphic>
      </p:graphicFrame>
      <p:sp>
        <p:nvSpPr>
          <p:cNvPr id="205831" name="Text Box 7"/>
          <p:cNvSpPr txBox="1">
            <a:spLocks noChangeArrowheads="1"/>
          </p:cNvSpPr>
          <p:nvPr/>
        </p:nvSpPr>
        <p:spPr bwMode="auto">
          <a:xfrm>
            <a:off x="106363" y="3573463"/>
            <a:ext cx="5978525" cy="457200"/>
          </a:xfrm>
          <a:prstGeom prst="rect">
            <a:avLst/>
          </a:prstGeom>
          <a:noFill/>
          <a:ln w="9525">
            <a:noFill/>
            <a:miter lim="800000"/>
            <a:headEnd/>
            <a:tailEnd/>
          </a:ln>
        </p:spPr>
        <p:txBody>
          <a:bodyPr>
            <a:spAutoFit/>
          </a:bodyPr>
          <a:lstStyle/>
          <a:p>
            <a:r>
              <a:rPr kumimoji="0" lang="zh-CN" altLang="en-US" b="1">
                <a:latin typeface="Bookman Old Style" pitchFamily="18" charset="0"/>
              </a:rPr>
              <a:t>根据叠加原理可知，</a:t>
            </a:r>
            <a:r>
              <a:rPr kumimoji="0" lang="en-US" altLang="zh-CN" b="1" i="1">
                <a:solidFill>
                  <a:srgbClr val="FF6600"/>
                </a:solidFill>
              </a:rPr>
              <a:t>P</a:t>
            </a:r>
            <a:r>
              <a:rPr kumimoji="0" lang="en-US" altLang="zh-CN" b="1">
                <a:solidFill>
                  <a:srgbClr val="FF6600"/>
                </a:solidFill>
              </a:rPr>
              <a:t> </a:t>
            </a:r>
            <a:r>
              <a:rPr kumimoji="0" lang="zh-CN" altLang="en-US" b="1">
                <a:latin typeface="Bookman Old Style" pitchFamily="18" charset="0"/>
              </a:rPr>
              <a:t>点处振动方程为：</a:t>
            </a:r>
            <a:endParaRPr kumimoji="0" lang="zh-CN" altLang="en-US" sz="1800"/>
          </a:p>
        </p:txBody>
      </p:sp>
      <p:graphicFrame>
        <p:nvGraphicFramePr>
          <p:cNvPr id="205832" name="Object 8"/>
          <p:cNvGraphicFramePr>
            <a:graphicFrameLocks/>
          </p:cNvGraphicFramePr>
          <p:nvPr/>
        </p:nvGraphicFramePr>
        <p:xfrm>
          <a:off x="6380163" y="1123950"/>
          <a:ext cx="250825" cy="388938"/>
        </p:xfrm>
        <a:graphic>
          <a:graphicData uri="http://schemas.openxmlformats.org/presentationml/2006/ole">
            <p:oleObj spid="_x0000_s32774" name="公式" r:id="rId7" imgW="139680" imgH="215640" progId="Equation.3">
              <p:embed/>
            </p:oleObj>
          </a:graphicData>
        </a:graphic>
      </p:graphicFrame>
      <p:graphicFrame>
        <p:nvGraphicFramePr>
          <p:cNvPr id="205833" name="Object 9"/>
          <p:cNvGraphicFramePr>
            <a:graphicFrameLocks/>
          </p:cNvGraphicFramePr>
          <p:nvPr/>
        </p:nvGraphicFramePr>
        <p:xfrm>
          <a:off x="6604000" y="1978025"/>
          <a:ext cx="252413" cy="388938"/>
        </p:xfrm>
        <a:graphic>
          <a:graphicData uri="http://schemas.openxmlformats.org/presentationml/2006/ole">
            <p:oleObj spid="_x0000_s32775" name="公式" r:id="rId8" imgW="139680" imgH="215640" progId="Equation.3">
              <p:embed/>
            </p:oleObj>
          </a:graphicData>
        </a:graphic>
      </p:graphicFrame>
      <p:sp>
        <p:nvSpPr>
          <p:cNvPr id="205834" name="Line 10"/>
          <p:cNvSpPr>
            <a:spLocks noChangeShapeType="1"/>
          </p:cNvSpPr>
          <p:nvPr/>
        </p:nvSpPr>
        <p:spPr bwMode="auto">
          <a:xfrm rot="1117454" flipV="1">
            <a:off x="5984875" y="1079500"/>
            <a:ext cx="1524000" cy="925513"/>
          </a:xfrm>
          <a:prstGeom prst="line">
            <a:avLst/>
          </a:prstGeom>
          <a:noFill/>
          <a:ln w="19050">
            <a:solidFill>
              <a:srgbClr val="9900CC"/>
            </a:solidFill>
            <a:round/>
            <a:headEnd/>
            <a:tailEnd/>
          </a:ln>
        </p:spPr>
        <p:txBody>
          <a:bodyPr wrap="none" anchor="ctr"/>
          <a:lstStyle/>
          <a:p>
            <a:endParaRPr lang="zh-CN" altLang="en-US"/>
          </a:p>
        </p:txBody>
      </p:sp>
      <p:sp>
        <p:nvSpPr>
          <p:cNvPr id="205835" name="Line 11"/>
          <p:cNvSpPr>
            <a:spLocks noChangeShapeType="1"/>
          </p:cNvSpPr>
          <p:nvPr/>
        </p:nvSpPr>
        <p:spPr bwMode="auto">
          <a:xfrm rot="1115349" flipV="1">
            <a:off x="6107113" y="1085850"/>
            <a:ext cx="1309687" cy="1624013"/>
          </a:xfrm>
          <a:prstGeom prst="line">
            <a:avLst/>
          </a:prstGeom>
          <a:noFill/>
          <a:ln w="19050">
            <a:solidFill>
              <a:srgbClr val="9900CC"/>
            </a:solidFill>
            <a:round/>
            <a:headEnd/>
            <a:tailEnd/>
          </a:ln>
        </p:spPr>
        <p:txBody>
          <a:bodyPr wrap="none" anchor="ctr"/>
          <a:lstStyle/>
          <a:p>
            <a:endParaRPr lang="zh-CN" altLang="en-US"/>
          </a:p>
        </p:txBody>
      </p:sp>
      <p:graphicFrame>
        <p:nvGraphicFramePr>
          <p:cNvPr id="205836" name="Object 12"/>
          <p:cNvGraphicFramePr>
            <a:graphicFrameLocks/>
          </p:cNvGraphicFramePr>
          <p:nvPr/>
        </p:nvGraphicFramePr>
        <p:xfrm>
          <a:off x="5468938" y="1489075"/>
          <a:ext cx="341312" cy="388938"/>
        </p:xfrm>
        <a:graphic>
          <a:graphicData uri="http://schemas.openxmlformats.org/presentationml/2006/ole">
            <p:oleObj spid="_x0000_s32776" name="公式" r:id="rId9" imgW="190440" imgH="215640" progId="Equation.3">
              <p:embed/>
            </p:oleObj>
          </a:graphicData>
        </a:graphic>
      </p:graphicFrame>
      <p:sp>
        <p:nvSpPr>
          <p:cNvPr id="205837" name="Oval 13"/>
          <p:cNvSpPr>
            <a:spLocks noChangeArrowheads="1"/>
          </p:cNvSpPr>
          <p:nvPr/>
        </p:nvSpPr>
        <p:spPr bwMode="auto">
          <a:xfrm>
            <a:off x="5824538" y="1665288"/>
            <a:ext cx="149225" cy="152400"/>
          </a:xfrm>
          <a:prstGeom prst="ellipse">
            <a:avLst/>
          </a:prstGeom>
          <a:solidFill>
            <a:srgbClr val="FF0000"/>
          </a:solidFill>
          <a:ln w="6350">
            <a:solidFill>
              <a:schemeClr val="bg1"/>
            </a:solidFill>
            <a:round/>
            <a:headEnd/>
            <a:tailEnd/>
          </a:ln>
        </p:spPr>
        <p:txBody>
          <a:bodyPr wrap="none" anchor="ctr"/>
          <a:lstStyle/>
          <a:p>
            <a:endParaRPr lang="zh-CN" altLang="en-US"/>
          </a:p>
        </p:txBody>
      </p:sp>
      <p:graphicFrame>
        <p:nvGraphicFramePr>
          <p:cNvPr id="205838" name="Object 14"/>
          <p:cNvGraphicFramePr>
            <a:graphicFrameLocks/>
          </p:cNvGraphicFramePr>
          <p:nvPr/>
        </p:nvGraphicFramePr>
        <p:xfrm>
          <a:off x="5530850" y="2281238"/>
          <a:ext cx="341313" cy="388937"/>
        </p:xfrm>
        <a:graphic>
          <a:graphicData uri="http://schemas.openxmlformats.org/presentationml/2006/ole">
            <p:oleObj spid="_x0000_s32777" name="公式" r:id="rId10" imgW="190440" imgH="215640" progId="Equation.3">
              <p:embed/>
            </p:oleObj>
          </a:graphicData>
        </a:graphic>
      </p:graphicFrame>
      <p:sp>
        <p:nvSpPr>
          <p:cNvPr id="205839" name="Oval 15"/>
          <p:cNvSpPr>
            <a:spLocks noChangeArrowheads="1"/>
          </p:cNvSpPr>
          <p:nvPr/>
        </p:nvSpPr>
        <p:spPr bwMode="auto">
          <a:xfrm>
            <a:off x="5824538" y="2351088"/>
            <a:ext cx="149225" cy="152400"/>
          </a:xfrm>
          <a:prstGeom prst="ellipse">
            <a:avLst/>
          </a:prstGeom>
          <a:solidFill>
            <a:srgbClr val="FF0000"/>
          </a:solidFill>
          <a:ln w="6350">
            <a:solidFill>
              <a:schemeClr val="bg1"/>
            </a:solidFill>
            <a:round/>
            <a:headEnd/>
            <a:tailEnd/>
          </a:ln>
        </p:spPr>
        <p:txBody>
          <a:bodyPr wrap="none" anchor="ctr"/>
          <a:lstStyle/>
          <a:p>
            <a:endParaRPr lang="zh-CN" altLang="en-US"/>
          </a:p>
        </p:txBody>
      </p:sp>
      <p:sp>
        <p:nvSpPr>
          <p:cNvPr id="205840" name="Text Box 16"/>
          <p:cNvSpPr txBox="1">
            <a:spLocks noChangeArrowheads="1"/>
          </p:cNvSpPr>
          <p:nvPr/>
        </p:nvSpPr>
        <p:spPr bwMode="auto">
          <a:xfrm>
            <a:off x="539750" y="549275"/>
            <a:ext cx="863600" cy="519113"/>
          </a:xfrm>
          <a:prstGeom prst="rect">
            <a:avLst/>
          </a:prstGeom>
          <a:noFill/>
          <a:ln w="9525">
            <a:noFill/>
            <a:miter lim="800000"/>
            <a:headEnd/>
            <a:tailEnd/>
          </a:ln>
        </p:spPr>
        <p:txBody>
          <a:bodyPr>
            <a:spAutoFit/>
          </a:bodyPr>
          <a:lstStyle/>
          <a:p>
            <a:pPr algn="ctr"/>
            <a:r>
              <a:rPr kumimoji="0" lang="en-US" altLang="zh-CN" b="1" i="1">
                <a:solidFill>
                  <a:srgbClr val="FF0000"/>
                </a:solidFill>
              </a:rPr>
              <a:t>S</a:t>
            </a:r>
            <a:r>
              <a:rPr kumimoji="0" lang="en-US" altLang="zh-CN" sz="2800" b="1" baseline="-25000">
                <a:solidFill>
                  <a:srgbClr val="FF0000"/>
                </a:solidFill>
              </a:rPr>
              <a:t>1</a:t>
            </a:r>
            <a:endParaRPr kumimoji="0" lang="en-US" altLang="zh-CN" sz="1800">
              <a:solidFill>
                <a:srgbClr val="FF0000"/>
              </a:solidFill>
            </a:endParaRPr>
          </a:p>
        </p:txBody>
      </p:sp>
      <p:sp>
        <p:nvSpPr>
          <p:cNvPr id="205841" name="Text Box 17"/>
          <p:cNvSpPr txBox="1">
            <a:spLocks noChangeArrowheads="1"/>
          </p:cNvSpPr>
          <p:nvPr/>
        </p:nvSpPr>
        <p:spPr bwMode="auto">
          <a:xfrm>
            <a:off x="584200" y="1228725"/>
            <a:ext cx="863600" cy="519113"/>
          </a:xfrm>
          <a:prstGeom prst="rect">
            <a:avLst/>
          </a:prstGeom>
          <a:noFill/>
          <a:ln w="9525">
            <a:noFill/>
            <a:miter lim="800000"/>
            <a:headEnd/>
            <a:tailEnd/>
          </a:ln>
        </p:spPr>
        <p:txBody>
          <a:bodyPr>
            <a:spAutoFit/>
          </a:bodyPr>
          <a:lstStyle/>
          <a:p>
            <a:pPr algn="ctr"/>
            <a:r>
              <a:rPr kumimoji="0" lang="en-US" altLang="zh-CN" b="1" i="1">
                <a:solidFill>
                  <a:srgbClr val="FF0000"/>
                </a:solidFill>
              </a:rPr>
              <a:t>S</a:t>
            </a:r>
            <a:r>
              <a:rPr kumimoji="0" lang="en-US" altLang="zh-CN" sz="2800" b="1" baseline="-25000">
                <a:solidFill>
                  <a:srgbClr val="FF0000"/>
                </a:solidFill>
              </a:rPr>
              <a:t>2</a:t>
            </a:r>
            <a:endParaRPr kumimoji="0" lang="en-US" altLang="zh-CN" sz="1800">
              <a:solidFill>
                <a:srgbClr val="FF0000"/>
              </a:solidFill>
            </a:endParaRPr>
          </a:p>
        </p:txBody>
      </p:sp>
      <p:sp>
        <p:nvSpPr>
          <p:cNvPr id="32788" name="Rectangle 18"/>
          <p:cNvSpPr>
            <a:spLocks noChangeArrowheads="1"/>
          </p:cNvSpPr>
          <p:nvPr/>
        </p:nvSpPr>
        <p:spPr bwMode="auto">
          <a:xfrm>
            <a:off x="747713" y="608013"/>
            <a:ext cx="7273925" cy="2087562"/>
          </a:xfrm>
          <a:prstGeom prst="rect">
            <a:avLst/>
          </a:prstGeom>
          <a:noFill/>
          <a:ln w="38100">
            <a:noFill/>
            <a:miter lim="800000"/>
            <a:headEnd/>
            <a:tailEnd/>
          </a:ln>
        </p:spPr>
        <p:txBody>
          <a:bodyPr wrap="none" anchor="ctr"/>
          <a:lstStyle/>
          <a:p>
            <a:endParaRPr lang="zh-CN" altLang="en-US"/>
          </a:p>
        </p:txBody>
      </p:sp>
      <p:graphicFrame>
        <p:nvGraphicFramePr>
          <p:cNvPr id="205843" name="Object 19"/>
          <p:cNvGraphicFramePr>
            <a:graphicFrameLocks noChangeAspect="1"/>
          </p:cNvGraphicFramePr>
          <p:nvPr/>
        </p:nvGraphicFramePr>
        <p:xfrm>
          <a:off x="1560513" y="2584450"/>
          <a:ext cx="3163887" cy="730250"/>
        </p:xfrm>
        <a:graphic>
          <a:graphicData uri="http://schemas.openxmlformats.org/presentationml/2006/ole">
            <p:oleObj spid="_x0000_s32778" name="公式" r:id="rId11" imgW="1752480" imgH="406080" progId="Equation.3">
              <p:embed/>
            </p:oleObj>
          </a:graphicData>
        </a:graphic>
      </p:graphicFrame>
      <p:sp>
        <p:nvSpPr>
          <p:cNvPr id="205844" name="Rectangle 20"/>
          <p:cNvSpPr>
            <a:spLocks noChangeArrowheads="1"/>
          </p:cNvSpPr>
          <p:nvPr/>
        </p:nvSpPr>
        <p:spPr bwMode="auto">
          <a:xfrm>
            <a:off x="179388" y="5046663"/>
            <a:ext cx="2592387" cy="457200"/>
          </a:xfrm>
          <a:prstGeom prst="rect">
            <a:avLst/>
          </a:prstGeom>
          <a:noFill/>
          <a:ln w="9525">
            <a:noFill/>
            <a:miter lim="800000"/>
            <a:headEnd/>
            <a:tailEnd/>
          </a:ln>
        </p:spPr>
        <p:txBody>
          <a:bodyPr>
            <a:spAutoFit/>
          </a:bodyPr>
          <a:lstStyle/>
          <a:p>
            <a:r>
              <a:rPr kumimoji="0" lang="zh-CN" altLang="en-US" b="1">
                <a:latin typeface="Bookman Old Style" pitchFamily="18" charset="0"/>
              </a:rPr>
              <a:t>合振动的振幅</a:t>
            </a:r>
            <a:endParaRPr kumimoji="0" lang="zh-CN" altLang="en-US" sz="1800"/>
          </a:p>
        </p:txBody>
      </p:sp>
      <p:sp>
        <p:nvSpPr>
          <p:cNvPr id="205845" name="Oval 21"/>
          <p:cNvSpPr>
            <a:spLocks noChangeArrowheads="1"/>
          </p:cNvSpPr>
          <p:nvPr/>
        </p:nvSpPr>
        <p:spPr bwMode="auto">
          <a:xfrm>
            <a:off x="7600950" y="1231900"/>
            <a:ext cx="152400" cy="152400"/>
          </a:xfrm>
          <a:prstGeom prst="ellipse">
            <a:avLst/>
          </a:prstGeom>
          <a:solidFill>
            <a:schemeClr val="tx2"/>
          </a:solidFill>
          <a:ln w="28575">
            <a:solidFill>
              <a:srgbClr val="FF6600"/>
            </a:solidFill>
            <a:round/>
            <a:headEnd/>
            <a:tailEnd/>
          </a:ln>
        </p:spPr>
        <p:txBody>
          <a:bodyPr wrap="none" anchor="ctr"/>
          <a:lstStyle/>
          <a:p>
            <a:endParaRPr lang="zh-CN" altLang="en-US"/>
          </a:p>
        </p:txBody>
      </p:sp>
      <p:graphicFrame>
        <p:nvGraphicFramePr>
          <p:cNvPr id="205846" name="Object 22"/>
          <p:cNvGraphicFramePr>
            <a:graphicFrameLocks noChangeAspect="1"/>
          </p:cNvGraphicFramePr>
          <p:nvPr/>
        </p:nvGraphicFramePr>
        <p:xfrm>
          <a:off x="1474788" y="1358900"/>
          <a:ext cx="2386012" cy="409575"/>
        </p:xfrm>
        <a:graphic>
          <a:graphicData uri="http://schemas.openxmlformats.org/presentationml/2006/ole">
            <p:oleObj spid="_x0000_s32779" name="公式" r:id="rId12" imgW="1333440" imgH="228600" progId="Equation.3">
              <p:embed/>
            </p:oleObj>
          </a:graphicData>
        </a:graphic>
      </p:graphicFrame>
      <p:sp>
        <p:nvSpPr>
          <p:cNvPr id="205847" name="Text Box 23"/>
          <p:cNvSpPr txBox="1">
            <a:spLocks noChangeArrowheads="1"/>
          </p:cNvSpPr>
          <p:nvPr/>
        </p:nvSpPr>
        <p:spPr bwMode="auto">
          <a:xfrm>
            <a:off x="7677150" y="1079500"/>
            <a:ext cx="457200" cy="457200"/>
          </a:xfrm>
          <a:prstGeom prst="rect">
            <a:avLst/>
          </a:prstGeom>
          <a:noFill/>
          <a:ln w="9525">
            <a:noFill/>
            <a:miter lim="800000"/>
            <a:headEnd/>
            <a:tailEnd/>
          </a:ln>
        </p:spPr>
        <p:txBody>
          <a:bodyPr>
            <a:spAutoFit/>
          </a:bodyPr>
          <a:lstStyle/>
          <a:p>
            <a:pPr algn="ctr"/>
            <a:r>
              <a:rPr kumimoji="0" lang="en-US" altLang="zh-CN" b="1" i="1"/>
              <a:t>P</a:t>
            </a:r>
            <a:endParaRPr kumimoji="0" lang="en-US" altLang="zh-CN" sz="1800"/>
          </a:p>
        </p:txBody>
      </p:sp>
      <p:sp>
        <p:nvSpPr>
          <p:cNvPr id="205848" name="Text Box 24"/>
          <p:cNvSpPr txBox="1">
            <a:spLocks noChangeArrowheads="1"/>
          </p:cNvSpPr>
          <p:nvPr/>
        </p:nvSpPr>
        <p:spPr bwMode="auto">
          <a:xfrm>
            <a:off x="728663" y="2030413"/>
            <a:ext cx="457200" cy="457200"/>
          </a:xfrm>
          <a:prstGeom prst="rect">
            <a:avLst/>
          </a:prstGeom>
          <a:noFill/>
          <a:ln w="9525">
            <a:noFill/>
            <a:miter lim="800000"/>
            <a:headEnd/>
            <a:tailEnd/>
          </a:ln>
        </p:spPr>
        <p:txBody>
          <a:bodyPr>
            <a:spAutoFit/>
          </a:bodyPr>
          <a:lstStyle/>
          <a:p>
            <a:pPr algn="ctr"/>
            <a:r>
              <a:rPr kumimoji="0" lang="en-US" altLang="zh-CN" b="1" i="1">
                <a:solidFill>
                  <a:srgbClr val="FF0000"/>
                </a:solidFill>
              </a:rPr>
              <a:t>P</a:t>
            </a:r>
            <a:endParaRPr kumimoji="0" lang="en-US" altLang="zh-CN" sz="1800">
              <a:solidFill>
                <a:srgbClr val="FF0000"/>
              </a:solidFill>
            </a:endParaRPr>
          </a:p>
        </p:txBody>
      </p:sp>
      <p:sp>
        <p:nvSpPr>
          <p:cNvPr id="205849" name="Text Box 25"/>
          <p:cNvSpPr txBox="1">
            <a:spLocks noChangeArrowheads="1"/>
          </p:cNvSpPr>
          <p:nvPr/>
        </p:nvSpPr>
        <p:spPr bwMode="auto">
          <a:xfrm>
            <a:off x="179388" y="5851525"/>
            <a:ext cx="2878137" cy="457200"/>
          </a:xfrm>
          <a:prstGeom prst="rect">
            <a:avLst/>
          </a:prstGeom>
          <a:noFill/>
          <a:ln w="9525">
            <a:noFill/>
            <a:miter lim="800000"/>
            <a:headEnd/>
            <a:tailEnd/>
          </a:ln>
        </p:spPr>
        <p:txBody>
          <a:bodyPr>
            <a:spAutoFit/>
          </a:bodyPr>
          <a:lstStyle/>
          <a:p>
            <a:r>
              <a:rPr kumimoji="0" lang="en-US" altLang="zh-CN" b="1" i="1">
                <a:solidFill>
                  <a:srgbClr val="FF6600"/>
                </a:solidFill>
              </a:rPr>
              <a:t>P</a:t>
            </a:r>
            <a:r>
              <a:rPr kumimoji="0" lang="en-US" altLang="zh-CN" b="1" i="1"/>
              <a:t> </a:t>
            </a:r>
            <a:r>
              <a:rPr kumimoji="0" lang="zh-CN" altLang="en-US" b="1">
                <a:latin typeface="Bookman Old Style" pitchFamily="18" charset="0"/>
              </a:rPr>
              <a:t>点处波的强度</a:t>
            </a:r>
            <a:endParaRPr kumimoji="0" lang="zh-CN" altLang="en-US" sz="1800"/>
          </a:p>
        </p:txBody>
      </p:sp>
      <p:graphicFrame>
        <p:nvGraphicFramePr>
          <p:cNvPr id="205850" name="Object 26"/>
          <p:cNvGraphicFramePr>
            <a:graphicFrameLocks noChangeAspect="1"/>
          </p:cNvGraphicFramePr>
          <p:nvPr/>
        </p:nvGraphicFramePr>
        <p:xfrm>
          <a:off x="2771775" y="5851525"/>
          <a:ext cx="3130550" cy="457200"/>
        </p:xfrm>
        <a:graphic>
          <a:graphicData uri="http://schemas.openxmlformats.org/presentationml/2006/ole">
            <p:oleObj spid="_x0000_s32780" name="公式" r:id="rId13" imgW="1739880" imgH="2538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58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058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058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2058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058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5827"/>
                                        </p:tgtEl>
                                        <p:attrNameLst>
                                          <p:attrName>style.visibility</p:attrName>
                                        </p:attrNameLst>
                                      </p:cBhvr>
                                      <p:to>
                                        <p:strVal val="visible"/>
                                      </p:to>
                                    </p:set>
                                    <p:animEffect transition="in" filter="wipe(left)">
                                      <p:cBhvr>
                                        <p:cTn id="27" dur="500"/>
                                        <p:tgtEl>
                                          <p:spTgt spid="205827"/>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20584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05846"/>
                                        </p:tgtEl>
                                        <p:attrNameLst>
                                          <p:attrName>style.visibility</p:attrName>
                                        </p:attrNameLst>
                                      </p:cBhvr>
                                      <p:to>
                                        <p:strVal val="visible"/>
                                      </p:to>
                                    </p:set>
                                    <p:animEffect transition="in" filter="wipe(left)">
                                      <p:cBhvr>
                                        <p:cTn id="36" dur="500"/>
                                        <p:tgtEl>
                                          <p:spTgt spid="205846"/>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20584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20584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05834"/>
                                        </p:tgtEl>
                                        <p:attrNameLst>
                                          <p:attrName>style.visibility</p:attrName>
                                        </p:attrNameLst>
                                      </p:cBhvr>
                                      <p:to>
                                        <p:strVal val="visible"/>
                                      </p:to>
                                    </p:set>
                                    <p:animEffect transition="in" filter="wipe(left)">
                                      <p:cBhvr>
                                        <p:cTn id="49" dur="500"/>
                                        <p:tgtEl>
                                          <p:spTgt spid="205834"/>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499"/>
                                          </p:stCondLst>
                                        </p:cTn>
                                        <p:tgtEl>
                                          <p:spTgt spid="20583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05835"/>
                                        </p:tgtEl>
                                        <p:attrNameLst>
                                          <p:attrName>style.visibility</p:attrName>
                                        </p:attrNameLst>
                                      </p:cBhvr>
                                      <p:to>
                                        <p:strVal val="visible"/>
                                      </p:to>
                                    </p:set>
                                    <p:animEffect transition="in" filter="wipe(left)">
                                      <p:cBhvr>
                                        <p:cTn id="58" dur="500"/>
                                        <p:tgtEl>
                                          <p:spTgt spid="205835"/>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499"/>
                                          </p:stCondLst>
                                        </p:cTn>
                                        <p:tgtEl>
                                          <p:spTgt spid="20583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20584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205828"/>
                                        </p:tgtEl>
                                        <p:attrNameLst>
                                          <p:attrName>style.visibility</p:attrName>
                                        </p:attrNameLst>
                                      </p:cBhvr>
                                      <p:to>
                                        <p:strVal val="visible"/>
                                      </p:to>
                                    </p:set>
                                    <p:animEffect transition="in" filter="wipe(left)">
                                      <p:cBhvr>
                                        <p:cTn id="71" dur="500"/>
                                        <p:tgtEl>
                                          <p:spTgt spid="205828"/>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205843"/>
                                        </p:tgtEl>
                                        <p:attrNameLst>
                                          <p:attrName>style.visibility</p:attrName>
                                        </p:attrNameLst>
                                      </p:cBhvr>
                                      <p:to>
                                        <p:strVal val="visible"/>
                                      </p:to>
                                    </p:set>
                                    <p:animEffect transition="in" filter="wipe(left)">
                                      <p:cBhvr>
                                        <p:cTn id="76" dur="500"/>
                                        <p:tgtEl>
                                          <p:spTgt spid="205843"/>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05831"/>
                                        </p:tgtEl>
                                        <p:attrNameLst>
                                          <p:attrName>style.visibility</p:attrName>
                                        </p:attrNameLst>
                                      </p:cBhvr>
                                      <p:to>
                                        <p:strVal val="visible"/>
                                      </p:to>
                                    </p:set>
                                    <p:animEffect transition="in" filter="wipe(left)">
                                      <p:cBhvr>
                                        <p:cTn id="81" dur="500"/>
                                        <p:tgtEl>
                                          <p:spTgt spid="205831"/>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205830"/>
                                        </p:tgtEl>
                                        <p:attrNameLst>
                                          <p:attrName>style.visibility</p:attrName>
                                        </p:attrNameLst>
                                      </p:cBhvr>
                                      <p:to>
                                        <p:strVal val="visible"/>
                                      </p:to>
                                    </p:set>
                                    <p:animEffect transition="in" filter="wipe(left)">
                                      <p:cBhvr>
                                        <p:cTn id="86" dur="500"/>
                                        <p:tgtEl>
                                          <p:spTgt spid="205830"/>
                                        </p:tgtEl>
                                      </p:cBhvr>
                                    </p:animEffect>
                                  </p:childTnLst>
                                </p:cTn>
                              </p:par>
                            </p:childTnLst>
                          </p:cTn>
                        </p:par>
                      </p:childTnLst>
                    </p:cTn>
                  </p:par>
                  <p:par>
                    <p:cTn id="87" fill="hold">
                      <p:stCondLst>
                        <p:cond delay="indefinite"/>
                      </p:stCondLst>
                      <p:childTnLst>
                        <p:par>
                          <p:cTn id="88" fill="hold">
                            <p:stCondLst>
                              <p:cond delay="0"/>
                            </p:stCondLst>
                            <p:childTnLst>
                              <p:par>
                                <p:cTn id="89" presetID="5" presetClass="entr" presetSubtype="10" fill="hold" grpId="0" nodeType="clickEffect">
                                  <p:stCondLst>
                                    <p:cond delay="0"/>
                                  </p:stCondLst>
                                  <p:childTnLst>
                                    <p:set>
                                      <p:cBhvr>
                                        <p:cTn id="90" dur="1" fill="hold">
                                          <p:stCondLst>
                                            <p:cond delay="0"/>
                                          </p:stCondLst>
                                        </p:cTn>
                                        <p:tgtEl>
                                          <p:spTgt spid="205844"/>
                                        </p:tgtEl>
                                        <p:attrNameLst>
                                          <p:attrName>style.visibility</p:attrName>
                                        </p:attrNameLst>
                                      </p:cBhvr>
                                      <p:to>
                                        <p:strVal val="visible"/>
                                      </p:to>
                                    </p:set>
                                    <p:animEffect transition="in" filter="checkerboard(across)">
                                      <p:cBhvr>
                                        <p:cTn id="91" dur="500"/>
                                        <p:tgtEl>
                                          <p:spTgt spid="205844"/>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205829"/>
                                        </p:tgtEl>
                                        <p:attrNameLst>
                                          <p:attrName>style.visibility</p:attrName>
                                        </p:attrNameLst>
                                      </p:cBhvr>
                                      <p:to>
                                        <p:strVal val="visible"/>
                                      </p:to>
                                    </p:set>
                                    <p:animEffect transition="in" filter="wipe(left)">
                                      <p:cBhvr>
                                        <p:cTn id="96" dur="500"/>
                                        <p:tgtEl>
                                          <p:spTgt spid="205829"/>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205849"/>
                                        </p:tgtEl>
                                        <p:attrNameLst>
                                          <p:attrName>style.visibility</p:attrName>
                                        </p:attrNameLst>
                                      </p:cBhvr>
                                      <p:to>
                                        <p:strVal val="visible"/>
                                      </p:to>
                                    </p:set>
                                    <p:animEffect transition="in" filter="wipe(left)">
                                      <p:cBhvr>
                                        <p:cTn id="101" dur="500"/>
                                        <p:tgtEl>
                                          <p:spTgt spid="205849"/>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205850"/>
                                        </p:tgtEl>
                                        <p:attrNameLst>
                                          <p:attrName>style.visibility</p:attrName>
                                        </p:attrNameLst>
                                      </p:cBhvr>
                                      <p:to>
                                        <p:strVal val="visible"/>
                                      </p:to>
                                    </p:set>
                                    <p:animEffect transition="in" filter="wipe(left)">
                                      <p:cBhvr>
                                        <p:cTn id="106" dur="500"/>
                                        <p:tgtEl>
                                          <p:spTgt spid="205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31" grpId="0" autoUpdateAnimBg="0"/>
      <p:bldP spid="205834" grpId="0" animBg="1"/>
      <p:bldP spid="205835" grpId="0" animBg="1"/>
      <p:bldP spid="205837" grpId="0" animBg="1"/>
      <p:bldP spid="205839" grpId="0" animBg="1"/>
      <p:bldP spid="205840" grpId="0" autoUpdateAnimBg="0"/>
      <p:bldP spid="205841" grpId="0" autoUpdateAnimBg="0"/>
      <p:bldP spid="205844" grpId="0" autoUpdateAnimBg="0"/>
      <p:bldP spid="205845" grpId="0" animBg="1"/>
      <p:bldP spid="205847" grpId="0" autoUpdateAnimBg="0"/>
      <p:bldP spid="205848" grpId="0" autoUpdateAnimBg="0"/>
      <p:bldP spid="205849"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6850" name="Object 2"/>
          <p:cNvGraphicFramePr>
            <a:graphicFrameLocks noChangeAspect="1"/>
          </p:cNvGraphicFramePr>
          <p:nvPr/>
        </p:nvGraphicFramePr>
        <p:xfrm>
          <a:off x="1285875" y="1358900"/>
          <a:ext cx="5805488" cy="730250"/>
        </p:xfrm>
        <a:graphic>
          <a:graphicData uri="http://schemas.openxmlformats.org/presentationml/2006/ole">
            <p:oleObj spid="_x0000_s33794" name="公式" r:id="rId3" imgW="3238200" imgH="406080" progId="Equation.3">
              <p:embed/>
            </p:oleObj>
          </a:graphicData>
        </a:graphic>
      </p:graphicFrame>
      <p:graphicFrame>
        <p:nvGraphicFramePr>
          <p:cNvPr id="206851" name="Object 3"/>
          <p:cNvGraphicFramePr>
            <a:graphicFrameLocks noChangeAspect="1"/>
          </p:cNvGraphicFramePr>
          <p:nvPr/>
        </p:nvGraphicFramePr>
        <p:xfrm>
          <a:off x="1150938" y="2168525"/>
          <a:ext cx="4646612" cy="457200"/>
        </p:xfrm>
        <a:graphic>
          <a:graphicData uri="http://schemas.openxmlformats.org/presentationml/2006/ole">
            <p:oleObj spid="_x0000_s33795" name="公式" r:id="rId4" imgW="2603160" imgH="253800" progId="Equation.3">
              <p:embed/>
            </p:oleObj>
          </a:graphicData>
        </a:graphic>
      </p:graphicFrame>
      <p:graphicFrame>
        <p:nvGraphicFramePr>
          <p:cNvPr id="206852" name="Object 4"/>
          <p:cNvGraphicFramePr>
            <a:graphicFrameLocks/>
          </p:cNvGraphicFramePr>
          <p:nvPr/>
        </p:nvGraphicFramePr>
        <p:xfrm>
          <a:off x="1241425" y="2754313"/>
          <a:ext cx="6388100" cy="727075"/>
        </p:xfrm>
        <a:graphic>
          <a:graphicData uri="http://schemas.openxmlformats.org/presentationml/2006/ole">
            <p:oleObj spid="_x0000_s33796" name="公式" r:id="rId5" imgW="3568680" imgH="406080" progId="Equation.3">
              <p:embed/>
            </p:oleObj>
          </a:graphicData>
        </a:graphic>
      </p:graphicFrame>
      <p:graphicFrame>
        <p:nvGraphicFramePr>
          <p:cNvPr id="206853" name="Object 5"/>
          <p:cNvGraphicFramePr>
            <a:graphicFrameLocks noChangeAspect="1"/>
          </p:cNvGraphicFramePr>
          <p:nvPr/>
        </p:nvGraphicFramePr>
        <p:xfrm>
          <a:off x="1241425" y="3616325"/>
          <a:ext cx="4797425" cy="457200"/>
        </p:xfrm>
        <a:graphic>
          <a:graphicData uri="http://schemas.openxmlformats.org/presentationml/2006/ole">
            <p:oleObj spid="_x0000_s33797" name="公式" r:id="rId6" imgW="2666880" imgH="253800" progId="Equation.3">
              <p:embed/>
            </p:oleObj>
          </a:graphicData>
        </a:graphic>
      </p:graphicFrame>
      <p:graphicFrame>
        <p:nvGraphicFramePr>
          <p:cNvPr id="206854" name="Object 6"/>
          <p:cNvGraphicFramePr>
            <a:graphicFrameLocks noChangeAspect="1"/>
          </p:cNvGraphicFramePr>
          <p:nvPr/>
        </p:nvGraphicFramePr>
        <p:xfrm>
          <a:off x="2141538" y="449263"/>
          <a:ext cx="2973387" cy="730250"/>
        </p:xfrm>
        <a:graphic>
          <a:graphicData uri="http://schemas.openxmlformats.org/presentationml/2006/ole">
            <p:oleObj spid="_x0000_s33798" name="公式" r:id="rId7" imgW="1650960" imgH="406080" progId="Equation.3">
              <p:embed/>
            </p:oleObj>
          </a:graphicData>
        </a:graphic>
      </p:graphicFrame>
      <p:sp>
        <p:nvSpPr>
          <p:cNvPr id="206855" name="Rectangle 7"/>
          <p:cNvSpPr>
            <a:spLocks noChangeArrowheads="1"/>
          </p:cNvSpPr>
          <p:nvPr/>
        </p:nvSpPr>
        <p:spPr bwMode="auto">
          <a:xfrm>
            <a:off x="566738" y="595313"/>
            <a:ext cx="1409700" cy="457200"/>
          </a:xfrm>
          <a:prstGeom prst="rect">
            <a:avLst/>
          </a:prstGeom>
          <a:noFill/>
          <a:ln w="9525">
            <a:noFill/>
            <a:miter lim="800000"/>
            <a:headEnd/>
            <a:tailEnd/>
          </a:ln>
        </p:spPr>
        <p:txBody>
          <a:bodyPr wrap="none">
            <a:spAutoFit/>
          </a:bodyPr>
          <a:lstStyle/>
          <a:p>
            <a:pPr algn="ctr"/>
            <a:r>
              <a:rPr kumimoji="0" lang="zh-CN" altLang="en-US" b="1">
                <a:solidFill>
                  <a:srgbClr val="FF6600"/>
                </a:solidFill>
                <a:latin typeface="Bookman Old Style" pitchFamily="18" charset="0"/>
              </a:rPr>
              <a:t>相位差：</a:t>
            </a:r>
            <a:endParaRPr kumimoji="0" lang="zh-CN" altLang="en-US" sz="1800">
              <a:solidFill>
                <a:srgbClr val="FF6600"/>
              </a:solidFill>
            </a:endParaRPr>
          </a:p>
        </p:txBody>
      </p:sp>
      <p:sp>
        <p:nvSpPr>
          <p:cNvPr id="206856" name="Text Box 8"/>
          <p:cNvSpPr txBox="1">
            <a:spLocks noChangeArrowheads="1"/>
          </p:cNvSpPr>
          <p:nvPr/>
        </p:nvSpPr>
        <p:spPr bwMode="auto">
          <a:xfrm>
            <a:off x="657225" y="1449388"/>
            <a:ext cx="533400" cy="457200"/>
          </a:xfrm>
          <a:prstGeom prst="rect">
            <a:avLst/>
          </a:prstGeom>
          <a:noFill/>
          <a:ln w="9525">
            <a:noFill/>
            <a:miter lim="800000"/>
            <a:headEnd/>
            <a:tailEnd/>
          </a:ln>
        </p:spPr>
        <p:txBody>
          <a:bodyPr>
            <a:spAutoFit/>
          </a:bodyPr>
          <a:lstStyle/>
          <a:p>
            <a:pPr algn="ctr"/>
            <a:r>
              <a:rPr kumimoji="0" lang="zh-CN" altLang="en-US" b="1">
                <a:latin typeface="Bookman Old Style" pitchFamily="18" charset="0"/>
              </a:rPr>
              <a:t>当</a:t>
            </a:r>
            <a:endParaRPr kumimoji="0" lang="zh-CN" altLang="en-US" sz="1800"/>
          </a:p>
        </p:txBody>
      </p:sp>
      <p:sp>
        <p:nvSpPr>
          <p:cNvPr id="206857" name="Text Box 9"/>
          <p:cNvSpPr txBox="1">
            <a:spLocks noChangeArrowheads="1"/>
          </p:cNvSpPr>
          <p:nvPr/>
        </p:nvSpPr>
        <p:spPr bwMode="auto">
          <a:xfrm>
            <a:off x="6137275" y="2124075"/>
            <a:ext cx="2665413" cy="457200"/>
          </a:xfrm>
          <a:prstGeom prst="rect">
            <a:avLst/>
          </a:prstGeom>
          <a:noFill/>
          <a:ln w="9525">
            <a:noFill/>
            <a:miter lim="800000"/>
            <a:headEnd/>
            <a:tailEnd/>
          </a:ln>
        </p:spPr>
        <p:txBody>
          <a:bodyPr>
            <a:spAutoFit/>
          </a:bodyPr>
          <a:lstStyle/>
          <a:p>
            <a:r>
              <a:rPr kumimoji="0" lang="zh-CN" altLang="en-US" b="1">
                <a:solidFill>
                  <a:srgbClr val="FF6600"/>
                </a:solidFill>
                <a:latin typeface="Bookman Old Style" pitchFamily="18" charset="0"/>
              </a:rPr>
              <a:t>干涉相长</a:t>
            </a:r>
            <a:endParaRPr kumimoji="0" lang="zh-CN" altLang="en-US" sz="1800">
              <a:solidFill>
                <a:srgbClr val="FF6600"/>
              </a:solidFill>
            </a:endParaRPr>
          </a:p>
        </p:txBody>
      </p:sp>
      <p:sp>
        <p:nvSpPr>
          <p:cNvPr id="206858" name="Rectangle 10"/>
          <p:cNvSpPr>
            <a:spLocks noChangeArrowheads="1"/>
          </p:cNvSpPr>
          <p:nvPr/>
        </p:nvSpPr>
        <p:spPr bwMode="auto">
          <a:xfrm>
            <a:off x="657225" y="2882900"/>
            <a:ext cx="492125" cy="457200"/>
          </a:xfrm>
          <a:prstGeom prst="rect">
            <a:avLst/>
          </a:prstGeom>
          <a:noFill/>
          <a:ln w="9525">
            <a:noFill/>
            <a:miter lim="800000"/>
            <a:headEnd/>
            <a:tailEnd/>
          </a:ln>
        </p:spPr>
        <p:txBody>
          <a:bodyPr wrap="none">
            <a:spAutoFit/>
          </a:bodyPr>
          <a:lstStyle/>
          <a:p>
            <a:pPr algn="ctr"/>
            <a:r>
              <a:rPr kumimoji="0" lang="zh-CN" altLang="en-US" b="1">
                <a:latin typeface="Bookman Old Style" pitchFamily="18" charset="0"/>
              </a:rPr>
              <a:t>当</a:t>
            </a:r>
            <a:endParaRPr kumimoji="0" lang="zh-CN" altLang="en-US" sz="1800"/>
          </a:p>
        </p:txBody>
      </p:sp>
      <p:sp>
        <p:nvSpPr>
          <p:cNvPr id="206859" name="Rectangle 11"/>
          <p:cNvSpPr>
            <a:spLocks noChangeArrowheads="1"/>
          </p:cNvSpPr>
          <p:nvPr/>
        </p:nvSpPr>
        <p:spPr bwMode="auto">
          <a:xfrm>
            <a:off x="6327775" y="3563938"/>
            <a:ext cx="2082800" cy="457200"/>
          </a:xfrm>
          <a:prstGeom prst="rect">
            <a:avLst/>
          </a:prstGeom>
          <a:noFill/>
          <a:ln w="9525">
            <a:noFill/>
            <a:miter lim="800000"/>
            <a:headEnd/>
            <a:tailEnd/>
          </a:ln>
        </p:spPr>
        <p:txBody>
          <a:bodyPr>
            <a:spAutoFit/>
          </a:bodyPr>
          <a:lstStyle/>
          <a:p>
            <a:r>
              <a:rPr kumimoji="0" lang="zh-CN" altLang="en-US" b="1">
                <a:solidFill>
                  <a:srgbClr val="FF6600"/>
                </a:solidFill>
                <a:latin typeface="Bookman Old Style" pitchFamily="18" charset="0"/>
              </a:rPr>
              <a:t>干涉相消</a:t>
            </a:r>
            <a:endParaRPr kumimoji="0" lang="zh-CN" altLang="en-US" sz="1800">
              <a:solidFill>
                <a:srgbClr val="FF6600"/>
              </a:solidFill>
            </a:endParaRPr>
          </a:p>
        </p:txBody>
      </p:sp>
      <p:sp>
        <p:nvSpPr>
          <p:cNvPr id="206860" name="Text Box 12"/>
          <p:cNvSpPr txBox="1">
            <a:spLocks noChangeArrowheads="1"/>
          </p:cNvSpPr>
          <p:nvPr/>
        </p:nvSpPr>
        <p:spPr bwMode="auto">
          <a:xfrm>
            <a:off x="666750" y="4192588"/>
            <a:ext cx="800100" cy="457200"/>
          </a:xfrm>
          <a:prstGeom prst="rect">
            <a:avLst/>
          </a:prstGeom>
          <a:noFill/>
          <a:ln w="9525">
            <a:noFill/>
            <a:miter lim="800000"/>
            <a:headEnd/>
            <a:tailEnd/>
          </a:ln>
        </p:spPr>
        <p:txBody>
          <a:bodyPr wrap="none">
            <a:spAutoFit/>
          </a:bodyPr>
          <a:lstStyle/>
          <a:p>
            <a:pPr algn="ctr"/>
            <a:r>
              <a:rPr kumimoji="0" lang="zh-CN" altLang="en-US" b="1">
                <a:solidFill>
                  <a:srgbClr val="0033CC"/>
                </a:solidFill>
                <a:latin typeface="宋体" pitchFamily="2" charset="-122"/>
              </a:rPr>
              <a:t>讨论</a:t>
            </a:r>
            <a:endParaRPr kumimoji="0" lang="zh-CN" altLang="en-US" sz="1800">
              <a:solidFill>
                <a:srgbClr val="0033CC"/>
              </a:solidFill>
            </a:endParaRPr>
          </a:p>
        </p:txBody>
      </p:sp>
      <p:sp>
        <p:nvSpPr>
          <p:cNvPr id="206861" name="AutoShape 13"/>
          <p:cNvSpPr>
            <a:spLocks noChangeArrowheads="1"/>
          </p:cNvSpPr>
          <p:nvPr/>
        </p:nvSpPr>
        <p:spPr bwMode="auto">
          <a:xfrm>
            <a:off x="206375" y="4103688"/>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graphicFrame>
        <p:nvGraphicFramePr>
          <p:cNvPr id="206862" name="Object 14"/>
          <p:cNvGraphicFramePr>
            <a:graphicFrameLocks noChangeAspect="1"/>
          </p:cNvGraphicFramePr>
          <p:nvPr/>
        </p:nvGraphicFramePr>
        <p:xfrm>
          <a:off x="1106488" y="5275263"/>
          <a:ext cx="4005262" cy="388937"/>
        </p:xfrm>
        <a:graphic>
          <a:graphicData uri="http://schemas.openxmlformats.org/presentationml/2006/ole">
            <p:oleObj spid="_x0000_s33799" name="公式" r:id="rId8" imgW="2222280" imgH="215640" progId="Equation.3">
              <p:embed/>
            </p:oleObj>
          </a:graphicData>
        </a:graphic>
      </p:graphicFrame>
      <p:graphicFrame>
        <p:nvGraphicFramePr>
          <p:cNvPr id="206863" name="Object 15"/>
          <p:cNvGraphicFramePr>
            <a:graphicFrameLocks noChangeAspect="1"/>
          </p:cNvGraphicFramePr>
          <p:nvPr/>
        </p:nvGraphicFramePr>
        <p:xfrm>
          <a:off x="1325563" y="4741863"/>
          <a:ext cx="874712" cy="388937"/>
        </p:xfrm>
        <a:graphic>
          <a:graphicData uri="http://schemas.openxmlformats.org/presentationml/2006/ole">
            <p:oleObj spid="_x0000_s33800" name="公式" r:id="rId9" imgW="482400" imgH="215640" progId="Equation.3">
              <p:embed/>
            </p:oleObj>
          </a:graphicData>
        </a:graphic>
      </p:graphicFrame>
      <p:sp>
        <p:nvSpPr>
          <p:cNvPr id="206864" name="Rectangle 16"/>
          <p:cNvSpPr>
            <a:spLocks noChangeArrowheads="1"/>
          </p:cNvSpPr>
          <p:nvPr/>
        </p:nvSpPr>
        <p:spPr bwMode="auto">
          <a:xfrm>
            <a:off x="5562600" y="5184775"/>
            <a:ext cx="1692275" cy="457200"/>
          </a:xfrm>
          <a:prstGeom prst="rect">
            <a:avLst/>
          </a:prstGeom>
          <a:noFill/>
          <a:ln w="9525">
            <a:noFill/>
            <a:miter lim="800000"/>
            <a:headEnd/>
            <a:tailEnd/>
          </a:ln>
        </p:spPr>
        <p:txBody>
          <a:bodyPr>
            <a:spAutoFit/>
          </a:bodyPr>
          <a:lstStyle/>
          <a:p>
            <a:pPr algn="ctr"/>
            <a:r>
              <a:rPr kumimoji="0" lang="zh-CN" altLang="en-US" b="1">
                <a:solidFill>
                  <a:srgbClr val="FF6600"/>
                </a:solidFill>
                <a:latin typeface="宋体" pitchFamily="2" charset="-122"/>
              </a:rPr>
              <a:t>干涉相长</a:t>
            </a:r>
            <a:endParaRPr kumimoji="0" lang="zh-CN" altLang="en-US">
              <a:solidFill>
                <a:srgbClr val="FF6600"/>
              </a:solidFill>
              <a:latin typeface="宋体" pitchFamily="2" charset="-122"/>
            </a:endParaRPr>
          </a:p>
        </p:txBody>
      </p:sp>
      <p:sp>
        <p:nvSpPr>
          <p:cNvPr id="206865" name="Text Box 17"/>
          <p:cNvSpPr txBox="1">
            <a:spLocks noChangeArrowheads="1"/>
          </p:cNvSpPr>
          <p:nvPr/>
        </p:nvSpPr>
        <p:spPr bwMode="auto">
          <a:xfrm>
            <a:off x="701675" y="4733925"/>
            <a:ext cx="1219200" cy="457200"/>
          </a:xfrm>
          <a:prstGeom prst="rect">
            <a:avLst/>
          </a:prstGeom>
          <a:noFill/>
          <a:ln w="9525">
            <a:noFill/>
            <a:miter lim="800000"/>
            <a:headEnd/>
            <a:tailEnd/>
          </a:ln>
        </p:spPr>
        <p:txBody>
          <a:bodyPr>
            <a:spAutoFit/>
          </a:bodyPr>
          <a:lstStyle/>
          <a:p>
            <a:r>
              <a:rPr kumimoji="0" lang="zh-CN" altLang="en-US" b="1">
                <a:latin typeface="楷体_GB2312" pitchFamily="49" charset="-122"/>
              </a:rPr>
              <a:t>若</a:t>
            </a:r>
            <a:endParaRPr kumimoji="0" lang="zh-CN" altLang="en-US"/>
          </a:p>
        </p:txBody>
      </p:sp>
      <p:graphicFrame>
        <p:nvGraphicFramePr>
          <p:cNvPr id="206866" name="Object 18"/>
          <p:cNvGraphicFramePr>
            <a:graphicFrameLocks noChangeAspect="1"/>
          </p:cNvGraphicFramePr>
          <p:nvPr/>
        </p:nvGraphicFramePr>
        <p:xfrm>
          <a:off x="1062038" y="5678488"/>
          <a:ext cx="4794250" cy="730250"/>
        </p:xfrm>
        <a:graphic>
          <a:graphicData uri="http://schemas.openxmlformats.org/presentationml/2006/ole">
            <p:oleObj spid="_x0000_s33801" name="公式" r:id="rId10" imgW="2679480" imgH="406080" progId="Equation.3">
              <p:embed/>
            </p:oleObj>
          </a:graphicData>
        </a:graphic>
      </p:graphicFrame>
      <p:sp>
        <p:nvSpPr>
          <p:cNvPr id="206867" name="Rectangle 19"/>
          <p:cNvSpPr>
            <a:spLocks noChangeArrowheads="1"/>
          </p:cNvSpPr>
          <p:nvPr/>
        </p:nvSpPr>
        <p:spPr bwMode="auto">
          <a:xfrm>
            <a:off x="6081713" y="5868988"/>
            <a:ext cx="1692275" cy="457200"/>
          </a:xfrm>
          <a:prstGeom prst="rect">
            <a:avLst/>
          </a:prstGeom>
          <a:noFill/>
          <a:ln w="9525">
            <a:noFill/>
            <a:miter lim="800000"/>
            <a:headEnd/>
            <a:tailEnd/>
          </a:ln>
        </p:spPr>
        <p:txBody>
          <a:bodyPr>
            <a:spAutoFit/>
          </a:bodyPr>
          <a:lstStyle/>
          <a:p>
            <a:pPr algn="ctr"/>
            <a:r>
              <a:rPr kumimoji="0" lang="zh-CN" altLang="en-US" b="1">
                <a:solidFill>
                  <a:srgbClr val="FF6600"/>
                </a:solidFill>
                <a:latin typeface="楷体_GB2312" pitchFamily="49" charset="-122"/>
              </a:rPr>
              <a:t>干涉相消</a:t>
            </a:r>
            <a:endParaRPr kumimoji="0" lang="zh-CN" altLang="en-US" sz="1800">
              <a:solidFill>
                <a:srgbClr val="FF6600"/>
              </a:solidFill>
            </a:endParaRPr>
          </a:p>
        </p:txBody>
      </p:sp>
      <p:graphicFrame>
        <p:nvGraphicFramePr>
          <p:cNvPr id="206868" name="Object 20"/>
          <p:cNvGraphicFramePr>
            <a:graphicFrameLocks noChangeAspect="1"/>
          </p:cNvGraphicFramePr>
          <p:nvPr/>
        </p:nvGraphicFramePr>
        <p:xfrm>
          <a:off x="4237038" y="4689475"/>
          <a:ext cx="1144587" cy="388938"/>
        </p:xfrm>
        <a:graphic>
          <a:graphicData uri="http://schemas.openxmlformats.org/presentationml/2006/ole">
            <p:oleObj spid="_x0000_s33802" name="公式" r:id="rId11" imgW="634680" imgH="215640" progId="Equation.3">
              <p:embed/>
            </p:oleObj>
          </a:graphicData>
        </a:graphic>
      </p:graphicFrame>
      <p:sp>
        <p:nvSpPr>
          <p:cNvPr id="206869" name="Text Box 21"/>
          <p:cNvSpPr txBox="1">
            <a:spLocks noChangeArrowheads="1"/>
          </p:cNvSpPr>
          <p:nvPr/>
        </p:nvSpPr>
        <p:spPr bwMode="auto">
          <a:xfrm>
            <a:off x="2951163" y="4681538"/>
            <a:ext cx="1395412" cy="457200"/>
          </a:xfrm>
          <a:prstGeom prst="rect">
            <a:avLst/>
          </a:prstGeom>
          <a:noFill/>
          <a:ln w="9525">
            <a:noFill/>
            <a:miter lim="800000"/>
            <a:headEnd/>
            <a:tailEnd/>
          </a:ln>
        </p:spPr>
        <p:txBody>
          <a:bodyPr>
            <a:spAutoFit/>
          </a:bodyPr>
          <a:lstStyle/>
          <a:p>
            <a:r>
              <a:rPr kumimoji="0" lang="zh-CN" altLang="en-US" b="1">
                <a:solidFill>
                  <a:srgbClr val="FF0000"/>
                </a:solidFill>
                <a:latin typeface="Bookman Old Style" pitchFamily="18" charset="0"/>
              </a:rPr>
              <a:t>波程差</a:t>
            </a:r>
            <a:endParaRPr kumimoji="0" lang="zh-CN" altLang="en-US" sz="18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6855"/>
                                        </p:tgtEl>
                                        <p:attrNameLst>
                                          <p:attrName>style.visibility</p:attrName>
                                        </p:attrNameLst>
                                      </p:cBhvr>
                                      <p:to>
                                        <p:strVal val="visible"/>
                                      </p:to>
                                    </p:set>
                                    <p:animEffect transition="in" filter="wipe(left)">
                                      <p:cBhvr>
                                        <p:cTn id="7" dur="500"/>
                                        <p:tgtEl>
                                          <p:spTgt spid="2068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6854"/>
                                        </p:tgtEl>
                                        <p:attrNameLst>
                                          <p:attrName>style.visibility</p:attrName>
                                        </p:attrNameLst>
                                      </p:cBhvr>
                                      <p:to>
                                        <p:strVal val="visible"/>
                                      </p:to>
                                    </p:set>
                                    <p:animEffect transition="in" filter="wipe(left)">
                                      <p:cBhvr>
                                        <p:cTn id="12" dur="500"/>
                                        <p:tgtEl>
                                          <p:spTgt spid="20685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2068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06850"/>
                                        </p:tgtEl>
                                        <p:attrNameLst>
                                          <p:attrName>style.visibility</p:attrName>
                                        </p:attrNameLst>
                                      </p:cBhvr>
                                      <p:to>
                                        <p:strVal val="visible"/>
                                      </p:to>
                                    </p:set>
                                    <p:animEffect transition="in" filter="wipe(left)">
                                      <p:cBhvr>
                                        <p:cTn id="21" dur="500"/>
                                        <p:tgtEl>
                                          <p:spTgt spid="20685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06851"/>
                                        </p:tgtEl>
                                        <p:attrNameLst>
                                          <p:attrName>style.visibility</p:attrName>
                                        </p:attrNameLst>
                                      </p:cBhvr>
                                      <p:to>
                                        <p:strVal val="visible"/>
                                      </p:to>
                                    </p:set>
                                    <p:animEffect transition="in" filter="wipe(left)">
                                      <p:cBhvr>
                                        <p:cTn id="26" dur="500"/>
                                        <p:tgtEl>
                                          <p:spTgt spid="20685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06857"/>
                                        </p:tgtEl>
                                        <p:attrNameLst>
                                          <p:attrName>style.visibility</p:attrName>
                                        </p:attrNameLst>
                                      </p:cBhvr>
                                      <p:to>
                                        <p:strVal val="visible"/>
                                      </p:to>
                                    </p:set>
                                    <p:animEffect transition="in" filter="wipe(left)">
                                      <p:cBhvr>
                                        <p:cTn id="31" dur="500"/>
                                        <p:tgtEl>
                                          <p:spTgt spid="206857"/>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20685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06852"/>
                                        </p:tgtEl>
                                        <p:attrNameLst>
                                          <p:attrName>style.visibility</p:attrName>
                                        </p:attrNameLst>
                                      </p:cBhvr>
                                      <p:to>
                                        <p:strVal val="visible"/>
                                      </p:to>
                                    </p:set>
                                    <p:animEffect transition="in" filter="wipe(left)">
                                      <p:cBhvr>
                                        <p:cTn id="40" dur="500"/>
                                        <p:tgtEl>
                                          <p:spTgt spid="20685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06853"/>
                                        </p:tgtEl>
                                        <p:attrNameLst>
                                          <p:attrName>style.visibility</p:attrName>
                                        </p:attrNameLst>
                                      </p:cBhvr>
                                      <p:to>
                                        <p:strVal val="visible"/>
                                      </p:to>
                                    </p:set>
                                    <p:animEffect transition="in" filter="wipe(left)">
                                      <p:cBhvr>
                                        <p:cTn id="45" dur="500"/>
                                        <p:tgtEl>
                                          <p:spTgt spid="20685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06859"/>
                                        </p:tgtEl>
                                        <p:attrNameLst>
                                          <p:attrName>style.visibility</p:attrName>
                                        </p:attrNameLst>
                                      </p:cBhvr>
                                      <p:to>
                                        <p:strVal val="visible"/>
                                      </p:to>
                                    </p:set>
                                    <p:animEffect transition="in" filter="wipe(left)">
                                      <p:cBhvr>
                                        <p:cTn id="50" dur="500"/>
                                        <p:tgtEl>
                                          <p:spTgt spid="206859"/>
                                        </p:tgtEl>
                                      </p:cBhvr>
                                    </p:animEffect>
                                  </p:childTnLst>
                                </p:cTn>
                              </p:par>
                            </p:childTnLst>
                          </p:cTn>
                        </p:par>
                      </p:childTnLst>
                    </p:cTn>
                  </p:par>
                  <p:par>
                    <p:cTn id="51" fill="hold">
                      <p:stCondLst>
                        <p:cond delay="indefinite"/>
                      </p:stCondLst>
                      <p:childTnLst>
                        <p:par>
                          <p:cTn id="52" fill="hold">
                            <p:stCondLst>
                              <p:cond delay="0"/>
                            </p:stCondLst>
                            <p:childTnLst>
                              <p:par>
                                <p:cTn id="53" presetID="23" presetClass="entr" presetSubtype="32" fill="hold" grpId="0" nodeType="clickEffect">
                                  <p:stCondLst>
                                    <p:cond delay="0"/>
                                  </p:stCondLst>
                                  <p:childTnLst>
                                    <p:set>
                                      <p:cBhvr>
                                        <p:cTn id="54" dur="1" fill="hold">
                                          <p:stCondLst>
                                            <p:cond delay="0"/>
                                          </p:stCondLst>
                                        </p:cTn>
                                        <p:tgtEl>
                                          <p:spTgt spid="206861"/>
                                        </p:tgtEl>
                                        <p:attrNameLst>
                                          <p:attrName>style.visibility</p:attrName>
                                        </p:attrNameLst>
                                      </p:cBhvr>
                                      <p:to>
                                        <p:strVal val="visible"/>
                                      </p:to>
                                    </p:set>
                                    <p:anim calcmode="lin" valueType="num">
                                      <p:cBhvr>
                                        <p:cTn id="55" dur="500" fill="hold"/>
                                        <p:tgtEl>
                                          <p:spTgt spid="206861"/>
                                        </p:tgtEl>
                                        <p:attrNameLst>
                                          <p:attrName>ppt_w</p:attrName>
                                        </p:attrNameLst>
                                      </p:cBhvr>
                                      <p:tavLst>
                                        <p:tav tm="0">
                                          <p:val>
                                            <p:strVal val="4*#ppt_w"/>
                                          </p:val>
                                        </p:tav>
                                        <p:tav tm="100000">
                                          <p:val>
                                            <p:strVal val="#ppt_w"/>
                                          </p:val>
                                        </p:tav>
                                      </p:tavLst>
                                    </p:anim>
                                    <p:anim calcmode="lin" valueType="num">
                                      <p:cBhvr>
                                        <p:cTn id="56" dur="500" fill="hold"/>
                                        <p:tgtEl>
                                          <p:spTgt spid="206861"/>
                                        </p:tgtEl>
                                        <p:attrNameLst>
                                          <p:attrName>ppt_h</p:attrName>
                                        </p:attrNameLst>
                                      </p:cBhvr>
                                      <p:tavLst>
                                        <p:tav tm="0">
                                          <p:val>
                                            <p:strVal val="4*#ppt_h"/>
                                          </p:val>
                                        </p:tav>
                                        <p:tav tm="100000">
                                          <p:val>
                                            <p:strVal val="#ppt_h"/>
                                          </p:val>
                                        </p:tav>
                                      </p:tavLst>
                                    </p:anim>
                                  </p:childTnLst>
                                </p:cTn>
                              </p:par>
                            </p:childTnLst>
                          </p:cTn>
                        </p:par>
                        <p:par>
                          <p:cTn id="57" fill="hold">
                            <p:stCondLst>
                              <p:cond delay="500"/>
                            </p:stCondLst>
                            <p:childTnLst>
                              <p:par>
                                <p:cTn id="58" presetID="22" presetClass="entr" presetSubtype="8" fill="hold" grpId="0" nodeType="afterEffect">
                                  <p:stCondLst>
                                    <p:cond delay="0"/>
                                  </p:stCondLst>
                                  <p:childTnLst>
                                    <p:set>
                                      <p:cBhvr>
                                        <p:cTn id="59" dur="1" fill="hold">
                                          <p:stCondLst>
                                            <p:cond delay="0"/>
                                          </p:stCondLst>
                                        </p:cTn>
                                        <p:tgtEl>
                                          <p:spTgt spid="206860"/>
                                        </p:tgtEl>
                                        <p:attrNameLst>
                                          <p:attrName>style.visibility</p:attrName>
                                        </p:attrNameLst>
                                      </p:cBhvr>
                                      <p:to>
                                        <p:strVal val="visible"/>
                                      </p:to>
                                    </p:set>
                                    <p:animEffect transition="in" filter="wipe(left)">
                                      <p:cBhvr>
                                        <p:cTn id="60" dur="500"/>
                                        <p:tgtEl>
                                          <p:spTgt spid="206860"/>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06865"/>
                                        </p:tgtEl>
                                        <p:attrNameLst>
                                          <p:attrName>style.visibility</p:attrName>
                                        </p:attrNameLst>
                                      </p:cBhvr>
                                      <p:to>
                                        <p:strVal val="visible"/>
                                      </p:to>
                                    </p:set>
                                    <p:animEffect transition="in" filter="wipe(left)">
                                      <p:cBhvr>
                                        <p:cTn id="65" dur="500"/>
                                        <p:tgtEl>
                                          <p:spTgt spid="20686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206863"/>
                                        </p:tgtEl>
                                        <p:attrNameLst>
                                          <p:attrName>style.visibility</p:attrName>
                                        </p:attrNameLst>
                                      </p:cBhvr>
                                      <p:to>
                                        <p:strVal val="visible"/>
                                      </p:to>
                                    </p:set>
                                    <p:animEffect transition="in" filter="wipe(left)">
                                      <p:cBhvr>
                                        <p:cTn id="70" dur="500"/>
                                        <p:tgtEl>
                                          <p:spTgt spid="20686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206862"/>
                                        </p:tgtEl>
                                        <p:attrNameLst>
                                          <p:attrName>style.visibility</p:attrName>
                                        </p:attrNameLst>
                                      </p:cBhvr>
                                      <p:to>
                                        <p:strVal val="visible"/>
                                      </p:to>
                                    </p:set>
                                    <p:animEffect transition="in" filter="wipe(left)">
                                      <p:cBhvr>
                                        <p:cTn id="75" dur="500"/>
                                        <p:tgtEl>
                                          <p:spTgt spid="206862"/>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206864"/>
                                        </p:tgtEl>
                                        <p:attrNameLst>
                                          <p:attrName>style.visibility</p:attrName>
                                        </p:attrNameLst>
                                      </p:cBhvr>
                                      <p:to>
                                        <p:strVal val="visible"/>
                                      </p:to>
                                    </p:set>
                                    <p:animEffect transition="in" filter="wipe(left)">
                                      <p:cBhvr>
                                        <p:cTn id="80" dur="500"/>
                                        <p:tgtEl>
                                          <p:spTgt spid="206864"/>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206866"/>
                                        </p:tgtEl>
                                        <p:attrNameLst>
                                          <p:attrName>style.visibility</p:attrName>
                                        </p:attrNameLst>
                                      </p:cBhvr>
                                      <p:to>
                                        <p:strVal val="visible"/>
                                      </p:to>
                                    </p:set>
                                    <p:animEffect transition="in" filter="wipe(left)">
                                      <p:cBhvr>
                                        <p:cTn id="85" dur="500"/>
                                        <p:tgtEl>
                                          <p:spTgt spid="206866"/>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206867"/>
                                        </p:tgtEl>
                                        <p:attrNameLst>
                                          <p:attrName>style.visibility</p:attrName>
                                        </p:attrNameLst>
                                      </p:cBhvr>
                                      <p:to>
                                        <p:strVal val="visible"/>
                                      </p:to>
                                    </p:set>
                                    <p:animEffect transition="in" filter="wipe(left)">
                                      <p:cBhvr>
                                        <p:cTn id="90" dur="500"/>
                                        <p:tgtEl>
                                          <p:spTgt spid="206867"/>
                                        </p:tgtEl>
                                      </p:cBhvr>
                                    </p:animEffec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499"/>
                                          </p:stCondLst>
                                        </p:cTn>
                                        <p:tgtEl>
                                          <p:spTgt spid="206869"/>
                                        </p:tgtEl>
                                        <p:attrNameLst>
                                          <p:attrName>style.visibility</p:attrName>
                                        </p:attrNameLst>
                                      </p:cBhvr>
                                      <p:to>
                                        <p:strVal val="visible"/>
                                      </p:to>
                                    </p:set>
                                  </p:childTnLst>
                                </p:cTn>
                              </p:par>
                            </p:childTnLst>
                          </p:cTn>
                        </p:par>
                        <p:par>
                          <p:cTn id="95" fill="hold">
                            <p:stCondLst>
                              <p:cond delay="500"/>
                            </p:stCondLst>
                            <p:childTnLst>
                              <p:par>
                                <p:cTn id="96" presetID="22" presetClass="entr" presetSubtype="8" fill="hold" nodeType="afterEffect">
                                  <p:stCondLst>
                                    <p:cond delay="0"/>
                                  </p:stCondLst>
                                  <p:childTnLst>
                                    <p:set>
                                      <p:cBhvr>
                                        <p:cTn id="97" dur="1" fill="hold">
                                          <p:stCondLst>
                                            <p:cond delay="0"/>
                                          </p:stCondLst>
                                        </p:cTn>
                                        <p:tgtEl>
                                          <p:spTgt spid="206868"/>
                                        </p:tgtEl>
                                        <p:attrNameLst>
                                          <p:attrName>style.visibility</p:attrName>
                                        </p:attrNameLst>
                                      </p:cBhvr>
                                      <p:to>
                                        <p:strVal val="visible"/>
                                      </p:to>
                                    </p:set>
                                    <p:animEffect transition="in" filter="wipe(left)">
                                      <p:cBhvr>
                                        <p:cTn id="98" dur="500"/>
                                        <p:tgtEl>
                                          <p:spTgt spid="206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5" grpId="0" autoUpdateAnimBg="0"/>
      <p:bldP spid="206856" grpId="0" autoUpdateAnimBg="0"/>
      <p:bldP spid="206857" grpId="0" autoUpdateAnimBg="0"/>
      <p:bldP spid="206858" grpId="0" autoUpdateAnimBg="0"/>
      <p:bldP spid="206859" grpId="0" autoUpdateAnimBg="0"/>
      <p:bldP spid="206860" grpId="0" autoUpdateAnimBg="0"/>
      <p:bldP spid="206861" grpId="0" animBg="1"/>
      <p:bldP spid="206864" grpId="0" autoUpdateAnimBg="0"/>
      <p:bldP spid="206865" grpId="0" autoUpdateAnimBg="0"/>
      <p:bldP spid="206867" grpId="0" autoUpdateAnimBg="0"/>
      <p:bldP spid="206869"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Text Box 2"/>
          <p:cNvSpPr txBox="1">
            <a:spLocks noChangeArrowheads="1"/>
          </p:cNvSpPr>
          <p:nvPr/>
        </p:nvSpPr>
        <p:spPr bwMode="auto">
          <a:xfrm>
            <a:off x="641350" y="587375"/>
            <a:ext cx="985838" cy="457200"/>
          </a:xfrm>
          <a:prstGeom prst="rect">
            <a:avLst/>
          </a:prstGeom>
          <a:noFill/>
          <a:ln w="9525">
            <a:noFill/>
            <a:miter lim="800000"/>
            <a:headEnd/>
            <a:tailEnd/>
          </a:ln>
        </p:spPr>
        <p:txBody>
          <a:bodyPr>
            <a:spAutoFit/>
          </a:bodyPr>
          <a:lstStyle/>
          <a:p>
            <a:r>
              <a:rPr kumimoji="0" lang="zh-CN" altLang="en-US" b="1">
                <a:latin typeface="宋体" pitchFamily="2" charset="-122"/>
              </a:rPr>
              <a:t>若</a:t>
            </a:r>
            <a:endParaRPr kumimoji="0" lang="zh-CN" altLang="en-US" sz="1800">
              <a:latin typeface="宋体" pitchFamily="2" charset="-122"/>
            </a:endParaRPr>
          </a:p>
        </p:txBody>
      </p:sp>
      <p:graphicFrame>
        <p:nvGraphicFramePr>
          <p:cNvPr id="207875" name="Object 3"/>
          <p:cNvGraphicFramePr>
            <a:graphicFrameLocks noChangeAspect="1"/>
          </p:cNvGraphicFramePr>
          <p:nvPr/>
        </p:nvGraphicFramePr>
        <p:xfrm>
          <a:off x="1285875" y="638175"/>
          <a:ext cx="1443038" cy="388938"/>
        </p:xfrm>
        <a:graphic>
          <a:graphicData uri="http://schemas.openxmlformats.org/presentationml/2006/ole">
            <p:oleObj spid="_x0000_s34818" name="公式" r:id="rId3" imgW="799920" imgH="215640" progId="Equation.3">
              <p:embed/>
            </p:oleObj>
          </a:graphicData>
        </a:graphic>
      </p:graphicFrame>
      <p:graphicFrame>
        <p:nvGraphicFramePr>
          <p:cNvPr id="207876" name="Object 4"/>
          <p:cNvGraphicFramePr>
            <a:graphicFrameLocks/>
          </p:cNvGraphicFramePr>
          <p:nvPr/>
        </p:nvGraphicFramePr>
        <p:xfrm>
          <a:off x="1644650" y="1898650"/>
          <a:ext cx="2235200" cy="388938"/>
        </p:xfrm>
        <a:graphic>
          <a:graphicData uri="http://schemas.openxmlformats.org/presentationml/2006/ole">
            <p:oleObj spid="_x0000_s34819" name="公式" r:id="rId4" imgW="1244520" imgH="215640" progId="Equation.3">
              <p:embed/>
            </p:oleObj>
          </a:graphicData>
        </a:graphic>
      </p:graphicFrame>
      <p:graphicFrame>
        <p:nvGraphicFramePr>
          <p:cNvPr id="207877" name="Object 5"/>
          <p:cNvGraphicFramePr>
            <a:graphicFrameLocks noChangeAspect="1"/>
          </p:cNvGraphicFramePr>
          <p:nvPr/>
        </p:nvGraphicFramePr>
        <p:xfrm>
          <a:off x="1465263" y="1223963"/>
          <a:ext cx="2714625" cy="409575"/>
        </p:xfrm>
        <a:graphic>
          <a:graphicData uri="http://schemas.openxmlformats.org/presentationml/2006/ole">
            <p:oleObj spid="_x0000_s34820" name="公式" r:id="rId5" imgW="1511280" imgH="228600" progId="Equation.3">
              <p:embed/>
            </p:oleObj>
          </a:graphicData>
        </a:graphic>
      </p:graphicFrame>
      <p:sp>
        <p:nvSpPr>
          <p:cNvPr id="207878" name="Rectangle 6"/>
          <p:cNvSpPr>
            <a:spLocks noChangeArrowheads="1"/>
          </p:cNvSpPr>
          <p:nvPr/>
        </p:nvSpPr>
        <p:spPr bwMode="auto">
          <a:xfrm>
            <a:off x="4930775" y="1223963"/>
            <a:ext cx="1416050" cy="457200"/>
          </a:xfrm>
          <a:prstGeom prst="rect">
            <a:avLst/>
          </a:prstGeom>
          <a:noFill/>
          <a:ln w="9525">
            <a:noFill/>
            <a:miter lim="800000"/>
            <a:headEnd/>
            <a:tailEnd/>
          </a:ln>
        </p:spPr>
        <p:txBody>
          <a:bodyPr>
            <a:spAutoFit/>
          </a:bodyPr>
          <a:lstStyle/>
          <a:p>
            <a:pPr algn="ctr"/>
            <a:r>
              <a:rPr kumimoji="0" lang="zh-CN" altLang="en-US" b="1">
                <a:solidFill>
                  <a:srgbClr val="FF6600"/>
                </a:solidFill>
                <a:latin typeface="宋体" pitchFamily="2" charset="-122"/>
              </a:rPr>
              <a:t>干涉相长</a:t>
            </a:r>
            <a:endParaRPr kumimoji="0" lang="zh-CN" altLang="en-US" sz="1800">
              <a:solidFill>
                <a:srgbClr val="FF6600"/>
              </a:solidFill>
              <a:latin typeface="宋体" pitchFamily="2" charset="-122"/>
            </a:endParaRPr>
          </a:p>
        </p:txBody>
      </p:sp>
      <p:sp>
        <p:nvSpPr>
          <p:cNvPr id="207879" name="Rectangle 7"/>
          <p:cNvSpPr>
            <a:spLocks noChangeArrowheads="1"/>
          </p:cNvSpPr>
          <p:nvPr/>
        </p:nvSpPr>
        <p:spPr bwMode="auto">
          <a:xfrm>
            <a:off x="4930775" y="1854200"/>
            <a:ext cx="1595438" cy="457200"/>
          </a:xfrm>
          <a:prstGeom prst="rect">
            <a:avLst/>
          </a:prstGeom>
          <a:noFill/>
          <a:ln w="9525">
            <a:noFill/>
            <a:miter lim="800000"/>
            <a:headEnd/>
            <a:tailEnd/>
          </a:ln>
        </p:spPr>
        <p:txBody>
          <a:bodyPr>
            <a:spAutoFit/>
          </a:bodyPr>
          <a:lstStyle/>
          <a:p>
            <a:pPr algn="ctr"/>
            <a:r>
              <a:rPr kumimoji="0" lang="zh-CN" altLang="en-US" b="1">
                <a:solidFill>
                  <a:srgbClr val="FF6600"/>
                </a:solidFill>
                <a:latin typeface="楷体_GB2312" pitchFamily="49" charset="-122"/>
              </a:rPr>
              <a:t>干涉相消</a:t>
            </a:r>
            <a:endParaRPr kumimoji="0" lang="zh-CN" altLang="en-US" sz="1800">
              <a:solidFill>
                <a:srgbClr val="FF6600"/>
              </a:solidFill>
            </a:endParaRPr>
          </a:p>
        </p:txBody>
      </p:sp>
      <p:sp>
        <p:nvSpPr>
          <p:cNvPr id="207880" name="Text Box 8"/>
          <p:cNvSpPr txBox="1">
            <a:spLocks noChangeArrowheads="1"/>
          </p:cNvSpPr>
          <p:nvPr/>
        </p:nvSpPr>
        <p:spPr bwMode="auto">
          <a:xfrm>
            <a:off x="206375" y="2663825"/>
            <a:ext cx="8550275" cy="1406525"/>
          </a:xfrm>
          <a:prstGeom prst="rect">
            <a:avLst/>
          </a:prstGeom>
          <a:noFill/>
          <a:ln w="15875">
            <a:noFill/>
            <a:miter lim="800000"/>
            <a:headEnd/>
            <a:tailEnd/>
          </a:ln>
        </p:spPr>
        <p:txBody>
          <a:bodyPr>
            <a:spAutoFit/>
          </a:bodyPr>
          <a:lstStyle/>
          <a:p>
            <a:pPr>
              <a:lnSpc>
                <a:spcPct val="120000"/>
              </a:lnSpc>
            </a:pPr>
            <a:r>
              <a:rPr kumimoji="0" lang="en-US" altLang="zh-CN" b="1">
                <a:latin typeface="楷体_GB2312" pitchFamily="49" charset="-122"/>
              </a:rPr>
              <a:t>    </a:t>
            </a:r>
            <a:r>
              <a:rPr kumimoji="0" lang="zh-CN" altLang="en-US" b="1">
                <a:latin typeface="楷体_GB2312" pitchFamily="49" charset="-122"/>
                <a:ea typeface="楷体_GB2312" pitchFamily="49" charset="-122"/>
              </a:rPr>
              <a:t>从能量上看，当两相干波发生干涉时，在两波交叠的区，合成波在空间各处的强度</a:t>
            </a:r>
            <a:r>
              <a:rPr kumimoji="0" lang="zh-CN" altLang="en-US" b="1">
                <a:solidFill>
                  <a:srgbClr val="FF6600"/>
                </a:solidFill>
                <a:latin typeface="楷体_GB2312" pitchFamily="49" charset="-122"/>
                <a:ea typeface="楷体_GB2312" pitchFamily="49" charset="-122"/>
              </a:rPr>
              <a:t>并不等于两个分波强度之和</a:t>
            </a:r>
            <a:r>
              <a:rPr kumimoji="0" lang="zh-CN" altLang="en-US" b="1">
                <a:latin typeface="楷体_GB2312" pitchFamily="49" charset="-122"/>
                <a:ea typeface="楷体_GB2312" pitchFamily="49" charset="-122"/>
              </a:rPr>
              <a:t>，而是发生重新分布。</a:t>
            </a:r>
            <a:endParaRPr kumimoji="0" lang="zh-CN" altLang="en-US">
              <a:ea typeface="楷体_GB2312" pitchFamily="49" charset="-122"/>
            </a:endParaRPr>
          </a:p>
        </p:txBody>
      </p:sp>
      <p:sp>
        <p:nvSpPr>
          <p:cNvPr id="207881" name="Text Box 9"/>
          <p:cNvSpPr txBox="1">
            <a:spLocks noChangeArrowheads="1"/>
          </p:cNvSpPr>
          <p:nvPr/>
        </p:nvSpPr>
        <p:spPr bwMode="auto">
          <a:xfrm>
            <a:off x="250825" y="4260850"/>
            <a:ext cx="8461375" cy="968375"/>
          </a:xfrm>
          <a:prstGeom prst="rect">
            <a:avLst/>
          </a:prstGeom>
          <a:noFill/>
          <a:ln w="15875">
            <a:noFill/>
            <a:miter lim="800000"/>
            <a:headEnd/>
            <a:tailEnd/>
          </a:ln>
        </p:spPr>
        <p:txBody>
          <a:bodyPr>
            <a:spAutoFit/>
          </a:bodyPr>
          <a:lstStyle/>
          <a:p>
            <a:pPr>
              <a:lnSpc>
                <a:spcPct val="120000"/>
              </a:lnSpc>
            </a:pPr>
            <a:r>
              <a:rPr kumimoji="0" lang="en-US" altLang="zh-CN" b="1">
                <a:latin typeface="楷体_GB2312" pitchFamily="49" charset="-122"/>
              </a:rPr>
              <a:t>    </a:t>
            </a:r>
            <a:r>
              <a:rPr kumimoji="0" lang="zh-CN" altLang="en-US" b="1">
                <a:latin typeface="楷体_GB2312" pitchFamily="49" charset="-122"/>
                <a:ea typeface="楷体_GB2312" pitchFamily="49" charset="-122"/>
              </a:rPr>
              <a:t>这种新的强度分布是时间上稳定的、空间上强弱相间具有周期性的一种分布。</a:t>
            </a:r>
            <a:endParaRPr kumimoji="0" lang="zh-CN" altLang="en-US">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7874"/>
                                        </p:tgtEl>
                                        <p:attrNameLst>
                                          <p:attrName>style.visibility</p:attrName>
                                        </p:attrNameLst>
                                      </p:cBhvr>
                                      <p:to>
                                        <p:strVal val="visible"/>
                                      </p:to>
                                    </p:set>
                                    <p:animEffect transition="in" filter="wipe(left)">
                                      <p:cBhvr>
                                        <p:cTn id="7" dur="500"/>
                                        <p:tgtEl>
                                          <p:spTgt spid="2078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7875"/>
                                        </p:tgtEl>
                                        <p:attrNameLst>
                                          <p:attrName>style.visibility</p:attrName>
                                        </p:attrNameLst>
                                      </p:cBhvr>
                                      <p:to>
                                        <p:strVal val="visible"/>
                                      </p:to>
                                    </p:set>
                                    <p:animEffect transition="in" filter="wipe(left)">
                                      <p:cBhvr>
                                        <p:cTn id="12" dur="500"/>
                                        <p:tgtEl>
                                          <p:spTgt spid="2078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7877"/>
                                        </p:tgtEl>
                                        <p:attrNameLst>
                                          <p:attrName>style.visibility</p:attrName>
                                        </p:attrNameLst>
                                      </p:cBhvr>
                                      <p:to>
                                        <p:strVal val="visible"/>
                                      </p:to>
                                    </p:set>
                                    <p:animEffect transition="in" filter="wipe(left)">
                                      <p:cBhvr>
                                        <p:cTn id="17" dur="500"/>
                                        <p:tgtEl>
                                          <p:spTgt spid="20787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7878"/>
                                        </p:tgtEl>
                                        <p:attrNameLst>
                                          <p:attrName>style.visibility</p:attrName>
                                        </p:attrNameLst>
                                      </p:cBhvr>
                                      <p:to>
                                        <p:strVal val="visible"/>
                                      </p:to>
                                    </p:set>
                                    <p:animEffect transition="in" filter="wipe(left)">
                                      <p:cBhvr>
                                        <p:cTn id="22" dur="500"/>
                                        <p:tgtEl>
                                          <p:spTgt spid="20787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7876"/>
                                        </p:tgtEl>
                                        <p:attrNameLst>
                                          <p:attrName>style.visibility</p:attrName>
                                        </p:attrNameLst>
                                      </p:cBhvr>
                                      <p:to>
                                        <p:strVal val="visible"/>
                                      </p:to>
                                    </p:set>
                                    <p:animEffect transition="in" filter="wipe(left)">
                                      <p:cBhvr>
                                        <p:cTn id="27" dur="500"/>
                                        <p:tgtEl>
                                          <p:spTgt spid="20787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7879"/>
                                        </p:tgtEl>
                                        <p:attrNameLst>
                                          <p:attrName>style.visibility</p:attrName>
                                        </p:attrNameLst>
                                      </p:cBhvr>
                                      <p:to>
                                        <p:strVal val="visible"/>
                                      </p:to>
                                    </p:set>
                                    <p:animEffect transition="in" filter="wipe(left)">
                                      <p:cBhvr>
                                        <p:cTn id="32" dur="500"/>
                                        <p:tgtEl>
                                          <p:spTgt spid="20787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7880"/>
                                        </p:tgtEl>
                                        <p:attrNameLst>
                                          <p:attrName>style.visibility</p:attrName>
                                        </p:attrNameLst>
                                      </p:cBhvr>
                                      <p:to>
                                        <p:strVal val="visible"/>
                                      </p:to>
                                    </p:set>
                                    <p:animEffect transition="in" filter="wipe(left)">
                                      <p:cBhvr>
                                        <p:cTn id="37" dur="500"/>
                                        <p:tgtEl>
                                          <p:spTgt spid="20788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7881"/>
                                        </p:tgtEl>
                                        <p:attrNameLst>
                                          <p:attrName>style.visibility</p:attrName>
                                        </p:attrNameLst>
                                      </p:cBhvr>
                                      <p:to>
                                        <p:strVal val="visible"/>
                                      </p:to>
                                    </p:set>
                                    <p:animEffect transition="in" filter="wipe(left)">
                                      <p:cBhvr>
                                        <p:cTn id="42" dur="500"/>
                                        <p:tgtEl>
                                          <p:spTgt spid="2078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4" grpId="0"/>
      <p:bldP spid="207878" grpId="0" autoUpdateAnimBg="0"/>
      <p:bldP spid="207879" grpId="0" autoUpdateAnimBg="0"/>
      <p:bldP spid="207880" grpId="0"/>
      <p:bldP spid="20788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Text Box 2"/>
          <p:cNvSpPr txBox="1">
            <a:spLocks noChangeArrowheads="1"/>
          </p:cNvSpPr>
          <p:nvPr/>
        </p:nvSpPr>
        <p:spPr bwMode="auto">
          <a:xfrm>
            <a:off x="107950" y="458788"/>
            <a:ext cx="490538" cy="530225"/>
          </a:xfrm>
          <a:prstGeom prst="rect">
            <a:avLst/>
          </a:prstGeom>
          <a:noFill/>
          <a:ln w="9525">
            <a:noFill/>
            <a:miter lim="800000"/>
            <a:headEnd/>
            <a:tailEnd/>
          </a:ln>
        </p:spPr>
        <p:txBody>
          <a:bodyPr wrap="none" anchor="ctr">
            <a:spAutoFit/>
          </a:bodyPr>
          <a:lstStyle/>
          <a:p>
            <a:pPr algn="ctr">
              <a:lnSpc>
                <a:spcPct val="120000"/>
              </a:lnSpc>
            </a:pPr>
            <a:r>
              <a:rPr kumimoji="0" lang="zh-CN" altLang="en-US" b="1">
                <a:solidFill>
                  <a:srgbClr val="FF0000"/>
                </a:solidFill>
                <a:latin typeface="宋体" pitchFamily="2" charset="-122"/>
              </a:rPr>
              <a:t>例</a:t>
            </a:r>
            <a:endParaRPr kumimoji="0" lang="zh-CN" altLang="en-US" sz="1800">
              <a:solidFill>
                <a:srgbClr val="FF0000"/>
              </a:solidFill>
            </a:endParaRPr>
          </a:p>
        </p:txBody>
      </p:sp>
      <p:sp>
        <p:nvSpPr>
          <p:cNvPr id="212995" name="Text Box 3"/>
          <p:cNvSpPr txBox="1">
            <a:spLocks noChangeArrowheads="1"/>
          </p:cNvSpPr>
          <p:nvPr/>
        </p:nvSpPr>
        <p:spPr bwMode="auto">
          <a:xfrm>
            <a:off x="611188" y="504825"/>
            <a:ext cx="8154987" cy="1406525"/>
          </a:xfrm>
          <a:prstGeom prst="rect">
            <a:avLst/>
          </a:prstGeom>
          <a:noFill/>
          <a:ln w="9525">
            <a:noFill/>
            <a:miter lim="800000"/>
            <a:headEnd/>
            <a:tailEnd/>
          </a:ln>
        </p:spPr>
        <p:txBody>
          <a:bodyPr>
            <a:spAutoFit/>
          </a:bodyPr>
          <a:lstStyle/>
          <a:p>
            <a:pPr>
              <a:lnSpc>
                <a:spcPct val="120000"/>
              </a:lnSpc>
            </a:pPr>
            <a:r>
              <a:rPr lang="en-US" altLang="zh-CN" b="1" i="1">
                <a:solidFill>
                  <a:srgbClr val="FF6600"/>
                </a:solidFill>
              </a:rPr>
              <a:t>A </a:t>
            </a:r>
            <a:r>
              <a:rPr lang="zh-CN" altLang="en-US" b="1"/>
              <a:t>和 </a:t>
            </a:r>
            <a:r>
              <a:rPr lang="en-US" altLang="zh-CN" b="1" i="1">
                <a:solidFill>
                  <a:srgbClr val="FF6600"/>
                </a:solidFill>
              </a:rPr>
              <a:t>B </a:t>
            </a:r>
            <a:r>
              <a:rPr lang="zh-CN" altLang="en-US" b="1"/>
              <a:t>是两个相位相同的相干波源，相距 </a:t>
            </a:r>
            <a:r>
              <a:rPr lang="en-US" altLang="zh-CN" b="1" i="1">
                <a:solidFill>
                  <a:srgbClr val="FF6600"/>
                </a:solidFill>
              </a:rPr>
              <a:t>d</a:t>
            </a:r>
            <a:r>
              <a:rPr lang="en-US" altLang="zh-CN" b="1">
                <a:solidFill>
                  <a:srgbClr val="FF6600"/>
                </a:solidFill>
              </a:rPr>
              <a:t> =</a:t>
            </a:r>
            <a:r>
              <a:rPr lang="en-US" altLang="zh-CN" b="1"/>
              <a:t> </a:t>
            </a:r>
            <a:r>
              <a:rPr lang="en-US" altLang="zh-CN" b="1">
                <a:solidFill>
                  <a:srgbClr val="FF6600"/>
                </a:solidFill>
              </a:rPr>
              <a:t>0.10 m </a:t>
            </a:r>
            <a:r>
              <a:rPr lang="zh-CN" altLang="en-US" b="1"/>
              <a:t>，同时以</a:t>
            </a:r>
            <a:r>
              <a:rPr lang="en-US" altLang="zh-CN" b="1">
                <a:solidFill>
                  <a:srgbClr val="FF6600"/>
                </a:solidFill>
                <a:cs typeface="Times New Roman" pitchFamily="18" charset="0"/>
              </a:rPr>
              <a:t>30 Hz </a:t>
            </a:r>
            <a:r>
              <a:rPr lang="zh-CN" altLang="en-US" b="1"/>
              <a:t>的频率发出波动 </a:t>
            </a:r>
            <a:r>
              <a:rPr lang="zh-CN" altLang="en-US" b="1">
                <a:cs typeface="Times New Roman" pitchFamily="18" charset="0"/>
              </a:rPr>
              <a:t>，波速为 </a:t>
            </a:r>
            <a:r>
              <a:rPr lang="en-US" altLang="zh-CN" b="1" i="1">
                <a:solidFill>
                  <a:srgbClr val="FF6600"/>
                </a:solidFill>
                <a:cs typeface="Times New Roman" pitchFamily="18" charset="0"/>
              </a:rPr>
              <a:t>u </a:t>
            </a:r>
            <a:r>
              <a:rPr lang="en-US" altLang="zh-CN" b="1">
                <a:solidFill>
                  <a:srgbClr val="FF6600"/>
                </a:solidFill>
                <a:cs typeface="Times New Roman" pitchFamily="18" charset="0"/>
              </a:rPr>
              <a:t>= 0.5 m/s </a:t>
            </a:r>
            <a:r>
              <a:rPr lang="zh-CN" altLang="en-US" b="1">
                <a:cs typeface="Times New Roman" pitchFamily="18" charset="0"/>
              </a:rPr>
              <a:t>。</a:t>
            </a:r>
            <a:r>
              <a:rPr lang="zh-CN" altLang="en-US" b="1" i="1">
                <a:solidFill>
                  <a:srgbClr val="FF6600"/>
                </a:solidFill>
                <a:cs typeface="Times New Roman" pitchFamily="18" charset="0"/>
              </a:rPr>
              <a:t> </a:t>
            </a:r>
            <a:r>
              <a:rPr lang="en-US" altLang="zh-CN" b="1" i="1">
                <a:solidFill>
                  <a:srgbClr val="FF6600"/>
                </a:solidFill>
                <a:cs typeface="Times New Roman" pitchFamily="18" charset="0"/>
              </a:rPr>
              <a:t>P</a:t>
            </a:r>
            <a:r>
              <a:rPr lang="en-US" altLang="zh-CN" b="1">
                <a:cs typeface="Times New Roman" pitchFamily="18" charset="0"/>
              </a:rPr>
              <a:t> </a:t>
            </a:r>
            <a:r>
              <a:rPr lang="zh-CN" altLang="en-US" b="1">
                <a:cs typeface="Times New Roman" pitchFamily="18" charset="0"/>
              </a:rPr>
              <a:t>点位于与 </a:t>
            </a:r>
            <a:r>
              <a:rPr lang="en-US" altLang="zh-CN" b="1" i="1">
                <a:solidFill>
                  <a:srgbClr val="FF6600"/>
                </a:solidFill>
                <a:cs typeface="Times New Roman" pitchFamily="18" charset="0"/>
              </a:rPr>
              <a:t>AB </a:t>
            </a:r>
            <a:r>
              <a:rPr lang="zh-CN" altLang="en-US" b="1">
                <a:cs typeface="Times New Roman" pitchFamily="18" charset="0"/>
              </a:rPr>
              <a:t>成</a:t>
            </a:r>
            <a:r>
              <a:rPr lang="en-US" altLang="zh-CN" b="1">
                <a:solidFill>
                  <a:srgbClr val="FF6600"/>
                </a:solidFill>
                <a:cs typeface="Times New Roman" pitchFamily="18" charset="0"/>
              </a:rPr>
              <a:t>30º </a:t>
            </a:r>
            <a:r>
              <a:rPr lang="zh-CN" altLang="en-US" b="1">
                <a:cs typeface="Times New Roman" pitchFamily="18" charset="0"/>
              </a:rPr>
              <a:t>角、与 </a:t>
            </a:r>
            <a:r>
              <a:rPr lang="en-US" altLang="zh-CN" b="1" i="1">
                <a:solidFill>
                  <a:srgbClr val="FF6600"/>
                </a:solidFill>
                <a:cs typeface="Times New Roman" pitchFamily="18" charset="0"/>
              </a:rPr>
              <a:t>A </a:t>
            </a:r>
            <a:r>
              <a:rPr lang="zh-CN" altLang="en-US" b="1">
                <a:cs typeface="Times New Roman" pitchFamily="18" charset="0"/>
              </a:rPr>
              <a:t>相距为 </a:t>
            </a:r>
            <a:r>
              <a:rPr lang="en-US" altLang="zh-CN" b="1">
                <a:solidFill>
                  <a:srgbClr val="FF6600"/>
                </a:solidFill>
                <a:cs typeface="Times New Roman" pitchFamily="18" charset="0"/>
              </a:rPr>
              <a:t>4 m</a:t>
            </a:r>
            <a:r>
              <a:rPr lang="en-US" altLang="zh-CN" b="1">
                <a:cs typeface="Times New Roman" pitchFamily="18" charset="0"/>
              </a:rPr>
              <a:t> </a:t>
            </a:r>
            <a:r>
              <a:rPr lang="zh-CN" altLang="en-US" b="1">
                <a:cs typeface="Times New Roman" pitchFamily="18" charset="0"/>
              </a:rPr>
              <a:t>处，如图所示。</a:t>
            </a:r>
          </a:p>
        </p:txBody>
      </p:sp>
      <p:sp>
        <p:nvSpPr>
          <p:cNvPr id="212996" name="Text Box 4"/>
          <p:cNvSpPr txBox="1">
            <a:spLocks noChangeArrowheads="1"/>
          </p:cNvSpPr>
          <p:nvPr/>
        </p:nvSpPr>
        <p:spPr bwMode="auto">
          <a:xfrm>
            <a:off x="107950" y="1890713"/>
            <a:ext cx="581025" cy="530225"/>
          </a:xfrm>
          <a:prstGeom prst="rect">
            <a:avLst/>
          </a:prstGeom>
          <a:noFill/>
          <a:ln w="9525">
            <a:noFill/>
            <a:miter lim="800000"/>
            <a:headEnd/>
            <a:tailEnd/>
          </a:ln>
        </p:spPr>
        <p:txBody>
          <a:bodyPr anchor="ctr">
            <a:spAutoFit/>
          </a:bodyPr>
          <a:lstStyle/>
          <a:p>
            <a:pPr algn="ctr">
              <a:lnSpc>
                <a:spcPct val="120000"/>
              </a:lnSpc>
            </a:pPr>
            <a:r>
              <a:rPr kumimoji="0" lang="zh-CN" altLang="en-US" b="1">
                <a:solidFill>
                  <a:srgbClr val="FF0000"/>
                </a:solidFill>
                <a:latin typeface="宋体" pitchFamily="2" charset="-122"/>
              </a:rPr>
              <a:t>求</a:t>
            </a:r>
            <a:endParaRPr kumimoji="0" lang="zh-CN" altLang="en-US" sz="1800">
              <a:solidFill>
                <a:srgbClr val="FF0000"/>
              </a:solidFill>
            </a:endParaRPr>
          </a:p>
        </p:txBody>
      </p:sp>
      <p:sp>
        <p:nvSpPr>
          <p:cNvPr id="212997" name="Text Box 5"/>
          <p:cNvSpPr txBox="1">
            <a:spLocks noChangeArrowheads="1"/>
          </p:cNvSpPr>
          <p:nvPr/>
        </p:nvSpPr>
        <p:spPr bwMode="auto">
          <a:xfrm>
            <a:off x="593725" y="1933575"/>
            <a:ext cx="8154988" cy="530225"/>
          </a:xfrm>
          <a:prstGeom prst="rect">
            <a:avLst/>
          </a:prstGeom>
          <a:noFill/>
          <a:ln w="9525">
            <a:noFill/>
            <a:miter lim="800000"/>
            <a:headEnd/>
            <a:tailEnd/>
          </a:ln>
        </p:spPr>
        <p:txBody>
          <a:bodyPr>
            <a:spAutoFit/>
          </a:bodyPr>
          <a:lstStyle/>
          <a:p>
            <a:pPr>
              <a:lnSpc>
                <a:spcPct val="120000"/>
              </a:lnSpc>
            </a:pPr>
            <a:r>
              <a:rPr lang="zh-CN" altLang="en-US" b="1">
                <a:cs typeface="Times New Roman" pitchFamily="18" charset="0"/>
              </a:rPr>
              <a:t>两波通过</a:t>
            </a:r>
            <a:r>
              <a:rPr lang="zh-CN" altLang="en-US" b="1" i="1">
                <a:solidFill>
                  <a:srgbClr val="FF6600"/>
                </a:solidFill>
                <a:cs typeface="Times New Roman" pitchFamily="18" charset="0"/>
              </a:rPr>
              <a:t> </a:t>
            </a:r>
            <a:r>
              <a:rPr lang="en-US" altLang="zh-CN" b="1" i="1">
                <a:solidFill>
                  <a:srgbClr val="FF6600"/>
                </a:solidFill>
                <a:cs typeface="Times New Roman" pitchFamily="18" charset="0"/>
              </a:rPr>
              <a:t>P</a:t>
            </a:r>
            <a:r>
              <a:rPr lang="en-US" altLang="zh-CN" b="1">
                <a:cs typeface="Times New Roman" pitchFamily="18" charset="0"/>
              </a:rPr>
              <a:t> </a:t>
            </a:r>
            <a:r>
              <a:rPr lang="zh-CN" altLang="en-US" b="1">
                <a:cs typeface="Times New Roman" pitchFamily="18" charset="0"/>
              </a:rPr>
              <a:t>点的相位差。</a:t>
            </a:r>
          </a:p>
        </p:txBody>
      </p:sp>
      <p:grpSp>
        <p:nvGrpSpPr>
          <p:cNvPr id="2" name="Group 6"/>
          <p:cNvGrpSpPr>
            <a:grpSpLocks/>
          </p:cNvGrpSpPr>
          <p:nvPr/>
        </p:nvGrpSpPr>
        <p:grpSpPr bwMode="auto">
          <a:xfrm>
            <a:off x="6084888" y="1989138"/>
            <a:ext cx="2681287" cy="2957512"/>
            <a:chOff x="3913" y="1593"/>
            <a:chExt cx="1689" cy="1863"/>
          </a:xfrm>
        </p:grpSpPr>
        <p:sp>
          <p:nvSpPr>
            <p:cNvPr id="35857" name="Line 7"/>
            <p:cNvSpPr>
              <a:spLocks noChangeAspect="1" noChangeShapeType="1"/>
            </p:cNvSpPr>
            <p:nvPr/>
          </p:nvSpPr>
          <p:spPr bwMode="auto">
            <a:xfrm>
              <a:off x="4182" y="3128"/>
              <a:ext cx="595" cy="0"/>
            </a:xfrm>
            <a:prstGeom prst="line">
              <a:avLst/>
            </a:prstGeom>
            <a:noFill/>
            <a:ln w="38100">
              <a:solidFill>
                <a:srgbClr val="0000FF"/>
              </a:solidFill>
              <a:round/>
              <a:headEnd type="oval" w="med" len="med"/>
              <a:tailEnd type="oval" w="med" len="med"/>
            </a:ln>
          </p:spPr>
          <p:txBody>
            <a:bodyPr wrap="none" anchor="ctr"/>
            <a:lstStyle/>
            <a:p>
              <a:endParaRPr lang="zh-CN" altLang="en-US"/>
            </a:p>
          </p:txBody>
        </p:sp>
        <p:sp>
          <p:nvSpPr>
            <p:cNvPr id="35858" name="Line 8"/>
            <p:cNvSpPr>
              <a:spLocks noChangeAspect="1" noChangeShapeType="1"/>
            </p:cNvSpPr>
            <p:nvPr/>
          </p:nvSpPr>
          <p:spPr bwMode="auto">
            <a:xfrm flipV="1">
              <a:off x="4182" y="1823"/>
              <a:ext cx="1190" cy="1305"/>
            </a:xfrm>
            <a:prstGeom prst="line">
              <a:avLst/>
            </a:prstGeom>
            <a:noFill/>
            <a:ln w="38100">
              <a:solidFill>
                <a:srgbClr val="0000FF"/>
              </a:solidFill>
              <a:round/>
              <a:headEnd type="oval" w="med" len="med"/>
              <a:tailEnd type="oval" w="med" len="med"/>
            </a:ln>
          </p:spPr>
          <p:txBody>
            <a:bodyPr wrap="none" anchor="ctr"/>
            <a:lstStyle/>
            <a:p>
              <a:endParaRPr lang="zh-CN" altLang="en-US"/>
            </a:p>
          </p:txBody>
        </p:sp>
        <p:sp>
          <p:nvSpPr>
            <p:cNvPr id="35859" name="Line 9"/>
            <p:cNvSpPr>
              <a:spLocks noChangeAspect="1" noChangeShapeType="1"/>
            </p:cNvSpPr>
            <p:nvPr/>
          </p:nvSpPr>
          <p:spPr bwMode="auto">
            <a:xfrm flipH="1">
              <a:off x="4777" y="1823"/>
              <a:ext cx="595" cy="1305"/>
            </a:xfrm>
            <a:prstGeom prst="line">
              <a:avLst/>
            </a:prstGeom>
            <a:noFill/>
            <a:ln w="38100">
              <a:solidFill>
                <a:srgbClr val="0000FF"/>
              </a:solidFill>
              <a:round/>
              <a:headEnd/>
              <a:tailEnd/>
            </a:ln>
          </p:spPr>
          <p:txBody>
            <a:bodyPr wrap="none" anchor="ctr"/>
            <a:lstStyle/>
            <a:p>
              <a:endParaRPr lang="zh-CN" altLang="en-US"/>
            </a:p>
          </p:txBody>
        </p:sp>
        <p:sp>
          <p:nvSpPr>
            <p:cNvPr id="35860" name="Text Box 10"/>
            <p:cNvSpPr txBox="1">
              <a:spLocks noChangeAspect="1" noChangeArrowheads="1"/>
            </p:cNvSpPr>
            <p:nvPr/>
          </p:nvSpPr>
          <p:spPr bwMode="auto">
            <a:xfrm>
              <a:off x="4335" y="2911"/>
              <a:ext cx="388" cy="231"/>
            </a:xfrm>
            <a:prstGeom prst="rect">
              <a:avLst/>
            </a:prstGeom>
            <a:noFill/>
            <a:ln w="9525">
              <a:noFill/>
              <a:miter lim="800000"/>
              <a:headEnd/>
              <a:tailEnd/>
            </a:ln>
          </p:spPr>
          <p:txBody>
            <a:bodyPr>
              <a:spAutoFit/>
            </a:bodyPr>
            <a:lstStyle/>
            <a:p>
              <a:pPr algn="ctr">
                <a:spcBef>
                  <a:spcPct val="50000"/>
                </a:spcBef>
              </a:pPr>
              <a:r>
                <a:rPr lang="en-US" altLang="zh-CN" sz="1800" b="1">
                  <a:solidFill>
                    <a:srgbClr val="008000"/>
                  </a:solidFill>
                </a:rPr>
                <a:t>30</a:t>
              </a:r>
              <a:r>
                <a:rPr lang="en-US" altLang="zh-CN" sz="1800" b="1" baseline="30000">
                  <a:solidFill>
                    <a:srgbClr val="008000"/>
                  </a:solidFill>
                </a:rPr>
                <a:t>0</a:t>
              </a:r>
              <a:endParaRPr lang="en-US" altLang="zh-CN" sz="1800" b="1">
                <a:solidFill>
                  <a:srgbClr val="008000"/>
                </a:solidFill>
              </a:endParaRPr>
            </a:p>
          </p:txBody>
        </p:sp>
        <p:sp>
          <p:nvSpPr>
            <p:cNvPr id="35861" name="Text Box 11"/>
            <p:cNvSpPr txBox="1">
              <a:spLocks noChangeAspect="1" noChangeArrowheads="1"/>
            </p:cNvSpPr>
            <p:nvPr/>
          </p:nvSpPr>
          <p:spPr bwMode="auto">
            <a:xfrm>
              <a:off x="3913" y="3013"/>
              <a:ext cx="269" cy="269"/>
            </a:xfrm>
            <a:prstGeom prst="rect">
              <a:avLst/>
            </a:prstGeom>
            <a:noFill/>
            <a:ln w="9525">
              <a:noFill/>
              <a:miter lim="800000"/>
              <a:headEnd/>
              <a:tailEnd/>
            </a:ln>
          </p:spPr>
          <p:txBody>
            <a:bodyPr>
              <a:spAutoFit/>
            </a:bodyPr>
            <a:lstStyle/>
            <a:p>
              <a:pPr algn="ctr">
                <a:spcBef>
                  <a:spcPct val="50000"/>
                </a:spcBef>
              </a:pPr>
              <a:r>
                <a:rPr lang="en-US" altLang="zh-CN" sz="2200" b="1" i="1">
                  <a:solidFill>
                    <a:srgbClr val="FF3300"/>
                  </a:solidFill>
                </a:rPr>
                <a:t>A</a:t>
              </a:r>
            </a:p>
          </p:txBody>
        </p:sp>
        <p:sp>
          <p:nvSpPr>
            <p:cNvPr id="35862" name="Text Box 12"/>
            <p:cNvSpPr txBox="1">
              <a:spLocks noChangeAspect="1" noChangeArrowheads="1"/>
            </p:cNvSpPr>
            <p:nvPr/>
          </p:nvSpPr>
          <p:spPr bwMode="auto">
            <a:xfrm>
              <a:off x="4777" y="3013"/>
              <a:ext cx="268" cy="269"/>
            </a:xfrm>
            <a:prstGeom prst="rect">
              <a:avLst/>
            </a:prstGeom>
            <a:noFill/>
            <a:ln w="9525">
              <a:noFill/>
              <a:miter lim="800000"/>
              <a:headEnd/>
              <a:tailEnd/>
            </a:ln>
          </p:spPr>
          <p:txBody>
            <a:bodyPr>
              <a:spAutoFit/>
            </a:bodyPr>
            <a:lstStyle/>
            <a:p>
              <a:pPr algn="ctr">
                <a:spcBef>
                  <a:spcPct val="50000"/>
                </a:spcBef>
              </a:pPr>
              <a:r>
                <a:rPr lang="en-US" altLang="zh-CN" sz="2200" b="1" i="1">
                  <a:solidFill>
                    <a:srgbClr val="FF3300"/>
                  </a:solidFill>
                </a:rPr>
                <a:t>B</a:t>
              </a:r>
            </a:p>
          </p:txBody>
        </p:sp>
        <p:sp>
          <p:nvSpPr>
            <p:cNvPr id="35863" name="Text Box 13"/>
            <p:cNvSpPr txBox="1">
              <a:spLocks noChangeAspect="1" noChangeArrowheads="1"/>
            </p:cNvSpPr>
            <p:nvPr/>
          </p:nvSpPr>
          <p:spPr bwMode="auto">
            <a:xfrm>
              <a:off x="5257" y="1593"/>
              <a:ext cx="345" cy="269"/>
            </a:xfrm>
            <a:prstGeom prst="rect">
              <a:avLst/>
            </a:prstGeom>
            <a:noFill/>
            <a:ln w="9525">
              <a:noFill/>
              <a:miter lim="800000"/>
              <a:headEnd/>
              <a:tailEnd/>
            </a:ln>
          </p:spPr>
          <p:txBody>
            <a:bodyPr>
              <a:spAutoFit/>
            </a:bodyPr>
            <a:lstStyle/>
            <a:p>
              <a:pPr algn="ctr">
                <a:spcBef>
                  <a:spcPct val="50000"/>
                </a:spcBef>
              </a:pPr>
              <a:r>
                <a:rPr lang="en-US" altLang="zh-CN" sz="2200" b="1" i="1">
                  <a:solidFill>
                    <a:srgbClr val="FF3300"/>
                  </a:solidFill>
                </a:rPr>
                <a:t>P</a:t>
              </a:r>
            </a:p>
          </p:txBody>
        </p:sp>
        <p:sp>
          <p:nvSpPr>
            <p:cNvPr id="35864" name="Line 14"/>
            <p:cNvSpPr>
              <a:spLocks noChangeAspect="1" noChangeShapeType="1"/>
            </p:cNvSpPr>
            <p:nvPr/>
          </p:nvSpPr>
          <p:spPr bwMode="auto">
            <a:xfrm>
              <a:off x="4182" y="3128"/>
              <a:ext cx="0" cy="269"/>
            </a:xfrm>
            <a:prstGeom prst="line">
              <a:avLst/>
            </a:prstGeom>
            <a:noFill/>
            <a:ln w="9525">
              <a:solidFill>
                <a:srgbClr val="FF00FF"/>
              </a:solidFill>
              <a:round/>
              <a:headEnd/>
              <a:tailEnd/>
            </a:ln>
          </p:spPr>
          <p:txBody>
            <a:bodyPr wrap="none" anchor="ctr"/>
            <a:lstStyle/>
            <a:p>
              <a:endParaRPr lang="zh-CN" altLang="en-US"/>
            </a:p>
          </p:txBody>
        </p:sp>
        <p:sp>
          <p:nvSpPr>
            <p:cNvPr id="35865" name="Line 15"/>
            <p:cNvSpPr>
              <a:spLocks noChangeAspect="1" noChangeShapeType="1"/>
            </p:cNvSpPr>
            <p:nvPr/>
          </p:nvSpPr>
          <p:spPr bwMode="auto">
            <a:xfrm>
              <a:off x="4777" y="3128"/>
              <a:ext cx="0" cy="269"/>
            </a:xfrm>
            <a:prstGeom prst="line">
              <a:avLst/>
            </a:prstGeom>
            <a:noFill/>
            <a:ln w="9525">
              <a:solidFill>
                <a:srgbClr val="FF00FF"/>
              </a:solidFill>
              <a:round/>
              <a:headEnd/>
              <a:tailEnd/>
            </a:ln>
          </p:spPr>
          <p:txBody>
            <a:bodyPr wrap="none" anchor="ctr"/>
            <a:lstStyle/>
            <a:p>
              <a:endParaRPr lang="zh-CN" altLang="en-US"/>
            </a:p>
          </p:txBody>
        </p:sp>
        <p:sp>
          <p:nvSpPr>
            <p:cNvPr id="35866" name="Line 16"/>
            <p:cNvSpPr>
              <a:spLocks noChangeAspect="1" noChangeShapeType="1"/>
            </p:cNvSpPr>
            <p:nvPr/>
          </p:nvSpPr>
          <p:spPr bwMode="auto">
            <a:xfrm flipH="1" flipV="1">
              <a:off x="4028" y="2975"/>
              <a:ext cx="154" cy="153"/>
            </a:xfrm>
            <a:prstGeom prst="line">
              <a:avLst/>
            </a:prstGeom>
            <a:noFill/>
            <a:ln w="9525">
              <a:solidFill>
                <a:srgbClr val="FF00FF"/>
              </a:solidFill>
              <a:round/>
              <a:headEnd/>
              <a:tailEnd/>
            </a:ln>
          </p:spPr>
          <p:txBody>
            <a:bodyPr wrap="none" anchor="ctr"/>
            <a:lstStyle/>
            <a:p>
              <a:endParaRPr lang="zh-CN" altLang="en-US"/>
            </a:p>
          </p:txBody>
        </p:sp>
        <p:sp>
          <p:nvSpPr>
            <p:cNvPr id="35867" name="Line 17"/>
            <p:cNvSpPr>
              <a:spLocks noChangeAspect="1" noChangeShapeType="1"/>
            </p:cNvSpPr>
            <p:nvPr/>
          </p:nvSpPr>
          <p:spPr bwMode="auto">
            <a:xfrm rot="-1151130">
              <a:off x="5218" y="1631"/>
              <a:ext cx="115" cy="231"/>
            </a:xfrm>
            <a:prstGeom prst="line">
              <a:avLst/>
            </a:prstGeom>
            <a:noFill/>
            <a:ln w="9525">
              <a:solidFill>
                <a:srgbClr val="FF00FF"/>
              </a:solidFill>
              <a:round/>
              <a:headEnd/>
              <a:tailEnd/>
            </a:ln>
          </p:spPr>
          <p:txBody>
            <a:bodyPr wrap="none" anchor="ctr"/>
            <a:lstStyle/>
            <a:p>
              <a:endParaRPr lang="zh-CN" altLang="en-US"/>
            </a:p>
          </p:txBody>
        </p:sp>
        <p:sp>
          <p:nvSpPr>
            <p:cNvPr id="35868" name="Line 18"/>
            <p:cNvSpPr>
              <a:spLocks noChangeAspect="1" noChangeShapeType="1"/>
            </p:cNvSpPr>
            <p:nvPr/>
          </p:nvSpPr>
          <p:spPr bwMode="auto">
            <a:xfrm flipH="1">
              <a:off x="4028" y="1708"/>
              <a:ext cx="1229" cy="1267"/>
            </a:xfrm>
            <a:prstGeom prst="line">
              <a:avLst/>
            </a:prstGeom>
            <a:noFill/>
            <a:ln w="9525">
              <a:solidFill>
                <a:srgbClr val="FF00FF"/>
              </a:solidFill>
              <a:prstDash val="sysDot"/>
              <a:round/>
              <a:headEnd type="triangle" w="sm" len="lg"/>
              <a:tailEnd type="triangle" w="sm" len="lg"/>
            </a:ln>
          </p:spPr>
          <p:txBody>
            <a:bodyPr wrap="none" anchor="ctr"/>
            <a:lstStyle/>
            <a:p>
              <a:endParaRPr lang="zh-CN" altLang="en-US"/>
            </a:p>
          </p:txBody>
        </p:sp>
        <p:sp>
          <p:nvSpPr>
            <p:cNvPr id="35869" name="Line 19"/>
            <p:cNvSpPr>
              <a:spLocks noChangeAspect="1" noChangeShapeType="1"/>
            </p:cNvSpPr>
            <p:nvPr/>
          </p:nvSpPr>
          <p:spPr bwMode="auto">
            <a:xfrm>
              <a:off x="4182" y="3243"/>
              <a:ext cx="595" cy="0"/>
            </a:xfrm>
            <a:prstGeom prst="line">
              <a:avLst/>
            </a:prstGeom>
            <a:noFill/>
            <a:ln w="9525">
              <a:solidFill>
                <a:srgbClr val="FF00FF"/>
              </a:solidFill>
              <a:prstDash val="sysDot"/>
              <a:round/>
              <a:headEnd type="triangle" w="sm" len="lg"/>
              <a:tailEnd type="triangle" w="sm" len="lg"/>
            </a:ln>
          </p:spPr>
          <p:txBody>
            <a:bodyPr wrap="none" anchor="ctr"/>
            <a:lstStyle/>
            <a:p>
              <a:endParaRPr lang="zh-CN" altLang="en-US"/>
            </a:p>
          </p:txBody>
        </p:sp>
        <p:sp>
          <p:nvSpPr>
            <p:cNvPr id="35870" name="Text Box 20"/>
            <p:cNvSpPr txBox="1">
              <a:spLocks noChangeAspect="1" noChangeArrowheads="1"/>
            </p:cNvSpPr>
            <p:nvPr/>
          </p:nvSpPr>
          <p:spPr bwMode="auto">
            <a:xfrm>
              <a:off x="4140" y="3206"/>
              <a:ext cx="691" cy="250"/>
            </a:xfrm>
            <a:prstGeom prst="rect">
              <a:avLst/>
            </a:prstGeom>
            <a:noFill/>
            <a:ln w="9525">
              <a:noFill/>
              <a:miter lim="800000"/>
              <a:headEnd/>
              <a:tailEnd/>
            </a:ln>
          </p:spPr>
          <p:txBody>
            <a:bodyPr>
              <a:spAutoFit/>
            </a:bodyPr>
            <a:lstStyle/>
            <a:p>
              <a:pPr algn="ctr">
                <a:spcBef>
                  <a:spcPct val="50000"/>
                </a:spcBef>
              </a:pPr>
              <a:r>
                <a:rPr lang="en-US" altLang="zh-CN" sz="2000" b="1">
                  <a:solidFill>
                    <a:srgbClr val="008000"/>
                  </a:solidFill>
                </a:rPr>
                <a:t>0.10 m</a:t>
              </a:r>
            </a:p>
          </p:txBody>
        </p:sp>
        <p:sp>
          <p:nvSpPr>
            <p:cNvPr id="35871" name="Text Box 21"/>
            <p:cNvSpPr txBox="1">
              <a:spLocks noChangeAspect="1" noChangeArrowheads="1"/>
            </p:cNvSpPr>
            <p:nvPr/>
          </p:nvSpPr>
          <p:spPr bwMode="auto">
            <a:xfrm>
              <a:off x="4282" y="2241"/>
              <a:ext cx="538" cy="250"/>
            </a:xfrm>
            <a:prstGeom prst="rect">
              <a:avLst/>
            </a:prstGeom>
            <a:noFill/>
            <a:ln w="9525">
              <a:noFill/>
              <a:miter lim="800000"/>
              <a:headEnd/>
              <a:tailEnd/>
            </a:ln>
          </p:spPr>
          <p:txBody>
            <a:bodyPr>
              <a:spAutoFit/>
            </a:bodyPr>
            <a:lstStyle/>
            <a:p>
              <a:pPr algn="ctr">
                <a:spcBef>
                  <a:spcPct val="50000"/>
                </a:spcBef>
              </a:pPr>
              <a:r>
                <a:rPr lang="en-US" altLang="zh-CN" sz="2000" b="1">
                  <a:solidFill>
                    <a:srgbClr val="008000"/>
                  </a:solidFill>
                </a:rPr>
                <a:t>4 m</a:t>
              </a:r>
            </a:p>
          </p:txBody>
        </p:sp>
        <p:sp>
          <p:nvSpPr>
            <p:cNvPr id="35872" name="Line 22"/>
            <p:cNvSpPr>
              <a:spLocks noChangeAspect="1" noChangeShapeType="1"/>
            </p:cNvSpPr>
            <p:nvPr/>
          </p:nvSpPr>
          <p:spPr bwMode="auto">
            <a:xfrm>
              <a:off x="4335" y="2975"/>
              <a:ext cx="39" cy="153"/>
            </a:xfrm>
            <a:prstGeom prst="line">
              <a:avLst/>
            </a:prstGeom>
            <a:noFill/>
            <a:ln w="22225">
              <a:solidFill>
                <a:schemeClr val="tx1"/>
              </a:solidFill>
              <a:round/>
              <a:headEnd/>
              <a:tailEnd/>
            </a:ln>
          </p:spPr>
          <p:txBody>
            <a:bodyPr wrap="none" anchor="ctr"/>
            <a:lstStyle/>
            <a:p>
              <a:endParaRPr lang="zh-CN" altLang="en-US"/>
            </a:p>
          </p:txBody>
        </p:sp>
      </p:grpSp>
      <p:sp>
        <p:nvSpPr>
          <p:cNvPr id="213015" name="Text Box 23"/>
          <p:cNvSpPr txBox="1">
            <a:spLocks noChangeArrowheads="1"/>
          </p:cNvSpPr>
          <p:nvPr/>
        </p:nvSpPr>
        <p:spPr bwMode="auto">
          <a:xfrm>
            <a:off x="206375" y="2708275"/>
            <a:ext cx="1169988" cy="457200"/>
          </a:xfrm>
          <a:prstGeom prst="rect">
            <a:avLst/>
          </a:prstGeom>
          <a:noFill/>
          <a:ln w="9525">
            <a:noFill/>
            <a:miter lim="800000"/>
            <a:headEnd/>
            <a:tailEnd/>
          </a:ln>
        </p:spPr>
        <p:txBody>
          <a:bodyPr>
            <a:spAutoFit/>
          </a:bodyPr>
          <a:lstStyle/>
          <a:p>
            <a:pPr>
              <a:spcBef>
                <a:spcPct val="50000"/>
              </a:spcBef>
            </a:pPr>
            <a:r>
              <a:rPr lang="zh-CN" altLang="en-US" b="1">
                <a:solidFill>
                  <a:srgbClr val="FF0000"/>
                </a:solidFill>
              </a:rPr>
              <a:t>解</a:t>
            </a:r>
          </a:p>
        </p:txBody>
      </p:sp>
      <p:sp>
        <p:nvSpPr>
          <p:cNvPr id="213016" name="Text Box 24"/>
          <p:cNvSpPr txBox="1">
            <a:spLocks noChangeArrowheads="1"/>
          </p:cNvSpPr>
          <p:nvPr/>
        </p:nvSpPr>
        <p:spPr bwMode="auto">
          <a:xfrm>
            <a:off x="746125" y="2708275"/>
            <a:ext cx="2925763" cy="457200"/>
          </a:xfrm>
          <a:prstGeom prst="rect">
            <a:avLst/>
          </a:prstGeom>
          <a:noFill/>
          <a:ln w="9525">
            <a:noFill/>
            <a:miter lim="800000"/>
            <a:headEnd/>
            <a:tailEnd/>
          </a:ln>
        </p:spPr>
        <p:txBody>
          <a:bodyPr>
            <a:spAutoFit/>
          </a:bodyPr>
          <a:lstStyle/>
          <a:p>
            <a:pPr>
              <a:spcBef>
                <a:spcPct val="50000"/>
              </a:spcBef>
            </a:pPr>
            <a:r>
              <a:rPr lang="zh-CN" altLang="en-US" b="1">
                <a:ea typeface="楷体_GB2312" pitchFamily="49" charset="-122"/>
              </a:rPr>
              <a:t>由题已知条件得</a:t>
            </a:r>
          </a:p>
        </p:txBody>
      </p:sp>
      <p:graphicFrame>
        <p:nvGraphicFramePr>
          <p:cNvPr id="213017" name="Object 25"/>
          <p:cNvGraphicFramePr>
            <a:graphicFrameLocks noChangeAspect="1"/>
          </p:cNvGraphicFramePr>
          <p:nvPr/>
        </p:nvGraphicFramePr>
        <p:xfrm>
          <a:off x="836613" y="3535363"/>
          <a:ext cx="4216400" cy="523875"/>
        </p:xfrm>
        <a:graphic>
          <a:graphicData uri="http://schemas.openxmlformats.org/presentationml/2006/ole">
            <p:oleObj spid="_x0000_s35842" name="公式" r:id="rId3" imgW="2349360" imgH="291960" progId="Equation.3">
              <p:embed/>
            </p:oleObj>
          </a:graphicData>
        </a:graphic>
      </p:graphicFrame>
      <p:graphicFrame>
        <p:nvGraphicFramePr>
          <p:cNvPr id="213018" name="Object 26"/>
          <p:cNvGraphicFramePr>
            <a:graphicFrameLocks noChangeAspect="1"/>
          </p:cNvGraphicFramePr>
          <p:nvPr/>
        </p:nvGraphicFramePr>
        <p:xfrm>
          <a:off x="5111750" y="3698875"/>
          <a:ext cx="1117600" cy="319088"/>
        </p:xfrm>
        <a:graphic>
          <a:graphicData uri="http://schemas.openxmlformats.org/presentationml/2006/ole">
            <p:oleObj spid="_x0000_s35843" name="公式" r:id="rId4" imgW="622080" imgH="177480" progId="Equation.3">
              <p:embed/>
            </p:oleObj>
          </a:graphicData>
        </a:graphic>
      </p:graphicFrame>
      <p:graphicFrame>
        <p:nvGraphicFramePr>
          <p:cNvPr id="213019" name="Object 27"/>
          <p:cNvGraphicFramePr>
            <a:graphicFrameLocks noChangeAspect="1"/>
          </p:cNvGraphicFramePr>
          <p:nvPr/>
        </p:nvGraphicFramePr>
        <p:xfrm>
          <a:off x="1546225" y="4313238"/>
          <a:ext cx="1530350" cy="387350"/>
        </p:xfrm>
        <a:graphic>
          <a:graphicData uri="http://schemas.openxmlformats.org/presentationml/2006/ole">
            <p:oleObj spid="_x0000_s35844" name="公式" r:id="rId5" imgW="850680" imgH="215640" progId="Equation.3">
              <p:embed/>
            </p:oleObj>
          </a:graphicData>
        </a:graphic>
      </p:graphicFrame>
      <p:sp>
        <p:nvSpPr>
          <p:cNvPr id="213020" name="Text Box 28"/>
          <p:cNvSpPr txBox="1">
            <a:spLocks noChangeArrowheads="1"/>
          </p:cNvSpPr>
          <p:nvPr/>
        </p:nvSpPr>
        <p:spPr bwMode="auto">
          <a:xfrm>
            <a:off x="881063" y="4276725"/>
            <a:ext cx="720725" cy="457200"/>
          </a:xfrm>
          <a:prstGeom prst="rect">
            <a:avLst/>
          </a:prstGeom>
          <a:noFill/>
          <a:ln w="9525">
            <a:noFill/>
            <a:miter lim="800000"/>
            <a:headEnd/>
            <a:tailEnd/>
          </a:ln>
        </p:spPr>
        <p:txBody>
          <a:bodyPr>
            <a:spAutoFit/>
          </a:bodyPr>
          <a:lstStyle/>
          <a:p>
            <a:pPr>
              <a:spcBef>
                <a:spcPct val="50000"/>
              </a:spcBef>
            </a:pPr>
            <a:r>
              <a:rPr lang="zh-CN" altLang="en-US" b="1">
                <a:ea typeface="楷体_GB2312" pitchFamily="49" charset="-122"/>
              </a:rPr>
              <a:t>而</a:t>
            </a:r>
          </a:p>
        </p:txBody>
      </p:sp>
      <p:graphicFrame>
        <p:nvGraphicFramePr>
          <p:cNvPr id="213021" name="Object 29"/>
          <p:cNvGraphicFramePr>
            <a:graphicFrameLocks noChangeAspect="1"/>
          </p:cNvGraphicFramePr>
          <p:nvPr/>
        </p:nvGraphicFramePr>
        <p:xfrm>
          <a:off x="3762375" y="5675313"/>
          <a:ext cx="958850" cy="319087"/>
        </p:xfrm>
        <a:graphic>
          <a:graphicData uri="http://schemas.openxmlformats.org/presentationml/2006/ole">
            <p:oleObj spid="_x0000_s35845" name="公式" r:id="rId6" imgW="533160" imgH="177480" progId="Equation.3">
              <p:embed/>
            </p:oleObj>
          </a:graphicData>
        </a:graphic>
      </p:graphicFrame>
      <p:graphicFrame>
        <p:nvGraphicFramePr>
          <p:cNvPr id="213022" name="Object 30"/>
          <p:cNvGraphicFramePr>
            <a:graphicFrameLocks noChangeAspect="1"/>
          </p:cNvGraphicFramePr>
          <p:nvPr/>
        </p:nvGraphicFramePr>
        <p:xfrm>
          <a:off x="1130300" y="5494338"/>
          <a:ext cx="1301750" cy="731837"/>
        </p:xfrm>
        <a:graphic>
          <a:graphicData uri="http://schemas.openxmlformats.org/presentationml/2006/ole">
            <p:oleObj spid="_x0000_s35846" name="公式" r:id="rId7" imgW="723600" imgH="406080" progId="Equation.3">
              <p:embed/>
            </p:oleObj>
          </a:graphicData>
        </a:graphic>
      </p:graphicFrame>
      <p:sp>
        <p:nvSpPr>
          <p:cNvPr id="213023" name="Text Box 31"/>
          <p:cNvSpPr txBox="1">
            <a:spLocks noChangeArrowheads="1"/>
          </p:cNvSpPr>
          <p:nvPr/>
        </p:nvSpPr>
        <p:spPr bwMode="auto">
          <a:xfrm>
            <a:off x="792163" y="4906963"/>
            <a:ext cx="3779837" cy="457200"/>
          </a:xfrm>
          <a:prstGeom prst="rect">
            <a:avLst/>
          </a:prstGeom>
          <a:noFill/>
          <a:ln w="9525">
            <a:noFill/>
            <a:miter lim="800000"/>
            <a:headEnd/>
            <a:tailEnd/>
          </a:ln>
        </p:spPr>
        <p:txBody>
          <a:bodyPr>
            <a:spAutoFit/>
          </a:bodyPr>
          <a:lstStyle/>
          <a:p>
            <a:pPr>
              <a:spcBef>
                <a:spcPct val="50000"/>
              </a:spcBef>
            </a:pPr>
            <a:r>
              <a:rPr lang="zh-CN" altLang="en-US" b="1">
                <a:ea typeface="楷体_GB2312" pitchFamily="49" charset="-122"/>
              </a:rPr>
              <a:t>所以两列波的相位差为</a:t>
            </a:r>
          </a:p>
        </p:txBody>
      </p:sp>
      <p:graphicFrame>
        <p:nvGraphicFramePr>
          <p:cNvPr id="213024" name="Object 32"/>
          <p:cNvGraphicFramePr>
            <a:graphicFrameLocks noChangeAspect="1"/>
          </p:cNvGraphicFramePr>
          <p:nvPr/>
        </p:nvGraphicFramePr>
        <p:xfrm>
          <a:off x="2570163" y="5483225"/>
          <a:ext cx="1027112" cy="731838"/>
        </p:xfrm>
        <a:graphic>
          <a:graphicData uri="http://schemas.openxmlformats.org/presentationml/2006/ole">
            <p:oleObj spid="_x0000_s35847" name="公式" r:id="rId8" imgW="571320" imgH="4060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2994"/>
                                        </p:tgtEl>
                                        <p:attrNameLst>
                                          <p:attrName>style.visibility</p:attrName>
                                        </p:attrNameLst>
                                      </p:cBhvr>
                                      <p:to>
                                        <p:strVal val="visible"/>
                                      </p:to>
                                    </p:set>
                                    <p:animEffect transition="in" filter="wipe(left)">
                                      <p:cBhvr>
                                        <p:cTn id="7" dur="500"/>
                                        <p:tgtEl>
                                          <p:spTgt spid="2129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2995"/>
                                        </p:tgtEl>
                                        <p:attrNameLst>
                                          <p:attrName>style.visibility</p:attrName>
                                        </p:attrNameLst>
                                      </p:cBhvr>
                                      <p:to>
                                        <p:strVal val="visible"/>
                                      </p:to>
                                    </p:set>
                                    <p:animEffect transition="in" filter="wipe(left)">
                                      <p:cBhvr>
                                        <p:cTn id="12" dur="1000"/>
                                        <p:tgtEl>
                                          <p:spTgt spid="21299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2996"/>
                                        </p:tgtEl>
                                        <p:attrNameLst>
                                          <p:attrName>style.visibility</p:attrName>
                                        </p:attrNameLst>
                                      </p:cBhvr>
                                      <p:to>
                                        <p:strVal val="visible"/>
                                      </p:to>
                                    </p:set>
                                    <p:animEffect transition="in" filter="wipe(left)">
                                      <p:cBhvr>
                                        <p:cTn id="22" dur="500"/>
                                        <p:tgtEl>
                                          <p:spTgt spid="21299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2997"/>
                                        </p:tgtEl>
                                        <p:attrNameLst>
                                          <p:attrName>style.visibility</p:attrName>
                                        </p:attrNameLst>
                                      </p:cBhvr>
                                      <p:to>
                                        <p:strVal val="visible"/>
                                      </p:to>
                                    </p:set>
                                    <p:animEffect transition="in" filter="wipe(left)">
                                      <p:cBhvr>
                                        <p:cTn id="27" dur="1000"/>
                                        <p:tgtEl>
                                          <p:spTgt spid="21299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3015"/>
                                        </p:tgtEl>
                                        <p:attrNameLst>
                                          <p:attrName>style.visibility</p:attrName>
                                        </p:attrNameLst>
                                      </p:cBhvr>
                                      <p:to>
                                        <p:strVal val="visible"/>
                                      </p:to>
                                    </p:set>
                                    <p:animEffect transition="in" filter="wipe(left)">
                                      <p:cBhvr>
                                        <p:cTn id="32" dur="1000"/>
                                        <p:tgtEl>
                                          <p:spTgt spid="2130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3016"/>
                                        </p:tgtEl>
                                        <p:attrNameLst>
                                          <p:attrName>style.visibility</p:attrName>
                                        </p:attrNameLst>
                                      </p:cBhvr>
                                      <p:to>
                                        <p:strVal val="visible"/>
                                      </p:to>
                                    </p:set>
                                    <p:animEffect transition="in" filter="wipe(left)">
                                      <p:cBhvr>
                                        <p:cTn id="37" dur="1000"/>
                                        <p:tgtEl>
                                          <p:spTgt spid="2130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13017"/>
                                        </p:tgtEl>
                                        <p:attrNameLst>
                                          <p:attrName>style.visibility</p:attrName>
                                        </p:attrNameLst>
                                      </p:cBhvr>
                                      <p:to>
                                        <p:strVal val="visible"/>
                                      </p:to>
                                    </p:set>
                                    <p:animEffect transition="in" filter="wipe(left)">
                                      <p:cBhvr>
                                        <p:cTn id="42" dur="1000"/>
                                        <p:tgtEl>
                                          <p:spTgt spid="21301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13018"/>
                                        </p:tgtEl>
                                        <p:attrNameLst>
                                          <p:attrName>style.visibility</p:attrName>
                                        </p:attrNameLst>
                                      </p:cBhvr>
                                      <p:to>
                                        <p:strVal val="visible"/>
                                      </p:to>
                                    </p:set>
                                    <p:animEffect transition="in" filter="wipe(left)">
                                      <p:cBhvr>
                                        <p:cTn id="47" dur="1000"/>
                                        <p:tgtEl>
                                          <p:spTgt spid="21301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13020"/>
                                        </p:tgtEl>
                                        <p:attrNameLst>
                                          <p:attrName>style.visibility</p:attrName>
                                        </p:attrNameLst>
                                      </p:cBhvr>
                                      <p:to>
                                        <p:strVal val="visible"/>
                                      </p:to>
                                    </p:set>
                                    <p:animEffect transition="in" filter="wipe(left)">
                                      <p:cBhvr>
                                        <p:cTn id="52" dur="1000"/>
                                        <p:tgtEl>
                                          <p:spTgt spid="21302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13019"/>
                                        </p:tgtEl>
                                        <p:attrNameLst>
                                          <p:attrName>style.visibility</p:attrName>
                                        </p:attrNameLst>
                                      </p:cBhvr>
                                      <p:to>
                                        <p:strVal val="visible"/>
                                      </p:to>
                                    </p:set>
                                    <p:animEffect transition="in" filter="wipe(left)">
                                      <p:cBhvr>
                                        <p:cTn id="57" dur="1000"/>
                                        <p:tgtEl>
                                          <p:spTgt spid="21301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13023"/>
                                        </p:tgtEl>
                                        <p:attrNameLst>
                                          <p:attrName>style.visibility</p:attrName>
                                        </p:attrNameLst>
                                      </p:cBhvr>
                                      <p:to>
                                        <p:strVal val="visible"/>
                                      </p:to>
                                    </p:set>
                                    <p:animEffect transition="in" filter="wipe(left)">
                                      <p:cBhvr>
                                        <p:cTn id="62" dur="1000"/>
                                        <p:tgtEl>
                                          <p:spTgt spid="21302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13022"/>
                                        </p:tgtEl>
                                        <p:attrNameLst>
                                          <p:attrName>style.visibility</p:attrName>
                                        </p:attrNameLst>
                                      </p:cBhvr>
                                      <p:to>
                                        <p:strVal val="visible"/>
                                      </p:to>
                                    </p:set>
                                    <p:animEffect transition="in" filter="wipe(left)">
                                      <p:cBhvr>
                                        <p:cTn id="67" dur="1000"/>
                                        <p:tgtEl>
                                          <p:spTgt spid="21302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13024"/>
                                        </p:tgtEl>
                                        <p:attrNameLst>
                                          <p:attrName>style.visibility</p:attrName>
                                        </p:attrNameLst>
                                      </p:cBhvr>
                                      <p:to>
                                        <p:strVal val="visible"/>
                                      </p:to>
                                    </p:set>
                                    <p:animEffect transition="in" filter="wipe(left)">
                                      <p:cBhvr>
                                        <p:cTn id="72" dur="1000"/>
                                        <p:tgtEl>
                                          <p:spTgt spid="21302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13021"/>
                                        </p:tgtEl>
                                        <p:attrNameLst>
                                          <p:attrName>style.visibility</p:attrName>
                                        </p:attrNameLst>
                                      </p:cBhvr>
                                      <p:to>
                                        <p:strVal val="visible"/>
                                      </p:to>
                                    </p:set>
                                    <p:animEffect transition="in" filter="wipe(left)">
                                      <p:cBhvr>
                                        <p:cTn id="77" dur="1000"/>
                                        <p:tgtEl>
                                          <p:spTgt spid="2130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4" grpId="0" autoUpdateAnimBg="0"/>
      <p:bldP spid="212995" grpId="0"/>
      <p:bldP spid="212996" grpId="0" autoUpdateAnimBg="0"/>
      <p:bldP spid="212997" grpId="0"/>
      <p:bldP spid="213015" grpId="0"/>
      <p:bldP spid="213016" grpId="0"/>
      <p:bldP spid="213020" grpId="0"/>
      <p:bldP spid="21302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Text Box 2"/>
          <p:cNvSpPr txBox="1">
            <a:spLocks noChangeArrowheads="1"/>
          </p:cNvSpPr>
          <p:nvPr/>
        </p:nvSpPr>
        <p:spPr bwMode="auto">
          <a:xfrm>
            <a:off x="161925" y="458788"/>
            <a:ext cx="490538" cy="530225"/>
          </a:xfrm>
          <a:prstGeom prst="rect">
            <a:avLst/>
          </a:prstGeom>
          <a:noFill/>
          <a:ln w="9525">
            <a:noFill/>
            <a:miter lim="800000"/>
            <a:headEnd/>
            <a:tailEnd/>
          </a:ln>
        </p:spPr>
        <p:txBody>
          <a:bodyPr wrap="none" anchor="ctr">
            <a:spAutoFit/>
          </a:bodyPr>
          <a:lstStyle/>
          <a:p>
            <a:pPr algn="ctr">
              <a:lnSpc>
                <a:spcPct val="120000"/>
              </a:lnSpc>
            </a:pPr>
            <a:r>
              <a:rPr kumimoji="0" lang="zh-CN" altLang="en-US" b="1">
                <a:solidFill>
                  <a:srgbClr val="FF0000"/>
                </a:solidFill>
                <a:latin typeface="宋体" pitchFamily="2" charset="-122"/>
              </a:rPr>
              <a:t>例</a:t>
            </a:r>
            <a:endParaRPr kumimoji="0" lang="zh-CN" altLang="en-US" sz="1800">
              <a:solidFill>
                <a:srgbClr val="FF0000"/>
              </a:solidFill>
            </a:endParaRPr>
          </a:p>
        </p:txBody>
      </p:sp>
      <p:sp>
        <p:nvSpPr>
          <p:cNvPr id="208899" name="Text Box 3"/>
          <p:cNvSpPr txBox="1">
            <a:spLocks noChangeArrowheads="1"/>
          </p:cNvSpPr>
          <p:nvPr/>
        </p:nvSpPr>
        <p:spPr bwMode="auto">
          <a:xfrm>
            <a:off x="701675" y="458788"/>
            <a:ext cx="8054975" cy="1406525"/>
          </a:xfrm>
          <a:prstGeom prst="rect">
            <a:avLst/>
          </a:prstGeom>
          <a:noFill/>
          <a:ln w="9525">
            <a:noFill/>
            <a:miter lim="800000"/>
            <a:headEnd/>
            <a:tailEnd/>
          </a:ln>
        </p:spPr>
        <p:txBody>
          <a:bodyPr>
            <a:spAutoFit/>
          </a:bodyPr>
          <a:lstStyle/>
          <a:p>
            <a:pPr algn="just">
              <a:lnSpc>
                <a:spcPct val="120000"/>
              </a:lnSpc>
            </a:pPr>
            <a:r>
              <a:rPr lang="zh-CN" altLang="en-US" b="1">
                <a:cs typeface="Times New Roman" pitchFamily="18" charset="0"/>
              </a:rPr>
              <a:t>两相干波源 </a:t>
            </a:r>
            <a:r>
              <a:rPr lang="en-US" altLang="zh-CN" b="1" i="1">
                <a:solidFill>
                  <a:srgbClr val="FF6600"/>
                </a:solidFill>
                <a:cs typeface="Times New Roman" pitchFamily="18" charset="0"/>
              </a:rPr>
              <a:t>S</a:t>
            </a:r>
            <a:r>
              <a:rPr lang="en-US" altLang="zh-CN" b="1" baseline="-30000">
                <a:solidFill>
                  <a:srgbClr val="FF6600"/>
                </a:solidFill>
                <a:cs typeface="Times New Roman" pitchFamily="18" charset="0"/>
              </a:rPr>
              <a:t>1 </a:t>
            </a:r>
            <a:r>
              <a:rPr lang="zh-CN" altLang="en-US" b="1">
                <a:cs typeface="Times New Roman" pitchFamily="18" charset="0"/>
              </a:rPr>
              <a:t>、</a:t>
            </a:r>
            <a:r>
              <a:rPr lang="en-US" altLang="zh-CN" b="1" i="1">
                <a:solidFill>
                  <a:srgbClr val="FF6600"/>
                </a:solidFill>
                <a:cs typeface="Times New Roman" pitchFamily="18" charset="0"/>
              </a:rPr>
              <a:t>S</a:t>
            </a:r>
            <a:r>
              <a:rPr lang="en-US" altLang="zh-CN" b="1" baseline="-30000">
                <a:solidFill>
                  <a:srgbClr val="FF6600"/>
                </a:solidFill>
                <a:cs typeface="Times New Roman" pitchFamily="18" charset="0"/>
              </a:rPr>
              <a:t>2 </a:t>
            </a:r>
            <a:r>
              <a:rPr lang="zh-CN" altLang="en-US" b="1">
                <a:cs typeface="Times New Roman" pitchFamily="18" charset="0"/>
              </a:rPr>
              <a:t>其振幅相同，频率为 </a:t>
            </a:r>
            <a:r>
              <a:rPr lang="en-US" altLang="zh-CN" b="1">
                <a:solidFill>
                  <a:srgbClr val="FF6600"/>
                </a:solidFill>
                <a:cs typeface="Times New Roman" pitchFamily="18" charset="0"/>
              </a:rPr>
              <a:t>100 Hz </a:t>
            </a:r>
            <a:r>
              <a:rPr lang="zh-CN" altLang="en-US" b="1">
                <a:cs typeface="Times New Roman" pitchFamily="18" charset="0"/>
              </a:rPr>
              <a:t>，相位差为 </a:t>
            </a:r>
            <a:r>
              <a:rPr lang="en-US" altLang="zh-CN" b="1" i="1">
                <a:solidFill>
                  <a:srgbClr val="FF6600"/>
                </a:solidFill>
                <a:latin typeface="Symbol" pitchFamily="18" charset="2"/>
              </a:rPr>
              <a:t>p</a:t>
            </a:r>
            <a:r>
              <a:rPr lang="en-US" altLang="zh-CN" b="1">
                <a:solidFill>
                  <a:srgbClr val="FF6600"/>
                </a:solidFill>
                <a:latin typeface="Symbol" pitchFamily="18" charset="2"/>
              </a:rPr>
              <a:t> </a:t>
            </a:r>
            <a:r>
              <a:rPr lang="zh-CN" altLang="en-US" b="1">
                <a:cs typeface="Times New Roman" pitchFamily="18" charset="0"/>
              </a:rPr>
              <a:t>。若 </a:t>
            </a:r>
            <a:r>
              <a:rPr lang="en-US" altLang="zh-CN" b="1" i="1">
                <a:solidFill>
                  <a:srgbClr val="FF6600"/>
                </a:solidFill>
                <a:cs typeface="Times New Roman" pitchFamily="18" charset="0"/>
              </a:rPr>
              <a:t>S</a:t>
            </a:r>
            <a:r>
              <a:rPr lang="en-US" altLang="zh-CN" b="1" baseline="-30000">
                <a:solidFill>
                  <a:srgbClr val="FF6600"/>
                </a:solidFill>
                <a:cs typeface="Times New Roman" pitchFamily="18" charset="0"/>
              </a:rPr>
              <a:t>1 </a:t>
            </a:r>
            <a:r>
              <a:rPr lang="zh-CN" altLang="en-US" b="1">
                <a:cs typeface="Times New Roman" pitchFamily="18" charset="0"/>
              </a:rPr>
              <a:t>、</a:t>
            </a:r>
            <a:r>
              <a:rPr lang="en-US" altLang="zh-CN" b="1" i="1">
                <a:solidFill>
                  <a:srgbClr val="FF6600"/>
                </a:solidFill>
                <a:cs typeface="Times New Roman" pitchFamily="18" charset="0"/>
              </a:rPr>
              <a:t>S</a:t>
            </a:r>
            <a:r>
              <a:rPr lang="en-US" altLang="zh-CN" b="1" baseline="-30000">
                <a:solidFill>
                  <a:srgbClr val="FF6600"/>
                </a:solidFill>
                <a:cs typeface="Times New Roman" pitchFamily="18" charset="0"/>
              </a:rPr>
              <a:t>2 </a:t>
            </a:r>
            <a:r>
              <a:rPr lang="zh-CN" altLang="en-US" b="1">
                <a:cs typeface="Times New Roman" pitchFamily="18" charset="0"/>
              </a:rPr>
              <a:t>两点相距 </a:t>
            </a:r>
            <a:r>
              <a:rPr lang="en-US" altLang="zh-CN" b="1">
                <a:solidFill>
                  <a:srgbClr val="FF6600"/>
                </a:solidFill>
                <a:cs typeface="Times New Roman" pitchFamily="18" charset="0"/>
              </a:rPr>
              <a:t>20 m</a:t>
            </a:r>
            <a:r>
              <a:rPr lang="zh-CN" altLang="en-US" b="1">
                <a:cs typeface="Times New Roman" pitchFamily="18" charset="0"/>
              </a:rPr>
              <a:t>，两波在同一介质中的传播速度为 </a:t>
            </a:r>
            <a:r>
              <a:rPr lang="en-US" altLang="zh-CN" b="1">
                <a:solidFill>
                  <a:srgbClr val="FF6600"/>
                </a:solidFill>
                <a:cs typeface="Times New Roman" pitchFamily="18" charset="0"/>
              </a:rPr>
              <a:t>800 m·s</a:t>
            </a:r>
            <a:r>
              <a:rPr lang="en-US" altLang="zh-CN" b="1" baseline="30000">
                <a:solidFill>
                  <a:srgbClr val="FF6600"/>
                </a:solidFill>
                <a:cs typeface="Times New Roman" pitchFamily="18" charset="0"/>
              </a:rPr>
              <a:t>-1</a:t>
            </a:r>
            <a:r>
              <a:rPr lang="zh-CN" altLang="en-US" b="1">
                <a:cs typeface="Times New Roman" pitchFamily="18" charset="0"/>
              </a:rPr>
              <a:t>。</a:t>
            </a:r>
            <a:endParaRPr lang="zh-CN" altLang="en-US" b="1"/>
          </a:p>
        </p:txBody>
      </p:sp>
      <p:sp>
        <p:nvSpPr>
          <p:cNvPr id="208900" name="Text Box 4"/>
          <p:cNvSpPr txBox="1">
            <a:spLocks noChangeArrowheads="1"/>
          </p:cNvSpPr>
          <p:nvPr/>
        </p:nvSpPr>
        <p:spPr bwMode="auto">
          <a:xfrm>
            <a:off x="161925" y="1854200"/>
            <a:ext cx="581025" cy="530225"/>
          </a:xfrm>
          <a:prstGeom prst="rect">
            <a:avLst/>
          </a:prstGeom>
          <a:noFill/>
          <a:ln w="9525">
            <a:noFill/>
            <a:miter lim="800000"/>
            <a:headEnd/>
            <a:tailEnd/>
          </a:ln>
        </p:spPr>
        <p:txBody>
          <a:bodyPr anchor="ctr">
            <a:spAutoFit/>
          </a:bodyPr>
          <a:lstStyle/>
          <a:p>
            <a:pPr algn="ctr">
              <a:lnSpc>
                <a:spcPct val="120000"/>
              </a:lnSpc>
            </a:pPr>
            <a:r>
              <a:rPr kumimoji="0" lang="zh-CN" altLang="en-US" b="1">
                <a:solidFill>
                  <a:srgbClr val="FF0000"/>
                </a:solidFill>
                <a:latin typeface="宋体" pitchFamily="2" charset="-122"/>
              </a:rPr>
              <a:t>求</a:t>
            </a:r>
            <a:endParaRPr kumimoji="0" lang="zh-CN" altLang="en-US" sz="1800">
              <a:solidFill>
                <a:srgbClr val="FF0000"/>
              </a:solidFill>
            </a:endParaRPr>
          </a:p>
        </p:txBody>
      </p:sp>
      <p:sp>
        <p:nvSpPr>
          <p:cNvPr id="208901" name="Text Box 5"/>
          <p:cNvSpPr txBox="1">
            <a:spLocks noChangeArrowheads="1"/>
          </p:cNvSpPr>
          <p:nvPr/>
        </p:nvSpPr>
        <p:spPr bwMode="auto">
          <a:xfrm>
            <a:off x="701675" y="1854200"/>
            <a:ext cx="6615113" cy="530225"/>
          </a:xfrm>
          <a:prstGeom prst="rect">
            <a:avLst/>
          </a:prstGeom>
          <a:noFill/>
          <a:ln w="9525">
            <a:noFill/>
            <a:miter lim="800000"/>
            <a:headEnd/>
            <a:tailEnd/>
          </a:ln>
        </p:spPr>
        <p:txBody>
          <a:bodyPr>
            <a:spAutoFit/>
          </a:bodyPr>
          <a:lstStyle/>
          <a:p>
            <a:pPr algn="just">
              <a:lnSpc>
                <a:spcPct val="120000"/>
              </a:lnSpc>
            </a:pPr>
            <a:r>
              <a:rPr lang="en-US" altLang="zh-CN" b="1" i="1">
                <a:solidFill>
                  <a:srgbClr val="FF6600"/>
                </a:solidFill>
                <a:cs typeface="Times New Roman" pitchFamily="18" charset="0"/>
              </a:rPr>
              <a:t>S</a:t>
            </a:r>
            <a:r>
              <a:rPr lang="en-US" altLang="zh-CN" b="1" baseline="-30000">
                <a:solidFill>
                  <a:srgbClr val="FF6600"/>
                </a:solidFill>
                <a:cs typeface="Times New Roman" pitchFamily="18" charset="0"/>
              </a:rPr>
              <a:t>1 </a:t>
            </a:r>
            <a:r>
              <a:rPr lang="zh-CN" altLang="en-US" b="1">
                <a:cs typeface="Times New Roman" pitchFamily="18" charset="0"/>
              </a:rPr>
              <a:t>、</a:t>
            </a:r>
            <a:r>
              <a:rPr lang="en-US" altLang="zh-CN" b="1" i="1">
                <a:solidFill>
                  <a:srgbClr val="FF6600"/>
                </a:solidFill>
                <a:cs typeface="Times New Roman" pitchFamily="18" charset="0"/>
              </a:rPr>
              <a:t>S</a:t>
            </a:r>
            <a:r>
              <a:rPr lang="en-US" altLang="zh-CN" b="1" baseline="-30000">
                <a:solidFill>
                  <a:srgbClr val="FF6600"/>
                </a:solidFill>
                <a:cs typeface="Times New Roman" pitchFamily="18" charset="0"/>
              </a:rPr>
              <a:t>2 </a:t>
            </a:r>
            <a:r>
              <a:rPr lang="zh-CN" altLang="en-US" b="1">
                <a:cs typeface="Times New Roman" pitchFamily="18" charset="0"/>
              </a:rPr>
              <a:t>连线上因</a:t>
            </a:r>
            <a:r>
              <a:rPr lang="zh-CN" altLang="en-US" b="1">
                <a:solidFill>
                  <a:srgbClr val="008000"/>
                </a:solidFill>
                <a:cs typeface="Times New Roman" pitchFamily="18" charset="0"/>
              </a:rPr>
              <a:t>干涉而静止</a:t>
            </a:r>
            <a:r>
              <a:rPr lang="zh-CN" altLang="en-US" b="1">
                <a:cs typeface="Times New Roman" pitchFamily="18" charset="0"/>
              </a:rPr>
              <a:t>的各点位置</a:t>
            </a:r>
            <a:r>
              <a:rPr lang="zh-CN" altLang="en-US" b="1"/>
              <a:t>。</a:t>
            </a:r>
          </a:p>
        </p:txBody>
      </p:sp>
      <p:grpSp>
        <p:nvGrpSpPr>
          <p:cNvPr id="2" name="Group 6"/>
          <p:cNvGrpSpPr>
            <a:grpSpLocks/>
          </p:cNvGrpSpPr>
          <p:nvPr/>
        </p:nvGrpSpPr>
        <p:grpSpPr bwMode="auto">
          <a:xfrm>
            <a:off x="4818063" y="2641600"/>
            <a:ext cx="3714750" cy="473075"/>
            <a:chOff x="3120" y="1176"/>
            <a:chExt cx="2340" cy="298"/>
          </a:xfrm>
        </p:grpSpPr>
        <p:sp>
          <p:nvSpPr>
            <p:cNvPr id="36890" name="Line 7"/>
            <p:cNvSpPr>
              <a:spLocks noChangeShapeType="1"/>
            </p:cNvSpPr>
            <p:nvPr/>
          </p:nvSpPr>
          <p:spPr bwMode="auto">
            <a:xfrm>
              <a:off x="3120" y="1200"/>
              <a:ext cx="2304" cy="0"/>
            </a:xfrm>
            <a:prstGeom prst="line">
              <a:avLst/>
            </a:prstGeom>
            <a:noFill/>
            <a:ln w="28575">
              <a:solidFill>
                <a:schemeClr val="tx1"/>
              </a:solidFill>
              <a:round/>
              <a:headEnd/>
              <a:tailEnd type="triangle" w="sm" len="lg"/>
            </a:ln>
          </p:spPr>
          <p:txBody>
            <a:bodyPr wrap="none" anchor="ctr"/>
            <a:lstStyle/>
            <a:p>
              <a:endParaRPr lang="zh-CN" altLang="en-US"/>
            </a:p>
          </p:txBody>
        </p:sp>
        <p:sp>
          <p:nvSpPr>
            <p:cNvPr id="36891" name="Oval 8"/>
            <p:cNvSpPr>
              <a:spLocks noChangeArrowheads="1"/>
            </p:cNvSpPr>
            <p:nvPr/>
          </p:nvSpPr>
          <p:spPr bwMode="auto">
            <a:xfrm>
              <a:off x="4560" y="1176"/>
              <a:ext cx="48" cy="48"/>
            </a:xfrm>
            <a:prstGeom prst="ellipse">
              <a:avLst/>
            </a:prstGeom>
            <a:solidFill>
              <a:schemeClr val="tx1"/>
            </a:solidFill>
            <a:ln w="9525">
              <a:solidFill>
                <a:schemeClr val="tx1"/>
              </a:solidFill>
              <a:round/>
              <a:headEnd/>
              <a:tailEnd/>
            </a:ln>
          </p:spPr>
          <p:txBody>
            <a:bodyPr wrap="none" anchor="ctr"/>
            <a:lstStyle/>
            <a:p>
              <a:endParaRPr lang="zh-CN" altLang="en-US"/>
            </a:p>
          </p:txBody>
        </p:sp>
        <p:sp>
          <p:nvSpPr>
            <p:cNvPr id="36892" name="Oval 9"/>
            <p:cNvSpPr>
              <a:spLocks noChangeArrowheads="1"/>
            </p:cNvSpPr>
            <p:nvPr/>
          </p:nvSpPr>
          <p:spPr bwMode="auto">
            <a:xfrm>
              <a:off x="3624" y="1176"/>
              <a:ext cx="48" cy="48"/>
            </a:xfrm>
            <a:prstGeom prst="ellipse">
              <a:avLst/>
            </a:prstGeom>
            <a:solidFill>
              <a:schemeClr val="tx1"/>
            </a:solidFill>
            <a:ln w="9525">
              <a:solidFill>
                <a:schemeClr val="tx1"/>
              </a:solidFill>
              <a:round/>
              <a:headEnd/>
              <a:tailEnd/>
            </a:ln>
          </p:spPr>
          <p:txBody>
            <a:bodyPr wrap="none" anchor="ctr"/>
            <a:lstStyle/>
            <a:p>
              <a:endParaRPr lang="zh-CN" altLang="en-US"/>
            </a:p>
          </p:txBody>
        </p:sp>
        <p:sp>
          <p:nvSpPr>
            <p:cNvPr id="36893" name="Oval 10"/>
            <p:cNvSpPr>
              <a:spLocks noChangeArrowheads="1"/>
            </p:cNvSpPr>
            <p:nvPr/>
          </p:nvSpPr>
          <p:spPr bwMode="auto">
            <a:xfrm>
              <a:off x="4080" y="1176"/>
              <a:ext cx="48" cy="48"/>
            </a:xfrm>
            <a:prstGeom prst="ellipse">
              <a:avLst/>
            </a:prstGeom>
            <a:solidFill>
              <a:schemeClr val="tx2"/>
            </a:solidFill>
            <a:ln w="9525">
              <a:solidFill>
                <a:schemeClr val="tx1"/>
              </a:solidFill>
              <a:round/>
              <a:headEnd/>
              <a:tailEnd/>
            </a:ln>
          </p:spPr>
          <p:txBody>
            <a:bodyPr wrap="none" anchor="ctr"/>
            <a:lstStyle/>
            <a:p>
              <a:endParaRPr lang="zh-CN" altLang="en-US"/>
            </a:p>
          </p:txBody>
        </p:sp>
        <p:sp>
          <p:nvSpPr>
            <p:cNvPr id="36894" name="Text Box 11"/>
            <p:cNvSpPr txBox="1">
              <a:spLocks noChangeArrowheads="1"/>
            </p:cNvSpPr>
            <p:nvPr/>
          </p:nvSpPr>
          <p:spPr bwMode="auto">
            <a:xfrm>
              <a:off x="3537" y="1224"/>
              <a:ext cx="1923" cy="250"/>
            </a:xfrm>
            <a:prstGeom prst="rect">
              <a:avLst/>
            </a:prstGeom>
            <a:noFill/>
            <a:ln w="9525">
              <a:noFill/>
              <a:miter lim="800000"/>
              <a:headEnd/>
              <a:tailEnd/>
            </a:ln>
          </p:spPr>
          <p:txBody>
            <a:bodyPr>
              <a:spAutoFit/>
            </a:bodyPr>
            <a:lstStyle/>
            <a:p>
              <a:pPr>
                <a:spcBef>
                  <a:spcPct val="50000"/>
                </a:spcBef>
              </a:pPr>
              <a:r>
                <a:rPr lang="en-US" altLang="zh-CN" sz="2000" b="1" i="1"/>
                <a:t>S</a:t>
              </a:r>
              <a:r>
                <a:rPr lang="en-US" altLang="zh-CN" sz="2000" b="1" baseline="-25000"/>
                <a:t>1             </a:t>
              </a:r>
              <a:r>
                <a:rPr lang="en-US" altLang="zh-CN" sz="2000" b="1"/>
                <a:t>0          </a:t>
              </a:r>
              <a:r>
                <a:rPr lang="en-US" altLang="zh-CN" sz="2000" b="1" i="1"/>
                <a:t>S</a:t>
              </a:r>
              <a:r>
                <a:rPr lang="en-US" altLang="zh-CN" sz="2000" b="1" baseline="-25000"/>
                <a:t>2                      </a:t>
              </a:r>
              <a:r>
                <a:rPr lang="en-US" altLang="zh-CN" sz="2000" b="1" i="1"/>
                <a:t>x</a:t>
              </a:r>
            </a:p>
          </p:txBody>
        </p:sp>
      </p:grpSp>
      <p:sp>
        <p:nvSpPr>
          <p:cNvPr id="208908" name="Text Box 12"/>
          <p:cNvSpPr txBox="1">
            <a:spLocks noChangeArrowheads="1"/>
          </p:cNvSpPr>
          <p:nvPr/>
        </p:nvSpPr>
        <p:spPr bwMode="auto">
          <a:xfrm>
            <a:off x="206375" y="2476500"/>
            <a:ext cx="900113" cy="457200"/>
          </a:xfrm>
          <a:prstGeom prst="rect">
            <a:avLst/>
          </a:prstGeom>
          <a:noFill/>
          <a:ln w="9525">
            <a:noFill/>
            <a:miter lim="800000"/>
            <a:headEnd/>
            <a:tailEnd/>
          </a:ln>
        </p:spPr>
        <p:txBody>
          <a:bodyPr>
            <a:spAutoFit/>
          </a:bodyPr>
          <a:lstStyle/>
          <a:p>
            <a:pPr>
              <a:spcBef>
                <a:spcPct val="50000"/>
              </a:spcBef>
            </a:pPr>
            <a:r>
              <a:rPr lang="zh-CN" altLang="en-US" b="1">
                <a:solidFill>
                  <a:srgbClr val="FF0000"/>
                </a:solidFill>
              </a:rPr>
              <a:t>解</a:t>
            </a:r>
            <a:endParaRPr lang="zh-CN" altLang="en-US" b="1"/>
          </a:p>
        </p:txBody>
      </p:sp>
      <p:graphicFrame>
        <p:nvGraphicFramePr>
          <p:cNvPr id="208909" name="Object 13"/>
          <p:cNvGraphicFramePr>
            <a:graphicFrameLocks noChangeAspect="1"/>
          </p:cNvGraphicFramePr>
          <p:nvPr/>
        </p:nvGraphicFramePr>
        <p:xfrm>
          <a:off x="1016000" y="2438400"/>
          <a:ext cx="712788" cy="690563"/>
        </p:xfrm>
        <a:graphic>
          <a:graphicData uri="http://schemas.openxmlformats.org/presentationml/2006/ole">
            <p:oleObj spid="_x0000_s36866" name="公式" r:id="rId3" imgW="419040" imgH="406080" progId="Equation.3">
              <p:embed/>
            </p:oleObj>
          </a:graphicData>
        </a:graphic>
      </p:graphicFrame>
      <p:graphicFrame>
        <p:nvGraphicFramePr>
          <p:cNvPr id="208910" name="Object 14"/>
          <p:cNvGraphicFramePr>
            <a:graphicFrameLocks noChangeAspect="1"/>
          </p:cNvGraphicFramePr>
          <p:nvPr/>
        </p:nvGraphicFramePr>
        <p:xfrm>
          <a:off x="2366963" y="2663825"/>
          <a:ext cx="1166812" cy="303213"/>
        </p:xfrm>
        <a:graphic>
          <a:graphicData uri="http://schemas.openxmlformats.org/presentationml/2006/ole">
            <p:oleObj spid="_x0000_s36867" name="公式" r:id="rId4" imgW="685800" imgH="177480" progId="Equation.3">
              <p:embed/>
            </p:oleObj>
          </a:graphicData>
        </a:graphic>
      </p:graphicFrame>
      <p:sp>
        <p:nvSpPr>
          <p:cNvPr id="208911" name="Text Box 15"/>
          <p:cNvSpPr txBox="1">
            <a:spLocks noChangeArrowheads="1"/>
          </p:cNvSpPr>
          <p:nvPr/>
        </p:nvSpPr>
        <p:spPr bwMode="auto">
          <a:xfrm>
            <a:off x="476250" y="3197225"/>
            <a:ext cx="4275138" cy="457200"/>
          </a:xfrm>
          <a:prstGeom prst="rect">
            <a:avLst/>
          </a:prstGeom>
          <a:noFill/>
          <a:ln w="9525">
            <a:noFill/>
            <a:miter lim="800000"/>
            <a:headEnd/>
            <a:tailEnd/>
          </a:ln>
        </p:spPr>
        <p:txBody>
          <a:bodyPr>
            <a:spAutoFit/>
          </a:bodyPr>
          <a:lstStyle/>
          <a:p>
            <a:pPr>
              <a:spcBef>
                <a:spcPct val="50000"/>
              </a:spcBef>
            </a:pPr>
            <a:r>
              <a:rPr lang="en-US" altLang="zh-CN" b="1"/>
              <a:t>(1)  </a:t>
            </a:r>
            <a:r>
              <a:rPr lang="zh-CN" altLang="en-US" b="1"/>
              <a:t>位于 </a:t>
            </a:r>
            <a:r>
              <a:rPr lang="en-US" altLang="zh-CN" b="1" i="1">
                <a:solidFill>
                  <a:srgbClr val="FF6600"/>
                </a:solidFill>
              </a:rPr>
              <a:t>S</a:t>
            </a:r>
            <a:r>
              <a:rPr lang="en-US" altLang="zh-CN" b="1" baseline="-25000">
                <a:solidFill>
                  <a:srgbClr val="FF6600"/>
                </a:solidFill>
              </a:rPr>
              <a:t>1</a:t>
            </a:r>
            <a:r>
              <a:rPr lang="en-US" altLang="zh-CN" b="1" baseline="-25000"/>
              <a:t>  </a:t>
            </a:r>
            <a:r>
              <a:rPr lang="zh-CN" altLang="en-US" b="1"/>
              <a:t>左侧部分</a:t>
            </a:r>
          </a:p>
        </p:txBody>
      </p:sp>
      <p:sp>
        <p:nvSpPr>
          <p:cNvPr id="208912" name="Oval 16"/>
          <p:cNvSpPr>
            <a:spLocks noChangeArrowheads="1"/>
          </p:cNvSpPr>
          <p:nvPr/>
        </p:nvSpPr>
        <p:spPr bwMode="auto">
          <a:xfrm>
            <a:off x="5081588" y="2633663"/>
            <a:ext cx="76200" cy="76200"/>
          </a:xfrm>
          <a:prstGeom prst="ellipse">
            <a:avLst/>
          </a:prstGeom>
          <a:solidFill>
            <a:srgbClr val="FF0000"/>
          </a:solidFill>
          <a:ln w="9525">
            <a:solidFill>
              <a:schemeClr val="tx1"/>
            </a:solidFill>
            <a:round/>
            <a:headEnd/>
            <a:tailEnd/>
          </a:ln>
        </p:spPr>
        <p:txBody>
          <a:bodyPr wrap="none" anchor="ctr"/>
          <a:lstStyle/>
          <a:p>
            <a:endParaRPr lang="zh-CN" altLang="en-US"/>
          </a:p>
        </p:txBody>
      </p:sp>
      <p:sp>
        <p:nvSpPr>
          <p:cNvPr id="208913" name="Text Box 17"/>
          <p:cNvSpPr txBox="1">
            <a:spLocks noChangeArrowheads="1"/>
          </p:cNvSpPr>
          <p:nvPr/>
        </p:nvSpPr>
        <p:spPr bwMode="auto">
          <a:xfrm>
            <a:off x="4841875" y="2663825"/>
            <a:ext cx="622300" cy="396875"/>
          </a:xfrm>
          <a:prstGeom prst="rect">
            <a:avLst/>
          </a:prstGeom>
          <a:noFill/>
          <a:ln w="9525">
            <a:noFill/>
            <a:miter lim="800000"/>
            <a:headEnd/>
            <a:tailEnd/>
          </a:ln>
        </p:spPr>
        <p:txBody>
          <a:bodyPr>
            <a:spAutoFit/>
          </a:bodyPr>
          <a:lstStyle/>
          <a:p>
            <a:pPr>
              <a:spcBef>
                <a:spcPct val="50000"/>
              </a:spcBef>
            </a:pPr>
            <a:r>
              <a:rPr lang="en-US" altLang="zh-CN" sz="2000" b="1" i="1"/>
              <a:t> </a:t>
            </a:r>
            <a:r>
              <a:rPr lang="en-US" altLang="zh-CN" sz="2000" b="1" i="1">
                <a:solidFill>
                  <a:srgbClr val="FF0000"/>
                </a:solidFill>
              </a:rPr>
              <a:t>P</a:t>
            </a:r>
            <a:endParaRPr lang="en-US" altLang="zh-CN" sz="2000" b="1" i="1">
              <a:solidFill>
                <a:srgbClr val="3333FF"/>
              </a:solidFill>
            </a:endParaRPr>
          </a:p>
        </p:txBody>
      </p:sp>
      <p:sp>
        <p:nvSpPr>
          <p:cNvPr id="208914" name="Oval 18"/>
          <p:cNvSpPr>
            <a:spLocks noChangeArrowheads="1"/>
          </p:cNvSpPr>
          <p:nvPr/>
        </p:nvSpPr>
        <p:spPr bwMode="auto">
          <a:xfrm>
            <a:off x="6700838" y="2633663"/>
            <a:ext cx="76200" cy="76200"/>
          </a:xfrm>
          <a:prstGeom prst="ellipse">
            <a:avLst/>
          </a:prstGeom>
          <a:solidFill>
            <a:srgbClr val="3333FF"/>
          </a:solidFill>
          <a:ln w="9525">
            <a:solidFill>
              <a:schemeClr val="tx1"/>
            </a:solidFill>
            <a:round/>
            <a:headEnd/>
            <a:tailEnd/>
          </a:ln>
        </p:spPr>
        <p:txBody>
          <a:bodyPr wrap="none" anchor="ctr"/>
          <a:lstStyle/>
          <a:p>
            <a:endParaRPr lang="zh-CN" altLang="en-US"/>
          </a:p>
        </p:txBody>
      </p:sp>
      <p:sp>
        <p:nvSpPr>
          <p:cNvPr id="208915" name="Text Box 19"/>
          <p:cNvSpPr txBox="1">
            <a:spLocks noChangeArrowheads="1"/>
          </p:cNvSpPr>
          <p:nvPr/>
        </p:nvSpPr>
        <p:spPr bwMode="auto">
          <a:xfrm>
            <a:off x="6551613" y="2663825"/>
            <a:ext cx="449262" cy="396875"/>
          </a:xfrm>
          <a:prstGeom prst="rect">
            <a:avLst/>
          </a:prstGeom>
          <a:noFill/>
          <a:ln w="9525">
            <a:noFill/>
            <a:miter lim="800000"/>
            <a:headEnd/>
            <a:tailEnd/>
          </a:ln>
        </p:spPr>
        <p:txBody>
          <a:bodyPr>
            <a:spAutoFit/>
          </a:bodyPr>
          <a:lstStyle/>
          <a:p>
            <a:pPr>
              <a:spcBef>
                <a:spcPct val="50000"/>
              </a:spcBef>
            </a:pPr>
            <a:r>
              <a:rPr lang="en-US" altLang="zh-CN" sz="2000" b="1" i="1">
                <a:solidFill>
                  <a:srgbClr val="3333FF"/>
                </a:solidFill>
              </a:rPr>
              <a:t>P</a:t>
            </a:r>
          </a:p>
        </p:txBody>
      </p:sp>
      <p:sp>
        <p:nvSpPr>
          <p:cNvPr id="208916" name="Oval 20"/>
          <p:cNvSpPr>
            <a:spLocks noChangeArrowheads="1"/>
          </p:cNvSpPr>
          <p:nvPr/>
        </p:nvSpPr>
        <p:spPr bwMode="auto">
          <a:xfrm>
            <a:off x="7677150" y="2633663"/>
            <a:ext cx="76200" cy="76200"/>
          </a:xfrm>
          <a:prstGeom prst="ellipse">
            <a:avLst/>
          </a:prstGeom>
          <a:solidFill>
            <a:srgbClr val="008080"/>
          </a:solidFill>
          <a:ln w="9525">
            <a:solidFill>
              <a:schemeClr val="tx1"/>
            </a:solidFill>
            <a:round/>
            <a:headEnd/>
            <a:tailEnd/>
          </a:ln>
        </p:spPr>
        <p:txBody>
          <a:bodyPr wrap="none" anchor="ctr"/>
          <a:lstStyle/>
          <a:p>
            <a:endParaRPr lang="zh-CN" altLang="en-US"/>
          </a:p>
        </p:txBody>
      </p:sp>
      <p:sp>
        <p:nvSpPr>
          <p:cNvPr id="208917" name="Text Box 21"/>
          <p:cNvSpPr txBox="1">
            <a:spLocks noChangeArrowheads="1"/>
          </p:cNvSpPr>
          <p:nvPr/>
        </p:nvSpPr>
        <p:spPr bwMode="auto">
          <a:xfrm>
            <a:off x="7543800" y="2663825"/>
            <a:ext cx="493713" cy="396875"/>
          </a:xfrm>
          <a:prstGeom prst="rect">
            <a:avLst/>
          </a:prstGeom>
          <a:noFill/>
          <a:ln w="9525">
            <a:noFill/>
            <a:miter lim="800000"/>
            <a:headEnd/>
            <a:tailEnd/>
          </a:ln>
        </p:spPr>
        <p:txBody>
          <a:bodyPr>
            <a:spAutoFit/>
          </a:bodyPr>
          <a:lstStyle/>
          <a:p>
            <a:pPr>
              <a:spcBef>
                <a:spcPct val="50000"/>
              </a:spcBef>
            </a:pPr>
            <a:r>
              <a:rPr lang="en-US" altLang="zh-CN" sz="2000" b="1" i="1">
                <a:solidFill>
                  <a:srgbClr val="009999"/>
                </a:solidFill>
              </a:rPr>
              <a:t>P</a:t>
            </a:r>
          </a:p>
        </p:txBody>
      </p:sp>
      <p:graphicFrame>
        <p:nvGraphicFramePr>
          <p:cNvPr id="208918" name="Object 22"/>
          <p:cNvGraphicFramePr>
            <a:graphicFrameLocks/>
          </p:cNvGraphicFramePr>
          <p:nvPr/>
        </p:nvGraphicFramePr>
        <p:xfrm>
          <a:off x="1430338" y="3683000"/>
          <a:ext cx="2649537" cy="690563"/>
        </p:xfrm>
        <a:graphic>
          <a:graphicData uri="http://schemas.openxmlformats.org/presentationml/2006/ole">
            <p:oleObj spid="_x0000_s36868" name="公式" r:id="rId5" imgW="1562040" imgH="406080" progId="Equation.3">
              <p:embed/>
            </p:oleObj>
          </a:graphicData>
        </a:graphic>
      </p:graphicFrame>
      <p:graphicFrame>
        <p:nvGraphicFramePr>
          <p:cNvPr id="208919" name="Object 23"/>
          <p:cNvGraphicFramePr>
            <a:graphicFrameLocks/>
          </p:cNvGraphicFramePr>
          <p:nvPr/>
        </p:nvGraphicFramePr>
        <p:xfrm>
          <a:off x="4122738" y="3862388"/>
          <a:ext cx="581025" cy="301625"/>
        </p:xfrm>
        <a:graphic>
          <a:graphicData uri="http://schemas.openxmlformats.org/presentationml/2006/ole">
            <p:oleObj spid="_x0000_s36869" name="公式" r:id="rId6" imgW="342720" imgH="177480" progId="Equation.3">
              <p:embed/>
            </p:oleObj>
          </a:graphicData>
        </a:graphic>
      </p:graphicFrame>
      <p:sp>
        <p:nvSpPr>
          <p:cNvPr id="208920" name="Text Box 24"/>
          <p:cNvSpPr txBox="1">
            <a:spLocks noChangeArrowheads="1"/>
          </p:cNvSpPr>
          <p:nvPr/>
        </p:nvSpPr>
        <p:spPr bwMode="auto">
          <a:xfrm>
            <a:off x="4883150" y="3817938"/>
            <a:ext cx="1714500" cy="457200"/>
          </a:xfrm>
          <a:prstGeom prst="rect">
            <a:avLst/>
          </a:prstGeom>
          <a:noFill/>
          <a:ln w="9525">
            <a:noFill/>
            <a:miter lim="800000"/>
            <a:headEnd/>
            <a:tailEnd/>
          </a:ln>
        </p:spPr>
        <p:txBody>
          <a:bodyPr>
            <a:spAutoFit/>
          </a:bodyPr>
          <a:lstStyle/>
          <a:p>
            <a:pPr>
              <a:spcBef>
                <a:spcPct val="50000"/>
              </a:spcBef>
            </a:pPr>
            <a:r>
              <a:rPr lang="zh-CN" altLang="en-US" b="1">
                <a:solidFill>
                  <a:srgbClr val="FF3300"/>
                </a:solidFill>
                <a:ea typeface="楷体_GB2312" pitchFamily="49" charset="-122"/>
              </a:rPr>
              <a:t>无静止点</a:t>
            </a:r>
          </a:p>
        </p:txBody>
      </p:sp>
      <p:sp>
        <p:nvSpPr>
          <p:cNvPr id="208921" name="Text Box 25"/>
          <p:cNvSpPr txBox="1">
            <a:spLocks noChangeArrowheads="1"/>
          </p:cNvSpPr>
          <p:nvPr/>
        </p:nvSpPr>
        <p:spPr bwMode="auto">
          <a:xfrm>
            <a:off x="474663" y="4457700"/>
            <a:ext cx="3962400" cy="457200"/>
          </a:xfrm>
          <a:prstGeom prst="rect">
            <a:avLst/>
          </a:prstGeom>
          <a:noFill/>
          <a:ln w="9525">
            <a:noFill/>
            <a:miter lim="800000"/>
            <a:headEnd/>
            <a:tailEnd/>
          </a:ln>
        </p:spPr>
        <p:txBody>
          <a:bodyPr>
            <a:spAutoFit/>
          </a:bodyPr>
          <a:lstStyle/>
          <a:p>
            <a:pPr>
              <a:spcBef>
                <a:spcPct val="50000"/>
              </a:spcBef>
            </a:pPr>
            <a:r>
              <a:rPr lang="en-US" altLang="zh-CN" b="1"/>
              <a:t>(2)  </a:t>
            </a:r>
            <a:r>
              <a:rPr lang="zh-CN" altLang="en-US" b="1"/>
              <a:t>位于 </a:t>
            </a:r>
            <a:r>
              <a:rPr lang="en-US" altLang="zh-CN" b="1" i="1">
                <a:solidFill>
                  <a:srgbClr val="FF6600"/>
                </a:solidFill>
              </a:rPr>
              <a:t>S</a:t>
            </a:r>
            <a:r>
              <a:rPr lang="en-US" altLang="zh-CN" b="1" baseline="-25000">
                <a:solidFill>
                  <a:srgbClr val="FF6600"/>
                </a:solidFill>
              </a:rPr>
              <a:t>2 </a:t>
            </a:r>
            <a:r>
              <a:rPr lang="zh-CN" altLang="en-US" b="1"/>
              <a:t>右侧部分</a:t>
            </a:r>
          </a:p>
        </p:txBody>
      </p:sp>
      <p:graphicFrame>
        <p:nvGraphicFramePr>
          <p:cNvPr id="208922" name="Object 26"/>
          <p:cNvGraphicFramePr>
            <a:graphicFrameLocks/>
          </p:cNvGraphicFramePr>
          <p:nvPr/>
        </p:nvGraphicFramePr>
        <p:xfrm>
          <a:off x="1422400" y="4943475"/>
          <a:ext cx="2649538" cy="690563"/>
        </p:xfrm>
        <a:graphic>
          <a:graphicData uri="http://schemas.openxmlformats.org/presentationml/2006/ole">
            <p:oleObj spid="_x0000_s36870" name="公式" r:id="rId7" imgW="1562040" imgH="406080" progId="Equation.3">
              <p:embed/>
            </p:oleObj>
          </a:graphicData>
        </a:graphic>
      </p:graphicFrame>
      <p:graphicFrame>
        <p:nvGraphicFramePr>
          <p:cNvPr id="208923" name="Object 27"/>
          <p:cNvGraphicFramePr>
            <a:graphicFrameLocks/>
          </p:cNvGraphicFramePr>
          <p:nvPr/>
        </p:nvGraphicFramePr>
        <p:xfrm>
          <a:off x="4092575" y="5153025"/>
          <a:ext cx="730250" cy="301625"/>
        </p:xfrm>
        <a:graphic>
          <a:graphicData uri="http://schemas.openxmlformats.org/presentationml/2006/ole">
            <p:oleObj spid="_x0000_s36871" name="公式" r:id="rId8" imgW="431640" imgH="177480" progId="Equation.3">
              <p:embed/>
            </p:oleObj>
          </a:graphicData>
        </a:graphic>
      </p:graphicFrame>
      <p:sp>
        <p:nvSpPr>
          <p:cNvPr id="208924" name="Text Box 28"/>
          <p:cNvSpPr txBox="1">
            <a:spLocks noChangeArrowheads="1"/>
          </p:cNvSpPr>
          <p:nvPr/>
        </p:nvSpPr>
        <p:spPr bwMode="auto">
          <a:xfrm>
            <a:off x="4932363" y="5049838"/>
            <a:ext cx="1714500" cy="457200"/>
          </a:xfrm>
          <a:prstGeom prst="rect">
            <a:avLst/>
          </a:prstGeom>
          <a:noFill/>
          <a:ln w="9525">
            <a:noFill/>
            <a:miter lim="800000"/>
            <a:headEnd/>
            <a:tailEnd/>
          </a:ln>
        </p:spPr>
        <p:txBody>
          <a:bodyPr>
            <a:spAutoFit/>
          </a:bodyPr>
          <a:lstStyle/>
          <a:p>
            <a:pPr>
              <a:spcBef>
                <a:spcPct val="50000"/>
              </a:spcBef>
            </a:pPr>
            <a:r>
              <a:rPr lang="zh-CN" altLang="en-US" b="1">
                <a:solidFill>
                  <a:srgbClr val="FF3300"/>
                </a:solidFill>
                <a:ea typeface="楷体_GB2312" pitchFamily="49" charset="-122"/>
              </a:rPr>
              <a:t>无静止点</a:t>
            </a:r>
          </a:p>
        </p:txBody>
      </p:sp>
      <p:sp>
        <p:nvSpPr>
          <p:cNvPr id="208925" name="Text Box 29"/>
          <p:cNvSpPr txBox="1">
            <a:spLocks noChangeArrowheads="1"/>
          </p:cNvSpPr>
          <p:nvPr/>
        </p:nvSpPr>
        <p:spPr bwMode="auto">
          <a:xfrm>
            <a:off x="503238" y="5807075"/>
            <a:ext cx="7264400" cy="457200"/>
          </a:xfrm>
          <a:prstGeom prst="rect">
            <a:avLst/>
          </a:prstGeom>
          <a:noFill/>
          <a:ln w="9525">
            <a:noFill/>
            <a:miter lim="800000"/>
            <a:headEnd/>
            <a:tailEnd/>
          </a:ln>
        </p:spPr>
        <p:txBody>
          <a:bodyPr>
            <a:spAutoFit/>
          </a:bodyPr>
          <a:lstStyle/>
          <a:p>
            <a:pPr>
              <a:spcBef>
                <a:spcPct val="50000"/>
              </a:spcBef>
            </a:pPr>
            <a:r>
              <a:rPr lang="en-US" altLang="zh-CN" b="1"/>
              <a:t>(3)  </a:t>
            </a:r>
            <a:r>
              <a:rPr lang="zh-CN" altLang="en-US" b="1"/>
              <a:t>在 </a:t>
            </a:r>
            <a:r>
              <a:rPr lang="en-US" altLang="zh-CN" b="1" i="1">
                <a:solidFill>
                  <a:srgbClr val="FF6600"/>
                </a:solidFill>
              </a:rPr>
              <a:t>S</a:t>
            </a:r>
            <a:r>
              <a:rPr lang="en-US" altLang="zh-CN" b="1" baseline="-25000">
                <a:solidFill>
                  <a:srgbClr val="FF6600"/>
                </a:solidFill>
              </a:rPr>
              <a:t>1</a:t>
            </a:r>
            <a:r>
              <a:rPr lang="en-US" altLang="zh-CN" b="1" baseline="-25000"/>
              <a:t>  </a:t>
            </a:r>
            <a:r>
              <a:rPr lang="zh-CN" altLang="en-US" b="1"/>
              <a:t>、</a:t>
            </a:r>
            <a:r>
              <a:rPr lang="en-US" altLang="zh-CN" b="1" i="1">
                <a:solidFill>
                  <a:srgbClr val="FF6600"/>
                </a:solidFill>
              </a:rPr>
              <a:t>S</a:t>
            </a:r>
            <a:r>
              <a:rPr lang="en-US" altLang="zh-CN" b="1" baseline="-25000">
                <a:solidFill>
                  <a:srgbClr val="FF6600"/>
                </a:solidFill>
              </a:rPr>
              <a:t>2 </a:t>
            </a:r>
            <a:r>
              <a:rPr lang="zh-CN" altLang="en-US" b="1"/>
              <a:t>两点连线间，</a:t>
            </a:r>
            <a:r>
              <a:rPr lang="en-US" altLang="zh-CN" b="1" i="1">
                <a:solidFill>
                  <a:srgbClr val="FF6600"/>
                </a:solidFill>
              </a:rPr>
              <a:t>r</a:t>
            </a:r>
            <a:r>
              <a:rPr lang="en-US" altLang="zh-CN" b="1" baseline="-25000">
                <a:solidFill>
                  <a:srgbClr val="FF6600"/>
                </a:solidFill>
              </a:rPr>
              <a:t>2 </a:t>
            </a:r>
            <a:r>
              <a:rPr lang="en-US" altLang="zh-CN" b="1">
                <a:solidFill>
                  <a:srgbClr val="FF6600"/>
                </a:solidFill>
              </a:rPr>
              <a:t>= 10 – </a:t>
            </a:r>
            <a:r>
              <a:rPr lang="en-US" altLang="zh-CN" b="1" i="1">
                <a:solidFill>
                  <a:srgbClr val="FF6600"/>
                </a:solidFill>
              </a:rPr>
              <a:t>x</a:t>
            </a:r>
            <a:r>
              <a:rPr lang="en-US" altLang="zh-CN" b="1" i="1"/>
              <a:t> </a:t>
            </a:r>
            <a:r>
              <a:rPr lang="zh-CN" altLang="en-US" b="1"/>
              <a:t>，</a:t>
            </a:r>
            <a:r>
              <a:rPr lang="zh-CN" altLang="en-US" b="1" i="1"/>
              <a:t> </a:t>
            </a:r>
            <a:r>
              <a:rPr lang="en-US" altLang="zh-CN" b="1" i="1">
                <a:solidFill>
                  <a:srgbClr val="FF6600"/>
                </a:solidFill>
              </a:rPr>
              <a:t>r</a:t>
            </a:r>
            <a:r>
              <a:rPr lang="en-US" altLang="zh-CN" b="1" baseline="-25000">
                <a:solidFill>
                  <a:srgbClr val="FF6600"/>
                </a:solidFill>
              </a:rPr>
              <a:t>1 </a:t>
            </a:r>
            <a:r>
              <a:rPr lang="en-US" altLang="zh-CN" b="1">
                <a:solidFill>
                  <a:srgbClr val="FF6600"/>
                </a:solidFill>
              </a:rPr>
              <a:t>= 10 + </a:t>
            </a:r>
            <a:r>
              <a:rPr lang="en-US" altLang="zh-CN" b="1" i="1">
                <a:solidFill>
                  <a:srgbClr val="FF6600"/>
                </a:solidFill>
              </a:rPr>
              <a:t>x</a:t>
            </a:r>
            <a:endParaRPr lang="en-US" altLang="zh-CN" b="1" i="1"/>
          </a:p>
        </p:txBody>
      </p:sp>
      <p:sp>
        <p:nvSpPr>
          <p:cNvPr id="208926" name="AutoShape 30"/>
          <p:cNvSpPr>
            <a:spLocks noChangeArrowheads="1"/>
          </p:cNvSpPr>
          <p:nvPr/>
        </p:nvSpPr>
        <p:spPr bwMode="auto">
          <a:xfrm>
            <a:off x="1916113" y="2754313"/>
            <a:ext cx="360362" cy="90487"/>
          </a:xfrm>
          <a:prstGeom prst="rightArrow">
            <a:avLst>
              <a:gd name="adj1" fmla="val 50000"/>
              <a:gd name="adj2" fmla="val 99562"/>
            </a:avLst>
          </a:prstGeom>
          <a:solidFill>
            <a:srgbClr val="3333FF"/>
          </a:solidFill>
          <a:ln w="9525" algn="ctr">
            <a:solidFill>
              <a:schemeClr val="tx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8898"/>
                                        </p:tgtEl>
                                        <p:attrNameLst>
                                          <p:attrName>style.visibility</p:attrName>
                                        </p:attrNameLst>
                                      </p:cBhvr>
                                      <p:to>
                                        <p:strVal val="visible"/>
                                      </p:to>
                                    </p:set>
                                    <p:animEffect transition="in" filter="wipe(left)">
                                      <p:cBhvr>
                                        <p:cTn id="7" dur="500"/>
                                        <p:tgtEl>
                                          <p:spTgt spid="2088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8899"/>
                                        </p:tgtEl>
                                        <p:attrNameLst>
                                          <p:attrName>style.visibility</p:attrName>
                                        </p:attrNameLst>
                                      </p:cBhvr>
                                      <p:to>
                                        <p:strVal val="visible"/>
                                      </p:to>
                                    </p:set>
                                    <p:animEffect transition="in" filter="wipe(left)">
                                      <p:cBhvr>
                                        <p:cTn id="12" dur="1000"/>
                                        <p:tgtEl>
                                          <p:spTgt spid="2088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8900"/>
                                        </p:tgtEl>
                                        <p:attrNameLst>
                                          <p:attrName>style.visibility</p:attrName>
                                        </p:attrNameLst>
                                      </p:cBhvr>
                                      <p:to>
                                        <p:strVal val="visible"/>
                                      </p:to>
                                    </p:set>
                                    <p:animEffect transition="in" filter="wipe(left)">
                                      <p:cBhvr>
                                        <p:cTn id="17" dur="500"/>
                                        <p:tgtEl>
                                          <p:spTgt spid="2089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8901"/>
                                        </p:tgtEl>
                                        <p:attrNameLst>
                                          <p:attrName>style.visibility</p:attrName>
                                        </p:attrNameLst>
                                      </p:cBhvr>
                                      <p:to>
                                        <p:strVal val="visible"/>
                                      </p:to>
                                    </p:set>
                                    <p:animEffect transition="in" filter="wipe(left)">
                                      <p:cBhvr>
                                        <p:cTn id="22" dur="1000"/>
                                        <p:tgtEl>
                                          <p:spTgt spid="20890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10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8908"/>
                                        </p:tgtEl>
                                        <p:attrNameLst>
                                          <p:attrName>style.visibility</p:attrName>
                                        </p:attrNameLst>
                                      </p:cBhvr>
                                      <p:to>
                                        <p:strVal val="visible"/>
                                      </p:to>
                                    </p:set>
                                    <p:animEffect transition="in" filter="wipe(left)">
                                      <p:cBhvr>
                                        <p:cTn id="32" dur="1000"/>
                                        <p:tgtEl>
                                          <p:spTgt spid="20890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08909"/>
                                        </p:tgtEl>
                                        <p:attrNameLst>
                                          <p:attrName>style.visibility</p:attrName>
                                        </p:attrNameLst>
                                      </p:cBhvr>
                                      <p:to>
                                        <p:strVal val="visible"/>
                                      </p:to>
                                    </p:set>
                                    <p:animEffect transition="in" filter="wipe(left)">
                                      <p:cBhvr>
                                        <p:cTn id="37" dur="1000"/>
                                        <p:tgtEl>
                                          <p:spTgt spid="20890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8926"/>
                                        </p:tgtEl>
                                        <p:attrNameLst>
                                          <p:attrName>style.visibility</p:attrName>
                                        </p:attrNameLst>
                                      </p:cBhvr>
                                      <p:to>
                                        <p:strVal val="visible"/>
                                      </p:to>
                                    </p:set>
                                    <p:animEffect transition="in" filter="wipe(left)">
                                      <p:cBhvr>
                                        <p:cTn id="42" dur="1000"/>
                                        <p:tgtEl>
                                          <p:spTgt spid="20892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08910"/>
                                        </p:tgtEl>
                                        <p:attrNameLst>
                                          <p:attrName>style.visibility</p:attrName>
                                        </p:attrNameLst>
                                      </p:cBhvr>
                                      <p:to>
                                        <p:strVal val="visible"/>
                                      </p:to>
                                    </p:set>
                                    <p:animEffect transition="in" filter="wipe(left)">
                                      <p:cBhvr>
                                        <p:cTn id="47" dur="1000"/>
                                        <p:tgtEl>
                                          <p:spTgt spid="20891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08911"/>
                                        </p:tgtEl>
                                        <p:attrNameLst>
                                          <p:attrName>style.visibility</p:attrName>
                                        </p:attrNameLst>
                                      </p:cBhvr>
                                      <p:to>
                                        <p:strVal val="visible"/>
                                      </p:to>
                                    </p:set>
                                    <p:animEffect transition="in" filter="wipe(left)">
                                      <p:cBhvr>
                                        <p:cTn id="52" dur="1000"/>
                                        <p:tgtEl>
                                          <p:spTgt spid="2089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08912"/>
                                        </p:tgtEl>
                                        <p:attrNameLst>
                                          <p:attrName>style.visibility</p:attrName>
                                        </p:attrNameLst>
                                      </p:cBhvr>
                                      <p:to>
                                        <p:strVal val="visible"/>
                                      </p:to>
                                    </p:set>
                                    <p:animEffect transition="in" filter="wipe(left)">
                                      <p:cBhvr>
                                        <p:cTn id="57" dur="1000"/>
                                        <p:tgtEl>
                                          <p:spTgt spid="20891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08913"/>
                                        </p:tgtEl>
                                        <p:attrNameLst>
                                          <p:attrName>style.visibility</p:attrName>
                                        </p:attrNameLst>
                                      </p:cBhvr>
                                      <p:to>
                                        <p:strVal val="visible"/>
                                      </p:to>
                                    </p:set>
                                    <p:animEffect transition="in" filter="wipe(left)">
                                      <p:cBhvr>
                                        <p:cTn id="62" dur="1000"/>
                                        <p:tgtEl>
                                          <p:spTgt spid="20891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08918"/>
                                        </p:tgtEl>
                                        <p:attrNameLst>
                                          <p:attrName>style.visibility</p:attrName>
                                        </p:attrNameLst>
                                      </p:cBhvr>
                                      <p:to>
                                        <p:strVal val="visible"/>
                                      </p:to>
                                    </p:set>
                                    <p:animEffect transition="in" filter="wipe(left)">
                                      <p:cBhvr>
                                        <p:cTn id="67" dur="1000"/>
                                        <p:tgtEl>
                                          <p:spTgt spid="20891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08919"/>
                                        </p:tgtEl>
                                        <p:attrNameLst>
                                          <p:attrName>style.visibility</p:attrName>
                                        </p:attrNameLst>
                                      </p:cBhvr>
                                      <p:to>
                                        <p:strVal val="visible"/>
                                      </p:to>
                                    </p:set>
                                    <p:animEffect transition="in" filter="wipe(left)">
                                      <p:cBhvr>
                                        <p:cTn id="72" dur="1000"/>
                                        <p:tgtEl>
                                          <p:spTgt spid="20891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08920"/>
                                        </p:tgtEl>
                                        <p:attrNameLst>
                                          <p:attrName>style.visibility</p:attrName>
                                        </p:attrNameLst>
                                      </p:cBhvr>
                                      <p:to>
                                        <p:strVal val="visible"/>
                                      </p:to>
                                    </p:set>
                                    <p:animEffect transition="in" filter="wipe(left)">
                                      <p:cBhvr>
                                        <p:cTn id="77" dur="1000"/>
                                        <p:tgtEl>
                                          <p:spTgt spid="20892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08921"/>
                                        </p:tgtEl>
                                        <p:attrNameLst>
                                          <p:attrName>style.visibility</p:attrName>
                                        </p:attrNameLst>
                                      </p:cBhvr>
                                      <p:to>
                                        <p:strVal val="visible"/>
                                      </p:to>
                                    </p:set>
                                    <p:animEffect transition="in" filter="wipe(left)">
                                      <p:cBhvr>
                                        <p:cTn id="82" dur="1000"/>
                                        <p:tgtEl>
                                          <p:spTgt spid="208921"/>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08916"/>
                                        </p:tgtEl>
                                        <p:attrNameLst>
                                          <p:attrName>style.visibility</p:attrName>
                                        </p:attrNameLst>
                                      </p:cBhvr>
                                      <p:to>
                                        <p:strVal val="visible"/>
                                      </p:to>
                                    </p:set>
                                    <p:animEffect transition="in" filter="wipe(left)">
                                      <p:cBhvr>
                                        <p:cTn id="87" dur="1000"/>
                                        <p:tgtEl>
                                          <p:spTgt spid="208916"/>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08917"/>
                                        </p:tgtEl>
                                        <p:attrNameLst>
                                          <p:attrName>style.visibility</p:attrName>
                                        </p:attrNameLst>
                                      </p:cBhvr>
                                      <p:to>
                                        <p:strVal val="visible"/>
                                      </p:to>
                                    </p:set>
                                    <p:animEffect transition="in" filter="wipe(left)">
                                      <p:cBhvr>
                                        <p:cTn id="92" dur="1000"/>
                                        <p:tgtEl>
                                          <p:spTgt spid="208917"/>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208922"/>
                                        </p:tgtEl>
                                        <p:attrNameLst>
                                          <p:attrName>style.visibility</p:attrName>
                                        </p:attrNameLst>
                                      </p:cBhvr>
                                      <p:to>
                                        <p:strVal val="visible"/>
                                      </p:to>
                                    </p:set>
                                    <p:animEffect transition="in" filter="wipe(left)">
                                      <p:cBhvr>
                                        <p:cTn id="97" dur="1000"/>
                                        <p:tgtEl>
                                          <p:spTgt spid="20892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208923"/>
                                        </p:tgtEl>
                                        <p:attrNameLst>
                                          <p:attrName>style.visibility</p:attrName>
                                        </p:attrNameLst>
                                      </p:cBhvr>
                                      <p:to>
                                        <p:strVal val="visible"/>
                                      </p:to>
                                    </p:set>
                                    <p:animEffect transition="in" filter="wipe(left)">
                                      <p:cBhvr>
                                        <p:cTn id="102" dur="1000"/>
                                        <p:tgtEl>
                                          <p:spTgt spid="208923"/>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08924"/>
                                        </p:tgtEl>
                                        <p:attrNameLst>
                                          <p:attrName>style.visibility</p:attrName>
                                        </p:attrNameLst>
                                      </p:cBhvr>
                                      <p:to>
                                        <p:strVal val="visible"/>
                                      </p:to>
                                    </p:set>
                                    <p:animEffect transition="in" filter="wipe(left)">
                                      <p:cBhvr>
                                        <p:cTn id="107" dur="1000"/>
                                        <p:tgtEl>
                                          <p:spTgt spid="208924"/>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208925"/>
                                        </p:tgtEl>
                                        <p:attrNameLst>
                                          <p:attrName>style.visibility</p:attrName>
                                        </p:attrNameLst>
                                      </p:cBhvr>
                                      <p:to>
                                        <p:strVal val="visible"/>
                                      </p:to>
                                    </p:set>
                                    <p:animEffect transition="in" filter="wipe(left)">
                                      <p:cBhvr>
                                        <p:cTn id="112" dur="1000"/>
                                        <p:tgtEl>
                                          <p:spTgt spid="208925"/>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208914"/>
                                        </p:tgtEl>
                                        <p:attrNameLst>
                                          <p:attrName>style.visibility</p:attrName>
                                        </p:attrNameLst>
                                      </p:cBhvr>
                                      <p:to>
                                        <p:strVal val="visible"/>
                                      </p:to>
                                    </p:set>
                                    <p:animEffect transition="in" filter="wipe(left)">
                                      <p:cBhvr>
                                        <p:cTn id="117" dur="1000"/>
                                        <p:tgtEl>
                                          <p:spTgt spid="208914"/>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208915"/>
                                        </p:tgtEl>
                                        <p:attrNameLst>
                                          <p:attrName>style.visibility</p:attrName>
                                        </p:attrNameLst>
                                      </p:cBhvr>
                                      <p:to>
                                        <p:strVal val="visible"/>
                                      </p:to>
                                    </p:set>
                                    <p:animEffect transition="in" filter="wipe(left)">
                                      <p:cBhvr>
                                        <p:cTn id="122" dur="1000"/>
                                        <p:tgtEl>
                                          <p:spTgt spid="208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8" grpId="0" autoUpdateAnimBg="0"/>
      <p:bldP spid="208899" grpId="0"/>
      <p:bldP spid="208900" grpId="0" autoUpdateAnimBg="0"/>
      <p:bldP spid="208901" grpId="0"/>
      <p:bldP spid="208908" grpId="0"/>
      <p:bldP spid="208911" grpId="0"/>
      <p:bldP spid="208912" grpId="0" animBg="1"/>
      <p:bldP spid="208913" grpId="0"/>
      <p:bldP spid="208914" grpId="0" animBg="1"/>
      <p:bldP spid="208915" grpId="0"/>
      <p:bldP spid="208916" grpId="0" animBg="1"/>
      <p:bldP spid="208917" grpId="0"/>
      <p:bldP spid="208920" grpId="0"/>
      <p:bldP spid="208921" grpId="0"/>
      <p:bldP spid="208924" grpId="0"/>
      <p:bldP spid="208925" grpId="0"/>
      <p:bldP spid="20892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9922" name="Object 2"/>
          <p:cNvGraphicFramePr>
            <a:graphicFrameLocks noChangeAspect="1"/>
          </p:cNvGraphicFramePr>
          <p:nvPr/>
        </p:nvGraphicFramePr>
        <p:xfrm>
          <a:off x="431800" y="773113"/>
          <a:ext cx="3948113" cy="692150"/>
        </p:xfrm>
        <a:graphic>
          <a:graphicData uri="http://schemas.openxmlformats.org/presentationml/2006/ole">
            <p:oleObj spid="_x0000_s37890" name="公式" r:id="rId3" imgW="2247840" imgH="406080" progId="Equation.3">
              <p:embed/>
            </p:oleObj>
          </a:graphicData>
        </a:graphic>
      </p:graphicFrame>
      <p:sp>
        <p:nvSpPr>
          <p:cNvPr id="209923" name="AutoShape 3"/>
          <p:cNvSpPr>
            <a:spLocks noChangeArrowheads="1"/>
          </p:cNvSpPr>
          <p:nvPr/>
        </p:nvSpPr>
        <p:spPr bwMode="auto">
          <a:xfrm>
            <a:off x="4572000" y="1087438"/>
            <a:ext cx="360363" cy="90487"/>
          </a:xfrm>
          <a:prstGeom prst="rightArrow">
            <a:avLst>
              <a:gd name="adj1" fmla="val 50000"/>
              <a:gd name="adj2" fmla="val 99562"/>
            </a:avLst>
          </a:prstGeom>
          <a:solidFill>
            <a:srgbClr val="3333FF"/>
          </a:solidFill>
          <a:ln w="9525" algn="ctr">
            <a:solidFill>
              <a:schemeClr val="tx1"/>
            </a:solidFill>
            <a:miter lim="800000"/>
            <a:headEnd/>
            <a:tailEnd/>
          </a:ln>
        </p:spPr>
        <p:txBody>
          <a:bodyPr wrap="none" anchor="ctr"/>
          <a:lstStyle/>
          <a:p>
            <a:endParaRPr lang="zh-CN" altLang="en-US"/>
          </a:p>
        </p:txBody>
      </p:sp>
      <p:graphicFrame>
        <p:nvGraphicFramePr>
          <p:cNvPr id="209924" name="Object 4"/>
          <p:cNvGraphicFramePr>
            <a:graphicFrameLocks/>
          </p:cNvGraphicFramePr>
          <p:nvPr/>
        </p:nvGraphicFramePr>
        <p:xfrm>
          <a:off x="5111750" y="728663"/>
          <a:ext cx="2224088" cy="690562"/>
        </p:xfrm>
        <a:graphic>
          <a:graphicData uri="http://schemas.openxmlformats.org/presentationml/2006/ole">
            <p:oleObj spid="_x0000_s37891" name="公式" r:id="rId4" imgW="1307880" imgH="406080" progId="Equation.3">
              <p:embed/>
            </p:oleObj>
          </a:graphicData>
        </a:graphic>
      </p:graphicFrame>
      <p:graphicFrame>
        <p:nvGraphicFramePr>
          <p:cNvPr id="209925" name="Object 5"/>
          <p:cNvGraphicFramePr>
            <a:graphicFrameLocks noChangeAspect="1"/>
          </p:cNvGraphicFramePr>
          <p:nvPr/>
        </p:nvGraphicFramePr>
        <p:xfrm>
          <a:off x="1301750" y="2033588"/>
          <a:ext cx="846138" cy="320675"/>
        </p:xfrm>
        <a:graphic>
          <a:graphicData uri="http://schemas.openxmlformats.org/presentationml/2006/ole">
            <p:oleObj spid="_x0000_s37892" name="公式" r:id="rId5" imgW="469800" imgH="177480" progId="Equation.3">
              <p:embed/>
            </p:oleObj>
          </a:graphicData>
        </a:graphic>
      </p:graphicFrame>
      <p:graphicFrame>
        <p:nvGraphicFramePr>
          <p:cNvPr id="209926" name="Object 6"/>
          <p:cNvGraphicFramePr>
            <a:graphicFrameLocks noChangeAspect="1"/>
          </p:cNvGraphicFramePr>
          <p:nvPr/>
        </p:nvGraphicFramePr>
        <p:xfrm>
          <a:off x="2760663" y="2028825"/>
          <a:ext cx="2667000" cy="366713"/>
        </p:xfrm>
        <a:graphic>
          <a:graphicData uri="http://schemas.openxmlformats.org/presentationml/2006/ole">
            <p:oleObj spid="_x0000_s37893" name="公式" r:id="rId6" imgW="1473120" imgH="203040" progId="Equation.3">
              <p:embed/>
            </p:oleObj>
          </a:graphicData>
        </a:graphic>
      </p:graphicFrame>
      <p:sp>
        <p:nvSpPr>
          <p:cNvPr id="209927" name="Text Box 7"/>
          <p:cNvSpPr txBox="1">
            <a:spLocks noChangeArrowheads="1"/>
          </p:cNvSpPr>
          <p:nvPr/>
        </p:nvSpPr>
        <p:spPr bwMode="auto">
          <a:xfrm>
            <a:off x="522288" y="3333750"/>
            <a:ext cx="3419475" cy="457200"/>
          </a:xfrm>
          <a:prstGeom prst="rect">
            <a:avLst/>
          </a:prstGeom>
          <a:noFill/>
          <a:ln w="9525">
            <a:noFill/>
            <a:miter lim="800000"/>
            <a:headEnd/>
            <a:tailEnd/>
          </a:ln>
        </p:spPr>
        <p:txBody>
          <a:bodyPr>
            <a:spAutoFit/>
          </a:bodyPr>
          <a:lstStyle/>
          <a:p>
            <a:pPr>
              <a:spcBef>
                <a:spcPct val="50000"/>
              </a:spcBef>
            </a:pPr>
            <a:r>
              <a:rPr lang="zh-CN" altLang="en-US" b="1"/>
              <a:t>即有 </a:t>
            </a:r>
            <a:r>
              <a:rPr lang="en-US" altLang="zh-CN" b="1">
                <a:solidFill>
                  <a:srgbClr val="FF6600"/>
                </a:solidFill>
              </a:rPr>
              <a:t>5 </a:t>
            </a:r>
            <a:r>
              <a:rPr lang="zh-CN" altLang="en-US" b="1"/>
              <a:t>个静止点，</a:t>
            </a:r>
          </a:p>
        </p:txBody>
      </p:sp>
      <p:sp>
        <p:nvSpPr>
          <p:cNvPr id="209928" name="Text Box 8"/>
          <p:cNvSpPr txBox="1">
            <a:spLocks noChangeArrowheads="1"/>
          </p:cNvSpPr>
          <p:nvPr/>
        </p:nvSpPr>
        <p:spPr bwMode="auto">
          <a:xfrm>
            <a:off x="522288" y="1533525"/>
            <a:ext cx="1082675" cy="457200"/>
          </a:xfrm>
          <a:prstGeom prst="rect">
            <a:avLst/>
          </a:prstGeom>
          <a:noFill/>
          <a:ln w="9525">
            <a:noFill/>
            <a:miter lim="800000"/>
            <a:headEnd/>
            <a:tailEnd/>
          </a:ln>
        </p:spPr>
        <p:txBody>
          <a:bodyPr>
            <a:spAutoFit/>
          </a:bodyPr>
          <a:lstStyle/>
          <a:p>
            <a:pPr>
              <a:spcBef>
                <a:spcPct val="50000"/>
              </a:spcBef>
            </a:pPr>
            <a:r>
              <a:rPr lang="zh-CN" altLang="en-US" b="1"/>
              <a:t>所以</a:t>
            </a:r>
          </a:p>
        </p:txBody>
      </p:sp>
      <p:sp>
        <p:nvSpPr>
          <p:cNvPr id="209929" name="Text Box 9"/>
          <p:cNvSpPr txBox="1">
            <a:spLocks noChangeArrowheads="1"/>
          </p:cNvSpPr>
          <p:nvPr/>
        </p:nvSpPr>
        <p:spPr bwMode="auto">
          <a:xfrm>
            <a:off x="522288" y="2568575"/>
            <a:ext cx="1082675" cy="457200"/>
          </a:xfrm>
          <a:prstGeom prst="rect">
            <a:avLst/>
          </a:prstGeom>
          <a:noFill/>
          <a:ln w="9525">
            <a:noFill/>
            <a:miter lim="800000"/>
            <a:headEnd/>
            <a:tailEnd/>
          </a:ln>
        </p:spPr>
        <p:txBody>
          <a:bodyPr>
            <a:spAutoFit/>
          </a:bodyPr>
          <a:lstStyle/>
          <a:p>
            <a:pPr>
              <a:spcBef>
                <a:spcPct val="50000"/>
              </a:spcBef>
            </a:pPr>
            <a:r>
              <a:rPr lang="zh-CN" altLang="en-US" b="1"/>
              <a:t>因为</a:t>
            </a:r>
          </a:p>
        </p:txBody>
      </p:sp>
      <p:graphicFrame>
        <p:nvGraphicFramePr>
          <p:cNvPr id="209930" name="Object 10"/>
          <p:cNvGraphicFramePr>
            <a:graphicFrameLocks noChangeAspect="1"/>
          </p:cNvGraphicFramePr>
          <p:nvPr/>
        </p:nvGraphicFramePr>
        <p:xfrm>
          <a:off x="1457325" y="2600325"/>
          <a:ext cx="1214438" cy="434975"/>
        </p:xfrm>
        <a:graphic>
          <a:graphicData uri="http://schemas.openxmlformats.org/presentationml/2006/ole">
            <p:oleObj spid="_x0000_s37894" name="公式" r:id="rId7" imgW="672840" imgH="241200" progId="Equation.3">
              <p:embed/>
            </p:oleObj>
          </a:graphicData>
        </a:graphic>
      </p:graphicFrame>
      <p:sp>
        <p:nvSpPr>
          <p:cNvPr id="209931" name="Text Box 11"/>
          <p:cNvSpPr txBox="1">
            <a:spLocks noChangeArrowheads="1"/>
          </p:cNvSpPr>
          <p:nvPr/>
        </p:nvSpPr>
        <p:spPr bwMode="auto">
          <a:xfrm>
            <a:off x="2816225" y="2560638"/>
            <a:ext cx="630238" cy="457200"/>
          </a:xfrm>
          <a:prstGeom prst="rect">
            <a:avLst/>
          </a:prstGeom>
          <a:noFill/>
          <a:ln w="9525">
            <a:noFill/>
            <a:miter lim="800000"/>
            <a:headEnd/>
            <a:tailEnd/>
          </a:ln>
        </p:spPr>
        <p:txBody>
          <a:bodyPr>
            <a:spAutoFit/>
          </a:bodyPr>
          <a:lstStyle/>
          <a:p>
            <a:pPr>
              <a:spcBef>
                <a:spcPct val="50000"/>
              </a:spcBef>
            </a:pPr>
            <a:r>
              <a:rPr lang="zh-CN" altLang="en-US" b="1"/>
              <a:t>故</a:t>
            </a:r>
          </a:p>
        </p:txBody>
      </p:sp>
      <p:graphicFrame>
        <p:nvGraphicFramePr>
          <p:cNvPr id="209932" name="Object 12"/>
          <p:cNvGraphicFramePr>
            <a:graphicFrameLocks noChangeAspect="1"/>
          </p:cNvGraphicFramePr>
          <p:nvPr/>
        </p:nvGraphicFramePr>
        <p:xfrm>
          <a:off x="3459163" y="2589213"/>
          <a:ext cx="731837" cy="434975"/>
        </p:xfrm>
        <a:graphic>
          <a:graphicData uri="http://schemas.openxmlformats.org/presentationml/2006/ole">
            <p:oleObj spid="_x0000_s37895" name="公式" r:id="rId8" imgW="406080" imgH="241200" progId="Equation.3">
              <p:embed/>
            </p:oleObj>
          </a:graphicData>
        </a:graphic>
      </p:graphicFrame>
      <p:graphicFrame>
        <p:nvGraphicFramePr>
          <p:cNvPr id="209933" name="Object 13"/>
          <p:cNvGraphicFramePr>
            <a:graphicFrameLocks noChangeAspect="1"/>
          </p:cNvGraphicFramePr>
          <p:nvPr/>
        </p:nvGraphicFramePr>
        <p:xfrm>
          <a:off x="3187700" y="3827463"/>
          <a:ext cx="663575" cy="320675"/>
        </p:xfrm>
        <a:graphic>
          <a:graphicData uri="http://schemas.openxmlformats.org/presentationml/2006/ole">
            <p:oleObj spid="_x0000_s37896" name="公式" r:id="rId9" imgW="368280" imgH="177480" progId="Equation.3">
              <p:embed/>
            </p:oleObj>
          </a:graphicData>
        </a:graphic>
      </p:graphicFrame>
      <p:graphicFrame>
        <p:nvGraphicFramePr>
          <p:cNvPr id="209934" name="Object 14"/>
          <p:cNvGraphicFramePr>
            <a:graphicFrameLocks noChangeAspect="1"/>
          </p:cNvGraphicFramePr>
          <p:nvPr/>
        </p:nvGraphicFramePr>
        <p:xfrm>
          <a:off x="3155950" y="4322763"/>
          <a:ext cx="1190625" cy="320675"/>
        </p:xfrm>
        <a:graphic>
          <a:graphicData uri="http://schemas.openxmlformats.org/presentationml/2006/ole">
            <p:oleObj spid="_x0000_s37897" name="公式" r:id="rId10" imgW="660240" imgH="177480" progId="Equation.3">
              <p:embed/>
            </p:oleObj>
          </a:graphicData>
        </a:graphic>
      </p:graphicFrame>
      <p:graphicFrame>
        <p:nvGraphicFramePr>
          <p:cNvPr id="209935" name="Object 15"/>
          <p:cNvGraphicFramePr>
            <a:graphicFrameLocks noChangeAspect="1"/>
          </p:cNvGraphicFramePr>
          <p:nvPr/>
        </p:nvGraphicFramePr>
        <p:xfrm>
          <a:off x="3155950" y="4818063"/>
          <a:ext cx="1190625" cy="320675"/>
        </p:xfrm>
        <a:graphic>
          <a:graphicData uri="http://schemas.openxmlformats.org/presentationml/2006/ole">
            <p:oleObj spid="_x0000_s37898" name="公式" r:id="rId11" imgW="660240" imgH="1774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9922"/>
                                        </p:tgtEl>
                                        <p:attrNameLst>
                                          <p:attrName>style.visibility</p:attrName>
                                        </p:attrNameLst>
                                      </p:cBhvr>
                                      <p:to>
                                        <p:strVal val="visible"/>
                                      </p:to>
                                    </p:set>
                                    <p:animEffect transition="in" filter="wipe(left)">
                                      <p:cBhvr>
                                        <p:cTn id="7" dur="1000"/>
                                        <p:tgtEl>
                                          <p:spTgt spid="2099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9923"/>
                                        </p:tgtEl>
                                        <p:attrNameLst>
                                          <p:attrName>style.visibility</p:attrName>
                                        </p:attrNameLst>
                                      </p:cBhvr>
                                      <p:to>
                                        <p:strVal val="visible"/>
                                      </p:to>
                                    </p:set>
                                    <p:animEffect transition="in" filter="wipe(left)">
                                      <p:cBhvr>
                                        <p:cTn id="12" dur="1000"/>
                                        <p:tgtEl>
                                          <p:spTgt spid="2099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9924"/>
                                        </p:tgtEl>
                                        <p:attrNameLst>
                                          <p:attrName>style.visibility</p:attrName>
                                        </p:attrNameLst>
                                      </p:cBhvr>
                                      <p:to>
                                        <p:strVal val="visible"/>
                                      </p:to>
                                    </p:set>
                                    <p:animEffect transition="in" filter="wipe(left)">
                                      <p:cBhvr>
                                        <p:cTn id="17" dur="1000"/>
                                        <p:tgtEl>
                                          <p:spTgt spid="2099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9928"/>
                                        </p:tgtEl>
                                        <p:attrNameLst>
                                          <p:attrName>style.visibility</p:attrName>
                                        </p:attrNameLst>
                                      </p:cBhvr>
                                      <p:to>
                                        <p:strVal val="visible"/>
                                      </p:to>
                                    </p:set>
                                    <p:animEffect transition="in" filter="wipe(left)">
                                      <p:cBhvr>
                                        <p:cTn id="22" dur="1000"/>
                                        <p:tgtEl>
                                          <p:spTgt spid="20992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9925"/>
                                        </p:tgtEl>
                                        <p:attrNameLst>
                                          <p:attrName>style.visibility</p:attrName>
                                        </p:attrNameLst>
                                      </p:cBhvr>
                                      <p:to>
                                        <p:strVal val="visible"/>
                                      </p:to>
                                    </p:set>
                                    <p:animEffect transition="in" filter="wipe(left)">
                                      <p:cBhvr>
                                        <p:cTn id="27" dur="1000"/>
                                        <p:tgtEl>
                                          <p:spTgt spid="2099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9926"/>
                                        </p:tgtEl>
                                        <p:attrNameLst>
                                          <p:attrName>style.visibility</p:attrName>
                                        </p:attrNameLst>
                                      </p:cBhvr>
                                      <p:to>
                                        <p:strVal val="visible"/>
                                      </p:to>
                                    </p:set>
                                    <p:animEffect transition="in" filter="wipe(left)">
                                      <p:cBhvr>
                                        <p:cTn id="32" dur="1000"/>
                                        <p:tgtEl>
                                          <p:spTgt spid="20992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9929"/>
                                        </p:tgtEl>
                                        <p:attrNameLst>
                                          <p:attrName>style.visibility</p:attrName>
                                        </p:attrNameLst>
                                      </p:cBhvr>
                                      <p:to>
                                        <p:strVal val="visible"/>
                                      </p:to>
                                    </p:set>
                                    <p:animEffect transition="in" filter="wipe(left)">
                                      <p:cBhvr>
                                        <p:cTn id="37" dur="1000"/>
                                        <p:tgtEl>
                                          <p:spTgt spid="20992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09930"/>
                                        </p:tgtEl>
                                        <p:attrNameLst>
                                          <p:attrName>style.visibility</p:attrName>
                                        </p:attrNameLst>
                                      </p:cBhvr>
                                      <p:to>
                                        <p:strVal val="visible"/>
                                      </p:to>
                                    </p:set>
                                    <p:animEffect transition="in" filter="wipe(left)">
                                      <p:cBhvr>
                                        <p:cTn id="42" dur="1000"/>
                                        <p:tgtEl>
                                          <p:spTgt spid="20993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09931"/>
                                        </p:tgtEl>
                                        <p:attrNameLst>
                                          <p:attrName>style.visibility</p:attrName>
                                        </p:attrNameLst>
                                      </p:cBhvr>
                                      <p:to>
                                        <p:strVal val="visible"/>
                                      </p:to>
                                    </p:set>
                                    <p:animEffect transition="in" filter="wipe(left)">
                                      <p:cBhvr>
                                        <p:cTn id="47" dur="1000"/>
                                        <p:tgtEl>
                                          <p:spTgt spid="20993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09932"/>
                                        </p:tgtEl>
                                        <p:attrNameLst>
                                          <p:attrName>style.visibility</p:attrName>
                                        </p:attrNameLst>
                                      </p:cBhvr>
                                      <p:to>
                                        <p:strVal val="visible"/>
                                      </p:to>
                                    </p:set>
                                    <p:animEffect transition="in" filter="wipe(left)">
                                      <p:cBhvr>
                                        <p:cTn id="52" dur="1000"/>
                                        <p:tgtEl>
                                          <p:spTgt spid="20993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09927"/>
                                        </p:tgtEl>
                                        <p:attrNameLst>
                                          <p:attrName>style.visibility</p:attrName>
                                        </p:attrNameLst>
                                      </p:cBhvr>
                                      <p:to>
                                        <p:strVal val="visible"/>
                                      </p:to>
                                    </p:set>
                                    <p:animEffect transition="in" filter="wipe(left)">
                                      <p:cBhvr>
                                        <p:cTn id="57" dur="1000"/>
                                        <p:tgtEl>
                                          <p:spTgt spid="20992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09933"/>
                                        </p:tgtEl>
                                        <p:attrNameLst>
                                          <p:attrName>style.visibility</p:attrName>
                                        </p:attrNameLst>
                                      </p:cBhvr>
                                      <p:to>
                                        <p:strVal val="visible"/>
                                      </p:to>
                                    </p:set>
                                    <p:animEffect transition="in" filter="wipe(left)">
                                      <p:cBhvr>
                                        <p:cTn id="62" dur="1000"/>
                                        <p:tgtEl>
                                          <p:spTgt spid="209933"/>
                                        </p:tgtEl>
                                      </p:cBhvr>
                                    </p:animEffect>
                                  </p:childTnLst>
                                </p:cTn>
                              </p:par>
                            </p:childTnLst>
                          </p:cTn>
                        </p:par>
                        <p:par>
                          <p:cTn id="63" fill="hold">
                            <p:stCondLst>
                              <p:cond delay="1000"/>
                            </p:stCondLst>
                            <p:childTnLst>
                              <p:par>
                                <p:cTn id="64" presetID="22" presetClass="entr" presetSubtype="8" fill="hold" nodeType="afterEffect">
                                  <p:stCondLst>
                                    <p:cond delay="0"/>
                                  </p:stCondLst>
                                  <p:childTnLst>
                                    <p:set>
                                      <p:cBhvr>
                                        <p:cTn id="65" dur="1" fill="hold">
                                          <p:stCondLst>
                                            <p:cond delay="0"/>
                                          </p:stCondLst>
                                        </p:cTn>
                                        <p:tgtEl>
                                          <p:spTgt spid="209934"/>
                                        </p:tgtEl>
                                        <p:attrNameLst>
                                          <p:attrName>style.visibility</p:attrName>
                                        </p:attrNameLst>
                                      </p:cBhvr>
                                      <p:to>
                                        <p:strVal val="visible"/>
                                      </p:to>
                                    </p:set>
                                    <p:animEffect transition="in" filter="wipe(left)">
                                      <p:cBhvr>
                                        <p:cTn id="66" dur="1000"/>
                                        <p:tgtEl>
                                          <p:spTgt spid="209934"/>
                                        </p:tgtEl>
                                      </p:cBhvr>
                                    </p:animEffect>
                                  </p:childTnLst>
                                </p:cTn>
                              </p:par>
                            </p:childTnLst>
                          </p:cTn>
                        </p:par>
                        <p:par>
                          <p:cTn id="67" fill="hold">
                            <p:stCondLst>
                              <p:cond delay="2000"/>
                            </p:stCondLst>
                            <p:childTnLst>
                              <p:par>
                                <p:cTn id="68" presetID="22" presetClass="entr" presetSubtype="8" fill="hold" nodeType="afterEffect">
                                  <p:stCondLst>
                                    <p:cond delay="0"/>
                                  </p:stCondLst>
                                  <p:childTnLst>
                                    <p:set>
                                      <p:cBhvr>
                                        <p:cTn id="69" dur="1" fill="hold">
                                          <p:stCondLst>
                                            <p:cond delay="0"/>
                                          </p:stCondLst>
                                        </p:cTn>
                                        <p:tgtEl>
                                          <p:spTgt spid="209935"/>
                                        </p:tgtEl>
                                        <p:attrNameLst>
                                          <p:attrName>style.visibility</p:attrName>
                                        </p:attrNameLst>
                                      </p:cBhvr>
                                      <p:to>
                                        <p:strVal val="visible"/>
                                      </p:to>
                                    </p:set>
                                    <p:animEffect transition="in" filter="wipe(left)">
                                      <p:cBhvr>
                                        <p:cTn id="70" dur="1000"/>
                                        <p:tgtEl>
                                          <p:spTgt spid="209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animBg="1"/>
      <p:bldP spid="209927" grpId="0"/>
      <p:bldP spid="209928" grpId="0"/>
      <p:bldP spid="209929" grpId="0"/>
      <p:bldP spid="209931"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3"/>
          <p:cNvSpPr>
            <a:spLocks noChangeArrowheads="1"/>
          </p:cNvSpPr>
          <p:nvPr/>
        </p:nvSpPr>
        <p:spPr bwMode="auto">
          <a:xfrm>
            <a:off x="731838" y="434975"/>
            <a:ext cx="8088312" cy="2282825"/>
          </a:xfrm>
          <a:prstGeom prst="rect">
            <a:avLst/>
          </a:prstGeom>
          <a:noFill/>
          <a:ln w="9525">
            <a:noFill/>
            <a:miter lim="800000"/>
            <a:headEnd/>
            <a:tailEnd/>
          </a:ln>
        </p:spPr>
        <p:txBody>
          <a:bodyPr>
            <a:spAutoFit/>
          </a:bodyPr>
          <a:lstStyle/>
          <a:p>
            <a:pPr>
              <a:lnSpc>
                <a:spcPct val="120000"/>
              </a:lnSpc>
            </a:pPr>
            <a:r>
              <a:rPr lang="zh-CN" altLang="en-US" b="1">
                <a:latin typeface="宋体" pitchFamily="2" charset="-122"/>
                <a:sym typeface="Monotype Sorts" pitchFamily="2" charset="2"/>
              </a:rPr>
              <a:t>如</a:t>
            </a:r>
            <a:r>
              <a:rPr lang="zh-CN" altLang="zh-CN" b="1">
                <a:sym typeface="Monotype Sorts" pitchFamily="2" charset="2"/>
              </a:rPr>
              <a:t>图</a:t>
            </a:r>
            <a:r>
              <a:rPr lang="zh-CN" altLang="en-US" b="1">
                <a:sym typeface="Monotype Sorts" pitchFamily="2" charset="2"/>
              </a:rPr>
              <a:t>所示是</a:t>
            </a:r>
            <a:r>
              <a:rPr lang="zh-CN" altLang="en-US" b="1">
                <a:solidFill>
                  <a:srgbClr val="0033CC"/>
                </a:solidFill>
                <a:sym typeface="Monotype Sorts" pitchFamily="2" charset="2"/>
              </a:rPr>
              <a:t>声波干涉仪</a:t>
            </a:r>
            <a:r>
              <a:rPr lang="zh-CN" altLang="en-US" b="1">
                <a:sym typeface="Monotype Sorts" pitchFamily="2" charset="2"/>
              </a:rPr>
              <a:t>。声波从入口 </a:t>
            </a:r>
            <a:r>
              <a:rPr lang="en-US" altLang="zh-CN" b="1" i="1">
                <a:solidFill>
                  <a:srgbClr val="FF6600"/>
                </a:solidFill>
                <a:sym typeface="Monotype Sorts" pitchFamily="2" charset="2"/>
              </a:rPr>
              <a:t>E </a:t>
            </a:r>
            <a:r>
              <a:rPr lang="zh-CN" altLang="en-US" b="1">
                <a:sym typeface="Monotype Sorts" pitchFamily="2" charset="2"/>
              </a:rPr>
              <a:t>处进入仪器，分</a:t>
            </a:r>
            <a:r>
              <a:rPr lang="en-US" altLang="zh-CN" b="1" i="1">
                <a:solidFill>
                  <a:srgbClr val="FF6600"/>
                </a:solidFill>
                <a:sym typeface="Monotype Sorts" pitchFamily="2" charset="2"/>
              </a:rPr>
              <a:t>B </a:t>
            </a:r>
            <a:r>
              <a:rPr lang="zh-CN" altLang="en-US" b="1">
                <a:sym typeface="Monotype Sorts" pitchFamily="2" charset="2"/>
              </a:rPr>
              <a:t>，</a:t>
            </a:r>
            <a:r>
              <a:rPr lang="en-US" altLang="zh-CN" b="1" i="1">
                <a:solidFill>
                  <a:srgbClr val="FF6600"/>
                </a:solidFill>
                <a:sym typeface="Monotype Sorts" pitchFamily="2" charset="2"/>
              </a:rPr>
              <a:t>C</a:t>
            </a:r>
            <a:r>
              <a:rPr lang="en-US" altLang="zh-CN" b="1" i="1">
                <a:sym typeface="Monotype Sorts" pitchFamily="2" charset="2"/>
              </a:rPr>
              <a:t> </a:t>
            </a:r>
            <a:r>
              <a:rPr lang="zh-CN" altLang="en-US" b="1">
                <a:sym typeface="Monotype Sorts" pitchFamily="2" charset="2"/>
              </a:rPr>
              <a:t>两路在管中传播，然后在喇叭口 </a:t>
            </a:r>
            <a:r>
              <a:rPr lang="en-US" altLang="zh-CN" b="1" i="1">
                <a:solidFill>
                  <a:srgbClr val="FF6600"/>
                </a:solidFill>
                <a:sym typeface="Monotype Sorts" pitchFamily="2" charset="2"/>
              </a:rPr>
              <a:t>A </a:t>
            </a:r>
            <a:r>
              <a:rPr lang="zh-CN" altLang="en-US" b="1">
                <a:sym typeface="Monotype Sorts" pitchFamily="2" charset="2"/>
              </a:rPr>
              <a:t>处会合后传出。弯管 </a:t>
            </a:r>
            <a:r>
              <a:rPr lang="en-US" altLang="zh-CN" b="1" i="1">
                <a:solidFill>
                  <a:srgbClr val="FF6600"/>
                </a:solidFill>
                <a:sym typeface="Monotype Sorts" pitchFamily="2" charset="2"/>
              </a:rPr>
              <a:t>C </a:t>
            </a:r>
            <a:r>
              <a:rPr lang="zh-CN" altLang="en-US" b="1">
                <a:sym typeface="Monotype Sorts" pitchFamily="2" charset="2"/>
              </a:rPr>
              <a:t>可以伸缩，当它渐渐伸长时，喇叭口处的声音周期性增强或减弱。设 </a:t>
            </a:r>
            <a:r>
              <a:rPr lang="en-US" altLang="zh-CN" b="1" i="1">
                <a:solidFill>
                  <a:srgbClr val="FF6600"/>
                </a:solidFill>
                <a:sym typeface="Monotype Sorts" pitchFamily="2" charset="2"/>
              </a:rPr>
              <a:t>C </a:t>
            </a:r>
            <a:r>
              <a:rPr lang="zh-CN" altLang="en-US" b="1">
                <a:sym typeface="Monotype Sorts" pitchFamily="2" charset="2"/>
              </a:rPr>
              <a:t>管每伸长 </a:t>
            </a:r>
            <a:r>
              <a:rPr lang="en-US" altLang="zh-CN" b="1">
                <a:solidFill>
                  <a:srgbClr val="FF6600"/>
                </a:solidFill>
                <a:sym typeface="Monotype Sorts" pitchFamily="2" charset="2"/>
              </a:rPr>
              <a:t>8 cm</a:t>
            </a:r>
            <a:r>
              <a:rPr lang="en-US" altLang="zh-CN" b="1">
                <a:sym typeface="Monotype Sorts" pitchFamily="2" charset="2"/>
              </a:rPr>
              <a:t> </a:t>
            </a:r>
            <a:r>
              <a:rPr lang="zh-CN" altLang="en-US" b="1">
                <a:sym typeface="Monotype Sorts" pitchFamily="2" charset="2"/>
              </a:rPr>
              <a:t>，由 </a:t>
            </a:r>
            <a:r>
              <a:rPr lang="en-US" altLang="zh-CN" b="1" i="1">
                <a:solidFill>
                  <a:srgbClr val="FF6600"/>
                </a:solidFill>
                <a:sym typeface="Monotype Sorts" pitchFamily="2" charset="2"/>
              </a:rPr>
              <a:t>A</a:t>
            </a:r>
            <a:r>
              <a:rPr lang="en-US" altLang="zh-CN" b="1" i="1">
                <a:sym typeface="Monotype Sorts" pitchFamily="2" charset="2"/>
              </a:rPr>
              <a:t> </a:t>
            </a:r>
            <a:r>
              <a:rPr lang="zh-CN" altLang="en-US" b="1">
                <a:sym typeface="Monotype Sorts" pitchFamily="2" charset="2"/>
              </a:rPr>
              <a:t>发出的声音减弱一次。</a:t>
            </a:r>
          </a:p>
        </p:txBody>
      </p:sp>
      <p:pic>
        <p:nvPicPr>
          <p:cNvPr id="124934" name="Picture 6" descr="E:\方正转word课程\大学物理[第二版]（赵近芳）\上册\书版\0523.tif"/>
          <p:cNvPicPr>
            <a:picLocks noChangeAspect="1" noChangeArrowheads="1"/>
          </p:cNvPicPr>
          <p:nvPr/>
        </p:nvPicPr>
        <p:blipFill>
          <a:blip r:embed="rId3" r:link="rId4"/>
          <a:srcRect/>
          <a:stretch>
            <a:fillRect/>
          </a:stretch>
        </p:blipFill>
        <p:spPr bwMode="auto">
          <a:xfrm>
            <a:off x="5507038" y="2997200"/>
            <a:ext cx="3097212" cy="2063750"/>
          </a:xfrm>
          <a:prstGeom prst="rect">
            <a:avLst/>
          </a:prstGeom>
          <a:noFill/>
          <a:ln w="9525">
            <a:noFill/>
            <a:miter lim="800000"/>
            <a:headEnd/>
            <a:tailEnd/>
          </a:ln>
        </p:spPr>
      </p:pic>
      <p:sp>
        <p:nvSpPr>
          <p:cNvPr id="124937" name="Text Box 9"/>
          <p:cNvSpPr txBox="1">
            <a:spLocks noChangeArrowheads="1"/>
          </p:cNvSpPr>
          <p:nvPr/>
        </p:nvSpPr>
        <p:spPr bwMode="auto">
          <a:xfrm>
            <a:off x="684213" y="2736850"/>
            <a:ext cx="7081837" cy="566738"/>
          </a:xfrm>
          <a:prstGeom prst="rect">
            <a:avLst/>
          </a:prstGeom>
          <a:noFill/>
          <a:ln w="9525">
            <a:noFill/>
            <a:miter lim="800000"/>
            <a:headEnd/>
            <a:tailEnd/>
          </a:ln>
        </p:spPr>
        <p:txBody>
          <a:bodyPr>
            <a:spAutoFit/>
          </a:bodyPr>
          <a:lstStyle/>
          <a:p>
            <a:pPr>
              <a:lnSpc>
                <a:spcPct val="130000"/>
              </a:lnSpc>
            </a:pPr>
            <a:r>
              <a:rPr lang="zh-CN" altLang="en-US" b="1">
                <a:sym typeface="Monotype Sorts" pitchFamily="2" charset="2"/>
              </a:rPr>
              <a:t>此声波的频率。（空气中声速为：</a:t>
            </a:r>
            <a:r>
              <a:rPr lang="en-US" altLang="zh-CN" b="1">
                <a:solidFill>
                  <a:srgbClr val="FF6600"/>
                </a:solidFill>
                <a:sym typeface="Monotype Sorts" pitchFamily="2" charset="2"/>
              </a:rPr>
              <a:t>340 m·s</a:t>
            </a:r>
            <a:r>
              <a:rPr lang="en-US" altLang="zh-CN" b="1" baseline="30000">
                <a:solidFill>
                  <a:srgbClr val="FF6600"/>
                </a:solidFill>
                <a:sym typeface="Monotype Sorts" pitchFamily="2" charset="2"/>
              </a:rPr>
              <a:t>-1</a:t>
            </a:r>
            <a:r>
              <a:rPr lang="zh-CN" altLang="en-US" b="1">
                <a:sym typeface="Monotype Sorts" pitchFamily="2" charset="2"/>
              </a:rPr>
              <a:t>）</a:t>
            </a:r>
            <a:endParaRPr lang="zh-CN" altLang="en-US" b="1"/>
          </a:p>
        </p:txBody>
      </p:sp>
      <p:sp>
        <p:nvSpPr>
          <p:cNvPr id="124938" name="Text Box 10"/>
          <p:cNvSpPr txBox="1">
            <a:spLocks noChangeArrowheads="1"/>
          </p:cNvSpPr>
          <p:nvPr/>
        </p:nvSpPr>
        <p:spPr bwMode="auto">
          <a:xfrm>
            <a:off x="179388" y="479425"/>
            <a:ext cx="492125" cy="457200"/>
          </a:xfrm>
          <a:prstGeom prst="rect">
            <a:avLst/>
          </a:prstGeom>
          <a:noFill/>
          <a:ln w="9525">
            <a:noFill/>
            <a:miter lim="800000"/>
            <a:headEnd/>
            <a:tailEnd/>
          </a:ln>
        </p:spPr>
        <p:txBody>
          <a:bodyPr wrap="none" anchor="ctr">
            <a:spAutoFit/>
          </a:bodyPr>
          <a:lstStyle/>
          <a:p>
            <a:pPr algn="ctr"/>
            <a:r>
              <a:rPr kumimoji="0" lang="zh-CN" altLang="en-US" b="1">
                <a:solidFill>
                  <a:srgbClr val="FF0000"/>
                </a:solidFill>
                <a:latin typeface="宋体" pitchFamily="2" charset="-122"/>
              </a:rPr>
              <a:t>例</a:t>
            </a:r>
            <a:endParaRPr kumimoji="0" lang="zh-CN" altLang="en-US" sz="1800">
              <a:solidFill>
                <a:srgbClr val="FF0000"/>
              </a:solidFill>
            </a:endParaRPr>
          </a:p>
        </p:txBody>
      </p:sp>
      <p:sp>
        <p:nvSpPr>
          <p:cNvPr id="124939" name="Rectangle 11"/>
          <p:cNvSpPr>
            <a:spLocks noChangeArrowheads="1"/>
          </p:cNvSpPr>
          <p:nvPr/>
        </p:nvSpPr>
        <p:spPr bwMode="auto">
          <a:xfrm>
            <a:off x="179388" y="2781300"/>
            <a:ext cx="492125" cy="457200"/>
          </a:xfrm>
          <a:prstGeom prst="rect">
            <a:avLst/>
          </a:prstGeom>
          <a:noFill/>
          <a:ln w="9525">
            <a:noFill/>
            <a:miter lim="800000"/>
            <a:headEnd/>
            <a:tailEnd/>
          </a:ln>
        </p:spPr>
        <p:txBody>
          <a:bodyPr wrap="none">
            <a:spAutoFit/>
          </a:bodyPr>
          <a:lstStyle/>
          <a:p>
            <a:pPr algn="ctr"/>
            <a:r>
              <a:rPr kumimoji="0" lang="zh-CN" altLang="en-US" b="1">
                <a:solidFill>
                  <a:srgbClr val="FF0000"/>
                </a:solidFill>
              </a:rPr>
              <a:t>求</a:t>
            </a:r>
            <a:endParaRPr kumimoji="0" lang="zh-CN" altLang="en-US" sz="1800">
              <a:solidFill>
                <a:srgbClr val="FF0000"/>
              </a:solidFill>
            </a:endParaRPr>
          </a:p>
        </p:txBody>
      </p:sp>
      <p:sp>
        <p:nvSpPr>
          <p:cNvPr id="124940" name="Text Box 12"/>
          <p:cNvSpPr txBox="1">
            <a:spLocks noChangeArrowheads="1"/>
          </p:cNvSpPr>
          <p:nvPr/>
        </p:nvSpPr>
        <p:spPr bwMode="auto">
          <a:xfrm>
            <a:off x="179388" y="3716338"/>
            <a:ext cx="492125" cy="457200"/>
          </a:xfrm>
          <a:prstGeom prst="rect">
            <a:avLst/>
          </a:prstGeom>
          <a:noFill/>
          <a:ln w="9525">
            <a:noFill/>
            <a:miter lim="800000"/>
            <a:headEnd/>
            <a:tailEnd/>
          </a:ln>
        </p:spPr>
        <p:txBody>
          <a:bodyPr wrap="none" anchor="ctr">
            <a:spAutoFit/>
          </a:bodyPr>
          <a:lstStyle/>
          <a:p>
            <a:pPr algn="ctr"/>
            <a:r>
              <a:rPr kumimoji="0" lang="zh-CN" altLang="en-US" b="1">
                <a:solidFill>
                  <a:srgbClr val="FF0000"/>
                </a:solidFill>
                <a:latin typeface="宋体" pitchFamily="2" charset="-122"/>
              </a:rPr>
              <a:t>解</a:t>
            </a:r>
            <a:endParaRPr kumimoji="0" lang="zh-CN" altLang="en-US" sz="1800">
              <a:solidFill>
                <a:srgbClr val="FF0000"/>
              </a:solidFill>
            </a:endParaRPr>
          </a:p>
        </p:txBody>
      </p:sp>
      <p:sp>
        <p:nvSpPr>
          <p:cNvPr id="124941" name="Text Box 13"/>
          <p:cNvSpPr txBox="1">
            <a:spLocks noChangeArrowheads="1"/>
          </p:cNvSpPr>
          <p:nvPr/>
        </p:nvSpPr>
        <p:spPr bwMode="auto">
          <a:xfrm>
            <a:off x="876300" y="3662363"/>
            <a:ext cx="4487863" cy="1844675"/>
          </a:xfrm>
          <a:prstGeom prst="rect">
            <a:avLst/>
          </a:prstGeom>
          <a:noFill/>
          <a:ln w="9525">
            <a:noFill/>
            <a:miter lim="800000"/>
            <a:headEnd/>
            <a:tailEnd/>
          </a:ln>
        </p:spPr>
        <p:txBody>
          <a:bodyPr>
            <a:spAutoFit/>
          </a:bodyPr>
          <a:lstStyle/>
          <a:p>
            <a:pPr>
              <a:lnSpc>
                <a:spcPct val="120000"/>
              </a:lnSpc>
            </a:pPr>
            <a:r>
              <a:rPr lang="zh-CN" altLang="en-US" b="1">
                <a:sym typeface="Symbol" pitchFamily="18" charset="2"/>
              </a:rPr>
              <a:t>声波从入口 </a:t>
            </a:r>
            <a:r>
              <a:rPr lang="en-US" altLang="zh-CN" b="1" i="1">
                <a:solidFill>
                  <a:srgbClr val="FF6600"/>
                </a:solidFill>
                <a:sym typeface="Symbol" pitchFamily="18" charset="2"/>
              </a:rPr>
              <a:t>E</a:t>
            </a:r>
            <a:r>
              <a:rPr lang="en-US" altLang="zh-CN" b="1" i="1">
                <a:sym typeface="Symbol" pitchFamily="18" charset="2"/>
              </a:rPr>
              <a:t> </a:t>
            </a:r>
            <a:r>
              <a:rPr lang="zh-CN" altLang="en-US" b="1">
                <a:sym typeface="Symbol" pitchFamily="18" charset="2"/>
              </a:rPr>
              <a:t>进入仪器后分</a:t>
            </a:r>
            <a:r>
              <a:rPr lang="en-US" altLang="zh-CN" b="1" i="1">
                <a:solidFill>
                  <a:srgbClr val="FF6600"/>
                </a:solidFill>
                <a:sym typeface="Symbol" pitchFamily="18" charset="2"/>
              </a:rPr>
              <a:t>B</a:t>
            </a:r>
            <a:r>
              <a:rPr lang="zh-CN" altLang="en-US" b="1">
                <a:sym typeface="Symbol" pitchFamily="18" charset="2"/>
              </a:rPr>
              <a:t>，</a:t>
            </a:r>
            <a:r>
              <a:rPr lang="en-US" altLang="zh-CN" b="1" i="1">
                <a:solidFill>
                  <a:srgbClr val="FF6600"/>
                </a:solidFill>
                <a:sym typeface="Symbol" pitchFamily="18" charset="2"/>
              </a:rPr>
              <a:t>C </a:t>
            </a:r>
            <a:r>
              <a:rPr lang="zh-CN" altLang="en-US" b="1">
                <a:sym typeface="Symbol" pitchFamily="18" charset="2"/>
              </a:rPr>
              <a:t>两路传播，这两路声波满足</a:t>
            </a:r>
            <a:r>
              <a:rPr lang="zh-CN" altLang="en-US" b="1">
                <a:solidFill>
                  <a:srgbClr val="9900CC"/>
                </a:solidFill>
                <a:sym typeface="Symbol" pitchFamily="18" charset="2"/>
              </a:rPr>
              <a:t>相干条件</a:t>
            </a:r>
            <a:r>
              <a:rPr lang="zh-CN" altLang="en-US" b="1">
                <a:sym typeface="Symbol" pitchFamily="18" charset="2"/>
              </a:rPr>
              <a:t>，它们在喇叭口 </a:t>
            </a:r>
            <a:r>
              <a:rPr lang="en-US" altLang="zh-CN" b="1" i="1">
                <a:solidFill>
                  <a:srgbClr val="FF6600"/>
                </a:solidFill>
                <a:sym typeface="Symbol" pitchFamily="18" charset="2"/>
              </a:rPr>
              <a:t>A </a:t>
            </a:r>
            <a:r>
              <a:rPr lang="zh-CN" altLang="en-US" b="1">
                <a:sym typeface="Symbol" pitchFamily="18" charset="2"/>
              </a:rPr>
              <a:t>处产生相干叠加，</a:t>
            </a:r>
            <a:r>
              <a:rPr lang="zh-CN" altLang="en-US" b="1">
                <a:solidFill>
                  <a:srgbClr val="FF6600"/>
                </a:solidFill>
                <a:sym typeface="Symbol" pitchFamily="18" charset="2"/>
              </a:rPr>
              <a:t>干涉减弱的条件</a:t>
            </a:r>
            <a:r>
              <a:rPr lang="zh-CN" altLang="en-US" b="1">
                <a:sym typeface="Symbol" pitchFamily="18" charset="2"/>
              </a:rPr>
              <a:t>是</a:t>
            </a:r>
          </a:p>
        </p:txBody>
      </p:sp>
      <p:graphicFrame>
        <p:nvGraphicFramePr>
          <p:cNvPr id="124943" name="Object 15"/>
          <p:cNvGraphicFramePr>
            <a:graphicFrameLocks noChangeAspect="1"/>
          </p:cNvGraphicFramePr>
          <p:nvPr/>
        </p:nvGraphicFramePr>
        <p:xfrm>
          <a:off x="1543050" y="5651500"/>
          <a:ext cx="3292475" cy="730250"/>
        </p:xfrm>
        <a:graphic>
          <a:graphicData uri="http://schemas.openxmlformats.org/presentationml/2006/ole">
            <p:oleObj spid="_x0000_s38914" name="公式" r:id="rId5" imgW="1815840" imgH="4060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4938"/>
                                        </p:tgtEl>
                                        <p:attrNameLst>
                                          <p:attrName>style.visibility</p:attrName>
                                        </p:attrNameLst>
                                      </p:cBhvr>
                                      <p:to>
                                        <p:strVal val="visible"/>
                                      </p:to>
                                    </p:set>
                                    <p:animEffect transition="in" filter="wipe(left)">
                                      <p:cBhvr>
                                        <p:cTn id="7" dur="500"/>
                                        <p:tgtEl>
                                          <p:spTgt spid="1249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4931"/>
                                        </p:tgtEl>
                                        <p:attrNameLst>
                                          <p:attrName>style.visibility</p:attrName>
                                        </p:attrNameLst>
                                      </p:cBhvr>
                                      <p:to>
                                        <p:strVal val="visible"/>
                                      </p:to>
                                    </p:set>
                                    <p:animEffect transition="in" filter="wipe(left)">
                                      <p:cBhvr>
                                        <p:cTn id="12" dur="500"/>
                                        <p:tgtEl>
                                          <p:spTgt spid="1249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4934"/>
                                        </p:tgtEl>
                                        <p:attrNameLst>
                                          <p:attrName>style.visibility</p:attrName>
                                        </p:attrNameLst>
                                      </p:cBhvr>
                                      <p:to>
                                        <p:strVal val="visible"/>
                                      </p:to>
                                    </p:set>
                                    <p:animEffect transition="in" filter="wipe(left)">
                                      <p:cBhvr>
                                        <p:cTn id="17" dur="500"/>
                                        <p:tgtEl>
                                          <p:spTgt spid="1249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4939"/>
                                        </p:tgtEl>
                                        <p:attrNameLst>
                                          <p:attrName>style.visibility</p:attrName>
                                        </p:attrNameLst>
                                      </p:cBhvr>
                                      <p:to>
                                        <p:strVal val="visible"/>
                                      </p:to>
                                    </p:set>
                                    <p:animEffect transition="in" filter="wipe(left)">
                                      <p:cBhvr>
                                        <p:cTn id="22" dur="500"/>
                                        <p:tgtEl>
                                          <p:spTgt spid="1249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4937"/>
                                        </p:tgtEl>
                                        <p:attrNameLst>
                                          <p:attrName>style.visibility</p:attrName>
                                        </p:attrNameLst>
                                      </p:cBhvr>
                                      <p:to>
                                        <p:strVal val="visible"/>
                                      </p:to>
                                    </p:set>
                                    <p:animEffect transition="in" filter="wipe(left)">
                                      <p:cBhvr>
                                        <p:cTn id="27" dur="500"/>
                                        <p:tgtEl>
                                          <p:spTgt spid="12493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4940"/>
                                        </p:tgtEl>
                                        <p:attrNameLst>
                                          <p:attrName>style.visibility</p:attrName>
                                        </p:attrNameLst>
                                      </p:cBhvr>
                                      <p:to>
                                        <p:strVal val="visible"/>
                                      </p:to>
                                    </p:set>
                                    <p:animEffect transition="in" filter="wipe(left)">
                                      <p:cBhvr>
                                        <p:cTn id="32" dur="500"/>
                                        <p:tgtEl>
                                          <p:spTgt spid="12494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4941"/>
                                        </p:tgtEl>
                                        <p:attrNameLst>
                                          <p:attrName>style.visibility</p:attrName>
                                        </p:attrNameLst>
                                      </p:cBhvr>
                                      <p:to>
                                        <p:strVal val="visible"/>
                                      </p:to>
                                    </p:set>
                                    <p:animEffect transition="in" filter="wipe(left)">
                                      <p:cBhvr>
                                        <p:cTn id="37" dur="500"/>
                                        <p:tgtEl>
                                          <p:spTgt spid="12494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24943"/>
                                        </p:tgtEl>
                                        <p:attrNameLst>
                                          <p:attrName>style.visibility</p:attrName>
                                        </p:attrNameLst>
                                      </p:cBhvr>
                                      <p:to>
                                        <p:strVal val="visible"/>
                                      </p:to>
                                    </p:set>
                                    <p:animEffect transition="in" filter="wipe(left)">
                                      <p:cBhvr>
                                        <p:cTn id="42" dur="500"/>
                                        <p:tgtEl>
                                          <p:spTgt spid="124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p:bldP spid="124937" grpId="0"/>
      <p:bldP spid="124938" grpId="0"/>
      <p:bldP spid="124939" grpId="0"/>
      <p:bldP spid="124940" grpId="0"/>
      <p:bldP spid="12494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8" name="Text Box 4"/>
          <p:cNvSpPr txBox="1">
            <a:spLocks noChangeArrowheads="1"/>
          </p:cNvSpPr>
          <p:nvPr/>
        </p:nvSpPr>
        <p:spPr bwMode="auto">
          <a:xfrm>
            <a:off x="468313" y="549275"/>
            <a:ext cx="7920037" cy="968375"/>
          </a:xfrm>
          <a:prstGeom prst="rect">
            <a:avLst/>
          </a:prstGeom>
          <a:noFill/>
          <a:ln w="9525">
            <a:noFill/>
            <a:miter lim="800000"/>
            <a:headEnd/>
            <a:tailEnd/>
          </a:ln>
        </p:spPr>
        <p:txBody>
          <a:bodyPr>
            <a:spAutoFit/>
          </a:bodyPr>
          <a:lstStyle/>
          <a:p>
            <a:pPr>
              <a:lnSpc>
                <a:spcPct val="120000"/>
              </a:lnSpc>
            </a:pPr>
            <a:r>
              <a:rPr lang="zh-CN" altLang="en-US" b="1"/>
              <a:t>当 </a:t>
            </a:r>
            <a:r>
              <a:rPr lang="en-US" altLang="zh-CN" b="1" i="1">
                <a:solidFill>
                  <a:srgbClr val="FF6600"/>
                </a:solidFill>
              </a:rPr>
              <a:t>C</a:t>
            </a:r>
            <a:r>
              <a:rPr lang="en-US" altLang="zh-CN" b="1" i="1"/>
              <a:t> </a:t>
            </a:r>
            <a:r>
              <a:rPr lang="zh-CN" altLang="en-US" b="1"/>
              <a:t>管伸长 </a:t>
            </a:r>
            <a:r>
              <a:rPr lang="en-US" altLang="zh-CN" b="1">
                <a:solidFill>
                  <a:srgbClr val="FF6600"/>
                </a:solidFill>
              </a:rPr>
              <a:t>8 cm</a:t>
            </a:r>
            <a:r>
              <a:rPr lang="en-US" altLang="zh-CN" b="1"/>
              <a:t> </a:t>
            </a:r>
            <a:r>
              <a:rPr lang="zh-CN" altLang="en-US" b="1"/>
              <a:t>时，再次出现干涉减弱，即此时两路波的</a:t>
            </a:r>
            <a:r>
              <a:rPr lang="zh-CN" altLang="en-US" b="1">
                <a:solidFill>
                  <a:srgbClr val="FF6600"/>
                </a:solidFill>
              </a:rPr>
              <a:t>波程差</a:t>
            </a:r>
            <a:r>
              <a:rPr lang="zh-CN" altLang="en-US" b="1"/>
              <a:t>满足条件</a:t>
            </a:r>
          </a:p>
        </p:txBody>
      </p:sp>
      <p:graphicFrame>
        <p:nvGraphicFramePr>
          <p:cNvPr id="139269" name="Object 5"/>
          <p:cNvGraphicFramePr>
            <a:graphicFrameLocks/>
          </p:cNvGraphicFramePr>
          <p:nvPr/>
        </p:nvGraphicFramePr>
        <p:xfrm>
          <a:off x="2409825" y="1685925"/>
          <a:ext cx="3243263" cy="730250"/>
        </p:xfrm>
        <a:graphic>
          <a:graphicData uri="http://schemas.openxmlformats.org/presentationml/2006/ole">
            <p:oleObj spid="_x0000_s39938" name="公式" r:id="rId3" imgW="1803240" imgH="406080" progId="Equation.3">
              <p:embed/>
            </p:oleObj>
          </a:graphicData>
        </a:graphic>
      </p:graphicFrame>
      <p:graphicFrame>
        <p:nvGraphicFramePr>
          <p:cNvPr id="139271" name="Object 7"/>
          <p:cNvGraphicFramePr>
            <a:graphicFrameLocks/>
          </p:cNvGraphicFramePr>
          <p:nvPr/>
        </p:nvGraphicFramePr>
        <p:xfrm>
          <a:off x="3017838" y="2708275"/>
          <a:ext cx="1803400" cy="320675"/>
        </p:xfrm>
        <a:graphic>
          <a:graphicData uri="http://schemas.openxmlformats.org/presentationml/2006/ole">
            <p:oleObj spid="_x0000_s39939" name="公式" r:id="rId4" imgW="1002960" imgH="177480" progId="Equation.3">
              <p:embed/>
            </p:oleObj>
          </a:graphicData>
        </a:graphic>
      </p:graphicFrame>
      <p:graphicFrame>
        <p:nvGraphicFramePr>
          <p:cNvPr id="139273" name="Object 9"/>
          <p:cNvGraphicFramePr>
            <a:graphicFrameLocks noChangeAspect="1"/>
          </p:cNvGraphicFramePr>
          <p:nvPr/>
        </p:nvGraphicFramePr>
        <p:xfrm>
          <a:off x="2119313" y="4137025"/>
          <a:ext cx="3811587" cy="730250"/>
        </p:xfrm>
        <a:graphic>
          <a:graphicData uri="http://schemas.openxmlformats.org/presentationml/2006/ole">
            <p:oleObj spid="_x0000_s39940" name="公式" r:id="rId5" imgW="2108160" imgH="406080" progId="Equation.3">
              <p:embed/>
            </p:oleObj>
          </a:graphicData>
        </a:graphic>
      </p:graphicFrame>
      <p:sp>
        <p:nvSpPr>
          <p:cNvPr id="139275" name="Text Box 11"/>
          <p:cNvSpPr txBox="1">
            <a:spLocks noChangeArrowheads="1"/>
          </p:cNvSpPr>
          <p:nvPr/>
        </p:nvSpPr>
        <p:spPr bwMode="auto">
          <a:xfrm>
            <a:off x="539750" y="2636838"/>
            <a:ext cx="2663825" cy="457200"/>
          </a:xfrm>
          <a:prstGeom prst="rect">
            <a:avLst/>
          </a:prstGeom>
          <a:noFill/>
          <a:ln w="9525">
            <a:noFill/>
            <a:miter lim="800000"/>
            <a:headEnd/>
            <a:tailEnd/>
          </a:ln>
        </p:spPr>
        <p:txBody>
          <a:bodyPr>
            <a:spAutoFit/>
          </a:bodyPr>
          <a:lstStyle/>
          <a:p>
            <a:pPr>
              <a:spcBef>
                <a:spcPct val="50000"/>
              </a:spcBef>
            </a:pPr>
            <a:r>
              <a:rPr lang="zh-CN" altLang="en-US" b="1"/>
              <a:t>以上两式相减得</a:t>
            </a:r>
          </a:p>
        </p:txBody>
      </p:sp>
      <p:sp>
        <p:nvSpPr>
          <p:cNvPr id="139276" name="Text Box 12"/>
          <p:cNvSpPr txBox="1">
            <a:spLocks noChangeArrowheads="1"/>
          </p:cNvSpPr>
          <p:nvPr/>
        </p:nvSpPr>
        <p:spPr bwMode="auto">
          <a:xfrm>
            <a:off x="539750" y="3357563"/>
            <a:ext cx="5975350" cy="457200"/>
          </a:xfrm>
          <a:prstGeom prst="rect">
            <a:avLst/>
          </a:prstGeom>
          <a:noFill/>
          <a:ln w="9525">
            <a:noFill/>
            <a:miter lim="800000"/>
            <a:headEnd/>
            <a:tailEnd/>
          </a:ln>
        </p:spPr>
        <p:txBody>
          <a:bodyPr>
            <a:spAutoFit/>
          </a:bodyPr>
          <a:lstStyle/>
          <a:p>
            <a:pPr>
              <a:spcBef>
                <a:spcPct val="50000"/>
              </a:spcBef>
            </a:pPr>
            <a:r>
              <a:rPr lang="zh-CN" altLang="en-US" b="1"/>
              <a:t>则可以求出声波的频率为</a:t>
            </a:r>
          </a:p>
        </p:txBody>
      </p:sp>
      <p:sp>
        <p:nvSpPr>
          <p:cNvPr id="139278" name="AutoShape 14">
            <a:hlinkClick r:id="rId6" action="ppaction://hlinksldjump" highlightClick="1"/>
          </p:cNvPr>
          <p:cNvSpPr>
            <a:spLocks noChangeArrowheads="1"/>
          </p:cNvSpPr>
          <p:nvPr/>
        </p:nvSpPr>
        <p:spPr bwMode="auto">
          <a:xfrm>
            <a:off x="8577263" y="6173788"/>
            <a:ext cx="287337" cy="287337"/>
          </a:xfrm>
          <a:prstGeom prst="actionButtonBeginning">
            <a:avLst/>
          </a:prstGeom>
          <a:solidFill>
            <a:srgbClr val="99CCFF"/>
          </a:solidFill>
          <a:ln w="9525">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9268"/>
                                        </p:tgtEl>
                                        <p:attrNameLst>
                                          <p:attrName>style.visibility</p:attrName>
                                        </p:attrNameLst>
                                      </p:cBhvr>
                                      <p:to>
                                        <p:strVal val="visible"/>
                                      </p:to>
                                    </p:set>
                                    <p:animEffect transition="in" filter="wipe(left)">
                                      <p:cBhvr>
                                        <p:cTn id="7" dur="500"/>
                                        <p:tgtEl>
                                          <p:spTgt spid="13926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9269"/>
                                        </p:tgtEl>
                                        <p:attrNameLst>
                                          <p:attrName>style.visibility</p:attrName>
                                        </p:attrNameLst>
                                      </p:cBhvr>
                                      <p:to>
                                        <p:strVal val="visible"/>
                                      </p:to>
                                    </p:set>
                                    <p:animEffect transition="in" filter="wipe(left)">
                                      <p:cBhvr>
                                        <p:cTn id="12" dur="500"/>
                                        <p:tgtEl>
                                          <p:spTgt spid="1392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9275"/>
                                        </p:tgtEl>
                                        <p:attrNameLst>
                                          <p:attrName>style.visibility</p:attrName>
                                        </p:attrNameLst>
                                      </p:cBhvr>
                                      <p:to>
                                        <p:strVal val="visible"/>
                                      </p:to>
                                    </p:set>
                                    <p:animEffect transition="in" filter="wipe(left)">
                                      <p:cBhvr>
                                        <p:cTn id="17" dur="500"/>
                                        <p:tgtEl>
                                          <p:spTgt spid="13927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9271"/>
                                        </p:tgtEl>
                                        <p:attrNameLst>
                                          <p:attrName>style.visibility</p:attrName>
                                        </p:attrNameLst>
                                      </p:cBhvr>
                                      <p:to>
                                        <p:strVal val="visible"/>
                                      </p:to>
                                    </p:set>
                                    <p:animEffect transition="in" filter="wipe(left)">
                                      <p:cBhvr>
                                        <p:cTn id="22" dur="500"/>
                                        <p:tgtEl>
                                          <p:spTgt spid="13927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9276"/>
                                        </p:tgtEl>
                                        <p:attrNameLst>
                                          <p:attrName>style.visibility</p:attrName>
                                        </p:attrNameLst>
                                      </p:cBhvr>
                                      <p:to>
                                        <p:strVal val="visible"/>
                                      </p:to>
                                    </p:set>
                                    <p:animEffect transition="in" filter="wipe(left)">
                                      <p:cBhvr>
                                        <p:cTn id="27" dur="500"/>
                                        <p:tgtEl>
                                          <p:spTgt spid="13927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39273"/>
                                        </p:tgtEl>
                                        <p:attrNameLst>
                                          <p:attrName>style.visibility</p:attrName>
                                        </p:attrNameLst>
                                      </p:cBhvr>
                                      <p:to>
                                        <p:strVal val="visible"/>
                                      </p:to>
                                    </p:set>
                                    <p:animEffect transition="in" filter="wipe(left)">
                                      <p:cBhvr>
                                        <p:cTn id="32" dur="500"/>
                                        <p:tgtEl>
                                          <p:spTgt spid="13927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39278"/>
                                        </p:tgtEl>
                                        <p:attrNameLst>
                                          <p:attrName>style.visibility</p:attrName>
                                        </p:attrNameLst>
                                      </p:cBhvr>
                                      <p:to>
                                        <p:strVal val="visible"/>
                                      </p:to>
                                    </p:set>
                                    <p:animEffect transition="in" filter="wipe(down)">
                                      <p:cBhvr>
                                        <p:cTn id="37" dur="500"/>
                                        <p:tgtEl>
                                          <p:spTgt spid="139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8" grpId="0"/>
      <p:bldP spid="139275" grpId="0"/>
      <p:bldP spid="139276" grpId="0"/>
      <p:bldP spid="13927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4" name="Text Box 4"/>
          <p:cNvSpPr txBox="1">
            <a:spLocks noChangeArrowheads="1"/>
          </p:cNvSpPr>
          <p:nvPr/>
        </p:nvSpPr>
        <p:spPr bwMode="auto">
          <a:xfrm>
            <a:off x="3059113" y="533400"/>
            <a:ext cx="2665412" cy="519113"/>
          </a:xfrm>
          <a:prstGeom prst="rect">
            <a:avLst/>
          </a:prstGeom>
          <a:noFill/>
          <a:ln w="9525">
            <a:noFill/>
            <a:miter lim="800000"/>
            <a:headEnd/>
            <a:tailEnd/>
          </a:ln>
        </p:spPr>
        <p:txBody>
          <a:bodyPr>
            <a:spAutoFit/>
          </a:bodyPr>
          <a:lstStyle/>
          <a:p>
            <a:r>
              <a:rPr kumimoji="0" lang="en-US" altLang="zh-CN" sz="2800" b="1">
                <a:solidFill>
                  <a:srgbClr val="0000FF"/>
                </a:solidFill>
              </a:rPr>
              <a:t>§6.5</a:t>
            </a:r>
            <a:r>
              <a:rPr kumimoji="0" lang="en-US" altLang="zh-CN" sz="2800" b="1">
                <a:solidFill>
                  <a:srgbClr val="333399"/>
                </a:solidFill>
                <a:latin typeface="宋体" pitchFamily="2" charset="-122"/>
              </a:rPr>
              <a:t> </a:t>
            </a:r>
            <a:r>
              <a:rPr kumimoji="0" lang="zh-CN" altLang="en-US" sz="2800" b="1">
                <a:solidFill>
                  <a:srgbClr val="0033CC"/>
                </a:solidFill>
                <a:latin typeface="黑体" pitchFamily="49" charset="-122"/>
                <a:ea typeface="黑体" pitchFamily="49" charset="-122"/>
              </a:rPr>
              <a:t>驻 波</a:t>
            </a:r>
          </a:p>
        </p:txBody>
      </p:sp>
      <p:sp>
        <p:nvSpPr>
          <p:cNvPr id="112691" name="Text Box 51"/>
          <p:cNvSpPr txBox="1">
            <a:spLocks noChangeArrowheads="1"/>
          </p:cNvSpPr>
          <p:nvPr/>
        </p:nvSpPr>
        <p:spPr bwMode="auto">
          <a:xfrm>
            <a:off x="107950" y="955675"/>
            <a:ext cx="3384550" cy="457200"/>
          </a:xfrm>
          <a:prstGeom prst="rect">
            <a:avLst/>
          </a:prstGeom>
          <a:noFill/>
          <a:ln w="9525">
            <a:noFill/>
            <a:miter lim="800000"/>
            <a:headEnd/>
            <a:tailEnd/>
          </a:ln>
        </p:spPr>
        <p:txBody>
          <a:bodyPr>
            <a:spAutoFit/>
          </a:bodyPr>
          <a:lstStyle/>
          <a:p>
            <a:pPr>
              <a:spcBef>
                <a:spcPct val="50000"/>
              </a:spcBef>
            </a:pPr>
            <a:r>
              <a:rPr lang="zh-CN" altLang="en-US" b="1">
                <a:solidFill>
                  <a:srgbClr val="FF3300"/>
                </a:solidFill>
              </a:rPr>
              <a:t>一、驻波的产生</a:t>
            </a:r>
            <a:r>
              <a:rPr lang="zh-CN" altLang="en-US"/>
              <a:t> </a:t>
            </a:r>
          </a:p>
        </p:txBody>
      </p:sp>
      <p:sp>
        <p:nvSpPr>
          <p:cNvPr id="112705" name="Rectangle 65"/>
          <p:cNvSpPr>
            <a:spLocks noChangeArrowheads="1"/>
          </p:cNvSpPr>
          <p:nvPr/>
        </p:nvSpPr>
        <p:spPr bwMode="auto">
          <a:xfrm>
            <a:off x="827088" y="1484313"/>
            <a:ext cx="6954837" cy="457200"/>
          </a:xfrm>
          <a:prstGeom prst="rect">
            <a:avLst/>
          </a:prstGeom>
          <a:noFill/>
          <a:ln w="9525">
            <a:noFill/>
            <a:miter lim="800000"/>
            <a:headEnd/>
            <a:tailEnd/>
          </a:ln>
        </p:spPr>
        <p:txBody>
          <a:bodyPr>
            <a:spAutoFit/>
          </a:bodyPr>
          <a:lstStyle/>
          <a:p>
            <a:r>
              <a:rPr lang="zh-CN" altLang="en-US" b="1"/>
              <a:t>两列等振幅相干波</a:t>
            </a:r>
            <a:r>
              <a:rPr lang="zh-CN" altLang="en-US" b="1">
                <a:solidFill>
                  <a:srgbClr val="FF6600"/>
                </a:solidFill>
              </a:rPr>
              <a:t>相向</a:t>
            </a:r>
            <a:r>
              <a:rPr lang="zh-CN" altLang="en-US" b="1"/>
              <a:t>传播时叠加干涉形成</a:t>
            </a:r>
            <a:r>
              <a:rPr lang="zh-CN" altLang="en-US" b="1">
                <a:solidFill>
                  <a:srgbClr val="0033CC"/>
                </a:solidFill>
              </a:rPr>
              <a:t>驻波。</a:t>
            </a:r>
          </a:p>
        </p:txBody>
      </p:sp>
      <p:grpSp>
        <p:nvGrpSpPr>
          <p:cNvPr id="2" name="Group 145"/>
          <p:cNvGrpSpPr>
            <a:grpSpLocks/>
          </p:cNvGrpSpPr>
          <p:nvPr/>
        </p:nvGrpSpPr>
        <p:grpSpPr bwMode="auto">
          <a:xfrm>
            <a:off x="1042988" y="2060575"/>
            <a:ext cx="7267575" cy="2376488"/>
            <a:chOff x="657" y="1298"/>
            <a:chExt cx="4578" cy="1497"/>
          </a:xfrm>
        </p:grpSpPr>
        <p:grpSp>
          <p:nvGrpSpPr>
            <p:cNvPr id="40990" name="Group 67"/>
            <p:cNvGrpSpPr>
              <a:grpSpLocks/>
            </p:cNvGrpSpPr>
            <p:nvPr/>
          </p:nvGrpSpPr>
          <p:grpSpPr bwMode="auto">
            <a:xfrm>
              <a:off x="1520" y="1637"/>
              <a:ext cx="2539" cy="149"/>
              <a:chOff x="1441" y="1325"/>
              <a:chExt cx="2539" cy="149"/>
            </a:xfrm>
          </p:grpSpPr>
          <p:grpSp>
            <p:nvGrpSpPr>
              <p:cNvPr id="41009" name="Group 68"/>
              <p:cNvGrpSpPr>
                <a:grpSpLocks/>
              </p:cNvGrpSpPr>
              <p:nvPr/>
            </p:nvGrpSpPr>
            <p:grpSpPr bwMode="auto">
              <a:xfrm>
                <a:off x="1457" y="1325"/>
                <a:ext cx="2523" cy="75"/>
                <a:chOff x="1444" y="1344"/>
                <a:chExt cx="4016" cy="114"/>
              </a:xfrm>
            </p:grpSpPr>
            <p:sp>
              <p:nvSpPr>
                <p:cNvPr id="41013" name="Freeform 69"/>
                <p:cNvSpPr>
                  <a:spLocks/>
                </p:cNvSpPr>
                <p:nvPr/>
              </p:nvSpPr>
              <p:spPr bwMode="auto">
                <a:xfrm>
                  <a:off x="1444" y="1344"/>
                  <a:ext cx="2376" cy="114"/>
                </a:xfrm>
                <a:custGeom>
                  <a:avLst/>
                  <a:gdLst>
                    <a:gd name="T0" fmla="*/ 0 w 2376"/>
                    <a:gd name="T1" fmla="*/ 114 h 114"/>
                    <a:gd name="T2" fmla="*/ 396 w 2376"/>
                    <a:gd name="T3" fmla="*/ 0 h 114"/>
                    <a:gd name="T4" fmla="*/ 798 w 2376"/>
                    <a:gd name="T5" fmla="*/ 114 h 114"/>
                    <a:gd name="T6" fmla="*/ 1188 w 2376"/>
                    <a:gd name="T7" fmla="*/ 0 h 114"/>
                    <a:gd name="T8" fmla="*/ 1584 w 2376"/>
                    <a:gd name="T9" fmla="*/ 114 h 114"/>
                    <a:gd name="T10" fmla="*/ 1980 w 2376"/>
                    <a:gd name="T11" fmla="*/ 0 h 114"/>
                    <a:gd name="T12" fmla="*/ 2376 w 2376"/>
                    <a:gd name="T13" fmla="*/ 114 h 114"/>
                    <a:gd name="T14" fmla="*/ 0 60000 65536"/>
                    <a:gd name="T15" fmla="*/ 0 60000 65536"/>
                    <a:gd name="T16" fmla="*/ 0 60000 65536"/>
                    <a:gd name="T17" fmla="*/ 0 60000 65536"/>
                    <a:gd name="T18" fmla="*/ 0 60000 65536"/>
                    <a:gd name="T19" fmla="*/ 0 60000 65536"/>
                    <a:gd name="T20" fmla="*/ 0 60000 65536"/>
                    <a:gd name="T21" fmla="*/ 0 w 2376"/>
                    <a:gd name="T22" fmla="*/ 0 h 114"/>
                    <a:gd name="T23" fmla="*/ 2376 w 2376"/>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76" h="114">
                      <a:moveTo>
                        <a:pt x="0" y="114"/>
                      </a:moveTo>
                      <a:cubicBezTo>
                        <a:pt x="131" y="57"/>
                        <a:pt x="263" y="0"/>
                        <a:pt x="396" y="0"/>
                      </a:cubicBezTo>
                      <a:cubicBezTo>
                        <a:pt x="529" y="0"/>
                        <a:pt x="666" y="114"/>
                        <a:pt x="798" y="114"/>
                      </a:cubicBezTo>
                      <a:cubicBezTo>
                        <a:pt x="930" y="114"/>
                        <a:pt x="1057" y="0"/>
                        <a:pt x="1188" y="0"/>
                      </a:cubicBezTo>
                      <a:cubicBezTo>
                        <a:pt x="1319" y="0"/>
                        <a:pt x="1452" y="114"/>
                        <a:pt x="1584" y="114"/>
                      </a:cubicBezTo>
                      <a:cubicBezTo>
                        <a:pt x="1716" y="114"/>
                        <a:pt x="1848" y="0"/>
                        <a:pt x="1980" y="0"/>
                      </a:cubicBezTo>
                      <a:cubicBezTo>
                        <a:pt x="2112" y="0"/>
                        <a:pt x="2333" y="92"/>
                        <a:pt x="2376" y="114"/>
                      </a:cubicBezTo>
                    </a:path>
                  </a:pathLst>
                </a:custGeom>
                <a:gradFill rotWithShape="0">
                  <a:gsLst>
                    <a:gs pos="0">
                      <a:schemeClr val="accent2"/>
                    </a:gs>
                    <a:gs pos="100000">
                      <a:srgbClr val="9966FF"/>
                    </a:gs>
                  </a:gsLst>
                  <a:lin ang="5400000" scaled="1"/>
                </a:gradFill>
                <a:ln w="28575">
                  <a:pattFill prst="wdDnDiag">
                    <a:fgClr>
                      <a:srgbClr val="FFCC99"/>
                    </a:fgClr>
                    <a:bgClr>
                      <a:schemeClr val="hlink"/>
                    </a:bgClr>
                  </a:pattFill>
                  <a:round/>
                  <a:headEnd/>
                  <a:tailEnd/>
                </a:ln>
              </p:spPr>
              <p:txBody>
                <a:bodyPr wrap="none" anchor="ctr"/>
                <a:lstStyle/>
                <a:p>
                  <a:endParaRPr lang="zh-CN" altLang="en-US"/>
                </a:p>
              </p:txBody>
            </p:sp>
            <p:sp>
              <p:nvSpPr>
                <p:cNvPr id="41014" name="Freeform 70"/>
                <p:cNvSpPr>
                  <a:spLocks/>
                </p:cNvSpPr>
                <p:nvPr/>
              </p:nvSpPr>
              <p:spPr bwMode="auto">
                <a:xfrm flipH="1">
                  <a:off x="3084" y="1344"/>
                  <a:ext cx="2376" cy="114"/>
                </a:xfrm>
                <a:custGeom>
                  <a:avLst/>
                  <a:gdLst>
                    <a:gd name="T0" fmla="*/ 0 w 2376"/>
                    <a:gd name="T1" fmla="*/ 114 h 114"/>
                    <a:gd name="T2" fmla="*/ 396 w 2376"/>
                    <a:gd name="T3" fmla="*/ 0 h 114"/>
                    <a:gd name="T4" fmla="*/ 798 w 2376"/>
                    <a:gd name="T5" fmla="*/ 114 h 114"/>
                    <a:gd name="T6" fmla="*/ 1188 w 2376"/>
                    <a:gd name="T7" fmla="*/ 0 h 114"/>
                    <a:gd name="T8" fmla="*/ 1584 w 2376"/>
                    <a:gd name="T9" fmla="*/ 114 h 114"/>
                    <a:gd name="T10" fmla="*/ 1980 w 2376"/>
                    <a:gd name="T11" fmla="*/ 0 h 114"/>
                    <a:gd name="T12" fmla="*/ 2376 w 2376"/>
                    <a:gd name="T13" fmla="*/ 114 h 114"/>
                    <a:gd name="T14" fmla="*/ 0 60000 65536"/>
                    <a:gd name="T15" fmla="*/ 0 60000 65536"/>
                    <a:gd name="T16" fmla="*/ 0 60000 65536"/>
                    <a:gd name="T17" fmla="*/ 0 60000 65536"/>
                    <a:gd name="T18" fmla="*/ 0 60000 65536"/>
                    <a:gd name="T19" fmla="*/ 0 60000 65536"/>
                    <a:gd name="T20" fmla="*/ 0 60000 65536"/>
                    <a:gd name="T21" fmla="*/ 0 w 2376"/>
                    <a:gd name="T22" fmla="*/ 0 h 114"/>
                    <a:gd name="T23" fmla="*/ 2376 w 2376"/>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76" h="114">
                      <a:moveTo>
                        <a:pt x="0" y="114"/>
                      </a:moveTo>
                      <a:cubicBezTo>
                        <a:pt x="131" y="57"/>
                        <a:pt x="263" y="0"/>
                        <a:pt x="396" y="0"/>
                      </a:cubicBezTo>
                      <a:cubicBezTo>
                        <a:pt x="529" y="0"/>
                        <a:pt x="666" y="114"/>
                        <a:pt x="798" y="114"/>
                      </a:cubicBezTo>
                      <a:cubicBezTo>
                        <a:pt x="930" y="114"/>
                        <a:pt x="1057" y="0"/>
                        <a:pt x="1188" y="0"/>
                      </a:cubicBezTo>
                      <a:cubicBezTo>
                        <a:pt x="1319" y="0"/>
                        <a:pt x="1452" y="114"/>
                        <a:pt x="1584" y="114"/>
                      </a:cubicBezTo>
                      <a:cubicBezTo>
                        <a:pt x="1716" y="114"/>
                        <a:pt x="1848" y="0"/>
                        <a:pt x="1980" y="0"/>
                      </a:cubicBezTo>
                      <a:cubicBezTo>
                        <a:pt x="2112" y="0"/>
                        <a:pt x="2333" y="92"/>
                        <a:pt x="2376" y="114"/>
                      </a:cubicBezTo>
                    </a:path>
                  </a:pathLst>
                </a:custGeom>
                <a:gradFill rotWithShape="0">
                  <a:gsLst>
                    <a:gs pos="0">
                      <a:schemeClr val="accent2"/>
                    </a:gs>
                    <a:gs pos="100000">
                      <a:srgbClr val="9966FF"/>
                    </a:gs>
                  </a:gsLst>
                  <a:lin ang="5400000" scaled="1"/>
                </a:gradFill>
                <a:ln w="28575">
                  <a:pattFill prst="wdDnDiag">
                    <a:fgClr>
                      <a:srgbClr val="FFCC99"/>
                    </a:fgClr>
                    <a:bgClr>
                      <a:schemeClr val="hlink"/>
                    </a:bgClr>
                  </a:pattFill>
                  <a:round/>
                  <a:headEnd/>
                  <a:tailEnd/>
                </a:ln>
              </p:spPr>
              <p:txBody>
                <a:bodyPr wrap="none" anchor="ctr"/>
                <a:lstStyle/>
                <a:p>
                  <a:endParaRPr lang="zh-CN" altLang="en-US"/>
                </a:p>
              </p:txBody>
            </p:sp>
          </p:grpSp>
          <p:grpSp>
            <p:nvGrpSpPr>
              <p:cNvPr id="41010" name="Group 71"/>
              <p:cNvGrpSpPr>
                <a:grpSpLocks/>
              </p:cNvGrpSpPr>
              <p:nvPr/>
            </p:nvGrpSpPr>
            <p:grpSpPr bwMode="auto">
              <a:xfrm flipV="1">
                <a:off x="1441" y="1399"/>
                <a:ext cx="2523" cy="75"/>
                <a:chOff x="1444" y="1344"/>
                <a:chExt cx="4016" cy="114"/>
              </a:xfrm>
            </p:grpSpPr>
            <p:sp>
              <p:nvSpPr>
                <p:cNvPr id="41011" name="Freeform 72"/>
                <p:cNvSpPr>
                  <a:spLocks/>
                </p:cNvSpPr>
                <p:nvPr/>
              </p:nvSpPr>
              <p:spPr bwMode="auto">
                <a:xfrm>
                  <a:off x="1444" y="1344"/>
                  <a:ext cx="2376" cy="114"/>
                </a:xfrm>
                <a:custGeom>
                  <a:avLst/>
                  <a:gdLst>
                    <a:gd name="T0" fmla="*/ 0 w 2376"/>
                    <a:gd name="T1" fmla="*/ 114 h 114"/>
                    <a:gd name="T2" fmla="*/ 396 w 2376"/>
                    <a:gd name="T3" fmla="*/ 0 h 114"/>
                    <a:gd name="T4" fmla="*/ 798 w 2376"/>
                    <a:gd name="T5" fmla="*/ 114 h 114"/>
                    <a:gd name="T6" fmla="*/ 1188 w 2376"/>
                    <a:gd name="T7" fmla="*/ 0 h 114"/>
                    <a:gd name="T8" fmla="*/ 1584 w 2376"/>
                    <a:gd name="T9" fmla="*/ 114 h 114"/>
                    <a:gd name="T10" fmla="*/ 1980 w 2376"/>
                    <a:gd name="T11" fmla="*/ 0 h 114"/>
                    <a:gd name="T12" fmla="*/ 2376 w 2376"/>
                    <a:gd name="T13" fmla="*/ 114 h 114"/>
                    <a:gd name="T14" fmla="*/ 0 60000 65536"/>
                    <a:gd name="T15" fmla="*/ 0 60000 65536"/>
                    <a:gd name="T16" fmla="*/ 0 60000 65536"/>
                    <a:gd name="T17" fmla="*/ 0 60000 65536"/>
                    <a:gd name="T18" fmla="*/ 0 60000 65536"/>
                    <a:gd name="T19" fmla="*/ 0 60000 65536"/>
                    <a:gd name="T20" fmla="*/ 0 60000 65536"/>
                    <a:gd name="T21" fmla="*/ 0 w 2376"/>
                    <a:gd name="T22" fmla="*/ 0 h 114"/>
                    <a:gd name="T23" fmla="*/ 2376 w 2376"/>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76" h="114">
                      <a:moveTo>
                        <a:pt x="0" y="114"/>
                      </a:moveTo>
                      <a:cubicBezTo>
                        <a:pt x="131" y="57"/>
                        <a:pt x="263" y="0"/>
                        <a:pt x="396" y="0"/>
                      </a:cubicBezTo>
                      <a:cubicBezTo>
                        <a:pt x="529" y="0"/>
                        <a:pt x="666" y="114"/>
                        <a:pt x="798" y="114"/>
                      </a:cubicBezTo>
                      <a:cubicBezTo>
                        <a:pt x="930" y="114"/>
                        <a:pt x="1057" y="0"/>
                        <a:pt x="1188" y="0"/>
                      </a:cubicBezTo>
                      <a:cubicBezTo>
                        <a:pt x="1319" y="0"/>
                        <a:pt x="1452" y="114"/>
                        <a:pt x="1584" y="114"/>
                      </a:cubicBezTo>
                      <a:cubicBezTo>
                        <a:pt x="1716" y="114"/>
                        <a:pt x="1848" y="0"/>
                        <a:pt x="1980" y="0"/>
                      </a:cubicBezTo>
                      <a:cubicBezTo>
                        <a:pt x="2112" y="0"/>
                        <a:pt x="2333" y="92"/>
                        <a:pt x="2376" y="114"/>
                      </a:cubicBezTo>
                    </a:path>
                  </a:pathLst>
                </a:custGeom>
                <a:gradFill rotWithShape="0">
                  <a:gsLst>
                    <a:gs pos="0">
                      <a:schemeClr val="accent2"/>
                    </a:gs>
                    <a:gs pos="100000">
                      <a:srgbClr val="9966FF"/>
                    </a:gs>
                  </a:gsLst>
                  <a:lin ang="5400000" scaled="1"/>
                </a:gradFill>
                <a:ln w="28575">
                  <a:pattFill prst="wdDnDiag">
                    <a:fgClr>
                      <a:srgbClr val="FFCC99"/>
                    </a:fgClr>
                    <a:bgClr>
                      <a:schemeClr val="hlink"/>
                    </a:bgClr>
                  </a:pattFill>
                  <a:round/>
                  <a:headEnd/>
                  <a:tailEnd/>
                </a:ln>
              </p:spPr>
              <p:txBody>
                <a:bodyPr wrap="none" anchor="ctr"/>
                <a:lstStyle/>
                <a:p>
                  <a:endParaRPr lang="zh-CN" altLang="en-US"/>
                </a:p>
              </p:txBody>
            </p:sp>
            <p:sp>
              <p:nvSpPr>
                <p:cNvPr id="41012" name="Freeform 73"/>
                <p:cNvSpPr>
                  <a:spLocks/>
                </p:cNvSpPr>
                <p:nvPr/>
              </p:nvSpPr>
              <p:spPr bwMode="auto">
                <a:xfrm flipH="1">
                  <a:off x="3084" y="1344"/>
                  <a:ext cx="2376" cy="114"/>
                </a:xfrm>
                <a:custGeom>
                  <a:avLst/>
                  <a:gdLst>
                    <a:gd name="T0" fmla="*/ 0 w 2376"/>
                    <a:gd name="T1" fmla="*/ 114 h 114"/>
                    <a:gd name="T2" fmla="*/ 396 w 2376"/>
                    <a:gd name="T3" fmla="*/ 0 h 114"/>
                    <a:gd name="T4" fmla="*/ 798 w 2376"/>
                    <a:gd name="T5" fmla="*/ 114 h 114"/>
                    <a:gd name="T6" fmla="*/ 1188 w 2376"/>
                    <a:gd name="T7" fmla="*/ 0 h 114"/>
                    <a:gd name="T8" fmla="*/ 1584 w 2376"/>
                    <a:gd name="T9" fmla="*/ 114 h 114"/>
                    <a:gd name="T10" fmla="*/ 1980 w 2376"/>
                    <a:gd name="T11" fmla="*/ 0 h 114"/>
                    <a:gd name="T12" fmla="*/ 2376 w 2376"/>
                    <a:gd name="T13" fmla="*/ 114 h 114"/>
                    <a:gd name="T14" fmla="*/ 0 60000 65536"/>
                    <a:gd name="T15" fmla="*/ 0 60000 65536"/>
                    <a:gd name="T16" fmla="*/ 0 60000 65536"/>
                    <a:gd name="T17" fmla="*/ 0 60000 65536"/>
                    <a:gd name="T18" fmla="*/ 0 60000 65536"/>
                    <a:gd name="T19" fmla="*/ 0 60000 65536"/>
                    <a:gd name="T20" fmla="*/ 0 60000 65536"/>
                    <a:gd name="T21" fmla="*/ 0 w 2376"/>
                    <a:gd name="T22" fmla="*/ 0 h 114"/>
                    <a:gd name="T23" fmla="*/ 2376 w 2376"/>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76" h="114">
                      <a:moveTo>
                        <a:pt x="0" y="114"/>
                      </a:moveTo>
                      <a:cubicBezTo>
                        <a:pt x="131" y="57"/>
                        <a:pt x="263" y="0"/>
                        <a:pt x="396" y="0"/>
                      </a:cubicBezTo>
                      <a:cubicBezTo>
                        <a:pt x="529" y="0"/>
                        <a:pt x="666" y="114"/>
                        <a:pt x="798" y="114"/>
                      </a:cubicBezTo>
                      <a:cubicBezTo>
                        <a:pt x="930" y="114"/>
                        <a:pt x="1057" y="0"/>
                        <a:pt x="1188" y="0"/>
                      </a:cubicBezTo>
                      <a:cubicBezTo>
                        <a:pt x="1319" y="0"/>
                        <a:pt x="1452" y="114"/>
                        <a:pt x="1584" y="114"/>
                      </a:cubicBezTo>
                      <a:cubicBezTo>
                        <a:pt x="1716" y="114"/>
                        <a:pt x="1848" y="0"/>
                        <a:pt x="1980" y="0"/>
                      </a:cubicBezTo>
                      <a:cubicBezTo>
                        <a:pt x="2112" y="0"/>
                        <a:pt x="2333" y="92"/>
                        <a:pt x="2376" y="114"/>
                      </a:cubicBezTo>
                    </a:path>
                  </a:pathLst>
                </a:custGeom>
                <a:gradFill rotWithShape="0">
                  <a:gsLst>
                    <a:gs pos="0">
                      <a:schemeClr val="accent2"/>
                    </a:gs>
                    <a:gs pos="100000">
                      <a:srgbClr val="9966FF"/>
                    </a:gs>
                  </a:gsLst>
                  <a:lin ang="5400000" scaled="1"/>
                </a:gradFill>
                <a:ln w="28575">
                  <a:pattFill prst="wdDnDiag">
                    <a:fgClr>
                      <a:srgbClr val="FFCC99"/>
                    </a:fgClr>
                    <a:bgClr>
                      <a:schemeClr val="hlink"/>
                    </a:bgClr>
                  </a:pattFill>
                  <a:round/>
                  <a:headEnd/>
                  <a:tailEnd/>
                </a:ln>
              </p:spPr>
              <p:txBody>
                <a:bodyPr wrap="none" anchor="ctr"/>
                <a:lstStyle/>
                <a:p>
                  <a:endParaRPr lang="zh-CN" altLang="en-US"/>
                </a:p>
              </p:txBody>
            </p:sp>
          </p:grpSp>
        </p:grpSp>
        <p:sp>
          <p:nvSpPr>
            <p:cNvPr id="40991" name="Rectangle 74"/>
            <p:cNvSpPr>
              <a:spLocks noChangeArrowheads="1"/>
            </p:cNvSpPr>
            <p:nvPr/>
          </p:nvSpPr>
          <p:spPr bwMode="auto">
            <a:xfrm>
              <a:off x="657" y="1298"/>
              <a:ext cx="4578" cy="1456"/>
            </a:xfrm>
            <a:prstGeom prst="rect">
              <a:avLst/>
            </a:prstGeom>
            <a:noFill/>
            <a:ln w="9525">
              <a:noFill/>
              <a:miter lim="800000"/>
              <a:headEnd/>
              <a:tailEnd/>
            </a:ln>
          </p:spPr>
          <p:txBody>
            <a:bodyPr wrap="none" anchor="ctr"/>
            <a:lstStyle/>
            <a:p>
              <a:endParaRPr lang="zh-CN" altLang="en-US"/>
            </a:p>
          </p:txBody>
        </p:sp>
        <p:sp>
          <p:nvSpPr>
            <p:cNvPr id="40992" name="Line 75"/>
            <p:cNvSpPr>
              <a:spLocks noChangeShapeType="1"/>
            </p:cNvSpPr>
            <p:nvPr/>
          </p:nvSpPr>
          <p:spPr bwMode="auto">
            <a:xfrm>
              <a:off x="4056" y="1690"/>
              <a:ext cx="355" cy="0"/>
            </a:xfrm>
            <a:prstGeom prst="line">
              <a:avLst/>
            </a:prstGeom>
            <a:noFill/>
            <a:ln w="38100">
              <a:solidFill>
                <a:schemeClr val="accent2"/>
              </a:solidFill>
              <a:round/>
              <a:headEnd/>
              <a:tailEnd/>
            </a:ln>
          </p:spPr>
          <p:txBody>
            <a:bodyPr wrap="none" anchor="ctr"/>
            <a:lstStyle/>
            <a:p>
              <a:endParaRPr lang="zh-CN" altLang="en-US"/>
            </a:p>
          </p:txBody>
        </p:sp>
        <p:sp>
          <p:nvSpPr>
            <p:cNvPr id="40993" name="AutoShape 76"/>
            <p:cNvSpPr>
              <a:spLocks noChangeArrowheads="1"/>
            </p:cNvSpPr>
            <p:nvPr/>
          </p:nvSpPr>
          <p:spPr bwMode="auto">
            <a:xfrm>
              <a:off x="3948" y="1752"/>
              <a:ext cx="111" cy="244"/>
            </a:xfrm>
            <a:prstGeom prst="triangle">
              <a:avLst>
                <a:gd name="adj" fmla="val 50000"/>
              </a:avLst>
            </a:prstGeom>
            <a:solidFill>
              <a:schemeClr val="accent2"/>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2"/>
              </a:extrusionClr>
            </a:sp3d>
          </p:spPr>
          <p:txBody>
            <a:bodyPr wrap="none" anchor="ctr">
              <a:flatTx/>
            </a:bodyPr>
            <a:lstStyle/>
            <a:p>
              <a:endParaRPr lang="zh-CN" altLang="en-US"/>
            </a:p>
          </p:txBody>
        </p:sp>
        <p:sp>
          <p:nvSpPr>
            <p:cNvPr id="40994" name="Arc 77"/>
            <p:cNvSpPr>
              <a:spLocks/>
            </p:cNvSpPr>
            <p:nvPr/>
          </p:nvSpPr>
          <p:spPr bwMode="auto">
            <a:xfrm rot="-5400000">
              <a:off x="1077" y="1503"/>
              <a:ext cx="311" cy="166"/>
            </a:xfrm>
            <a:custGeom>
              <a:avLst/>
              <a:gdLst>
                <a:gd name="T0" fmla="*/ 0 w 43200"/>
                <a:gd name="T1" fmla="*/ 0 h 21906"/>
                <a:gd name="T2" fmla="*/ 0 w 43200"/>
                <a:gd name="T3" fmla="*/ 0 h 21906"/>
                <a:gd name="T4" fmla="*/ 0 w 43200"/>
                <a:gd name="T5" fmla="*/ 0 h 21906"/>
                <a:gd name="T6" fmla="*/ 0 60000 65536"/>
                <a:gd name="T7" fmla="*/ 0 60000 65536"/>
                <a:gd name="T8" fmla="*/ 0 60000 65536"/>
                <a:gd name="T9" fmla="*/ 0 w 43200"/>
                <a:gd name="T10" fmla="*/ 0 h 21906"/>
                <a:gd name="T11" fmla="*/ 43200 w 43200"/>
                <a:gd name="T12" fmla="*/ 21906 h 21906"/>
              </a:gdLst>
              <a:ahLst/>
              <a:cxnLst>
                <a:cxn ang="T6">
                  <a:pos x="T0" y="T1"/>
                </a:cxn>
                <a:cxn ang="T7">
                  <a:pos x="T2" y="T3"/>
                </a:cxn>
                <a:cxn ang="T8">
                  <a:pos x="T4" y="T5"/>
                </a:cxn>
              </a:cxnLst>
              <a:rect l="T9" t="T10" r="T11" b="T12"/>
              <a:pathLst>
                <a:path w="43200" h="21906" fill="none" extrusionOk="0">
                  <a:moveTo>
                    <a:pt x="2" y="21905"/>
                  </a:moveTo>
                  <a:cubicBezTo>
                    <a:pt x="0" y="21804"/>
                    <a:pt x="0" y="21702"/>
                    <a:pt x="0" y="21600"/>
                  </a:cubicBezTo>
                  <a:cubicBezTo>
                    <a:pt x="0" y="9670"/>
                    <a:pt x="9670" y="0"/>
                    <a:pt x="21600" y="0"/>
                  </a:cubicBezTo>
                  <a:cubicBezTo>
                    <a:pt x="33529" y="-1"/>
                    <a:pt x="43199" y="9670"/>
                    <a:pt x="43200" y="21599"/>
                  </a:cubicBezTo>
                </a:path>
                <a:path w="43200" h="21906" stroke="0" extrusionOk="0">
                  <a:moveTo>
                    <a:pt x="2" y="21905"/>
                  </a:moveTo>
                  <a:cubicBezTo>
                    <a:pt x="0" y="21804"/>
                    <a:pt x="0" y="21702"/>
                    <a:pt x="0" y="21600"/>
                  </a:cubicBezTo>
                  <a:cubicBezTo>
                    <a:pt x="0" y="9670"/>
                    <a:pt x="9670" y="0"/>
                    <a:pt x="21600" y="0"/>
                  </a:cubicBezTo>
                  <a:cubicBezTo>
                    <a:pt x="33529" y="-1"/>
                    <a:pt x="43199" y="9670"/>
                    <a:pt x="43200" y="21599"/>
                  </a:cubicBezTo>
                  <a:lnTo>
                    <a:pt x="21600" y="21600"/>
                  </a:lnTo>
                  <a:close/>
                </a:path>
              </a:pathLst>
            </a:custGeom>
            <a:solidFill>
              <a:srgbClr val="009999"/>
            </a:solidFill>
            <a:ln w="9525">
              <a:solidFill>
                <a:schemeClr val="tx1"/>
              </a:solidFill>
              <a:round/>
              <a:headEnd/>
              <a:tailEnd/>
            </a:ln>
          </p:spPr>
          <p:txBody>
            <a:bodyPr wrap="none" anchor="ctr"/>
            <a:lstStyle/>
            <a:p>
              <a:endParaRPr lang="zh-CN" altLang="en-US"/>
            </a:p>
          </p:txBody>
        </p:sp>
        <p:grpSp>
          <p:nvGrpSpPr>
            <p:cNvPr id="40995" name="Group 78"/>
            <p:cNvGrpSpPr>
              <a:grpSpLocks/>
            </p:cNvGrpSpPr>
            <p:nvPr/>
          </p:nvGrpSpPr>
          <p:grpSpPr bwMode="auto">
            <a:xfrm>
              <a:off x="811" y="1430"/>
              <a:ext cx="698" cy="311"/>
              <a:chOff x="576" y="1460"/>
              <a:chExt cx="698" cy="311"/>
            </a:xfrm>
          </p:grpSpPr>
          <p:sp>
            <p:nvSpPr>
              <p:cNvPr id="41005" name="Arc 79"/>
              <p:cNvSpPr>
                <a:spLocks/>
              </p:cNvSpPr>
              <p:nvPr/>
            </p:nvSpPr>
            <p:spPr bwMode="auto">
              <a:xfrm rot="-5400000">
                <a:off x="947" y="1565"/>
                <a:ext cx="186" cy="107"/>
              </a:xfrm>
              <a:custGeom>
                <a:avLst/>
                <a:gdLst>
                  <a:gd name="T0" fmla="*/ 0 w 43200"/>
                  <a:gd name="T1" fmla="*/ 0 h 21906"/>
                  <a:gd name="T2" fmla="*/ 0 w 43200"/>
                  <a:gd name="T3" fmla="*/ 0 h 21906"/>
                  <a:gd name="T4" fmla="*/ 0 w 43200"/>
                  <a:gd name="T5" fmla="*/ 0 h 21906"/>
                  <a:gd name="T6" fmla="*/ 0 60000 65536"/>
                  <a:gd name="T7" fmla="*/ 0 60000 65536"/>
                  <a:gd name="T8" fmla="*/ 0 60000 65536"/>
                  <a:gd name="T9" fmla="*/ 0 w 43200"/>
                  <a:gd name="T10" fmla="*/ 0 h 21906"/>
                  <a:gd name="T11" fmla="*/ 43200 w 43200"/>
                  <a:gd name="T12" fmla="*/ 21906 h 21906"/>
                </a:gdLst>
                <a:ahLst/>
                <a:cxnLst>
                  <a:cxn ang="T6">
                    <a:pos x="T0" y="T1"/>
                  </a:cxn>
                  <a:cxn ang="T7">
                    <a:pos x="T2" y="T3"/>
                  </a:cxn>
                  <a:cxn ang="T8">
                    <a:pos x="T4" y="T5"/>
                  </a:cxn>
                </a:cxnLst>
                <a:rect l="T9" t="T10" r="T11" b="T12"/>
                <a:pathLst>
                  <a:path w="43200" h="21906" fill="none" extrusionOk="0">
                    <a:moveTo>
                      <a:pt x="2" y="21905"/>
                    </a:moveTo>
                    <a:cubicBezTo>
                      <a:pt x="0" y="21804"/>
                      <a:pt x="0" y="21702"/>
                      <a:pt x="0" y="21600"/>
                    </a:cubicBezTo>
                    <a:cubicBezTo>
                      <a:pt x="0" y="9670"/>
                      <a:pt x="9670" y="0"/>
                      <a:pt x="21600" y="0"/>
                    </a:cubicBezTo>
                    <a:cubicBezTo>
                      <a:pt x="33529" y="-1"/>
                      <a:pt x="43199" y="9670"/>
                      <a:pt x="43200" y="21599"/>
                    </a:cubicBezTo>
                  </a:path>
                  <a:path w="43200" h="21906" stroke="0" extrusionOk="0">
                    <a:moveTo>
                      <a:pt x="2" y="21905"/>
                    </a:moveTo>
                    <a:cubicBezTo>
                      <a:pt x="0" y="21804"/>
                      <a:pt x="0" y="21702"/>
                      <a:pt x="0" y="21600"/>
                    </a:cubicBezTo>
                    <a:cubicBezTo>
                      <a:pt x="0" y="9670"/>
                      <a:pt x="9670" y="0"/>
                      <a:pt x="21600" y="0"/>
                    </a:cubicBezTo>
                    <a:cubicBezTo>
                      <a:pt x="33529" y="-1"/>
                      <a:pt x="43199" y="9670"/>
                      <a:pt x="43200" y="21599"/>
                    </a:cubicBezTo>
                    <a:lnTo>
                      <a:pt x="21600" y="21600"/>
                    </a:lnTo>
                    <a:close/>
                  </a:path>
                </a:pathLst>
              </a:custGeom>
              <a:solidFill>
                <a:schemeClr val="bg1"/>
              </a:solidFill>
              <a:ln w="9525">
                <a:solidFill>
                  <a:schemeClr val="tx1"/>
                </a:solidFill>
                <a:round/>
                <a:headEnd/>
                <a:tailEnd/>
              </a:ln>
            </p:spPr>
            <p:txBody>
              <a:bodyPr wrap="none" anchor="ctr"/>
              <a:lstStyle/>
              <a:p>
                <a:endParaRPr lang="zh-CN" altLang="en-US"/>
              </a:p>
            </p:txBody>
          </p:sp>
          <p:sp>
            <p:nvSpPr>
              <p:cNvPr id="41006" name="Freeform 80"/>
              <p:cNvSpPr>
                <a:spLocks/>
              </p:cNvSpPr>
              <p:nvPr/>
            </p:nvSpPr>
            <p:spPr bwMode="auto">
              <a:xfrm>
                <a:off x="1064" y="1711"/>
                <a:ext cx="210" cy="60"/>
              </a:xfrm>
              <a:custGeom>
                <a:avLst/>
                <a:gdLst>
                  <a:gd name="T0" fmla="*/ 0 w 606"/>
                  <a:gd name="T1" fmla="*/ 0 h 84"/>
                  <a:gd name="T2" fmla="*/ 25 w 606"/>
                  <a:gd name="T3" fmla="*/ 0 h 84"/>
                  <a:gd name="T4" fmla="*/ 25 w 606"/>
                  <a:gd name="T5" fmla="*/ 31 h 84"/>
                  <a:gd name="T6" fmla="*/ 0 w 606"/>
                  <a:gd name="T7" fmla="*/ 31 h 84"/>
                  <a:gd name="T8" fmla="*/ 0 60000 65536"/>
                  <a:gd name="T9" fmla="*/ 0 60000 65536"/>
                  <a:gd name="T10" fmla="*/ 0 60000 65536"/>
                  <a:gd name="T11" fmla="*/ 0 60000 65536"/>
                  <a:gd name="T12" fmla="*/ 0 w 606"/>
                  <a:gd name="T13" fmla="*/ 0 h 84"/>
                  <a:gd name="T14" fmla="*/ 606 w 606"/>
                  <a:gd name="T15" fmla="*/ 84 h 84"/>
                </a:gdLst>
                <a:ahLst/>
                <a:cxnLst>
                  <a:cxn ang="T8">
                    <a:pos x="T0" y="T1"/>
                  </a:cxn>
                  <a:cxn ang="T9">
                    <a:pos x="T2" y="T3"/>
                  </a:cxn>
                  <a:cxn ang="T10">
                    <a:pos x="T4" y="T5"/>
                  </a:cxn>
                  <a:cxn ang="T11">
                    <a:pos x="T6" y="T7"/>
                  </a:cxn>
                </a:cxnLst>
                <a:rect l="T12" t="T13" r="T14" b="T15"/>
                <a:pathLst>
                  <a:path w="606" h="84">
                    <a:moveTo>
                      <a:pt x="6" y="0"/>
                    </a:moveTo>
                    <a:lnTo>
                      <a:pt x="606" y="0"/>
                    </a:lnTo>
                    <a:lnTo>
                      <a:pt x="606" y="84"/>
                    </a:lnTo>
                    <a:lnTo>
                      <a:pt x="0" y="84"/>
                    </a:lnTo>
                  </a:path>
                </a:pathLst>
              </a:custGeom>
              <a:solidFill>
                <a:srgbClr val="009999"/>
              </a:solidFill>
              <a:ln w="9525">
                <a:solidFill>
                  <a:schemeClr val="tx1"/>
                </a:solidFill>
                <a:round/>
                <a:headEnd/>
                <a:tailEnd/>
              </a:ln>
            </p:spPr>
            <p:txBody>
              <a:bodyPr wrap="none" anchor="ctr"/>
              <a:lstStyle/>
              <a:p>
                <a:endParaRPr lang="zh-CN" altLang="en-US"/>
              </a:p>
            </p:txBody>
          </p:sp>
          <p:sp>
            <p:nvSpPr>
              <p:cNvPr id="41007" name="Freeform 81"/>
              <p:cNvSpPr>
                <a:spLocks/>
              </p:cNvSpPr>
              <p:nvPr/>
            </p:nvSpPr>
            <p:spPr bwMode="auto">
              <a:xfrm>
                <a:off x="1064" y="1460"/>
                <a:ext cx="210" cy="66"/>
              </a:xfrm>
              <a:custGeom>
                <a:avLst/>
                <a:gdLst>
                  <a:gd name="T0" fmla="*/ 0 w 606"/>
                  <a:gd name="T1" fmla="*/ 0 h 84"/>
                  <a:gd name="T2" fmla="*/ 25 w 606"/>
                  <a:gd name="T3" fmla="*/ 0 h 84"/>
                  <a:gd name="T4" fmla="*/ 25 w 606"/>
                  <a:gd name="T5" fmla="*/ 41 h 84"/>
                  <a:gd name="T6" fmla="*/ 0 w 606"/>
                  <a:gd name="T7" fmla="*/ 41 h 84"/>
                  <a:gd name="T8" fmla="*/ 0 60000 65536"/>
                  <a:gd name="T9" fmla="*/ 0 60000 65536"/>
                  <a:gd name="T10" fmla="*/ 0 60000 65536"/>
                  <a:gd name="T11" fmla="*/ 0 60000 65536"/>
                  <a:gd name="T12" fmla="*/ 0 w 606"/>
                  <a:gd name="T13" fmla="*/ 0 h 84"/>
                  <a:gd name="T14" fmla="*/ 606 w 606"/>
                  <a:gd name="T15" fmla="*/ 84 h 84"/>
                </a:gdLst>
                <a:ahLst/>
                <a:cxnLst>
                  <a:cxn ang="T8">
                    <a:pos x="T0" y="T1"/>
                  </a:cxn>
                  <a:cxn ang="T9">
                    <a:pos x="T2" y="T3"/>
                  </a:cxn>
                  <a:cxn ang="T10">
                    <a:pos x="T4" y="T5"/>
                  </a:cxn>
                  <a:cxn ang="T11">
                    <a:pos x="T6" y="T7"/>
                  </a:cxn>
                </a:cxnLst>
                <a:rect l="T12" t="T13" r="T14" b="T15"/>
                <a:pathLst>
                  <a:path w="606" h="84">
                    <a:moveTo>
                      <a:pt x="6" y="0"/>
                    </a:moveTo>
                    <a:lnTo>
                      <a:pt x="606" y="0"/>
                    </a:lnTo>
                    <a:lnTo>
                      <a:pt x="606" y="84"/>
                    </a:lnTo>
                    <a:lnTo>
                      <a:pt x="0" y="84"/>
                    </a:lnTo>
                  </a:path>
                </a:pathLst>
              </a:custGeom>
              <a:solidFill>
                <a:srgbClr val="009999"/>
              </a:solidFill>
              <a:ln w="9525">
                <a:solidFill>
                  <a:schemeClr val="tx1"/>
                </a:solidFill>
                <a:round/>
                <a:headEnd/>
                <a:tailEnd/>
              </a:ln>
            </p:spPr>
            <p:txBody>
              <a:bodyPr wrap="none" anchor="ctr"/>
              <a:lstStyle/>
              <a:p>
                <a:endParaRPr lang="zh-CN" altLang="en-US"/>
              </a:p>
            </p:txBody>
          </p:sp>
          <p:sp>
            <p:nvSpPr>
              <p:cNvPr id="41008" name="Rectangle 82"/>
              <p:cNvSpPr>
                <a:spLocks noChangeArrowheads="1"/>
              </p:cNvSpPr>
              <p:nvPr/>
            </p:nvSpPr>
            <p:spPr bwMode="auto">
              <a:xfrm>
                <a:off x="576" y="1586"/>
                <a:ext cx="334" cy="67"/>
              </a:xfrm>
              <a:prstGeom prst="rect">
                <a:avLst/>
              </a:prstGeom>
              <a:solidFill>
                <a:srgbClr val="009999"/>
              </a:solidFill>
              <a:ln w="9525">
                <a:solidFill>
                  <a:schemeClr val="tx1"/>
                </a:solidFill>
                <a:miter lim="800000"/>
                <a:headEnd/>
                <a:tailEnd/>
              </a:ln>
            </p:spPr>
            <p:txBody>
              <a:bodyPr wrap="none" anchor="ctr"/>
              <a:lstStyle/>
              <a:p>
                <a:endParaRPr lang="zh-CN" altLang="en-US"/>
              </a:p>
            </p:txBody>
          </p:sp>
        </p:grpSp>
        <p:sp>
          <p:nvSpPr>
            <p:cNvPr id="40996" name="Rectangle 83"/>
            <p:cNvSpPr>
              <a:spLocks noChangeArrowheads="1"/>
            </p:cNvSpPr>
            <p:nvPr/>
          </p:nvSpPr>
          <p:spPr bwMode="auto">
            <a:xfrm>
              <a:off x="4014" y="1344"/>
              <a:ext cx="253" cy="327"/>
            </a:xfrm>
            <a:prstGeom prst="rect">
              <a:avLst/>
            </a:prstGeom>
            <a:noFill/>
            <a:ln w="9525">
              <a:noFill/>
              <a:miter lim="800000"/>
              <a:headEnd/>
              <a:tailEnd/>
            </a:ln>
          </p:spPr>
          <p:txBody>
            <a:bodyPr wrap="none">
              <a:spAutoFit/>
            </a:bodyPr>
            <a:lstStyle/>
            <a:p>
              <a:r>
                <a:rPr lang="en-US" altLang="zh-CN" sz="2800" i="1"/>
                <a:t>B</a:t>
              </a:r>
            </a:p>
          </p:txBody>
        </p:sp>
        <p:sp>
          <p:nvSpPr>
            <p:cNvPr id="112724" name="Oval 84"/>
            <p:cNvSpPr>
              <a:spLocks noChangeArrowheads="1"/>
            </p:cNvSpPr>
            <p:nvPr/>
          </p:nvSpPr>
          <p:spPr bwMode="auto">
            <a:xfrm>
              <a:off x="4286" y="1729"/>
              <a:ext cx="155" cy="155"/>
            </a:xfrm>
            <a:prstGeom prst="ellipse">
              <a:avLst/>
            </a:prstGeom>
            <a:gradFill rotWithShape="0">
              <a:gsLst>
                <a:gs pos="0">
                  <a:schemeClr val="folHlink"/>
                </a:gs>
                <a:gs pos="100000">
                  <a:schemeClr val="folHlink">
                    <a:gamma/>
                    <a:shade val="46275"/>
                    <a:invGamma/>
                  </a:schemeClr>
                </a:gs>
              </a:gsLst>
              <a:path path="shape">
                <a:fillToRect l="50000" t="50000" r="50000" b="50000"/>
              </a:path>
            </a:gradFill>
            <a:ln w="19050">
              <a:round/>
              <a:headEnd/>
              <a:tailEnd/>
            </a:ln>
            <a:effectLst/>
            <a:scene3d>
              <a:camera prst="legacyPerspectiveFront">
                <a:rot lat="1500000" lon="1500000" rev="0"/>
              </a:camera>
              <a:lightRig rig="legacyFlat2" dir="b"/>
            </a:scene3d>
            <a:sp3d extrusionH="430200" prstMaterial="legacyMatte">
              <a:bevelT w="13500" h="13500" prst="angle"/>
              <a:bevelB w="13500" h="13500" prst="angle"/>
              <a:extrusionClr>
                <a:schemeClr val="folHlink"/>
              </a:extrusionClr>
            </a:sp3d>
          </p:spPr>
          <p:txBody>
            <a:bodyPr wrap="none" anchor="ctr">
              <a:flatTx/>
            </a:bodyPr>
            <a:lstStyle/>
            <a:p>
              <a:pPr>
                <a:defRPr/>
              </a:pPr>
              <a:endParaRPr lang="zh-CN" altLang="en-US"/>
            </a:p>
          </p:txBody>
        </p:sp>
        <p:sp>
          <p:nvSpPr>
            <p:cNvPr id="40998" name="Text Box 85"/>
            <p:cNvSpPr txBox="1">
              <a:spLocks noChangeArrowheads="1"/>
            </p:cNvSpPr>
            <p:nvPr/>
          </p:nvSpPr>
          <p:spPr bwMode="auto">
            <a:xfrm>
              <a:off x="2376" y="2545"/>
              <a:ext cx="1230" cy="250"/>
            </a:xfrm>
            <a:prstGeom prst="rect">
              <a:avLst/>
            </a:prstGeom>
            <a:noFill/>
            <a:ln w="9525">
              <a:noFill/>
              <a:miter lim="800000"/>
              <a:headEnd/>
              <a:tailEnd/>
            </a:ln>
          </p:spPr>
          <p:txBody>
            <a:bodyPr>
              <a:spAutoFit/>
            </a:bodyPr>
            <a:lstStyle/>
            <a:p>
              <a:pPr>
                <a:spcBef>
                  <a:spcPct val="50000"/>
                </a:spcBef>
              </a:pPr>
              <a:r>
                <a:rPr lang="zh-CN" altLang="en-US" sz="2000" b="1">
                  <a:ea typeface="楷体_GB2312" pitchFamily="49" charset="-122"/>
                </a:rPr>
                <a:t>绳上的驻波</a:t>
              </a:r>
            </a:p>
          </p:txBody>
        </p:sp>
        <p:sp>
          <p:nvSpPr>
            <p:cNvPr id="40999" name="Text Box 86"/>
            <p:cNvSpPr txBox="1">
              <a:spLocks noChangeArrowheads="1"/>
            </p:cNvSpPr>
            <p:nvPr/>
          </p:nvSpPr>
          <p:spPr bwMode="auto">
            <a:xfrm>
              <a:off x="4669" y="2241"/>
              <a:ext cx="290" cy="327"/>
            </a:xfrm>
            <a:prstGeom prst="rect">
              <a:avLst/>
            </a:prstGeom>
            <a:noFill/>
            <a:ln w="9525">
              <a:noFill/>
              <a:miter lim="800000"/>
              <a:headEnd/>
              <a:tailEnd/>
            </a:ln>
          </p:spPr>
          <p:txBody>
            <a:bodyPr>
              <a:spAutoFit/>
            </a:bodyPr>
            <a:lstStyle/>
            <a:p>
              <a:pPr>
                <a:spcBef>
                  <a:spcPct val="50000"/>
                </a:spcBef>
              </a:pPr>
              <a:r>
                <a:rPr lang="en-US" altLang="zh-CN" sz="2800" i="1"/>
                <a:t>m</a:t>
              </a:r>
            </a:p>
          </p:txBody>
        </p:sp>
        <p:sp>
          <p:nvSpPr>
            <p:cNvPr id="41000" name="Rectangle 87"/>
            <p:cNvSpPr>
              <a:spLocks noChangeArrowheads="1"/>
            </p:cNvSpPr>
            <p:nvPr/>
          </p:nvSpPr>
          <p:spPr bwMode="auto">
            <a:xfrm>
              <a:off x="4513" y="1570"/>
              <a:ext cx="253" cy="327"/>
            </a:xfrm>
            <a:prstGeom prst="rect">
              <a:avLst/>
            </a:prstGeom>
            <a:noFill/>
            <a:ln w="9525">
              <a:noFill/>
              <a:miter lim="800000"/>
              <a:headEnd/>
              <a:tailEnd/>
            </a:ln>
          </p:spPr>
          <p:txBody>
            <a:bodyPr wrap="none">
              <a:spAutoFit/>
            </a:bodyPr>
            <a:lstStyle/>
            <a:p>
              <a:r>
                <a:rPr lang="en-US" altLang="zh-CN" sz="2800" i="1"/>
                <a:t>P</a:t>
              </a:r>
            </a:p>
          </p:txBody>
        </p:sp>
        <p:sp>
          <p:nvSpPr>
            <p:cNvPr id="41001" name="AutoShape 88" descr="白色大理石"/>
            <p:cNvSpPr>
              <a:spLocks noChangeArrowheads="1"/>
            </p:cNvSpPr>
            <p:nvPr/>
          </p:nvSpPr>
          <p:spPr bwMode="auto">
            <a:xfrm>
              <a:off x="4304" y="2134"/>
              <a:ext cx="327" cy="466"/>
            </a:xfrm>
            <a:prstGeom prst="cube">
              <a:avLst>
                <a:gd name="adj" fmla="val 25000"/>
              </a:avLst>
            </a:prstGeom>
            <a:blipFill dpi="0" rotWithShape="0">
              <a:blip r:embed="rId3"/>
              <a:srcRect/>
              <a:tile tx="0" ty="0" sx="100000" sy="100000" flip="none" algn="tl"/>
            </a:blipFill>
            <a:ln w="38100">
              <a:solidFill>
                <a:srgbClr val="009999"/>
              </a:solidFill>
              <a:miter lim="800000"/>
              <a:headEnd/>
              <a:tailEnd/>
            </a:ln>
          </p:spPr>
          <p:txBody>
            <a:bodyPr wrap="none" anchor="ctr"/>
            <a:lstStyle/>
            <a:p>
              <a:endParaRPr lang="zh-CN" altLang="en-US"/>
            </a:p>
          </p:txBody>
        </p:sp>
        <p:sp>
          <p:nvSpPr>
            <p:cNvPr id="41002" name="Line 89"/>
            <p:cNvSpPr>
              <a:spLocks noChangeShapeType="1"/>
            </p:cNvSpPr>
            <p:nvPr/>
          </p:nvSpPr>
          <p:spPr bwMode="auto">
            <a:xfrm flipH="1">
              <a:off x="4465" y="1752"/>
              <a:ext cx="1" cy="435"/>
            </a:xfrm>
            <a:prstGeom prst="line">
              <a:avLst/>
            </a:prstGeom>
            <a:noFill/>
            <a:ln w="38100">
              <a:solidFill>
                <a:schemeClr val="accent2"/>
              </a:solidFill>
              <a:round/>
              <a:headEnd/>
              <a:tailEnd/>
            </a:ln>
          </p:spPr>
          <p:txBody>
            <a:bodyPr wrap="none" anchor="ctr"/>
            <a:lstStyle/>
            <a:p>
              <a:endParaRPr lang="zh-CN" altLang="en-US"/>
            </a:p>
          </p:txBody>
        </p:sp>
        <p:sp>
          <p:nvSpPr>
            <p:cNvPr id="41003" name="Freeform 90"/>
            <p:cNvSpPr>
              <a:spLocks/>
            </p:cNvSpPr>
            <p:nvPr/>
          </p:nvSpPr>
          <p:spPr bwMode="auto">
            <a:xfrm>
              <a:off x="4355" y="1671"/>
              <a:ext cx="118" cy="90"/>
            </a:xfrm>
            <a:custGeom>
              <a:avLst/>
              <a:gdLst>
                <a:gd name="T0" fmla="*/ 0 w 118"/>
                <a:gd name="T1" fmla="*/ 14 h 90"/>
                <a:gd name="T2" fmla="*/ 99 w 118"/>
                <a:gd name="T3" fmla="*/ 13 h 90"/>
                <a:gd name="T4" fmla="*/ 112 w 118"/>
                <a:gd name="T5" fmla="*/ 90 h 90"/>
                <a:gd name="T6" fmla="*/ 0 60000 65536"/>
                <a:gd name="T7" fmla="*/ 0 60000 65536"/>
                <a:gd name="T8" fmla="*/ 0 60000 65536"/>
                <a:gd name="T9" fmla="*/ 0 w 118"/>
                <a:gd name="T10" fmla="*/ 0 h 90"/>
                <a:gd name="T11" fmla="*/ 118 w 118"/>
                <a:gd name="T12" fmla="*/ 90 h 90"/>
              </a:gdLst>
              <a:ahLst/>
              <a:cxnLst>
                <a:cxn ang="T6">
                  <a:pos x="T0" y="T1"/>
                </a:cxn>
                <a:cxn ang="T7">
                  <a:pos x="T2" y="T3"/>
                </a:cxn>
                <a:cxn ang="T8">
                  <a:pos x="T4" y="T5"/>
                </a:cxn>
              </a:cxnLst>
              <a:rect l="T9" t="T10" r="T11" b="T12"/>
              <a:pathLst>
                <a:path w="118" h="90">
                  <a:moveTo>
                    <a:pt x="0" y="14"/>
                  </a:moveTo>
                  <a:cubicBezTo>
                    <a:pt x="0" y="28"/>
                    <a:pt x="80" y="0"/>
                    <a:pt x="99" y="13"/>
                  </a:cubicBezTo>
                  <a:cubicBezTo>
                    <a:pt x="118" y="26"/>
                    <a:pt x="112" y="72"/>
                    <a:pt x="112" y="90"/>
                  </a:cubicBezTo>
                </a:path>
              </a:pathLst>
            </a:custGeom>
            <a:noFill/>
            <a:ln w="38100">
              <a:solidFill>
                <a:schemeClr val="accent2"/>
              </a:solidFill>
              <a:round/>
              <a:headEnd/>
              <a:tailEnd/>
            </a:ln>
          </p:spPr>
          <p:txBody>
            <a:bodyPr wrap="none" anchor="ctr"/>
            <a:lstStyle/>
            <a:p>
              <a:endParaRPr lang="zh-CN" altLang="en-US"/>
            </a:p>
          </p:txBody>
        </p:sp>
        <p:sp>
          <p:nvSpPr>
            <p:cNvPr id="41004" name="Rectangle 91"/>
            <p:cNvSpPr>
              <a:spLocks noChangeArrowheads="1"/>
            </p:cNvSpPr>
            <p:nvPr/>
          </p:nvSpPr>
          <p:spPr bwMode="auto">
            <a:xfrm>
              <a:off x="1474" y="1389"/>
              <a:ext cx="253" cy="327"/>
            </a:xfrm>
            <a:prstGeom prst="rect">
              <a:avLst/>
            </a:prstGeom>
            <a:noFill/>
            <a:ln w="9525">
              <a:noFill/>
              <a:miter lim="800000"/>
              <a:headEnd/>
              <a:tailEnd/>
            </a:ln>
          </p:spPr>
          <p:txBody>
            <a:bodyPr wrap="none">
              <a:spAutoFit/>
            </a:bodyPr>
            <a:lstStyle/>
            <a:p>
              <a:r>
                <a:rPr lang="en-US" altLang="zh-CN" sz="2800" i="1"/>
                <a:t>A</a:t>
              </a:r>
            </a:p>
          </p:txBody>
        </p:sp>
      </p:grpSp>
      <p:sp>
        <p:nvSpPr>
          <p:cNvPr id="112786" name="Text Box 146"/>
          <p:cNvSpPr txBox="1">
            <a:spLocks noChangeArrowheads="1"/>
          </p:cNvSpPr>
          <p:nvPr/>
        </p:nvSpPr>
        <p:spPr bwMode="auto">
          <a:xfrm>
            <a:off x="1027113" y="4870450"/>
            <a:ext cx="5200650" cy="493713"/>
          </a:xfrm>
          <a:prstGeom prst="rect">
            <a:avLst/>
          </a:prstGeom>
          <a:noFill/>
          <a:ln w="9525">
            <a:noFill/>
            <a:miter lim="800000"/>
            <a:headEnd/>
            <a:tailEnd/>
          </a:ln>
        </p:spPr>
        <p:txBody>
          <a:bodyPr>
            <a:spAutoFit/>
          </a:bodyPr>
          <a:lstStyle/>
          <a:p>
            <a:pPr>
              <a:lnSpc>
                <a:spcPct val="110000"/>
              </a:lnSpc>
            </a:pPr>
            <a:r>
              <a:rPr lang="zh-CN" altLang="en-US" b="1">
                <a:solidFill>
                  <a:srgbClr val="0033CC"/>
                </a:solidFill>
              </a:rPr>
              <a:t>波腹</a:t>
            </a:r>
            <a:r>
              <a:rPr lang="zh-CN" altLang="en-US" b="1"/>
              <a:t>：</a:t>
            </a:r>
            <a:r>
              <a:rPr lang="zh-CN" altLang="en-US" b="1">
                <a:ea typeface="楷体_GB2312" pitchFamily="49" charset="-122"/>
              </a:rPr>
              <a:t>振幅始终为极大值的点</a:t>
            </a:r>
            <a:r>
              <a:rPr lang="zh-CN" altLang="en-US" b="1">
                <a:latin typeface="黑体" pitchFamily="49" charset="-122"/>
                <a:ea typeface="楷体_GB2312" pitchFamily="49" charset="-122"/>
              </a:rPr>
              <a:t>；</a:t>
            </a:r>
          </a:p>
        </p:txBody>
      </p:sp>
      <p:sp>
        <p:nvSpPr>
          <p:cNvPr id="112787" name="Rectangle 147"/>
          <p:cNvSpPr>
            <a:spLocks noChangeArrowheads="1"/>
          </p:cNvSpPr>
          <p:nvPr/>
        </p:nvSpPr>
        <p:spPr bwMode="auto">
          <a:xfrm>
            <a:off x="1042988" y="5373688"/>
            <a:ext cx="6924675" cy="493712"/>
          </a:xfrm>
          <a:prstGeom prst="rect">
            <a:avLst/>
          </a:prstGeom>
          <a:noFill/>
          <a:ln w="9525">
            <a:noFill/>
            <a:miter lim="800000"/>
            <a:headEnd/>
            <a:tailEnd/>
          </a:ln>
        </p:spPr>
        <p:txBody>
          <a:bodyPr wrap="none">
            <a:spAutoFit/>
          </a:bodyPr>
          <a:lstStyle/>
          <a:p>
            <a:pPr>
              <a:lnSpc>
                <a:spcPct val="110000"/>
              </a:lnSpc>
            </a:pPr>
            <a:r>
              <a:rPr lang="zh-CN" altLang="en-US" b="1">
                <a:ea typeface="楷体_GB2312" pitchFamily="49" charset="-122"/>
              </a:rPr>
              <a:t>相邻两个波节点或波腹点之间的距离为</a:t>
            </a:r>
            <a:r>
              <a:rPr lang="zh-CN" altLang="en-US" b="1">
                <a:solidFill>
                  <a:srgbClr val="FF6600"/>
                </a:solidFill>
                <a:ea typeface="楷体_GB2312" pitchFamily="49" charset="-122"/>
              </a:rPr>
              <a:t>半个波长</a:t>
            </a:r>
            <a:r>
              <a:rPr lang="zh-CN" altLang="en-US" b="1">
                <a:ea typeface="楷体_GB2312" pitchFamily="49" charset="-122"/>
              </a:rPr>
              <a:t>。</a:t>
            </a:r>
          </a:p>
        </p:txBody>
      </p:sp>
      <p:sp>
        <p:nvSpPr>
          <p:cNvPr id="112788" name="Rectangle 148"/>
          <p:cNvSpPr>
            <a:spLocks noChangeArrowheads="1"/>
          </p:cNvSpPr>
          <p:nvPr/>
        </p:nvSpPr>
        <p:spPr bwMode="auto">
          <a:xfrm>
            <a:off x="1042988" y="4365625"/>
            <a:ext cx="4473575" cy="493713"/>
          </a:xfrm>
          <a:prstGeom prst="rect">
            <a:avLst/>
          </a:prstGeom>
          <a:noFill/>
          <a:ln w="38100">
            <a:noFill/>
            <a:miter lim="800000"/>
            <a:headEnd/>
            <a:tailEnd/>
          </a:ln>
        </p:spPr>
        <p:txBody>
          <a:bodyPr wrap="none">
            <a:spAutoFit/>
          </a:bodyPr>
          <a:lstStyle/>
          <a:p>
            <a:pPr>
              <a:lnSpc>
                <a:spcPct val="110000"/>
              </a:lnSpc>
            </a:pPr>
            <a:r>
              <a:rPr lang="zh-CN" altLang="en-US" b="1">
                <a:solidFill>
                  <a:srgbClr val="0033CC"/>
                </a:solidFill>
              </a:rPr>
              <a:t>波节：</a:t>
            </a:r>
            <a:r>
              <a:rPr lang="zh-CN" altLang="en-US" b="1">
                <a:ea typeface="楷体_GB2312" pitchFamily="49" charset="-122"/>
              </a:rPr>
              <a:t>介质中始终不振动的点；</a:t>
            </a:r>
          </a:p>
        </p:txBody>
      </p:sp>
      <p:grpSp>
        <p:nvGrpSpPr>
          <p:cNvPr id="7" name="Group 149"/>
          <p:cNvGrpSpPr>
            <a:grpSpLocks/>
          </p:cNvGrpSpPr>
          <p:nvPr/>
        </p:nvGrpSpPr>
        <p:grpSpPr bwMode="auto">
          <a:xfrm>
            <a:off x="2835275" y="3249613"/>
            <a:ext cx="3292475" cy="503237"/>
            <a:chOff x="1541" y="1588"/>
            <a:chExt cx="2074" cy="317"/>
          </a:xfrm>
        </p:grpSpPr>
        <p:sp>
          <p:nvSpPr>
            <p:cNvPr id="40985" name="Line 150"/>
            <p:cNvSpPr>
              <a:spLocks noChangeShapeType="1"/>
            </p:cNvSpPr>
            <p:nvPr/>
          </p:nvSpPr>
          <p:spPr bwMode="auto">
            <a:xfrm flipH="1">
              <a:off x="1541" y="1592"/>
              <a:ext cx="12" cy="300"/>
            </a:xfrm>
            <a:prstGeom prst="line">
              <a:avLst/>
            </a:prstGeom>
            <a:noFill/>
            <a:ln w="38100">
              <a:solidFill>
                <a:srgbClr val="FF0000"/>
              </a:solidFill>
              <a:prstDash val="dash"/>
              <a:round/>
              <a:headEnd/>
              <a:tailEnd/>
            </a:ln>
          </p:spPr>
          <p:txBody>
            <a:bodyPr wrap="none" anchor="ctr"/>
            <a:lstStyle/>
            <a:p>
              <a:endParaRPr lang="zh-CN" altLang="en-US"/>
            </a:p>
          </p:txBody>
        </p:sp>
        <p:sp>
          <p:nvSpPr>
            <p:cNvPr id="40986" name="Line 151"/>
            <p:cNvSpPr>
              <a:spLocks noChangeShapeType="1"/>
            </p:cNvSpPr>
            <p:nvPr/>
          </p:nvSpPr>
          <p:spPr bwMode="auto">
            <a:xfrm flipH="1">
              <a:off x="2088" y="1588"/>
              <a:ext cx="12" cy="300"/>
            </a:xfrm>
            <a:prstGeom prst="line">
              <a:avLst/>
            </a:prstGeom>
            <a:noFill/>
            <a:ln w="38100">
              <a:solidFill>
                <a:srgbClr val="FF0000"/>
              </a:solidFill>
              <a:prstDash val="dash"/>
              <a:round/>
              <a:headEnd/>
              <a:tailEnd/>
            </a:ln>
          </p:spPr>
          <p:txBody>
            <a:bodyPr wrap="none" anchor="ctr"/>
            <a:lstStyle/>
            <a:p>
              <a:endParaRPr lang="zh-CN" altLang="en-US"/>
            </a:p>
          </p:txBody>
        </p:sp>
        <p:sp>
          <p:nvSpPr>
            <p:cNvPr id="40987" name="Line 152"/>
            <p:cNvSpPr>
              <a:spLocks noChangeShapeType="1"/>
            </p:cNvSpPr>
            <p:nvPr/>
          </p:nvSpPr>
          <p:spPr bwMode="auto">
            <a:xfrm flipH="1">
              <a:off x="2585" y="1596"/>
              <a:ext cx="12" cy="300"/>
            </a:xfrm>
            <a:prstGeom prst="line">
              <a:avLst/>
            </a:prstGeom>
            <a:noFill/>
            <a:ln w="38100">
              <a:solidFill>
                <a:srgbClr val="FF0000"/>
              </a:solidFill>
              <a:prstDash val="dash"/>
              <a:round/>
              <a:headEnd/>
              <a:tailEnd/>
            </a:ln>
          </p:spPr>
          <p:txBody>
            <a:bodyPr wrap="none" anchor="ctr"/>
            <a:lstStyle/>
            <a:p>
              <a:endParaRPr lang="zh-CN" altLang="en-US"/>
            </a:p>
          </p:txBody>
        </p:sp>
        <p:sp>
          <p:nvSpPr>
            <p:cNvPr id="40988" name="Line 153"/>
            <p:cNvSpPr>
              <a:spLocks noChangeShapeType="1"/>
            </p:cNvSpPr>
            <p:nvPr/>
          </p:nvSpPr>
          <p:spPr bwMode="auto">
            <a:xfrm flipH="1">
              <a:off x="3081" y="1605"/>
              <a:ext cx="12" cy="300"/>
            </a:xfrm>
            <a:prstGeom prst="line">
              <a:avLst/>
            </a:prstGeom>
            <a:noFill/>
            <a:ln w="38100">
              <a:solidFill>
                <a:srgbClr val="FF0000"/>
              </a:solidFill>
              <a:prstDash val="dash"/>
              <a:round/>
              <a:headEnd/>
              <a:tailEnd/>
            </a:ln>
          </p:spPr>
          <p:txBody>
            <a:bodyPr wrap="none" anchor="ctr"/>
            <a:lstStyle/>
            <a:p>
              <a:endParaRPr lang="zh-CN" altLang="en-US"/>
            </a:p>
          </p:txBody>
        </p:sp>
        <p:sp>
          <p:nvSpPr>
            <p:cNvPr id="40989" name="Line 154"/>
            <p:cNvSpPr>
              <a:spLocks noChangeShapeType="1"/>
            </p:cNvSpPr>
            <p:nvPr/>
          </p:nvSpPr>
          <p:spPr bwMode="auto">
            <a:xfrm flipH="1">
              <a:off x="3603" y="1600"/>
              <a:ext cx="12" cy="300"/>
            </a:xfrm>
            <a:prstGeom prst="line">
              <a:avLst/>
            </a:prstGeom>
            <a:noFill/>
            <a:ln w="38100">
              <a:solidFill>
                <a:srgbClr val="FF0000"/>
              </a:solidFill>
              <a:prstDash val="dash"/>
              <a:round/>
              <a:headEnd/>
              <a:tailEnd/>
            </a:ln>
          </p:spPr>
          <p:txBody>
            <a:bodyPr wrap="none" anchor="ctr"/>
            <a:lstStyle/>
            <a:p>
              <a:endParaRPr lang="zh-CN" altLang="en-US"/>
            </a:p>
          </p:txBody>
        </p:sp>
      </p:grpSp>
      <p:grpSp>
        <p:nvGrpSpPr>
          <p:cNvPr id="8" name="Group 155"/>
          <p:cNvGrpSpPr>
            <a:grpSpLocks/>
          </p:cNvGrpSpPr>
          <p:nvPr/>
        </p:nvGrpSpPr>
        <p:grpSpPr bwMode="auto">
          <a:xfrm flipV="1">
            <a:off x="2417763" y="3341688"/>
            <a:ext cx="4070350" cy="206375"/>
            <a:chOff x="1294" y="1702"/>
            <a:chExt cx="2587" cy="81"/>
          </a:xfrm>
        </p:grpSpPr>
        <p:sp>
          <p:nvSpPr>
            <p:cNvPr id="112796" name="Oval 156"/>
            <p:cNvSpPr>
              <a:spLocks noChangeArrowheads="1"/>
            </p:cNvSpPr>
            <p:nvPr/>
          </p:nvSpPr>
          <p:spPr bwMode="auto">
            <a:xfrm>
              <a:off x="3818" y="1703"/>
              <a:ext cx="63" cy="63"/>
            </a:xfrm>
            <a:prstGeom prst="ellipse">
              <a:avLst/>
            </a:prstGeom>
            <a:gradFill rotWithShape="0">
              <a:gsLst>
                <a:gs pos="0">
                  <a:schemeClr val="accent2">
                    <a:gamma/>
                    <a:tint val="0"/>
                    <a:invGamma/>
                  </a:schemeClr>
                </a:gs>
                <a:gs pos="100000">
                  <a:schemeClr val="accent2"/>
                </a:gs>
              </a:gsLst>
              <a:path path="shape">
                <a:fillToRect l="50000" t="50000" r="50000" b="50000"/>
              </a:path>
            </a:gradFill>
            <a:ln w="38100">
              <a:solidFill>
                <a:schemeClr val="accent2"/>
              </a:solidFill>
              <a:round/>
              <a:headEnd/>
              <a:tailEnd/>
            </a:ln>
            <a:effectLst/>
          </p:spPr>
          <p:txBody>
            <a:bodyPr wrap="none" anchor="ctr"/>
            <a:lstStyle/>
            <a:p>
              <a:pPr>
                <a:defRPr/>
              </a:pPr>
              <a:endParaRPr lang="zh-CN" altLang="en-US"/>
            </a:p>
          </p:txBody>
        </p:sp>
        <p:sp>
          <p:nvSpPr>
            <p:cNvPr id="112797" name="Oval 157"/>
            <p:cNvSpPr>
              <a:spLocks noChangeArrowheads="1"/>
            </p:cNvSpPr>
            <p:nvPr/>
          </p:nvSpPr>
          <p:spPr bwMode="auto">
            <a:xfrm>
              <a:off x="3288" y="1712"/>
              <a:ext cx="67" cy="63"/>
            </a:xfrm>
            <a:prstGeom prst="ellipse">
              <a:avLst/>
            </a:prstGeom>
            <a:gradFill rotWithShape="0">
              <a:gsLst>
                <a:gs pos="0">
                  <a:schemeClr val="accent2">
                    <a:gamma/>
                    <a:tint val="0"/>
                    <a:invGamma/>
                  </a:schemeClr>
                </a:gs>
                <a:gs pos="100000">
                  <a:schemeClr val="accent2"/>
                </a:gs>
              </a:gsLst>
              <a:path path="shape">
                <a:fillToRect l="50000" t="50000" r="50000" b="50000"/>
              </a:path>
            </a:gradFill>
            <a:ln w="38100">
              <a:solidFill>
                <a:schemeClr val="accent2"/>
              </a:solidFill>
              <a:round/>
              <a:headEnd/>
              <a:tailEnd/>
            </a:ln>
            <a:effectLst/>
          </p:spPr>
          <p:txBody>
            <a:bodyPr wrap="none" anchor="ctr"/>
            <a:lstStyle/>
            <a:p>
              <a:pPr>
                <a:defRPr/>
              </a:pPr>
              <a:endParaRPr lang="zh-CN" altLang="en-US"/>
            </a:p>
          </p:txBody>
        </p:sp>
        <p:sp>
          <p:nvSpPr>
            <p:cNvPr id="112798" name="Oval 158"/>
            <p:cNvSpPr>
              <a:spLocks noChangeArrowheads="1"/>
            </p:cNvSpPr>
            <p:nvPr/>
          </p:nvSpPr>
          <p:spPr bwMode="auto">
            <a:xfrm>
              <a:off x="2834" y="1720"/>
              <a:ext cx="67" cy="63"/>
            </a:xfrm>
            <a:prstGeom prst="ellipse">
              <a:avLst/>
            </a:prstGeom>
            <a:gradFill rotWithShape="0">
              <a:gsLst>
                <a:gs pos="0">
                  <a:schemeClr val="accent2">
                    <a:gamma/>
                    <a:tint val="0"/>
                    <a:invGamma/>
                  </a:schemeClr>
                </a:gs>
                <a:gs pos="100000">
                  <a:schemeClr val="accent2"/>
                </a:gs>
              </a:gsLst>
              <a:path path="shape">
                <a:fillToRect l="50000" t="50000" r="50000" b="50000"/>
              </a:path>
            </a:gradFill>
            <a:ln w="38100">
              <a:solidFill>
                <a:schemeClr val="accent2"/>
              </a:solidFill>
              <a:round/>
              <a:headEnd/>
              <a:tailEnd/>
            </a:ln>
            <a:effectLst/>
          </p:spPr>
          <p:txBody>
            <a:bodyPr wrap="none" anchor="ctr"/>
            <a:lstStyle/>
            <a:p>
              <a:pPr>
                <a:defRPr/>
              </a:pPr>
              <a:endParaRPr lang="zh-CN" altLang="en-US"/>
            </a:p>
          </p:txBody>
        </p:sp>
        <p:sp>
          <p:nvSpPr>
            <p:cNvPr id="112799" name="Oval 159"/>
            <p:cNvSpPr>
              <a:spLocks noChangeArrowheads="1"/>
            </p:cNvSpPr>
            <p:nvPr/>
          </p:nvSpPr>
          <p:spPr bwMode="auto">
            <a:xfrm>
              <a:off x="2279" y="1702"/>
              <a:ext cx="67" cy="63"/>
            </a:xfrm>
            <a:prstGeom prst="ellipse">
              <a:avLst/>
            </a:prstGeom>
            <a:gradFill rotWithShape="0">
              <a:gsLst>
                <a:gs pos="0">
                  <a:schemeClr val="accent2">
                    <a:gamma/>
                    <a:tint val="0"/>
                    <a:invGamma/>
                  </a:schemeClr>
                </a:gs>
                <a:gs pos="100000">
                  <a:schemeClr val="accent2"/>
                </a:gs>
              </a:gsLst>
              <a:path path="shape">
                <a:fillToRect l="50000" t="50000" r="50000" b="50000"/>
              </a:path>
            </a:gradFill>
            <a:ln w="38100">
              <a:solidFill>
                <a:schemeClr val="accent2"/>
              </a:solidFill>
              <a:round/>
              <a:headEnd/>
              <a:tailEnd/>
            </a:ln>
            <a:effectLst/>
          </p:spPr>
          <p:txBody>
            <a:bodyPr wrap="none" anchor="ctr"/>
            <a:lstStyle/>
            <a:p>
              <a:pPr>
                <a:defRPr/>
              </a:pPr>
              <a:endParaRPr lang="zh-CN" altLang="en-US"/>
            </a:p>
          </p:txBody>
        </p:sp>
        <p:sp>
          <p:nvSpPr>
            <p:cNvPr id="112800" name="Oval 160"/>
            <p:cNvSpPr>
              <a:spLocks noChangeArrowheads="1"/>
            </p:cNvSpPr>
            <p:nvPr/>
          </p:nvSpPr>
          <p:spPr bwMode="auto">
            <a:xfrm>
              <a:off x="1799" y="1711"/>
              <a:ext cx="63" cy="64"/>
            </a:xfrm>
            <a:prstGeom prst="ellipse">
              <a:avLst/>
            </a:prstGeom>
            <a:gradFill rotWithShape="0">
              <a:gsLst>
                <a:gs pos="0">
                  <a:schemeClr val="accent2">
                    <a:gamma/>
                    <a:tint val="0"/>
                    <a:invGamma/>
                  </a:schemeClr>
                </a:gs>
                <a:gs pos="100000">
                  <a:schemeClr val="accent2"/>
                </a:gs>
              </a:gsLst>
              <a:path path="shape">
                <a:fillToRect l="50000" t="50000" r="50000" b="50000"/>
              </a:path>
            </a:gradFill>
            <a:ln w="38100">
              <a:solidFill>
                <a:schemeClr val="accent2"/>
              </a:solidFill>
              <a:round/>
              <a:headEnd/>
              <a:tailEnd/>
            </a:ln>
            <a:effectLst/>
          </p:spPr>
          <p:txBody>
            <a:bodyPr wrap="none" anchor="ctr"/>
            <a:lstStyle/>
            <a:p>
              <a:pPr>
                <a:defRPr/>
              </a:pPr>
              <a:endParaRPr lang="zh-CN" altLang="en-US"/>
            </a:p>
          </p:txBody>
        </p:sp>
        <p:sp>
          <p:nvSpPr>
            <p:cNvPr id="112801" name="Oval 161"/>
            <p:cNvSpPr>
              <a:spLocks noChangeArrowheads="1"/>
            </p:cNvSpPr>
            <p:nvPr/>
          </p:nvSpPr>
          <p:spPr bwMode="auto">
            <a:xfrm>
              <a:off x="1294" y="1720"/>
              <a:ext cx="63" cy="63"/>
            </a:xfrm>
            <a:prstGeom prst="ellipse">
              <a:avLst/>
            </a:prstGeom>
            <a:gradFill rotWithShape="0">
              <a:gsLst>
                <a:gs pos="0">
                  <a:schemeClr val="accent2">
                    <a:gamma/>
                    <a:tint val="0"/>
                    <a:invGamma/>
                  </a:schemeClr>
                </a:gs>
                <a:gs pos="100000">
                  <a:schemeClr val="accent2"/>
                </a:gs>
              </a:gsLst>
              <a:path path="shape">
                <a:fillToRect l="50000" t="50000" r="50000" b="50000"/>
              </a:path>
            </a:gradFill>
            <a:ln w="38100">
              <a:solidFill>
                <a:schemeClr val="accent2"/>
              </a:solidFill>
              <a:round/>
              <a:headEnd/>
              <a:tailEnd/>
            </a:ln>
            <a:effectLst/>
          </p:spPr>
          <p:txBody>
            <a:bodyPr wrap="none" anchor="ctr"/>
            <a:lstStyle/>
            <a:p>
              <a:pPr>
                <a:defRPr/>
              </a:pPr>
              <a:endParaRPr lang="zh-CN" altLang="en-US"/>
            </a:p>
          </p:txBody>
        </p:sp>
      </p:grpSp>
      <p:sp>
        <p:nvSpPr>
          <p:cNvPr id="112802" name="Rectangle 162"/>
          <p:cNvSpPr>
            <a:spLocks noChangeArrowheads="1"/>
          </p:cNvSpPr>
          <p:nvPr/>
        </p:nvSpPr>
        <p:spPr bwMode="auto">
          <a:xfrm>
            <a:off x="1042988" y="5949950"/>
            <a:ext cx="1716087" cy="457200"/>
          </a:xfrm>
          <a:prstGeom prst="rect">
            <a:avLst/>
          </a:prstGeom>
          <a:noFill/>
          <a:ln w="9525">
            <a:noFill/>
            <a:miter lim="800000"/>
            <a:headEnd/>
            <a:tailEnd/>
          </a:ln>
        </p:spPr>
        <p:txBody>
          <a:bodyPr wrap="none">
            <a:spAutoFit/>
          </a:bodyPr>
          <a:lstStyle/>
          <a:p>
            <a:r>
              <a:rPr lang="zh-CN" altLang="en-US" b="1">
                <a:solidFill>
                  <a:srgbClr val="0033CC"/>
                </a:solidFill>
              </a:rPr>
              <a:t>驻波条件：</a:t>
            </a:r>
          </a:p>
        </p:txBody>
      </p:sp>
      <p:graphicFrame>
        <p:nvGraphicFramePr>
          <p:cNvPr id="112803" name="Object 163"/>
          <p:cNvGraphicFramePr>
            <a:graphicFrameLocks noChangeAspect="1"/>
          </p:cNvGraphicFramePr>
          <p:nvPr/>
        </p:nvGraphicFramePr>
        <p:xfrm>
          <a:off x="2651125" y="5867400"/>
          <a:ext cx="1712913" cy="730250"/>
        </p:xfrm>
        <a:graphic>
          <a:graphicData uri="http://schemas.openxmlformats.org/presentationml/2006/ole">
            <p:oleObj spid="_x0000_s40962" name="公式" r:id="rId4" imgW="952200" imgH="406080" progId="Equation.3">
              <p:embed/>
            </p:oleObj>
          </a:graphicData>
        </a:graphic>
      </p:graphicFrame>
      <p:graphicFrame>
        <p:nvGraphicFramePr>
          <p:cNvPr id="112804" name="Object 164"/>
          <p:cNvGraphicFramePr>
            <a:graphicFrameLocks/>
          </p:cNvGraphicFramePr>
          <p:nvPr/>
        </p:nvGraphicFramePr>
        <p:xfrm>
          <a:off x="4702175" y="6072188"/>
          <a:ext cx="1570038" cy="382587"/>
        </p:xfrm>
        <a:graphic>
          <a:graphicData uri="http://schemas.openxmlformats.org/presentationml/2006/ole">
            <p:oleObj spid="_x0000_s40963" name="公式" r:id="rId5" imgW="876240" imgH="215640" progId="Equation.3">
              <p:embed/>
            </p:oleObj>
          </a:graphicData>
        </a:graphic>
      </p:graphicFrame>
      <p:grpSp>
        <p:nvGrpSpPr>
          <p:cNvPr id="9" name="Group 165"/>
          <p:cNvGrpSpPr>
            <a:grpSpLocks/>
          </p:cNvGrpSpPr>
          <p:nvPr/>
        </p:nvGrpSpPr>
        <p:grpSpPr bwMode="auto">
          <a:xfrm>
            <a:off x="3995738" y="2133600"/>
            <a:ext cx="863600" cy="574675"/>
            <a:chOff x="2517" y="1344"/>
            <a:chExt cx="544" cy="362"/>
          </a:xfrm>
        </p:grpSpPr>
        <p:sp>
          <p:nvSpPr>
            <p:cNvPr id="40976" name="Line 166"/>
            <p:cNvSpPr>
              <a:spLocks noChangeShapeType="1"/>
            </p:cNvSpPr>
            <p:nvPr/>
          </p:nvSpPr>
          <p:spPr bwMode="auto">
            <a:xfrm>
              <a:off x="2517" y="1434"/>
              <a:ext cx="0" cy="272"/>
            </a:xfrm>
            <a:prstGeom prst="line">
              <a:avLst/>
            </a:prstGeom>
            <a:noFill/>
            <a:ln w="15875">
              <a:solidFill>
                <a:srgbClr val="FF6600"/>
              </a:solidFill>
              <a:round/>
              <a:headEnd/>
              <a:tailEnd/>
            </a:ln>
          </p:spPr>
          <p:txBody>
            <a:bodyPr/>
            <a:lstStyle/>
            <a:p>
              <a:endParaRPr lang="zh-CN" altLang="en-US"/>
            </a:p>
          </p:txBody>
        </p:sp>
        <p:sp>
          <p:nvSpPr>
            <p:cNvPr id="40977" name="Line 167"/>
            <p:cNvSpPr>
              <a:spLocks noChangeShapeType="1"/>
            </p:cNvSpPr>
            <p:nvPr/>
          </p:nvSpPr>
          <p:spPr bwMode="auto">
            <a:xfrm>
              <a:off x="3061" y="1434"/>
              <a:ext cx="0" cy="272"/>
            </a:xfrm>
            <a:prstGeom prst="line">
              <a:avLst/>
            </a:prstGeom>
            <a:noFill/>
            <a:ln w="15875">
              <a:solidFill>
                <a:srgbClr val="FF6600"/>
              </a:solidFill>
              <a:round/>
              <a:headEnd/>
              <a:tailEnd/>
            </a:ln>
          </p:spPr>
          <p:txBody>
            <a:bodyPr/>
            <a:lstStyle/>
            <a:p>
              <a:endParaRPr lang="zh-CN" altLang="en-US"/>
            </a:p>
          </p:txBody>
        </p:sp>
        <p:graphicFrame>
          <p:nvGraphicFramePr>
            <p:cNvPr id="40964" name="Object 168"/>
            <p:cNvGraphicFramePr>
              <a:graphicFrameLocks noChangeAspect="1"/>
            </p:cNvGraphicFramePr>
            <p:nvPr/>
          </p:nvGraphicFramePr>
          <p:xfrm>
            <a:off x="2608" y="1344"/>
            <a:ext cx="323" cy="249"/>
          </p:xfrm>
          <a:graphic>
            <a:graphicData uri="http://schemas.openxmlformats.org/presentationml/2006/ole">
              <p:oleObj spid="_x0000_s40964" name="公式" r:id="rId6" imgW="279360" imgH="215640" progId="Equation.3">
                <p:embed/>
              </p:oleObj>
            </a:graphicData>
          </a:graphic>
        </p:graphicFrame>
        <p:sp>
          <p:nvSpPr>
            <p:cNvPr id="40978" name="Line 169"/>
            <p:cNvSpPr>
              <a:spLocks noChangeShapeType="1"/>
            </p:cNvSpPr>
            <p:nvPr/>
          </p:nvSpPr>
          <p:spPr bwMode="auto">
            <a:xfrm>
              <a:off x="2517" y="1570"/>
              <a:ext cx="544" cy="0"/>
            </a:xfrm>
            <a:prstGeom prst="line">
              <a:avLst/>
            </a:prstGeom>
            <a:noFill/>
            <a:ln w="12700">
              <a:solidFill>
                <a:schemeClr val="tx1"/>
              </a:solidFill>
              <a:round/>
              <a:headEnd type="stealth" w="med" len="lg"/>
              <a:tailEnd type="stealth" w="med" len="lg"/>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44"/>
                                        </p:tgtEl>
                                        <p:attrNameLst>
                                          <p:attrName>style.visibility</p:attrName>
                                        </p:attrNameLst>
                                      </p:cBhvr>
                                      <p:to>
                                        <p:strVal val="visible"/>
                                      </p:to>
                                    </p:set>
                                    <p:animEffect transition="in" filter="wipe(left)">
                                      <p:cBhvr>
                                        <p:cTn id="7" dur="500"/>
                                        <p:tgtEl>
                                          <p:spTgt spid="1126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691"/>
                                        </p:tgtEl>
                                        <p:attrNameLst>
                                          <p:attrName>style.visibility</p:attrName>
                                        </p:attrNameLst>
                                      </p:cBhvr>
                                      <p:to>
                                        <p:strVal val="visible"/>
                                      </p:to>
                                    </p:set>
                                    <p:animEffect transition="in" filter="wipe(left)">
                                      <p:cBhvr>
                                        <p:cTn id="12" dur="500"/>
                                        <p:tgtEl>
                                          <p:spTgt spid="11269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705"/>
                                        </p:tgtEl>
                                        <p:attrNameLst>
                                          <p:attrName>style.visibility</p:attrName>
                                        </p:attrNameLst>
                                      </p:cBhvr>
                                      <p:to>
                                        <p:strVal val="visible"/>
                                      </p:to>
                                    </p:set>
                                    <p:animEffect transition="in" filter="wipe(left)">
                                      <p:cBhvr>
                                        <p:cTn id="17" dur="500"/>
                                        <p:tgtEl>
                                          <p:spTgt spid="11270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10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2788"/>
                                        </p:tgtEl>
                                        <p:attrNameLst>
                                          <p:attrName>style.visibility</p:attrName>
                                        </p:attrNameLst>
                                      </p:cBhvr>
                                      <p:to>
                                        <p:strVal val="visible"/>
                                      </p:to>
                                    </p:set>
                                    <p:animEffect transition="in" filter="wipe(left)">
                                      <p:cBhvr>
                                        <p:cTn id="27" dur="500"/>
                                        <p:tgtEl>
                                          <p:spTgt spid="11278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2786"/>
                                        </p:tgtEl>
                                        <p:attrNameLst>
                                          <p:attrName>style.visibility</p:attrName>
                                        </p:attrNameLst>
                                      </p:cBhvr>
                                      <p:to>
                                        <p:strVal val="visible"/>
                                      </p:to>
                                    </p:set>
                                    <p:animEffect transition="in" filter="wipe(left)">
                                      <p:cBhvr>
                                        <p:cTn id="37" dur="500"/>
                                        <p:tgtEl>
                                          <p:spTgt spid="11278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2787"/>
                                        </p:tgtEl>
                                        <p:attrNameLst>
                                          <p:attrName>style.visibility</p:attrName>
                                        </p:attrNameLst>
                                      </p:cBhvr>
                                      <p:to>
                                        <p:strVal val="visible"/>
                                      </p:to>
                                    </p:set>
                                    <p:animEffect transition="in" filter="wipe(left)">
                                      <p:cBhvr>
                                        <p:cTn id="47" dur="500"/>
                                        <p:tgtEl>
                                          <p:spTgt spid="11278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12802"/>
                                        </p:tgtEl>
                                        <p:attrNameLst>
                                          <p:attrName>style.visibility</p:attrName>
                                        </p:attrNameLst>
                                      </p:cBhvr>
                                      <p:to>
                                        <p:strVal val="visible"/>
                                      </p:to>
                                    </p:set>
                                    <p:animEffect transition="in" filter="wipe(left)">
                                      <p:cBhvr>
                                        <p:cTn id="57" dur="500"/>
                                        <p:tgtEl>
                                          <p:spTgt spid="11280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12803"/>
                                        </p:tgtEl>
                                        <p:attrNameLst>
                                          <p:attrName>style.visibility</p:attrName>
                                        </p:attrNameLst>
                                      </p:cBhvr>
                                      <p:to>
                                        <p:strVal val="visible"/>
                                      </p:to>
                                    </p:set>
                                    <p:animEffect transition="in" filter="wipe(left)">
                                      <p:cBhvr>
                                        <p:cTn id="62" dur="500"/>
                                        <p:tgtEl>
                                          <p:spTgt spid="11280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12804"/>
                                        </p:tgtEl>
                                        <p:attrNameLst>
                                          <p:attrName>style.visibility</p:attrName>
                                        </p:attrNameLst>
                                      </p:cBhvr>
                                      <p:to>
                                        <p:strVal val="visible"/>
                                      </p:to>
                                    </p:set>
                                    <p:animEffect transition="in" filter="wipe(left)">
                                      <p:cBhvr>
                                        <p:cTn id="67" dur="500"/>
                                        <p:tgtEl>
                                          <p:spTgt spid="112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4" grpId="0"/>
      <p:bldP spid="112691" grpId="0"/>
      <p:bldP spid="112705" grpId="0"/>
      <p:bldP spid="112786" grpId="0"/>
      <p:bldP spid="112787" grpId="0"/>
      <p:bldP spid="112788" grpId="0"/>
      <p:bldP spid="11280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80" name="Text Box 4"/>
          <p:cNvSpPr txBox="1">
            <a:spLocks noChangeArrowheads="1"/>
          </p:cNvSpPr>
          <p:nvPr/>
        </p:nvSpPr>
        <p:spPr bwMode="auto">
          <a:xfrm>
            <a:off x="179388" y="523875"/>
            <a:ext cx="3384550" cy="457200"/>
          </a:xfrm>
          <a:prstGeom prst="rect">
            <a:avLst/>
          </a:prstGeom>
          <a:noFill/>
          <a:ln w="9525">
            <a:noFill/>
            <a:miter lim="800000"/>
            <a:headEnd/>
            <a:tailEnd/>
          </a:ln>
        </p:spPr>
        <p:txBody>
          <a:bodyPr>
            <a:spAutoFit/>
          </a:bodyPr>
          <a:lstStyle/>
          <a:p>
            <a:pPr>
              <a:spcBef>
                <a:spcPct val="50000"/>
              </a:spcBef>
            </a:pPr>
            <a:r>
              <a:rPr lang="zh-CN" altLang="en-US" b="1">
                <a:solidFill>
                  <a:srgbClr val="FF3300"/>
                </a:solidFill>
              </a:rPr>
              <a:t>二、驻波的方程</a:t>
            </a:r>
            <a:r>
              <a:rPr lang="zh-CN" altLang="en-US"/>
              <a:t> </a:t>
            </a:r>
          </a:p>
        </p:txBody>
      </p:sp>
      <p:sp>
        <p:nvSpPr>
          <p:cNvPr id="126981" name="Rectangle 5"/>
          <p:cNvSpPr>
            <a:spLocks noChangeArrowheads="1"/>
          </p:cNvSpPr>
          <p:nvPr/>
        </p:nvSpPr>
        <p:spPr bwMode="auto">
          <a:xfrm>
            <a:off x="395288" y="1052513"/>
            <a:ext cx="8424862" cy="968375"/>
          </a:xfrm>
          <a:prstGeom prst="rect">
            <a:avLst/>
          </a:prstGeom>
          <a:noFill/>
          <a:ln w="9525">
            <a:noFill/>
            <a:miter lim="800000"/>
            <a:headEnd/>
            <a:tailEnd/>
          </a:ln>
        </p:spPr>
        <p:txBody>
          <a:bodyPr>
            <a:spAutoFit/>
          </a:bodyPr>
          <a:lstStyle/>
          <a:p>
            <a:pPr>
              <a:lnSpc>
                <a:spcPct val="120000"/>
              </a:lnSpc>
            </a:pPr>
            <a:r>
              <a:rPr lang="zh-CN" altLang="en-US" b="1">
                <a:cs typeface="Times New Roman" pitchFamily="18" charset="0"/>
              </a:rPr>
              <a:t>设两列振动方向相同，振幅相同，频率相同的平面简谐波分别沿 </a:t>
            </a:r>
            <a:r>
              <a:rPr lang="en-US" altLang="zh-CN" b="1" i="1">
                <a:solidFill>
                  <a:srgbClr val="FF6600"/>
                </a:solidFill>
                <a:cs typeface="Times New Roman" pitchFamily="18" charset="0"/>
              </a:rPr>
              <a:t>x</a:t>
            </a:r>
            <a:r>
              <a:rPr lang="en-US" altLang="zh-CN" b="1">
                <a:cs typeface="Times New Roman" pitchFamily="18" charset="0"/>
              </a:rPr>
              <a:t> </a:t>
            </a:r>
            <a:r>
              <a:rPr lang="zh-CN" altLang="en-US" b="1">
                <a:cs typeface="Times New Roman" pitchFamily="18" charset="0"/>
              </a:rPr>
              <a:t>轴</a:t>
            </a:r>
            <a:r>
              <a:rPr lang="zh-CN" altLang="en-US" b="1">
                <a:solidFill>
                  <a:srgbClr val="FF6600"/>
                </a:solidFill>
                <a:cs typeface="Times New Roman" pitchFamily="18" charset="0"/>
              </a:rPr>
              <a:t>正、负方向</a:t>
            </a:r>
            <a:r>
              <a:rPr lang="zh-CN" altLang="en-US" b="1">
                <a:cs typeface="Times New Roman" pitchFamily="18" charset="0"/>
              </a:rPr>
              <a:t>传播，其波动方程分别为：</a:t>
            </a:r>
          </a:p>
        </p:txBody>
      </p:sp>
      <p:graphicFrame>
        <p:nvGraphicFramePr>
          <p:cNvPr id="126982" name="Object 6"/>
          <p:cNvGraphicFramePr>
            <a:graphicFrameLocks noChangeAspect="1"/>
          </p:cNvGraphicFramePr>
          <p:nvPr/>
        </p:nvGraphicFramePr>
        <p:xfrm>
          <a:off x="1839913" y="2046288"/>
          <a:ext cx="5222875" cy="735012"/>
        </p:xfrm>
        <a:graphic>
          <a:graphicData uri="http://schemas.openxmlformats.org/presentationml/2006/ole">
            <p:oleObj spid="_x0000_s41986" name="公式" r:id="rId3" imgW="2908080" imgH="406080" progId="Equation.3">
              <p:embed/>
            </p:oleObj>
          </a:graphicData>
        </a:graphic>
      </p:graphicFrame>
      <p:graphicFrame>
        <p:nvGraphicFramePr>
          <p:cNvPr id="126983" name="Object 7"/>
          <p:cNvGraphicFramePr>
            <a:graphicFrameLocks/>
          </p:cNvGraphicFramePr>
          <p:nvPr/>
        </p:nvGraphicFramePr>
        <p:xfrm>
          <a:off x="1077913" y="3419475"/>
          <a:ext cx="5351462" cy="730250"/>
        </p:xfrm>
        <a:graphic>
          <a:graphicData uri="http://schemas.openxmlformats.org/presentationml/2006/ole">
            <p:oleObj spid="_x0000_s41987" name="公式" r:id="rId4" imgW="2971800" imgH="406080" progId="Equation.3">
              <p:embed/>
            </p:oleObj>
          </a:graphicData>
        </a:graphic>
      </p:graphicFrame>
      <p:sp>
        <p:nvSpPr>
          <p:cNvPr id="126984" name="Text Box 8"/>
          <p:cNvSpPr txBox="1">
            <a:spLocks noChangeArrowheads="1"/>
          </p:cNvSpPr>
          <p:nvPr/>
        </p:nvSpPr>
        <p:spPr bwMode="auto">
          <a:xfrm>
            <a:off x="539750" y="2997200"/>
            <a:ext cx="4022725" cy="493713"/>
          </a:xfrm>
          <a:prstGeom prst="rect">
            <a:avLst/>
          </a:prstGeom>
          <a:noFill/>
          <a:ln w="9525">
            <a:noFill/>
            <a:miter lim="800000"/>
            <a:headEnd/>
            <a:tailEnd/>
          </a:ln>
        </p:spPr>
        <p:txBody>
          <a:bodyPr>
            <a:spAutoFit/>
          </a:bodyPr>
          <a:lstStyle/>
          <a:p>
            <a:pPr>
              <a:lnSpc>
                <a:spcPct val="110000"/>
              </a:lnSpc>
            </a:pPr>
            <a:r>
              <a:rPr lang="zh-CN" altLang="en-US" b="1"/>
              <a:t>两波相遇，其合成波为</a:t>
            </a:r>
          </a:p>
        </p:txBody>
      </p:sp>
      <p:graphicFrame>
        <p:nvGraphicFramePr>
          <p:cNvPr id="126985" name="Object 9"/>
          <p:cNvGraphicFramePr>
            <a:graphicFrameLocks/>
          </p:cNvGraphicFramePr>
          <p:nvPr/>
        </p:nvGraphicFramePr>
        <p:xfrm>
          <a:off x="2219325" y="4354513"/>
          <a:ext cx="2943225" cy="730250"/>
        </p:xfrm>
        <a:graphic>
          <a:graphicData uri="http://schemas.openxmlformats.org/presentationml/2006/ole">
            <p:oleObj spid="_x0000_s41988" name="公式" r:id="rId5" imgW="1638000" imgH="406080" progId="Equation.3">
              <p:embed/>
            </p:oleObj>
          </a:graphicData>
        </a:graphic>
      </p:graphicFrame>
      <p:sp>
        <p:nvSpPr>
          <p:cNvPr id="126987" name="Rectangle 11"/>
          <p:cNvSpPr>
            <a:spLocks noChangeArrowheads="1"/>
          </p:cNvSpPr>
          <p:nvPr/>
        </p:nvSpPr>
        <p:spPr bwMode="auto">
          <a:xfrm>
            <a:off x="5292725" y="4508500"/>
            <a:ext cx="2174875" cy="457200"/>
          </a:xfrm>
          <a:prstGeom prst="rect">
            <a:avLst/>
          </a:prstGeom>
          <a:noFill/>
          <a:ln w="9525">
            <a:noFill/>
            <a:miter lim="800000"/>
            <a:headEnd/>
            <a:tailEnd/>
          </a:ln>
        </p:spPr>
        <p:txBody>
          <a:bodyPr wrap="none" anchor="ctr">
            <a:spAutoFit/>
          </a:bodyPr>
          <a:lstStyle/>
          <a:p>
            <a:r>
              <a:rPr lang="zh-CN" altLang="en-US" b="1">
                <a:solidFill>
                  <a:srgbClr val="FF3300"/>
                </a:solidFill>
                <a:latin typeface="楷体_GB2312" pitchFamily="49" charset="-122"/>
                <a:ea typeface="楷体_GB2312" pitchFamily="49" charset="-122"/>
              </a:rPr>
              <a:t>（驻波方程）</a:t>
            </a:r>
            <a:r>
              <a:rPr lang="zh-CN" altLang="en-US">
                <a:solidFill>
                  <a:srgbClr val="FF3300"/>
                </a:solidFill>
                <a:latin typeface="楷体_GB2312" pitchFamily="49" charset="-122"/>
                <a:ea typeface="楷体_GB2312" pitchFamily="49" charset="-122"/>
              </a:rPr>
              <a:t> </a:t>
            </a:r>
          </a:p>
        </p:txBody>
      </p:sp>
      <p:sp>
        <p:nvSpPr>
          <p:cNvPr id="126988" name="Text Box 12"/>
          <p:cNvSpPr txBox="1">
            <a:spLocks noChangeArrowheads="1"/>
          </p:cNvSpPr>
          <p:nvPr/>
        </p:nvSpPr>
        <p:spPr bwMode="auto">
          <a:xfrm>
            <a:off x="755650" y="4446588"/>
            <a:ext cx="1439863" cy="493712"/>
          </a:xfrm>
          <a:prstGeom prst="rect">
            <a:avLst/>
          </a:prstGeom>
          <a:noFill/>
          <a:ln w="9525">
            <a:noFill/>
            <a:miter lim="800000"/>
            <a:headEnd/>
            <a:tailEnd/>
          </a:ln>
        </p:spPr>
        <p:txBody>
          <a:bodyPr>
            <a:spAutoFit/>
          </a:bodyPr>
          <a:lstStyle/>
          <a:p>
            <a:pPr>
              <a:lnSpc>
                <a:spcPct val="110000"/>
              </a:lnSpc>
            </a:pPr>
            <a:r>
              <a:rPr lang="zh-CN" altLang="en-US" b="1"/>
              <a:t>化简得：</a:t>
            </a:r>
          </a:p>
        </p:txBody>
      </p:sp>
      <p:grpSp>
        <p:nvGrpSpPr>
          <p:cNvPr id="2" name="Group 19"/>
          <p:cNvGrpSpPr>
            <a:grpSpLocks/>
          </p:cNvGrpSpPr>
          <p:nvPr/>
        </p:nvGrpSpPr>
        <p:grpSpPr bwMode="auto">
          <a:xfrm>
            <a:off x="1042988" y="5341938"/>
            <a:ext cx="7345362" cy="1039812"/>
            <a:chOff x="657" y="3249"/>
            <a:chExt cx="4627" cy="655"/>
          </a:xfrm>
        </p:grpSpPr>
        <p:sp>
          <p:nvSpPr>
            <p:cNvPr id="41998" name="Text Box 13"/>
            <p:cNvSpPr txBox="1">
              <a:spLocks noChangeArrowheads="1"/>
            </p:cNvSpPr>
            <p:nvPr/>
          </p:nvSpPr>
          <p:spPr bwMode="auto">
            <a:xfrm>
              <a:off x="657" y="3294"/>
              <a:ext cx="4627" cy="610"/>
            </a:xfrm>
            <a:prstGeom prst="rect">
              <a:avLst/>
            </a:prstGeom>
            <a:noFill/>
            <a:ln w="9525">
              <a:noFill/>
              <a:miter lim="800000"/>
              <a:headEnd/>
              <a:tailEnd/>
            </a:ln>
          </p:spPr>
          <p:txBody>
            <a:bodyPr>
              <a:spAutoFit/>
            </a:bodyPr>
            <a:lstStyle/>
            <a:p>
              <a:pPr>
                <a:lnSpc>
                  <a:spcPct val="120000"/>
                </a:lnSpc>
              </a:pPr>
              <a:r>
                <a:rPr lang="zh-CN" altLang="en-US" b="1">
                  <a:ea typeface="楷体_GB2312" pitchFamily="49" charset="-122"/>
                </a:rPr>
                <a:t>当形成驻波时，弦线上各点作振幅为                    、频率为    的</a:t>
              </a:r>
              <a:r>
                <a:rPr lang="zh-CN" altLang="en-US" b="1">
                  <a:solidFill>
                    <a:srgbClr val="FF6600"/>
                  </a:solidFill>
                  <a:ea typeface="楷体_GB2312" pitchFamily="49" charset="-122"/>
                </a:rPr>
                <a:t>简谐振动</a:t>
              </a:r>
              <a:r>
                <a:rPr lang="zh-CN" altLang="en-US" b="1">
                  <a:ea typeface="楷体_GB2312" pitchFamily="49" charset="-122"/>
                </a:rPr>
                <a:t>。</a:t>
              </a:r>
            </a:p>
          </p:txBody>
        </p:sp>
        <p:graphicFrame>
          <p:nvGraphicFramePr>
            <p:cNvPr id="41989" name="Object 14"/>
            <p:cNvGraphicFramePr>
              <a:graphicFrameLocks noChangeAspect="1"/>
            </p:cNvGraphicFramePr>
            <p:nvPr/>
          </p:nvGraphicFramePr>
          <p:xfrm>
            <a:off x="3824" y="3249"/>
            <a:ext cx="907" cy="460"/>
          </p:xfrm>
          <a:graphic>
            <a:graphicData uri="http://schemas.openxmlformats.org/presentationml/2006/ole">
              <p:oleObj spid="_x0000_s41989" name="公式" r:id="rId6" imgW="799920" imgH="406080" progId="Equation.3">
                <p:embed/>
              </p:oleObj>
            </a:graphicData>
          </a:graphic>
        </p:graphicFrame>
        <p:graphicFrame>
          <p:nvGraphicFramePr>
            <p:cNvPr id="41990" name="Object 16"/>
            <p:cNvGraphicFramePr>
              <a:graphicFrameLocks noChangeAspect="1"/>
            </p:cNvGraphicFramePr>
            <p:nvPr/>
          </p:nvGraphicFramePr>
          <p:xfrm>
            <a:off x="1111" y="3702"/>
            <a:ext cx="145" cy="160"/>
          </p:xfrm>
          <a:graphic>
            <a:graphicData uri="http://schemas.openxmlformats.org/presentationml/2006/ole">
              <p:oleObj spid="_x0000_s41990" name="公式" r:id="rId7" imgW="126720" imgH="139680" progId="Equation.3">
                <p:embed/>
              </p:oleObj>
            </a:graphicData>
          </a:graphic>
        </p:graphicFrame>
      </p:grpSp>
      <p:sp>
        <p:nvSpPr>
          <p:cNvPr id="126994" name="AutoShape 18"/>
          <p:cNvSpPr>
            <a:spLocks noChangeArrowheads="1"/>
          </p:cNvSpPr>
          <p:nvPr/>
        </p:nvSpPr>
        <p:spPr bwMode="auto">
          <a:xfrm>
            <a:off x="539750" y="5373688"/>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6980"/>
                                        </p:tgtEl>
                                        <p:attrNameLst>
                                          <p:attrName>style.visibility</p:attrName>
                                        </p:attrNameLst>
                                      </p:cBhvr>
                                      <p:to>
                                        <p:strVal val="visible"/>
                                      </p:to>
                                    </p:set>
                                    <p:animEffect transition="in" filter="wipe(left)">
                                      <p:cBhvr>
                                        <p:cTn id="7" dur="500"/>
                                        <p:tgtEl>
                                          <p:spTgt spid="1269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6981"/>
                                        </p:tgtEl>
                                        <p:attrNameLst>
                                          <p:attrName>style.visibility</p:attrName>
                                        </p:attrNameLst>
                                      </p:cBhvr>
                                      <p:to>
                                        <p:strVal val="visible"/>
                                      </p:to>
                                    </p:set>
                                    <p:animEffect transition="in" filter="wipe(left)">
                                      <p:cBhvr>
                                        <p:cTn id="12" dur="500"/>
                                        <p:tgtEl>
                                          <p:spTgt spid="12698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6982"/>
                                        </p:tgtEl>
                                        <p:attrNameLst>
                                          <p:attrName>style.visibility</p:attrName>
                                        </p:attrNameLst>
                                      </p:cBhvr>
                                      <p:to>
                                        <p:strVal val="visible"/>
                                      </p:to>
                                    </p:set>
                                    <p:animEffect transition="in" filter="wipe(left)">
                                      <p:cBhvr>
                                        <p:cTn id="17" dur="500"/>
                                        <p:tgtEl>
                                          <p:spTgt spid="12698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6984"/>
                                        </p:tgtEl>
                                        <p:attrNameLst>
                                          <p:attrName>style.visibility</p:attrName>
                                        </p:attrNameLst>
                                      </p:cBhvr>
                                      <p:to>
                                        <p:strVal val="visible"/>
                                      </p:to>
                                    </p:set>
                                    <p:animEffect transition="in" filter="wipe(left)">
                                      <p:cBhvr>
                                        <p:cTn id="22" dur="500"/>
                                        <p:tgtEl>
                                          <p:spTgt spid="12698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6983"/>
                                        </p:tgtEl>
                                        <p:attrNameLst>
                                          <p:attrName>style.visibility</p:attrName>
                                        </p:attrNameLst>
                                      </p:cBhvr>
                                      <p:to>
                                        <p:strVal val="visible"/>
                                      </p:to>
                                    </p:set>
                                    <p:animEffect transition="in" filter="wipe(left)">
                                      <p:cBhvr>
                                        <p:cTn id="27" dur="500"/>
                                        <p:tgtEl>
                                          <p:spTgt spid="12698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6988"/>
                                        </p:tgtEl>
                                        <p:attrNameLst>
                                          <p:attrName>style.visibility</p:attrName>
                                        </p:attrNameLst>
                                      </p:cBhvr>
                                      <p:to>
                                        <p:strVal val="visible"/>
                                      </p:to>
                                    </p:set>
                                    <p:animEffect transition="in" filter="wipe(left)">
                                      <p:cBhvr>
                                        <p:cTn id="32" dur="500"/>
                                        <p:tgtEl>
                                          <p:spTgt spid="12698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6985"/>
                                        </p:tgtEl>
                                        <p:attrNameLst>
                                          <p:attrName>style.visibility</p:attrName>
                                        </p:attrNameLst>
                                      </p:cBhvr>
                                      <p:to>
                                        <p:strVal val="visible"/>
                                      </p:to>
                                    </p:set>
                                    <p:animEffect transition="in" filter="wipe(left)">
                                      <p:cBhvr>
                                        <p:cTn id="37" dur="500"/>
                                        <p:tgtEl>
                                          <p:spTgt spid="12698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6987"/>
                                        </p:tgtEl>
                                        <p:attrNameLst>
                                          <p:attrName>style.visibility</p:attrName>
                                        </p:attrNameLst>
                                      </p:cBhvr>
                                      <p:to>
                                        <p:strVal val="visible"/>
                                      </p:to>
                                    </p:set>
                                    <p:animEffect transition="in" filter="wipe(left)">
                                      <p:cBhvr>
                                        <p:cTn id="42" dur="500"/>
                                        <p:tgtEl>
                                          <p:spTgt spid="126987"/>
                                        </p:tgtEl>
                                      </p:cBhvr>
                                    </p:animEffect>
                                  </p:childTnLst>
                                </p:cTn>
                              </p:par>
                            </p:childTnLst>
                          </p:cTn>
                        </p:par>
                      </p:childTnLst>
                    </p:cTn>
                  </p:par>
                  <p:par>
                    <p:cTn id="43" fill="hold">
                      <p:stCondLst>
                        <p:cond delay="indefinite"/>
                      </p:stCondLst>
                      <p:childTnLst>
                        <p:par>
                          <p:cTn id="44" fill="hold">
                            <p:stCondLst>
                              <p:cond delay="0"/>
                            </p:stCondLst>
                            <p:childTnLst>
                              <p:par>
                                <p:cTn id="45" presetID="23" presetClass="entr" presetSubtype="32" fill="hold" grpId="0" nodeType="clickEffect">
                                  <p:stCondLst>
                                    <p:cond delay="0"/>
                                  </p:stCondLst>
                                  <p:childTnLst>
                                    <p:set>
                                      <p:cBhvr>
                                        <p:cTn id="46" dur="1" fill="hold">
                                          <p:stCondLst>
                                            <p:cond delay="0"/>
                                          </p:stCondLst>
                                        </p:cTn>
                                        <p:tgtEl>
                                          <p:spTgt spid="126994"/>
                                        </p:tgtEl>
                                        <p:attrNameLst>
                                          <p:attrName>style.visibility</p:attrName>
                                        </p:attrNameLst>
                                      </p:cBhvr>
                                      <p:to>
                                        <p:strVal val="visible"/>
                                      </p:to>
                                    </p:set>
                                    <p:anim calcmode="lin" valueType="num">
                                      <p:cBhvr>
                                        <p:cTn id="47" dur="500" fill="hold"/>
                                        <p:tgtEl>
                                          <p:spTgt spid="126994"/>
                                        </p:tgtEl>
                                        <p:attrNameLst>
                                          <p:attrName>ppt_w</p:attrName>
                                        </p:attrNameLst>
                                      </p:cBhvr>
                                      <p:tavLst>
                                        <p:tav tm="0">
                                          <p:val>
                                            <p:strVal val="4*#ppt_w"/>
                                          </p:val>
                                        </p:tav>
                                        <p:tav tm="100000">
                                          <p:val>
                                            <p:strVal val="#ppt_w"/>
                                          </p:val>
                                        </p:tav>
                                      </p:tavLst>
                                    </p:anim>
                                    <p:anim calcmode="lin" valueType="num">
                                      <p:cBhvr>
                                        <p:cTn id="48" dur="500" fill="hold"/>
                                        <p:tgtEl>
                                          <p:spTgt spid="126994"/>
                                        </p:tgtEl>
                                        <p:attrNameLst>
                                          <p:attrName>ppt_h</p:attrName>
                                        </p:attrNameLst>
                                      </p:cBhvr>
                                      <p:tavLst>
                                        <p:tav tm="0">
                                          <p:val>
                                            <p:strVal val="4*#ppt_h"/>
                                          </p:val>
                                        </p:tav>
                                        <p:tav tm="100000">
                                          <p:val>
                                            <p:strVal val="#ppt_h"/>
                                          </p:val>
                                        </p:tav>
                                      </p:tavLst>
                                    </p:anim>
                                  </p:childTnLst>
                                </p:cTn>
                              </p:par>
                            </p:childTnLst>
                          </p:cTn>
                        </p:par>
                        <p:par>
                          <p:cTn id="49" fill="hold">
                            <p:stCondLst>
                              <p:cond delay="500"/>
                            </p:stCondLst>
                            <p:childTnLst>
                              <p:par>
                                <p:cTn id="50" presetID="22" presetClass="entr" presetSubtype="8" fill="hold" nodeType="after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wipe(left)">
                                      <p:cBhvr>
                                        <p:cTn id="5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0" grpId="0"/>
      <p:bldP spid="126981" grpId="0"/>
      <p:bldP spid="126984" grpId="0"/>
      <p:bldP spid="126987" grpId="0"/>
      <p:bldP spid="126988" grpId="0"/>
      <p:bldP spid="12699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AutoShape 2"/>
          <p:cNvSpPr>
            <a:spLocks noChangeArrowheads="1"/>
          </p:cNvSpPr>
          <p:nvPr/>
        </p:nvSpPr>
        <p:spPr bwMode="auto">
          <a:xfrm>
            <a:off x="179388" y="549275"/>
            <a:ext cx="360362"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
        <p:nvSpPr>
          <p:cNvPr id="219139" name="Text Box 3"/>
          <p:cNvSpPr txBox="1">
            <a:spLocks noChangeArrowheads="1"/>
          </p:cNvSpPr>
          <p:nvPr/>
        </p:nvSpPr>
        <p:spPr bwMode="auto">
          <a:xfrm>
            <a:off x="539750" y="620713"/>
            <a:ext cx="796925" cy="457200"/>
          </a:xfrm>
          <a:prstGeom prst="rect">
            <a:avLst/>
          </a:prstGeom>
          <a:noFill/>
          <a:ln w="9525">
            <a:noFill/>
            <a:miter lim="800000"/>
            <a:headEnd/>
            <a:tailEnd/>
          </a:ln>
        </p:spPr>
        <p:txBody>
          <a:bodyPr wrap="none">
            <a:spAutoFit/>
          </a:bodyPr>
          <a:lstStyle/>
          <a:p>
            <a:pPr algn="ctr"/>
            <a:r>
              <a:rPr lang="zh-CN" altLang="en-US" b="1">
                <a:solidFill>
                  <a:srgbClr val="FF3300"/>
                </a:solidFill>
              </a:rPr>
              <a:t>讨论</a:t>
            </a:r>
          </a:p>
        </p:txBody>
      </p:sp>
      <p:sp>
        <p:nvSpPr>
          <p:cNvPr id="219140" name="Rectangle 4"/>
          <p:cNvSpPr>
            <a:spLocks noChangeArrowheads="1"/>
          </p:cNvSpPr>
          <p:nvPr/>
        </p:nvSpPr>
        <p:spPr bwMode="auto">
          <a:xfrm>
            <a:off x="179388" y="1279525"/>
            <a:ext cx="3659187" cy="493713"/>
          </a:xfrm>
          <a:prstGeom prst="rect">
            <a:avLst/>
          </a:prstGeom>
          <a:noFill/>
          <a:ln w="9525">
            <a:noFill/>
            <a:miter lim="800000"/>
            <a:headEnd/>
            <a:tailEnd/>
          </a:ln>
        </p:spPr>
        <p:txBody>
          <a:bodyPr>
            <a:spAutoFit/>
          </a:bodyPr>
          <a:lstStyle/>
          <a:p>
            <a:pPr>
              <a:lnSpc>
                <a:spcPct val="110000"/>
              </a:lnSpc>
              <a:buClr>
                <a:srgbClr val="FF66FF"/>
              </a:buClr>
              <a:buSzPct val="120000"/>
              <a:buFont typeface="Wingdings" pitchFamily="2" charset="2"/>
              <a:buNone/>
            </a:pPr>
            <a:r>
              <a:rPr lang="en-US" altLang="zh-CN" b="1">
                <a:solidFill>
                  <a:srgbClr val="0033CC"/>
                </a:solidFill>
              </a:rPr>
              <a:t>(1)  </a:t>
            </a:r>
            <a:r>
              <a:rPr lang="zh-CN" altLang="en-US" b="1">
                <a:solidFill>
                  <a:srgbClr val="0033CC"/>
                </a:solidFill>
              </a:rPr>
              <a:t>波节和波腹位置</a:t>
            </a:r>
            <a:r>
              <a:rPr lang="en-US" altLang="zh-CN" b="1">
                <a:solidFill>
                  <a:srgbClr val="0033CC"/>
                </a:solidFill>
              </a:rPr>
              <a:t>:</a:t>
            </a:r>
            <a:endParaRPr lang="en-US" altLang="zh-CN" b="1">
              <a:solidFill>
                <a:srgbClr val="0033CC"/>
              </a:solidFill>
              <a:sym typeface="Symbol" pitchFamily="18" charset="2"/>
            </a:endParaRPr>
          </a:p>
        </p:txBody>
      </p:sp>
      <p:graphicFrame>
        <p:nvGraphicFramePr>
          <p:cNvPr id="219152" name="Object 16"/>
          <p:cNvGraphicFramePr>
            <a:graphicFrameLocks noChangeAspect="1"/>
          </p:cNvGraphicFramePr>
          <p:nvPr/>
        </p:nvGraphicFramePr>
        <p:xfrm>
          <a:off x="942975" y="1787525"/>
          <a:ext cx="2198688" cy="687388"/>
        </p:xfrm>
        <a:graphic>
          <a:graphicData uri="http://schemas.openxmlformats.org/presentationml/2006/ole">
            <p:oleObj spid="_x0000_s43010" name="Equation" r:id="rId5" imgW="1295280" imgH="406080" progId="Equation.3">
              <p:embed/>
            </p:oleObj>
          </a:graphicData>
        </a:graphic>
      </p:graphicFrame>
      <p:sp>
        <p:nvSpPr>
          <p:cNvPr id="219153" name="Text Box 17"/>
          <p:cNvSpPr txBox="1">
            <a:spLocks noChangeArrowheads="1"/>
          </p:cNvSpPr>
          <p:nvPr/>
        </p:nvSpPr>
        <p:spPr bwMode="auto">
          <a:xfrm>
            <a:off x="3152775" y="1939925"/>
            <a:ext cx="5156200" cy="457200"/>
          </a:xfrm>
          <a:prstGeom prst="rect">
            <a:avLst/>
          </a:prstGeom>
          <a:noFill/>
          <a:ln w="9525">
            <a:noFill/>
            <a:miter lim="800000"/>
            <a:headEnd/>
            <a:tailEnd/>
          </a:ln>
        </p:spPr>
        <p:txBody>
          <a:bodyPr>
            <a:spAutoFit/>
          </a:bodyPr>
          <a:lstStyle/>
          <a:p>
            <a:pPr>
              <a:spcBef>
                <a:spcPct val="50000"/>
              </a:spcBef>
            </a:pPr>
            <a:r>
              <a:rPr lang="zh-CN" altLang="en-US" b="1">
                <a:ea typeface="楷体_GB2312" pitchFamily="49" charset="-122"/>
              </a:rPr>
              <a:t>，即驻波是各质点振幅按余弦分布</a:t>
            </a:r>
          </a:p>
        </p:txBody>
      </p:sp>
      <p:sp>
        <p:nvSpPr>
          <p:cNvPr id="219154" name="Text Box 18"/>
          <p:cNvSpPr txBox="1">
            <a:spLocks noChangeArrowheads="1"/>
          </p:cNvSpPr>
          <p:nvPr/>
        </p:nvSpPr>
        <p:spPr bwMode="auto">
          <a:xfrm>
            <a:off x="1187450" y="3859213"/>
            <a:ext cx="3130550" cy="457200"/>
          </a:xfrm>
          <a:prstGeom prst="rect">
            <a:avLst/>
          </a:prstGeom>
          <a:noFill/>
          <a:ln w="9525">
            <a:noFill/>
            <a:miter lim="800000"/>
            <a:headEnd/>
            <a:tailEnd/>
          </a:ln>
        </p:spPr>
        <p:txBody>
          <a:bodyPr>
            <a:spAutoFit/>
          </a:bodyPr>
          <a:lstStyle/>
          <a:p>
            <a:pPr>
              <a:spcBef>
                <a:spcPct val="50000"/>
              </a:spcBef>
            </a:pPr>
            <a:r>
              <a:rPr lang="zh-CN" altLang="en-US" b="1">
                <a:solidFill>
                  <a:srgbClr val="FF6600"/>
                </a:solidFill>
                <a:ea typeface="楷体_GB2312" pitchFamily="49" charset="-122"/>
              </a:rPr>
              <a:t>波腹</a:t>
            </a:r>
            <a:r>
              <a:rPr lang="en-US" altLang="zh-CN" b="1">
                <a:solidFill>
                  <a:srgbClr val="FF6600"/>
                </a:solidFill>
              </a:rPr>
              <a:t>(</a:t>
            </a:r>
            <a:r>
              <a:rPr lang="en-US" altLang="zh-CN" b="1" i="1">
                <a:solidFill>
                  <a:srgbClr val="FF6600"/>
                </a:solidFill>
              </a:rPr>
              <a:t>A</a:t>
            </a:r>
            <a:r>
              <a:rPr lang="en-US" altLang="zh-CN" b="1" i="1" baseline="30000">
                <a:solidFill>
                  <a:srgbClr val="FF6600"/>
                </a:solidFill>
              </a:rPr>
              <a:t>′</a:t>
            </a:r>
            <a:r>
              <a:rPr lang="en-US" altLang="zh-CN" b="1">
                <a:solidFill>
                  <a:srgbClr val="FF6600"/>
                </a:solidFill>
              </a:rPr>
              <a:t>= </a:t>
            </a:r>
            <a:r>
              <a:rPr lang="en-US" altLang="zh-CN" b="1" i="1">
                <a:solidFill>
                  <a:srgbClr val="FF6600"/>
                </a:solidFill>
              </a:rPr>
              <a:t>A</a:t>
            </a:r>
            <a:r>
              <a:rPr lang="en-US" altLang="zh-CN" b="1" i="1" baseline="30000">
                <a:solidFill>
                  <a:srgbClr val="FF6600"/>
                </a:solidFill>
              </a:rPr>
              <a:t>′</a:t>
            </a:r>
            <a:r>
              <a:rPr lang="en-US" altLang="zh-CN" b="1" baseline="-25000">
                <a:solidFill>
                  <a:srgbClr val="FF6600"/>
                </a:solidFill>
              </a:rPr>
              <a:t>max</a:t>
            </a:r>
            <a:r>
              <a:rPr lang="en-US" altLang="zh-CN" b="1">
                <a:solidFill>
                  <a:srgbClr val="FF6600"/>
                </a:solidFill>
              </a:rPr>
              <a:t>)</a:t>
            </a:r>
            <a:r>
              <a:rPr lang="en-US" altLang="zh-CN" b="1">
                <a:solidFill>
                  <a:srgbClr val="FF0000"/>
                </a:solidFill>
              </a:rPr>
              <a:t> </a:t>
            </a:r>
            <a:r>
              <a:rPr lang="zh-CN" altLang="en-US" b="1">
                <a:solidFill>
                  <a:srgbClr val="FF6600"/>
                </a:solidFill>
                <a:ea typeface="楷体_GB2312" pitchFamily="49" charset="-122"/>
              </a:rPr>
              <a:t>：</a:t>
            </a:r>
          </a:p>
        </p:txBody>
      </p:sp>
      <p:graphicFrame>
        <p:nvGraphicFramePr>
          <p:cNvPr id="219155" name="Object 19"/>
          <p:cNvGraphicFramePr>
            <a:graphicFrameLocks noChangeAspect="1"/>
          </p:cNvGraphicFramePr>
          <p:nvPr/>
        </p:nvGraphicFramePr>
        <p:xfrm>
          <a:off x="4516438" y="2868613"/>
          <a:ext cx="1198562" cy="725487"/>
        </p:xfrm>
        <a:graphic>
          <a:graphicData uri="http://schemas.openxmlformats.org/presentationml/2006/ole">
            <p:oleObj spid="_x0000_s43011" name="Equation" r:id="rId6" imgW="672840" imgH="406080" progId="Equation.3">
              <p:embed/>
            </p:oleObj>
          </a:graphicData>
        </a:graphic>
      </p:graphicFrame>
      <p:graphicFrame>
        <p:nvGraphicFramePr>
          <p:cNvPr id="219156" name="Object 20"/>
          <p:cNvGraphicFramePr>
            <a:graphicFrameLocks noChangeAspect="1"/>
          </p:cNvGraphicFramePr>
          <p:nvPr/>
        </p:nvGraphicFramePr>
        <p:xfrm>
          <a:off x="4214813" y="3738563"/>
          <a:ext cx="3252787" cy="730250"/>
        </p:xfrm>
        <a:graphic>
          <a:graphicData uri="http://schemas.openxmlformats.org/presentationml/2006/ole">
            <p:oleObj spid="_x0000_s43012" name="Equation" r:id="rId7" imgW="1803240" imgH="406080" progId="Equation.3">
              <p:embed/>
            </p:oleObj>
          </a:graphicData>
        </a:graphic>
      </p:graphicFrame>
      <p:graphicFrame>
        <p:nvGraphicFramePr>
          <p:cNvPr id="219157" name="Object 21"/>
          <p:cNvGraphicFramePr>
            <a:graphicFrameLocks noChangeAspect="1"/>
          </p:cNvGraphicFramePr>
          <p:nvPr/>
        </p:nvGraphicFramePr>
        <p:xfrm>
          <a:off x="1752600" y="2927350"/>
          <a:ext cx="1993900" cy="796925"/>
        </p:xfrm>
        <a:graphic>
          <a:graphicData uri="http://schemas.openxmlformats.org/presentationml/2006/ole">
            <p:oleObj spid="_x0000_s43013" name="Equation" r:id="rId8" imgW="1104840" imgH="444240" progId="Equation.3">
              <p:embed/>
            </p:oleObj>
          </a:graphicData>
        </a:graphic>
      </p:graphicFrame>
      <p:graphicFrame>
        <p:nvGraphicFramePr>
          <p:cNvPr id="219158" name="Object 22"/>
          <p:cNvGraphicFramePr>
            <a:graphicFrameLocks noChangeAspect="1"/>
          </p:cNvGraphicFramePr>
          <p:nvPr/>
        </p:nvGraphicFramePr>
        <p:xfrm>
          <a:off x="4648200" y="4524375"/>
          <a:ext cx="1979613" cy="731838"/>
        </p:xfrm>
        <a:graphic>
          <a:graphicData uri="http://schemas.openxmlformats.org/presentationml/2006/ole">
            <p:oleObj spid="_x0000_s43014" name="Equation" r:id="rId9" imgW="1104840" imgH="406080" progId="Equation.3">
              <p:embed/>
            </p:oleObj>
          </a:graphicData>
        </a:graphic>
      </p:graphicFrame>
      <p:graphicFrame>
        <p:nvGraphicFramePr>
          <p:cNvPr id="219159" name="Object 23"/>
          <p:cNvGraphicFramePr>
            <a:graphicFrameLocks noChangeAspect="1"/>
          </p:cNvGraphicFramePr>
          <p:nvPr/>
        </p:nvGraphicFramePr>
        <p:xfrm>
          <a:off x="4267200" y="5362575"/>
          <a:ext cx="3951288" cy="730250"/>
        </p:xfrm>
        <a:graphic>
          <a:graphicData uri="http://schemas.openxmlformats.org/presentationml/2006/ole">
            <p:oleObj spid="_x0000_s43015" name="Equation" r:id="rId10" imgW="2197080" imgH="406080" progId="Equation.3">
              <p:embed/>
            </p:oleObj>
          </a:graphicData>
        </a:graphic>
      </p:graphicFrame>
      <p:sp>
        <p:nvSpPr>
          <p:cNvPr id="219160" name="Text Box 24"/>
          <p:cNvSpPr txBox="1">
            <a:spLocks noChangeArrowheads="1"/>
          </p:cNvSpPr>
          <p:nvPr/>
        </p:nvSpPr>
        <p:spPr bwMode="auto">
          <a:xfrm>
            <a:off x="1187450" y="5461000"/>
            <a:ext cx="3568700" cy="457200"/>
          </a:xfrm>
          <a:prstGeom prst="rect">
            <a:avLst/>
          </a:prstGeom>
          <a:noFill/>
          <a:ln w="9525">
            <a:noFill/>
            <a:miter lim="800000"/>
            <a:headEnd/>
            <a:tailEnd/>
          </a:ln>
        </p:spPr>
        <p:txBody>
          <a:bodyPr>
            <a:spAutoFit/>
          </a:bodyPr>
          <a:lstStyle/>
          <a:p>
            <a:pPr>
              <a:spcBef>
                <a:spcPct val="50000"/>
              </a:spcBef>
            </a:pPr>
            <a:r>
              <a:rPr lang="zh-CN" altLang="en-US" b="1">
                <a:solidFill>
                  <a:srgbClr val="FF6600"/>
                </a:solidFill>
                <a:ea typeface="楷体_GB2312" pitchFamily="49" charset="-122"/>
              </a:rPr>
              <a:t>波节</a:t>
            </a:r>
            <a:r>
              <a:rPr lang="en-US" altLang="zh-CN" b="1">
                <a:solidFill>
                  <a:srgbClr val="FF6600"/>
                </a:solidFill>
              </a:rPr>
              <a:t>(</a:t>
            </a:r>
            <a:r>
              <a:rPr lang="en-US" altLang="zh-CN" b="1" i="1">
                <a:solidFill>
                  <a:srgbClr val="FF6600"/>
                </a:solidFill>
              </a:rPr>
              <a:t>A</a:t>
            </a:r>
            <a:r>
              <a:rPr lang="en-US" altLang="zh-CN" b="1" i="1" baseline="30000">
                <a:solidFill>
                  <a:srgbClr val="FF6600"/>
                </a:solidFill>
              </a:rPr>
              <a:t>′</a:t>
            </a:r>
            <a:r>
              <a:rPr lang="en-US" altLang="zh-CN" b="1">
                <a:solidFill>
                  <a:srgbClr val="FF6600"/>
                </a:solidFill>
              </a:rPr>
              <a:t>= </a:t>
            </a:r>
            <a:r>
              <a:rPr lang="en-US" altLang="zh-CN" b="1" i="1">
                <a:solidFill>
                  <a:srgbClr val="FF6600"/>
                </a:solidFill>
              </a:rPr>
              <a:t>A</a:t>
            </a:r>
            <a:r>
              <a:rPr lang="en-US" altLang="zh-CN" b="1" i="1" baseline="30000">
                <a:solidFill>
                  <a:srgbClr val="FF6600"/>
                </a:solidFill>
              </a:rPr>
              <a:t>′</a:t>
            </a:r>
            <a:r>
              <a:rPr lang="en-US" altLang="zh-CN" b="1" baseline="-25000">
                <a:solidFill>
                  <a:srgbClr val="FF6600"/>
                </a:solidFill>
              </a:rPr>
              <a:t>min</a:t>
            </a:r>
            <a:r>
              <a:rPr lang="en-US" altLang="zh-CN" b="1">
                <a:solidFill>
                  <a:srgbClr val="FF6600"/>
                </a:solidFill>
              </a:rPr>
              <a:t>) </a:t>
            </a:r>
            <a:r>
              <a:rPr lang="zh-CN" altLang="en-US" b="1">
                <a:solidFill>
                  <a:srgbClr val="FF6600"/>
                </a:solidFill>
              </a:rPr>
              <a:t>：</a:t>
            </a:r>
          </a:p>
        </p:txBody>
      </p:sp>
      <p:sp>
        <p:nvSpPr>
          <p:cNvPr id="43023" name="Text Box 25"/>
          <p:cNvSpPr txBox="1">
            <a:spLocks noChangeArrowheads="1"/>
          </p:cNvSpPr>
          <p:nvPr/>
        </p:nvSpPr>
        <p:spPr bwMode="auto">
          <a:xfrm>
            <a:off x="1812925" y="5292725"/>
            <a:ext cx="1905000" cy="457200"/>
          </a:xfrm>
          <a:prstGeom prst="rect">
            <a:avLst/>
          </a:prstGeom>
          <a:noFill/>
          <a:ln w="9525">
            <a:noFill/>
            <a:miter lim="800000"/>
            <a:headEnd/>
            <a:tailEnd/>
          </a:ln>
        </p:spPr>
        <p:txBody>
          <a:bodyPr>
            <a:spAutoFit/>
          </a:bodyPr>
          <a:lstStyle/>
          <a:p>
            <a:pPr>
              <a:spcBef>
                <a:spcPct val="50000"/>
              </a:spcBef>
            </a:pPr>
            <a:endParaRPr lang="zh-CN" altLang="zh-CN" b="1">
              <a:solidFill>
                <a:schemeClr val="bg1"/>
              </a:solidFill>
            </a:endParaRPr>
          </a:p>
        </p:txBody>
      </p:sp>
      <p:graphicFrame>
        <p:nvGraphicFramePr>
          <p:cNvPr id="219162" name="Object 26"/>
          <p:cNvGraphicFramePr>
            <a:graphicFrameLocks noChangeAspect="1"/>
          </p:cNvGraphicFramePr>
          <p:nvPr/>
        </p:nvGraphicFramePr>
        <p:xfrm>
          <a:off x="1752600" y="4564063"/>
          <a:ext cx="1993900" cy="798512"/>
        </p:xfrm>
        <a:graphic>
          <a:graphicData uri="http://schemas.openxmlformats.org/presentationml/2006/ole">
            <p:oleObj spid="_x0000_s43016" name="Equation" r:id="rId11" imgW="1104840" imgH="444240" progId="Equation.3">
              <p:embed/>
            </p:oleObj>
          </a:graphicData>
        </a:graphic>
      </p:graphicFrame>
      <p:sp>
        <p:nvSpPr>
          <p:cNvPr id="219163" name="Rectangle 27"/>
          <p:cNvSpPr>
            <a:spLocks noChangeArrowheads="1"/>
          </p:cNvSpPr>
          <p:nvPr/>
        </p:nvSpPr>
        <p:spPr bwMode="auto">
          <a:xfrm>
            <a:off x="906463" y="2473325"/>
            <a:ext cx="2405062" cy="457200"/>
          </a:xfrm>
          <a:prstGeom prst="rect">
            <a:avLst/>
          </a:prstGeom>
          <a:noFill/>
          <a:ln w="9525">
            <a:noFill/>
            <a:miter lim="800000"/>
            <a:headEnd/>
            <a:tailEnd/>
          </a:ln>
        </p:spPr>
        <p:txBody>
          <a:bodyPr wrap="none">
            <a:spAutoFit/>
          </a:bodyPr>
          <a:lstStyle/>
          <a:p>
            <a:pPr>
              <a:spcBef>
                <a:spcPct val="50000"/>
              </a:spcBef>
            </a:pPr>
            <a:r>
              <a:rPr lang="zh-CN" altLang="en-US" b="1">
                <a:ea typeface="楷体_GB2312" pitchFamily="49" charset="-122"/>
              </a:rPr>
              <a:t>的特殊谐振动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19138"/>
                                        </p:tgtEl>
                                        <p:attrNameLst>
                                          <p:attrName>style.visibility</p:attrName>
                                        </p:attrNameLst>
                                      </p:cBhvr>
                                      <p:to>
                                        <p:strVal val="visible"/>
                                      </p:to>
                                    </p:set>
                                    <p:anim calcmode="lin" valueType="num">
                                      <p:cBhvr>
                                        <p:cTn id="7" dur="500" fill="hold"/>
                                        <p:tgtEl>
                                          <p:spTgt spid="219138"/>
                                        </p:tgtEl>
                                        <p:attrNameLst>
                                          <p:attrName>ppt_w</p:attrName>
                                        </p:attrNameLst>
                                      </p:cBhvr>
                                      <p:tavLst>
                                        <p:tav tm="0">
                                          <p:val>
                                            <p:strVal val="4*#ppt_w"/>
                                          </p:val>
                                        </p:tav>
                                        <p:tav tm="100000">
                                          <p:val>
                                            <p:strVal val="#ppt_w"/>
                                          </p:val>
                                        </p:tav>
                                      </p:tavLst>
                                    </p:anim>
                                    <p:anim calcmode="lin" valueType="num">
                                      <p:cBhvr>
                                        <p:cTn id="8" dur="500" fill="hold"/>
                                        <p:tgtEl>
                                          <p:spTgt spid="219138"/>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19139"/>
                                        </p:tgtEl>
                                        <p:attrNameLst>
                                          <p:attrName>style.visibility</p:attrName>
                                        </p:attrNameLst>
                                      </p:cBhvr>
                                      <p:to>
                                        <p:strVal val="visible"/>
                                      </p:to>
                                    </p:set>
                                    <p:animEffect transition="in" filter="wipe(left)">
                                      <p:cBhvr>
                                        <p:cTn id="12" dur="500"/>
                                        <p:tgtEl>
                                          <p:spTgt spid="219139"/>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8" fill="hold" grpId="0" nodeType="clickEffect">
                                  <p:stCondLst>
                                    <p:cond delay="0"/>
                                  </p:stCondLst>
                                  <p:childTnLst>
                                    <p:set>
                                      <p:cBhvr>
                                        <p:cTn id="16" dur="1" fill="hold">
                                          <p:stCondLst>
                                            <p:cond delay="0"/>
                                          </p:stCondLst>
                                        </p:cTn>
                                        <p:tgtEl>
                                          <p:spTgt spid="219140"/>
                                        </p:tgtEl>
                                        <p:attrNameLst>
                                          <p:attrName>style.visibility</p:attrName>
                                        </p:attrNameLst>
                                      </p:cBhvr>
                                      <p:to>
                                        <p:strVal val="visible"/>
                                      </p:to>
                                    </p:set>
                                    <p:anim calcmode="lin" valueType="num">
                                      <p:cBhvr>
                                        <p:cTn id="17" dur="500" fill="hold"/>
                                        <p:tgtEl>
                                          <p:spTgt spid="219140"/>
                                        </p:tgtEl>
                                        <p:attrNameLst>
                                          <p:attrName>ppt_x</p:attrName>
                                        </p:attrNameLst>
                                      </p:cBhvr>
                                      <p:tavLst>
                                        <p:tav tm="0">
                                          <p:val>
                                            <p:strVal val="#ppt_x-#ppt_w/2"/>
                                          </p:val>
                                        </p:tav>
                                        <p:tav tm="100000">
                                          <p:val>
                                            <p:strVal val="#ppt_x"/>
                                          </p:val>
                                        </p:tav>
                                      </p:tavLst>
                                    </p:anim>
                                    <p:anim calcmode="lin" valueType="num">
                                      <p:cBhvr>
                                        <p:cTn id="18" dur="500" fill="hold"/>
                                        <p:tgtEl>
                                          <p:spTgt spid="219140"/>
                                        </p:tgtEl>
                                        <p:attrNameLst>
                                          <p:attrName>ppt_y</p:attrName>
                                        </p:attrNameLst>
                                      </p:cBhvr>
                                      <p:tavLst>
                                        <p:tav tm="0">
                                          <p:val>
                                            <p:strVal val="#ppt_y"/>
                                          </p:val>
                                        </p:tav>
                                        <p:tav tm="100000">
                                          <p:val>
                                            <p:strVal val="#ppt_y"/>
                                          </p:val>
                                        </p:tav>
                                      </p:tavLst>
                                    </p:anim>
                                    <p:anim calcmode="lin" valueType="num">
                                      <p:cBhvr>
                                        <p:cTn id="19" dur="500" fill="hold"/>
                                        <p:tgtEl>
                                          <p:spTgt spid="219140"/>
                                        </p:tgtEl>
                                        <p:attrNameLst>
                                          <p:attrName>ppt_w</p:attrName>
                                        </p:attrNameLst>
                                      </p:cBhvr>
                                      <p:tavLst>
                                        <p:tav tm="0">
                                          <p:val>
                                            <p:fltVal val="0"/>
                                          </p:val>
                                        </p:tav>
                                        <p:tav tm="100000">
                                          <p:val>
                                            <p:strVal val="#ppt_w"/>
                                          </p:val>
                                        </p:tav>
                                      </p:tavLst>
                                    </p:anim>
                                    <p:anim calcmode="lin" valueType="num">
                                      <p:cBhvr>
                                        <p:cTn id="20" dur="500" fill="hold"/>
                                        <p:tgtEl>
                                          <p:spTgt spid="219140"/>
                                        </p:tgtEl>
                                        <p:attrNameLst>
                                          <p:attrName>ppt_h</p:attrName>
                                        </p:attrNameLst>
                                      </p:cBhvr>
                                      <p:tavLst>
                                        <p:tav tm="0">
                                          <p:val>
                                            <p:strVal val="#ppt_h"/>
                                          </p:val>
                                        </p:tav>
                                        <p:tav tm="100000">
                                          <p:val>
                                            <p:strVal val="#ppt_h"/>
                                          </p:val>
                                        </p:tav>
                                      </p:tavLst>
                                    </p:anim>
                                  </p:childTnLst>
                                  <p:subTnLst>
                                    <p:audio>
                                      <p:cMediaNode mute="1">
                                        <p:cTn display="0" masterRel="sameClick">
                                          <p:stCondLst>
                                            <p:cond evt="begin" delay="0">
                                              <p:tn val="15"/>
                                            </p:cond>
                                          </p:stCondLst>
                                          <p:endCondLst>
                                            <p:cond evt="onStopAudio" delay="0">
                                              <p:tgtEl>
                                                <p:sldTgt/>
                                              </p:tgtEl>
                                            </p:cond>
                                          </p:endCondLst>
                                        </p:cTn>
                                        <p:tgtEl>
                                          <p:sndTgt r:embed="rId4" name="TYPE.WAV" builtIn="1"/>
                                        </p:tgtEl>
                                      </p:cMediaNode>
                                    </p:audio>
                                  </p:sub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19152"/>
                                        </p:tgtEl>
                                        <p:attrNameLst>
                                          <p:attrName>style.visibility</p:attrName>
                                        </p:attrNameLst>
                                      </p:cBhvr>
                                      <p:to>
                                        <p:strVal val="visible"/>
                                      </p:to>
                                    </p:set>
                                    <p:animEffect transition="in" filter="wipe(left)">
                                      <p:cBhvr>
                                        <p:cTn id="25" dur="500"/>
                                        <p:tgtEl>
                                          <p:spTgt spid="21915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19153"/>
                                        </p:tgtEl>
                                        <p:attrNameLst>
                                          <p:attrName>style.visibility</p:attrName>
                                        </p:attrNameLst>
                                      </p:cBhvr>
                                      <p:to>
                                        <p:strVal val="visible"/>
                                      </p:to>
                                    </p:set>
                                    <p:animEffect transition="in" filter="wipe(left)">
                                      <p:cBhvr>
                                        <p:cTn id="30" dur="500"/>
                                        <p:tgtEl>
                                          <p:spTgt spid="219153"/>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219163"/>
                                        </p:tgtEl>
                                        <p:attrNameLst>
                                          <p:attrName>style.visibility</p:attrName>
                                        </p:attrNameLst>
                                      </p:cBhvr>
                                      <p:to>
                                        <p:strVal val="visible"/>
                                      </p:to>
                                    </p:set>
                                    <p:animEffect transition="in" filter="wipe(left)">
                                      <p:cBhvr>
                                        <p:cTn id="34" dur="500"/>
                                        <p:tgtEl>
                                          <p:spTgt spid="219163"/>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8" fill="hold" nodeType="clickEffect">
                                  <p:stCondLst>
                                    <p:cond delay="0"/>
                                  </p:stCondLst>
                                  <p:childTnLst>
                                    <p:set>
                                      <p:cBhvr>
                                        <p:cTn id="38" dur="1" fill="hold">
                                          <p:stCondLst>
                                            <p:cond delay="0"/>
                                          </p:stCondLst>
                                        </p:cTn>
                                        <p:tgtEl>
                                          <p:spTgt spid="219157"/>
                                        </p:tgtEl>
                                        <p:attrNameLst>
                                          <p:attrName>style.visibility</p:attrName>
                                        </p:attrNameLst>
                                      </p:cBhvr>
                                      <p:to>
                                        <p:strVal val="visible"/>
                                      </p:to>
                                    </p:set>
                                    <p:animEffect transition="in" filter="slide(fromLeft)">
                                      <p:cBhvr>
                                        <p:cTn id="39" dur="500"/>
                                        <p:tgtEl>
                                          <p:spTgt spid="21915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219155"/>
                                        </p:tgtEl>
                                        <p:attrNameLst>
                                          <p:attrName>style.visibility</p:attrName>
                                        </p:attrNameLst>
                                      </p:cBhvr>
                                      <p:to>
                                        <p:strVal val="visible"/>
                                      </p:to>
                                    </p:set>
                                    <p:animEffect transition="in" filter="wipe(left)">
                                      <p:cBhvr>
                                        <p:cTn id="44" dur="500"/>
                                        <p:tgtEl>
                                          <p:spTgt spid="21915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19154"/>
                                        </p:tgtEl>
                                        <p:attrNameLst>
                                          <p:attrName>style.visibility</p:attrName>
                                        </p:attrNameLst>
                                      </p:cBhvr>
                                      <p:to>
                                        <p:strVal val="visible"/>
                                      </p:to>
                                    </p:set>
                                    <p:animEffect transition="in" filter="wipe(left)">
                                      <p:cBhvr>
                                        <p:cTn id="49" dur="500"/>
                                        <p:tgtEl>
                                          <p:spTgt spid="219154"/>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219156"/>
                                        </p:tgtEl>
                                        <p:attrNameLst>
                                          <p:attrName>style.visibility</p:attrName>
                                        </p:attrNameLst>
                                      </p:cBhvr>
                                      <p:to>
                                        <p:strVal val="visible"/>
                                      </p:to>
                                    </p:set>
                                    <p:animEffect transition="in" filter="wipe(left)">
                                      <p:cBhvr>
                                        <p:cTn id="54" dur="500"/>
                                        <p:tgtEl>
                                          <p:spTgt spid="219156"/>
                                        </p:tgtEl>
                                      </p:cBhvr>
                                    </p:animEffect>
                                  </p:childTnLst>
                                </p:cTn>
                              </p:par>
                            </p:childTnLst>
                          </p:cTn>
                        </p:par>
                      </p:childTnLst>
                    </p:cTn>
                  </p:par>
                  <p:par>
                    <p:cTn id="55" fill="hold">
                      <p:stCondLst>
                        <p:cond delay="indefinite"/>
                      </p:stCondLst>
                      <p:childTnLst>
                        <p:par>
                          <p:cTn id="56" fill="hold">
                            <p:stCondLst>
                              <p:cond delay="0"/>
                            </p:stCondLst>
                            <p:childTnLst>
                              <p:par>
                                <p:cTn id="57" presetID="12" presetClass="entr" presetSubtype="8" fill="hold" nodeType="clickEffect">
                                  <p:stCondLst>
                                    <p:cond delay="0"/>
                                  </p:stCondLst>
                                  <p:childTnLst>
                                    <p:set>
                                      <p:cBhvr>
                                        <p:cTn id="58" dur="1" fill="hold">
                                          <p:stCondLst>
                                            <p:cond delay="0"/>
                                          </p:stCondLst>
                                        </p:cTn>
                                        <p:tgtEl>
                                          <p:spTgt spid="219162"/>
                                        </p:tgtEl>
                                        <p:attrNameLst>
                                          <p:attrName>style.visibility</p:attrName>
                                        </p:attrNameLst>
                                      </p:cBhvr>
                                      <p:to>
                                        <p:strVal val="visible"/>
                                      </p:to>
                                    </p:set>
                                    <p:animEffect transition="in" filter="slide(fromLeft)">
                                      <p:cBhvr>
                                        <p:cTn id="59" dur="500"/>
                                        <p:tgtEl>
                                          <p:spTgt spid="21916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219158"/>
                                        </p:tgtEl>
                                        <p:attrNameLst>
                                          <p:attrName>style.visibility</p:attrName>
                                        </p:attrNameLst>
                                      </p:cBhvr>
                                      <p:to>
                                        <p:strVal val="visible"/>
                                      </p:to>
                                    </p:set>
                                    <p:animEffect transition="in" filter="wipe(left)">
                                      <p:cBhvr>
                                        <p:cTn id="64" dur="500"/>
                                        <p:tgtEl>
                                          <p:spTgt spid="21915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19160"/>
                                        </p:tgtEl>
                                        <p:attrNameLst>
                                          <p:attrName>style.visibility</p:attrName>
                                        </p:attrNameLst>
                                      </p:cBhvr>
                                      <p:to>
                                        <p:strVal val="visible"/>
                                      </p:to>
                                    </p:set>
                                    <p:animEffect transition="in" filter="wipe(left)">
                                      <p:cBhvr>
                                        <p:cTn id="69" dur="500"/>
                                        <p:tgtEl>
                                          <p:spTgt spid="219160"/>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19159"/>
                                        </p:tgtEl>
                                        <p:attrNameLst>
                                          <p:attrName>style.visibility</p:attrName>
                                        </p:attrNameLst>
                                      </p:cBhvr>
                                      <p:to>
                                        <p:strVal val="visible"/>
                                      </p:to>
                                    </p:set>
                                    <p:animEffect transition="in" filter="wipe(left)">
                                      <p:cBhvr>
                                        <p:cTn id="74" dur="500"/>
                                        <p:tgtEl>
                                          <p:spTgt spid="219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8" grpId="0" animBg="1"/>
      <p:bldP spid="219139" grpId="0" autoUpdateAnimBg="0"/>
      <p:bldP spid="219140" grpId="0" autoUpdateAnimBg="0"/>
      <p:bldP spid="219153" grpId="0" autoUpdateAnimBg="0"/>
      <p:bldP spid="219154" grpId="0" autoUpdateAnimBg="0"/>
      <p:bldP spid="219160" grpId="0" autoUpdateAnimBg="0"/>
      <p:bldP spid="21916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6085" name="Object 21"/>
          <p:cNvGraphicFramePr>
            <a:graphicFrameLocks noChangeAspect="1"/>
          </p:cNvGraphicFramePr>
          <p:nvPr/>
        </p:nvGraphicFramePr>
        <p:xfrm>
          <a:off x="1052513" y="1341438"/>
          <a:ext cx="3519487" cy="730250"/>
        </p:xfrm>
        <a:graphic>
          <a:graphicData uri="http://schemas.openxmlformats.org/presentationml/2006/ole">
            <p:oleObj spid="_x0000_s44034" name="Equation" r:id="rId4" imgW="1955520" imgH="406080" progId="Equation.3">
              <p:embed/>
            </p:oleObj>
          </a:graphicData>
        </a:graphic>
      </p:graphicFrame>
      <p:sp>
        <p:nvSpPr>
          <p:cNvPr id="216086" name="Rectangle 22"/>
          <p:cNvSpPr>
            <a:spLocks noChangeArrowheads="1"/>
          </p:cNvSpPr>
          <p:nvPr/>
        </p:nvSpPr>
        <p:spPr bwMode="auto">
          <a:xfrm>
            <a:off x="296863" y="739775"/>
            <a:ext cx="3554412" cy="457200"/>
          </a:xfrm>
          <a:prstGeom prst="rect">
            <a:avLst/>
          </a:prstGeom>
          <a:noFill/>
          <a:ln w="9525">
            <a:noFill/>
            <a:miter lim="800000"/>
            <a:headEnd/>
            <a:tailEnd/>
          </a:ln>
        </p:spPr>
        <p:txBody>
          <a:bodyPr wrap="none">
            <a:spAutoFit/>
          </a:bodyPr>
          <a:lstStyle/>
          <a:p>
            <a:r>
              <a:rPr lang="zh-CN" altLang="en-US" b="1">
                <a:solidFill>
                  <a:srgbClr val="FF6600"/>
                </a:solidFill>
                <a:ea typeface="楷体_GB2312" pitchFamily="49" charset="-122"/>
              </a:rPr>
              <a:t>相邻两波腹之间的距离：</a:t>
            </a:r>
          </a:p>
        </p:txBody>
      </p:sp>
      <p:graphicFrame>
        <p:nvGraphicFramePr>
          <p:cNvPr id="216087" name="Object 23"/>
          <p:cNvGraphicFramePr>
            <a:graphicFrameLocks noChangeAspect="1"/>
          </p:cNvGraphicFramePr>
          <p:nvPr/>
        </p:nvGraphicFramePr>
        <p:xfrm>
          <a:off x="1187450" y="2914650"/>
          <a:ext cx="4854575" cy="730250"/>
        </p:xfrm>
        <a:graphic>
          <a:graphicData uri="http://schemas.openxmlformats.org/presentationml/2006/ole">
            <p:oleObj spid="_x0000_s44035" name="Equation" r:id="rId5" imgW="2705040" imgH="406080" progId="Equation.3">
              <p:embed/>
            </p:oleObj>
          </a:graphicData>
        </a:graphic>
      </p:graphicFrame>
      <p:sp>
        <p:nvSpPr>
          <p:cNvPr id="216088" name="Text Box 24"/>
          <p:cNvSpPr txBox="1">
            <a:spLocks noChangeArrowheads="1"/>
          </p:cNvSpPr>
          <p:nvPr/>
        </p:nvSpPr>
        <p:spPr bwMode="auto">
          <a:xfrm>
            <a:off x="406400" y="2324100"/>
            <a:ext cx="3733800" cy="457200"/>
          </a:xfrm>
          <a:prstGeom prst="rect">
            <a:avLst/>
          </a:prstGeom>
          <a:noFill/>
          <a:ln w="9525">
            <a:noFill/>
            <a:miter lim="800000"/>
            <a:headEnd/>
            <a:tailEnd/>
          </a:ln>
        </p:spPr>
        <p:txBody>
          <a:bodyPr>
            <a:spAutoFit/>
          </a:bodyPr>
          <a:lstStyle/>
          <a:p>
            <a:pPr>
              <a:spcBef>
                <a:spcPct val="50000"/>
              </a:spcBef>
            </a:pPr>
            <a:r>
              <a:rPr lang="zh-CN" altLang="en-US" b="1">
                <a:solidFill>
                  <a:srgbClr val="FF6600"/>
                </a:solidFill>
                <a:ea typeface="楷体_GB2312" pitchFamily="49" charset="-122"/>
              </a:rPr>
              <a:t>相邻两波节之间的距离：</a:t>
            </a:r>
          </a:p>
        </p:txBody>
      </p:sp>
      <p:sp>
        <p:nvSpPr>
          <p:cNvPr id="216089" name="Rectangle 25"/>
          <p:cNvSpPr>
            <a:spLocks noChangeArrowheads="1"/>
          </p:cNvSpPr>
          <p:nvPr/>
        </p:nvSpPr>
        <p:spPr bwMode="auto">
          <a:xfrm>
            <a:off x="250825" y="3933825"/>
            <a:ext cx="3659188" cy="493713"/>
          </a:xfrm>
          <a:prstGeom prst="rect">
            <a:avLst/>
          </a:prstGeom>
          <a:noFill/>
          <a:ln w="9525">
            <a:noFill/>
            <a:miter lim="800000"/>
            <a:headEnd/>
            <a:tailEnd/>
          </a:ln>
        </p:spPr>
        <p:txBody>
          <a:bodyPr>
            <a:spAutoFit/>
          </a:bodyPr>
          <a:lstStyle/>
          <a:p>
            <a:pPr>
              <a:lnSpc>
                <a:spcPct val="110000"/>
              </a:lnSpc>
              <a:buClr>
                <a:srgbClr val="FF66FF"/>
              </a:buClr>
              <a:buSzPct val="120000"/>
              <a:buFont typeface="Wingdings" pitchFamily="2" charset="2"/>
              <a:buNone/>
            </a:pPr>
            <a:r>
              <a:rPr lang="en-US" altLang="zh-CN" b="1">
                <a:solidFill>
                  <a:srgbClr val="0033CC"/>
                </a:solidFill>
              </a:rPr>
              <a:t>(2)  </a:t>
            </a:r>
            <a:r>
              <a:rPr lang="zh-CN" altLang="en-US" b="1">
                <a:solidFill>
                  <a:srgbClr val="0033CC"/>
                </a:solidFill>
              </a:rPr>
              <a:t>各点的相位</a:t>
            </a:r>
            <a:r>
              <a:rPr lang="en-US" altLang="zh-CN" b="1">
                <a:solidFill>
                  <a:srgbClr val="0033CC"/>
                </a:solidFill>
              </a:rPr>
              <a:t>:</a:t>
            </a:r>
            <a:endParaRPr lang="en-US" altLang="zh-CN" b="1">
              <a:solidFill>
                <a:srgbClr val="0033CC"/>
              </a:solidFill>
              <a:sym typeface="Symbol" pitchFamily="18" charset="2"/>
            </a:endParaRPr>
          </a:p>
        </p:txBody>
      </p:sp>
      <p:sp>
        <p:nvSpPr>
          <p:cNvPr id="216090" name="Rectangle 26"/>
          <p:cNvSpPr>
            <a:spLocks noChangeArrowheads="1"/>
          </p:cNvSpPr>
          <p:nvPr/>
        </p:nvSpPr>
        <p:spPr bwMode="auto">
          <a:xfrm>
            <a:off x="566738" y="4535488"/>
            <a:ext cx="6381750" cy="549275"/>
          </a:xfrm>
          <a:prstGeom prst="rect">
            <a:avLst/>
          </a:prstGeom>
          <a:noFill/>
          <a:ln w="9525">
            <a:noFill/>
            <a:miter lim="800000"/>
            <a:headEnd/>
            <a:tailEnd/>
          </a:ln>
        </p:spPr>
        <p:txBody>
          <a:bodyPr>
            <a:spAutoFit/>
          </a:bodyPr>
          <a:lstStyle/>
          <a:p>
            <a:pPr>
              <a:lnSpc>
                <a:spcPct val="125000"/>
              </a:lnSpc>
            </a:pPr>
            <a:r>
              <a:rPr lang="zh-CN" altLang="en-US" b="1">
                <a:latin typeface="楷体_GB2312" pitchFamily="49" charset="-122"/>
                <a:ea typeface="楷体_GB2312" pitchFamily="49" charset="-122"/>
              </a:rPr>
              <a:t>所有波节点将介质划分为长</a:t>
            </a:r>
          </a:p>
        </p:txBody>
      </p:sp>
      <p:sp>
        <p:nvSpPr>
          <p:cNvPr id="216091" name="Rectangle 27"/>
          <p:cNvSpPr>
            <a:spLocks noChangeArrowheads="1"/>
          </p:cNvSpPr>
          <p:nvPr/>
        </p:nvSpPr>
        <p:spPr bwMode="auto">
          <a:xfrm>
            <a:off x="5073650" y="4627563"/>
            <a:ext cx="3200400" cy="457200"/>
          </a:xfrm>
          <a:prstGeom prst="rect">
            <a:avLst/>
          </a:prstGeom>
          <a:noFill/>
          <a:ln w="9525">
            <a:noFill/>
            <a:miter lim="800000"/>
            <a:headEnd/>
            <a:tailEnd/>
          </a:ln>
        </p:spPr>
        <p:txBody>
          <a:bodyPr>
            <a:spAutoFit/>
          </a:bodyPr>
          <a:lstStyle/>
          <a:p>
            <a:r>
              <a:rPr lang="zh-CN" altLang="en-US" b="1">
                <a:latin typeface="Bookman Old Style" pitchFamily="18" charset="0"/>
                <a:ea typeface="楷体_GB2312" pitchFamily="49" charset="-122"/>
              </a:rPr>
              <a:t>的许多段，每段中各</a:t>
            </a:r>
            <a:endParaRPr lang="zh-CN" altLang="en-US">
              <a:ea typeface="楷体_GB2312" pitchFamily="49" charset="-122"/>
            </a:endParaRPr>
          </a:p>
        </p:txBody>
      </p:sp>
      <p:graphicFrame>
        <p:nvGraphicFramePr>
          <p:cNvPr id="216092" name="Object 28"/>
          <p:cNvGraphicFramePr>
            <a:graphicFrameLocks noChangeAspect="1"/>
          </p:cNvGraphicFramePr>
          <p:nvPr/>
        </p:nvGraphicFramePr>
        <p:xfrm>
          <a:off x="4540250" y="4735513"/>
          <a:ext cx="525463" cy="284162"/>
        </p:xfrm>
        <a:graphic>
          <a:graphicData uri="http://schemas.openxmlformats.org/presentationml/2006/ole">
            <p:oleObj spid="_x0000_s44036" name="Equation" r:id="rId6" imgW="317160" imgH="177480" progId="Equation.3">
              <p:embed/>
            </p:oleObj>
          </a:graphicData>
        </a:graphic>
      </p:graphicFrame>
      <p:sp>
        <p:nvSpPr>
          <p:cNvPr id="216093" name="Rectangle 29"/>
          <p:cNvSpPr>
            <a:spLocks noChangeArrowheads="1"/>
          </p:cNvSpPr>
          <p:nvPr/>
        </p:nvSpPr>
        <p:spPr bwMode="auto">
          <a:xfrm>
            <a:off x="569913" y="5084763"/>
            <a:ext cx="7696200" cy="933450"/>
          </a:xfrm>
          <a:prstGeom prst="rect">
            <a:avLst/>
          </a:prstGeom>
          <a:noFill/>
          <a:ln w="9525">
            <a:noFill/>
            <a:miter lim="800000"/>
            <a:headEnd/>
            <a:tailEnd/>
          </a:ln>
        </p:spPr>
        <p:txBody>
          <a:bodyPr>
            <a:spAutoFit/>
          </a:bodyPr>
          <a:lstStyle/>
          <a:p>
            <a:pPr>
              <a:lnSpc>
                <a:spcPct val="115000"/>
              </a:lnSpc>
            </a:pPr>
            <a:r>
              <a:rPr lang="zh-CN" altLang="en-US" b="1">
                <a:latin typeface="楷体_GB2312" pitchFamily="49" charset="-122"/>
                <a:ea typeface="楷体_GB2312" pitchFamily="49" charset="-122"/>
              </a:rPr>
              <a:t>质点的振动振幅不同，但相位皆相同；而相邻段间各质点的振动相位相反</a:t>
            </a:r>
            <a:r>
              <a:rPr lang="en-US" altLang="zh-CN" b="1">
                <a:latin typeface="楷体_GB2312" pitchFamily="49" charset="-122"/>
                <a:ea typeface="楷体_GB2312" pitchFamily="49" charset="-122"/>
              </a:rPr>
              <a:t>; </a:t>
            </a:r>
            <a:r>
              <a:rPr lang="zh-CN" altLang="en-US" b="1">
                <a:solidFill>
                  <a:srgbClr val="008000"/>
                </a:solidFill>
                <a:latin typeface="楷体_GB2312" pitchFamily="49" charset="-122"/>
                <a:ea typeface="楷体_GB2312" pitchFamily="49" charset="-122"/>
              </a:rPr>
              <a:t>即驻波中不存在相位的传播</a:t>
            </a:r>
            <a:r>
              <a:rPr lang="zh-CN" altLang="en-US" b="1">
                <a:latin typeface="楷体_GB2312" pitchFamily="49" charset="-122"/>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6086"/>
                                        </p:tgtEl>
                                        <p:attrNameLst>
                                          <p:attrName>style.visibility</p:attrName>
                                        </p:attrNameLst>
                                      </p:cBhvr>
                                      <p:to>
                                        <p:strVal val="visible"/>
                                      </p:to>
                                    </p:set>
                                    <p:animEffect transition="in" filter="wipe(left)">
                                      <p:cBhvr>
                                        <p:cTn id="7" dur="500"/>
                                        <p:tgtEl>
                                          <p:spTgt spid="2160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6085"/>
                                        </p:tgtEl>
                                        <p:attrNameLst>
                                          <p:attrName>style.visibility</p:attrName>
                                        </p:attrNameLst>
                                      </p:cBhvr>
                                      <p:to>
                                        <p:strVal val="visible"/>
                                      </p:to>
                                    </p:set>
                                    <p:animEffect transition="in" filter="wipe(left)">
                                      <p:cBhvr>
                                        <p:cTn id="12" dur="500"/>
                                        <p:tgtEl>
                                          <p:spTgt spid="21608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6088"/>
                                        </p:tgtEl>
                                        <p:attrNameLst>
                                          <p:attrName>style.visibility</p:attrName>
                                        </p:attrNameLst>
                                      </p:cBhvr>
                                      <p:to>
                                        <p:strVal val="visible"/>
                                      </p:to>
                                    </p:set>
                                    <p:animEffect transition="in" filter="wipe(left)">
                                      <p:cBhvr>
                                        <p:cTn id="17" dur="500"/>
                                        <p:tgtEl>
                                          <p:spTgt spid="21608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6087"/>
                                        </p:tgtEl>
                                        <p:attrNameLst>
                                          <p:attrName>style.visibility</p:attrName>
                                        </p:attrNameLst>
                                      </p:cBhvr>
                                      <p:to>
                                        <p:strVal val="visible"/>
                                      </p:to>
                                    </p:set>
                                    <p:animEffect transition="in" filter="wipe(left)">
                                      <p:cBhvr>
                                        <p:cTn id="22" dur="500"/>
                                        <p:tgtEl>
                                          <p:spTgt spid="216087"/>
                                        </p:tgtEl>
                                      </p:cBhvr>
                                    </p:animEffect>
                                  </p:childTnLst>
                                </p:cTn>
                              </p:par>
                            </p:childTnLst>
                          </p:cTn>
                        </p:par>
                      </p:childTnLst>
                    </p:cTn>
                  </p:par>
                  <p:par>
                    <p:cTn id="23" fill="hold">
                      <p:stCondLst>
                        <p:cond delay="indefinite"/>
                      </p:stCondLst>
                      <p:childTnLst>
                        <p:par>
                          <p:cTn id="24" fill="hold">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216089"/>
                                        </p:tgtEl>
                                        <p:attrNameLst>
                                          <p:attrName>style.visibility</p:attrName>
                                        </p:attrNameLst>
                                      </p:cBhvr>
                                      <p:to>
                                        <p:strVal val="visible"/>
                                      </p:to>
                                    </p:set>
                                    <p:anim calcmode="lin" valueType="num">
                                      <p:cBhvr>
                                        <p:cTn id="27" dur="500" fill="hold"/>
                                        <p:tgtEl>
                                          <p:spTgt spid="216089"/>
                                        </p:tgtEl>
                                        <p:attrNameLst>
                                          <p:attrName>ppt_x</p:attrName>
                                        </p:attrNameLst>
                                      </p:cBhvr>
                                      <p:tavLst>
                                        <p:tav tm="0">
                                          <p:val>
                                            <p:strVal val="#ppt_x-#ppt_w/2"/>
                                          </p:val>
                                        </p:tav>
                                        <p:tav tm="100000">
                                          <p:val>
                                            <p:strVal val="#ppt_x"/>
                                          </p:val>
                                        </p:tav>
                                      </p:tavLst>
                                    </p:anim>
                                    <p:anim calcmode="lin" valueType="num">
                                      <p:cBhvr>
                                        <p:cTn id="28" dur="500" fill="hold"/>
                                        <p:tgtEl>
                                          <p:spTgt spid="216089"/>
                                        </p:tgtEl>
                                        <p:attrNameLst>
                                          <p:attrName>ppt_y</p:attrName>
                                        </p:attrNameLst>
                                      </p:cBhvr>
                                      <p:tavLst>
                                        <p:tav tm="0">
                                          <p:val>
                                            <p:strVal val="#ppt_y"/>
                                          </p:val>
                                        </p:tav>
                                        <p:tav tm="100000">
                                          <p:val>
                                            <p:strVal val="#ppt_y"/>
                                          </p:val>
                                        </p:tav>
                                      </p:tavLst>
                                    </p:anim>
                                    <p:anim calcmode="lin" valueType="num">
                                      <p:cBhvr>
                                        <p:cTn id="29" dur="500" fill="hold"/>
                                        <p:tgtEl>
                                          <p:spTgt spid="216089"/>
                                        </p:tgtEl>
                                        <p:attrNameLst>
                                          <p:attrName>ppt_w</p:attrName>
                                        </p:attrNameLst>
                                      </p:cBhvr>
                                      <p:tavLst>
                                        <p:tav tm="0">
                                          <p:val>
                                            <p:fltVal val="0"/>
                                          </p:val>
                                        </p:tav>
                                        <p:tav tm="100000">
                                          <p:val>
                                            <p:strVal val="#ppt_w"/>
                                          </p:val>
                                        </p:tav>
                                      </p:tavLst>
                                    </p:anim>
                                    <p:anim calcmode="lin" valueType="num">
                                      <p:cBhvr>
                                        <p:cTn id="30" dur="500" fill="hold"/>
                                        <p:tgtEl>
                                          <p:spTgt spid="216089"/>
                                        </p:tgtEl>
                                        <p:attrNameLst>
                                          <p:attrName>ppt_h</p:attrName>
                                        </p:attrNameLst>
                                      </p:cBhvr>
                                      <p:tavLst>
                                        <p:tav tm="0">
                                          <p:val>
                                            <p:strVal val="#ppt_h"/>
                                          </p:val>
                                        </p:tav>
                                        <p:tav tm="100000">
                                          <p:val>
                                            <p:strVal val="#ppt_h"/>
                                          </p:val>
                                        </p:tav>
                                      </p:tavLst>
                                    </p:anim>
                                  </p:childTnLst>
                                  <p:subTnLst>
                                    <p:audio>
                                      <p:cMediaNode mute="1">
                                        <p:cTn display="0" masterRel="sameClick">
                                          <p:stCondLst>
                                            <p:cond evt="begin" delay="0">
                                              <p:tn val="25"/>
                                            </p:cond>
                                          </p:stCondLst>
                                          <p:endCondLst>
                                            <p:cond evt="onStopAudio" delay="0">
                                              <p:tgtEl>
                                                <p:sldTgt/>
                                              </p:tgtEl>
                                            </p:cond>
                                          </p:endCondLst>
                                        </p:cTn>
                                        <p:tgtEl>
                                          <p:sndTgt r:embed="rId3" name="TYPE.WAV" builtIn="1"/>
                                        </p:tgtEl>
                                      </p:cMediaNode>
                                    </p:audio>
                                  </p:sub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16090"/>
                                        </p:tgtEl>
                                        <p:attrNameLst>
                                          <p:attrName>style.visibility</p:attrName>
                                        </p:attrNameLst>
                                      </p:cBhvr>
                                      <p:to>
                                        <p:strVal val="visible"/>
                                      </p:to>
                                    </p:set>
                                    <p:animEffect transition="in" filter="wipe(left)">
                                      <p:cBhvr>
                                        <p:cTn id="35" dur="500"/>
                                        <p:tgtEl>
                                          <p:spTgt spid="216090"/>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216092"/>
                                        </p:tgtEl>
                                        <p:attrNameLst>
                                          <p:attrName>style.visibility</p:attrName>
                                        </p:attrNameLst>
                                      </p:cBhvr>
                                      <p:to>
                                        <p:strVal val="visible"/>
                                      </p:to>
                                    </p:set>
                                    <p:animEffect transition="in" filter="wipe(left)">
                                      <p:cBhvr>
                                        <p:cTn id="39" dur="500"/>
                                        <p:tgtEl>
                                          <p:spTgt spid="216092"/>
                                        </p:tgtEl>
                                      </p:cBhvr>
                                    </p:animEffect>
                                  </p:childTnLst>
                                </p:cTn>
                              </p:par>
                            </p:childTnLst>
                          </p:cTn>
                        </p:par>
                        <p:par>
                          <p:cTn id="40" fill="hold">
                            <p:stCondLst>
                              <p:cond delay="1000"/>
                            </p:stCondLst>
                            <p:childTnLst>
                              <p:par>
                                <p:cTn id="41" presetID="14" presetClass="entr" presetSubtype="10" fill="hold" grpId="0" nodeType="afterEffect">
                                  <p:stCondLst>
                                    <p:cond delay="0"/>
                                  </p:stCondLst>
                                  <p:iterate type="wd">
                                    <p:tmPct val="100000"/>
                                  </p:iterate>
                                  <p:childTnLst>
                                    <p:set>
                                      <p:cBhvr>
                                        <p:cTn id="42" dur="1" fill="hold">
                                          <p:stCondLst>
                                            <p:cond delay="0"/>
                                          </p:stCondLst>
                                        </p:cTn>
                                        <p:tgtEl>
                                          <p:spTgt spid="216091"/>
                                        </p:tgtEl>
                                        <p:attrNameLst>
                                          <p:attrName>style.visibility</p:attrName>
                                        </p:attrNameLst>
                                      </p:cBhvr>
                                      <p:to>
                                        <p:strVal val="visible"/>
                                      </p:to>
                                    </p:set>
                                    <p:animEffect transition="in" filter="randombar(horizontal)">
                                      <p:cBhvr>
                                        <p:cTn id="43" dur="300"/>
                                        <p:tgtEl>
                                          <p:spTgt spid="216091"/>
                                        </p:tgtEl>
                                      </p:cBhvr>
                                    </p:animEffect>
                                  </p:childTnLst>
                                </p:cTn>
                              </p:par>
                            </p:childTnLst>
                          </p:cTn>
                        </p:par>
                        <p:par>
                          <p:cTn id="44" fill="hold">
                            <p:stCondLst>
                              <p:cond delay="3700"/>
                            </p:stCondLst>
                            <p:childTnLst>
                              <p:par>
                                <p:cTn id="45" presetID="18" presetClass="entr" presetSubtype="12" fill="hold" grpId="0" nodeType="afterEffect">
                                  <p:stCondLst>
                                    <p:cond delay="0"/>
                                  </p:stCondLst>
                                  <p:iterate type="wd">
                                    <p:tmPct val="100000"/>
                                  </p:iterate>
                                  <p:childTnLst>
                                    <p:set>
                                      <p:cBhvr>
                                        <p:cTn id="46" dur="1" fill="hold">
                                          <p:stCondLst>
                                            <p:cond delay="0"/>
                                          </p:stCondLst>
                                        </p:cTn>
                                        <p:tgtEl>
                                          <p:spTgt spid="216093"/>
                                        </p:tgtEl>
                                        <p:attrNameLst>
                                          <p:attrName>style.visibility</p:attrName>
                                        </p:attrNameLst>
                                      </p:cBhvr>
                                      <p:to>
                                        <p:strVal val="visible"/>
                                      </p:to>
                                    </p:set>
                                    <p:animEffect transition="in" filter="strips(downLeft)">
                                      <p:cBhvr>
                                        <p:cTn id="47" dur="300"/>
                                        <p:tgtEl>
                                          <p:spTgt spid="216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86" grpId="0" autoUpdateAnimBg="0"/>
      <p:bldP spid="216088" grpId="0" autoUpdateAnimBg="0"/>
      <p:bldP spid="216089" grpId="0" autoUpdateAnimBg="0"/>
      <p:bldP spid="216090" grpId="0" autoUpdateAnimBg="0"/>
      <p:bldP spid="216091" grpId="0" autoUpdateAnimBg="0"/>
      <p:bldP spid="216093"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30" name="Text Box 6"/>
          <p:cNvSpPr txBox="1">
            <a:spLocks noChangeArrowheads="1"/>
          </p:cNvSpPr>
          <p:nvPr/>
        </p:nvSpPr>
        <p:spPr bwMode="auto">
          <a:xfrm>
            <a:off x="179388" y="476250"/>
            <a:ext cx="3384550" cy="457200"/>
          </a:xfrm>
          <a:prstGeom prst="rect">
            <a:avLst/>
          </a:prstGeom>
          <a:noFill/>
          <a:ln w="9525">
            <a:noFill/>
            <a:miter lim="800000"/>
            <a:headEnd/>
            <a:tailEnd/>
          </a:ln>
        </p:spPr>
        <p:txBody>
          <a:bodyPr>
            <a:spAutoFit/>
          </a:bodyPr>
          <a:lstStyle/>
          <a:p>
            <a:pPr>
              <a:spcBef>
                <a:spcPct val="50000"/>
              </a:spcBef>
            </a:pPr>
            <a:r>
              <a:rPr lang="zh-CN" altLang="en-US" b="1">
                <a:solidFill>
                  <a:srgbClr val="FF3300"/>
                </a:solidFill>
              </a:rPr>
              <a:t>三、驻波的能量</a:t>
            </a:r>
            <a:r>
              <a:rPr lang="zh-CN" altLang="en-US"/>
              <a:t> </a:t>
            </a:r>
          </a:p>
        </p:txBody>
      </p:sp>
      <p:grpSp>
        <p:nvGrpSpPr>
          <p:cNvPr id="2" name="Group 8"/>
          <p:cNvGrpSpPr>
            <a:grpSpLocks/>
          </p:cNvGrpSpPr>
          <p:nvPr/>
        </p:nvGrpSpPr>
        <p:grpSpPr bwMode="auto">
          <a:xfrm>
            <a:off x="3024188" y="2492375"/>
            <a:ext cx="3962400" cy="1066800"/>
            <a:chOff x="3216" y="144"/>
            <a:chExt cx="2496" cy="672"/>
          </a:xfrm>
        </p:grpSpPr>
        <p:sp>
          <p:nvSpPr>
            <p:cNvPr id="45089" name="Line 9"/>
            <p:cNvSpPr>
              <a:spLocks noChangeShapeType="1"/>
            </p:cNvSpPr>
            <p:nvPr/>
          </p:nvSpPr>
          <p:spPr bwMode="auto">
            <a:xfrm>
              <a:off x="3216" y="480"/>
              <a:ext cx="2496" cy="0"/>
            </a:xfrm>
            <a:prstGeom prst="line">
              <a:avLst/>
            </a:prstGeom>
            <a:noFill/>
            <a:ln w="19050">
              <a:solidFill>
                <a:schemeClr val="tx1"/>
              </a:solidFill>
              <a:round/>
              <a:headEnd/>
              <a:tailEnd/>
            </a:ln>
          </p:spPr>
          <p:txBody>
            <a:bodyPr/>
            <a:lstStyle/>
            <a:p>
              <a:endParaRPr lang="zh-CN" altLang="en-US"/>
            </a:p>
          </p:txBody>
        </p:sp>
        <p:sp>
          <p:nvSpPr>
            <p:cNvPr id="45090" name="Line 10"/>
            <p:cNvSpPr>
              <a:spLocks noChangeShapeType="1"/>
            </p:cNvSpPr>
            <p:nvPr/>
          </p:nvSpPr>
          <p:spPr bwMode="auto">
            <a:xfrm flipV="1">
              <a:off x="3888" y="144"/>
              <a:ext cx="0" cy="336"/>
            </a:xfrm>
            <a:prstGeom prst="line">
              <a:avLst/>
            </a:prstGeom>
            <a:noFill/>
            <a:ln w="12700">
              <a:solidFill>
                <a:srgbClr val="FF6600"/>
              </a:solidFill>
              <a:round/>
              <a:headEnd/>
              <a:tailEnd type="triangle" w="med" len="med"/>
            </a:ln>
          </p:spPr>
          <p:txBody>
            <a:bodyPr/>
            <a:lstStyle/>
            <a:p>
              <a:endParaRPr lang="zh-CN" altLang="en-US"/>
            </a:p>
          </p:txBody>
        </p:sp>
        <p:sp>
          <p:nvSpPr>
            <p:cNvPr id="45091" name="Line 11"/>
            <p:cNvSpPr>
              <a:spLocks noChangeShapeType="1"/>
            </p:cNvSpPr>
            <p:nvPr/>
          </p:nvSpPr>
          <p:spPr bwMode="auto">
            <a:xfrm flipV="1">
              <a:off x="3648" y="240"/>
              <a:ext cx="0" cy="240"/>
            </a:xfrm>
            <a:prstGeom prst="line">
              <a:avLst/>
            </a:prstGeom>
            <a:noFill/>
            <a:ln w="12700">
              <a:solidFill>
                <a:srgbClr val="FF6600"/>
              </a:solidFill>
              <a:round/>
              <a:headEnd/>
              <a:tailEnd type="triangle" w="med" len="med"/>
            </a:ln>
          </p:spPr>
          <p:txBody>
            <a:bodyPr/>
            <a:lstStyle/>
            <a:p>
              <a:endParaRPr lang="zh-CN" altLang="en-US"/>
            </a:p>
          </p:txBody>
        </p:sp>
        <p:sp>
          <p:nvSpPr>
            <p:cNvPr id="45092" name="Line 12"/>
            <p:cNvSpPr>
              <a:spLocks noChangeShapeType="1"/>
            </p:cNvSpPr>
            <p:nvPr/>
          </p:nvSpPr>
          <p:spPr bwMode="auto">
            <a:xfrm flipV="1">
              <a:off x="4128" y="240"/>
              <a:ext cx="0" cy="240"/>
            </a:xfrm>
            <a:prstGeom prst="line">
              <a:avLst/>
            </a:prstGeom>
            <a:noFill/>
            <a:ln w="12700">
              <a:solidFill>
                <a:srgbClr val="FF6600"/>
              </a:solidFill>
              <a:round/>
              <a:headEnd/>
              <a:tailEnd type="triangle" w="med" len="med"/>
            </a:ln>
          </p:spPr>
          <p:txBody>
            <a:bodyPr/>
            <a:lstStyle/>
            <a:p>
              <a:endParaRPr lang="zh-CN" altLang="en-US"/>
            </a:p>
          </p:txBody>
        </p:sp>
        <p:sp>
          <p:nvSpPr>
            <p:cNvPr id="45093" name="Line 13"/>
            <p:cNvSpPr>
              <a:spLocks noChangeShapeType="1"/>
            </p:cNvSpPr>
            <p:nvPr/>
          </p:nvSpPr>
          <p:spPr bwMode="auto">
            <a:xfrm>
              <a:off x="4944" y="480"/>
              <a:ext cx="0" cy="336"/>
            </a:xfrm>
            <a:prstGeom prst="line">
              <a:avLst/>
            </a:prstGeom>
            <a:noFill/>
            <a:ln w="12700">
              <a:solidFill>
                <a:srgbClr val="FF6600"/>
              </a:solidFill>
              <a:round/>
              <a:headEnd/>
              <a:tailEnd type="triangle" w="med" len="med"/>
            </a:ln>
          </p:spPr>
          <p:txBody>
            <a:bodyPr/>
            <a:lstStyle/>
            <a:p>
              <a:endParaRPr lang="zh-CN" altLang="en-US"/>
            </a:p>
          </p:txBody>
        </p:sp>
        <p:sp>
          <p:nvSpPr>
            <p:cNvPr id="45094" name="Line 14"/>
            <p:cNvSpPr>
              <a:spLocks noChangeShapeType="1"/>
            </p:cNvSpPr>
            <p:nvPr/>
          </p:nvSpPr>
          <p:spPr bwMode="auto">
            <a:xfrm>
              <a:off x="4704" y="480"/>
              <a:ext cx="0" cy="240"/>
            </a:xfrm>
            <a:prstGeom prst="line">
              <a:avLst/>
            </a:prstGeom>
            <a:noFill/>
            <a:ln w="12700">
              <a:solidFill>
                <a:srgbClr val="FF6600"/>
              </a:solidFill>
              <a:round/>
              <a:headEnd/>
              <a:tailEnd type="triangle" w="med" len="med"/>
            </a:ln>
          </p:spPr>
          <p:txBody>
            <a:bodyPr/>
            <a:lstStyle/>
            <a:p>
              <a:endParaRPr lang="zh-CN" altLang="en-US"/>
            </a:p>
          </p:txBody>
        </p:sp>
        <p:sp>
          <p:nvSpPr>
            <p:cNvPr id="45095" name="Line 15"/>
            <p:cNvSpPr>
              <a:spLocks noChangeShapeType="1"/>
            </p:cNvSpPr>
            <p:nvPr/>
          </p:nvSpPr>
          <p:spPr bwMode="auto">
            <a:xfrm>
              <a:off x="5184" y="480"/>
              <a:ext cx="0" cy="240"/>
            </a:xfrm>
            <a:prstGeom prst="line">
              <a:avLst/>
            </a:prstGeom>
            <a:noFill/>
            <a:ln w="12700">
              <a:solidFill>
                <a:srgbClr val="FF6600"/>
              </a:solidFill>
              <a:round/>
              <a:headEnd/>
              <a:tailEnd type="triangle" w="med" len="med"/>
            </a:ln>
          </p:spPr>
          <p:txBody>
            <a:bodyPr/>
            <a:lstStyle/>
            <a:p>
              <a:endParaRPr lang="zh-CN" altLang="en-US"/>
            </a:p>
          </p:txBody>
        </p:sp>
        <p:sp>
          <p:nvSpPr>
            <p:cNvPr id="45096" name="Freeform 16"/>
            <p:cNvSpPr>
              <a:spLocks/>
            </p:cNvSpPr>
            <p:nvPr/>
          </p:nvSpPr>
          <p:spPr bwMode="auto">
            <a:xfrm>
              <a:off x="3408" y="144"/>
              <a:ext cx="1008" cy="336"/>
            </a:xfrm>
            <a:custGeom>
              <a:avLst/>
              <a:gdLst>
                <a:gd name="T0" fmla="*/ 0 w 1008"/>
                <a:gd name="T1" fmla="*/ 336 h 336"/>
                <a:gd name="T2" fmla="*/ 144 w 1008"/>
                <a:gd name="T3" fmla="*/ 192 h 336"/>
                <a:gd name="T4" fmla="*/ 336 w 1008"/>
                <a:gd name="T5" fmla="*/ 48 h 336"/>
                <a:gd name="T6" fmla="*/ 480 w 1008"/>
                <a:gd name="T7" fmla="*/ 0 h 336"/>
                <a:gd name="T8" fmla="*/ 672 w 1008"/>
                <a:gd name="T9" fmla="*/ 48 h 336"/>
                <a:gd name="T10" fmla="*/ 912 w 1008"/>
                <a:gd name="T11" fmla="*/ 240 h 336"/>
                <a:gd name="T12" fmla="*/ 1008 w 1008"/>
                <a:gd name="T13" fmla="*/ 336 h 336"/>
                <a:gd name="T14" fmla="*/ 0 60000 65536"/>
                <a:gd name="T15" fmla="*/ 0 60000 65536"/>
                <a:gd name="T16" fmla="*/ 0 60000 65536"/>
                <a:gd name="T17" fmla="*/ 0 60000 65536"/>
                <a:gd name="T18" fmla="*/ 0 60000 65536"/>
                <a:gd name="T19" fmla="*/ 0 60000 65536"/>
                <a:gd name="T20" fmla="*/ 0 60000 65536"/>
                <a:gd name="T21" fmla="*/ 0 w 1008"/>
                <a:gd name="T22" fmla="*/ 0 h 336"/>
                <a:gd name="T23" fmla="*/ 1008 w 1008"/>
                <a:gd name="T24" fmla="*/ 336 h 3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8" h="336">
                  <a:moveTo>
                    <a:pt x="0" y="336"/>
                  </a:moveTo>
                  <a:cubicBezTo>
                    <a:pt x="44" y="288"/>
                    <a:pt x="88" y="240"/>
                    <a:pt x="144" y="192"/>
                  </a:cubicBezTo>
                  <a:cubicBezTo>
                    <a:pt x="200" y="144"/>
                    <a:pt x="280" y="80"/>
                    <a:pt x="336" y="48"/>
                  </a:cubicBezTo>
                  <a:cubicBezTo>
                    <a:pt x="392" y="16"/>
                    <a:pt x="424" y="0"/>
                    <a:pt x="480" y="0"/>
                  </a:cubicBezTo>
                  <a:cubicBezTo>
                    <a:pt x="536" y="0"/>
                    <a:pt x="600" y="8"/>
                    <a:pt x="672" y="48"/>
                  </a:cubicBezTo>
                  <a:cubicBezTo>
                    <a:pt x="744" y="88"/>
                    <a:pt x="856" y="192"/>
                    <a:pt x="912" y="240"/>
                  </a:cubicBezTo>
                  <a:cubicBezTo>
                    <a:pt x="968" y="288"/>
                    <a:pt x="988" y="312"/>
                    <a:pt x="1008" y="336"/>
                  </a:cubicBezTo>
                </a:path>
              </a:pathLst>
            </a:custGeom>
            <a:noFill/>
            <a:ln w="22225">
              <a:solidFill>
                <a:srgbClr val="0000FF"/>
              </a:solidFill>
              <a:round/>
              <a:headEnd/>
              <a:tailEnd/>
            </a:ln>
          </p:spPr>
          <p:txBody>
            <a:bodyPr/>
            <a:lstStyle/>
            <a:p>
              <a:endParaRPr lang="zh-CN" altLang="en-US"/>
            </a:p>
          </p:txBody>
        </p:sp>
        <p:sp>
          <p:nvSpPr>
            <p:cNvPr id="45097" name="Freeform 17"/>
            <p:cNvSpPr>
              <a:spLocks/>
            </p:cNvSpPr>
            <p:nvPr/>
          </p:nvSpPr>
          <p:spPr bwMode="auto">
            <a:xfrm flipV="1">
              <a:off x="4416" y="480"/>
              <a:ext cx="1008" cy="336"/>
            </a:xfrm>
            <a:custGeom>
              <a:avLst/>
              <a:gdLst>
                <a:gd name="T0" fmla="*/ 0 w 1008"/>
                <a:gd name="T1" fmla="*/ 336 h 336"/>
                <a:gd name="T2" fmla="*/ 144 w 1008"/>
                <a:gd name="T3" fmla="*/ 192 h 336"/>
                <a:gd name="T4" fmla="*/ 336 w 1008"/>
                <a:gd name="T5" fmla="*/ 48 h 336"/>
                <a:gd name="T6" fmla="*/ 480 w 1008"/>
                <a:gd name="T7" fmla="*/ 0 h 336"/>
                <a:gd name="T8" fmla="*/ 672 w 1008"/>
                <a:gd name="T9" fmla="*/ 48 h 336"/>
                <a:gd name="T10" fmla="*/ 912 w 1008"/>
                <a:gd name="T11" fmla="*/ 240 h 336"/>
                <a:gd name="T12" fmla="*/ 1008 w 1008"/>
                <a:gd name="T13" fmla="*/ 336 h 336"/>
                <a:gd name="T14" fmla="*/ 0 60000 65536"/>
                <a:gd name="T15" fmla="*/ 0 60000 65536"/>
                <a:gd name="T16" fmla="*/ 0 60000 65536"/>
                <a:gd name="T17" fmla="*/ 0 60000 65536"/>
                <a:gd name="T18" fmla="*/ 0 60000 65536"/>
                <a:gd name="T19" fmla="*/ 0 60000 65536"/>
                <a:gd name="T20" fmla="*/ 0 60000 65536"/>
                <a:gd name="T21" fmla="*/ 0 w 1008"/>
                <a:gd name="T22" fmla="*/ 0 h 336"/>
                <a:gd name="T23" fmla="*/ 1008 w 1008"/>
                <a:gd name="T24" fmla="*/ 336 h 3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8" h="336">
                  <a:moveTo>
                    <a:pt x="0" y="336"/>
                  </a:moveTo>
                  <a:cubicBezTo>
                    <a:pt x="44" y="288"/>
                    <a:pt x="88" y="240"/>
                    <a:pt x="144" y="192"/>
                  </a:cubicBezTo>
                  <a:cubicBezTo>
                    <a:pt x="200" y="144"/>
                    <a:pt x="280" y="80"/>
                    <a:pt x="336" y="48"/>
                  </a:cubicBezTo>
                  <a:cubicBezTo>
                    <a:pt x="392" y="16"/>
                    <a:pt x="424" y="0"/>
                    <a:pt x="480" y="0"/>
                  </a:cubicBezTo>
                  <a:cubicBezTo>
                    <a:pt x="536" y="0"/>
                    <a:pt x="600" y="8"/>
                    <a:pt x="672" y="48"/>
                  </a:cubicBezTo>
                  <a:cubicBezTo>
                    <a:pt x="744" y="88"/>
                    <a:pt x="856" y="192"/>
                    <a:pt x="912" y="240"/>
                  </a:cubicBezTo>
                  <a:cubicBezTo>
                    <a:pt x="968" y="288"/>
                    <a:pt x="988" y="312"/>
                    <a:pt x="1008" y="336"/>
                  </a:cubicBezTo>
                </a:path>
              </a:pathLst>
            </a:custGeom>
            <a:noFill/>
            <a:ln w="22225">
              <a:solidFill>
                <a:srgbClr val="0000FF"/>
              </a:solidFill>
              <a:round/>
              <a:headEnd/>
              <a:tailEnd/>
            </a:ln>
          </p:spPr>
          <p:txBody>
            <a:bodyPr/>
            <a:lstStyle/>
            <a:p>
              <a:endParaRPr lang="zh-CN" altLang="en-US"/>
            </a:p>
          </p:txBody>
        </p:sp>
        <p:sp>
          <p:nvSpPr>
            <p:cNvPr id="45098" name="Oval 18"/>
            <p:cNvSpPr>
              <a:spLocks noChangeArrowheads="1"/>
            </p:cNvSpPr>
            <p:nvPr/>
          </p:nvSpPr>
          <p:spPr bwMode="auto">
            <a:xfrm>
              <a:off x="4368" y="432"/>
              <a:ext cx="96" cy="96"/>
            </a:xfrm>
            <a:prstGeom prst="ellipse">
              <a:avLst/>
            </a:prstGeom>
            <a:solidFill>
              <a:srgbClr val="FF0000"/>
            </a:solidFill>
            <a:ln w="9525">
              <a:solidFill>
                <a:srgbClr val="FF0000"/>
              </a:solidFill>
              <a:round/>
              <a:headEnd/>
              <a:tailEnd/>
            </a:ln>
          </p:spPr>
          <p:txBody>
            <a:bodyPr wrap="none" anchor="ctr"/>
            <a:lstStyle/>
            <a:p>
              <a:endParaRPr lang="zh-CN" altLang="en-US"/>
            </a:p>
          </p:txBody>
        </p:sp>
        <p:sp>
          <p:nvSpPr>
            <p:cNvPr id="45099" name="Oval 19"/>
            <p:cNvSpPr>
              <a:spLocks noChangeArrowheads="1"/>
            </p:cNvSpPr>
            <p:nvPr/>
          </p:nvSpPr>
          <p:spPr bwMode="auto">
            <a:xfrm>
              <a:off x="3360" y="432"/>
              <a:ext cx="96" cy="96"/>
            </a:xfrm>
            <a:prstGeom prst="ellipse">
              <a:avLst/>
            </a:prstGeom>
            <a:solidFill>
              <a:srgbClr val="FF0000"/>
            </a:solidFill>
            <a:ln w="9525">
              <a:solidFill>
                <a:srgbClr val="FF0000"/>
              </a:solidFill>
              <a:round/>
              <a:headEnd/>
              <a:tailEnd/>
            </a:ln>
          </p:spPr>
          <p:txBody>
            <a:bodyPr wrap="none" anchor="ctr"/>
            <a:lstStyle/>
            <a:p>
              <a:endParaRPr lang="zh-CN" altLang="en-US"/>
            </a:p>
          </p:txBody>
        </p:sp>
        <p:sp>
          <p:nvSpPr>
            <p:cNvPr id="45100" name="Oval 20"/>
            <p:cNvSpPr>
              <a:spLocks noChangeArrowheads="1"/>
            </p:cNvSpPr>
            <p:nvPr/>
          </p:nvSpPr>
          <p:spPr bwMode="auto">
            <a:xfrm>
              <a:off x="5376" y="432"/>
              <a:ext cx="96" cy="96"/>
            </a:xfrm>
            <a:prstGeom prst="ellipse">
              <a:avLst/>
            </a:prstGeom>
            <a:solidFill>
              <a:srgbClr val="FF0000"/>
            </a:solidFill>
            <a:ln w="9525">
              <a:solidFill>
                <a:srgbClr val="FF0000"/>
              </a:solidFill>
              <a:round/>
              <a:headEnd/>
              <a:tailEnd/>
            </a:ln>
          </p:spPr>
          <p:txBody>
            <a:bodyPr wrap="none" anchor="ctr"/>
            <a:lstStyle/>
            <a:p>
              <a:endParaRPr lang="zh-CN" altLang="en-US"/>
            </a:p>
          </p:txBody>
        </p:sp>
      </p:grpSp>
      <p:graphicFrame>
        <p:nvGraphicFramePr>
          <p:cNvPr id="129045" name="Object 21"/>
          <p:cNvGraphicFramePr>
            <a:graphicFrameLocks noChangeAspect="1"/>
          </p:cNvGraphicFramePr>
          <p:nvPr/>
        </p:nvGraphicFramePr>
        <p:xfrm>
          <a:off x="1692275" y="2811463"/>
          <a:ext cx="619125" cy="320675"/>
        </p:xfrm>
        <a:graphic>
          <a:graphicData uri="http://schemas.openxmlformats.org/presentationml/2006/ole">
            <p:oleObj spid="_x0000_s45058" name="公式" r:id="rId4" imgW="330120" imgH="177480" progId="Equation.3">
              <p:embed/>
            </p:oleObj>
          </a:graphicData>
        </a:graphic>
      </p:graphicFrame>
      <p:graphicFrame>
        <p:nvGraphicFramePr>
          <p:cNvPr id="129046" name="Object 22"/>
          <p:cNvGraphicFramePr>
            <a:graphicFrameLocks noChangeAspect="1"/>
          </p:cNvGraphicFramePr>
          <p:nvPr/>
        </p:nvGraphicFramePr>
        <p:xfrm>
          <a:off x="1619250" y="4022725"/>
          <a:ext cx="719138" cy="725488"/>
        </p:xfrm>
        <a:graphic>
          <a:graphicData uri="http://schemas.openxmlformats.org/presentationml/2006/ole">
            <p:oleObj spid="_x0000_s45059" name="公式" r:id="rId5" imgW="380880" imgH="406080" progId="Equation.3">
              <p:embed/>
            </p:oleObj>
          </a:graphicData>
        </a:graphic>
      </p:graphicFrame>
      <p:grpSp>
        <p:nvGrpSpPr>
          <p:cNvPr id="3" name="Group 23"/>
          <p:cNvGrpSpPr>
            <a:grpSpLocks/>
          </p:cNvGrpSpPr>
          <p:nvPr/>
        </p:nvGrpSpPr>
        <p:grpSpPr bwMode="auto">
          <a:xfrm>
            <a:off x="3024188" y="4168775"/>
            <a:ext cx="3962400" cy="152400"/>
            <a:chOff x="3216" y="1200"/>
            <a:chExt cx="2496" cy="96"/>
          </a:xfrm>
        </p:grpSpPr>
        <p:sp>
          <p:nvSpPr>
            <p:cNvPr id="45084" name="Line 24"/>
            <p:cNvSpPr>
              <a:spLocks noChangeShapeType="1"/>
            </p:cNvSpPr>
            <p:nvPr/>
          </p:nvSpPr>
          <p:spPr bwMode="auto">
            <a:xfrm>
              <a:off x="3216" y="1248"/>
              <a:ext cx="2496" cy="0"/>
            </a:xfrm>
            <a:prstGeom prst="line">
              <a:avLst/>
            </a:prstGeom>
            <a:noFill/>
            <a:ln w="19050">
              <a:solidFill>
                <a:srgbClr val="0000FF"/>
              </a:solidFill>
              <a:round/>
              <a:headEnd/>
              <a:tailEnd/>
            </a:ln>
          </p:spPr>
          <p:txBody>
            <a:bodyPr/>
            <a:lstStyle/>
            <a:p>
              <a:endParaRPr lang="zh-CN" altLang="en-US"/>
            </a:p>
          </p:txBody>
        </p:sp>
        <p:sp>
          <p:nvSpPr>
            <p:cNvPr id="45085" name="Line 25"/>
            <p:cNvSpPr>
              <a:spLocks noChangeShapeType="1"/>
            </p:cNvSpPr>
            <p:nvPr/>
          </p:nvSpPr>
          <p:spPr bwMode="auto">
            <a:xfrm>
              <a:off x="3408" y="1248"/>
              <a:ext cx="2064" cy="0"/>
            </a:xfrm>
            <a:prstGeom prst="line">
              <a:avLst/>
            </a:prstGeom>
            <a:noFill/>
            <a:ln w="22225">
              <a:solidFill>
                <a:srgbClr val="0000FF"/>
              </a:solidFill>
              <a:round/>
              <a:headEnd/>
              <a:tailEnd/>
            </a:ln>
          </p:spPr>
          <p:txBody>
            <a:bodyPr/>
            <a:lstStyle/>
            <a:p>
              <a:endParaRPr lang="zh-CN" altLang="en-US"/>
            </a:p>
          </p:txBody>
        </p:sp>
        <p:sp>
          <p:nvSpPr>
            <p:cNvPr id="45086" name="Oval 26"/>
            <p:cNvSpPr>
              <a:spLocks noChangeArrowheads="1"/>
            </p:cNvSpPr>
            <p:nvPr/>
          </p:nvSpPr>
          <p:spPr bwMode="auto">
            <a:xfrm>
              <a:off x="3360" y="1200"/>
              <a:ext cx="96" cy="96"/>
            </a:xfrm>
            <a:prstGeom prst="ellipse">
              <a:avLst/>
            </a:prstGeom>
            <a:solidFill>
              <a:srgbClr val="FF0000"/>
            </a:solidFill>
            <a:ln w="9525">
              <a:solidFill>
                <a:srgbClr val="0000FF"/>
              </a:solidFill>
              <a:round/>
              <a:headEnd/>
              <a:tailEnd/>
            </a:ln>
          </p:spPr>
          <p:txBody>
            <a:bodyPr wrap="none" anchor="ctr"/>
            <a:lstStyle/>
            <a:p>
              <a:endParaRPr lang="zh-CN" altLang="en-US"/>
            </a:p>
          </p:txBody>
        </p:sp>
        <p:sp>
          <p:nvSpPr>
            <p:cNvPr id="45087" name="Oval 27"/>
            <p:cNvSpPr>
              <a:spLocks noChangeArrowheads="1"/>
            </p:cNvSpPr>
            <p:nvPr/>
          </p:nvSpPr>
          <p:spPr bwMode="auto">
            <a:xfrm>
              <a:off x="5376" y="1200"/>
              <a:ext cx="96" cy="96"/>
            </a:xfrm>
            <a:prstGeom prst="ellipse">
              <a:avLst/>
            </a:prstGeom>
            <a:solidFill>
              <a:srgbClr val="FF0000"/>
            </a:solidFill>
            <a:ln w="9525">
              <a:solidFill>
                <a:srgbClr val="0000FF"/>
              </a:solidFill>
              <a:round/>
              <a:headEnd/>
              <a:tailEnd/>
            </a:ln>
          </p:spPr>
          <p:txBody>
            <a:bodyPr wrap="none" anchor="ctr"/>
            <a:lstStyle/>
            <a:p>
              <a:endParaRPr lang="zh-CN" altLang="en-US"/>
            </a:p>
          </p:txBody>
        </p:sp>
        <p:sp>
          <p:nvSpPr>
            <p:cNvPr id="45088" name="Oval 28"/>
            <p:cNvSpPr>
              <a:spLocks noChangeArrowheads="1"/>
            </p:cNvSpPr>
            <p:nvPr/>
          </p:nvSpPr>
          <p:spPr bwMode="auto">
            <a:xfrm>
              <a:off x="4368" y="1200"/>
              <a:ext cx="96" cy="96"/>
            </a:xfrm>
            <a:prstGeom prst="ellipse">
              <a:avLst/>
            </a:prstGeom>
            <a:solidFill>
              <a:srgbClr val="FF0000"/>
            </a:solidFill>
            <a:ln w="9525">
              <a:solidFill>
                <a:srgbClr val="0000FF"/>
              </a:solidFill>
              <a:round/>
              <a:headEnd/>
              <a:tailEnd/>
            </a:ln>
          </p:spPr>
          <p:txBody>
            <a:bodyPr wrap="none" anchor="ctr"/>
            <a:lstStyle/>
            <a:p>
              <a:endParaRPr lang="zh-CN" altLang="en-US"/>
            </a:p>
          </p:txBody>
        </p:sp>
      </p:grpSp>
      <p:graphicFrame>
        <p:nvGraphicFramePr>
          <p:cNvPr id="129053" name="Object 29"/>
          <p:cNvGraphicFramePr>
            <a:graphicFrameLocks noChangeAspect="1"/>
          </p:cNvGraphicFramePr>
          <p:nvPr/>
        </p:nvGraphicFramePr>
        <p:xfrm>
          <a:off x="1619250" y="5284788"/>
          <a:ext cx="723900" cy="730250"/>
        </p:xfrm>
        <a:graphic>
          <a:graphicData uri="http://schemas.openxmlformats.org/presentationml/2006/ole">
            <p:oleObj spid="_x0000_s45060" name="公式" r:id="rId6" imgW="380880" imgH="406080" progId="Equation.3">
              <p:embed/>
            </p:oleObj>
          </a:graphicData>
        </a:graphic>
      </p:graphicFrame>
      <p:grpSp>
        <p:nvGrpSpPr>
          <p:cNvPr id="4" name="Group 30"/>
          <p:cNvGrpSpPr>
            <a:grpSpLocks/>
          </p:cNvGrpSpPr>
          <p:nvPr/>
        </p:nvGrpSpPr>
        <p:grpSpPr bwMode="auto">
          <a:xfrm>
            <a:off x="3024188" y="4930775"/>
            <a:ext cx="3962400" cy="1066800"/>
            <a:chOff x="3216" y="1680"/>
            <a:chExt cx="2496" cy="672"/>
          </a:xfrm>
        </p:grpSpPr>
        <p:sp>
          <p:nvSpPr>
            <p:cNvPr id="45072" name="Line 31"/>
            <p:cNvSpPr>
              <a:spLocks noChangeShapeType="1"/>
            </p:cNvSpPr>
            <p:nvPr/>
          </p:nvSpPr>
          <p:spPr bwMode="auto">
            <a:xfrm>
              <a:off x="3216" y="2016"/>
              <a:ext cx="2496" cy="0"/>
            </a:xfrm>
            <a:prstGeom prst="line">
              <a:avLst/>
            </a:prstGeom>
            <a:noFill/>
            <a:ln w="19050">
              <a:solidFill>
                <a:schemeClr val="tx1"/>
              </a:solidFill>
              <a:round/>
              <a:headEnd/>
              <a:tailEnd/>
            </a:ln>
          </p:spPr>
          <p:txBody>
            <a:bodyPr/>
            <a:lstStyle/>
            <a:p>
              <a:endParaRPr lang="zh-CN" altLang="en-US"/>
            </a:p>
          </p:txBody>
        </p:sp>
        <p:sp>
          <p:nvSpPr>
            <p:cNvPr id="45073" name="Line 32"/>
            <p:cNvSpPr>
              <a:spLocks noChangeShapeType="1"/>
            </p:cNvSpPr>
            <p:nvPr/>
          </p:nvSpPr>
          <p:spPr bwMode="auto">
            <a:xfrm flipH="1">
              <a:off x="3936" y="2016"/>
              <a:ext cx="0" cy="336"/>
            </a:xfrm>
            <a:prstGeom prst="line">
              <a:avLst/>
            </a:prstGeom>
            <a:noFill/>
            <a:ln w="12700">
              <a:solidFill>
                <a:srgbClr val="FF6600"/>
              </a:solidFill>
              <a:round/>
              <a:headEnd/>
              <a:tailEnd type="triangle" w="med" len="med"/>
            </a:ln>
          </p:spPr>
          <p:txBody>
            <a:bodyPr/>
            <a:lstStyle/>
            <a:p>
              <a:endParaRPr lang="zh-CN" altLang="en-US"/>
            </a:p>
          </p:txBody>
        </p:sp>
        <p:sp>
          <p:nvSpPr>
            <p:cNvPr id="45074" name="Line 33"/>
            <p:cNvSpPr>
              <a:spLocks noChangeShapeType="1"/>
            </p:cNvSpPr>
            <p:nvPr/>
          </p:nvSpPr>
          <p:spPr bwMode="auto">
            <a:xfrm flipH="1">
              <a:off x="3696" y="2016"/>
              <a:ext cx="0" cy="240"/>
            </a:xfrm>
            <a:prstGeom prst="line">
              <a:avLst/>
            </a:prstGeom>
            <a:noFill/>
            <a:ln w="12700">
              <a:solidFill>
                <a:srgbClr val="FF6600"/>
              </a:solidFill>
              <a:round/>
              <a:headEnd/>
              <a:tailEnd type="triangle" w="med" len="med"/>
            </a:ln>
          </p:spPr>
          <p:txBody>
            <a:bodyPr/>
            <a:lstStyle/>
            <a:p>
              <a:endParaRPr lang="zh-CN" altLang="en-US"/>
            </a:p>
          </p:txBody>
        </p:sp>
        <p:sp>
          <p:nvSpPr>
            <p:cNvPr id="45075" name="Line 34"/>
            <p:cNvSpPr>
              <a:spLocks noChangeShapeType="1"/>
            </p:cNvSpPr>
            <p:nvPr/>
          </p:nvSpPr>
          <p:spPr bwMode="auto">
            <a:xfrm flipH="1">
              <a:off x="4176" y="2016"/>
              <a:ext cx="0" cy="240"/>
            </a:xfrm>
            <a:prstGeom prst="line">
              <a:avLst/>
            </a:prstGeom>
            <a:noFill/>
            <a:ln w="12700">
              <a:solidFill>
                <a:srgbClr val="FF6600"/>
              </a:solidFill>
              <a:round/>
              <a:headEnd/>
              <a:tailEnd type="triangle" w="med" len="med"/>
            </a:ln>
          </p:spPr>
          <p:txBody>
            <a:bodyPr/>
            <a:lstStyle/>
            <a:p>
              <a:endParaRPr lang="zh-CN" altLang="en-US"/>
            </a:p>
          </p:txBody>
        </p:sp>
        <p:sp>
          <p:nvSpPr>
            <p:cNvPr id="45076" name="Line 35"/>
            <p:cNvSpPr>
              <a:spLocks noChangeShapeType="1"/>
            </p:cNvSpPr>
            <p:nvPr/>
          </p:nvSpPr>
          <p:spPr bwMode="auto">
            <a:xfrm flipH="1" flipV="1">
              <a:off x="4944" y="1680"/>
              <a:ext cx="0" cy="336"/>
            </a:xfrm>
            <a:prstGeom prst="line">
              <a:avLst/>
            </a:prstGeom>
            <a:noFill/>
            <a:ln w="12700">
              <a:solidFill>
                <a:srgbClr val="FF6600"/>
              </a:solidFill>
              <a:round/>
              <a:headEnd/>
              <a:tailEnd type="triangle" w="med" len="med"/>
            </a:ln>
          </p:spPr>
          <p:txBody>
            <a:bodyPr/>
            <a:lstStyle/>
            <a:p>
              <a:endParaRPr lang="zh-CN" altLang="en-US"/>
            </a:p>
          </p:txBody>
        </p:sp>
        <p:sp>
          <p:nvSpPr>
            <p:cNvPr id="45077" name="Line 36"/>
            <p:cNvSpPr>
              <a:spLocks noChangeShapeType="1"/>
            </p:cNvSpPr>
            <p:nvPr/>
          </p:nvSpPr>
          <p:spPr bwMode="auto">
            <a:xfrm flipH="1" flipV="1">
              <a:off x="4704" y="1776"/>
              <a:ext cx="0" cy="240"/>
            </a:xfrm>
            <a:prstGeom prst="line">
              <a:avLst/>
            </a:prstGeom>
            <a:noFill/>
            <a:ln w="12700">
              <a:solidFill>
                <a:srgbClr val="FF6600"/>
              </a:solidFill>
              <a:round/>
              <a:headEnd/>
              <a:tailEnd type="triangle" w="med" len="med"/>
            </a:ln>
          </p:spPr>
          <p:txBody>
            <a:bodyPr/>
            <a:lstStyle/>
            <a:p>
              <a:endParaRPr lang="zh-CN" altLang="en-US"/>
            </a:p>
          </p:txBody>
        </p:sp>
        <p:sp>
          <p:nvSpPr>
            <p:cNvPr id="45078" name="Line 37"/>
            <p:cNvSpPr>
              <a:spLocks noChangeShapeType="1"/>
            </p:cNvSpPr>
            <p:nvPr/>
          </p:nvSpPr>
          <p:spPr bwMode="auto">
            <a:xfrm flipH="1" flipV="1">
              <a:off x="5184" y="1776"/>
              <a:ext cx="0" cy="240"/>
            </a:xfrm>
            <a:prstGeom prst="line">
              <a:avLst/>
            </a:prstGeom>
            <a:noFill/>
            <a:ln w="12700">
              <a:solidFill>
                <a:srgbClr val="FF6600"/>
              </a:solidFill>
              <a:round/>
              <a:headEnd/>
              <a:tailEnd type="triangle" w="med" len="med"/>
            </a:ln>
          </p:spPr>
          <p:txBody>
            <a:bodyPr/>
            <a:lstStyle/>
            <a:p>
              <a:endParaRPr lang="zh-CN" altLang="en-US"/>
            </a:p>
          </p:txBody>
        </p:sp>
        <p:sp>
          <p:nvSpPr>
            <p:cNvPr id="45079" name="Freeform 38"/>
            <p:cNvSpPr>
              <a:spLocks/>
            </p:cNvSpPr>
            <p:nvPr/>
          </p:nvSpPr>
          <p:spPr bwMode="auto">
            <a:xfrm flipH="1">
              <a:off x="4416" y="1680"/>
              <a:ext cx="1008" cy="336"/>
            </a:xfrm>
            <a:custGeom>
              <a:avLst/>
              <a:gdLst>
                <a:gd name="T0" fmla="*/ 0 w 1008"/>
                <a:gd name="T1" fmla="*/ 336 h 336"/>
                <a:gd name="T2" fmla="*/ 144 w 1008"/>
                <a:gd name="T3" fmla="*/ 192 h 336"/>
                <a:gd name="T4" fmla="*/ 336 w 1008"/>
                <a:gd name="T5" fmla="*/ 48 h 336"/>
                <a:gd name="T6" fmla="*/ 480 w 1008"/>
                <a:gd name="T7" fmla="*/ 0 h 336"/>
                <a:gd name="T8" fmla="*/ 672 w 1008"/>
                <a:gd name="T9" fmla="*/ 48 h 336"/>
                <a:gd name="T10" fmla="*/ 912 w 1008"/>
                <a:gd name="T11" fmla="*/ 240 h 336"/>
                <a:gd name="T12" fmla="*/ 1008 w 1008"/>
                <a:gd name="T13" fmla="*/ 336 h 336"/>
                <a:gd name="T14" fmla="*/ 0 60000 65536"/>
                <a:gd name="T15" fmla="*/ 0 60000 65536"/>
                <a:gd name="T16" fmla="*/ 0 60000 65536"/>
                <a:gd name="T17" fmla="*/ 0 60000 65536"/>
                <a:gd name="T18" fmla="*/ 0 60000 65536"/>
                <a:gd name="T19" fmla="*/ 0 60000 65536"/>
                <a:gd name="T20" fmla="*/ 0 60000 65536"/>
                <a:gd name="T21" fmla="*/ 0 w 1008"/>
                <a:gd name="T22" fmla="*/ 0 h 336"/>
                <a:gd name="T23" fmla="*/ 1008 w 1008"/>
                <a:gd name="T24" fmla="*/ 336 h 3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8" h="336">
                  <a:moveTo>
                    <a:pt x="0" y="336"/>
                  </a:moveTo>
                  <a:cubicBezTo>
                    <a:pt x="44" y="288"/>
                    <a:pt x="88" y="240"/>
                    <a:pt x="144" y="192"/>
                  </a:cubicBezTo>
                  <a:cubicBezTo>
                    <a:pt x="200" y="144"/>
                    <a:pt x="280" y="80"/>
                    <a:pt x="336" y="48"/>
                  </a:cubicBezTo>
                  <a:cubicBezTo>
                    <a:pt x="392" y="16"/>
                    <a:pt x="424" y="0"/>
                    <a:pt x="480" y="0"/>
                  </a:cubicBezTo>
                  <a:cubicBezTo>
                    <a:pt x="536" y="0"/>
                    <a:pt x="600" y="8"/>
                    <a:pt x="672" y="48"/>
                  </a:cubicBezTo>
                  <a:cubicBezTo>
                    <a:pt x="744" y="88"/>
                    <a:pt x="856" y="192"/>
                    <a:pt x="912" y="240"/>
                  </a:cubicBezTo>
                  <a:cubicBezTo>
                    <a:pt x="968" y="288"/>
                    <a:pt x="988" y="312"/>
                    <a:pt x="1008" y="336"/>
                  </a:cubicBezTo>
                </a:path>
              </a:pathLst>
            </a:custGeom>
            <a:noFill/>
            <a:ln w="22225">
              <a:solidFill>
                <a:srgbClr val="0000FF"/>
              </a:solidFill>
              <a:round/>
              <a:headEnd/>
              <a:tailEnd/>
            </a:ln>
          </p:spPr>
          <p:txBody>
            <a:bodyPr/>
            <a:lstStyle/>
            <a:p>
              <a:endParaRPr lang="zh-CN" altLang="en-US"/>
            </a:p>
          </p:txBody>
        </p:sp>
        <p:sp>
          <p:nvSpPr>
            <p:cNvPr id="45080" name="Freeform 39"/>
            <p:cNvSpPr>
              <a:spLocks/>
            </p:cNvSpPr>
            <p:nvPr/>
          </p:nvSpPr>
          <p:spPr bwMode="auto">
            <a:xfrm flipH="1" flipV="1">
              <a:off x="3408" y="2016"/>
              <a:ext cx="1008" cy="336"/>
            </a:xfrm>
            <a:custGeom>
              <a:avLst/>
              <a:gdLst>
                <a:gd name="T0" fmla="*/ 0 w 1008"/>
                <a:gd name="T1" fmla="*/ 336 h 336"/>
                <a:gd name="T2" fmla="*/ 144 w 1008"/>
                <a:gd name="T3" fmla="*/ 192 h 336"/>
                <a:gd name="T4" fmla="*/ 336 w 1008"/>
                <a:gd name="T5" fmla="*/ 48 h 336"/>
                <a:gd name="T6" fmla="*/ 480 w 1008"/>
                <a:gd name="T7" fmla="*/ 0 h 336"/>
                <a:gd name="T8" fmla="*/ 672 w 1008"/>
                <a:gd name="T9" fmla="*/ 48 h 336"/>
                <a:gd name="T10" fmla="*/ 912 w 1008"/>
                <a:gd name="T11" fmla="*/ 240 h 336"/>
                <a:gd name="T12" fmla="*/ 1008 w 1008"/>
                <a:gd name="T13" fmla="*/ 336 h 336"/>
                <a:gd name="T14" fmla="*/ 0 60000 65536"/>
                <a:gd name="T15" fmla="*/ 0 60000 65536"/>
                <a:gd name="T16" fmla="*/ 0 60000 65536"/>
                <a:gd name="T17" fmla="*/ 0 60000 65536"/>
                <a:gd name="T18" fmla="*/ 0 60000 65536"/>
                <a:gd name="T19" fmla="*/ 0 60000 65536"/>
                <a:gd name="T20" fmla="*/ 0 60000 65536"/>
                <a:gd name="T21" fmla="*/ 0 w 1008"/>
                <a:gd name="T22" fmla="*/ 0 h 336"/>
                <a:gd name="T23" fmla="*/ 1008 w 1008"/>
                <a:gd name="T24" fmla="*/ 336 h 3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8" h="336">
                  <a:moveTo>
                    <a:pt x="0" y="336"/>
                  </a:moveTo>
                  <a:cubicBezTo>
                    <a:pt x="44" y="288"/>
                    <a:pt x="88" y="240"/>
                    <a:pt x="144" y="192"/>
                  </a:cubicBezTo>
                  <a:cubicBezTo>
                    <a:pt x="200" y="144"/>
                    <a:pt x="280" y="80"/>
                    <a:pt x="336" y="48"/>
                  </a:cubicBezTo>
                  <a:cubicBezTo>
                    <a:pt x="392" y="16"/>
                    <a:pt x="424" y="0"/>
                    <a:pt x="480" y="0"/>
                  </a:cubicBezTo>
                  <a:cubicBezTo>
                    <a:pt x="536" y="0"/>
                    <a:pt x="600" y="8"/>
                    <a:pt x="672" y="48"/>
                  </a:cubicBezTo>
                  <a:cubicBezTo>
                    <a:pt x="744" y="88"/>
                    <a:pt x="856" y="192"/>
                    <a:pt x="912" y="240"/>
                  </a:cubicBezTo>
                  <a:cubicBezTo>
                    <a:pt x="968" y="288"/>
                    <a:pt x="988" y="312"/>
                    <a:pt x="1008" y="336"/>
                  </a:cubicBezTo>
                </a:path>
              </a:pathLst>
            </a:custGeom>
            <a:noFill/>
            <a:ln w="22225">
              <a:solidFill>
                <a:srgbClr val="0000FF"/>
              </a:solidFill>
              <a:round/>
              <a:headEnd/>
              <a:tailEnd/>
            </a:ln>
          </p:spPr>
          <p:txBody>
            <a:bodyPr/>
            <a:lstStyle/>
            <a:p>
              <a:endParaRPr lang="zh-CN" altLang="en-US"/>
            </a:p>
          </p:txBody>
        </p:sp>
        <p:sp>
          <p:nvSpPr>
            <p:cNvPr id="45081" name="Oval 40"/>
            <p:cNvSpPr>
              <a:spLocks noChangeArrowheads="1"/>
            </p:cNvSpPr>
            <p:nvPr/>
          </p:nvSpPr>
          <p:spPr bwMode="auto">
            <a:xfrm flipH="1">
              <a:off x="4368" y="1968"/>
              <a:ext cx="96" cy="96"/>
            </a:xfrm>
            <a:prstGeom prst="ellipse">
              <a:avLst/>
            </a:prstGeom>
            <a:solidFill>
              <a:srgbClr val="FF0000"/>
            </a:solidFill>
            <a:ln w="9525">
              <a:solidFill>
                <a:srgbClr val="FF0000"/>
              </a:solidFill>
              <a:round/>
              <a:headEnd/>
              <a:tailEnd/>
            </a:ln>
          </p:spPr>
          <p:txBody>
            <a:bodyPr wrap="none" anchor="ctr"/>
            <a:lstStyle/>
            <a:p>
              <a:endParaRPr lang="zh-CN" altLang="en-US"/>
            </a:p>
          </p:txBody>
        </p:sp>
        <p:sp>
          <p:nvSpPr>
            <p:cNvPr id="45082" name="Oval 41"/>
            <p:cNvSpPr>
              <a:spLocks noChangeArrowheads="1"/>
            </p:cNvSpPr>
            <p:nvPr/>
          </p:nvSpPr>
          <p:spPr bwMode="auto">
            <a:xfrm flipH="1">
              <a:off x="3360" y="1968"/>
              <a:ext cx="96" cy="96"/>
            </a:xfrm>
            <a:prstGeom prst="ellipse">
              <a:avLst/>
            </a:prstGeom>
            <a:solidFill>
              <a:srgbClr val="FF0000"/>
            </a:solidFill>
            <a:ln w="9525">
              <a:solidFill>
                <a:srgbClr val="FF0000"/>
              </a:solidFill>
              <a:round/>
              <a:headEnd/>
              <a:tailEnd/>
            </a:ln>
          </p:spPr>
          <p:txBody>
            <a:bodyPr wrap="none" anchor="ctr"/>
            <a:lstStyle/>
            <a:p>
              <a:endParaRPr lang="zh-CN" altLang="en-US"/>
            </a:p>
          </p:txBody>
        </p:sp>
        <p:sp>
          <p:nvSpPr>
            <p:cNvPr id="45083" name="Oval 42"/>
            <p:cNvSpPr>
              <a:spLocks noChangeArrowheads="1"/>
            </p:cNvSpPr>
            <p:nvPr/>
          </p:nvSpPr>
          <p:spPr bwMode="auto">
            <a:xfrm flipH="1">
              <a:off x="5376" y="1968"/>
              <a:ext cx="96" cy="96"/>
            </a:xfrm>
            <a:prstGeom prst="ellipse">
              <a:avLst/>
            </a:prstGeom>
            <a:solidFill>
              <a:srgbClr val="FF0000"/>
            </a:solidFill>
            <a:ln w="9525">
              <a:solidFill>
                <a:srgbClr val="FF0000"/>
              </a:solidFill>
              <a:round/>
              <a:headEnd/>
              <a:tailEnd/>
            </a:ln>
          </p:spPr>
          <p:txBody>
            <a:bodyPr wrap="none" anchor="ctr"/>
            <a:lstStyle/>
            <a:p>
              <a:endParaRPr lang="zh-CN" altLang="en-US"/>
            </a:p>
          </p:txBody>
        </p:sp>
      </p:grpSp>
      <p:sp>
        <p:nvSpPr>
          <p:cNvPr id="129067" name="AutoShape 43"/>
          <p:cNvSpPr>
            <a:spLocks noChangeArrowheads="1"/>
          </p:cNvSpPr>
          <p:nvPr/>
        </p:nvSpPr>
        <p:spPr bwMode="auto">
          <a:xfrm>
            <a:off x="4471988" y="2720975"/>
            <a:ext cx="762000" cy="609600"/>
          </a:xfrm>
          <a:prstGeom prst="wedgeEllipseCallout">
            <a:avLst>
              <a:gd name="adj1" fmla="val -85417"/>
              <a:gd name="adj2" fmla="val 78384"/>
            </a:avLst>
          </a:prstGeom>
          <a:noFill/>
          <a:ln w="22225">
            <a:solidFill>
              <a:srgbClr val="00FF00"/>
            </a:solidFill>
            <a:miter lim="800000"/>
            <a:headEnd/>
            <a:tailEnd/>
          </a:ln>
        </p:spPr>
        <p:txBody>
          <a:bodyPr/>
          <a:lstStyle/>
          <a:p>
            <a:pPr algn="ctr"/>
            <a:endParaRPr lang="zh-CN" altLang="zh-CN" b="1">
              <a:latin typeface="Bookman Old Style" pitchFamily="18" charset="0"/>
            </a:endParaRPr>
          </a:p>
        </p:txBody>
      </p:sp>
      <p:sp>
        <p:nvSpPr>
          <p:cNvPr id="129068" name="AutoShape 44"/>
          <p:cNvSpPr>
            <a:spLocks noChangeArrowheads="1"/>
          </p:cNvSpPr>
          <p:nvPr/>
        </p:nvSpPr>
        <p:spPr bwMode="auto">
          <a:xfrm>
            <a:off x="3786188" y="3940175"/>
            <a:ext cx="609600" cy="609600"/>
          </a:xfrm>
          <a:prstGeom prst="wedgeEllipseCallout">
            <a:avLst>
              <a:gd name="adj1" fmla="val -95051"/>
              <a:gd name="adj2" fmla="val 89843"/>
            </a:avLst>
          </a:prstGeom>
          <a:noFill/>
          <a:ln w="22225">
            <a:solidFill>
              <a:srgbClr val="00FF00"/>
            </a:solidFill>
            <a:miter lim="800000"/>
            <a:headEnd/>
            <a:tailEnd/>
          </a:ln>
        </p:spPr>
        <p:txBody>
          <a:bodyPr/>
          <a:lstStyle/>
          <a:p>
            <a:pPr algn="ctr"/>
            <a:endParaRPr lang="zh-CN" altLang="zh-CN" b="1">
              <a:latin typeface="Bookman Old Style" pitchFamily="18" charset="0"/>
            </a:endParaRPr>
          </a:p>
        </p:txBody>
      </p:sp>
      <p:sp>
        <p:nvSpPr>
          <p:cNvPr id="129069" name="Text Box 45"/>
          <p:cNvSpPr txBox="1">
            <a:spLocks noChangeArrowheads="1"/>
          </p:cNvSpPr>
          <p:nvPr/>
        </p:nvSpPr>
        <p:spPr bwMode="auto">
          <a:xfrm>
            <a:off x="3311525" y="3330575"/>
            <a:ext cx="914400" cy="457200"/>
          </a:xfrm>
          <a:prstGeom prst="rect">
            <a:avLst/>
          </a:prstGeom>
          <a:noFill/>
          <a:ln w="9525">
            <a:noFill/>
            <a:miter lim="800000"/>
            <a:headEnd/>
            <a:tailEnd/>
          </a:ln>
        </p:spPr>
        <p:txBody>
          <a:bodyPr>
            <a:spAutoFit/>
          </a:bodyPr>
          <a:lstStyle/>
          <a:p>
            <a:pPr>
              <a:spcBef>
                <a:spcPct val="50000"/>
              </a:spcBef>
            </a:pPr>
            <a:r>
              <a:rPr lang="zh-CN" altLang="en-US" b="1">
                <a:latin typeface="Bookman Old Style" pitchFamily="18" charset="0"/>
                <a:ea typeface="楷体_GB2312" pitchFamily="49" charset="-122"/>
              </a:rPr>
              <a:t>势能</a:t>
            </a:r>
          </a:p>
        </p:txBody>
      </p:sp>
      <p:sp>
        <p:nvSpPr>
          <p:cNvPr id="129070" name="Text Box 46"/>
          <p:cNvSpPr txBox="1">
            <a:spLocks noChangeArrowheads="1"/>
          </p:cNvSpPr>
          <p:nvPr/>
        </p:nvSpPr>
        <p:spPr bwMode="auto">
          <a:xfrm>
            <a:off x="2795588" y="4702175"/>
            <a:ext cx="914400" cy="457200"/>
          </a:xfrm>
          <a:prstGeom prst="rect">
            <a:avLst/>
          </a:prstGeom>
          <a:noFill/>
          <a:ln w="9525">
            <a:noFill/>
            <a:miter lim="800000"/>
            <a:headEnd/>
            <a:tailEnd/>
          </a:ln>
        </p:spPr>
        <p:txBody>
          <a:bodyPr>
            <a:spAutoFit/>
          </a:bodyPr>
          <a:lstStyle/>
          <a:p>
            <a:pPr>
              <a:spcBef>
                <a:spcPct val="50000"/>
              </a:spcBef>
            </a:pPr>
            <a:r>
              <a:rPr lang="zh-CN" altLang="en-US" b="1">
                <a:latin typeface="Bookman Old Style" pitchFamily="18" charset="0"/>
                <a:ea typeface="楷体_GB2312" pitchFamily="49" charset="-122"/>
              </a:rPr>
              <a:t>动能</a:t>
            </a:r>
          </a:p>
        </p:txBody>
      </p:sp>
      <p:sp>
        <p:nvSpPr>
          <p:cNvPr id="129071" name="AutoShape 47"/>
          <p:cNvSpPr>
            <a:spLocks noChangeArrowheads="1"/>
          </p:cNvSpPr>
          <p:nvPr/>
        </p:nvSpPr>
        <p:spPr bwMode="auto">
          <a:xfrm>
            <a:off x="4624388" y="5159375"/>
            <a:ext cx="609600" cy="609600"/>
          </a:xfrm>
          <a:prstGeom prst="wedgeEllipseCallout">
            <a:avLst>
              <a:gd name="adj1" fmla="val 149481"/>
              <a:gd name="adj2" fmla="val 77083"/>
            </a:avLst>
          </a:prstGeom>
          <a:noFill/>
          <a:ln w="22225">
            <a:solidFill>
              <a:srgbClr val="00FF00"/>
            </a:solidFill>
            <a:miter lim="800000"/>
            <a:headEnd/>
            <a:tailEnd/>
          </a:ln>
        </p:spPr>
        <p:txBody>
          <a:bodyPr/>
          <a:lstStyle/>
          <a:p>
            <a:pPr algn="ctr"/>
            <a:endParaRPr lang="zh-CN" altLang="zh-CN" b="1">
              <a:latin typeface="Bookman Old Style" pitchFamily="18" charset="0"/>
            </a:endParaRPr>
          </a:p>
        </p:txBody>
      </p:sp>
      <p:sp>
        <p:nvSpPr>
          <p:cNvPr id="129072" name="Text Box 48"/>
          <p:cNvSpPr txBox="1">
            <a:spLocks noChangeArrowheads="1"/>
          </p:cNvSpPr>
          <p:nvPr/>
        </p:nvSpPr>
        <p:spPr bwMode="auto">
          <a:xfrm>
            <a:off x="5843588" y="5768975"/>
            <a:ext cx="914400" cy="457200"/>
          </a:xfrm>
          <a:prstGeom prst="rect">
            <a:avLst/>
          </a:prstGeom>
          <a:noFill/>
          <a:ln w="9525">
            <a:noFill/>
            <a:miter lim="800000"/>
            <a:headEnd/>
            <a:tailEnd/>
          </a:ln>
        </p:spPr>
        <p:txBody>
          <a:bodyPr>
            <a:spAutoFit/>
          </a:bodyPr>
          <a:lstStyle/>
          <a:p>
            <a:pPr>
              <a:spcBef>
                <a:spcPct val="50000"/>
              </a:spcBef>
            </a:pPr>
            <a:r>
              <a:rPr lang="zh-CN" altLang="en-US" b="1">
                <a:latin typeface="Bookman Old Style" pitchFamily="18" charset="0"/>
                <a:ea typeface="楷体_GB2312" pitchFamily="49" charset="-122"/>
              </a:rPr>
              <a:t>势能</a:t>
            </a:r>
          </a:p>
        </p:txBody>
      </p:sp>
      <p:sp>
        <p:nvSpPr>
          <p:cNvPr id="129073" name="Text Box 49"/>
          <p:cNvSpPr txBox="1">
            <a:spLocks noChangeArrowheads="1"/>
          </p:cNvSpPr>
          <p:nvPr/>
        </p:nvSpPr>
        <p:spPr bwMode="auto">
          <a:xfrm>
            <a:off x="395288" y="981075"/>
            <a:ext cx="8353425" cy="1406525"/>
          </a:xfrm>
          <a:prstGeom prst="rect">
            <a:avLst/>
          </a:prstGeom>
          <a:noFill/>
          <a:ln w="9525">
            <a:noFill/>
            <a:miter lim="800000"/>
            <a:headEnd/>
            <a:tailEnd/>
          </a:ln>
        </p:spPr>
        <p:txBody>
          <a:bodyPr>
            <a:spAutoFit/>
          </a:bodyPr>
          <a:lstStyle/>
          <a:p>
            <a:pPr>
              <a:lnSpc>
                <a:spcPct val="120000"/>
              </a:lnSpc>
              <a:spcBef>
                <a:spcPct val="50000"/>
              </a:spcBef>
            </a:pP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在驻波振动中，一个波段内不断地进行</a:t>
            </a:r>
            <a:r>
              <a:rPr lang="zh-CN" altLang="en-US" b="1">
                <a:solidFill>
                  <a:srgbClr val="0033CC"/>
                </a:solidFill>
                <a:latin typeface="楷体_GB2312" pitchFamily="49" charset="-122"/>
                <a:ea typeface="楷体_GB2312" pitchFamily="49" charset="-122"/>
              </a:rPr>
              <a:t>动能与势能的相互转换</a:t>
            </a:r>
            <a:r>
              <a:rPr lang="zh-CN" altLang="en-US" b="1">
                <a:latin typeface="楷体_GB2312" pitchFamily="49" charset="-122"/>
                <a:ea typeface="楷体_GB2312" pitchFamily="49" charset="-122"/>
              </a:rPr>
              <a:t>，并不断地分别集中在波腹和波节附近而</a:t>
            </a:r>
            <a:r>
              <a:rPr lang="zh-CN" altLang="en-US" b="1">
                <a:solidFill>
                  <a:srgbClr val="FF6600"/>
                </a:solidFill>
                <a:latin typeface="楷体_GB2312" pitchFamily="49" charset="-122"/>
                <a:ea typeface="楷体_GB2312" pitchFamily="49" charset="-122"/>
              </a:rPr>
              <a:t>不向外传播</a:t>
            </a:r>
            <a:r>
              <a:rPr lang="zh-CN" altLang="en-US" b="1">
                <a:latin typeface="楷体_GB2312" pitchFamily="49" charset="-122"/>
                <a:ea typeface="楷体_GB2312"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9030"/>
                                        </p:tgtEl>
                                        <p:attrNameLst>
                                          <p:attrName>style.visibility</p:attrName>
                                        </p:attrNameLst>
                                      </p:cBhvr>
                                      <p:to>
                                        <p:strVal val="visible"/>
                                      </p:to>
                                    </p:set>
                                    <p:animEffect transition="in" filter="wipe(left)">
                                      <p:cBhvr>
                                        <p:cTn id="7" dur="500"/>
                                        <p:tgtEl>
                                          <p:spTgt spid="1290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9073"/>
                                        </p:tgtEl>
                                        <p:attrNameLst>
                                          <p:attrName>style.visibility</p:attrName>
                                        </p:attrNameLst>
                                      </p:cBhvr>
                                      <p:to>
                                        <p:strVal val="visible"/>
                                      </p:to>
                                    </p:set>
                                    <p:animEffect transition="in" filter="wipe(left)">
                                      <p:cBhvr>
                                        <p:cTn id="12" dur="500"/>
                                        <p:tgtEl>
                                          <p:spTgt spid="12907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9045"/>
                                        </p:tgtEl>
                                        <p:attrNameLst>
                                          <p:attrName>style.visibility</p:attrName>
                                        </p:attrNameLst>
                                      </p:cBhvr>
                                      <p:to>
                                        <p:strVal val="visible"/>
                                      </p:to>
                                    </p:set>
                                    <p:animEffect transition="in" filter="wipe(left)">
                                      <p:cBhvr>
                                        <p:cTn id="17" dur="500"/>
                                        <p:tgtEl>
                                          <p:spTgt spid="129045"/>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1+#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29067"/>
                                        </p:tgtEl>
                                        <p:attrNameLst>
                                          <p:attrName>style.visibility</p:attrName>
                                        </p:attrNameLst>
                                      </p:cBhvr>
                                      <p:to>
                                        <p:strVal val="visible"/>
                                      </p:to>
                                    </p:set>
                                    <p:animEffect transition="in" filter="dissolve">
                                      <p:cBhvr>
                                        <p:cTn id="28" dur="500"/>
                                        <p:tgtEl>
                                          <p:spTgt spid="129067"/>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2906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9046"/>
                                        </p:tgtEl>
                                        <p:attrNameLst>
                                          <p:attrName>style.visibility</p:attrName>
                                        </p:attrNameLst>
                                      </p:cBhvr>
                                      <p:to>
                                        <p:strVal val="visible"/>
                                      </p:to>
                                    </p:set>
                                    <p:animEffect transition="in" filter="wipe(left)">
                                      <p:cBhvr>
                                        <p:cTn id="37" dur="500"/>
                                        <p:tgtEl>
                                          <p:spTgt spid="129046"/>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slide(from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29068"/>
                                        </p:tgtEl>
                                        <p:attrNameLst>
                                          <p:attrName>style.visibility</p:attrName>
                                        </p:attrNameLst>
                                      </p:cBhvr>
                                      <p:to>
                                        <p:strVal val="visible"/>
                                      </p:to>
                                    </p:set>
                                    <p:animEffect transition="in" filter="dissolve">
                                      <p:cBhvr>
                                        <p:cTn id="47" dur="500"/>
                                        <p:tgtEl>
                                          <p:spTgt spid="129068"/>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12907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29053"/>
                                        </p:tgtEl>
                                        <p:attrNameLst>
                                          <p:attrName>style.visibility</p:attrName>
                                        </p:attrNameLst>
                                      </p:cBhvr>
                                      <p:to>
                                        <p:strVal val="visible"/>
                                      </p:to>
                                    </p:set>
                                    <p:animEffect transition="in" filter="wipe(left)">
                                      <p:cBhvr>
                                        <p:cTn id="56" dur="500"/>
                                        <p:tgtEl>
                                          <p:spTgt spid="129053"/>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nodeType="click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slide(fromBottom)">
                                      <p:cBhvr>
                                        <p:cTn id="61" dur="500"/>
                                        <p:tgtEl>
                                          <p:spTgt spid="4"/>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grpId="0" nodeType="clickEffect">
                                  <p:stCondLst>
                                    <p:cond delay="0"/>
                                  </p:stCondLst>
                                  <p:childTnLst>
                                    <p:set>
                                      <p:cBhvr>
                                        <p:cTn id="65" dur="1" fill="hold">
                                          <p:stCondLst>
                                            <p:cond delay="0"/>
                                          </p:stCondLst>
                                        </p:cTn>
                                        <p:tgtEl>
                                          <p:spTgt spid="129071"/>
                                        </p:tgtEl>
                                        <p:attrNameLst>
                                          <p:attrName>style.visibility</p:attrName>
                                        </p:attrNameLst>
                                      </p:cBhvr>
                                      <p:to>
                                        <p:strVal val="visible"/>
                                      </p:to>
                                    </p:set>
                                    <p:animEffect transition="in" filter="dissolve">
                                      <p:cBhvr>
                                        <p:cTn id="66" dur="500"/>
                                        <p:tgtEl>
                                          <p:spTgt spid="129071"/>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1290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30" grpId="0"/>
      <p:bldP spid="129067" grpId="0" animBg="1" autoUpdateAnimBg="0"/>
      <p:bldP spid="129068" grpId="0" animBg="1" autoUpdateAnimBg="0"/>
      <p:bldP spid="129069" grpId="0" autoUpdateAnimBg="0"/>
      <p:bldP spid="129070" grpId="0" autoUpdateAnimBg="0"/>
      <p:bldP spid="129071" grpId="0" animBg="1" autoUpdateAnimBg="0"/>
      <p:bldP spid="129072" grpId="0" autoUpdateAnimBg="0"/>
      <p:bldP spid="12907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2" name="Rectangle 4"/>
          <p:cNvSpPr>
            <a:spLocks noChangeArrowheads="1"/>
          </p:cNvSpPr>
          <p:nvPr/>
        </p:nvSpPr>
        <p:spPr bwMode="auto">
          <a:xfrm>
            <a:off x="539750" y="539750"/>
            <a:ext cx="2376488" cy="512763"/>
          </a:xfrm>
          <a:prstGeom prst="rect">
            <a:avLst/>
          </a:prstGeom>
          <a:noFill/>
          <a:ln w="9525">
            <a:noFill/>
            <a:miter lim="800000"/>
            <a:headEnd/>
            <a:tailEnd/>
          </a:ln>
        </p:spPr>
        <p:txBody>
          <a:bodyPr>
            <a:spAutoFit/>
          </a:bodyPr>
          <a:lstStyle/>
          <a:p>
            <a:pPr marL="476250" indent="-476250">
              <a:lnSpc>
                <a:spcPct val="115000"/>
              </a:lnSpc>
            </a:pPr>
            <a:r>
              <a:rPr lang="zh-CN" altLang="en-US" b="1">
                <a:solidFill>
                  <a:srgbClr val="FF6600"/>
                </a:solidFill>
                <a:latin typeface="Bookman Old Style" pitchFamily="18" charset="0"/>
              </a:rPr>
              <a:t>半波损失</a:t>
            </a:r>
          </a:p>
        </p:txBody>
      </p:sp>
      <p:sp>
        <p:nvSpPr>
          <p:cNvPr id="222213" name="Rectangle 5"/>
          <p:cNvSpPr>
            <a:spLocks noChangeArrowheads="1"/>
          </p:cNvSpPr>
          <p:nvPr/>
        </p:nvSpPr>
        <p:spPr bwMode="auto">
          <a:xfrm>
            <a:off x="971550" y="1187450"/>
            <a:ext cx="7199313" cy="512763"/>
          </a:xfrm>
          <a:prstGeom prst="rect">
            <a:avLst/>
          </a:prstGeom>
          <a:noFill/>
          <a:ln w="9525">
            <a:noFill/>
            <a:miter lim="800000"/>
            <a:headEnd/>
            <a:tailEnd/>
          </a:ln>
        </p:spPr>
        <p:txBody>
          <a:bodyPr>
            <a:spAutoFit/>
          </a:bodyPr>
          <a:lstStyle/>
          <a:p>
            <a:pPr marL="476250" indent="-476250">
              <a:lnSpc>
                <a:spcPct val="115000"/>
              </a:lnSpc>
            </a:pPr>
            <a:r>
              <a:rPr lang="zh-CN" altLang="en-US" b="1">
                <a:latin typeface="Bookman Old Style" pitchFamily="18" charset="0"/>
                <a:ea typeface="楷体_GB2312" pitchFamily="49" charset="-122"/>
              </a:rPr>
              <a:t>反射点为波节，表明入射波与反射波在该点反相。</a:t>
            </a:r>
          </a:p>
        </p:txBody>
      </p:sp>
      <p:sp>
        <p:nvSpPr>
          <p:cNvPr id="222214" name="AutoShape 6"/>
          <p:cNvSpPr>
            <a:spLocks noChangeArrowheads="1"/>
          </p:cNvSpPr>
          <p:nvPr/>
        </p:nvSpPr>
        <p:spPr bwMode="auto">
          <a:xfrm>
            <a:off x="179388" y="534988"/>
            <a:ext cx="360362"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graphicFrame>
        <p:nvGraphicFramePr>
          <p:cNvPr id="222215" name="Object 7"/>
          <p:cNvGraphicFramePr>
            <a:graphicFrameLocks noChangeAspect="1"/>
          </p:cNvGraphicFramePr>
          <p:nvPr/>
        </p:nvGraphicFramePr>
        <p:xfrm>
          <a:off x="3395663" y="1989138"/>
          <a:ext cx="1397000" cy="727075"/>
        </p:xfrm>
        <a:graphic>
          <a:graphicData uri="http://schemas.openxmlformats.org/presentationml/2006/ole">
            <p:oleObj spid="_x0000_s46082" name="Equation" r:id="rId3" imgW="787320" imgH="406080" progId="Equation.3">
              <p:embed/>
            </p:oleObj>
          </a:graphicData>
        </a:graphic>
      </p:graphicFrame>
      <p:sp>
        <p:nvSpPr>
          <p:cNvPr id="222216" name="AutoShape 8"/>
          <p:cNvSpPr>
            <a:spLocks noChangeArrowheads="1"/>
          </p:cNvSpPr>
          <p:nvPr/>
        </p:nvSpPr>
        <p:spPr bwMode="auto">
          <a:xfrm>
            <a:off x="2405063" y="2297113"/>
            <a:ext cx="838200" cy="152400"/>
          </a:xfrm>
          <a:prstGeom prst="rightArrow">
            <a:avLst>
              <a:gd name="adj1" fmla="val 50000"/>
              <a:gd name="adj2" fmla="val 137500"/>
            </a:avLst>
          </a:prstGeom>
          <a:solidFill>
            <a:srgbClr val="0000FF"/>
          </a:solidFill>
          <a:ln w="15875">
            <a:solidFill>
              <a:schemeClr val="tx1"/>
            </a:solidFill>
            <a:miter lim="800000"/>
            <a:headEnd/>
            <a:tailEnd/>
          </a:ln>
        </p:spPr>
        <p:txBody>
          <a:bodyPr wrap="none" anchor="ctr"/>
          <a:lstStyle/>
          <a:p>
            <a:endParaRPr lang="zh-CN" altLang="en-US"/>
          </a:p>
        </p:txBody>
      </p:sp>
      <p:graphicFrame>
        <p:nvGraphicFramePr>
          <p:cNvPr id="222217" name="Object 9"/>
          <p:cNvGraphicFramePr>
            <a:graphicFrameLocks noChangeAspect="1"/>
          </p:cNvGraphicFramePr>
          <p:nvPr/>
        </p:nvGraphicFramePr>
        <p:xfrm>
          <a:off x="1287463" y="2235200"/>
          <a:ext cx="889000" cy="366713"/>
        </p:xfrm>
        <a:graphic>
          <a:graphicData uri="http://schemas.openxmlformats.org/presentationml/2006/ole">
            <p:oleObj spid="_x0000_s46083" name="Equation" r:id="rId4" imgW="495000" imgH="203040" progId="Equation.3">
              <p:embed/>
            </p:oleObj>
          </a:graphicData>
        </a:graphic>
      </p:graphicFrame>
      <p:sp>
        <p:nvSpPr>
          <p:cNvPr id="222218" name="AutoShape 10"/>
          <p:cNvSpPr>
            <a:spLocks noChangeArrowheads="1"/>
          </p:cNvSpPr>
          <p:nvPr/>
        </p:nvSpPr>
        <p:spPr bwMode="auto">
          <a:xfrm>
            <a:off x="4995863" y="2297113"/>
            <a:ext cx="838200" cy="152400"/>
          </a:xfrm>
          <a:prstGeom prst="rightArrow">
            <a:avLst>
              <a:gd name="adj1" fmla="val 50000"/>
              <a:gd name="adj2" fmla="val 137500"/>
            </a:avLst>
          </a:prstGeom>
          <a:solidFill>
            <a:srgbClr val="0000FF"/>
          </a:solidFill>
          <a:ln w="15875">
            <a:solidFill>
              <a:schemeClr val="tx1"/>
            </a:solidFill>
            <a:miter lim="800000"/>
            <a:headEnd/>
            <a:tailEnd/>
          </a:ln>
        </p:spPr>
        <p:txBody>
          <a:bodyPr wrap="none" anchor="ctr"/>
          <a:lstStyle/>
          <a:p>
            <a:endParaRPr lang="zh-CN" altLang="en-US"/>
          </a:p>
        </p:txBody>
      </p:sp>
      <p:graphicFrame>
        <p:nvGraphicFramePr>
          <p:cNvPr id="222219" name="Object 11"/>
          <p:cNvGraphicFramePr>
            <a:graphicFrameLocks noChangeAspect="1"/>
          </p:cNvGraphicFramePr>
          <p:nvPr/>
        </p:nvGraphicFramePr>
        <p:xfrm>
          <a:off x="6062663" y="1992313"/>
          <a:ext cx="885825" cy="730250"/>
        </p:xfrm>
        <a:graphic>
          <a:graphicData uri="http://schemas.openxmlformats.org/presentationml/2006/ole">
            <p:oleObj spid="_x0000_s46084" name="Equation" r:id="rId5" imgW="495000" imgH="406080" progId="Equation.3">
              <p:embed/>
            </p:oleObj>
          </a:graphicData>
        </a:graphic>
      </p:graphicFrame>
      <p:sp>
        <p:nvSpPr>
          <p:cNvPr id="222220" name="Rectangle 12"/>
          <p:cNvSpPr>
            <a:spLocks noChangeArrowheads="1"/>
          </p:cNvSpPr>
          <p:nvPr/>
        </p:nvSpPr>
        <p:spPr bwMode="auto">
          <a:xfrm>
            <a:off x="839788" y="2852738"/>
            <a:ext cx="7764462" cy="457200"/>
          </a:xfrm>
          <a:prstGeom prst="rect">
            <a:avLst/>
          </a:prstGeom>
          <a:noFill/>
          <a:ln w="9525">
            <a:noFill/>
            <a:miter lim="800000"/>
            <a:headEnd/>
            <a:tailEnd/>
          </a:ln>
        </p:spPr>
        <p:txBody>
          <a:bodyPr>
            <a:spAutoFit/>
          </a:bodyPr>
          <a:lstStyle/>
          <a:p>
            <a:r>
              <a:rPr lang="zh-CN" altLang="en-US" b="1">
                <a:solidFill>
                  <a:srgbClr val="FF6600"/>
                </a:solidFill>
                <a:latin typeface="Bookman Old Style" pitchFamily="18" charset="0"/>
                <a:ea typeface="楷体_GB2312" pitchFamily="49" charset="-122"/>
              </a:rPr>
              <a:t>相当于入射波与反射波之间附加了半个波长的波程差</a:t>
            </a:r>
          </a:p>
        </p:txBody>
      </p:sp>
      <p:sp>
        <p:nvSpPr>
          <p:cNvPr id="222221" name="Text Box 13"/>
          <p:cNvSpPr txBox="1">
            <a:spLocks noChangeArrowheads="1"/>
          </p:cNvSpPr>
          <p:nvPr/>
        </p:nvSpPr>
        <p:spPr bwMode="auto">
          <a:xfrm>
            <a:off x="2192338" y="3638550"/>
            <a:ext cx="3200400" cy="457200"/>
          </a:xfrm>
          <a:prstGeom prst="rect">
            <a:avLst/>
          </a:prstGeom>
          <a:noFill/>
          <a:ln w="9525">
            <a:noFill/>
            <a:miter lim="800000"/>
            <a:headEnd/>
            <a:tailEnd/>
          </a:ln>
        </p:spPr>
        <p:txBody>
          <a:bodyPr>
            <a:spAutoFit/>
          </a:bodyPr>
          <a:lstStyle/>
          <a:p>
            <a:pPr>
              <a:spcBef>
                <a:spcPct val="50000"/>
              </a:spcBef>
            </a:pPr>
            <a:r>
              <a:rPr lang="zh-CN" altLang="en-US" b="1">
                <a:latin typeface="Bookman Old Style" pitchFamily="18" charset="0"/>
                <a:ea typeface="楷体_GB2312" pitchFamily="49" charset="-122"/>
              </a:rPr>
              <a:t>有半波损失（波节）</a:t>
            </a:r>
          </a:p>
        </p:txBody>
      </p:sp>
      <p:sp>
        <p:nvSpPr>
          <p:cNvPr id="222222" name="Rectangle 14"/>
          <p:cNvSpPr>
            <a:spLocks noChangeArrowheads="1"/>
          </p:cNvSpPr>
          <p:nvPr/>
        </p:nvSpPr>
        <p:spPr bwMode="auto">
          <a:xfrm>
            <a:off x="2220913" y="4303713"/>
            <a:ext cx="2941637" cy="457200"/>
          </a:xfrm>
          <a:prstGeom prst="rect">
            <a:avLst/>
          </a:prstGeom>
          <a:noFill/>
          <a:ln w="9525">
            <a:noFill/>
            <a:miter lim="800000"/>
            <a:headEnd/>
            <a:tailEnd/>
          </a:ln>
        </p:spPr>
        <p:txBody>
          <a:bodyPr wrap="none">
            <a:spAutoFit/>
          </a:bodyPr>
          <a:lstStyle/>
          <a:p>
            <a:pPr algn="ctr">
              <a:spcBef>
                <a:spcPct val="50000"/>
              </a:spcBef>
            </a:pPr>
            <a:r>
              <a:rPr lang="zh-CN" altLang="en-US" b="1">
                <a:latin typeface="Bookman Old Style" pitchFamily="18" charset="0"/>
                <a:ea typeface="楷体_GB2312" pitchFamily="49" charset="-122"/>
              </a:rPr>
              <a:t>无半波损失（波腹）</a:t>
            </a:r>
          </a:p>
        </p:txBody>
      </p:sp>
      <p:sp>
        <p:nvSpPr>
          <p:cNvPr id="222223" name="Line 15"/>
          <p:cNvSpPr>
            <a:spLocks noChangeShapeType="1"/>
          </p:cNvSpPr>
          <p:nvPr/>
        </p:nvSpPr>
        <p:spPr bwMode="auto">
          <a:xfrm>
            <a:off x="7459663" y="3652838"/>
            <a:ext cx="0" cy="1600200"/>
          </a:xfrm>
          <a:prstGeom prst="line">
            <a:avLst/>
          </a:prstGeom>
          <a:noFill/>
          <a:ln w="50800">
            <a:solidFill>
              <a:schemeClr val="tx1"/>
            </a:solidFill>
            <a:round/>
            <a:headEnd/>
            <a:tailEnd/>
          </a:ln>
        </p:spPr>
        <p:txBody>
          <a:bodyPr/>
          <a:lstStyle/>
          <a:p>
            <a:endParaRPr lang="zh-CN" altLang="en-US"/>
          </a:p>
        </p:txBody>
      </p:sp>
      <p:graphicFrame>
        <p:nvGraphicFramePr>
          <p:cNvPr id="222224" name="Object 16"/>
          <p:cNvGraphicFramePr>
            <a:graphicFrameLocks/>
          </p:cNvGraphicFramePr>
          <p:nvPr/>
        </p:nvGraphicFramePr>
        <p:xfrm>
          <a:off x="6850063" y="3500438"/>
          <a:ext cx="298450" cy="388937"/>
        </p:xfrm>
        <a:graphic>
          <a:graphicData uri="http://schemas.openxmlformats.org/presentationml/2006/ole">
            <p:oleObj spid="_x0000_s46085" name="Equation" r:id="rId6" imgW="164880" imgH="215640" progId="Equation.3">
              <p:embed/>
            </p:oleObj>
          </a:graphicData>
        </a:graphic>
      </p:graphicFrame>
      <p:graphicFrame>
        <p:nvGraphicFramePr>
          <p:cNvPr id="222225" name="Object 17"/>
          <p:cNvGraphicFramePr>
            <a:graphicFrameLocks/>
          </p:cNvGraphicFramePr>
          <p:nvPr/>
        </p:nvGraphicFramePr>
        <p:xfrm>
          <a:off x="7688263" y="3500438"/>
          <a:ext cx="315912" cy="388937"/>
        </p:xfrm>
        <a:graphic>
          <a:graphicData uri="http://schemas.openxmlformats.org/presentationml/2006/ole">
            <p:oleObj spid="_x0000_s46086" name="Equation" r:id="rId7" imgW="177480" imgH="215640" progId="Equation.3">
              <p:embed/>
            </p:oleObj>
          </a:graphicData>
        </a:graphic>
      </p:graphicFrame>
      <p:sp>
        <p:nvSpPr>
          <p:cNvPr id="222226" name="Line 18"/>
          <p:cNvSpPr>
            <a:spLocks noChangeShapeType="1"/>
          </p:cNvSpPr>
          <p:nvPr/>
        </p:nvSpPr>
        <p:spPr bwMode="auto">
          <a:xfrm>
            <a:off x="5935663" y="4186238"/>
            <a:ext cx="1219200" cy="0"/>
          </a:xfrm>
          <a:prstGeom prst="line">
            <a:avLst/>
          </a:prstGeom>
          <a:noFill/>
          <a:ln w="63500">
            <a:solidFill>
              <a:srgbClr val="008000"/>
            </a:solidFill>
            <a:round/>
            <a:headEnd/>
            <a:tailEnd type="triangle" w="med" len="med"/>
          </a:ln>
        </p:spPr>
        <p:txBody>
          <a:bodyPr/>
          <a:lstStyle/>
          <a:p>
            <a:endParaRPr lang="zh-CN" altLang="en-US"/>
          </a:p>
        </p:txBody>
      </p:sp>
      <p:sp>
        <p:nvSpPr>
          <p:cNvPr id="222227" name="Line 19"/>
          <p:cNvSpPr>
            <a:spLocks noChangeShapeType="1"/>
          </p:cNvSpPr>
          <p:nvPr/>
        </p:nvSpPr>
        <p:spPr bwMode="auto">
          <a:xfrm flipH="1">
            <a:off x="5935663" y="4643438"/>
            <a:ext cx="1219200" cy="0"/>
          </a:xfrm>
          <a:prstGeom prst="line">
            <a:avLst/>
          </a:prstGeom>
          <a:noFill/>
          <a:ln w="38100">
            <a:solidFill>
              <a:srgbClr val="0000FF"/>
            </a:solidFill>
            <a:round/>
            <a:headEnd/>
            <a:tailEnd type="triangle" w="med" len="med"/>
          </a:ln>
        </p:spPr>
        <p:txBody>
          <a:bodyPr/>
          <a:lstStyle/>
          <a:p>
            <a:endParaRPr lang="zh-CN" altLang="en-US"/>
          </a:p>
        </p:txBody>
      </p:sp>
      <p:sp>
        <p:nvSpPr>
          <p:cNvPr id="222228" name="Line 20"/>
          <p:cNvSpPr>
            <a:spLocks noChangeShapeType="1"/>
          </p:cNvSpPr>
          <p:nvPr/>
        </p:nvSpPr>
        <p:spPr bwMode="auto">
          <a:xfrm>
            <a:off x="7580313" y="4186238"/>
            <a:ext cx="1066800" cy="0"/>
          </a:xfrm>
          <a:prstGeom prst="line">
            <a:avLst/>
          </a:prstGeom>
          <a:noFill/>
          <a:ln w="25400">
            <a:solidFill>
              <a:srgbClr val="FF0000"/>
            </a:solidFill>
            <a:round/>
            <a:headEnd/>
            <a:tailEnd type="triangle" w="med" len="med"/>
          </a:ln>
        </p:spPr>
        <p:txBody>
          <a:bodyPr/>
          <a:lstStyle/>
          <a:p>
            <a:endParaRPr lang="zh-CN" altLang="en-US"/>
          </a:p>
        </p:txBody>
      </p:sp>
      <p:sp>
        <p:nvSpPr>
          <p:cNvPr id="222229" name="Text Box 21"/>
          <p:cNvSpPr txBox="1">
            <a:spLocks noChangeArrowheads="1"/>
          </p:cNvSpPr>
          <p:nvPr/>
        </p:nvSpPr>
        <p:spPr bwMode="auto">
          <a:xfrm>
            <a:off x="5554663" y="3576638"/>
            <a:ext cx="1371600" cy="396875"/>
          </a:xfrm>
          <a:prstGeom prst="rect">
            <a:avLst/>
          </a:prstGeom>
          <a:noFill/>
          <a:ln w="9525">
            <a:noFill/>
            <a:miter lim="800000"/>
            <a:headEnd/>
            <a:tailEnd/>
          </a:ln>
        </p:spPr>
        <p:txBody>
          <a:bodyPr>
            <a:spAutoFit/>
          </a:bodyPr>
          <a:lstStyle/>
          <a:p>
            <a:pPr>
              <a:spcBef>
                <a:spcPct val="50000"/>
              </a:spcBef>
            </a:pPr>
            <a:r>
              <a:rPr lang="zh-CN" altLang="en-US" sz="2000" b="1">
                <a:solidFill>
                  <a:srgbClr val="9900CC"/>
                </a:solidFill>
                <a:latin typeface="Bookman Old Style" pitchFamily="18" charset="0"/>
                <a:ea typeface="楷体_GB2312" pitchFamily="49" charset="-122"/>
              </a:rPr>
              <a:t>入射波</a:t>
            </a:r>
          </a:p>
        </p:txBody>
      </p:sp>
      <p:sp>
        <p:nvSpPr>
          <p:cNvPr id="222230" name="Text Box 22"/>
          <p:cNvSpPr txBox="1">
            <a:spLocks noChangeArrowheads="1"/>
          </p:cNvSpPr>
          <p:nvPr/>
        </p:nvSpPr>
        <p:spPr bwMode="auto">
          <a:xfrm>
            <a:off x="5554663" y="4719638"/>
            <a:ext cx="1371600" cy="396875"/>
          </a:xfrm>
          <a:prstGeom prst="rect">
            <a:avLst/>
          </a:prstGeom>
          <a:noFill/>
          <a:ln w="9525">
            <a:noFill/>
            <a:miter lim="800000"/>
            <a:headEnd/>
            <a:tailEnd/>
          </a:ln>
        </p:spPr>
        <p:txBody>
          <a:bodyPr>
            <a:spAutoFit/>
          </a:bodyPr>
          <a:lstStyle/>
          <a:p>
            <a:pPr>
              <a:spcBef>
                <a:spcPct val="50000"/>
              </a:spcBef>
            </a:pPr>
            <a:r>
              <a:rPr lang="zh-CN" altLang="en-US" sz="2000" b="1">
                <a:solidFill>
                  <a:srgbClr val="9900CC"/>
                </a:solidFill>
                <a:latin typeface="Bookman Old Style" pitchFamily="18" charset="0"/>
                <a:ea typeface="楷体_GB2312" pitchFamily="49" charset="-122"/>
              </a:rPr>
              <a:t>反射波</a:t>
            </a:r>
          </a:p>
        </p:txBody>
      </p:sp>
      <p:sp>
        <p:nvSpPr>
          <p:cNvPr id="222231" name="Text Box 23"/>
          <p:cNvSpPr txBox="1">
            <a:spLocks noChangeArrowheads="1"/>
          </p:cNvSpPr>
          <p:nvPr/>
        </p:nvSpPr>
        <p:spPr bwMode="auto">
          <a:xfrm>
            <a:off x="7656513" y="4262438"/>
            <a:ext cx="1190625" cy="396875"/>
          </a:xfrm>
          <a:prstGeom prst="rect">
            <a:avLst/>
          </a:prstGeom>
          <a:noFill/>
          <a:ln w="9525">
            <a:noFill/>
            <a:miter lim="800000"/>
            <a:headEnd/>
            <a:tailEnd/>
          </a:ln>
        </p:spPr>
        <p:txBody>
          <a:bodyPr>
            <a:spAutoFit/>
          </a:bodyPr>
          <a:lstStyle/>
          <a:p>
            <a:pPr>
              <a:spcBef>
                <a:spcPct val="50000"/>
              </a:spcBef>
            </a:pPr>
            <a:r>
              <a:rPr lang="zh-CN" altLang="en-US" sz="2000" b="1">
                <a:solidFill>
                  <a:srgbClr val="9900CC"/>
                </a:solidFill>
                <a:latin typeface="Bookman Old Style" pitchFamily="18" charset="0"/>
                <a:ea typeface="楷体_GB2312" pitchFamily="49" charset="-122"/>
              </a:rPr>
              <a:t>透射波</a:t>
            </a:r>
          </a:p>
        </p:txBody>
      </p:sp>
      <p:graphicFrame>
        <p:nvGraphicFramePr>
          <p:cNvPr id="222232" name="Object 24"/>
          <p:cNvGraphicFramePr>
            <a:graphicFrameLocks noChangeAspect="1"/>
          </p:cNvGraphicFramePr>
          <p:nvPr/>
        </p:nvGraphicFramePr>
        <p:xfrm>
          <a:off x="1125538" y="4352925"/>
          <a:ext cx="835025" cy="387350"/>
        </p:xfrm>
        <a:graphic>
          <a:graphicData uri="http://schemas.openxmlformats.org/presentationml/2006/ole">
            <p:oleObj spid="_x0000_s46087" name="Equation" r:id="rId8" imgW="469800" imgH="215640" progId="Equation.3">
              <p:embed/>
            </p:oleObj>
          </a:graphicData>
        </a:graphic>
      </p:graphicFrame>
      <p:graphicFrame>
        <p:nvGraphicFramePr>
          <p:cNvPr id="222233" name="Object 25"/>
          <p:cNvGraphicFramePr>
            <a:graphicFrameLocks noChangeAspect="1"/>
          </p:cNvGraphicFramePr>
          <p:nvPr/>
        </p:nvGraphicFramePr>
        <p:xfrm>
          <a:off x="1125538" y="3660775"/>
          <a:ext cx="835025" cy="387350"/>
        </p:xfrm>
        <a:graphic>
          <a:graphicData uri="http://schemas.openxmlformats.org/presentationml/2006/ole">
            <p:oleObj spid="_x0000_s46088" name="Equation" r:id="rId9" imgW="469800" imgH="215640" progId="Equation.3">
              <p:embed/>
            </p:oleObj>
          </a:graphicData>
        </a:graphic>
      </p:graphicFrame>
      <p:sp>
        <p:nvSpPr>
          <p:cNvPr id="222234" name="Text Box 26"/>
          <p:cNvSpPr txBox="1">
            <a:spLocks noChangeArrowheads="1"/>
          </p:cNvSpPr>
          <p:nvPr/>
        </p:nvSpPr>
        <p:spPr bwMode="auto">
          <a:xfrm>
            <a:off x="792163" y="5038725"/>
            <a:ext cx="3962400" cy="457200"/>
          </a:xfrm>
          <a:prstGeom prst="rect">
            <a:avLst/>
          </a:prstGeom>
          <a:noFill/>
          <a:ln w="9525">
            <a:noFill/>
            <a:miter lim="800000"/>
            <a:headEnd/>
            <a:tailEnd/>
          </a:ln>
        </p:spPr>
        <p:txBody>
          <a:bodyPr>
            <a:spAutoFit/>
          </a:bodyPr>
          <a:lstStyle/>
          <a:p>
            <a:pPr>
              <a:spcBef>
                <a:spcPct val="50000"/>
              </a:spcBef>
            </a:pPr>
            <a:r>
              <a:rPr lang="zh-CN" altLang="en-US" b="1">
                <a:solidFill>
                  <a:srgbClr val="FF6600"/>
                </a:solidFill>
                <a:latin typeface="楷体_GB2312" pitchFamily="49" charset="-122"/>
                <a:ea typeface="楷体_GB2312" pitchFamily="49" charset="-122"/>
              </a:rPr>
              <a:t>透射波没有半波损失</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22214"/>
                                        </p:tgtEl>
                                        <p:attrNameLst>
                                          <p:attrName>style.visibility</p:attrName>
                                        </p:attrNameLst>
                                      </p:cBhvr>
                                      <p:to>
                                        <p:strVal val="visible"/>
                                      </p:to>
                                    </p:set>
                                    <p:anim calcmode="lin" valueType="num">
                                      <p:cBhvr>
                                        <p:cTn id="7" dur="500" fill="hold"/>
                                        <p:tgtEl>
                                          <p:spTgt spid="222214"/>
                                        </p:tgtEl>
                                        <p:attrNameLst>
                                          <p:attrName>ppt_w</p:attrName>
                                        </p:attrNameLst>
                                      </p:cBhvr>
                                      <p:tavLst>
                                        <p:tav tm="0">
                                          <p:val>
                                            <p:strVal val="4*#ppt_w"/>
                                          </p:val>
                                        </p:tav>
                                        <p:tav tm="100000">
                                          <p:val>
                                            <p:strVal val="#ppt_w"/>
                                          </p:val>
                                        </p:tav>
                                      </p:tavLst>
                                    </p:anim>
                                    <p:anim calcmode="lin" valueType="num">
                                      <p:cBhvr>
                                        <p:cTn id="8" dur="500" fill="hold"/>
                                        <p:tgtEl>
                                          <p:spTgt spid="222214"/>
                                        </p:tgtEl>
                                        <p:attrNameLst>
                                          <p:attrName>ppt_h</p:attrName>
                                        </p:attrNameLst>
                                      </p:cBhvr>
                                      <p:tavLst>
                                        <p:tav tm="0">
                                          <p:val>
                                            <p:strVal val="4*#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22212"/>
                                        </p:tgtEl>
                                        <p:attrNameLst>
                                          <p:attrName>style.visibility</p:attrName>
                                        </p:attrNameLst>
                                      </p:cBhvr>
                                      <p:to>
                                        <p:strVal val="visible"/>
                                      </p:to>
                                    </p:set>
                                    <p:animEffect transition="in" filter="wipe(left)">
                                      <p:cBhvr>
                                        <p:cTn id="13" dur="500"/>
                                        <p:tgtEl>
                                          <p:spTgt spid="22221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22213"/>
                                        </p:tgtEl>
                                        <p:attrNameLst>
                                          <p:attrName>style.visibility</p:attrName>
                                        </p:attrNameLst>
                                      </p:cBhvr>
                                      <p:to>
                                        <p:strVal val="visible"/>
                                      </p:to>
                                    </p:set>
                                    <p:animEffect transition="in" filter="wipe(left)">
                                      <p:cBhvr>
                                        <p:cTn id="18" dur="500"/>
                                        <p:tgtEl>
                                          <p:spTgt spid="2222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22217"/>
                                        </p:tgtEl>
                                        <p:attrNameLst>
                                          <p:attrName>style.visibility</p:attrName>
                                        </p:attrNameLst>
                                      </p:cBhvr>
                                      <p:to>
                                        <p:strVal val="visible"/>
                                      </p:to>
                                    </p:set>
                                    <p:animEffect transition="in" filter="wipe(left)">
                                      <p:cBhvr>
                                        <p:cTn id="23" dur="500"/>
                                        <p:tgtEl>
                                          <p:spTgt spid="222217"/>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8" fill="hold" grpId="0" nodeType="clickEffect">
                                  <p:stCondLst>
                                    <p:cond delay="0"/>
                                  </p:stCondLst>
                                  <p:childTnLst>
                                    <p:set>
                                      <p:cBhvr>
                                        <p:cTn id="27" dur="1" fill="hold">
                                          <p:stCondLst>
                                            <p:cond delay="0"/>
                                          </p:stCondLst>
                                        </p:cTn>
                                        <p:tgtEl>
                                          <p:spTgt spid="222216"/>
                                        </p:tgtEl>
                                        <p:attrNameLst>
                                          <p:attrName>style.visibility</p:attrName>
                                        </p:attrNameLst>
                                      </p:cBhvr>
                                      <p:to>
                                        <p:strVal val="visible"/>
                                      </p:to>
                                    </p:set>
                                    <p:animEffect transition="in" filter="slide(fromLeft)">
                                      <p:cBhvr>
                                        <p:cTn id="28" dur="500"/>
                                        <p:tgtEl>
                                          <p:spTgt spid="22221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22215"/>
                                        </p:tgtEl>
                                        <p:attrNameLst>
                                          <p:attrName>style.visibility</p:attrName>
                                        </p:attrNameLst>
                                      </p:cBhvr>
                                      <p:to>
                                        <p:strVal val="visible"/>
                                      </p:to>
                                    </p:set>
                                    <p:animEffect transition="in" filter="wipe(left)">
                                      <p:cBhvr>
                                        <p:cTn id="33" dur="500"/>
                                        <p:tgtEl>
                                          <p:spTgt spid="222215"/>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8" fill="hold" grpId="0" nodeType="clickEffect">
                                  <p:stCondLst>
                                    <p:cond delay="0"/>
                                  </p:stCondLst>
                                  <p:childTnLst>
                                    <p:set>
                                      <p:cBhvr>
                                        <p:cTn id="37" dur="1" fill="hold">
                                          <p:stCondLst>
                                            <p:cond delay="0"/>
                                          </p:stCondLst>
                                        </p:cTn>
                                        <p:tgtEl>
                                          <p:spTgt spid="222218"/>
                                        </p:tgtEl>
                                        <p:attrNameLst>
                                          <p:attrName>style.visibility</p:attrName>
                                        </p:attrNameLst>
                                      </p:cBhvr>
                                      <p:to>
                                        <p:strVal val="visible"/>
                                      </p:to>
                                    </p:set>
                                    <p:animEffect transition="in" filter="slide(fromLeft)">
                                      <p:cBhvr>
                                        <p:cTn id="38" dur="500"/>
                                        <p:tgtEl>
                                          <p:spTgt spid="22221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222219"/>
                                        </p:tgtEl>
                                        <p:attrNameLst>
                                          <p:attrName>style.visibility</p:attrName>
                                        </p:attrNameLst>
                                      </p:cBhvr>
                                      <p:to>
                                        <p:strVal val="visible"/>
                                      </p:to>
                                    </p:set>
                                    <p:animEffect transition="in" filter="wipe(left)">
                                      <p:cBhvr>
                                        <p:cTn id="43" dur="500"/>
                                        <p:tgtEl>
                                          <p:spTgt spid="222219"/>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6" fill="hold" grpId="0" nodeType="clickEffect">
                                  <p:stCondLst>
                                    <p:cond delay="0"/>
                                  </p:stCondLst>
                                  <p:iterate type="wd">
                                    <p:tmPct val="100000"/>
                                  </p:iterate>
                                  <p:childTnLst>
                                    <p:set>
                                      <p:cBhvr>
                                        <p:cTn id="47" dur="1" fill="hold">
                                          <p:stCondLst>
                                            <p:cond delay="0"/>
                                          </p:stCondLst>
                                        </p:cTn>
                                        <p:tgtEl>
                                          <p:spTgt spid="222220"/>
                                        </p:tgtEl>
                                        <p:attrNameLst>
                                          <p:attrName>style.visibility</p:attrName>
                                        </p:attrNameLst>
                                      </p:cBhvr>
                                      <p:to>
                                        <p:strVal val="visible"/>
                                      </p:to>
                                    </p:set>
                                    <p:animEffect transition="in" filter="barn(inHorizontal)">
                                      <p:cBhvr>
                                        <p:cTn id="48" dur="300"/>
                                        <p:tgtEl>
                                          <p:spTgt spid="222220"/>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22222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22224"/>
                                        </p:tgtEl>
                                        <p:attrNameLst>
                                          <p:attrName>style.visibility</p:attrName>
                                        </p:attrNameLst>
                                      </p:cBhvr>
                                      <p:to>
                                        <p:strVal val="visible"/>
                                      </p:to>
                                    </p:set>
                                    <p:animEffect transition="in" filter="wipe(left)">
                                      <p:cBhvr>
                                        <p:cTn id="57" dur="500"/>
                                        <p:tgtEl>
                                          <p:spTgt spid="222224"/>
                                        </p:tgtEl>
                                      </p:cBhvr>
                                    </p:animEffect>
                                  </p:childTnLst>
                                </p:cTn>
                              </p:par>
                            </p:childTnLst>
                          </p:cTn>
                        </p:par>
                        <p:par>
                          <p:cTn id="58" fill="hold">
                            <p:stCondLst>
                              <p:cond delay="500"/>
                            </p:stCondLst>
                            <p:childTnLst>
                              <p:par>
                                <p:cTn id="59" presetID="22" presetClass="entr" presetSubtype="8" fill="hold" nodeType="afterEffect">
                                  <p:stCondLst>
                                    <p:cond delay="0"/>
                                  </p:stCondLst>
                                  <p:childTnLst>
                                    <p:set>
                                      <p:cBhvr>
                                        <p:cTn id="60" dur="1" fill="hold">
                                          <p:stCondLst>
                                            <p:cond delay="0"/>
                                          </p:stCondLst>
                                        </p:cTn>
                                        <p:tgtEl>
                                          <p:spTgt spid="222225"/>
                                        </p:tgtEl>
                                        <p:attrNameLst>
                                          <p:attrName>style.visibility</p:attrName>
                                        </p:attrNameLst>
                                      </p:cBhvr>
                                      <p:to>
                                        <p:strVal val="visible"/>
                                      </p:to>
                                    </p:set>
                                    <p:animEffect transition="in" filter="wipe(left)">
                                      <p:cBhvr>
                                        <p:cTn id="61" dur="500"/>
                                        <p:tgtEl>
                                          <p:spTgt spid="222225"/>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8" fill="hold" grpId="0" nodeType="clickEffect">
                                  <p:stCondLst>
                                    <p:cond delay="0"/>
                                  </p:stCondLst>
                                  <p:childTnLst>
                                    <p:set>
                                      <p:cBhvr>
                                        <p:cTn id="65" dur="1" fill="hold">
                                          <p:stCondLst>
                                            <p:cond delay="0"/>
                                          </p:stCondLst>
                                        </p:cTn>
                                        <p:tgtEl>
                                          <p:spTgt spid="222226"/>
                                        </p:tgtEl>
                                        <p:attrNameLst>
                                          <p:attrName>style.visibility</p:attrName>
                                        </p:attrNameLst>
                                      </p:cBhvr>
                                      <p:to>
                                        <p:strVal val="visible"/>
                                      </p:to>
                                    </p:set>
                                    <p:anim calcmode="lin" valueType="num">
                                      <p:cBhvr additive="base">
                                        <p:cTn id="66" dur="500" fill="hold"/>
                                        <p:tgtEl>
                                          <p:spTgt spid="222226"/>
                                        </p:tgtEl>
                                        <p:attrNameLst>
                                          <p:attrName>ppt_x</p:attrName>
                                        </p:attrNameLst>
                                      </p:cBhvr>
                                      <p:tavLst>
                                        <p:tav tm="0">
                                          <p:val>
                                            <p:strVal val="0-#ppt_w/2"/>
                                          </p:val>
                                        </p:tav>
                                        <p:tav tm="100000">
                                          <p:val>
                                            <p:strVal val="#ppt_x"/>
                                          </p:val>
                                        </p:tav>
                                      </p:tavLst>
                                    </p:anim>
                                    <p:anim calcmode="lin" valueType="num">
                                      <p:cBhvr additive="base">
                                        <p:cTn id="67" dur="500" fill="hold"/>
                                        <p:tgtEl>
                                          <p:spTgt spid="222226"/>
                                        </p:tgtEl>
                                        <p:attrNameLst>
                                          <p:attrName>ppt_y</p:attrName>
                                        </p:attrNameLst>
                                      </p:cBhvr>
                                      <p:tavLst>
                                        <p:tav tm="0">
                                          <p:val>
                                            <p:strVal val="#ppt_y"/>
                                          </p:val>
                                        </p:tav>
                                        <p:tav tm="100000">
                                          <p:val>
                                            <p:strVal val="#ppt_y"/>
                                          </p:val>
                                        </p:tav>
                                      </p:tavLst>
                                    </p:anim>
                                  </p:childTnLst>
                                </p:cTn>
                              </p:par>
                            </p:childTnLst>
                          </p:cTn>
                        </p:par>
                        <p:par>
                          <p:cTn id="68" fill="hold">
                            <p:stCondLst>
                              <p:cond delay="500"/>
                            </p:stCondLst>
                            <p:childTnLst>
                              <p:par>
                                <p:cTn id="69" presetID="22" presetClass="entr" presetSubtype="8" fill="hold" grpId="0" nodeType="afterEffect">
                                  <p:stCondLst>
                                    <p:cond delay="0"/>
                                  </p:stCondLst>
                                  <p:iterate type="wd">
                                    <p:tmPct val="100000"/>
                                  </p:iterate>
                                  <p:childTnLst>
                                    <p:set>
                                      <p:cBhvr>
                                        <p:cTn id="70" dur="1" fill="hold">
                                          <p:stCondLst>
                                            <p:cond delay="0"/>
                                          </p:stCondLst>
                                        </p:cTn>
                                        <p:tgtEl>
                                          <p:spTgt spid="222229"/>
                                        </p:tgtEl>
                                        <p:attrNameLst>
                                          <p:attrName>style.visibility</p:attrName>
                                        </p:attrNameLst>
                                      </p:cBhvr>
                                      <p:to>
                                        <p:strVal val="visible"/>
                                      </p:to>
                                    </p:set>
                                    <p:animEffect transition="in" filter="wipe(left)">
                                      <p:cBhvr>
                                        <p:cTn id="71" dur="300"/>
                                        <p:tgtEl>
                                          <p:spTgt spid="222229"/>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2" fill="hold" grpId="0" nodeType="clickEffect">
                                  <p:stCondLst>
                                    <p:cond delay="0"/>
                                  </p:stCondLst>
                                  <p:childTnLst>
                                    <p:set>
                                      <p:cBhvr>
                                        <p:cTn id="75" dur="1" fill="hold">
                                          <p:stCondLst>
                                            <p:cond delay="0"/>
                                          </p:stCondLst>
                                        </p:cTn>
                                        <p:tgtEl>
                                          <p:spTgt spid="222227"/>
                                        </p:tgtEl>
                                        <p:attrNameLst>
                                          <p:attrName>style.visibility</p:attrName>
                                        </p:attrNameLst>
                                      </p:cBhvr>
                                      <p:to>
                                        <p:strVal val="visible"/>
                                      </p:to>
                                    </p:set>
                                    <p:animEffect transition="in" filter="slide(fromRight)">
                                      <p:cBhvr>
                                        <p:cTn id="76" dur="500"/>
                                        <p:tgtEl>
                                          <p:spTgt spid="222227"/>
                                        </p:tgtEl>
                                      </p:cBhvr>
                                    </p:animEffect>
                                  </p:childTnLst>
                                </p:cTn>
                              </p:par>
                            </p:childTnLst>
                          </p:cTn>
                        </p:par>
                        <p:par>
                          <p:cTn id="77" fill="hold">
                            <p:stCondLst>
                              <p:cond delay="500"/>
                            </p:stCondLst>
                            <p:childTnLst>
                              <p:par>
                                <p:cTn id="78" presetID="12" presetClass="entr" presetSubtype="2" fill="hold" grpId="0" nodeType="afterEffect">
                                  <p:stCondLst>
                                    <p:cond delay="0"/>
                                  </p:stCondLst>
                                  <p:iterate type="wd">
                                    <p:tmPct val="100000"/>
                                  </p:iterate>
                                  <p:childTnLst>
                                    <p:set>
                                      <p:cBhvr>
                                        <p:cTn id="79" dur="1" fill="hold">
                                          <p:stCondLst>
                                            <p:cond delay="0"/>
                                          </p:stCondLst>
                                        </p:cTn>
                                        <p:tgtEl>
                                          <p:spTgt spid="222230"/>
                                        </p:tgtEl>
                                        <p:attrNameLst>
                                          <p:attrName>style.visibility</p:attrName>
                                        </p:attrNameLst>
                                      </p:cBhvr>
                                      <p:to>
                                        <p:strVal val="visible"/>
                                      </p:to>
                                    </p:set>
                                    <p:animEffect transition="in" filter="slide(fromRight)">
                                      <p:cBhvr>
                                        <p:cTn id="80" dur="300"/>
                                        <p:tgtEl>
                                          <p:spTgt spid="222230"/>
                                        </p:tgtEl>
                                      </p:cBhvr>
                                    </p:animEffect>
                                  </p:childTnLst>
                                </p:cTn>
                              </p:par>
                            </p:childTnLst>
                          </p:cTn>
                        </p:par>
                      </p:childTnLst>
                    </p:cTn>
                  </p:par>
                  <p:par>
                    <p:cTn id="81" fill="hold">
                      <p:stCondLst>
                        <p:cond delay="indefinite"/>
                      </p:stCondLst>
                      <p:childTnLst>
                        <p:par>
                          <p:cTn id="82" fill="hold">
                            <p:stCondLst>
                              <p:cond delay="0"/>
                            </p:stCondLst>
                            <p:childTnLst>
                              <p:par>
                                <p:cTn id="83" presetID="12" presetClass="entr" presetSubtype="8" fill="hold" grpId="0" nodeType="clickEffect">
                                  <p:stCondLst>
                                    <p:cond delay="0"/>
                                  </p:stCondLst>
                                  <p:childTnLst>
                                    <p:set>
                                      <p:cBhvr>
                                        <p:cTn id="84" dur="1" fill="hold">
                                          <p:stCondLst>
                                            <p:cond delay="0"/>
                                          </p:stCondLst>
                                        </p:cTn>
                                        <p:tgtEl>
                                          <p:spTgt spid="222228"/>
                                        </p:tgtEl>
                                        <p:attrNameLst>
                                          <p:attrName>style.visibility</p:attrName>
                                        </p:attrNameLst>
                                      </p:cBhvr>
                                      <p:to>
                                        <p:strVal val="visible"/>
                                      </p:to>
                                    </p:set>
                                    <p:animEffect transition="in" filter="slide(fromLeft)">
                                      <p:cBhvr>
                                        <p:cTn id="85" dur="500"/>
                                        <p:tgtEl>
                                          <p:spTgt spid="222228"/>
                                        </p:tgtEl>
                                      </p:cBhvr>
                                    </p:animEffect>
                                  </p:childTnLst>
                                </p:cTn>
                              </p:par>
                            </p:childTnLst>
                          </p:cTn>
                        </p:par>
                        <p:par>
                          <p:cTn id="86" fill="hold">
                            <p:stCondLst>
                              <p:cond delay="500"/>
                            </p:stCondLst>
                            <p:childTnLst>
                              <p:par>
                                <p:cTn id="87" presetID="22" presetClass="entr" presetSubtype="8" fill="hold" grpId="0" nodeType="afterEffect">
                                  <p:stCondLst>
                                    <p:cond delay="0"/>
                                  </p:stCondLst>
                                  <p:iterate type="wd">
                                    <p:tmPct val="100000"/>
                                  </p:iterate>
                                  <p:childTnLst>
                                    <p:set>
                                      <p:cBhvr>
                                        <p:cTn id="88" dur="1" fill="hold">
                                          <p:stCondLst>
                                            <p:cond delay="0"/>
                                          </p:stCondLst>
                                        </p:cTn>
                                        <p:tgtEl>
                                          <p:spTgt spid="222231"/>
                                        </p:tgtEl>
                                        <p:attrNameLst>
                                          <p:attrName>style.visibility</p:attrName>
                                        </p:attrNameLst>
                                      </p:cBhvr>
                                      <p:to>
                                        <p:strVal val="visible"/>
                                      </p:to>
                                    </p:set>
                                    <p:animEffect transition="in" filter="wipe(left)">
                                      <p:cBhvr>
                                        <p:cTn id="89" dur="300"/>
                                        <p:tgtEl>
                                          <p:spTgt spid="222231"/>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222233"/>
                                        </p:tgtEl>
                                        <p:attrNameLst>
                                          <p:attrName>style.visibility</p:attrName>
                                        </p:attrNameLst>
                                      </p:cBhvr>
                                      <p:to>
                                        <p:strVal val="visible"/>
                                      </p:to>
                                    </p:set>
                                    <p:animEffect transition="in" filter="wipe(left)">
                                      <p:cBhvr>
                                        <p:cTn id="94" dur="500"/>
                                        <p:tgtEl>
                                          <p:spTgt spid="222233"/>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iterate type="wd">
                                    <p:tmPct val="100000"/>
                                  </p:iterate>
                                  <p:childTnLst>
                                    <p:set>
                                      <p:cBhvr>
                                        <p:cTn id="98" dur="1" fill="hold">
                                          <p:stCondLst>
                                            <p:cond delay="0"/>
                                          </p:stCondLst>
                                        </p:cTn>
                                        <p:tgtEl>
                                          <p:spTgt spid="222221"/>
                                        </p:tgtEl>
                                        <p:attrNameLst>
                                          <p:attrName>style.visibility</p:attrName>
                                        </p:attrNameLst>
                                      </p:cBhvr>
                                      <p:to>
                                        <p:strVal val="visible"/>
                                      </p:to>
                                    </p:set>
                                    <p:animEffect transition="in" filter="wipe(left)">
                                      <p:cBhvr>
                                        <p:cTn id="99" dur="300"/>
                                        <p:tgtEl>
                                          <p:spTgt spid="222221"/>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222232"/>
                                        </p:tgtEl>
                                        <p:attrNameLst>
                                          <p:attrName>style.visibility</p:attrName>
                                        </p:attrNameLst>
                                      </p:cBhvr>
                                      <p:to>
                                        <p:strVal val="visible"/>
                                      </p:to>
                                    </p:set>
                                    <p:animEffect transition="in" filter="wipe(left)">
                                      <p:cBhvr>
                                        <p:cTn id="104" dur="500"/>
                                        <p:tgtEl>
                                          <p:spTgt spid="222232"/>
                                        </p:tgtEl>
                                      </p:cBhvr>
                                    </p:animEffect>
                                  </p:childTnLst>
                                </p:cTn>
                              </p:par>
                            </p:childTnLst>
                          </p:cTn>
                        </p:par>
                      </p:childTnLst>
                    </p:cTn>
                  </p:par>
                  <p:par>
                    <p:cTn id="105" fill="hold">
                      <p:stCondLst>
                        <p:cond delay="indefinite"/>
                      </p:stCondLst>
                      <p:childTnLst>
                        <p:par>
                          <p:cTn id="106" fill="hold">
                            <p:stCondLst>
                              <p:cond delay="0"/>
                            </p:stCondLst>
                            <p:childTnLst>
                              <p:par>
                                <p:cTn id="107" presetID="5" presetClass="entr" presetSubtype="10" fill="hold" grpId="0" nodeType="clickEffect">
                                  <p:stCondLst>
                                    <p:cond delay="0"/>
                                  </p:stCondLst>
                                  <p:iterate type="wd">
                                    <p:tmPct val="100000"/>
                                  </p:iterate>
                                  <p:childTnLst>
                                    <p:set>
                                      <p:cBhvr>
                                        <p:cTn id="108" dur="1" fill="hold">
                                          <p:stCondLst>
                                            <p:cond delay="0"/>
                                          </p:stCondLst>
                                        </p:cTn>
                                        <p:tgtEl>
                                          <p:spTgt spid="222222"/>
                                        </p:tgtEl>
                                        <p:attrNameLst>
                                          <p:attrName>style.visibility</p:attrName>
                                        </p:attrNameLst>
                                      </p:cBhvr>
                                      <p:to>
                                        <p:strVal val="visible"/>
                                      </p:to>
                                    </p:set>
                                    <p:animEffect transition="in" filter="checkerboard(across)">
                                      <p:cBhvr>
                                        <p:cTn id="109" dur="300"/>
                                        <p:tgtEl>
                                          <p:spTgt spid="222222"/>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iterate type="wd">
                                    <p:tmPct val="100000"/>
                                  </p:iterate>
                                  <p:childTnLst>
                                    <p:set>
                                      <p:cBhvr>
                                        <p:cTn id="113" dur="1" fill="hold">
                                          <p:stCondLst>
                                            <p:cond delay="0"/>
                                          </p:stCondLst>
                                        </p:cTn>
                                        <p:tgtEl>
                                          <p:spTgt spid="222234"/>
                                        </p:tgtEl>
                                        <p:attrNameLst>
                                          <p:attrName>style.visibility</p:attrName>
                                        </p:attrNameLst>
                                      </p:cBhvr>
                                      <p:to>
                                        <p:strVal val="visible"/>
                                      </p:to>
                                    </p:set>
                                    <p:animEffect transition="in" filter="wipe(left)">
                                      <p:cBhvr>
                                        <p:cTn id="114" dur="300"/>
                                        <p:tgtEl>
                                          <p:spTgt spid="222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2" grpId="0" autoUpdateAnimBg="0"/>
      <p:bldP spid="222213" grpId="0" autoUpdateAnimBg="0"/>
      <p:bldP spid="222214" grpId="0" animBg="1"/>
      <p:bldP spid="222216" grpId="0" animBg="1"/>
      <p:bldP spid="222218" grpId="0" animBg="1"/>
      <p:bldP spid="222220" grpId="0" autoUpdateAnimBg="0"/>
      <p:bldP spid="222221" grpId="0" autoUpdateAnimBg="0"/>
      <p:bldP spid="222222" grpId="0" autoUpdateAnimBg="0"/>
      <p:bldP spid="222223" grpId="0" animBg="1"/>
      <p:bldP spid="222226" grpId="0" animBg="1"/>
      <p:bldP spid="222227" grpId="0" animBg="1"/>
      <p:bldP spid="222228" grpId="0" animBg="1"/>
      <p:bldP spid="222229" grpId="0" autoUpdateAnimBg="0"/>
      <p:bldP spid="222230" grpId="0" autoUpdateAnimBg="0"/>
      <p:bldP spid="222231" grpId="0" autoUpdateAnimBg="0"/>
      <p:bldP spid="222234"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0" name="Text Box 4"/>
          <p:cNvSpPr txBox="1">
            <a:spLocks noChangeArrowheads="1"/>
          </p:cNvSpPr>
          <p:nvPr/>
        </p:nvSpPr>
        <p:spPr bwMode="auto">
          <a:xfrm>
            <a:off x="179388" y="476250"/>
            <a:ext cx="3959225" cy="457200"/>
          </a:xfrm>
          <a:prstGeom prst="rect">
            <a:avLst/>
          </a:prstGeom>
          <a:noFill/>
          <a:ln w="9525">
            <a:noFill/>
            <a:miter lim="800000"/>
            <a:headEnd/>
            <a:tailEnd/>
          </a:ln>
        </p:spPr>
        <p:txBody>
          <a:bodyPr>
            <a:spAutoFit/>
          </a:bodyPr>
          <a:lstStyle/>
          <a:p>
            <a:pPr>
              <a:spcBef>
                <a:spcPct val="50000"/>
              </a:spcBef>
            </a:pPr>
            <a:r>
              <a:rPr lang="zh-CN" altLang="en-US" b="1">
                <a:solidFill>
                  <a:srgbClr val="FF3300"/>
                </a:solidFill>
              </a:rPr>
              <a:t>四、简正模式</a:t>
            </a:r>
            <a:r>
              <a:rPr lang="zh-CN" altLang="en-US"/>
              <a:t> </a:t>
            </a:r>
          </a:p>
        </p:txBody>
      </p:sp>
      <p:grpSp>
        <p:nvGrpSpPr>
          <p:cNvPr id="2" name="Group 6"/>
          <p:cNvGrpSpPr>
            <a:grpSpLocks/>
          </p:cNvGrpSpPr>
          <p:nvPr/>
        </p:nvGrpSpPr>
        <p:grpSpPr bwMode="auto">
          <a:xfrm>
            <a:off x="5616575" y="1917700"/>
            <a:ext cx="2855913" cy="357188"/>
            <a:chOff x="998" y="3685"/>
            <a:chExt cx="1799" cy="225"/>
          </a:xfrm>
        </p:grpSpPr>
        <p:sp>
          <p:nvSpPr>
            <p:cNvPr id="47127" name="Line 7"/>
            <p:cNvSpPr>
              <a:spLocks noChangeShapeType="1"/>
            </p:cNvSpPr>
            <p:nvPr/>
          </p:nvSpPr>
          <p:spPr bwMode="auto">
            <a:xfrm>
              <a:off x="998" y="3789"/>
              <a:ext cx="1792" cy="0"/>
            </a:xfrm>
            <a:prstGeom prst="line">
              <a:avLst/>
            </a:prstGeom>
            <a:noFill/>
            <a:ln w="15240">
              <a:solidFill>
                <a:schemeClr val="tx1"/>
              </a:solidFill>
              <a:round/>
              <a:headEnd/>
              <a:tailEnd/>
            </a:ln>
          </p:spPr>
          <p:txBody>
            <a:bodyPr/>
            <a:lstStyle/>
            <a:p>
              <a:endParaRPr lang="zh-CN" altLang="en-US"/>
            </a:p>
          </p:txBody>
        </p:sp>
        <p:sp>
          <p:nvSpPr>
            <p:cNvPr id="47128" name="Line 8"/>
            <p:cNvSpPr>
              <a:spLocks noChangeShapeType="1"/>
            </p:cNvSpPr>
            <p:nvPr/>
          </p:nvSpPr>
          <p:spPr bwMode="auto">
            <a:xfrm>
              <a:off x="998" y="3685"/>
              <a:ext cx="0" cy="218"/>
            </a:xfrm>
            <a:prstGeom prst="line">
              <a:avLst/>
            </a:prstGeom>
            <a:noFill/>
            <a:ln w="15240">
              <a:solidFill>
                <a:schemeClr val="tx1"/>
              </a:solidFill>
              <a:round/>
              <a:headEnd/>
              <a:tailEnd/>
            </a:ln>
          </p:spPr>
          <p:txBody>
            <a:bodyPr/>
            <a:lstStyle/>
            <a:p>
              <a:endParaRPr lang="zh-CN" altLang="en-US"/>
            </a:p>
          </p:txBody>
        </p:sp>
        <p:sp>
          <p:nvSpPr>
            <p:cNvPr id="47129" name="Line 9"/>
            <p:cNvSpPr>
              <a:spLocks noChangeShapeType="1"/>
            </p:cNvSpPr>
            <p:nvPr/>
          </p:nvSpPr>
          <p:spPr bwMode="auto">
            <a:xfrm>
              <a:off x="2797" y="3692"/>
              <a:ext cx="0" cy="218"/>
            </a:xfrm>
            <a:prstGeom prst="line">
              <a:avLst/>
            </a:prstGeom>
            <a:noFill/>
            <a:ln w="15240">
              <a:solidFill>
                <a:schemeClr val="tx1"/>
              </a:solidFill>
              <a:round/>
              <a:headEnd/>
              <a:tailEnd/>
            </a:ln>
          </p:spPr>
          <p:txBody>
            <a:bodyPr/>
            <a:lstStyle/>
            <a:p>
              <a:endParaRPr lang="zh-CN" altLang="en-US"/>
            </a:p>
          </p:txBody>
        </p:sp>
      </p:grpSp>
      <p:sp>
        <p:nvSpPr>
          <p:cNvPr id="132106" name="Freeform 10"/>
          <p:cNvSpPr>
            <a:spLocks/>
          </p:cNvSpPr>
          <p:nvPr/>
        </p:nvSpPr>
        <p:spPr bwMode="auto">
          <a:xfrm>
            <a:off x="5588000" y="1725613"/>
            <a:ext cx="2895600" cy="381000"/>
          </a:xfrm>
          <a:custGeom>
            <a:avLst/>
            <a:gdLst>
              <a:gd name="T0" fmla="*/ 0 w 1056"/>
              <a:gd name="T1" fmla="*/ 2147483647 h 480"/>
              <a:gd name="T2" fmla="*/ 2147483647 w 1056"/>
              <a:gd name="T3" fmla="*/ 0 h 480"/>
              <a:gd name="T4" fmla="*/ 2147483647 w 1056"/>
              <a:gd name="T5" fmla="*/ 2147483647 h 480"/>
              <a:gd name="T6" fmla="*/ 0 60000 65536"/>
              <a:gd name="T7" fmla="*/ 0 60000 65536"/>
              <a:gd name="T8" fmla="*/ 0 60000 65536"/>
              <a:gd name="T9" fmla="*/ 0 w 1056"/>
              <a:gd name="T10" fmla="*/ 0 h 480"/>
              <a:gd name="T11" fmla="*/ 1056 w 1056"/>
              <a:gd name="T12" fmla="*/ 480 h 480"/>
            </a:gdLst>
            <a:ahLst/>
            <a:cxnLst>
              <a:cxn ang="T6">
                <a:pos x="T0" y="T1"/>
              </a:cxn>
              <a:cxn ang="T7">
                <a:pos x="T2" y="T3"/>
              </a:cxn>
              <a:cxn ang="T8">
                <a:pos x="T4" y="T5"/>
              </a:cxn>
            </a:cxnLst>
            <a:rect l="T9" t="T10" r="T11" b="T12"/>
            <a:pathLst>
              <a:path w="1056" h="480">
                <a:moveTo>
                  <a:pt x="0" y="480"/>
                </a:moveTo>
                <a:cubicBezTo>
                  <a:pt x="176" y="240"/>
                  <a:pt x="352" y="0"/>
                  <a:pt x="528" y="0"/>
                </a:cubicBezTo>
                <a:cubicBezTo>
                  <a:pt x="704" y="0"/>
                  <a:pt x="968" y="400"/>
                  <a:pt x="1056" y="480"/>
                </a:cubicBezTo>
              </a:path>
            </a:pathLst>
          </a:custGeom>
          <a:noFill/>
          <a:ln w="28575">
            <a:solidFill>
              <a:srgbClr val="00FF00"/>
            </a:solidFill>
            <a:round/>
            <a:headEnd/>
            <a:tailEnd/>
          </a:ln>
        </p:spPr>
        <p:txBody>
          <a:bodyPr/>
          <a:lstStyle/>
          <a:p>
            <a:endParaRPr lang="zh-CN" altLang="en-US"/>
          </a:p>
        </p:txBody>
      </p:sp>
      <p:grpSp>
        <p:nvGrpSpPr>
          <p:cNvPr id="3" name="Group 11"/>
          <p:cNvGrpSpPr>
            <a:grpSpLocks/>
          </p:cNvGrpSpPr>
          <p:nvPr/>
        </p:nvGrpSpPr>
        <p:grpSpPr bwMode="auto">
          <a:xfrm>
            <a:off x="5651500" y="1700213"/>
            <a:ext cx="2832100" cy="749300"/>
            <a:chOff x="3696" y="1344"/>
            <a:chExt cx="1784" cy="472"/>
          </a:xfrm>
        </p:grpSpPr>
        <p:sp>
          <p:nvSpPr>
            <p:cNvPr id="47125" name="Freeform 12"/>
            <p:cNvSpPr>
              <a:spLocks/>
            </p:cNvSpPr>
            <p:nvPr/>
          </p:nvSpPr>
          <p:spPr bwMode="auto">
            <a:xfrm>
              <a:off x="3696" y="1344"/>
              <a:ext cx="872" cy="240"/>
            </a:xfrm>
            <a:custGeom>
              <a:avLst/>
              <a:gdLst>
                <a:gd name="T0" fmla="*/ 0 w 1056"/>
                <a:gd name="T1" fmla="*/ 60 h 480"/>
                <a:gd name="T2" fmla="*/ 297 w 1056"/>
                <a:gd name="T3" fmla="*/ 0 h 480"/>
                <a:gd name="T4" fmla="*/ 595 w 1056"/>
                <a:gd name="T5" fmla="*/ 60 h 480"/>
                <a:gd name="T6" fmla="*/ 0 60000 65536"/>
                <a:gd name="T7" fmla="*/ 0 60000 65536"/>
                <a:gd name="T8" fmla="*/ 0 60000 65536"/>
                <a:gd name="T9" fmla="*/ 0 w 1056"/>
                <a:gd name="T10" fmla="*/ 0 h 480"/>
                <a:gd name="T11" fmla="*/ 1056 w 1056"/>
                <a:gd name="T12" fmla="*/ 480 h 480"/>
              </a:gdLst>
              <a:ahLst/>
              <a:cxnLst>
                <a:cxn ang="T6">
                  <a:pos x="T0" y="T1"/>
                </a:cxn>
                <a:cxn ang="T7">
                  <a:pos x="T2" y="T3"/>
                </a:cxn>
                <a:cxn ang="T8">
                  <a:pos x="T4" y="T5"/>
                </a:cxn>
              </a:cxnLst>
              <a:rect l="T9" t="T10" r="T11" b="T12"/>
              <a:pathLst>
                <a:path w="1056" h="480">
                  <a:moveTo>
                    <a:pt x="0" y="480"/>
                  </a:moveTo>
                  <a:cubicBezTo>
                    <a:pt x="176" y="240"/>
                    <a:pt x="352" y="0"/>
                    <a:pt x="528" y="0"/>
                  </a:cubicBezTo>
                  <a:cubicBezTo>
                    <a:pt x="704" y="0"/>
                    <a:pt x="968" y="400"/>
                    <a:pt x="1056" y="480"/>
                  </a:cubicBezTo>
                </a:path>
              </a:pathLst>
            </a:custGeom>
            <a:noFill/>
            <a:ln w="28575">
              <a:solidFill>
                <a:srgbClr val="0033CC"/>
              </a:solidFill>
              <a:round/>
              <a:headEnd/>
              <a:tailEnd/>
            </a:ln>
          </p:spPr>
          <p:txBody>
            <a:bodyPr/>
            <a:lstStyle/>
            <a:p>
              <a:endParaRPr lang="zh-CN" altLang="en-US"/>
            </a:p>
          </p:txBody>
        </p:sp>
        <p:sp>
          <p:nvSpPr>
            <p:cNvPr id="47126" name="Freeform 13"/>
            <p:cNvSpPr>
              <a:spLocks/>
            </p:cNvSpPr>
            <p:nvPr/>
          </p:nvSpPr>
          <p:spPr bwMode="auto">
            <a:xfrm flipV="1">
              <a:off x="4560" y="1576"/>
              <a:ext cx="920" cy="240"/>
            </a:xfrm>
            <a:custGeom>
              <a:avLst/>
              <a:gdLst>
                <a:gd name="T0" fmla="*/ 0 w 1056"/>
                <a:gd name="T1" fmla="*/ 60 h 480"/>
                <a:gd name="T2" fmla="*/ 349 w 1056"/>
                <a:gd name="T3" fmla="*/ 0 h 480"/>
                <a:gd name="T4" fmla="*/ 699 w 1056"/>
                <a:gd name="T5" fmla="*/ 60 h 480"/>
                <a:gd name="T6" fmla="*/ 0 60000 65536"/>
                <a:gd name="T7" fmla="*/ 0 60000 65536"/>
                <a:gd name="T8" fmla="*/ 0 60000 65536"/>
                <a:gd name="T9" fmla="*/ 0 w 1056"/>
                <a:gd name="T10" fmla="*/ 0 h 480"/>
                <a:gd name="T11" fmla="*/ 1056 w 1056"/>
                <a:gd name="T12" fmla="*/ 480 h 480"/>
              </a:gdLst>
              <a:ahLst/>
              <a:cxnLst>
                <a:cxn ang="T6">
                  <a:pos x="T0" y="T1"/>
                </a:cxn>
                <a:cxn ang="T7">
                  <a:pos x="T2" y="T3"/>
                </a:cxn>
                <a:cxn ang="T8">
                  <a:pos x="T4" y="T5"/>
                </a:cxn>
              </a:cxnLst>
              <a:rect l="T9" t="T10" r="T11" b="T12"/>
              <a:pathLst>
                <a:path w="1056" h="480">
                  <a:moveTo>
                    <a:pt x="0" y="480"/>
                  </a:moveTo>
                  <a:cubicBezTo>
                    <a:pt x="176" y="240"/>
                    <a:pt x="352" y="0"/>
                    <a:pt x="528" y="0"/>
                  </a:cubicBezTo>
                  <a:cubicBezTo>
                    <a:pt x="704" y="0"/>
                    <a:pt x="968" y="400"/>
                    <a:pt x="1056" y="480"/>
                  </a:cubicBezTo>
                </a:path>
              </a:pathLst>
            </a:custGeom>
            <a:noFill/>
            <a:ln w="28575">
              <a:solidFill>
                <a:srgbClr val="0033CC"/>
              </a:solidFill>
              <a:round/>
              <a:headEnd/>
              <a:tailEnd/>
            </a:ln>
          </p:spPr>
          <p:txBody>
            <a:bodyPr/>
            <a:lstStyle/>
            <a:p>
              <a:endParaRPr lang="zh-CN" altLang="en-US"/>
            </a:p>
          </p:txBody>
        </p:sp>
      </p:grpSp>
      <p:grpSp>
        <p:nvGrpSpPr>
          <p:cNvPr id="4" name="Group 14"/>
          <p:cNvGrpSpPr>
            <a:grpSpLocks/>
          </p:cNvGrpSpPr>
          <p:nvPr/>
        </p:nvGrpSpPr>
        <p:grpSpPr bwMode="auto">
          <a:xfrm>
            <a:off x="5613400" y="1712913"/>
            <a:ext cx="2844800" cy="711200"/>
            <a:chOff x="3696" y="1336"/>
            <a:chExt cx="1792" cy="448"/>
          </a:xfrm>
        </p:grpSpPr>
        <p:sp>
          <p:nvSpPr>
            <p:cNvPr id="47122" name="Freeform 15"/>
            <p:cNvSpPr>
              <a:spLocks/>
            </p:cNvSpPr>
            <p:nvPr/>
          </p:nvSpPr>
          <p:spPr bwMode="auto">
            <a:xfrm>
              <a:off x="3696" y="1344"/>
              <a:ext cx="624" cy="240"/>
            </a:xfrm>
            <a:custGeom>
              <a:avLst/>
              <a:gdLst>
                <a:gd name="T0" fmla="*/ 0 w 1056"/>
                <a:gd name="T1" fmla="*/ 60 h 480"/>
                <a:gd name="T2" fmla="*/ 109 w 1056"/>
                <a:gd name="T3" fmla="*/ 0 h 480"/>
                <a:gd name="T4" fmla="*/ 218 w 1056"/>
                <a:gd name="T5" fmla="*/ 60 h 480"/>
                <a:gd name="T6" fmla="*/ 0 60000 65536"/>
                <a:gd name="T7" fmla="*/ 0 60000 65536"/>
                <a:gd name="T8" fmla="*/ 0 60000 65536"/>
                <a:gd name="T9" fmla="*/ 0 w 1056"/>
                <a:gd name="T10" fmla="*/ 0 h 480"/>
                <a:gd name="T11" fmla="*/ 1056 w 1056"/>
                <a:gd name="T12" fmla="*/ 480 h 480"/>
              </a:gdLst>
              <a:ahLst/>
              <a:cxnLst>
                <a:cxn ang="T6">
                  <a:pos x="T0" y="T1"/>
                </a:cxn>
                <a:cxn ang="T7">
                  <a:pos x="T2" y="T3"/>
                </a:cxn>
                <a:cxn ang="T8">
                  <a:pos x="T4" y="T5"/>
                </a:cxn>
              </a:cxnLst>
              <a:rect l="T9" t="T10" r="T11" b="T12"/>
              <a:pathLst>
                <a:path w="1056" h="480">
                  <a:moveTo>
                    <a:pt x="0" y="480"/>
                  </a:moveTo>
                  <a:cubicBezTo>
                    <a:pt x="176" y="240"/>
                    <a:pt x="352" y="0"/>
                    <a:pt x="528" y="0"/>
                  </a:cubicBezTo>
                  <a:cubicBezTo>
                    <a:pt x="704" y="0"/>
                    <a:pt x="968" y="400"/>
                    <a:pt x="1056" y="480"/>
                  </a:cubicBezTo>
                </a:path>
              </a:pathLst>
            </a:custGeom>
            <a:noFill/>
            <a:ln w="28575">
              <a:solidFill>
                <a:srgbClr val="FF6600"/>
              </a:solidFill>
              <a:round/>
              <a:headEnd/>
              <a:tailEnd/>
            </a:ln>
          </p:spPr>
          <p:txBody>
            <a:bodyPr/>
            <a:lstStyle/>
            <a:p>
              <a:endParaRPr lang="zh-CN" altLang="en-US"/>
            </a:p>
          </p:txBody>
        </p:sp>
        <p:sp>
          <p:nvSpPr>
            <p:cNvPr id="47123" name="Freeform 16"/>
            <p:cNvSpPr>
              <a:spLocks/>
            </p:cNvSpPr>
            <p:nvPr/>
          </p:nvSpPr>
          <p:spPr bwMode="auto">
            <a:xfrm>
              <a:off x="4880" y="1336"/>
              <a:ext cx="608" cy="240"/>
            </a:xfrm>
            <a:custGeom>
              <a:avLst/>
              <a:gdLst>
                <a:gd name="T0" fmla="*/ 0 w 1056"/>
                <a:gd name="T1" fmla="*/ 60 h 480"/>
                <a:gd name="T2" fmla="*/ 101 w 1056"/>
                <a:gd name="T3" fmla="*/ 0 h 480"/>
                <a:gd name="T4" fmla="*/ 202 w 1056"/>
                <a:gd name="T5" fmla="*/ 60 h 480"/>
                <a:gd name="T6" fmla="*/ 0 60000 65536"/>
                <a:gd name="T7" fmla="*/ 0 60000 65536"/>
                <a:gd name="T8" fmla="*/ 0 60000 65536"/>
                <a:gd name="T9" fmla="*/ 0 w 1056"/>
                <a:gd name="T10" fmla="*/ 0 h 480"/>
                <a:gd name="T11" fmla="*/ 1056 w 1056"/>
                <a:gd name="T12" fmla="*/ 480 h 480"/>
              </a:gdLst>
              <a:ahLst/>
              <a:cxnLst>
                <a:cxn ang="T6">
                  <a:pos x="T0" y="T1"/>
                </a:cxn>
                <a:cxn ang="T7">
                  <a:pos x="T2" y="T3"/>
                </a:cxn>
                <a:cxn ang="T8">
                  <a:pos x="T4" y="T5"/>
                </a:cxn>
              </a:cxnLst>
              <a:rect l="T9" t="T10" r="T11" b="T12"/>
              <a:pathLst>
                <a:path w="1056" h="480">
                  <a:moveTo>
                    <a:pt x="0" y="480"/>
                  </a:moveTo>
                  <a:cubicBezTo>
                    <a:pt x="176" y="240"/>
                    <a:pt x="352" y="0"/>
                    <a:pt x="528" y="0"/>
                  </a:cubicBezTo>
                  <a:cubicBezTo>
                    <a:pt x="704" y="0"/>
                    <a:pt x="968" y="400"/>
                    <a:pt x="1056" y="480"/>
                  </a:cubicBezTo>
                </a:path>
              </a:pathLst>
            </a:custGeom>
            <a:noFill/>
            <a:ln w="28575">
              <a:solidFill>
                <a:srgbClr val="FF6600"/>
              </a:solidFill>
              <a:round/>
              <a:headEnd/>
              <a:tailEnd/>
            </a:ln>
          </p:spPr>
          <p:txBody>
            <a:bodyPr/>
            <a:lstStyle/>
            <a:p>
              <a:endParaRPr lang="zh-CN" altLang="en-US"/>
            </a:p>
          </p:txBody>
        </p:sp>
        <p:sp>
          <p:nvSpPr>
            <p:cNvPr id="47124" name="Freeform 17"/>
            <p:cNvSpPr>
              <a:spLocks/>
            </p:cNvSpPr>
            <p:nvPr/>
          </p:nvSpPr>
          <p:spPr bwMode="auto">
            <a:xfrm flipV="1">
              <a:off x="4288" y="1544"/>
              <a:ext cx="624" cy="240"/>
            </a:xfrm>
            <a:custGeom>
              <a:avLst/>
              <a:gdLst>
                <a:gd name="T0" fmla="*/ 0 w 1056"/>
                <a:gd name="T1" fmla="*/ 60 h 480"/>
                <a:gd name="T2" fmla="*/ 109 w 1056"/>
                <a:gd name="T3" fmla="*/ 0 h 480"/>
                <a:gd name="T4" fmla="*/ 218 w 1056"/>
                <a:gd name="T5" fmla="*/ 60 h 480"/>
                <a:gd name="T6" fmla="*/ 0 60000 65536"/>
                <a:gd name="T7" fmla="*/ 0 60000 65536"/>
                <a:gd name="T8" fmla="*/ 0 60000 65536"/>
                <a:gd name="T9" fmla="*/ 0 w 1056"/>
                <a:gd name="T10" fmla="*/ 0 h 480"/>
                <a:gd name="T11" fmla="*/ 1056 w 1056"/>
                <a:gd name="T12" fmla="*/ 480 h 480"/>
              </a:gdLst>
              <a:ahLst/>
              <a:cxnLst>
                <a:cxn ang="T6">
                  <a:pos x="T0" y="T1"/>
                </a:cxn>
                <a:cxn ang="T7">
                  <a:pos x="T2" y="T3"/>
                </a:cxn>
                <a:cxn ang="T8">
                  <a:pos x="T4" y="T5"/>
                </a:cxn>
              </a:cxnLst>
              <a:rect l="T9" t="T10" r="T11" b="T12"/>
              <a:pathLst>
                <a:path w="1056" h="480">
                  <a:moveTo>
                    <a:pt x="0" y="480"/>
                  </a:moveTo>
                  <a:cubicBezTo>
                    <a:pt x="176" y="240"/>
                    <a:pt x="352" y="0"/>
                    <a:pt x="528" y="0"/>
                  </a:cubicBezTo>
                  <a:cubicBezTo>
                    <a:pt x="704" y="0"/>
                    <a:pt x="968" y="400"/>
                    <a:pt x="1056" y="480"/>
                  </a:cubicBezTo>
                </a:path>
              </a:pathLst>
            </a:custGeom>
            <a:noFill/>
            <a:ln w="28575">
              <a:solidFill>
                <a:srgbClr val="FF6600"/>
              </a:solidFill>
              <a:round/>
              <a:headEnd/>
              <a:tailEnd/>
            </a:ln>
          </p:spPr>
          <p:txBody>
            <a:bodyPr/>
            <a:lstStyle/>
            <a:p>
              <a:endParaRPr lang="zh-CN" altLang="en-US"/>
            </a:p>
          </p:txBody>
        </p:sp>
      </p:grpSp>
      <p:sp>
        <p:nvSpPr>
          <p:cNvPr id="132114" name="Text Box 18"/>
          <p:cNvSpPr txBox="1">
            <a:spLocks noChangeArrowheads="1"/>
          </p:cNvSpPr>
          <p:nvPr/>
        </p:nvSpPr>
        <p:spPr bwMode="auto">
          <a:xfrm>
            <a:off x="755650" y="1052513"/>
            <a:ext cx="7416800" cy="457200"/>
          </a:xfrm>
          <a:prstGeom prst="rect">
            <a:avLst/>
          </a:prstGeom>
          <a:noFill/>
          <a:ln w="9525">
            <a:noFill/>
            <a:miter lim="800000"/>
            <a:headEnd/>
            <a:tailEnd/>
          </a:ln>
        </p:spPr>
        <p:txBody>
          <a:bodyPr>
            <a:spAutoFit/>
          </a:bodyPr>
          <a:lstStyle/>
          <a:p>
            <a:pPr>
              <a:spcBef>
                <a:spcPct val="50000"/>
              </a:spcBef>
            </a:pPr>
            <a:r>
              <a:rPr lang="zh-CN" altLang="en-US" b="1">
                <a:ea typeface="楷体_GB2312" pitchFamily="49" charset="-122"/>
              </a:rPr>
              <a:t>各种允许的频率所对应的驻波振动称为</a:t>
            </a:r>
            <a:r>
              <a:rPr lang="zh-CN" altLang="en-US" b="1">
                <a:solidFill>
                  <a:srgbClr val="FF6600"/>
                </a:solidFill>
                <a:ea typeface="楷体_GB2312" pitchFamily="49" charset="-122"/>
              </a:rPr>
              <a:t>简正模式</a:t>
            </a:r>
            <a:r>
              <a:rPr lang="zh-CN" altLang="en-US" b="1">
                <a:ea typeface="楷体_GB2312" pitchFamily="49" charset="-122"/>
              </a:rPr>
              <a:t>。</a:t>
            </a:r>
          </a:p>
        </p:txBody>
      </p:sp>
      <p:graphicFrame>
        <p:nvGraphicFramePr>
          <p:cNvPr id="132115" name="Object 19"/>
          <p:cNvGraphicFramePr>
            <a:graphicFrameLocks noChangeAspect="1"/>
          </p:cNvGraphicFramePr>
          <p:nvPr/>
        </p:nvGraphicFramePr>
        <p:xfrm>
          <a:off x="4489450" y="2722563"/>
          <a:ext cx="1087438" cy="730250"/>
        </p:xfrm>
        <a:graphic>
          <a:graphicData uri="http://schemas.openxmlformats.org/presentationml/2006/ole">
            <p:oleObj spid="_x0000_s47106" name="公式" r:id="rId3" imgW="533160" imgH="406080" progId="Equation.3">
              <p:embed/>
            </p:oleObj>
          </a:graphicData>
        </a:graphic>
      </p:graphicFrame>
      <p:sp>
        <p:nvSpPr>
          <p:cNvPr id="132116" name="Rectangle 20"/>
          <p:cNvSpPr>
            <a:spLocks noChangeArrowheads="1"/>
          </p:cNvSpPr>
          <p:nvPr/>
        </p:nvSpPr>
        <p:spPr bwMode="auto">
          <a:xfrm>
            <a:off x="827088" y="2924175"/>
            <a:ext cx="3630612" cy="457200"/>
          </a:xfrm>
          <a:prstGeom prst="rect">
            <a:avLst/>
          </a:prstGeom>
          <a:noFill/>
          <a:ln w="9525">
            <a:noFill/>
            <a:miter lim="800000"/>
            <a:headEnd/>
            <a:tailEnd/>
          </a:ln>
        </p:spPr>
        <p:txBody>
          <a:bodyPr wrap="none">
            <a:spAutoFit/>
          </a:bodyPr>
          <a:lstStyle/>
          <a:p>
            <a:pPr>
              <a:spcBef>
                <a:spcPct val="50000"/>
              </a:spcBef>
            </a:pPr>
            <a:r>
              <a:rPr lang="zh-CN" altLang="en-US" b="1">
                <a:latin typeface="Bookman Old Style" pitchFamily="18" charset="0"/>
                <a:ea typeface="楷体_GB2312" pitchFamily="49" charset="-122"/>
              </a:rPr>
              <a:t>弦线上</a:t>
            </a:r>
            <a:r>
              <a:rPr lang="zh-CN" altLang="en-US" b="1">
                <a:ea typeface="楷体_GB2312" pitchFamily="49" charset="-122"/>
              </a:rPr>
              <a:t>形成驻波的条件 ：</a:t>
            </a:r>
            <a:endParaRPr lang="zh-CN" altLang="en-US" b="1">
              <a:latin typeface="Bookman Old Style" pitchFamily="18" charset="0"/>
              <a:ea typeface="楷体_GB2312" pitchFamily="49" charset="-122"/>
            </a:endParaRPr>
          </a:p>
        </p:txBody>
      </p:sp>
      <p:graphicFrame>
        <p:nvGraphicFramePr>
          <p:cNvPr id="132117" name="Object 21"/>
          <p:cNvGraphicFramePr>
            <a:graphicFrameLocks noChangeAspect="1"/>
          </p:cNvGraphicFramePr>
          <p:nvPr/>
        </p:nvGraphicFramePr>
        <p:xfrm>
          <a:off x="6008688" y="2903538"/>
          <a:ext cx="1598612" cy="366712"/>
        </p:xfrm>
        <a:graphic>
          <a:graphicData uri="http://schemas.openxmlformats.org/presentationml/2006/ole">
            <p:oleObj spid="_x0000_s47107" name="公式" r:id="rId4" imgW="876240" imgH="203040" progId="Equation.3">
              <p:embed/>
            </p:oleObj>
          </a:graphicData>
        </a:graphic>
      </p:graphicFrame>
      <p:sp>
        <p:nvSpPr>
          <p:cNvPr id="132118" name="Rectangle 22"/>
          <p:cNvSpPr>
            <a:spLocks noChangeArrowheads="1"/>
          </p:cNvSpPr>
          <p:nvPr/>
        </p:nvSpPr>
        <p:spPr bwMode="auto">
          <a:xfrm>
            <a:off x="827088" y="3741738"/>
            <a:ext cx="2362200" cy="457200"/>
          </a:xfrm>
          <a:prstGeom prst="rect">
            <a:avLst/>
          </a:prstGeom>
          <a:noFill/>
          <a:ln w="9525">
            <a:noFill/>
            <a:miter lim="800000"/>
            <a:headEnd/>
            <a:tailEnd/>
          </a:ln>
        </p:spPr>
        <p:txBody>
          <a:bodyPr>
            <a:spAutoFit/>
          </a:bodyPr>
          <a:lstStyle/>
          <a:p>
            <a:pPr>
              <a:spcBef>
                <a:spcPct val="50000"/>
              </a:spcBef>
            </a:pPr>
            <a:r>
              <a:rPr lang="zh-CN" altLang="en-US" b="1">
                <a:latin typeface="Bookman Old Style" pitchFamily="18" charset="0"/>
                <a:ea typeface="楷体_GB2312" pitchFamily="49" charset="-122"/>
              </a:rPr>
              <a:t>驻波频率则为：</a:t>
            </a:r>
          </a:p>
        </p:txBody>
      </p:sp>
      <p:graphicFrame>
        <p:nvGraphicFramePr>
          <p:cNvPr id="132119" name="Object 23"/>
          <p:cNvGraphicFramePr>
            <a:graphicFrameLocks noChangeAspect="1"/>
          </p:cNvGraphicFramePr>
          <p:nvPr/>
        </p:nvGraphicFramePr>
        <p:xfrm>
          <a:off x="3113088" y="3665538"/>
          <a:ext cx="1403350" cy="730250"/>
        </p:xfrm>
        <a:graphic>
          <a:graphicData uri="http://schemas.openxmlformats.org/presentationml/2006/ole">
            <p:oleObj spid="_x0000_s47108" name="公式" r:id="rId5" imgW="774360" imgH="406080" progId="Equation.3">
              <p:embed/>
            </p:oleObj>
          </a:graphicData>
        </a:graphic>
      </p:graphicFrame>
      <p:graphicFrame>
        <p:nvGraphicFramePr>
          <p:cNvPr id="132120" name="Object 24"/>
          <p:cNvGraphicFramePr>
            <a:graphicFrameLocks noChangeAspect="1"/>
          </p:cNvGraphicFramePr>
          <p:nvPr/>
        </p:nvGraphicFramePr>
        <p:xfrm>
          <a:off x="5235575" y="3883025"/>
          <a:ext cx="1644650" cy="390525"/>
        </p:xfrm>
        <a:graphic>
          <a:graphicData uri="http://schemas.openxmlformats.org/presentationml/2006/ole">
            <p:oleObj spid="_x0000_s47109" name="公式" r:id="rId6" imgW="914400" imgH="215640" progId="Equation.3">
              <p:embed/>
            </p:oleObj>
          </a:graphicData>
        </a:graphic>
      </p:graphicFrame>
      <p:sp>
        <p:nvSpPr>
          <p:cNvPr id="132121" name="Text Box 25"/>
          <p:cNvSpPr txBox="1">
            <a:spLocks noChangeArrowheads="1"/>
          </p:cNvSpPr>
          <p:nvPr/>
        </p:nvSpPr>
        <p:spPr bwMode="auto">
          <a:xfrm>
            <a:off x="755650" y="1557338"/>
            <a:ext cx="4751388" cy="968375"/>
          </a:xfrm>
          <a:prstGeom prst="rect">
            <a:avLst/>
          </a:prstGeom>
          <a:noFill/>
          <a:ln w="9525">
            <a:noFill/>
            <a:miter lim="800000"/>
            <a:headEnd/>
            <a:tailEnd/>
          </a:ln>
        </p:spPr>
        <p:txBody>
          <a:bodyPr>
            <a:spAutoFit/>
          </a:bodyPr>
          <a:lstStyle/>
          <a:p>
            <a:pPr>
              <a:lnSpc>
                <a:spcPct val="120000"/>
              </a:lnSpc>
              <a:spcBef>
                <a:spcPct val="50000"/>
              </a:spcBef>
            </a:pPr>
            <a:r>
              <a:rPr lang="zh-CN" altLang="en-US" b="1">
                <a:latin typeface="宋体" pitchFamily="2" charset="-122"/>
              </a:rPr>
              <a:t>弦两端固定，其必然形成波节，因而驻波的波长必然受到限制。 </a:t>
            </a:r>
          </a:p>
        </p:txBody>
      </p:sp>
      <p:sp>
        <p:nvSpPr>
          <p:cNvPr id="132123" name="Rectangle 27"/>
          <p:cNvSpPr>
            <a:spLocks noChangeArrowheads="1"/>
          </p:cNvSpPr>
          <p:nvPr/>
        </p:nvSpPr>
        <p:spPr bwMode="auto">
          <a:xfrm>
            <a:off x="900113" y="4843463"/>
            <a:ext cx="6913562" cy="457200"/>
          </a:xfrm>
          <a:prstGeom prst="rect">
            <a:avLst/>
          </a:prstGeom>
          <a:noFill/>
          <a:ln w="9525">
            <a:noFill/>
            <a:miter lim="800000"/>
            <a:headEnd/>
            <a:tailEnd/>
          </a:ln>
        </p:spPr>
        <p:txBody>
          <a:bodyPr>
            <a:spAutoFit/>
          </a:bodyPr>
          <a:lstStyle/>
          <a:p>
            <a:pPr>
              <a:spcBef>
                <a:spcPct val="50000"/>
              </a:spcBef>
            </a:pPr>
            <a:r>
              <a:rPr lang="en-US" altLang="zh-CN" b="1" i="1">
                <a:solidFill>
                  <a:srgbClr val="FF6600"/>
                </a:solidFill>
                <a:ea typeface="楷体_GB2312" pitchFamily="49" charset="-122"/>
              </a:rPr>
              <a:t>n </a:t>
            </a:r>
            <a:r>
              <a:rPr lang="en-US" altLang="zh-CN" b="1">
                <a:solidFill>
                  <a:srgbClr val="FF6600"/>
                </a:solidFill>
                <a:ea typeface="楷体_GB2312" pitchFamily="49" charset="-122"/>
              </a:rPr>
              <a:t>= 1 </a:t>
            </a:r>
            <a:r>
              <a:rPr lang="zh-CN" altLang="en-US" b="1">
                <a:latin typeface="楷体_GB2312" pitchFamily="49" charset="-122"/>
                <a:ea typeface="楷体_GB2312" pitchFamily="49" charset="-122"/>
              </a:rPr>
              <a:t>对应的频率称为</a:t>
            </a:r>
            <a:r>
              <a:rPr lang="zh-CN" altLang="en-US" b="1">
                <a:solidFill>
                  <a:srgbClr val="FF6600"/>
                </a:solidFill>
                <a:latin typeface="楷体_GB2312" pitchFamily="49" charset="-122"/>
                <a:ea typeface="楷体_GB2312" pitchFamily="49" charset="-122"/>
              </a:rPr>
              <a:t>基频（本征频率）；</a:t>
            </a:r>
          </a:p>
        </p:txBody>
      </p:sp>
      <p:sp>
        <p:nvSpPr>
          <p:cNvPr id="132124" name="Rectangle 28"/>
          <p:cNvSpPr>
            <a:spLocks noChangeArrowheads="1"/>
          </p:cNvSpPr>
          <p:nvPr/>
        </p:nvSpPr>
        <p:spPr bwMode="auto">
          <a:xfrm>
            <a:off x="900113" y="5492750"/>
            <a:ext cx="6913562" cy="457200"/>
          </a:xfrm>
          <a:prstGeom prst="rect">
            <a:avLst/>
          </a:prstGeom>
          <a:noFill/>
          <a:ln w="9525">
            <a:noFill/>
            <a:miter lim="800000"/>
            <a:headEnd/>
            <a:tailEnd/>
          </a:ln>
        </p:spPr>
        <p:txBody>
          <a:bodyPr>
            <a:spAutoFit/>
          </a:bodyPr>
          <a:lstStyle/>
          <a:p>
            <a:pPr>
              <a:spcBef>
                <a:spcPct val="50000"/>
              </a:spcBef>
            </a:pPr>
            <a:r>
              <a:rPr lang="en-US" altLang="zh-CN" b="1" i="1">
                <a:solidFill>
                  <a:srgbClr val="FF6600"/>
                </a:solidFill>
                <a:ea typeface="楷体_GB2312" pitchFamily="49" charset="-122"/>
              </a:rPr>
              <a:t>n </a:t>
            </a:r>
            <a:r>
              <a:rPr lang="en-US" altLang="zh-CN" b="1">
                <a:solidFill>
                  <a:srgbClr val="FF6600"/>
                </a:solidFill>
                <a:ea typeface="楷体_GB2312" pitchFamily="49" charset="-122"/>
              </a:rPr>
              <a:t>= 2</a:t>
            </a:r>
            <a:r>
              <a:rPr lang="zh-CN" altLang="en-US" b="1">
                <a:solidFill>
                  <a:srgbClr val="FF6600"/>
                </a:solidFill>
                <a:ea typeface="楷体_GB2312" pitchFamily="49" charset="-122"/>
              </a:rPr>
              <a:t>、</a:t>
            </a:r>
            <a:r>
              <a:rPr lang="en-US" altLang="zh-CN" b="1">
                <a:solidFill>
                  <a:srgbClr val="FF6600"/>
                </a:solidFill>
                <a:ea typeface="楷体_GB2312" pitchFamily="49" charset="-122"/>
              </a:rPr>
              <a:t>3</a:t>
            </a:r>
            <a:r>
              <a:rPr lang="he-IL" altLang="zh-CN" b="1">
                <a:solidFill>
                  <a:srgbClr val="FF6600"/>
                </a:solidFill>
                <a:ea typeface="楷体_GB2312" pitchFamily="49" charset="-122"/>
                <a:cs typeface="Times New Roman" pitchFamily="18" charset="0"/>
              </a:rPr>
              <a:t>ּּּּּּ</a:t>
            </a:r>
            <a:r>
              <a:rPr lang="zh-CN" altLang="en-US" b="1">
                <a:latin typeface="楷体_GB2312" pitchFamily="49" charset="-122"/>
                <a:ea typeface="楷体_GB2312" pitchFamily="49" charset="-122"/>
              </a:rPr>
              <a:t>对应的频率称为</a:t>
            </a:r>
            <a:r>
              <a:rPr lang="zh-CN" altLang="en-US" b="1">
                <a:solidFill>
                  <a:srgbClr val="FF6600"/>
                </a:solidFill>
                <a:latin typeface="楷体_GB2312" pitchFamily="49" charset="-122"/>
                <a:ea typeface="楷体_GB2312" pitchFamily="49" charset="-122"/>
              </a:rPr>
              <a:t>谐频。</a:t>
            </a:r>
          </a:p>
        </p:txBody>
      </p:sp>
      <p:sp>
        <p:nvSpPr>
          <p:cNvPr id="132127" name="AutoShape 31">
            <a:hlinkClick r:id="rId7" action="ppaction://hlinksldjump" highlightClick="1"/>
          </p:cNvPr>
          <p:cNvSpPr>
            <a:spLocks noChangeArrowheads="1"/>
          </p:cNvSpPr>
          <p:nvPr/>
        </p:nvSpPr>
        <p:spPr bwMode="auto">
          <a:xfrm>
            <a:off x="8577263" y="6173788"/>
            <a:ext cx="287337" cy="287337"/>
          </a:xfrm>
          <a:prstGeom prst="actionButtonBeginning">
            <a:avLst/>
          </a:prstGeom>
          <a:solidFill>
            <a:srgbClr val="99CCFF"/>
          </a:solidFill>
          <a:ln w="9525">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2100"/>
                                        </p:tgtEl>
                                        <p:attrNameLst>
                                          <p:attrName>style.visibility</p:attrName>
                                        </p:attrNameLst>
                                      </p:cBhvr>
                                      <p:to>
                                        <p:strVal val="visible"/>
                                      </p:to>
                                    </p:set>
                                    <p:animEffect transition="in" filter="wipe(left)">
                                      <p:cBhvr>
                                        <p:cTn id="7" dur="500"/>
                                        <p:tgtEl>
                                          <p:spTgt spid="13210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2114"/>
                                        </p:tgtEl>
                                        <p:attrNameLst>
                                          <p:attrName>style.visibility</p:attrName>
                                        </p:attrNameLst>
                                      </p:cBhvr>
                                      <p:to>
                                        <p:strVal val="visible"/>
                                      </p:to>
                                    </p:set>
                                    <p:animEffect transition="in" filter="wipe(left)">
                                      <p:cBhvr>
                                        <p:cTn id="12" dur="500"/>
                                        <p:tgtEl>
                                          <p:spTgt spid="1321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2121"/>
                                        </p:tgtEl>
                                        <p:attrNameLst>
                                          <p:attrName>style.visibility</p:attrName>
                                        </p:attrNameLst>
                                      </p:cBhvr>
                                      <p:to>
                                        <p:strVal val="visible"/>
                                      </p:to>
                                    </p:set>
                                    <p:animEffect transition="in" filter="wipe(left)">
                                      <p:cBhvr>
                                        <p:cTn id="17" dur="500"/>
                                        <p:tgtEl>
                                          <p:spTgt spid="13212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2106"/>
                                        </p:tgtEl>
                                        <p:attrNameLst>
                                          <p:attrName>style.visibility</p:attrName>
                                        </p:attrNameLst>
                                      </p:cBhvr>
                                      <p:to>
                                        <p:strVal val="visible"/>
                                      </p:to>
                                    </p:set>
                                    <p:animEffect transition="in" filter="wipe(left)">
                                      <p:cBhvr>
                                        <p:cTn id="26" dur="500"/>
                                        <p:tgtEl>
                                          <p:spTgt spid="13210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5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32116"/>
                                        </p:tgtEl>
                                        <p:attrNameLst>
                                          <p:attrName>style.visibility</p:attrName>
                                        </p:attrNameLst>
                                      </p:cBhvr>
                                      <p:to>
                                        <p:strVal val="visible"/>
                                      </p:to>
                                    </p:set>
                                    <p:animEffect transition="in" filter="wipe(left)">
                                      <p:cBhvr>
                                        <p:cTn id="41" dur="500"/>
                                        <p:tgtEl>
                                          <p:spTgt spid="13211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32115"/>
                                        </p:tgtEl>
                                        <p:attrNameLst>
                                          <p:attrName>style.visibility</p:attrName>
                                        </p:attrNameLst>
                                      </p:cBhvr>
                                      <p:to>
                                        <p:strVal val="visible"/>
                                      </p:to>
                                    </p:set>
                                    <p:animEffect transition="in" filter="wipe(left)">
                                      <p:cBhvr>
                                        <p:cTn id="46" dur="500"/>
                                        <p:tgtEl>
                                          <p:spTgt spid="13211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32117"/>
                                        </p:tgtEl>
                                        <p:attrNameLst>
                                          <p:attrName>style.visibility</p:attrName>
                                        </p:attrNameLst>
                                      </p:cBhvr>
                                      <p:to>
                                        <p:strVal val="visible"/>
                                      </p:to>
                                    </p:set>
                                    <p:animEffect transition="in" filter="wipe(left)">
                                      <p:cBhvr>
                                        <p:cTn id="51" dur="500"/>
                                        <p:tgtEl>
                                          <p:spTgt spid="13211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32118"/>
                                        </p:tgtEl>
                                        <p:attrNameLst>
                                          <p:attrName>style.visibility</p:attrName>
                                        </p:attrNameLst>
                                      </p:cBhvr>
                                      <p:to>
                                        <p:strVal val="visible"/>
                                      </p:to>
                                    </p:set>
                                    <p:animEffect transition="in" filter="wipe(left)">
                                      <p:cBhvr>
                                        <p:cTn id="56" dur="500"/>
                                        <p:tgtEl>
                                          <p:spTgt spid="132118"/>
                                        </p:tgtEl>
                                      </p:cBhvr>
                                    </p:animEffect>
                                  </p:childTnLst>
                                </p:cTn>
                              </p:par>
                            </p:childTnLst>
                          </p:cTn>
                        </p:par>
                      </p:childTnLst>
                    </p:cTn>
                  </p:par>
                  <p:par>
                    <p:cTn id="57" fill="hold">
                      <p:stCondLst>
                        <p:cond delay="indefinite"/>
                      </p:stCondLst>
                      <p:childTnLst>
                        <p:par>
                          <p:cTn id="58" fill="hold">
                            <p:stCondLst>
                              <p:cond delay="0"/>
                            </p:stCondLst>
                            <p:childTnLst>
                              <p:par>
                                <p:cTn id="59" presetID="23" presetClass="entr" presetSubtype="16" fill="hold" nodeType="clickEffect">
                                  <p:stCondLst>
                                    <p:cond delay="0"/>
                                  </p:stCondLst>
                                  <p:childTnLst>
                                    <p:set>
                                      <p:cBhvr>
                                        <p:cTn id="60" dur="1" fill="hold">
                                          <p:stCondLst>
                                            <p:cond delay="0"/>
                                          </p:stCondLst>
                                        </p:cTn>
                                        <p:tgtEl>
                                          <p:spTgt spid="132119"/>
                                        </p:tgtEl>
                                        <p:attrNameLst>
                                          <p:attrName>style.visibility</p:attrName>
                                        </p:attrNameLst>
                                      </p:cBhvr>
                                      <p:to>
                                        <p:strVal val="visible"/>
                                      </p:to>
                                    </p:set>
                                    <p:anim calcmode="lin" valueType="num">
                                      <p:cBhvr>
                                        <p:cTn id="61" dur="500" fill="hold"/>
                                        <p:tgtEl>
                                          <p:spTgt spid="132119"/>
                                        </p:tgtEl>
                                        <p:attrNameLst>
                                          <p:attrName>ppt_w</p:attrName>
                                        </p:attrNameLst>
                                      </p:cBhvr>
                                      <p:tavLst>
                                        <p:tav tm="0">
                                          <p:val>
                                            <p:fltVal val="0"/>
                                          </p:val>
                                        </p:tav>
                                        <p:tav tm="100000">
                                          <p:val>
                                            <p:strVal val="#ppt_w"/>
                                          </p:val>
                                        </p:tav>
                                      </p:tavLst>
                                    </p:anim>
                                    <p:anim calcmode="lin" valueType="num">
                                      <p:cBhvr>
                                        <p:cTn id="62" dur="500" fill="hold"/>
                                        <p:tgtEl>
                                          <p:spTgt spid="132119"/>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32120"/>
                                        </p:tgtEl>
                                        <p:attrNameLst>
                                          <p:attrName>style.visibility</p:attrName>
                                        </p:attrNameLst>
                                      </p:cBhvr>
                                      <p:to>
                                        <p:strVal val="visible"/>
                                      </p:to>
                                    </p:set>
                                    <p:animEffect transition="in" filter="wipe(left)">
                                      <p:cBhvr>
                                        <p:cTn id="67" dur="500"/>
                                        <p:tgtEl>
                                          <p:spTgt spid="132120"/>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42" fill="hold" grpId="0" nodeType="clickEffect">
                                  <p:stCondLst>
                                    <p:cond delay="0"/>
                                  </p:stCondLst>
                                  <p:iterate type="wd">
                                    <p:tmPct val="100000"/>
                                  </p:iterate>
                                  <p:childTnLst>
                                    <p:set>
                                      <p:cBhvr>
                                        <p:cTn id="71" dur="1" fill="hold">
                                          <p:stCondLst>
                                            <p:cond delay="0"/>
                                          </p:stCondLst>
                                        </p:cTn>
                                        <p:tgtEl>
                                          <p:spTgt spid="132123"/>
                                        </p:tgtEl>
                                        <p:attrNameLst>
                                          <p:attrName>style.visibility</p:attrName>
                                        </p:attrNameLst>
                                      </p:cBhvr>
                                      <p:to>
                                        <p:strVal val="visible"/>
                                      </p:to>
                                    </p:set>
                                    <p:animEffect transition="in" filter="barn(outHorizontal)">
                                      <p:cBhvr>
                                        <p:cTn id="72" dur="300"/>
                                        <p:tgtEl>
                                          <p:spTgt spid="132123"/>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42" fill="hold" grpId="0" nodeType="clickEffect">
                                  <p:stCondLst>
                                    <p:cond delay="0"/>
                                  </p:stCondLst>
                                  <p:iterate type="wd">
                                    <p:tmPct val="100000"/>
                                  </p:iterate>
                                  <p:childTnLst>
                                    <p:set>
                                      <p:cBhvr>
                                        <p:cTn id="76" dur="1" fill="hold">
                                          <p:stCondLst>
                                            <p:cond delay="0"/>
                                          </p:stCondLst>
                                        </p:cTn>
                                        <p:tgtEl>
                                          <p:spTgt spid="132124"/>
                                        </p:tgtEl>
                                        <p:attrNameLst>
                                          <p:attrName>style.visibility</p:attrName>
                                        </p:attrNameLst>
                                      </p:cBhvr>
                                      <p:to>
                                        <p:strVal val="visible"/>
                                      </p:to>
                                    </p:set>
                                    <p:animEffect transition="in" filter="barn(outHorizontal)">
                                      <p:cBhvr>
                                        <p:cTn id="77" dur="300"/>
                                        <p:tgtEl>
                                          <p:spTgt spid="132124"/>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132127"/>
                                        </p:tgtEl>
                                        <p:attrNameLst>
                                          <p:attrName>style.visibility</p:attrName>
                                        </p:attrNameLst>
                                      </p:cBhvr>
                                      <p:to>
                                        <p:strVal val="visible"/>
                                      </p:to>
                                    </p:set>
                                    <p:animEffect transition="in" filter="wipe(down)">
                                      <p:cBhvr>
                                        <p:cTn id="82" dur="500"/>
                                        <p:tgtEl>
                                          <p:spTgt spid="132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0" grpId="0"/>
      <p:bldP spid="132106" grpId="0" animBg="1"/>
      <p:bldP spid="132114" grpId="0"/>
      <p:bldP spid="132116" grpId="0" autoUpdateAnimBg="0"/>
      <p:bldP spid="132118" grpId="0" autoUpdateAnimBg="0"/>
      <p:bldP spid="132121" grpId="0"/>
      <p:bldP spid="132123" grpId="0" autoUpdateAnimBg="0"/>
      <p:bldP spid="132124" grpId="0" autoUpdateAnimBg="0"/>
      <p:bldP spid="13212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5170" name="Picture 2" descr="220px-Cdoppler">
            <a:hlinkClick r:id="rId2"/>
          </p:cNvPr>
          <p:cNvPicPr>
            <a:picLocks noChangeAspect="1" noChangeArrowheads="1"/>
          </p:cNvPicPr>
          <p:nvPr/>
        </p:nvPicPr>
        <p:blipFill>
          <a:blip r:embed="rId3"/>
          <a:srcRect/>
          <a:stretch>
            <a:fillRect/>
          </a:stretch>
        </p:blipFill>
        <p:spPr bwMode="auto">
          <a:xfrm>
            <a:off x="6588125" y="1052513"/>
            <a:ext cx="1773238" cy="2232025"/>
          </a:xfrm>
          <a:prstGeom prst="rect">
            <a:avLst/>
          </a:prstGeom>
          <a:noFill/>
          <a:ln w="9525">
            <a:noFill/>
            <a:miter lim="800000"/>
            <a:headEnd/>
            <a:tailEnd/>
          </a:ln>
        </p:spPr>
      </p:pic>
      <p:sp>
        <p:nvSpPr>
          <p:cNvPr id="135171" name="Text Box 3"/>
          <p:cNvSpPr txBox="1">
            <a:spLocks noChangeArrowheads="1"/>
          </p:cNvSpPr>
          <p:nvPr/>
        </p:nvSpPr>
        <p:spPr bwMode="auto">
          <a:xfrm>
            <a:off x="395288" y="1341438"/>
            <a:ext cx="5545137" cy="2101850"/>
          </a:xfrm>
          <a:prstGeom prst="rect">
            <a:avLst/>
          </a:prstGeom>
          <a:noFill/>
          <a:ln w="9525">
            <a:noFill/>
            <a:miter lim="800000"/>
            <a:headEnd/>
            <a:tailEnd/>
          </a:ln>
        </p:spPr>
        <p:txBody>
          <a:bodyPr>
            <a:spAutoFit/>
          </a:bodyPr>
          <a:lstStyle/>
          <a:p>
            <a:pPr>
              <a:lnSpc>
                <a:spcPct val="110000"/>
              </a:lnSpc>
            </a:pPr>
            <a:r>
              <a:rPr kumimoji="0" lang="en-US" altLang="zh-CN" sz="1800" b="1">
                <a:latin typeface="宋体" pitchFamily="2" charset="-122"/>
              </a:rPr>
              <a:t>     </a:t>
            </a:r>
            <a:r>
              <a:rPr kumimoji="0" lang="zh-CN" altLang="en-US" sz="2000" b="1">
                <a:latin typeface="宋体" pitchFamily="2" charset="-122"/>
              </a:rPr>
              <a:t>奥地利数学家、物理学家。</a:t>
            </a:r>
            <a:r>
              <a:rPr kumimoji="0" lang="en-US" altLang="zh-CN" sz="2000" b="1">
                <a:latin typeface="宋体" pitchFamily="2" charset="-122"/>
              </a:rPr>
              <a:t>1803</a:t>
            </a:r>
            <a:r>
              <a:rPr kumimoji="0" lang="zh-CN" altLang="en-US" sz="2000" b="1">
                <a:latin typeface="宋体" pitchFamily="2" charset="-122"/>
              </a:rPr>
              <a:t>年</a:t>
            </a:r>
            <a:r>
              <a:rPr kumimoji="0" lang="en-US" altLang="zh-CN" sz="2000" b="1">
                <a:latin typeface="宋体" pitchFamily="2" charset="-122"/>
              </a:rPr>
              <a:t>11</a:t>
            </a:r>
            <a:r>
              <a:rPr kumimoji="0" lang="zh-CN" altLang="en-US" sz="2000" b="1">
                <a:latin typeface="宋体" pitchFamily="2" charset="-122"/>
              </a:rPr>
              <a:t>月</a:t>
            </a:r>
            <a:r>
              <a:rPr kumimoji="0" lang="en-US" altLang="zh-CN" sz="2000" b="1">
                <a:latin typeface="宋体" pitchFamily="2" charset="-122"/>
              </a:rPr>
              <a:t>29</a:t>
            </a:r>
            <a:r>
              <a:rPr kumimoji="0" lang="zh-CN" altLang="en-US" sz="2000" b="1">
                <a:latin typeface="宋体" pitchFamily="2" charset="-122"/>
              </a:rPr>
              <a:t>日出生于奥地利的一个石匠家族。曾先后在维也纳工学院和维也纳大学学习。</a:t>
            </a:r>
            <a:r>
              <a:rPr kumimoji="0" lang="en-US" altLang="zh-CN" sz="2000" b="1">
                <a:latin typeface="宋体" pitchFamily="2" charset="-122"/>
              </a:rPr>
              <a:t>1841</a:t>
            </a:r>
            <a:r>
              <a:rPr kumimoji="0" lang="zh-CN" altLang="en-US" sz="2000" b="1">
                <a:latin typeface="宋体" pitchFamily="2" charset="-122"/>
              </a:rPr>
              <a:t>年成为布拉格理工学院的数学教授。</a:t>
            </a:r>
            <a:r>
              <a:rPr kumimoji="0" lang="en-US" altLang="zh-CN" sz="2000" b="1">
                <a:latin typeface="宋体" pitchFamily="2" charset="-122"/>
              </a:rPr>
              <a:t>1850</a:t>
            </a:r>
            <a:r>
              <a:rPr kumimoji="0" lang="zh-CN" altLang="en-US" sz="2000" b="1">
                <a:latin typeface="宋体" pitchFamily="2" charset="-122"/>
              </a:rPr>
              <a:t>年，担任维也纳大学物理学院的首任院长。</a:t>
            </a:r>
            <a:r>
              <a:rPr kumimoji="0" lang="en-US" altLang="zh-CN" sz="2000" b="1">
                <a:latin typeface="宋体" pitchFamily="2" charset="-122"/>
              </a:rPr>
              <a:t>1853</a:t>
            </a:r>
            <a:r>
              <a:rPr kumimoji="0" lang="zh-CN" altLang="en-US" sz="2000" b="1">
                <a:latin typeface="宋体" pitchFamily="2" charset="-122"/>
              </a:rPr>
              <a:t>年在意大利的威尼斯去世。</a:t>
            </a:r>
          </a:p>
        </p:txBody>
      </p:sp>
      <p:sp>
        <p:nvSpPr>
          <p:cNvPr id="135172" name="Rectangle 4"/>
          <p:cNvSpPr>
            <a:spLocks noChangeArrowheads="1"/>
          </p:cNvSpPr>
          <p:nvPr/>
        </p:nvSpPr>
        <p:spPr bwMode="auto">
          <a:xfrm>
            <a:off x="2540000" y="471488"/>
            <a:ext cx="3760788" cy="519112"/>
          </a:xfrm>
          <a:prstGeom prst="rect">
            <a:avLst/>
          </a:prstGeom>
          <a:noFill/>
          <a:ln w="9525">
            <a:noFill/>
            <a:miter lim="800000"/>
            <a:headEnd/>
            <a:tailEnd/>
          </a:ln>
        </p:spPr>
        <p:txBody>
          <a:bodyPr>
            <a:spAutoFit/>
          </a:bodyPr>
          <a:lstStyle/>
          <a:p>
            <a:r>
              <a:rPr kumimoji="0" lang="en-US" altLang="zh-CN" sz="2800" b="1">
                <a:solidFill>
                  <a:srgbClr val="0000FF"/>
                </a:solidFill>
              </a:rPr>
              <a:t>§6.5   </a:t>
            </a:r>
            <a:r>
              <a:rPr lang="zh-CN" altLang="en-US" sz="2800" b="1">
                <a:solidFill>
                  <a:srgbClr val="3333CC"/>
                </a:solidFill>
                <a:latin typeface="黑体" pitchFamily="49" charset="-122"/>
                <a:ea typeface="黑体" pitchFamily="49" charset="-122"/>
              </a:rPr>
              <a:t>多普勒效应</a:t>
            </a:r>
          </a:p>
        </p:txBody>
      </p:sp>
      <p:sp>
        <p:nvSpPr>
          <p:cNvPr id="135173" name="Text Box 5"/>
          <p:cNvSpPr txBox="1">
            <a:spLocks noChangeArrowheads="1"/>
          </p:cNvSpPr>
          <p:nvPr/>
        </p:nvSpPr>
        <p:spPr bwMode="auto">
          <a:xfrm>
            <a:off x="6516688" y="3357563"/>
            <a:ext cx="2232025" cy="641350"/>
          </a:xfrm>
          <a:prstGeom prst="rect">
            <a:avLst/>
          </a:prstGeom>
          <a:noFill/>
          <a:ln w="9525">
            <a:noFill/>
            <a:miter lim="800000"/>
            <a:headEnd/>
            <a:tailEnd/>
          </a:ln>
        </p:spPr>
        <p:txBody>
          <a:bodyPr>
            <a:spAutoFit/>
          </a:bodyPr>
          <a:lstStyle/>
          <a:p>
            <a:r>
              <a:rPr kumimoji="0" lang="zh-CN" altLang="en-US" sz="1800" b="1">
                <a:solidFill>
                  <a:srgbClr val="0033CC"/>
                </a:solidFill>
              </a:rPr>
              <a:t>多普勒</a:t>
            </a:r>
            <a:r>
              <a:rPr kumimoji="0" lang="en-US" altLang="zh-CN" sz="1800" b="1">
                <a:solidFill>
                  <a:srgbClr val="0033CC"/>
                </a:solidFill>
              </a:rPr>
              <a:t>(</a:t>
            </a:r>
            <a:r>
              <a:rPr kumimoji="0" lang="de-DE" altLang="zh-CN" sz="1800" b="1">
                <a:solidFill>
                  <a:srgbClr val="0033CC"/>
                </a:solidFill>
              </a:rPr>
              <a:t>Doppler</a:t>
            </a:r>
            <a:r>
              <a:rPr kumimoji="0" lang="en-US" altLang="zh-CN" sz="1800" b="1">
                <a:solidFill>
                  <a:srgbClr val="0033CC"/>
                </a:solidFill>
              </a:rPr>
              <a:t>)</a:t>
            </a:r>
          </a:p>
          <a:p>
            <a:r>
              <a:rPr kumimoji="0" lang="en-US" altLang="zh-CN" sz="1800" b="1">
                <a:solidFill>
                  <a:srgbClr val="0033CC"/>
                </a:solidFill>
              </a:rPr>
              <a:t>     (1803-1853)</a:t>
            </a:r>
            <a:endParaRPr kumimoji="0" lang="en-US" altLang="zh-CN" sz="1800">
              <a:solidFill>
                <a:srgbClr val="0033CC"/>
              </a:solidFill>
            </a:endParaRPr>
          </a:p>
        </p:txBody>
      </p:sp>
      <p:sp>
        <p:nvSpPr>
          <p:cNvPr id="135174" name="Text Box 6"/>
          <p:cNvSpPr txBox="1">
            <a:spLocks noChangeArrowheads="1"/>
          </p:cNvSpPr>
          <p:nvPr/>
        </p:nvSpPr>
        <p:spPr bwMode="auto">
          <a:xfrm>
            <a:off x="468313" y="3373438"/>
            <a:ext cx="5400675" cy="2503487"/>
          </a:xfrm>
          <a:prstGeom prst="rect">
            <a:avLst/>
          </a:prstGeom>
          <a:noFill/>
          <a:ln w="9525">
            <a:noFill/>
            <a:miter lim="800000"/>
            <a:headEnd/>
            <a:tailEnd/>
          </a:ln>
        </p:spPr>
        <p:txBody>
          <a:bodyPr>
            <a:spAutoFit/>
          </a:bodyPr>
          <a:lstStyle/>
          <a:p>
            <a:pPr>
              <a:lnSpc>
                <a:spcPct val="110000"/>
              </a:lnSpc>
            </a:pPr>
            <a:r>
              <a:rPr kumimoji="0" lang="en-US" altLang="zh-CN" b="1"/>
              <a:t>       </a:t>
            </a:r>
            <a:r>
              <a:rPr kumimoji="0" lang="en-US" altLang="zh-CN" sz="2000" b="1">
                <a:solidFill>
                  <a:srgbClr val="FF6600"/>
                </a:solidFill>
                <a:latin typeface="宋体" pitchFamily="2" charset="-122"/>
              </a:rPr>
              <a:t>1842</a:t>
            </a:r>
            <a:r>
              <a:rPr kumimoji="0" lang="zh-CN" altLang="en-US" sz="2000" b="1">
                <a:solidFill>
                  <a:srgbClr val="FF6600"/>
                </a:solidFill>
                <a:latin typeface="宋体" pitchFamily="2" charset="-122"/>
              </a:rPr>
              <a:t>年提出了多普勒效应</a:t>
            </a:r>
            <a:r>
              <a:rPr kumimoji="0" lang="zh-CN" altLang="en-US" sz="2000" b="1">
                <a:latin typeface="宋体" pitchFamily="2" charset="-122"/>
              </a:rPr>
              <a:t>，即：当观测者与波源发生相对运动时，所接收的波的频率会发生变化。这个效应后来通过聆听行进中的火车上演奏的音乐得到证实。多普勒试图用此来解释双星的颜色变化。现在这一效应广泛应用于</a:t>
            </a:r>
            <a:r>
              <a:rPr kumimoji="0" lang="zh-CN" altLang="en-US" sz="2000" b="1">
                <a:solidFill>
                  <a:srgbClr val="FF6600"/>
                </a:solidFill>
                <a:latin typeface="宋体" pitchFamily="2" charset="-122"/>
              </a:rPr>
              <a:t>光学、天文学、气象学、医学诊断</a:t>
            </a:r>
            <a:r>
              <a:rPr kumimoji="0" lang="zh-CN" altLang="en-US" sz="2000" b="1">
                <a:latin typeface="宋体" pitchFamily="2" charset="-122"/>
              </a:rPr>
              <a:t>和</a:t>
            </a:r>
            <a:r>
              <a:rPr kumimoji="0" lang="zh-CN" altLang="en-US" sz="2000" b="1">
                <a:solidFill>
                  <a:srgbClr val="FF6600"/>
                </a:solidFill>
                <a:latin typeface="宋体" pitchFamily="2" charset="-122"/>
              </a:rPr>
              <a:t>日常生活</a:t>
            </a:r>
            <a:r>
              <a:rPr kumimoji="0" lang="zh-CN" altLang="en-US" sz="2000" b="1">
                <a:latin typeface="宋体" pitchFamily="2" charset="-122"/>
              </a:rPr>
              <a:t>等诸多方面。</a:t>
            </a:r>
            <a:endParaRPr lang="zh-CN" altLang="en-US" sz="200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5172"/>
                                        </p:tgtEl>
                                        <p:attrNameLst>
                                          <p:attrName>style.visibility</p:attrName>
                                        </p:attrNameLst>
                                      </p:cBhvr>
                                      <p:to>
                                        <p:strVal val="visible"/>
                                      </p:to>
                                    </p:set>
                                    <p:animEffect transition="in" filter="wipe(left)">
                                      <p:cBhvr>
                                        <p:cTn id="7" dur="500"/>
                                        <p:tgtEl>
                                          <p:spTgt spid="13517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35170"/>
                                        </p:tgtEl>
                                        <p:attrNameLst>
                                          <p:attrName>style.visibility</p:attrName>
                                        </p:attrNameLst>
                                      </p:cBhvr>
                                      <p:to>
                                        <p:strVal val="visible"/>
                                      </p:to>
                                    </p:set>
                                    <p:animEffect transition="in" filter="box(out)">
                                      <p:cBhvr>
                                        <p:cTn id="12" dur="500"/>
                                        <p:tgtEl>
                                          <p:spTgt spid="1351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5173"/>
                                        </p:tgtEl>
                                        <p:attrNameLst>
                                          <p:attrName>style.visibility</p:attrName>
                                        </p:attrNameLst>
                                      </p:cBhvr>
                                      <p:to>
                                        <p:strVal val="visible"/>
                                      </p:to>
                                    </p:set>
                                    <p:animEffect transition="in" filter="wipe(left)">
                                      <p:cBhvr>
                                        <p:cTn id="17" dur="500"/>
                                        <p:tgtEl>
                                          <p:spTgt spid="1351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5171"/>
                                        </p:tgtEl>
                                        <p:attrNameLst>
                                          <p:attrName>style.visibility</p:attrName>
                                        </p:attrNameLst>
                                      </p:cBhvr>
                                      <p:to>
                                        <p:strVal val="visible"/>
                                      </p:to>
                                    </p:set>
                                    <p:animEffect transition="in" filter="wipe(left)">
                                      <p:cBhvr>
                                        <p:cTn id="22" dur="500"/>
                                        <p:tgtEl>
                                          <p:spTgt spid="13517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5174"/>
                                        </p:tgtEl>
                                        <p:attrNameLst>
                                          <p:attrName>style.visibility</p:attrName>
                                        </p:attrNameLst>
                                      </p:cBhvr>
                                      <p:to>
                                        <p:strVal val="visible"/>
                                      </p:to>
                                    </p:set>
                                    <p:animEffect transition="in" filter="wipe(left)">
                                      <p:cBhvr>
                                        <p:cTn id="27" dur="500"/>
                                        <p:tgtEl>
                                          <p:spTgt spid="135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1" grpId="0"/>
      <p:bldP spid="135172" grpId="0" autoUpdateAnimBg="0"/>
      <p:bldP spid="135173" grpId="0"/>
      <p:bldP spid="13517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Rectangle 3"/>
          <p:cNvSpPr>
            <a:spLocks noChangeArrowheads="1"/>
          </p:cNvSpPr>
          <p:nvPr/>
        </p:nvSpPr>
        <p:spPr bwMode="auto">
          <a:xfrm>
            <a:off x="0" y="836613"/>
            <a:ext cx="8893175" cy="898525"/>
          </a:xfrm>
          <a:prstGeom prst="rect">
            <a:avLst/>
          </a:prstGeom>
          <a:noFill/>
          <a:ln w="9525">
            <a:noFill/>
            <a:miter lim="800000"/>
            <a:headEnd/>
            <a:tailEnd/>
          </a:ln>
        </p:spPr>
        <p:txBody>
          <a:bodyPr>
            <a:spAutoFit/>
          </a:bodyPr>
          <a:lstStyle/>
          <a:p>
            <a:pPr>
              <a:lnSpc>
                <a:spcPct val="115000"/>
              </a:lnSpc>
            </a:pPr>
            <a:r>
              <a:rPr lang="en-US" altLang="zh-CN" sz="2200" b="1">
                <a:latin typeface="楷体_GB2312" pitchFamily="49" charset="-122"/>
                <a:ea typeface="楷体_GB2312" pitchFamily="49" charset="-122"/>
              </a:rPr>
              <a:t>   </a:t>
            </a:r>
            <a:r>
              <a:rPr lang="zh-CN" altLang="en-US" sz="2200" b="1">
                <a:latin typeface="楷体_GB2312" pitchFamily="49" charset="-122"/>
                <a:ea typeface="楷体_GB2312" pitchFamily="49" charset="-122"/>
              </a:rPr>
              <a:t>由于观察者（接收器）或波源、或二者同时相对媒质运动，而使观察者接收到的频率与波源发出的频率不同的现象，称为</a:t>
            </a:r>
            <a:r>
              <a:rPr lang="zh-CN" altLang="en-US" sz="2200" b="1">
                <a:solidFill>
                  <a:srgbClr val="FF6600"/>
                </a:solidFill>
                <a:latin typeface="楷体_GB2312" pitchFamily="49" charset="-122"/>
                <a:ea typeface="楷体_GB2312" pitchFamily="49" charset="-122"/>
              </a:rPr>
              <a:t>多普勒效应</a:t>
            </a:r>
            <a:r>
              <a:rPr lang="zh-CN" altLang="en-US" b="1">
                <a:latin typeface="楷体_GB2312" pitchFamily="49" charset="-122"/>
                <a:ea typeface="楷体_GB2312" pitchFamily="49" charset="-122"/>
              </a:rPr>
              <a:t>。</a:t>
            </a:r>
          </a:p>
        </p:txBody>
      </p:sp>
      <p:graphicFrame>
        <p:nvGraphicFramePr>
          <p:cNvPr id="120836" name="Object 4"/>
          <p:cNvGraphicFramePr>
            <a:graphicFrameLocks noChangeAspect="1"/>
          </p:cNvGraphicFramePr>
          <p:nvPr/>
        </p:nvGraphicFramePr>
        <p:xfrm>
          <a:off x="1835150" y="3500438"/>
          <a:ext cx="1584325" cy="709612"/>
        </p:xfrm>
        <a:graphic>
          <a:graphicData uri="http://schemas.openxmlformats.org/presentationml/2006/ole">
            <p:oleObj spid="_x0000_s48130" name="公式" r:id="rId3" imgW="876240" imgH="393480" progId="Equation.3">
              <p:embed/>
            </p:oleObj>
          </a:graphicData>
        </a:graphic>
      </p:graphicFrame>
      <p:sp>
        <p:nvSpPr>
          <p:cNvPr id="120837" name="Text Box 5"/>
          <p:cNvSpPr txBox="1">
            <a:spLocks noChangeArrowheads="1"/>
          </p:cNvSpPr>
          <p:nvPr/>
        </p:nvSpPr>
        <p:spPr bwMode="auto">
          <a:xfrm>
            <a:off x="138113" y="2001838"/>
            <a:ext cx="5081587" cy="512762"/>
          </a:xfrm>
          <a:prstGeom prst="rect">
            <a:avLst/>
          </a:prstGeom>
          <a:noFill/>
          <a:ln w="9525">
            <a:noFill/>
            <a:miter lim="800000"/>
            <a:headEnd/>
            <a:tailEnd/>
          </a:ln>
        </p:spPr>
        <p:txBody>
          <a:bodyPr>
            <a:spAutoFit/>
          </a:bodyPr>
          <a:lstStyle/>
          <a:p>
            <a:pPr>
              <a:lnSpc>
                <a:spcPct val="115000"/>
              </a:lnSpc>
            </a:pPr>
            <a:r>
              <a:rPr lang="zh-CN" altLang="en-US" b="1">
                <a:solidFill>
                  <a:srgbClr val="0000FF"/>
                </a:solidFill>
              </a:rPr>
              <a:t>一、 </a:t>
            </a:r>
            <a:r>
              <a:rPr lang="zh-CN" altLang="en-US" b="1">
                <a:solidFill>
                  <a:srgbClr val="0000FF"/>
                </a:solidFill>
                <a:latin typeface="宋体" pitchFamily="2" charset="-122"/>
              </a:rPr>
              <a:t>波源静止，观察者运动</a:t>
            </a:r>
          </a:p>
        </p:txBody>
      </p:sp>
      <p:graphicFrame>
        <p:nvGraphicFramePr>
          <p:cNvPr id="120838" name="Object 6"/>
          <p:cNvGraphicFramePr>
            <a:graphicFrameLocks noChangeAspect="1"/>
          </p:cNvGraphicFramePr>
          <p:nvPr/>
        </p:nvGraphicFramePr>
        <p:xfrm>
          <a:off x="1503363" y="2709863"/>
          <a:ext cx="2147887" cy="779462"/>
        </p:xfrm>
        <a:graphic>
          <a:graphicData uri="http://schemas.openxmlformats.org/presentationml/2006/ole">
            <p:oleObj spid="_x0000_s48131" name="公式" r:id="rId4" imgW="1193760" imgH="431640" progId="Equation.3">
              <p:embed/>
            </p:oleObj>
          </a:graphicData>
        </a:graphic>
      </p:graphicFrame>
      <p:sp>
        <p:nvSpPr>
          <p:cNvPr id="120839" name="Oval 7"/>
          <p:cNvSpPr>
            <a:spLocks noChangeAspect="1" noChangeArrowheads="1"/>
          </p:cNvSpPr>
          <p:nvPr/>
        </p:nvSpPr>
        <p:spPr bwMode="auto">
          <a:xfrm>
            <a:off x="6156325" y="3063875"/>
            <a:ext cx="103188" cy="107950"/>
          </a:xfrm>
          <a:prstGeom prst="ellipse">
            <a:avLst/>
          </a:prstGeom>
          <a:solidFill>
            <a:srgbClr val="FF0000"/>
          </a:solidFill>
          <a:ln w="12700">
            <a:solidFill>
              <a:srgbClr val="FF0000"/>
            </a:solidFill>
            <a:round/>
            <a:headEnd/>
            <a:tailEnd/>
          </a:ln>
        </p:spPr>
        <p:txBody>
          <a:bodyPr wrap="none" anchor="ctr"/>
          <a:lstStyle/>
          <a:p>
            <a:endParaRPr lang="zh-CN" altLang="en-US"/>
          </a:p>
        </p:txBody>
      </p:sp>
      <p:graphicFrame>
        <p:nvGraphicFramePr>
          <p:cNvPr id="120840" name="Object 8"/>
          <p:cNvGraphicFramePr>
            <a:graphicFrameLocks noChangeAspect="1"/>
          </p:cNvGraphicFramePr>
          <p:nvPr/>
        </p:nvGraphicFramePr>
        <p:xfrm>
          <a:off x="5942013" y="2928938"/>
          <a:ext cx="266700" cy="338137"/>
        </p:xfrm>
        <a:graphic>
          <a:graphicData uri="http://schemas.openxmlformats.org/presentationml/2006/ole">
            <p:oleObj spid="_x0000_s48132" name="Equation" r:id="rId5" imgW="139680" imgH="177480" progId="Equation.3">
              <p:embed/>
            </p:oleObj>
          </a:graphicData>
        </a:graphic>
      </p:graphicFrame>
      <p:grpSp>
        <p:nvGrpSpPr>
          <p:cNvPr id="2" name="Group 9"/>
          <p:cNvGrpSpPr>
            <a:grpSpLocks/>
          </p:cNvGrpSpPr>
          <p:nvPr/>
        </p:nvGrpSpPr>
        <p:grpSpPr bwMode="auto">
          <a:xfrm>
            <a:off x="6372225" y="3159125"/>
            <a:ext cx="1008063" cy="646113"/>
            <a:chOff x="4490" y="1964"/>
            <a:chExt cx="566" cy="361"/>
          </a:xfrm>
        </p:grpSpPr>
        <p:sp>
          <p:nvSpPr>
            <p:cNvPr id="48205" name="Line 10"/>
            <p:cNvSpPr>
              <a:spLocks noChangeShapeType="1"/>
            </p:cNvSpPr>
            <p:nvPr/>
          </p:nvSpPr>
          <p:spPr bwMode="auto">
            <a:xfrm rot="-953206">
              <a:off x="4490" y="1964"/>
              <a:ext cx="192" cy="192"/>
            </a:xfrm>
            <a:prstGeom prst="line">
              <a:avLst/>
            </a:prstGeom>
            <a:noFill/>
            <a:ln w="28575">
              <a:solidFill>
                <a:srgbClr val="FF0000"/>
              </a:solidFill>
              <a:round/>
              <a:headEnd/>
              <a:tailEnd type="triangle" w="sm" len="lg"/>
            </a:ln>
          </p:spPr>
          <p:txBody>
            <a:bodyPr/>
            <a:lstStyle/>
            <a:p>
              <a:endParaRPr lang="zh-CN" altLang="en-US"/>
            </a:p>
          </p:txBody>
        </p:sp>
        <p:sp>
          <p:nvSpPr>
            <p:cNvPr id="48206" name="Line 11"/>
            <p:cNvSpPr>
              <a:spLocks noChangeShapeType="1"/>
            </p:cNvSpPr>
            <p:nvPr/>
          </p:nvSpPr>
          <p:spPr bwMode="auto">
            <a:xfrm rot="149374" flipH="1" flipV="1">
              <a:off x="4815" y="2205"/>
              <a:ext cx="241" cy="120"/>
            </a:xfrm>
            <a:prstGeom prst="line">
              <a:avLst/>
            </a:prstGeom>
            <a:noFill/>
            <a:ln w="28575">
              <a:solidFill>
                <a:srgbClr val="FF0000"/>
              </a:solidFill>
              <a:round/>
              <a:headEnd/>
              <a:tailEnd type="triangle" w="sm" len="lg"/>
            </a:ln>
          </p:spPr>
          <p:txBody>
            <a:bodyPr/>
            <a:lstStyle/>
            <a:p>
              <a:endParaRPr lang="zh-CN" altLang="en-US"/>
            </a:p>
          </p:txBody>
        </p:sp>
        <p:graphicFrame>
          <p:nvGraphicFramePr>
            <p:cNvPr id="48142" name="Object 12"/>
            <p:cNvGraphicFramePr>
              <a:graphicFrameLocks noChangeAspect="1"/>
            </p:cNvGraphicFramePr>
            <p:nvPr/>
          </p:nvGraphicFramePr>
          <p:xfrm>
            <a:off x="4693" y="2055"/>
            <a:ext cx="124" cy="162"/>
          </p:xfrm>
          <a:graphic>
            <a:graphicData uri="http://schemas.openxmlformats.org/presentationml/2006/ole">
              <p:oleObj spid="_x0000_s48142" name="Equation" r:id="rId6" imgW="139680" imgH="177480" progId="Equation.3">
                <p:embed/>
              </p:oleObj>
            </a:graphicData>
          </a:graphic>
        </p:graphicFrame>
      </p:grpSp>
      <p:graphicFrame>
        <p:nvGraphicFramePr>
          <p:cNvPr id="120845" name="Object 13"/>
          <p:cNvGraphicFramePr>
            <a:graphicFrameLocks noChangeAspect="1"/>
          </p:cNvGraphicFramePr>
          <p:nvPr/>
        </p:nvGraphicFramePr>
        <p:xfrm>
          <a:off x="2590800" y="6096000"/>
          <a:ext cx="749300" cy="409575"/>
        </p:xfrm>
        <a:graphic>
          <a:graphicData uri="http://schemas.openxmlformats.org/presentationml/2006/ole">
            <p:oleObj spid="_x0000_s48133" name="Equation" r:id="rId7" imgW="419040" imgH="228600" progId="Equation.3">
              <p:embed/>
            </p:oleObj>
          </a:graphicData>
        </a:graphic>
      </p:graphicFrame>
      <p:sp>
        <p:nvSpPr>
          <p:cNvPr id="120846" name="Text Box 14"/>
          <p:cNvSpPr txBox="1">
            <a:spLocks noChangeArrowheads="1"/>
          </p:cNvSpPr>
          <p:nvPr/>
        </p:nvSpPr>
        <p:spPr bwMode="auto">
          <a:xfrm>
            <a:off x="5446713" y="6092825"/>
            <a:ext cx="990600" cy="457200"/>
          </a:xfrm>
          <a:prstGeom prst="rect">
            <a:avLst/>
          </a:prstGeom>
          <a:noFill/>
          <a:ln w="9525">
            <a:noFill/>
            <a:miter lim="800000"/>
            <a:headEnd/>
            <a:tailEnd/>
          </a:ln>
        </p:spPr>
        <p:txBody>
          <a:bodyPr>
            <a:spAutoFit/>
          </a:bodyPr>
          <a:lstStyle/>
          <a:p>
            <a:pPr algn="ctr">
              <a:spcBef>
                <a:spcPct val="50000"/>
              </a:spcBef>
            </a:pPr>
            <a:r>
              <a:rPr lang="zh-CN" altLang="en-US" b="1">
                <a:solidFill>
                  <a:srgbClr val="008000"/>
                </a:solidFill>
                <a:latin typeface="楷体_GB2312" pitchFamily="49" charset="-122"/>
                <a:ea typeface="楷体_GB2312" pitchFamily="49" charset="-122"/>
              </a:rPr>
              <a:t>远离</a:t>
            </a:r>
          </a:p>
        </p:txBody>
      </p:sp>
      <p:graphicFrame>
        <p:nvGraphicFramePr>
          <p:cNvPr id="120847" name="Object 15"/>
          <p:cNvGraphicFramePr>
            <a:graphicFrameLocks noChangeAspect="1"/>
          </p:cNvGraphicFramePr>
          <p:nvPr/>
        </p:nvGraphicFramePr>
        <p:xfrm>
          <a:off x="6407150" y="6142038"/>
          <a:ext cx="755650" cy="411162"/>
        </p:xfrm>
        <a:graphic>
          <a:graphicData uri="http://schemas.openxmlformats.org/presentationml/2006/ole">
            <p:oleObj spid="_x0000_s48134" name="Equation" r:id="rId8" imgW="419040" imgH="228600" progId="Equation.3">
              <p:embed/>
            </p:oleObj>
          </a:graphicData>
        </a:graphic>
      </p:graphicFrame>
      <p:grpSp>
        <p:nvGrpSpPr>
          <p:cNvPr id="3" name="Group 16"/>
          <p:cNvGrpSpPr>
            <a:grpSpLocks/>
          </p:cNvGrpSpPr>
          <p:nvPr/>
        </p:nvGrpSpPr>
        <p:grpSpPr bwMode="auto">
          <a:xfrm>
            <a:off x="7551738" y="4768850"/>
            <a:ext cx="660400" cy="595313"/>
            <a:chOff x="4757" y="3004"/>
            <a:chExt cx="416" cy="375"/>
          </a:xfrm>
        </p:grpSpPr>
        <p:graphicFrame>
          <p:nvGraphicFramePr>
            <p:cNvPr id="48141" name="Object 17"/>
            <p:cNvGraphicFramePr>
              <a:graphicFrameLocks noChangeAspect="1"/>
            </p:cNvGraphicFramePr>
            <p:nvPr/>
          </p:nvGraphicFramePr>
          <p:xfrm>
            <a:off x="4950" y="3004"/>
            <a:ext cx="188" cy="257"/>
          </p:xfrm>
          <a:graphic>
            <a:graphicData uri="http://schemas.openxmlformats.org/presentationml/2006/ole">
              <p:oleObj spid="_x0000_s48141" name="公式" r:id="rId9" imgW="177480" imgH="228600" progId="Equation.3">
                <p:embed/>
              </p:oleObj>
            </a:graphicData>
          </a:graphic>
        </p:graphicFrame>
        <p:sp>
          <p:nvSpPr>
            <p:cNvPr id="48203" name="Line 18"/>
            <p:cNvSpPr>
              <a:spLocks noChangeShapeType="1"/>
            </p:cNvSpPr>
            <p:nvPr/>
          </p:nvSpPr>
          <p:spPr bwMode="auto">
            <a:xfrm>
              <a:off x="4933" y="3261"/>
              <a:ext cx="240" cy="0"/>
            </a:xfrm>
            <a:prstGeom prst="line">
              <a:avLst/>
            </a:prstGeom>
            <a:noFill/>
            <a:ln w="28575">
              <a:solidFill>
                <a:srgbClr val="FF0000"/>
              </a:solidFill>
              <a:round/>
              <a:headEnd type="none" w="sm" len="lg"/>
              <a:tailEnd type="triangle" w="sm" len="lg"/>
            </a:ln>
          </p:spPr>
          <p:txBody>
            <a:bodyPr/>
            <a:lstStyle/>
            <a:p>
              <a:endParaRPr lang="zh-CN" altLang="en-US"/>
            </a:p>
          </p:txBody>
        </p:sp>
        <p:pic>
          <p:nvPicPr>
            <p:cNvPr id="48204" name="Picture 19" descr="ear"/>
            <p:cNvPicPr preferRelativeResize="0">
              <a:picLocks noChangeAspect="1" noChangeArrowheads="1"/>
            </p:cNvPicPr>
            <p:nvPr/>
          </p:nvPicPr>
          <p:blipFill>
            <a:blip r:embed="rId10">
              <a:clrChange>
                <a:clrFrom>
                  <a:srgbClr val="FFFFFF"/>
                </a:clrFrom>
                <a:clrTo>
                  <a:srgbClr val="FFFFFF">
                    <a:alpha val="0"/>
                  </a:srgbClr>
                </a:clrTo>
              </a:clrChange>
              <a:lum bright="-60000"/>
            </a:blip>
            <a:srcRect/>
            <a:stretch>
              <a:fillRect/>
            </a:stretch>
          </p:blipFill>
          <p:spPr bwMode="auto">
            <a:xfrm>
              <a:off x="4757" y="3148"/>
              <a:ext cx="136" cy="231"/>
            </a:xfrm>
            <a:prstGeom prst="rect">
              <a:avLst/>
            </a:prstGeom>
            <a:noFill/>
            <a:ln w="28575">
              <a:noFill/>
              <a:miter lim="800000"/>
              <a:headEnd/>
              <a:tailEnd/>
            </a:ln>
          </p:spPr>
        </p:pic>
      </p:grpSp>
      <p:sp>
        <p:nvSpPr>
          <p:cNvPr id="120852" name="Oval 20"/>
          <p:cNvSpPr>
            <a:spLocks noChangeArrowheads="1"/>
          </p:cNvSpPr>
          <p:nvPr/>
        </p:nvSpPr>
        <p:spPr bwMode="auto">
          <a:xfrm>
            <a:off x="5849938" y="2779713"/>
            <a:ext cx="706437" cy="684212"/>
          </a:xfrm>
          <a:prstGeom prst="ellipse">
            <a:avLst/>
          </a:prstGeom>
          <a:noFill/>
          <a:ln w="28575">
            <a:solidFill>
              <a:srgbClr val="008000"/>
            </a:solidFill>
            <a:round/>
            <a:headEnd/>
            <a:tailEnd/>
          </a:ln>
        </p:spPr>
        <p:txBody>
          <a:bodyPr wrap="none" anchor="ctr"/>
          <a:lstStyle/>
          <a:p>
            <a:pPr algn="ctr"/>
            <a:endParaRPr lang="zh-CN" altLang="zh-CN" b="1">
              <a:solidFill>
                <a:srgbClr val="FFFF00"/>
              </a:solidFill>
              <a:latin typeface="宋体" pitchFamily="2" charset="-122"/>
            </a:endParaRPr>
          </a:p>
        </p:txBody>
      </p:sp>
      <p:sp>
        <p:nvSpPr>
          <p:cNvPr id="120853" name="Oval 21"/>
          <p:cNvSpPr>
            <a:spLocks noChangeArrowheads="1"/>
          </p:cNvSpPr>
          <p:nvPr/>
        </p:nvSpPr>
        <p:spPr bwMode="auto">
          <a:xfrm>
            <a:off x="5565775" y="2497138"/>
            <a:ext cx="1252538" cy="1212850"/>
          </a:xfrm>
          <a:prstGeom prst="ellipse">
            <a:avLst/>
          </a:prstGeom>
          <a:noFill/>
          <a:ln w="28575">
            <a:solidFill>
              <a:srgbClr val="008000"/>
            </a:solidFill>
            <a:round/>
            <a:headEnd/>
            <a:tailEnd/>
          </a:ln>
        </p:spPr>
        <p:txBody>
          <a:bodyPr wrap="none" anchor="ctr"/>
          <a:lstStyle/>
          <a:p>
            <a:endParaRPr lang="zh-CN" altLang="en-US"/>
          </a:p>
        </p:txBody>
      </p:sp>
      <p:sp>
        <p:nvSpPr>
          <p:cNvPr id="120854" name="Oval 22"/>
          <p:cNvSpPr>
            <a:spLocks noChangeArrowheads="1"/>
          </p:cNvSpPr>
          <p:nvPr/>
        </p:nvSpPr>
        <p:spPr bwMode="auto">
          <a:xfrm>
            <a:off x="5326063" y="2243138"/>
            <a:ext cx="1744662" cy="1743075"/>
          </a:xfrm>
          <a:prstGeom prst="ellipse">
            <a:avLst/>
          </a:prstGeom>
          <a:noFill/>
          <a:ln w="28575">
            <a:solidFill>
              <a:srgbClr val="008000"/>
            </a:solidFill>
            <a:round/>
            <a:headEnd/>
            <a:tailEnd/>
          </a:ln>
        </p:spPr>
        <p:txBody>
          <a:bodyPr wrap="none" anchor="ctr"/>
          <a:lstStyle/>
          <a:p>
            <a:endParaRPr lang="zh-CN" altLang="en-US"/>
          </a:p>
        </p:txBody>
      </p:sp>
      <p:sp>
        <p:nvSpPr>
          <p:cNvPr id="120855" name="Oval 23"/>
          <p:cNvSpPr>
            <a:spLocks noChangeArrowheads="1"/>
          </p:cNvSpPr>
          <p:nvPr/>
        </p:nvSpPr>
        <p:spPr bwMode="auto">
          <a:xfrm>
            <a:off x="5076825" y="1989138"/>
            <a:ext cx="2230438" cy="2208212"/>
          </a:xfrm>
          <a:prstGeom prst="ellipse">
            <a:avLst/>
          </a:prstGeom>
          <a:noFill/>
          <a:ln w="28575">
            <a:solidFill>
              <a:srgbClr val="008000"/>
            </a:solidFill>
            <a:round/>
            <a:headEnd/>
            <a:tailEnd/>
          </a:ln>
        </p:spPr>
        <p:txBody>
          <a:bodyPr wrap="none" anchor="ctr"/>
          <a:lstStyle/>
          <a:p>
            <a:endParaRPr lang="zh-CN" altLang="en-US"/>
          </a:p>
        </p:txBody>
      </p:sp>
      <p:grpSp>
        <p:nvGrpSpPr>
          <p:cNvPr id="4" name="Group 24"/>
          <p:cNvGrpSpPr>
            <a:grpSpLocks/>
          </p:cNvGrpSpPr>
          <p:nvPr/>
        </p:nvGrpSpPr>
        <p:grpSpPr bwMode="auto">
          <a:xfrm>
            <a:off x="7316788" y="2727325"/>
            <a:ext cx="352425" cy="431800"/>
            <a:chOff x="4801" y="1744"/>
            <a:chExt cx="198" cy="204"/>
          </a:xfrm>
        </p:grpSpPr>
        <p:sp>
          <p:nvSpPr>
            <p:cNvPr id="48202" name="Line 25"/>
            <p:cNvSpPr>
              <a:spLocks noChangeShapeType="1"/>
            </p:cNvSpPr>
            <p:nvPr/>
          </p:nvSpPr>
          <p:spPr bwMode="auto">
            <a:xfrm flipH="1">
              <a:off x="4831" y="1948"/>
              <a:ext cx="168" cy="0"/>
            </a:xfrm>
            <a:prstGeom prst="line">
              <a:avLst/>
            </a:prstGeom>
            <a:noFill/>
            <a:ln w="28575">
              <a:solidFill>
                <a:srgbClr val="FF0000"/>
              </a:solidFill>
              <a:round/>
              <a:headEnd/>
              <a:tailEnd type="triangle" w="sm" len="lg"/>
            </a:ln>
          </p:spPr>
          <p:txBody>
            <a:bodyPr/>
            <a:lstStyle/>
            <a:p>
              <a:endParaRPr lang="zh-CN" altLang="en-US"/>
            </a:p>
          </p:txBody>
        </p:sp>
        <p:graphicFrame>
          <p:nvGraphicFramePr>
            <p:cNvPr id="48140" name="Object 26"/>
            <p:cNvGraphicFramePr>
              <a:graphicFrameLocks noChangeAspect="1"/>
            </p:cNvGraphicFramePr>
            <p:nvPr/>
          </p:nvGraphicFramePr>
          <p:xfrm>
            <a:off x="4801" y="1744"/>
            <a:ext cx="124" cy="144"/>
          </p:xfrm>
          <a:graphic>
            <a:graphicData uri="http://schemas.openxmlformats.org/presentationml/2006/ole">
              <p:oleObj spid="_x0000_s48140" name="公式" r:id="rId11" imgW="317160" imgH="431640" progId="Equation.3">
                <p:embed/>
              </p:oleObj>
            </a:graphicData>
          </a:graphic>
        </p:graphicFrame>
      </p:grpSp>
      <p:grpSp>
        <p:nvGrpSpPr>
          <p:cNvPr id="5" name="Group 27"/>
          <p:cNvGrpSpPr>
            <a:grpSpLocks/>
          </p:cNvGrpSpPr>
          <p:nvPr/>
        </p:nvGrpSpPr>
        <p:grpSpPr bwMode="auto">
          <a:xfrm>
            <a:off x="1497013" y="5667375"/>
            <a:ext cx="1246187" cy="223838"/>
            <a:chOff x="1086" y="3570"/>
            <a:chExt cx="801" cy="141"/>
          </a:xfrm>
        </p:grpSpPr>
        <p:sp>
          <p:nvSpPr>
            <p:cNvPr id="48199" name="Line 28"/>
            <p:cNvSpPr>
              <a:spLocks noChangeShapeType="1"/>
            </p:cNvSpPr>
            <p:nvPr/>
          </p:nvSpPr>
          <p:spPr bwMode="auto">
            <a:xfrm>
              <a:off x="1086" y="3570"/>
              <a:ext cx="0" cy="141"/>
            </a:xfrm>
            <a:prstGeom prst="line">
              <a:avLst/>
            </a:prstGeom>
            <a:noFill/>
            <a:ln w="28575">
              <a:solidFill>
                <a:srgbClr val="FF0000"/>
              </a:solidFill>
              <a:round/>
              <a:headEnd type="none" w="sm" len="lg"/>
              <a:tailEnd type="none" w="sm" len="lg"/>
            </a:ln>
          </p:spPr>
          <p:txBody>
            <a:bodyPr/>
            <a:lstStyle/>
            <a:p>
              <a:endParaRPr lang="zh-CN" altLang="en-US"/>
            </a:p>
          </p:txBody>
        </p:sp>
        <p:sp>
          <p:nvSpPr>
            <p:cNvPr id="48200" name="Line 29"/>
            <p:cNvSpPr>
              <a:spLocks noChangeShapeType="1"/>
            </p:cNvSpPr>
            <p:nvPr/>
          </p:nvSpPr>
          <p:spPr bwMode="auto">
            <a:xfrm>
              <a:off x="1885" y="3570"/>
              <a:ext cx="0" cy="140"/>
            </a:xfrm>
            <a:prstGeom prst="line">
              <a:avLst/>
            </a:prstGeom>
            <a:noFill/>
            <a:ln w="28575">
              <a:solidFill>
                <a:srgbClr val="FF0000"/>
              </a:solidFill>
              <a:round/>
              <a:headEnd type="none" w="sm" len="lg"/>
              <a:tailEnd type="none" w="sm" len="lg"/>
            </a:ln>
          </p:spPr>
          <p:txBody>
            <a:bodyPr/>
            <a:lstStyle/>
            <a:p>
              <a:endParaRPr lang="zh-CN" altLang="en-US"/>
            </a:p>
          </p:txBody>
        </p:sp>
        <p:sp>
          <p:nvSpPr>
            <p:cNvPr id="48201" name="Line 30"/>
            <p:cNvSpPr>
              <a:spLocks noChangeShapeType="1"/>
            </p:cNvSpPr>
            <p:nvPr/>
          </p:nvSpPr>
          <p:spPr bwMode="auto">
            <a:xfrm>
              <a:off x="1087" y="3641"/>
              <a:ext cx="800" cy="0"/>
            </a:xfrm>
            <a:prstGeom prst="line">
              <a:avLst/>
            </a:prstGeom>
            <a:noFill/>
            <a:ln w="28575">
              <a:solidFill>
                <a:srgbClr val="FF0000"/>
              </a:solidFill>
              <a:round/>
              <a:headEnd type="triangle" w="sm" len="lg"/>
              <a:tailEnd type="triangle" w="sm" len="lg"/>
            </a:ln>
          </p:spPr>
          <p:txBody>
            <a:bodyPr/>
            <a:lstStyle/>
            <a:p>
              <a:endParaRPr lang="zh-CN" altLang="en-US"/>
            </a:p>
          </p:txBody>
        </p:sp>
      </p:grpSp>
      <p:graphicFrame>
        <p:nvGraphicFramePr>
          <p:cNvPr id="120863" name="Object 31"/>
          <p:cNvGraphicFramePr>
            <a:graphicFrameLocks noChangeAspect="1"/>
          </p:cNvGraphicFramePr>
          <p:nvPr/>
        </p:nvGraphicFramePr>
        <p:xfrm>
          <a:off x="2011363" y="5799138"/>
          <a:ext cx="250825" cy="250825"/>
        </p:xfrm>
        <a:graphic>
          <a:graphicData uri="http://schemas.openxmlformats.org/presentationml/2006/ole">
            <p:oleObj spid="_x0000_s48135" name="Equation" r:id="rId12" imgW="126720" imgH="139680" progId="Equation.3">
              <p:embed/>
            </p:oleObj>
          </a:graphicData>
        </a:graphic>
      </p:graphicFrame>
      <p:grpSp>
        <p:nvGrpSpPr>
          <p:cNvPr id="6" name="Group 32"/>
          <p:cNvGrpSpPr>
            <a:grpSpLocks/>
          </p:cNvGrpSpPr>
          <p:nvPr/>
        </p:nvGrpSpPr>
        <p:grpSpPr bwMode="auto">
          <a:xfrm>
            <a:off x="1681163" y="4186238"/>
            <a:ext cx="558800" cy="457200"/>
            <a:chOff x="1215" y="2637"/>
            <a:chExt cx="352" cy="288"/>
          </a:xfrm>
        </p:grpSpPr>
        <p:sp>
          <p:nvSpPr>
            <p:cNvPr id="48197" name="Text Box 33"/>
            <p:cNvSpPr txBox="1">
              <a:spLocks noChangeArrowheads="1"/>
            </p:cNvSpPr>
            <p:nvPr/>
          </p:nvSpPr>
          <p:spPr bwMode="auto">
            <a:xfrm>
              <a:off x="1268" y="2637"/>
              <a:ext cx="212" cy="288"/>
            </a:xfrm>
            <a:prstGeom prst="rect">
              <a:avLst/>
            </a:prstGeom>
            <a:noFill/>
            <a:ln w="9525">
              <a:noFill/>
              <a:miter lim="800000"/>
              <a:headEnd/>
              <a:tailEnd/>
            </a:ln>
          </p:spPr>
          <p:txBody>
            <a:bodyPr wrap="none">
              <a:spAutoFit/>
            </a:bodyPr>
            <a:lstStyle/>
            <a:p>
              <a:r>
                <a:rPr lang="en-US" altLang="zh-CN" i="1">
                  <a:solidFill>
                    <a:srgbClr val="0000FF"/>
                  </a:solidFill>
                </a:rPr>
                <a:t>u</a:t>
              </a:r>
            </a:p>
          </p:txBody>
        </p:sp>
        <p:sp>
          <p:nvSpPr>
            <p:cNvPr id="48198" name="Line 34"/>
            <p:cNvSpPr>
              <a:spLocks noChangeShapeType="1"/>
            </p:cNvSpPr>
            <p:nvPr/>
          </p:nvSpPr>
          <p:spPr bwMode="auto">
            <a:xfrm>
              <a:off x="1215" y="2873"/>
              <a:ext cx="352" cy="0"/>
            </a:xfrm>
            <a:prstGeom prst="line">
              <a:avLst/>
            </a:prstGeom>
            <a:noFill/>
            <a:ln w="28575">
              <a:solidFill>
                <a:srgbClr val="FF0000"/>
              </a:solidFill>
              <a:round/>
              <a:headEnd/>
              <a:tailEnd type="triangle" w="sm" len="lg"/>
            </a:ln>
          </p:spPr>
          <p:txBody>
            <a:bodyPr/>
            <a:lstStyle/>
            <a:p>
              <a:endParaRPr lang="zh-CN" altLang="en-US"/>
            </a:p>
          </p:txBody>
        </p:sp>
      </p:grpSp>
      <p:sp>
        <p:nvSpPr>
          <p:cNvPr id="120867" name="Text Box 35"/>
          <p:cNvSpPr txBox="1">
            <a:spLocks noChangeArrowheads="1"/>
          </p:cNvSpPr>
          <p:nvPr/>
        </p:nvSpPr>
        <p:spPr bwMode="auto">
          <a:xfrm>
            <a:off x="1493838" y="6032500"/>
            <a:ext cx="1066800" cy="457200"/>
          </a:xfrm>
          <a:prstGeom prst="rect">
            <a:avLst/>
          </a:prstGeom>
          <a:noFill/>
          <a:ln w="9525">
            <a:noFill/>
            <a:miter lim="800000"/>
            <a:headEnd/>
            <a:tailEnd/>
          </a:ln>
        </p:spPr>
        <p:txBody>
          <a:bodyPr>
            <a:spAutoFit/>
          </a:bodyPr>
          <a:lstStyle/>
          <a:p>
            <a:pPr algn="ctr">
              <a:spcBef>
                <a:spcPct val="50000"/>
              </a:spcBef>
            </a:pPr>
            <a:r>
              <a:rPr lang="zh-CN" altLang="en-US" b="1">
                <a:solidFill>
                  <a:srgbClr val="008000"/>
                </a:solidFill>
                <a:latin typeface="楷体_GB2312" pitchFamily="49" charset="-122"/>
                <a:ea typeface="楷体_GB2312" pitchFamily="49" charset="-122"/>
              </a:rPr>
              <a:t>靠近</a:t>
            </a:r>
            <a:endParaRPr lang="zh-CN" altLang="en-US" b="1" baseline="-25000">
              <a:solidFill>
                <a:srgbClr val="008000"/>
              </a:solidFill>
              <a:latin typeface="楷体_GB2312" pitchFamily="49" charset="-122"/>
              <a:ea typeface="楷体_GB2312" pitchFamily="49" charset="-122"/>
            </a:endParaRPr>
          </a:p>
        </p:txBody>
      </p:sp>
      <p:grpSp>
        <p:nvGrpSpPr>
          <p:cNvPr id="7" name="Group 36"/>
          <p:cNvGrpSpPr>
            <a:grpSpLocks/>
          </p:cNvGrpSpPr>
          <p:nvPr/>
        </p:nvGrpSpPr>
        <p:grpSpPr bwMode="auto">
          <a:xfrm>
            <a:off x="2727325" y="5665788"/>
            <a:ext cx="930275" cy="222250"/>
            <a:chOff x="1881" y="3569"/>
            <a:chExt cx="586" cy="140"/>
          </a:xfrm>
        </p:grpSpPr>
        <p:sp>
          <p:nvSpPr>
            <p:cNvPr id="48195" name="Line 37"/>
            <p:cNvSpPr>
              <a:spLocks noChangeShapeType="1"/>
            </p:cNvSpPr>
            <p:nvPr/>
          </p:nvSpPr>
          <p:spPr bwMode="auto">
            <a:xfrm>
              <a:off x="2467" y="3569"/>
              <a:ext cx="0" cy="140"/>
            </a:xfrm>
            <a:prstGeom prst="line">
              <a:avLst/>
            </a:prstGeom>
            <a:noFill/>
            <a:ln w="28575">
              <a:solidFill>
                <a:srgbClr val="FF0000"/>
              </a:solidFill>
              <a:round/>
              <a:headEnd/>
              <a:tailEnd type="none" w="sm" len="lg"/>
            </a:ln>
          </p:spPr>
          <p:txBody>
            <a:bodyPr/>
            <a:lstStyle/>
            <a:p>
              <a:endParaRPr lang="zh-CN" altLang="en-US"/>
            </a:p>
          </p:txBody>
        </p:sp>
        <p:sp>
          <p:nvSpPr>
            <p:cNvPr id="48196" name="Line 38"/>
            <p:cNvSpPr>
              <a:spLocks noChangeShapeType="1"/>
            </p:cNvSpPr>
            <p:nvPr/>
          </p:nvSpPr>
          <p:spPr bwMode="auto">
            <a:xfrm>
              <a:off x="1881" y="3640"/>
              <a:ext cx="586" cy="0"/>
            </a:xfrm>
            <a:prstGeom prst="line">
              <a:avLst/>
            </a:prstGeom>
            <a:noFill/>
            <a:ln w="28575">
              <a:solidFill>
                <a:srgbClr val="FF0000"/>
              </a:solidFill>
              <a:round/>
              <a:headEnd type="triangle" w="sm" len="lg"/>
              <a:tailEnd type="triangle" w="sm" len="lg"/>
            </a:ln>
          </p:spPr>
          <p:txBody>
            <a:bodyPr/>
            <a:lstStyle/>
            <a:p>
              <a:endParaRPr lang="zh-CN" altLang="en-US"/>
            </a:p>
          </p:txBody>
        </p:sp>
      </p:grpSp>
      <p:graphicFrame>
        <p:nvGraphicFramePr>
          <p:cNvPr id="120871" name="Object 39"/>
          <p:cNvGraphicFramePr>
            <a:graphicFrameLocks noChangeAspect="1"/>
          </p:cNvGraphicFramePr>
          <p:nvPr/>
        </p:nvGraphicFramePr>
        <p:xfrm>
          <a:off x="3170238" y="5738813"/>
          <a:ext cx="352425" cy="433387"/>
        </p:xfrm>
        <a:graphic>
          <a:graphicData uri="http://schemas.openxmlformats.org/presentationml/2006/ole">
            <p:oleObj spid="_x0000_s48136" name="Equation" r:id="rId13" imgW="317160" imgH="431640" progId="Equation.3">
              <p:embed/>
            </p:oleObj>
          </a:graphicData>
        </a:graphic>
      </p:graphicFrame>
      <p:grpSp>
        <p:nvGrpSpPr>
          <p:cNvPr id="8" name="Group 40"/>
          <p:cNvGrpSpPr>
            <a:grpSpLocks/>
          </p:cNvGrpSpPr>
          <p:nvPr/>
        </p:nvGrpSpPr>
        <p:grpSpPr bwMode="auto">
          <a:xfrm>
            <a:off x="1495425" y="4689475"/>
            <a:ext cx="2174875" cy="971550"/>
            <a:chOff x="1098" y="2954"/>
            <a:chExt cx="1370" cy="612"/>
          </a:xfrm>
        </p:grpSpPr>
        <p:sp>
          <p:nvSpPr>
            <p:cNvPr id="48187" name="Line 41"/>
            <p:cNvSpPr>
              <a:spLocks noChangeShapeType="1"/>
            </p:cNvSpPr>
            <p:nvPr/>
          </p:nvSpPr>
          <p:spPr bwMode="auto">
            <a:xfrm>
              <a:off x="1098" y="2954"/>
              <a:ext cx="0" cy="612"/>
            </a:xfrm>
            <a:prstGeom prst="line">
              <a:avLst/>
            </a:prstGeom>
            <a:noFill/>
            <a:ln w="28575">
              <a:solidFill>
                <a:srgbClr val="008000"/>
              </a:solidFill>
              <a:round/>
              <a:headEnd/>
              <a:tailEnd/>
            </a:ln>
          </p:spPr>
          <p:txBody>
            <a:bodyPr/>
            <a:lstStyle/>
            <a:p>
              <a:endParaRPr lang="zh-CN" altLang="en-US"/>
            </a:p>
          </p:txBody>
        </p:sp>
        <p:sp>
          <p:nvSpPr>
            <p:cNvPr id="48188" name="Line 42"/>
            <p:cNvSpPr>
              <a:spLocks noChangeShapeType="1"/>
            </p:cNvSpPr>
            <p:nvPr/>
          </p:nvSpPr>
          <p:spPr bwMode="auto">
            <a:xfrm>
              <a:off x="1294" y="2954"/>
              <a:ext cx="0" cy="612"/>
            </a:xfrm>
            <a:prstGeom prst="line">
              <a:avLst/>
            </a:prstGeom>
            <a:noFill/>
            <a:ln w="28575">
              <a:solidFill>
                <a:srgbClr val="008000"/>
              </a:solidFill>
              <a:round/>
              <a:headEnd/>
              <a:tailEnd/>
            </a:ln>
          </p:spPr>
          <p:txBody>
            <a:bodyPr/>
            <a:lstStyle/>
            <a:p>
              <a:endParaRPr lang="zh-CN" altLang="en-US"/>
            </a:p>
          </p:txBody>
        </p:sp>
        <p:sp>
          <p:nvSpPr>
            <p:cNvPr id="48189" name="Line 43"/>
            <p:cNvSpPr>
              <a:spLocks noChangeShapeType="1"/>
            </p:cNvSpPr>
            <p:nvPr/>
          </p:nvSpPr>
          <p:spPr bwMode="auto">
            <a:xfrm>
              <a:off x="2468" y="2954"/>
              <a:ext cx="0" cy="612"/>
            </a:xfrm>
            <a:prstGeom prst="line">
              <a:avLst/>
            </a:prstGeom>
            <a:noFill/>
            <a:ln w="28575">
              <a:solidFill>
                <a:srgbClr val="008000"/>
              </a:solidFill>
              <a:round/>
              <a:headEnd/>
              <a:tailEnd/>
            </a:ln>
          </p:spPr>
          <p:txBody>
            <a:bodyPr/>
            <a:lstStyle/>
            <a:p>
              <a:endParaRPr lang="zh-CN" altLang="en-US"/>
            </a:p>
          </p:txBody>
        </p:sp>
        <p:sp>
          <p:nvSpPr>
            <p:cNvPr id="48190" name="Line 44"/>
            <p:cNvSpPr>
              <a:spLocks noChangeShapeType="1"/>
            </p:cNvSpPr>
            <p:nvPr/>
          </p:nvSpPr>
          <p:spPr bwMode="auto">
            <a:xfrm>
              <a:off x="2272" y="2954"/>
              <a:ext cx="0" cy="612"/>
            </a:xfrm>
            <a:prstGeom prst="line">
              <a:avLst/>
            </a:prstGeom>
            <a:noFill/>
            <a:ln w="28575">
              <a:solidFill>
                <a:srgbClr val="008000"/>
              </a:solidFill>
              <a:round/>
              <a:headEnd/>
              <a:tailEnd/>
            </a:ln>
          </p:spPr>
          <p:txBody>
            <a:bodyPr/>
            <a:lstStyle/>
            <a:p>
              <a:endParaRPr lang="zh-CN" altLang="en-US"/>
            </a:p>
          </p:txBody>
        </p:sp>
        <p:sp>
          <p:nvSpPr>
            <p:cNvPr id="48191" name="Line 45"/>
            <p:cNvSpPr>
              <a:spLocks noChangeShapeType="1"/>
            </p:cNvSpPr>
            <p:nvPr/>
          </p:nvSpPr>
          <p:spPr bwMode="auto">
            <a:xfrm>
              <a:off x="2076" y="2954"/>
              <a:ext cx="0" cy="612"/>
            </a:xfrm>
            <a:prstGeom prst="line">
              <a:avLst/>
            </a:prstGeom>
            <a:noFill/>
            <a:ln w="28575">
              <a:solidFill>
                <a:srgbClr val="008000"/>
              </a:solidFill>
              <a:round/>
              <a:headEnd/>
              <a:tailEnd/>
            </a:ln>
          </p:spPr>
          <p:txBody>
            <a:bodyPr/>
            <a:lstStyle/>
            <a:p>
              <a:endParaRPr lang="zh-CN" altLang="en-US"/>
            </a:p>
          </p:txBody>
        </p:sp>
        <p:sp>
          <p:nvSpPr>
            <p:cNvPr id="48192" name="Line 46"/>
            <p:cNvSpPr>
              <a:spLocks noChangeShapeType="1"/>
            </p:cNvSpPr>
            <p:nvPr/>
          </p:nvSpPr>
          <p:spPr bwMode="auto">
            <a:xfrm>
              <a:off x="1881" y="2954"/>
              <a:ext cx="0" cy="612"/>
            </a:xfrm>
            <a:prstGeom prst="line">
              <a:avLst/>
            </a:prstGeom>
            <a:noFill/>
            <a:ln w="28575">
              <a:solidFill>
                <a:srgbClr val="008000"/>
              </a:solidFill>
              <a:round/>
              <a:headEnd/>
              <a:tailEnd/>
            </a:ln>
          </p:spPr>
          <p:txBody>
            <a:bodyPr/>
            <a:lstStyle/>
            <a:p>
              <a:endParaRPr lang="zh-CN" altLang="en-US"/>
            </a:p>
          </p:txBody>
        </p:sp>
        <p:sp>
          <p:nvSpPr>
            <p:cNvPr id="48193" name="Line 47"/>
            <p:cNvSpPr>
              <a:spLocks noChangeShapeType="1"/>
            </p:cNvSpPr>
            <p:nvPr/>
          </p:nvSpPr>
          <p:spPr bwMode="auto">
            <a:xfrm>
              <a:off x="1685" y="2954"/>
              <a:ext cx="0" cy="612"/>
            </a:xfrm>
            <a:prstGeom prst="line">
              <a:avLst/>
            </a:prstGeom>
            <a:noFill/>
            <a:ln w="28575">
              <a:solidFill>
                <a:srgbClr val="008000"/>
              </a:solidFill>
              <a:round/>
              <a:headEnd/>
              <a:tailEnd/>
            </a:ln>
          </p:spPr>
          <p:txBody>
            <a:bodyPr/>
            <a:lstStyle/>
            <a:p>
              <a:endParaRPr lang="zh-CN" altLang="en-US"/>
            </a:p>
          </p:txBody>
        </p:sp>
        <p:sp>
          <p:nvSpPr>
            <p:cNvPr id="48194" name="Line 48"/>
            <p:cNvSpPr>
              <a:spLocks noChangeShapeType="1"/>
            </p:cNvSpPr>
            <p:nvPr/>
          </p:nvSpPr>
          <p:spPr bwMode="auto">
            <a:xfrm>
              <a:off x="1489" y="2954"/>
              <a:ext cx="0" cy="612"/>
            </a:xfrm>
            <a:prstGeom prst="line">
              <a:avLst/>
            </a:prstGeom>
            <a:noFill/>
            <a:ln w="28575">
              <a:solidFill>
                <a:srgbClr val="008000"/>
              </a:solidFill>
              <a:round/>
              <a:headEnd/>
              <a:tailEnd/>
            </a:ln>
          </p:spPr>
          <p:txBody>
            <a:bodyPr/>
            <a:lstStyle/>
            <a:p>
              <a:endParaRPr lang="zh-CN" altLang="en-US"/>
            </a:p>
          </p:txBody>
        </p:sp>
      </p:grpSp>
      <p:grpSp>
        <p:nvGrpSpPr>
          <p:cNvPr id="9" name="Group 49"/>
          <p:cNvGrpSpPr>
            <a:grpSpLocks/>
          </p:cNvGrpSpPr>
          <p:nvPr/>
        </p:nvGrpSpPr>
        <p:grpSpPr bwMode="auto">
          <a:xfrm>
            <a:off x="3786188" y="4959350"/>
            <a:ext cx="654050" cy="520700"/>
            <a:chOff x="2385" y="3124"/>
            <a:chExt cx="412" cy="328"/>
          </a:xfrm>
        </p:grpSpPr>
        <p:sp>
          <p:nvSpPr>
            <p:cNvPr id="48185" name="Line 50"/>
            <p:cNvSpPr>
              <a:spLocks noChangeShapeType="1"/>
            </p:cNvSpPr>
            <p:nvPr/>
          </p:nvSpPr>
          <p:spPr bwMode="auto">
            <a:xfrm flipH="1">
              <a:off x="2385" y="3420"/>
              <a:ext cx="195" cy="0"/>
            </a:xfrm>
            <a:prstGeom prst="line">
              <a:avLst/>
            </a:prstGeom>
            <a:noFill/>
            <a:ln w="28575">
              <a:solidFill>
                <a:srgbClr val="FF0000"/>
              </a:solidFill>
              <a:round/>
              <a:headEnd/>
              <a:tailEnd type="triangle" w="sm" len="lg"/>
            </a:ln>
          </p:spPr>
          <p:txBody>
            <a:bodyPr/>
            <a:lstStyle/>
            <a:p>
              <a:endParaRPr lang="zh-CN" altLang="en-US"/>
            </a:p>
          </p:txBody>
        </p:sp>
        <p:pic>
          <p:nvPicPr>
            <p:cNvPr id="48186" name="Picture 51" descr="多普勒2"/>
            <p:cNvPicPr preferRelativeResize="0">
              <a:picLocks noChangeAspect="1" noChangeArrowheads="1"/>
            </p:cNvPicPr>
            <p:nvPr/>
          </p:nvPicPr>
          <p:blipFill>
            <a:blip r:embed="rId14">
              <a:clrChange>
                <a:clrFrom>
                  <a:srgbClr val="FFFFFF"/>
                </a:clrFrom>
                <a:clrTo>
                  <a:srgbClr val="FFFFFF">
                    <a:alpha val="0"/>
                  </a:srgbClr>
                </a:clrTo>
              </a:clrChange>
              <a:lum bright="-72000"/>
            </a:blip>
            <a:srcRect/>
            <a:stretch>
              <a:fillRect/>
            </a:stretch>
          </p:blipFill>
          <p:spPr bwMode="auto">
            <a:xfrm>
              <a:off x="2622" y="3241"/>
              <a:ext cx="175" cy="211"/>
            </a:xfrm>
            <a:prstGeom prst="rect">
              <a:avLst/>
            </a:prstGeom>
            <a:noFill/>
            <a:ln w="28575">
              <a:noFill/>
              <a:miter lim="800000"/>
              <a:headEnd/>
              <a:tailEnd/>
            </a:ln>
          </p:spPr>
        </p:pic>
        <p:graphicFrame>
          <p:nvGraphicFramePr>
            <p:cNvPr id="48139" name="Object 52"/>
            <p:cNvGraphicFramePr>
              <a:graphicFrameLocks noChangeAspect="1"/>
            </p:cNvGraphicFramePr>
            <p:nvPr/>
          </p:nvGraphicFramePr>
          <p:xfrm>
            <a:off x="2426" y="3124"/>
            <a:ext cx="222" cy="259"/>
          </p:xfrm>
          <a:graphic>
            <a:graphicData uri="http://schemas.openxmlformats.org/presentationml/2006/ole">
              <p:oleObj spid="_x0000_s48139" name="公式" r:id="rId15" imgW="177480" imgH="228600" progId="Equation.3">
                <p:embed/>
              </p:oleObj>
            </a:graphicData>
          </a:graphic>
        </p:graphicFrame>
      </p:grpSp>
      <p:grpSp>
        <p:nvGrpSpPr>
          <p:cNvPr id="10" name="Group 53"/>
          <p:cNvGrpSpPr>
            <a:grpSpLocks/>
          </p:cNvGrpSpPr>
          <p:nvPr/>
        </p:nvGrpSpPr>
        <p:grpSpPr bwMode="auto">
          <a:xfrm>
            <a:off x="5340350" y="4195763"/>
            <a:ext cx="2058988" cy="1609725"/>
            <a:chOff x="3629" y="2643"/>
            <a:chExt cx="1297" cy="1014"/>
          </a:xfrm>
        </p:grpSpPr>
        <p:sp>
          <p:nvSpPr>
            <p:cNvPr id="48174" name="Text Box 54"/>
            <p:cNvSpPr txBox="1">
              <a:spLocks noChangeArrowheads="1"/>
            </p:cNvSpPr>
            <p:nvPr/>
          </p:nvSpPr>
          <p:spPr bwMode="auto">
            <a:xfrm>
              <a:off x="3744" y="2643"/>
              <a:ext cx="384" cy="288"/>
            </a:xfrm>
            <a:prstGeom prst="rect">
              <a:avLst/>
            </a:prstGeom>
            <a:noFill/>
            <a:ln w="28575">
              <a:noFill/>
              <a:miter lim="800000"/>
              <a:headEnd/>
              <a:tailEnd/>
            </a:ln>
          </p:spPr>
          <p:txBody>
            <a:bodyPr>
              <a:spAutoFit/>
            </a:bodyPr>
            <a:lstStyle/>
            <a:p>
              <a:r>
                <a:rPr lang="en-US" altLang="zh-CN" i="1">
                  <a:solidFill>
                    <a:schemeClr val="bg1"/>
                  </a:solidFill>
                  <a:latin typeface="宋体" pitchFamily="2" charset="-122"/>
                </a:rPr>
                <a:t>u</a:t>
              </a:r>
            </a:p>
          </p:txBody>
        </p:sp>
        <p:grpSp>
          <p:nvGrpSpPr>
            <p:cNvPr id="48175" name="Group 55"/>
            <p:cNvGrpSpPr>
              <a:grpSpLocks/>
            </p:cNvGrpSpPr>
            <p:nvPr/>
          </p:nvGrpSpPr>
          <p:grpSpPr bwMode="auto">
            <a:xfrm>
              <a:off x="3629" y="2976"/>
              <a:ext cx="1297" cy="681"/>
              <a:chOff x="3629" y="2749"/>
              <a:chExt cx="1297" cy="915"/>
            </a:xfrm>
          </p:grpSpPr>
          <p:sp>
            <p:nvSpPr>
              <p:cNvPr id="48177" name="Line 56"/>
              <p:cNvSpPr>
                <a:spLocks noChangeShapeType="1"/>
              </p:cNvSpPr>
              <p:nvPr/>
            </p:nvSpPr>
            <p:spPr bwMode="auto">
              <a:xfrm>
                <a:off x="3629" y="2749"/>
                <a:ext cx="0" cy="915"/>
              </a:xfrm>
              <a:prstGeom prst="line">
                <a:avLst/>
              </a:prstGeom>
              <a:noFill/>
              <a:ln w="28575">
                <a:solidFill>
                  <a:srgbClr val="008000"/>
                </a:solidFill>
                <a:round/>
                <a:headEnd/>
                <a:tailEnd type="none" w="sm" len="lg"/>
              </a:ln>
            </p:spPr>
            <p:txBody>
              <a:bodyPr/>
              <a:lstStyle/>
              <a:p>
                <a:endParaRPr lang="zh-CN" altLang="en-US"/>
              </a:p>
            </p:txBody>
          </p:sp>
          <p:sp>
            <p:nvSpPr>
              <p:cNvPr id="48178" name="Line 57"/>
              <p:cNvSpPr>
                <a:spLocks noChangeShapeType="1"/>
              </p:cNvSpPr>
              <p:nvPr/>
            </p:nvSpPr>
            <p:spPr bwMode="auto">
              <a:xfrm>
                <a:off x="3814" y="2749"/>
                <a:ext cx="0" cy="915"/>
              </a:xfrm>
              <a:prstGeom prst="line">
                <a:avLst/>
              </a:prstGeom>
              <a:noFill/>
              <a:ln w="28575">
                <a:solidFill>
                  <a:srgbClr val="008000"/>
                </a:solidFill>
                <a:round/>
                <a:headEnd/>
                <a:tailEnd type="none" w="sm" len="lg"/>
              </a:ln>
            </p:spPr>
            <p:txBody>
              <a:bodyPr/>
              <a:lstStyle/>
              <a:p>
                <a:endParaRPr lang="zh-CN" altLang="en-US"/>
              </a:p>
            </p:txBody>
          </p:sp>
          <p:sp>
            <p:nvSpPr>
              <p:cNvPr id="48179" name="Line 58"/>
              <p:cNvSpPr>
                <a:spLocks noChangeShapeType="1"/>
              </p:cNvSpPr>
              <p:nvPr/>
            </p:nvSpPr>
            <p:spPr bwMode="auto">
              <a:xfrm>
                <a:off x="4926" y="2749"/>
                <a:ext cx="0" cy="915"/>
              </a:xfrm>
              <a:prstGeom prst="line">
                <a:avLst/>
              </a:prstGeom>
              <a:noFill/>
              <a:ln w="28575">
                <a:solidFill>
                  <a:srgbClr val="008000"/>
                </a:solidFill>
                <a:round/>
                <a:headEnd/>
                <a:tailEnd type="none" w="sm" len="lg"/>
              </a:ln>
            </p:spPr>
            <p:txBody>
              <a:bodyPr/>
              <a:lstStyle/>
              <a:p>
                <a:endParaRPr lang="zh-CN" altLang="en-US"/>
              </a:p>
            </p:txBody>
          </p:sp>
          <p:sp>
            <p:nvSpPr>
              <p:cNvPr id="48180" name="Line 59"/>
              <p:cNvSpPr>
                <a:spLocks noChangeShapeType="1"/>
              </p:cNvSpPr>
              <p:nvPr/>
            </p:nvSpPr>
            <p:spPr bwMode="auto">
              <a:xfrm>
                <a:off x="4741" y="2749"/>
                <a:ext cx="0" cy="915"/>
              </a:xfrm>
              <a:prstGeom prst="line">
                <a:avLst/>
              </a:prstGeom>
              <a:noFill/>
              <a:ln w="28575">
                <a:solidFill>
                  <a:srgbClr val="008000"/>
                </a:solidFill>
                <a:round/>
                <a:headEnd/>
                <a:tailEnd type="none" w="sm" len="lg"/>
              </a:ln>
            </p:spPr>
            <p:txBody>
              <a:bodyPr/>
              <a:lstStyle/>
              <a:p>
                <a:endParaRPr lang="zh-CN" altLang="en-US"/>
              </a:p>
            </p:txBody>
          </p:sp>
          <p:sp>
            <p:nvSpPr>
              <p:cNvPr id="48181" name="Line 60"/>
              <p:cNvSpPr>
                <a:spLocks noChangeShapeType="1"/>
              </p:cNvSpPr>
              <p:nvPr/>
            </p:nvSpPr>
            <p:spPr bwMode="auto">
              <a:xfrm>
                <a:off x="4556" y="2749"/>
                <a:ext cx="0" cy="915"/>
              </a:xfrm>
              <a:prstGeom prst="line">
                <a:avLst/>
              </a:prstGeom>
              <a:noFill/>
              <a:ln w="28575">
                <a:solidFill>
                  <a:srgbClr val="008000"/>
                </a:solidFill>
                <a:round/>
                <a:headEnd/>
                <a:tailEnd type="none" w="sm" len="lg"/>
              </a:ln>
            </p:spPr>
            <p:txBody>
              <a:bodyPr/>
              <a:lstStyle/>
              <a:p>
                <a:endParaRPr lang="zh-CN" altLang="en-US"/>
              </a:p>
            </p:txBody>
          </p:sp>
          <p:sp>
            <p:nvSpPr>
              <p:cNvPr id="48182" name="Line 61"/>
              <p:cNvSpPr>
                <a:spLocks noChangeShapeType="1"/>
              </p:cNvSpPr>
              <p:nvPr/>
            </p:nvSpPr>
            <p:spPr bwMode="auto">
              <a:xfrm>
                <a:off x="4371" y="2749"/>
                <a:ext cx="0" cy="915"/>
              </a:xfrm>
              <a:prstGeom prst="line">
                <a:avLst/>
              </a:prstGeom>
              <a:noFill/>
              <a:ln w="28575">
                <a:solidFill>
                  <a:srgbClr val="008000"/>
                </a:solidFill>
                <a:round/>
                <a:headEnd/>
                <a:tailEnd type="none" w="sm" len="lg"/>
              </a:ln>
            </p:spPr>
            <p:txBody>
              <a:bodyPr/>
              <a:lstStyle/>
              <a:p>
                <a:endParaRPr lang="zh-CN" altLang="en-US"/>
              </a:p>
            </p:txBody>
          </p:sp>
          <p:sp>
            <p:nvSpPr>
              <p:cNvPr id="48183" name="Line 62"/>
              <p:cNvSpPr>
                <a:spLocks noChangeShapeType="1"/>
              </p:cNvSpPr>
              <p:nvPr/>
            </p:nvSpPr>
            <p:spPr bwMode="auto">
              <a:xfrm>
                <a:off x="4185" y="2749"/>
                <a:ext cx="0" cy="915"/>
              </a:xfrm>
              <a:prstGeom prst="line">
                <a:avLst/>
              </a:prstGeom>
              <a:noFill/>
              <a:ln w="28575">
                <a:solidFill>
                  <a:srgbClr val="008000"/>
                </a:solidFill>
                <a:round/>
                <a:headEnd/>
                <a:tailEnd type="none" w="sm" len="lg"/>
              </a:ln>
            </p:spPr>
            <p:txBody>
              <a:bodyPr/>
              <a:lstStyle/>
              <a:p>
                <a:endParaRPr lang="zh-CN" altLang="en-US"/>
              </a:p>
            </p:txBody>
          </p:sp>
          <p:sp>
            <p:nvSpPr>
              <p:cNvPr id="48184" name="Line 63"/>
              <p:cNvSpPr>
                <a:spLocks noChangeShapeType="1"/>
              </p:cNvSpPr>
              <p:nvPr/>
            </p:nvSpPr>
            <p:spPr bwMode="auto">
              <a:xfrm>
                <a:off x="3999" y="2749"/>
                <a:ext cx="0" cy="915"/>
              </a:xfrm>
              <a:prstGeom prst="line">
                <a:avLst/>
              </a:prstGeom>
              <a:noFill/>
              <a:ln w="28575">
                <a:solidFill>
                  <a:srgbClr val="008000"/>
                </a:solidFill>
                <a:round/>
                <a:headEnd/>
                <a:tailEnd type="none" w="sm" len="lg"/>
              </a:ln>
            </p:spPr>
            <p:txBody>
              <a:bodyPr/>
              <a:lstStyle/>
              <a:p>
                <a:endParaRPr lang="zh-CN" altLang="en-US"/>
              </a:p>
            </p:txBody>
          </p:sp>
        </p:grpSp>
        <p:sp>
          <p:nvSpPr>
            <p:cNvPr id="48176" name="Line 64"/>
            <p:cNvSpPr>
              <a:spLocks noChangeShapeType="1"/>
            </p:cNvSpPr>
            <p:nvPr/>
          </p:nvSpPr>
          <p:spPr bwMode="auto">
            <a:xfrm>
              <a:off x="3696" y="2896"/>
              <a:ext cx="336" cy="0"/>
            </a:xfrm>
            <a:prstGeom prst="line">
              <a:avLst/>
            </a:prstGeom>
            <a:noFill/>
            <a:ln w="28575">
              <a:solidFill>
                <a:srgbClr val="FF0000"/>
              </a:solidFill>
              <a:round/>
              <a:headEnd/>
              <a:tailEnd type="triangle" w="sm" len="lg"/>
            </a:ln>
          </p:spPr>
          <p:txBody>
            <a:bodyPr/>
            <a:lstStyle/>
            <a:p>
              <a:endParaRPr lang="zh-CN" altLang="en-US"/>
            </a:p>
          </p:txBody>
        </p:sp>
      </p:grpSp>
      <p:grpSp>
        <p:nvGrpSpPr>
          <p:cNvPr id="12" name="Group 65"/>
          <p:cNvGrpSpPr>
            <a:grpSpLocks/>
          </p:cNvGrpSpPr>
          <p:nvPr/>
        </p:nvGrpSpPr>
        <p:grpSpPr bwMode="auto">
          <a:xfrm>
            <a:off x="7710488" y="2501900"/>
            <a:ext cx="1276350" cy="774700"/>
            <a:chOff x="4857" y="1576"/>
            <a:chExt cx="804" cy="488"/>
          </a:xfrm>
        </p:grpSpPr>
        <p:pic>
          <p:nvPicPr>
            <p:cNvPr id="48172" name="Picture 66" descr="多普勒2"/>
            <p:cNvPicPr>
              <a:picLocks noChangeAspect="1" noChangeArrowheads="1"/>
            </p:cNvPicPr>
            <p:nvPr/>
          </p:nvPicPr>
          <p:blipFill>
            <a:blip r:embed="rId16">
              <a:clrChange>
                <a:clrFrom>
                  <a:srgbClr val="FFFFFF"/>
                </a:clrFrom>
                <a:clrTo>
                  <a:srgbClr val="FFFFFF">
                    <a:alpha val="0"/>
                  </a:srgbClr>
                </a:clrTo>
              </a:clrChange>
              <a:lum bright="-78000" contrast="66000"/>
            </a:blip>
            <a:srcRect/>
            <a:stretch>
              <a:fillRect/>
            </a:stretch>
          </p:blipFill>
          <p:spPr bwMode="auto">
            <a:xfrm>
              <a:off x="4857" y="1864"/>
              <a:ext cx="166" cy="200"/>
            </a:xfrm>
            <a:prstGeom prst="rect">
              <a:avLst/>
            </a:prstGeom>
            <a:noFill/>
            <a:ln w="9525">
              <a:noFill/>
              <a:miter lim="800000"/>
              <a:headEnd/>
              <a:tailEnd/>
            </a:ln>
          </p:spPr>
        </p:pic>
        <p:sp>
          <p:nvSpPr>
            <p:cNvPr id="48173" name="Text Box 67"/>
            <p:cNvSpPr txBox="1">
              <a:spLocks noChangeArrowheads="1"/>
            </p:cNvSpPr>
            <p:nvPr/>
          </p:nvSpPr>
          <p:spPr bwMode="auto">
            <a:xfrm>
              <a:off x="4893" y="1576"/>
              <a:ext cx="768" cy="288"/>
            </a:xfrm>
            <a:prstGeom prst="rect">
              <a:avLst/>
            </a:prstGeom>
            <a:noFill/>
            <a:ln w="9525">
              <a:noFill/>
              <a:miter lim="800000"/>
              <a:headEnd/>
              <a:tailEnd/>
            </a:ln>
          </p:spPr>
          <p:txBody>
            <a:bodyPr>
              <a:spAutoFit/>
            </a:bodyPr>
            <a:lstStyle/>
            <a:p>
              <a:pPr>
                <a:spcBef>
                  <a:spcPct val="50000"/>
                </a:spcBef>
              </a:pPr>
              <a:r>
                <a:rPr lang="zh-CN" altLang="en-US" b="1">
                  <a:ea typeface="楷体_GB2312" pitchFamily="49" charset="-122"/>
                </a:rPr>
                <a:t>观察者</a:t>
              </a:r>
            </a:p>
          </p:txBody>
        </p:sp>
      </p:grpSp>
      <p:grpSp>
        <p:nvGrpSpPr>
          <p:cNvPr id="13" name="Group 68"/>
          <p:cNvGrpSpPr>
            <a:grpSpLocks/>
          </p:cNvGrpSpPr>
          <p:nvPr/>
        </p:nvGrpSpPr>
        <p:grpSpPr bwMode="auto">
          <a:xfrm>
            <a:off x="2970213" y="4368800"/>
            <a:ext cx="1062037" cy="320675"/>
            <a:chOff x="4493" y="3611"/>
            <a:chExt cx="669" cy="202"/>
          </a:xfrm>
        </p:grpSpPr>
        <p:sp>
          <p:nvSpPr>
            <p:cNvPr id="48168" name="Line 69"/>
            <p:cNvSpPr>
              <a:spLocks noChangeShapeType="1"/>
            </p:cNvSpPr>
            <p:nvPr/>
          </p:nvSpPr>
          <p:spPr bwMode="auto">
            <a:xfrm>
              <a:off x="4729" y="3651"/>
              <a:ext cx="0" cy="162"/>
            </a:xfrm>
            <a:prstGeom prst="line">
              <a:avLst/>
            </a:prstGeom>
            <a:noFill/>
            <a:ln w="28575">
              <a:solidFill>
                <a:srgbClr val="FF0000"/>
              </a:solidFill>
              <a:round/>
              <a:headEnd/>
              <a:tailEnd type="none" w="sm" len="lg"/>
            </a:ln>
          </p:spPr>
          <p:txBody>
            <a:bodyPr/>
            <a:lstStyle/>
            <a:p>
              <a:endParaRPr lang="zh-CN" altLang="en-US"/>
            </a:p>
          </p:txBody>
        </p:sp>
        <p:sp>
          <p:nvSpPr>
            <p:cNvPr id="48169" name="Line 70"/>
            <p:cNvSpPr>
              <a:spLocks noChangeShapeType="1"/>
            </p:cNvSpPr>
            <p:nvPr/>
          </p:nvSpPr>
          <p:spPr bwMode="auto">
            <a:xfrm>
              <a:off x="4926" y="3651"/>
              <a:ext cx="0" cy="162"/>
            </a:xfrm>
            <a:prstGeom prst="line">
              <a:avLst/>
            </a:prstGeom>
            <a:noFill/>
            <a:ln w="28575">
              <a:solidFill>
                <a:srgbClr val="FF0000"/>
              </a:solidFill>
              <a:round/>
              <a:headEnd/>
              <a:tailEnd type="none" w="sm" len="lg"/>
            </a:ln>
          </p:spPr>
          <p:txBody>
            <a:bodyPr/>
            <a:lstStyle/>
            <a:p>
              <a:endParaRPr lang="zh-CN" altLang="en-US"/>
            </a:p>
          </p:txBody>
        </p:sp>
        <p:graphicFrame>
          <p:nvGraphicFramePr>
            <p:cNvPr id="48138" name="Object 71"/>
            <p:cNvGraphicFramePr>
              <a:graphicFrameLocks noChangeAspect="1"/>
            </p:cNvGraphicFramePr>
            <p:nvPr/>
          </p:nvGraphicFramePr>
          <p:xfrm>
            <a:off x="4782" y="3611"/>
            <a:ext cx="144" cy="188"/>
          </p:xfrm>
          <a:graphic>
            <a:graphicData uri="http://schemas.openxmlformats.org/presentationml/2006/ole">
              <p:oleObj spid="_x0000_s48138" name="Equation" r:id="rId17" imgW="139680" imgH="177480" progId="Equation.3">
                <p:embed/>
              </p:oleObj>
            </a:graphicData>
          </a:graphic>
        </p:graphicFrame>
        <p:sp>
          <p:nvSpPr>
            <p:cNvPr id="48170" name="Line 72"/>
            <p:cNvSpPr>
              <a:spLocks noChangeShapeType="1"/>
            </p:cNvSpPr>
            <p:nvPr/>
          </p:nvSpPr>
          <p:spPr bwMode="auto">
            <a:xfrm>
              <a:off x="4493" y="3732"/>
              <a:ext cx="236" cy="0"/>
            </a:xfrm>
            <a:prstGeom prst="line">
              <a:avLst/>
            </a:prstGeom>
            <a:noFill/>
            <a:ln w="28575">
              <a:solidFill>
                <a:srgbClr val="FF0000"/>
              </a:solidFill>
              <a:round/>
              <a:headEnd/>
              <a:tailEnd type="triangle" w="sm" len="lg"/>
            </a:ln>
          </p:spPr>
          <p:txBody>
            <a:bodyPr/>
            <a:lstStyle/>
            <a:p>
              <a:endParaRPr lang="zh-CN" altLang="en-US"/>
            </a:p>
          </p:txBody>
        </p:sp>
        <p:sp>
          <p:nvSpPr>
            <p:cNvPr id="48171" name="Line 73"/>
            <p:cNvSpPr>
              <a:spLocks noChangeShapeType="1"/>
            </p:cNvSpPr>
            <p:nvPr/>
          </p:nvSpPr>
          <p:spPr bwMode="auto">
            <a:xfrm flipH="1">
              <a:off x="4926" y="3732"/>
              <a:ext cx="236" cy="0"/>
            </a:xfrm>
            <a:prstGeom prst="line">
              <a:avLst/>
            </a:prstGeom>
            <a:noFill/>
            <a:ln w="28575">
              <a:solidFill>
                <a:srgbClr val="FF0000"/>
              </a:solidFill>
              <a:round/>
              <a:headEnd type="none" w="sm" len="lg"/>
              <a:tailEnd type="triangle" w="sm" len="lg"/>
            </a:ln>
          </p:spPr>
          <p:txBody>
            <a:bodyPr/>
            <a:lstStyle/>
            <a:p>
              <a:endParaRPr lang="zh-CN" altLang="en-US"/>
            </a:p>
          </p:txBody>
        </p:sp>
      </p:grpSp>
      <p:grpSp>
        <p:nvGrpSpPr>
          <p:cNvPr id="14" name="Group 75"/>
          <p:cNvGrpSpPr>
            <a:grpSpLocks/>
          </p:cNvGrpSpPr>
          <p:nvPr/>
        </p:nvGrpSpPr>
        <p:grpSpPr bwMode="auto">
          <a:xfrm>
            <a:off x="6732588" y="5724525"/>
            <a:ext cx="1062037" cy="320675"/>
            <a:chOff x="4493" y="3611"/>
            <a:chExt cx="669" cy="202"/>
          </a:xfrm>
        </p:grpSpPr>
        <p:sp>
          <p:nvSpPr>
            <p:cNvPr id="48164" name="Line 76"/>
            <p:cNvSpPr>
              <a:spLocks noChangeShapeType="1"/>
            </p:cNvSpPr>
            <p:nvPr/>
          </p:nvSpPr>
          <p:spPr bwMode="auto">
            <a:xfrm>
              <a:off x="4729" y="3651"/>
              <a:ext cx="0" cy="162"/>
            </a:xfrm>
            <a:prstGeom prst="line">
              <a:avLst/>
            </a:prstGeom>
            <a:noFill/>
            <a:ln w="28575">
              <a:solidFill>
                <a:srgbClr val="FF0000"/>
              </a:solidFill>
              <a:round/>
              <a:headEnd/>
              <a:tailEnd type="none" w="sm" len="lg"/>
            </a:ln>
          </p:spPr>
          <p:txBody>
            <a:bodyPr/>
            <a:lstStyle/>
            <a:p>
              <a:endParaRPr lang="zh-CN" altLang="en-US"/>
            </a:p>
          </p:txBody>
        </p:sp>
        <p:sp>
          <p:nvSpPr>
            <p:cNvPr id="48165" name="Line 77"/>
            <p:cNvSpPr>
              <a:spLocks noChangeShapeType="1"/>
            </p:cNvSpPr>
            <p:nvPr/>
          </p:nvSpPr>
          <p:spPr bwMode="auto">
            <a:xfrm>
              <a:off x="4926" y="3651"/>
              <a:ext cx="0" cy="162"/>
            </a:xfrm>
            <a:prstGeom prst="line">
              <a:avLst/>
            </a:prstGeom>
            <a:noFill/>
            <a:ln w="28575">
              <a:solidFill>
                <a:srgbClr val="FF0000"/>
              </a:solidFill>
              <a:round/>
              <a:headEnd/>
              <a:tailEnd type="none" w="sm" len="lg"/>
            </a:ln>
          </p:spPr>
          <p:txBody>
            <a:bodyPr/>
            <a:lstStyle/>
            <a:p>
              <a:endParaRPr lang="zh-CN" altLang="en-US"/>
            </a:p>
          </p:txBody>
        </p:sp>
        <p:graphicFrame>
          <p:nvGraphicFramePr>
            <p:cNvPr id="48137" name="Object 78"/>
            <p:cNvGraphicFramePr>
              <a:graphicFrameLocks noChangeAspect="1"/>
            </p:cNvGraphicFramePr>
            <p:nvPr/>
          </p:nvGraphicFramePr>
          <p:xfrm>
            <a:off x="4782" y="3611"/>
            <a:ext cx="144" cy="188"/>
          </p:xfrm>
          <a:graphic>
            <a:graphicData uri="http://schemas.openxmlformats.org/presentationml/2006/ole">
              <p:oleObj spid="_x0000_s48137" name="Equation" r:id="rId18" imgW="139680" imgH="177480" progId="Equation.3">
                <p:embed/>
              </p:oleObj>
            </a:graphicData>
          </a:graphic>
        </p:graphicFrame>
        <p:sp>
          <p:nvSpPr>
            <p:cNvPr id="48166" name="Line 79"/>
            <p:cNvSpPr>
              <a:spLocks noChangeShapeType="1"/>
            </p:cNvSpPr>
            <p:nvPr/>
          </p:nvSpPr>
          <p:spPr bwMode="auto">
            <a:xfrm>
              <a:off x="4493" y="3732"/>
              <a:ext cx="236" cy="0"/>
            </a:xfrm>
            <a:prstGeom prst="line">
              <a:avLst/>
            </a:prstGeom>
            <a:noFill/>
            <a:ln w="28575">
              <a:solidFill>
                <a:srgbClr val="FF0000"/>
              </a:solidFill>
              <a:round/>
              <a:headEnd/>
              <a:tailEnd type="triangle" w="sm" len="lg"/>
            </a:ln>
          </p:spPr>
          <p:txBody>
            <a:bodyPr/>
            <a:lstStyle/>
            <a:p>
              <a:endParaRPr lang="zh-CN" altLang="en-US"/>
            </a:p>
          </p:txBody>
        </p:sp>
        <p:sp>
          <p:nvSpPr>
            <p:cNvPr id="48167" name="Line 80"/>
            <p:cNvSpPr>
              <a:spLocks noChangeShapeType="1"/>
            </p:cNvSpPr>
            <p:nvPr/>
          </p:nvSpPr>
          <p:spPr bwMode="auto">
            <a:xfrm flipH="1">
              <a:off x="4926" y="3732"/>
              <a:ext cx="236" cy="0"/>
            </a:xfrm>
            <a:prstGeom prst="line">
              <a:avLst/>
            </a:prstGeom>
            <a:noFill/>
            <a:ln w="28575">
              <a:solidFill>
                <a:srgbClr val="FF0000"/>
              </a:solidFill>
              <a:round/>
              <a:headEnd type="none" w="sm" len="lg"/>
              <a:tailEnd type="triangle" w="sm" len="lg"/>
            </a:ln>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0835"/>
                                        </p:tgtEl>
                                        <p:attrNameLst>
                                          <p:attrName>style.visibility</p:attrName>
                                        </p:attrNameLst>
                                      </p:cBhvr>
                                      <p:to>
                                        <p:strVal val="visible"/>
                                      </p:to>
                                    </p:set>
                                    <p:animEffect transition="in" filter="wipe(left)">
                                      <p:cBhvr>
                                        <p:cTn id="7" dur="500"/>
                                        <p:tgtEl>
                                          <p:spTgt spid="1208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0837"/>
                                        </p:tgtEl>
                                        <p:attrNameLst>
                                          <p:attrName>style.visibility</p:attrName>
                                        </p:attrNameLst>
                                      </p:cBhvr>
                                      <p:to>
                                        <p:strVal val="visible"/>
                                      </p:to>
                                    </p:set>
                                    <p:animEffect transition="in" filter="wipe(left)">
                                      <p:cBhvr>
                                        <p:cTn id="12" dur="500"/>
                                        <p:tgtEl>
                                          <p:spTgt spid="12083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208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12084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120852"/>
                                        </p:tgtEl>
                                        <p:attrNameLst>
                                          <p:attrName>style.visibility</p:attrName>
                                        </p:attrNameLst>
                                      </p:cBhvr>
                                      <p:to>
                                        <p:strVal val="visible"/>
                                      </p:to>
                                    </p:set>
                                    <p:anim calcmode="lin" valueType="num">
                                      <p:cBhvr>
                                        <p:cTn id="25" dur="500" fill="hold"/>
                                        <p:tgtEl>
                                          <p:spTgt spid="120852"/>
                                        </p:tgtEl>
                                        <p:attrNameLst>
                                          <p:attrName>ppt_w</p:attrName>
                                        </p:attrNameLst>
                                      </p:cBhvr>
                                      <p:tavLst>
                                        <p:tav tm="0">
                                          <p:val>
                                            <p:fltVal val="0"/>
                                          </p:val>
                                        </p:tav>
                                        <p:tav tm="100000">
                                          <p:val>
                                            <p:strVal val="#ppt_w"/>
                                          </p:val>
                                        </p:tav>
                                      </p:tavLst>
                                    </p:anim>
                                    <p:anim calcmode="lin" valueType="num">
                                      <p:cBhvr>
                                        <p:cTn id="26" dur="500" fill="hold"/>
                                        <p:tgtEl>
                                          <p:spTgt spid="120852"/>
                                        </p:tgtEl>
                                        <p:attrNameLst>
                                          <p:attrName>ppt_h</p:attrName>
                                        </p:attrNameLst>
                                      </p:cBhvr>
                                      <p:tavLst>
                                        <p:tav tm="0">
                                          <p:val>
                                            <p:fltVal val="0"/>
                                          </p:val>
                                        </p:tav>
                                        <p:tav tm="100000">
                                          <p:val>
                                            <p:strVal val="#ppt_h"/>
                                          </p:val>
                                        </p:tav>
                                      </p:tavLst>
                                    </p:anim>
                                  </p:childTnLst>
                                </p:cTn>
                              </p:par>
                            </p:childTnLst>
                          </p:cTn>
                        </p:par>
                        <p:par>
                          <p:cTn id="27" fill="hold">
                            <p:stCondLst>
                              <p:cond delay="500"/>
                            </p:stCondLst>
                            <p:childTnLst>
                              <p:par>
                                <p:cTn id="28" presetID="23" presetClass="entr" presetSubtype="16" fill="hold" grpId="0" nodeType="afterEffect">
                                  <p:stCondLst>
                                    <p:cond delay="0"/>
                                  </p:stCondLst>
                                  <p:childTnLst>
                                    <p:set>
                                      <p:cBhvr>
                                        <p:cTn id="29" dur="1" fill="hold">
                                          <p:stCondLst>
                                            <p:cond delay="0"/>
                                          </p:stCondLst>
                                        </p:cTn>
                                        <p:tgtEl>
                                          <p:spTgt spid="120853"/>
                                        </p:tgtEl>
                                        <p:attrNameLst>
                                          <p:attrName>style.visibility</p:attrName>
                                        </p:attrNameLst>
                                      </p:cBhvr>
                                      <p:to>
                                        <p:strVal val="visible"/>
                                      </p:to>
                                    </p:set>
                                    <p:anim calcmode="lin" valueType="num">
                                      <p:cBhvr>
                                        <p:cTn id="30" dur="500" fill="hold"/>
                                        <p:tgtEl>
                                          <p:spTgt spid="120853"/>
                                        </p:tgtEl>
                                        <p:attrNameLst>
                                          <p:attrName>ppt_w</p:attrName>
                                        </p:attrNameLst>
                                      </p:cBhvr>
                                      <p:tavLst>
                                        <p:tav tm="0">
                                          <p:val>
                                            <p:fltVal val="0"/>
                                          </p:val>
                                        </p:tav>
                                        <p:tav tm="100000">
                                          <p:val>
                                            <p:strVal val="#ppt_w"/>
                                          </p:val>
                                        </p:tav>
                                      </p:tavLst>
                                    </p:anim>
                                    <p:anim calcmode="lin" valueType="num">
                                      <p:cBhvr>
                                        <p:cTn id="31" dur="500" fill="hold"/>
                                        <p:tgtEl>
                                          <p:spTgt spid="120853"/>
                                        </p:tgtEl>
                                        <p:attrNameLst>
                                          <p:attrName>ppt_h</p:attrName>
                                        </p:attrNameLst>
                                      </p:cBhvr>
                                      <p:tavLst>
                                        <p:tav tm="0">
                                          <p:val>
                                            <p:fltVal val="0"/>
                                          </p:val>
                                        </p:tav>
                                        <p:tav tm="100000">
                                          <p:val>
                                            <p:strVal val="#ppt_h"/>
                                          </p:val>
                                        </p:tav>
                                      </p:tavLst>
                                    </p:anim>
                                  </p:childTnLst>
                                </p:cTn>
                              </p:par>
                            </p:childTnLst>
                          </p:cTn>
                        </p:par>
                        <p:par>
                          <p:cTn id="32" fill="hold">
                            <p:stCondLst>
                              <p:cond delay="1000"/>
                            </p:stCondLst>
                            <p:childTnLst>
                              <p:par>
                                <p:cTn id="33" presetID="23" presetClass="entr" presetSubtype="16" fill="hold" grpId="0" nodeType="afterEffect">
                                  <p:stCondLst>
                                    <p:cond delay="0"/>
                                  </p:stCondLst>
                                  <p:childTnLst>
                                    <p:set>
                                      <p:cBhvr>
                                        <p:cTn id="34" dur="1" fill="hold">
                                          <p:stCondLst>
                                            <p:cond delay="0"/>
                                          </p:stCondLst>
                                        </p:cTn>
                                        <p:tgtEl>
                                          <p:spTgt spid="120854"/>
                                        </p:tgtEl>
                                        <p:attrNameLst>
                                          <p:attrName>style.visibility</p:attrName>
                                        </p:attrNameLst>
                                      </p:cBhvr>
                                      <p:to>
                                        <p:strVal val="visible"/>
                                      </p:to>
                                    </p:set>
                                    <p:anim calcmode="lin" valueType="num">
                                      <p:cBhvr>
                                        <p:cTn id="35" dur="500" fill="hold"/>
                                        <p:tgtEl>
                                          <p:spTgt spid="120854"/>
                                        </p:tgtEl>
                                        <p:attrNameLst>
                                          <p:attrName>ppt_w</p:attrName>
                                        </p:attrNameLst>
                                      </p:cBhvr>
                                      <p:tavLst>
                                        <p:tav tm="0">
                                          <p:val>
                                            <p:fltVal val="0"/>
                                          </p:val>
                                        </p:tav>
                                        <p:tav tm="100000">
                                          <p:val>
                                            <p:strVal val="#ppt_w"/>
                                          </p:val>
                                        </p:tav>
                                      </p:tavLst>
                                    </p:anim>
                                    <p:anim calcmode="lin" valueType="num">
                                      <p:cBhvr>
                                        <p:cTn id="36" dur="500" fill="hold"/>
                                        <p:tgtEl>
                                          <p:spTgt spid="120854"/>
                                        </p:tgtEl>
                                        <p:attrNameLst>
                                          <p:attrName>ppt_h</p:attrName>
                                        </p:attrNameLst>
                                      </p:cBhvr>
                                      <p:tavLst>
                                        <p:tav tm="0">
                                          <p:val>
                                            <p:fltVal val="0"/>
                                          </p:val>
                                        </p:tav>
                                        <p:tav tm="100000">
                                          <p:val>
                                            <p:strVal val="#ppt_h"/>
                                          </p:val>
                                        </p:tav>
                                      </p:tavLst>
                                    </p:anim>
                                  </p:childTnLst>
                                </p:cTn>
                              </p:par>
                            </p:childTnLst>
                          </p:cTn>
                        </p:par>
                        <p:par>
                          <p:cTn id="37" fill="hold">
                            <p:stCondLst>
                              <p:cond delay="1500"/>
                            </p:stCondLst>
                            <p:childTnLst>
                              <p:par>
                                <p:cTn id="38" presetID="23" presetClass="entr" presetSubtype="16" fill="hold" grpId="0" nodeType="afterEffect">
                                  <p:stCondLst>
                                    <p:cond delay="0"/>
                                  </p:stCondLst>
                                  <p:childTnLst>
                                    <p:set>
                                      <p:cBhvr>
                                        <p:cTn id="39" dur="1" fill="hold">
                                          <p:stCondLst>
                                            <p:cond delay="0"/>
                                          </p:stCondLst>
                                        </p:cTn>
                                        <p:tgtEl>
                                          <p:spTgt spid="120855"/>
                                        </p:tgtEl>
                                        <p:attrNameLst>
                                          <p:attrName>style.visibility</p:attrName>
                                        </p:attrNameLst>
                                      </p:cBhvr>
                                      <p:to>
                                        <p:strVal val="visible"/>
                                      </p:to>
                                    </p:set>
                                    <p:anim calcmode="lin" valueType="num">
                                      <p:cBhvr>
                                        <p:cTn id="40" dur="500" fill="hold"/>
                                        <p:tgtEl>
                                          <p:spTgt spid="120855"/>
                                        </p:tgtEl>
                                        <p:attrNameLst>
                                          <p:attrName>ppt_w</p:attrName>
                                        </p:attrNameLst>
                                      </p:cBhvr>
                                      <p:tavLst>
                                        <p:tav tm="0">
                                          <p:val>
                                            <p:fltVal val="0"/>
                                          </p:val>
                                        </p:tav>
                                        <p:tav tm="100000">
                                          <p:val>
                                            <p:strVal val="#ppt_w"/>
                                          </p:val>
                                        </p:tav>
                                      </p:tavLst>
                                    </p:anim>
                                    <p:anim calcmode="lin" valueType="num">
                                      <p:cBhvr>
                                        <p:cTn id="41" dur="500" fill="hold"/>
                                        <p:tgtEl>
                                          <p:spTgt spid="120855"/>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7" presetClass="entr" presetSubtype="2"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2000" fill="hold"/>
                                        <p:tgtEl>
                                          <p:spTgt spid="12"/>
                                        </p:tgtEl>
                                        <p:attrNameLst>
                                          <p:attrName>ppt_x</p:attrName>
                                        </p:attrNameLst>
                                      </p:cBhvr>
                                      <p:tavLst>
                                        <p:tav tm="0">
                                          <p:val>
                                            <p:strVal val="1+#ppt_w/2"/>
                                          </p:val>
                                        </p:tav>
                                        <p:tav tm="100000">
                                          <p:val>
                                            <p:strVal val="#ppt_x"/>
                                          </p:val>
                                        </p:tav>
                                      </p:tavLst>
                                    </p:anim>
                                    <p:anim calcmode="lin" valueType="num">
                                      <p:cBhvr additive="base">
                                        <p:cTn id="47" dur="20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499"/>
                                          </p:stCondLst>
                                        </p:cTn>
                                        <p:tgtEl>
                                          <p:spTgt spid="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7" presetClass="entr" presetSubtype="10" fill="hold" nodeType="clickEffect">
                                  <p:stCondLst>
                                    <p:cond delay="0"/>
                                  </p:stCondLst>
                                  <p:childTnLst>
                                    <p:set>
                                      <p:cBhvr>
                                        <p:cTn id="55" dur="1" fill="hold">
                                          <p:stCondLst>
                                            <p:cond delay="0"/>
                                          </p:stCondLst>
                                        </p:cTn>
                                        <p:tgtEl>
                                          <p:spTgt spid="2"/>
                                        </p:tgtEl>
                                        <p:attrNameLst>
                                          <p:attrName>style.visibility</p:attrName>
                                        </p:attrNameLst>
                                      </p:cBhvr>
                                      <p:to>
                                        <p:strVal val="visible"/>
                                      </p:to>
                                    </p:set>
                                    <p:anim calcmode="lin" valueType="num">
                                      <p:cBhvr>
                                        <p:cTn id="56" dur="500" fill="hold"/>
                                        <p:tgtEl>
                                          <p:spTgt spid="2"/>
                                        </p:tgtEl>
                                        <p:attrNameLst>
                                          <p:attrName>ppt_w</p:attrName>
                                        </p:attrNameLst>
                                      </p:cBhvr>
                                      <p:tavLst>
                                        <p:tav tm="0">
                                          <p:val>
                                            <p:fltVal val="0"/>
                                          </p:val>
                                        </p:tav>
                                        <p:tav tm="100000">
                                          <p:val>
                                            <p:strVal val="#ppt_w"/>
                                          </p:val>
                                        </p:tav>
                                      </p:tavLst>
                                    </p:anim>
                                    <p:anim calcmode="lin" valueType="num">
                                      <p:cBhvr>
                                        <p:cTn id="57"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wipe(left)">
                                      <p:cBhvr>
                                        <p:cTn id="62" dur="500"/>
                                        <p:tgtEl>
                                          <p:spTgt spid="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6"/>
                                        </p:tgtEl>
                                        <p:attrNameLst>
                                          <p:attrName>style.visibility</p:attrName>
                                        </p:attrNameLst>
                                      </p:cBhvr>
                                      <p:to>
                                        <p:strVal val="visible"/>
                                      </p:to>
                                    </p:set>
                                    <p:animEffect transition="in" filter="wipe(left)">
                                      <p:cBhvr>
                                        <p:cTn id="67" dur="500"/>
                                        <p:tgtEl>
                                          <p:spTgt spid="6"/>
                                        </p:tgtEl>
                                      </p:cBhvr>
                                    </p:animEffect>
                                  </p:childTnLst>
                                </p:cTn>
                              </p:par>
                            </p:childTnLst>
                          </p:cTn>
                        </p:par>
                      </p:childTnLst>
                    </p:cTn>
                  </p:par>
                  <p:par>
                    <p:cTn id="68" fill="hold">
                      <p:stCondLst>
                        <p:cond delay="indefinite"/>
                      </p:stCondLst>
                      <p:childTnLst>
                        <p:par>
                          <p:cTn id="69" fill="hold">
                            <p:stCondLst>
                              <p:cond delay="0"/>
                            </p:stCondLst>
                            <p:childTnLst>
                              <p:par>
                                <p:cTn id="70" presetID="7" presetClass="entr" presetSubtype="2" fill="hold" nodeType="clickEffect">
                                  <p:stCondLst>
                                    <p:cond delay="0"/>
                                  </p:stCondLst>
                                  <p:childTnLst>
                                    <p:set>
                                      <p:cBhvr>
                                        <p:cTn id="71" dur="1" fill="hold">
                                          <p:stCondLst>
                                            <p:cond delay="0"/>
                                          </p:stCondLst>
                                        </p:cTn>
                                        <p:tgtEl>
                                          <p:spTgt spid="9"/>
                                        </p:tgtEl>
                                        <p:attrNameLst>
                                          <p:attrName>style.visibility</p:attrName>
                                        </p:attrNameLst>
                                      </p:cBhvr>
                                      <p:to>
                                        <p:strVal val="visible"/>
                                      </p:to>
                                    </p:set>
                                    <p:anim calcmode="lin" valueType="num">
                                      <p:cBhvr additive="base">
                                        <p:cTn id="72" dur="2000" fill="hold"/>
                                        <p:tgtEl>
                                          <p:spTgt spid="9"/>
                                        </p:tgtEl>
                                        <p:attrNameLst>
                                          <p:attrName>ppt_x</p:attrName>
                                        </p:attrNameLst>
                                      </p:cBhvr>
                                      <p:tavLst>
                                        <p:tav tm="0">
                                          <p:val>
                                            <p:strVal val="1+#ppt_w/2"/>
                                          </p:val>
                                        </p:tav>
                                        <p:tav tm="100000">
                                          <p:val>
                                            <p:strVal val="#ppt_x"/>
                                          </p:val>
                                        </p:tav>
                                      </p:tavLst>
                                    </p:anim>
                                    <p:anim calcmode="lin" valueType="num">
                                      <p:cBhvr additive="base">
                                        <p:cTn id="73" dur="20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6" presetClass="entr" presetSubtype="37" fill="hold" nodeType="clickEffect">
                                  <p:stCondLst>
                                    <p:cond delay="0"/>
                                  </p:stCondLst>
                                  <p:childTnLst>
                                    <p:set>
                                      <p:cBhvr>
                                        <p:cTn id="77" dur="1" fill="hold">
                                          <p:stCondLst>
                                            <p:cond delay="0"/>
                                          </p:stCondLst>
                                        </p:cTn>
                                        <p:tgtEl>
                                          <p:spTgt spid="13"/>
                                        </p:tgtEl>
                                        <p:attrNameLst>
                                          <p:attrName>style.visibility</p:attrName>
                                        </p:attrNameLst>
                                      </p:cBhvr>
                                      <p:to>
                                        <p:strVal val="visible"/>
                                      </p:to>
                                    </p:set>
                                    <p:animEffect transition="in" filter="barn(outVertical)">
                                      <p:cBhvr>
                                        <p:cTn id="78" dur="500"/>
                                        <p:tgtEl>
                                          <p:spTgt spid="13"/>
                                        </p:tgtEl>
                                      </p:cBhvr>
                                    </p:animEffect>
                                  </p:childTnLst>
                                </p:cTn>
                              </p:par>
                            </p:childTnLst>
                          </p:cTn>
                        </p:par>
                      </p:childTnLst>
                    </p:cTn>
                  </p:par>
                  <p:par>
                    <p:cTn id="79" fill="hold">
                      <p:stCondLst>
                        <p:cond delay="indefinite"/>
                      </p:stCondLst>
                      <p:childTnLst>
                        <p:par>
                          <p:cTn id="80" fill="hold">
                            <p:stCondLst>
                              <p:cond delay="0"/>
                            </p:stCondLst>
                            <p:childTnLst>
                              <p:par>
                                <p:cTn id="81" presetID="16" presetClass="entr" presetSubtype="37" fill="hold" nodeType="clickEffect">
                                  <p:stCondLst>
                                    <p:cond delay="0"/>
                                  </p:stCondLst>
                                  <p:childTnLst>
                                    <p:set>
                                      <p:cBhvr>
                                        <p:cTn id="82" dur="1" fill="hold">
                                          <p:stCondLst>
                                            <p:cond delay="0"/>
                                          </p:stCondLst>
                                        </p:cTn>
                                        <p:tgtEl>
                                          <p:spTgt spid="5"/>
                                        </p:tgtEl>
                                        <p:attrNameLst>
                                          <p:attrName>style.visibility</p:attrName>
                                        </p:attrNameLst>
                                      </p:cBhvr>
                                      <p:to>
                                        <p:strVal val="visible"/>
                                      </p:to>
                                    </p:set>
                                    <p:animEffect transition="in" filter="barn(outVertical)">
                                      <p:cBhvr>
                                        <p:cTn id="83" dur="500"/>
                                        <p:tgtEl>
                                          <p:spTgt spid="5"/>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499"/>
                                          </p:stCondLst>
                                        </p:cTn>
                                        <p:tgtEl>
                                          <p:spTgt spid="120863"/>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6" presetClass="entr" presetSubtype="37" fill="hold" nodeType="clickEffect">
                                  <p:stCondLst>
                                    <p:cond delay="0"/>
                                  </p:stCondLst>
                                  <p:childTnLst>
                                    <p:set>
                                      <p:cBhvr>
                                        <p:cTn id="91" dur="1" fill="hold">
                                          <p:stCondLst>
                                            <p:cond delay="0"/>
                                          </p:stCondLst>
                                        </p:cTn>
                                        <p:tgtEl>
                                          <p:spTgt spid="7"/>
                                        </p:tgtEl>
                                        <p:attrNameLst>
                                          <p:attrName>style.visibility</p:attrName>
                                        </p:attrNameLst>
                                      </p:cBhvr>
                                      <p:to>
                                        <p:strVal val="visible"/>
                                      </p:to>
                                    </p:set>
                                    <p:animEffect transition="in" filter="barn(outVertical)">
                                      <p:cBhvr>
                                        <p:cTn id="92" dur="500"/>
                                        <p:tgtEl>
                                          <p:spTgt spid="7"/>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499"/>
                                          </p:stCondLst>
                                        </p:cTn>
                                        <p:tgtEl>
                                          <p:spTgt spid="120871"/>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120838"/>
                                        </p:tgtEl>
                                        <p:attrNameLst>
                                          <p:attrName>style.visibility</p:attrName>
                                        </p:attrNameLst>
                                      </p:cBhvr>
                                      <p:to>
                                        <p:strVal val="visible"/>
                                      </p:to>
                                    </p:set>
                                    <p:animEffect transition="in" filter="wipe(left)">
                                      <p:cBhvr>
                                        <p:cTn id="101" dur="500"/>
                                        <p:tgtEl>
                                          <p:spTgt spid="120838"/>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120836"/>
                                        </p:tgtEl>
                                        <p:attrNameLst>
                                          <p:attrName>style.visibility</p:attrName>
                                        </p:attrNameLst>
                                      </p:cBhvr>
                                      <p:to>
                                        <p:strVal val="visible"/>
                                      </p:to>
                                    </p:set>
                                    <p:animEffect transition="in" filter="wipe(left)">
                                      <p:cBhvr>
                                        <p:cTn id="106" dur="500"/>
                                        <p:tgtEl>
                                          <p:spTgt spid="120836"/>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120867"/>
                                        </p:tgtEl>
                                        <p:attrNameLst>
                                          <p:attrName>style.visibility</p:attrName>
                                        </p:attrNameLst>
                                      </p:cBhvr>
                                      <p:to>
                                        <p:strVal val="visible"/>
                                      </p:to>
                                    </p:set>
                                    <p:animEffect transition="in" filter="wipe(left)">
                                      <p:cBhvr>
                                        <p:cTn id="111" dur="500"/>
                                        <p:tgtEl>
                                          <p:spTgt spid="120867"/>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120845"/>
                                        </p:tgtEl>
                                        <p:attrNameLst>
                                          <p:attrName>style.visibility</p:attrName>
                                        </p:attrNameLst>
                                      </p:cBhvr>
                                      <p:to>
                                        <p:strVal val="visible"/>
                                      </p:to>
                                    </p:set>
                                    <p:animEffect transition="in" filter="wipe(left)">
                                      <p:cBhvr>
                                        <p:cTn id="116" dur="500"/>
                                        <p:tgtEl>
                                          <p:spTgt spid="120845"/>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nodeType="clickEffect">
                                  <p:stCondLst>
                                    <p:cond delay="0"/>
                                  </p:stCondLst>
                                  <p:childTnLst>
                                    <p:set>
                                      <p:cBhvr>
                                        <p:cTn id="120" dur="1" fill="hold">
                                          <p:stCondLst>
                                            <p:cond delay="0"/>
                                          </p:stCondLst>
                                        </p:cTn>
                                        <p:tgtEl>
                                          <p:spTgt spid="10"/>
                                        </p:tgtEl>
                                        <p:attrNameLst>
                                          <p:attrName>style.visibility</p:attrName>
                                        </p:attrNameLst>
                                      </p:cBhvr>
                                      <p:to>
                                        <p:strVal val="visible"/>
                                      </p:to>
                                    </p:set>
                                    <p:animEffect transition="in" filter="wipe(left)">
                                      <p:cBhvr>
                                        <p:cTn id="121" dur="500"/>
                                        <p:tgtEl>
                                          <p:spTgt spid="10"/>
                                        </p:tgtEl>
                                      </p:cBhvr>
                                    </p:animEffect>
                                  </p:childTnLst>
                                </p:cTn>
                              </p:par>
                            </p:childTnLst>
                          </p:cTn>
                        </p:par>
                      </p:childTnLst>
                    </p:cTn>
                  </p:par>
                  <p:par>
                    <p:cTn id="122" fill="hold">
                      <p:stCondLst>
                        <p:cond delay="indefinite"/>
                      </p:stCondLst>
                      <p:childTnLst>
                        <p:par>
                          <p:cTn id="123" fill="hold">
                            <p:stCondLst>
                              <p:cond delay="0"/>
                            </p:stCondLst>
                            <p:childTnLst>
                              <p:par>
                                <p:cTn id="124" presetID="16" presetClass="entr" presetSubtype="37" fill="hold" nodeType="clickEffect">
                                  <p:stCondLst>
                                    <p:cond delay="0"/>
                                  </p:stCondLst>
                                  <p:childTnLst>
                                    <p:set>
                                      <p:cBhvr>
                                        <p:cTn id="125" dur="1" fill="hold">
                                          <p:stCondLst>
                                            <p:cond delay="0"/>
                                          </p:stCondLst>
                                        </p:cTn>
                                        <p:tgtEl>
                                          <p:spTgt spid="14"/>
                                        </p:tgtEl>
                                        <p:attrNameLst>
                                          <p:attrName>style.visibility</p:attrName>
                                        </p:attrNameLst>
                                      </p:cBhvr>
                                      <p:to>
                                        <p:strVal val="visible"/>
                                      </p:to>
                                    </p:set>
                                    <p:animEffect transition="in" filter="barn(outVertical)">
                                      <p:cBhvr>
                                        <p:cTn id="126" dur="500"/>
                                        <p:tgtEl>
                                          <p:spTgt spid="14"/>
                                        </p:tgtEl>
                                      </p:cBhvr>
                                    </p:animEffect>
                                  </p:childTnLst>
                                </p:cTn>
                              </p:par>
                            </p:childTnLst>
                          </p:cTn>
                        </p:par>
                      </p:childTnLst>
                    </p:cTn>
                  </p:par>
                  <p:par>
                    <p:cTn id="127" fill="hold">
                      <p:stCondLst>
                        <p:cond delay="indefinite"/>
                      </p:stCondLst>
                      <p:childTnLst>
                        <p:par>
                          <p:cTn id="128" fill="hold">
                            <p:stCondLst>
                              <p:cond delay="0"/>
                            </p:stCondLst>
                            <p:childTnLst>
                              <p:par>
                                <p:cTn id="129" presetID="12" presetClass="entr" presetSubtype="8" fill="hold" nodeType="clickEffect">
                                  <p:stCondLst>
                                    <p:cond delay="0"/>
                                  </p:stCondLst>
                                  <p:childTnLst>
                                    <p:set>
                                      <p:cBhvr>
                                        <p:cTn id="130" dur="1" fill="hold">
                                          <p:stCondLst>
                                            <p:cond delay="0"/>
                                          </p:stCondLst>
                                        </p:cTn>
                                        <p:tgtEl>
                                          <p:spTgt spid="3"/>
                                        </p:tgtEl>
                                        <p:attrNameLst>
                                          <p:attrName>style.visibility</p:attrName>
                                        </p:attrNameLst>
                                      </p:cBhvr>
                                      <p:to>
                                        <p:strVal val="visible"/>
                                      </p:to>
                                    </p:set>
                                    <p:animEffect transition="in" filter="slide(fromLeft)">
                                      <p:cBhvr>
                                        <p:cTn id="131" dur="500"/>
                                        <p:tgtEl>
                                          <p:spTgt spid="3"/>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grpId="0" nodeType="clickEffect">
                                  <p:stCondLst>
                                    <p:cond delay="0"/>
                                  </p:stCondLst>
                                  <p:childTnLst>
                                    <p:set>
                                      <p:cBhvr>
                                        <p:cTn id="135" dur="1" fill="hold">
                                          <p:stCondLst>
                                            <p:cond delay="0"/>
                                          </p:stCondLst>
                                        </p:cTn>
                                        <p:tgtEl>
                                          <p:spTgt spid="120846"/>
                                        </p:tgtEl>
                                        <p:attrNameLst>
                                          <p:attrName>style.visibility</p:attrName>
                                        </p:attrNameLst>
                                      </p:cBhvr>
                                      <p:to>
                                        <p:strVal val="visible"/>
                                      </p:to>
                                    </p:set>
                                    <p:animEffect transition="in" filter="wipe(left)">
                                      <p:cBhvr>
                                        <p:cTn id="136" dur="500"/>
                                        <p:tgtEl>
                                          <p:spTgt spid="120846"/>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nodeType="clickEffect">
                                  <p:stCondLst>
                                    <p:cond delay="0"/>
                                  </p:stCondLst>
                                  <p:childTnLst>
                                    <p:set>
                                      <p:cBhvr>
                                        <p:cTn id="140" dur="1" fill="hold">
                                          <p:stCondLst>
                                            <p:cond delay="0"/>
                                          </p:stCondLst>
                                        </p:cTn>
                                        <p:tgtEl>
                                          <p:spTgt spid="120847"/>
                                        </p:tgtEl>
                                        <p:attrNameLst>
                                          <p:attrName>style.visibility</p:attrName>
                                        </p:attrNameLst>
                                      </p:cBhvr>
                                      <p:to>
                                        <p:strVal val="visible"/>
                                      </p:to>
                                    </p:set>
                                    <p:animEffect transition="in" filter="wipe(left)">
                                      <p:cBhvr>
                                        <p:cTn id="141" dur="500"/>
                                        <p:tgtEl>
                                          <p:spTgt spid="120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autoUpdateAnimBg="0"/>
      <p:bldP spid="120837" grpId="0" autoUpdateAnimBg="0"/>
      <p:bldP spid="120839" grpId="0" animBg="1"/>
      <p:bldP spid="120846" grpId="0" autoUpdateAnimBg="0"/>
      <p:bldP spid="120852" grpId="0" animBg="1" autoUpdateAnimBg="0"/>
      <p:bldP spid="120853" grpId="0" animBg="1"/>
      <p:bldP spid="120854" grpId="0" animBg="1"/>
      <p:bldP spid="120855" grpId="0" animBg="1"/>
      <p:bldP spid="120867"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1858" name="Object 2"/>
          <p:cNvGraphicFramePr>
            <a:graphicFrameLocks noChangeAspect="1"/>
          </p:cNvGraphicFramePr>
          <p:nvPr/>
        </p:nvGraphicFramePr>
        <p:xfrm>
          <a:off x="1676400" y="1981200"/>
          <a:ext cx="2173288" cy="798513"/>
        </p:xfrm>
        <a:graphic>
          <a:graphicData uri="http://schemas.openxmlformats.org/presentationml/2006/ole">
            <p:oleObj spid="_x0000_s49154" name="Equation" r:id="rId3" imgW="1206360" imgH="444240" progId="Equation.3">
              <p:embed/>
            </p:oleObj>
          </a:graphicData>
        </a:graphic>
      </p:graphicFrame>
      <p:sp>
        <p:nvSpPr>
          <p:cNvPr id="121859" name="Text Box 3"/>
          <p:cNvSpPr txBox="1">
            <a:spLocks noChangeArrowheads="1"/>
          </p:cNvSpPr>
          <p:nvPr/>
        </p:nvSpPr>
        <p:spPr bwMode="auto">
          <a:xfrm>
            <a:off x="152400" y="457200"/>
            <a:ext cx="5559425" cy="457200"/>
          </a:xfrm>
          <a:prstGeom prst="rect">
            <a:avLst/>
          </a:prstGeom>
          <a:noFill/>
          <a:ln w="9525">
            <a:noFill/>
            <a:miter lim="800000"/>
            <a:headEnd/>
            <a:tailEnd/>
          </a:ln>
        </p:spPr>
        <p:txBody>
          <a:bodyPr>
            <a:spAutoFit/>
          </a:bodyPr>
          <a:lstStyle/>
          <a:p>
            <a:pPr>
              <a:spcBef>
                <a:spcPct val="50000"/>
              </a:spcBef>
            </a:pPr>
            <a:r>
              <a:rPr lang="zh-CN" altLang="en-US" b="1">
                <a:solidFill>
                  <a:srgbClr val="0000FF"/>
                </a:solidFill>
              </a:rPr>
              <a:t>二、 </a:t>
            </a:r>
            <a:r>
              <a:rPr lang="zh-CN" altLang="en-US" b="1">
                <a:solidFill>
                  <a:srgbClr val="0000FF"/>
                </a:solidFill>
                <a:latin typeface="宋体" pitchFamily="2" charset="-122"/>
              </a:rPr>
              <a:t>观察者静止，波源运动</a:t>
            </a:r>
          </a:p>
        </p:txBody>
      </p:sp>
      <p:sp>
        <p:nvSpPr>
          <p:cNvPr id="121860" name="Text Box 4"/>
          <p:cNvSpPr txBox="1">
            <a:spLocks noChangeArrowheads="1"/>
          </p:cNvSpPr>
          <p:nvPr/>
        </p:nvSpPr>
        <p:spPr bwMode="auto">
          <a:xfrm>
            <a:off x="5184775" y="6021388"/>
            <a:ext cx="3352800" cy="457200"/>
          </a:xfrm>
          <a:prstGeom prst="rect">
            <a:avLst/>
          </a:prstGeom>
          <a:noFill/>
          <a:ln w="9525">
            <a:noFill/>
            <a:miter lim="800000"/>
            <a:headEnd/>
            <a:tailEnd/>
          </a:ln>
        </p:spPr>
        <p:txBody>
          <a:bodyPr>
            <a:spAutoFit/>
          </a:bodyPr>
          <a:lstStyle/>
          <a:p>
            <a:pPr algn="ctr">
              <a:spcBef>
                <a:spcPct val="50000"/>
              </a:spcBef>
            </a:pPr>
            <a:r>
              <a:rPr lang="en-US" altLang="zh-CN" b="1" i="1">
                <a:solidFill>
                  <a:schemeClr val="bg1"/>
                </a:solidFill>
                <a:latin typeface="楷体_GB2312" pitchFamily="49" charset="-122"/>
                <a:ea typeface="楷体_GB2312" pitchFamily="49" charset="-122"/>
              </a:rPr>
              <a:t>S </a:t>
            </a:r>
            <a:r>
              <a:rPr lang="zh-CN" altLang="en-US" b="1">
                <a:solidFill>
                  <a:schemeClr val="bg1"/>
                </a:solidFill>
                <a:latin typeface="楷体_GB2312" pitchFamily="49" charset="-122"/>
                <a:ea typeface="楷体_GB2312" pitchFamily="49" charset="-122"/>
              </a:rPr>
              <a:t>运动的前方波长变短</a:t>
            </a:r>
          </a:p>
        </p:txBody>
      </p:sp>
      <p:graphicFrame>
        <p:nvGraphicFramePr>
          <p:cNvPr id="121861" name="Object 5"/>
          <p:cNvGraphicFramePr>
            <a:graphicFrameLocks noChangeAspect="1"/>
          </p:cNvGraphicFramePr>
          <p:nvPr/>
        </p:nvGraphicFramePr>
        <p:xfrm>
          <a:off x="1143000" y="4343400"/>
          <a:ext cx="2717800" cy="801688"/>
        </p:xfrm>
        <a:graphic>
          <a:graphicData uri="http://schemas.openxmlformats.org/presentationml/2006/ole">
            <p:oleObj spid="_x0000_s49155" name="Equation" r:id="rId4" imgW="1511280" imgH="444240" progId="Equation.3">
              <p:embed/>
            </p:oleObj>
          </a:graphicData>
        </a:graphic>
      </p:graphicFrame>
      <p:sp>
        <p:nvSpPr>
          <p:cNvPr id="121862" name="Text Box 6"/>
          <p:cNvSpPr txBox="1">
            <a:spLocks noChangeArrowheads="1"/>
          </p:cNvSpPr>
          <p:nvPr/>
        </p:nvSpPr>
        <p:spPr bwMode="auto">
          <a:xfrm>
            <a:off x="161925" y="3657600"/>
            <a:ext cx="4867275" cy="457200"/>
          </a:xfrm>
          <a:prstGeom prst="rect">
            <a:avLst/>
          </a:prstGeom>
          <a:noFill/>
          <a:ln w="9525">
            <a:noFill/>
            <a:miter lim="800000"/>
            <a:headEnd/>
            <a:tailEnd/>
          </a:ln>
        </p:spPr>
        <p:txBody>
          <a:bodyPr>
            <a:spAutoFit/>
          </a:bodyPr>
          <a:lstStyle/>
          <a:p>
            <a:pPr>
              <a:spcBef>
                <a:spcPct val="50000"/>
              </a:spcBef>
            </a:pPr>
            <a:r>
              <a:rPr lang="zh-CN" altLang="en-US" b="1">
                <a:solidFill>
                  <a:srgbClr val="0000FF"/>
                </a:solidFill>
              </a:rPr>
              <a:t>三、 </a:t>
            </a:r>
            <a:r>
              <a:rPr lang="zh-CN" altLang="en-US" b="1">
                <a:solidFill>
                  <a:srgbClr val="0000FF"/>
                </a:solidFill>
                <a:latin typeface="宋体" pitchFamily="2" charset="-122"/>
              </a:rPr>
              <a:t>波源和观察者同时运动</a:t>
            </a:r>
          </a:p>
        </p:txBody>
      </p:sp>
      <p:sp>
        <p:nvSpPr>
          <p:cNvPr id="121863" name="Text Box 7"/>
          <p:cNvSpPr txBox="1">
            <a:spLocks noChangeArrowheads="1"/>
          </p:cNvSpPr>
          <p:nvPr/>
        </p:nvSpPr>
        <p:spPr bwMode="auto">
          <a:xfrm>
            <a:off x="2765425" y="2971800"/>
            <a:ext cx="1014413" cy="457200"/>
          </a:xfrm>
          <a:prstGeom prst="rect">
            <a:avLst/>
          </a:prstGeom>
          <a:noFill/>
          <a:ln w="9525">
            <a:noFill/>
            <a:miter lim="800000"/>
            <a:headEnd/>
            <a:tailEnd/>
          </a:ln>
        </p:spPr>
        <p:txBody>
          <a:bodyPr>
            <a:spAutoFit/>
          </a:bodyPr>
          <a:lstStyle/>
          <a:p>
            <a:pPr algn="ctr">
              <a:spcBef>
                <a:spcPct val="50000"/>
              </a:spcBef>
            </a:pPr>
            <a:r>
              <a:rPr lang="zh-CN" altLang="en-US" b="1">
                <a:solidFill>
                  <a:srgbClr val="FF6600"/>
                </a:solidFill>
                <a:latin typeface="宋体" pitchFamily="2" charset="-122"/>
              </a:rPr>
              <a:t>远离</a:t>
            </a:r>
          </a:p>
        </p:txBody>
      </p:sp>
      <p:graphicFrame>
        <p:nvGraphicFramePr>
          <p:cNvPr id="121864" name="Object 8"/>
          <p:cNvGraphicFramePr>
            <a:graphicFrameLocks/>
          </p:cNvGraphicFramePr>
          <p:nvPr/>
        </p:nvGraphicFramePr>
        <p:xfrm>
          <a:off x="3810000" y="3019425"/>
          <a:ext cx="730250" cy="409575"/>
        </p:xfrm>
        <a:graphic>
          <a:graphicData uri="http://schemas.openxmlformats.org/presentationml/2006/ole">
            <p:oleObj spid="_x0000_s49156" name="Equation" r:id="rId5" imgW="406080" imgH="228600" progId="Equation.3">
              <p:embed/>
            </p:oleObj>
          </a:graphicData>
        </a:graphic>
      </p:graphicFrame>
      <p:sp>
        <p:nvSpPr>
          <p:cNvPr id="121865" name="Text Box 9"/>
          <p:cNvSpPr txBox="1">
            <a:spLocks noChangeArrowheads="1"/>
          </p:cNvSpPr>
          <p:nvPr/>
        </p:nvSpPr>
        <p:spPr bwMode="auto">
          <a:xfrm>
            <a:off x="569913" y="2971800"/>
            <a:ext cx="1143000" cy="457200"/>
          </a:xfrm>
          <a:prstGeom prst="rect">
            <a:avLst/>
          </a:prstGeom>
          <a:noFill/>
          <a:ln w="9525">
            <a:noFill/>
            <a:miter lim="800000"/>
            <a:headEnd/>
            <a:tailEnd/>
          </a:ln>
        </p:spPr>
        <p:txBody>
          <a:bodyPr>
            <a:spAutoFit/>
          </a:bodyPr>
          <a:lstStyle/>
          <a:p>
            <a:pPr algn="ctr">
              <a:spcBef>
                <a:spcPct val="50000"/>
              </a:spcBef>
            </a:pPr>
            <a:r>
              <a:rPr lang="zh-CN" altLang="en-US" b="1">
                <a:solidFill>
                  <a:srgbClr val="FF6600"/>
                </a:solidFill>
                <a:latin typeface="宋体" pitchFamily="2" charset="-122"/>
              </a:rPr>
              <a:t>靠近</a:t>
            </a:r>
          </a:p>
        </p:txBody>
      </p:sp>
      <p:graphicFrame>
        <p:nvGraphicFramePr>
          <p:cNvPr id="121866" name="Object 10"/>
          <p:cNvGraphicFramePr>
            <a:graphicFrameLocks noChangeAspect="1"/>
          </p:cNvGraphicFramePr>
          <p:nvPr/>
        </p:nvGraphicFramePr>
        <p:xfrm>
          <a:off x="1600200" y="3070225"/>
          <a:ext cx="900113" cy="409575"/>
        </p:xfrm>
        <a:graphic>
          <a:graphicData uri="http://schemas.openxmlformats.org/presentationml/2006/ole">
            <p:oleObj spid="_x0000_s49157" name="Equation" r:id="rId6" imgW="558720" imgH="228600" progId="Equation.3">
              <p:embed/>
            </p:oleObj>
          </a:graphicData>
        </a:graphic>
      </p:graphicFrame>
      <p:sp>
        <p:nvSpPr>
          <p:cNvPr id="121867" name="Rectangle 11"/>
          <p:cNvSpPr>
            <a:spLocks noChangeArrowheads="1"/>
          </p:cNvSpPr>
          <p:nvPr/>
        </p:nvSpPr>
        <p:spPr bwMode="auto">
          <a:xfrm>
            <a:off x="863600" y="5516563"/>
            <a:ext cx="4356100" cy="549275"/>
          </a:xfrm>
          <a:prstGeom prst="rect">
            <a:avLst/>
          </a:prstGeom>
          <a:noFill/>
          <a:ln w="9525">
            <a:noFill/>
            <a:miter lim="800000"/>
            <a:headEnd/>
            <a:tailEnd/>
          </a:ln>
        </p:spPr>
        <p:txBody>
          <a:bodyPr>
            <a:spAutoFit/>
          </a:bodyPr>
          <a:lstStyle/>
          <a:p>
            <a:pPr>
              <a:lnSpc>
                <a:spcPct val="125000"/>
              </a:lnSpc>
            </a:pPr>
            <a:r>
              <a:rPr lang="zh-CN" altLang="en-US" b="1">
                <a:solidFill>
                  <a:srgbClr val="FF6600"/>
                </a:solidFill>
                <a:latin typeface="宋体" pitchFamily="2" charset="-122"/>
                <a:ea typeface="楷体_GB2312" pitchFamily="49" charset="-122"/>
              </a:rPr>
              <a:t>符号正负的选择与上述相同</a:t>
            </a:r>
            <a:endParaRPr lang="zh-CN" altLang="en-US" b="1">
              <a:solidFill>
                <a:srgbClr val="FF6600"/>
              </a:solidFill>
              <a:ea typeface="楷体_GB2312" pitchFamily="49" charset="-122"/>
            </a:endParaRPr>
          </a:p>
        </p:txBody>
      </p:sp>
      <p:grpSp>
        <p:nvGrpSpPr>
          <p:cNvPr id="2" name="Group 12"/>
          <p:cNvGrpSpPr>
            <a:grpSpLocks/>
          </p:cNvGrpSpPr>
          <p:nvPr/>
        </p:nvGrpSpPr>
        <p:grpSpPr bwMode="auto">
          <a:xfrm>
            <a:off x="5827713" y="3970338"/>
            <a:ext cx="2711450" cy="431800"/>
            <a:chOff x="3808" y="2381"/>
            <a:chExt cx="1708" cy="272"/>
          </a:xfrm>
        </p:grpSpPr>
        <p:sp>
          <p:nvSpPr>
            <p:cNvPr id="49207" name="Line 13"/>
            <p:cNvSpPr>
              <a:spLocks noChangeShapeType="1"/>
            </p:cNvSpPr>
            <p:nvPr/>
          </p:nvSpPr>
          <p:spPr bwMode="auto">
            <a:xfrm flipV="1">
              <a:off x="3808" y="2381"/>
              <a:ext cx="0" cy="272"/>
            </a:xfrm>
            <a:prstGeom prst="line">
              <a:avLst/>
            </a:prstGeom>
            <a:noFill/>
            <a:ln w="19050">
              <a:solidFill>
                <a:srgbClr val="008000"/>
              </a:solidFill>
              <a:round/>
              <a:headEnd/>
              <a:tailEnd/>
            </a:ln>
          </p:spPr>
          <p:txBody>
            <a:bodyPr/>
            <a:lstStyle/>
            <a:p>
              <a:endParaRPr lang="zh-CN" altLang="en-US"/>
            </a:p>
          </p:txBody>
        </p:sp>
        <p:sp>
          <p:nvSpPr>
            <p:cNvPr id="49208" name="Line 14"/>
            <p:cNvSpPr>
              <a:spLocks noChangeShapeType="1"/>
            </p:cNvSpPr>
            <p:nvPr/>
          </p:nvSpPr>
          <p:spPr bwMode="auto">
            <a:xfrm flipH="1">
              <a:off x="3808" y="2472"/>
              <a:ext cx="596" cy="0"/>
            </a:xfrm>
            <a:prstGeom prst="line">
              <a:avLst/>
            </a:prstGeom>
            <a:noFill/>
            <a:ln w="19050">
              <a:solidFill>
                <a:srgbClr val="008000"/>
              </a:solidFill>
              <a:round/>
              <a:headEnd/>
              <a:tailEnd type="triangle" w="sm" len="lg"/>
            </a:ln>
          </p:spPr>
          <p:txBody>
            <a:bodyPr/>
            <a:lstStyle/>
            <a:p>
              <a:endParaRPr lang="zh-CN" altLang="en-US"/>
            </a:p>
          </p:txBody>
        </p:sp>
        <p:sp>
          <p:nvSpPr>
            <p:cNvPr id="49209" name="Line 15"/>
            <p:cNvSpPr>
              <a:spLocks noChangeShapeType="1"/>
            </p:cNvSpPr>
            <p:nvPr/>
          </p:nvSpPr>
          <p:spPr bwMode="auto">
            <a:xfrm>
              <a:off x="4642" y="2472"/>
              <a:ext cx="874" cy="0"/>
            </a:xfrm>
            <a:prstGeom prst="line">
              <a:avLst/>
            </a:prstGeom>
            <a:noFill/>
            <a:ln w="19050">
              <a:solidFill>
                <a:srgbClr val="008000"/>
              </a:solidFill>
              <a:round/>
              <a:headEnd/>
              <a:tailEnd type="triangle" w="sm" len="lg"/>
            </a:ln>
          </p:spPr>
          <p:txBody>
            <a:bodyPr/>
            <a:lstStyle/>
            <a:p>
              <a:endParaRPr lang="zh-CN" altLang="en-US"/>
            </a:p>
          </p:txBody>
        </p:sp>
      </p:grpSp>
      <p:graphicFrame>
        <p:nvGraphicFramePr>
          <p:cNvPr id="121872" name="Object 16"/>
          <p:cNvGraphicFramePr>
            <a:graphicFrameLocks/>
          </p:cNvGraphicFramePr>
          <p:nvPr/>
        </p:nvGraphicFramePr>
        <p:xfrm>
          <a:off x="6765925" y="3946525"/>
          <a:ext cx="320675" cy="320675"/>
        </p:xfrm>
        <a:graphic>
          <a:graphicData uri="http://schemas.openxmlformats.org/presentationml/2006/ole">
            <p:oleObj spid="_x0000_s49158" name="Equation" r:id="rId7" imgW="177480" imgH="177480" progId="Equation.3">
              <p:embed/>
            </p:oleObj>
          </a:graphicData>
        </a:graphic>
      </p:graphicFrame>
      <p:graphicFrame>
        <p:nvGraphicFramePr>
          <p:cNvPr id="49159" name="Object 17"/>
          <p:cNvGraphicFramePr>
            <a:graphicFrameLocks noChangeAspect="1"/>
          </p:cNvGraphicFramePr>
          <p:nvPr/>
        </p:nvGraphicFramePr>
        <p:xfrm>
          <a:off x="5024438" y="2852738"/>
          <a:ext cx="93662" cy="203200"/>
        </p:xfrm>
        <a:graphic>
          <a:graphicData uri="http://schemas.openxmlformats.org/presentationml/2006/ole">
            <p:oleObj spid="_x0000_s49159" name="Equation" r:id="rId8" imgW="114120" imgH="215640" progId="Equation.3">
              <p:embed/>
            </p:oleObj>
          </a:graphicData>
        </a:graphic>
      </p:graphicFrame>
      <p:sp>
        <p:nvSpPr>
          <p:cNvPr id="121874" name="Line 18"/>
          <p:cNvSpPr>
            <a:spLocks noChangeShapeType="1"/>
          </p:cNvSpPr>
          <p:nvPr/>
        </p:nvSpPr>
        <p:spPr bwMode="auto">
          <a:xfrm>
            <a:off x="5867400" y="4979988"/>
            <a:ext cx="0" cy="430212"/>
          </a:xfrm>
          <a:prstGeom prst="line">
            <a:avLst/>
          </a:prstGeom>
          <a:noFill/>
          <a:ln w="19050">
            <a:solidFill>
              <a:srgbClr val="008000"/>
            </a:solidFill>
            <a:round/>
            <a:headEnd/>
            <a:tailEnd/>
          </a:ln>
        </p:spPr>
        <p:txBody>
          <a:bodyPr/>
          <a:lstStyle/>
          <a:p>
            <a:endParaRPr lang="zh-CN" altLang="en-US"/>
          </a:p>
        </p:txBody>
      </p:sp>
      <p:sp>
        <p:nvSpPr>
          <p:cNvPr id="121875" name="Line 19"/>
          <p:cNvSpPr>
            <a:spLocks noChangeShapeType="1"/>
          </p:cNvSpPr>
          <p:nvPr/>
        </p:nvSpPr>
        <p:spPr bwMode="auto">
          <a:xfrm flipH="1">
            <a:off x="5181600" y="5087938"/>
            <a:ext cx="674688" cy="0"/>
          </a:xfrm>
          <a:prstGeom prst="line">
            <a:avLst/>
          </a:prstGeom>
          <a:noFill/>
          <a:ln w="19050">
            <a:solidFill>
              <a:srgbClr val="008000"/>
            </a:solidFill>
            <a:round/>
            <a:headEnd type="triangle" w="sm" len="lg"/>
            <a:tailEnd type="triangle" w="sm" len="lg"/>
          </a:ln>
        </p:spPr>
        <p:txBody>
          <a:bodyPr/>
          <a:lstStyle/>
          <a:p>
            <a:endParaRPr lang="zh-CN" altLang="en-US"/>
          </a:p>
        </p:txBody>
      </p:sp>
      <p:graphicFrame>
        <p:nvGraphicFramePr>
          <p:cNvPr id="121876" name="Object 20"/>
          <p:cNvGraphicFramePr>
            <a:graphicFrameLocks/>
          </p:cNvGraphicFramePr>
          <p:nvPr/>
        </p:nvGraphicFramePr>
        <p:xfrm>
          <a:off x="5341938" y="5105400"/>
          <a:ext cx="525462" cy="434975"/>
        </p:xfrm>
        <a:graphic>
          <a:graphicData uri="http://schemas.openxmlformats.org/presentationml/2006/ole">
            <p:oleObj spid="_x0000_s49160" name="Equation" r:id="rId9" imgW="291960" imgH="241200" progId="Equation.3">
              <p:embed/>
            </p:oleObj>
          </a:graphicData>
        </a:graphic>
      </p:graphicFrame>
      <p:graphicFrame>
        <p:nvGraphicFramePr>
          <p:cNvPr id="121877" name="Object 21"/>
          <p:cNvGraphicFramePr>
            <a:graphicFrameLocks noChangeAspect="1"/>
          </p:cNvGraphicFramePr>
          <p:nvPr/>
        </p:nvGraphicFramePr>
        <p:xfrm>
          <a:off x="990600" y="1187450"/>
          <a:ext cx="3724275" cy="801688"/>
        </p:xfrm>
        <a:graphic>
          <a:graphicData uri="http://schemas.openxmlformats.org/presentationml/2006/ole">
            <p:oleObj spid="_x0000_s49161" name="Equation" r:id="rId10" imgW="2070000" imgH="444240" progId="Equation.3">
              <p:embed/>
            </p:oleObj>
          </a:graphicData>
        </a:graphic>
      </p:graphicFrame>
      <p:pic>
        <p:nvPicPr>
          <p:cNvPr id="121878" name="Picture 22" descr="图形8"/>
          <p:cNvPicPr preferRelativeResize="0">
            <a:picLocks noChangeAspect="1" noChangeArrowheads="1"/>
          </p:cNvPicPr>
          <p:nvPr/>
        </p:nvPicPr>
        <p:blipFill>
          <a:blip r:embed="rId11">
            <a:clrChange>
              <a:clrFrom>
                <a:srgbClr val="FFFFFF"/>
              </a:clrFrom>
              <a:clrTo>
                <a:srgbClr val="FFFFFF">
                  <a:alpha val="0"/>
                </a:srgbClr>
              </a:clrTo>
            </a:clrChange>
            <a:lum bright="-36000"/>
          </a:blip>
          <a:srcRect/>
          <a:stretch>
            <a:fillRect/>
          </a:stretch>
        </p:blipFill>
        <p:spPr bwMode="auto">
          <a:xfrm>
            <a:off x="5832475" y="4343400"/>
            <a:ext cx="2701925" cy="1176338"/>
          </a:xfrm>
          <a:prstGeom prst="rect">
            <a:avLst/>
          </a:prstGeom>
          <a:noFill/>
          <a:ln w="19050">
            <a:noFill/>
            <a:miter lim="800000"/>
            <a:headEnd/>
            <a:tailEnd/>
          </a:ln>
        </p:spPr>
      </p:pic>
      <p:sp>
        <p:nvSpPr>
          <p:cNvPr id="121879" name="Line 23"/>
          <p:cNvSpPr>
            <a:spLocks noChangeShapeType="1"/>
          </p:cNvSpPr>
          <p:nvPr/>
        </p:nvSpPr>
        <p:spPr bwMode="auto">
          <a:xfrm>
            <a:off x="5187950" y="4941888"/>
            <a:ext cx="3344863" cy="0"/>
          </a:xfrm>
          <a:prstGeom prst="line">
            <a:avLst/>
          </a:prstGeom>
          <a:noFill/>
          <a:ln w="28575">
            <a:solidFill>
              <a:schemeClr val="bg1"/>
            </a:solidFill>
            <a:round/>
            <a:headEnd/>
            <a:tailEnd/>
          </a:ln>
        </p:spPr>
        <p:txBody>
          <a:bodyPr/>
          <a:lstStyle/>
          <a:p>
            <a:endParaRPr lang="zh-CN" altLang="en-US"/>
          </a:p>
        </p:txBody>
      </p:sp>
      <p:sp>
        <p:nvSpPr>
          <p:cNvPr id="121880" name="Line 24"/>
          <p:cNvSpPr>
            <a:spLocks noChangeShapeType="1"/>
          </p:cNvSpPr>
          <p:nvPr/>
        </p:nvSpPr>
        <p:spPr bwMode="auto">
          <a:xfrm flipV="1">
            <a:off x="8529638" y="3475038"/>
            <a:ext cx="0" cy="1438275"/>
          </a:xfrm>
          <a:prstGeom prst="line">
            <a:avLst/>
          </a:prstGeom>
          <a:noFill/>
          <a:ln w="19050">
            <a:solidFill>
              <a:srgbClr val="008000"/>
            </a:solidFill>
            <a:round/>
            <a:headEnd/>
            <a:tailEnd/>
          </a:ln>
        </p:spPr>
        <p:txBody>
          <a:bodyPr/>
          <a:lstStyle/>
          <a:p>
            <a:endParaRPr lang="zh-CN" altLang="en-US"/>
          </a:p>
        </p:txBody>
      </p:sp>
      <p:sp>
        <p:nvSpPr>
          <p:cNvPr id="121881" name="Line 25"/>
          <p:cNvSpPr>
            <a:spLocks noChangeShapeType="1"/>
          </p:cNvSpPr>
          <p:nvPr/>
        </p:nvSpPr>
        <p:spPr bwMode="auto">
          <a:xfrm flipV="1">
            <a:off x="5187950" y="3475038"/>
            <a:ext cx="0" cy="1438275"/>
          </a:xfrm>
          <a:prstGeom prst="line">
            <a:avLst/>
          </a:prstGeom>
          <a:noFill/>
          <a:ln w="19050">
            <a:solidFill>
              <a:srgbClr val="008000"/>
            </a:solidFill>
            <a:round/>
            <a:headEnd/>
            <a:tailEnd/>
          </a:ln>
        </p:spPr>
        <p:txBody>
          <a:bodyPr/>
          <a:lstStyle/>
          <a:p>
            <a:endParaRPr lang="zh-CN" altLang="en-US"/>
          </a:p>
        </p:txBody>
      </p:sp>
      <p:sp>
        <p:nvSpPr>
          <p:cNvPr id="121882" name="Line 26"/>
          <p:cNvSpPr>
            <a:spLocks noChangeShapeType="1"/>
          </p:cNvSpPr>
          <p:nvPr/>
        </p:nvSpPr>
        <p:spPr bwMode="auto">
          <a:xfrm>
            <a:off x="5187950" y="4913313"/>
            <a:ext cx="0" cy="933450"/>
          </a:xfrm>
          <a:prstGeom prst="line">
            <a:avLst/>
          </a:prstGeom>
          <a:noFill/>
          <a:ln w="19050">
            <a:solidFill>
              <a:srgbClr val="008000"/>
            </a:solidFill>
            <a:round/>
            <a:headEnd/>
            <a:tailEnd/>
          </a:ln>
        </p:spPr>
        <p:txBody>
          <a:bodyPr/>
          <a:lstStyle/>
          <a:p>
            <a:endParaRPr lang="zh-CN" altLang="en-US"/>
          </a:p>
        </p:txBody>
      </p:sp>
      <p:sp>
        <p:nvSpPr>
          <p:cNvPr id="121883" name="Line 27"/>
          <p:cNvSpPr>
            <a:spLocks noChangeShapeType="1"/>
          </p:cNvSpPr>
          <p:nvPr/>
        </p:nvSpPr>
        <p:spPr bwMode="auto">
          <a:xfrm>
            <a:off x="8529638" y="4913313"/>
            <a:ext cx="0" cy="1077912"/>
          </a:xfrm>
          <a:prstGeom prst="line">
            <a:avLst/>
          </a:prstGeom>
          <a:noFill/>
          <a:ln w="19050">
            <a:solidFill>
              <a:srgbClr val="008000"/>
            </a:solidFill>
            <a:round/>
            <a:headEnd/>
            <a:tailEnd/>
          </a:ln>
        </p:spPr>
        <p:txBody>
          <a:bodyPr/>
          <a:lstStyle/>
          <a:p>
            <a:endParaRPr lang="zh-CN" altLang="en-US"/>
          </a:p>
        </p:txBody>
      </p:sp>
      <p:grpSp>
        <p:nvGrpSpPr>
          <p:cNvPr id="3" name="Group 28"/>
          <p:cNvGrpSpPr>
            <a:grpSpLocks/>
          </p:cNvGrpSpPr>
          <p:nvPr/>
        </p:nvGrpSpPr>
        <p:grpSpPr bwMode="auto">
          <a:xfrm>
            <a:off x="5187950" y="3690938"/>
            <a:ext cx="3341688" cy="0"/>
            <a:chOff x="3405" y="2205"/>
            <a:chExt cx="2105" cy="0"/>
          </a:xfrm>
        </p:grpSpPr>
        <p:sp>
          <p:nvSpPr>
            <p:cNvPr id="49205" name="Line 29"/>
            <p:cNvSpPr>
              <a:spLocks noChangeShapeType="1"/>
            </p:cNvSpPr>
            <p:nvPr/>
          </p:nvSpPr>
          <p:spPr bwMode="auto">
            <a:xfrm flipH="1">
              <a:off x="3405" y="2205"/>
              <a:ext cx="794" cy="0"/>
            </a:xfrm>
            <a:prstGeom prst="line">
              <a:avLst/>
            </a:prstGeom>
            <a:noFill/>
            <a:ln w="19050">
              <a:solidFill>
                <a:srgbClr val="008000"/>
              </a:solidFill>
              <a:prstDash val="dash"/>
              <a:round/>
              <a:headEnd/>
              <a:tailEnd type="triangle" w="sm" len="lg"/>
            </a:ln>
          </p:spPr>
          <p:txBody>
            <a:bodyPr/>
            <a:lstStyle/>
            <a:p>
              <a:endParaRPr lang="zh-CN" altLang="en-US"/>
            </a:p>
          </p:txBody>
        </p:sp>
        <p:sp>
          <p:nvSpPr>
            <p:cNvPr id="49206" name="Line 30"/>
            <p:cNvSpPr>
              <a:spLocks noChangeShapeType="1"/>
            </p:cNvSpPr>
            <p:nvPr/>
          </p:nvSpPr>
          <p:spPr bwMode="auto">
            <a:xfrm>
              <a:off x="4438" y="2205"/>
              <a:ext cx="1072" cy="0"/>
            </a:xfrm>
            <a:prstGeom prst="line">
              <a:avLst/>
            </a:prstGeom>
            <a:noFill/>
            <a:ln w="19050">
              <a:solidFill>
                <a:srgbClr val="008000"/>
              </a:solidFill>
              <a:prstDash val="dash"/>
              <a:round/>
              <a:headEnd/>
              <a:tailEnd type="triangle" w="sm" len="lg"/>
            </a:ln>
          </p:spPr>
          <p:txBody>
            <a:bodyPr/>
            <a:lstStyle/>
            <a:p>
              <a:endParaRPr lang="zh-CN" altLang="en-US"/>
            </a:p>
          </p:txBody>
        </p:sp>
      </p:grpSp>
      <p:sp>
        <p:nvSpPr>
          <p:cNvPr id="121887" name="Line 31"/>
          <p:cNvSpPr>
            <a:spLocks noChangeShapeType="1"/>
          </p:cNvSpPr>
          <p:nvPr/>
        </p:nvSpPr>
        <p:spPr bwMode="auto">
          <a:xfrm flipH="1">
            <a:off x="5187950" y="5703888"/>
            <a:ext cx="1387475" cy="0"/>
          </a:xfrm>
          <a:prstGeom prst="line">
            <a:avLst/>
          </a:prstGeom>
          <a:noFill/>
          <a:ln w="19050">
            <a:solidFill>
              <a:srgbClr val="008000"/>
            </a:solidFill>
            <a:round/>
            <a:headEnd/>
            <a:tailEnd type="triangle" w="sm" len="lg"/>
          </a:ln>
        </p:spPr>
        <p:txBody>
          <a:bodyPr/>
          <a:lstStyle/>
          <a:p>
            <a:endParaRPr lang="zh-CN" altLang="en-US"/>
          </a:p>
        </p:txBody>
      </p:sp>
      <p:sp>
        <p:nvSpPr>
          <p:cNvPr id="121888" name="Line 32"/>
          <p:cNvSpPr>
            <a:spLocks noChangeShapeType="1"/>
          </p:cNvSpPr>
          <p:nvPr/>
        </p:nvSpPr>
        <p:spPr bwMode="auto">
          <a:xfrm>
            <a:off x="6953250" y="5703888"/>
            <a:ext cx="1576388" cy="0"/>
          </a:xfrm>
          <a:prstGeom prst="line">
            <a:avLst/>
          </a:prstGeom>
          <a:noFill/>
          <a:ln w="19050">
            <a:solidFill>
              <a:srgbClr val="008000"/>
            </a:solidFill>
            <a:round/>
            <a:headEnd/>
            <a:tailEnd type="triangle" w="sm" len="lg"/>
          </a:ln>
        </p:spPr>
        <p:txBody>
          <a:bodyPr/>
          <a:lstStyle/>
          <a:p>
            <a:endParaRPr lang="zh-CN" altLang="en-US"/>
          </a:p>
        </p:txBody>
      </p:sp>
      <p:graphicFrame>
        <p:nvGraphicFramePr>
          <p:cNvPr id="121889" name="Object 33"/>
          <p:cNvGraphicFramePr>
            <a:graphicFrameLocks/>
          </p:cNvGraphicFramePr>
          <p:nvPr/>
        </p:nvGraphicFramePr>
        <p:xfrm>
          <a:off x="6529388" y="3565525"/>
          <a:ext cx="252412" cy="320675"/>
        </p:xfrm>
        <a:graphic>
          <a:graphicData uri="http://schemas.openxmlformats.org/presentationml/2006/ole">
            <p:oleObj spid="_x0000_s49162" name="Equation" r:id="rId12" imgW="139680" imgH="177480" progId="Equation.3">
              <p:embed/>
            </p:oleObj>
          </a:graphicData>
        </a:graphic>
      </p:graphicFrame>
      <p:graphicFrame>
        <p:nvGraphicFramePr>
          <p:cNvPr id="49163" name="Object 34"/>
          <p:cNvGraphicFramePr>
            <a:graphicFrameLocks noChangeAspect="1"/>
          </p:cNvGraphicFramePr>
          <p:nvPr/>
        </p:nvGraphicFramePr>
        <p:xfrm>
          <a:off x="5014913" y="2860675"/>
          <a:ext cx="93662" cy="203200"/>
        </p:xfrm>
        <a:graphic>
          <a:graphicData uri="http://schemas.openxmlformats.org/presentationml/2006/ole">
            <p:oleObj spid="_x0000_s49163" name="Equation" r:id="rId13" imgW="114120" imgH="215640" progId="Equation.3">
              <p:embed/>
            </p:oleObj>
          </a:graphicData>
        </a:graphic>
      </p:graphicFrame>
      <p:graphicFrame>
        <p:nvGraphicFramePr>
          <p:cNvPr id="121891" name="Object 35"/>
          <p:cNvGraphicFramePr>
            <a:graphicFrameLocks/>
          </p:cNvGraphicFramePr>
          <p:nvPr/>
        </p:nvGraphicFramePr>
        <p:xfrm>
          <a:off x="4846638" y="4697413"/>
          <a:ext cx="293687" cy="390525"/>
        </p:xfrm>
        <a:graphic>
          <a:graphicData uri="http://schemas.openxmlformats.org/presentationml/2006/ole">
            <p:oleObj spid="_x0000_s49164" name="Equation" r:id="rId14" imgW="152280" imgH="177480" progId="Equation.3">
              <p:embed/>
            </p:oleObj>
          </a:graphicData>
        </a:graphic>
      </p:graphicFrame>
      <p:graphicFrame>
        <p:nvGraphicFramePr>
          <p:cNvPr id="121892" name="Object 36"/>
          <p:cNvGraphicFramePr>
            <a:graphicFrameLocks/>
          </p:cNvGraphicFramePr>
          <p:nvPr/>
        </p:nvGraphicFramePr>
        <p:xfrm>
          <a:off x="6607175" y="5511800"/>
          <a:ext cx="479425" cy="431800"/>
        </p:xfrm>
        <a:graphic>
          <a:graphicData uri="http://schemas.openxmlformats.org/presentationml/2006/ole">
            <p:oleObj spid="_x0000_s49165" name="Equation" r:id="rId15" imgW="266400" imgH="241200" progId="Equation.3">
              <p:embed/>
            </p:oleObj>
          </a:graphicData>
        </a:graphic>
      </p:graphicFrame>
      <p:sp>
        <p:nvSpPr>
          <p:cNvPr id="121893" name="Text Box 37"/>
          <p:cNvSpPr txBox="1">
            <a:spLocks noChangeArrowheads="1"/>
          </p:cNvSpPr>
          <p:nvPr/>
        </p:nvSpPr>
        <p:spPr bwMode="auto">
          <a:xfrm>
            <a:off x="7297738" y="4119563"/>
            <a:ext cx="354012" cy="457200"/>
          </a:xfrm>
          <a:prstGeom prst="rect">
            <a:avLst/>
          </a:prstGeom>
          <a:noFill/>
          <a:ln w="19050">
            <a:noFill/>
            <a:miter lim="800000"/>
            <a:headEnd/>
            <a:tailEnd/>
          </a:ln>
        </p:spPr>
        <p:txBody>
          <a:bodyPr wrap="none">
            <a:spAutoFit/>
          </a:bodyPr>
          <a:lstStyle/>
          <a:p>
            <a:r>
              <a:rPr lang="en-US" altLang="zh-CN" b="1" i="1">
                <a:solidFill>
                  <a:srgbClr val="3333CC"/>
                </a:solidFill>
              </a:rPr>
              <a:t>u</a:t>
            </a:r>
          </a:p>
        </p:txBody>
      </p:sp>
      <p:sp>
        <p:nvSpPr>
          <p:cNvPr id="121894" name="Line 38"/>
          <p:cNvSpPr>
            <a:spLocks noChangeShapeType="1"/>
          </p:cNvSpPr>
          <p:nvPr/>
        </p:nvSpPr>
        <p:spPr bwMode="auto">
          <a:xfrm>
            <a:off x="7213600" y="4494213"/>
            <a:ext cx="558800" cy="0"/>
          </a:xfrm>
          <a:prstGeom prst="line">
            <a:avLst/>
          </a:prstGeom>
          <a:noFill/>
          <a:ln w="28575">
            <a:solidFill>
              <a:srgbClr val="3333CC"/>
            </a:solidFill>
            <a:round/>
            <a:headEnd/>
            <a:tailEnd type="triangle" w="sm" len="lg"/>
          </a:ln>
        </p:spPr>
        <p:txBody>
          <a:bodyPr/>
          <a:lstStyle/>
          <a:p>
            <a:endParaRPr lang="zh-CN" altLang="en-US"/>
          </a:p>
        </p:txBody>
      </p:sp>
      <p:pic>
        <p:nvPicPr>
          <p:cNvPr id="121895" name="Picture 39" descr="图形9"/>
          <p:cNvPicPr preferRelativeResize="0">
            <a:picLocks noChangeAspect="1" noChangeArrowheads="1"/>
          </p:cNvPicPr>
          <p:nvPr/>
        </p:nvPicPr>
        <p:blipFill>
          <a:blip r:embed="rId16">
            <a:clrChange>
              <a:clrFrom>
                <a:srgbClr val="FFFFFF"/>
              </a:clrFrom>
              <a:clrTo>
                <a:srgbClr val="FFFFFF">
                  <a:alpha val="0"/>
                </a:srgbClr>
              </a:clrTo>
            </a:clrChange>
            <a:lum bright="-66000"/>
          </a:blip>
          <a:srcRect/>
          <a:stretch>
            <a:fillRect/>
          </a:stretch>
        </p:blipFill>
        <p:spPr bwMode="auto">
          <a:xfrm>
            <a:off x="5192713" y="4348163"/>
            <a:ext cx="3313112" cy="1150937"/>
          </a:xfrm>
          <a:prstGeom prst="rect">
            <a:avLst/>
          </a:prstGeom>
          <a:noFill/>
          <a:ln w="19050">
            <a:noFill/>
            <a:miter lim="800000"/>
            <a:headEnd/>
            <a:tailEnd/>
          </a:ln>
        </p:spPr>
      </p:pic>
      <p:sp>
        <p:nvSpPr>
          <p:cNvPr id="121896" name="Oval 40"/>
          <p:cNvSpPr>
            <a:spLocks noChangeArrowheads="1"/>
          </p:cNvSpPr>
          <p:nvPr/>
        </p:nvSpPr>
        <p:spPr bwMode="auto">
          <a:xfrm>
            <a:off x="5508625" y="533400"/>
            <a:ext cx="2578100" cy="2578100"/>
          </a:xfrm>
          <a:prstGeom prst="ellipse">
            <a:avLst/>
          </a:prstGeom>
          <a:noFill/>
          <a:ln w="28575">
            <a:solidFill>
              <a:srgbClr val="008000"/>
            </a:solidFill>
            <a:round/>
            <a:headEnd/>
            <a:tailEnd/>
          </a:ln>
        </p:spPr>
        <p:txBody>
          <a:bodyPr wrap="none" anchor="ctr"/>
          <a:lstStyle/>
          <a:p>
            <a:endParaRPr lang="zh-CN" altLang="en-US"/>
          </a:p>
        </p:txBody>
      </p:sp>
      <p:sp>
        <p:nvSpPr>
          <p:cNvPr id="121897" name="Oval 41"/>
          <p:cNvSpPr>
            <a:spLocks noChangeArrowheads="1"/>
          </p:cNvSpPr>
          <p:nvPr/>
        </p:nvSpPr>
        <p:spPr bwMode="auto">
          <a:xfrm>
            <a:off x="5967413" y="933450"/>
            <a:ext cx="1947862" cy="1778000"/>
          </a:xfrm>
          <a:prstGeom prst="ellipse">
            <a:avLst/>
          </a:prstGeom>
          <a:noFill/>
          <a:ln w="28575">
            <a:solidFill>
              <a:srgbClr val="008000"/>
            </a:solidFill>
            <a:round/>
            <a:headEnd/>
            <a:tailEnd/>
          </a:ln>
        </p:spPr>
        <p:txBody>
          <a:bodyPr wrap="none" anchor="ctr"/>
          <a:lstStyle/>
          <a:p>
            <a:endParaRPr lang="zh-CN" altLang="en-US"/>
          </a:p>
        </p:txBody>
      </p:sp>
      <p:sp>
        <p:nvSpPr>
          <p:cNvPr id="121898" name="Oval 42"/>
          <p:cNvSpPr>
            <a:spLocks noChangeArrowheads="1"/>
          </p:cNvSpPr>
          <p:nvPr/>
        </p:nvSpPr>
        <p:spPr bwMode="auto">
          <a:xfrm>
            <a:off x="6424613" y="1163638"/>
            <a:ext cx="1317625" cy="1317625"/>
          </a:xfrm>
          <a:prstGeom prst="ellipse">
            <a:avLst/>
          </a:prstGeom>
          <a:noFill/>
          <a:ln w="28575">
            <a:solidFill>
              <a:srgbClr val="008000"/>
            </a:solidFill>
            <a:round/>
            <a:headEnd/>
            <a:tailEnd/>
          </a:ln>
        </p:spPr>
        <p:txBody>
          <a:bodyPr wrap="none" anchor="ctr"/>
          <a:lstStyle/>
          <a:p>
            <a:endParaRPr lang="zh-CN" altLang="en-US"/>
          </a:p>
        </p:txBody>
      </p:sp>
      <p:sp>
        <p:nvSpPr>
          <p:cNvPr id="121899" name="Oval 43"/>
          <p:cNvSpPr>
            <a:spLocks noChangeArrowheads="1"/>
          </p:cNvSpPr>
          <p:nvPr/>
        </p:nvSpPr>
        <p:spPr bwMode="auto">
          <a:xfrm flipV="1">
            <a:off x="7112000" y="1793875"/>
            <a:ext cx="58738" cy="57150"/>
          </a:xfrm>
          <a:prstGeom prst="ellipse">
            <a:avLst/>
          </a:prstGeom>
          <a:solidFill>
            <a:srgbClr val="FF0000"/>
          </a:solidFill>
          <a:ln w="6350">
            <a:solidFill>
              <a:srgbClr val="FF0000"/>
            </a:solidFill>
            <a:round/>
            <a:headEnd/>
            <a:tailEnd/>
          </a:ln>
        </p:spPr>
        <p:txBody>
          <a:bodyPr wrap="none" anchor="ctr"/>
          <a:lstStyle/>
          <a:p>
            <a:endParaRPr lang="zh-CN" altLang="en-US"/>
          </a:p>
        </p:txBody>
      </p:sp>
      <p:sp>
        <p:nvSpPr>
          <p:cNvPr id="121900" name="Oval 44"/>
          <p:cNvSpPr>
            <a:spLocks noChangeArrowheads="1"/>
          </p:cNvSpPr>
          <p:nvPr/>
        </p:nvSpPr>
        <p:spPr bwMode="auto">
          <a:xfrm flipV="1">
            <a:off x="6769100" y="1793875"/>
            <a:ext cx="57150" cy="57150"/>
          </a:xfrm>
          <a:prstGeom prst="ellipse">
            <a:avLst/>
          </a:prstGeom>
          <a:solidFill>
            <a:srgbClr val="FFFFFF"/>
          </a:solidFill>
          <a:ln w="3175">
            <a:solidFill>
              <a:schemeClr val="bg1"/>
            </a:solidFill>
            <a:round/>
            <a:headEnd/>
            <a:tailEnd/>
          </a:ln>
        </p:spPr>
        <p:txBody>
          <a:bodyPr wrap="none" anchor="ctr"/>
          <a:lstStyle/>
          <a:p>
            <a:endParaRPr lang="zh-CN" altLang="en-US"/>
          </a:p>
        </p:txBody>
      </p:sp>
      <p:sp>
        <p:nvSpPr>
          <p:cNvPr id="121901" name="Oval 45"/>
          <p:cNvSpPr>
            <a:spLocks noChangeArrowheads="1"/>
          </p:cNvSpPr>
          <p:nvPr/>
        </p:nvSpPr>
        <p:spPr bwMode="auto">
          <a:xfrm flipV="1">
            <a:off x="6940550" y="1793875"/>
            <a:ext cx="58738" cy="57150"/>
          </a:xfrm>
          <a:prstGeom prst="ellipse">
            <a:avLst/>
          </a:prstGeom>
          <a:solidFill>
            <a:srgbClr val="FF0000"/>
          </a:solidFill>
          <a:ln w="9525">
            <a:solidFill>
              <a:srgbClr val="FF0000"/>
            </a:solidFill>
            <a:round/>
            <a:headEnd/>
            <a:tailEnd/>
          </a:ln>
        </p:spPr>
        <p:txBody>
          <a:bodyPr wrap="none" anchor="ctr"/>
          <a:lstStyle/>
          <a:p>
            <a:endParaRPr lang="zh-CN" altLang="en-US"/>
          </a:p>
        </p:txBody>
      </p:sp>
      <p:graphicFrame>
        <p:nvGraphicFramePr>
          <p:cNvPr id="121902" name="Object 46"/>
          <p:cNvGraphicFramePr>
            <a:graphicFrameLocks noChangeAspect="1"/>
          </p:cNvGraphicFramePr>
          <p:nvPr/>
        </p:nvGraphicFramePr>
        <p:xfrm>
          <a:off x="6530975" y="1793875"/>
          <a:ext cx="242888" cy="285750"/>
        </p:xfrm>
        <a:graphic>
          <a:graphicData uri="http://schemas.openxmlformats.org/presentationml/2006/ole">
            <p:oleObj spid="_x0000_s49166" name="Equation" r:id="rId17" imgW="152280" imgH="177480" progId="Equation.3">
              <p:embed/>
            </p:oleObj>
          </a:graphicData>
        </a:graphic>
      </p:graphicFrame>
      <p:graphicFrame>
        <p:nvGraphicFramePr>
          <p:cNvPr id="121903" name="Object 47"/>
          <p:cNvGraphicFramePr>
            <a:graphicFrameLocks noChangeAspect="1"/>
          </p:cNvGraphicFramePr>
          <p:nvPr/>
        </p:nvGraphicFramePr>
        <p:xfrm>
          <a:off x="6954838" y="1196975"/>
          <a:ext cx="371475" cy="504825"/>
        </p:xfrm>
        <a:graphic>
          <a:graphicData uri="http://schemas.openxmlformats.org/presentationml/2006/ole">
            <p:oleObj spid="_x0000_s49167" name="公式" r:id="rId18" imgW="317160" imgH="431640" progId="Equation.3">
              <p:embed/>
            </p:oleObj>
          </a:graphicData>
        </a:graphic>
      </p:graphicFrame>
      <p:sp>
        <p:nvSpPr>
          <p:cNvPr id="121904" name="Line 48"/>
          <p:cNvSpPr>
            <a:spLocks noChangeShapeType="1"/>
          </p:cNvSpPr>
          <p:nvPr/>
        </p:nvSpPr>
        <p:spPr bwMode="auto">
          <a:xfrm>
            <a:off x="7564438" y="1820863"/>
            <a:ext cx="171450" cy="0"/>
          </a:xfrm>
          <a:prstGeom prst="line">
            <a:avLst/>
          </a:prstGeom>
          <a:noFill/>
          <a:ln w="28575">
            <a:solidFill>
              <a:srgbClr val="FF0000"/>
            </a:solidFill>
            <a:round/>
            <a:headEnd/>
            <a:tailEnd type="triangle" w="med" len="med"/>
          </a:ln>
        </p:spPr>
        <p:txBody>
          <a:bodyPr/>
          <a:lstStyle/>
          <a:p>
            <a:endParaRPr lang="zh-CN" altLang="en-US"/>
          </a:p>
        </p:txBody>
      </p:sp>
      <p:sp>
        <p:nvSpPr>
          <p:cNvPr id="121905" name="Line 49"/>
          <p:cNvSpPr>
            <a:spLocks noChangeShapeType="1"/>
          </p:cNvSpPr>
          <p:nvPr/>
        </p:nvSpPr>
        <p:spPr bwMode="auto">
          <a:xfrm flipH="1">
            <a:off x="7927975" y="1817688"/>
            <a:ext cx="200025" cy="0"/>
          </a:xfrm>
          <a:prstGeom prst="line">
            <a:avLst/>
          </a:prstGeom>
          <a:noFill/>
          <a:ln w="28575">
            <a:solidFill>
              <a:srgbClr val="FF0000"/>
            </a:solidFill>
            <a:round/>
            <a:headEnd/>
            <a:tailEnd type="triangle" w="med" len="med"/>
          </a:ln>
        </p:spPr>
        <p:txBody>
          <a:bodyPr/>
          <a:lstStyle/>
          <a:p>
            <a:endParaRPr lang="zh-CN" altLang="en-US"/>
          </a:p>
        </p:txBody>
      </p:sp>
      <p:graphicFrame>
        <p:nvGraphicFramePr>
          <p:cNvPr id="121906" name="Object 50"/>
          <p:cNvGraphicFramePr>
            <a:graphicFrameLocks noChangeAspect="1"/>
          </p:cNvGraphicFramePr>
          <p:nvPr/>
        </p:nvGraphicFramePr>
        <p:xfrm>
          <a:off x="7740650" y="1736725"/>
          <a:ext cx="206375" cy="204788"/>
        </p:xfrm>
        <a:graphic>
          <a:graphicData uri="http://schemas.openxmlformats.org/presentationml/2006/ole">
            <p:oleObj spid="_x0000_s49168" name="Equation" r:id="rId19" imgW="177480" imgH="177480" progId="Equation.3">
              <p:embed/>
            </p:oleObj>
          </a:graphicData>
        </a:graphic>
      </p:graphicFrame>
      <p:pic>
        <p:nvPicPr>
          <p:cNvPr id="121907" name="Picture 51" descr="多普勒2"/>
          <p:cNvPicPr>
            <a:picLocks noChangeAspect="1" noChangeArrowheads="1"/>
          </p:cNvPicPr>
          <p:nvPr/>
        </p:nvPicPr>
        <p:blipFill>
          <a:blip r:embed="rId20">
            <a:clrChange>
              <a:clrFrom>
                <a:srgbClr val="FFFFFF"/>
              </a:clrFrom>
              <a:clrTo>
                <a:srgbClr val="FFFFFF">
                  <a:alpha val="0"/>
                </a:srgbClr>
              </a:clrTo>
            </a:clrChange>
            <a:lum bright="-48000"/>
          </a:blip>
          <a:srcRect/>
          <a:stretch>
            <a:fillRect/>
          </a:stretch>
        </p:blipFill>
        <p:spPr bwMode="auto">
          <a:xfrm>
            <a:off x="8159750" y="1687513"/>
            <a:ext cx="238125" cy="328612"/>
          </a:xfrm>
          <a:prstGeom prst="rect">
            <a:avLst/>
          </a:prstGeom>
          <a:noFill/>
          <a:ln w="9525">
            <a:noFill/>
            <a:miter lim="800000"/>
            <a:headEnd/>
            <a:tailEnd/>
          </a:ln>
        </p:spPr>
      </p:pic>
      <p:sp>
        <p:nvSpPr>
          <p:cNvPr id="121908" name="Line 52"/>
          <p:cNvSpPr>
            <a:spLocks noChangeShapeType="1"/>
          </p:cNvSpPr>
          <p:nvPr/>
        </p:nvSpPr>
        <p:spPr bwMode="auto">
          <a:xfrm flipV="1">
            <a:off x="6800850" y="533400"/>
            <a:ext cx="0" cy="1262063"/>
          </a:xfrm>
          <a:prstGeom prst="line">
            <a:avLst/>
          </a:prstGeom>
          <a:noFill/>
          <a:ln w="28575">
            <a:solidFill>
              <a:schemeClr val="bg1"/>
            </a:solidFill>
            <a:round/>
            <a:headEnd/>
            <a:tailEnd type="triangle" w="sm" len="lg"/>
          </a:ln>
        </p:spPr>
        <p:txBody>
          <a:bodyPr wrap="none" anchor="ctr"/>
          <a:lstStyle/>
          <a:p>
            <a:endParaRPr lang="zh-CN" altLang="en-US"/>
          </a:p>
        </p:txBody>
      </p:sp>
      <p:sp>
        <p:nvSpPr>
          <p:cNvPr id="121909" name="Line 53"/>
          <p:cNvSpPr>
            <a:spLocks noChangeShapeType="1"/>
          </p:cNvSpPr>
          <p:nvPr/>
        </p:nvSpPr>
        <p:spPr bwMode="auto">
          <a:xfrm>
            <a:off x="6965950" y="1852613"/>
            <a:ext cx="0" cy="849312"/>
          </a:xfrm>
          <a:prstGeom prst="line">
            <a:avLst/>
          </a:prstGeom>
          <a:noFill/>
          <a:ln w="28575">
            <a:solidFill>
              <a:schemeClr val="bg1"/>
            </a:solidFill>
            <a:round/>
            <a:headEnd/>
            <a:tailEnd type="triangle" w="sm" len="lg"/>
          </a:ln>
        </p:spPr>
        <p:txBody>
          <a:bodyPr wrap="none" anchor="ctr"/>
          <a:lstStyle/>
          <a:p>
            <a:endParaRPr lang="zh-CN" altLang="en-US"/>
          </a:p>
        </p:txBody>
      </p:sp>
      <p:sp>
        <p:nvSpPr>
          <p:cNvPr id="121910" name="Line 54"/>
          <p:cNvSpPr>
            <a:spLocks noChangeShapeType="1"/>
          </p:cNvSpPr>
          <p:nvPr/>
        </p:nvSpPr>
        <p:spPr bwMode="auto">
          <a:xfrm>
            <a:off x="7146925" y="1858963"/>
            <a:ext cx="0" cy="598487"/>
          </a:xfrm>
          <a:prstGeom prst="line">
            <a:avLst/>
          </a:prstGeom>
          <a:noFill/>
          <a:ln w="28575">
            <a:solidFill>
              <a:schemeClr val="tx1"/>
            </a:solidFill>
            <a:round/>
            <a:headEnd/>
            <a:tailEnd type="triangle" w="sm" len="lg"/>
          </a:ln>
        </p:spPr>
        <p:txBody>
          <a:bodyPr wrap="none" anchor="ctr"/>
          <a:lstStyle/>
          <a:p>
            <a:endParaRPr lang="zh-CN" altLang="en-US"/>
          </a:p>
        </p:txBody>
      </p:sp>
      <p:sp>
        <p:nvSpPr>
          <p:cNvPr id="121911" name="Line 55"/>
          <p:cNvSpPr>
            <a:spLocks noChangeShapeType="1"/>
          </p:cNvSpPr>
          <p:nvPr/>
        </p:nvSpPr>
        <p:spPr bwMode="auto">
          <a:xfrm>
            <a:off x="6927850" y="1700213"/>
            <a:ext cx="293688" cy="0"/>
          </a:xfrm>
          <a:prstGeom prst="line">
            <a:avLst/>
          </a:prstGeom>
          <a:noFill/>
          <a:ln w="28575">
            <a:solidFill>
              <a:srgbClr val="0000FF"/>
            </a:solidFill>
            <a:round/>
            <a:headEnd/>
            <a:tailEnd type="triangle" w="med" len="med"/>
          </a:ln>
        </p:spPr>
        <p:txBody>
          <a:bodyPr wrap="none" anchor="ctr"/>
          <a:lstStyle/>
          <a:p>
            <a:endParaRPr lang="zh-CN" altLang="en-US"/>
          </a:p>
        </p:txBody>
      </p:sp>
      <p:sp>
        <p:nvSpPr>
          <p:cNvPr id="121912" name="Rectangle 56"/>
          <p:cNvSpPr>
            <a:spLocks noChangeArrowheads="1"/>
          </p:cNvSpPr>
          <p:nvPr/>
        </p:nvSpPr>
        <p:spPr bwMode="auto">
          <a:xfrm>
            <a:off x="8013700" y="1271588"/>
            <a:ext cx="950913" cy="396875"/>
          </a:xfrm>
          <a:prstGeom prst="rect">
            <a:avLst/>
          </a:prstGeom>
          <a:noFill/>
          <a:ln w="9525">
            <a:noFill/>
            <a:miter lim="800000"/>
            <a:headEnd/>
            <a:tailEnd/>
          </a:ln>
        </p:spPr>
        <p:txBody>
          <a:bodyPr wrap="none">
            <a:spAutoFit/>
          </a:bodyPr>
          <a:lstStyle/>
          <a:p>
            <a:r>
              <a:rPr lang="zh-CN" altLang="en-US" sz="2000" b="1">
                <a:solidFill>
                  <a:schemeClr val="bg1"/>
                </a:solidFill>
                <a:ea typeface="楷体_GB2312" pitchFamily="49" charset="-122"/>
              </a:rPr>
              <a:t>观察者</a:t>
            </a:r>
          </a:p>
        </p:txBody>
      </p:sp>
      <p:sp>
        <p:nvSpPr>
          <p:cNvPr id="121913" name="Line 57"/>
          <p:cNvSpPr>
            <a:spLocks noChangeShapeType="1"/>
          </p:cNvSpPr>
          <p:nvPr/>
        </p:nvSpPr>
        <p:spPr bwMode="auto">
          <a:xfrm>
            <a:off x="5218113" y="4941888"/>
            <a:ext cx="431800" cy="0"/>
          </a:xfrm>
          <a:prstGeom prst="line">
            <a:avLst/>
          </a:prstGeom>
          <a:noFill/>
          <a:ln w="28575">
            <a:solidFill>
              <a:srgbClr val="008000"/>
            </a:solidFill>
            <a:round/>
            <a:headEnd/>
            <a:tailEnd type="triangle" w="sm" len="lg"/>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1859"/>
                                        </p:tgtEl>
                                        <p:attrNameLst>
                                          <p:attrName>style.visibility</p:attrName>
                                        </p:attrNameLst>
                                      </p:cBhvr>
                                      <p:to>
                                        <p:strVal val="visible"/>
                                      </p:to>
                                    </p:set>
                                    <p:animEffect transition="in" filter="wipe(left)">
                                      <p:cBhvr>
                                        <p:cTn id="7" dur="500"/>
                                        <p:tgtEl>
                                          <p:spTgt spid="121859"/>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121900"/>
                                        </p:tgtEl>
                                        <p:attrNameLst>
                                          <p:attrName>style.visibility</p:attrName>
                                        </p:attrNameLst>
                                      </p:cBhvr>
                                      <p:to>
                                        <p:strVal val="visible"/>
                                      </p:to>
                                    </p:set>
                                    <p:anim calcmode="lin" valueType="num">
                                      <p:cBhvr>
                                        <p:cTn id="12" dur="500" fill="hold"/>
                                        <p:tgtEl>
                                          <p:spTgt spid="121900"/>
                                        </p:tgtEl>
                                        <p:attrNameLst>
                                          <p:attrName>ppt_w</p:attrName>
                                        </p:attrNameLst>
                                      </p:cBhvr>
                                      <p:tavLst>
                                        <p:tav tm="0">
                                          <p:val>
                                            <p:fltVal val="0"/>
                                          </p:val>
                                        </p:tav>
                                        <p:tav tm="100000">
                                          <p:val>
                                            <p:strVal val="#ppt_w"/>
                                          </p:val>
                                        </p:tav>
                                      </p:tavLst>
                                    </p:anim>
                                    <p:anim calcmode="lin" valueType="num">
                                      <p:cBhvr>
                                        <p:cTn id="13" dur="500" fill="hold"/>
                                        <p:tgtEl>
                                          <p:spTgt spid="121900"/>
                                        </p:tgtEl>
                                        <p:attrNameLst>
                                          <p:attrName>ppt_h</p:attrName>
                                        </p:attrNameLst>
                                      </p:cBhvr>
                                      <p:tavLst>
                                        <p:tav tm="0">
                                          <p:val>
                                            <p:fltVal val="0"/>
                                          </p:val>
                                        </p:tav>
                                        <p:tav tm="100000">
                                          <p:val>
                                            <p:strVal val="#ppt_h"/>
                                          </p:val>
                                        </p:tav>
                                      </p:tavLst>
                                    </p:anim>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121902"/>
                                        </p:tgtEl>
                                        <p:attrNameLst>
                                          <p:attrName>style.visibility</p:attrName>
                                        </p:attrNameLst>
                                      </p:cBhvr>
                                      <p:to>
                                        <p:strVal val="visible"/>
                                      </p:to>
                                    </p:set>
                                    <p:animEffect transition="in" filter="wipe(left)">
                                      <p:cBhvr>
                                        <p:cTn id="17" dur="500"/>
                                        <p:tgtEl>
                                          <p:spTgt spid="121902"/>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121911"/>
                                        </p:tgtEl>
                                        <p:attrNameLst>
                                          <p:attrName>style.visibility</p:attrName>
                                        </p:attrNameLst>
                                      </p:cBhvr>
                                      <p:to>
                                        <p:strVal val="visible"/>
                                      </p:to>
                                    </p:set>
                                    <p:animEffect transition="in" filter="wipe(left)">
                                      <p:cBhvr>
                                        <p:cTn id="21" dur="500"/>
                                        <p:tgtEl>
                                          <p:spTgt spid="121911"/>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121903"/>
                                        </p:tgtEl>
                                        <p:attrNameLst>
                                          <p:attrName>style.visibility</p:attrName>
                                        </p:attrNameLst>
                                      </p:cBhvr>
                                      <p:to>
                                        <p:strVal val="visible"/>
                                      </p:to>
                                    </p:set>
                                    <p:animEffect transition="in" filter="wipe(left)">
                                      <p:cBhvr>
                                        <p:cTn id="25" dur="500"/>
                                        <p:tgtEl>
                                          <p:spTgt spid="12190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21907"/>
                                        </p:tgtEl>
                                        <p:attrNameLst>
                                          <p:attrName>style.visibility</p:attrName>
                                        </p:attrNameLst>
                                      </p:cBhvr>
                                      <p:to>
                                        <p:strVal val="visible"/>
                                      </p:to>
                                    </p:set>
                                    <p:animEffect transition="in" filter="wipe(left)">
                                      <p:cBhvr>
                                        <p:cTn id="30" dur="500"/>
                                        <p:tgtEl>
                                          <p:spTgt spid="12190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1912"/>
                                        </p:tgtEl>
                                        <p:attrNameLst>
                                          <p:attrName>style.visibility</p:attrName>
                                        </p:attrNameLst>
                                      </p:cBhvr>
                                      <p:to>
                                        <p:strVal val="visible"/>
                                      </p:to>
                                    </p:set>
                                    <p:animEffect transition="in" filter="wipe(left)">
                                      <p:cBhvr>
                                        <p:cTn id="35" dur="500"/>
                                        <p:tgtEl>
                                          <p:spTgt spid="121912"/>
                                        </p:tgtEl>
                                      </p:cBhvr>
                                    </p:animEffect>
                                  </p:childTnLst>
                                </p:cTn>
                              </p:par>
                            </p:childTnLst>
                          </p:cTn>
                        </p:par>
                        <p:par>
                          <p:cTn id="36" fill="hold">
                            <p:stCondLst>
                              <p:cond delay="500"/>
                            </p:stCondLst>
                            <p:childTnLst>
                              <p:par>
                                <p:cTn id="37" presetID="23" presetClass="entr" presetSubtype="16" fill="hold" grpId="0" nodeType="afterEffect">
                                  <p:stCondLst>
                                    <p:cond delay="0"/>
                                  </p:stCondLst>
                                  <p:childTnLst>
                                    <p:set>
                                      <p:cBhvr>
                                        <p:cTn id="38" dur="1" fill="hold">
                                          <p:stCondLst>
                                            <p:cond delay="0"/>
                                          </p:stCondLst>
                                        </p:cTn>
                                        <p:tgtEl>
                                          <p:spTgt spid="121896"/>
                                        </p:tgtEl>
                                        <p:attrNameLst>
                                          <p:attrName>style.visibility</p:attrName>
                                        </p:attrNameLst>
                                      </p:cBhvr>
                                      <p:to>
                                        <p:strVal val="visible"/>
                                      </p:to>
                                    </p:set>
                                    <p:anim calcmode="lin" valueType="num">
                                      <p:cBhvr>
                                        <p:cTn id="39" dur="500" fill="hold"/>
                                        <p:tgtEl>
                                          <p:spTgt spid="121896"/>
                                        </p:tgtEl>
                                        <p:attrNameLst>
                                          <p:attrName>ppt_w</p:attrName>
                                        </p:attrNameLst>
                                      </p:cBhvr>
                                      <p:tavLst>
                                        <p:tav tm="0">
                                          <p:val>
                                            <p:fltVal val="0"/>
                                          </p:val>
                                        </p:tav>
                                        <p:tav tm="100000">
                                          <p:val>
                                            <p:strVal val="#ppt_w"/>
                                          </p:val>
                                        </p:tav>
                                      </p:tavLst>
                                    </p:anim>
                                    <p:anim calcmode="lin" valueType="num">
                                      <p:cBhvr>
                                        <p:cTn id="40" dur="500" fill="hold"/>
                                        <p:tgtEl>
                                          <p:spTgt spid="121896"/>
                                        </p:tgtEl>
                                        <p:attrNameLst>
                                          <p:attrName>ppt_h</p:attrName>
                                        </p:attrNameLst>
                                      </p:cBhvr>
                                      <p:tavLst>
                                        <p:tav tm="0">
                                          <p:val>
                                            <p:fltVal val="0"/>
                                          </p:val>
                                        </p:tav>
                                        <p:tav tm="100000">
                                          <p:val>
                                            <p:strVal val="#ppt_h"/>
                                          </p:val>
                                        </p:tav>
                                      </p:tavLst>
                                    </p:anim>
                                  </p:childTnLst>
                                </p:cTn>
                              </p:par>
                            </p:childTnLst>
                          </p:cTn>
                        </p:par>
                        <p:par>
                          <p:cTn id="41" fill="hold">
                            <p:stCondLst>
                              <p:cond delay="1000"/>
                            </p:stCondLst>
                            <p:childTnLst>
                              <p:par>
                                <p:cTn id="42" presetID="22" presetClass="entr" presetSubtype="4" fill="hold" grpId="0" nodeType="afterEffect">
                                  <p:stCondLst>
                                    <p:cond delay="0"/>
                                  </p:stCondLst>
                                  <p:childTnLst>
                                    <p:set>
                                      <p:cBhvr>
                                        <p:cTn id="43" dur="1" fill="hold">
                                          <p:stCondLst>
                                            <p:cond delay="0"/>
                                          </p:stCondLst>
                                        </p:cTn>
                                        <p:tgtEl>
                                          <p:spTgt spid="121908"/>
                                        </p:tgtEl>
                                        <p:attrNameLst>
                                          <p:attrName>style.visibility</p:attrName>
                                        </p:attrNameLst>
                                      </p:cBhvr>
                                      <p:to>
                                        <p:strVal val="visible"/>
                                      </p:to>
                                    </p:set>
                                    <p:animEffect transition="in" filter="wipe(down)">
                                      <p:cBhvr>
                                        <p:cTn id="44" dur="500"/>
                                        <p:tgtEl>
                                          <p:spTgt spid="121908"/>
                                        </p:tgtEl>
                                      </p:cBhvr>
                                    </p:animEffect>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grpId="0" nodeType="clickEffect">
                                  <p:stCondLst>
                                    <p:cond delay="0"/>
                                  </p:stCondLst>
                                  <p:childTnLst>
                                    <p:set>
                                      <p:cBhvr>
                                        <p:cTn id="48" dur="1" fill="hold">
                                          <p:stCondLst>
                                            <p:cond delay="0"/>
                                          </p:stCondLst>
                                        </p:cTn>
                                        <p:tgtEl>
                                          <p:spTgt spid="121901"/>
                                        </p:tgtEl>
                                        <p:attrNameLst>
                                          <p:attrName>style.visibility</p:attrName>
                                        </p:attrNameLst>
                                      </p:cBhvr>
                                      <p:to>
                                        <p:strVal val="visible"/>
                                      </p:to>
                                    </p:set>
                                    <p:anim calcmode="lin" valueType="num">
                                      <p:cBhvr>
                                        <p:cTn id="49" dur="500" fill="hold"/>
                                        <p:tgtEl>
                                          <p:spTgt spid="121901"/>
                                        </p:tgtEl>
                                        <p:attrNameLst>
                                          <p:attrName>ppt_w</p:attrName>
                                        </p:attrNameLst>
                                      </p:cBhvr>
                                      <p:tavLst>
                                        <p:tav tm="0">
                                          <p:val>
                                            <p:fltVal val="0"/>
                                          </p:val>
                                        </p:tav>
                                        <p:tav tm="100000">
                                          <p:val>
                                            <p:strVal val="#ppt_w"/>
                                          </p:val>
                                        </p:tav>
                                      </p:tavLst>
                                    </p:anim>
                                    <p:anim calcmode="lin" valueType="num">
                                      <p:cBhvr>
                                        <p:cTn id="50" dur="500" fill="hold"/>
                                        <p:tgtEl>
                                          <p:spTgt spid="121901"/>
                                        </p:tgtEl>
                                        <p:attrNameLst>
                                          <p:attrName>ppt_h</p:attrName>
                                        </p:attrNameLst>
                                      </p:cBhvr>
                                      <p:tavLst>
                                        <p:tav tm="0">
                                          <p:val>
                                            <p:fltVal val="0"/>
                                          </p:val>
                                        </p:tav>
                                        <p:tav tm="100000">
                                          <p:val>
                                            <p:strVal val="#ppt_h"/>
                                          </p:val>
                                        </p:tav>
                                      </p:tavLst>
                                    </p:anim>
                                  </p:childTnLst>
                                </p:cTn>
                              </p:par>
                            </p:childTnLst>
                          </p:cTn>
                        </p:par>
                        <p:par>
                          <p:cTn id="51" fill="hold">
                            <p:stCondLst>
                              <p:cond delay="500"/>
                            </p:stCondLst>
                            <p:childTnLst>
                              <p:par>
                                <p:cTn id="52" presetID="22" presetClass="entr" presetSubtype="1" fill="hold" grpId="0" nodeType="afterEffect">
                                  <p:stCondLst>
                                    <p:cond delay="0"/>
                                  </p:stCondLst>
                                  <p:childTnLst>
                                    <p:set>
                                      <p:cBhvr>
                                        <p:cTn id="53" dur="1" fill="hold">
                                          <p:stCondLst>
                                            <p:cond delay="0"/>
                                          </p:stCondLst>
                                        </p:cTn>
                                        <p:tgtEl>
                                          <p:spTgt spid="121909"/>
                                        </p:tgtEl>
                                        <p:attrNameLst>
                                          <p:attrName>style.visibility</p:attrName>
                                        </p:attrNameLst>
                                      </p:cBhvr>
                                      <p:to>
                                        <p:strVal val="visible"/>
                                      </p:to>
                                    </p:set>
                                    <p:animEffect transition="in" filter="wipe(up)">
                                      <p:cBhvr>
                                        <p:cTn id="54" dur="500"/>
                                        <p:tgtEl>
                                          <p:spTgt spid="121909"/>
                                        </p:tgtEl>
                                      </p:cBhvr>
                                    </p:animEffect>
                                  </p:childTnLst>
                                </p:cTn>
                              </p:par>
                            </p:childTnLst>
                          </p:cTn>
                        </p:par>
                        <p:par>
                          <p:cTn id="55" fill="hold">
                            <p:stCondLst>
                              <p:cond delay="1000"/>
                            </p:stCondLst>
                            <p:childTnLst>
                              <p:par>
                                <p:cTn id="56" presetID="23" presetClass="entr" presetSubtype="16" fill="hold" grpId="0" nodeType="afterEffect">
                                  <p:stCondLst>
                                    <p:cond delay="0"/>
                                  </p:stCondLst>
                                  <p:childTnLst>
                                    <p:set>
                                      <p:cBhvr>
                                        <p:cTn id="57" dur="1" fill="hold">
                                          <p:stCondLst>
                                            <p:cond delay="0"/>
                                          </p:stCondLst>
                                        </p:cTn>
                                        <p:tgtEl>
                                          <p:spTgt spid="121897"/>
                                        </p:tgtEl>
                                        <p:attrNameLst>
                                          <p:attrName>style.visibility</p:attrName>
                                        </p:attrNameLst>
                                      </p:cBhvr>
                                      <p:to>
                                        <p:strVal val="visible"/>
                                      </p:to>
                                    </p:set>
                                    <p:anim calcmode="lin" valueType="num">
                                      <p:cBhvr>
                                        <p:cTn id="58" dur="500" fill="hold"/>
                                        <p:tgtEl>
                                          <p:spTgt spid="121897"/>
                                        </p:tgtEl>
                                        <p:attrNameLst>
                                          <p:attrName>ppt_w</p:attrName>
                                        </p:attrNameLst>
                                      </p:cBhvr>
                                      <p:tavLst>
                                        <p:tav tm="0">
                                          <p:val>
                                            <p:fltVal val="0"/>
                                          </p:val>
                                        </p:tav>
                                        <p:tav tm="100000">
                                          <p:val>
                                            <p:strVal val="#ppt_w"/>
                                          </p:val>
                                        </p:tav>
                                      </p:tavLst>
                                    </p:anim>
                                    <p:anim calcmode="lin" valueType="num">
                                      <p:cBhvr>
                                        <p:cTn id="59" dur="500" fill="hold"/>
                                        <p:tgtEl>
                                          <p:spTgt spid="121897"/>
                                        </p:tgtEl>
                                        <p:attrNameLst>
                                          <p:attrName>ppt_h</p:attrName>
                                        </p:attrNameLst>
                                      </p:cBhvr>
                                      <p:tavLst>
                                        <p:tav tm="0">
                                          <p:val>
                                            <p:fltVal val="0"/>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62" presetID="23" presetClass="entr" presetSubtype="16" fill="hold" grpId="0" nodeType="clickEffect">
                                  <p:stCondLst>
                                    <p:cond delay="0"/>
                                  </p:stCondLst>
                                  <p:childTnLst>
                                    <p:set>
                                      <p:cBhvr>
                                        <p:cTn id="63" dur="1" fill="hold">
                                          <p:stCondLst>
                                            <p:cond delay="0"/>
                                          </p:stCondLst>
                                        </p:cTn>
                                        <p:tgtEl>
                                          <p:spTgt spid="121899"/>
                                        </p:tgtEl>
                                        <p:attrNameLst>
                                          <p:attrName>style.visibility</p:attrName>
                                        </p:attrNameLst>
                                      </p:cBhvr>
                                      <p:to>
                                        <p:strVal val="visible"/>
                                      </p:to>
                                    </p:set>
                                    <p:anim calcmode="lin" valueType="num">
                                      <p:cBhvr>
                                        <p:cTn id="64" dur="500" fill="hold"/>
                                        <p:tgtEl>
                                          <p:spTgt spid="121899"/>
                                        </p:tgtEl>
                                        <p:attrNameLst>
                                          <p:attrName>ppt_w</p:attrName>
                                        </p:attrNameLst>
                                      </p:cBhvr>
                                      <p:tavLst>
                                        <p:tav tm="0">
                                          <p:val>
                                            <p:fltVal val="0"/>
                                          </p:val>
                                        </p:tav>
                                        <p:tav tm="100000">
                                          <p:val>
                                            <p:strVal val="#ppt_w"/>
                                          </p:val>
                                        </p:tav>
                                      </p:tavLst>
                                    </p:anim>
                                    <p:anim calcmode="lin" valueType="num">
                                      <p:cBhvr>
                                        <p:cTn id="65" dur="500" fill="hold"/>
                                        <p:tgtEl>
                                          <p:spTgt spid="121899"/>
                                        </p:tgtEl>
                                        <p:attrNameLst>
                                          <p:attrName>ppt_h</p:attrName>
                                        </p:attrNameLst>
                                      </p:cBhvr>
                                      <p:tavLst>
                                        <p:tav tm="0">
                                          <p:val>
                                            <p:fltVal val="0"/>
                                          </p:val>
                                        </p:tav>
                                        <p:tav tm="100000">
                                          <p:val>
                                            <p:strVal val="#ppt_h"/>
                                          </p:val>
                                        </p:tav>
                                      </p:tavLst>
                                    </p:anim>
                                  </p:childTnLst>
                                </p:cTn>
                              </p:par>
                            </p:childTnLst>
                          </p:cTn>
                        </p:par>
                        <p:par>
                          <p:cTn id="66" fill="hold">
                            <p:stCondLst>
                              <p:cond delay="500"/>
                            </p:stCondLst>
                            <p:childTnLst>
                              <p:par>
                                <p:cTn id="67" presetID="22" presetClass="entr" presetSubtype="1" fill="hold" grpId="0" nodeType="afterEffect">
                                  <p:stCondLst>
                                    <p:cond delay="0"/>
                                  </p:stCondLst>
                                  <p:childTnLst>
                                    <p:set>
                                      <p:cBhvr>
                                        <p:cTn id="68" dur="1" fill="hold">
                                          <p:stCondLst>
                                            <p:cond delay="0"/>
                                          </p:stCondLst>
                                        </p:cTn>
                                        <p:tgtEl>
                                          <p:spTgt spid="121910"/>
                                        </p:tgtEl>
                                        <p:attrNameLst>
                                          <p:attrName>style.visibility</p:attrName>
                                        </p:attrNameLst>
                                      </p:cBhvr>
                                      <p:to>
                                        <p:strVal val="visible"/>
                                      </p:to>
                                    </p:set>
                                    <p:animEffect transition="in" filter="wipe(up)">
                                      <p:cBhvr>
                                        <p:cTn id="69" dur="500"/>
                                        <p:tgtEl>
                                          <p:spTgt spid="121910"/>
                                        </p:tgtEl>
                                      </p:cBhvr>
                                    </p:animEffect>
                                  </p:childTnLst>
                                </p:cTn>
                              </p:par>
                            </p:childTnLst>
                          </p:cTn>
                        </p:par>
                        <p:par>
                          <p:cTn id="70" fill="hold">
                            <p:stCondLst>
                              <p:cond delay="1000"/>
                            </p:stCondLst>
                            <p:childTnLst>
                              <p:par>
                                <p:cTn id="71" presetID="23" presetClass="entr" presetSubtype="16" fill="hold" grpId="0" nodeType="afterEffect">
                                  <p:stCondLst>
                                    <p:cond delay="0"/>
                                  </p:stCondLst>
                                  <p:childTnLst>
                                    <p:set>
                                      <p:cBhvr>
                                        <p:cTn id="72" dur="1" fill="hold">
                                          <p:stCondLst>
                                            <p:cond delay="0"/>
                                          </p:stCondLst>
                                        </p:cTn>
                                        <p:tgtEl>
                                          <p:spTgt spid="121898"/>
                                        </p:tgtEl>
                                        <p:attrNameLst>
                                          <p:attrName>style.visibility</p:attrName>
                                        </p:attrNameLst>
                                      </p:cBhvr>
                                      <p:to>
                                        <p:strVal val="visible"/>
                                      </p:to>
                                    </p:set>
                                    <p:anim calcmode="lin" valueType="num">
                                      <p:cBhvr>
                                        <p:cTn id="73" dur="500" fill="hold"/>
                                        <p:tgtEl>
                                          <p:spTgt spid="121898"/>
                                        </p:tgtEl>
                                        <p:attrNameLst>
                                          <p:attrName>ppt_w</p:attrName>
                                        </p:attrNameLst>
                                      </p:cBhvr>
                                      <p:tavLst>
                                        <p:tav tm="0">
                                          <p:val>
                                            <p:fltVal val="0"/>
                                          </p:val>
                                        </p:tav>
                                        <p:tav tm="100000">
                                          <p:val>
                                            <p:strVal val="#ppt_w"/>
                                          </p:val>
                                        </p:tav>
                                      </p:tavLst>
                                    </p:anim>
                                    <p:anim calcmode="lin" valueType="num">
                                      <p:cBhvr>
                                        <p:cTn id="74" dur="500" fill="hold"/>
                                        <p:tgtEl>
                                          <p:spTgt spid="121898"/>
                                        </p:tgtEl>
                                        <p:attrNameLst>
                                          <p:attrName>ppt_h</p:attrName>
                                        </p:attrNameLst>
                                      </p:cBhvr>
                                      <p:tavLst>
                                        <p:tav tm="0">
                                          <p:val>
                                            <p:fltVal val="0"/>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21904"/>
                                        </p:tgtEl>
                                        <p:attrNameLst>
                                          <p:attrName>style.visibility</p:attrName>
                                        </p:attrNameLst>
                                      </p:cBhvr>
                                      <p:to>
                                        <p:strVal val="visible"/>
                                      </p:to>
                                    </p:set>
                                    <p:animEffect transition="in" filter="wipe(left)">
                                      <p:cBhvr>
                                        <p:cTn id="79" dur="500"/>
                                        <p:tgtEl>
                                          <p:spTgt spid="121904"/>
                                        </p:tgtEl>
                                      </p:cBhvr>
                                    </p:animEffect>
                                  </p:childTnLst>
                                </p:cTn>
                              </p:par>
                            </p:childTnLst>
                          </p:cTn>
                        </p:par>
                        <p:par>
                          <p:cTn id="80" fill="hold">
                            <p:stCondLst>
                              <p:cond delay="500"/>
                            </p:stCondLst>
                            <p:childTnLst>
                              <p:par>
                                <p:cTn id="81" presetID="22" presetClass="entr" presetSubtype="2" fill="hold" grpId="0" nodeType="afterEffect">
                                  <p:stCondLst>
                                    <p:cond delay="0"/>
                                  </p:stCondLst>
                                  <p:childTnLst>
                                    <p:set>
                                      <p:cBhvr>
                                        <p:cTn id="82" dur="1" fill="hold">
                                          <p:stCondLst>
                                            <p:cond delay="0"/>
                                          </p:stCondLst>
                                        </p:cTn>
                                        <p:tgtEl>
                                          <p:spTgt spid="121905"/>
                                        </p:tgtEl>
                                        <p:attrNameLst>
                                          <p:attrName>style.visibility</p:attrName>
                                        </p:attrNameLst>
                                      </p:cBhvr>
                                      <p:to>
                                        <p:strVal val="visible"/>
                                      </p:to>
                                    </p:set>
                                    <p:animEffect transition="in" filter="wipe(right)">
                                      <p:cBhvr>
                                        <p:cTn id="83" dur="500"/>
                                        <p:tgtEl>
                                          <p:spTgt spid="121905"/>
                                        </p:tgtEl>
                                      </p:cBhvr>
                                    </p:animEffect>
                                  </p:childTnLst>
                                </p:cTn>
                              </p:par>
                            </p:childTnLst>
                          </p:cTn>
                        </p:par>
                        <p:par>
                          <p:cTn id="84" fill="hold">
                            <p:stCondLst>
                              <p:cond delay="1000"/>
                            </p:stCondLst>
                            <p:childTnLst>
                              <p:par>
                                <p:cTn id="85" presetID="22" presetClass="entr" presetSubtype="8" fill="hold" nodeType="afterEffect">
                                  <p:stCondLst>
                                    <p:cond delay="0"/>
                                  </p:stCondLst>
                                  <p:childTnLst>
                                    <p:set>
                                      <p:cBhvr>
                                        <p:cTn id="86" dur="1" fill="hold">
                                          <p:stCondLst>
                                            <p:cond delay="0"/>
                                          </p:stCondLst>
                                        </p:cTn>
                                        <p:tgtEl>
                                          <p:spTgt spid="121906"/>
                                        </p:tgtEl>
                                        <p:attrNameLst>
                                          <p:attrName>style.visibility</p:attrName>
                                        </p:attrNameLst>
                                      </p:cBhvr>
                                      <p:to>
                                        <p:strVal val="visible"/>
                                      </p:to>
                                    </p:set>
                                    <p:animEffect transition="in" filter="wipe(left)">
                                      <p:cBhvr>
                                        <p:cTn id="87" dur="500"/>
                                        <p:tgtEl>
                                          <p:spTgt spid="121906"/>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499"/>
                                          </p:stCondLst>
                                        </p:cTn>
                                        <p:tgtEl>
                                          <p:spTgt spid="121891"/>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121913"/>
                                        </p:tgtEl>
                                        <p:attrNameLst>
                                          <p:attrName>style.visibility</p:attrName>
                                        </p:attrNameLst>
                                      </p:cBhvr>
                                      <p:to>
                                        <p:strVal val="visible"/>
                                      </p:to>
                                    </p:set>
                                    <p:animEffect transition="in" filter="wipe(left)">
                                      <p:cBhvr>
                                        <p:cTn id="96" dur="500"/>
                                        <p:tgtEl>
                                          <p:spTgt spid="121913"/>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121879"/>
                                        </p:tgtEl>
                                        <p:attrNameLst>
                                          <p:attrName>style.visibility</p:attrName>
                                        </p:attrNameLst>
                                      </p:cBhvr>
                                      <p:to>
                                        <p:strVal val="visible"/>
                                      </p:to>
                                    </p:set>
                                    <p:animEffect transition="in" filter="wipe(left)">
                                      <p:cBhvr>
                                        <p:cTn id="101" dur="500"/>
                                        <p:tgtEl>
                                          <p:spTgt spid="121879"/>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121895"/>
                                        </p:tgtEl>
                                        <p:attrNameLst>
                                          <p:attrName>style.visibility</p:attrName>
                                        </p:attrNameLst>
                                      </p:cBhvr>
                                      <p:to>
                                        <p:strVal val="visible"/>
                                      </p:to>
                                    </p:set>
                                    <p:animEffect transition="in" filter="wipe(left)">
                                      <p:cBhvr>
                                        <p:cTn id="106" dur="500"/>
                                        <p:tgtEl>
                                          <p:spTgt spid="121895"/>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1" fill="hold" grpId="0" nodeType="clickEffect">
                                  <p:stCondLst>
                                    <p:cond delay="0"/>
                                  </p:stCondLst>
                                  <p:childTnLst>
                                    <p:set>
                                      <p:cBhvr>
                                        <p:cTn id="110" dur="1" fill="hold">
                                          <p:stCondLst>
                                            <p:cond delay="0"/>
                                          </p:stCondLst>
                                        </p:cTn>
                                        <p:tgtEl>
                                          <p:spTgt spid="121881"/>
                                        </p:tgtEl>
                                        <p:attrNameLst>
                                          <p:attrName>style.visibility</p:attrName>
                                        </p:attrNameLst>
                                      </p:cBhvr>
                                      <p:to>
                                        <p:strVal val="visible"/>
                                      </p:to>
                                    </p:set>
                                    <p:animEffect transition="in" filter="wipe(up)">
                                      <p:cBhvr>
                                        <p:cTn id="111" dur="500"/>
                                        <p:tgtEl>
                                          <p:spTgt spid="121881"/>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1" fill="hold" grpId="0" nodeType="clickEffect">
                                  <p:stCondLst>
                                    <p:cond delay="0"/>
                                  </p:stCondLst>
                                  <p:childTnLst>
                                    <p:set>
                                      <p:cBhvr>
                                        <p:cTn id="115" dur="1" fill="hold">
                                          <p:stCondLst>
                                            <p:cond delay="0"/>
                                          </p:stCondLst>
                                        </p:cTn>
                                        <p:tgtEl>
                                          <p:spTgt spid="121880"/>
                                        </p:tgtEl>
                                        <p:attrNameLst>
                                          <p:attrName>style.visibility</p:attrName>
                                        </p:attrNameLst>
                                      </p:cBhvr>
                                      <p:to>
                                        <p:strVal val="visible"/>
                                      </p:to>
                                    </p:set>
                                    <p:animEffect transition="in" filter="wipe(up)">
                                      <p:cBhvr>
                                        <p:cTn id="116" dur="500"/>
                                        <p:tgtEl>
                                          <p:spTgt spid="121880"/>
                                        </p:tgtEl>
                                      </p:cBhvr>
                                    </p:animEffect>
                                  </p:childTnLst>
                                </p:cTn>
                              </p:par>
                            </p:childTnLst>
                          </p:cTn>
                        </p:par>
                      </p:childTnLst>
                    </p:cTn>
                  </p:par>
                  <p:par>
                    <p:cTn id="117" fill="hold">
                      <p:stCondLst>
                        <p:cond delay="indefinite"/>
                      </p:stCondLst>
                      <p:childTnLst>
                        <p:par>
                          <p:cTn id="118" fill="hold">
                            <p:stCondLst>
                              <p:cond delay="0"/>
                            </p:stCondLst>
                            <p:childTnLst>
                              <p:par>
                                <p:cTn id="119" presetID="16" presetClass="entr" presetSubtype="37" fill="hold" nodeType="clickEffect">
                                  <p:stCondLst>
                                    <p:cond delay="0"/>
                                  </p:stCondLst>
                                  <p:childTnLst>
                                    <p:set>
                                      <p:cBhvr>
                                        <p:cTn id="120" dur="1" fill="hold">
                                          <p:stCondLst>
                                            <p:cond delay="0"/>
                                          </p:stCondLst>
                                        </p:cTn>
                                        <p:tgtEl>
                                          <p:spTgt spid="3"/>
                                        </p:tgtEl>
                                        <p:attrNameLst>
                                          <p:attrName>style.visibility</p:attrName>
                                        </p:attrNameLst>
                                      </p:cBhvr>
                                      <p:to>
                                        <p:strVal val="visible"/>
                                      </p:to>
                                    </p:set>
                                    <p:animEffect transition="in" filter="barn(outVertical)">
                                      <p:cBhvr>
                                        <p:cTn id="121" dur="1000"/>
                                        <p:tgtEl>
                                          <p:spTgt spid="3"/>
                                        </p:tgtEl>
                                      </p:cBhvr>
                                    </p:animEffec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nodeType="clickEffect">
                                  <p:stCondLst>
                                    <p:cond delay="0"/>
                                  </p:stCondLst>
                                  <p:childTnLst>
                                    <p:set>
                                      <p:cBhvr>
                                        <p:cTn id="125" dur="1" fill="hold">
                                          <p:stCondLst>
                                            <p:cond delay="499"/>
                                          </p:stCondLst>
                                        </p:cTn>
                                        <p:tgtEl>
                                          <p:spTgt spid="121889"/>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121894"/>
                                        </p:tgtEl>
                                        <p:attrNameLst>
                                          <p:attrName>style.visibility</p:attrName>
                                        </p:attrNameLst>
                                      </p:cBhvr>
                                      <p:to>
                                        <p:strVal val="visible"/>
                                      </p:to>
                                    </p:set>
                                    <p:animEffect transition="in" filter="wipe(left)">
                                      <p:cBhvr>
                                        <p:cTn id="130" dur="500"/>
                                        <p:tgtEl>
                                          <p:spTgt spid="121894"/>
                                        </p:tgtEl>
                                      </p:cBhvr>
                                    </p:animEffec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499"/>
                                          </p:stCondLst>
                                        </p:cTn>
                                        <p:tgtEl>
                                          <p:spTgt spid="121893"/>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nodeType="clickEffect">
                                  <p:stCondLst>
                                    <p:cond delay="0"/>
                                  </p:stCondLst>
                                  <p:childTnLst>
                                    <p:set>
                                      <p:cBhvr>
                                        <p:cTn id="138" dur="1" fill="hold">
                                          <p:stCondLst>
                                            <p:cond delay="0"/>
                                          </p:stCondLst>
                                        </p:cTn>
                                        <p:tgtEl>
                                          <p:spTgt spid="121878"/>
                                        </p:tgtEl>
                                        <p:attrNameLst>
                                          <p:attrName>style.visibility</p:attrName>
                                        </p:attrNameLst>
                                      </p:cBhvr>
                                      <p:to>
                                        <p:strVal val="visible"/>
                                      </p:to>
                                    </p:set>
                                    <p:animEffect transition="in" filter="wipe(left)">
                                      <p:cBhvr>
                                        <p:cTn id="139" dur="500"/>
                                        <p:tgtEl>
                                          <p:spTgt spid="121878"/>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1" fill="hold" grpId="0" nodeType="clickEffect">
                                  <p:stCondLst>
                                    <p:cond delay="0"/>
                                  </p:stCondLst>
                                  <p:childTnLst>
                                    <p:set>
                                      <p:cBhvr>
                                        <p:cTn id="143" dur="1" fill="hold">
                                          <p:stCondLst>
                                            <p:cond delay="0"/>
                                          </p:stCondLst>
                                        </p:cTn>
                                        <p:tgtEl>
                                          <p:spTgt spid="121882"/>
                                        </p:tgtEl>
                                        <p:attrNameLst>
                                          <p:attrName>style.visibility</p:attrName>
                                        </p:attrNameLst>
                                      </p:cBhvr>
                                      <p:to>
                                        <p:strVal val="visible"/>
                                      </p:to>
                                    </p:set>
                                    <p:animEffect transition="in" filter="wipe(up)">
                                      <p:cBhvr>
                                        <p:cTn id="144" dur="500"/>
                                        <p:tgtEl>
                                          <p:spTgt spid="121882"/>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1" fill="hold" grpId="0" nodeType="clickEffect">
                                  <p:stCondLst>
                                    <p:cond delay="0"/>
                                  </p:stCondLst>
                                  <p:childTnLst>
                                    <p:set>
                                      <p:cBhvr>
                                        <p:cTn id="148" dur="1" fill="hold">
                                          <p:stCondLst>
                                            <p:cond delay="0"/>
                                          </p:stCondLst>
                                        </p:cTn>
                                        <p:tgtEl>
                                          <p:spTgt spid="121874"/>
                                        </p:tgtEl>
                                        <p:attrNameLst>
                                          <p:attrName>style.visibility</p:attrName>
                                        </p:attrNameLst>
                                      </p:cBhvr>
                                      <p:to>
                                        <p:strVal val="visible"/>
                                      </p:to>
                                    </p:set>
                                    <p:animEffect transition="in" filter="wipe(up)">
                                      <p:cBhvr>
                                        <p:cTn id="149" dur="500"/>
                                        <p:tgtEl>
                                          <p:spTgt spid="121874"/>
                                        </p:tgtEl>
                                      </p:cBhvr>
                                    </p:animEffect>
                                  </p:childTnLst>
                                </p:cTn>
                              </p:par>
                            </p:childTnLst>
                          </p:cTn>
                        </p:par>
                      </p:childTnLst>
                    </p:cTn>
                  </p:par>
                  <p:par>
                    <p:cTn id="150" fill="hold">
                      <p:stCondLst>
                        <p:cond delay="indefinite"/>
                      </p:stCondLst>
                      <p:childTnLst>
                        <p:par>
                          <p:cTn id="151" fill="hold">
                            <p:stCondLst>
                              <p:cond delay="0"/>
                            </p:stCondLst>
                            <p:childTnLst>
                              <p:par>
                                <p:cTn id="152" presetID="55" presetClass="entr" presetSubtype="0" fill="hold" grpId="0" nodeType="clickEffect">
                                  <p:stCondLst>
                                    <p:cond delay="0"/>
                                  </p:stCondLst>
                                  <p:childTnLst>
                                    <p:set>
                                      <p:cBhvr>
                                        <p:cTn id="153" dur="1" fill="hold">
                                          <p:stCondLst>
                                            <p:cond delay="0"/>
                                          </p:stCondLst>
                                        </p:cTn>
                                        <p:tgtEl>
                                          <p:spTgt spid="121875"/>
                                        </p:tgtEl>
                                        <p:attrNameLst>
                                          <p:attrName>style.visibility</p:attrName>
                                        </p:attrNameLst>
                                      </p:cBhvr>
                                      <p:to>
                                        <p:strVal val="visible"/>
                                      </p:to>
                                    </p:set>
                                    <p:anim calcmode="lin" valueType="num">
                                      <p:cBhvr>
                                        <p:cTn id="154" dur="1000" fill="hold"/>
                                        <p:tgtEl>
                                          <p:spTgt spid="121875"/>
                                        </p:tgtEl>
                                        <p:attrNameLst>
                                          <p:attrName>ppt_w</p:attrName>
                                        </p:attrNameLst>
                                      </p:cBhvr>
                                      <p:tavLst>
                                        <p:tav tm="0">
                                          <p:val>
                                            <p:strVal val="#ppt_w*0.70"/>
                                          </p:val>
                                        </p:tav>
                                        <p:tav tm="100000">
                                          <p:val>
                                            <p:strVal val="#ppt_w"/>
                                          </p:val>
                                        </p:tav>
                                      </p:tavLst>
                                    </p:anim>
                                    <p:anim calcmode="lin" valueType="num">
                                      <p:cBhvr>
                                        <p:cTn id="155" dur="1000" fill="hold"/>
                                        <p:tgtEl>
                                          <p:spTgt spid="121875"/>
                                        </p:tgtEl>
                                        <p:attrNameLst>
                                          <p:attrName>ppt_h</p:attrName>
                                        </p:attrNameLst>
                                      </p:cBhvr>
                                      <p:tavLst>
                                        <p:tav tm="0">
                                          <p:val>
                                            <p:strVal val="#ppt_h"/>
                                          </p:val>
                                        </p:tav>
                                        <p:tav tm="100000">
                                          <p:val>
                                            <p:strVal val="#ppt_h"/>
                                          </p:val>
                                        </p:tav>
                                      </p:tavLst>
                                    </p:anim>
                                    <p:animEffect transition="in" filter="fade">
                                      <p:cBhvr>
                                        <p:cTn id="156" dur="1000"/>
                                        <p:tgtEl>
                                          <p:spTgt spid="121875"/>
                                        </p:tgtEl>
                                      </p:cBhvr>
                                    </p:animEffec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121876"/>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22" presetClass="entr" presetSubtype="1" fill="hold" grpId="0" nodeType="clickEffect">
                                  <p:stCondLst>
                                    <p:cond delay="0"/>
                                  </p:stCondLst>
                                  <p:childTnLst>
                                    <p:set>
                                      <p:cBhvr>
                                        <p:cTn id="164" dur="1" fill="hold">
                                          <p:stCondLst>
                                            <p:cond delay="0"/>
                                          </p:stCondLst>
                                        </p:cTn>
                                        <p:tgtEl>
                                          <p:spTgt spid="121883"/>
                                        </p:tgtEl>
                                        <p:attrNameLst>
                                          <p:attrName>style.visibility</p:attrName>
                                        </p:attrNameLst>
                                      </p:cBhvr>
                                      <p:to>
                                        <p:strVal val="visible"/>
                                      </p:to>
                                    </p:set>
                                    <p:animEffect transition="in" filter="wipe(up)">
                                      <p:cBhvr>
                                        <p:cTn id="165" dur="500"/>
                                        <p:tgtEl>
                                          <p:spTgt spid="121883"/>
                                        </p:tgtEl>
                                      </p:cBhvr>
                                    </p:animEffect>
                                  </p:childTnLst>
                                </p:cTn>
                              </p:par>
                            </p:childTnLst>
                          </p:cTn>
                        </p:par>
                      </p:childTnLst>
                    </p:cTn>
                  </p:par>
                  <p:par>
                    <p:cTn id="166" fill="hold">
                      <p:stCondLst>
                        <p:cond delay="indefinite"/>
                      </p:stCondLst>
                      <p:childTnLst>
                        <p:par>
                          <p:cTn id="167" fill="hold">
                            <p:stCondLst>
                              <p:cond delay="0"/>
                            </p:stCondLst>
                            <p:childTnLst>
                              <p:par>
                                <p:cTn id="168" presetID="22" presetClass="entr" presetSubtype="2" fill="hold" grpId="0" nodeType="clickEffect">
                                  <p:stCondLst>
                                    <p:cond delay="0"/>
                                  </p:stCondLst>
                                  <p:childTnLst>
                                    <p:set>
                                      <p:cBhvr>
                                        <p:cTn id="169" dur="1" fill="hold">
                                          <p:stCondLst>
                                            <p:cond delay="0"/>
                                          </p:stCondLst>
                                        </p:cTn>
                                        <p:tgtEl>
                                          <p:spTgt spid="121887"/>
                                        </p:tgtEl>
                                        <p:attrNameLst>
                                          <p:attrName>style.visibility</p:attrName>
                                        </p:attrNameLst>
                                      </p:cBhvr>
                                      <p:to>
                                        <p:strVal val="visible"/>
                                      </p:to>
                                    </p:set>
                                    <p:animEffect transition="in" filter="wipe(right)">
                                      <p:cBhvr>
                                        <p:cTn id="170" dur="500"/>
                                        <p:tgtEl>
                                          <p:spTgt spid="121887"/>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grpId="0" nodeType="clickEffect">
                                  <p:stCondLst>
                                    <p:cond delay="0"/>
                                  </p:stCondLst>
                                  <p:childTnLst>
                                    <p:set>
                                      <p:cBhvr>
                                        <p:cTn id="174" dur="1" fill="hold">
                                          <p:stCondLst>
                                            <p:cond delay="0"/>
                                          </p:stCondLst>
                                        </p:cTn>
                                        <p:tgtEl>
                                          <p:spTgt spid="121888"/>
                                        </p:tgtEl>
                                        <p:attrNameLst>
                                          <p:attrName>style.visibility</p:attrName>
                                        </p:attrNameLst>
                                      </p:cBhvr>
                                      <p:to>
                                        <p:strVal val="visible"/>
                                      </p:to>
                                    </p:set>
                                    <p:animEffect transition="in" filter="wipe(left)">
                                      <p:cBhvr>
                                        <p:cTn id="175" dur="500"/>
                                        <p:tgtEl>
                                          <p:spTgt spid="121888"/>
                                        </p:tgtEl>
                                      </p:cBhvr>
                                    </p:animEffec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nodeType="clickEffect">
                                  <p:stCondLst>
                                    <p:cond delay="0"/>
                                  </p:stCondLst>
                                  <p:childTnLst>
                                    <p:set>
                                      <p:cBhvr>
                                        <p:cTn id="179" dur="1" fill="hold">
                                          <p:stCondLst>
                                            <p:cond delay="499"/>
                                          </p:stCondLst>
                                        </p:cTn>
                                        <p:tgtEl>
                                          <p:spTgt spid="121892"/>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2" presetClass="entr" presetSubtype="1" fill="hold" nodeType="clickEffect">
                                  <p:stCondLst>
                                    <p:cond delay="0"/>
                                  </p:stCondLst>
                                  <p:childTnLst>
                                    <p:set>
                                      <p:cBhvr>
                                        <p:cTn id="183" dur="1" fill="hold">
                                          <p:stCondLst>
                                            <p:cond delay="0"/>
                                          </p:stCondLst>
                                        </p:cTn>
                                        <p:tgtEl>
                                          <p:spTgt spid="2"/>
                                        </p:tgtEl>
                                        <p:attrNameLst>
                                          <p:attrName>style.visibility</p:attrName>
                                        </p:attrNameLst>
                                      </p:cBhvr>
                                      <p:to>
                                        <p:strVal val="visible"/>
                                      </p:to>
                                    </p:set>
                                    <p:animEffect transition="in" filter="slide(fromTop)">
                                      <p:cBhvr>
                                        <p:cTn id="184" dur="500"/>
                                        <p:tgtEl>
                                          <p:spTgt spid="2"/>
                                        </p:tgtEl>
                                      </p:cBhvr>
                                    </p:animEffec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nodeType="clickEffect">
                                  <p:stCondLst>
                                    <p:cond delay="0"/>
                                  </p:stCondLst>
                                  <p:childTnLst>
                                    <p:set>
                                      <p:cBhvr>
                                        <p:cTn id="188" dur="1" fill="hold">
                                          <p:stCondLst>
                                            <p:cond delay="499"/>
                                          </p:stCondLst>
                                        </p:cTn>
                                        <p:tgtEl>
                                          <p:spTgt spid="121872"/>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22" presetClass="entr" presetSubtype="8" fill="hold" grpId="0" nodeType="clickEffect">
                                  <p:stCondLst>
                                    <p:cond delay="0"/>
                                  </p:stCondLst>
                                  <p:childTnLst>
                                    <p:set>
                                      <p:cBhvr>
                                        <p:cTn id="192" dur="1" fill="hold">
                                          <p:stCondLst>
                                            <p:cond delay="0"/>
                                          </p:stCondLst>
                                        </p:cTn>
                                        <p:tgtEl>
                                          <p:spTgt spid="121860"/>
                                        </p:tgtEl>
                                        <p:attrNameLst>
                                          <p:attrName>style.visibility</p:attrName>
                                        </p:attrNameLst>
                                      </p:cBhvr>
                                      <p:to>
                                        <p:strVal val="visible"/>
                                      </p:to>
                                    </p:set>
                                    <p:animEffect transition="in" filter="wipe(left)">
                                      <p:cBhvr>
                                        <p:cTn id="193" dur="500"/>
                                        <p:tgtEl>
                                          <p:spTgt spid="121860"/>
                                        </p:tgtEl>
                                      </p:cBhvr>
                                    </p:animEffect>
                                  </p:childTnLst>
                                </p:cTn>
                              </p:par>
                            </p:childTnLst>
                          </p:cTn>
                        </p:par>
                      </p:childTnLst>
                    </p:cTn>
                  </p:par>
                  <p:par>
                    <p:cTn id="194" fill="hold">
                      <p:stCondLst>
                        <p:cond delay="indefinite"/>
                      </p:stCondLst>
                      <p:childTnLst>
                        <p:par>
                          <p:cTn id="195" fill="hold">
                            <p:stCondLst>
                              <p:cond delay="0"/>
                            </p:stCondLst>
                            <p:childTnLst>
                              <p:par>
                                <p:cTn id="196" presetID="22" presetClass="entr" presetSubtype="8" fill="hold" nodeType="clickEffect">
                                  <p:stCondLst>
                                    <p:cond delay="0"/>
                                  </p:stCondLst>
                                  <p:childTnLst>
                                    <p:set>
                                      <p:cBhvr>
                                        <p:cTn id="197" dur="1" fill="hold">
                                          <p:stCondLst>
                                            <p:cond delay="0"/>
                                          </p:stCondLst>
                                        </p:cTn>
                                        <p:tgtEl>
                                          <p:spTgt spid="121877"/>
                                        </p:tgtEl>
                                        <p:attrNameLst>
                                          <p:attrName>style.visibility</p:attrName>
                                        </p:attrNameLst>
                                      </p:cBhvr>
                                      <p:to>
                                        <p:strVal val="visible"/>
                                      </p:to>
                                    </p:set>
                                    <p:animEffect transition="in" filter="wipe(left)">
                                      <p:cBhvr>
                                        <p:cTn id="198" dur="500"/>
                                        <p:tgtEl>
                                          <p:spTgt spid="121877"/>
                                        </p:tgtEl>
                                      </p:cBhvr>
                                    </p:animEffect>
                                  </p:childTnLst>
                                </p:cTn>
                              </p:par>
                            </p:childTnLst>
                          </p:cTn>
                        </p:par>
                      </p:childTnLst>
                    </p:cTn>
                  </p:par>
                  <p:par>
                    <p:cTn id="199" fill="hold">
                      <p:stCondLst>
                        <p:cond delay="indefinite"/>
                      </p:stCondLst>
                      <p:childTnLst>
                        <p:par>
                          <p:cTn id="200" fill="hold">
                            <p:stCondLst>
                              <p:cond delay="0"/>
                            </p:stCondLst>
                            <p:childTnLst>
                              <p:par>
                                <p:cTn id="201" presetID="22" presetClass="entr" presetSubtype="8" fill="hold" nodeType="clickEffect">
                                  <p:stCondLst>
                                    <p:cond delay="0"/>
                                  </p:stCondLst>
                                  <p:childTnLst>
                                    <p:set>
                                      <p:cBhvr>
                                        <p:cTn id="202" dur="1" fill="hold">
                                          <p:stCondLst>
                                            <p:cond delay="0"/>
                                          </p:stCondLst>
                                        </p:cTn>
                                        <p:tgtEl>
                                          <p:spTgt spid="121858"/>
                                        </p:tgtEl>
                                        <p:attrNameLst>
                                          <p:attrName>style.visibility</p:attrName>
                                        </p:attrNameLst>
                                      </p:cBhvr>
                                      <p:to>
                                        <p:strVal val="visible"/>
                                      </p:to>
                                    </p:set>
                                    <p:animEffect transition="in" filter="wipe(left)">
                                      <p:cBhvr>
                                        <p:cTn id="203" dur="500"/>
                                        <p:tgtEl>
                                          <p:spTgt spid="121858"/>
                                        </p:tgtEl>
                                      </p:cBhvr>
                                    </p:animEffect>
                                  </p:childTnLst>
                                </p:cTn>
                              </p:par>
                            </p:childTnLst>
                          </p:cTn>
                        </p:par>
                      </p:childTnLst>
                    </p:cTn>
                  </p:par>
                  <p:par>
                    <p:cTn id="204" fill="hold">
                      <p:stCondLst>
                        <p:cond delay="indefinite"/>
                      </p:stCondLst>
                      <p:childTnLst>
                        <p:par>
                          <p:cTn id="205" fill="hold">
                            <p:stCondLst>
                              <p:cond delay="0"/>
                            </p:stCondLst>
                            <p:childTnLst>
                              <p:par>
                                <p:cTn id="206" presetID="22" presetClass="entr" presetSubtype="8" fill="hold" grpId="0" nodeType="clickEffect">
                                  <p:stCondLst>
                                    <p:cond delay="0"/>
                                  </p:stCondLst>
                                  <p:childTnLst>
                                    <p:set>
                                      <p:cBhvr>
                                        <p:cTn id="207" dur="1" fill="hold">
                                          <p:stCondLst>
                                            <p:cond delay="0"/>
                                          </p:stCondLst>
                                        </p:cTn>
                                        <p:tgtEl>
                                          <p:spTgt spid="121865"/>
                                        </p:tgtEl>
                                        <p:attrNameLst>
                                          <p:attrName>style.visibility</p:attrName>
                                        </p:attrNameLst>
                                      </p:cBhvr>
                                      <p:to>
                                        <p:strVal val="visible"/>
                                      </p:to>
                                    </p:set>
                                    <p:animEffect transition="in" filter="wipe(left)">
                                      <p:cBhvr>
                                        <p:cTn id="208" dur="500"/>
                                        <p:tgtEl>
                                          <p:spTgt spid="121865"/>
                                        </p:tgtEl>
                                      </p:cBhvr>
                                    </p:animEffect>
                                  </p:childTnLst>
                                </p:cTn>
                              </p:par>
                            </p:childTnLst>
                          </p:cTn>
                        </p:par>
                      </p:childTnLst>
                    </p:cTn>
                  </p:par>
                  <p:par>
                    <p:cTn id="209" fill="hold">
                      <p:stCondLst>
                        <p:cond delay="indefinite"/>
                      </p:stCondLst>
                      <p:childTnLst>
                        <p:par>
                          <p:cTn id="210" fill="hold">
                            <p:stCondLst>
                              <p:cond delay="0"/>
                            </p:stCondLst>
                            <p:childTnLst>
                              <p:par>
                                <p:cTn id="211" presetID="22" presetClass="entr" presetSubtype="8" fill="hold" nodeType="clickEffect">
                                  <p:stCondLst>
                                    <p:cond delay="0"/>
                                  </p:stCondLst>
                                  <p:childTnLst>
                                    <p:set>
                                      <p:cBhvr>
                                        <p:cTn id="212" dur="1" fill="hold">
                                          <p:stCondLst>
                                            <p:cond delay="0"/>
                                          </p:stCondLst>
                                        </p:cTn>
                                        <p:tgtEl>
                                          <p:spTgt spid="121866"/>
                                        </p:tgtEl>
                                        <p:attrNameLst>
                                          <p:attrName>style.visibility</p:attrName>
                                        </p:attrNameLst>
                                      </p:cBhvr>
                                      <p:to>
                                        <p:strVal val="visible"/>
                                      </p:to>
                                    </p:set>
                                    <p:animEffect transition="in" filter="wipe(left)">
                                      <p:cBhvr>
                                        <p:cTn id="213" dur="500"/>
                                        <p:tgtEl>
                                          <p:spTgt spid="121866"/>
                                        </p:tgtEl>
                                      </p:cBhvr>
                                    </p:animEffect>
                                  </p:childTnLst>
                                </p:cTn>
                              </p:par>
                            </p:childTnLst>
                          </p:cTn>
                        </p:par>
                      </p:childTnLst>
                    </p:cTn>
                  </p:par>
                  <p:par>
                    <p:cTn id="214" fill="hold">
                      <p:stCondLst>
                        <p:cond delay="indefinite"/>
                      </p:stCondLst>
                      <p:childTnLst>
                        <p:par>
                          <p:cTn id="215" fill="hold">
                            <p:stCondLst>
                              <p:cond delay="0"/>
                            </p:stCondLst>
                            <p:childTnLst>
                              <p:par>
                                <p:cTn id="216" presetID="22" presetClass="entr" presetSubtype="8" fill="hold" grpId="0" nodeType="clickEffect">
                                  <p:stCondLst>
                                    <p:cond delay="0"/>
                                  </p:stCondLst>
                                  <p:childTnLst>
                                    <p:set>
                                      <p:cBhvr>
                                        <p:cTn id="217" dur="1" fill="hold">
                                          <p:stCondLst>
                                            <p:cond delay="0"/>
                                          </p:stCondLst>
                                        </p:cTn>
                                        <p:tgtEl>
                                          <p:spTgt spid="121863"/>
                                        </p:tgtEl>
                                        <p:attrNameLst>
                                          <p:attrName>style.visibility</p:attrName>
                                        </p:attrNameLst>
                                      </p:cBhvr>
                                      <p:to>
                                        <p:strVal val="visible"/>
                                      </p:to>
                                    </p:set>
                                    <p:animEffect transition="in" filter="wipe(left)">
                                      <p:cBhvr>
                                        <p:cTn id="218" dur="500"/>
                                        <p:tgtEl>
                                          <p:spTgt spid="121863"/>
                                        </p:tgtEl>
                                      </p:cBhvr>
                                    </p:animEffect>
                                  </p:childTnLst>
                                </p:cTn>
                              </p:par>
                            </p:childTnLst>
                          </p:cTn>
                        </p:par>
                      </p:childTnLst>
                    </p:cTn>
                  </p:par>
                  <p:par>
                    <p:cTn id="219" fill="hold">
                      <p:stCondLst>
                        <p:cond delay="indefinite"/>
                      </p:stCondLst>
                      <p:childTnLst>
                        <p:par>
                          <p:cTn id="220" fill="hold">
                            <p:stCondLst>
                              <p:cond delay="0"/>
                            </p:stCondLst>
                            <p:childTnLst>
                              <p:par>
                                <p:cTn id="221" presetID="22" presetClass="entr" presetSubtype="8" fill="hold" nodeType="clickEffect">
                                  <p:stCondLst>
                                    <p:cond delay="0"/>
                                  </p:stCondLst>
                                  <p:childTnLst>
                                    <p:set>
                                      <p:cBhvr>
                                        <p:cTn id="222" dur="1" fill="hold">
                                          <p:stCondLst>
                                            <p:cond delay="0"/>
                                          </p:stCondLst>
                                        </p:cTn>
                                        <p:tgtEl>
                                          <p:spTgt spid="121864"/>
                                        </p:tgtEl>
                                        <p:attrNameLst>
                                          <p:attrName>style.visibility</p:attrName>
                                        </p:attrNameLst>
                                      </p:cBhvr>
                                      <p:to>
                                        <p:strVal val="visible"/>
                                      </p:to>
                                    </p:set>
                                    <p:animEffect transition="in" filter="wipe(left)">
                                      <p:cBhvr>
                                        <p:cTn id="223" dur="500"/>
                                        <p:tgtEl>
                                          <p:spTgt spid="121864"/>
                                        </p:tgtEl>
                                      </p:cBhvr>
                                    </p:animEffect>
                                  </p:childTnLst>
                                </p:cTn>
                              </p:par>
                            </p:childTnLst>
                          </p:cTn>
                        </p:par>
                      </p:childTnLst>
                    </p:cTn>
                  </p:par>
                  <p:par>
                    <p:cTn id="224" fill="hold">
                      <p:stCondLst>
                        <p:cond delay="indefinite"/>
                      </p:stCondLst>
                      <p:childTnLst>
                        <p:par>
                          <p:cTn id="225" fill="hold">
                            <p:stCondLst>
                              <p:cond delay="0"/>
                            </p:stCondLst>
                            <p:childTnLst>
                              <p:par>
                                <p:cTn id="226" presetID="22" presetClass="entr" presetSubtype="8" fill="hold" grpId="0" nodeType="clickEffect">
                                  <p:stCondLst>
                                    <p:cond delay="0"/>
                                  </p:stCondLst>
                                  <p:childTnLst>
                                    <p:set>
                                      <p:cBhvr>
                                        <p:cTn id="227" dur="1" fill="hold">
                                          <p:stCondLst>
                                            <p:cond delay="0"/>
                                          </p:stCondLst>
                                        </p:cTn>
                                        <p:tgtEl>
                                          <p:spTgt spid="121862"/>
                                        </p:tgtEl>
                                        <p:attrNameLst>
                                          <p:attrName>style.visibility</p:attrName>
                                        </p:attrNameLst>
                                      </p:cBhvr>
                                      <p:to>
                                        <p:strVal val="visible"/>
                                      </p:to>
                                    </p:set>
                                    <p:animEffect transition="in" filter="wipe(left)">
                                      <p:cBhvr>
                                        <p:cTn id="228" dur="500"/>
                                        <p:tgtEl>
                                          <p:spTgt spid="121862"/>
                                        </p:tgtEl>
                                      </p:cBhvr>
                                    </p:animEffect>
                                  </p:childTnLst>
                                </p:cTn>
                              </p:par>
                            </p:childTnLst>
                          </p:cTn>
                        </p:par>
                      </p:childTnLst>
                    </p:cTn>
                  </p:par>
                  <p:par>
                    <p:cTn id="229" fill="hold">
                      <p:stCondLst>
                        <p:cond delay="indefinite"/>
                      </p:stCondLst>
                      <p:childTnLst>
                        <p:par>
                          <p:cTn id="230" fill="hold">
                            <p:stCondLst>
                              <p:cond delay="0"/>
                            </p:stCondLst>
                            <p:childTnLst>
                              <p:par>
                                <p:cTn id="231" presetID="22" presetClass="entr" presetSubtype="8" fill="hold" nodeType="clickEffect">
                                  <p:stCondLst>
                                    <p:cond delay="0"/>
                                  </p:stCondLst>
                                  <p:childTnLst>
                                    <p:set>
                                      <p:cBhvr>
                                        <p:cTn id="232" dur="1" fill="hold">
                                          <p:stCondLst>
                                            <p:cond delay="0"/>
                                          </p:stCondLst>
                                        </p:cTn>
                                        <p:tgtEl>
                                          <p:spTgt spid="121861"/>
                                        </p:tgtEl>
                                        <p:attrNameLst>
                                          <p:attrName>style.visibility</p:attrName>
                                        </p:attrNameLst>
                                      </p:cBhvr>
                                      <p:to>
                                        <p:strVal val="visible"/>
                                      </p:to>
                                    </p:set>
                                    <p:animEffect transition="in" filter="wipe(left)">
                                      <p:cBhvr>
                                        <p:cTn id="233" dur="500"/>
                                        <p:tgtEl>
                                          <p:spTgt spid="121861"/>
                                        </p:tgtEl>
                                      </p:cBhvr>
                                    </p:animEffect>
                                  </p:childTnLst>
                                </p:cTn>
                              </p:par>
                            </p:childTnLst>
                          </p:cTn>
                        </p:par>
                      </p:childTnLst>
                    </p:cTn>
                  </p:par>
                  <p:par>
                    <p:cTn id="234" fill="hold">
                      <p:stCondLst>
                        <p:cond delay="indefinite"/>
                      </p:stCondLst>
                      <p:childTnLst>
                        <p:par>
                          <p:cTn id="235" fill="hold">
                            <p:stCondLst>
                              <p:cond delay="0"/>
                            </p:stCondLst>
                            <p:childTnLst>
                              <p:par>
                                <p:cTn id="236" presetID="22" presetClass="entr" presetSubtype="8" fill="hold" grpId="0" nodeType="clickEffect">
                                  <p:stCondLst>
                                    <p:cond delay="0"/>
                                  </p:stCondLst>
                                  <p:childTnLst>
                                    <p:set>
                                      <p:cBhvr>
                                        <p:cTn id="237" dur="1" fill="hold">
                                          <p:stCondLst>
                                            <p:cond delay="0"/>
                                          </p:stCondLst>
                                        </p:cTn>
                                        <p:tgtEl>
                                          <p:spTgt spid="121867"/>
                                        </p:tgtEl>
                                        <p:attrNameLst>
                                          <p:attrName>style.visibility</p:attrName>
                                        </p:attrNameLst>
                                      </p:cBhvr>
                                      <p:to>
                                        <p:strVal val="visible"/>
                                      </p:to>
                                    </p:set>
                                    <p:animEffect transition="in" filter="wipe(left)">
                                      <p:cBhvr>
                                        <p:cTn id="238" dur="500"/>
                                        <p:tgtEl>
                                          <p:spTgt spid="1218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autoUpdateAnimBg="0"/>
      <p:bldP spid="121860" grpId="0" autoUpdateAnimBg="0"/>
      <p:bldP spid="121862" grpId="0" autoUpdateAnimBg="0"/>
      <p:bldP spid="121863" grpId="0" autoUpdateAnimBg="0"/>
      <p:bldP spid="121865" grpId="0" autoUpdateAnimBg="0"/>
      <p:bldP spid="121867" grpId="0" autoUpdateAnimBg="0"/>
      <p:bldP spid="121874" grpId="0" animBg="1"/>
      <p:bldP spid="121875" grpId="0" animBg="1"/>
      <p:bldP spid="121879" grpId="0" animBg="1"/>
      <p:bldP spid="121880" grpId="0" animBg="1"/>
      <p:bldP spid="121881" grpId="0" animBg="1"/>
      <p:bldP spid="121882" grpId="0" animBg="1"/>
      <p:bldP spid="121883" grpId="0" animBg="1"/>
      <p:bldP spid="121887" grpId="0" animBg="1"/>
      <p:bldP spid="121888" grpId="0" animBg="1"/>
      <p:bldP spid="121893" grpId="0" autoUpdateAnimBg="0"/>
      <p:bldP spid="121894" grpId="0" animBg="1"/>
      <p:bldP spid="121896" grpId="0" animBg="1"/>
      <p:bldP spid="121897" grpId="0" animBg="1"/>
      <p:bldP spid="121898" grpId="0" animBg="1"/>
      <p:bldP spid="121899" grpId="0" animBg="1"/>
      <p:bldP spid="121900" grpId="0" animBg="1"/>
      <p:bldP spid="121901" grpId="0" animBg="1"/>
      <p:bldP spid="121904" grpId="0" animBg="1"/>
      <p:bldP spid="121905" grpId="0" animBg="1"/>
      <p:bldP spid="121908" grpId="0" animBg="1"/>
      <p:bldP spid="121909" grpId="0" animBg="1"/>
      <p:bldP spid="121910" grpId="0" animBg="1"/>
      <p:bldP spid="121911" grpId="0" animBg="1"/>
      <p:bldP spid="121912" grpId="0" autoUpdateAnimBg="0"/>
      <p:bldP spid="12191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ChangeArrowheads="1"/>
          </p:cNvSpPr>
          <p:nvPr/>
        </p:nvSpPr>
        <p:spPr bwMode="auto">
          <a:xfrm>
            <a:off x="304800" y="5867400"/>
            <a:ext cx="8305800" cy="457200"/>
          </a:xfrm>
          <a:prstGeom prst="rect">
            <a:avLst/>
          </a:prstGeom>
          <a:noFill/>
          <a:ln w="9525">
            <a:noFill/>
            <a:miter lim="800000"/>
            <a:headEnd/>
            <a:tailEnd/>
          </a:ln>
        </p:spPr>
        <p:txBody>
          <a:bodyPr>
            <a:spAutoFit/>
          </a:bodyPr>
          <a:lstStyle/>
          <a:p>
            <a:pPr algn="ctr">
              <a:spcBef>
                <a:spcPct val="30000"/>
              </a:spcBef>
            </a:pPr>
            <a:r>
              <a:rPr lang="en-US" altLang="zh-CN" b="1">
                <a:ea typeface="仿宋_GB2312" pitchFamily="49" charset="-122"/>
              </a:rPr>
              <a:t>(4) </a:t>
            </a:r>
            <a:r>
              <a:rPr lang="zh-CN" altLang="en-US" b="1">
                <a:latin typeface="楷体_GB2312" pitchFamily="49" charset="-122"/>
                <a:ea typeface="楷体_GB2312" pitchFamily="49" charset="-122"/>
              </a:rPr>
              <a:t>应用</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监测车辆行驶速度、测量血液流速、跟踪卫星等。</a:t>
            </a:r>
          </a:p>
        </p:txBody>
      </p:sp>
      <p:sp>
        <p:nvSpPr>
          <p:cNvPr id="122883" name="Rectangle 3"/>
          <p:cNvSpPr>
            <a:spLocks noChangeArrowheads="1"/>
          </p:cNvSpPr>
          <p:nvPr/>
        </p:nvSpPr>
        <p:spPr bwMode="auto">
          <a:xfrm>
            <a:off x="304800" y="1981200"/>
            <a:ext cx="539750" cy="457200"/>
          </a:xfrm>
          <a:prstGeom prst="rect">
            <a:avLst/>
          </a:prstGeom>
          <a:noFill/>
          <a:ln w="9525">
            <a:noFill/>
            <a:miter lim="800000"/>
            <a:headEnd/>
            <a:tailEnd/>
          </a:ln>
        </p:spPr>
        <p:txBody>
          <a:bodyPr wrap="none">
            <a:spAutoFit/>
          </a:bodyPr>
          <a:lstStyle/>
          <a:p>
            <a:pPr algn="ctr"/>
            <a:r>
              <a:rPr lang="en-US" altLang="zh-CN" b="1">
                <a:ea typeface="仿宋_GB2312" pitchFamily="49" charset="-122"/>
              </a:rPr>
              <a:t>(2)</a:t>
            </a:r>
          </a:p>
        </p:txBody>
      </p:sp>
      <p:graphicFrame>
        <p:nvGraphicFramePr>
          <p:cNvPr id="122884" name="Object 4"/>
          <p:cNvGraphicFramePr>
            <a:graphicFrameLocks noChangeAspect="1"/>
          </p:cNvGraphicFramePr>
          <p:nvPr/>
        </p:nvGraphicFramePr>
        <p:xfrm>
          <a:off x="2590800" y="2439988"/>
          <a:ext cx="1057275" cy="711200"/>
        </p:xfrm>
        <a:graphic>
          <a:graphicData uri="http://schemas.openxmlformats.org/presentationml/2006/ole">
            <p:oleObj spid="_x0000_s50178" name="Equation" r:id="rId3" imgW="660240" imgH="444240" progId="Equation.3">
              <p:embed/>
            </p:oleObj>
          </a:graphicData>
        </a:graphic>
      </p:graphicFrame>
      <p:sp>
        <p:nvSpPr>
          <p:cNvPr id="122885" name="Rectangle 5"/>
          <p:cNvSpPr>
            <a:spLocks noChangeArrowheads="1"/>
          </p:cNvSpPr>
          <p:nvPr/>
        </p:nvSpPr>
        <p:spPr bwMode="auto">
          <a:xfrm>
            <a:off x="304800" y="1047750"/>
            <a:ext cx="8137525" cy="933450"/>
          </a:xfrm>
          <a:prstGeom prst="rect">
            <a:avLst/>
          </a:prstGeom>
          <a:noFill/>
          <a:ln w="9525">
            <a:noFill/>
            <a:miter lim="800000"/>
            <a:headEnd/>
            <a:tailEnd/>
          </a:ln>
        </p:spPr>
        <p:txBody>
          <a:bodyPr>
            <a:spAutoFit/>
          </a:bodyPr>
          <a:lstStyle/>
          <a:p>
            <a:pPr marL="444500" indent="-444500">
              <a:lnSpc>
                <a:spcPct val="115000"/>
              </a:lnSpc>
            </a:pPr>
            <a:r>
              <a:rPr lang="en-US" altLang="zh-CN" b="1">
                <a:ea typeface="仿宋_GB2312" pitchFamily="49" charset="-122"/>
              </a:rPr>
              <a:t>(1) </a:t>
            </a:r>
            <a:r>
              <a:rPr lang="zh-CN" altLang="en-US" b="1">
                <a:latin typeface="楷体_GB2312" pitchFamily="49" charset="-122"/>
                <a:ea typeface="楷体_GB2312" pitchFamily="49" charset="-122"/>
              </a:rPr>
              <a:t>当波源或观察者在二者联线</a:t>
            </a:r>
            <a:r>
              <a:rPr lang="zh-CN" altLang="en-US" b="1">
                <a:solidFill>
                  <a:srgbClr val="FF6600"/>
                </a:solidFill>
                <a:latin typeface="楷体_GB2312" pitchFamily="49" charset="-122"/>
                <a:ea typeface="楷体_GB2312" pitchFamily="49" charset="-122"/>
              </a:rPr>
              <a:t>垂直方向上</a:t>
            </a:r>
            <a:r>
              <a:rPr lang="zh-CN" altLang="en-US" b="1">
                <a:latin typeface="楷体_GB2312" pitchFamily="49" charset="-122"/>
                <a:ea typeface="楷体_GB2312" pitchFamily="49" charset="-122"/>
              </a:rPr>
              <a:t>运动时，</a:t>
            </a:r>
            <a:r>
              <a:rPr lang="zh-CN" altLang="en-US" b="1">
                <a:solidFill>
                  <a:srgbClr val="FF6600"/>
                </a:solidFill>
                <a:latin typeface="楷体_GB2312" pitchFamily="49" charset="-122"/>
                <a:ea typeface="楷体_GB2312" pitchFamily="49" charset="-122"/>
              </a:rPr>
              <a:t>无多普勒效应。</a:t>
            </a:r>
          </a:p>
        </p:txBody>
      </p:sp>
      <p:sp>
        <p:nvSpPr>
          <p:cNvPr id="122886" name="Rectangle 6"/>
          <p:cNvSpPr>
            <a:spLocks noChangeArrowheads="1"/>
          </p:cNvSpPr>
          <p:nvPr/>
        </p:nvSpPr>
        <p:spPr bwMode="auto">
          <a:xfrm>
            <a:off x="360363" y="3124200"/>
            <a:ext cx="3373437" cy="457200"/>
          </a:xfrm>
          <a:prstGeom prst="rect">
            <a:avLst/>
          </a:prstGeom>
          <a:noFill/>
          <a:ln w="9525">
            <a:noFill/>
            <a:miter lim="800000"/>
            <a:headEnd/>
            <a:tailEnd/>
          </a:ln>
        </p:spPr>
        <p:txBody>
          <a:bodyPr wrap="none">
            <a:spAutoFit/>
          </a:bodyPr>
          <a:lstStyle/>
          <a:p>
            <a:pPr algn="ctr">
              <a:spcBef>
                <a:spcPct val="30000"/>
              </a:spcBef>
            </a:pPr>
            <a:r>
              <a:rPr lang="en-US" altLang="zh-CN" b="1">
                <a:ea typeface="仿宋_GB2312" pitchFamily="49" charset="-122"/>
              </a:rPr>
              <a:t>(3) </a:t>
            </a:r>
            <a:r>
              <a:rPr lang="zh-CN" altLang="en-US" b="1">
                <a:latin typeface="楷体_GB2312" pitchFamily="49" charset="-122"/>
                <a:ea typeface="楷体_GB2312" pitchFamily="49" charset="-122"/>
              </a:rPr>
              <a:t>电磁波的多普勒效应</a:t>
            </a:r>
          </a:p>
        </p:txBody>
      </p:sp>
      <p:graphicFrame>
        <p:nvGraphicFramePr>
          <p:cNvPr id="122887" name="Object 7"/>
          <p:cNvGraphicFramePr>
            <a:graphicFrameLocks noChangeAspect="1"/>
          </p:cNvGraphicFramePr>
          <p:nvPr/>
        </p:nvGraphicFramePr>
        <p:xfrm>
          <a:off x="952500" y="3657600"/>
          <a:ext cx="2476500" cy="1014413"/>
        </p:xfrm>
        <a:graphic>
          <a:graphicData uri="http://schemas.openxmlformats.org/presentationml/2006/ole">
            <p:oleObj spid="_x0000_s50179" name="Equation" r:id="rId4" imgW="1536480" imgH="634680" progId="Equation.3">
              <p:embed/>
            </p:oleObj>
          </a:graphicData>
        </a:graphic>
      </p:graphicFrame>
      <p:graphicFrame>
        <p:nvGraphicFramePr>
          <p:cNvPr id="122888" name="Object 8"/>
          <p:cNvGraphicFramePr>
            <a:graphicFrameLocks noChangeAspect="1"/>
          </p:cNvGraphicFramePr>
          <p:nvPr/>
        </p:nvGraphicFramePr>
        <p:xfrm>
          <a:off x="1219200" y="4800600"/>
          <a:ext cx="2105025" cy="1009650"/>
        </p:xfrm>
        <a:graphic>
          <a:graphicData uri="http://schemas.openxmlformats.org/presentationml/2006/ole">
            <p:oleObj spid="_x0000_s50180" name="Equation" r:id="rId5" imgW="1333440" imgH="634680" progId="Equation.3">
              <p:embed/>
            </p:oleObj>
          </a:graphicData>
        </a:graphic>
      </p:graphicFrame>
      <p:sp>
        <p:nvSpPr>
          <p:cNvPr id="122889" name="Text Box 9"/>
          <p:cNvSpPr txBox="1">
            <a:spLocks noChangeArrowheads="1"/>
          </p:cNvSpPr>
          <p:nvPr/>
        </p:nvSpPr>
        <p:spPr bwMode="auto">
          <a:xfrm>
            <a:off x="4191000" y="5257800"/>
            <a:ext cx="4953000" cy="457200"/>
          </a:xfrm>
          <a:prstGeom prst="rect">
            <a:avLst/>
          </a:prstGeom>
          <a:noFill/>
          <a:ln w="9525">
            <a:noFill/>
            <a:miter lim="800000"/>
            <a:headEnd/>
            <a:tailEnd/>
          </a:ln>
        </p:spPr>
        <p:txBody>
          <a:bodyPr>
            <a:spAutoFit/>
          </a:bodyPr>
          <a:lstStyle/>
          <a:p>
            <a:pPr algn="ctr">
              <a:spcBef>
                <a:spcPct val="50000"/>
              </a:spcBef>
            </a:pPr>
            <a:r>
              <a:rPr lang="en-US" altLang="zh-CN" b="1" i="1">
                <a:latin typeface="Bookman Old Style" pitchFamily="18" charset="0"/>
                <a:sym typeface="Symbol" pitchFamily="18" charset="2"/>
              </a:rPr>
              <a:t>v </a:t>
            </a:r>
            <a:r>
              <a:rPr lang="zh-CN" altLang="en-US" b="1">
                <a:latin typeface="楷体_GB2312" pitchFamily="49" charset="-122"/>
                <a:ea typeface="楷体_GB2312" pitchFamily="49" charset="-122"/>
              </a:rPr>
              <a:t>为光源和接收器的相对速度</a:t>
            </a:r>
          </a:p>
        </p:txBody>
      </p:sp>
      <p:sp>
        <p:nvSpPr>
          <p:cNvPr id="122890" name="Text Box 10"/>
          <p:cNvSpPr txBox="1">
            <a:spLocks noChangeArrowheads="1"/>
          </p:cNvSpPr>
          <p:nvPr/>
        </p:nvSpPr>
        <p:spPr bwMode="auto">
          <a:xfrm>
            <a:off x="609600" y="533400"/>
            <a:ext cx="1062038" cy="457200"/>
          </a:xfrm>
          <a:prstGeom prst="rect">
            <a:avLst/>
          </a:prstGeom>
          <a:noFill/>
          <a:ln w="9525">
            <a:noFill/>
            <a:miter lim="800000"/>
            <a:headEnd/>
            <a:tailEnd/>
          </a:ln>
        </p:spPr>
        <p:txBody>
          <a:bodyPr>
            <a:spAutoFit/>
          </a:bodyPr>
          <a:lstStyle/>
          <a:p>
            <a:r>
              <a:rPr lang="zh-CN" altLang="en-US" b="1">
                <a:solidFill>
                  <a:srgbClr val="0000FF"/>
                </a:solidFill>
                <a:latin typeface="宋体" pitchFamily="2" charset="-122"/>
              </a:rPr>
              <a:t>讨论</a:t>
            </a:r>
          </a:p>
        </p:txBody>
      </p:sp>
      <p:sp>
        <p:nvSpPr>
          <p:cNvPr id="122891" name="Text Box 11"/>
          <p:cNvSpPr txBox="1">
            <a:spLocks noChangeArrowheads="1"/>
          </p:cNvSpPr>
          <p:nvPr/>
        </p:nvSpPr>
        <p:spPr bwMode="auto">
          <a:xfrm>
            <a:off x="1524000" y="1925638"/>
            <a:ext cx="6858000" cy="512762"/>
          </a:xfrm>
          <a:prstGeom prst="rect">
            <a:avLst/>
          </a:prstGeom>
          <a:noFill/>
          <a:ln w="9525">
            <a:noFill/>
            <a:miter lim="800000"/>
            <a:headEnd/>
            <a:tailEnd/>
          </a:ln>
        </p:spPr>
        <p:txBody>
          <a:bodyPr>
            <a:spAutoFit/>
          </a:bodyPr>
          <a:lstStyle/>
          <a:p>
            <a:pPr eaLnBrk="0" hangingPunct="0">
              <a:lnSpc>
                <a:spcPct val="115000"/>
              </a:lnSpc>
            </a:pPr>
            <a:r>
              <a:rPr lang="zh-CN" altLang="en-US" b="1">
                <a:latin typeface="楷体_GB2312" pitchFamily="49" charset="-122"/>
                <a:ea typeface="楷体_GB2312" pitchFamily="49" charset="-122"/>
              </a:rPr>
              <a:t>时，</a:t>
            </a:r>
            <a:r>
              <a:rPr lang="zh-CN" altLang="en-US" b="1">
                <a:latin typeface="仿宋_GB2312" pitchFamily="49" charset="-122"/>
                <a:ea typeface="楷体_GB2312" pitchFamily="49" charset="-122"/>
              </a:rPr>
              <a:t>多普勒效应</a:t>
            </a:r>
            <a:r>
              <a:rPr lang="zh-CN" altLang="en-US" b="1">
                <a:latin typeface="楷体_GB2312" pitchFamily="49" charset="-122"/>
                <a:ea typeface="楷体_GB2312" pitchFamily="49" charset="-122"/>
              </a:rPr>
              <a:t>失去意义，此时形成冲击波。</a:t>
            </a:r>
          </a:p>
        </p:txBody>
      </p:sp>
      <p:sp>
        <p:nvSpPr>
          <p:cNvPr id="122892" name="Rectangle 12"/>
          <p:cNvSpPr>
            <a:spLocks noChangeArrowheads="1"/>
          </p:cNvSpPr>
          <p:nvPr/>
        </p:nvSpPr>
        <p:spPr bwMode="auto">
          <a:xfrm>
            <a:off x="1335088" y="2514600"/>
            <a:ext cx="1103312" cy="457200"/>
          </a:xfrm>
          <a:prstGeom prst="rect">
            <a:avLst/>
          </a:prstGeom>
          <a:noFill/>
          <a:ln w="9525">
            <a:noFill/>
            <a:miter lim="800000"/>
            <a:headEnd/>
            <a:tailEnd/>
          </a:ln>
        </p:spPr>
        <p:txBody>
          <a:bodyPr wrap="none">
            <a:spAutoFit/>
          </a:bodyPr>
          <a:lstStyle/>
          <a:p>
            <a:r>
              <a:rPr lang="zh-CN" altLang="en-US" b="1">
                <a:solidFill>
                  <a:srgbClr val="FF6600"/>
                </a:solidFill>
                <a:latin typeface="楷体_GB2312" pitchFamily="49" charset="-122"/>
                <a:ea typeface="楷体_GB2312" pitchFamily="49" charset="-122"/>
              </a:rPr>
              <a:t>马赫角</a:t>
            </a:r>
          </a:p>
        </p:txBody>
      </p:sp>
      <p:sp>
        <p:nvSpPr>
          <p:cNvPr id="122893" name="Line 13"/>
          <p:cNvSpPr>
            <a:spLocks noChangeShapeType="1"/>
          </p:cNvSpPr>
          <p:nvPr/>
        </p:nvSpPr>
        <p:spPr bwMode="auto">
          <a:xfrm>
            <a:off x="5029200" y="2432050"/>
            <a:ext cx="3295650" cy="1290638"/>
          </a:xfrm>
          <a:prstGeom prst="line">
            <a:avLst/>
          </a:prstGeom>
          <a:noFill/>
          <a:ln w="38100">
            <a:solidFill>
              <a:srgbClr val="FF6600"/>
            </a:solidFill>
            <a:round/>
            <a:headEnd/>
            <a:tailEnd/>
          </a:ln>
        </p:spPr>
        <p:txBody>
          <a:bodyPr/>
          <a:lstStyle/>
          <a:p>
            <a:endParaRPr lang="zh-CN" altLang="en-US"/>
          </a:p>
        </p:txBody>
      </p:sp>
      <p:sp>
        <p:nvSpPr>
          <p:cNvPr id="50200" name="Line 14"/>
          <p:cNvSpPr>
            <a:spLocks noChangeShapeType="1"/>
          </p:cNvSpPr>
          <p:nvPr/>
        </p:nvSpPr>
        <p:spPr bwMode="auto">
          <a:xfrm>
            <a:off x="4667250" y="4637088"/>
            <a:ext cx="0" cy="0"/>
          </a:xfrm>
          <a:prstGeom prst="line">
            <a:avLst/>
          </a:prstGeom>
          <a:noFill/>
          <a:ln w="38100">
            <a:solidFill>
              <a:srgbClr val="FFFF00"/>
            </a:solidFill>
            <a:round/>
            <a:headEnd/>
            <a:tailEnd/>
          </a:ln>
        </p:spPr>
        <p:txBody>
          <a:bodyPr/>
          <a:lstStyle/>
          <a:p>
            <a:endParaRPr lang="zh-CN" altLang="en-US"/>
          </a:p>
        </p:txBody>
      </p:sp>
      <p:sp>
        <p:nvSpPr>
          <p:cNvPr id="122895" name="Line 15"/>
          <p:cNvSpPr>
            <a:spLocks noChangeShapeType="1"/>
          </p:cNvSpPr>
          <p:nvPr/>
        </p:nvSpPr>
        <p:spPr bwMode="auto">
          <a:xfrm flipH="1">
            <a:off x="5062538" y="3716338"/>
            <a:ext cx="3254375" cy="1296987"/>
          </a:xfrm>
          <a:prstGeom prst="line">
            <a:avLst/>
          </a:prstGeom>
          <a:noFill/>
          <a:ln w="38100">
            <a:solidFill>
              <a:srgbClr val="FF6600"/>
            </a:solidFill>
            <a:round/>
            <a:headEnd/>
            <a:tailEnd/>
          </a:ln>
        </p:spPr>
        <p:txBody>
          <a:bodyPr/>
          <a:lstStyle/>
          <a:p>
            <a:endParaRPr lang="zh-CN" altLang="en-US"/>
          </a:p>
        </p:txBody>
      </p:sp>
      <p:graphicFrame>
        <p:nvGraphicFramePr>
          <p:cNvPr id="122896" name="Object 16"/>
          <p:cNvGraphicFramePr>
            <a:graphicFrameLocks noChangeAspect="1"/>
          </p:cNvGraphicFramePr>
          <p:nvPr/>
        </p:nvGraphicFramePr>
        <p:xfrm>
          <a:off x="8181975" y="3367088"/>
          <a:ext cx="196850" cy="331787"/>
        </p:xfrm>
        <a:graphic>
          <a:graphicData uri="http://schemas.openxmlformats.org/presentationml/2006/ole">
            <p:oleObj spid="_x0000_s50181" name="Equation" r:id="rId6" imgW="139680" imgH="177480" progId="Equation.3">
              <p:embed/>
            </p:oleObj>
          </a:graphicData>
        </a:graphic>
      </p:graphicFrame>
      <p:graphicFrame>
        <p:nvGraphicFramePr>
          <p:cNvPr id="122897" name="Object 17"/>
          <p:cNvGraphicFramePr>
            <a:graphicFrameLocks noChangeAspect="1"/>
          </p:cNvGraphicFramePr>
          <p:nvPr/>
        </p:nvGraphicFramePr>
        <p:xfrm>
          <a:off x="8558213" y="3246438"/>
          <a:ext cx="309562" cy="433387"/>
        </p:xfrm>
        <a:graphic>
          <a:graphicData uri="http://schemas.openxmlformats.org/presentationml/2006/ole">
            <p:oleObj spid="_x0000_s50182" name="公式" r:id="rId7" imgW="317160" imgH="431640" progId="Equation.3">
              <p:embed/>
            </p:oleObj>
          </a:graphicData>
        </a:graphic>
      </p:graphicFrame>
      <p:sp>
        <p:nvSpPr>
          <p:cNvPr id="122898" name="Line 18"/>
          <p:cNvSpPr>
            <a:spLocks noChangeShapeType="1"/>
          </p:cNvSpPr>
          <p:nvPr/>
        </p:nvSpPr>
        <p:spPr bwMode="auto">
          <a:xfrm>
            <a:off x="8424863" y="3698875"/>
            <a:ext cx="396875" cy="0"/>
          </a:xfrm>
          <a:prstGeom prst="line">
            <a:avLst/>
          </a:prstGeom>
          <a:noFill/>
          <a:ln w="28575">
            <a:solidFill>
              <a:srgbClr val="0000FF"/>
            </a:solidFill>
            <a:round/>
            <a:headEnd/>
            <a:tailEnd type="triangle" w="sm" len="lg"/>
          </a:ln>
        </p:spPr>
        <p:txBody>
          <a:bodyPr/>
          <a:lstStyle/>
          <a:p>
            <a:endParaRPr lang="zh-CN" altLang="en-US"/>
          </a:p>
        </p:txBody>
      </p:sp>
      <p:sp>
        <p:nvSpPr>
          <p:cNvPr id="122899" name="Line 19"/>
          <p:cNvSpPr>
            <a:spLocks noChangeShapeType="1"/>
          </p:cNvSpPr>
          <p:nvPr/>
        </p:nvSpPr>
        <p:spPr bwMode="auto">
          <a:xfrm>
            <a:off x="5861050" y="3698875"/>
            <a:ext cx="0" cy="1314450"/>
          </a:xfrm>
          <a:prstGeom prst="line">
            <a:avLst/>
          </a:prstGeom>
          <a:noFill/>
          <a:ln w="28575">
            <a:solidFill>
              <a:srgbClr val="0000FF"/>
            </a:solidFill>
            <a:prstDash val="dash"/>
            <a:round/>
            <a:headEnd/>
            <a:tailEnd/>
          </a:ln>
        </p:spPr>
        <p:txBody>
          <a:bodyPr/>
          <a:lstStyle/>
          <a:p>
            <a:endParaRPr lang="zh-CN" altLang="en-US"/>
          </a:p>
        </p:txBody>
      </p:sp>
      <p:sp>
        <p:nvSpPr>
          <p:cNvPr id="122900" name="Line 20"/>
          <p:cNvSpPr>
            <a:spLocks noChangeShapeType="1"/>
          </p:cNvSpPr>
          <p:nvPr/>
        </p:nvSpPr>
        <p:spPr bwMode="auto">
          <a:xfrm flipH="1">
            <a:off x="8293100" y="3717925"/>
            <a:ext cx="19050" cy="1314450"/>
          </a:xfrm>
          <a:prstGeom prst="line">
            <a:avLst/>
          </a:prstGeom>
          <a:noFill/>
          <a:ln w="28575">
            <a:solidFill>
              <a:srgbClr val="0000FF"/>
            </a:solidFill>
            <a:prstDash val="dash"/>
            <a:round/>
            <a:headEnd/>
            <a:tailEnd/>
          </a:ln>
        </p:spPr>
        <p:txBody>
          <a:bodyPr/>
          <a:lstStyle/>
          <a:p>
            <a:endParaRPr lang="zh-CN" altLang="en-US"/>
          </a:p>
        </p:txBody>
      </p:sp>
      <p:sp>
        <p:nvSpPr>
          <p:cNvPr id="122901" name="Line 21"/>
          <p:cNvSpPr>
            <a:spLocks noChangeShapeType="1"/>
          </p:cNvSpPr>
          <p:nvPr/>
        </p:nvSpPr>
        <p:spPr bwMode="auto">
          <a:xfrm>
            <a:off x="5867400" y="4727575"/>
            <a:ext cx="2409825" cy="0"/>
          </a:xfrm>
          <a:prstGeom prst="line">
            <a:avLst/>
          </a:prstGeom>
          <a:noFill/>
          <a:ln w="28575">
            <a:solidFill>
              <a:srgbClr val="0000FF"/>
            </a:solidFill>
            <a:round/>
            <a:headEnd type="triangle" w="sm" len="lg"/>
            <a:tailEnd type="triangle" w="sm" len="lg"/>
          </a:ln>
        </p:spPr>
        <p:txBody>
          <a:bodyPr/>
          <a:lstStyle/>
          <a:p>
            <a:endParaRPr lang="zh-CN" altLang="en-US"/>
          </a:p>
        </p:txBody>
      </p:sp>
      <p:sp>
        <p:nvSpPr>
          <p:cNvPr id="122902" name="Line 22"/>
          <p:cNvSpPr>
            <a:spLocks noChangeShapeType="1"/>
          </p:cNvSpPr>
          <p:nvPr/>
        </p:nvSpPr>
        <p:spPr bwMode="auto">
          <a:xfrm>
            <a:off x="5867400" y="3810000"/>
            <a:ext cx="271463" cy="746125"/>
          </a:xfrm>
          <a:prstGeom prst="line">
            <a:avLst/>
          </a:prstGeom>
          <a:noFill/>
          <a:ln w="38100">
            <a:solidFill>
              <a:srgbClr val="0000FF"/>
            </a:solidFill>
            <a:round/>
            <a:headEnd/>
            <a:tailEnd type="triangle" w="sm" len="lg"/>
          </a:ln>
        </p:spPr>
        <p:txBody>
          <a:bodyPr/>
          <a:lstStyle/>
          <a:p>
            <a:endParaRPr lang="zh-CN" altLang="en-US"/>
          </a:p>
        </p:txBody>
      </p:sp>
      <p:sp>
        <p:nvSpPr>
          <p:cNvPr id="122903" name="Line 23"/>
          <p:cNvSpPr>
            <a:spLocks noChangeShapeType="1"/>
          </p:cNvSpPr>
          <p:nvPr/>
        </p:nvSpPr>
        <p:spPr bwMode="auto">
          <a:xfrm flipH="1">
            <a:off x="4572000" y="3722688"/>
            <a:ext cx="3705225" cy="0"/>
          </a:xfrm>
          <a:prstGeom prst="line">
            <a:avLst/>
          </a:prstGeom>
          <a:noFill/>
          <a:ln w="38100">
            <a:solidFill>
              <a:srgbClr val="FF6600"/>
            </a:solidFill>
            <a:round/>
            <a:headEnd/>
            <a:tailEnd/>
          </a:ln>
        </p:spPr>
        <p:txBody>
          <a:bodyPr/>
          <a:lstStyle/>
          <a:p>
            <a:endParaRPr lang="zh-CN" altLang="en-US"/>
          </a:p>
        </p:txBody>
      </p:sp>
      <p:graphicFrame>
        <p:nvGraphicFramePr>
          <p:cNvPr id="122904" name="Object 24"/>
          <p:cNvGraphicFramePr>
            <a:graphicFrameLocks/>
          </p:cNvGraphicFramePr>
          <p:nvPr/>
        </p:nvGraphicFramePr>
        <p:xfrm>
          <a:off x="7075488" y="4343400"/>
          <a:ext cx="525462" cy="434975"/>
        </p:xfrm>
        <a:graphic>
          <a:graphicData uri="http://schemas.openxmlformats.org/presentationml/2006/ole">
            <p:oleObj spid="_x0000_s50183" name="Equation" r:id="rId8" imgW="291960" imgH="241200" progId="Equation.3">
              <p:embed/>
            </p:oleObj>
          </a:graphicData>
        </a:graphic>
      </p:graphicFrame>
      <p:graphicFrame>
        <p:nvGraphicFramePr>
          <p:cNvPr id="122905" name="Object 25"/>
          <p:cNvGraphicFramePr>
            <a:graphicFrameLocks noChangeAspect="1"/>
          </p:cNvGraphicFramePr>
          <p:nvPr/>
        </p:nvGraphicFramePr>
        <p:xfrm>
          <a:off x="6056313" y="3870325"/>
          <a:ext cx="341312" cy="450850"/>
        </p:xfrm>
        <a:graphic>
          <a:graphicData uri="http://schemas.openxmlformats.org/presentationml/2006/ole">
            <p:oleObj spid="_x0000_s50184" name="Equation" r:id="rId9" imgW="241200" imgH="241200" progId="Equation.3">
              <p:embed/>
            </p:oleObj>
          </a:graphicData>
        </a:graphic>
      </p:graphicFrame>
      <p:sp>
        <p:nvSpPr>
          <p:cNvPr id="122906" name="Freeform 26"/>
          <p:cNvSpPr>
            <a:spLocks/>
          </p:cNvSpPr>
          <p:nvPr/>
        </p:nvSpPr>
        <p:spPr bwMode="auto">
          <a:xfrm>
            <a:off x="4787900" y="2492375"/>
            <a:ext cx="360363" cy="1223963"/>
          </a:xfrm>
          <a:custGeom>
            <a:avLst/>
            <a:gdLst>
              <a:gd name="T0" fmla="*/ 2147483647 w 296"/>
              <a:gd name="T1" fmla="*/ 0 h 960"/>
              <a:gd name="T2" fmla="*/ 2147483647 w 296"/>
              <a:gd name="T3" fmla="*/ 2147483647 h 960"/>
              <a:gd name="T4" fmla="*/ 2147483647 w 296"/>
              <a:gd name="T5" fmla="*/ 2147483647 h 960"/>
              <a:gd name="T6" fmla="*/ 2147483647 w 296"/>
              <a:gd name="T7" fmla="*/ 2147483647 h 960"/>
              <a:gd name="T8" fmla="*/ 2147483647 w 296"/>
              <a:gd name="T9" fmla="*/ 2147483647 h 960"/>
              <a:gd name="T10" fmla="*/ 2147483647 w 296"/>
              <a:gd name="T11" fmla="*/ 2147483647 h 960"/>
              <a:gd name="T12" fmla="*/ 0 60000 65536"/>
              <a:gd name="T13" fmla="*/ 0 60000 65536"/>
              <a:gd name="T14" fmla="*/ 0 60000 65536"/>
              <a:gd name="T15" fmla="*/ 0 60000 65536"/>
              <a:gd name="T16" fmla="*/ 0 60000 65536"/>
              <a:gd name="T17" fmla="*/ 0 60000 65536"/>
              <a:gd name="T18" fmla="*/ 0 w 296"/>
              <a:gd name="T19" fmla="*/ 0 h 960"/>
              <a:gd name="T20" fmla="*/ 296 w 296"/>
              <a:gd name="T21" fmla="*/ 960 h 960"/>
            </a:gdLst>
            <a:ahLst/>
            <a:cxnLst>
              <a:cxn ang="T12">
                <a:pos x="T0" y="T1"/>
              </a:cxn>
              <a:cxn ang="T13">
                <a:pos x="T2" y="T3"/>
              </a:cxn>
              <a:cxn ang="T14">
                <a:pos x="T4" y="T5"/>
              </a:cxn>
              <a:cxn ang="T15">
                <a:pos x="T6" y="T7"/>
              </a:cxn>
              <a:cxn ang="T16">
                <a:pos x="T8" y="T9"/>
              </a:cxn>
              <a:cxn ang="T17">
                <a:pos x="T10" y="T11"/>
              </a:cxn>
            </a:cxnLst>
            <a:rect l="T18" t="T19" r="T20" b="T21"/>
            <a:pathLst>
              <a:path w="296" h="960">
                <a:moveTo>
                  <a:pt x="296" y="0"/>
                </a:moveTo>
                <a:cubicBezTo>
                  <a:pt x="244" y="40"/>
                  <a:pt x="192" y="80"/>
                  <a:pt x="152" y="144"/>
                </a:cubicBezTo>
                <a:cubicBezTo>
                  <a:pt x="112" y="208"/>
                  <a:pt x="80" y="296"/>
                  <a:pt x="56" y="384"/>
                </a:cubicBezTo>
                <a:cubicBezTo>
                  <a:pt x="32" y="472"/>
                  <a:pt x="16" y="600"/>
                  <a:pt x="8" y="672"/>
                </a:cubicBezTo>
                <a:cubicBezTo>
                  <a:pt x="0" y="744"/>
                  <a:pt x="8" y="768"/>
                  <a:pt x="8" y="816"/>
                </a:cubicBezTo>
                <a:cubicBezTo>
                  <a:pt x="8" y="864"/>
                  <a:pt x="8" y="936"/>
                  <a:pt x="8" y="960"/>
                </a:cubicBezTo>
              </a:path>
            </a:pathLst>
          </a:custGeom>
          <a:noFill/>
          <a:ln w="38100">
            <a:solidFill>
              <a:srgbClr val="0000FF"/>
            </a:solidFill>
            <a:round/>
            <a:headEnd type="triangle" w="med" len="med"/>
            <a:tailEnd type="triangle" w="med" len="med"/>
          </a:ln>
        </p:spPr>
        <p:txBody>
          <a:bodyPr/>
          <a:lstStyle/>
          <a:p>
            <a:endParaRPr lang="zh-CN" altLang="en-US"/>
          </a:p>
        </p:txBody>
      </p:sp>
      <p:graphicFrame>
        <p:nvGraphicFramePr>
          <p:cNvPr id="122907" name="Object 27"/>
          <p:cNvGraphicFramePr>
            <a:graphicFrameLocks noChangeAspect="1"/>
          </p:cNvGraphicFramePr>
          <p:nvPr/>
        </p:nvGraphicFramePr>
        <p:xfrm>
          <a:off x="4427538" y="2879725"/>
          <a:ext cx="330200" cy="439738"/>
        </p:xfrm>
        <a:graphic>
          <a:graphicData uri="http://schemas.openxmlformats.org/presentationml/2006/ole">
            <p:oleObj spid="_x0000_s50185" name="Equation" r:id="rId10" imgW="126720" imgH="177480" progId="Equation.3">
              <p:embed/>
            </p:oleObj>
          </a:graphicData>
        </a:graphic>
      </p:graphicFrame>
      <p:sp>
        <p:nvSpPr>
          <p:cNvPr id="122908" name="Oval 28"/>
          <p:cNvSpPr>
            <a:spLocks noChangeArrowheads="1"/>
          </p:cNvSpPr>
          <p:nvPr/>
        </p:nvSpPr>
        <p:spPr bwMode="auto">
          <a:xfrm>
            <a:off x="5008563" y="2844800"/>
            <a:ext cx="1666875" cy="1771650"/>
          </a:xfrm>
          <a:prstGeom prst="ellipse">
            <a:avLst/>
          </a:prstGeom>
          <a:noFill/>
          <a:ln w="38100">
            <a:solidFill>
              <a:srgbClr val="008000"/>
            </a:solidFill>
            <a:round/>
            <a:headEnd/>
            <a:tailEnd/>
          </a:ln>
        </p:spPr>
        <p:txBody>
          <a:bodyPr wrap="none" anchor="ctr"/>
          <a:lstStyle/>
          <a:p>
            <a:endParaRPr lang="zh-CN" altLang="en-US"/>
          </a:p>
        </p:txBody>
      </p:sp>
      <p:sp>
        <p:nvSpPr>
          <p:cNvPr id="122909" name="Oval 29"/>
          <p:cNvSpPr>
            <a:spLocks noChangeArrowheads="1"/>
          </p:cNvSpPr>
          <p:nvPr/>
        </p:nvSpPr>
        <p:spPr bwMode="auto">
          <a:xfrm flipH="1" flipV="1">
            <a:off x="5784850" y="3633788"/>
            <a:ext cx="152400" cy="152400"/>
          </a:xfrm>
          <a:prstGeom prst="ellipse">
            <a:avLst/>
          </a:prstGeom>
          <a:solidFill>
            <a:srgbClr val="FF6600"/>
          </a:solidFill>
          <a:ln w="12700">
            <a:noFill/>
            <a:round/>
            <a:headEnd/>
            <a:tailEnd/>
          </a:ln>
        </p:spPr>
        <p:txBody>
          <a:bodyPr rot="10800000" wrap="none" anchor="ctr"/>
          <a:lstStyle/>
          <a:p>
            <a:pPr algn="ctr"/>
            <a:endParaRPr lang="zh-CN" altLang="zh-CN" b="1">
              <a:latin typeface="仿宋_GB2312" pitchFamily="49" charset="-122"/>
              <a:ea typeface="仿宋_GB2312" pitchFamily="49" charset="-122"/>
            </a:endParaRPr>
          </a:p>
        </p:txBody>
      </p:sp>
      <p:sp>
        <p:nvSpPr>
          <p:cNvPr id="122910" name="Oval 30"/>
          <p:cNvSpPr>
            <a:spLocks noChangeArrowheads="1"/>
          </p:cNvSpPr>
          <p:nvPr/>
        </p:nvSpPr>
        <p:spPr bwMode="auto">
          <a:xfrm>
            <a:off x="7234238" y="3429000"/>
            <a:ext cx="527050" cy="571500"/>
          </a:xfrm>
          <a:prstGeom prst="ellipse">
            <a:avLst/>
          </a:prstGeom>
          <a:noFill/>
          <a:ln w="38100">
            <a:solidFill>
              <a:srgbClr val="008000"/>
            </a:solidFill>
            <a:round/>
            <a:headEnd/>
            <a:tailEnd/>
          </a:ln>
        </p:spPr>
        <p:txBody>
          <a:bodyPr wrap="none" anchor="ctr"/>
          <a:lstStyle/>
          <a:p>
            <a:endParaRPr lang="zh-CN" altLang="en-US"/>
          </a:p>
        </p:txBody>
      </p:sp>
      <p:sp>
        <p:nvSpPr>
          <p:cNvPr id="122911" name="Oval 31"/>
          <p:cNvSpPr>
            <a:spLocks noChangeArrowheads="1"/>
          </p:cNvSpPr>
          <p:nvPr/>
        </p:nvSpPr>
        <p:spPr bwMode="auto">
          <a:xfrm>
            <a:off x="6508750" y="3238500"/>
            <a:ext cx="936625" cy="971550"/>
          </a:xfrm>
          <a:prstGeom prst="ellipse">
            <a:avLst/>
          </a:prstGeom>
          <a:noFill/>
          <a:ln w="38100">
            <a:solidFill>
              <a:srgbClr val="008000"/>
            </a:solidFill>
            <a:round/>
            <a:headEnd/>
            <a:tailEnd/>
          </a:ln>
        </p:spPr>
        <p:txBody>
          <a:bodyPr wrap="none" anchor="ctr"/>
          <a:lstStyle/>
          <a:p>
            <a:endParaRPr lang="zh-CN" altLang="en-US"/>
          </a:p>
        </p:txBody>
      </p:sp>
      <p:sp>
        <p:nvSpPr>
          <p:cNvPr id="122912" name="Oval 32"/>
          <p:cNvSpPr>
            <a:spLocks noChangeArrowheads="1"/>
          </p:cNvSpPr>
          <p:nvPr/>
        </p:nvSpPr>
        <p:spPr bwMode="auto">
          <a:xfrm>
            <a:off x="5784850" y="3040063"/>
            <a:ext cx="1236663" cy="1371600"/>
          </a:xfrm>
          <a:prstGeom prst="ellipse">
            <a:avLst/>
          </a:prstGeom>
          <a:noFill/>
          <a:ln w="38100">
            <a:solidFill>
              <a:srgbClr val="008000"/>
            </a:solidFill>
            <a:round/>
            <a:headEnd/>
            <a:tailEnd/>
          </a:ln>
        </p:spPr>
        <p:txBody>
          <a:bodyPr wrap="none" anchor="ctr"/>
          <a:lstStyle/>
          <a:p>
            <a:endParaRPr lang="zh-CN" altLang="en-US"/>
          </a:p>
        </p:txBody>
      </p:sp>
      <p:sp>
        <p:nvSpPr>
          <p:cNvPr id="50214" name="Line 33"/>
          <p:cNvSpPr>
            <a:spLocks noChangeShapeType="1"/>
          </p:cNvSpPr>
          <p:nvPr/>
        </p:nvSpPr>
        <p:spPr bwMode="auto">
          <a:xfrm>
            <a:off x="4648200" y="4640263"/>
            <a:ext cx="0" cy="0"/>
          </a:xfrm>
          <a:prstGeom prst="line">
            <a:avLst/>
          </a:prstGeom>
          <a:noFill/>
          <a:ln w="38100">
            <a:solidFill>
              <a:srgbClr val="99FF33"/>
            </a:solidFill>
            <a:round/>
            <a:headEnd/>
            <a:tailEnd/>
          </a:ln>
        </p:spPr>
        <p:txBody>
          <a:bodyPr/>
          <a:lstStyle/>
          <a:p>
            <a:endParaRPr lang="zh-CN" altLang="en-US"/>
          </a:p>
        </p:txBody>
      </p:sp>
      <p:sp>
        <p:nvSpPr>
          <p:cNvPr id="122914" name="Oval 34"/>
          <p:cNvSpPr>
            <a:spLocks noChangeArrowheads="1"/>
          </p:cNvSpPr>
          <p:nvPr/>
        </p:nvSpPr>
        <p:spPr bwMode="auto">
          <a:xfrm flipH="1" flipV="1">
            <a:off x="6324600" y="3633788"/>
            <a:ext cx="152400" cy="152400"/>
          </a:xfrm>
          <a:prstGeom prst="ellipse">
            <a:avLst/>
          </a:prstGeom>
          <a:solidFill>
            <a:srgbClr val="FF6600"/>
          </a:solidFill>
          <a:ln w="12700">
            <a:noFill/>
            <a:round/>
            <a:headEnd/>
            <a:tailEnd/>
          </a:ln>
        </p:spPr>
        <p:txBody>
          <a:bodyPr rot="10800000" wrap="none" anchor="ctr"/>
          <a:lstStyle/>
          <a:p>
            <a:pPr algn="ctr"/>
            <a:endParaRPr lang="zh-CN" altLang="zh-CN" b="1">
              <a:latin typeface="仿宋_GB2312" pitchFamily="49" charset="-122"/>
              <a:ea typeface="仿宋_GB2312" pitchFamily="49" charset="-122"/>
            </a:endParaRPr>
          </a:p>
        </p:txBody>
      </p:sp>
      <p:sp>
        <p:nvSpPr>
          <p:cNvPr id="122915" name="Oval 35"/>
          <p:cNvSpPr>
            <a:spLocks noChangeArrowheads="1"/>
          </p:cNvSpPr>
          <p:nvPr/>
        </p:nvSpPr>
        <p:spPr bwMode="auto">
          <a:xfrm flipH="1" flipV="1">
            <a:off x="6934200" y="3633788"/>
            <a:ext cx="152400" cy="152400"/>
          </a:xfrm>
          <a:prstGeom prst="ellipse">
            <a:avLst/>
          </a:prstGeom>
          <a:solidFill>
            <a:srgbClr val="FF6600"/>
          </a:solidFill>
          <a:ln w="12700">
            <a:noFill/>
            <a:round/>
            <a:headEnd/>
            <a:tailEnd/>
          </a:ln>
        </p:spPr>
        <p:txBody>
          <a:bodyPr rot="10800000" wrap="none" anchor="ctr"/>
          <a:lstStyle/>
          <a:p>
            <a:pPr algn="ctr"/>
            <a:endParaRPr lang="zh-CN" altLang="zh-CN" b="1">
              <a:latin typeface="仿宋_GB2312" pitchFamily="49" charset="-122"/>
              <a:ea typeface="仿宋_GB2312" pitchFamily="49" charset="-122"/>
            </a:endParaRPr>
          </a:p>
        </p:txBody>
      </p:sp>
      <p:sp>
        <p:nvSpPr>
          <p:cNvPr id="122916" name="Oval 36"/>
          <p:cNvSpPr>
            <a:spLocks noChangeArrowheads="1"/>
          </p:cNvSpPr>
          <p:nvPr/>
        </p:nvSpPr>
        <p:spPr bwMode="auto">
          <a:xfrm flipH="1" flipV="1">
            <a:off x="7443788" y="3629025"/>
            <a:ext cx="152400" cy="152400"/>
          </a:xfrm>
          <a:prstGeom prst="ellipse">
            <a:avLst/>
          </a:prstGeom>
          <a:solidFill>
            <a:srgbClr val="FF6600"/>
          </a:solidFill>
          <a:ln w="12700">
            <a:noFill/>
            <a:round/>
            <a:headEnd/>
            <a:tailEnd/>
          </a:ln>
        </p:spPr>
        <p:txBody>
          <a:bodyPr rot="10800000" wrap="none" anchor="ctr"/>
          <a:lstStyle/>
          <a:p>
            <a:pPr algn="ctr"/>
            <a:endParaRPr lang="zh-CN" altLang="zh-CN" b="1">
              <a:latin typeface="仿宋_GB2312" pitchFamily="49" charset="-122"/>
              <a:ea typeface="仿宋_GB2312" pitchFamily="49" charset="-122"/>
            </a:endParaRPr>
          </a:p>
        </p:txBody>
      </p:sp>
      <p:graphicFrame>
        <p:nvGraphicFramePr>
          <p:cNvPr id="122917" name="Object 37"/>
          <p:cNvGraphicFramePr>
            <a:graphicFrameLocks noChangeAspect="1"/>
          </p:cNvGraphicFramePr>
          <p:nvPr/>
        </p:nvGraphicFramePr>
        <p:xfrm>
          <a:off x="838200" y="2011363"/>
          <a:ext cx="749300" cy="407987"/>
        </p:xfrm>
        <a:graphic>
          <a:graphicData uri="http://schemas.openxmlformats.org/presentationml/2006/ole">
            <p:oleObj spid="_x0000_s50186" name="Equation" r:id="rId11" imgW="419040" imgH="228600" progId="Equation.3">
              <p:embed/>
            </p:oleObj>
          </a:graphicData>
        </a:graphic>
      </p:graphicFrame>
      <p:graphicFrame>
        <p:nvGraphicFramePr>
          <p:cNvPr id="122918" name="Object 38"/>
          <p:cNvGraphicFramePr>
            <a:graphicFrameLocks noChangeAspect="1"/>
          </p:cNvGraphicFramePr>
          <p:nvPr/>
        </p:nvGraphicFramePr>
        <p:xfrm>
          <a:off x="5867400" y="3346450"/>
          <a:ext cx="196850" cy="331788"/>
        </p:xfrm>
        <a:graphic>
          <a:graphicData uri="http://schemas.openxmlformats.org/presentationml/2006/ole">
            <p:oleObj spid="_x0000_s50187" name="Equation" r:id="rId12" imgW="139680" imgH="177480" progId="Equation.3">
              <p:embed/>
            </p:oleObj>
          </a:graphicData>
        </a:graphic>
      </p:graphicFrame>
      <p:graphicFrame>
        <p:nvGraphicFramePr>
          <p:cNvPr id="122919" name="Object 39"/>
          <p:cNvGraphicFramePr>
            <a:graphicFrameLocks noChangeAspect="1"/>
          </p:cNvGraphicFramePr>
          <p:nvPr/>
        </p:nvGraphicFramePr>
        <p:xfrm>
          <a:off x="6248400" y="3346450"/>
          <a:ext cx="196850" cy="331788"/>
        </p:xfrm>
        <a:graphic>
          <a:graphicData uri="http://schemas.openxmlformats.org/presentationml/2006/ole">
            <p:oleObj spid="_x0000_s50188" name="Equation" r:id="rId13" imgW="139680" imgH="177480" progId="Equation.3">
              <p:embed/>
            </p:oleObj>
          </a:graphicData>
        </a:graphic>
      </p:graphicFrame>
      <p:graphicFrame>
        <p:nvGraphicFramePr>
          <p:cNvPr id="122920" name="Object 40"/>
          <p:cNvGraphicFramePr>
            <a:graphicFrameLocks noChangeAspect="1"/>
          </p:cNvGraphicFramePr>
          <p:nvPr/>
        </p:nvGraphicFramePr>
        <p:xfrm>
          <a:off x="6781800" y="3422650"/>
          <a:ext cx="196850" cy="331788"/>
        </p:xfrm>
        <a:graphic>
          <a:graphicData uri="http://schemas.openxmlformats.org/presentationml/2006/ole">
            <p:oleObj spid="_x0000_s50189" name="Equation" r:id="rId14" imgW="139680" imgH="177480" progId="Equation.3">
              <p:embed/>
            </p:oleObj>
          </a:graphicData>
        </a:graphic>
      </p:graphicFrame>
      <p:graphicFrame>
        <p:nvGraphicFramePr>
          <p:cNvPr id="122921" name="Object 41"/>
          <p:cNvGraphicFramePr>
            <a:graphicFrameLocks noChangeAspect="1"/>
          </p:cNvGraphicFramePr>
          <p:nvPr/>
        </p:nvGraphicFramePr>
        <p:xfrm>
          <a:off x="7467600" y="3422650"/>
          <a:ext cx="196850" cy="331788"/>
        </p:xfrm>
        <a:graphic>
          <a:graphicData uri="http://schemas.openxmlformats.org/presentationml/2006/ole">
            <p:oleObj spid="_x0000_s50190" name="Equation" r:id="rId15" imgW="139680" imgH="177480" progId="Equation.3">
              <p:embed/>
            </p:oleObj>
          </a:graphicData>
        </a:graphic>
      </p:graphicFrame>
      <p:sp>
        <p:nvSpPr>
          <p:cNvPr id="122922" name="AutoShape 42"/>
          <p:cNvSpPr>
            <a:spLocks noChangeArrowheads="1"/>
          </p:cNvSpPr>
          <p:nvPr/>
        </p:nvSpPr>
        <p:spPr bwMode="auto">
          <a:xfrm>
            <a:off x="228600" y="490538"/>
            <a:ext cx="360363" cy="576262"/>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122922"/>
                                        </p:tgtEl>
                                        <p:attrNameLst>
                                          <p:attrName>style.visibility</p:attrName>
                                        </p:attrNameLst>
                                      </p:cBhvr>
                                      <p:to>
                                        <p:strVal val="visible"/>
                                      </p:to>
                                    </p:set>
                                    <p:anim calcmode="lin" valueType="num">
                                      <p:cBhvr>
                                        <p:cTn id="7" dur="500" fill="hold"/>
                                        <p:tgtEl>
                                          <p:spTgt spid="122922"/>
                                        </p:tgtEl>
                                        <p:attrNameLst>
                                          <p:attrName>ppt_w</p:attrName>
                                        </p:attrNameLst>
                                      </p:cBhvr>
                                      <p:tavLst>
                                        <p:tav tm="0">
                                          <p:val>
                                            <p:strVal val="4*#ppt_w"/>
                                          </p:val>
                                        </p:tav>
                                        <p:tav tm="100000">
                                          <p:val>
                                            <p:strVal val="#ppt_w"/>
                                          </p:val>
                                        </p:tav>
                                      </p:tavLst>
                                    </p:anim>
                                    <p:anim calcmode="lin" valueType="num">
                                      <p:cBhvr>
                                        <p:cTn id="8" dur="500" fill="hold"/>
                                        <p:tgtEl>
                                          <p:spTgt spid="122922"/>
                                        </p:tgtEl>
                                        <p:attrNameLst>
                                          <p:attrName>ppt_h</p:attrName>
                                        </p:attrNameLst>
                                      </p:cBhvr>
                                      <p:tavLst>
                                        <p:tav tm="0">
                                          <p:val>
                                            <p:strVal val="4*#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2890"/>
                                        </p:tgtEl>
                                        <p:attrNameLst>
                                          <p:attrName>style.visibility</p:attrName>
                                        </p:attrNameLst>
                                      </p:cBhvr>
                                      <p:to>
                                        <p:strVal val="visible"/>
                                      </p:to>
                                    </p:set>
                                    <p:animEffect transition="in" filter="wipe(left)">
                                      <p:cBhvr>
                                        <p:cTn id="13" dur="500"/>
                                        <p:tgtEl>
                                          <p:spTgt spid="12289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122885"/>
                                        </p:tgtEl>
                                        <p:attrNameLst>
                                          <p:attrName>style.visibility</p:attrName>
                                        </p:attrNameLst>
                                      </p:cBhvr>
                                      <p:to>
                                        <p:strVal val="visible"/>
                                      </p:to>
                                    </p:set>
                                    <p:animEffect transition="in" filter="wipe(left)">
                                      <p:cBhvr>
                                        <p:cTn id="18" dur="300"/>
                                        <p:tgtEl>
                                          <p:spTgt spid="12288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2883"/>
                                        </p:tgtEl>
                                        <p:attrNameLst>
                                          <p:attrName>style.visibility</p:attrName>
                                        </p:attrNameLst>
                                      </p:cBhvr>
                                      <p:to>
                                        <p:strVal val="visible"/>
                                      </p:to>
                                    </p:set>
                                    <p:animEffect transition="in" filter="wipe(left)">
                                      <p:cBhvr>
                                        <p:cTn id="23" dur="500"/>
                                        <p:tgtEl>
                                          <p:spTgt spid="12288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22917"/>
                                        </p:tgtEl>
                                        <p:attrNameLst>
                                          <p:attrName>style.visibility</p:attrName>
                                        </p:attrNameLst>
                                      </p:cBhvr>
                                      <p:to>
                                        <p:strVal val="visible"/>
                                      </p:to>
                                    </p:set>
                                    <p:animEffect transition="in" filter="wipe(left)">
                                      <p:cBhvr>
                                        <p:cTn id="28" dur="500"/>
                                        <p:tgtEl>
                                          <p:spTgt spid="1229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2891"/>
                                        </p:tgtEl>
                                        <p:attrNameLst>
                                          <p:attrName>style.visibility</p:attrName>
                                        </p:attrNameLst>
                                      </p:cBhvr>
                                      <p:to>
                                        <p:strVal val="visible"/>
                                      </p:to>
                                    </p:set>
                                    <p:animEffect transition="in" filter="wipe(left)">
                                      <p:cBhvr>
                                        <p:cTn id="33" dur="500"/>
                                        <p:tgtEl>
                                          <p:spTgt spid="12289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22903"/>
                                        </p:tgtEl>
                                        <p:attrNameLst>
                                          <p:attrName>style.visibility</p:attrName>
                                        </p:attrNameLst>
                                      </p:cBhvr>
                                      <p:to>
                                        <p:strVal val="visible"/>
                                      </p:to>
                                    </p:set>
                                    <p:animEffect transition="in" filter="wipe(left)">
                                      <p:cBhvr>
                                        <p:cTn id="38" dur="500"/>
                                        <p:tgtEl>
                                          <p:spTgt spid="12290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22898"/>
                                        </p:tgtEl>
                                        <p:attrNameLst>
                                          <p:attrName>style.visibility</p:attrName>
                                        </p:attrNameLst>
                                      </p:cBhvr>
                                      <p:to>
                                        <p:strVal val="visible"/>
                                      </p:to>
                                    </p:set>
                                    <p:animEffect transition="in" filter="wipe(left)">
                                      <p:cBhvr>
                                        <p:cTn id="43" dur="500"/>
                                        <p:tgtEl>
                                          <p:spTgt spid="122898"/>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499"/>
                                          </p:stCondLst>
                                        </p:cTn>
                                        <p:tgtEl>
                                          <p:spTgt spid="12289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12290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499"/>
                                          </p:stCondLst>
                                        </p:cTn>
                                        <p:tgtEl>
                                          <p:spTgt spid="122918"/>
                                        </p:tgtEl>
                                        <p:attrNameLst>
                                          <p:attrName>style.visibility</p:attrName>
                                        </p:attrNameLst>
                                      </p:cBhvr>
                                      <p:to>
                                        <p:strVal val="visible"/>
                                      </p:to>
                                    </p:set>
                                  </p:childTnLst>
                                  <p:subTnLst>
                                    <p:set>
                                      <p:cBhvr override="childStyle">
                                        <p:cTn dur="1" fill="hold" display="0" masterRel="nextClick" afterEffect="1"/>
                                        <p:tgtEl>
                                          <p:spTgt spid="122918"/>
                                        </p:tgtEl>
                                        <p:attrNameLst>
                                          <p:attrName>style.visibility</p:attrName>
                                        </p:attrNameLst>
                                      </p:cBhvr>
                                      <p:to>
                                        <p:strVal val="hidden"/>
                                      </p:to>
                                    </p:set>
                                  </p:subTnLst>
                                </p:cTn>
                              </p:par>
                            </p:childTnLst>
                          </p:cTn>
                        </p:par>
                      </p:childTnLst>
                    </p:cTn>
                  </p:par>
                  <p:par>
                    <p:cTn id="56" fill="hold">
                      <p:stCondLst>
                        <p:cond delay="indefinite"/>
                      </p:stCondLst>
                      <p:childTnLst>
                        <p:par>
                          <p:cTn id="57" fill="hold">
                            <p:stCondLst>
                              <p:cond delay="0"/>
                            </p:stCondLst>
                            <p:childTnLst>
                              <p:par>
                                <p:cTn id="58" presetID="23" presetClass="entr" presetSubtype="16" fill="hold" grpId="0" nodeType="clickEffect">
                                  <p:stCondLst>
                                    <p:cond delay="0"/>
                                  </p:stCondLst>
                                  <p:childTnLst>
                                    <p:set>
                                      <p:cBhvr>
                                        <p:cTn id="59" dur="1" fill="hold">
                                          <p:stCondLst>
                                            <p:cond delay="0"/>
                                          </p:stCondLst>
                                        </p:cTn>
                                        <p:tgtEl>
                                          <p:spTgt spid="122908"/>
                                        </p:tgtEl>
                                        <p:attrNameLst>
                                          <p:attrName>style.visibility</p:attrName>
                                        </p:attrNameLst>
                                      </p:cBhvr>
                                      <p:to>
                                        <p:strVal val="visible"/>
                                      </p:to>
                                    </p:set>
                                    <p:anim calcmode="lin" valueType="num">
                                      <p:cBhvr>
                                        <p:cTn id="60" dur="500" fill="hold"/>
                                        <p:tgtEl>
                                          <p:spTgt spid="122908"/>
                                        </p:tgtEl>
                                        <p:attrNameLst>
                                          <p:attrName>ppt_w</p:attrName>
                                        </p:attrNameLst>
                                      </p:cBhvr>
                                      <p:tavLst>
                                        <p:tav tm="0">
                                          <p:val>
                                            <p:fltVal val="0"/>
                                          </p:val>
                                        </p:tav>
                                        <p:tav tm="100000">
                                          <p:val>
                                            <p:strVal val="#ppt_w"/>
                                          </p:val>
                                        </p:tav>
                                      </p:tavLst>
                                    </p:anim>
                                    <p:anim calcmode="lin" valueType="num">
                                      <p:cBhvr>
                                        <p:cTn id="61" dur="500" fill="hold"/>
                                        <p:tgtEl>
                                          <p:spTgt spid="122908"/>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499"/>
                                          </p:stCondLst>
                                        </p:cTn>
                                        <p:tgtEl>
                                          <p:spTgt spid="12291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499"/>
                                          </p:stCondLst>
                                        </p:cTn>
                                        <p:tgtEl>
                                          <p:spTgt spid="122919"/>
                                        </p:tgtEl>
                                        <p:attrNameLst>
                                          <p:attrName>style.visibility</p:attrName>
                                        </p:attrNameLst>
                                      </p:cBhvr>
                                      <p:to>
                                        <p:strVal val="visible"/>
                                      </p:to>
                                    </p:set>
                                  </p:childTnLst>
                                  <p:subTnLst>
                                    <p:set>
                                      <p:cBhvr override="childStyle">
                                        <p:cTn dur="1" fill="hold" display="0" masterRel="nextClick" afterEffect="1"/>
                                        <p:tgtEl>
                                          <p:spTgt spid="122919"/>
                                        </p:tgtEl>
                                        <p:attrNameLst>
                                          <p:attrName>style.visibility</p:attrName>
                                        </p:attrNameLst>
                                      </p:cBhvr>
                                      <p:to>
                                        <p:strVal val="hidden"/>
                                      </p:to>
                                    </p:set>
                                  </p:subTnLst>
                                </p:cTn>
                              </p:par>
                            </p:childTnLst>
                          </p:cTn>
                        </p:par>
                      </p:childTnLst>
                    </p:cTn>
                  </p:par>
                  <p:par>
                    <p:cTn id="70" fill="hold">
                      <p:stCondLst>
                        <p:cond delay="indefinite"/>
                      </p:stCondLst>
                      <p:childTnLst>
                        <p:par>
                          <p:cTn id="71" fill="hold">
                            <p:stCondLst>
                              <p:cond delay="0"/>
                            </p:stCondLst>
                            <p:childTnLst>
                              <p:par>
                                <p:cTn id="72" presetID="23" presetClass="entr" presetSubtype="16" fill="hold" grpId="0" nodeType="clickEffect">
                                  <p:stCondLst>
                                    <p:cond delay="0"/>
                                  </p:stCondLst>
                                  <p:childTnLst>
                                    <p:set>
                                      <p:cBhvr>
                                        <p:cTn id="73" dur="1" fill="hold">
                                          <p:stCondLst>
                                            <p:cond delay="0"/>
                                          </p:stCondLst>
                                        </p:cTn>
                                        <p:tgtEl>
                                          <p:spTgt spid="122912"/>
                                        </p:tgtEl>
                                        <p:attrNameLst>
                                          <p:attrName>style.visibility</p:attrName>
                                        </p:attrNameLst>
                                      </p:cBhvr>
                                      <p:to>
                                        <p:strVal val="visible"/>
                                      </p:to>
                                    </p:set>
                                    <p:anim calcmode="lin" valueType="num">
                                      <p:cBhvr>
                                        <p:cTn id="74" dur="500" fill="hold"/>
                                        <p:tgtEl>
                                          <p:spTgt spid="122912"/>
                                        </p:tgtEl>
                                        <p:attrNameLst>
                                          <p:attrName>ppt_w</p:attrName>
                                        </p:attrNameLst>
                                      </p:cBhvr>
                                      <p:tavLst>
                                        <p:tav tm="0">
                                          <p:val>
                                            <p:fltVal val="0"/>
                                          </p:val>
                                        </p:tav>
                                        <p:tav tm="100000">
                                          <p:val>
                                            <p:strVal val="#ppt_w"/>
                                          </p:val>
                                        </p:tav>
                                      </p:tavLst>
                                    </p:anim>
                                    <p:anim calcmode="lin" valueType="num">
                                      <p:cBhvr>
                                        <p:cTn id="75" dur="500" fill="hold"/>
                                        <p:tgtEl>
                                          <p:spTgt spid="122912"/>
                                        </p:tgtEl>
                                        <p:attrNameLst>
                                          <p:attrName>ppt_h</p:attrName>
                                        </p:attrNameLst>
                                      </p:cBhvr>
                                      <p:tavLst>
                                        <p:tav tm="0">
                                          <p:val>
                                            <p:fltVal val="0"/>
                                          </p:val>
                                        </p:tav>
                                        <p:tav tm="100000">
                                          <p:val>
                                            <p:strVal val="#ppt_h"/>
                                          </p:val>
                                        </p:tav>
                                      </p:tavLst>
                                    </p:anim>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499"/>
                                          </p:stCondLst>
                                        </p:cTn>
                                        <p:tgtEl>
                                          <p:spTgt spid="122915"/>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499"/>
                                          </p:stCondLst>
                                        </p:cTn>
                                        <p:tgtEl>
                                          <p:spTgt spid="122920"/>
                                        </p:tgtEl>
                                        <p:attrNameLst>
                                          <p:attrName>style.visibility</p:attrName>
                                        </p:attrNameLst>
                                      </p:cBhvr>
                                      <p:to>
                                        <p:strVal val="visible"/>
                                      </p:to>
                                    </p:set>
                                  </p:childTnLst>
                                  <p:subTnLst>
                                    <p:set>
                                      <p:cBhvr override="childStyle">
                                        <p:cTn dur="1" fill="hold" display="0" masterRel="nextClick" afterEffect="1"/>
                                        <p:tgtEl>
                                          <p:spTgt spid="122920"/>
                                        </p:tgtEl>
                                        <p:attrNameLst>
                                          <p:attrName>style.visibility</p:attrName>
                                        </p:attrNameLst>
                                      </p:cBhvr>
                                      <p:to>
                                        <p:strVal val="hidden"/>
                                      </p:to>
                                    </p:set>
                                  </p:subTnLst>
                                </p:cTn>
                              </p:par>
                            </p:childTnLst>
                          </p:cTn>
                        </p:par>
                      </p:childTnLst>
                    </p:cTn>
                  </p:par>
                  <p:par>
                    <p:cTn id="84" fill="hold">
                      <p:stCondLst>
                        <p:cond delay="indefinite"/>
                      </p:stCondLst>
                      <p:childTnLst>
                        <p:par>
                          <p:cTn id="85" fill="hold">
                            <p:stCondLst>
                              <p:cond delay="0"/>
                            </p:stCondLst>
                            <p:childTnLst>
                              <p:par>
                                <p:cTn id="86" presetID="23" presetClass="entr" presetSubtype="16" fill="hold" grpId="0" nodeType="clickEffect">
                                  <p:stCondLst>
                                    <p:cond delay="0"/>
                                  </p:stCondLst>
                                  <p:childTnLst>
                                    <p:set>
                                      <p:cBhvr>
                                        <p:cTn id="87" dur="1" fill="hold">
                                          <p:stCondLst>
                                            <p:cond delay="0"/>
                                          </p:stCondLst>
                                        </p:cTn>
                                        <p:tgtEl>
                                          <p:spTgt spid="122911"/>
                                        </p:tgtEl>
                                        <p:attrNameLst>
                                          <p:attrName>style.visibility</p:attrName>
                                        </p:attrNameLst>
                                      </p:cBhvr>
                                      <p:to>
                                        <p:strVal val="visible"/>
                                      </p:to>
                                    </p:set>
                                    <p:anim calcmode="lin" valueType="num">
                                      <p:cBhvr>
                                        <p:cTn id="88" dur="500" fill="hold"/>
                                        <p:tgtEl>
                                          <p:spTgt spid="122911"/>
                                        </p:tgtEl>
                                        <p:attrNameLst>
                                          <p:attrName>ppt_w</p:attrName>
                                        </p:attrNameLst>
                                      </p:cBhvr>
                                      <p:tavLst>
                                        <p:tav tm="0">
                                          <p:val>
                                            <p:fltVal val="0"/>
                                          </p:val>
                                        </p:tav>
                                        <p:tav tm="100000">
                                          <p:val>
                                            <p:strVal val="#ppt_w"/>
                                          </p:val>
                                        </p:tav>
                                      </p:tavLst>
                                    </p:anim>
                                    <p:anim calcmode="lin" valueType="num">
                                      <p:cBhvr>
                                        <p:cTn id="89" dur="500" fill="hold"/>
                                        <p:tgtEl>
                                          <p:spTgt spid="122911"/>
                                        </p:tgtEl>
                                        <p:attrNameLst>
                                          <p:attrName>ppt_h</p:attrName>
                                        </p:attrNameLst>
                                      </p:cBhvr>
                                      <p:tavLst>
                                        <p:tav tm="0">
                                          <p:val>
                                            <p:fltVal val="0"/>
                                          </p:val>
                                        </p:tav>
                                        <p:tav tm="100000">
                                          <p:val>
                                            <p:strVal val="#ppt_h"/>
                                          </p:val>
                                        </p:tav>
                                      </p:tavLst>
                                    </p:anim>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499"/>
                                          </p:stCondLst>
                                        </p:cTn>
                                        <p:tgtEl>
                                          <p:spTgt spid="122916"/>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499"/>
                                          </p:stCondLst>
                                        </p:cTn>
                                        <p:tgtEl>
                                          <p:spTgt spid="122921"/>
                                        </p:tgtEl>
                                        <p:attrNameLst>
                                          <p:attrName>style.visibility</p:attrName>
                                        </p:attrNameLst>
                                      </p:cBhvr>
                                      <p:to>
                                        <p:strVal val="visible"/>
                                      </p:to>
                                    </p:set>
                                  </p:childTnLst>
                                  <p:subTnLst>
                                    <p:set>
                                      <p:cBhvr override="childStyle">
                                        <p:cTn dur="1" fill="hold" display="0" masterRel="nextClick" afterEffect="1"/>
                                        <p:tgtEl>
                                          <p:spTgt spid="122921"/>
                                        </p:tgtEl>
                                        <p:attrNameLst>
                                          <p:attrName>style.visibility</p:attrName>
                                        </p:attrNameLst>
                                      </p:cBhvr>
                                      <p:to>
                                        <p:strVal val="hidden"/>
                                      </p:to>
                                    </p:set>
                                  </p:subTnLst>
                                </p:cTn>
                              </p:par>
                            </p:childTnLst>
                          </p:cTn>
                        </p:par>
                      </p:childTnLst>
                    </p:cTn>
                  </p:par>
                  <p:par>
                    <p:cTn id="98" fill="hold">
                      <p:stCondLst>
                        <p:cond delay="indefinite"/>
                      </p:stCondLst>
                      <p:childTnLst>
                        <p:par>
                          <p:cTn id="99" fill="hold">
                            <p:stCondLst>
                              <p:cond delay="0"/>
                            </p:stCondLst>
                            <p:childTnLst>
                              <p:par>
                                <p:cTn id="100" presetID="23" presetClass="entr" presetSubtype="16" fill="hold" grpId="0" nodeType="clickEffect">
                                  <p:stCondLst>
                                    <p:cond delay="0"/>
                                  </p:stCondLst>
                                  <p:childTnLst>
                                    <p:set>
                                      <p:cBhvr>
                                        <p:cTn id="101" dur="1" fill="hold">
                                          <p:stCondLst>
                                            <p:cond delay="0"/>
                                          </p:stCondLst>
                                        </p:cTn>
                                        <p:tgtEl>
                                          <p:spTgt spid="122910"/>
                                        </p:tgtEl>
                                        <p:attrNameLst>
                                          <p:attrName>style.visibility</p:attrName>
                                        </p:attrNameLst>
                                      </p:cBhvr>
                                      <p:to>
                                        <p:strVal val="visible"/>
                                      </p:to>
                                    </p:set>
                                    <p:anim calcmode="lin" valueType="num">
                                      <p:cBhvr>
                                        <p:cTn id="102" dur="500" fill="hold"/>
                                        <p:tgtEl>
                                          <p:spTgt spid="122910"/>
                                        </p:tgtEl>
                                        <p:attrNameLst>
                                          <p:attrName>ppt_w</p:attrName>
                                        </p:attrNameLst>
                                      </p:cBhvr>
                                      <p:tavLst>
                                        <p:tav tm="0">
                                          <p:val>
                                            <p:fltVal val="0"/>
                                          </p:val>
                                        </p:tav>
                                        <p:tav tm="100000">
                                          <p:val>
                                            <p:strVal val="#ppt_w"/>
                                          </p:val>
                                        </p:tav>
                                      </p:tavLst>
                                    </p:anim>
                                    <p:anim calcmode="lin" valueType="num">
                                      <p:cBhvr>
                                        <p:cTn id="103" dur="500" fill="hold"/>
                                        <p:tgtEl>
                                          <p:spTgt spid="122910"/>
                                        </p:tgtEl>
                                        <p:attrNameLst>
                                          <p:attrName>ppt_h</p:attrName>
                                        </p:attrNameLst>
                                      </p:cBhvr>
                                      <p:tavLst>
                                        <p:tav tm="0">
                                          <p:val>
                                            <p:fltVal val="0"/>
                                          </p:val>
                                        </p:tav>
                                        <p:tav tm="100000">
                                          <p:val>
                                            <p:strVal val="#ppt_h"/>
                                          </p:val>
                                        </p:tav>
                                      </p:tavLst>
                                    </p:anim>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499"/>
                                          </p:stCondLst>
                                        </p:cTn>
                                        <p:tgtEl>
                                          <p:spTgt spid="122896"/>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22" presetClass="entr" presetSubtype="2" fill="hold" grpId="0" nodeType="clickEffect">
                                  <p:stCondLst>
                                    <p:cond delay="0"/>
                                  </p:stCondLst>
                                  <p:childTnLst>
                                    <p:set>
                                      <p:cBhvr>
                                        <p:cTn id="111" dur="1" fill="hold">
                                          <p:stCondLst>
                                            <p:cond delay="0"/>
                                          </p:stCondLst>
                                        </p:cTn>
                                        <p:tgtEl>
                                          <p:spTgt spid="122893"/>
                                        </p:tgtEl>
                                        <p:attrNameLst>
                                          <p:attrName>style.visibility</p:attrName>
                                        </p:attrNameLst>
                                      </p:cBhvr>
                                      <p:to>
                                        <p:strVal val="visible"/>
                                      </p:to>
                                    </p:set>
                                    <p:animEffect transition="in" filter="wipe(right)">
                                      <p:cBhvr>
                                        <p:cTn id="112" dur="500"/>
                                        <p:tgtEl>
                                          <p:spTgt spid="122893"/>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2" fill="hold" grpId="0" nodeType="clickEffect">
                                  <p:stCondLst>
                                    <p:cond delay="0"/>
                                  </p:stCondLst>
                                  <p:childTnLst>
                                    <p:set>
                                      <p:cBhvr>
                                        <p:cTn id="116" dur="1" fill="hold">
                                          <p:stCondLst>
                                            <p:cond delay="0"/>
                                          </p:stCondLst>
                                        </p:cTn>
                                        <p:tgtEl>
                                          <p:spTgt spid="122895"/>
                                        </p:tgtEl>
                                        <p:attrNameLst>
                                          <p:attrName>style.visibility</p:attrName>
                                        </p:attrNameLst>
                                      </p:cBhvr>
                                      <p:to>
                                        <p:strVal val="visible"/>
                                      </p:to>
                                    </p:set>
                                    <p:animEffect transition="in" filter="wipe(right)">
                                      <p:cBhvr>
                                        <p:cTn id="117" dur="500"/>
                                        <p:tgtEl>
                                          <p:spTgt spid="122895"/>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1" fill="hold" grpId="0" nodeType="clickEffect">
                                  <p:stCondLst>
                                    <p:cond delay="0"/>
                                  </p:stCondLst>
                                  <p:childTnLst>
                                    <p:set>
                                      <p:cBhvr>
                                        <p:cTn id="121" dur="1" fill="hold">
                                          <p:stCondLst>
                                            <p:cond delay="0"/>
                                          </p:stCondLst>
                                        </p:cTn>
                                        <p:tgtEl>
                                          <p:spTgt spid="122899"/>
                                        </p:tgtEl>
                                        <p:attrNameLst>
                                          <p:attrName>style.visibility</p:attrName>
                                        </p:attrNameLst>
                                      </p:cBhvr>
                                      <p:to>
                                        <p:strVal val="visible"/>
                                      </p:to>
                                    </p:set>
                                    <p:animEffect transition="in" filter="wipe(up)">
                                      <p:cBhvr>
                                        <p:cTn id="122" dur="500"/>
                                        <p:tgtEl>
                                          <p:spTgt spid="122899"/>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1" fill="hold" grpId="0" nodeType="clickEffect">
                                  <p:stCondLst>
                                    <p:cond delay="0"/>
                                  </p:stCondLst>
                                  <p:childTnLst>
                                    <p:set>
                                      <p:cBhvr>
                                        <p:cTn id="126" dur="1" fill="hold">
                                          <p:stCondLst>
                                            <p:cond delay="0"/>
                                          </p:stCondLst>
                                        </p:cTn>
                                        <p:tgtEl>
                                          <p:spTgt spid="122900"/>
                                        </p:tgtEl>
                                        <p:attrNameLst>
                                          <p:attrName>style.visibility</p:attrName>
                                        </p:attrNameLst>
                                      </p:cBhvr>
                                      <p:to>
                                        <p:strVal val="visible"/>
                                      </p:to>
                                    </p:set>
                                    <p:animEffect transition="in" filter="wipe(up)">
                                      <p:cBhvr>
                                        <p:cTn id="127" dur="500"/>
                                        <p:tgtEl>
                                          <p:spTgt spid="122900"/>
                                        </p:tgtEl>
                                      </p:cBhvr>
                                    </p:animEffec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499"/>
                                          </p:stCondLst>
                                        </p:cTn>
                                        <p:tgtEl>
                                          <p:spTgt spid="122901"/>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nodeType="clickEffect">
                                  <p:stCondLst>
                                    <p:cond delay="0"/>
                                  </p:stCondLst>
                                  <p:childTnLst>
                                    <p:set>
                                      <p:cBhvr>
                                        <p:cTn id="135" dur="1" fill="hold">
                                          <p:stCondLst>
                                            <p:cond delay="499"/>
                                          </p:stCondLst>
                                        </p:cTn>
                                        <p:tgtEl>
                                          <p:spTgt spid="122904"/>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22" presetClass="entr" presetSubtype="1" fill="hold" grpId="0" nodeType="clickEffect">
                                  <p:stCondLst>
                                    <p:cond delay="0"/>
                                  </p:stCondLst>
                                  <p:childTnLst>
                                    <p:set>
                                      <p:cBhvr>
                                        <p:cTn id="139" dur="1" fill="hold">
                                          <p:stCondLst>
                                            <p:cond delay="0"/>
                                          </p:stCondLst>
                                        </p:cTn>
                                        <p:tgtEl>
                                          <p:spTgt spid="122902"/>
                                        </p:tgtEl>
                                        <p:attrNameLst>
                                          <p:attrName>style.visibility</p:attrName>
                                        </p:attrNameLst>
                                      </p:cBhvr>
                                      <p:to>
                                        <p:strVal val="visible"/>
                                      </p:to>
                                    </p:set>
                                    <p:animEffect transition="in" filter="wipe(up)">
                                      <p:cBhvr>
                                        <p:cTn id="140" dur="500"/>
                                        <p:tgtEl>
                                          <p:spTgt spid="122902"/>
                                        </p:tgtEl>
                                      </p:cBhvr>
                                    </p:animEffec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nodeType="clickEffect">
                                  <p:stCondLst>
                                    <p:cond delay="0"/>
                                  </p:stCondLst>
                                  <p:childTnLst>
                                    <p:set>
                                      <p:cBhvr>
                                        <p:cTn id="144" dur="1" fill="hold">
                                          <p:stCondLst>
                                            <p:cond delay="499"/>
                                          </p:stCondLst>
                                        </p:cTn>
                                        <p:tgtEl>
                                          <p:spTgt spid="122905"/>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7" presetClass="entr" presetSubtype="4" fill="hold" grpId="0" nodeType="clickEffect">
                                  <p:stCondLst>
                                    <p:cond delay="0"/>
                                  </p:stCondLst>
                                  <p:childTnLst>
                                    <p:set>
                                      <p:cBhvr>
                                        <p:cTn id="148" dur="1" fill="hold">
                                          <p:stCondLst>
                                            <p:cond delay="0"/>
                                          </p:stCondLst>
                                        </p:cTn>
                                        <p:tgtEl>
                                          <p:spTgt spid="122906"/>
                                        </p:tgtEl>
                                        <p:attrNameLst>
                                          <p:attrName>style.visibility</p:attrName>
                                        </p:attrNameLst>
                                      </p:cBhvr>
                                      <p:to>
                                        <p:strVal val="visible"/>
                                      </p:to>
                                    </p:set>
                                    <p:anim calcmode="lin" valueType="num">
                                      <p:cBhvr>
                                        <p:cTn id="149" dur="500" fill="hold"/>
                                        <p:tgtEl>
                                          <p:spTgt spid="122906"/>
                                        </p:tgtEl>
                                        <p:attrNameLst>
                                          <p:attrName>ppt_x</p:attrName>
                                        </p:attrNameLst>
                                      </p:cBhvr>
                                      <p:tavLst>
                                        <p:tav tm="0">
                                          <p:val>
                                            <p:strVal val="#ppt_x"/>
                                          </p:val>
                                        </p:tav>
                                        <p:tav tm="100000">
                                          <p:val>
                                            <p:strVal val="#ppt_x"/>
                                          </p:val>
                                        </p:tav>
                                      </p:tavLst>
                                    </p:anim>
                                    <p:anim calcmode="lin" valueType="num">
                                      <p:cBhvr>
                                        <p:cTn id="150" dur="500" fill="hold"/>
                                        <p:tgtEl>
                                          <p:spTgt spid="122906"/>
                                        </p:tgtEl>
                                        <p:attrNameLst>
                                          <p:attrName>ppt_y</p:attrName>
                                        </p:attrNameLst>
                                      </p:cBhvr>
                                      <p:tavLst>
                                        <p:tav tm="0">
                                          <p:val>
                                            <p:strVal val="#ppt_y+#ppt_h/2"/>
                                          </p:val>
                                        </p:tav>
                                        <p:tav tm="100000">
                                          <p:val>
                                            <p:strVal val="#ppt_y"/>
                                          </p:val>
                                        </p:tav>
                                      </p:tavLst>
                                    </p:anim>
                                    <p:anim calcmode="lin" valueType="num">
                                      <p:cBhvr>
                                        <p:cTn id="151" dur="500" fill="hold"/>
                                        <p:tgtEl>
                                          <p:spTgt spid="122906"/>
                                        </p:tgtEl>
                                        <p:attrNameLst>
                                          <p:attrName>ppt_w</p:attrName>
                                        </p:attrNameLst>
                                      </p:cBhvr>
                                      <p:tavLst>
                                        <p:tav tm="0">
                                          <p:val>
                                            <p:strVal val="#ppt_w"/>
                                          </p:val>
                                        </p:tav>
                                        <p:tav tm="100000">
                                          <p:val>
                                            <p:strVal val="#ppt_w"/>
                                          </p:val>
                                        </p:tav>
                                      </p:tavLst>
                                    </p:anim>
                                    <p:anim calcmode="lin" valueType="num">
                                      <p:cBhvr>
                                        <p:cTn id="152" dur="500" fill="hold"/>
                                        <p:tgtEl>
                                          <p:spTgt spid="122906"/>
                                        </p:tgtEl>
                                        <p:attrNameLst>
                                          <p:attrName>ppt_h</p:attrName>
                                        </p:attrNameLst>
                                      </p:cBhvr>
                                      <p:tavLst>
                                        <p:tav tm="0">
                                          <p:val>
                                            <p:fltVal val="0"/>
                                          </p:val>
                                        </p:tav>
                                        <p:tav tm="100000">
                                          <p:val>
                                            <p:strVal val="#ppt_h"/>
                                          </p:val>
                                        </p:tav>
                                      </p:tavLst>
                                    </p:anim>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499"/>
                                          </p:stCondLst>
                                        </p:cTn>
                                        <p:tgtEl>
                                          <p:spTgt spid="122907"/>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22" presetClass="entr" presetSubtype="8" fill="hold" grpId="0" nodeType="clickEffect">
                                  <p:stCondLst>
                                    <p:cond delay="0"/>
                                  </p:stCondLst>
                                  <p:childTnLst>
                                    <p:set>
                                      <p:cBhvr>
                                        <p:cTn id="160" dur="1" fill="hold">
                                          <p:stCondLst>
                                            <p:cond delay="0"/>
                                          </p:stCondLst>
                                        </p:cTn>
                                        <p:tgtEl>
                                          <p:spTgt spid="122892"/>
                                        </p:tgtEl>
                                        <p:attrNameLst>
                                          <p:attrName>style.visibility</p:attrName>
                                        </p:attrNameLst>
                                      </p:cBhvr>
                                      <p:to>
                                        <p:strVal val="visible"/>
                                      </p:to>
                                    </p:set>
                                    <p:animEffect transition="in" filter="wipe(left)">
                                      <p:cBhvr>
                                        <p:cTn id="161" dur="500"/>
                                        <p:tgtEl>
                                          <p:spTgt spid="122892"/>
                                        </p:tgtEl>
                                      </p:cBhvr>
                                    </p:animEffect>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nodeType="clickEffect">
                                  <p:stCondLst>
                                    <p:cond delay="0"/>
                                  </p:stCondLst>
                                  <p:childTnLst>
                                    <p:set>
                                      <p:cBhvr>
                                        <p:cTn id="165" dur="1" fill="hold">
                                          <p:stCondLst>
                                            <p:cond delay="499"/>
                                          </p:stCondLst>
                                        </p:cTn>
                                        <p:tgtEl>
                                          <p:spTgt spid="122884"/>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grpId="0" nodeType="clickEffect">
                                  <p:stCondLst>
                                    <p:cond delay="0"/>
                                  </p:stCondLst>
                                  <p:childTnLst>
                                    <p:set>
                                      <p:cBhvr>
                                        <p:cTn id="169" dur="1" fill="hold">
                                          <p:stCondLst>
                                            <p:cond delay="499"/>
                                          </p:stCondLst>
                                        </p:cTn>
                                        <p:tgtEl>
                                          <p:spTgt spid="122886"/>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22" presetClass="entr" presetSubtype="8" fill="hold" nodeType="clickEffect">
                                  <p:stCondLst>
                                    <p:cond delay="0"/>
                                  </p:stCondLst>
                                  <p:childTnLst>
                                    <p:set>
                                      <p:cBhvr>
                                        <p:cTn id="173" dur="1" fill="hold">
                                          <p:stCondLst>
                                            <p:cond delay="0"/>
                                          </p:stCondLst>
                                        </p:cTn>
                                        <p:tgtEl>
                                          <p:spTgt spid="122887"/>
                                        </p:tgtEl>
                                        <p:attrNameLst>
                                          <p:attrName>style.visibility</p:attrName>
                                        </p:attrNameLst>
                                      </p:cBhvr>
                                      <p:to>
                                        <p:strVal val="visible"/>
                                      </p:to>
                                    </p:set>
                                    <p:animEffect transition="in" filter="wipe(left)">
                                      <p:cBhvr>
                                        <p:cTn id="174" dur="500"/>
                                        <p:tgtEl>
                                          <p:spTgt spid="122887"/>
                                        </p:tgtEl>
                                      </p:cBhvr>
                                    </p:animEffect>
                                  </p:childTnLst>
                                </p:cTn>
                              </p:par>
                            </p:childTnLst>
                          </p:cTn>
                        </p:par>
                      </p:childTnLst>
                    </p:cTn>
                  </p:par>
                  <p:par>
                    <p:cTn id="175" fill="hold">
                      <p:stCondLst>
                        <p:cond delay="indefinite"/>
                      </p:stCondLst>
                      <p:childTnLst>
                        <p:par>
                          <p:cTn id="176" fill="hold">
                            <p:stCondLst>
                              <p:cond delay="0"/>
                            </p:stCondLst>
                            <p:childTnLst>
                              <p:par>
                                <p:cTn id="177" presetID="22" presetClass="entr" presetSubtype="8" fill="hold" nodeType="clickEffect">
                                  <p:stCondLst>
                                    <p:cond delay="0"/>
                                  </p:stCondLst>
                                  <p:childTnLst>
                                    <p:set>
                                      <p:cBhvr>
                                        <p:cTn id="178" dur="1" fill="hold">
                                          <p:stCondLst>
                                            <p:cond delay="0"/>
                                          </p:stCondLst>
                                        </p:cTn>
                                        <p:tgtEl>
                                          <p:spTgt spid="122888"/>
                                        </p:tgtEl>
                                        <p:attrNameLst>
                                          <p:attrName>style.visibility</p:attrName>
                                        </p:attrNameLst>
                                      </p:cBhvr>
                                      <p:to>
                                        <p:strVal val="visible"/>
                                      </p:to>
                                    </p:set>
                                    <p:animEffect transition="in" filter="wipe(left)">
                                      <p:cBhvr>
                                        <p:cTn id="179" dur="500"/>
                                        <p:tgtEl>
                                          <p:spTgt spid="122888"/>
                                        </p:tgtEl>
                                      </p:cBhvr>
                                    </p:animEffect>
                                  </p:childTnLst>
                                </p:cTn>
                              </p:par>
                            </p:childTnLst>
                          </p:cTn>
                        </p:par>
                      </p:childTnLst>
                    </p:cTn>
                  </p:par>
                  <p:par>
                    <p:cTn id="180" fill="hold">
                      <p:stCondLst>
                        <p:cond delay="indefinite"/>
                      </p:stCondLst>
                      <p:childTnLst>
                        <p:par>
                          <p:cTn id="181" fill="hold">
                            <p:stCondLst>
                              <p:cond delay="0"/>
                            </p:stCondLst>
                            <p:childTnLst>
                              <p:par>
                                <p:cTn id="182" presetID="22" presetClass="entr" presetSubtype="8" fill="hold" grpId="0" nodeType="clickEffect">
                                  <p:stCondLst>
                                    <p:cond delay="0"/>
                                  </p:stCondLst>
                                  <p:childTnLst>
                                    <p:set>
                                      <p:cBhvr>
                                        <p:cTn id="183" dur="1" fill="hold">
                                          <p:stCondLst>
                                            <p:cond delay="0"/>
                                          </p:stCondLst>
                                        </p:cTn>
                                        <p:tgtEl>
                                          <p:spTgt spid="122889"/>
                                        </p:tgtEl>
                                        <p:attrNameLst>
                                          <p:attrName>style.visibility</p:attrName>
                                        </p:attrNameLst>
                                      </p:cBhvr>
                                      <p:to>
                                        <p:strVal val="visible"/>
                                      </p:to>
                                    </p:set>
                                    <p:animEffect transition="in" filter="wipe(left)">
                                      <p:cBhvr>
                                        <p:cTn id="184" dur="500"/>
                                        <p:tgtEl>
                                          <p:spTgt spid="122889"/>
                                        </p:tgtEl>
                                      </p:cBhvr>
                                    </p:animEffect>
                                  </p:childTnLst>
                                </p:cTn>
                              </p:par>
                            </p:childTnLst>
                          </p:cTn>
                        </p:par>
                      </p:childTnLst>
                    </p:cTn>
                  </p:par>
                  <p:par>
                    <p:cTn id="185" fill="hold">
                      <p:stCondLst>
                        <p:cond delay="indefinite"/>
                      </p:stCondLst>
                      <p:childTnLst>
                        <p:par>
                          <p:cTn id="186" fill="hold">
                            <p:stCondLst>
                              <p:cond delay="0"/>
                            </p:stCondLst>
                            <p:childTnLst>
                              <p:par>
                                <p:cTn id="187" presetID="22" presetClass="entr" presetSubtype="8" fill="hold" grpId="0" nodeType="clickEffect">
                                  <p:stCondLst>
                                    <p:cond delay="0"/>
                                  </p:stCondLst>
                                  <p:iterate type="wd">
                                    <p:tmPct val="100000"/>
                                  </p:iterate>
                                  <p:childTnLst>
                                    <p:set>
                                      <p:cBhvr>
                                        <p:cTn id="188" dur="1" fill="hold">
                                          <p:stCondLst>
                                            <p:cond delay="0"/>
                                          </p:stCondLst>
                                        </p:cTn>
                                        <p:tgtEl>
                                          <p:spTgt spid="122882"/>
                                        </p:tgtEl>
                                        <p:attrNameLst>
                                          <p:attrName>style.visibility</p:attrName>
                                        </p:attrNameLst>
                                      </p:cBhvr>
                                      <p:to>
                                        <p:strVal val="visible"/>
                                      </p:to>
                                    </p:set>
                                    <p:animEffect transition="in" filter="wipe(left)">
                                      <p:cBhvr>
                                        <p:cTn id="189" dur="300"/>
                                        <p:tgtEl>
                                          <p:spTgt spid="1228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 grpId="0" autoUpdateAnimBg="0"/>
      <p:bldP spid="122883" grpId="0" autoUpdateAnimBg="0"/>
      <p:bldP spid="122885" grpId="0" autoUpdateAnimBg="0"/>
      <p:bldP spid="122886" grpId="0" autoUpdateAnimBg="0"/>
      <p:bldP spid="122889" grpId="0" autoUpdateAnimBg="0"/>
      <p:bldP spid="122890" grpId="0" autoUpdateAnimBg="0"/>
      <p:bldP spid="122891" grpId="0" autoUpdateAnimBg="0"/>
      <p:bldP spid="122892" grpId="0" autoUpdateAnimBg="0"/>
      <p:bldP spid="122893" grpId="0" animBg="1"/>
      <p:bldP spid="122895" grpId="0" animBg="1"/>
      <p:bldP spid="122898" grpId="0" animBg="1"/>
      <p:bldP spid="122899" grpId="0" animBg="1"/>
      <p:bldP spid="122900" grpId="0" animBg="1"/>
      <p:bldP spid="122901" grpId="0" animBg="1"/>
      <p:bldP spid="122902" grpId="0" animBg="1"/>
      <p:bldP spid="122903" grpId="0" animBg="1"/>
      <p:bldP spid="122906" grpId="0" animBg="1"/>
      <p:bldP spid="122908" grpId="0" animBg="1"/>
      <p:bldP spid="122909" grpId="0" animBg="1" autoUpdateAnimBg="0"/>
      <p:bldP spid="122910" grpId="0" animBg="1"/>
      <p:bldP spid="122911" grpId="0" animBg="1"/>
      <p:bldP spid="122912" grpId="0" animBg="1"/>
      <p:bldP spid="122914" grpId="0" animBg="1" autoUpdateAnimBg="0"/>
      <p:bldP spid="122915" grpId="0" animBg="1" autoUpdateAnimBg="0"/>
      <p:bldP spid="122916" grpId="0" animBg="1" autoUpdateAnimBg="0"/>
      <p:bldP spid="12292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4" descr="f677b1c34e5da74ab319a8a9">
            <a:hlinkClick r:id="rId2"/>
          </p:cNvPr>
          <p:cNvPicPr>
            <a:picLocks noChangeAspect="1" noChangeArrowheads="1"/>
          </p:cNvPicPr>
          <p:nvPr/>
        </p:nvPicPr>
        <p:blipFill>
          <a:blip r:embed="rId3"/>
          <a:srcRect/>
          <a:stretch>
            <a:fillRect/>
          </a:stretch>
        </p:blipFill>
        <p:spPr bwMode="auto">
          <a:xfrm>
            <a:off x="827088" y="620713"/>
            <a:ext cx="3382962" cy="2538412"/>
          </a:xfrm>
          <a:prstGeom prst="rect">
            <a:avLst/>
          </a:prstGeom>
          <a:noFill/>
          <a:ln w="9525">
            <a:noFill/>
            <a:miter lim="800000"/>
            <a:headEnd/>
            <a:tailEnd/>
          </a:ln>
        </p:spPr>
      </p:pic>
      <p:sp>
        <p:nvSpPr>
          <p:cNvPr id="66563" name="Text Box 5"/>
          <p:cNvSpPr txBox="1">
            <a:spLocks noChangeArrowheads="1"/>
          </p:cNvSpPr>
          <p:nvPr/>
        </p:nvSpPr>
        <p:spPr bwMode="auto">
          <a:xfrm>
            <a:off x="5003800" y="981075"/>
            <a:ext cx="3200400" cy="1552575"/>
          </a:xfrm>
          <a:prstGeom prst="rect">
            <a:avLst/>
          </a:prstGeom>
          <a:noFill/>
          <a:ln w="9525">
            <a:noFill/>
            <a:miter lim="800000"/>
            <a:headEnd/>
            <a:tailEnd/>
          </a:ln>
        </p:spPr>
        <p:txBody>
          <a:bodyPr>
            <a:spAutoFit/>
          </a:bodyPr>
          <a:lstStyle/>
          <a:p>
            <a:pPr>
              <a:spcBef>
                <a:spcPct val="50000"/>
              </a:spcBef>
            </a:pPr>
            <a:r>
              <a:rPr kumimoji="0" lang="zh-CN" altLang="en-US" b="1">
                <a:latin typeface="Arial" pitchFamily="34" charset="0"/>
              </a:rPr>
              <a:t>多普勒雷达就是利用多普勒效应进行定位，测速，测距等工作的雷达。 </a:t>
            </a:r>
          </a:p>
        </p:txBody>
      </p:sp>
      <p:pic>
        <p:nvPicPr>
          <p:cNvPr id="66564" name="Picture 6" descr="测车速"/>
          <p:cNvPicPr>
            <a:picLocks noChangeAspect="1" noChangeArrowheads="1"/>
          </p:cNvPicPr>
          <p:nvPr/>
        </p:nvPicPr>
        <p:blipFill>
          <a:blip r:embed="rId4"/>
          <a:srcRect/>
          <a:stretch>
            <a:fillRect/>
          </a:stretch>
        </p:blipFill>
        <p:spPr bwMode="auto">
          <a:xfrm>
            <a:off x="3995738" y="3284538"/>
            <a:ext cx="4537075" cy="32527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ext Box 2"/>
          <p:cNvSpPr txBox="1">
            <a:spLocks noChangeArrowheads="1"/>
          </p:cNvSpPr>
          <p:nvPr/>
        </p:nvSpPr>
        <p:spPr bwMode="auto">
          <a:xfrm>
            <a:off x="635000" y="441325"/>
            <a:ext cx="8229600" cy="933450"/>
          </a:xfrm>
          <a:prstGeom prst="rect">
            <a:avLst/>
          </a:prstGeom>
          <a:noFill/>
          <a:ln w="9525">
            <a:noFill/>
            <a:miter lim="800000"/>
            <a:headEnd/>
            <a:tailEnd/>
          </a:ln>
        </p:spPr>
        <p:txBody>
          <a:bodyPr>
            <a:spAutoFit/>
          </a:bodyPr>
          <a:lstStyle/>
          <a:p>
            <a:pPr>
              <a:lnSpc>
                <a:spcPct val="115000"/>
              </a:lnSpc>
            </a:pPr>
            <a:r>
              <a:rPr lang="zh-CN" altLang="en-US" b="1"/>
              <a:t>一警笛发射频率为</a:t>
            </a:r>
            <a:r>
              <a:rPr lang="en-US" altLang="zh-CN" b="1">
                <a:solidFill>
                  <a:srgbClr val="0033CC"/>
                </a:solidFill>
              </a:rPr>
              <a:t>1500 Hz</a:t>
            </a:r>
            <a:r>
              <a:rPr lang="en-US" altLang="zh-CN" b="1"/>
              <a:t> </a:t>
            </a:r>
            <a:r>
              <a:rPr lang="zh-CN" altLang="en-US" b="1"/>
              <a:t>的声波，并以</a:t>
            </a:r>
            <a:r>
              <a:rPr lang="en-US" altLang="zh-CN" b="1">
                <a:solidFill>
                  <a:srgbClr val="0033CC"/>
                </a:solidFill>
              </a:rPr>
              <a:t>22 m/s</a:t>
            </a:r>
            <a:r>
              <a:rPr lang="en-US" altLang="zh-CN" b="1"/>
              <a:t> </a:t>
            </a:r>
            <a:r>
              <a:rPr lang="zh-CN" altLang="en-US" b="1"/>
              <a:t>的速度向某一方向运动，一人以</a:t>
            </a:r>
            <a:r>
              <a:rPr lang="en-US" altLang="zh-CN" b="1">
                <a:solidFill>
                  <a:srgbClr val="0033CC"/>
                </a:solidFill>
              </a:rPr>
              <a:t>6 m/s</a:t>
            </a:r>
            <a:r>
              <a:rPr lang="en-US" altLang="zh-CN" b="1"/>
              <a:t> </a:t>
            </a:r>
            <a:r>
              <a:rPr lang="zh-CN" altLang="en-US" b="1"/>
              <a:t>的速度跟踪其后</a:t>
            </a:r>
            <a:r>
              <a:rPr lang="en-US" altLang="zh-CN" b="1"/>
              <a:t>.</a:t>
            </a:r>
          </a:p>
        </p:txBody>
      </p:sp>
      <p:graphicFrame>
        <p:nvGraphicFramePr>
          <p:cNvPr id="51202" name="Object 3"/>
          <p:cNvGraphicFramePr>
            <a:graphicFrameLocks noChangeAspect="1"/>
          </p:cNvGraphicFramePr>
          <p:nvPr/>
        </p:nvGraphicFramePr>
        <p:xfrm>
          <a:off x="4514850" y="2633663"/>
          <a:ext cx="114300" cy="215900"/>
        </p:xfrm>
        <a:graphic>
          <a:graphicData uri="http://schemas.openxmlformats.org/presentationml/2006/ole">
            <p:oleObj spid="_x0000_s51202" name="Equation" r:id="rId3" imgW="114120" imgH="215640" progId="Equation.3">
              <p:embed/>
            </p:oleObj>
          </a:graphicData>
        </a:graphic>
      </p:graphicFrame>
      <p:graphicFrame>
        <p:nvGraphicFramePr>
          <p:cNvPr id="123908" name="Object 4"/>
          <p:cNvGraphicFramePr>
            <a:graphicFrameLocks noChangeAspect="1"/>
          </p:cNvGraphicFramePr>
          <p:nvPr/>
        </p:nvGraphicFramePr>
        <p:xfrm>
          <a:off x="2057400" y="2895600"/>
          <a:ext cx="4887913" cy="803275"/>
        </p:xfrm>
        <a:graphic>
          <a:graphicData uri="http://schemas.openxmlformats.org/presentationml/2006/ole">
            <p:oleObj spid="_x0000_s51203" name="Equation" r:id="rId4" imgW="2717640" imgH="444240" progId="Equation.3">
              <p:embed/>
            </p:oleObj>
          </a:graphicData>
        </a:graphic>
      </p:graphicFrame>
      <p:graphicFrame>
        <p:nvGraphicFramePr>
          <p:cNvPr id="123909" name="Object 5"/>
          <p:cNvGraphicFramePr>
            <a:graphicFrameLocks noChangeAspect="1"/>
          </p:cNvGraphicFramePr>
          <p:nvPr/>
        </p:nvGraphicFramePr>
        <p:xfrm>
          <a:off x="2209800" y="4343400"/>
          <a:ext cx="4772025" cy="800100"/>
        </p:xfrm>
        <a:graphic>
          <a:graphicData uri="http://schemas.openxmlformats.org/presentationml/2006/ole">
            <p:oleObj spid="_x0000_s51204" name="Equation" r:id="rId5" imgW="2654280" imgH="444240" progId="Equation.3">
              <p:embed/>
            </p:oleObj>
          </a:graphicData>
        </a:graphic>
      </p:graphicFrame>
      <p:graphicFrame>
        <p:nvGraphicFramePr>
          <p:cNvPr id="123910" name="Object 6"/>
          <p:cNvGraphicFramePr>
            <a:graphicFrameLocks noChangeAspect="1"/>
          </p:cNvGraphicFramePr>
          <p:nvPr/>
        </p:nvGraphicFramePr>
        <p:xfrm>
          <a:off x="2209800" y="5715000"/>
          <a:ext cx="4024313" cy="800100"/>
        </p:xfrm>
        <a:graphic>
          <a:graphicData uri="http://schemas.openxmlformats.org/presentationml/2006/ole">
            <p:oleObj spid="_x0000_s51205" name="Equation" r:id="rId6" imgW="2234880" imgH="444240" progId="Equation.3">
              <p:embed/>
            </p:oleObj>
          </a:graphicData>
        </a:graphic>
      </p:graphicFrame>
      <p:sp>
        <p:nvSpPr>
          <p:cNvPr id="51207" name="Text Box 7"/>
          <p:cNvSpPr txBox="1">
            <a:spLocks noChangeArrowheads="1"/>
          </p:cNvSpPr>
          <p:nvPr/>
        </p:nvSpPr>
        <p:spPr bwMode="auto">
          <a:xfrm>
            <a:off x="0" y="3692525"/>
            <a:ext cx="1981200" cy="457200"/>
          </a:xfrm>
          <a:prstGeom prst="rect">
            <a:avLst/>
          </a:prstGeom>
          <a:noFill/>
          <a:ln w="9525">
            <a:noFill/>
            <a:miter lim="800000"/>
            <a:headEnd/>
            <a:tailEnd/>
          </a:ln>
        </p:spPr>
        <p:txBody>
          <a:bodyPr>
            <a:spAutoFit/>
          </a:bodyPr>
          <a:lstStyle/>
          <a:p>
            <a:pPr algn="ctr">
              <a:spcBef>
                <a:spcPct val="50000"/>
              </a:spcBef>
            </a:pPr>
            <a:endParaRPr lang="zh-CN" altLang="zh-CN" b="1">
              <a:ea typeface="仿宋_GB2312" pitchFamily="49" charset="-122"/>
            </a:endParaRPr>
          </a:p>
        </p:txBody>
      </p:sp>
      <p:sp>
        <p:nvSpPr>
          <p:cNvPr id="123912" name="Rectangle 8"/>
          <p:cNvSpPr>
            <a:spLocks noChangeArrowheads="1"/>
          </p:cNvSpPr>
          <p:nvPr/>
        </p:nvSpPr>
        <p:spPr bwMode="auto">
          <a:xfrm>
            <a:off x="714375" y="2286000"/>
            <a:ext cx="7134225" cy="457200"/>
          </a:xfrm>
          <a:prstGeom prst="rect">
            <a:avLst/>
          </a:prstGeom>
          <a:noFill/>
          <a:ln w="9525">
            <a:noFill/>
            <a:miter lim="800000"/>
            <a:headEnd/>
            <a:tailEnd/>
          </a:ln>
        </p:spPr>
        <p:txBody>
          <a:bodyPr>
            <a:spAutoFit/>
          </a:bodyPr>
          <a:lstStyle/>
          <a:p>
            <a:pPr algn="ctr"/>
            <a:r>
              <a:rPr lang="zh-CN" altLang="en-US" b="1">
                <a:latin typeface="楷体_GB2312" pitchFamily="49" charset="-122"/>
                <a:ea typeface="楷体_GB2312" pitchFamily="49" charset="-122"/>
              </a:rPr>
              <a:t>观察者接收到的频率</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波源和观察者同时运动 </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a:t>
            </a:r>
          </a:p>
        </p:txBody>
      </p:sp>
      <p:sp>
        <p:nvSpPr>
          <p:cNvPr id="123913" name="Rectangle 9"/>
          <p:cNvSpPr>
            <a:spLocks noChangeArrowheads="1"/>
          </p:cNvSpPr>
          <p:nvPr/>
        </p:nvSpPr>
        <p:spPr bwMode="auto">
          <a:xfrm>
            <a:off x="598488" y="3749675"/>
            <a:ext cx="8001000" cy="457200"/>
          </a:xfrm>
          <a:prstGeom prst="rect">
            <a:avLst/>
          </a:prstGeom>
          <a:noFill/>
          <a:ln w="9525">
            <a:noFill/>
            <a:miter lim="800000"/>
            <a:headEnd/>
            <a:tailEnd/>
          </a:ln>
        </p:spPr>
        <p:txBody>
          <a:bodyPr wrap="none">
            <a:spAutoFit/>
          </a:bodyPr>
          <a:lstStyle/>
          <a:p>
            <a:pPr algn="ctr"/>
            <a:r>
              <a:rPr lang="zh-CN" altLang="en-US" b="1">
                <a:latin typeface="楷体_GB2312" pitchFamily="49" charset="-122"/>
                <a:ea typeface="楷体_GB2312" pitchFamily="49" charset="-122"/>
              </a:rPr>
              <a:t>警笛后方空气中声波的频率</a:t>
            </a:r>
            <a:r>
              <a:rPr lang="en-US" altLang="zh-CN" b="1">
                <a:latin typeface="楷体_GB2312" pitchFamily="49" charset="-122"/>
                <a:ea typeface="楷体_GB2312" pitchFamily="49" charset="-122"/>
                <a:sym typeface="Wingdings" pitchFamily="2" charset="2"/>
              </a:rPr>
              <a:t>( </a:t>
            </a:r>
            <a:r>
              <a:rPr lang="zh-CN" altLang="en-US" b="1">
                <a:latin typeface="楷体_GB2312" pitchFamily="49" charset="-122"/>
                <a:ea typeface="楷体_GB2312" pitchFamily="49" charset="-122"/>
              </a:rPr>
              <a:t>观察者静止，波源运动 </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a:t>
            </a:r>
          </a:p>
        </p:txBody>
      </p:sp>
      <p:sp>
        <p:nvSpPr>
          <p:cNvPr id="123914" name="Rectangle 10"/>
          <p:cNvSpPr>
            <a:spLocks noChangeArrowheads="1"/>
          </p:cNvSpPr>
          <p:nvPr/>
        </p:nvSpPr>
        <p:spPr bwMode="auto">
          <a:xfrm>
            <a:off x="712788" y="5208588"/>
            <a:ext cx="5083175" cy="457200"/>
          </a:xfrm>
          <a:prstGeom prst="rect">
            <a:avLst/>
          </a:prstGeom>
          <a:noFill/>
          <a:ln w="9525">
            <a:noFill/>
            <a:miter lim="800000"/>
            <a:headEnd/>
            <a:tailEnd/>
          </a:ln>
        </p:spPr>
        <p:txBody>
          <a:bodyPr>
            <a:spAutoFit/>
          </a:bodyPr>
          <a:lstStyle/>
          <a:p>
            <a:r>
              <a:rPr lang="zh-CN" altLang="en-US" b="1">
                <a:latin typeface="楷体_GB2312" pitchFamily="49" charset="-122"/>
                <a:ea typeface="楷体_GB2312" pitchFamily="49" charset="-122"/>
              </a:rPr>
              <a:t>警笛后方空气中声波的波长</a:t>
            </a:r>
            <a:r>
              <a:rPr lang="en-US" altLang="zh-CN" b="1">
                <a:latin typeface="楷体_GB2312" pitchFamily="49" charset="-122"/>
                <a:ea typeface="楷体_GB2312" pitchFamily="49" charset="-122"/>
              </a:rPr>
              <a:t>:</a:t>
            </a:r>
          </a:p>
        </p:txBody>
      </p:sp>
      <p:sp>
        <p:nvSpPr>
          <p:cNvPr id="123915" name="Text Box 11"/>
          <p:cNvSpPr txBox="1">
            <a:spLocks noChangeArrowheads="1"/>
          </p:cNvSpPr>
          <p:nvPr/>
        </p:nvSpPr>
        <p:spPr bwMode="auto">
          <a:xfrm>
            <a:off x="152400" y="457200"/>
            <a:ext cx="492125" cy="457200"/>
          </a:xfrm>
          <a:prstGeom prst="rect">
            <a:avLst/>
          </a:prstGeom>
          <a:noFill/>
          <a:ln w="9525">
            <a:noFill/>
            <a:miter lim="800000"/>
            <a:headEnd/>
            <a:tailEnd/>
          </a:ln>
        </p:spPr>
        <p:txBody>
          <a:bodyPr wrap="none" anchor="ctr">
            <a:spAutoFit/>
          </a:bodyPr>
          <a:lstStyle/>
          <a:p>
            <a:pPr algn="ctr"/>
            <a:r>
              <a:rPr lang="zh-CN" altLang="en-US" b="1">
                <a:solidFill>
                  <a:srgbClr val="FF3300"/>
                </a:solidFill>
              </a:rPr>
              <a:t>例</a:t>
            </a:r>
          </a:p>
        </p:txBody>
      </p:sp>
      <p:sp>
        <p:nvSpPr>
          <p:cNvPr id="123916" name="Text Box 12"/>
          <p:cNvSpPr txBox="1">
            <a:spLocks noChangeArrowheads="1"/>
          </p:cNvSpPr>
          <p:nvPr/>
        </p:nvSpPr>
        <p:spPr bwMode="auto">
          <a:xfrm>
            <a:off x="152400" y="2286000"/>
            <a:ext cx="492125" cy="457200"/>
          </a:xfrm>
          <a:prstGeom prst="rect">
            <a:avLst/>
          </a:prstGeom>
          <a:noFill/>
          <a:ln w="9525">
            <a:noFill/>
            <a:miter lim="800000"/>
            <a:headEnd/>
            <a:tailEnd/>
          </a:ln>
        </p:spPr>
        <p:txBody>
          <a:bodyPr wrap="none" anchor="ctr">
            <a:spAutoFit/>
          </a:bodyPr>
          <a:lstStyle/>
          <a:p>
            <a:pPr algn="ctr"/>
            <a:r>
              <a:rPr lang="zh-CN" altLang="en-US" b="1">
                <a:solidFill>
                  <a:srgbClr val="FF3300"/>
                </a:solidFill>
              </a:rPr>
              <a:t>解</a:t>
            </a:r>
          </a:p>
        </p:txBody>
      </p:sp>
      <p:sp>
        <p:nvSpPr>
          <p:cNvPr id="123917" name="Rectangle 13"/>
          <p:cNvSpPr>
            <a:spLocks noChangeArrowheads="1"/>
          </p:cNvSpPr>
          <p:nvPr/>
        </p:nvSpPr>
        <p:spPr bwMode="auto">
          <a:xfrm>
            <a:off x="735013" y="1276350"/>
            <a:ext cx="8208962" cy="933450"/>
          </a:xfrm>
          <a:prstGeom prst="rect">
            <a:avLst/>
          </a:prstGeom>
          <a:noFill/>
          <a:ln w="9525">
            <a:noFill/>
            <a:miter lim="800000"/>
            <a:headEnd/>
            <a:tailEnd/>
          </a:ln>
        </p:spPr>
        <p:txBody>
          <a:bodyPr>
            <a:spAutoFit/>
          </a:bodyPr>
          <a:lstStyle/>
          <a:p>
            <a:pPr>
              <a:lnSpc>
                <a:spcPct val="115000"/>
              </a:lnSpc>
            </a:pPr>
            <a:r>
              <a:rPr lang="zh-CN" altLang="en-US" b="1"/>
              <a:t>该人听到的警笛发出的声音的频率以及在警笛后方空气中声波的波长？</a:t>
            </a:r>
          </a:p>
        </p:txBody>
      </p:sp>
      <p:sp>
        <p:nvSpPr>
          <p:cNvPr id="123918" name="Rectangle 14"/>
          <p:cNvSpPr>
            <a:spLocks noChangeArrowheads="1"/>
          </p:cNvSpPr>
          <p:nvPr/>
        </p:nvSpPr>
        <p:spPr bwMode="auto">
          <a:xfrm>
            <a:off x="119063" y="1295400"/>
            <a:ext cx="490537" cy="457200"/>
          </a:xfrm>
          <a:prstGeom prst="rect">
            <a:avLst/>
          </a:prstGeom>
          <a:noFill/>
          <a:ln w="9525">
            <a:noFill/>
            <a:miter lim="800000"/>
            <a:headEnd/>
            <a:tailEnd/>
          </a:ln>
        </p:spPr>
        <p:txBody>
          <a:bodyPr wrap="none">
            <a:spAutoFit/>
          </a:bodyPr>
          <a:lstStyle/>
          <a:p>
            <a:r>
              <a:rPr lang="zh-CN" altLang="en-US" b="1">
                <a:solidFill>
                  <a:srgbClr val="FF3300"/>
                </a:solidFill>
              </a:rPr>
              <a:t>求</a:t>
            </a:r>
          </a:p>
        </p:txBody>
      </p:sp>
      <p:sp>
        <p:nvSpPr>
          <p:cNvPr id="123920" name="AutoShape 16">
            <a:hlinkClick r:id="rId7" action="ppaction://hlinksldjump" highlightClick="1"/>
          </p:cNvPr>
          <p:cNvSpPr>
            <a:spLocks noChangeArrowheads="1"/>
          </p:cNvSpPr>
          <p:nvPr/>
        </p:nvSpPr>
        <p:spPr bwMode="auto">
          <a:xfrm>
            <a:off x="8577263" y="6173788"/>
            <a:ext cx="287337" cy="287337"/>
          </a:xfrm>
          <a:prstGeom prst="actionButtonBeginning">
            <a:avLst/>
          </a:prstGeom>
          <a:solidFill>
            <a:srgbClr val="99CCFF"/>
          </a:solidFill>
          <a:ln w="9525">
            <a:no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3915"/>
                                        </p:tgtEl>
                                        <p:attrNameLst>
                                          <p:attrName>style.visibility</p:attrName>
                                        </p:attrNameLst>
                                      </p:cBhvr>
                                      <p:to>
                                        <p:strVal val="visible"/>
                                      </p:to>
                                    </p:set>
                                    <p:animEffect transition="in" filter="wipe(left)">
                                      <p:cBhvr>
                                        <p:cTn id="7" dur="500"/>
                                        <p:tgtEl>
                                          <p:spTgt spid="1239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3906"/>
                                        </p:tgtEl>
                                        <p:attrNameLst>
                                          <p:attrName>style.visibility</p:attrName>
                                        </p:attrNameLst>
                                      </p:cBhvr>
                                      <p:to>
                                        <p:strVal val="visible"/>
                                      </p:to>
                                    </p:set>
                                    <p:animEffect transition="in" filter="wipe(left)">
                                      <p:cBhvr>
                                        <p:cTn id="12" dur="500"/>
                                        <p:tgtEl>
                                          <p:spTgt spid="12390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3918"/>
                                        </p:tgtEl>
                                        <p:attrNameLst>
                                          <p:attrName>style.visibility</p:attrName>
                                        </p:attrNameLst>
                                      </p:cBhvr>
                                      <p:to>
                                        <p:strVal val="visible"/>
                                      </p:to>
                                    </p:set>
                                    <p:animEffect transition="in" filter="wipe(left)">
                                      <p:cBhvr>
                                        <p:cTn id="17" dur="500"/>
                                        <p:tgtEl>
                                          <p:spTgt spid="1239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3917"/>
                                        </p:tgtEl>
                                        <p:attrNameLst>
                                          <p:attrName>style.visibility</p:attrName>
                                        </p:attrNameLst>
                                      </p:cBhvr>
                                      <p:to>
                                        <p:strVal val="visible"/>
                                      </p:to>
                                    </p:set>
                                    <p:animEffect transition="in" filter="wipe(left)">
                                      <p:cBhvr>
                                        <p:cTn id="22" dur="500"/>
                                        <p:tgtEl>
                                          <p:spTgt spid="1239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3916"/>
                                        </p:tgtEl>
                                        <p:attrNameLst>
                                          <p:attrName>style.visibility</p:attrName>
                                        </p:attrNameLst>
                                      </p:cBhvr>
                                      <p:to>
                                        <p:strVal val="visible"/>
                                      </p:to>
                                    </p:set>
                                    <p:animEffect transition="in" filter="wipe(left)">
                                      <p:cBhvr>
                                        <p:cTn id="27" dur="500"/>
                                        <p:tgtEl>
                                          <p:spTgt spid="1239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3912"/>
                                        </p:tgtEl>
                                        <p:attrNameLst>
                                          <p:attrName>style.visibility</p:attrName>
                                        </p:attrNameLst>
                                      </p:cBhvr>
                                      <p:to>
                                        <p:strVal val="visible"/>
                                      </p:to>
                                    </p:set>
                                    <p:animEffect transition="in" filter="wipe(left)">
                                      <p:cBhvr>
                                        <p:cTn id="32" dur="500"/>
                                        <p:tgtEl>
                                          <p:spTgt spid="1239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3908"/>
                                        </p:tgtEl>
                                        <p:attrNameLst>
                                          <p:attrName>style.visibility</p:attrName>
                                        </p:attrNameLst>
                                      </p:cBhvr>
                                      <p:to>
                                        <p:strVal val="visible"/>
                                      </p:to>
                                    </p:set>
                                    <p:animEffect transition="in" filter="wipe(left)">
                                      <p:cBhvr>
                                        <p:cTn id="37" dur="500"/>
                                        <p:tgtEl>
                                          <p:spTgt spid="12390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3913"/>
                                        </p:tgtEl>
                                        <p:attrNameLst>
                                          <p:attrName>style.visibility</p:attrName>
                                        </p:attrNameLst>
                                      </p:cBhvr>
                                      <p:to>
                                        <p:strVal val="visible"/>
                                      </p:to>
                                    </p:set>
                                    <p:animEffect transition="in" filter="wipe(left)">
                                      <p:cBhvr>
                                        <p:cTn id="42" dur="500"/>
                                        <p:tgtEl>
                                          <p:spTgt spid="1239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23909"/>
                                        </p:tgtEl>
                                        <p:attrNameLst>
                                          <p:attrName>style.visibility</p:attrName>
                                        </p:attrNameLst>
                                      </p:cBhvr>
                                      <p:to>
                                        <p:strVal val="visible"/>
                                      </p:to>
                                    </p:set>
                                    <p:animEffect transition="in" filter="wipe(left)">
                                      <p:cBhvr>
                                        <p:cTn id="47" dur="500"/>
                                        <p:tgtEl>
                                          <p:spTgt spid="12390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23914"/>
                                        </p:tgtEl>
                                        <p:attrNameLst>
                                          <p:attrName>style.visibility</p:attrName>
                                        </p:attrNameLst>
                                      </p:cBhvr>
                                      <p:to>
                                        <p:strVal val="visible"/>
                                      </p:to>
                                    </p:set>
                                    <p:animEffect transition="in" filter="wipe(left)">
                                      <p:cBhvr>
                                        <p:cTn id="52" dur="500"/>
                                        <p:tgtEl>
                                          <p:spTgt spid="12391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23910"/>
                                        </p:tgtEl>
                                        <p:attrNameLst>
                                          <p:attrName>style.visibility</p:attrName>
                                        </p:attrNameLst>
                                      </p:cBhvr>
                                      <p:to>
                                        <p:strVal val="visible"/>
                                      </p:to>
                                    </p:set>
                                    <p:animEffect transition="in" filter="wipe(left)">
                                      <p:cBhvr>
                                        <p:cTn id="57" dur="500"/>
                                        <p:tgtEl>
                                          <p:spTgt spid="12391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123920"/>
                                        </p:tgtEl>
                                        <p:attrNameLst>
                                          <p:attrName>style.visibility</p:attrName>
                                        </p:attrNameLst>
                                      </p:cBhvr>
                                      <p:to>
                                        <p:strVal val="visible"/>
                                      </p:to>
                                    </p:set>
                                    <p:animEffect transition="in" filter="wipe(down)">
                                      <p:cBhvr>
                                        <p:cTn id="62" dur="500"/>
                                        <p:tgtEl>
                                          <p:spTgt spid="123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6" grpId="0" autoUpdateAnimBg="0"/>
      <p:bldP spid="123912" grpId="0" autoUpdateAnimBg="0"/>
      <p:bldP spid="123913" grpId="0" autoUpdateAnimBg="0"/>
      <p:bldP spid="123914" grpId="0" autoUpdateAnimBg="0"/>
      <p:bldP spid="123915" grpId="0" autoUpdateAnimBg="0"/>
      <p:bldP spid="123916" grpId="0" autoUpdateAnimBg="0"/>
      <p:bldP spid="123917" grpId="0"/>
      <p:bldP spid="123918" grpId="0"/>
      <p:bldP spid="123920" grpId="0" animBg="1"/>
    </p:bldLst>
  </p:timing>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2629</TotalTime>
  <Words>4333</Words>
  <Application>Microsoft PowerPoint</Application>
  <PresentationFormat>全屏显示(4:3)</PresentationFormat>
  <Paragraphs>543</Paragraphs>
  <Slides>62</Slides>
  <Notes>3</Notes>
  <HiddenSlides>0</HiddenSlides>
  <MMClips>0</MMClips>
  <ScaleCrop>false</ScaleCrop>
  <HeadingPairs>
    <vt:vector size="8" baseType="variant">
      <vt:variant>
        <vt:lpstr>已用的字体</vt:lpstr>
      </vt:variant>
      <vt:variant>
        <vt:i4>13</vt:i4>
      </vt:variant>
      <vt:variant>
        <vt:lpstr>主题</vt:lpstr>
      </vt:variant>
      <vt:variant>
        <vt:i4>3</vt:i4>
      </vt:variant>
      <vt:variant>
        <vt:lpstr>嵌入 OLE 服务器</vt:lpstr>
      </vt:variant>
      <vt:variant>
        <vt:i4>1</vt:i4>
      </vt:variant>
      <vt:variant>
        <vt:lpstr>幻灯片标题</vt:lpstr>
      </vt:variant>
      <vt:variant>
        <vt:i4>62</vt:i4>
      </vt:variant>
    </vt:vector>
  </HeadingPairs>
  <TitlesOfParts>
    <vt:vector size="79" baseType="lpstr">
      <vt:lpstr>Times New Roman</vt:lpstr>
      <vt:lpstr>宋体</vt:lpstr>
      <vt:lpstr>Arial</vt:lpstr>
      <vt:lpstr>Calibri</vt:lpstr>
      <vt:lpstr>隶书</vt:lpstr>
      <vt:lpstr>楷体_GB2312</vt:lpstr>
      <vt:lpstr>黑体</vt:lpstr>
      <vt:lpstr>Bookman Old Style</vt:lpstr>
      <vt:lpstr>魏碑体</vt:lpstr>
      <vt:lpstr>Symbol</vt:lpstr>
      <vt:lpstr>仿宋_GB2312</vt:lpstr>
      <vt:lpstr>Monotype Sorts</vt:lpstr>
      <vt:lpstr>Wingdings</vt:lpstr>
      <vt:lpstr>默认设计模板</vt:lpstr>
      <vt:lpstr>1_自定义设计方案</vt:lpstr>
      <vt:lpstr>自定义设计方案</vt:lpstr>
      <vt:lpstr>Microsoft 公式 3.0</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vector>
  </TitlesOfParts>
  <Company>Microsoft China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CH-4</dc:subject>
  <dc:creator>丁惠萍</dc:creator>
  <cp:lastModifiedBy>解迎革</cp:lastModifiedBy>
  <cp:revision>250</cp:revision>
  <dcterms:created xsi:type="dcterms:W3CDTF">2005-06-24T09:15:10Z</dcterms:created>
  <dcterms:modified xsi:type="dcterms:W3CDTF">2015-12-04T03:20:54Z</dcterms:modified>
</cp:coreProperties>
</file>